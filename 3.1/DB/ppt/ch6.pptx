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2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03"/>
  </p:handoutMasterIdLst>
  <p:sldIdLst>
    <p:sldId id="423" r:id="rId3"/>
    <p:sldId id="337" r:id="rId5"/>
    <p:sldId id="424" r:id="rId6"/>
    <p:sldId id="421" r:id="rId7"/>
    <p:sldId id="339" r:id="rId8"/>
    <p:sldId id="461" r:id="rId9"/>
    <p:sldId id="340" r:id="rId10"/>
    <p:sldId id="342" r:id="rId11"/>
    <p:sldId id="341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367" r:id="rId37"/>
    <p:sldId id="368" r:id="rId38"/>
    <p:sldId id="369" r:id="rId39"/>
    <p:sldId id="370" r:id="rId40"/>
    <p:sldId id="371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425" r:id="rId57"/>
    <p:sldId id="426" r:id="rId58"/>
    <p:sldId id="427" r:id="rId59"/>
    <p:sldId id="428" r:id="rId60"/>
    <p:sldId id="429" r:id="rId61"/>
    <p:sldId id="430" r:id="rId62"/>
    <p:sldId id="431" r:id="rId63"/>
    <p:sldId id="432" r:id="rId64"/>
    <p:sldId id="433" r:id="rId65"/>
    <p:sldId id="434" r:id="rId66"/>
    <p:sldId id="435" r:id="rId67"/>
    <p:sldId id="436" r:id="rId68"/>
    <p:sldId id="437" r:id="rId69"/>
    <p:sldId id="438" r:id="rId70"/>
    <p:sldId id="439" r:id="rId71"/>
    <p:sldId id="440" r:id="rId72"/>
    <p:sldId id="441" r:id="rId73"/>
    <p:sldId id="442" r:id="rId74"/>
    <p:sldId id="443" r:id="rId75"/>
    <p:sldId id="444" r:id="rId76"/>
    <p:sldId id="445" r:id="rId77"/>
    <p:sldId id="446" r:id="rId78"/>
    <p:sldId id="447" r:id="rId79"/>
    <p:sldId id="448" r:id="rId80"/>
    <p:sldId id="449" r:id="rId81"/>
    <p:sldId id="450" r:id="rId82"/>
    <p:sldId id="451" r:id="rId83"/>
    <p:sldId id="452" r:id="rId84"/>
    <p:sldId id="453" r:id="rId85"/>
    <p:sldId id="454" r:id="rId86"/>
    <p:sldId id="462" r:id="rId87"/>
    <p:sldId id="464" r:id="rId88"/>
    <p:sldId id="465" r:id="rId89"/>
    <p:sldId id="466" r:id="rId90"/>
    <p:sldId id="468" r:id="rId91"/>
    <p:sldId id="469" r:id="rId92"/>
    <p:sldId id="470" r:id="rId93"/>
    <p:sldId id="471" r:id="rId94"/>
    <p:sldId id="472" r:id="rId95"/>
    <p:sldId id="473" r:id="rId96"/>
    <p:sldId id="474" r:id="rId97"/>
    <p:sldId id="475" r:id="rId98"/>
    <p:sldId id="478" r:id="rId99"/>
    <p:sldId id="477" r:id="rId100"/>
    <p:sldId id="455" r:id="rId101"/>
    <p:sldId id="419" r:id="rId102"/>
  </p:sldIdLst>
  <p:sldSz cx="9144000" cy="6858000" type="screen4x3"/>
  <p:notesSz cx="6997700" cy="9283700"/>
  <p:custShowLst>
    <p:custShow name="Custom Show 1" id="0">
      <p:sldLst/>
    </p:custShow>
  </p:custShowLst>
  <p:custDataLst>
    <p:tags r:id="rId10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 Sudarshan" initials="S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0562" autoAdjust="0"/>
  </p:normalViewPr>
  <p:slideViewPr>
    <p:cSldViewPr snapToGrid="0" showGuides="1">
      <p:cViewPr varScale="1">
        <p:scale>
          <a:sx n="62" d="100"/>
          <a:sy n="62" d="100"/>
        </p:scale>
        <p:origin x="1268" y="4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8" Type="http://schemas.openxmlformats.org/officeDocument/2006/relationships/tags" Target="tags/tag1.xml"/><Relationship Id="rId107" Type="http://schemas.openxmlformats.org/officeDocument/2006/relationships/commentAuthors" Target="commentAuthors.xml"/><Relationship Id="rId106" Type="http://schemas.openxmlformats.org/officeDocument/2006/relationships/tableStyles" Target="tableStyles.xml"/><Relationship Id="rId105" Type="http://schemas.openxmlformats.org/officeDocument/2006/relationships/viewProps" Target="viewProps.xml"/><Relationship Id="rId104" Type="http://schemas.openxmlformats.org/officeDocument/2006/relationships/presProps" Target="presProps.xml"/><Relationship Id="rId103" Type="http://schemas.openxmlformats.org/officeDocument/2006/relationships/handoutMaster" Target="handoutMasters/handoutMaster1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4" Type="http://schemas.openxmlformats.org/officeDocument/2006/relationships/slide" Target="slides/slide97.xml"/><Relationship Id="rId3" Type="http://schemas.openxmlformats.org/officeDocument/2006/relationships/slide" Target="slides/slide95.xml"/><Relationship Id="rId2" Type="http://schemas.openxmlformats.org/officeDocument/2006/relationships/slide" Target="slides/slide93.xml"/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</a:fld>
            <a:endParaRPr lang="en-US" altLang="en-US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202F3DB-D83B-4369-B6DF-4EFAC58302F7}" type="slidenum">
              <a:rPr lang="en-US" altLang="en-US" sz="1200"/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4932D46-DD78-4BAB-BBDC-DC51872AFEF6}" type="slidenum">
              <a:rPr lang="en-US" altLang="en-US" sz="1200"/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72F582-7A30-44E2-B9AE-85A1CA63CB6B}" type="slidenum">
              <a:rPr lang="en-US" altLang="en-US" sz="1200"/>
            </a:fld>
            <a:endParaRPr lang="en-US" alt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E76179E-0825-42BA-A86D-E07CE2CDFB4A}" type="slidenum">
              <a:rPr lang="en-US" altLang="en-US" sz="1200"/>
            </a:fld>
            <a:endParaRPr lang="en-US" alt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E8D77EB-8DA4-473C-85D9-A2C867216A15}" type="slidenum">
              <a:rPr lang="en-US" altLang="en-US" sz="1200"/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02298E3-52AF-4F84-BC83-1D80A0E7F6B5}" type="slidenum">
              <a:rPr lang="en-US" altLang="en-US" sz="1200"/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6C87BE7-122B-4399-B1F6-35CC3C43642F}" type="slidenum">
              <a:rPr lang="en-US" altLang="en-US" sz="1200"/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954D2032-F7A1-47FB-8029-FF01734C1A45}" type="slidenum">
              <a:rPr lang="en-US" altLang="en-US" sz="1200"/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5D6698B-82E8-4243-BAB0-D6783EE2B84F}" type="slidenum">
              <a:rPr lang="en-US" altLang="en-US" sz="1200"/>
            </a:fld>
            <a:endParaRPr lang="en-US" alt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E75EE63-BBAB-4B59-AB6C-C7C62F9D7EF6}" type="slidenum">
              <a:rPr lang="en-US" altLang="en-US" sz="1200"/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FA286EA-37A2-4E74-A5EA-47322F5F22B9}" type="slidenum">
              <a:rPr lang="en-US" altLang="en-US" sz="1200"/>
            </a:fld>
            <a:endParaRPr lang="en-US" alt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F34FE36-22BB-471F-B5BA-20ABB5BF6430}" type="slidenum">
              <a:rPr lang="en-US" altLang="en-US" sz="1200"/>
            </a:fld>
            <a:endParaRPr lang="en-US" alt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66F3D21-A5A9-4DF0-817E-313DA5AE0CC9}" type="slidenum">
              <a:rPr lang="en-US" altLang="en-US" sz="1200"/>
            </a:fld>
            <a:endParaRPr lang="en-US" alt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681DB7B-8BB9-428D-983D-60F2DF463925}" type="slidenum">
              <a:rPr lang="en-US" altLang="en-US" sz="1200"/>
            </a:fld>
            <a:endParaRPr lang="en-US" alt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1469615-0B6C-4E37-A5DC-FDCF4C566C37}" type="slidenum">
              <a:rPr lang="en-US" altLang="en-US" sz="1200"/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2F97F58-FA04-4838-BA8D-1673429622FF}" type="slidenum">
              <a:rPr lang="en-US" altLang="en-US" sz="1200"/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E8ABFFE-D826-4EF9-B15D-4180085C23C7}" type="slidenum">
              <a:rPr lang="en-US" altLang="en-US" sz="1200"/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A9C970B-8220-4517-837F-B56840EC81F1}" type="slidenum">
              <a:rPr lang="en-US" altLang="en-US" sz="1200"/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CB53E9A-4F1C-4562-B43B-B5CFB7E98BB2}" type="slidenum">
              <a:rPr lang="en-US" altLang="en-US" sz="1200"/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D71DE7E-FF0D-4034-AE63-651A3A350F6F}" type="slidenum">
              <a:rPr lang="en-US" altLang="en-US" sz="1200"/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6281BB1-9FD8-4756-B07C-05F43DCBB1D1}" type="slidenum">
              <a:rPr lang="en-US" altLang="en-US" sz="1200"/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02CC610-2C92-4BB3-8D98-C7E1312CA104}" type="slidenum">
              <a:rPr lang="en-US" altLang="en-US" sz="1200"/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844853C-1565-4D82-BAFB-17FA6226FCB3}" type="slidenum">
              <a:rPr lang="en-US" altLang="en-US" sz="1200"/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C5E82CE-5F33-4AA9-922C-5F54A6966317}" type="slidenum">
              <a:rPr lang="en-US" altLang="en-US" sz="1200"/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8449F55-0331-42F3-8185-5550FA6588AF}" type="slidenum">
              <a:rPr lang="en-US" altLang="en-US" sz="1200"/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1A24CF4-9A58-4D8C-8B4A-1F5B4A557C17}" type="slidenum">
              <a:rPr lang="en-US" altLang="en-US" sz="1200"/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7733CA9-4ACE-4C8E-94A6-AF7CB20743E9}" type="slidenum">
              <a:rPr lang="en-US" altLang="en-US" sz="1200"/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4DD1ABD-49B5-439D-89A5-0D9922344811}" type="slidenum">
              <a:rPr lang="en-US" altLang="en-US" sz="1200"/>
            </a:fld>
            <a:endParaRPr lang="en-US" alt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D2532D8-F19F-403F-A34B-7117B24BF533}" type="slidenum">
              <a:rPr lang="en-US" altLang="en-US" sz="1200"/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40ADC53-D181-43CB-9865-BA969C5AAEFD}" type="slidenum">
              <a:rPr lang="en-US" altLang="en-US" sz="1200"/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94E467F-6EAC-4F92-B33E-2BE268A09E9A}" type="slidenum">
              <a:rPr lang="en-US" altLang="en-US" sz="1200"/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AF7D5D7-1528-465C-90C3-10C59F6113C4}" type="slidenum">
              <a:rPr lang="en-US" altLang="en-US" sz="1200"/>
            </a:fld>
            <a:endParaRPr lang="en-US" alt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D1A45DA-CA64-41FA-A1E8-AD1BAE08C0BB}" type="slidenum">
              <a:rPr lang="en-US" altLang="en-US" sz="1200"/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64DA130-9CE3-4E7D-9E7F-223297258F10}" type="slidenum">
              <a:rPr lang="en-US" altLang="en-US" sz="1200"/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BB2FFBC-ECC8-4E72-ACD7-AC5B3AC7D391}" type="slidenum">
              <a:rPr lang="en-US" altLang="en-US" sz="1200"/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733A54A-C6D5-44D3-B193-2B68843B2348}" type="slidenum">
              <a:rPr lang="en-US" altLang="en-US" sz="1200"/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57AE074-BB24-467C-A389-042288128DCE}" type="slidenum">
              <a:rPr lang="en-US" altLang="en-US" sz="1200"/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507090B-43B1-4E96-BBBD-29C4E144CED6}" type="slidenum">
              <a:rPr lang="en-US" altLang="en-US" sz="1200"/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21DAE2F-0D65-4187-8195-66E3DFCF9142}" type="slidenum">
              <a:rPr lang="en-US" altLang="en-US" sz="1200"/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D12A99F-88C8-4413-BBDB-E9633A53948D}" type="slidenum">
              <a:rPr lang="en-US" altLang="en-US" sz="1200"/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9B5DD2D-80F8-4C47-BE29-F71863EB928E}" type="slidenum">
              <a:rPr lang="en-US" altLang="en-US" sz="1200"/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1584D15-F658-456F-8F61-E80EBA02FF6A}" type="slidenum">
              <a:rPr lang="en-US" altLang="en-US" sz="1200"/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2C13233-64BC-4954-9464-11A8667DC6C3}" type="slidenum">
              <a:rPr lang="en-US" altLang="en-US" sz="1200"/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702DC87-2809-4E8A-B7E5-19578CF611CB}" type="slidenum">
              <a:rPr lang="en-US" altLang="en-US" sz="1200"/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C5B6243-9F6C-4A40-B7AB-819F09B48280}" type="slidenum">
              <a:rPr lang="en-US" altLang="en-US" sz="1200"/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3671C7C-5C30-4951-A09C-C7DE0069A227}" type="slidenum">
              <a:rPr lang="en-US" altLang="en-US" sz="1200"/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1896E650-A8FF-4A75-8D3E-76E6F7496A62}" type="slidenum">
              <a:rPr lang="en-US" altLang="en-US" sz="1200"/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A60B134-387B-41E7-B677-3964AC0C6785}" type="slidenum">
              <a:rPr lang="en-US" altLang="en-US" sz="1200"/>
            </a:fld>
            <a:endParaRPr lang="en-US" alt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5F59032-4CC8-49AA-B921-0985818A4A69}" type="slidenum">
              <a:rPr lang="en-US" altLang="en-US" sz="1200"/>
            </a:fld>
            <a:endParaRPr lang="en-US" altLang="en-US" sz="12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>
                <a:latin typeface="Times New Roman" panose="02020503050405090304" pitchFamily="18" charset="0"/>
              </a:rPr>
              <a:t>特化</a:t>
            </a:r>
            <a:endParaRPr lang="en-US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BB37812-7A60-4D4D-B158-CDF22B62669D}" type="slidenum">
              <a:rPr lang="en-US" altLang="en-US" sz="1200"/>
            </a:fld>
            <a:endParaRPr lang="en-US" altLang="en-US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19A4C02-8989-47FD-A904-144A669035C3}" type="slidenum">
              <a:rPr lang="en-US" altLang="en-US" sz="1200"/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6AEDBC9-C94E-4A98-8290-172F520CC2AF}" type="slidenum">
              <a:rPr lang="en-US" altLang="en-US" sz="1200"/>
            </a:fld>
            <a:endParaRPr lang="en-US" alt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01C0836-68E5-499B-9488-51A72A955B8C}" type="slidenum">
              <a:rPr lang="en-US" altLang="en-US" sz="1200"/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>
                <a:latin typeface="Times New Roman" panose="02020503050405090304" pitchFamily="18" charset="0"/>
              </a:rPr>
              <a:t>概化</a:t>
            </a:r>
            <a:endParaRPr lang="en-US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BD25D0B9-C0C0-40E8-996B-37789D8CE8CB}" type="slidenum">
              <a:rPr lang="en-US" altLang="en-US" sz="1200"/>
            </a:fld>
            <a:endParaRPr lang="en-US" altLang="en-US" sz="12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36294EE-9918-45CD-8B30-53914648990E}" type="slidenum">
              <a:rPr lang="en-US" altLang="en-US" sz="1200"/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CB36896-4F4E-48BE-8ED8-64318D033CE8}" type="slidenum">
              <a:rPr lang="en-US" altLang="en-US" sz="1200"/>
            </a:fld>
            <a:endParaRPr lang="en-US" altLang="en-US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DE8E9FC-6F08-40BB-B772-EA0C2AE1A7A0}" type="slidenum">
              <a:rPr lang="en-US" altLang="en-US" sz="1200"/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999CF1A-EE2D-40C7-88BC-5CB4646E5D8B}" type="slidenum">
              <a:rPr lang="en-US" altLang="en-US" sz="1200"/>
            </a:fld>
            <a:endParaRPr lang="en-US" altLang="en-US" sz="120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5DBE05D-165E-44E5-8FF5-12AB8BF987CB}" type="slidenum">
              <a:rPr lang="en-US" altLang="en-US" sz="1200"/>
            </a:fld>
            <a:endParaRPr lang="en-US" alt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934C981-6806-4B1C-8EC3-8AAD8F35AA7C}" type="slidenum">
              <a:rPr lang="en-US" altLang="en-US" sz="1200"/>
            </a:fld>
            <a:endParaRPr lang="en-US" alt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00DFA9D-6D5B-4797-B1CA-7EEB8BD7226F}" type="slidenum">
              <a:rPr lang="en-US" altLang="en-US" sz="1200"/>
            </a:fld>
            <a:endParaRPr lang="en-US" altLang="en-US" sz="120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D7BD46-B851-41F6-BDE0-EE3DE5BA6FCC}" type="slidenum">
              <a:rPr lang="en-US" altLang="en-US" sz="1200"/>
            </a:fld>
            <a:endParaRPr lang="en-US" altLang="en-US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8506864-7409-4F31-A643-622503D4FBA6}" type="slidenum">
              <a:rPr lang="en-US" altLang="en-US" sz="1200"/>
            </a:fld>
            <a:endParaRPr lang="en-US" altLang="en-US" sz="120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7DB985E1-F95E-4DDA-9035-000ADC85BF1B}" type="slidenum">
              <a:rPr lang="en-US" altLang="en-US" sz="1200"/>
            </a:fld>
            <a:endParaRPr lang="en-US" altLang="en-US" sz="12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A716B33-9885-4347-A6EC-10A44624E185}" type="slidenum">
              <a:rPr lang="en-US" altLang="en-US" sz="1200"/>
            </a:fld>
            <a:endParaRPr lang="en-US" altLang="en-US" sz="120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ABF513D-38FF-41B0-951F-F069DAE8A50D}" type="slidenum">
              <a:rPr lang="en-US" altLang="en-US" sz="1200"/>
            </a:fld>
            <a:endParaRPr lang="en-US" alt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FAD77A2-2119-4E7C-B11C-A31372FFAE35}" type="slidenum">
              <a:rPr lang="en-US" altLang="en-US" sz="1200"/>
            </a:fld>
            <a:endParaRPr lang="en-US" altLang="en-US" sz="120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B819C23-332F-464A-B228-80F79B607C9B}" type="slidenum">
              <a:rPr lang="en-US" altLang="en-US" sz="1200"/>
            </a:fld>
            <a:endParaRPr lang="en-US" alt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1AE7BDE-6BAD-4869-BA94-42F764CB0731}" type="slidenum">
              <a:rPr lang="en-US" altLang="en-US" sz="1200"/>
            </a:fld>
            <a:endParaRPr lang="en-US" altLang="en-US" sz="120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6B6CF80-A94A-429C-B018-ADC56A3A4F61}" type="slidenum">
              <a:rPr lang="en-US" altLang="en-US" sz="1200"/>
            </a:fld>
            <a:endParaRPr lang="en-US" alt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BA03F12-E271-4AB0-B36E-709F00E15421}" type="slidenum">
              <a:rPr lang="en-US" altLang="en-US" sz="1200"/>
            </a:fld>
            <a:endParaRPr lang="en-US" altLang="en-US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6605841-5CB7-4C7A-924F-2C7512868176}" type="slidenum">
              <a:rPr lang="en-US" altLang="en-US" sz="1200"/>
            </a:fld>
            <a:endParaRPr lang="en-US" alt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C0CCDE4-0F12-4A8C-B062-A94A0F2D6B2E}" type="slidenum">
              <a:rPr lang="en-US" altLang="en-US" sz="1200"/>
            </a:fld>
            <a:endParaRPr lang="en-US" altLang="en-US" sz="120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E4AA371-DF05-42FF-99C9-D54AF61A2C5F}" type="slidenum">
              <a:rPr lang="en-US" altLang="en-US" sz="1200"/>
            </a:fld>
            <a:endParaRPr lang="en-US" altLang="en-US" sz="12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D861502-E13A-4E4B-8A3F-EB8172491AE8}" type="slidenum">
              <a:rPr lang="en-US" altLang="en-US" sz="1200"/>
            </a:fld>
            <a:endParaRPr lang="en-US" altLang="en-US" sz="120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C960A81-80FF-4A23-A638-FC4A7098A3E0}" type="slidenum">
              <a:rPr lang="en-US" altLang="en-US" sz="1200"/>
            </a:fld>
            <a:endParaRPr lang="en-US" altLang="en-US" sz="120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7BADD71-F370-42F0-9F4D-D0E45F2310C4}" type="slidenum">
              <a:rPr lang="en-US" altLang="en-US" sz="1200"/>
            </a:fld>
            <a:endParaRPr lang="en-US" altLang="en-US" sz="120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7372408-51E1-415E-A2FF-CF1B7A173FF8}" type="slidenum">
              <a:rPr lang="en-US" altLang="en-US" sz="1200"/>
            </a:fld>
            <a:endParaRPr lang="en-US" altLang="en-US" sz="120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9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9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</a:fld>
            <a:endParaRPr lang="en-US" alt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5" name="Text Box 5"/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6.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3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110000"/>
        <a:buFont typeface="Arial" panose="020B060402020209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Arial" panose="020B060402020209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e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e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emf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emf"/><Relationship Id="rId3" Type="http://schemas.openxmlformats.org/officeDocument/2006/relationships/image" Target="../media/image33.emf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e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emf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272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6: Database Design Using the E-R Model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85799"/>
            <a:ext cx="7473949" cy="4105529"/>
          </a:xfrm>
        </p:spPr>
        <p:txBody>
          <a:bodyPr/>
          <a:lstStyle/>
          <a:p>
            <a:r>
              <a:rPr lang="en-US" altLang="en-US" sz="2000" dirty="0"/>
              <a:t>Overview of the Design Process</a:t>
            </a:r>
            <a:endParaRPr lang="en-US" altLang="en-US" sz="2000" dirty="0"/>
          </a:p>
          <a:p>
            <a:r>
              <a:rPr lang="en-US" altLang="en-US" sz="2000" dirty="0"/>
              <a:t>The Entity-Relationship Model</a:t>
            </a:r>
            <a:endParaRPr lang="en-US" altLang="en-US" sz="2000" dirty="0"/>
          </a:p>
          <a:p>
            <a:r>
              <a:rPr lang="en-US" altLang="en-US" sz="2000" dirty="0"/>
              <a:t>Complex Attributes</a:t>
            </a:r>
            <a:endParaRPr lang="en-US" altLang="en-US" sz="2000" dirty="0"/>
          </a:p>
          <a:p>
            <a:r>
              <a:rPr lang="en-US" altLang="en-US" sz="2000" dirty="0"/>
              <a:t>Mapping Cardinalities</a:t>
            </a:r>
            <a:endParaRPr lang="en-US" altLang="en-US" sz="2000" dirty="0"/>
          </a:p>
          <a:p>
            <a:r>
              <a:rPr lang="en-US" altLang="en-US" sz="2000" dirty="0"/>
              <a:t>Primary Key</a:t>
            </a:r>
            <a:endParaRPr lang="en-US" altLang="en-US" sz="2000" dirty="0"/>
          </a:p>
          <a:p>
            <a:r>
              <a:rPr lang="en-US" altLang="en-US" sz="2000" dirty="0"/>
              <a:t>Removing Redundant Attributes in Entity Sets</a:t>
            </a:r>
            <a:endParaRPr lang="en-US" altLang="en-US" sz="2000" dirty="0"/>
          </a:p>
          <a:p>
            <a:r>
              <a:rPr lang="en-US" altLang="en-US" sz="2000" dirty="0"/>
              <a:t>Reducing ER Diagrams to Relational Schemas</a:t>
            </a:r>
            <a:endParaRPr lang="en-US" altLang="en-US" sz="2000" dirty="0"/>
          </a:p>
          <a:p>
            <a:r>
              <a:rPr lang="en-US" altLang="en-US" sz="2000" dirty="0"/>
              <a:t>Extended E-R Features</a:t>
            </a:r>
            <a:endParaRPr lang="en-US" altLang="en-US" sz="2000" dirty="0"/>
          </a:p>
          <a:p>
            <a:r>
              <a:rPr lang="en-US" altLang="en-US" sz="2000" dirty="0"/>
              <a:t>Entity-Relationship Design Issues</a:t>
            </a:r>
            <a:endParaRPr lang="en-US" altLang="en-US" sz="2000" dirty="0"/>
          </a:p>
          <a:p>
            <a:r>
              <a:rPr lang="en-US" altLang="en-US" sz="2000" dirty="0"/>
              <a:t>Alternative Notations for Modeling Data</a:t>
            </a:r>
            <a:endParaRPr lang="en-US" altLang="en-US" sz="2000" dirty="0"/>
          </a:p>
          <a:p>
            <a:r>
              <a:rPr lang="en-US" altLang="en-US" sz="2000" dirty="0"/>
              <a:t>Other Aspects of Database Design</a:t>
            </a:r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222375"/>
            <a:ext cx="7620254" cy="2861945"/>
          </a:xfrm>
        </p:spPr>
        <p:txBody>
          <a:bodyPr/>
          <a:lstStyle/>
          <a:p>
            <a:r>
              <a:rPr lang="en-US" altLang="en-US" sz="2000" dirty="0"/>
              <a:t>Extended E-R Features</a:t>
            </a:r>
            <a:endParaRPr lang="en-US" altLang="en-US" sz="2000" dirty="0"/>
          </a:p>
          <a:p>
            <a:r>
              <a:rPr lang="en-US" altLang="en-US" sz="2000" dirty="0"/>
              <a:t>Entity-Relationship Design Issues</a:t>
            </a:r>
            <a:endParaRPr lang="en-US" altLang="en-US" sz="2000" dirty="0"/>
          </a:p>
          <a:p>
            <a:r>
              <a:rPr lang="en-US" altLang="en-US" sz="2000" dirty="0"/>
              <a:t>Alternative Notations for Modeling Data</a:t>
            </a:r>
            <a:endParaRPr lang="en-US" altLang="en-US" sz="2000" dirty="0"/>
          </a:p>
          <a:p>
            <a:r>
              <a:rPr lang="en-US" altLang="en-US" sz="2000" dirty="0"/>
              <a:t>Other Aspects of Database Design</a:t>
            </a:r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/>
              </a:rPr>
              <a:t>Design Phases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185799"/>
            <a:ext cx="7595870" cy="3764153"/>
          </a:xfrm>
        </p:spPr>
        <p:txBody>
          <a:bodyPr/>
          <a:lstStyle/>
          <a:p>
            <a:r>
              <a:rPr lang="en-US" altLang="en-US" sz="2400" dirty="0"/>
              <a:t>Initial phase -- characterize fully the data needs of the prospective database users. </a:t>
            </a:r>
            <a:endParaRPr lang="en-US" altLang="en-US" sz="2400" dirty="0"/>
          </a:p>
          <a:p>
            <a:r>
              <a:rPr lang="en-US" altLang="en-US" sz="2400" dirty="0"/>
              <a:t>Second phase  </a:t>
            </a:r>
            <a:r>
              <a:rPr lang="en-US" altLang="en-US" sz="2400" dirty="0">
                <a:solidFill>
                  <a:srgbClr val="FF0000"/>
                </a:solidFill>
              </a:rPr>
              <a:t>-- choosing  a data model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Applying the concepts of the chosen data model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Translating  these requirements into a conceptual schema of the database.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 fully developed conceptual schema indicates the functional requirements of the enterprise.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Describe the kinds of operations (or transactions) that will be performed on the data.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Phases (Cont.)</a:t>
            </a:r>
            <a:endParaRPr lang="en-US" altLang="en-US">
              <a:effectLst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6762" y="1175195"/>
            <a:ext cx="7610476" cy="4375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Final Phase -- Moving from an abstract data model to the implementation of the database</a:t>
            </a:r>
            <a:endParaRPr lang="en-US" altLang="en-US" sz="2400" i="1" dirty="0"/>
          </a:p>
          <a:p>
            <a:pPr marL="800100" lvl="1" indent="-342900"/>
            <a:r>
              <a:rPr lang="en-US" altLang="en-US" sz="2400" dirty="0">
                <a:ea typeface="MS PGothic" panose="020B0600070205080204" pitchFamily="34" charset="-128"/>
              </a:rPr>
              <a:t>Logical Design –  Deciding on the database schema.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marL="1143000" lvl="2" indent="-342900"/>
            <a:r>
              <a:rPr lang="en-US" altLang="en-US" sz="2400" dirty="0">
                <a:ea typeface="MS PGothic" panose="020B0600070205080204" pitchFamily="34" charset="-128"/>
              </a:rPr>
              <a:t>Database design requires that we find a “good” collection of relation schemas</a:t>
            </a:r>
            <a:r>
              <a:rPr lang="en-US" altLang="en-US" sz="2400" dirty="0" smtClean="0">
                <a:ea typeface="MS PGothic" panose="020B0600070205080204" pitchFamily="34" charset="-128"/>
              </a:rPr>
              <a:t>.</a:t>
            </a:r>
            <a:endParaRPr lang="en-US" altLang="en-US" sz="2400" dirty="0" smtClean="0">
              <a:ea typeface="MS PGothic" panose="020B0600070205080204" pitchFamily="34" charset="-128"/>
            </a:endParaRPr>
          </a:p>
          <a:p>
            <a:pPr marL="1143000" lvl="2" indent="-342900"/>
            <a:r>
              <a:rPr lang="en-US" altLang="zh-CN" sz="2400" dirty="0" smtClean="0">
                <a:ea typeface="MS PGothic" panose="020B0600070205080204" pitchFamily="34" charset="-128"/>
              </a:rPr>
              <a:t>This step typically consists of </a:t>
            </a:r>
            <a:r>
              <a:rPr lang="en-US" altLang="zh-CN" sz="2400" dirty="0" smtClean="0">
                <a:solidFill>
                  <a:srgbClr val="FF0000"/>
                </a:solidFill>
                <a:ea typeface="MS PGothic" panose="020B0600070205080204" pitchFamily="34" charset="-128"/>
              </a:rPr>
              <a:t>mapping the conceptual schema defined using the entity-relationship model into a relation schema.</a:t>
            </a:r>
            <a:endParaRPr lang="en-US" altLang="en-US" sz="240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 marL="800100" lvl="1" indent="-342900"/>
            <a:r>
              <a:rPr lang="en-US" altLang="en-US" sz="2400" dirty="0" smtClean="0">
                <a:ea typeface="MS PGothic" panose="020B0600070205080204" pitchFamily="34" charset="-128"/>
              </a:rPr>
              <a:t>Physical </a:t>
            </a:r>
            <a:r>
              <a:rPr lang="en-US" altLang="en-US" sz="2400" dirty="0">
                <a:ea typeface="MS PGothic" panose="020B0600070205080204" pitchFamily="34" charset="-128"/>
              </a:rPr>
              <a:t>Design – Deciding on the physical layout of the database               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sz="2000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927100" y="1074738"/>
            <a:ext cx="7450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>
                <a:sym typeface="Symbol" panose="05050102010706020507" pitchFamily="18" charset="2"/>
              </a:rPr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数据库设计的过程</a:t>
            </a:r>
            <a:endParaRPr lang="en-US" altLang="zh-CN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47687" y="977151"/>
            <a:ext cx="4403726" cy="4351338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第一阶段：用户需求分析</a:t>
            </a:r>
            <a:endParaRPr lang="en-US" altLang="zh-CN" sz="2400" dirty="0"/>
          </a:p>
          <a:p>
            <a:pPr eaLnBrk="1" hangingPunct="1"/>
            <a:r>
              <a:rPr lang="zh-CN" altLang="en-US" sz="2400" dirty="0" smtClean="0"/>
              <a:t>第二阶段：概念设计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将用户需求转化为选定的某种概念模型（常见是</a:t>
            </a:r>
            <a:r>
              <a:rPr lang="en-US" altLang="zh-CN" sz="2400" dirty="0" smtClean="0">
                <a:solidFill>
                  <a:srgbClr val="0070C0"/>
                </a:solidFill>
              </a:rPr>
              <a:t>E-R</a:t>
            </a:r>
            <a:r>
              <a:rPr lang="zh-CN" altLang="en-US" sz="2400" dirty="0" smtClean="0">
                <a:solidFill>
                  <a:srgbClr val="0070C0"/>
                </a:solidFill>
              </a:rPr>
              <a:t>模型</a:t>
            </a:r>
            <a:r>
              <a:rPr lang="zh-CN" altLang="en-US" sz="2400" dirty="0" smtClean="0"/>
              <a:t>）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结果：得到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以</a:t>
            </a:r>
            <a:r>
              <a:rPr lang="en-US" altLang="zh-CN" sz="2400" dirty="0" smtClean="0"/>
              <a:t>E-R</a:t>
            </a:r>
            <a:r>
              <a:rPr lang="zh-CN" altLang="en-US" sz="2400" dirty="0" smtClean="0"/>
              <a:t>模型表示的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数据库概念模式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/>
              <a:t>第三阶段：逻辑设计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将概念模式转化为选定的某种数据模型（常见是关系模型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marL="342900" lvl="1" indent="-342900" eaLnBrk="1" hangingPunct="1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cs typeface="MS PGothic" panose="020B0600070205080204" pitchFamily="34" charset="-128"/>
              </a:rPr>
              <a:t>第四阶段：物理设计</a:t>
            </a:r>
            <a:endParaRPr lang="en-US" altLang="zh-CN" sz="2400" dirty="0">
              <a:cs typeface="MS PGothic" panose="020B0600070205080204" pitchFamily="34" charset="-128"/>
            </a:endParaRPr>
          </a:p>
          <a:p>
            <a:pPr lvl="1" eaLnBrk="1" hangingPunct="1"/>
            <a:endParaRPr lang="zh-CN" altLang="en-US" sz="2400" dirty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endParaRPr lang="zh-CN" altLang="en-US" sz="2400" dirty="0" smtClean="0"/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5895975" y="4449763"/>
            <a:ext cx="3505200" cy="2227262"/>
            <a:chOff x="3552" y="2544"/>
            <a:chExt cx="2208" cy="1517"/>
          </a:xfrm>
        </p:grpSpPr>
        <p:sp>
          <p:nvSpPr>
            <p:cNvPr id="6160" name="AutoShape 5"/>
            <p:cNvSpPr>
              <a:spLocks noChangeArrowheads="1"/>
            </p:cNvSpPr>
            <p:nvPr/>
          </p:nvSpPr>
          <p:spPr bwMode="auto">
            <a:xfrm>
              <a:off x="3552" y="3168"/>
              <a:ext cx="1248" cy="864"/>
            </a:xfrm>
            <a:prstGeom prst="can">
              <a:avLst>
                <a:gd name="adj" fmla="val 3125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35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l"/>
                <a:defRPr sz="26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6161" name="Group 6"/>
            <p:cNvGrpSpPr/>
            <p:nvPr/>
          </p:nvGrpSpPr>
          <p:grpSpPr bwMode="auto">
            <a:xfrm>
              <a:off x="3600" y="2544"/>
              <a:ext cx="2160" cy="1517"/>
              <a:chOff x="3600" y="2544"/>
              <a:chExt cx="2160" cy="1517"/>
            </a:xfrm>
          </p:grpSpPr>
          <p:sp>
            <p:nvSpPr>
              <p:cNvPr id="6162" name="Line 7"/>
              <p:cNvSpPr>
                <a:spLocks noChangeShapeType="1"/>
              </p:cNvSpPr>
              <p:nvPr/>
            </p:nvSpPr>
            <p:spPr bwMode="auto">
              <a:xfrm>
                <a:off x="4176" y="2544"/>
                <a:ext cx="0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3" name="Text Box 8"/>
              <p:cNvSpPr txBox="1">
                <a:spLocks noChangeArrowheads="1"/>
              </p:cNvSpPr>
              <p:nvPr/>
            </p:nvSpPr>
            <p:spPr bwMode="auto">
              <a:xfrm>
                <a:off x="3600" y="3168"/>
                <a:ext cx="120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200">
                    <a:latin typeface="Tahoma" panose="020B0604030504040204" pitchFamily="34" charset="0"/>
                  </a:rPr>
                  <a:t>数据库模式</a:t>
                </a:r>
                <a:endParaRPr kumimoji="1" lang="zh-CN" altLang="en-US" sz="2200">
                  <a:latin typeface="Tahoma" panose="020B0604030504040204" pitchFamily="34" charset="0"/>
                </a:endParaRPr>
              </a:p>
            </p:txBody>
          </p:sp>
          <p:grpSp>
            <p:nvGrpSpPr>
              <p:cNvPr id="6164" name="Group 9"/>
              <p:cNvGrpSpPr/>
              <p:nvPr/>
            </p:nvGrpSpPr>
            <p:grpSpPr bwMode="auto">
              <a:xfrm>
                <a:off x="3648" y="3504"/>
                <a:ext cx="1104" cy="192"/>
                <a:chOff x="4155" y="5054"/>
                <a:chExt cx="5269" cy="1144"/>
              </a:xfrm>
            </p:grpSpPr>
            <p:sp>
              <p:nvSpPr>
                <p:cNvPr id="6168" name="Rectangle 10"/>
                <p:cNvSpPr>
                  <a:spLocks noChangeArrowheads="1"/>
                </p:cNvSpPr>
                <p:nvPr/>
              </p:nvSpPr>
              <p:spPr bwMode="auto">
                <a:xfrm>
                  <a:off x="4155" y="5054"/>
                  <a:ext cx="1756" cy="1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616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287" y="5054"/>
                  <a:ext cx="1494" cy="1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姓名</a:t>
                  </a:r>
                  <a:r>
                    <a:rPr lang="zh-CN" altLang="en-US" sz="1800" b="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 </a:t>
                  </a:r>
                  <a:endParaRPr lang="zh-CN" altLang="en-US" sz="1800" b="0">
                    <a:solidFill>
                      <a:schemeClr val="bg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6170" name="Rectangle 12"/>
                <p:cNvSpPr>
                  <a:spLocks noChangeArrowheads="1"/>
                </p:cNvSpPr>
                <p:nvPr/>
              </p:nvSpPr>
              <p:spPr bwMode="auto">
                <a:xfrm>
                  <a:off x="5911" y="5054"/>
                  <a:ext cx="1757" cy="1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617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6058" y="5054"/>
                  <a:ext cx="1493" cy="1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性别</a:t>
                  </a:r>
                  <a:r>
                    <a:rPr lang="zh-CN" altLang="en-US" sz="160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 </a:t>
                  </a:r>
                  <a:endParaRPr lang="zh-CN" altLang="en-US" sz="1600">
                    <a:solidFill>
                      <a:schemeClr val="bg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6172" name="Rectangle 14"/>
                <p:cNvSpPr>
                  <a:spLocks noChangeArrowheads="1"/>
                </p:cNvSpPr>
                <p:nvPr/>
              </p:nvSpPr>
              <p:spPr bwMode="auto">
                <a:xfrm>
                  <a:off x="7668" y="5054"/>
                  <a:ext cx="1756" cy="1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617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7814" y="5054"/>
                  <a:ext cx="1494" cy="1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90204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成绩</a:t>
                  </a:r>
                  <a:r>
                    <a:rPr lang="zh-CN" altLang="en-US" sz="1600">
                      <a:solidFill>
                        <a:schemeClr val="bg1"/>
                      </a:solidFill>
                      <a:latin typeface="Times New Roman" panose="02020503050405090304" pitchFamily="18" charset="0"/>
                    </a:rPr>
                    <a:t> </a:t>
                  </a:r>
                  <a:endParaRPr lang="zh-CN" altLang="en-US" sz="1600">
                    <a:solidFill>
                      <a:schemeClr val="bg1"/>
                    </a:solidFill>
                    <a:latin typeface="Times New Roman" panose="02020503050405090304" pitchFamily="18" charset="0"/>
                  </a:endParaRPr>
                </a:p>
              </p:txBody>
            </p:sp>
          </p:grpSp>
          <p:sp>
            <p:nvSpPr>
              <p:cNvPr id="6165" name="AutoShape 16"/>
              <p:cNvSpPr>
                <a:spLocks noChangeArrowheads="1"/>
              </p:cNvSpPr>
              <p:nvPr/>
            </p:nvSpPr>
            <p:spPr bwMode="auto">
              <a:xfrm>
                <a:off x="3618" y="3462"/>
                <a:ext cx="1152" cy="426"/>
              </a:xfrm>
              <a:prstGeom prst="wedgeRectCallout">
                <a:avLst>
                  <a:gd name="adj1" fmla="val 74481"/>
                  <a:gd name="adj2" fmla="val 76292"/>
                </a:avLst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1" lang="zh-CN" altLang="en-US" sz="2000" b="0">
                  <a:latin typeface="Tahoma" panose="020B0604030504040204" pitchFamily="34" charset="0"/>
                </a:endParaRPr>
              </a:p>
            </p:txBody>
          </p:sp>
          <p:sp>
            <p:nvSpPr>
              <p:cNvPr id="6166" name="Text Box 17"/>
              <p:cNvSpPr txBox="1">
                <a:spLocks noChangeArrowheads="1"/>
              </p:cNvSpPr>
              <p:nvPr/>
            </p:nvSpPr>
            <p:spPr bwMode="auto">
              <a:xfrm>
                <a:off x="4896" y="3888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30E444"/>
                    </a:solidFill>
                    <a:latin typeface="Times New Roman" panose="02020503050405090304" pitchFamily="18" charset="0"/>
                  </a:rPr>
                  <a:t> </a:t>
                </a:r>
                <a:endParaRPr lang="zh-CN" altLang="en-US" sz="1800">
                  <a:solidFill>
                    <a:srgbClr val="30E444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6167" name="Text Box 18"/>
              <p:cNvSpPr txBox="1">
                <a:spLocks noChangeArrowheads="1"/>
              </p:cNvSpPr>
              <p:nvPr/>
            </p:nvSpPr>
            <p:spPr bwMode="auto">
              <a:xfrm>
                <a:off x="3750" y="3660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503050405090304" pitchFamily="18" charset="0"/>
                  </a:rPr>
                  <a:t>……</a:t>
                </a:r>
                <a:endParaRPr lang="en-US" altLang="zh-CN" sz="1800">
                  <a:latin typeface="Times New Roman" panose="02020503050405090304" pitchFamily="18" charset="0"/>
                </a:endParaRPr>
              </a:p>
            </p:txBody>
          </p:sp>
        </p:grpSp>
      </p:grpSp>
      <p:sp>
        <p:nvSpPr>
          <p:cNvPr id="6149" name="Text Box 19"/>
          <p:cNvSpPr txBox="1">
            <a:spLocks noChangeArrowheads="1"/>
          </p:cNvSpPr>
          <p:nvPr/>
        </p:nvSpPr>
        <p:spPr bwMode="auto">
          <a:xfrm>
            <a:off x="5843588" y="4041775"/>
            <a:ext cx="2189162" cy="777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逻辑模式</a:t>
            </a:r>
            <a:endParaRPr kumimoji="1" lang="zh-CN" altLang="en-US" sz="22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(</a:t>
            </a:r>
            <a:r>
              <a:rPr kumimoji="1" lang="zh-CN" altLang="en-US" sz="2200">
                <a:latin typeface="Tahoma" panose="020B0604030504040204" pitchFamily="34" charset="0"/>
              </a:rPr>
              <a:t>关系模型</a:t>
            </a:r>
            <a:r>
              <a:rPr kumimoji="1" lang="en-US" altLang="zh-CN" sz="2200">
                <a:latin typeface="Tahoma" panose="020B0604030504040204" pitchFamily="34" charset="0"/>
              </a:rPr>
              <a:t>)</a:t>
            </a:r>
            <a:endParaRPr kumimoji="1" lang="en-US" altLang="zh-CN" sz="2200">
              <a:latin typeface="Tahoma" panose="020B0604030504040204" pitchFamily="34" charset="0"/>
            </a:endParaRPr>
          </a:p>
        </p:txBody>
      </p:sp>
      <p:sp>
        <p:nvSpPr>
          <p:cNvPr id="6150" name="Line 20"/>
          <p:cNvSpPr>
            <a:spLocks noChangeShapeType="1"/>
          </p:cNvSpPr>
          <p:nvPr/>
        </p:nvSpPr>
        <p:spPr bwMode="auto">
          <a:xfrm>
            <a:off x="6900863" y="3024188"/>
            <a:ext cx="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Text Box 21"/>
          <p:cNvSpPr txBox="1">
            <a:spLocks noChangeArrowheads="1"/>
          </p:cNvSpPr>
          <p:nvPr/>
        </p:nvSpPr>
        <p:spPr bwMode="auto">
          <a:xfrm>
            <a:off x="5864225" y="2774950"/>
            <a:ext cx="2247900" cy="7921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概念模式</a:t>
            </a:r>
            <a:endParaRPr kumimoji="1" lang="zh-CN" altLang="en-US" sz="22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(E-R</a:t>
            </a:r>
            <a:r>
              <a:rPr kumimoji="1" lang="zh-CN" altLang="en-US" sz="2200">
                <a:latin typeface="Tahoma" panose="020B0604030504040204" pitchFamily="34" charset="0"/>
              </a:rPr>
              <a:t>模型</a:t>
            </a:r>
            <a:r>
              <a:rPr kumimoji="1" lang="en-US" altLang="zh-CN" sz="2200">
                <a:latin typeface="Tahoma" panose="020B0604030504040204" pitchFamily="34" charset="0"/>
              </a:rPr>
              <a:t>)</a:t>
            </a:r>
            <a:endParaRPr kumimoji="1" lang="en-US" altLang="zh-CN" sz="2200">
              <a:latin typeface="Tahoma" panose="020B0604030504040204" pitchFamily="34" charset="0"/>
            </a:endParaRPr>
          </a:p>
        </p:txBody>
      </p:sp>
      <p:sp>
        <p:nvSpPr>
          <p:cNvPr id="6152" name="Text Box 22"/>
          <p:cNvSpPr txBox="1">
            <a:spLocks noChangeArrowheads="1"/>
          </p:cNvSpPr>
          <p:nvPr/>
        </p:nvSpPr>
        <p:spPr bwMode="auto">
          <a:xfrm>
            <a:off x="7318375" y="35575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3.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逻辑设计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3" name="Line 23"/>
          <p:cNvSpPr>
            <a:spLocks noChangeShapeType="1"/>
          </p:cNvSpPr>
          <p:nvPr/>
        </p:nvSpPr>
        <p:spPr bwMode="auto">
          <a:xfrm>
            <a:off x="6929438" y="1865313"/>
            <a:ext cx="0" cy="9001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4" name="Text Box 24"/>
          <p:cNvSpPr txBox="1">
            <a:spLocks noChangeArrowheads="1"/>
          </p:cNvSpPr>
          <p:nvPr/>
        </p:nvSpPr>
        <p:spPr bwMode="auto">
          <a:xfrm>
            <a:off x="5848350" y="1765300"/>
            <a:ext cx="2259013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用户需求</a:t>
            </a:r>
            <a:endParaRPr kumimoji="1" lang="zh-CN" altLang="en-US" sz="2200">
              <a:latin typeface="Tahoma" panose="020B0604030504040204" pitchFamily="34" charset="0"/>
            </a:endParaRPr>
          </a:p>
        </p:txBody>
      </p:sp>
      <p:sp>
        <p:nvSpPr>
          <p:cNvPr id="6155" name="Text Box 25"/>
          <p:cNvSpPr txBox="1">
            <a:spLocks noChangeArrowheads="1"/>
          </p:cNvSpPr>
          <p:nvPr/>
        </p:nvSpPr>
        <p:spPr bwMode="auto">
          <a:xfrm>
            <a:off x="7346950" y="489267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4.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物理设计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6" name="Text Box 26"/>
          <p:cNvSpPr txBox="1">
            <a:spLocks noChangeArrowheads="1"/>
          </p:cNvSpPr>
          <p:nvPr/>
        </p:nvSpPr>
        <p:spPr bwMode="auto">
          <a:xfrm>
            <a:off x="7086600" y="2278063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2.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概念设计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7" name="Line 27"/>
          <p:cNvSpPr>
            <a:spLocks noChangeShapeType="1"/>
          </p:cNvSpPr>
          <p:nvPr/>
        </p:nvSpPr>
        <p:spPr bwMode="auto">
          <a:xfrm>
            <a:off x="6927850" y="1200150"/>
            <a:ext cx="0" cy="584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8" name="Text Box 28"/>
          <p:cNvSpPr txBox="1">
            <a:spLocks noChangeArrowheads="1"/>
          </p:cNvSpPr>
          <p:nvPr/>
        </p:nvSpPr>
        <p:spPr bwMode="auto">
          <a:xfrm>
            <a:off x="7086600" y="1187450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1.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需求分析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9" name="Oval 29"/>
          <p:cNvSpPr>
            <a:spLocks noChangeArrowheads="1"/>
          </p:cNvSpPr>
          <p:nvPr/>
        </p:nvSpPr>
        <p:spPr bwMode="auto">
          <a:xfrm>
            <a:off x="6354763" y="609600"/>
            <a:ext cx="1087437" cy="682625"/>
          </a:xfrm>
          <a:prstGeom prst="ellipse">
            <a:avLst/>
          </a:prstGeom>
          <a:solidFill>
            <a:srgbClr val="00E4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开始</a:t>
            </a:r>
            <a:endParaRPr kumimoji="1" lang="zh-CN" altLang="en-US" sz="2200">
              <a:latin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Alternatives</a:t>
            </a:r>
            <a:endParaRPr lang="en-US" altLang="en-US">
              <a:effectLst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123950"/>
            <a:ext cx="7612170" cy="44477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In designing a database schema, we must ensure that we avoid two major pitfalls:</a:t>
            </a:r>
            <a:endParaRPr lang="en-US" altLang="en-US" sz="2400" dirty="0"/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ea typeface="MS PGothic" panose="020B0600070205080204" pitchFamily="34" charset="-128"/>
              </a:rPr>
              <a:t>Redundancy</a:t>
            </a:r>
            <a:r>
              <a:rPr lang="en-US" altLang="en-US" sz="2400" dirty="0">
                <a:ea typeface="MS PGothic" panose="020B0600070205080204" pitchFamily="34" charset="-128"/>
              </a:rPr>
              <a:t>:  a bad design  may result in repeat information. 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400" dirty="0">
                <a:ea typeface="MS PGothic" panose="020B0600070205080204" pitchFamily="34" charset="-128"/>
              </a:rPr>
              <a:t>Redundant representation of information may lead to data inconsistency among the various copies of information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ea typeface="MS PGothic" panose="020B0600070205080204" pitchFamily="34" charset="-128"/>
              </a:rPr>
              <a:t>Incompleteness</a:t>
            </a:r>
            <a:r>
              <a:rPr lang="en-US" altLang="en-US" sz="2400" dirty="0">
                <a:ea typeface="MS PGothic" panose="020B0600070205080204" pitchFamily="34" charset="-128"/>
              </a:rPr>
              <a:t>: a bad design may make certain aspects of the enterprise difficult or impossible to model.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Avoiding bad designs is not enough. There may be a  large number  of  good designs from which we must choose.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 of the ER Model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Approaches</a:t>
            </a:r>
            <a:endParaRPr lang="en-US" altLang="en-US">
              <a:effectLst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23950"/>
            <a:ext cx="7763090" cy="45819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FF0000"/>
                </a:solidFill>
              </a:rPr>
              <a:t>Entity Relationship Model </a:t>
            </a:r>
            <a:r>
              <a:rPr lang="en-US" altLang="en-US" sz="2400" dirty="0"/>
              <a:t>(covered in this chapter)</a:t>
            </a:r>
            <a:endParaRPr lang="en-US" altLang="en-US" sz="2400" dirty="0"/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Models an enterprise as a collection of </a:t>
            </a:r>
            <a:r>
              <a:rPr lang="en-US" altLang="en-US" sz="2400" i="1" dirty="0">
                <a:ea typeface="MS PGothic" panose="020B0600070205080204" pitchFamily="34" charset="-128"/>
              </a:rPr>
              <a:t>entities </a:t>
            </a:r>
            <a:r>
              <a:rPr lang="en-US" altLang="en-US" sz="2400" dirty="0">
                <a:ea typeface="MS PGothic" panose="020B0600070205080204" pitchFamily="34" charset="-128"/>
              </a:rPr>
              <a:t>and </a:t>
            </a:r>
            <a:r>
              <a:rPr lang="en-US" altLang="en-US" sz="2400" i="1" dirty="0">
                <a:ea typeface="MS PGothic" panose="020B0600070205080204" pitchFamily="34" charset="-128"/>
              </a:rPr>
              <a:t>relationships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400" dirty="0">
                <a:ea typeface="MS PGothic" panose="020B0600070205080204" pitchFamily="34" charset="-128"/>
              </a:rPr>
              <a:t>Entity: a “thing” or “object” in the enterprise that is distinguishable from other objects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3">
              <a:buFont typeface="Arial" panose="020B060402020209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Described by a set of </a:t>
            </a:r>
            <a:r>
              <a:rPr lang="en-US" altLang="en-US" sz="2400" i="1" dirty="0">
                <a:ea typeface="MS PGothic" panose="020B0600070205080204" pitchFamily="34" charset="-128"/>
              </a:rPr>
              <a:t>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400" dirty="0">
                <a:ea typeface="MS PGothic" panose="020B0600070205080204" pitchFamily="34" charset="-128"/>
              </a:rPr>
              <a:t>Relationship: an association among several entities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Represented diagrammatically by an </a:t>
            </a:r>
            <a:r>
              <a:rPr lang="en-US" altLang="en-US" sz="2400" i="1" dirty="0">
                <a:ea typeface="MS PGothic" panose="020B0600070205080204" pitchFamily="34" charset="-128"/>
              </a:rPr>
              <a:t>entity-relationship diagram: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Normalization Theory (Chapter 7)</a:t>
            </a:r>
            <a:endParaRPr lang="en-US" altLang="en-US" sz="2400" dirty="0"/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Formalize what designs are bad, and test for them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model -- Database Modeling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619746" cy="3678809"/>
          </a:xfrm>
        </p:spPr>
        <p:txBody>
          <a:bodyPr/>
          <a:lstStyle/>
          <a:p>
            <a:r>
              <a:rPr lang="en-US" altLang="en-US" sz="2400" dirty="0"/>
              <a:t>The ER data mode was developed to facilitate database design by allowing specification of an </a:t>
            </a:r>
            <a:r>
              <a:rPr lang="en-US" altLang="en-US" sz="2400" b="1" dirty="0">
                <a:solidFill>
                  <a:srgbClr val="002060"/>
                </a:solidFill>
              </a:rPr>
              <a:t>enterprise schema </a:t>
            </a:r>
            <a:r>
              <a:rPr lang="en-US" altLang="en-US" sz="2400" dirty="0"/>
              <a:t>that represents the overall logical structure of a database.</a:t>
            </a:r>
            <a:endParaRPr lang="en-US" altLang="en-US" sz="2400" dirty="0"/>
          </a:p>
          <a:p>
            <a:r>
              <a:rPr lang="en-US" altLang="en-US" sz="2400" dirty="0"/>
              <a:t>The ER data model employs three basic concepts: 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entity sets,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relationship sets,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attributes.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The ER model also has an associated diagrammatic representation, the </a:t>
            </a:r>
            <a:r>
              <a:rPr lang="en-US" altLang="en-US" sz="2400" b="1" dirty="0">
                <a:solidFill>
                  <a:srgbClr val="002060"/>
                </a:solidFill>
              </a:rPr>
              <a:t>ER diagram</a:t>
            </a:r>
            <a:r>
              <a:rPr lang="en-US" altLang="en-US" sz="2400" dirty="0"/>
              <a:t>, which can express the overall logical structure of a database graphically.</a:t>
            </a:r>
            <a:endParaRPr lang="en-US" altLang="en-US" sz="24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Entity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394"/>
            <a:ext cx="7514515" cy="4998159"/>
          </a:xfrm>
        </p:spPr>
        <p:txBody>
          <a:bodyPr/>
          <a:lstStyle/>
          <a:p>
            <a:r>
              <a:rPr lang="en-US" altLang="en-US" sz="2000" dirty="0"/>
              <a:t>An </a:t>
            </a:r>
            <a:r>
              <a:rPr lang="en-US" altLang="en-US" sz="2400" b="1" dirty="0">
                <a:solidFill>
                  <a:srgbClr val="002060"/>
                </a:solidFill>
              </a:rPr>
              <a:t>entity</a:t>
            </a:r>
            <a:r>
              <a:rPr lang="en-US" altLang="en-US" sz="2000" b="1" dirty="0"/>
              <a:t> </a:t>
            </a:r>
            <a:r>
              <a:rPr lang="en-US" altLang="en-US" sz="2000" dirty="0"/>
              <a:t>is an object that exists and is distinguishable from other objects.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Example:  specific person, company, event, plant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An </a:t>
            </a:r>
            <a:r>
              <a:rPr lang="en-US" altLang="en-US" sz="2400" b="1" dirty="0">
                <a:solidFill>
                  <a:srgbClr val="002060"/>
                </a:solidFill>
              </a:rPr>
              <a:t>entity set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is a set of entities of the same type that share the same properties.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Example: set of all persons, companies, trees, holidays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/>
              <a:t>An entity is represented by a set of attributes</a:t>
            </a:r>
            <a:r>
              <a:rPr lang="en-US" altLang="en-US" sz="2000" dirty="0"/>
              <a:t>; i.e., descriptive properties possessed by all members of an entity set.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Example: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     	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 =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</a:rPr>
              <a:t>ID, name, salary 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	course=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course_id</a:t>
            </a:r>
            <a:r>
              <a:rPr lang="en-US" altLang="en-US" sz="2000" i="1" dirty="0">
                <a:ea typeface="MS PGothic" panose="020B0600070205080204" pitchFamily="34" charset="-128"/>
              </a:rPr>
              <a:t>, title, credits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endParaRPr lang="en-US" altLang="en-US" sz="2000" i="1" dirty="0">
              <a:solidFill>
                <a:schemeClr val="tx2"/>
              </a:solidFill>
              <a:ea typeface="MS PGothic" panose="020B0600070205080204" pitchFamily="34" charset="-128"/>
            </a:endParaRPr>
          </a:p>
          <a:p>
            <a:r>
              <a:rPr lang="en-US" altLang="en-US" sz="2000" dirty="0"/>
              <a:t>A subset of the attributes form a  </a:t>
            </a:r>
            <a:r>
              <a:rPr lang="en-US" altLang="en-US" sz="2000" b="1" dirty="0">
                <a:solidFill>
                  <a:srgbClr val="002060"/>
                </a:solidFill>
              </a:rPr>
              <a:t>primary key </a:t>
            </a:r>
            <a:r>
              <a:rPr lang="en-US" altLang="en-US" sz="2000" dirty="0"/>
              <a:t>of the entity set; i.e., uniquely identifying each member of the set.</a:t>
            </a:r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650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Entity Sets --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instructor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and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student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430338"/>
            <a:ext cx="5795962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 in ER Diagram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781235" y="1109663"/>
            <a:ext cx="7615561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Entity sets can be represented graphically as follows:</a:t>
            </a:r>
            <a:endParaRPr kumimoji="1" lang="en-US" altLang="en-US" sz="2400" dirty="0"/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400" dirty="0"/>
              <a:t>Rectangles represent entity sets.</a:t>
            </a:r>
            <a:endParaRPr kumimoji="1" lang="en-US" altLang="en-US" sz="2400" dirty="0"/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400" dirty="0"/>
              <a:t>Attributes listed inside entity rectangle</a:t>
            </a:r>
            <a:endParaRPr kumimoji="1" lang="en-US" altLang="en-US" sz="2400" dirty="0"/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400" dirty="0"/>
              <a:t>Underline indicates primary key attributes</a:t>
            </a:r>
            <a:endParaRPr kumimoji="1" lang="en-US" alt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799" y="3672024"/>
            <a:ext cx="4465041" cy="17154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Relationship Sets</a:t>
            </a:r>
            <a:endParaRPr lang="en-US" dirty="0">
              <a:ea typeface="+mj-ea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7031"/>
            <a:ext cx="7766050" cy="4876800"/>
          </a:xfrm>
        </p:spPr>
        <p:txBody>
          <a:bodyPr/>
          <a:lstStyle/>
          <a:p>
            <a:pPr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2060"/>
                </a:solidFill>
              </a:rPr>
              <a:t>relationship</a:t>
            </a:r>
            <a:r>
              <a:rPr lang="en-US" altLang="en-US" sz="2400" dirty="0"/>
              <a:t> is an association among several entities</a:t>
            </a:r>
            <a:endParaRPr lang="en-US" altLang="en-US" sz="2400" dirty="0"/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/>
              <a:t>	Example:</a:t>
            </a:r>
            <a:br>
              <a:rPr lang="en-US" altLang="en-US" sz="2400" dirty="0"/>
            </a:br>
            <a:r>
              <a:rPr lang="en-US" altLang="en-US" sz="2400" dirty="0"/>
              <a:t>	 44553 (Peltier</a:t>
            </a:r>
            <a:r>
              <a:rPr lang="en-US" altLang="en-US" sz="2400" u="sng" dirty="0"/>
              <a:t>)</a:t>
            </a:r>
            <a:r>
              <a:rPr lang="en-US" altLang="en-US" sz="2400" dirty="0"/>
              <a:t> 	</a:t>
            </a:r>
            <a:r>
              <a:rPr lang="en-US" altLang="en-US" sz="2400" i="1" u="sng" dirty="0"/>
              <a:t>advisor</a:t>
            </a:r>
            <a:r>
              <a:rPr lang="en-US" altLang="en-US" sz="2400" dirty="0"/>
              <a:t>	 22222 (</a:t>
            </a:r>
            <a:r>
              <a:rPr lang="en-US" altLang="en-US" sz="2400" u="sng" dirty="0"/>
              <a:t>Einstein)</a:t>
            </a:r>
            <a:r>
              <a:rPr lang="en-US" altLang="en-US" sz="2400" dirty="0"/>
              <a:t> </a:t>
            </a:r>
            <a:br>
              <a:rPr lang="en-US" altLang="en-US" sz="2400" u="sng" dirty="0"/>
            </a:br>
            <a:r>
              <a:rPr lang="en-US" altLang="en-US" sz="2400" dirty="0"/>
              <a:t>	 </a:t>
            </a:r>
            <a:r>
              <a:rPr lang="en-US" altLang="en-US" sz="2000" i="1" dirty="0"/>
              <a:t>student</a:t>
            </a:r>
            <a:r>
              <a:rPr lang="en-US" altLang="en-US" sz="2000" dirty="0"/>
              <a:t> entity	relationship set	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entity</a:t>
            </a:r>
            <a:endParaRPr lang="en-US" altLang="en-US" sz="2000" dirty="0"/>
          </a:p>
          <a:p>
            <a:pPr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2060"/>
                </a:solidFill>
              </a:rPr>
              <a:t>relationship set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is a mathematical relation among </a:t>
            </a:r>
            <a:r>
              <a:rPr lang="en-US" altLang="en-US" sz="2400" i="1" dirty="0"/>
              <a:t>n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2 entities, each taken from entity sets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	{(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…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 |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  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 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…,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 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  <a:br>
              <a:rPr lang="en-US" altLang="en-US" sz="2400" dirty="0">
                <a:sym typeface="Symbol" panose="05050102010706020507" pitchFamily="18" charset="2"/>
              </a:rPr>
            </a:b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where 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…,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 is a relationship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>
                <a:ea typeface="MS PGothic" panose="020B0600070205080204" pitchFamily="34" charset="-128"/>
                <a:sym typeface="Symbol" panose="05050102010706020507" pitchFamily="18" charset="2"/>
              </a:rPr>
              <a:t>Example: </a:t>
            </a:r>
            <a:endParaRPr lang="en-US" altLang="en-US" sz="24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buFont typeface="Monotype Sorts" charset="2"/>
              <a:buNone/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>
                <a:ea typeface="MS PGothic" panose="020B0600070205080204" pitchFamily="34" charset="-128"/>
                <a:sym typeface="Symbol" panose="05050102010706020507" pitchFamily="18" charset="2"/>
              </a:rPr>
              <a:t>		        (44553,22222)  </a:t>
            </a:r>
            <a:r>
              <a:rPr lang="en-US" altLang="en-US" sz="2400" i="1" dirty="0">
                <a:ea typeface="MS PGothic" panose="020B0600070205080204" pitchFamily="34" charset="-128"/>
                <a:sym typeface="Symbol" panose="05050102010706020507" pitchFamily="18" charset="2"/>
              </a:rPr>
              <a:t>advisor</a:t>
            </a:r>
            <a:endParaRPr lang="en-US" altLang="en-US" sz="24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109663"/>
            <a:ext cx="7521391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Example: we define the relationship set  </a:t>
            </a:r>
            <a:r>
              <a:rPr kumimoji="1" lang="en-US" altLang="en-US" sz="2400" i="1" dirty="0"/>
              <a:t>advisor</a:t>
            </a:r>
            <a:r>
              <a:rPr kumimoji="1" lang="en-US" altLang="en-US" sz="2400" dirty="0"/>
              <a:t> to denote the associations between students and the instructors who act as their advisors.</a:t>
            </a:r>
            <a:endParaRPr kumimoji="1" lang="en-US" altLang="en-US" sz="2400" dirty="0"/>
          </a:p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Pictorially, we draw a line between related entities.</a:t>
            </a:r>
            <a:endParaRPr kumimoji="1" lang="en-US" altLang="en-US" sz="24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11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184" y="3143251"/>
            <a:ext cx="4967024" cy="275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0" y="85725"/>
            <a:ext cx="835025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 Sets via ER Diagrams </a:t>
            </a:r>
            <a:endParaRPr lang="en-US" alt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823595" y="1205034"/>
            <a:ext cx="749681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Diamonds represent relationship sets</a:t>
            </a:r>
            <a:r>
              <a:rPr kumimoji="1" lang="en-US" altLang="en-US" sz="2000" dirty="0"/>
              <a:t>.</a:t>
            </a:r>
            <a:endParaRPr kumimoji="1" lang="en-US" altLang="en-US" sz="2000" dirty="0"/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281" y="2012264"/>
            <a:ext cx="6006782" cy="122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21047" cy="1250759"/>
          </a:xfrm>
        </p:spPr>
        <p:txBody>
          <a:bodyPr/>
          <a:lstStyle/>
          <a:p>
            <a:r>
              <a:rPr lang="en-US" altLang="en-US" sz="2400" dirty="0"/>
              <a:t>An attribute can also be associated with a relationship set.</a:t>
            </a:r>
            <a:endParaRPr lang="en-US" altLang="en-US" sz="2400" dirty="0"/>
          </a:p>
          <a:p>
            <a:r>
              <a:rPr lang="en-US" altLang="en-US" sz="2400" dirty="0"/>
              <a:t>For instance, the </a:t>
            </a:r>
            <a:r>
              <a:rPr lang="en-US" altLang="en-US" sz="2400" i="1" dirty="0"/>
              <a:t>advisor </a:t>
            </a:r>
            <a:r>
              <a:rPr lang="en-US" altLang="en-US" sz="2400" dirty="0"/>
              <a:t>relationship set between entity sets </a:t>
            </a:r>
            <a:r>
              <a:rPr lang="en-US" altLang="en-US" sz="2400" i="1" dirty="0"/>
              <a:t>instructor </a:t>
            </a:r>
            <a:r>
              <a:rPr lang="en-US" altLang="en-US" sz="2400" dirty="0"/>
              <a:t>and </a:t>
            </a:r>
            <a:r>
              <a:rPr lang="en-US" altLang="en-US" sz="2400" i="1" dirty="0"/>
              <a:t>student </a:t>
            </a:r>
            <a:r>
              <a:rPr lang="en-US" altLang="en-US" sz="2400" dirty="0"/>
              <a:t>may have the attribute </a:t>
            </a:r>
            <a:r>
              <a:rPr lang="en-US" altLang="en-US" sz="2400" i="1" dirty="0"/>
              <a:t>date </a:t>
            </a:r>
            <a:r>
              <a:rPr lang="en-US" altLang="en-US" sz="2400" dirty="0"/>
              <a:t>which tracks when the student started being associated with the advisor</a:t>
            </a:r>
            <a:endParaRPr lang="en-US" altLang="en-US" sz="2400" dirty="0"/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40" y="3621162"/>
            <a:ext cx="5993450" cy="2842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with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87500"/>
            <a:ext cx="69326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Roles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349"/>
            <a:ext cx="7888097" cy="1476375"/>
          </a:xfrm>
        </p:spPr>
        <p:txBody>
          <a:bodyPr/>
          <a:lstStyle/>
          <a:p>
            <a:r>
              <a:rPr kumimoji="0" lang="en-US" altLang="en-US" sz="2400" dirty="0"/>
              <a:t>Entity sets of a relationship need not be distinct</a:t>
            </a:r>
            <a:endParaRPr kumimoji="0" lang="en-US" altLang="en-US" sz="2400" dirty="0"/>
          </a:p>
          <a:p>
            <a:pPr lvl="1"/>
            <a:r>
              <a:rPr kumimoji="0" lang="en-US" altLang="en-US" sz="2400" dirty="0">
                <a:ea typeface="MS PGothic" panose="020B0600070205080204" pitchFamily="34" charset="-128"/>
              </a:rPr>
              <a:t>Each occurrence of an entity set plays a “role” in the relationship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The labels “</a:t>
            </a:r>
            <a:r>
              <a:rPr lang="en-US" altLang="ja-JP" sz="2400" i="1" dirty="0" err="1"/>
              <a:t>course_id</a:t>
            </a:r>
            <a:r>
              <a:rPr lang="en-US" altLang="en-US" sz="2400" dirty="0"/>
              <a:t>”</a:t>
            </a:r>
            <a:r>
              <a:rPr lang="en-US" altLang="ja-JP" sz="2400" dirty="0"/>
              <a:t> and </a:t>
            </a:r>
            <a:r>
              <a:rPr lang="en-US" altLang="en-US" sz="2400" dirty="0"/>
              <a:t>“</a:t>
            </a:r>
            <a:r>
              <a:rPr lang="en-US" altLang="ja-JP" sz="2400" i="1" dirty="0" err="1"/>
              <a:t>prereq_id</a:t>
            </a:r>
            <a:r>
              <a:rPr lang="en-US" altLang="en-US" sz="2400" dirty="0"/>
              <a:t>”</a:t>
            </a:r>
            <a:r>
              <a:rPr lang="en-US" altLang="ja-JP" sz="2400" dirty="0"/>
              <a:t> are called </a:t>
            </a:r>
            <a:r>
              <a:rPr lang="en-US" altLang="ja-JP" sz="2400" b="1" dirty="0">
                <a:solidFill>
                  <a:srgbClr val="002060"/>
                </a:solidFill>
              </a:rPr>
              <a:t>roles</a:t>
            </a:r>
            <a:r>
              <a:rPr lang="en-US" altLang="ja-JP" sz="2400" dirty="0"/>
              <a:t>.</a:t>
            </a:r>
            <a:endParaRPr lang="en-US" altLang="en-US" sz="2400" dirty="0"/>
          </a:p>
        </p:txBody>
      </p:sp>
      <p:pic>
        <p:nvPicPr>
          <p:cNvPr id="21508" name="Picture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038" y="3586802"/>
            <a:ext cx="5139204" cy="151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Degree of a Relationship Set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58787" cy="3783012"/>
          </a:xfrm>
        </p:spPr>
        <p:txBody>
          <a:bodyPr/>
          <a:lstStyle/>
          <a:p>
            <a:r>
              <a:rPr lang="en-US" altLang="en-US" sz="2400" dirty="0"/>
              <a:t>Binary relationship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involve two entity sets (or degree two).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most relationship sets in a database system are binary.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Relationships between more than two entity sets are rare.  Most relationships are binary. (More on this later.)</a:t>
            </a:r>
            <a:endParaRPr lang="en-US" altLang="en-US" sz="2400" dirty="0"/>
          </a:p>
          <a:p>
            <a:pPr lvl="1">
              <a:buClr>
                <a:srgbClr val="FF9933"/>
              </a:buClr>
            </a:pPr>
            <a:r>
              <a:rPr lang="en-US" altLang="en-US" sz="2400" dirty="0">
                <a:ea typeface="MS PGothic" panose="020B0600070205080204" pitchFamily="34" charset="-128"/>
              </a:rPr>
              <a:t>Example: </a:t>
            </a:r>
            <a:r>
              <a:rPr lang="en-US" altLang="en-US" sz="2400" i="1" dirty="0">
                <a:ea typeface="MS PGothic" panose="020B0600070205080204" pitchFamily="34" charset="-128"/>
              </a:rPr>
              <a:t>students</a:t>
            </a:r>
            <a:r>
              <a:rPr lang="en-US" altLang="en-US" sz="2400" dirty="0">
                <a:ea typeface="MS PGothic" panose="020B0600070205080204" pitchFamily="34" charset="-128"/>
              </a:rPr>
              <a:t> work on research </a:t>
            </a:r>
            <a:r>
              <a:rPr lang="en-US" altLang="en-US" sz="2400" i="1" dirty="0">
                <a:ea typeface="MS PGothic" panose="020B0600070205080204" pitchFamily="34" charset="-128"/>
              </a:rPr>
              <a:t>projects</a:t>
            </a:r>
            <a:r>
              <a:rPr lang="en-US" altLang="en-US" sz="2400" dirty="0">
                <a:ea typeface="MS PGothic" panose="020B0600070205080204" pitchFamily="34" charset="-128"/>
              </a:rPr>
              <a:t> under the guidance of an </a:t>
            </a:r>
            <a:r>
              <a:rPr lang="en-US" altLang="en-US" sz="24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400" dirty="0">
                <a:ea typeface="MS PGothic" panose="020B0600070205080204" pitchFamily="34" charset="-128"/>
              </a:rPr>
              <a:t>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Clr>
                <a:srgbClr val="FF9933"/>
              </a:buClr>
            </a:pPr>
            <a:r>
              <a:rPr lang="en-US" altLang="en-US" sz="2400" dirty="0">
                <a:ea typeface="MS PGothic" panose="020B0600070205080204" pitchFamily="34" charset="-128"/>
              </a:rPr>
              <a:t>relationship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is a ternary relationship between </a:t>
            </a:r>
            <a:r>
              <a:rPr lang="en-US" altLang="en-US" sz="2400" i="1" dirty="0">
                <a:ea typeface="MS PGothic" panose="020B0600070205080204" pitchFamily="34" charset="-128"/>
              </a:rPr>
              <a:t>instructor, student, </a:t>
            </a:r>
            <a:r>
              <a:rPr lang="en-US" altLang="en-US" sz="2400" dirty="0">
                <a:ea typeface="MS PGothic" panose="020B0600070205080204" pitchFamily="34" charset="-128"/>
              </a:rPr>
              <a:t>and </a:t>
            </a:r>
            <a:r>
              <a:rPr lang="en-US" altLang="en-US" sz="2400" i="1" dirty="0">
                <a:ea typeface="MS PGothic" panose="020B0600070205080204" pitchFamily="34" charset="-128"/>
              </a:rPr>
              <a:t>project</a:t>
            </a:r>
            <a:endParaRPr kumimoji="0" lang="en-US" altLang="en-US" sz="2400" dirty="0">
              <a:ea typeface="MS PGothic" panose="020B0600070205080204" pitchFamily="34" charset="-128"/>
            </a:endParaRPr>
          </a:p>
          <a:p>
            <a:pPr lvl="1"/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Non-binary Relationship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84275"/>
            <a:ext cx="7634796" cy="1680845"/>
          </a:xfrm>
        </p:spPr>
        <p:txBody>
          <a:bodyPr/>
          <a:lstStyle/>
          <a:p>
            <a:r>
              <a:rPr lang="en-US" altLang="en-US" sz="2400" dirty="0"/>
              <a:t>Most relationship sets are binary</a:t>
            </a:r>
            <a:endParaRPr lang="en-US" altLang="en-US" sz="2400" dirty="0"/>
          </a:p>
          <a:p>
            <a:r>
              <a:rPr lang="en-US" altLang="en-US" sz="2400" dirty="0"/>
              <a:t>There are  occasions when it is more convenient to represent relationships as non-binary.</a:t>
            </a:r>
            <a:endParaRPr lang="en-US" altLang="en-US" sz="2400" dirty="0"/>
          </a:p>
          <a:p>
            <a:r>
              <a:rPr lang="en-US" altLang="en-US" sz="2400" dirty="0"/>
              <a:t>E-R Diagram with a Ternary Relationship</a:t>
            </a:r>
            <a:endParaRPr lang="en-US" altLang="en-US" sz="24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23556" name="Picture 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774" y="3594586"/>
            <a:ext cx="5098159" cy="196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Complex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753859" cy="3335210"/>
          </a:xfrm>
        </p:spPr>
        <p:txBody>
          <a:bodyPr/>
          <a:lstStyle/>
          <a:p>
            <a:r>
              <a:rPr lang="en-US" altLang="en-US" sz="2400" dirty="0"/>
              <a:t>Attribute types:</a:t>
            </a:r>
            <a:endParaRPr lang="en-US" altLang="en-US" sz="2400" dirty="0"/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Simple</a:t>
            </a:r>
            <a:r>
              <a:rPr lang="en-US" altLang="en-US" sz="2400" dirty="0">
                <a:ea typeface="MS PGothic" panose="020B0600070205080204" pitchFamily="34" charset="-128"/>
              </a:rPr>
              <a:t> and </a:t>
            </a:r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composite</a:t>
            </a:r>
            <a:r>
              <a:rPr lang="en-US" altLang="en-US" sz="2400" dirty="0">
                <a:ea typeface="MS PGothic" panose="020B0600070205080204" pitchFamily="34" charset="-128"/>
              </a:rPr>
              <a:t> attributes</a:t>
            </a:r>
            <a:r>
              <a:rPr lang="en-US" altLang="en-US" sz="2400" dirty="0" smtClean="0">
                <a:ea typeface="MS PGothic" panose="020B0600070205080204" pitchFamily="34" charset="-128"/>
              </a:rPr>
              <a:t>.</a:t>
            </a:r>
            <a:endParaRPr lang="en-US" altLang="en-US" sz="2400" dirty="0" smtClean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 smtClean="0">
                <a:ea typeface="MS PGothic" panose="020B0600070205080204" pitchFamily="34" charset="-128"/>
              </a:rPr>
              <a:t>Example: name (first name, last name)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Single-valued</a:t>
            </a:r>
            <a:r>
              <a:rPr lang="en-US" altLang="en-US" sz="2400" dirty="0">
                <a:ea typeface="MS PGothic" panose="020B0600070205080204" pitchFamily="34" charset="-128"/>
              </a:rPr>
              <a:t> and </a:t>
            </a:r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multivalued</a:t>
            </a:r>
            <a:r>
              <a:rPr lang="en-US" altLang="en-US" sz="2400" dirty="0">
                <a:ea typeface="MS PGothic" panose="020B0600070205080204" pitchFamily="34" charset="-128"/>
              </a:rPr>
              <a:t>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Example: multivalued attribute: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phone_numbers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Derived</a:t>
            </a:r>
            <a:r>
              <a:rPr lang="en-US" altLang="en-US" sz="2400" dirty="0">
                <a:ea typeface="MS PGothic" panose="020B0600070205080204" pitchFamily="34" charset="-128"/>
              </a:rPr>
              <a:t>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Can be computed from other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Example:  age, given </a:t>
            </a:r>
            <a:r>
              <a:rPr lang="en-US" altLang="en-US" sz="2400" dirty="0" err="1">
                <a:ea typeface="MS PGothic" panose="020B0600070205080204" pitchFamily="34" charset="-128"/>
              </a:rPr>
              <a:t>date_of_birth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b="1" dirty="0">
                <a:solidFill>
                  <a:srgbClr val="002060"/>
                </a:solidFill>
              </a:rPr>
              <a:t>Domain</a:t>
            </a:r>
            <a:r>
              <a:rPr lang="en-US" altLang="en-US" sz="2400" dirty="0"/>
              <a:t> – the set of permitted values for each attribute </a:t>
            </a:r>
            <a:endParaRPr lang="en-US" altLang="en-US" sz="24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Composite Attributes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558786" cy="901700"/>
          </a:xfrm>
        </p:spPr>
        <p:txBody>
          <a:bodyPr/>
          <a:lstStyle/>
          <a:p>
            <a:r>
              <a:rPr lang="en-US" altLang="en-US" sz="2400" dirty="0"/>
              <a:t>Composite attributes allow us to divided attributes  into subparts (other attributes).</a:t>
            </a:r>
            <a:endParaRPr lang="en-US" altLang="en-US" sz="2400" dirty="0"/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26" y="2738206"/>
            <a:ext cx="7796601" cy="239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3480" y="73025"/>
            <a:ext cx="8158578" cy="639763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Complex Attributes  in ER Diagram</a:t>
            </a:r>
            <a:endParaRPr lang="en-US" altLang="en-US" sz="2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0" y="1268413"/>
            <a:ext cx="1916113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Cardinality Constraints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12170" cy="4114800"/>
          </a:xfrm>
        </p:spPr>
        <p:txBody>
          <a:bodyPr/>
          <a:lstStyle/>
          <a:p>
            <a:r>
              <a:rPr lang="en-US" altLang="en-US" sz="2400" dirty="0"/>
              <a:t>Express the number of entities to which another entity can be associated via a relationship set.</a:t>
            </a:r>
            <a:endParaRPr lang="en-US" altLang="en-US" sz="2400" dirty="0"/>
          </a:p>
          <a:p>
            <a:r>
              <a:rPr lang="en-US" altLang="en-US" sz="2400" dirty="0"/>
              <a:t>Most useful in describing binary relationship sets.</a:t>
            </a:r>
            <a:endParaRPr lang="en-US" altLang="en-US" sz="2400" dirty="0"/>
          </a:p>
          <a:p>
            <a:r>
              <a:rPr lang="en-US" altLang="en-US" sz="2400" dirty="0"/>
              <a:t>For a binary relationship set the mapping cardinality must be one of the following types: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One to one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One to many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Many to one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Many to many 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529459" y="4675886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one</a:t>
            </a:r>
            <a:endParaRPr lang="en-US" altLang="en-US" sz="1700" dirty="0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265696" y="4679855"/>
            <a:ext cx="1487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many</a:t>
            </a:r>
            <a:endParaRPr lang="en-US" altLang="en-US" sz="1700" dirty="0"/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488821" y="5267579"/>
            <a:ext cx="707437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2000" dirty="0"/>
              <a:t>Note: Some elements in </a:t>
            </a:r>
            <a:r>
              <a:rPr kumimoji="1" lang="en-US" altLang="en-US" sz="2000" i="1" dirty="0"/>
              <a:t>A</a:t>
            </a:r>
            <a:r>
              <a:rPr kumimoji="1" lang="en-US" altLang="en-US" sz="2000" dirty="0"/>
              <a:t> and </a:t>
            </a:r>
            <a:r>
              <a:rPr kumimoji="1" lang="en-US" altLang="en-US" sz="2000" i="1" dirty="0"/>
              <a:t>B</a:t>
            </a:r>
            <a:r>
              <a:rPr kumimoji="1" lang="en-US" altLang="en-US" sz="2000" dirty="0"/>
              <a:t> may not be mapped to any </a:t>
            </a:r>
            <a:endParaRPr kumimoji="1" lang="en-US" altLang="en-US" sz="2000" dirty="0"/>
          </a:p>
          <a:p>
            <a:r>
              <a:rPr kumimoji="1" lang="en-US" altLang="en-US" sz="2000" dirty="0"/>
              <a:t>elements in the other set</a:t>
            </a:r>
            <a:endParaRPr kumimoji="1" lang="en-US" altLang="en-US" sz="2000" dirty="0"/>
          </a:p>
        </p:txBody>
      </p:sp>
      <p:pic>
        <p:nvPicPr>
          <p:cNvPr id="28678" name="Picture 7" descr="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389379"/>
            <a:ext cx="5939028" cy="3025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 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4921" y="4593781"/>
            <a:ext cx="168967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one</a:t>
            </a:r>
            <a:endParaRPr lang="en-US" altLang="en-US" sz="1700" dirty="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962206" y="4632452"/>
            <a:ext cx="160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many</a:t>
            </a:r>
            <a:endParaRPr lang="en-US" altLang="en-US" sz="1700" dirty="0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507109" y="5126038"/>
            <a:ext cx="70460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2000" dirty="0"/>
              <a:t>Note: Some elements in A and B may not be mapped to any </a:t>
            </a:r>
            <a:endParaRPr kumimoji="1" lang="en-US" altLang="en-US" sz="2000" dirty="0"/>
          </a:p>
          <a:p>
            <a:r>
              <a:rPr kumimoji="1" lang="en-US" altLang="en-US" sz="2000" dirty="0"/>
              <a:t>elements in the other set</a:t>
            </a:r>
            <a:endParaRPr kumimoji="1" lang="en-US" altLang="en-US" sz="2000" dirty="0"/>
          </a:p>
        </p:txBody>
      </p:sp>
      <p:pic>
        <p:nvPicPr>
          <p:cNvPr id="29702" name="Picture 7" descr="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277156"/>
            <a:ext cx="5851524" cy="3053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Cardinality Constraints in ER Diagram</a:t>
            </a:r>
            <a:endParaRPr lang="en-US" alt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647681" cy="2744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/>
              <a:t>We express cardinality constraints by drawing either </a:t>
            </a:r>
            <a:r>
              <a:rPr lang="en-US" altLang="en-US" sz="2200" dirty="0">
                <a:solidFill>
                  <a:srgbClr val="0070C0"/>
                </a:solidFill>
              </a:rPr>
              <a:t>a directed line (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), signifying “one,” or an undirected line (—), signifying “many,” </a:t>
            </a:r>
            <a:r>
              <a:rPr lang="en-US" altLang="en-US" sz="2200" dirty="0">
                <a:sym typeface="Symbol" panose="05050102010706020507" pitchFamily="18" charset="2"/>
              </a:rPr>
              <a:t>between the relationship set and the entity set</a:t>
            </a:r>
            <a:r>
              <a:rPr lang="en-US" altLang="en-US" sz="2200" dirty="0" smtClean="0">
                <a:sym typeface="Symbol" panose="05050102010706020507" pitchFamily="18" charset="2"/>
              </a:rPr>
              <a:t>.</a:t>
            </a:r>
            <a:endParaRPr lang="en-US" alt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/>
              <a:t>One-to-one relationship between an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and a </a:t>
            </a:r>
            <a:r>
              <a:rPr lang="en-US" altLang="en-US" sz="2000" i="1" dirty="0"/>
              <a:t>student 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 student is associated with at most one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via the relationship </a:t>
            </a:r>
            <a:r>
              <a:rPr lang="en-US" altLang="en-US" sz="2000" i="1" dirty="0">
                <a:ea typeface="MS PGothic" panose="020B0600070205080204" pitchFamily="34" charset="-128"/>
              </a:rPr>
              <a:t>advisor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 </a:t>
            </a:r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 is associated with at most one </a:t>
            </a:r>
            <a:r>
              <a:rPr lang="en-US" altLang="en-US" sz="2000" i="1" dirty="0">
                <a:ea typeface="MS PGothic" panose="020B0600070205080204" pitchFamily="34" charset="-128"/>
              </a:rPr>
              <a:t>department</a:t>
            </a:r>
            <a:r>
              <a:rPr lang="en-US" altLang="en-US" sz="2000" dirty="0">
                <a:ea typeface="MS PGothic" panose="020B0600070205080204" pitchFamily="34" charset="-128"/>
              </a:rPr>
              <a:t> via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stud_dept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18"/>
          <a:stretch>
            <a:fillRect/>
          </a:stretch>
        </p:blipFill>
        <p:spPr bwMode="auto">
          <a:xfrm>
            <a:off x="2039524" y="4424908"/>
            <a:ext cx="5534851" cy="145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One-to-Many Relationship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1" y="1087438"/>
            <a:ext cx="7643672" cy="1582610"/>
          </a:xfrm>
        </p:spPr>
        <p:txBody>
          <a:bodyPr/>
          <a:lstStyle/>
          <a:p>
            <a:r>
              <a:rPr lang="en-US" altLang="en-US" sz="2400" dirty="0"/>
              <a:t>one-to-many relationship between an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and a </a:t>
            </a:r>
            <a:r>
              <a:rPr lang="en-US" altLang="en-US" sz="2400" i="1" dirty="0"/>
              <a:t>student</a:t>
            </a:r>
            <a:endParaRPr lang="en-US" altLang="en-US" sz="2400" i="1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an instructor is associated with several (including 0) students via </a:t>
            </a:r>
            <a:r>
              <a:rPr lang="en-US" altLang="en-US" sz="2400" i="1" dirty="0">
                <a:ea typeface="MS PGothic" panose="020B0600070205080204" pitchFamily="34" charset="-128"/>
              </a:rPr>
              <a:t>advisor 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 student is associated with at most one instructor via advisor, 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2281550" y="4047160"/>
            <a:ext cx="5152400" cy="149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852488" y="225425"/>
            <a:ext cx="8113712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Many-to-One Relationships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5724" y="1108012"/>
            <a:ext cx="7752101" cy="1814512"/>
          </a:xfrm>
        </p:spPr>
        <p:txBody>
          <a:bodyPr/>
          <a:lstStyle/>
          <a:p>
            <a:r>
              <a:rPr lang="en-US" altLang="en-US" sz="2400" dirty="0"/>
              <a:t>In a many-to-one relationship between an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and a </a:t>
            </a:r>
            <a:r>
              <a:rPr lang="en-US" altLang="en-US" sz="2400" i="1" dirty="0"/>
              <a:t>student, </a:t>
            </a:r>
            <a:endParaRPr lang="en-US" altLang="en-US" sz="2400" i="1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an instructor</a:t>
            </a:r>
            <a:r>
              <a:rPr lang="en-US" altLang="en-US" sz="2400" i="1" dirty="0"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ea typeface="MS PGothic" panose="020B0600070205080204" pitchFamily="34" charset="-128"/>
              </a:rPr>
              <a:t> is associated with at most one student via </a:t>
            </a:r>
            <a:r>
              <a:rPr lang="en-US" altLang="en-US" sz="2400" i="1" dirty="0">
                <a:ea typeface="MS PGothic" panose="020B0600070205080204" pitchFamily="34" charset="-128"/>
              </a:rPr>
              <a:t>advisor</a:t>
            </a:r>
            <a:r>
              <a:rPr lang="en-US" altLang="en-US" sz="2400" dirty="0">
                <a:ea typeface="MS PGothic" panose="020B0600070205080204" pitchFamily="34" charset="-128"/>
              </a:rPr>
              <a:t>,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and a student is associated with several (including 0) instructors via </a:t>
            </a:r>
            <a:r>
              <a:rPr lang="en-US" altLang="en-US" sz="2400" i="1" dirty="0">
                <a:ea typeface="MS PGothic" panose="020B0600070205080204" pitchFamily="34" charset="-128"/>
              </a:rPr>
              <a:t>advisor</a:t>
            </a:r>
            <a:endParaRPr lang="en-US" altLang="en-US" sz="2400" i="1" dirty="0">
              <a:ea typeface="MS PGothic" panose="020B0600070205080204" pitchFamily="34" charset="-128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971262" y="4030535"/>
            <a:ext cx="5876163" cy="1814513"/>
            <a:chOff x="1999869" y="2532454"/>
            <a:chExt cx="5876163" cy="1814513"/>
          </a:xfrm>
        </p:grpSpPr>
        <p:pic>
          <p:nvPicPr>
            <p:cNvPr id="32772" name="Picture 5"/>
            <p:cNvPicPr preferRelativeResize="0"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164" b="6378"/>
            <a:stretch>
              <a:fillRect/>
            </a:stretch>
          </p:blipFill>
          <p:spPr bwMode="auto">
            <a:xfrm>
              <a:off x="1999869" y="2532454"/>
              <a:ext cx="5876163" cy="181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3" name="Line 6"/>
            <p:cNvSpPr>
              <a:spLocks noChangeShapeType="1"/>
            </p:cNvSpPr>
            <p:nvPr/>
          </p:nvSpPr>
          <p:spPr bwMode="auto">
            <a:xfrm>
              <a:off x="6361211" y="3472078"/>
              <a:ext cx="22860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Many-to-Many Relationship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772972" cy="1546225"/>
          </a:xfrm>
        </p:spPr>
        <p:txBody>
          <a:bodyPr/>
          <a:lstStyle/>
          <a:p>
            <a:r>
              <a:rPr lang="en-US" altLang="en-US" sz="2400" dirty="0"/>
              <a:t>An instructor is associated with several (possibly 0) students via </a:t>
            </a:r>
            <a:r>
              <a:rPr lang="en-US" altLang="en-US" sz="2400" i="1" dirty="0"/>
              <a:t>advisor</a:t>
            </a:r>
            <a:endParaRPr lang="en-US" altLang="en-US" sz="2400" i="1" dirty="0"/>
          </a:p>
          <a:p>
            <a:r>
              <a:rPr lang="en-US" altLang="en-US" sz="2400" dirty="0"/>
              <a:t>A student is associated with several (possibly 0) instructors via </a:t>
            </a:r>
            <a:r>
              <a:rPr lang="en-US" altLang="en-US" sz="2400" i="1" dirty="0"/>
              <a:t>advisor</a:t>
            </a:r>
            <a:r>
              <a:rPr lang="en-US" altLang="en-US" sz="2400" dirty="0"/>
              <a:t> </a:t>
            </a:r>
            <a:endParaRPr lang="en-US" altLang="en-US" sz="2400" dirty="0"/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406" y="3218058"/>
            <a:ext cx="6161088" cy="1260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6988" y="233363"/>
            <a:ext cx="7427912" cy="45561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Total and Partial Participation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72357" y="1068642"/>
            <a:ext cx="7762043" cy="457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08585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b="1" dirty="0"/>
              <a:t>Total participation </a:t>
            </a:r>
            <a:r>
              <a:rPr kumimoji="1" lang="en-US" altLang="en-US" sz="2000" dirty="0"/>
              <a:t>(indicated by double line):  every entity in the entity set participates in at least one relationship in the relationship set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altLang="en-US" sz="2000" dirty="0"/>
              <a:t>participation of </a:t>
            </a:r>
            <a:r>
              <a:rPr kumimoji="1" lang="en-US" altLang="en-US" sz="2000" i="1" dirty="0"/>
              <a:t>student  </a:t>
            </a:r>
            <a:r>
              <a:rPr kumimoji="1" lang="en-US" altLang="en-US" sz="2000" dirty="0"/>
              <a:t>in </a:t>
            </a:r>
            <a:r>
              <a:rPr kumimoji="1" lang="en-US" altLang="en-US" sz="2000" i="1" dirty="0"/>
              <a:t>advisor r</a:t>
            </a:r>
            <a:r>
              <a:rPr kumimoji="1" lang="en-US" altLang="en-US" sz="2000" dirty="0"/>
              <a:t>elation is total</a:t>
            </a:r>
            <a:endParaRPr kumimoji="1" lang="en-US" altLang="en-US" sz="2000" dirty="0"/>
          </a:p>
          <a:p>
            <a:pPr marL="1200150" lvl="2" indent="-342900">
              <a:spcBef>
                <a:spcPct val="35000"/>
              </a:spcBef>
              <a:buClr>
                <a:srgbClr val="33CC33"/>
              </a:buClr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 every </a:t>
            </a:r>
            <a:r>
              <a:rPr kumimoji="1" lang="en-US" altLang="en-US" sz="2000" i="1" dirty="0"/>
              <a:t>student </a:t>
            </a:r>
            <a:r>
              <a:rPr kumimoji="1" lang="en-US" altLang="en-US" sz="2000" dirty="0"/>
              <a:t>must have an associated instructor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b="1" dirty="0"/>
              <a:t>Partial participation</a:t>
            </a:r>
            <a:r>
              <a:rPr kumimoji="1" lang="en-US" altLang="en-US" sz="2000" dirty="0"/>
              <a:t>:  some entities may not participate in any relationship in the relationship set</a:t>
            </a:r>
            <a:endParaRPr kumimoji="1" lang="en-US" altLang="en-US" sz="2000" dirty="0"/>
          </a:p>
          <a:p>
            <a:pPr marL="800100" lvl="1" indent="-342900">
              <a:spcBef>
                <a:spcPct val="35000"/>
              </a:spcBef>
              <a:buClr>
                <a:schemeClr val="hlink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000" dirty="0"/>
              <a:t>Example: participation of </a:t>
            </a:r>
            <a:r>
              <a:rPr kumimoji="1" lang="en-US" altLang="en-US" sz="2000" i="1" dirty="0"/>
              <a:t>instructor</a:t>
            </a:r>
            <a:r>
              <a:rPr kumimoji="1" lang="en-US" altLang="en-US" sz="2000" dirty="0"/>
              <a:t> in </a:t>
            </a:r>
            <a:r>
              <a:rPr kumimoji="1" lang="en-US" altLang="en-US" sz="2000" i="1" dirty="0"/>
              <a:t>advisor</a:t>
            </a:r>
            <a:r>
              <a:rPr kumimoji="1" lang="en-US" altLang="en-US" sz="2000" dirty="0"/>
              <a:t> is partial</a:t>
            </a:r>
            <a:endParaRPr kumimoji="1" lang="en-US" altLang="en-US" sz="2000" dirty="0"/>
          </a:p>
        </p:txBody>
      </p:sp>
      <p:pic>
        <p:nvPicPr>
          <p:cNvPr id="504851" name="Picture 5048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915" y="2432281"/>
            <a:ext cx="5985366" cy="11811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Notation for Expressing More Complex Constraints</a:t>
            </a:r>
            <a:endParaRPr lang="en-US" altLang="en-US" sz="2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0707" y="1106487"/>
            <a:ext cx="7632954" cy="4463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solidFill>
                  <a:srgbClr val="0070C0"/>
                </a:solidFill>
              </a:rPr>
              <a:t>A line may have an associated minimum and maximum cardinality, shown in the form </a:t>
            </a:r>
            <a:r>
              <a:rPr kumimoji="1" lang="en-US" altLang="en-US" sz="2000" i="1" dirty="0" err="1">
                <a:solidFill>
                  <a:srgbClr val="0070C0"/>
                </a:solidFill>
              </a:rPr>
              <a:t>l..h</a:t>
            </a:r>
            <a:r>
              <a:rPr kumimoji="1" lang="en-US" altLang="en-US" sz="2000" dirty="0">
                <a:solidFill>
                  <a:srgbClr val="0070C0"/>
                </a:solidFill>
              </a:rPr>
              <a:t>, where </a:t>
            </a:r>
            <a:r>
              <a:rPr kumimoji="1" lang="en-US" altLang="en-US" sz="2000" i="1" dirty="0">
                <a:solidFill>
                  <a:srgbClr val="0070C0"/>
                </a:solidFill>
              </a:rPr>
              <a:t>l</a:t>
            </a:r>
            <a:r>
              <a:rPr kumimoji="1" lang="en-US" altLang="en-US" sz="2000" dirty="0">
                <a:solidFill>
                  <a:srgbClr val="0070C0"/>
                </a:solidFill>
              </a:rPr>
              <a:t> is the minimum and </a:t>
            </a:r>
            <a:r>
              <a:rPr kumimoji="1" lang="en-US" altLang="en-US" sz="2000" i="1" dirty="0">
                <a:solidFill>
                  <a:srgbClr val="0070C0"/>
                </a:solidFill>
              </a:rPr>
              <a:t>h</a:t>
            </a:r>
            <a:r>
              <a:rPr kumimoji="1" lang="en-US" altLang="en-US" sz="2000" dirty="0">
                <a:solidFill>
                  <a:srgbClr val="0070C0"/>
                </a:solidFill>
              </a:rPr>
              <a:t> the maximum cardinality</a:t>
            </a:r>
            <a:endParaRPr kumimoji="1" lang="en-US" altLang="en-US" sz="2000" dirty="0">
              <a:solidFill>
                <a:srgbClr val="0070C0"/>
              </a:solidFill>
            </a:endParaRP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000" dirty="0"/>
              <a:t>A minimum value of 1 indicates total participation.</a:t>
            </a: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000" dirty="0"/>
              <a:t>A maximum value of 1 indicates that the entity participates  in at most one relationship</a:t>
            </a: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000" dirty="0"/>
              <a:t>A maximum value of * indicates no limit.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Example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2000" dirty="0"/>
              <a:t>Instructor can advise 0 or more students.  A student must have 1 advisor; cannot have multiple advisors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942" y="4270653"/>
            <a:ext cx="5392484" cy="10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70866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Cardinality Constraints on Ternary Relationship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6741" y="1048107"/>
            <a:ext cx="8209309" cy="5189538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We allow at most one arrow out of a ternary (or greater degree) relationship to indicate a cardinality constraint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For example, an arrow from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000" dirty="0">
                <a:ea typeface="MS PGothic" panose="020B0600070205080204" pitchFamily="34" charset="-128"/>
              </a:rPr>
              <a:t> to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indicates each student has at most one guide for a project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If there is more than one arrow, there are two ways of defining the meaning.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000" dirty="0"/>
              <a:t>For example, a ternary relationship </a:t>
            </a:r>
            <a:r>
              <a:rPr lang="en-US" altLang="en-US" sz="2000" i="1" dirty="0"/>
              <a:t>R </a:t>
            </a:r>
            <a:r>
              <a:rPr lang="en-US" altLang="en-US" sz="2000" dirty="0"/>
              <a:t>between </a:t>
            </a:r>
            <a:r>
              <a:rPr lang="en-US" altLang="en-US" sz="2000" i="1" dirty="0"/>
              <a:t>A</a:t>
            </a:r>
            <a:r>
              <a:rPr lang="en-US" altLang="en-US" sz="2000" dirty="0"/>
              <a:t>,</a:t>
            </a:r>
            <a:r>
              <a:rPr lang="en-US" altLang="en-US" sz="2000" i="1" dirty="0"/>
              <a:t> B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C </a:t>
            </a:r>
            <a:r>
              <a:rPr lang="en-US" altLang="en-US" sz="2000" dirty="0"/>
              <a:t>with arrows to </a:t>
            </a:r>
            <a:r>
              <a:rPr lang="en-US" altLang="en-US" sz="2000" i="1" dirty="0"/>
              <a:t>B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C </a:t>
            </a:r>
            <a:r>
              <a:rPr lang="en-US" altLang="en-US" sz="2000" dirty="0"/>
              <a:t>could mean</a:t>
            </a:r>
            <a:endParaRPr lang="en-US" altLang="en-US" sz="2000" dirty="0"/>
          </a:p>
          <a:p>
            <a:pPr marL="800100" lvl="2" indent="0">
              <a:buFont typeface="Webdings" panose="05030102010509060703" pitchFamily="18" charset="2"/>
              <a:buNone/>
              <a:defRPr/>
            </a:pPr>
            <a:r>
              <a:rPr lang="en-US" altLang="en-US" sz="2000" dirty="0"/>
              <a:t>	     1.      Each </a:t>
            </a:r>
            <a:r>
              <a:rPr lang="en-US" altLang="en-US" sz="2000" i="1" dirty="0"/>
              <a:t>A </a:t>
            </a:r>
            <a:r>
              <a:rPr lang="en-US" altLang="en-US" sz="2000" dirty="0"/>
              <a:t>entity is associated with a unique entity from B</a:t>
            </a:r>
            <a:endParaRPr lang="en-US" altLang="en-US" sz="2000" dirty="0"/>
          </a:p>
          <a:p>
            <a:pPr marL="800100" lvl="2" indent="0">
              <a:buFont typeface="Webdings" panose="05030102010509060703" pitchFamily="18" charset="2"/>
              <a:buNone/>
              <a:defRPr/>
            </a:pPr>
            <a:r>
              <a:rPr lang="en-US" altLang="en-US" sz="2000" dirty="0"/>
              <a:t>                and </a:t>
            </a:r>
            <a:r>
              <a:rPr lang="en-US" altLang="en-US" sz="2000" i="1" dirty="0"/>
              <a:t>C </a:t>
            </a:r>
            <a:r>
              <a:rPr lang="en-US" altLang="en-US" sz="2000" dirty="0"/>
              <a:t>or </a:t>
            </a:r>
            <a:endParaRPr lang="en-US" altLang="en-US" sz="2000" dirty="0"/>
          </a:p>
          <a:p>
            <a:pPr lvl="2">
              <a:buFont typeface="Monotype Sorts" charset="2"/>
              <a:buNone/>
              <a:defRPr/>
            </a:pPr>
            <a:r>
              <a:rPr lang="en-US" altLang="en-US" sz="2000" dirty="0"/>
              <a:t>	   2.     Each pair of entities from (</a:t>
            </a:r>
            <a:r>
              <a:rPr lang="en-US" altLang="en-US" sz="2000" i="1" dirty="0"/>
              <a:t>A, B</a:t>
            </a:r>
            <a:r>
              <a:rPr lang="en-US" altLang="en-US" sz="2000" dirty="0"/>
              <a:t>) is associated with a   	unique  </a:t>
            </a:r>
            <a:r>
              <a:rPr lang="en-US" altLang="en-US" sz="2000" i="1" dirty="0"/>
              <a:t>C </a:t>
            </a:r>
            <a:r>
              <a:rPr lang="en-US" altLang="en-US" sz="2000" dirty="0"/>
              <a:t>entity, and each pair (</a:t>
            </a:r>
            <a:r>
              <a:rPr lang="en-US" altLang="en-US" sz="2000" i="1" dirty="0"/>
              <a:t>A, C</a:t>
            </a:r>
            <a:r>
              <a:rPr lang="en-US" altLang="en-US" sz="2000" dirty="0"/>
              <a:t>) is associated 	with a unique </a:t>
            </a:r>
            <a:r>
              <a:rPr lang="en-US" altLang="en-US" sz="2000" i="1" dirty="0"/>
              <a:t>B</a:t>
            </a:r>
            <a:endParaRPr lang="en-US" altLang="en-US" sz="2000" i="1" dirty="0"/>
          </a:p>
          <a:p>
            <a:pPr lvl="1">
              <a:defRPr/>
            </a:pPr>
            <a:r>
              <a:rPr lang="en-US" altLang="en-US" sz="2000" dirty="0"/>
              <a:t>Each alternative has been used in different formalisms</a:t>
            </a:r>
            <a:endParaRPr lang="en-US" altLang="en-US" sz="2000" dirty="0"/>
          </a:p>
          <a:p>
            <a:pPr lvl="1">
              <a:defRPr/>
            </a:pPr>
            <a:r>
              <a:rPr lang="en-US" altLang="en-US" sz="2000" dirty="0"/>
              <a:t>To avoid confusion we outlaw more than one arrow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222375"/>
            <a:ext cx="7647681" cy="3386201"/>
          </a:xfrm>
        </p:spPr>
        <p:txBody>
          <a:bodyPr/>
          <a:lstStyle/>
          <a:p>
            <a:r>
              <a:rPr lang="en-US" altLang="en-US" sz="2400" dirty="0"/>
              <a:t>Primary keys provide a way to specify how entities and  relations are distinguished.  We will consider: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Relationship sets.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Weak 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Entity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7925"/>
            <a:ext cx="7534401" cy="3893947"/>
          </a:xfrm>
        </p:spPr>
        <p:txBody>
          <a:bodyPr/>
          <a:lstStyle/>
          <a:p>
            <a:r>
              <a:rPr lang="en-US" altLang="en-US" sz="2400" dirty="0"/>
              <a:t>By definition, individual entities are distinct.</a:t>
            </a:r>
            <a:endParaRPr lang="en-US" altLang="en-US" sz="2400" dirty="0"/>
          </a:p>
          <a:p>
            <a:r>
              <a:rPr lang="en-US" altLang="en-US" sz="2400" dirty="0"/>
              <a:t>From database perspective, the differences among them must be expressed in terms of their attributes.</a:t>
            </a:r>
            <a:endParaRPr lang="en-US" altLang="en-US" sz="2400" dirty="0"/>
          </a:p>
          <a:p>
            <a:r>
              <a:rPr lang="en-US" altLang="en-US" sz="2400" dirty="0"/>
              <a:t>The values of the attribute values of an entity must be such that they can uniquely identify the entity.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No two entities in an entity set are allowed to have exactly the same value for all attributes.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A key for an entity is a set of attributes that suffice to distinguish entities from each other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Relationship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857"/>
            <a:ext cx="7665436" cy="4462272"/>
          </a:xfrm>
        </p:spPr>
        <p:txBody>
          <a:bodyPr/>
          <a:lstStyle/>
          <a:p>
            <a:r>
              <a:rPr lang="en-US" altLang="en-US" sz="2400" dirty="0"/>
              <a:t>To distinguish among the various relationships of a relationship set </a:t>
            </a:r>
            <a:r>
              <a:rPr lang="en-US" altLang="en-US" sz="2400" dirty="0">
                <a:solidFill>
                  <a:srgbClr val="FF0000"/>
                </a:solidFill>
              </a:rPr>
              <a:t>we use the individual  primary keys of the entities in the relationship set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Let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be a relationship set involving entity sets E1, E2, .. </a:t>
            </a:r>
            <a:r>
              <a:rPr lang="en-US" altLang="en-US" sz="2000" dirty="0" err="1">
                <a:ea typeface="MS PGothic" panose="020B0600070205080204" pitchFamily="34" charset="-128"/>
              </a:rPr>
              <a:t>En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primary key for R is consists of the  union of the primary keys of entity sets E1, E2, ..</a:t>
            </a:r>
            <a:r>
              <a:rPr lang="en-US" altLang="en-US" sz="2000" dirty="0" err="1">
                <a:ea typeface="MS PGothic" panose="020B0600070205080204" pitchFamily="34" charset="-128"/>
              </a:rPr>
              <a:t>En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If the relationship set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has attributes  a1, a2, .., am associated with it, then the  primary key of </a:t>
            </a:r>
            <a:r>
              <a:rPr lang="en-US" altLang="en-US" sz="2000" i="1" dirty="0">
                <a:ea typeface="MS PGothic" panose="020B0600070205080204" pitchFamily="34" charset="-128"/>
              </a:rPr>
              <a:t>R  </a:t>
            </a:r>
            <a:r>
              <a:rPr lang="en-US" altLang="en-US" sz="2000" dirty="0">
                <a:ea typeface="MS PGothic" panose="020B0600070205080204" pitchFamily="34" charset="-128"/>
              </a:rPr>
              <a:t>also includes the attributes  a1, a2, .., am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Example: relationship set “advisor”.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primary key  consists of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instructor.ID</a:t>
            </a:r>
            <a:r>
              <a:rPr lang="en-US" altLang="en-US" sz="2000" dirty="0">
                <a:ea typeface="MS PGothic" panose="020B0600070205080204" pitchFamily="34" charset="-128"/>
              </a:rPr>
              <a:t> and s</a:t>
            </a:r>
            <a:r>
              <a:rPr lang="en-US" altLang="en-US" sz="2000" i="1" dirty="0">
                <a:ea typeface="MS PGothic" panose="020B0600070205080204" pitchFamily="34" charset="-128"/>
              </a:rPr>
              <a:t>tudent.ID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The choice of the primary key for a relationship set depends on  the mapping cardinality of the relationship set.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5123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Primary key for Binary Relationship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93869"/>
            <a:ext cx="7741328" cy="5096060"/>
          </a:xfrm>
        </p:spPr>
        <p:txBody>
          <a:bodyPr/>
          <a:lstStyle/>
          <a:p>
            <a:r>
              <a:rPr lang="en-US" altLang="en-US" sz="2400" dirty="0"/>
              <a:t>Many-to-Many relationships.   The preceding union of the primary keys is a minimal superkey and is chosen  as the primary key.</a:t>
            </a:r>
            <a:endParaRPr lang="en-US" altLang="en-US" sz="2400" dirty="0"/>
          </a:p>
          <a:p>
            <a:r>
              <a:rPr lang="en-US" altLang="en-US" sz="2400" dirty="0"/>
              <a:t>One-to-Many relationships . The primary key of the “Many” side is a minimal superkey and is used as the primary key.</a:t>
            </a:r>
            <a:endParaRPr lang="en-US" altLang="en-US" sz="2400" dirty="0"/>
          </a:p>
          <a:p>
            <a:r>
              <a:rPr lang="en-US" altLang="en-US" sz="2400" dirty="0"/>
              <a:t>Many-to-one relationships. The primary key of the “Many” side is a minimal superkey and is used as the primary key.</a:t>
            </a:r>
            <a:endParaRPr lang="en-US" altLang="en-US" sz="2400" dirty="0"/>
          </a:p>
          <a:p>
            <a:r>
              <a:rPr lang="en-US" altLang="en-US" sz="2400" dirty="0"/>
              <a:t>One-to-one relationships. The primary key of either one of the participating entity sets forms a minimal superkey, and either one can be chosen as the primary key.</a:t>
            </a:r>
            <a:endParaRPr lang="en-US" altLang="en-US" sz="24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142" y="1168823"/>
            <a:ext cx="8077199" cy="4138533"/>
          </a:xfrm>
        </p:spPr>
        <p:txBody>
          <a:bodyPr/>
          <a:lstStyle/>
          <a:p>
            <a:r>
              <a:rPr lang="en-US" altLang="en-US" sz="2400" dirty="0"/>
              <a:t>Consider a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entity, which is uniquely identified by a </a:t>
            </a:r>
            <a:r>
              <a:rPr lang="en-US" altLang="en-US" sz="2400" i="1" dirty="0" err="1"/>
              <a:t>course_id</a:t>
            </a:r>
            <a:r>
              <a:rPr lang="en-US" altLang="en-US" sz="2400" dirty="0"/>
              <a:t>, </a:t>
            </a:r>
            <a:r>
              <a:rPr lang="en-US" altLang="en-US" sz="2400" i="1" dirty="0"/>
              <a:t>semester, year</a:t>
            </a:r>
            <a:r>
              <a:rPr lang="en-US" altLang="en-US" sz="2400" dirty="0"/>
              <a:t>, and </a:t>
            </a:r>
            <a:r>
              <a:rPr lang="en-US" altLang="en-US" sz="2400" i="1" dirty="0" err="1"/>
              <a:t>sec_id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r>
              <a:rPr lang="en-US" altLang="en-US" sz="2400" dirty="0"/>
              <a:t>Clearly, section entities are related to course entities. Suppose we create a relationship set </a:t>
            </a:r>
            <a:r>
              <a:rPr lang="en-US" altLang="en-US" sz="2400" i="1" dirty="0" err="1"/>
              <a:t>sec_course</a:t>
            </a:r>
            <a:r>
              <a:rPr lang="en-US" altLang="en-US" sz="2400" dirty="0"/>
              <a:t> between entity sets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course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r>
              <a:rPr lang="en-US" altLang="en-US" sz="2400" dirty="0"/>
              <a:t>Note that the information in </a:t>
            </a:r>
            <a:r>
              <a:rPr lang="en-US" altLang="en-US" sz="2400" i="1" dirty="0" err="1"/>
              <a:t>sec_course</a:t>
            </a:r>
            <a:r>
              <a:rPr lang="en-US" altLang="en-US" sz="2400" dirty="0"/>
              <a:t> is redundant, since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already has an attribute </a:t>
            </a:r>
            <a:r>
              <a:rPr lang="en-US" altLang="en-US" sz="2400" i="1" dirty="0" err="1"/>
              <a:t>course_id</a:t>
            </a:r>
            <a:r>
              <a:rPr lang="en-US" altLang="en-US" sz="2400" dirty="0"/>
              <a:t>, which identifies the course with which the section is related. </a:t>
            </a:r>
            <a:endParaRPr lang="en-US" altLang="en-US" sz="2400" dirty="0"/>
          </a:p>
          <a:p>
            <a:r>
              <a:rPr lang="en-US" altLang="en-US" sz="2400" dirty="0"/>
              <a:t>One option to deal with this redundancy is to get rid of the relationship </a:t>
            </a:r>
            <a:r>
              <a:rPr lang="en-US" altLang="en-US" sz="2400" dirty="0" err="1"/>
              <a:t>s</a:t>
            </a:r>
            <a:r>
              <a:rPr lang="en-US" altLang="en-US" sz="2400" i="1" dirty="0" err="1"/>
              <a:t>ec_course</a:t>
            </a:r>
            <a:r>
              <a:rPr lang="en-US" altLang="en-US" sz="2400" dirty="0"/>
              <a:t>;  however, by doing so the relationship between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course </a:t>
            </a:r>
            <a:r>
              <a:rPr lang="en-US" altLang="en-US" sz="2400" dirty="0"/>
              <a:t>becomes implicit in an attribute, which is not desirable.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56443"/>
            <a:ext cx="7668514" cy="5042732"/>
          </a:xfrm>
        </p:spPr>
        <p:txBody>
          <a:bodyPr/>
          <a:lstStyle/>
          <a:p>
            <a:r>
              <a:rPr lang="en-US" altLang="en-US" sz="2000" dirty="0"/>
              <a:t>An alternative way to deal with this redundancy is to not store the attribute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  in the </a:t>
            </a:r>
            <a:r>
              <a:rPr lang="en-US" altLang="en-US" sz="2000" i="1" dirty="0"/>
              <a:t>section</a:t>
            </a:r>
            <a:r>
              <a:rPr lang="en-US" altLang="en-US" sz="2000" dirty="0"/>
              <a:t> entity and to only store the remaining attributes </a:t>
            </a:r>
            <a:r>
              <a:rPr lang="en-US" altLang="en-US" sz="2000" i="1" dirty="0" err="1"/>
              <a:t>section_id</a:t>
            </a:r>
            <a:r>
              <a:rPr lang="en-US" altLang="en-US" sz="2000" dirty="0"/>
              <a:t>, 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, and </a:t>
            </a:r>
            <a:r>
              <a:rPr lang="en-US" altLang="en-US" sz="2000" i="1" dirty="0"/>
              <a:t>semester. </a:t>
            </a:r>
            <a:endParaRPr lang="en-US" altLang="en-US" sz="2000" i="1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However, the entity set </a:t>
            </a:r>
            <a:r>
              <a:rPr lang="en-US" altLang="en-US" sz="2000" i="1" dirty="0">
                <a:ea typeface="MS PGothic" panose="020B0600070205080204" pitchFamily="34" charset="-128"/>
              </a:rPr>
              <a:t>section</a:t>
            </a:r>
            <a:r>
              <a:rPr lang="en-US" altLang="en-US" sz="2000" dirty="0">
                <a:ea typeface="MS PGothic" panose="020B0600070205080204" pitchFamily="34" charset="-128"/>
              </a:rPr>
              <a:t> then does not have enough attributes to identify a particular </a:t>
            </a:r>
            <a:r>
              <a:rPr lang="en-US" altLang="en-US" sz="2000" i="1" dirty="0">
                <a:ea typeface="MS PGothic" panose="020B0600070205080204" pitchFamily="34" charset="-128"/>
              </a:rPr>
              <a:t>section</a:t>
            </a:r>
            <a:r>
              <a:rPr lang="en-US" altLang="en-US" sz="2000" dirty="0">
                <a:ea typeface="MS PGothic" panose="020B0600070205080204" pitchFamily="34" charset="-128"/>
              </a:rPr>
              <a:t> entity uniquely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To deal with this problem, we treat the relationship </a:t>
            </a:r>
            <a:r>
              <a:rPr lang="en-US" altLang="en-US" sz="2000" i="1" dirty="0" err="1"/>
              <a:t>sec_course</a:t>
            </a:r>
            <a:r>
              <a:rPr lang="en-US" altLang="en-US" sz="2000" dirty="0"/>
              <a:t>  as a special relationship that provides extra information, in this case, the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required to identify </a:t>
            </a:r>
            <a:r>
              <a:rPr lang="en-US" altLang="en-US" sz="2000" i="1" dirty="0"/>
              <a:t>section</a:t>
            </a:r>
            <a:r>
              <a:rPr lang="en-US" altLang="en-US" sz="2000" dirty="0"/>
              <a:t>  entities uniquely.</a:t>
            </a:r>
            <a:endParaRPr lang="en-US" altLang="en-US" sz="2000" dirty="0"/>
          </a:p>
          <a:p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2060"/>
                </a:solidFill>
              </a:rPr>
              <a:t>weak entity set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is one whose existence is dependent on another entity, called its </a:t>
            </a:r>
            <a:r>
              <a:rPr lang="en-US" altLang="en-US" sz="2400" b="1" dirty="0">
                <a:solidFill>
                  <a:srgbClr val="002060"/>
                </a:solidFill>
              </a:rPr>
              <a:t>identifying entity</a:t>
            </a:r>
            <a:endParaRPr lang="en-US" altLang="en-US" sz="2400" dirty="0">
              <a:solidFill>
                <a:srgbClr val="002060"/>
              </a:solidFill>
            </a:endParaRPr>
          </a:p>
          <a:p>
            <a:r>
              <a:rPr lang="en-US" altLang="en-US" sz="2000" dirty="0"/>
              <a:t>Instead of associating a primary key with a weak entity, we use the identifying entity, along with extra attributes called </a:t>
            </a:r>
            <a:r>
              <a:rPr lang="en-US" altLang="en-US" sz="2000" b="1" dirty="0">
                <a:solidFill>
                  <a:srgbClr val="002060"/>
                </a:solidFill>
              </a:rPr>
              <a:t>discriminator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to uniquely identify a weak entity. 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8415"/>
            <a:ext cx="7534402" cy="4630593"/>
          </a:xfrm>
        </p:spPr>
        <p:txBody>
          <a:bodyPr/>
          <a:lstStyle/>
          <a:p>
            <a:r>
              <a:rPr lang="en-US" altLang="en-US" sz="2000" dirty="0"/>
              <a:t>An entity set that is not a weak entity set is termed a </a:t>
            </a:r>
            <a:r>
              <a:rPr lang="en-US" altLang="en-US" sz="2000" b="1" dirty="0">
                <a:solidFill>
                  <a:srgbClr val="002060"/>
                </a:solidFill>
              </a:rPr>
              <a:t>strong entity set</a:t>
            </a:r>
            <a:r>
              <a:rPr lang="en-US" altLang="en-US" sz="2000" dirty="0">
                <a:solidFill>
                  <a:srgbClr val="000099"/>
                </a:solidFill>
              </a:rPr>
              <a:t>.</a:t>
            </a:r>
            <a:endParaRPr lang="en-US" altLang="en-US" sz="2000" dirty="0">
              <a:solidFill>
                <a:srgbClr val="000099"/>
              </a:solidFill>
            </a:endParaRPr>
          </a:p>
          <a:p>
            <a:r>
              <a:rPr lang="en-US" altLang="en-US" sz="2000" dirty="0"/>
              <a:t>Every weak entity must be associated with an identifying entity; that is, the weak entity set is said to be </a:t>
            </a:r>
            <a:r>
              <a:rPr lang="en-US" altLang="en-US" sz="2000" b="1" dirty="0">
                <a:solidFill>
                  <a:srgbClr val="002060"/>
                </a:solidFill>
              </a:rPr>
              <a:t>existence dependent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on the identifying entity set. </a:t>
            </a:r>
            <a:endParaRPr lang="en-US" altLang="en-US" sz="2000" dirty="0"/>
          </a:p>
          <a:p>
            <a:r>
              <a:rPr lang="en-US" altLang="en-US" sz="2000" dirty="0"/>
              <a:t>The identifying entity set is said to </a:t>
            </a:r>
            <a:r>
              <a:rPr lang="en-US" altLang="en-US" sz="2000" b="1" dirty="0">
                <a:solidFill>
                  <a:srgbClr val="002060"/>
                </a:solidFill>
              </a:rPr>
              <a:t>own</a:t>
            </a:r>
            <a:r>
              <a:rPr lang="en-US" altLang="en-US" sz="2000" dirty="0"/>
              <a:t> the weak entity set that it identifies. </a:t>
            </a:r>
            <a:endParaRPr lang="en-US" altLang="en-US" sz="2000" dirty="0"/>
          </a:p>
          <a:p>
            <a:r>
              <a:rPr lang="en-US" altLang="en-US" sz="2000" dirty="0"/>
              <a:t>The relationship associating the weak entity set with the identifying entity set is called the </a:t>
            </a:r>
            <a:r>
              <a:rPr lang="en-US" altLang="en-US" sz="2000" b="1" dirty="0">
                <a:solidFill>
                  <a:srgbClr val="002060"/>
                </a:solidFill>
              </a:rPr>
              <a:t>identifying relationship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Note that the relational schema we eventually create from the entity set </a:t>
            </a:r>
            <a:r>
              <a:rPr lang="en-US" altLang="en-US" sz="2000" i="1" dirty="0"/>
              <a:t>section</a:t>
            </a:r>
            <a:r>
              <a:rPr lang="en-US" altLang="en-US" sz="2000" dirty="0"/>
              <a:t> does have the attribute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for reasons that will become clear later, even though we have dropped the attribute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  from the entity set </a:t>
            </a:r>
            <a:r>
              <a:rPr lang="en-US" altLang="en-US" sz="2000" i="1" dirty="0"/>
              <a:t>section.</a:t>
            </a:r>
            <a:endParaRPr lang="en-US" altLang="en-US" sz="2000" i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57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Expressing Weak Entity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42557"/>
            <a:ext cx="7411789" cy="2222436"/>
          </a:xfrm>
        </p:spPr>
        <p:txBody>
          <a:bodyPr/>
          <a:lstStyle/>
          <a:p>
            <a:r>
              <a:rPr lang="en-US" altLang="en-US" sz="2000" dirty="0"/>
              <a:t>In E-R diagrams, a weak entity set is depicted via a double rectangle.</a:t>
            </a:r>
            <a:endParaRPr lang="en-US" altLang="en-US" sz="2000" dirty="0"/>
          </a:p>
          <a:p>
            <a:r>
              <a:rPr lang="en-US" altLang="en-US" sz="2000" dirty="0"/>
              <a:t>We underline the discriminator of a weak entity set  with a dashed line.</a:t>
            </a:r>
            <a:endParaRPr lang="en-US" altLang="en-US" sz="2000" dirty="0"/>
          </a:p>
          <a:p>
            <a:r>
              <a:rPr lang="en-US" altLang="en-US" sz="2000" dirty="0"/>
              <a:t>The relationship set connecting the  weak entity set to the identifying strong entity set is depicted by a double diamond. </a:t>
            </a:r>
            <a:endParaRPr lang="en-US" altLang="en-US" sz="2000" dirty="0"/>
          </a:p>
          <a:p>
            <a:r>
              <a:rPr lang="en-US" altLang="en-US" sz="2000" dirty="0"/>
              <a:t>Primary key for </a:t>
            </a:r>
            <a:r>
              <a:rPr lang="en-US" altLang="en-US" sz="2000" i="1" dirty="0"/>
              <a:t>section </a:t>
            </a:r>
            <a:r>
              <a:rPr lang="en-US" altLang="en-US" sz="2000" dirty="0"/>
              <a:t>– (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i="1" dirty="0"/>
              <a:t>, semester, year</a:t>
            </a:r>
            <a:r>
              <a:rPr lang="en-US" altLang="en-US" sz="2000" dirty="0"/>
              <a:t>)</a:t>
            </a:r>
            <a:endParaRPr lang="en-US" alt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416" y="3994079"/>
            <a:ext cx="6591616" cy="135128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Redundant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431" y="844549"/>
            <a:ext cx="8067425" cy="3313975"/>
          </a:xfrm>
        </p:spPr>
        <p:txBody>
          <a:bodyPr/>
          <a:lstStyle/>
          <a:p>
            <a:r>
              <a:rPr lang="en-US" altLang="en-US" sz="2000" dirty="0"/>
              <a:t>Suppose we have entity sets:</a:t>
            </a:r>
            <a:endParaRPr lang="en-US" altLang="en-US" sz="2000" dirty="0"/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, with attributes: </a:t>
            </a:r>
            <a:r>
              <a:rPr lang="en-US" altLang="en-US" sz="2000" i="1" dirty="0">
                <a:ea typeface="MS PGothic" panose="020B0600070205080204" pitchFamily="34" charset="-128"/>
              </a:rPr>
              <a:t>ID</a:t>
            </a:r>
            <a:r>
              <a:rPr lang="en-US" altLang="en-US" sz="2000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>
                <a:ea typeface="MS PGothic" panose="020B0600070205080204" pitchFamily="34" charset="-128"/>
              </a:rPr>
              <a:t>name,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tot_cred</a:t>
            </a:r>
            <a:r>
              <a:rPr lang="en-US" altLang="en-US" sz="2000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>
                <a:ea typeface="MS PGothic" panose="020B0600070205080204" pitchFamily="34" charset="-128"/>
              </a:rPr>
              <a:t>dept_name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department, </a:t>
            </a:r>
            <a:r>
              <a:rPr lang="en-US" altLang="en-US" sz="2000" dirty="0">
                <a:ea typeface="MS PGothic" panose="020B0600070205080204" pitchFamily="34" charset="-128"/>
              </a:rPr>
              <a:t>with attributes: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dept_name</a:t>
            </a:r>
            <a:r>
              <a:rPr lang="en-US" altLang="en-US" sz="2000" i="1" dirty="0">
                <a:ea typeface="MS PGothic" panose="020B0600070205080204" pitchFamily="34" charset="-128"/>
              </a:rPr>
              <a:t>, building, budget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We model the fact that each student has an associated department</a:t>
            </a:r>
            <a:r>
              <a:rPr lang="en-US" altLang="en-US" sz="2000" i="1" dirty="0"/>
              <a:t> </a:t>
            </a:r>
            <a:r>
              <a:rPr lang="en-US" altLang="en-US" sz="2000" dirty="0"/>
              <a:t>using a relationship set </a:t>
            </a:r>
            <a:r>
              <a:rPr lang="en-US" altLang="en-US" sz="2000" i="1" dirty="0" err="1"/>
              <a:t>stud_dept</a:t>
            </a:r>
            <a:endParaRPr lang="en-US" altLang="en-US" sz="2000" i="1" dirty="0"/>
          </a:p>
          <a:p>
            <a:r>
              <a:rPr lang="en-US" altLang="en-US" sz="2000" dirty="0"/>
              <a:t>The attribute </a:t>
            </a:r>
            <a:r>
              <a:rPr lang="en-US" altLang="en-US" sz="2000" i="1" dirty="0"/>
              <a:t>dept_name </a:t>
            </a:r>
            <a:r>
              <a:rPr lang="en-US" altLang="en-US" sz="2000" dirty="0"/>
              <a:t>in </a:t>
            </a:r>
            <a:r>
              <a:rPr lang="en-US" altLang="en-US" sz="2000" i="1" dirty="0"/>
              <a:t>student</a:t>
            </a:r>
            <a:r>
              <a:rPr lang="en-US" altLang="en-US" sz="2000" dirty="0"/>
              <a:t> below replicates information present in the relationship and is therefore  redundant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and needs to be removed.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BUT: when converting back to tables, in some cases the attribute gets reintroduced, as we will see later.</a:t>
            </a:r>
            <a:endParaRPr lang="en-US" alt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272" y="4772946"/>
            <a:ext cx="5560258" cy="208505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>
            <a:off x="2006599" y="6075680"/>
            <a:ext cx="9245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Diagram for a University Enterprise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/>
          <a:srcRect r="-2934"/>
          <a:stretch>
            <a:fillRect/>
          </a:stretch>
        </p:blipFill>
        <p:spPr>
          <a:xfrm>
            <a:off x="1247095" y="863601"/>
            <a:ext cx="6464227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24399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143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8167" y="1130365"/>
            <a:ext cx="7563231" cy="3917124"/>
          </a:xfrm>
        </p:spPr>
        <p:txBody>
          <a:bodyPr/>
          <a:lstStyle/>
          <a:p>
            <a:r>
              <a:rPr lang="en-US" altLang="en-US" sz="2400" dirty="0"/>
              <a:t>Entity sets and relationship sets can be expressed uniformly as </a:t>
            </a:r>
            <a:r>
              <a:rPr lang="en-US" altLang="en-US" sz="2400" i="1" dirty="0"/>
              <a:t>relation schemas </a:t>
            </a:r>
            <a:r>
              <a:rPr lang="en-US" altLang="en-US" sz="2400" dirty="0"/>
              <a:t>that represent the contents of the database.</a:t>
            </a:r>
            <a:endParaRPr lang="en-US" altLang="en-US" sz="2400" dirty="0"/>
          </a:p>
          <a:p>
            <a:r>
              <a:rPr lang="en-US" altLang="en-US" sz="2400" dirty="0"/>
              <a:t>A database which conforms to an E-R diagram can be represented by a collection of schemas.</a:t>
            </a:r>
            <a:endParaRPr lang="en-US" altLang="en-US" sz="2400" dirty="0"/>
          </a:p>
          <a:p>
            <a:r>
              <a:rPr lang="en-US" altLang="en-US" sz="2400" dirty="0"/>
              <a:t>For each entity set and relationship set there is a unique schema that is assigned the name of the corresponding entity set or relationship set.</a:t>
            </a:r>
            <a:endParaRPr lang="en-US" altLang="en-US" sz="2400" dirty="0"/>
          </a:p>
          <a:p>
            <a:r>
              <a:rPr lang="en-US" altLang="en-US" sz="2400" dirty="0"/>
              <a:t>Each schema has a number of columns (generally corresponding to attributes), which have unique names.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413"/>
            <a:ext cx="7612063" cy="2528887"/>
          </a:xfrm>
        </p:spPr>
        <p:txBody>
          <a:bodyPr/>
          <a:lstStyle/>
          <a:p>
            <a:r>
              <a:rPr lang="en-US" altLang="en-US" sz="2000" dirty="0"/>
              <a:t>A strong entity set reduces to a schema with the same </a:t>
            </a:r>
            <a:r>
              <a:rPr lang="en-US" altLang="en-US" sz="2000" dirty="0" smtClean="0"/>
              <a:t>attributes</a:t>
            </a:r>
            <a:endParaRPr lang="en-US" altLang="en-US" sz="2000" dirty="0" smtClean="0"/>
          </a:p>
          <a:p>
            <a:pPr marL="0" indent="0">
              <a:buNone/>
            </a:pP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dirty="0" smtClean="0"/>
              <a:t>        </a:t>
            </a:r>
            <a:r>
              <a:rPr lang="en-US" altLang="en-US" sz="2000" i="1" dirty="0"/>
              <a:t>student(</a:t>
            </a:r>
            <a:r>
              <a:rPr lang="en-US" altLang="en-US" sz="2000" i="1" u="sng" dirty="0"/>
              <a:t>ID</a:t>
            </a:r>
            <a:r>
              <a:rPr lang="en-US" altLang="en-US" sz="2000" i="1" dirty="0"/>
              <a:t>, name, </a:t>
            </a:r>
            <a:r>
              <a:rPr lang="en-US" altLang="en-US" sz="2000" i="1" dirty="0" err="1"/>
              <a:t>tot_cred</a:t>
            </a:r>
            <a:r>
              <a:rPr lang="en-US" altLang="en-US" sz="2000" i="1" dirty="0" smtClean="0"/>
              <a:t>)</a:t>
            </a:r>
            <a:endParaRPr lang="en-US" altLang="en-US" sz="2000" dirty="0"/>
          </a:p>
          <a:p>
            <a:r>
              <a:rPr lang="en-US" altLang="en-US" sz="2000" dirty="0"/>
              <a:t>A weak entity set becomes a table that includes a column for the primary key of the identifying strong entity set </a:t>
            </a:r>
            <a:endParaRPr lang="en-US" altLang="en-US" sz="2000" dirty="0" smtClean="0"/>
          </a:p>
          <a:p>
            <a:pPr>
              <a:buFont typeface="Monotype Sorts" charset="2"/>
              <a:buNone/>
            </a:pPr>
            <a:r>
              <a:rPr lang="en-US" altLang="en-US" sz="2000" dirty="0" smtClean="0"/>
              <a:t> </a:t>
            </a:r>
            <a:br>
              <a:rPr lang="en-US" altLang="en-US" sz="2000" dirty="0" smtClean="0"/>
            </a:br>
            <a:r>
              <a:rPr lang="en-US" altLang="en-US" sz="2000" dirty="0" smtClean="0"/>
              <a:t>           </a:t>
            </a:r>
            <a:r>
              <a:rPr lang="en-US" altLang="en-US" sz="2000" i="1" dirty="0" smtClean="0"/>
              <a:t>section ( </a:t>
            </a:r>
            <a:r>
              <a:rPr lang="en-US" altLang="en-US" sz="2000" i="1" u="sng" dirty="0" err="1" smtClean="0"/>
              <a:t>course_id</a:t>
            </a:r>
            <a:r>
              <a:rPr lang="en-US" altLang="en-US" sz="2000" i="1" u="sng" dirty="0" smtClean="0"/>
              <a:t>, </a:t>
            </a:r>
            <a:r>
              <a:rPr lang="en-US" altLang="en-US" sz="2000" i="1" u="sng" dirty="0" err="1" smtClean="0"/>
              <a:t>sec_id</a:t>
            </a:r>
            <a:r>
              <a:rPr lang="en-US" altLang="en-US" sz="2000" i="1" u="sng" dirty="0" smtClean="0"/>
              <a:t>, </a:t>
            </a:r>
            <a:r>
              <a:rPr lang="en-US" altLang="en-US" sz="2000" i="1" u="sng" dirty="0" err="1" smtClean="0"/>
              <a:t>sem</a:t>
            </a:r>
            <a:r>
              <a:rPr lang="en-US" altLang="en-US" sz="2000" i="1" u="sng" dirty="0" smtClean="0"/>
              <a:t>, year</a:t>
            </a:r>
            <a:r>
              <a:rPr lang="en-US" altLang="en-US" sz="2000" i="1" dirty="0" smtClean="0"/>
              <a:t> )</a:t>
            </a:r>
            <a:endParaRPr lang="en-US" altLang="en-US" sz="2000" i="1" dirty="0" smtClean="0"/>
          </a:p>
          <a:p>
            <a:r>
              <a:rPr lang="en-US" altLang="en-US" sz="2000" dirty="0" smtClean="0"/>
              <a:t>Example</a:t>
            </a:r>
            <a:endParaRPr lang="en-US" altLang="en-US" sz="2000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9128" y="4699632"/>
            <a:ext cx="6471285" cy="1310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3113" y="-11113"/>
            <a:ext cx="8370887" cy="609601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Composite Attributes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18741" y="817224"/>
            <a:ext cx="6026150" cy="50974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Composite attributes are flattened out by creating a separate attribute for each component attribute</a:t>
            </a:r>
            <a:endParaRPr lang="en-US" altLang="en-US" sz="2000" dirty="0"/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000" dirty="0">
                <a:ea typeface="MS PGothic" panose="020B0600070205080204" pitchFamily="34" charset="-128"/>
              </a:rPr>
              <a:t>Example: given entity set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with composite attribute </a:t>
            </a:r>
            <a:r>
              <a:rPr lang="en-US" altLang="en-US" sz="2000" i="1" dirty="0">
                <a:ea typeface="MS PGothic" panose="020B0600070205080204" pitchFamily="34" charset="-128"/>
              </a:rPr>
              <a:t>name</a:t>
            </a:r>
            <a:r>
              <a:rPr lang="en-US" altLang="en-US" sz="2000" dirty="0">
                <a:ea typeface="MS PGothic" panose="020B0600070205080204" pitchFamily="34" charset="-128"/>
              </a:rPr>
              <a:t> with component attributes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last_name</a:t>
            </a:r>
            <a:r>
              <a:rPr lang="en-US" altLang="en-US" sz="2000" dirty="0">
                <a:ea typeface="MS PGothic" panose="020B0600070205080204" pitchFamily="34" charset="-128"/>
              </a:rPr>
              <a:t> the schema corresponding to the entity set has two attributes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name_first_name</a:t>
            </a:r>
            <a:r>
              <a:rPr lang="en-US" altLang="en-US" sz="2000" dirty="0">
                <a:ea typeface="MS PGothic" panose="020B0600070205080204" pitchFamily="34" charset="-128"/>
              </a:rPr>
              <a:t> 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name_last_name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000" dirty="0">
                <a:ea typeface="MS PGothic" panose="020B0600070205080204" pitchFamily="34" charset="-128"/>
              </a:rPr>
              <a:t>Prefix omitted if there is no ambiguity 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name_first_name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could be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Ignoring multivalued attributes, extended instructor schema is</a:t>
            </a:r>
            <a:endParaRPr lang="en-US" altLang="en-US" sz="2000" dirty="0"/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000" i="1" dirty="0">
                <a:ea typeface="MS PGothic" panose="020B0600070205080204" pitchFamily="34" charset="-128"/>
              </a:rPr>
              <a:t>instructor(ID, 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middle_initial</a:t>
            </a:r>
            <a:r>
              <a:rPr lang="en-US" altLang="en-US" sz="2000" i="1" dirty="0">
                <a:ea typeface="MS PGothic" panose="020B0600070205080204" pitchFamily="34" charset="-128"/>
              </a:rPr>
              <a:t>,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last_name</a:t>
            </a:r>
            <a:r>
              <a:rPr lang="en-US" altLang="en-US" sz="2000" i="1" dirty="0">
                <a:ea typeface="MS PGothic" panose="020B0600070205080204" pitchFamily="34" charset="-128"/>
              </a:rPr>
              <a:t>,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street_number</a:t>
            </a:r>
            <a:r>
              <a:rPr lang="en-US" altLang="en-US" sz="2000" i="1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street_name</a:t>
            </a:r>
            <a:r>
              <a:rPr lang="en-US" altLang="en-US" sz="2000" i="1" dirty="0">
                <a:ea typeface="MS PGothic" panose="020B0600070205080204" pitchFamily="34" charset="-128"/>
              </a:rPr>
              <a:t>,  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apt_number</a:t>
            </a:r>
            <a:r>
              <a:rPr lang="en-US" altLang="en-US" sz="2000" i="1" dirty="0">
                <a:ea typeface="MS PGothic" panose="020B0600070205080204" pitchFamily="34" charset="-128"/>
              </a:rPr>
              <a:t>, city, state,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zip_code</a:t>
            </a:r>
            <a:r>
              <a:rPr lang="en-US" altLang="en-US" sz="2000" i="1" dirty="0">
                <a:ea typeface="MS PGothic" panose="020B0600070205080204" pitchFamily="34" charset="-128"/>
              </a:rPr>
              <a:t>,  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date_of_birth</a:t>
            </a:r>
            <a:r>
              <a:rPr lang="en-US" altLang="en-US" sz="2000" i="1" dirty="0">
                <a:ea typeface="MS PGothic" panose="020B0600070205080204" pitchFamily="34" charset="-128"/>
              </a:rPr>
              <a:t>)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27" y="1414272"/>
            <a:ext cx="1963786" cy="41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0593" y="47625"/>
            <a:ext cx="8537575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Multivalued Attributes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205115"/>
            <a:ext cx="7518204" cy="48177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A multivalued attribute </a:t>
            </a:r>
            <a:r>
              <a:rPr lang="en-US" altLang="en-US" sz="2000" i="1" dirty="0"/>
              <a:t>M</a:t>
            </a:r>
            <a:r>
              <a:rPr lang="en-US" altLang="en-US" sz="2000" dirty="0"/>
              <a:t> of an entity </a:t>
            </a:r>
            <a:r>
              <a:rPr lang="en-US" altLang="en-US" sz="2000" i="1" dirty="0"/>
              <a:t>E</a:t>
            </a:r>
            <a:r>
              <a:rPr lang="en-US" altLang="en-US" sz="2000" dirty="0"/>
              <a:t> is represented by a separate schema </a:t>
            </a:r>
            <a:r>
              <a:rPr lang="en-US" altLang="en-US" sz="2000" i="1" dirty="0"/>
              <a:t>EM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Schema </a:t>
            </a:r>
            <a:r>
              <a:rPr lang="en-US" altLang="en-US" sz="2000" i="1" dirty="0"/>
              <a:t>EM</a:t>
            </a:r>
            <a:r>
              <a:rPr lang="en-US" altLang="en-US" sz="2000" dirty="0"/>
              <a:t> has attributes corresponding to the primary key of </a:t>
            </a:r>
            <a:r>
              <a:rPr lang="en-US" altLang="en-US" sz="2000" i="1" dirty="0"/>
              <a:t>E</a:t>
            </a:r>
            <a:r>
              <a:rPr lang="en-US" altLang="en-US" sz="2000" dirty="0"/>
              <a:t> and an attribute corresponding to multivalued attribute </a:t>
            </a:r>
            <a:r>
              <a:rPr lang="en-US" altLang="en-US" sz="2000" i="1" dirty="0"/>
              <a:t>M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Example:  Multivalued attribute </a:t>
            </a:r>
            <a:r>
              <a:rPr lang="en-US" altLang="en-US" sz="2000" i="1" dirty="0" err="1"/>
              <a:t>phone_number</a:t>
            </a:r>
            <a:r>
              <a:rPr lang="en-US" altLang="en-US" sz="2000" i="1" dirty="0"/>
              <a:t> </a:t>
            </a:r>
            <a:r>
              <a:rPr lang="en-US" altLang="en-US" sz="2000" dirty="0"/>
              <a:t>of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is represented by a schema:</a:t>
            </a:r>
            <a:br>
              <a:rPr lang="en-US" altLang="en-US" sz="2000" dirty="0"/>
            </a:br>
            <a:r>
              <a:rPr lang="en-US" altLang="en-US" sz="2000" dirty="0"/>
              <a:t>    </a:t>
            </a:r>
            <a:r>
              <a:rPr lang="en-US" altLang="en-US" sz="2000" i="1" dirty="0" err="1"/>
              <a:t>inst_phone</a:t>
            </a:r>
            <a:r>
              <a:rPr lang="en-US" altLang="en-US" sz="2000" i="1" dirty="0"/>
              <a:t>= </a:t>
            </a:r>
            <a:r>
              <a:rPr lang="en-US" altLang="en-US" sz="2000" dirty="0"/>
              <a:t>(</a:t>
            </a:r>
            <a:r>
              <a:rPr lang="en-US" altLang="en-US" sz="2000" i="1" dirty="0"/>
              <a:t> </a:t>
            </a:r>
            <a:r>
              <a:rPr lang="en-US" altLang="en-US" sz="2000" i="1" u="sng" dirty="0"/>
              <a:t>ID</a:t>
            </a:r>
            <a:r>
              <a:rPr lang="en-US" altLang="en-US" sz="2000" i="1" dirty="0"/>
              <a:t>, </a:t>
            </a:r>
            <a:r>
              <a:rPr lang="en-US" altLang="en-US" sz="2000" i="1" u="sng" dirty="0" err="1"/>
              <a:t>phone_number</a:t>
            </a:r>
            <a:r>
              <a:rPr lang="en-US" altLang="en-US" sz="2000" dirty="0"/>
              <a:t>)</a:t>
            </a:r>
            <a:r>
              <a:rPr lang="en-US" altLang="en-US" sz="2000" i="1" dirty="0"/>
              <a:t> </a:t>
            </a:r>
            <a:endParaRPr lang="en-US" altLang="en-US" sz="2000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Each value of the multivalued attribute maps to a separate tuple of the relation on schema </a:t>
            </a:r>
            <a:r>
              <a:rPr lang="en-US" altLang="en-US" sz="2000" i="1" dirty="0"/>
              <a:t>EM</a:t>
            </a:r>
            <a:endParaRPr lang="en-US" altLang="en-US" sz="2000" dirty="0"/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000" dirty="0">
                <a:ea typeface="MS PGothic" panose="020B0600070205080204" pitchFamily="34" charset="-128"/>
              </a:rPr>
              <a:t>For example, an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entity with primary key  22222 and phone numbers 456-7890 and 123-4567 maps to two tuples:   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(22222, 456-7890) and (22222, 123-4567)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96838"/>
            <a:ext cx="8429625" cy="60325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603" y="1189038"/>
            <a:ext cx="7523766" cy="1932114"/>
          </a:xfrm>
        </p:spPr>
        <p:txBody>
          <a:bodyPr/>
          <a:lstStyle/>
          <a:p>
            <a:r>
              <a:rPr lang="en-US" altLang="en-US" sz="2000" dirty="0"/>
              <a:t>A many-to-many relationship set is represented as a schema with attributes for the primary keys of the two participating entity sets, and any descriptive attributes of the relationship set. </a:t>
            </a:r>
            <a:endParaRPr lang="en-US" altLang="en-US" sz="2000" dirty="0"/>
          </a:p>
          <a:p>
            <a:r>
              <a:rPr lang="en-US" altLang="en-US" sz="2000" dirty="0"/>
              <a:t>Example: schema for relationship set </a:t>
            </a:r>
            <a:r>
              <a:rPr lang="en-US" altLang="en-US" sz="2000" i="1" dirty="0" smtClean="0"/>
              <a:t>advisor</a:t>
            </a:r>
            <a:endParaRPr lang="en-US" altLang="en-US" sz="2000" i="1" dirty="0"/>
          </a:p>
          <a:p>
            <a:pPr>
              <a:buFont typeface="Monotype Sorts" charset="2"/>
              <a:buNone/>
            </a:pPr>
            <a:r>
              <a:rPr lang="en-US" altLang="en-US" sz="2000" dirty="0"/>
              <a:t>	         </a:t>
            </a:r>
            <a:r>
              <a:rPr lang="en-US" altLang="en-US" sz="2000" i="1" dirty="0"/>
              <a:t>advisor = </a:t>
            </a:r>
            <a:r>
              <a:rPr lang="en-US" altLang="en-US" sz="2000" dirty="0"/>
              <a:t>(</a:t>
            </a:r>
            <a:r>
              <a:rPr lang="en-US" altLang="en-US" sz="2000" i="1" u="sng" dirty="0" err="1"/>
              <a:t>s_id</a:t>
            </a:r>
            <a:r>
              <a:rPr lang="en-US" altLang="en-US" sz="2000" i="1" u="sng" dirty="0"/>
              <a:t>, </a:t>
            </a:r>
            <a:r>
              <a:rPr lang="en-US" altLang="en-US" sz="2000" i="1" u="sng" dirty="0" err="1"/>
              <a:t>i_id</a:t>
            </a:r>
            <a:r>
              <a:rPr lang="en-US" altLang="en-US" sz="2000" dirty="0"/>
              <a:t>)</a:t>
            </a:r>
            <a:endParaRPr lang="en-US" altLang="en-US" sz="2000" dirty="0"/>
          </a:p>
        </p:txBody>
      </p:sp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525" y="4330623"/>
            <a:ext cx="5592445" cy="114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768350" y="1237997"/>
            <a:ext cx="7729474" cy="203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Many-to-one and one-to-many relationship sets that are total on the many-side can be represented </a:t>
            </a:r>
            <a:r>
              <a:rPr kumimoji="1" lang="en-US" altLang="en-US" sz="2000" dirty="0">
                <a:solidFill>
                  <a:srgbClr val="FF0000"/>
                </a:solidFill>
              </a:rPr>
              <a:t>by adding an extra attribute to the “many” side</a:t>
            </a:r>
            <a:r>
              <a:rPr kumimoji="1" lang="en-US" altLang="en-US" sz="2000" dirty="0"/>
              <a:t>, containing the primary key of the “one” side</a:t>
            </a:r>
            <a:endParaRPr kumimoji="1" lang="en-US" altLang="en-US" sz="2000" dirty="0"/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Example</a:t>
            </a:r>
            <a:r>
              <a:rPr kumimoji="1" lang="en-US" altLang="en-US" sz="2000" dirty="0">
                <a:solidFill>
                  <a:schemeClr val="accent3">
                    <a:lumMod val="25000"/>
                  </a:schemeClr>
                </a:solidFill>
              </a:rPr>
              <a:t>: Instead of creating a schema for relationship set </a:t>
            </a:r>
            <a:r>
              <a:rPr kumimoji="1" lang="en-US" altLang="en-US" sz="2000" i="1" dirty="0" err="1">
                <a:solidFill>
                  <a:schemeClr val="accent3">
                    <a:lumMod val="25000"/>
                  </a:schemeClr>
                </a:solidFill>
              </a:rPr>
              <a:t>inst_dept</a:t>
            </a:r>
            <a:r>
              <a:rPr kumimoji="1" lang="en-US" altLang="en-US" sz="2000" dirty="0">
                <a:solidFill>
                  <a:schemeClr val="accent3">
                    <a:lumMod val="25000"/>
                  </a:schemeClr>
                </a:solidFill>
              </a:rPr>
              <a:t>, add an attribute </a:t>
            </a:r>
            <a:r>
              <a:rPr kumimoji="1" lang="en-US" altLang="en-US" sz="2000" i="1" dirty="0">
                <a:solidFill>
                  <a:schemeClr val="accent3">
                    <a:lumMod val="25000"/>
                  </a:schemeClr>
                </a:solidFill>
              </a:rPr>
              <a:t>dept_name</a:t>
            </a:r>
            <a:r>
              <a:rPr kumimoji="1" lang="en-US" altLang="en-US" sz="2000" dirty="0">
                <a:solidFill>
                  <a:schemeClr val="accent3">
                    <a:lumMod val="25000"/>
                  </a:schemeClr>
                </a:solidFill>
              </a:rPr>
              <a:t> to the schema arising from entity set </a:t>
            </a:r>
            <a:r>
              <a:rPr kumimoji="1" lang="en-US" altLang="en-US" sz="2000" i="1" dirty="0">
                <a:solidFill>
                  <a:schemeClr val="accent3">
                    <a:lumMod val="25000"/>
                  </a:schemeClr>
                </a:solidFill>
              </a:rPr>
              <a:t>instructor</a:t>
            </a:r>
            <a:endParaRPr kumimoji="1" lang="en-US" altLang="en-US" sz="2000" i="1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Example</a:t>
            </a:r>
            <a:endParaRPr kumimoji="1" lang="en-US" altLang="en-US" sz="2000" dirty="0"/>
          </a:p>
        </p:txBody>
      </p:sp>
      <p:sp>
        <p:nvSpPr>
          <p:cNvPr id="55300" name="Rectangle 6"/>
          <p:cNvSpPr>
            <a:spLocks noChangeArrowheads="1"/>
          </p:cNvSpPr>
          <p:nvPr/>
        </p:nvSpPr>
        <p:spPr bwMode="auto">
          <a:xfrm rot="-372694">
            <a:off x="1692275" y="3449638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3"/>
          <p:cNvGrpSpPr/>
          <p:nvPr/>
        </p:nvGrpSpPr>
        <p:grpSpPr bwMode="auto">
          <a:xfrm>
            <a:off x="1474247" y="3590131"/>
            <a:ext cx="6317679" cy="2578608"/>
            <a:chOff x="0" y="1413"/>
            <a:chExt cx="5483" cy="2545"/>
          </a:xfrm>
        </p:grpSpPr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2" t="423" r="7481" b="61655"/>
            <a:stretch>
              <a:fillRect/>
            </a:stretch>
          </p:blipFill>
          <p:spPr bwMode="auto">
            <a:xfrm>
              <a:off x="175" y="1413"/>
              <a:ext cx="5308" cy="2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3" name="Rectangle 11"/>
            <p:cNvSpPr>
              <a:spLocks noChangeArrowheads="1"/>
            </p:cNvSpPr>
            <p:nvPr/>
          </p:nvSpPr>
          <p:spPr bwMode="auto">
            <a:xfrm>
              <a:off x="0" y="1500"/>
              <a:ext cx="1956" cy="4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04" name="Rectangle 12"/>
            <p:cNvSpPr>
              <a:spLocks noChangeArrowheads="1"/>
            </p:cNvSpPr>
            <p:nvPr/>
          </p:nvSpPr>
          <p:spPr bwMode="auto">
            <a:xfrm>
              <a:off x="1920" y="1690"/>
              <a:ext cx="374" cy="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03706"/>
            <a:ext cx="7558904" cy="285623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For one-to-one relationship sets, either side can be chosen to act as the “many” side</a:t>
            </a:r>
            <a:endParaRPr lang="en-US" altLang="en-US" sz="2400" dirty="0"/>
          </a:p>
          <a:p>
            <a:pPr lvl="1">
              <a:lnSpc>
                <a:spcPct val="90000"/>
              </a:lnSpc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That is, an extra attribute can be added to either of the tables corresponding to the two entity sets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If participation is </a:t>
            </a:r>
            <a:r>
              <a:rPr lang="en-US" altLang="en-US" sz="2400" i="1" dirty="0"/>
              <a:t>partial</a:t>
            </a:r>
            <a:r>
              <a:rPr lang="en-US" altLang="en-US" sz="2400" dirty="0"/>
              <a:t> on the “many” side, replacing a schema by an extra attribute in the schema corresponding to the “many” side could result in null values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22375"/>
            <a:ext cx="7621047" cy="1545209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The schema corresponding to a relationship set linking a weak entity set to its identifying strong entity set is redundant.</a:t>
            </a:r>
            <a:endParaRPr lang="en-US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Example: The </a:t>
            </a:r>
            <a:r>
              <a:rPr lang="en-US" altLang="en-US" sz="2400" i="1" dirty="0"/>
              <a:t>section </a:t>
            </a:r>
            <a:r>
              <a:rPr lang="en-US" altLang="en-US" sz="2400" dirty="0"/>
              <a:t>schema already contains the attributes that would appear in the </a:t>
            </a:r>
            <a:r>
              <a:rPr lang="en-US" altLang="en-US" sz="2400" i="1" dirty="0" err="1"/>
              <a:t>sec_course</a:t>
            </a:r>
            <a:r>
              <a:rPr lang="en-US" altLang="en-US" sz="2400" dirty="0"/>
              <a:t> schema</a:t>
            </a:r>
            <a:endParaRPr lang="en-US" altLang="en-US" sz="2400" dirty="0"/>
          </a:p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1596" y="4073747"/>
            <a:ext cx="6930708" cy="14036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Extended E-R Features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8089"/>
            <a:ext cx="7674314" cy="3924744"/>
          </a:xfrm>
        </p:spPr>
        <p:txBody>
          <a:bodyPr/>
          <a:lstStyle/>
          <a:p>
            <a:r>
              <a:rPr lang="en-US" altLang="en-US" sz="2400" dirty="0"/>
              <a:t>Top-down design process; we designate sub-groupings within an entity set that are distinctive from other entities in the set.</a:t>
            </a:r>
            <a:endParaRPr lang="en-US" altLang="en-US" sz="2400" dirty="0"/>
          </a:p>
          <a:p>
            <a:r>
              <a:rPr lang="en-US" altLang="en-US" sz="2400" dirty="0"/>
              <a:t>These sub-groupings become lower-level entity sets that have attributes or participate in relationships that do not apply to the higher-level entity set.</a:t>
            </a:r>
            <a:endParaRPr lang="en-US" altLang="en-US" sz="2400" dirty="0"/>
          </a:p>
          <a:p>
            <a:r>
              <a:rPr lang="en-US" altLang="en-US" sz="2400" dirty="0"/>
              <a:t>Depicted by a </a:t>
            </a:r>
            <a:r>
              <a:rPr lang="en-US" altLang="en-US" sz="2400" i="1" dirty="0"/>
              <a:t>triangle</a:t>
            </a:r>
            <a:r>
              <a:rPr lang="en-US" altLang="en-US" sz="2400" dirty="0"/>
              <a:t> component labeled ISA (e.g.,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“is a” </a:t>
            </a:r>
            <a:r>
              <a:rPr lang="en-US" altLang="en-US" sz="2400" i="1" dirty="0"/>
              <a:t>person</a:t>
            </a:r>
            <a:r>
              <a:rPr lang="en-US" altLang="en-US" sz="2400" dirty="0"/>
              <a:t>).</a:t>
            </a:r>
            <a:endParaRPr lang="en-US" altLang="en-US" sz="2400" dirty="0"/>
          </a:p>
          <a:p>
            <a:r>
              <a:rPr lang="en-US" altLang="en-US" sz="2400" b="1" dirty="0">
                <a:solidFill>
                  <a:srgbClr val="002060"/>
                </a:solidFill>
              </a:rPr>
              <a:t>Attribute inheritance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– a lower-level entity set inherits all the attributes and relationship participation of the higher-level entity set to which it is linked.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 Example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993775"/>
            <a:ext cx="7692898" cy="1240952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Overlapping</a:t>
            </a:r>
            <a:r>
              <a:rPr lang="en-US" altLang="en-US" sz="2400" dirty="0"/>
              <a:t> – </a:t>
            </a:r>
            <a:r>
              <a:rPr lang="en-US" altLang="en-US" sz="2400" i="1" dirty="0"/>
              <a:t>employee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student</a:t>
            </a:r>
            <a:endParaRPr lang="en-US" altLang="en-US" sz="2400" i="1" dirty="0"/>
          </a:p>
          <a:p>
            <a:r>
              <a:rPr lang="en-US" altLang="en-US" sz="2400" b="1" dirty="0">
                <a:solidFill>
                  <a:srgbClr val="002060"/>
                </a:solidFill>
              </a:rPr>
              <a:t>Disjoint</a:t>
            </a:r>
            <a:r>
              <a:rPr lang="en-US" altLang="en-US" sz="2400" dirty="0"/>
              <a:t> –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secretary</a:t>
            </a:r>
            <a:endParaRPr lang="en-US" altLang="en-US" sz="2400" i="1" dirty="0"/>
          </a:p>
          <a:p>
            <a:r>
              <a:rPr lang="en-US" altLang="en-US" sz="2400" dirty="0"/>
              <a:t>Total and partial</a:t>
            </a:r>
            <a:endParaRPr lang="en-US" alt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5263" y="2250822"/>
            <a:ext cx="3496612" cy="361340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8038" y="492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via Schemas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60" y="1157289"/>
            <a:ext cx="7507195" cy="4499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/>
              <a:t>Method 1: </a:t>
            </a:r>
            <a:endParaRPr lang="en-US" altLang="en-US" sz="2400" dirty="0"/>
          </a:p>
          <a:p>
            <a:pPr lvl="1">
              <a:buSzPct val="110000"/>
              <a:buFont typeface="Arial" panose="020B060402020209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Form a schema for the higher-level entity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9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Form a schema for each lower-level entity set, include primary key of higher-level entity set and local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marL="457200" lvl="1" indent="0">
              <a:buSzPct val="110000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br>
              <a:rPr lang="en-US" altLang="en-US" sz="2400" dirty="0">
                <a:ea typeface="MS PGothic" panose="020B0600070205080204" pitchFamily="34" charset="-128"/>
              </a:rPr>
            </a:br>
            <a:br>
              <a:rPr lang="en-US" altLang="en-US" sz="2400" dirty="0">
                <a:ea typeface="MS PGothic" panose="020B0600070205080204" pitchFamily="34" charset="-128"/>
              </a:rPr>
            </a:b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9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Drawback:  getting information about, an </a:t>
            </a:r>
            <a:r>
              <a:rPr lang="en-US" altLang="en-US" sz="2400" i="1" dirty="0">
                <a:ea typeface="MS PGothic" panose="020B0600070205080204" pitchFamily="34" charset="-128"/>
              </a:rPr>
              <a:t>employee</a:t>
            </a:r>
            <a:r>
              <a:rPr lang="en-US" altLang="en-US" sz="2400" dirty="0">
                <a:ea typeface="MS PGothic" panose="020B0600070205080204" pitchFamily="34" charset="-128"/>
              </a:rPr>
              <a:t> requires accessing two relations, the one corresponding to the low-level schema and the one corresponding to the high-level schema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045" y="3330578"/>
            <a:ext cx="3633407" cy="126817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6027" y="96901"/>
            <a:ext cx="8942773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as Schemas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480" y="1148763"/>
            <a:ext cx="7392969" cy="39729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/>
              <a:t>Method 2:  </a:t>
            </a:r>
            <a:endParaRPr lang="en-US" altLang="en-US" sz="2400" dirty="0"/>
          </a:p>
          <a:p>
            <a:pPr lvl="1">
              <a:buSzPct val="110000"/>
              <a:buFont typeface="Arial" panose="020B060402020209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Form a schema for each entity set with all local and inherited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9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Drawback:  </a:t>
            </a:r>
            <a:r>
              <a:rPr lang="en-US" altLang="en-US" sz="2400" i="1" dirty="0">
                <a:ea typeface="MS PGothic" panose="020B0600070205080204" pitchFamily="34" charset="-128"/>
              </a:rPr>
              <a:t>name, street</a:t>
            </a:r>
            <a:r>
              <a:rPr lang="en-US" altLang="en-US" sz="2400" dirty="0">
                <a:ea typeface="MS PGothic" panose="020B0600070205080204" pitchFamily="34" charset="-128"/>
              </a:rPr>
              <a:t> and </a:t>
            </a:r>
            <a:r>
              <a:rPr lang="en-US" altLang="en-US" sz="2400" i="1" dirty="0">
                <a:ea typeface="MS PGothic" panose="020B0600070205080204" pitchFamily="34" charset="-128"/>
              </a:rPr>
              <a:t>city</a:t>
            </a:r>
            <a:r>
              <a:rPr lang="en-US" altLang="en-US" sz="2400" dirty="0">
                <a:ea typeface="MS PGothic" panose="020B0600070205080204" pitchFamily="34" charset="-128"/>
              </a:rPr>
              <a:t> may be stored redundantly for people who are both students and employees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447" y="2787802"/>
            <a:ext cx="4451033" cy="121655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Generalization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68400"/>
            <a:ext cx="7541149" cy="2674938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A bottom-up design process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– combine a number of entity sets that share the same features into a higher-level entity set.</a:t>
            </a:r>
            <a:endParaRPr lang="en-US" altLang="en-US" sz="2400" dirty="0"/>
          </a:p>
          <a:p>
            <a:r>
              <a:rPr lang="en-US" altLang="en-US" sz="2400" dirty="0"/>
              <a:t>Specialization and generalization are simple inversions of each other; they are represented in an E-R diagram in the same way.</a:t>
            </a:r>
            <a:endParaRPr lang="en-US" altLang="en-US" sz="2400" dirty="0"/>
          </a:p>
          <a:p>
            <a:r>
              <a:rPr lang="en-US" altLang="en-US" sz="2400" dirty="0"/>
              <a:t>The terms specialization and generalization are used interchangeably.</a:t>
            </a:r>
            <a:endParaRPr lang="en-US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883" y="1187451"/>
            <a:ext cx="7471591" cy="3165094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Completeness constraint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-- specifies whether or not an entity in the higher-level entity set must belong to at least one of the lower-level entity sets within a generalization.</a:t>
            </a:r>
            <a:endParaRPr lang="en-US" altLang="en-US" sz="2400" dirty="0"/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total</a:t>
            </a:r>
            <a:r>
              <a:rPr lang="en-US" altLang="en-US" sz="2400" dirty="0">
                <a:ea typeface="MS PGothic" panose="020B0600070205080204" pitchFamily="34" charset="-128"/>
              </a:rPr>
              <a:t>: an entity must belong to one of the lower-level 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partial</a:t>
            </a:r>
            <a:r>
              <a:rPr lang="en-US" altLang="en-US" sz="2400" dirty="0">
                <a:ea typeface="MS PGothic" panose="020B0600070205080204" pitchFamily="34" charset="-128"/>
              </a:rPr>
              <a:t>: an entity need not belong to one of the lower-level 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endParaRPr lang="en-US" altLang="en-US" sz="1600" dirty="0"/>
          </a:p>
          <a:p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418" y="1233995"/>
            <a:ext cx="8219325" cy="3926657"/>
          </a:xfrm>
        </p:spPr>
        <p:txBody>
          <a:bodyPr/>
          <a:lstStyle/>
          <a:p>
            <a:r>
              <a:rPr lang="en-US" altLang="en-US" sz="2400" dirty="0"/>
              <a:t>Partial generalization is the default.  </a:t>
            </a:r>
            <a:endParaRPr lang="en-US" altLang="en-US" sz="2400" dirty="0"/>
          </a:p>
          <a:p>
            <a:r>
              <a:rPr lang="en-US" altLang="en-US" sz="2400" dirty="0"/>
              <a:t>We can specify total generalization in an ER diagram by adding the keyword </a:t>
            </a:r>
            <a:r>
              <a:rPr lang="en-US" altLang="en-US" sz="2400" b="1" dirty="0"/>
              <a:t>total</a:t>
            </a:r>
            <a:r>
              <a:rPr lang="en-US" altLang="en-US" sz="2400" dirty="0"/>
              <a:t> in the diagram and drawing a dashed line from the keyword to the corresponding hollow arrow-head to which it applies (for a total generalization), or to the set of hollow arrow-heads to which it applies (for an overlapping generalization).</a:t>
            </a:r>
            <a:endParaRPr lang="en-US" altLang="en-US" sz="2400" dirty="0"/>
          </a:p>
          <a:p>
            <a:r>
              <a:rPr lang="en-US" altLang="en-US" sz="2400" dirty="0"/>
              <a:t>The </a:t>
            </a:r>
            <a:r>
              <a:rPr lang="en-US" altLang="en-US" sz="2400" i="1" dirty="0"/>
              <a:t>student</a:t>
            </a:r>
            <a:r>
              <a:rPr lang="en-US" altLang="en-US" sz="2400" dirty="0"/>
              <a:t> generalization is total: All student entities must be either graduate or undergraduate. Because the higher-level entity set arrived at through generalization is generally composed of only those entities in the lower-level entity sets, the completeness constraint for a generalized higher-level entity set is usually total</a:t>
            </a:r>
            <a:endParaRPr lang="en-US" altLang="en-US" sz="24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dirty="0"/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75" y="52388"/>
            <a:ext cx="6726238" cy="6223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710215" y="1071563"/>
            <a:ext cx="767918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Consider the ternary relationship </a:t>
            </a:r>
            <a:r>
              <a:rPr kumimoji="1" lang="en-US" altLang="en-US" sz="2400" i="1" dirty="0" err="1"/>
              <a:t>proj_guide</a:t>
            </a:r>
            <a:r>
              <a:rPr kumimoji="1" lang="en-US" altLang="en-US" sz="2400" dirty="0"/>
              <a:t>, which we saw earlier</a:t>
            </a:r>
            <a:endParaRPr kumimoji="1" lang="en-US" altLang="en-US" sz="2400" dirty="0"/>
          </a:p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Suppose we want to record evaluations of a student by a guide on a project</a:t>
            </a:r>
            <a:endParaRPr kumimoji="1" lang="en-US" altLang="en-US" sz="2400" dirty="0"/>
          </a:p>
        </p:txBody>
      </p:sp>
      <p:pic>
        <p:nvPicPr>
          <p:cNvPr id="66564" name="Picture 4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12" y="3013427"/>
            <a:ext cx="4140454" cy="32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4275"/>
            <a:ext cx="7677723" cy="3760587"/>
          </a:xfrm>
        </p:spPr>
        <p:txBody>
          <a:bodyPr/>
          <a:lstStyle/>
          <a:p>
            <a:r>
              <a:rPr lang="en-US" altLang="en-US" sz="2400" dirty="0"/>
              <a:t>Relationship sets </a:t>
            </a:r>
            <a:r>
              <a:rPr lang="en-US" altLang="en-US" sz="2400" i="1" dirty="0" err="1"/>
              <a:t>eval_for</a:t>
            </a:r>
            <a:r>
              <a:rPr lang="en-US" altLang="en-US" sz="2400" i="1" dirty="0"/>
              <a:t> </a:t>
            </a:r>
            <a:r>
              <a:rPr lang="en-US" altLang="en-US" sz="2400" dirty="0"/>
              <a:t>and </a:t>
            </a:r>
            <a:r>
              <a:rPr lang="en-US" altLang="en-US" sz="2400" i="1" dirty="0" err="1"/>
              <a:t>proj_guide</a:t>
            </a:r>
            <a:r>
              <a:rPr lang="en-US" altLang="en-US" sz="2400" dirty="0"/>
              <a:t> represent overlapping information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Every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eval_for</a:t>
            </a:r>
            <a:r>
              <a:rPr lang="en-US" altLang="en-US" sz="2400" dirty="0">
                <a:ea typeface="MS PGothic" panose="020B0600070205080204" pitchFamily="34" charset="-128"/>
              </a:rPr>
              <a:t> relationship corresponds to a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relationship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However, some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relationships may not correspond to any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eval_for</a:t>
            </a:r>
            <a:r>
              <a:rPr lang="en-US" altLang="en-US" sz="2400" dirty="0">
                <a:ea typeface="MS PGothic" panose="020B0600070205080204" pitchFamily="34" charset="-128"/>
              </a:rPr>
              <a:t> relationships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So we can’t discard the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relationship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Eliminate this redundancy via </a:t>
            </a:r>
            <a:r>
              <a:rPr lang="en-US" altLang="en-US" sz="2400" i="1" dirty="0"/>
              <a:t>aggregation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Treat relationship as an abstract entity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Allows relationships between relationships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Abstraction of relationship into new entity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921553"/>
            <a:ext cx="7647680" cy="17732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Eliminate this redundancy via </a:t>
            </a:r>
            <a:r>
              <a:rPr lang="en-US" altLang="en-US" sz="2400" i="1" dirty="0"/>
              <a:t>aggregation</a:t>
            </a:r>
            <a:r>
              <a:rPr lang="en-US" altLang="en-US" sz="2400" dirty="0"/>
              <a:t> without introducing redundancy, the following diagram represents:</a:t>
            </a:r>
            <a:endParaRPr lang="en-US" altLang="en-US" sz="2400" dirty="0"/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A student is guided by a particular instructor on a particular project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9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A student, instructor, project combination may have an associated evaluation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68612" name="Picture 3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255" y="3813343"/>
            <a:ext cx="3677389" cy="295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-180975"/>
            <a:ext cx="8131175" cy="865188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Relational Schemas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222375"/>
            <a:ext cx="7682172" cy="421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To represent aggregation, create a schema containing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Primary key of the aggregated relationship,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The primary key of the associated entity set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Any descriptive attributes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In our example: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The schema </a:t>
            </a:r>
            <a:r>
              <a:rPr kumimoji="1" lang="en-US" altLang="en-US" sz="2400" i="1" dirty="0" err="1">
                <a:ea typeface="MS PGothic" panose="020B0600070205080204" pitchFamily="34" charset="-128"/>
              </a:rPr>
              <a:t>eval_for</a:t>
            </a:r>
            <a:r>
              <a:rPr kumimoji="1" lang="en-US" altLang="en-US" sz="2400" i="1" dirty="0">
                <a:ea typeface="MS PGothic" panose="020B0600070205080204" pitchFamily="34" charset="-128"/>
              </a:rPr>
              <a:t> </a:t>
            </a:r>
            <a:r>
              <a:rPr kumimoji="1" lang="en-US" altLang="en-US" sz="2400" dirty="0">
                <a:ea typeface="MS PGothic" panose="020B0600070205080204" pitchFamily="34" charset="-128"/>
              </a:rPr>
              <a:t>is: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	</a:t>
            </a:r>
            <a:r>
              <a:rPr kumimoji="1" lang="en-US" altLang="en-US" sz="2000" dirty="0">
                <a:ea typeface="MS PGothic" panose="020B0600070205080204" pitchFamily="34" charset="-128"/>
              </a:rPr>
              <a:t>      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eval_for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 </a:t>
            </a:r>
            <a:r>
              <a:rPr kumimoji="1" lang="en-US" altLang="en-US" sz="2000" dirty="0">
                <a:ea typeface="MS PGothic" panose="020B0600070205080204" pitchFamily="34" charset="-128"/>
              </a:rPr>
              <a:t>(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s_ID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,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project_id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,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i_ID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,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evaluation_id</a:t>
            </a:r>
            <a:r>
              <a:rPr kumimoji="1" lang="en-US" altLang="en-US" sz="2000" dirty="0">
                <a:ea typeface="MS PGothic" panose="020B0600070205080204" pitchFamily="34" charset="-128"/>
              </a:rPr>
              <a:t>)</a:t>
            </a:r>
            <a:endParaRPr kumimoji="1" lang="en-US" altLang="en-US" sz="20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The schema </a:t>
            </a:r>
            <a:r>
              <a:rPr kumimoji="1"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kumimoji="1" lang="en-US" altLang="en-US" sz="2400" dirty="0">
                <a:ea typeface="MS PGothic" panose="020B0600070205080204" pitchFamily="34" charset="-128"/>
              </a:rPr>
              <a:t> is redundant.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endParaRPr kumimoji="1" lang="en-US" altLang="en-US" sz="1700" dirty="0">
              <a:ea typeface="MS PGothic" panose="020B0600070205080204" pitchFamily="34" charset="-128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endParaRPr kumimoji="1" lang="en-US" altLang="en-US" sz="18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065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>
                <a:effectLst/>
              </a:rPr>
              <a:t>Design Issues</a:t>
            </a:r>
            <a:endParaRPr lang="en-US" altLang="en-US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396283" cy="503364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 of erroneous E-R diagrams </a:t>
            </a:r>
            <a:br>
              <a:rPr lang="en-US" altLang="en-US" sz="2000" dirty="0"/>
            </a:br>
            <a:br>
              <a:rPr lang="en-US" altLang="en-US" sz="2000" b="1" dirty="0">
                <a:solidFill>
                  <a:schemeClr val="tx2"/>
                </a:solidFill>
              </a:rPr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763" y="1597152"/>
            <a:ext cx="5515470" cy="4674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36205" t="105595" r="36205" b="-56126"/>
          <a:stretch>
            <a:fillRect/>
          </a:stretch>
        </p:blipFill>
        <p:spPr>
          <a:xfrm>
            <a:off x="2060437" y="4277264"/>
            <a:ext cx="5023126" cy="21495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65" y="2478943"/>
            <a:ext cx="6322431" cy="39884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t="44302"/>
          <a:stretch>
            <a:fillRect/>
          </a:stretch>
        </p:blipFill>
        <p:spPr>
          <a:xfrm>
            <a:off x="4145280" y="652463"/>
            <a:ext cx="4398328" cy="2076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606861" cy="4368228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/>
              <a:t>Use of entity sets vs. attributes</a:t>
            </a:r>
            <a:br>
              <a:rPr lang="en-US" altLang="en-US" sz="2000" dirty="0"/>
            </a:br>
            <a:br>
              <a:rPr lang="en-US" altLang="en-US" sz="2000" b="1" dirty="0">
                <a:solidFill>
                  <a:schemeClr val="tx2"/>
                </a:solidFill>
              </a:rPr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/>
              <a:t>Use of phone as an entity allows extra information about phone numbers (plus multiple phone numbers)</a:t>
            </a:r>
            <a:endParaRPr lang="en-US" altLang="en-US" sz="2000" dirty="0"/>
          </a:p>
        </p:txBody>
      </p:sp>
      <p:pic>
        <p:nvPicPr>
          <p:cNvPr id="7373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2"/>
          <a:stretch>
            <a:fillRect/>
          </a:stretch>
        </p:blipFill>
        <p:spPr bwMode="auto">
          <a:xfrm>
            <a:off x="772357" y="1927835"/>
            <a:ext cx="7191364" cy="1565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Relationship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093788"/>
            <a:ext cx="7416862" cy="4990020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rgbClr val="002060"/>
                </a:solidFill>
              </a:rPr>
              <a:t>Use of entity sets vs. relationship </a:t>
            </a:r>
            <a:r>
              <a:rPr lang="en-US" altLang="en-US" sz="2000" b="1" dirty="0" smtClean="0">
                <a:solidFill>
                  <a:srgbClr val="002060"/>
                </a:solidFill>
              </a:rPr>
              <a:t>sets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dirty="0"/>
              <a:t>     </a:t>
            </a:r>
            <a:r>
              <a:rPr lang="en-US" altLang="en-US" sz="2000" dirty="0" smtClean="0"/>
              <a:t>Possible </a:t>
            </a:r>
            <a:r>
              <a:rPr lang="en-US" altLang="en-US" sz="2000" dirty="0"/>
              <a:t>guideline is to designate a relationship set to </a:t>
            </a:r>
            <a:r>
              <a:rPr lang="en-US" altLang="en-US" sz="2000" dirty="0" smtClean="0"/>
              <a:t>   describe an </a:t>
            </a:r>
            <a:r>
              <a:rPr lang="en-US" altLang="en-US" sz="2000" dirty="0"/>
              <a:t>action that occurs between entities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r>
              <a:rPr lang="en-US" altLang="en-US" sz="2000" b="1" dirty="0">
                <a:solidFill>
                  <a:srgbClr val="002060"/>
                </a:solidFill>
              </a:rPr>
              <a:t>Placement of relationship attributes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pPr marL="37931725" lvl="1" indent="-37474525"/>
            <a:endParaRPr lang="en-US" altLang="en-US" sz="2000" dirty="0">
              <a:solidFill>
                <a:srgbClr val="000099"/>
              </a:solidFill>
              <a:ea typeface="MS PGothic" panose="020B0600070205080204" pitchFamily="34" charset="-128"/>
            </a:endParaRPr>
          </a:p>
        </p:txBody>
      </p:sp>
      <p:pic>
        <p:nvPicPr>
          <p:cNvPr id="7475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296" y="2280273"/>
            <a:ext cx="5343596" cy="196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27464" y="4935746"/>
            <a:ext cx="6309656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sz="2000" dirty="0">
                <a:latin typeface="+mn-lt"/>
                <a:ea typeface="MS PGothic" panose="020B0600070205080204" pitchFamily="34" charset="-128"/>
              </a:rPr>
              <a:t>For example, attribute date as attribute of advisor or as attribute of student</a:t>
            </a:r>
            <a:endParaRPr kumimoji="1" lang="en-US" sz="2000" dirty="0">
              <a:latin typeface="+mn-lt"/>
              <a:ea typeface="MS PGothic" panose="020B0600070205080204" pitchFamily="34" charset="-128"/>
            </a:endParaRPr>
          </a:p>
          <a:p>
            <a:pPr>
              <a:defRPr/>
            </a:pPr>
            <a:endParaRPr kumimoji="1" lang="en-US" sz="1700" dirty="0">
              <a:latin typeface="+mn-lt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Binary Vs. Non-Binary Relationships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8" y="1107341"/>
            <a:ext cx="7572652" cy="4932779"/>
          </a:xfrm>
        </p:spPr>
        <p:txBody>
          <a:bodyPr/>
          <a:lstStyle/>
          <a:p>
            <a:r>
              <a:rPr lang="en-US" altLang="en-US" sz="2000" dirty="0"/>
              <a:t>Although it is possible to replace any non-binary (</a:t>
            </a:r>
            <a:r>
              <a:rPr lang="en-US" altLang="en-US" sz="2000" i="1" dirty="0"/>
              <a:t>n</a:t>
            </a:r>
            <a:r>
              <a:rPr lang="en-US" altLang="en-US" sz="2000" dirty="0"/>
              <a:t>-</a:t>
            </a:r>
            <a:r>
              <a:rPr lang="en-US" altLang="en-US" sz="2000" dirty="0" err="1"/>
              <a:t>ary</a:t>
            </a:r>
            <a:r>
              <a:rPr lang="en-US" altLang="en-US" sz="2000" dirty="0"/>
              <a:t>, for </a:t>
            </a:r>
            <a:r>
              <a:rPr lang="en-US" altLang="en-US" sz="2000" i="1" dirty="0"/>
              <a:t>n</a:t>
            </a:r>
            <a:r>
              <a:rPr lang="en-US" altLang="en-US" sz="2000" dirty="0"/>
              <a:t> &gt; 2) relationship set by a number of distinct binary relationship sets, a </a:t>
            </a:r>
            <a:r>
              <a:rPr lang="en-US" altLang="en-US" sz="2000" i="1" dirty="0"/>
              <a:t>n</a:t>
            </a:r>
            <a:r>
              <a:rPr lang="en-US" altLang="en-US" sz="2000" dirty="0"/>
              <a:t>-</a:t>
            </a:r>
            <a:r>
              <a:rPr lang="en-US" altLang="en-US" sz="2000" dirty="0" err="1"/>
              <a:t>ary</a:t>
            </a:r>
            <a:r>
              <a:rPr lang="en-US" altLang="en-US" sz="2000" dirty="0"/>
              <a:t> relationship set shows more clearly that several entities participate in a single relationship.</a:t>
            </a:r>
            <a:endParaRPr lang="en-US" altLang="en-US" sz="2000" dirty="0"/>
          </a:p>
          <a:p>
            <a:r>
              <a:rPr lang="en-US" altLang="en-US" sz="2000" dirty="0"/>
              <a:t>Some relationships that appear to be non-binary may be better represented using binary relationships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For example,  a ternary relationship </a:t>
            </a:r>
            <a:r>
              <a:rPr lang="en-US" altLang="en-US" sz="2000" i="1" dirty="0">
                <a:ea typeface="MS PGothic" panose="020B0600070205080204" pitchFamily="34" charset="-128"/>
              </a:rPr>
              <a:t>parents</a:t>
            </a:r>
            <a:r>
              <a:rPr lang="en-US" altLang="en-US" sz="2000" dirty="0">
                <a:ea typeface="MS PGothic" panose="020B0600070205080204" pitchFamily="34" charset="-128"/>
              </a:rPr>
              <a:t>, relating a child to his/her father and mother, is best replaced by two binary relationships,  </a:t>
            </a:r>
            <a:r>
              <a:rPr lang="en-US" altLang="en-US" sz="2000" i="1" dirty="0">
                <a:ea typeface="MS PGothic" panose="020B0600070205080204" pitchFamily="34" charset="-128"/>
              </a:rPr>
              <a:t>father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>
                <a:ea typeface="MS PGothic" panose="020B0600070205080204" pitchFamily="34" charset="-128"/>
              </a:rPr>
              <a:t>mother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Using two binary relationships allows partial information (e.g., only mother being known)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But there are some relationships that are naturally non-binary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Example: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proj_guide</a:t>
            </a:r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5663" y="698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Converting Non-Binary Relationships to Binary Form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79007"/>
            <a:ext cx="9144000" cy="31796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In general, any non-binary relationship can be represented using binary relationships by creating an artificial entity set.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Replace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</a:rPr>
              <a:t>between entity sets A, B and C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by an entity set </a:t>
            </a:r>
            <a:r>
              <a:rPr lang="en-US" altLang="en-US" sz="2000" i="1" dirty="0">
                <a:ea typeface="MS PGothic" panose="020B0600070205080204" pitchFamily="34" charset="-128"/>
              </a:rPr>
              <a:t>E</a:t>
            </a:r>
            <a:r>
              <a:rPr lang="en-US" altLang="en-US" sz="2000" dirty="0">
                <a:ea typeface="MS PGothic" panose="020B0600070205080204" pitchFamily="34" charset="-128"/>
              </a:rPr>
              <a:t>, and three relationship sets: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/>
              <a:t>		1.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A</a:t>
            </a:r>
            <a:r>
              <a:rPr lang="en-US" altLang="en-US" sz="2000" dirty="0"/>
              <a:t>, relating </a:t>
            </a:r>
            <a:r>
              <a:rPr lang="en-US" altLang="en-US" sz="2000" i="1" dirty="0"/>
              <a:t>E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A        </a:t>
            </a:r>
            <a:r>
              <a:rPr lang="en-US" altLang="en-US" sz="2000" dirty="0"/>
              <a:t>2. 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B</a:t>
            </a:r>
            <a:r>
              <a:rPr lang="en-US" altLang="en-US" sz="2000" dirty="0"/>
              <a:t>, relating </a:t>
            </a:r>
            <a:r>
              <a:rPr lang="en-US" altLang="en-US" sz="2000" i="1" dirty="0"/>
              <a:t>E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B      </a:t>
            </a:r>
            <a:br>
              <a:rPr lang="en-US" altLang="en-US" sz="2000" i="1" dirty="0"/>
            </a:br>
            <a:r>
              <a:rPr lang="en-US" altLang="en-US" sz="2000" i="1" dirty="0"/>
              <a:t>          </a:t>
            </a:r>
            <a:r>
              <a:rPr lang="en-US" altLang="en-US" sz="2000" dirty="0"/>
              <a:t>3.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C</a:t>
            </a:r>
            <a:r>
              <a:rPr lang="en-US" altLang="en-US" sz="2000" dirty="0"/>
              <a:t>, relating </a:t>
            </a:r>
            <a:r>
              <a:rPr lang="en-US" altLang="en-US" sz="2000" i="1" dirty="0"/>
              <a:t>E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C</a:t>
            </a:r>
            <a:endParaRPr lang="en-US" altLang="en-US" sz="2000" i="1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Create an identifying attribute for </a:t>
            </a:r>
            <a:r>
              <a:rPr lang="en-US" altLang="en-US" sz="2000" i="1" dirty="0">
                <a:ea typeface="MS PGothic" panose="020B0600070205080204" pitchFamily="34" charset="-128"/>
              </a:rPr>
              <a:t>E and </a:t>
            </a:r>
            <a:r>
              <a:rPr lang="en-US" altLang="en-US" sz="2000" dirty="0">
                <a:ea typeface="MS PGothic" panose="020B0600070205080204" pitchFamily="34" charset="-128"/>
              </a:rPr>
              <a:t>add any attributes of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</a:rPr>
              <a:t>to </a:t>
            </a:r>
            <a:r>
              <a:rPr lang="en-US" altLang="en-US" sz="2000" i="1" dirty="0">
                <a:ea typeface="MS PGothic" panose="020B0600070205080204" pitchFamily="34" charset="-128"/>
              </a:rPr>
              <a:t>E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For each relationship 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a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, b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, c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) in </a:t>
            </a:r>
            <a:r>
              <a:rPr lang="en-US" altLang="en-US" sz="2000" i="1" dirty="0">
                <a:ea typeface="MS PGothic" panose="020B0600070205080204" pitchFamily="34" charset="-128"/>
              </a:rPr>
              <a:t>R,</a:t>
            </a:r>
            <a:r>
              <a:rPr lang="en-US" altLang="en-US" sz="2000" dirty="0">
                <a:ea typeface="MS PGothic" panose="020B0600070205080204" pitchFamily="34" charset="-128"/>
              </a:rPr>
              <a:t> create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/>
              <a:t>	      1. a new entity 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in the entity set </a:t>
            </a:r>
            <a:r>
              <a:rPr lang="en-US" altLang="en-US" sz="2000" i="1" dirty="0"/>
              <a:t>E       </a:t>
            </a:r>
            <a:r>
              <a:rPr lang="en-US" altLang="en-US" sz="2000" dirty="0"/>
              <a:t>2. add (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, </a:t>
            </a:r>
            <a:r>
              <a:rPr lang="en-US" altLang="en-US" sz="2000" i="1" dirty="0" err="1"/>
              <a:t>a</a:t>
            </a:r>
            <a:r>
              <a:rPr lang="en-US" altLang="en-US" sz="2000" i="1" baseline="-25000" dirty="0" err="1"/>
              <a:t>i</a:t>
            </a:r>
            <a:r>
              <a:rPr lang="en-US" altLang="en-US" sz="2000" i="1" baseline="-25000" dirty="0"/>
              <a:t> </a:t>
            </a:r>
            <a:r>
              <a:rPr lang="en-US" altLang="en-US" sz="2000" dirty="0"/>
              <a:t>) to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A</a:t>
            </a:r>
            <a:endParaRPr lang="en-US" altLang="en-US" sz="2000" i="1" baseline="-25000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/>
              <a:t>	      3. add (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, b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) to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B</a:t>
            </a:r>
            <a:r>
              <a:rPr lang="en-US" altLang="en-US" sz="2000" i="1" dirty="0"/>
              <a:t>      </a:t>
            </a:r>
            <a:r>
              <a:rPr lang="en-US" altLang="en-US" sz="2000" dirty="0"/>
              <a:t>	             4. add (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, c</a:t>
            </a:r>
            <a:r>
              <a:rPr lang="en-US" altLang="en-US" sz="2000" i="1" baseline="-25000" dirty="0"/>
              <a:t>i </a:t>
            </a:r>
            <a:r>
              <a:rPr lang="en-US" altLang="en-US" sz="2000" dirty="0"/>
              <a:t>) to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C</a:t>
            </a:r>
            <a:endParaRPr lang="en-US" altLang="en-US" sz="2000" i="1" baseline="-25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993" y="4405282"/>
            <a:ext cx="6516802" cy="22114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1050" y="-15875"/>
            <a:ext cx="8096250" cy="696913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Converting Non-Binary Relationships (Cont.)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294" y="1160463"/>
            <a:ext cx="7594854" cy="3387153"/>
          </a:xfrm>
        </p:spPr>
        <p:txBody>
          <a:bodyPr/>
          <a:lstStyle/>
          <a:p>
            <a:r>
              <a:rPr lang="en-US" altLang="en-US" sz="2000" dirty="0"/>
              <a:t>Also need to translate constraints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Translating all constraints may not be possible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There may be instances in the translated schema that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cannot correspond to any instance of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Exercise:</a:t>
            </a:r>
            <a:r>
              <a:rPr lang="en-US" altLang="en-US" sz="2000" i="1" dirty="0">
                <a:ea typeface="MS PGothic" panose="020B0600070205080204" pitchFamily="34" charset="-128"/>
              </a:rPr>
              <a:t>  add constraints to the relationships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A</a:t>
            </a:r>
            <a:r>
              <a:rPr lang="en-US" altLang="en-US" sz="2000" i="1" dirty="0">
                <a:ea typeface="MS PGothic" panose="020B0600070205080204" pitchFamily="34" charset="-128"/>
              </a:rPr>
              <a:t>,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B</a:t>
            </a:r>
            <a:r>
              <a:rPr lang="en-US" altLang="en-US" sz="2000" i="1" dirty="0">
                <a:ea typeface="MS PGothic" panose="020B0600070205080204" pitchFamily="34" charset="-128"/>
              </a:rPr>
              <a:t> and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C </a:t>
            </a:r>
            <a:r>
              <a:rPr lang="en-US" altLang="en-US" sz="2000" dirty="0">
                <a:ea typeface="MS PGothic" panose="020B0600070205080204" pitchFamily="34" charset="-128"/>
              </a:rPr>
              <a:t>to ensure that a newly created entity corresponds to exactly one entity in each of entity sets </a:t>
            </a:r>
            <a:r>
              <a:rPr lang="en-US" altLang="en-US" sz="2000" i="1" dirty="0">
                <a:ea typeface="MS PGothic" panose="020B0600070205080204" pitchFamily="34" charset="-128"/>
              </a:rPr>
              <a:t>A, B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>
                <a:ea typeface="MS PGothic" panose="020B0600070205080204" pitchFamily="34" charset="-128"/>
              </a:rPr>
              <a:t>C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We can avoid creating an identifying attribute by making E a weak entity set (described shortly) identified by the three relationship sets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Design Decisions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6941"/>
            <a:ext cx="7523394" cy="4136580"/>
          </a:xfrm>
        </p:spPr>
        <p:txBody>
          <a:bodyPr/>
          <a:lstStyle/>
          <a:p>
            <a:r>
              <a:rPr lang="en-US" altLang="en-US" sz="2000" dirty="0"/>
              <a:t>The use of an attribute or entity set to represent an object.</a:t>
            </a:r>
            <a:endParaRPr lang="en-US" altLang="en-US" sz="2000" dirty="0"/>
          </a:p>
          <a:p>
            <a:r>
              <a:rPr lang="en-US" altLang="en-US" sz="2000" dirty="0"/>
              <a:t>Whether a real-world concept is best expressed by an entity set or a relationship set.</a:t>
            </a:r>
            <a:endParaRPr lang="en-US" altLang="en-US" sz="2000" dirty="0"/>
          </a:p>
          <a:p>
            <a:r>
              <a:rPr lang="en-US" altLang="en-US" sz="2000" dirty="0"/>
              <a:t>The use of a ternary relationship versus a pair of binary relationships.</a:t>
            </a:r>
            <a:endParaRPr lang="en-US" altLang="en-US" sz="2000" dirty="0"/>
          </a:p>
          <a:p>
            <a:r>
              <a:rPr lang="en-US" altLang="en-US" sz="2000" dirty="0"/>
              <a:t>The use of a strong or weak entity set.</a:t>
            </a:r>
            <a:endParaRPr lang="en-US" altLang="en-US" sz="2000" dirty="0"/>
          </a:p>
          <a:p>
            <a:r>
              <a:rPr lang="en-US" altLang="en-US" sz="2000" dirty="0"/>
              <a:t>The use of specialization/generalization – contributes to modularity in the design.</a:t>
            </a:r>
            <a:endParaRPr lang="en-US" altLang="en-US" sz="2000" dirty="0"/>
          </a:p>
          <a:p>
            <a:r>
              <a:rPr lang="en-US" altLang="en-US" sz="2000" dirty="0"/>
              <a:t>The use of aggregation – can treat the aggregate entity set as a single unit without concern for the details of its internal structure.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4501" y="155575"/>
            <a:ext cx="7874494" cy="61678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Summary of Symbols Used in E-R Notation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987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6"/>
          <a:stretch>
            <a:fillRect/>
          </a:stretch>
        </p:blipFill>
        <p:spPr bwMode="auto">
          <a:xfrm>
            <a:off x="1078261" y="1344062"/>
            <a:ext cx="6987477" cy="4008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Symbols Used in E-R Notation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8089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2"/>
          <a:stretch>
            <a:fillRect/>
          </a:stretch>
        </p:blipFill>
        <p:spPr bwMode="auto">
          <a:xfrm>
            <a:off x="1719072" y="1265716"/>
            <a:ext cx="6511416" cy="442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23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853617" cy="466788"/>
          </a:xfrm>
        </p:spPr>
        <p:txBody>
          <a:bodyPr/>
          <a:lstStyle/>
          <a:p>
            <a:r>
              <a:rPr kumimoji="0" lang="en-US" altLang="en-US" sz="1700" dirty="0"/>
              <a:t> </a:t>
            </a:r>
            <a:r>
              <a:rPr kumimoji="0" lang="en-US" altLang="en-US" sz="2000" dirty="0"/>
              <a:t>Chen, IDE1FX, …</a:t>
            </a:r>
            <a:endParaRPr kumimoji="0" lang="en-US" altLang="en-US" sz="2000" dirty="0"/>
          </a:p>
        </p:txBody>
      </p:sp>
      <p:pic>
        <p:nvPicPr>
          <p:cNvPr id="8192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4" b="76595"/>
          <a:stretch>
            <a:fillRect/>
          </a:stretch>
        </p:blipFill>
        <p:spPr bwMode="auto">
          <a:xfrm>
            <a:off x="1205469" y="1927291"/>
            <a:ext cx="6335649" cy="164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52"/>
          <a:stretch>
            <a:fillRect/>
          </a:stretch>
        </p:blipFill>
        <p:spPr bwMode="auto">
          <a:xfrm>
            <a:off x="856932" y="3938653"/>
            <a:ext cx="7676452" cy="89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496" y="1266824"/>
            <a:ext cx="8159882" cy="622935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000" b="1" dirty="0"/>
              <a:t>                                     </a:t>
            </a:r>
            <a:r>
              <a:rPr lang="en-US" altLang="en-US" b="1" dirty="0"/>
              <a:t>Chen                        IDE1FX (Crows feet notation)</a:t>
            </a:r>
            <a:endParaRPr lang="en-US" altLang="en-US" b="1" dirty="0"/>
          </a:p>
        </p:txBody>
      </p:sp>
      <p:pic>
        <p:nvPicPr>
          <p:cNvPr id="8294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6" b="11975"/>
          <a:stretch>
            <a:fillRect/>
          </a:stretch>
        </p:blipFill>
        <p:spPr bwMode="auto">
          <a:xfrm>
            <a:off x="1734788" y="1889760"/>
            <a:ext cx="6166262" cy="377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UML	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558903" cy="2508377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UML</a:t>
            </a:r>
            <a:r>
              <a:rPr lang="en-US" altLang="en-US" sz="2400" dirty="0"/>
              <a:t>: Unified Modeling Language</a:t>
            </a:r>
            <a:endParaRPr lang="en-US" altLang="en-US" sz="2400" dirty="0"/>
          </a:p>
          <a:p>
            <a:r>
              <a:rPr lang="en-US" altLang="en-US" sz="2400" dirty="0"/>
              <a:t>UML has many components to graphically model different aspects of an entire software system</a:t>
            </a:r>
            <a:endParaRPr lang="en-US" altLang="en-US" sz="2400" dirty="0"/>
          </a:p>
          <a:p>
            <a:r>
              <a:rPr lang="en-US" altLang="en-US" sz="2400" dirty="0"/>
              <a:t>UML Class Diagrams correspond to E-R Diagram, but several differences.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38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4995" name="Text Box 163"/>
          <p:cNvSpPr txBox="1">
            <a:spLocks noChangeArrowheads="1"/>
          </p:cNvSpPr>
          <p:nvPr/>
        </p:nvSpPr>
        <p:spPr bwMode="auto">
          <a:xfrm>
            <a:off x="1376041" y="5493249"/>
            <a:ext cx="62395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 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Note reversal of position in cardinality constraint depiction</a:t>
            </a:r>
            <a:endParaRPr lang="en-US" altLang="en-US" sz="1700" dirty="0"/>
          </a:p>
        </p:txBody>
      </p:sp>
      <p:pic>
        <p:nvPicPr>
          <p:cNvPr id="8499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3"/>
          <a:stretch>
            <a:fillRect/>
          </a:stretch>
        </p:blipFill>
        <p:spPr bwMode="auto">
          <a:xfrm>
            <a:off x="1029791" y="1187354"/>
            <a:ext cx="7084418" cy="401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6019" name="Text Box 82"/>
          <p:cNvSpPr txBox="1">
            <a:spLocks noChangeArrowheads="1"/>
          </p:cNvSpPr>
          <p:nvPr/>
        </p:nvSpPr>
        <p:spPr bwMode="auto">
          <a:xfrm>
            <a:off x="1402715" y="1058863"/>
            <a:ext cx="256286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90204" pitchFamily="34" charset="0"/>
              </a:rPr>
              <a:t>ER Diagram Notation</a:t>
            </a:r>
            <a:endParaRPr lang="en-US" altLang="en-US" sz="1700" b="1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86020" name="Text Box 83"/>
          <p:cNvSpPr txBox="1">
            <a:spLocks noChangeArrowheads="1"/>
          </p:cNvSpPr>
          <p:nvPr/>
        </p:nvSpPr>
        <p:spPr bwMode="auto">
          <a:xfrm>
            <a:off x="5178428" y="1087438"/>
            <a:ext cx="223043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90204" pitchFamily="34" charset="0"/>
              </a:rPr>
              <a:t>Equivalent in UML</a:t>
            </a:r>
            <a:endParaRPr lang="en-US" altLang="en-US" sz="1700" b="1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86021" name="Text Box 84"/>
          <p:cNvSpPr txBox="1">
            <a:spLocks noChangeArrowheads="1"/>
          </p:cNvSpPr>
          <p:nvPr/>
        </p:nvSpPr>
        <p:spPr bwMode="auto">
          <a:xfrm>
            <a:off x="1402715" y="5500116"/>
            <a:ext cx="6524543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Generalization can use merged or separate arrows independent</a:t>
            </a:r>
            <a:endParaRPr lang="en-US" altLang="en-US" sz="1700" dirty="0"/>
          </a:p>
          <a:p>
            <a:r>
              <a:rPr lang="en-US" altLang="en-US" sz="1700" dirty="0"/>
              <a:t>   of disjoint/overlapping</a:t>
            </a:r>
            <a:endParaRPr lang="en-US" altLang="en-US" sz="1700" dirty="0">
              <a:solidFill>
                <a:schemeClr val="tx2"/>
              </a:solidFill>
            </a:endParaRPr>
          </a:p>
        </p:txBody>
      </p:sp>
      <p:pic>
        <p:nvPicPr>
          <p:cNvPr id="8602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2" r="11429"/>
          <a:stretch>
            <a:fillRect/>
          </a:stretch>
        </p:blipFill>
        <p:spPr bwMode="auto">
          <a:xfrm>
            <a:off x="1051287" y="1561683"/>
            <a:ext cx="6875971" cy="344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UML Class Diagrams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2375"/>
            <a:ext cx="7550026" cy="3508121"/>
          </a:xfrm>
        </p:spPr>
        <p:txBody>
          <a:bodyPr/>
          <a:lstStyle/>
          <a:p>
            <a:r>
              <a:rPr lang="en-US" altLang="en-US" sz="2400" dirty="0"/>
              <a:t>Binary relationship sets are represented in UML by just drawing a line connecting the entity sets. The relationship set name is written adjacent to the line.  </a:t>
            </a:r>
            <a:endParaRPr lang="en-US" altLang="en-US" sz="2400" dirty="0"/>
          </a:p>
          <a:p>
            <a:r>
              <a:rPr lang="en-US" altLang="en-US" sz="2400" dirty="0"/>
              <a:t>The role played by an entity set in a relationship set may also be specified by writing the role name on the line, adjacent to the entity set. </a:t>
            </a:r>
            <a:endParaRPr lang="en-US" altLang="en-US" sz="2400" dirty="0"/>
          </a:p>
          <a:p>
            <a:r>
              <a:rPr lang="en-US" altLang="en-US" sz="2400" dirty="0"/>
              <a:t>The relationship set name may alternatively be written in a box, along with attributes of the relationship set, and the box is connected, using a dotted line, to the line depicting the  relationship set.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219" y="844549"/>
            <a:ext cx="4612823" cy="5488707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例子：如何将用户需求转化为</a:t>
            </a:r>
            <a:r>
              <a:rPr lang="en-US" altLang="zh-CN" dirty="0" smtClean="0"/>
              <a:t>E-R</a:t>
            </a:r>
            <a:r>
              <a:rPr lang="zh-CN" altLang="en-US" dirty="0" smtClean="0"/>
              <a:t>模型</a:t>
            </a:r>
            <a:endParaRPr lang="zh-CN" altLang="en-US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例子：一所大学必须维护以下信息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各个系，包括名称，系主任和地址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各个班级，包括班级编号，名字和年级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各个教师，包括教师编号，姓名和年龄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一个系有多个班级，但班级只属于一个系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一个系聘请某些教师，一个教师被一个系聘请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教师最多是一个班的班主任；但是任何班级都必须有一个班主任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800" smtClean="0"/>
              <a:t>Step(1): </a:t>
            </a:r>
            <a:r>
              <a:rPr lang="zh-CN" altLang="en-US" sz="3800" smtClean="0"/>
              <a:t>实体集</a:t>
            </a:r>
            <a:r>
              <a:rPr lang="en-US" altLang="zh-CN" sz="3800" smtClean="0"/>
              <a:t>; </a:t>
            </a:r>
            <a:r>
              <a:rPr lang="zh-CN" altLang="en-US" sz="3800" smtClean="0"/>
              <a:t>实体集的属性、主码</a:t>
            </a:r>
            <a:endParaRPr lang="zh-CN" altLang="en-US" sz="38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例子：一所大学必须维护以下信息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各个系，包括名称，系主任和地址</a:t>
            </a:r>
            <a:endParaRPr lang="zh-CN" altLang="en-US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各个班级，包括班级编号，名字和年级</a:t>
            </a:r>
            <a:endParaRPr lang="zh-CN" altLang="en-US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各个教师，包括教师编号，姓名和年龄</a:t>
            </a:r>
            <a:endParaRPr lang="zh-CN" altLang="en-US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/>
              <a:t>一个系有多个班级，但班级只属于一个系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一个系聘请某些教师，一个教师被一个系聘请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教师最多是一个班的班主任；但是任何班级都必须有一个班主任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800" smtClean="0"/>
              <a:t>Step(1): </a:t>
            </a:r>
            <a:r>
              <a:rPr lang="zh-CN" altLang="en-US" sz="3800" smtClean="0"/>
              <a:t>实体集</a:t>
            </a:r>
            <a:r>
              <a:rPr lang="en-US" altLang="zh-CN" sz="3800" smtClean="0"/>
              <a:t>; </a:t>
            </a:r>
            <a:r>
              <a:rPr lang="zh-CN" altLang="en-US" sz="3800" smtClean="0"/>
              <a:t>实体集的属性、主码</a:t>
            </a:r>
            <a:endParaRPr lang="zh-CN" altLang="en-US" sz="3800" smtClean="0"/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实体集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系；班级；教师</a:t>
            </a: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实体集的属性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系</a:t>
            </a:r>
            <a:r>
              <a:rPr lang="en-US" altLang="zh-CN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的属性：名称，系主任，地址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班级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的属性：班级编号，名称和年级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教师的属性：教师编号，姓名和年龄</a:t>
            </a: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主码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系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的主码：名称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班级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的主码：名称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教师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的主码：教师编号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bldLvl="2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800" smtClean="0"/>
              <a:t>Step(1): </a:t>
            </a:r>
            <a:r>
              <a:rPr lang="zh-CN" altLang="en-US" sz="3800" smtClean="0"/>
              <a:t>实体集</a:t>
            </a:r>
            <a:r>
              <a:rPr lang="en-US" altLang="zh-CN" sz="3800" smtClean="0"/>
              <a:t>; </a:t>
            </a:r>
            <a:r>
              <a:rPr lang="zh-CN" altLang="en-US" sz="3800" smtClean="0"/>
              <a:t>实体集的属性、主码</a:t>
            </a:r>
            <a:endParaRPr lang="zh-CN" altLang="en-US" sz="3800" smtClean="0"/>
          </a:p>
        </p:txBody>
      </p:sp>
      <p:sp>
        <p:nvSpPr>
          <p:cNvPr id="2" name="文本框 1"/>
          <p:cNvSpPr txBox="1"/>
          <p:nvPr/>
        </p:nvSpPr>
        <p:spPr>
          <a:xfrm>
            <a:off x="3595955" y="2609636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37565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800" dirty="0" smtClean="0"/>
              <a:t>Step(2): </a:t>
            </a:r>
            <a:r>
              <a:rPr lang="zh-CN" altLang="en-US" sz="3800" dirty="0" smtClean="0"/>
              <a:t>联系集</a:t>
            </a:r>
            <a:r>
              <a:rPr lang="en-US" altLang="zh-CN" sz="3800" dirty="0" smtClean="0"/>
              <a:t>; </a:t>
            </a:r>
            <a:r>
              <a:rPr lang="zh-CN" altLang="en-US" sz="3800" dirty="0" smtClean="0"/>
              <a:t>参与、角色、映射基数</a:t>
            </a:r>
            <a:endParaRPr lang="zh-CN" altLang="en-US" sz="3800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例子：一所大学必须维护以下信息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各个系，包括名称，系主任和地址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各个班级，包括班级编号，名字和年级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各个教师，包括教师编号，姓名和年龄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0070C0"/>
                </a:solidFill>
              </a:rPr>
              <a:t>一个系有多个班级，但班级只属于一个系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0070C0"/>
                </a:solidFill>
              </a:rPr>
              <a:t>一个系聘请某些教师，一个教师被一个系聘请</a:t>
            </a:r>
            <a:endParaRPr lang="zh-CN" altLang="en-US" sz="2400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0070C0"/>
                </a:solidFill>
              </a:rPr>
              <a:t>教师最多是一个班的班主任；但是任何班级都必须有一个班主任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37565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800" dirty="0" smtClean="0"/>
              <a:t>Step(2): </a:t>
            </a:r>
            <a:r>
              <a:rPr lang="zh-CN" altLang="en-US" sz="3800" dirty="0" smtClean="0"/>
              <a:t>联系集</a:t>
            </a:r>
            <a:r>
              <a:rPr lang="en-US" altLang="zh-CN" sz="3800" dirty="0" smtClean="0"/>
              <a:t>; </a:t>
            </a:r>
            <a:r>
              <a:rPr lang="zh-CN" altLang="en-US" sz="3800" dirty="0" smtClean="0"/>
              <a:t>参与、角色、映射基数</a:t>
            </a:r>
            <a:endParaRPr lang="zh-CN" altLang="en-US" sz="3800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联系集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隶属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班级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系</a:t>
            </a:r>
            <a:r>
              <a:rPr lang="en-US" altLang="zh-CN" sz="2400" dirty="0" smtClean="0"/>
              <a:t> = </a:t>
            </a:r>
            <a:r>
              <a:rPr lang="zh-CN" altLang="en-US" sz="2400" dirty="0" smtClean="0"/>
              <a:t>多对一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聘请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系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教师</a:t>
            </a:r>
            <a:r>
              <a:rPr lang="en-US" altLang="zh-CN" sz="2400" dirty="0" smtClean="0"/>
              <a:t> = </a:t>
            </a:r>
            <a:r>
              <a:rPr lang="zh-CN" altLang="en-US" sz="2400" dirty="0" smtClean="0"/>
              <a:t>一对多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班主任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教师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班级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一对一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49" y="117475"/>
            <a:ext cx="845784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800" dirty="0" smtClean="0"/>
              <a:t>Step(2): </a:t>
            </a:r>
            <a:r>
              <a:rPr lang="zh-CN" altLang="en-US" sz="3800" dirty="0" smtClean="0"/>
              <a:t>联系集</a:t>
            </a:r>
            <a:r>
              <a:rPr lang="en-US" altLang="zh-CN" sz="3800" dirty="0" smtClean="0"/>
              <a:t>; </a:t>
            </a:r>
            <a:r>
              <a:rPr lang="zh-CN" altLang="en-US" sz="3800" dirty="0" smtClean="0"/>
              <a:t>参与、角色、映射基数</a:t>
            </a:r>
            <a:endParaRPr lang="zh-CN" altLang="en-US" sz="3800" dirty="0" smtClean="0"/>
          </a:p>
        </p:txBody>
      </p:sp>
      <p:sp>
        <p:nvSpPr>
          <p:cNvPr id="33" name="文本框 32"/>
          <p:cNvSpPr txBox="1"/>
          <p:nvPr/>
        </p:nvSpPr>
        <p:spPr>
          <a:xfrm>
            <a:off x="3595955" y="2609636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0" name="Rectangle 4"/>
          <p:cNvSpPr>
            <a:spLocks noGrp="1" noChangeArrowheads="1"/>
          </p:cNvSpPr>
          <p:nvPr>
            <p:ph type="title"/>
          </p:nvPr>
        </p:nvSpPr>
        <p:spPr>
          <a:xfrm>
            <a:off x="628650" y="54768"/>
            <a:ext cx="7886700" cy="86757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33" y="1308297"/>
            <a:ext cx="6573977" cy="4681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5400"/>
            <a:ext cx="7886700" cy="9032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713" y="1342295"/>
            <a:ext cx="6348695" cy="4531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实体集 → 关系，实体集的属性 → 关系的属性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产品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产品名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价格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工厂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工厂名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电话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地址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部门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部门号</a:t>
            </a:r>
            <a:r>
              <a:rPr lang="en-US" altLang="zh-CN" sz="2400" u="sng" dirty="0" smtClean="0"/>
              <a:t>,</a:t>
            </a:r>
            <a:r>
              <a:rPr lang="zh-CN" altLang="en-US" sz="2400" dirty="0" smtClean="0"/>
              <a:t>名称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职工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职工号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职务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参考书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书名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课程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课程号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课程名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学时数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教工号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学生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身高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ldLvl="2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628650" y="72231"/>
            <a:ext cx="7886700" cy="92154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05" y="1317074"/>
            <a:ext cx="6654833" cy="4775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整体</a:t>
            </a:r>
            <a:r>
              <a:rPr lang="en-US" altLang="zh-CN" smtClean="0"/>
              <a:t>E-R</a:t>
            </a:r>
            <a:r>
              <a:rPr lang="zh-CN" altLang="en-US" smtClean="0"/>
              <a:t>图</a:t>
            </a:r>
            <a:r>
              <a:rPr lang="zh-CN" altLang="en-US" smtClean="0">
                <a:latin typeface="宋体" pitchFamily="2" charset="-122"/>
              </a:rPr>
              <a:t>→</a:t>
            </a:r>
            <a:r>
              <a:rPr lang="zh-CN" altLang="en-US" smtClean="0"/>
              <a:t>关系模型</a:t>
            </a:r>
            <a:endParaRPr lang="en-US" altLang="zh-CN" smtClean="0"/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多值属性 </a:t>
            </a:r>
            <a:r>
              <a:rPr lang="en-US" altLang="zh-CN" sz="2400" dirty="0" smtClean="0"/>
              <a:t>+ </a:t>
            </a:r>
            <a:r>
              <a:rPr lang="zh-CN" altLang="en-US" sz="2400" dirty="0" smtClean="0"/>
              <a:t>原关系主码 → 分离的关系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产品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产品名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价格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工厂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zh-CN" altLang="en-US" sz="2400" u="sng" dirty="0" smtClean="0">
                <a:solidFill>
                  <a:srgbClr val="0070C0"/>
                </a:solidFill>
              </a:rPr>
              <a:t>工厂名</a:t>
            </a:r>
            <a:r>
              <a:rPr lang="en-US" altLang="zh-CN" sz="2400" dirty="0" smtClean="0">
                <a:solidFill>
                  <a:srgbClr val="0070C0"/>
                </a:solidFill>
              </a:rPr>
              <a:t>,</a:t>
            </a:r>
            <a:r>
              <a:rPr lang="zh-CN" altLang="en-US" sz="2400" dirty="0" smtClean="0">
                <a:solidFill>
                  <a:srgbClr val="0070C0"/>
                </a:solidFill>
              </a:rPr>
              <a:t> 地址</a:t>
            </a:r>
            <a:r>
              <a:rPr lang="en-US" altLang="zh-CN" sz="2400" dirty="0" smtClean="0">
                <a:solidFill>
                  <a:srgbClr val="0070C0"/>
                </a:solidFill>
              </a:rPr>
              <a:t>)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工厂通讯簿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zh-CN" altLang="en-US" sz="2400" u="sng" dirty="0" smtClean="0">
                <a:solidFill>
                  <a:srgbClr val="0070C0"/>
                </a:solidFill>
              </a:rPr>
              <a:t>工厂名</a:t>
            </a:r>
            <a:r>
              <a:rPr lang="en-US" altLang="zh-CN" sz="2400" dirty="0" smtClean="0">
                <a:solidFill>
                  <a:srgbClr val="0070C0"/>
                </a:solidFill>
              </a:rPr>
              <a:t>,</a:t>
            </a:r>
            <a:r>
              <a:rPr lang="zh-CN" altLang="en-US" sz="2400" u="sng" dirty="0" smtClean="0">
                <a:solidFill>
                  <a:srgbClr val="0070C0"/>
                </a:solidFill>
              </a:rPr>
              <a:t>电话</a:t>
            </a:r>
            <a:r>
              <a:rPr lang="en-US" altLang="zh-CN" sz="2400" dirty="0" smtClean="0">
                <a:solidFill>
                  <a:srgbClr val="0070C0"/>
                </a:solidFill>
              </a:rPr>
              <a:t>)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/>
              <a:t>部门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部门号</a:t>
            </a:r>
            <a:r>
              <a:rPr lang="en-US" altLang="zh-CN" sz="2400" u="sng" dirty="0" smtClean="0"/>
              <a:t>,</a:t>
            </a:r>
            <a:r>
              <a:rPr lang="zh-CN" altLang="en-US" sz="2400" dirty="0" smtClean="0"/>
              <a:t>名称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职工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职工号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职务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参考书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书名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课程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课程号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课程名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学时数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教师号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学生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身高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bldLvl="2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628650" y="72231"/>
            <a:ext cx="7886700" cy="92154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64099"/>
            <a:ext cx="7446838" cy="50124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整体</a:t>
            </a:r>
            <a:r>
              <a:rPr lang="en-US" altLang="zh-CN" smtClean="0"/>
              <a:t>E-R</a:t>
            </a:r>
            <a:r>
              <a:rPr lang="zh-CN" altLang="en-US" smtClean="0"/>
              <a:t>图</a:t>
            </a:r>
            <a:r>
              <a:rPr lang="zh-CN" altLang="en-US" smtClean="0">
                <a:latin typeface="宋体" pitchFamily="2" charset="-122"/>
              </a:rPr>
              <a:t>→</a:t>
            </a:r>
            <a:r>
              <a:rPr lang="zh-CN" altLang="en-US" smtClean="0"/>
              <a:t>关系模型</a:t>
            </a:r>
            <a:endParaRPr lang="en-US" altLang="zh-CN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zh-CN" altLang="en-US" sz="2400" dirty="0" smtClean="0"/>
              <a:t>联系集 → 关系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属性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产品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产品名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价格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工厂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工厂名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 地址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工厂通讯簿</a:t>
            </a:r>
            <a:r>
              <a:rPr lang="en-US" altLang="zh-CN" sz="2200" dirty="0" smtClean="0"/>
              <a:t>(</a:t>
            </a:r>
            <a:r>
              <a:rPr lang="zh-CN" altLang="en-US" sz="2200" u="sng" dirty="0" smtClean="0"/>
              <a:t>工厂名</a:t>
            </a:r>
            <a:r>
              <a:rPr lang="en-US" altLang="zh-CN" sz="2200" dirty="0" smtClean="0"/>
              <a:t>,</a:t>
            </a:r>
            <a:r>
              <a:rPr lang="zh-CN" altLang="en-US" sz="2200" u="sng" dirty="0" smtClean="0"/>
              <a:t>电话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部门</a:t>
            </a:r>
            <a:r>
              <a:rPr lang="en-US" altLang="zh-CN" sz="2200" dirty="0" smtClean="0"/>
              <a:t>(</a:t>
            </a:r>
            <a:r>
              <a:rPr lang="zh-CN" altLang="en-US" sz="2200" dirty="0">
                <a:solidFill>
                  <a:srgbClr val="66FF33"/>
                </a:solidFill>
              </a:rPr>
              <a:t>工厂名</a:t>
            </a:r>
            <a:r>
              <a:rPr lang="en-US" altLang="zh-CN" sz="2200" dirty="0">
                <a:solidFill>
                  <a:srgbClr val="66FF33"/>
                </a:solidFill>
              </a:rPr>
              <a:t>, </a:t>
            </a:r>
            <a:r>
              <a:rPr lang="zh-CN" altLang="en-US" sz="2200" dirty="0">
                <a:solidFill>
                  <a:srgbClr val="66FF33"/>
                </a:solidFill>
              </a:rPr>
              <a:t>经理工号</a:t>
            </a:r>
            <a:r>
              <a:rPr lang="en-US" altLang="zh-CN" sz="2200" dirty="0" smtClean="0"/>
              <a:t>, </a:t>
            </a:r>
            <a:r>
              <a:rPr lang="zh-CN" altLang="en-US" sz="2200" dirty="0" smtClean="0"/>
              <a:t>部门号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名称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职工</a:t>
            </a:r>
            <a:r>
              <a:rPr lang="en-US" altLang="zh-CN" sz="2200" dirty="0" smtClean="0"/>
              <a:t>(</a:t>
            </a:r>
            <a:r>
              <a:rPr lang="zh-CN" altLang="en-US" sz="2200" dirty="0">
                <a:solidFill>
                  <a:srgbClr val="66FF33"/>
                </a:solidFill>
              </a:rPr>
              <a:t>部门号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职工号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姓名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职务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参考书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书号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书名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课程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课程号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课程名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学时数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教师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教工号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姓名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学生</a:t>
            </a:r>
            <a:r>
              <a:rPr lang="en-US" altLang="zh-CN" sz="2200" dirty="0" smtClean="0"/>
              <a:t>(</a:t>
            </a:r>
            <a:r>
              <a:rPr lang="zh-CN" altLang="en-US" sz="2200" dirty="0">
                <a:solidFill>
                  <a:srgbClr val="66FF33"/>
                </a:solidFill>
              </a:rPr>
              <a:t>班主任编号</a:t>
            </a:r>
            <a:r>
              <a:rPr lang="en-US" altLang="zh-CN" sz="2200" dirty="0" smtClean="0"/>
              <a:t>, </a:t>
            </a:r>
            <a:r>
              <a:rPr lang="zh-CN" altLang="en-US" sz="2200" dirty="0">
                <a:solidFill>
                  <a:srgbClr val="66FF33"/>
                </a:solidFill>
              </a:rPr>
              <a:t>组长学号</a:t>
            </a:r>
            <a:r>
              <a:rPr lang="en-US" altLang="zh-CN" sz="2200" dirty="0" smtClean="0"/>
              <a:t>, </a:t>
            </a:r>
            <a:r>
              <a:rPr lang="zh-CN" altLang="en-US" sz="2200" dirty="0">
                <a:solidFill>
                  <a:srgbClr val="66FF33"/>
                </a:solidFill>
              </a:rPr>
              <a:t>实习工厂名</a:t>
            </a:r>
            <a:r>
              <a:rPr lang="en-US" altLang="zh-CN" sz="2200" dirty="0" smtClean="0"/>
              <a:t>, </a:t>
            </a:r>
            <a:r>
              <a:rPr lang="zh-CN" altLang="en-US" sz="2200" dirty="0" smtClean="0"/>
              <a:t>学号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姓名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身高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>
                <a:solidFill>
                  <a:srgbClr val="66FF33"/>
                </a:solidFill>
              </a:rPr>
              <a:t>制造</a:t>
            </a:r>
            <a:r>
              <a:rPr lang="en-US" altLang="zh-CN" sz="2200" dirty="0" smtClean="0">
                <a:solidFill>
                  <a:srgbClr val="66FF33"/>
                </a:solidFill>
              </a:rPr>
              <a:t>(</a:t>
            </a:r>
            <a:r>
              <a:rPr lang="zh-CN" altLang="en-US" sz="2200" dirty="0" smtClean="0">
                <a:solidFill>
                  <a:srgbClr val="66FF33"/>
                </a:solidFill>
              </a:rPr>
              <a:t>工厂号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产品名</a:t>
            </a:r>
            <a:r>
              <a:rPr lang="en-US" altLang="zh-CN" sz="2200" dirty="0" smtClean="0">
                <a:solidFill>
                  <a:srgbClr val="66FF33"/>
                </a:solidFill>
              </a:rPr>
              <a:t>)</a:t>
            </a:r>
            <a:endParaRPr lang="en-US" altLang="zh-CN" sz="2200" dirty="0" smtClean="0">
              <a:solidFill>
                <a:srgbClr val="66FF33"/>
              </a:solidFill>
            </a:endParaRPr>
          </a:p>
          <a:p>
            <a:pPr lvl="1" eaLnBrk="1" hangingPunct="1">
              <a:defRPr/>
            </a:pPr>
            <a:r>
              <a:rPr lang="zh-CN" altLang="en-US" sz="2200" dirty="0" smtClean="0">
                <a:solidFill>
                  <a:srgbClr val="66FF33"/>
                </a:solidFill>
              </a:rPr>
              <a:t>授课</a:t>
            </a:r>
            <a:r>
              <a:rPr lang="en-US" altLang="zh-CN" sz="2200" dirty="0" smtClean="0">
                <a:solidFill>
                  <a:srgbClr val="66FF33"/>
                </a:solidFill>
              </a:rPr>
              <a:t>(</a:t>
            </a:r>
            <a:r>
              <a:rPr lang="zh-CN" altLang="en-US" sz="2200" dirty="0" smtClean="0">
                <a:solidFill>
                  <a:srgbClr val="66FF33"/>
                </a:solidFill>
              </a:rPr>
              <a:t>教师号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参考书号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 </a:t>
            </a:r>
            <a:r>
              <a:rPr lang="zh-CN" altLang="en-US" sz="2200" dirty="0" smtClean="0">
                <a:solidFill>
                  <a:srgbClr val="66FF33"/>
                </a:solidFill>
              </a:rPr>
              <a:t>课程号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教室</a:t>
            </a:r>
            <a:r>
              <a:rPr lang="en-US" altLang="zh-CN" sz="2200" dirty="0" smtClean="0">
                <a:solidFill>
                  <a:srgbClr val="66FF33"/>
                </a:solidFill>
              </a:rPr>
              <a:t>)</a:t>
            </a:r>
            <a:endParaRPr lang="en-US" altLang="zh-CN" sz="2200" dirty="0" smtClean="0">
              <a:solidFill>
                <a:srgbClr val="66FF33"/>
              </a:solidFill>
            </a:endParaRPr>
          </a:p>
          <a:p>
            <a:pPr lvl="1" eaLnBrk="1" hangingPunct="1">
              <a:defRPr/>
            </a:pPr>
            <a:r>
              <a:rPr lang="zh-CN" altLang="en-US" sz="2200" dirty="0" smtClean="0">
                <a:solidFill>
                  <a:srgbClr val="66FF33"/>
                </a:solidFill>
              </a:rPr>
              <a:t>选修</a:t>
            </a:r>
            <a:r>
              <a:rPr lang="en-US" altLang="zh-CN" sz="2200" dirty="0" smtClean="0">
                <a:solidFill>
                  <a:srgbClr val="66FF33"/>
                </a:solidFill>
              </a:rPr>
              <a:t>(</a:t>
            </a:r>
            <a:r>
              <a:rPr lang="zh-CN" altLang="en-US" sz="2200" dirty="0" smtClean="0">
                <a:solidFill>
                  <a:srgbClr val="66FF33"/>
                </a:solidFill>
              </a:rPr>
              <a:t>学号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课程号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成绩</a:t>
            </a:r>
            <a:r>
              <a:rPr lang="en-US" altLang="zh-CN" sz="2200" dirty="0" smtClean="0">
                <a:solidFill>
                  <a:srgbClr val="66FF33"/>
                </a:solidFill>
              </a:rPr>
              <a:t>)</a:t>
            </a:r>
            <a:endParaRPr lang="en-US" altLang="zh-CN" sz="2200" dirty="0" smtClean="0">
              <a:solidFill>
                <a:srgbClr val="66FF33"/>
              </a:solidFill>
            </a:endParaRPr>
          </a:p>
          <a:p>
            <a:pPr lvl="1" eaLnBrk="1" hangingPunct="1">
              <a:defRPr/>
            </a:pPr>
            <a:endParaRPr lang="en-US" altLang="zh-CN" sz="2200" dirty="0" smtClean="0">
              <a:solidFill>
                <a:srgbClr val="00E4A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Other Aspects of Database Design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2375"/>
            <a:ext cx="7449058" cy="1533017"/>
          </a:xfrm>
        </p:spPr>
        <p:txBody>
          <a:bodyPr/>
          <a:lstStyle/>
          <a:p>
            <a:r>
              <a:rPr lang="en-US" altLang="en-US" sz="2000" dirty="0"/>
              <a:t>Functional Requirements</a:t>
            </a:r>
            <a:endParaRPr lang="en-US" altLang="en-US" sz="2000" dirty="0"/>
          </a:p>
          <a:p>
            <a:r>
              <a:rPr lang="en-US" altLang="en-US" sz="2000" dirty="0"/>
              <a:t>Data Flow, Workflow</a:t>
            </a:r>
            <a:endParaRPr lang="en-US" altLang="en-US" sz="2000" dirty="0"/>
          </a:p>
          <a:p>
            <a:r>
              <a:rPr lang="en-US" altLang="en-US" sz="2000" dirty="0"/>
              <a:t>Schema Evolution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83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End of  Chapter  6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I1YTJmMzNmZGM4ZGRhZWVmNDNjZjlkMzBlZDg4NmU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27157</Words>
  <Application>WPS 演示</Application>
  <PresentationFormat>全屏显示(4:3)</PresentationFormat>
  <Paragraphs>768</Paragraphs>
  <Slides>99</Slides>
  <Notes>84</Notes>
  <HiddenSlides>1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99</vt:i4>
      </vt:variant>
      <vt:variant>
        <vt:lpstr>自定义放映</vt:lpstr>
      </vt:variant>
      <vt:variant>
        <vt:i4>1</vt:i4>
      </vt:variant>
    </vt:vector>
  </HeadingPairs>
  <TitlesOfParts>
    <vt:vector size="128" baseType="lpstr">
      <vt:lpstr>Arial</vt:lpstr>
      <vt:lpstr>宋体</vt:lpstr>
      <vt:lpstr>Wingdings</vt:lpstr>
      <vt:lpstr>Helvetica</vt:lpstr>
      <vt:lpstr>MS PGothic</vt:lpstr>
      <vt:lpstr>冬青黑体简体中文</vt:lpstr>
      <vt:lpstr>Times New Roman</vt:lpstr>
      <vt:lpstr>Monotype Sorts</vt:lpstr>
      <vt:lpstr>Symbol</vt:lpstr>
      <vt:lpstr>Tahoma</vt:lpstr>
      <vt:lpstr>微软雅黑</vt:lpstr>
      <vt:lpstr>汉仪旗黑</vt:lpstr>
      <vt:lpstr>宋体</vt:lpstr>
      <vt:lpstr>Arial Unicode MS</vt:lpstr>
      <vt:lpstr>Thonburi</vt:lpstr>
      <vt:lpstr>Kingsoft Sign</vt:lpstr>
      <vt:lpstr>Webdings</vt:lpstr>
      <vt:lpstr>仿宋</vt:lpstr>
      <vt:lpstr>方正仿宋_GBK</vt:lpstr>
      <vt:lpstr>汉仪书宋二KW</vt:lpstr>
      <vt:lpstr>MS PGothic</vt:lpstr>
      <vt:lpstr>Monotype Sorts</vt:lpstr>
      <vt:lpstr>Symbol</vt:lpstr>
      <vt:lpstr>Webdings</vt:lpstr>
      <vt:lpstr>Wingdings</vt:lpstr>
      <vt:lpstr>仿宋</vt:lpstr>
      <vt:lpstr>苹方-简</vt:lpstr>
      <vt:lpstr>2_db-5-grey</vt:lpstr>
      <vt:lpstr>Chapter 6: Database Design Using the E-R Model</vt:lpstr>
      <vt:lpstr>Outline</vt:lpstr>
      <vt:lpstr>Outline</vt:lpstr>
      <vt:lpstr>Design Phases</vt:lpstr>
      <vt:lpstr>Design Phases (Cont.)</vt:lpstr>
      <vt:lpstr>数据库设计的过程</vt:lpstr>
      <vt:lpstr>Design Alternatives</vt:lpstr>
      <vt:lpstr>Outline of the ER Model</vt:lpstr>
      <vt:lpstr>Design Approaches</vt:lpstr>
      <vt:lpstr>ER model -- Database Modeling</vt:lpstr>
      <vt:lpstr>Entity Sets</vt:lpstr>
      <vt:lpstr>Entity Sets -- instructor and student</vt:lpstr>
      <vt:lpstr>Representing Entity sets in ER Diagram</vt:lpstr>
      <vt:lpstr>Relationship Sets</vt:lpstr>
      <vt:lpstr>Relationship Sets (Cont.)</vt:lpstr>
      <vt:lpstr>Representing Relationship  Sets via ER Diagrams </vt:lpstr>
      <vt:lpstr>Relationship Sets (Cont.)</vt:lpstr>
      <vt:lpstr>Relationship Sets with Attributes</vt:lpstr>
      <vt:lpstr>Roles</vt:lpstr>
      <vt:lpstr>Degree of a Relationship Set</vt:lpstr>
      <vt:lpstr>Non-binary Relationship Sets</vt:lpstr>
      <vt:lpstr>Complex Attributes</vt:lpstr>
      <vt:lpstr>Composite Attributes</vt:lpstr>
      <vt:lpstr>Representing Complex Attributes  in ER Diagram</vt:lpstr>
      <vt:lpstr>Mapping Cardinality Constraints</vt:lpstr>
      <vt:lpstr>Mapping Cardinalities</vt:lpstr>
      <vt:lpstr>Mapping Cardinalities </vt:lpstr>
      <vt:lpstr>Representing Cardinality Constraints in ER Diagram</vt:lpstr>
      <vt:lpstr>One-to-Many Relationship</vt:lpstr>
      <vt:lpstr>Many-to-One Relationships</vt:lpstr>
      <vt:lpstr>Many-to-Many Relationship</vt:lpstr>
      <vt:lpstr>Total and Partial Participation</vt:lpstr>
      <vt:lpstr>Notation for Expressing More Complex Constraints</vt:lpstr>
      <vt:lpstr>Cardinality Constraints on Ternary Relationship</vt:lpstr>
      <vt:lpstr>Primary Key</vt:lpstr>
      <vt:lpstr>Primary key for Entity Sets</vt:lpstr>
      <vt:lpstr>Primary Key for Relationship Sets</vt:lpstr>
      <vt:lpstr>Choice of Primary key for Binary Relationship</vt:lpstr>
      <vt:lpstr>Weak Entity Sets</vt:lpstr>
      <vt:lpstr>Weak Entity Sets (Cont.)</vt:lpstr>
      <vt:lpstr>Weak Entity Sets (Cont.)</vt:lpstr>
      <vt:lpstr>Expressing Weak Entity Sets</vt:lpstr>
      <vt:lpstr>Redundant Attributes</vt:lpstr>
      <vt:lpstr>E-R Diagram for a University Enterprise</vt:lpstr>
      <vt:lpstr>Reduction to Relation Schemas</vt:lpstr>
      <vt:lpstr>Reduction to Relation Schemas</vt:lpstr>
      <vt:lpstr>Representing Entity Sets</vt:lpstr>
      <vt:lpstr>Representation of Entity Sets with Composite Attributes</vt:lpstr>
      <vt:lpstr>Representation of Entity Sets with Multivalued Attributes</vt:lpstr>
      <vt:lpstr>Representing Relationship Sets</vt:lpstr>
      <vt:lpstr>Redundancy of Schemas</vt:lpstr>
      <vt:lpstr>Redundancy of Schemas (Cont.)</vt:lpstr>
      <vt:lpstr>Redundancy of Schemas (Cont.)</vt:lpstr>
      <vt:lpstr>Extended E-R Features</vt:lpstr>
      <vt:lpstr>Specialization</vt:lpstr>
      <vt:lpstr>Specialization Example</vt:lpstr>
      <vt:lpstr>Representing Specialization via Schemas</vt:lpstr>
      <vt:lpstr>Representing Specialization as Schemas (Cont.)</vt:lpstr>
      <vt:lpstr>Generalization</vt:lpstr>
      <vt:lpstr>Completeness constraint</vt:lpstr>
      <vt:lpstr>Completeness constraint (Cont.)</vt:lpstr>
      <vt:lpstr>Aggregation</vt:lpstr>
      <vt:lpstr>Aggregation (Cont.)</vt:lpstr>
      <vt:lpstr>Aggregation (Cont.)</vt:lpstr>
      <vt:lpstr>Reduction to Relational Schemas</vt:lpstr>
      <vt:lpstr>Design Issues</vt:lpstr>
      <vt:lpstr>Common Mistakes in E-R Diagrams</vt:lpstr>
      <vt:lpstr>Common Mistakes in E-R Diagrams (Cont.)</vt:lpstr>
      <vt:lpstr>Entities vs. Attributes</vt:lpstr>
      <vt:lpstr>Entities vs. Relationship sets</vt:lpstr>
      <vt:lpstr>Binary Vs. Non-Binary Relationships</vt:lpstr>
      <vt:lpstr>Converting Non-Binary Relationships to Binary Form</vt:lpstr>
      <vt:lpstr>Converting Non-Binary Relationships (Cont.)</vt:lpstr>
      <vt:lpstr>E-R Design Decisions</vt:lpstr>
      <vt:lpstr>Summary of Symbols Used in E-R Notation</vt:lpstr>
      <vt:lpstr>Symbols Used in E-R Notation (Cont.)</vt:lpstr>
      <vt:lpstr>Alternative ER Notations</vt:lpstr>
      <vt:lpstr>Alternative ER Notations</vt:lpstr>
      <vt:lpstr>UML	</vt:lpstr>
      <vt:lpstr>ER vs. UML Class Diagrams</vt:lpstr>
      <vt:lpstr>ER vs. UML Class Diagrams</vt:lpstr>
      <vt:lpstr>UML Class Diagrams (Cont.)</vt:lpstr>
      <vt:lpstr>ER vs. UML Class Diagrams</vt:lpstr>
      <vt:lpstr>例子：如何将用户需求转化为E-R模型</vt:lpstr>
      <vt:lpstr>Step(1): 实体集; 实体集的属性、主码</vt:lpstr>
      <vt:lpstr>Step(1): 实体集; 实体集的属性、主码</vt:lpstr>
      <vt:lpstr>Step(1): 实体集; 实体集的属性、主码</vt:lpstr>
      <vt:lpstr>Step(2): 联系集; 参与、角色、映射基数</vt:lpstr>
      <vt:lpstr>Step(2): 联系集; 参与、角色、映射基数</vt:lpstr>
      <vt:lpstr>Step(2): 联系集; 参与、角色、映射基数</vt:lpstr>
      <vt:lpstr>E-R图→关系模型</vt:lpstr>
      <vt:lpstr>整体E-R图→关系模型</vt:lpstr>
      <vt:lpstr>整体E-R图→关系模型</vt:lpstr>
      <vt:lpstr>整体E-R图→关系模型</vt:lpstr>
      <vt:lpstr>整体E-R图→关系模型</vt:lpstr>
      <vt:lpstr>整体E-R图→关系模型</vt:lpstr>
      <vt:lpstr>整体E-R图→关系模型</vt:lpstr>
      <vt:lpstr>Other Aspects of Database Design</vt:lpstr>
      <vt:lpstr>End of  Chapter  6 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赖韩江</cp:lastModifiedBy>
  <cp:revision>542</cp:revision>
  <cp:lastPrinted>2025-11-02T01:50:51Z</cp:lastPrinted>
  <dcterms:created xsi:type="dcterms:W3CDTF">2025-11-02T01:50:51Z</dcterms:created>
  <dcterms:modified xsi:type="dcterms:W3CDTF">2025-11-02T01:50:51Z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4C5B7959B4447845FBB80669F6D70EFA_43</vt:lpwstr>
  </property>
  <property fmtid="{D5CDD505-2E9C-101B-9397-08002B2CF9AE}" pid="3" name="KSOProductBuildVer">
    <vt:lpwstr>2052-6.14.0.8924</vt:lpwstr>
  </property>
</Properties>
</file>