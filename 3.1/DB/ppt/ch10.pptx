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76"/>
  </p:handoutMasterIdLst>
  <p:sldIdLst>
    <p:sldId id="256" r:id="rId3"/>
    <p:sldId id="257" r:id="rId5"/>
    <p:sldId id="258" r:id="rId6"/>
    <p:sldId id="259" r:id="rId7"/>
    <p:sldId id="260" r:id="rId8"/>
    <p:sldId id="261" r:id="rId9"/>
    <p:sldId id="374" r:id="rId10"/>
    <p:sldId id="262" r:id="rId11"/>
    <p:sldId id="375" r:id="rId12"/>
    <p:sldId id="486" r:id="rId13"/>
    <p:sldId id="466" r:id="rId14"/>
    <p:sldId id="376" r:id="rId15"/>
    <p:sldId id="377" r:id="rId16"/>
    <p:sldId id="378" r:id="rId17"/>
    <p:sldId id="379" r:id="rId18"/>
    <p:sldId id="473" r:id="rId19"/>
    <p:sldId id="383" r:id="rId20"/>
    <p:sldId id="457" r:id="rId21"/>
    <p:sldId id="384" r:id="rId22"/>
    <p:sldId id="385" r:id="rId23"/>
    <p:sldId id="386" r:id="rId24"/>
    <p:sldId id="456" r:id="rId25"/>
    <p:sldId id="389" r:id="rId26"/>
    <p:sldId id="390" r:id="rId27"/>
    <p:sldId id="391" r:id="rId28"/>
    <p:sldId id="472" r:id="rId29"/>
    <p:sldId id="392" r:id="rId30"/>
    <p:sldId id="474" r:id="rId31"/>
    <p:sldId id="393" r:id="rId32"/>
    <p:sldId id="394" r:id="rId33"/>
    <p:sldId id="395" r:id="rId34"/>
    <p:sldId id="460" r:id="rId35"/>
    <p:sldId id="396" r:id="rId36"/>
    <p:sldId id="399" r:id="rId37"/>
    <p:sldId id="400" r:id="rId38"/>
    <p:sldId id="401" r:id="rId39"/>
    <p:sldId id="397" r:id="rId40"/>
    <p:sldId id="398" r:id="rId41"/>
    <p:sldId id="475" r:id="rId42"/>
    <p:sldId id="464" r:id="rId43"/>
    <p:sldId id="402" r:id="rId44"/>
    <p:sldId id="403" r:id="rId45"/>
    <p:sldId id="461" r:id="rId46"/>
    <p:sldId id="404" r:id="rId47"/>
    <p:sldId id="462" r:id="rId48"/>
    <p:sldId id="405" r:id="rId49"/>
    <p:sldId id="407" r:id="rId50"/>
    <p:sldId id="406" r:id="rId51"/>
    <p:sldId id="476" r:id="rId52"/>
    <p:sldId id="477" r:id="rId53"/>
    <p:sldId id="487" r:id="rId54"/>
    <p:sldId id="414" r:id="rId55"/>
    <p:sldId id="418" r:id="rId56"/>
    <p:sldId id="489" r:id="rId57"/>
    <p:sldId id="419" r:id="rId58"/>
    <p:sldId id="415" r:id="rId59"/>
    <p:sldId id="416" r:id="rId60"/>
    <p:sldId id="422" r:id="rId61"/>
    <p:sldId id="470" r:id="rId62"/>
    <p:sldId id="438" r:id="rId63"/>
    <p:sldId id="408" r:id="rId64"/>
    <p:sldId id="409" r:id="rId65"/>
    <p:sldId id="410" r:id="rId66"/>
    <p:sldId id="463" r:id="rId67"/>
    <p:sldId id="439" r:id="rId68"/>
    <p:sldId id="440" r:id="rId69"/>
    <p:sldId id="441" r:id="rId70"/>
    <p:sldId id="442" r:id="rId71"/>
    <p:sldId id="443" r:id="rId72"/>
    <p:sldId id="490" r:id="rId73"/>
    <p:sldId id="491" r:id="rId74"/>
    <p:sldId id="485" r:id="rId75"/>
  </p:sldIdLst>
  <p:sldSz cx="9144000" cy="6858000" type="screen4x3"/>
  <p:notesSz cx="7077075" cy="9363075"/>
  <p:custShowLst>
    <p:custShow name="Custom Show 1" id="0">
      <p:sldLst>
        <p:sld r:id="rId6"/>
        <p:sld r:id="rId9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 userDrawn="1">
          <p15:clr>
            <a:srgbClr val="A4A3A4"/>
          </p15:clr>
        </p15:guide>
        <p15:guide id="2" pos="5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33"/>
    <a:srgbClr val="0000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3" autoAdjust="0"/>
    <p:restoredTop sz="79583" autoAdjust="0"/>
  </p:normalViewPr>
  <p:slideViewPr>
    <p:cSldViewPr snapToGrid="0" showGuides="1">
      <p:cViewPr varScale="1">
        <p:scale>
          <a:sx n="71" d="100"/>
          <a:sy n="71" d="100"/>
        </p:scale>
        <p:origin x="1674" y="72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-5787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5562"/>
    </p:cViewPr>
  </p:sorterViewPr>
  <p:notesViewPr>
    <p:cSldViewPr snapToGrid="0">
      <p:cViewPr varScale="1">
        <p:scale>
          <a:sx n="85" d="100"/>
          <a:sy n="85" d="100"/>
        </p:scale>
        <p:origin x="382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handoutMaster" Target="handoutMasters/handoutMaster1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66518" cy="4675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933" tIns="46967" rIns="93933" bIns="46967" numCol="1" anchor="t" anchorCtr="0" compatLnSpc="1"/>
          <a:lstStyle>
            <a:lvl1pPr defTabSz="939165">
              <a:defRPr sz="12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0557" y="0"/>
            <a:ext cx="3066518" cy="4675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933" tIns="46967" rIns="93933" bIns="46967" numCol="1" anchor="t" anchorCtr="0" compatLnSpc="1"/>
          <a:lstStyle>
            <a:lvl1pPr algn="r" defTabSz="939165">
              <a:defRPr sz="12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933" tIns="46967" rIns="93933" bIns="46967" numCol="1" anchor="b" anchorCtr="0" compatLnSpc="1"/>
          <a:lstStyle>
            <a:lvl1pPr defTabSz="939165">
              <a:defRPr sz="12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0557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933" tIns="46967" rIns="93933" bIns="46967" numCol="1" anchor="b" anchorCtr="0" compatLnSpc="1"/>
          <a:lstStyle>
            <a:lvl1pPr algn="r" defTabSz="939165">
              <a:defRPr sz="1200"/>
            </a:lvl1pPr>
          </a:lstStyle>
          <a:p>
            <a:pPr>
              <a:defRPr/>
            </a:pPr>
            <a:fld id="{2B4FE77A-4BC7-4182-A064-BAC477140E45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66518" cy="4675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933" tIns="46967" rIns="93933" bIns="46967" numCol="1" anchor="t" anchorCtr="0" compatLnSpc="1"/>
          <a:lstStyle>
            <a:lvl1pPr defTabSz="939165">
              <a:defRPr sz="12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0557" y="0"/>
            <a:ext cx="3066518" cy="4675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933" tIns="46967" rIns="93933" bIns="46967" numCol="1" anchor="t" anchorCtr="0" compatLnSpc="1"/>
          <a:lstStyle>
            <a:lvl1pPr algn="r" defTabSz="939165">
              <a:defRPr sz="12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6975" y="703263"/>
            <a:ext cx="4683125" cy="35115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038" y="4447781"/>
            <a:ext cx="5188999" cy="421242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933" tIns="46967" rIns="93933" bIns="46967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933" tIns="46967" rIns="93933" bIns="46967" numCol="1" anchor="b" anchorCtr="0" compatLnSpc="1"/>
          <a:lstStyle>
            <a:lvl1pPr defTabSz="939165">
              <a:defRPr sz="12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0557" y="8895562"/>
            <a:ext cx="3066518" cy="4675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933" tIns="46967" rIns="93933" bIns="46967" numCol="1" anchor="b" anchorCtr="0" compatLnSpc="1"/>
          <a:lstStyle>
            <a:lvl1pPr algn="r" defTabSz="939165">
              <a:defRPr sz="1200"/>
            </a:lvl1pPr>
          </a:lstStyle>
          <a:p>
            <a:pPr>
              <a:defRPr/>
            </a:pPr>
            <a:fld id="{712C5CB1-8AEC-4E8C-8D41-16374A299E8A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C3F42A7-D8EF-4891-925D-7E3DD5A5A6E0}" type="slidenum">
              <a:rPr lang="en-US" altLang="en-US" sz="1200"/>
            </a:fld>
            <a:endParaRPr lang="en-US" altLang="en-US" sz="12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87AF91-D497-4A2A-9CF7-83341342ED42}" type="slidenum">
              <a:rPr lang="en-US" altLang="en-US" sz="1200"/>
            </a:fld>
            <a:endParaRPr lang="en-US" altLang="en-US" sz="120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CD13F24-5BFF-454F-A8F8-2726B16156DD}" type="slidenum">
              <a:rPr lang="en-US" altLang="en-US" sz="1200"/>
            </a:fld>
            <a:endParaRPr lang="en-US" altLang="en-US" sz="120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A762164-D93F-4E35-B0AE-B1934AD126B6}" type="slidenum">
              <a:rPr lang="en-US" altLang="en-US" sz="1200"/>
            </a:fld>
            <a:endParaRPr lang="en-US" altLang="en-US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D4282C8-423F-4181-AE0E-76D77C441D47}" type="slidenum">
              <a:rPr lang="en-US" altLang="en-US" sz="1200"/>
            </a:fld>
            <a:endParaRPr lang="en-US" altLang="en-US" sz="120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36EA57-3AEE-45DA-8B41-1ABDFD322964}" type="slidenum">
              <a:rPr lang="en-US" altLang="en-US" sz="1200"/>
            </a:fld>
            <a:endParaRPr lang="en-US" altLang="en-US" sz="12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4B49C02-3301-417A-946C-48DBBC639D36}" type="slidenum">
              <a:rPr lang="en-US" altLang="en-US" sz="1200"/>
            </a:fld>
            <a:endParaRPr lang="en-US" altLang="en-US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B3E72A-CBD0-4A8B-906B-5F408CB939CB}" type="slidenum">
              <a:rPr lang="en-US" altLang="en-US" sz="1200"/>
            </a:fld>
            <a:endParaRPr lang="en-US" alt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EC6A394-E874-4EE6-A573-E94510DFC5D6}" type="slidenum">
              <a:rPr lang="en-US" altLang="en-US" sz="1200"/>
            </a:fld>
            <a:endParaRPr lang="en-US" altLang="en-US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2EC7B4E-2CDE-43FC-862B-874E947E3B53}" type="slidenum">
              <a:rPr lang="en-US" altLang="en-US" sz="1200"/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E25011-1670-4CE3-BA67-0AA254803E9B}" type="slidenum">
              <a:rPr lang="en-US" altLang="en-US" sz="1200"/>
            </a:fld>
            <a:endParaRPr lang="en-US" altLang="en-US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E3E7743-31B1-4691-9E91-5BA74FD0DB51}" type="slidenum">
              <a:rPr lang="en-US" altLang="en-US" sz="1200"/>
            </a:fld>
            <a:endParaRPr lang="en-US" altLang="en-US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1B770F2-308C-4A9B-A23B-435D5915A235}" type="slidenum">
              <a:rPr lang="en-US" altLang="en-US" sz="1200"/>
            </a:fld>
            <a:endParaRPr lang="en-US" altLang="en-US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F089E59-5288-4760-A9A0-62E5B0DA78E8}" type="slidenum">
              <a:rPr lang="en-US" altLang="en-US" sz="1200"/>
            </a:fld>
            <a:endParaRPr lang="en-US" alt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205355E-C95C-4955-9542-AA99986381A6}" type="slidenum">
              <a:rPr lang="en-US" altLang="en-US" sz="1200"/>
            </a:fld>
            <a:endParaRPr lang="en-US" altLang="en-US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25E3FF6-A043-4717-ACA2-A42D20435F2A}" type="slidenum">
              <a:rPr lang="en-US" altLang="en-US" sz="1200"/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zh-CN"/>
              <a:t>https://www.cs.usfca.edu/~galles/visualization/BPlusTree.html</a:t>
            </a:r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DC68A-4FDB-4EB8-B0A0-36C89B51C904}" type="slidenum">
              <a:rPr lang="en-US" altLang="en-US" sz="1200"/>
            </a:fld>
            <a:endParaRPr lang="en-US" altLang="en-US" sz="120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FDFC39-5922-4703-9593-C8F577919411}" type="slidenum">
              <a:rPr lang="en-US" altLang="en-US" sz="1200"/>
            </a:fld>
            <a:endParaRPr lang="en-US" altLang="en-US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993EA4-DB1C-4EB9-9D70-9176870586F2}" type="slidenum">
              <a:rPr lang="en-US" altLang="en-US" sz="1200"/>
            </a:fld>
            <a:endParaRPr lang="en-US" altLang="en-US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0666C75-7846-4C8C-B05F-FF2B1C433BE3}" type="slidenum">
              <a:rPr lang="en-US" altLang="en-US" sz="1200"/>
            </a:fld>
            <a:endParaRPr lang="en-US" alt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6CC47F2-2D23-40BE-ADC6-8BAB13C14907}" type="slidenum">
              <a:rPr lang="en-US" altLang="en-US" sz="1200"/>
            </a:fld>
            <a:endParaRPr lang="en-US" alt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0C4551E-79EF-4EB9-AD43-3F871E54125F}" type="slidenum">
              <a:rPr lang="en-US" altLang="en-US" sz="1200"/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7FAE17A-5850-47AF-BD6B-4A77A4F66E3D}" type="slidenum">
              <a:rPr lang="en-US" altLang="en-US" sz="1200"/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12C5CB1-8AEC-4E8C-8D41-16374A299E8A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2548EB7-031F-4272-92F5-040B035B7FEE}" type="slidenum">
              <a:rPr lang="en-US" altLang="en-US" sz="1200"/>
            </a:fld>
            <a:endParaRPr lang="en-US" alt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8668EFA-2A36-4BA4-8C6A-A22A5F4C6843}" type="slidenum">
              <a:rPr lang="en-US" altLang="en-US" sz="1200"/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</a:rPr>
              <a:t>https://www.cs.usfca.edu/~galles/visualization/BPlusTree.html</a:t>
            </a: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9FDF64C-DC3E-4F2B-8DB0-0516B4714C04}" type="slidenum">
              <a:rPr lang="en-US" altLang="en-US" sz="1200"/>
            </a:fld>
            <a:endParaRPr lang="en-US" alt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B433C4-8C6D-4550-9B55-7CB9502FDA22}" type="slidenum">
              <a:rPr lang="en-US" altLang="en-US" sz="1200"/>
            </a:fld>
            <a:endParaRPr lang="en-US" altLang="en-US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D6E6AB2-C815-41CC-805B-FD057B97D4DA}" type="slidenum">
              <a:rPr lang="en-US" altLang="en-US" sz="1200"/>
            </a:fld>
            <a:endParaRPr lang="en-US" altLang="en-US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AA8164C-E56D-453B-8BF0-F91DB4DDE413}" type="slidenum">
              <a:rPr lang="en-US" altLang="en-US" sz="1200"/>
            </a:fld>
            <a:endParaRPr lang="en-US" alt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E13A8B-1D51-4621-9E0E-B95B3008146F}" type="slidenum">
              <a:rPr lang="en-US" altLang="en-US" sz="1200"/>
            </a:fld>
            <a:endParaRPr lang="en-US" alt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1712E8D-A9B1-4AED-8842-7A8211E2CD89}" type="slidenum">
              <a:rPr lang="en-US" altLang="en-US" sz="1200"/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3F081B9-7F72-419C-A546-4D65D98C6F26}" type="slidenum">
              <a:rPr lang="en-US" altLang="en-US" sz="1200"/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 txBox="1">
            <a:spLocks noGrp="1" noChangeArrowheads="1"/>
          </p:cNvSpPr>
          <p:nvPr/>
        </p:nvSpPr>
        <p:spPr bwMode="auto">
          <a:xfrm>
            <a:off x="4010557" y="8895562"/>
            <a:ext cx="3066518" cy="46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33" tIns="46967" rIns="93933" bIns="46967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07946EDC-FA4E-4215-A1CA-23FE0BF9B063}" type="slidenum">
              <a:rPr lang="en-US" altLang="en-US" sz="1200"/>
            </a:fld>
            <a:endParaRPr lang="en-US" altLang="en-US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166CC6A-D7F8-4FC1-AE4A-34B30201E9C2}" type="slidenum">
              <a:rPr lang="en-US" altLang="en-US" sz="1200"/>
            </a:fld>
            <a:endParaRPr lang="en-US" altLang="en-US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48FDF21-D105-4B87-9279-FCE45DD57D14}" type="slidenum">
              <a:rPr lang="en-US" altLang="en-US" sz="1200"/>
            </a:fld>
            <a:endParaRPr lang="en-US" altLang="en-US" sz="12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 txBox="1">
            <a:spLocks noGrp="1" noChangeArrowheads="1"/>
          </p:cNvSpPr>
          <p:nvPr/>
        </p:nvSpPr>
        <p:spPr bwMode="auto">
          <a:xfrm>
            <a:off x="4010557" y="8895562"/>
            <a:ext cx="3066518" cy="46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33" tIns="46967" rIns="93933" bIns="46967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E1FF5AD-5CB1-4E7B-98A0-95B41459EA86}" type="slidenum">
              <a:rPr lang="en-US" altLang="en-US" sz="1200"/>
            </a:fld>
            <a:endParaRPr lang="en-US" altLang="en-US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A359A90-A8B8-4F81-831A-3BCF90C62844}" type="slidenum">
              <a:rPr lang="en-US" altLang="en-US" sz="1200"/>
            </a:fld>
            <a:endParaRPr lang="en-US" altLang="en-US" sz="12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EC8FF7E-76D9-4C86-97F5-34ED9D16B540}" type="slidenum">
              <a:rPr lang="en-US" altLang="en-US" sz="1200"/>
            </a:fld>
            <a:endParaRPr lang="en-US" altLang="en-US" sz="12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473FF8-80CA-4070-986D-4E58807A6391}" type="slidenum">
              <a:rPr lang="en-US" altLang="en-US" sz="1200"/>
            </a:fld>
            <a:endParaRPr lang="en-US" altLang="en-US" sz="12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6B751FF-3195-43B6-8E87-B76E2297E6E9}" type="slidenum">
              <a:rPr lang="en-US" altLang="en-US" sz="1200"/>
            </a:fld>
            <a:endParaRPr lang="en-US" altLang="en-US" sz="12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C85D329-9067-4A68-83D9-F2B6AA710B59}" type="slidenum">
              <a:rPr lang="en-US" altLang="en-US" sz="1200"/>
            </a:fld>
            <a:endParaRPr lang="en-US" altLang="en-US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F08DC1-4A5C-4322-A9F0-9E8F56CF9CB7}" type="slidenum">
              <a:rPr lang="en-US" altLang="en-US" sz="1200"/>
            </a:fld>
            <a:endParaRPr lang="en-US" altLang="en-US" sz="12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47B966A-98C4-4CCD-970D-44B6EE2ED87B}" type="slidenum">
              <a:rPr lang="en-US" altLang="en-US" sz="1200"/>
            </a:fld>
            <a:endParaRPr lang="en-US" altLang="en-US" sz="120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3F4EA6E-0710-4E84-95DF-D2F7F14407FE}" type="slidenum">
              <a:rPr lang="en-US" altLang="en-US" sz="1200"/>
            </a:fld>
            <a:endParaRPr lang="en-US" altLang="en-US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A3C6EC8-1D33-4B8E-817E-CBF5E0DE3572}" type="slidenum">
              <a:rPr lang="en-US" altLang="en-US" sz="1200"/>
            </a:fld>
            <a:endParaRPr lang="en-US" altLang="en-US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EB863BD-6C88-466F-A19A-986007653AAD}" type="slidenum">
              <a:rPr lang="en-US" altLang="en-US" sz="1200"/>
            </a:fld>
            <a:endParaRPr lang="en-US" altLang="en-US" sz="12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30FA4C-C655-450B-AD05-7D37AAEEDCCF}" type="slidenum">
              <a:rPr lang="en-US" altLang="en-US" sz="1200"/>
            </a:fld>
            <a:endParaRPr lang="en-US" altLang="en-US" sz="12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7EF9427-D3A4-4518-985D-85F08FD6F832}" type="slidenum">
              <a:rPr lang="en-US" altLang="en-US" sz="1200"/>
            </a:fld>
            <a:endParaRPr lang="en-US" altLang="en-US" sz="120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5F968CE-F6FF-4CED-94A9-00566844FEFF}" type="slidenum">
              <a:rPr lang="en-US" altLang="en-US" sz="1200"/>
            </a:fld>
            <a:endParaRPr lang="en-US" altLang="en-US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6CC50B-8FAD-4D33-8391-420715DEDE32}" type="slidenum">
              <a:rPr lang="en-US" altLang="en-US" sz="1200"/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0322C84-C376-4161-859E-A4DC1240E90F}" type="slidenum">
              <a:rPr lang="en-US" altLang="en-US" sz="1200"/>
            </a:fld>
            <a:endParaRPr lang="en-US" altLang="en-US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0DC4CD3-6DE8-4686-AD16-4E26FCFC4333}" type="slidenum">
              <a:rPr lang="en-US" altLang="en-US" sz="1200"/>
            </a:fld>
            <a:endParaRPr lang="en-US" altLang="en-US" sz="1200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4D86FF0-EA45-431A-B4ED-5B4906D8D56A}" type="slidenum">
              <a:rPr lang="en-US" altLang="en-US" sz="1200"/>
            </a:fld>
            <a:endParaRPr lang="en-US" altLang="en-US" sz="120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D4B4505-3416-491B-B96C-EE3A6F454521}" type="slidenum">
              <a:rPr lang="en-US" altLang="en-US" sz="1200"/>
            </a:fld>
            <a:endParaRPr lang="en-US" altLang="en-US" sz="120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EBB4874-BD33-43F2-9015-33DF21651A41}" type="slidenum">
              <a:rPr lang="en-US" altLang="en-US" sz="1200"/>
            </a:fld>
            <a:endParaRPr lang="en-US" altLang="en-US" sz="1200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C606BE4-717E-4DC8-B5C1-7F12036B30CA}" type="slidenum">
              <a:rPr lang="en-US" altLang="en-US" sz="1200"/>
            </a:fld>
            <a:endParaRPr lang="en-US" altLang="en-US" sz="120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9935" indent="-288290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379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440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085" indent="-230505" defTabSz="93916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73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37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020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665" indent="-230505" defTabSz="93916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4765B5E-7FCE-4A95-AFC7-1258CDB99920}" type="slidenum">
              <a:rPr lang="en-US" altLang="en-US" sz="1200"/>
            </a:fld>
            <a:endParaRPr lang="en-US" altLang="en-US" sz="120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1544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C8A780A1-76A4-49C6-9392-A7424AEF5A9C}" type="slidenum">
              <a:rPr lang="en-US" altLang="en-US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8313" y="1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262" y="1067662"/>
            <a:ext cx="7885475" cy="5263469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/>
            </a:lvl3pPr>
            <a:lvl4pPr marL="1428750" indent="-228600">
              <a:buFont typeface="Arial" panose="020B0604020202020204" pitchFamily="34" charset="0"/>
              <a:buChar char="•"/>
              <a:defRPr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D0A47-6CB3-4B55-A2F3-FFAD4B8D19F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696338-A5C8-4BE9-90AA-26742F29AB6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132A46-16AA-4A4D-B778-6DEAB1732FD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B1451-3DBA-4F47-AF18-2B3B790297B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C74CC4-4EC6-4A9E-8278-BF4C2829BC4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688B30-A0A7-464E-87E9-AC20B5CBEB1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A1685C-BC0B-4770-911B-2B32F0172F5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F05C00-BA5B-4ACD-A27C-AD7DDA5DAA1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6AAA1-2333-44AA-91AA-24B6645ECE2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E0AFAD-5202-4DC8-910E-5324B558AB5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7661275" cy="237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388" y="3621088"/>
            <a:ext cx="7661275" cy="237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54210-18DD-438C-A438-474022748B3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54317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E223EF9-3EAE-426A-A27B-0C1FBF69E26E}" type="slidenum">
              <a:rPr lang="en-US" altLang="en-US"/>
            </a:fld>
            <a:endParaRPr lang="en-US" altLang="en-US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2060"/>
                </a:solidFill>
              </a:rPr>
              <a:t>©Silberschatz, Korth and Sudarshan</a:t>
            </a:r>
            <a:endParaRPr lang="en-US" altLang="en-US" sz="1000" b="1">
              <a:solidFill>
                <a:srgbClr val="002060"/>
              </a:solidFill>
            </a:endParaRPr>
          </a:p>
        </p:txBody>
      </p:sp>
      <p:sp>
        <p:nvSpPr>
          <p:cNvPr id="1543173" name="Text Box 5"/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14.</a:t>
            </a:r>
            <a:fld id="{55FD8A8D-17A3-4AAC-BE47-EA12BE456641}" type="slidenum">
              <a:rPr lang="en-US" altLang="en-US" sz="1000" b="1" smtClean="0">
                <a:solidFill>
                  <a:srgbClr val="002060"/>
                </a:solidFill>
              </a:rPr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154317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1032" name="Freeform 8"/>
          <p:cNvSpPr/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1010703623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951510025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951510025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1010703623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9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0" y="0"/>
            <a:ext cx="812345" cy="1037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1" Type="http://schemas.openxmlformats.org/officeDocument/2006/relationships/image" Target="../media/image13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emf"/><Relationship Id="rId1" Type="http://schemas.openxmlformats.org/officeDocument/2006/relationships/image" Target="../media/image15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1" Type="http://schemas.openxmlformats.org/officeDocument/2006/relationships/image" Target="../media/image13.emf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1" Type="http://schemas.openxmlformats.org/officeDocument/2006/relationships/image" Target="../media/image18.emf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emf"/><Relationship Id="rId1" Type="http://schemas.openxmlformats.org/officeDocument/2006/relationships/image" Target="../media/image19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e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1" Type="http://schemas.openxmlformats.org/officeDocument/2006/relationships/image" Target="../media/image23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e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e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8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10: Indexing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3379" y="1224828"/>
            <a:ext cx="7814845" cy="3861525"/>
          </a:xfrm>
        </p:spPr>
        <p:txBody>
          <a:bodyPr/>
          <a:lstStyle/>
          <a:p>
            <a:r>
              <a:rPr lang="en-US" altLang="en-US" sz="2000" dirty="0"/>
              <a:t>Basic Concepts</a:t>
            </a:r>
            <a:endParaRPr lang="en-US" altLang="en-US" sz="2000" dirty="0"/>
          </a:p>
          <a:p>
            <a:r>
              <a:rPr lang="en-US" altLang="en-US" sz="2000" dirty="0"/>
              <a:t>Ordered Indices </a:t>
            </a:r>
            <a:endParaRPr lang="en-US" altLang="en-US" sz="2000" dirty="0"/>
          </a:p>
          <a:p>
            <a:r>
              <a:rPr lang="en-US" altLang="en-US" sz="2000" dirty="0"/>
              <a:t>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 Index Files</a:t>
            </a:r>
            <a:endParaRPr lang="en-US" altLang="en-US" sz="2000" dirty="0"/>
          </a:p>
          <a:p>
            <a:r>
              <a:rPr lang="en-US" altLang="en-US" sz="2000" dirty="0"/>
              <a:t>B-Tree Index Files</a:t>
            </a:r>
            <a:endParaRPr lang="en-US" altLang="en-US" sz="2000" dirty="0"/>
          </a:p>
          <a:p>
            <a:r>
              <a:rPr lang="en-US" altLang="en-US" sz="2000" dirty="0"/>
              <a:t>Hashing</a:t>
            </a:r>
            <a:endParaRPr lang="en-US" altLang="en-US" sz="2000" dirty="0"/>
          </a:p>
          <a:p>
            <a:r>
              <a:rPr lang="en-US" altLang="en-US" sz="2000" dirty="0"/>
              <a:t>Write-optimized indices </a:t>
            </a:r>
            <a:endParaRPr lang="en-US" altLang="en-US" sz="2000" dirty="0"/>
          </a:p>
          <a:p>
            <a:r>
              <a:rPr lang="en-US" altLang="en-US" sz="2000" dirty="0" err="1"/>
              <a:t>Spatio</a:t>
            </a:r>
            <a:r>
              <a:rPr lang="en-US" altLang="en-US" sz="2000" dirty="0"/>
              <a:t>-Temporal Indexing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Basic Concepts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2257" y="1135063"/>
            <a:ext cx="7448364" cy="5203825"/>
          </a:xfrm>
        </p:spPr>
        <p:txBody>
          <a:bodyPr/>
          <a:lstStyle/>
          <a:p>
            <a:r>
              <a:rPr lang="en-US" altLang="en-US" sz="2000" dirty="0"/>
              <a:t>Indexing mechanisms used to speed up access to desired data.</a:t>
            </a:r>
            <a:endParaRPr lang="en-US" altLang="en-US" sz="2000" dirty="0"/>
          </a:p>
          <a:p>
            <a:pPr lvl="1"/>
            <a:r>
              <a:rPr lang="en-US" altLang="en-US" sz="2000" dirty="0"/>
              <a:t>E.g., author catalog in library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2060"/>
                </a:solidFill>
              </a:rPr>
              <a:t>Search Key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- attribute to set of attributes used to look up records in a file.</a:t>
            </a:r>
            <a:endParaRPr lang="en-US" altLang="en-US" sz="2000" dirty="0"/>
          </a:p>
          <a:p>
            <a:r>
              <a:rPr lang="en-US" altLang="en-US" sz="2000" dirty="0"/>
              <a:t>An </a:t>
            </a:r>
            <a:r>
              <a:rPr lang="en-US" altLang="en-US" sz="2000" b="1" dirty="0">
                <a:solidFill>
                  <a:srgbClr val="002060"/>
                </a:solidFill>
              </a:rPr>
              <a:t>index file </a:t>
            </a:r>
            <a:r>
              <a:rPr lang="en-US" altLang="en-US" sz="2000" dirty="0"/>
              <a:t>consists of records (called </a:t>
            </a:r>
            <a:r>
              <a:rPr lang="en-US" altLang="en-US" sz="2000" b="1" dirty="0">
                <a:solidFill>
                  <a:srgbClr val="002060"/>
                </a:solidFill>
              </a:rPr>
              <a:t>index entries</a:t>
            </a:r>
            <a:r>
              <a:rPr lang="en-US" altLang="en-US" sz="2000" dirty="0"/>
              <a:t>) of the form</a:t>
            </a: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Index files are typically much smaller than the original file </a:t>
            </a:r>
            <a:endParaRPr lang="en-US" altLang="en-US" sz="2000" dirty="0"/>
          </a:p>
          <a:p>
            <a:r>
              <a:rPr lang="en-US" altLang="en-US" sz="2000" dirty="0"/>
              <a:t>Two basic kinds of indices: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Ordered indices:  </a:t>
            </a:r>
            <a:r>
              <a:rPr lang="en-US" altLang="en-US" sz="2000" dirty="0"/>
              <a:t>search keys are stored in sorted order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Hash indices:</a:t>
            </a:r>
            <a:r>
              <a:rPr lang="en-US" altLang="en-US" sz="2000" dirty="0"/>
              <a:t>  search keys are distributed uniformly across </a:t>
            </a:r>
            <a:r>
              <a:rPr lang="ja-JP" altLang="en-US" sz="2000" dirty="0"/>
              <a:t>“</a:t>
            </a:r>
            <a:r>
              <a:rPr lang="en-US" altLang="ja-JP" sz="2000" dirty="0"/>
              <a:t>buckets</a:t>
            </a:r>
            <a:r>
              <a:rPr lang="ja-JP" altLang="en-US" sz="2000" dirty="0"/>
              <a:t>”</a:t>
            </a:r>
            <a:r>
              <a:rPr lang="en-US" altLang="ja-JP" sz="2000" dirty="0"/>
              <a:t> using a </a:t>
            </a:r>
            <a:r>
              <a:rPr lang="ja-JP" altLang="en-US" sz="2000" dirty="0"/>
              <a:t>“</a:t>
            </a:r>
            <a:r>
              <a:rPr lang="en-US" altLang="ja-JP" sz="2000" dirty="0"/>
              <a:t>hash function</a:t>
            </a:r>
            <a:r>
              <a:rPr lang="ja-JP" altLang="en-US" sz="2000" dirty="0"/>
              <a:t>”</a:t>
            </a:r>
            <a:r>
              <a:rPr lang="en-US" altLang="ja-JP" sz="2000" dirty="0"/>
              <a:t>. </a:t>
            </a:r>
            <a:endParaRPr lang="en-US" altLang="en-US" sz="2000" dirty="0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2477763" y="3714619"/>
            <a:ext cx="1506538" cy="3841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/>
              <a:t>search-key</a:t>
            </a:r>
            <a:endParaRPr kumimoji="0" lang="en-US" altLang="en-US" sz="1800" dirty="0"/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3984301" y="3707248"/>
            <a:ext cx="1184275" cy="3841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/>
              <a:t>pointer</a:t>
            </a:r>
            <a:endParaRPr kumimoji="0"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Evaluation Metrics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4501" y="1239116"/>
            <a:ext cx="7680236" cy="4561613"/>
          </a:xfrm>
        </p:spPr>
        <p:txBody>
          <a:bodyPr/>
          <a:lstStyle/>
          <a:p>
            <a:r>
              <a:rPr lang="en-US" altLang="en-US" sz="2000" dirty="0"/>
              <a:t>Access types supported efficiently.  E.g., </a:t>
            </a:r>
            <a:endParaRPr lang="en-US" altLang="en-US" sz="2000" dirty="0"/>
          </a:p>
          <a:p>
            <a:pPr lvl="1"/>
            <a:r>
              <a:rPr lang="en-US" altLang="en-US" sz="2000" dirty="0"/>
              <a:t>Records with a specified value in the attribute</a:t>
            </a:r>
            <a:endParaRPr lang="en-US" altLang="en-US" sz="2000" dirty="0"/>
          </a:p>
          <a:p>
            <a:pPr lvl="1"/>
            <a:r>
              <a:rPr lang="en-US" altLang="en-US" sz="2000" dirty="0"/>
              <a:t>Records with an attribute value falling in a specified range of values.</a:t>
            </a:r>
            <a:endParaRPr lang="en-US" altLang="en-US" sz="2000" dirty="0"/>
          </a:p>
          <a:p>
            <a:r>
              <a:rPr lang="en-US" altLang="en-US" sz="2000" dirty="0"/>
              <a:t>Access time</a:t>
            </a:r>
            <a:endParaRPr lang="en-US" altLang="en-US" sz="2000" dirty="0"/>
          </a:p>
          <a:p>
            <a:r>
              <a:rPr lang="en-US" altLang="en-US" sz="2000" dirty="0"/>
              <a:t>Insertion time</a:t>
            </a:r>
            <a:endParaRPr lang="en-US" altLang="en-US" sz="2000" dirty="0"/>
          </a:p>
          <a:p>
            <a:r>
              <a:rPr lang="en-US" altLang="en-US" sz="2000" dirty="0"/>
              <a:t>Deletion time</a:t>
            </a:r>
            <a:endParaRPr lang="en-US" altLang="en-US" sz="2000" dirty="0"/>
          </a:p>
          <a:p>
            <a:r>
              <a:rPr lang="en-US" altLang="en-US" sz="2000" dirty="0"/>
              <a:t>Space overhead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Ordered Indices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03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3380" y="1169479"/>
            <a:ext cx="7457242" cy="4876800"/>
          </a:xfrm>
        </p:spPr>
        <p:txBody>
          <a:bodyPr/>
          <a:lstStyle/>
          <a:p>
            <a:r>
              <a:rPr lang="en-US" altLang="en-US" sz="2000" dirty="0"/>
              <a:t>In an </a:t>
            </a:r>
            <a:r>
              <a:rPr lang="en-US" altLang="en-US" sz="2000" b="1" dirty="0">
                <a:solidFill>
                  <a:srgbClr val="002060"/>
                </a:solidFill>
              </a:rPr>
              <a:t>ordered index</a:t>
            </a:r>
            <a:r>
              <a:rPr lang="en-US" altLang="en-US" sz="2000" b="1" dirty="0"/>
              <a:t>, </a:t>
            </a:r>
            <a:r>
              <a:rPr lang="en-US" altLang="en-US" sz="2000" dirty="0"/>
              <a:t>index entries are stored sorted on the search key value.  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2060"/>
                </a:solidFill>
              </a:rPr>
              <a:t>Clustering index</a:t>
            </a:r>
            <a:r>
              <a:rPr lang="en-US" altLang="en-US" sz="2000" b="1" dirty="0"/>
              <a:t>: </a:t>
            </a:r>
            <a:r>
              <a:rPr lang="en-US" altLang="en-US" sz="2000" dirty="0"/>
              <a:t>in a sequentially ordered file, the index whose search key specifies the sequential order of the file.</a:t>
            </a:r>
            <a:endParaRPr lang="en-US" altLang="en-US" sz="2000" dirty="0"/>
          </a:p>
          <a:p>
            <a:pPr lvl="1"/>
            <a:r>
              <a:rPr lang="en-US" altLang="en-US" sz="2000" dirty="0"/>
              <a:t>Also called </a:t>
            </a:r>
            <a:r>
              <a:rPr lang="en-US" altLang="en-US" sz="2000" b="1" dirty="0">
                <a:solidFill>
                  <a:srgbClr val="002060"/>
                </a:solidFill>
              </a:rPr>
              <a:t>primary index</a:t>
            </a:r>
            <a:endParaRPr lang="en-US" altLang="en-US" sz="2000" dirty="0">
              <a:solidFill>
                <a:srgbClr val="002060"/>
              </a:solidFill>
            </a:endParaRPr>
          </a:p>
          <a:p>
            <a:pPr lvl="1"/>
            <a:r>
              <a:rPr lang="en-US" altLang="en-US" sz="2000" dirty="0"/>
              <a:t>The search key of a primary index is usually but not necessarily the primary key.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2060"/>
                </a:solidFill>
              </a:rPr>
              <a:t>Secondary index</a:t>
            </a:r>
            <a:r>
              <a:rPr lang="en-US" altLang="en-US" sz="2000" dirty="0"/>
              <a:t>:</a:t>
            </a:r>
            <a:r>
              <a:rPr lang="en-US" altLang="en-US" sz="2000" b="1" dirty="0"/>
              <a:t> </a:t>
            </a:r>
            <a:r>
              <a:rPr lang="en-US" altLang="en-US" sz="2000" dirty="0"/>
              <a:t>an index whose search key specifies an order different from the sequential order of the file.  Also called </a:t>
            </a:r>
            <a:br>
              <a:rPr lang="en-US" altLang="en-US" sz="2000" dirty="0"/>
            </a:br>
            <a:r>
              <a:rPr lang="en-US" altLang="en-US" sz="2000" b="1" dirty="0" err="1">
                <a:solidFill>
                  <a:srgbClr val="002060"/>
                </a:solidFill>
              </a:rPr>
              <a:t>nonclustering</a:t>
            </a:r>
            <a:r>
              <a:rPr lang="en-US" altLang="en-US" sz="2000" b="1" dirty="0">
                <a:solidFill>
                  <a:srgbClr val="002060"/>
                </a:solidFill>
              </a:rPr>
              <a:t> index</a:t>
            </a:r>
            <a:r>
              <a:rPr lang="en-US" altLang="en-US" sz="2000" b="1" dirty="0"/>
              <a:t>.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2060"/>
                </a:solidFill>
              </a:rPr>
              <a:t>Index-sequential file</a:t>
            </a:r>
            <a:r>
              <a:rPr lang="en-US" altLang="en-US" sz="2000" b="1" dirty="0"/>
              <a:t>:</a:t>
            </a:r>
            <a:r>
              <a:rPr lang="en-US" altLang="en-US" sz="2000" dirty="0"/>
              <a:t> sequential file ordered on a search key, with a clustering index on the search key.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Dense Index Files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661275" cy="1165225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Dense index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— Index record appears for every search-key value in the file. </a:t>
            </a:r>
            <a:endParaRPr lang="en-US" altLang="en-US" sz="2000" dirty="0"/>
          </a:p>
          <a:p>
            <a:r>
              <a:rPr lang="en-US" altLang="en-US" sz="2000" dirty="0"/>
              <a:t>E.g. index on </a:t>
            </a:r>
            <a:r>
              <a:rPr lang="en-US" altLang="en-US" sz="2000" i="1" dirty="0"/>
              <a:t>ID</a:t>
            </a:r>
            <a:r>
              <a:rPr lang="en-US" altLang="en-US" sz="2000" dirty="0"/>
              <a:t> attribute of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relation </a:t>
            </a:r>
            <a:endParaRPr lang="en-US" altLang="en-US" sz="2000" dirty="0"/>
          </a:p>
        </p:txBody>
      </p:sp>
      <p:pic>
        <p:nvPicPr>
          <p:cNvPr id="15364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0" y="2290436"/>
            <a:ext cx="6700837" cy="3254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Dense Index Files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661275" cy="966787"/>
          </a:xfrm>
        </p:spPr>
        <p:txBody>
          <a:bodyPr/>
          <a:lstStyle/>
          <a:p>
            <a:r>
              <a:rPr lang="en-US" altLang="en-US" sz="2000" dirty="0"/>
              <a:t>Dense index on </a:t>
            </a:r>
            <a:r>
              <a:rPr lang="en-US" altLang="en-US" sz="2000" i="1" dirty="0"/>
              <a:t>dept_name</a:t>
            </a:r>
            <a:r>
              <a:rPr lang="en-US" altLang="en-US" sz="2000" dirty="0"/>
              <a:t>, with </a:t>
            </a:r>
            <a:r>
              <a:rPr lang="en-US" altLang="en-US" sz="2000" i="1" dirty="0"/>
              <a:t>instructor </a:t>
            </a:r>
            <a:r>
              <a:rPr lang="en-US" altLang="en-US" sz="2000" dirty="0"/>
              <a:t>file sorted on </a:t>
            </a:r>
            <a:r>
              <a:rPr lang="en-US" altLang="en-US" sz="2000" i="1" dirty="0"/>
              <a:t>dept_name</a:t>
            </a:r>
            <a:endParaRPr lang="en-US" altLang="en-US" sz="2000" dirty="0"/>
          </a:p>
        </p:txBody>
      </p:sp>
      <p:pic>
        <p:nvPicPr>
          <p:cNvPr id="17412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67" y="2240338"/>
            <a:ext cx="7081838" cy="2944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Sparse Index Files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8172" y="1013889"/>
            <a:ext cx="8069801" cy="2495550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Sparse Index</a:t>
            </a:r>
            <a:r>
              <a:rPr lang="en-US" altLang="en-US" sz="2000" dirty="0"/>
              <a:t>:  contains index records for only some search-key values.</a:t>
            </a:r>
            <a:endParaRPr lang="en-US" altLang="en-US" sz="2000" dirty="0"/>
          </a:p>
          <a:p>
            <a:pPr lvl="1"/>
            <a:r>
              <a:rPr lang="en-US" altLang="en-US" sz="2000" dirty="0"/>
              <a:t>Applicable when records are sequentially ordered on search-key</a:t>
            </a:r>
            <a:endParaRPr lang="en-US" altLang="en-US" sz="2000" dirty="0"/>
          </a:p>
          <a:p>
            <a:r>
              <a:rPr lang="en-US" altLang="en-US" sz="2000" dirty="0"/>
              <a:t>To locate a record with search-key value </a:t>
            </a:r>
            <a:r>
              <a:rPr lang="en-US" altLang="en-US" sz="2000" i="1" dirty="0"/>
              <a:t>K</a:t>
            </a:r>
            <a:r>
              <a:rPr lang="en-US" altLang="en-US" sz="2000" dirty="0"/>
              <a:t> we:</a:t>
            </a:r>
            <a:endParaRPr lang="en-US" altLang="en-US" sz="2000" dirty="0"/>
          </a:p>
          <a:p>
            <a:pPr lvl="1"/>
            <a:r>
              <a:rPr lang="en-US" altLang="en-US" sz="2000" dirty="0"/>
              <a:t>Find index record with largest search-key value &lt; </a:t>
            </a:r>
            <a:r>
              <a:rPr lang="en-US" altLang="en-US" sz="2000" i="1" dirty="0"/>
              <a:t>K</a:t>
            </a:r>
            <a:endParaRPr lang="en-US" altLang="en-US" sz="2000" dirty="0"/>
          </a:p>
          <a:p>
            <a:pPr lvl="1"/>
            <a:r>
              <a:rPr lang="en-US" altLang="en-US" sz="2000" dirty="0"/>
              <a:t>Search file sequentially starting at the record to which the index record points</a:t>
            </a:r>
            <a:endParaRPr lang="en-US" altLang="en-US" sz="2000" dirty="0"/>
          </a:p>
        </p:txBody>
      </p:sp>
      <p:pic>
        <p:nvPicPr>
          <p:cNvPr id="19460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747" y="3956051"/>
            <a:ext cx="6078598" cy="2797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Sparse Index Files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77" y="1193804"/>
            <a:ext cx="9055223" cy="5192712"/>
          </a:xfrm>
        </p:spPr>
        <p:txBody>
          <a:bodyPr/>
          <a:lstStyle/>
          <a:p>
            <a:r>
              <a:rPr lang="en-US" altLang="en-US" sz="2000" dirty="0"/>
              <a:t>Compared to dense indices:</a:t>
            </a:r>
            <a:endParaRPr lang="en-US" altLang="en-US" sz="2000" dirty="0"/>
          </a:p>
          <a:p>
            <a:pPr lvl="1"/>
            <a:r>
              <a:rPr lang="en-US" altLang="en-US" sz="2000" dirty="0"/>
              <a:t>Less space and less maintenance overhead for insertions and deletions.</a:t>
            </a:r>
            <a:endParaRPr lang="en-US" altLang="en-US" sz="2000" dirty="0"/>
          </a:p>
          <a:p>
            <a:pPr lvl="1"/>
            <a:r>
              <a:rPr lang="en-US" altLang="en-US" sz="2000" dirty="0"/>
              <a:t>Generally slower than dense index for locating records.</a:t>
            </a:r>
            <a:endParaRPr lang="en-US" altLang="en-US" sz="2000" dirty="0"/>
          </a:p>
          <a:p>
            <a:r>
              <a:rPr lang="en-US" altLang="en-US" sz="2000" b="1" dirty="0"/>
              <a:t>Good tradeoff</a:t>
            </a:r>
            <a:r>
              <a:rPr lang="en-US" altLang="en-US" sz="2000" dirty="0"/>
              <a:t>: </a:t>
            </a:r>
            <a:endParaRPr lang="en-US" altLang="en-US" sz="2000" dirty="0"/>
          </a:p>
          <a:p>
            <a:pPr lvl="1"/>
            <a:r>
              <a:rPr lang="en-US" altLang="en-US" sz="2000" dirty="0"/>
              <a:t>for clustered index: sparse index with an index entry for every block in file, corresponding to least search-key value in the block.</a:t>
            </a:r>
            <a:br>
              <a:rPr lang="en-US" altLang="en-US" sz="2000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lvl="1"/>
            <a:endParaRPr lang="en-US" altLang="en-US" dirty="0"/>
          </a:p>
          <a:p>
            <a:pPr lvl="1"/>
            <a:r>
              <a:rPr lang="en-US" altLang="en-US" sz="2000" dirty="0"/>
              <a:t>For </a:t>
            </a:r>
            <a:r>
              <a:rPr lang="en-US" altLang="en-US" sz="2000" dirty="0" err="1"/>
              <a:t>unclustered</a:t>
            </a:r>
            <a:r>
              <a:rPr lang="en-US" altLang="en-US" sz="2000" dirty="0"/>
              <a:t> index: sparse index on top of dense index (multilevel index)</a:t>
            </a:r>
            <a:endParaRPr lang="en-US" alt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3142696" y="3684233"/>
            <a:ext cx="2121763" cy="2079556"/>
            <a:chOff x="2465294" y="3429000"/>
            <a:chExt cx="2782312" cy="2568575"/>
          </a:xfrm>
        </p:grpSpPr>
        <p:pic>
          <p:nvPicPr>
            <p:cNvPr id="3" name="Graphic 2"/>
            <p:cNvPicPr>
              <a:picLocks noChangeAspect="1"/>
            </p:cNvPicPr>
            <p:nvPr/>
          </p:nvPicPr>
          <p:blipFill rotWithShape="1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9022" t="-6" r="-1376" b="53812"/>
            <a:stretch>
              <a:fillRect/>
            </a:stretch>
          </p:blipFill>
          <p:spPr>
            <a:xfrm>
              <a:off x="2528392" y="3429000"/>
              <a:ext cx="2719214" cy="2441743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 bwMode="auto">
            <a:xfrm>
              <a:off x="2465294" y="4649871"/>
              <a:ext cx="1147482" cy="122087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I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3357627" y="5333999"/>
              <a:ext cx="636494" cy="66357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IN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9683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Secondary Indices Example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900113" y="1196950"/>
            <a:ext cx="7686675" cy="48180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Secondary index on salary field of instructor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Index record points to a bucket that contains pointers to all the actual records with that particular search-key value.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Secondary indices have to be dense</a:t>
            </a:r>
            <a:endParaRPr lang="en-US" altLang="en-US" sz="2000" dirty="0"/>
          </a:p>
        </p:txBody>
      </p:sp>
      <p:pic>
        <p:nvPicPr>
          <p:cNvPr id="23557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59" y="1700204"/>
            <a:ext cx="6553190" cy="3214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Clustering vs Nonclustering Indices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US" altLang="en-US" sz="2000" dirty="0"/>
              <a:t>Indices offer substantial benefits when searching for records.</a:t>
            </a:r>
            <a:endParaRPr lang="en-US" altLang="en-US" sz="2000" dirty="0"/>
          </a:p>
          <a:p>
            <a:r>
              <a:rPr lang="en-US" altLang="en-US" sz="2000" dirty="0"/>
              <a:t>BUT: indices imposes overhead on database modification</a:t>
            </a:r>
            <a:endParaRPr lang="en-US" altLang="en-US" sz="2000" dirty="0"/>
          </a:p>
          <a:p>
            <a:pPr lvl="1"/>
            <a:r>
              <a:rPr lang="en-US" altLang="en-US" sz="2000" dirty="0"/>
              <a:t>when a record is inserted or deleted, every index on the relation must be updated</a:t>
            </a:r>
            <a:endParaRPr lang="en-US" altLang="en-US" sz="2000" dirty="0"/>
          </a:p>
          <a:p>
            <a:pPr lvl="1"/>
            <a:r>
              <a:rPr lang="en-US" altLang="en-US" sz="2000" dirty="0"/>
              <a:t>When a record is updated, any index on an updated attribute must be updated</a:t>
            </a:r>
            <a:endParaRPr lang="en-US" altLang="en-US" sz="2000" dirty="0"/>
          </a:p>
          <a:p>
            <a:r>
              <a:rPr lang="en-US" altLang="en-US" sz="2000" dirty="0"/>
              <a:t>Sequential scan using clustering index is efficient, but a sequential scan using a secondary (</a:t>
            </a:r>
            <a:r>
              <a:rPr lang="en-US" altLang="en-US" sz="2000" dirty="0" err="1"/>
              <a:t>nonclustering</a:t>
            </a:r>
            <a:r>
              <a:rPr lang="en-US" altLang="en-US" sz="2000" dirty="0"/>
              <a:t>) index is expensive on magnetic disk</a:t>
            </a:r>
            <a:endParaRPr lang="en-US" altLang="en-US" sz="2000" dirty="0"/>
          </a:p>
          <a:p>
            <a:pPr lvl="1"/>
            <a:r>
              <a:rPr lang="en-US" altLang="en-US" sz="2000" dirty="0"/>
              <a:t>Each record access may fetch a new block from disk</a:t>
            </a:r>
            <a:endParaRPr lang="en-US" altLang="en-US" sz="2000" dirty="0"/>
          </a:p>
          <a:p>
            <a:pPr lvl="1"/>
            <a:r>
              <a:rPr lang="en-US" altLang="en-US" sz="2000" dirty="0"/>
              <a:t>Each block fetch on magnetic disk requires about 5 to 10 milliseconds</a:t>
            </a:r>
            <a:endParaRPr lang="en-US" altLang="en-US" sz="2000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Multilevel Index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4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4502" y="1074198"/>
            <a:ext cx="7696724" cy="5117052"/>
          </a:xfrm>
        </p:spPr>
        <p:txBody>
          <a:bodyPr/>
          <a:lstStyle/>
          <a:p>
            <a:r>
              <a:rPr lang="en-US" altLang="en-US" sz="2000" dirty="0">
                <a:solidFill>
                  <a:srgbClr val="0070C0"/>
                </a:solidFill>
              </a:rPr>
              <a:t>If index does not fit in memory, access becomes expensive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r>
              <a:rPr lang="en-US" altLang="en-US" sz="2000" dirty="0"/>
              <a:t>Solution: treat index kept on disk as a sequential file and construct a sparse index on it.</a:t>
            </a:r>
            <a:endParaRPr lang="en-US" altLang="en-US" sz="2000" dirty="0"/>
          </a:p>
          <a:p>
            <a:pPr lvl="1"/>
            <a:r>
              <a:rPr lang="en-US" altLang="en-US" sz="2000" dirty="0"/>
              <a:t>outer index – a sparse index of the basic index</a:t>
            </a:r>
            <a:endParaRPr lang="en-US" altLang="en-US" sz="2000" dirty="0"/>
          </a:p>
          <a:p>
            <a:pPr lvl="1"/>
            <a:r>
              <a:rPr lang="en-US" altLang="en-US" sz="2000" dirty="0"/>
              <a:t>inner index – the basic index file</a:t>
            </a:r>
            <a:endParaRPr lang="en-US" altLang="en-US" sz="2000" dirty="0"/>
          </a:p>
          <a:p>
            <a:r>
              <a:rPr lang="en-US" altLang="en-US" sz="2000" dirty="0"/>
              <a:t>If even outer index is too large to fit in main memory, yet another level of index can be created, and so on.</a:t>
            </a:r>
            <a:endParaRPr lang="en-US" altLang="en-US" sz="2000" dirty="0"/>
          </a:p>
          <a:p>
            <a:r>
              <a:rPr lang="en-US" altLang="en-US" sz="2000" dirty="0"/>
              <a:t>Indices at all levels must be updated on insertion or deletion from the file.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53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257451"/>
            <a:ext cx="8077200" cy="43656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Multilevel Index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986" y="1495424"/>
            <a:ext cx="4618839" cy="44542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Update:  Deletion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8068" y="3465513"/>
            <a:ext cx="7994298" cy="3275012"/>
          </a:xfrm>
        </p:spPr>
        <p:txBody>
          <a:bodyPr/>
          <a:lstStyle/>
          <a:p>
            <a:r>
              <a:rPr lang="en-US" altLang="en-US" sz="2000" b="1" dirty="0"/>
              <a:t>Single-level index entry deletion:</a:t>
            </a:r>
            <a:endParaRPr lang="en-US" altLang="en-US" sz="2000" b="1" dirty="0"/>
          </a:p>
          <a:p>
            <a:pPr lvl="1"/>
            <a:r>
              <a:rPr lang="en-US" altLang="en-US" sz="2000" b="1" dirty="0"/>
              <a:t>Dense indices</a:t>
            </a:r>
            <a:r>
              <a:rPr lang="en-US" altLang="en-US" sz="2000" dirty="0"/>
              <a:t> – deletion of search-key is similar to file record deletion.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Sparse indices</a:t>
            </a:r>
            <a:r>
              <a:rPr lang="en-US" altLang="en-US" sz="2000" dirty="0"/>
              <a:t> –</a:t>
            </a:r>
            <a:endParaRPr lang="en-US" altLang="en-US" sz="2000" dirty="0"/>
          </a:p>
          <a:p>
            <a:pPr lvl="2"/>
            <a:r>
              <a:rPr lang="en-US" altLang="en-US" sz="2000" dirty="0"/>
              <a:t> if an entry for the search key exists in the index, it is deleted by replacing the entry in the index with the next search-key value in the file (in search-key order).  </a:t>
            </a:r>
            <a:endParaRPr lang="en-US" altLang="en-US" sz="2000" dirty="0"/>
          </a:p>
          <a:p>
            <a:pPr lvl="2"/>
            <a:r>
              <a:rPr lang="en-US" altLang="en-US" sz="2000" dirty="0"/>
              <a:t>If the next search-key value already has an index entry, the entry is deleted instead of being replaced.</a:t>
            </a:r>
            <a:endParaRPr lang="en-US" altLang="en-US" sz="2000" dirty="0"/>
          </a:p>
        </p:txBody>
      </p:sp>
      <p:pic>
        <p:nvPicPr>
          <p:cNvPr id="31748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813" y="890588"/>
            <a:ext cx="6064250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3"/>
          <p:cNvSpPr>
            <a:spLocks noChangeArrowheads="1"/>
          </p:cNvSpPr>
          <p:nvPr/>
        </p:nvSpPr>
        <p:spPr bwMode="auto">
          <a:xfrm>
            <a:off x="887765" y="1524793"/>
            <a:ext cx="3112733" cy="152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 dirty="0"/>
              <a:t>If deleted record was the only record in the file with its particular search-key value, the search-key is deleted from the index also.</a:t>
            </a:r>
            <a:endParaRPr lang="en-US" altLang="en-US" sz="2000" dirty="0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Update:  Insertion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US" altLang="en-US" sz="2000" b="1" dirty="0"/>
              <a:t>Single-level index insertion:</a:t>
            </a:r>
            <a:endParaRPr lang="en-US" altLang="en-US" sz="2000" b="1" dirty="0"/>
          </a:p>
          <a:p>
            <a:pPr lvl="1"/>
            <a:r>
              <a:rPr lang="en-US" altLang="en-US" sz="2000" dirty="0"/>
              <a:t>Perform a lookup using the search-key value of the record to be inserted.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Dense indices</a:t>
            </a:r>
            <a:r>
              <a:rPr lang="en-US" altLang="en-US" sz="2000" dirty="0"/>
              <a:t> – if the search-key value does not appear in the index, insert it</a:t>
            </a:r>
            <a:endParaRPr lang="en-US" altLang="en-US" sz="2000" dirty="0"/>
          </a:p>
          <a:p>
            <a:pPr lvl="2"/>
            <a:r>
              <a:rPr lang="en-US" altLang="en-US" sz="2000" dirty="0"/>
              <a:t>Indices are maintained as sequential files</a:t>
            </a:r>
            <a:endParaRPr lang="en-US" altLang="en-US" sz="2000" dirty="0"/>
          </a:p>
          <a:p>
            <a:pPr lvl="2"/>
            <a:r>
              <a:rPr lang="en-US" altLang="en-US" sz="2000" dirty="0"/>
              <a:t>Need to create space for new entry, overflow blocks may be required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Sparse indices</a:t>
            </a:r>
            <a:r>
              <a:rPr lang="en-US" altLang="en-US" sz="2000" dirty="0"/>
              <a:t> – if index stores an entry for each block of the file, no change needs to be made to the index unless a new block is created.  </a:t>
            </a:r>
            <a:endParaRPr lang="en-US" altLang="en-US" sz="2000" dirty="0"/>
          </a:p>
          <a:p>
            <a:pPr lvl="2"/>
            <a:r>
              <a:rPr lang="en-US" altLang="en-US" sz="2000" dirty="0"/>
              <a:t>If a new block is created, the first search-key value appearing in the new block is inserted into the index.</a:t>
            </a:r>
            <a:endParaRPr lang="en-US" altLang="en-US" sz="2000" dirty="0"/>
          </a:p>
          <a:p>
            <a:r>
              <a:rPr lang="en-US" altLang="en-US" sz="2000" b="1" dirty="0"/>
              <a:t>Multilevel insertion and deletion:</a:t>
            </a:r>
            <a:r>
              <a:rPr lang="en-US" altLang="en-US" sz="2000" dirty="0"/>
              <a:t>  algorithms are simple extensions of the single-level algorithms</a:t>
            </a:r>
            <a:endParaRPr lang="en-US" altLang="en-US" sz="2000" dirty="0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Indices on Multiple Keys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IN" sz="2000" b="1" dirty="0">
                <a:solidFill>
                  <a:srgbClr val="002060"/>
                </a:solidFill>
              </a:rPr>
              <a:t>Composite search key</a:t>
            </a:r>
            <a:r>
              <a:rPr lang="en-IN" sz="2000" dirty="0"/>
              <a:t>  </a:t>
            </a:r>
            <a:endParaRPr lang="en-IN" sz="2000" dirty="0"/>
          </a:p>
          <a:p>
            <a:pPr lvl="1"/>
            <a:r>
              <a:rPr lang="en-IN" sz="2000" dirty="0"/>
              <a:t>E.g., index on </a:t>
            </a:r>
            <a:r>
              <a:rPr lang="en-IN" sz="2000" i="1" dirty="0"/>
              <a:t>instructor</a:t>
            </a:r>
            <a:r>
              <a:rPr lang="en-IN" sz="2000" dirty="0"/>
              <a:t> relation on attributes (</a:t>
            </a:r>
            <a:r>
              <a:rPr lang="en-IN" sz="2000" i="1" dirty="0"/>
              <a:t>name, ID</a:t>
            </a:r>
            <a:r>
              <a:rPr lang="en-IN" sz="2000" dirty="0"/>
              <a:t>)</a:t>
            </a:r>
            <a:endParaRPr lang="en-IN" sz="2000" dirty="0"/>
          </a:p>
          <a:p>
            <a:pPr lvl="1"/>
            <a:r>
              <a:rPr lang="en-IN" sz="2000" dirty="0"/>
              <a:t>Values are sorted lexicographically</a:t>
            </a:r>
            <a:endParaRPr lang="en-IN" sz="2000" dirty="0"/>
          </a:p>
          <a:p>
            <a:pPr lvl="2"/>
            <a:r>
              <a:rPr lang="en-IN" sz="2000" dirty="0"/>
              <a:t>E.g.  (John, 12121) &lt; (John, 13514)  and </a:t>
            </a:r>
            <a:br>
              <a:rPr lang="en-IN" sz="2000" dirty="0"/>
            </a:br>
            <a:r>
              <a:rPr lang="en-IN" sz="2000" dirty="0"/>
              <a:t>        (John, 13514) &lt; (Peter, 11223)</a:t>
            </a:r>
            <a:endParaRPr lang="en-IN" sz="2000" dirty="0"/>
          </a:p>
          <a:p>
            <a:pPr lvl="1"/>
            <a:r>
              <a:rPr lang="en-IN" sz="2000" dirty="0"/>
              <a:t>Can query on just </a:t>
            </a:r>
            <a:r>
              <a:rPr lang="en-IN" sz="2000" i="1" dirty="0"/>
              <a:t>name</a:t>
            </a:r>
            <a:r>
              <a:rPr lang="en-IN" sz="2000" dirty="0"/>
              <a:t>, or on (</a:t>
            </a:r>
            <a:r>
              <a:rPr lang="en-IN" sz="2000" i="1" dirty="0"/>
              <a:t>name, ID</a:t>
            </a:r>
            <a:r>
              <a:rPr lang="en-IN" sz="2000" dirty="0"/>
              <a:t>)</a:t>
            </a:r>
            <a:endParaRPr lang="en-IN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 Index Files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767" y="1310327"/>
            <a:ext cx="7508521" cy="461422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Disadvantage of indexed-sequential files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Performance degrades as file grows, since many overflow blocks get created.  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Periodic reorganization of entire file is required.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Advantage of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 index files:  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Automatically reorganizes itself with small, local, changes, in the face of insertions and deletions.  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Reorganization of entire file is not required to maintain performance.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(Minor) disadvantage of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-trees: 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Extra insertion and deletion overhead, space overhead.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Advantages of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-trees outweigh disadvantages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-trees are used extensively</a:t>
            </a:r>
            <a:endParaRPr lang="en-US" altLang="en-US" sz="2000" dirty="0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Example of B</a:t>
            </a:r>
            <a:r>
              <a:rPr lang="en-US" altLang="en-US" baseline="30000">
                <a:effectLst/>
              </a:rPr>
              <a:t>+</a:t>
            </a:r>
            <a:r>
              <a:rPr lang="en-US" altLang="en-US">
                <a:effectLst/>
              </a:rPr>
              <a:t>-Tree</a:t>
            </a:r>
            <a:endParaRPr lang="en-US" altLang="en-US">
              <a:effectLst/>
            </a:endParaRPr>
          </a:p>
        </p:txBody>
      </p:sp>
      <p:cxnSp>
        <p:nvCxnSpPr>
          <p:cNvPr id="39939" name="Straight Connector 2"/>
          <p:cNvCxnSpPr>
            <a:cxnSpLocks noChangeShapeType="1"/>
          </p:cNvCxnSpPr>
          <p:nvPr/>
        </p:nvCxnSpPr>
        <p:spPr bwMode="auto">
          <a:xfrm flipH="1">
            <a:off x="1266825" y="5692775"/>
            <a:ext cx="468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0" name="Straight Connector 4"/>
          <p:cNvCxnSpPr>
            <a:cxnSpLocks noChangeShapeType="1"/>
          </p:cNvCxnSpPr>
          <p:nvPr/>
        </p:nvCxnSpPr>
        <p:spPr bwMode="auto">
          <a:xfrm flipH="1">
            <a:off x="1270000" y="2995613"/>
            <a:ext cx="19050" cy="268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9941" name="Group 11"/>
          <p:cNvGrpSpPr/>
          <p:nvPr/>
        </p:nvGrpSpPr>
        <p:grpSpPr bwMode="auto">
          <a:xfrm>
            <a:off x="141288" y="1176338"/>
            <a:ext cx="8891587" cy="5030787"/>
            <a:chOff x="141288" y="1176338"/>
            <a:chExt cx="8891587" cy="5030787"/>
          </a:xfrm>
        </p:grpSpPr>
        <p:pic>
          <p:nvPicPr>
            <p:cNvPr id="39942" name="Picture 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288" y="1176338"/>
              <a:ext cx="8891587" cy="5030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43" name="Rectangle 10"/>
            <p:cNvSpPr>
              <a:spLocks noChangeArrowheads="1"/>
            </p:cNvSpPr>
            <p:nvPr/>
          </p:nvSpPr>
          <p:spPr bwMode="auto">
            <a:xfrm>
              <a:off x="1684609" y="3051960"/>
              <a:ext cx="64794" cy="22419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39944" name="Rectangle 13"/>
            <p:cNvSpPr>
              <a:spLocks noChangeArrowheads="1"/>
            </p:cNvSpPr>
            <p:nvPr/>
          </p:nvSpPr>
          <p:spPr bwMode="auto">
            <a:xfrm>
              <a:off x="1658717" y="5315675"/>
              <a:ext cx="100548" cy="3688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Index Files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585907"/>
            <a:ext cx="7246937" cy="4244975"/>
          </a:xfrm>
        </p:spPr>
        <p:txBody>
          <a:bodyPr/>
          <a:lstStyle/>
          <a:p>
            <a:r>
              <a:rPr lang="en-US" altLang="en-US" sz="2000" dirty="0"/>
              <a:t>All paths from root to leaf are of the same length</a:t>
            </a:r>
            <a:endParaRPr lang="en-US" altLang="en-US" sz="2000" dirty="0"/>
          </a:p>
          <a:p>
            <a:r>
              <a:rPr lang="en-US" altLang="en-US" sz="2000" dirty="0"/>
              <a:t>Each node that is not a root or a leaf has between </a:t>
            </a:r>
            <a:r>
              <a:rPr lang="en-US" altLang="en-US" sz="2000" dirty="0">
                <a:sym typeface="Symbol" panose="05050102010706020507" pitchFamily="18" charset="2"/>
              </a:rPr>
              <a:t></a:t>
            </a:r>
            <a:r>
              <a:rPr lang="en-US" altLang="en-US" sz="2000" i="1" dirty="0"/>
              <a:t>n</a:t>
            </a:r>
            <a:r>
              <a:rPr lang="en-US" altLang="en-US" sz="2000" dirty="0"/>
              <a:t>/2</a:t>
            </a:r>
            <a:r>
              <a:rPr lang="en-US" altLang="en-US" sz="2000" dirty="0">
                <a:sym typeface="Symbol" panose="05050102010706020507" pitchFamily="18" charset="2"/>
              </a:rPr>
              <a:t>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n</a:t>
            </a:r>
            <a:r>
              <a:rPr lang="en-US" altLang="en-US" sz="2000" dirty="0"/>
              <a:t> children.</a:t>
            </a:r>
            <a:endParaRPr lang="en-US" altLang="en-US" sz="2000" dirty="0"/>
          </a:p>
          <a:p>
            <a:r>
              <a:rPr lang="en-US" altLang="en-US" sz="2000" dirty="0"/>
              <a:t>A leaf node has between </a:t>
            </a:r>
            <a:r>
              <a:rPr lang="en-US" altLang="en-US" sz="2000" dirty="0">
                <a:sym typeface="Symbol" panose="05050102010706020507" pitchFamily="18" charset="2"/>
              </a:rPr>
              <a:t></a:t>
            </a:r>
            <a:r>
              <a:rPr lang="en-US" altLang="en-US" sz="2000" dirty="0"/>
              <a:t>(</a:t>
            </a:r>
            <a:r>
              <a:rPr lang="en-US" altLang="en-US" sz="2000" i="1" dirty="0"/>
              <a:t>n</a:t>
            </a:r>
            <a:r>
              <a:rPr lang="en-US" altLang="en-US" sz="2000" dirty="0"/>
              <a:t>–1)/2</a:t>
            </a:r>
            <a:r>
              <a:rPr lang="en-US" altLang="en-US" sz="2000" dirty="0">
                <a:sym typeface="Symbol" panose="05050102010706020507" pitchFamily="18" charset="2"/>
              </a:rPr>
              <a:t>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n</a:t>
            </a:r>
            <a:r>
              <a:rPr lang="en-US" altLang="en-US" sz="2000" dirty="0"/>
              <a:t>–1 values</a:t>
            </a:r>
            <a:endParaRPr lang="en-US" altLang="en-US" sz="2000" dirty="0"/>
          </a:p>
          <a:p>
            <a:r>
              <a:rPr lang="en-US" altLang="en-US" sz="2000" dirty="0"/>
              <a:t>Special cases: </a:t>
            </a:r>
            <a:endParaRPr lang="en-US" altLang="en-US" sz="2000" dirty="0"/>
          </a:p>
          <a:p>
            <a:pPr lvl="1"/>
            <a:r>
              <a:rPr lang="en-US" altLang="en-US" sz="2000" dirty="0"/>
              <a:t>If the root is not a leaf, it has at least 2 children.</a:t>
            </a:r>
            <a:endParaRPr lang="en-US" altLang="en-US" sz="2000" dirty="0"/>
          </a:p>
          <a:p>
            <a:pPr lvl="1"/>
            <a:r>
              <a:rPr lang="en-US" altLang="en-US" sz="2000" dirty="0"/>
              <a:t>If the root is a leaf (that is, there are no other nodes in the tree), it can have between 0 and (</a:t>
            </a:r>
            <a:r>
              <a:rPr lang="en-US" altLang="en-US" sz="2000" i="1" dirty="0"/>
              <a:t>n</a:t>
            </a:r>
            <a:r>
              <a:rPr lang="en-US" altLang="en-US" sz="2000" dirty="0"/>
              <a:t>–1) values.</a:t>
            </a:r>
            <a:endParaRPr lang="en-US" altLang="en-US" sz="2000" dirty="0"/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814388" y="1135033"/>
            <a:ext cx="69465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A B</a:t>
            </a:r>
            <a:r>
              <a:rPr kumimoji="0" lang="en-US" altLang="en-US" sz="2000" baseline="30000" dirty="0"/>
              <a:t>+</a:t>
            </a:r>
            <a:r>
              <a:rPr kumimoji="0" lang="en-US" altLang="en-US" sz="2000" dirty="0"/>
              <a:t>-tree is a rooted tree satisfying the following properties:</a:t>
            </a:r>
            <a:endParaRPr kumimoji="0" lang="en-US" alt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Node Structure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pPr>
              <a:tabLst>
                <a:tab pos="1655445" algn="l"/>
              </a:tabLst>
            </a:pPr>
            <a:r>
              <a:rPr lang="en-US" altLang="en-US" sz="2000" dirty="0"/>
              <a:t>Typical node</a:t>
            </a: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pPr lvl="1">
              <a:tabLst>
                <a:tab pos="1655445" algn="l"/>
              </a:tabLst>
            </a:pPr>
            <a:r>
              <a:rPr lang="en-US" altLang="en-US" sz="2000" dirty="0"/>
              <a:t>K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are the search-key values </a:t>
            </a:r>
            <a:endParaRPr lang="en-US" altLang="en-US" sz="2000" dirty="0"/>
          </a:p>
          <a:p>
            <a:pPr lvl="1">
              <a:tabLst>
                <a:tab pos="1655445" algn="l"/>
              </a:tabLst>
            </a:pPr>
            <a:r>
              <a:rPr lang="en-US" altLang="en-US" sz="2000" dirty="0"/>
              <a:t>P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 are pointers to children (for non-leaf nodes) or pointers to records or buckets of records (for leaf nodes).</a:t>
            </a:r>
            <a:endParaRPr lang="en-US" altLang="en-US" sz="2000" dirty="0"/>
          </a:p>
          <a:p>
            <a:pPr>
              <a:tabLst>
                <a:tab pos="1655445" algn="l"/>
              </a:tabLst>
            </a:pPr>
            <a:r>
              <a:rPr lang="en-US" altLang="en-US" sz="2000" dirty="0"/>
              <a:t>The search-keys in a node are ordered 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655445" algn="l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K</a:t>
            </a:r>
            <a:r>
              <a:rPr lang="en-US" altLang="en-US" sz="2000" baseline="-25000" dirty="0"/>
              <a:t>1 </a:t>
            </a:r>
            <a:r>
              <a:rPr lang="en-US" altLang="en-US" sz="2000" dirty="0">
                <a:sym typeface="Symbol" panose="05050102010706020507" pitchFamily="18" charset="2"/>
              </a:rPr>
              <a:t>&lt;</a:t>
            </a:r>
            <a:r>
              <a:rPr lang="en-US" altLang="en-US" sz="2000" dirty="0"/>
              <a:t> </a:t>
            </a:r>
            <a:r>
              <a:rPr lang="en-US" altLang="en-US" sz="2000" i="1" dirty="0"/>
              <a:t>K</a:t>
            </a:r>
            <a:r>
              <a:rPr lang="en-US" altLang="en-US" sz="2000" baseline="-25000" dirty="0"/>
              <a:t>2 </a:t>
            </a:r>
            <a:r>
              <a:rPr lang="en-US" altLang="en-US" sz="2000" dirty="0">
                <a:sym typeface="Symbol" panose="05050102010706020507" pitchFamily="18" charset="2"/>
              </a:rPr>
              <a:t>&lt;</a:t>
            </a:r>
            <a:r>
              <a:rPr lang="en-US" altLang="en-US" sz="2000" dirty="0"/>
              <a:t> </a:t>
            </a:r>
            <a:r>
              <a:rPr lang="en-US" altLang="en-US" sz="2000" i="1" dirty="0"/>
              <a:t>K</a:t>
            </a:r>
            <a:r>
              <a:rPr lang="en-US" altLang="en-US" sz="2000" baseline="-25000" dirty="0"/>
              <a:t>3 </a:t>
            </a:r>
            <a:r>
              <a:rPr lang="en-US" altLang="en-US" sz="2000" dirty="0">
                <a:sym typeface="Symbol" panose="05050102010706020507" pitchFamily="18" charset="2"/>
              </a:rPr>
              <a:t>&lt;</a:t>
            </a:r>
            <a:r>
              <a:rPr lang="en-US" altLang="en-US" sz="2000" dirty="0"/>
              <a:t> </a:t>
            </a:r>
            <a:r>
              <a:rPr lang="en-US" altLang="en-US" sz="2000" i="1" dirty="0"/>
              <a:t>. . .</a:t>
            </a:r>
            <a:r>
              <a:rPr lang="en-US" altLang="en-US" sz="2000" baseline="-25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&lt;</a:t>
            </a:r>
            <a:r>
              <a:rPr lang="en-US" altLang="en-US" sz="2000" dirty="0"/>
              <a:t> </a:t>
            </a:r>
            <a:r>
              <a:rPr lang="en-US" altLang="en-US" sz="2000" i="1" dirty="0" err="1"/>
              <a:t>K</a:t>
            </a:r>
            <a:r>
              <a:rPr lang="en-US" altLang="en-US" sz="2000" i="1" baseline="-25000" dirty="0" err="1"/>
              <a:t>n</a:t>
            </a:r>
            <a:r>
              <a:rPr lang="en-US" altLang="en-US" sz="2000" i="1" baseline="-25000" dirty="0"/>
              <a:t>–</a:t>
            </a:r>
            <a:r>
              <a:rPr lang="en-US" altLang="en-US" sz="2000" baseline="-25000" dirty="0"/>
              <a:t>1</a:t>
            </a:r>
            <a:endParaRPr lang="en-US" altLang="en-US" sz="2000" baseline="-25000" dirty="0"/>
          </a:p>
          <a:p>
            <a:pPr>
              <a:buFont typeface="Monotype Sorts" pitchFamily="-65" charset="2"/>
              <a:buNone/>
              <a:tabLst>
                <a:tab pos="1655445" algn="l"/>
              </a:tabLst>
            </a:pPr>
            <a:r>
              <a:rPr lang="en-US" altLang="en-US" sz="2000" baseline="-25000" dirty="0"/>
              <a:t>        </a:t>
            </a:r>
            <a:r>
              <a:rPr lang="en-US" altLang="en-US" sz="2000" dirty="0"/>
              <a:t>(Initially assume no duplicate keys, address duplicates later)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655445" algn="l"/>
              </a:tabLst>
            </a:pPr>
            <a:endParaRPr lang="en-US" altLang="en-US" dirty="0"/>
          </a:p>
          <a:p>
            <a:pPr>
              <a:buFont typeface="Monotype Sorts" pitchFamily="-65" charset="2"/>
              <a:buNone/>
              <a:tabLst>
                <a:tab pos="1655445" algn="l"/>
              </a:tabLst>
            </a:pPr>
            <a:endParaRPr lang="en-US" altLang="en-US" dirty="0"/>
          </a:p>
          <a:p>
            <a:pPr>
              <a:buFont typeface="Monotype Sorts" pitchFamily="-65" charset="2"/>
              <a:buNone/>
              <a:tabLst>
                <a:tab pos="1655445" algn="l"/>
              </a:tabLst>
            </a:pPr>
            <a:endParaRPr lang="en-US" altLang="en-US" dirty="0"/>
          </a:p>
        </p:txBody>
      </p:sp>
      <p:pic>
        <p:nvPicPr>
          <p:cNvPr id="4301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907" y="1716643"/>
            <a:ext cx="5813424" cy="450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Leaf Nodes in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3379" y="1589088"/>
            <a:ext cx="7933909" cy="4876800"/>
          </a:xfrm>
        </p:spPr>
        <p:txBody>
          <a:bodyPr/>
          <a:lstStyle/>
          <a:p>
            <a:r>
              <a:rPr lang="en-US" altLang="en-US" sz="2000" dirty="0"/>
              <a:t>For </a:t>
            </a:r>
            <a:r>
              <a:rPr lang="en-US" altLang="en-US" sz="2000" i="1" dirty="0" err="1"/>
              <a:t>i</a:t>
            </a:r>
            <a:r>
              <a:rPr lang="en-US" altLang="en-US" sz="2000" dirty="0"/>
              <a:t> = 1, 2, . . ., </a:t>
            </a:r>
            <a:r>
              <a:rPr lang="en-US" altLang="en-US" sz="2000" i="1" dirty="0"/>
              <a:t>n–</a:t>
            </a:r>
            <a:r>
              <a:rPr lang="en-US" altLang="en-US" sz="2000" dirty="0"/>
              <a:t>1, pointer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points to a file record with search-key value </a:t>
            </a:r>
            <a:r>
              <a:rPr lang="en-US" altLang="en-US" sz="2000" i="1" dirty="0"/>
              <a:t>K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, </a:t>
            </a:r>
            <a:endParaRPr lang="en-US" altLang="en-US" sz="2000" dirty="0"/>
          </a:p>
          <a:p>
            <a:r>
              <a:rPr lang="en-US" altLang="en-US" sz="2000" dirty="0"/>
              <a:t>If </a:t>
            </a:r>
            <a:r>
              <a:rPr lang="en-US" altLang="en-US" sz="2000" i="1" dirty="0"/>
              <a:t>L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L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 are leaf nodes and </a:t>
            </a:r>
            <a:r>
              <a:rPr lang="en-US" altLang="en-US" sz="2000" i="1" dirty="0" err="1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&lt; </a:t>
            </a:r>
            <a:r>
              <a:rPr lang="en-US" altLang="en-US" sz="2000" i="1" dirty="0"/>
              <a:t>j, L</a:t>
            </a:r>
            <a:r>
              <a:rPr lang="en-US" altLang="en-US" sz="2000" i="1" baseline="-25000" dirty="0"/>
              <a:t>i</a:t>
            </a:r>
            <a:r>
              <a:rPr lang="ja-JP" altLang="en-US" sz="2000" dirty="0"/>
              <a:t>’</a:t>
            </a:r>
            <a:r>
              <a:rPr lang="en-US" altLang="ja-JP" sz="2000" dirty="0"/>
              <a:t>s search-key values are less than or equal to </a:t>
            </a:r>
            <a:r>
              <a:rPr lang="en-US" altLang="ja-JP" sz="2000" i="1" dirty="0" err="1"/>
              <a:t>L</a:t>
            </a:r>
            <a:r>
              <a:rPr lang="en-US" altLang="ja-JP" sz="2000" i="1" baseline="-25000" dirty="0" err="1"/>
              <a:t>j</a:t>
            </a:r>
            <a:r>
              <a:rPr lang="ja-JP" altLang="en-US" sz="2000" dirty="0"/>
              <a:t>’</a:t>
            </a:r>
            <a:r>
              <a:rPr lang="en-US" altLang="ja-JP" sz="2000" dirty="0"/>
              <a:t>s search-key values</a:t>
            </a:r>
            <a:endParaRPr lang="en-US" altLang="ja-JP" sz="2000" dirty="0"/>
          </a:p>
          <a:p>
            <a:r>
              <a:rPr lang="en-US" altLang="en-US" sz="2000" i="1" dirty="0" err="1"/>
              <a:t>P</a:t>
            </a:r>
            <a:r>
              <a:rPr lang="en-US" altLang="en-US" sz="2000" i="1" baseline="-25000" dirty="0" err="1"/>
              <a:t>n</a:t>
            </a:r>
            <a:r>
              <a:rPr lang="en-US" altLang="en-US" sz="2000" dirty="0"/>
              <a:t> points to next leaf node in search-key order</a:t>
            </a:r>
            <a:endParaRPr lang="en-US" altLang="en-US" sz="2000" dirty="0"/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843379" y="1138624"/>
            <a:ext cx="31231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Properties of a leaf node:</a:t>
            </a:r>
            <a:endParaRPr kumimoji="0" lang="en-US" altLang="en-US" sz="2000" dirty="0"/>
          </a:p>
        </p:txBody>
      </p:sp>
      <p:grpSp>
        <p:nvGrpSpPr>
          <p:cNvPr id="45061" name="Group 7"/>
          <p:cNvGrpSpPr/>
          <p:nvPr/>
        </p:nvGrpSpPr>
        <p:grpSpPr bwMode="auto">
          <a:xfrm>
            <a:off x="1054100" y="3440874"/>
            <a:ext cx="7505700" cy="3295650"/>
            <a:chOff x="961" y="2239"/>
            <a:chExt cx="4527" cy="1961"/>
          </a:xfrm>
        </p:grpSpPr>
        <p:pic>
          <p:nvPicPr>
            <p:cNvPr id="45062" name="Picture 8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48" b="9171"/>
            <a:stretch>
              <a:fillRect/>
            </a:stretch>
          </p:blipFill>
          <p:spPr bwMode="auto">
            <a:xfrm>
              <a:off x="961" y="2537"/>
              <a:ext cx="4521" cy="1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63" name="Picture 8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744"/>
            <a:stretch>
              <a:fillRect/>
            </a:stretch>
          </p:blipFill>
          <p:spPr bwMode="auto">
            <a:xfrm>
              <a:off x="967" y="2239"/>
              <a:ext cx="4521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Non-Leaf Nodes in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r>
              <a:rPr lang="en-US" altLang="en-US" sz="2000" dirty="0"/>
              <a:t>Non leaf nodes form a multi-level sparse index on the leaf nodes.  For a non-leaf node with </a:t>
            </a:r>
            <a:r>
              <a:rPr lang="en-US" altLang="en-US" sz="2000" i="1" dirty="0"/>
              <a:t>m</a:t>
            </a:r>
            <a:r>
              <a:rPr lang="en-US" altLang="en-US" sz="2000" dirty="0"/>
              <a:t> pointers:</a:t>
            </a:r>
            <a:endParaRPr lang="en-US" altLang="en-US" sz="2000" dirty="0"/>
          </a:p>
          <a:p>
            <a:pPr lvl="1"/>
            <a:r>
              <a:rPr lang="en-US" altLang="en-US" sz="2000" dirty="0"/>
              <a:t>All the search-keys in the subtree to which </a:t>
            </a:r>
            <a:r>
              <a:rPr lang="en-US" altLang="en-US" sz="2000" i="1" dirty="0"/>
              <a:t>P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points are less than </a:t>
            </a:r>
            <a:r>
              <a:rPr lang="en-US" altLang="en-US" sz="2000" i="1" dirty="0"/>
              <a:t>K</a:t>
            </a:r>
            <a:r>
              <a:rPr lang="en-US" altLang="en-US" sz="2000" baseline="-25000" dirty="0"/>
              <a:t>1 </a:t>
            </a:r>
            <a:endParaRPr lang="en-US" altLang="en-US" sz="2000" dirty="0"/>
          </a:p>
          <a:p>
            <a:pPr lvl="1"/>
            <a:r>
              <a:rPr lang="en-US" altLang="en-US" sz="2000" dirty="0"/>
              <a:t>For 2 </a:t>
            </a:r>
            <a:r>
              <a:rPr lang="en-US" altLang="en-US" sz="2000" dirty="0">
                <a:sym typeface="Symbol" panose="05050102010706020507" pitchFamily="18" charset="2"/>
              </a:rPr>
              <a:t> </a:t>
            </a:r>
            <a:r>
              <a:rPr lang="en-US" altLang="en-US" sz="2000" i="1" dirty="0" err="1">
                <a:sym typeface="Symbol" panose="05050102010706020507" pitchFamily="18" charset="2"/>
              </a:rPr>
              <a:t>i</a:t>
            </a:r>
            <a:r>
              <a:rPr lang="en-US" altLang="en-US" sz="2000" i="1" dirty="0"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 </a:t>
            </a:r>
            <a:r>
              <a:rPr lang="en-US" altLang="en-US" sz="2000" i="1" dirty="0">
                <a:sym typeface="Symbol" panose="05050102010706020507" pitchFamily="18" charset="2"/>
              </a:rPr>
              <a:t>n </a:t>
            </a:r>
            <a:r>
              <a:rPr lang="en-US" altLang="en-US" sz="2000" dirty="0">
                <a:sym typeface="Symbol" panose="05050102010706020507" pitchFamily="18" charset="2"/>
              </a:rPr>
              <a:t>– 1, all the search-keys in the subtree to which </a:t>
            </a:r>
            <a:r>
              <a:rPr lang="en-US" altLang="en-US" sz="2000" i="1" dirty="0">
                <a:sym typeface="Symbol" panose="05050102010706020507" pitchFamily="18" charset="2"/>
              </a:rPr>
              <a:t>P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points have values greater than or equal to </a:t>
            </a:r>
            <a:r>
              <a:rPr lang="en-US" altLang="en-US" sz="2000" i="1" dirty="0">
                <a:sym typeface="Symbol" panose="05050102010706020507" pitchFamily="18" charset="2"/>
              </a:rPr>
              <a:t>K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000" baseline="-25000" dirty="0">
                <a:sym typeface="Symbol" panose="05050102010706020507" pitchFamily="18" charset="2"/>
              </a:rPr>
              <a:t>–1</a:t>
            </a:r>
            <a:r>
              <a:rPr lang="en-US" altLang="en-US" sz="2000" dirty="0">
                <a:sym typeface="Symbol" panose="05050102010706020507" pitchFamily="18" charset="2"/>
              </a:rPr>
              <a:t> and less than </a:t>
            </a:r>
            <a:r>
              <a:rPr lang="en-US" altLang="en-US" sz="2000" i="1" dirty="0">
                <a:sym typeface="Symbol" panose="05050102010706020507" pitchFamily="18" charset="2"/>
              </a:rPr>
              <a:t>K</a:t>
            </a:r>
            <a:r>
              <a:rPr lang="en-US" altLang="en-US" sz="2000" i="1" baseline="-25000" dirty="0">
                <a:sym typeface="Symbol" panose="05050102010706020507" pitchFamily="18" charset="2"/>
              </a:rPr>
              <a:t>i </a:t>
            </a:r>
            <a:endParaRPr lang="en-US" altLang="en-US" sz="2000" i="1" baseline="-25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All the search-keys in the subtree to which </a:t>
            </a:r>
            <a:r>
              <a:rPr lang="en-US" altLang="en-US" sz="2000" i="1" dirty="0" err="1">
                <a:sym typeface="Symbol" panose="05050102010706020507" pitchFamily="18" charset="2"/>
              </a:rPr>
              <a:t>P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ym typeface="Symbol" panose="05050102010706020507" pitchFamily="18" charset="2"/>
              </a:rPr>
              <a:t> points have values greater than or equal to </a:t>
            </a:r>
            <a:r>
              <a:rPr lang="en-US" altLang="en-US" sz="2000" i="1" dirty="0" err="1">
                <a:sym typeface="Symbol" panose="05050102010706020507" pitchFamily="18" charset="2"/>
              </a:rPr>
              <a:t>K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000" baseline="-25000" dirty="0">
                <a:sym typeface="Symbol" panose="05050102010706020507" pitchFamily="18" charset="2"/>
              </a:rPr>
              <a:t>–1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General structure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  <p:pic>
        <p:nvPicPr>
          <p:cNvPr id="47108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369" y="4893667"/>
            <a:ext cx="5147161" cy="398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8365" y="1317612"/>
            <a:ext cx="6946897" cy="4254513"/>
          </a:xfrm>
        </p:spPr>
        <p:txBody>
          <a:bodyPr/>
          <a:lstStyle/>
          <a:p>
            <a:r>
              <a:rPr kumimoji="0" lang="en-US" altLang="en-US" sz="1800" dirty="0"/>
              <a:t>B</a:t>
            </a:r>
            <a:r>
              <a:rPr kumimoji="0" lang="en-US" altLang="en-US" sz="1800" baseline="30000" dirty="0"/>
              <a:t>+</a:t>
            </a:r>
            <a:r>
              <a:rPr kumimoji="0" lang="en-US" altLang="en-US" sz="1800" dirty="0"/>
              <a:t>-tree for </a:t>
            </a:r>
            <a:r>
              <a:rPr kumimoji="0" lang="en-US" altLang="en-US" sz="1800" i="1" dirty="0"/>
              <a:t>instructor </a:t>
            </a:r>
            <a:r>
              <a:rPr kumimoji="0" lang="en-US" altLang="en-US" sz="1800" dirty="0"/>
              <a:t>file (</a:t>
            </a:r>
            <a:r>
              <a:rPr kumimoji="0" lang="en-US" altLang="en-US" sz="1800" i="1" dirty="0"/>
              <a:t>n</a:t>
            </a:r>
            <a:r>
              <a:rPr kumimoji="0" lang="en-US" altLang="en-US" sz="1800" dirty="0"/>
              <a:t> = 6)</a:t>
            </a:r>
            <a:endParaRPr kumimoji="0" lang="en-US" altLang="en-US" sz="1800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sz="2000" dirty="0"/>
              <a:t>Leaf nodes must have between 3 and 5 values </a:t>
            </a:r>
            <a:br>
              <a:rPr lang="en-US" altLang="en-US" sz="2000" dirty="0"/>
            </a:br>
            <a:r>
              <a:rPr lang="en-US" altLang="en-US" sz="2000" dirty="0"/>
              <a:t>(</a:t>
            </a:r>
            <a:r>
              <a:rPr lang="en-US" altLang="en-US" sz="2000" dirty="0">
                <a:sym typeface="Symbol" panose="05050102010706020507" pitchFamily="18" charset="2"/>
              </a:rPr>
              <a:t>(</a:t>
            </a:r>
            <a:r>
              <a:rPr lang="en-US" altLang="en-US" sz="2000" i="1" dirty="0"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ym typeface="Symbol" panose="05050102010706020507" pitchFamily="18" charset="2"/>
              </a:rPr>
              <a:t>–1)/2 and </a:t>
            </a:r>
            <a:r>
              <a:rPr lang="en-US" altLang="en-US" sz="2000" i="1" dirty="0">
                <a:sym typeface="Symbol" panose="05050102010706020507" pitchFamily="18" charset="2"/>
              </a:rPr>
              <a:t>n </a:t>
            </a:r>
            <a:r>
              <a:rPr lang="en-US" altLang="en-US" sz="2000" dirty="0">
                <a:sym typeface="Symbol" panose="05050102010706020507" pitchFamily="18" charset="2"/>
              </a:rPr>
              <a:t>–1, with </a:t>
            </a:r>
            <a:r>
              <a:rPr lang="en-US" altLang="en-US" sz="2000" i="1" dirty="0"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ym typeface="Symbol" panose="05050102010706020507" pitchFamily="18" charset="2"/>
              </a:rPr>
              <a:t> = 6).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Non-leaf nodes other than root must have between 3 and 6 children </a:t>
            </a:r>
            <a:r>
              <a:rPr lang="en-US" altLang="en-US" sz="2000" dirty="0"/>
              <a:t>(</a:t>
            </a:r>
            <a:r>
              <a:rPr lang="en-US" altLang="en-US" sz="2000" dirty="0">
                <a:sym typeface="Symbol" panose="05050102010706020507" pitchFamily="18" charset="2"/>
              </a:rPr>
              <a:t>(</a:t>
            </a:r>
            <a:r>
              <a:rPr lang="en-US" altLang="en-US" sz="2000" i="1" dirty="0"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ym typeface="Symbol" panose="05050102010706020507" pitchFamily="18" charset="2"/>
              </a:rPr>
              <a:t>/2 and </a:t>
            </a:r>
            <a:r>
              <a:rPr lang="en-US" altLang="en-US" sz="2000" i="1" dirty="0">
                <a:sym typeface="Symbol" panose="05050102010706020507" pitchFamily="18" charset="2"/>
              </a:rPr>
              <a:t>n </a:t>
            </a:r>
            <a:r>
              <a:rPr lang="en-US" altLang="en-US" sz="2000" dirty="0">
                <a:sym typeface="Symbol" panose="05050102010706020507" pitchFamily="18" charset="2"/>
              </a:rPr>
              <a:t>with </a:t>
            </a:r>
            <a:r>
              <a:rPr lang="en-US" altLang="en-US" sz="2000" i="1" dirty="0"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ym typeface="Symbol" panose="05050102010706020507" pitchFamily="18" charset="2"/>
              </a:rPr>
              <a:t> =6).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Root must have at least 2 children.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  <p:pic>
        <p:nvPicPr>
          <p:cNvPr id="48133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1892290"/>
            <a:ext cx="854075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Observations about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r>
              <a:rPr lang="en-US" altLang="en-US" sz="2000" dirty="0"/>
              <a:t>Since the inter-node connections are done by pointers, </a:t>
            </a:r>
            <a:r>
              <a:rPr lang="ja-JP" altLang="en-US" sz="2000" dirty="0"/>
              <a:t>“</a:t>
            </a:r>
            <a:r>
              <a:rPr lang="en-US" altLang="ja-JP" sz="2000" dirty="0"/>
              <a:t>logically</a:t>
            </a:r>
            <a:r>
              <a:rPr lang="ja-JP" altLang="en-US" sz="2000" dirty="0"/>
              <a:t>”</a:t>
            </a:r>
            <a:r>
              <a:rPr lang="en-US" altLang="ja-JP" sz="2000" dirty="0"/>
              <a:t> close blocks need not be </a:t>
            </a:r>
            <a:r>
              <a:rPr lang="ja-JP" altLang="en-US" sz="2000" dirty="0"/>
              <a:t>“</a:t>
            </a:r>
            <a:r>
              <a:rPr lang="en-US" altLang="ja-JP" sz="2000" dirty="0"/>
              <a:t>physically</a:t>
            </a:r>
            <a:r>
              <a:rPr lang="ja-JP" altLang="en-US" sz="2000" dirty="0"/>
              <a:t>”</a:t>
            </a:r>
            <a:r>
              <a:rPr lang="en-US" altLang="ja-JP" sz="2000" dirty="0"/>
              <a:t> close.</a:t>
            </a:r>
            <a:endParaRPr lang="en-US" altLang="ja-JP" sz="2000" dirty="0"/>
          </a:p>
          <a:p>
            <a:r>
              <a:rPr lang="en-US" altLang="en-US" sz="2000" dirty="0"/>
              <a:t>The non-leaf levels of the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 form a hierarchy of sparse indices.</a:t>
            </a:r>
            <a:endParaRPr lang="en-US" altLang="en-US" sz="2000" dirty="0"/>
          </a:p>
          <a:p>
            <a:r>
              <a:rPr lang="en-US" altLang="en-US" sz="2000" dirty="0"/>
              <a:t>The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 contains a relatively small number of levels</a:t>
            </a:r>
            <a:endParaRPr lang="en-US" altLang="en-US" sz="2000" dirty="0"/>
          </a:p>
          <a:p>
            <a:pPr lvl="2"/>
            <a:r>
              <a:rPr lang="en-US" altLang="en-US" sz="2000" dirty="0"/>
              <a:t>Level below root has at least 2* </a:t>
            </a:r>
            <a:r>
              <a:rPr lang="en-US" altLang="en-US" sz="2000" dirty="0">
                <a:sym typeface="Symbol" panose="05050102010706020507" pitchFamily="18" charset="2"/>
              </a:rPr>
              <a:t></a:t>
            </a:r>
            <a:r>
              <a:rPr lang="en-US" altLang="en-US" sz="2000" dirty="0"/>
              <a:t>n/2</a:t>
            </a:r>
            <a:r>
              <a:rPr lang="en-US" altLang="en-US" sz="2000" dirty="0">
                <a:sym typeface="Symbol" panose="05050102010706020507" pitchFamily="18" charset="2"/>
              </a:rPr>
              <a:t> </a:t>
            </a:r>
            <a:r>
              <a:rPr lang="en-US" altLang="en-US" sz="2000" dirty="0"/>
              <a:t>values</a:t>
            </a:r>
            <a:endParaRPr lang="en-US" altLang="en-US" sz="2000" dirty="0"/>
          </a:p>
          <a:p>
            <a:pPr lvl="2"/>
            <a:r>
              <a:rPr lang="en-US" altLang="en-US" sz="2000" dirty="0"/>
              <a:t>Next level has at least 2* </a:t>
            </a:r>
            <a:r>
              <a:rPr lang="en-US" altLang="en-US" sz="2000" dirty="0">
                <a:sym typeface="Symbol" panose="05050102010706020507" pitchFamily="18" charset="2"/>
              </a:rPr>
              <a:t></a:t>
            </a:r>
            <a:r>
              <a:rPr lang="en-US" altLang="en-US" sz="2000" dirty="0"/>
              <a:t>n/2</a:t>
            </a:r>
            <a:r>
              <a:rPr lang="en-US" altLang="en-US" sz="2000" dirty="0">
                <a:sym typeface="Symbol" panose="05050102010706020507" pitchFamily="18" charset="2"/>
              </a:rPr>
              <a:t> * </a:t>
            </a:r>
            <a:r>
              <a:rPr lang="en-US" altLang="en-US" sz="2000" dirty="0"/>
              <a:t>n/2</a:t>
            </a:r>
            <a:r>
              <a:rPr lang="en-US" altLang="en-US" sz="2000" dirty="0">
                <a:sym typeface="Symbol" panose="05050102010706020507" pitchFamily="18" charset="2"/>
              </a:rPr>
              <a:t></a:t>
            </a:r>
            <a:r>
              <a:rPr lang="en-US" altLang="en-US" sz="2000" dirty="0"/>
              <a:t> values</a:t>
            </a:r>
            <a:endParaRPr lang="en-US" altLang="en-US" sz="2000" dirty="0"/>
          </a:p>
          <a:p>
            <a:pPr lvl="2"/>
            <a:r>
              <a:rPr lang="en-US" altLang="en-US" sz="2000" dirty="0"/>
              <a:t>.. etc.</a:t>
            </a:r>
            <a:endParaRPr lang="en-US" altLang="en-US" sz="2000" dirty="0"/>
          </a:p>
          <a:p>
            <a:pPr lvl="1"/>
            <a:r>
              <a:rPr lang="en-US" altLang="en-US" sz="2000" dirty="0"/>
              <a:t>If there are </a:t>
            </a:r>
            <a:r>
              <a:rPr lang="en-US" altLang="en-US" sz="2000" i="1" dirty="0"/>
              <a:t>K</a:t>
            </a:r>
            <a:r>
              <a:rPr lang="en-US" altLang="en-US" sz="2000" dirty="0"/>
              <a:t> search-key values in the file, the tree height is no more than </a:t>
            </a:r>
            <a:r>
              <a:rPr lang="en-US" altLang="en-US" sz="2000" dirty="0">
                <a:sym typeface="Symbol" panose="05050102010706020507" pitchFamily="18" charset="2"/>
              </a:rPr>
              <a:t> </a:t>
            </a:r>
            <a:r>
              <a:rPr lang="en-US" altLang="en-US" sz="2000" dirty="0" err="1">
                <a:sym typeface="Symbol" panose="05050102010706020507" pitchFamily="18" charset="2"/>
              </a:rPr>
              <a:t>log</a:t>
            </a:r>
            <a:r>
              <a:rPr lang="en-US" altLang="en-US" sz="2000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000" baseline="-25000" dirty="0">
                <a:sym typeface="Symbol" panose="05050102010706020507" pitchFamily="18" charset="2"/>
              </a:rPr>
              <a:t>/2</a:t>
            </a:r>
            <a:r>
              <a:rPr lang="en-US" altLang="en-US" sz="2000" dirty="0"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ym typeface="Symbol" panose="05050102010706020507" pitchFamily="18" charset="2"/>
              </a:rPr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)</a:t>
            </a:r>
            <a:endParaRPr lang="en-US" altLang="en-US" sz="2000" dirty="0"/>
          </a:p>
          <a:p>
            <a:pPr lvl="1"/>
            <a:r>
              <a:rPr lang="en-US" altLang="en-US" sz="2000" dirty="0"/>
              <a:t>thus searches can be conducted efficiently.</a:t>
            </a:r>
            <a:endParaRPr lang="en-US" altLang="en-US" sz="2000" dirty="0"/>
          </a:p>
          <a:p>
            <a:r>
              <a:rPr lang="en-US" altLang="en-US" sz="2000" dirty="0"/>
              <a:t>Insertions and deletions to the main file can be handled efficiently, as the index can be restructured in logarithmic time (as we shall see).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Queries on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2788" y="1171852"/>
            <a:ext cx="8077200" cy="3063598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b="1" dirty="0"/>
              <a:t>   function</a:t>
            </a:r>
            <a:r>
              <a:rPr lang="en-US" altLang="en-US" dirty="0"/>
              <a:t> </a:t>
            </a:r>
            <a:r>
              <a:rPr lang="en-US" altLang="en-US" i="1" dirty="0"/>
              <a:t>find</a:t>
            </a:r>
            <a:r>
              <a:rPr lang="en-US" altLang="en-US" dirty="0"/>
              <a:t>(</a:t>
            </a:r>
            <a:r>
              <a:rPr lang="en-US" altLang="en-US" i="1" dirty="0"/>
              <a:t>v)</a:t>
            </a:r>
            <a:endParaRPr lang="en-US" altLang="en-US" i="1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dirty="0">
                <a:solidFill>
                  <a:srgbClr val="FF9933"/>
                </a:solidFill>
              </a:rPr>
              <a:t>1.</a:t>
            </a:r>
            <a:r>
              <a:rPr lang="en-US" altLang="en-US" dirty="0"/>
              <a:t>    </a:t>
            </a:r>
            <a:r>
              <a:rPr lang="en-US" altLang="en-US" i="1" dirty="0"/>
              <a:t>C=root</a:t>
            </a:r>
            <a:endParaRPr lang="en-US" altLang="en-US" i="1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dirty="0">
                <a:solidFill>
                  <a:srgbClr val="FF9933"/>
                </a:solidFill>
              </a:rPr>
              <a:t>2.</a:t>
            </a:r>
            <a:r>
              <a:rPr lang="en-US" altLang="en-US" dirty="0"/>
              <a:t>    </a:t>
            </a:r>
            <a:r>
              <a:rPr lang="en-US" altLang="en-US" b="1" dirty="0"/>
              <a:t>while</a:t>
            </a:r>
            <a:r>
              <a:rPr lang="en-US" altLang="en-US" dirty="0"/>
              <a:t> (C is not a leaf node)</a:t>
            </a:r>
            <a:endParaRPr lang="en-US" altLang="en-US" dirty="0"/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dirty="0"/>
              <a:t>Let </a:t>
            </a:r>
            <a:r>
              <a:rPr lang="en-US" altLang="en-US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be least number </a:t>
            </a:r>
            <a:r>
              <a:rPr lang="en-US" altLang="en-US" dirty="0" err="1"/>
              <a:t>s.t.</a:t>
            </a:r>
            <a:r>
              <a:rPr lang="en-US" altLang="en-US" dirty="0"/>
              <a:t> </a:t>
            </a:r>
            <a:r>
              <a:rPr lang="en-US" altLang="en-US" i="1" dirty="0"/>
              <a:t>V </a:t>
            </a:r>
            <a:r>
              <a:rPr lang="en-US" altLang="en-US" i="1" dirty="0">
                <a:sym typeface="Symbol" panose="05050102010706020507" pitchFamily="18" charset="2"/>
              </a:rPr>
              <a:t> </a:t>
            </a:r>
            <a:r>
              <a:rPr lang="en-US" altLang="en-US" i="1" dirty="0"/>
              <a:t>K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.</a:t>
            </a:r>
            <a:endParaRPr lang="en-US" altLang="en-US" dirty="0"/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b="1" dirty="0"/>
              <a:t>if</a:t>
            </a:r>
            <a:r>
              <a:rPr lang="en-US" altLang="en-US" dirty="0"/>
              <a:t> there is no such number </a:t>
            </a:r>
            <a:r>
              <a:rPr lang="en-US" altLang="en-US" i="1" dirty="0" err="1"/>
              <a:t>i</a:t>
            </a:r>
            <a:r>
              <a:rPr lang="en-US" altLang="en-US" i="1" dirty="0"/>
              <a:t> then </a:t>
            </a:r>
            <a:endParaRPr lang="en-US" altLang="en-US" i="1" dirty="0"/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i="1" dirty="0"/>
              <a:t>     S</a:t>
            </a:r>
            <a:r>
              <a:rPr lang="en-US" altLang="en-US" dirty="0"/>
              <a:t>et </a:t>
            </a:r>
            <a:r>
              <a:rPr lang="en-US" altLang="en-US" i="1" dirty="0"/>
              <a:t>C</a:t>
            </a:r>
            <a:r>
              <a:rPr lang="en-US" altLang="en-US" dirty="0"/>
              <a:t> = </a:t>
            </a:r>
            <a:r>
              <a:rPr lang="en-US" altLang="en-US" i="1" dirty="0">
                <a:sym typeface="Symbol" panose="05050102010706020507" pitchFamily="18" charset="2"/>
              </a:rPr>
              <a:t>last non-null pointer in C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endParaRPr lang="en-US" altLang="en-US" dirty="0">
              <a:sym typeface="Symbol" panose="05050102010706020507" pitchFamily="18" charset="2"/>
            </a:endParaRPr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b="1" dirty="0"/>
              <a:t>else</a:t>
            </a:r>
            <a:r>
              <a:rPr lang="en-US" altLang="en-US" dirty="0"/>
              <a:t> </a:t>
            </a:r>
            <a:r>
              <a:rPr lang="en-US" altLang="en-US" b="1" dirty="0"/>
              <a:t>if</a:t>
            </a:r>
            <a:r>
              <a:rPr lang="en-US" altLang="en-US" dirty="0"/>
              <a:t> (</a:t>
            </a:r>
            <a:r>
              <a:rPr lang="en-US" altLang="en-US" i="1" dirty="0"/>
              <a:t>v</a:t>
            </a:r>
            <a:r>
              <a:rPr lang="en-US" altLang="en-US" dirty="0"/>
              <a:t> = </a:t>
            </a:r>
            <a:r>
              <a:rPr lang="en-US" altLang="en-US" dirty="0" err="1"/>
              <a:t>C.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) Set C =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+1  </a:t>
            </a:r>
            <a:endParaRPr lang="en-US" altLang="en-US" i="1" baseline="-25000" dirty="0"/>
          </a:p>
          <a:p>
            <a:pPr marL="1314450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altLang="en-US" b="1" dirty="0"/>
              <a:t>else</a:t>
            </a:r>
            <a:r>
              <a:rPr lang="en-US" altLang="en-US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set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dirty="0" err="1">
                <a:sym typeface="Symbol" panose="05050102010706020507" pitchFamily="18" charset="2"/>
              </a:rPr>
              <a:t>C.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i</a:t>
            </a:r>
            <a:endParaRPr lang="en-US" altLang="en-US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dirty="0">
                <a:solidFill>
                  <a:srgbClr val="FF9933"/>
                </a:solidFill>
              </a:rPr>
              <a:t>3.</a:t>
            </a:r>
            <a:r>
              <a:rPr lang="en-US" altLang="en-US" b="1" dirty="0"/>
              <a:t>    if</a:t>
            </a:r>
            <a:r>
              <a:rPr lang="en-US" altLang="en-US" dirty="0"/>
              <a:t> for some </a:t>
            </a:r>
            <a:r>
              <a:rPr lang="en-US" altLang="en-US" i="1" dirty="0" err="1"/>
              <a:t>i</a:t>
            </a:r>
            <a:r>
              <a:rPr lang="en-US" altLang="en-US" i="1" dirty="0"/>
              <a:t>, K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= V  </a:t>
            </a:r>
            <a:r>
              <a:rPr lang="en-US" altLang="en-US" b="1" dirty="0"/>
              <a:t>then </a:t>
            </a:r>
            <a:r>
              <a:rPr lang="en-US" altLang="en-US" dirty="0"/>
              <a:t>return </a:t>
            </a:r>
            <a:r>
              <a:rPr lang="en-US" altLang="en-US" dirty="0" err="1">
                <a:sym typeface="Symbol" panose="05050102010706020507" pitchFamily="18" charset="2"/>
              </a:rPr>
              <a:t>C.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i</a:t>
            </a:r>
            <a:endParaRPr lang="en-US" altLang="en-US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dirty="0">
                <a:solidFill>
                  <a:srgbClr val="FF9933"/>
                </a:solidFill>
              </a:rPr>
              <a:t>4.</a:t>
            </a:r>
            <a:r>
              <a:rPr lang="en-US" altLang="en-US" b="1" dirty="0"/>
              <a:t>    else</a:t>
            </a:r>
            <a:r>
              <a:rPr lang="en-US" altLang="en-US" dirty="0"/>
              <a:t> return null /* no record with search-key value </a:t>
            </a:r>
            <a:r>
              <a:rPr lang="en-US" altLang="en-US" i="1" dirty="0"/>
              <a:t>v</a:t>
            </a:r>
            <a:r>
              <a:rPr lang="en-US" altLang="en-US" dirty="0"/>
              <a:t> exists. */</a:t>
            </a:r>
            <a:endParaRPr lang="en-US" altLang="en-US" dirty="0"/>
          </a:p>
        </p:txBody>
      </p:sp>
      <p:pic>
        <p:nvPicPr>
          <p:cNvPr id="5222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3" y="4390278"/>
            <a:ext cx="87995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Queries on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 (Cont.)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501" y="1067662"/>
            <a:ext cx="7492753" cy="5263469"/>
          </a:xfrm>
        </p:spPr>
        <p:txBody>
          <a:bodyPr/>
          <a:lstStyle/>
          <a:p>
            <a:r>
              <a:rPr lang="en-IN" sz="2000" b="1" dirty="0">
                <a:solidFill>
                  <a:srgbClr val="002060"/>
                </a:solidFill>
              </a:rPr>
              <a:t>Range queries </a:t>
            </a:r>
            <a:r>
              <a:rPr lang="en-IN" sz="2000" dirty="0"/>
              <a:t>find all records with search key values in a given range</a:t>
            </a:r>
            <a:endParaRPr lang="en-IN" sz="2000" dirty="0"/>
          </a:p>
          <a:p>
            <a:pPr lvl="1"/>
            <a:r>
              <a:rPr lang="en-IN" sz="2000" dirty="0"/>
              <a:t>See book for details of </a:t>
            </a:r>
            <a:r>
              <a:rPr lang="en-IN" sz="2000" b="1" dirty="0"/>
              <a:t>function</a:t>
            </a:r>
            <a:r>
              <a:rPr lang="en-IN" sz="2000" dirty="0"/>
              <a:t> </a:t>
            </a:r>
            <a:r>
              <a:rPr lang="en-IN" sz="2000" i="1" dirty="0" err="1"/>
              <a:t>findRange</a:t>
            </a:r>
            <a:r>
              <a:rPr lang="en-IN" sz="2000" dirty="0"/>
              <a:t>(</a:t>
            </a:r>
            <a:r>
              <a:rPr lang="en-IN" sz="2000" i="1" dirty="0"/>
              <a:t>lb, </a:t>
            </a:r>
            <a:r>
              <a:rPr lang="en-IN" sz="2000" i="1" dirty="0" err="1"/>
              <a:t>ub</a:t>
            </a:r>
            <a:r>
              <a:rPr lang="en-IN" sz="2000" dirty="0"/>
              <a:t>) which returns set of all such records</a:t>
            </a:r>
            <a:endParaRPr lang="en-IN" sz="2000" dirty="0"/>
          </a:p>
          <a:p>
            <a:pPr lvl="1"/>
            <a:r>
              <a:rPr lang="en-IN" sz="2000" dirty="0"/>
              <a:t>Real implementations usually provide an iterator interface to fetch matching records one at a time, using a </a:t>
            </a:r>
            <a:r>
              <a:rPr lang="en-IN" sz="2000" i="1" dirty="0"/>
              <a:t>next</a:t>
            </a:r>
            <a:r>
              <a:rPr lang="en-IN" sz="2000" dirty="0"/>
              <a:t>() function</a:t>
            </a:r>
            <a:endParaRPr lang="en-IN" sz="20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20" y="3699396"/>
            <a:ext cx="87995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Queries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+-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Trees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US" altLang="en-US" sz="2000" dirty="0"/>
              <a:t>If there are </a:t>
            </a:r>
            <a:r>
              <a:rPr lang="en-US" altLang="en-US" sz="2000" i="1" dirty="0"/>
              <a:t>K</a:t>
            </a:r>
            <a:r>
              <a:rPr lang="en-US" altLang="en-US" sz="2000" dirty="0"/>
              <a:t> search-key values in the file, the height of the tree is no more than </a:t>
            </a:r>
            <a:r>
              <a:rPr lang="en-US" altLang="en-US" sz="2000" dirty="0">
                <a:sym typeface="Symbol" panose="05050102010706020507" pitchFamily="18" charset="2"/>
              </a:rPr>
              <a:t></a:t>
            </a:r>
            <a:r>
              <a:rPr lang="en-US" altLang="en-US" sz="2000" dirty="0" err="1">
                <a:sym typeface="Symbol" panose="05050102010706020507" pitchFamily="18" charset="2"/>
              </a:rPr>
              <a:t>log</a:t>
            </a:r>
            <a:r>
              <a:rPr lang="en-US" altLang="en-US" sz="2000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000" baseline="-25000" dirty="0">
                <a:sym typeface="Symbol" panose="05050102010706020507" pitchFamily="18" charset="2"/>
              </a:rPr>
              <a:t>/2</a:t>
            </a:r>
            <a:r>
              <a:rPr lang="en-US" altLang="en-US" sz="2000" dirty="0"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ym typeface="Symbol" panose="05050102010706020507" pitchFamily="18" charset="2"/>
              </a:rPr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).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A node is generally the same size as a disk block, typically 4 kilobytes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and </a:t>
            </a:r>
            <a:r>
              <a:rPr lang="en-US" altLang="en-US" sz="2000" i="1" dirty="0"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ym typeface="Symbol" panose="05050102010706020507" pitchFamily="18" charset="2"/>
              </a:rPr>
              <a:t> is typically around 100 (40 bytes per index entry).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With 1 million search key values and </a:t>
            </a:r>
            <a:r>
              <a:rPr lang="en-US" altLang="en-US" sz="2000" i="1" dirty="0"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sym typeface="Symbol" panose="05050102010706020507" pitchFamily="18" charset="2"/>
              </a:rPr>
              <a:t> = 100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at most </a:t>
            </a:r>
            <a:r>
              <a:rPr lang="en-US" altLang="en-US" sz="2000" i="1" dirty="0">
                <a:sym typeface="Symbol" panose="05050102010706020507" pitchFamily="18" charset="2"/>
              </a:rPr>
              <a:t> log</a:t>
            </a:r>
            <a:r>
              <a:rPr lang="en-US" altLang="en-US" sz="2000" baseline="-25000" dirty="0">
                <a:sym typeface="Symbol" panose="05050102010706020507" pitchFamily="18" charset="2"/>
              </a:rPr>
              <a:t>50</a:t>
            </a:r>
            <a:r>
              <a:rPr lang="en-US" altLang="en-US" sz="2000" dirty="0">
                <a:sym typeface="Symbol" panose="05050102010706020507" pitchFamily="18" charset="2"/>
              </a:rPr>
              <a:t>(1,000,000) = 4 nodes are accessed in a lookup traversal from root to leaf.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Contrast this with a balanced binary tree with 1 million search key values — around 20 nodes are accessed in a lookup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/>
              <a:t>above difference is significant since every node access may need a disk I/O, costing around 20 milliseconds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Non-Unique Keys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IN" sz="2000" dirty="0"/>
              <a:t>If a search key </a:t>
            </a:r>
            <a:r>
              <a:rPr lang="en-IN" sz="2000" i="1" dirty="0"/>
              <a:t>a</a:t>
            </a:r>
            <a:r>
              <a:rPr lang="en-IN" sz="2000" i="1" baseline="-25000" dirty="0"/>
              <a:t>i</a:t>
            </a:r>
            <a:r>
              <a:rPr lang="en-IN" sz="2000" i="1" dirty="0"/>
              <a:t> </a:t>
            </a:r>
            <a:r>
              <a:rPr lang="en-IN" sz="2000" dirty="0"/>
              <a:t> is not unique, create instead an index on a composite key (</a:t>
            </a:r>
            <a:r>
              <a:rPr lang="en-IN" sz="2000" i="1" dirty="0"/>
              <a:t>a</a:t>
            </a:r>
            <a:r>
              <a:rPr lang="en-IN" sz="2000" i="1" baseline="-25000" dirty="0"/>
              <a:t>i </a:t>
            </a:r>
            <a:r>
              <a:rPr lang="en-IN" sz="2000" dirty="0"/>
              <a:t>, </a:t>
            </a:r>
            <a:r>
              <a:rPr lang="en-IN" sz="2000" i="1" dirty="0"/>
              <a:t>A</a:t>
            </a:r>
            <a:r>
              <a:rPr lang="en-IN" sz="2000" i="1" baseline="-25000" dirty="0"/>
              <a:t>p</a:t>
            </a:r>
            <a:r>
              <a:rPr lang="en-IN" sz="2000" dirty="0"/>
              <a:t>), which is unique</a:t>
            </a:r>
            <a:endParaRPr lang="en-IN" sz="2000" dirty="0"/>
          </a:p>
          <a:p>
            <a:pPr lvl="1"/>
            <a:r>
              <a:rPr lang="en-IN" sz="2000" i="1" dirty="0"/>
              <a:t>A</a:t>
            </a:r>
            <a:r>
              <a:rPr lang="en-IN" sz="2000" i="1" baseline="-25000" dirty="0"/>
              <a:t>p</a:t>
            </a:r>
            <a:r>
              <a:rPr lang="en-IN" sz="2000" dirty="0"/>
              <a:t> could be a primary key, record ID, or any other attribute that guarantees uniqueness</a:t>
            </a:r>
            <a:endParaRPr lang="en-IN" sz="2000" dirty="0"/>
          </a:p>
          <a:p>
            <a:r>
              <a:rPr lang="en-IN" sz="2000" dirty="0"/>
              <a:t>Search for </a:t>
            </a:r>
            <a:r>
              <a:rPr lang="en-IN" sz="2000" i="1" dirty="0"/>
              <a:t>a</a:t>
            </a:r>
            <a:r>
              <a:rPr lang="en-IN" sz="2000" i="1" baseline="-25000" dirty="0"/>
              <a:t>i</a:t>
            </a:r>
            <a:r>
              <a:rPr lang="en-IN" sz="2000" i="1" dirty="0"/>
              <a:t> = v </a:t>
            </a:r>
            <a:r>
              <a:rPr lang="en-IN" sz="2000" dirty="0"/>
              <a:t>can be implemented by a range search on composite key, with range (</a:t>
            </a:r>
            <a:r>
              <a:rPr lang="en-IN" sz="2000" i="1" dirty="0"/>
              <a:t>v, -</a:t>
            </a:r>
            <a:r>
              <a:rPr lang="en-IN" sz="2000" dirty="0"/>
              <a:t> ∞) to (</a:t>
            </a:r>
            <a:r>
              <a:rPr lang="en-IN" sz="2000" i="1" dirty="0"/>
              <a:t>v, +</a:t>
            </a:r>
            <a:r>
              <a:rPr lang="en-IN" sz="2000" dirty="0"/>
              <a:t> ∞)</a:t>
            </a:r>
            <a:endParaRPr lang="en-IN" sz="2000" dirty="0"/>
          </a:p>
          <a:p>
            <a:r>
              <a:rPr lang="en-US" altLang="en-US" sz="2000" dirty="0"/>
              <a:t>But more I/O operations are needed to fetch the actual records</a:t>
            </a:r>
            <a:endParaRPr lang="en-US" altLang="en-US" sz="2000" dirty="0"/>
          </a:p>
          <a:p>
            <a:pPr lvl="1"/>
            <a:r>
              <a:rPr lang="en-US" altLang="en-US" sz="2000" dirty="0"/>
              <a:t>If the index is clustering, all accesses are sequential</a:t>
            </a:r>
            <a:endParaRPr lang="en-US" altLang="en-US" sz="2000" dirty="0"/>
          </a:p>
          <a:p>
            <a:pPr lvl="1"/>
            <a:r>
              <a:rPr lang="en-US" altLang="en-US" sz="2000" dirty="0"/>
              <a:t>If the index is non-clustering, each record access may need an I/O operation</a:t>
            </a:r>
            <a:endParaRPr lang="en-US" altLang="en-US" sz="20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-Trees:  Insertion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7662"/>
            <a:ext cx="7746387" cy="5263469"/>
          </a:xfrm>
        </p:spPr>
        <p:txBody>
          <a:bodyPr/>
          <a:lstStyle/>
          <a:p>
            <a:pPr marL="0" indent="0">
              <a:buFont typeface="Monotype Sorts" charset="0"/>
              <a:buNone/>
              <a:defRPr/>
            </a:pPr>
            <a:r>
              <a:rPr lang="en-US" sz="2000" dirty="0">
                <a:ea typeface="MS PGothic" panose="020B0600070205080204" pitchFamily="34" charset="-128"/>
              </a:rPr>
              <a:t>Assume record already added to the file.  Let </a:t>
            </a:r>
            <a:endParaRPr lang="en-US" sz="2000" dirty="0">
              <a:ea typeface="MS PGothic" panose="020B0600070205080204" pitchFamily="34" charset="-128"/>
            </a:endParaRPr>
          </a:p>
          <a:p>
            <a:pPr lvl="1">
              <a:buFont typeface="Monotype Sorts" charset="0"/>
              <a:buChar char="l"/>
              <a:defRPr/>
            </a:pPr>
            <a:r>
              <a:rPr lang="en-US" sz="2000" i="1" dirty="0" err="1">
                <a:ea typeface="MS PGothic" panose="020B0600070205080204" pitchFamily="34" charset="-128"/>
              </a:rPr>
              <a:t>pr</a:t>
            </a:r>
            <a:r>
              <a:rPr lang="en-US" sz="2000" dirty="0">
                <a:ea typeface="MS PGothic" panose="020B0600070205080204" pitchFamily="34" charset="-128"/>
              </a:rPr>
              <a:t> be pointer to the record, and let </a:t>
            </a:r>
            <a:endParaRPr lang="en-US" sz="2000" dirty="0">
              <a:ea typeface="MS PGothic" panose="020B0600070205080204" pitchFamily="34" charset="-128"/>
            </a:endParaRPr>
          </a:p>
          <a:p>
            <a:pPr lvl="1">
              <a:buFont typeface="Monotype Sorts" charset="0"/>
              <a:buChar char="l"/>
              <a:defRPr/>
            </a:pPr>
            <a:r>
              <a:rPr lang="en-US" sz="2000" dirty="0">
                <a:ea typeface="MS PGothic" panose="020B0600070205080204" pitchFamily="34" charset="-128"/>
              </a:rPr>
              <a:t>v be the search key value of the record</a:t>
            </a:r>
            <a:endParaRPr lang="en-US" sz="2000" dirty="0">
              <a:ea typeface="MS PGothic" panose="020B0600070205080204" pitchFamily="34" charset="-128"/>
            </a:endParaRPr>
          </a:p>
          <a:p>
            <a:pPr>
              <a:buFont typeface="Monotype Sorts" charset="0"/>
              <a:buAutoNum type="arabicPeriod"/>
              <a:defRPr/>
            </a:pPr>
            <a:r>
              <a:rPr lang="en-US" sz="2000" dirty="0">
                <a:ea typeface="MS PGothic" panose="020B0600070205080204" pitchFamily="34" charset="-128"/>
              </a:rPr>
              <a:t>Find the leaf node in which the search-key value would appear</a:t>
            </a:r>
            <a:endParaRPr lang="en-US" sz="2000" dirty="0">
              <a:ea typeface="MS PGothic" panose="020B0600070205080204" pitchFamily="34" charset="-128"/>
            </a:endParaRPr>
          </a:p>
          <a:p>
            <a:pPr marL="800100" lvl="1" indent="-342900">
              <a:buFont typeface="Monotype Sorts" charset="0"/>
              <a:buAutoNum type="arabicPeriod"/>
              <a:defRPr/>
            </a:pPr>
            <a:r>
              <a:rPr lang="en-US" sz="2000" dirty="0">
                <a:ea typeface="MS PGothic" panose="020B0600070205080204" pitchFamily="34" charset="-128"/>
              </a:rPr>
              <a:t>If there is room in the leaf node, insert (v, </a:t>
            </a:r>
            <a:r>
              <a:rPr lang="en-US" sz="2000" i="1" dirty="0" err="1">
                <a:ea typeface="MS PGothic" panose="020B0600070205080204" pitchFamily="34" charset="-128"/>
              </a:rPr>
              <a:t>pr</a:t>
            </a:r>
            <a:r>
              <a:rPr lang="en-US" sz="2000" dirty="0">
                <a:ea typeface="MS PGothic" panose="020B0600070205080204" pitchFamily="34" charset="-128"/>
              </a:rPr>
              <a:t>) pair in the leaf node</a:t>
            </a:r>
            <a:endParaRPr lang="en-US" sz="2000" dirty="0">
              <a:ea typeface="MS PGothic" panose="020B0600070205080204" pitchFamily="34" charset="-128"/>
            </a:endParaRPr>
          </a:p>
          <a:p>
            <a:pPr marL="800100" lvl="1" indent="-342900">
              <a:buFont typeface="Monotype Sorts" charset="0"/>
              <a:buAutoNum type="arabicPeriod"/>
              <a:defRPr/>
            </a:pPr>
            <a:r>
              <a:rPr lang="en-US" sz="2000" dirty="0">
                <a:ea typeface="MS PGothic" panose="020B0600070205080204" pitchFamily="34" charset="-128"/>
              </a:rPr>
              <a:t>Otherwise, split the node (along with the new (</a:t>
            </a:r>
            <a:r>
              <a:rPr lang="en-US" sz="2000" i="1" dirty="0">
                <a:ea typeface="MS PGothic" panose="020B0600070205080204" pitchFamily="34" charset="-128"/>
              </a:rPr>
              <a:t>v, </a:t>
            </a:r>
            <a:r>
              <a:rPr lang="en-US" sz="2000" i="1" dirty="0" err="1">
                <a:ea typeface="MS PGothic" panose="020B0600070205080204" pitchFamily="34" charset="-128"/>
              </a:rPr>
              <a:t>pr</a:t>
            </a:r>
            <a:r>
              <a:rPr lang="en-US" sz="2000" dirty="0">
                <a:ea typeface="MS PGothic" panose="020B0600070205080204" pitchFamily="34" charset="-128"/>
              </a:rPr>
              <a:t>)  entry) as discussed in the next slide, and propagate updates to parent nodes.</a:t>
            </a:r>
            <a:endParaRPr 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-Trees:  Insertion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3379" y="1067662"/>
            <a:ext cx="7671358" cy="5263469"/>
          </a:xfrm>
        </p:spPr>
        <p:txBody>
          <a:bodyPr/>
          <a:lstStyle/>
          <a:p>
            <a:r>
              <a:rPr lang="en-US" altLang="en-US" dirty="0"/>
              <a:t>Splitting a leaf node:</a:t>
            </a:r>
            <a:endParaRPr lang="en-US" altLang="en-US" dirty="0"/>
          </a:p>
          <a:p>
            <a:pPr lvl="1"/>
            <a:r>
              <a:rPr lang="en-US" altLang="en-US" dirty="0"/>
              <a:t>take the </a:t>
            </a:r>
            <a:r>
              <a:rPr lang="en-US" altLang="en-US" i="1" dirty="0"/>
              <a:t>n </a:t>
            </a:r>
            <a:r>
              <a:rPr lang="en-US" altLang="en-US" dirty="0"/>
              <a:t>(search-key value, pointer) pairs (including the one being inserted) in sorted order.  Place the first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/2 in the original node, and the rest in a new node.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let the new node be </a:t>
            </a:r>
            <a:r>
              <a:rPr lang="en-US" altLang="en-US" i="1" dirty="0">
                <a:sym typeface="Symbol" panose="05050102010706020507" pitchFamily="18" charset="2"/>
              </a:rPr>
              <a:t>p,</a:t>
            </a:r>
            <a:r>
              <a:rPr lang="en-US" altLang="en-US" dirty="0">
                <a:sym typeface="Symbol" panose="05050102010706020507" pitchFamily="18" charset="2"/>
              </a:rPr>
              <a:t> and let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 be the least key value in </a:t>
            </a:r>
            <a:r>
              <a:rPr lang="en-US" altLang="en-US" i="1" dirty="0">
                <a:sym typeface="Symbol" panose="05050102010706020507" pitchFamily="18" charset="2"/>
              </a:rPr>
              <a:t>p.  </a:t>
            </a:r>
            <a:r>
              <a:rPr lang="en-US" altLang="en-US" dirty="0">
                <a:sym typeface="Symbol" panose="05050102010706020507" pitchFamily="18" charset="2"/>
              </a:rPr>
              <a:t>Insert (</a:t>
            </a:r>
            <a:r>
              <a:rPr lang="en-US" altLang="en-US" i="1" dirty="0" err="1">
                <a:sym typeface="Symbol" panose="05050102010706020507" pitchFamily="18" charset="2"/>
              </a:rPr>
              <a:t>k,p</a:t>
            </a:r>
            <a:r>
              <a:rPr lang="en-US" altLang="en-US" dirty="0">
                <a:sym typeface="Symbol" panose="05050102010706020507" pitchFamily="18" charset="2"/>
              </a:rPr>
              <a:t>) in the parent of the node being split. 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the parent is full, split it and </a:t>
            </a:r>
            <a:r>
              <a:rPr lang="en-US" altLang="en-US" b="1" dirty="0">
                <a:sym typeface="Symbol" panose="05050102010706020507" pitchFamily="18" charset="2"/>
              </a:rPr>
              <a:t>propagate</a:t>
            </a:r>
            <a:r>
              <a:rPr lang="en-US" altLang="en-US" dirty="0">
                <a:sym typeface="Symbol" panose="05050102010706020507" pitchFamily="18" charset="2"/>
              </a:rPr>
              <a:t> the split further up.</a:t>
            </a: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/>
              <a:t>Splitting of nodes proceeds upwards till a node that is not full is found. </a:t>
            </a:r>
            <a:endParaRPr lang="en-US" altLang="en-US" dirty="0"/>
          </a:p>
          <a:p>
            <a:pPr lvl="1"/>
            <a:r>
              <a:rPr lang="en-US" altLang="en-US" dirty="0"/>
              <a:t>In the worst case the root node may be split increasing the height of the tree by 1. </a:t>
            </a:r>
            <a:endParaRPr lang="en-US" altLang="en-US" dirty="0"/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1060450" y="5266942"/>
            <a:ext cx="77676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Result of splitting node containing Brandt, </a:t>
            </a:r>
            <a:r>
              <a:rPr kumimoji="0" lang="en-US" altLang="en-US" dirty="0" err="1"/>
              <a:t>Califieri</a:t>
            </a:r>
            <a:r>
              <a:rPr kumimoji="0" lang="en-US" altLang="en-US" dirty="0"/>
              <a:t> and Crick on inserting Adams</a:t>
            </a:r>
            <a:endParaRPr kumimoji="0"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Next step: insert entry with (</a:t>
            </a:r>
            <a:r>
              <a:rPr kumimoji="0" lang="en-US" altLang="en-US" dirty="0" err="1"/>
              <a:t>Califieri</a:t>
            </a:r>
            <a:r>
              <a:rPr kumimoji="0" lang="en-US" altLang="en-US" dirty="0"/>
              <a:t>, pointer-to-new-node) into parent</a:t>
            </a:r>
            <a:endParaRPr kumimoji="0" lang="en-US" altLang="en-US" dirty="0"/>
          </a:p>
        </p:txBody>
      </p:sp>
      <p:pic>
        <p:nvPicPr>
          <p:cNvPr id="6042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982" y="4407112"/>
            <a:ext cx="6093618" cy="583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 Insertion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2217738" y="5921375"/>
            <a:ext cx="4756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B</a:t>
            </a:r>
            <a:r>
              <a:rPr kumimoji="0" lang="en-US" altLang="en-US" sz="1700" baseline="30000" dirty="0"/>
              <a:t>+</a:t>
            </a:r>
            <a:r>
              <a:rPr kumimoji="0" lang="en-US" altLang="en-US" sz="1700" dirty="0"/>
              <a:t>-Tree before and after insertion of </a:t>
            </a:r>
            <a:r>
              <a:rPr kumimoji="0" lang="ja-JP" altLang="en-US" sz="1700" dirty="0"/>
              <a:t>“</a:t>
            </a:r>
            <a:r>
              <a:rPr kumimoji="0" lang="en-US" altLang="ja-JP" sz="1700" dirty="0"/>
              <a:t>Adams</a:t>
            </a:r>
            <a:r>
              <a:rPr kumimoji="0" lang="ja-JP" altLang="en-US" sz="1700" dirty="0"/>
              <a:t>”</a:t>
            </a:r>
            <a:endParaRPr kumimoji="0" lang="en-US" altLang="en-US" sz="1700" dirty="0"/>
          </a:p>
        </p:txBody>
      </p:sp>
      <p:pic>
        <p:nvPicPr>
          <p:cNvPr id="6246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3627438"/>
            <a:ext cx="87995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24"/>
          <a:stretch>
            <a:fillRect/>
          </a:stretch>
        </p:blipFill>
        <p:spPr bwMode="auto">
          <a:xfrm>
            <a:off x="249238" y="936625"/>
            <a:ext cx="8648700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0" name="TextBox 4"/>
          <p:cNvSpPr txBox="1">
            <a:spLocks noChangeArrowheads="1"/>
          </p:cNvSpPr>
          <p:nvPr/>
        </p:nvSpPr>
        <p:spPr bwMode="auto">
          <a:xfrm>
            <a:off x="115888" y="3822700"/>
            <a:ext cx="1673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  <a:endParaRPr kumimoji="0" lang="en-US" altLang="en-US" b="1" dirty="0">
              <a:solidFill>
                <a:srgbClr val="002060"/>
              </a:solidFill>
            </a:endParaRPr>
          </a:p>
        </p:txBody>
      </p:sp>
      <p:cxnSp>
        <p:nvCxnSpPr>
          <p:cNvPr id="62471" name="Straight Arrow Connector 6"/>
          <p:cNvCxnSpPr>
            <a:cxnSpLocks noChangeShapeType="1"/>
          </p:cNvCxnSpPr>
          <p:nvPr/>
        </p:nvCxnSpPr>
        <p:spPr bwMode="auto">
          <a:xfrm flipH="1">
            <a:off x="336550" y="4224338"/>
            <a:ext cx="609600" cy="9334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72" name="Straight Arrow Connector 9"/>
          <p:cNvCxnSpPr>
            <a:cxnSpLocks noChangeShapeType="1"/>
          </p:cNvCxnSpPr>
          <p:nvPr/>
        </p:nvCxnSpPr>
        <p:spPr bwMode="auto">
          <a:xfrm>
            <a:off x="958850" y="4224338"/>
            <a:ext cx="700088" cy="193675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 Insertion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6451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3989388"/>
            <a:ext cx="8512175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1089025"/>
            <a:ext cx="879951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Text Box 3"/>
          <p:cNvSpPr txBox="1">
            <a:spLocks noChangeArrowheads="1"/>
          </p:cNvSpPr>
          <p:nvPr/>
        </p:nvSpPr>
        <p:spPr bwMode="auto">
          <a:xfrm>
            <a:off x="237715" y="3426653"/>
            <a:ext cx="506177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b="1" dirty="0"/>
              <a:t>B</a:t>
            </a:r>
            <a:r>
              <a:rPr kumimoji="0" lang="en-US" altLang="en-US" sz="1700" b="1" baseline="30000" dirty="0"/>
              <a:t>+</a:t>
            </a:r>
            <a:r>
              <a:rPr kumimoji="0" lang="en-US" altLang="en-US" sz="1700" b="1" dirty="0"/>
              <a:t>-Tree before and after insertion of </a:t>
            </a:r>
            <a:r>
              <a:rPr kumimoji="0" lang="ja-JP" altLang="en-US" sz="1700" b="1" dirty="0"/>
              <a:t>“</a:t>
            </a:r>
            <a:r>
              <a:rPr kumimoji="0" lang="en-US" altLang="ja-JP" sz="1700" b="1" dirty="0" err="1"/>
              <a:t>Lamport</a:t>
            </a:r>
            <a:r>
              <a:rPr kumimoji="0" lang="ja-JP" altLang="en-US" sz="1700" b="1" dirty="0"/>
              <a:t>”</a:t>
            </a:r>
            <a:endParaRPr kumimoji="0" lang="en-US" altLang="en-US" sz="1700" b="1" dirty="0"/>
          </a:p>
        </p:txBody>
      </p:sp>
      <p:cxnSp>
        <p:nvCxnSpPr>
          <p:cNvPr id="64519" name="Straight Arrow Connector 17"/>
          <p:cNvCxnSpPr>
            <a:cxnSpLocks noChangeShapeType="1"/>
          </p:cNvCxnSpPr>
          <p:nvPr/>
        </p:nvCxnSpPr>
        <p:spPr bwMode="auto">
          <a:xfrm flipH="1" flipV="1">
            <a:off x="5999163" y="3343275"/>
            <a:ext cx="1658937" cy="3492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0" name="Straight Arrow Connector 18"/>
          <p:cNvCxnSpPr>
            <a:cxnSpLocks noChangeShapeType="1"/>
            <a:stCxn id="64523" idx="0"/>
          </p:cNvCxnSpPr>
          <p:nvPr/>
        </p:nvCxnSpPr>
        <p:spPr bwMode="auto">
          <a:xfrm flipH="1" flipV="1">
            <a:off x="4645025" y="5997575"/>
            <a:ext cx="839788" cy="29686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1" name="TextBox 19"/>
          <p:cNvSpPr txBox="1">
            <a:spLocks noChangeArrowheads="1"/>
          </p:cNvSpPr>
          <p:nvPr/>
        </p:nvSpPr>
        <p:spPr bwMode="auto">
          <a:xfrm>
            <a:off x="7296150" y="3692525"/>
            <a:ext cx="16716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  <a:endParaRPr kumimoji="0" lang="en-US" altLang="en-US" b="1" dirty="0">
              <a:solidFill>
                <a:srgbClr val="002060"/>
              </a:solidFill>
            </a:endParaRPr>
          </a:p>
        </p:txBody>
      </p:sp>
      <p:cxnSp>
        <p:nvCxnSpPr>
          <p:cNvPr id="64522" name="Straight Arrow Connector 20"/>
          <p:cNvCxnSpPr>
            <a:cxnSpLocks noChangeShapeType="1"/>
            <a:stCxn id="64523" idx="0"/>
          </p:cNvCxnSpPr>
          <p:nvPr/>
        </p:nvCxnSpPr>
        <p:spPr bwMode="auto">
          <a:xfrm flipV="1">
            <a:off x="5484813" y="6032500"/>
            <a:ext cx="215900" cy="261938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3" name="TextBox 26"/>
          <p:cNvSpPr txBox="1">
            <a:spLocks noChangeArrowheads="1"/>
          </p:cNvSpPr>
          <p:nvPr/>
        </p:nvSpPr>
        <p:spPr bwMode="auto">
          <a:xfrm>
            <a:off x="4649788" y="6294438"/>
            <a:ext cx="16716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  <a:endParaRPr kumimoji="0" lang="en-US" altLang="en-US" b="1" dirty="0">
              <a:solidFill>
                <a:srgbClr val="002060"/>
              </a:solidFill>
            </a:endParaRPr>
          </a:p>
        </p:txBody>
      </p:sp>
      <p:cxnSp>
        <p:nvCxnSpPr>
          <p:cNvPr id="64524" name="Straight Arrow Connector 31"/>
          <p:cNvCxnSpPr>
            <a:cxnSpLocks noChangeShapeType="1"/>
            <a:stCxn id="64521" idx="2"/>
          </p:cNvCxnSpPr>
          <p:nvPr/>
        </p:nvCxnSpPr>
        <p:spPr bwMode="auto">
          <a:xfrm flipH="1">
            <a:off x="5992813" y="4032250"/>
            <a:ext cx="2138362" cy="22701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5" name="Straight Arrow Connector 34"/>
          <p:cNvCxnSpPr>
            <a:cxnSpLocks noChangeShapeType="1"/>
            <a:stCxn id="64521" idx="2"/>
          </p:cNvCxnSpPr>
          <p:nvPr/>
        </p:nvCxnSpPr>
        <p:spPr bwMode="auto">
          <a:xfrm flipH="1">
            <a:off x="6627813" y="4032250"/>
            <a:ext cx="1503362" cy="53181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50900" y="1067662"/>
            <a:ext cx="7663837" cy="5263469"/>
          </a:xfrm>
        </p:spPr>
        <p:txBody>
          <a:bodyPr/>
          <a:lstStyle/>
          <a:p>
            <a:r>
              <a:rPr lang="en-US" altLang="en-US" sz="2000" dirty="0"/>
              <a:t>Splitting a non-leaf node: when inserting (</a:t>
            </a:r>
            <a:r>
              <a:rPr lang="en-US" altLang="en-US" sz="2000" dirty="0" err="1"/>
              <a:t>k,p</a:t>
            </a:r>
            <a:r>
              <a:rPr lang="en-US" altLang="en-US" sz="2000" dirty="0"/>
              <a:t>) into an already full internal node N</a:t>
            </a:r>
            <a:endParaRPr lang="en-US" altLang="en-US" sz="2000" dirty="0"/>
          </a:p>
          <a:p>
            <a:pPr lvl="1"/>
            <a:r>
              <a:rPr lang="en-US" altLang="en-US" sz="2000" dirty="0"/>
              <a:t>Copy N to an in-memory area M with space for n+1 pointers and n keys</a:t>
            </a:r>
            <a:endParaRPr lang="en-US" altLang="en-US" sz="2000" dirty="0"/>
          </a:p>
          <a:p>
            <a:pPr lvl="1"/>
            <a:r>
              <a:rPr lang="en-US" altLang="en-US" sz="2000" dirty="0"/>
              <a:t>Insert (</a:t>
            </a:r>
            <a:r>
              <a:rPr lang="en-US" altLang="en-US" sz="2000" dirty="0" err="1"/>
              <a:t>k,p</a:t>
            </a:r>
            <a:r>
              <a:rPr lang="en-US" altLang="en-US" sz="2000" dirty="0"/>
              <a:t>) into M</a:t>
            </a:r>
            <a:endParaRPr lang="en-US" altLang="en-US" sz="2000" dirty="0"/>
          </a:p>
          <a:p>
            <a:pPr lvl="1"/>
            <a:r>
              <a:rPr lang="en-US" altLang="en-US" sz="2000" dirty="0"/>
              <a:t>Copy P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,K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…, K </a:t>
            </a:r>
            <a:r>
              <a:rPr lang="en-US" altLang="en-US" sz="2000" baseline="-25000" dirty="0">
                <a:sym typeface="Symbol" panose="05050102010706020507" pitchFamily="18" charset="2"/>
              </a:rPr>
              <a:t></a:t>
            </a:r>
            <a:r>
              <a:rPr lang="en-US" altLang="en-US" sz="2000" baseline="-25000" dirty="0"/>
              <a:t>n/2</a:t>
            </a:r>
            <a:r>
              <a:rPr lang="en-US" altLang="en-US" sz="2000" baseline="-25000" dirty="0">
                <a:sym typeface="Symbol" panose="05050102010706020507" pitchFamily="18" charset="2"/>
              </a:rPr>
              <a:t></a:t>
            </a:r>
            <a:r>
              <a:rPr lang="en-US" altLang="en-US" sz="2000" baseline="-25000" dirty="0"/>
              <a:t>-1</a:t>
            </a:r>
            <a:r>
              <a:rPr lang="en-US" altLang="en-US" sz="2000" dirty="0"/>
              <a:t>,P </a:t>
            </a:r>
            <a:r>
              <a:rPr lang="en-US" altLang="en-US" sz="2000" baseline="-25000" dirty="0">
                <a:sym typeface="Symbol" panose="05050102010706020507" pitchFamily="18" charset="2"/>
              </a:rPr>
              <a:t></a:t>
            </a:r>
            <a:r>
              <a:rPr lang="en-US" altLang="en-US" sz="2000" baseline="-25000" dirty="0"/>
              <a:t>n/2</a:t>
            </a:r>
            <a:r>
              <a:rPr lang="en-US" altLang="en-US" sz="2000" baseline="-25000" dirty="0">
                <a:sym typeface="Symbol" panose="05050102010706020507" pitchFamily="18" charset="2"/>
              </a:rPr>
              <a:t></a:t>
            </a:r>
            <a:r>
              <a:rPr lang="en-US" altLang="en-US" sz="2000" dirty="0"/>
              <a:t> from M back into node N</a:t>
            </a:r>
            <a:endParaRPr lang="en-US" altLang="en-US" sz="2000" dirty="0"/>
          </a:p>
          <a:p>
            <a:pPr lvl="1"/>
            <a:r>
              <a:rPr lang="en-US" altLang="en-US" sz="2000" dirty="0"/>
              <a:t>Copy </a:t>
            </a:r>
            <a:r>
              <a:rPr lang="en-US" altLang="en-US" sz="2000" dirty="0" err="1"/>
              <a:t>P</a:t>
            </a:r>
            <a:r>
              <a:rPr lang="en-US" altLang="en-US" sz="2000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sz="2000" baseline="-25000" dirty="0" err="1"/>
              <a:t>n</a:t>
            </a:r>
            <a:r>
              <a:rPr lang="en-US" altLang="en-US" sz="2000" baseline="-25000" dirty="0"/>
              <a:t>/2</a:t>
            </a:r>
            <a:r>
              <a:rPr lang="en-US" altLang="en-US" sz="2000" baseline="-25000" dirty="0">
                <a:sym typeface="Symbol" panose="05050102010706020507" pitchFamily="18" charset="2"/>
              </a:rPr>
              <a:t></a:t>
            </a:r>
            <a:r>
              <a:rPr lang="en-US" altLang="en-US" sz="2000" baseline="-25000" dirty="0"/>
              <a:t>+1</a:t>
            </a:r>
            <a:r>
              <a:rPr lang="en-US" altLang="en-US" sz="2000" dirty="0"/>
              <a:t>,K</a:t>
            </a:r>
            <a:r>
              <a:rPr lang="en-US" altLang="en-US" sz="2000" baseline="-25000" dirty="0"/>
              <a:t> </a:t>
            </a:r>
            <a:r>
              <a:rPr lang="en-US" altLang="en-US" sz="2000" baseline="-25000" dirty="0">
                <a:sym typeface="Symbol" panose="05050102010706020507" pitchFamily="18" charset="2"/>
              </a:rPr>
              <a:t></a:t>
            </a:r>
            <a:r>
              <a:rPr lang="en-US" altLang="en-US" sz="2000" baseline="-25000" dirty="0"/>
              <a:t>n/2</a:t>
            </a:r>
            <a:r>
              <a:rPr lang="en-US" altLang="en-US" sz="2000" baseline="-25000" dirty="0">
                <a:sym typeface="Symbol" panose="05050102010706020507" pitchFamily="18" charset="2"/>
              </a:rPr>
              <a:t></a:t>
            </a:r>
            <a:r>
              <a:rPr lang="en-US" altLang="en-US" sz="2000" baseline="-25000" dirty="0"/>
              <a:t>+1</a:t>
            </a:r>
            <a:r>
              <a:rPr lang="en-US" altLang="en-US" sz="2000" dirty="0"/>
              <a:t>,…,K</a:t>
            </a:r>
            <a:r>
              <a:rPr lang="en-US" altLang="en-US" sz="2000" baseline="-25000" dirty="0"/>
              <a:t>n</a:t>
            </a:r>
            <a:r>
              <a:rPr lang="en-US" altLang="en-US" sz="2000" dirty="0"/>
              <a:t>,P</a:t>
            </a:r>
            <a:r>
              <a:rPr lang="en-US" altLang="en-US" sz="2000" baseline="-25000" dirty="0"/>
              <a:t>n+1</a:t>
            </a:r>
            <a:r>
              <a:rPr lang="en-US" altLang="en-US" sz="2000" dirty="0"/>
              <a:t> from M into newly allocated node N</a:t>
            </a:r>
            <a:r>
              <a:rPr lang="en-US" altLang="ja-JP" sz="2000" dirty="0"/>
              <a:t>'</a:t>
            </a:r>
            <a:endParaRPr lang="en-US" altLang="ja-JP" sz="2000" dirty="0"/>
          </a:p>
          <a:p>
            <a:pPr lvl="1"/>
            <a:r>
              <a:rPr lang="en-US" altLang="en-US" sz="2000" dirty="0"/>
              <a:t>Insert (K</a:t>
            </a:r>
            <a:r>
              <a:rPr lang="en-US" altLang="en-US" sz="2000" baseline="-25000" dirty="0"/>
              <a:t> </a:t>
            </a:r>
            <a:r>
              <a:rPr lang="en-US" altLang="en-US" sz="2000" baseline="-25000" dirty="0">
                <a:sym typeface="Symbol" panose="05050102010706020507" pitchFamily="18" charset="2"/>
              </a:rPr>
              <a:t></a:t>
            </a:r>
            <a:r>
              <a:rPr lang="en-US" altLang="en-US" sz="2000" baseline="-25000" dirty="0"/>
              <a:t>n/2</a:t>
            </a:r>
            <a:r>
              <a:rPr lang="en-US" altLang="en-US" sz="2000" baseline="-25000" dirty="0">
                <a:sym typeface="Symbol" panose="05050102010706020507" pitchFamily="18" charset="2"/>
              </a:rPr>
              <a:t></a:t>
            </a:r>
            <a:r>
              <a:rPr lang="en-US" altLang="en-US" sz="2000" dirty="0"/>
              <a:t>,N</a:t>
            </a:r>
            <a:r>
              <a:rPr lang="en-US" altLang="ja-JP" sz="2000" dirty="0"/>
              <a:t>') into parent N</a:t>
            </a:r>
            <a:endParaRPr lang="en-US" altLang="ja-JP" sz="2000" dirty="0"/>
          </a:p>
          <a:p>
            <a:r>
              <a:rPr lang="en-US" altLang="ja-JP" sz="2000" dirty="0"/>
              <a:t>Example</a:t>
            </a:r>
            <a:endParaRPr lang="en-US" altLang="ja-JP" sz="2000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en-US" b="1" dirty="0">
                <a:solidFill>
                  <a:srgbClr val="002060"/>
                </a:solidFill>
              </a:rPr>
              <a:t>Read pseudocode in book!</a:t>
            </a:r>
            <a:endParaRPr lang="en-US" altLang="en-US" b="1" dirty="0">
              <a:solidFill>
                <a:srgbClr val="002060"/>
              </a:solidFill>
            </a:endParaRPr>
          </a:p>
        </p:txBody>
      </p:sp>
      <p:sp>
        <p:nvSpPr>
          <p:cNvPr id="13864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Insertion in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9337" y="4935664"/>
            <a:ext cx="3933825" cy="10191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Examples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Deletion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9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6138863"/>
            <a:ext cx="6724650" cy="3254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600" dirty="0"/>
              <a:t>Deleting </a:t>
            </a:r>
            <a:r>
              <a:rPr lang="ja-JP" altLang="en-US" sz="1600" dirty="0"/>
              <a:t>“</a:t>
            </a:r>
            <a:r>
              <a:rPr lang="en-US" altLang="ja-JP" sz="1600" dirty="0"/>
              <a:t>Srinivasan</a:t>
            </a:r>
            <a:r>
              <a:rPr lang="ja-JP" altLang="en-US" sz="1600" dirty="0"/>
              <a:t>”</a:t>
            </a:r>
            <a:r>
              <a:rPr lang="en-US" altLang="ja-JP" sz="1600" dirty="0"/>
              <a:t> causes </a:t>
            </a:r>
            <a:r>
              <a:rPr lang="en-US" altLang="ja-JP" sz="1600" b="1" dirty="0">
                <a:solidFill>
                  <a:srgbClr val="002060"/>
                </a:solidFill>
              </a:rPr>
              <a:t>merging</a:t>
            </a:r>
            <a:r>
              <a:rPr lang="en-US" altLang="ja-JP" sz="1600" dirty="0">
                <a:solidFill>
                  <a:srgbClr val="000090"/>
                </a:solidFill>
              </a:rPr>
              <a:t> </a:t>
            </a:r>
            <a:r>
              <a:rPr lang="en-US" altLang="ja-JP" sz="1600" dirty="0"/>
              <a:t>of under-full leaves</a:t>
            </a:r>
            <a:endParaRPr lang="en-US" altLang="en-US" sz="1600" dirty="0"/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55563" y="3201988"/>
            <a:ext cx="4365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800" b="1"/>
              <a:t>Before and after deleting </a:t>
            </a:r>
            <a:r>
              <a:rPr kumimoji="0" lang="ja-JP" altLang="en-US" sz="1800" b="1"/>
              <a:t>“</a:t>
            </a:r>
            <a:r>
              <a:rPr kumimoji="0" lang="en-US" altLang="ja-JP" sz="1800" b="1"/>
              <a:t>Srinivasan</a:t>
            </a:r>
            <a:r>
              <a:rPr kumimoji="0" lang="ja-JP" altLang="en-US" sz="1800" b="1"/>
              <a:t>”</a:t>
            </a:r>
            <a:endParaRPr kumimoji="0" lang="en-US" altLang="en-US" sz="1800" b="1"/>
          </a:p>
        </p:txBody>
      </p:sp>
      <p:pic>
        <p:nvPicPr>
          <p:cNvPr id="6758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993775"/>
            <a:ext cx="879951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3614738"/>
            <a:ext cx="8480425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7591" name="Straight Arrow Connector 2"/>
          <p:cNvCxnSpPr>
            <a:cxnSpLocks noChangeShapeType="1"/>
          </p:cNvCxnSpPr>
          <p:nvPr/>
        </p:nvCxnSpPr>
        <p:spPr bwMode="auto">
          <a:xfrm flipH="1" flipV="1">
            <a:off x="7127875" y="3135313"/>
            <a:ext cx="1062038" cy="881062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592" name="Straight Arrow Connector 4"/>
          <p:cNvCxnSpPr>
            <a:cxnSpLocks noChangeShapeType="1"/>
            <a:stCxn id="67593" idx="0"/>
          </p:cNvCxnSpPr>
          <p:nvPr/>
        </p:nvCxnSpPr>
        <p:spPr bwMode="auto">
          <a:xfrm flipV="1">
            <a:off x="8196263" y="3109913"/>
            <a:ext cx="84137" cy="9207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593" name="TextBox 10"/>
          <p:cNvSpPr txBox="1">
            <a:spLocks noChangeArrowheads="1"/>
          </p:cNvSpPr>
          <p:nvPr/>
        </p:nvSpPr>
        <p:spPr bwMode="auto">
          <a:xfrm>
            <a:off x="7361238" y="4030663"/>
            <a:ext cx="16716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  <a:endParaRPr kumimoji="0" lang="en-US" altLang="en-US" b="1" dirty="0">
              <a:solidFill>
                <a:srgbClr val="002060"/>
              </a:solidFill>
            </a:endParaRPr>
          </a:p>
        </p:txBody>
      </p:sp>
      <p:cxnSp>
        <p:nvCxnSpPr>
          <p:cNvPr id="67594" name="Straight Arrow Connector 6"/>
          <p:cNvCxnSpPr>
            <a:cxnSpLocks noChangeShapeType="1"/>
          </p:cNvCxnSpPr>
          <p:nvPr/>
        </p:nvCxnSpPr>
        <p:spPr bwMode="auto">
          <a:xfrm flipH="1">
            <a:off x="8008938" y="4392613"/>
            <a:ext cx="155575" cy="1192212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4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Examples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Deletion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40099" y="5560128"/>
            <a:ext cx="7603814" cy="811393"/>
          </a:xfrm>
        </p:spPr>
        <p:txBody>
          <a:bodyPr/>
          <a:lstStyle/>
          <a:p>
            <a:pPr>
              <a:buSzPct val="100000"/>
            </a:pPr>
            <a:r>
              <a:rPr lang="en-US" altLang="en-US" dirty="0"/>
              <a:t>Leaf containing Singh and Wu became </a:t>
            </a:r>
            <a:r>
              <a:rPr lang="en-US" altLang="en-US" dirty="0" err="1"/>
              <a:t>underfull</a:t>
            </a:r>
            <a:r>
              <a:rPr lang="en-US" altLang="en-US" dirty="0"/>
              <a:t>, and </a:t>
            </a:r>
            <a:r>
              <a:rPr lang="en-US" altLang="en-US" b="1" dirty="0">
                <a:solidFill>
                  <a:srgbClr val="002060"/>
                </a:solidFill>
              </a:rPr>
              <a:t>borrowed a value </a:t>
            </a:r>
            <a:r>
              <a:rPr lang="en-US" altLang="en-US" dirty="0"/>
              <a:t>Kim from its left sibling</a:t>
            </a:r>
            <a:endParaRPr lang="en-US" altLang="en-US" dirty="0"/>
          </a:p>
          <a:p>
            <a:pPr>
              <a:buSzPct val="100000"/>
            </a:pPr>
            <a:r>
              <a:rPr lang="en-US" altLang="en-US" dirty="0"/>
              <a:t>Search-key value in the parent changes as a result</a:t>
            </a:r>
            <a:endParaRPr lang="en-US" altLang="en-US" dirty="0"/>
          </a:p>
          <a:p>
            <a:endParaRPr lang="en-IN" dirty="0"/>
          </a:p>
        </p:txBody>
      </p:sp>
      <p:sp>
        <p:nvSpPr>
          <p:cNvPr id="69635" name="Text Box 4"/>
          <p:cNvSpPr txBox="1">
            <a:spLocks noChangeArrowheads="1"/>
          </p:cNvSpPr>
          <p:nvPr/>
        </p:nvSpPr>
        <p:spPr bwMode="auto">
          <a:xfrm>
            <a:off x="0" y="2957513"/>
            <a:ext cx="55737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800" b="1"/>
              <a:t>Before and after deleting </a:t>
            </a:r>
            <a:r>
              <a:rPr kumimoji="0" lang="ja-JP" altLang="en-US" sz="1800" b="1"/>
              <a:t>“</a:t>
            </a:r>
            <a:r>
              <a:rPr kumimoji="0" lang="en-US" altLang="ja-JP" sz="1800" b="1"/>
              <a:t>Singh</a:t>
            </a:r>
            <a:r>
              <a:rPr kumimoji="0" lang="ja-JP" altLang="en-US" sz="1800" b="1"/>
              <a:t>”</a:t>
            </a:r>
            <a:r>
              <a:rPr kumimoji="0" lang="en-US" altLang="ja-JP" sz="1800" b="1"/>
              <a:t> and </a:t>
            </a:r>
            <a:r>
              <a:rPr kumimoji="0" lang="ja-JP" altLang="en-US" sz="1800" b="1"/>
              <a:t>“</a:t>
            </a:r>
            <a:r>
              <a:rPr kumimoji="0" lang="en-US" altLang="ja-JP" sz="1800" b="1"/>
              <a:t>Wu</a:t>
            </a:r>
            <a:r>
              <a:rPr kumimoji="0" lang="ja-JP" altLang="en-US" sz="1800" b="1"/>
              <a:t>”</a:t>
            </a:r>
            <a:endParaRPr kumimoji="0" lang="en-US" altLang="en-US" sz="1800" b="1"/>
          </a:p>
        </p:txBody>
      </p:sp>
      <p:pic>
        <p:nvPicPr>
          <p:cNvPr id="6963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99" y="3365500"/>
            <a:ext cx="7751451" cy="215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96739" name="Rectangle 3"/>
          <p:cNvSpPr>
            <a:spLocks noChangeArrowheads="1"/>
          </p:cNvSpPr>
          <p:nvPr/>
        </p:nvSpPr>
        <p:spPr bwMode="auto">
          <a:xfrm>
            <a:off x="595313" y="5557838"/>
            <a:ext cx="7848600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2060"/>
              </a:buClr>
              <a:buSzPct val="100000"/>
            </a:pPr>
            <a:endParaRPr lang="en-US" altLang="en-US" sz="1800" dirty="0"/>
          </a:p>
        </p:txBody>
      </p:sp>
      <p:pic>
        <p:nvPicPr>
          <p:cNvPr id="6963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0" y="763588"/>
            <a:ext cx="7394575" cy="206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9639" name="Straight Arrow Connector 6"/>
          <p:cNvCxnSpPr>
            <a:cxnSpLocks noChangeShapeType="1"/>
          </p:cNvCxnSpPr>
          <p:nvPr/>
        </p:nvCxnSpPr>
        <p:spPr bwMode="auto">
          <a:xfrm flipH="1" flipV="1">
            <a:off x="7697788" y="3044825"/>
            <a:ext cx="603250" cy="58261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40" name="Straight Arrow Connector 7"/>
          <p:cNvCxnSpPr>
            <a:cxnSpLocks noChangeShapeType="1"/>
            <a:stCxn id="69641" idx="2"/>
          </p:cNvCxnSpPr>
          <p:nvPr/>
        </p:nvCxnSpPr>
        <p:spPr bwMode="auto">
          <a:xfrm flipH="1">
            <a:off x="7062788" y="3979863"/>
            <a:ext cx="1244600" cy="76200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641" name="TextBox 8"/>
          <p:cNvSpPr txBox="1">
            <a:spLocks noChangeArrowheads="1"/>
          </p:cNvSpPr>
          <p:nvPr/>
        </p:nvSpPr>
        <p:spPr bwMode="auto">
          <a:xfrm>
            <a:off x="7472363" y="3641725"/>
            <a:ext cx="1671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  <a:endParaRPr kumimoji="0" lang="en-US" altLang="en-US" b="1" dirty="0">
              <a:solidFill>
                <a:srgbClr val="002060"/>
              </a:solidFill>
            </a:endParaRPr>
          </a:p>
        </p:txBody>
      </p:sp>
      <p:cxnSp>
        <p:nvCxnSpPr>
          <p:cNvPr id="69642" name="Straight Arrow Connector 9"/>
          <p:cNvCxnSpPr>
            <a:cxnSpLocks noChangeShapeType="1"/>
          </p:cNvCxnSpPr>
          <p:nvPr/>
        </p:nvCxnSpPr>
        <p:spPr bwMode="auto">
          <a:xfrm flipH="1">
            <a:off x="7996238" y="4003675"/>
            <a:ext cx="279400" cy="9588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6739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Deletion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8350" y="5207180"/>
            <a:ext cx="8089900" cy="1525588"/>
          </a:xfrm>
        </p:spPr>
        <p:txBody>
          <a:bodyPr/>
          <a:lstStyle/>
          <a:p>
            <a:pPr>
              <a:lnSpc>
                <a:spcPct val="90000"/>
              </a:lnSpc>
              <a:buSzPct val="100000"/>
            </a:pPr>
            <a:r>
              <a:rPr lang="en-US" altLang="en-US" dirty="0"/>
              <a:t>Node with Gold and Katz became </a:t>
            </a:r>
            <a:r>
              <a:rPr lang="en-US" altLang="en-US" dirty="0" err="1"/>
              <a:t>underfull</a:t>
            </a:r>
            <a:r>
              <a:rPr lang="en-US" altLang="en-US" dirty="0"/>
              <a:t>, and was merged with its sibling </a:t>
            </a:r>
            <a:endParaRPr lang="en-US" altLang="en-US" dirty="0"/>
          </a:p>
          <a:p>
            <a:pPr>
              <a:lnSpc>
                <a:spcPct val="90000"/>
              </a:lnSpc>
              <a:buSzPct val="100000"/>
            </a:pPr>
            <a:r>
              <a:rPr lang="en-US" altLang="en-US" dirty="0"/>
              <a:t>Parent node becomes </a:t>
            </a:r>
            <a:r>
              <a:rPr lang="en-US" altLang="en-US" dirty="0" err="1"/>
              <a:t>underfull</a:t>
            </a:r>
            <a:r>
              <a:rPr lang="en-US" altLang="en-US" dirty="0"/>
              <a:t>, and is merged with its sibling</a:t>
            </a:r>
            <a:endParaRPr lang="en-US" altLang="en-US" dirty="0"/>
          </a:p>
          <a:p>
            <a:pPr lvl="1">
              <a:lnSpc>
                <a:spcPct val="90000"/>
              </a:lnSpc>
              <a:buSzPct val="90000"/>
            </a:pPr>
            <a:r>
              <a:rPr lang="en-US" altLang="en-US" dirty="0"/>
              <a:t>Value separating two nodes (at the parent) is pulled down when merging</a:t>
            </a:r>
            <a:endParaRPr lang="en-US" altLang="en-US" dirty="0"/>
          </a:p>
          <a:p>
            <a:pPr>
              <a:lnSpc>
                <a:spcPct val="90000"/>
              </a:lnSpc>
              <a:buSzPct val="100000"/>
            </a:pPr>
            <a:r>
              <a:rPr lang="en-US" altLang="en-US" dirty="0"/>
              <a:t>Root node then has only one child, and is deleted</a:t>
            </a:r>
            <a:endParaRPr lang="en-US" altLang="en-US" dirty="0"/>
          </a:p>
          <a:p>
            <a:endParaRPr lang="en-IN" dirty="0"/>
          </a:p>
        </p:txBody>
      </p:sp>
      <p:sp>
        <p:nvSpPr>
          <p:cNvPr id="71683" name="Text Box 5"/>
          <p:cNvSpPr txBox="1">
            <a:spLocks noChangeArrowheads="1"/>
          </p:cNvSpPr>
          <p:nvPr/>
        </p:nvSpPr>
        <p:spPr bwMode="auto">
          <a:xfrm>
            <a:off x="679458" y="3092450"/>
            <a:ext cx="7239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/>
              <a:t>Before and after deletion of </a:t>
            </a:r>
            <a:r>
              <a:rPr kumimoji="0" lang="ja-JP" altLang="en-US" sz="1800" b="1" dirty="0"/>
              <a:t>“</a:t>
            </a:r>
            <a:r>
              <a:rPr kumimoji="0" lang="en-US" altLang="ja-JP" sz="1800" b="1" dirty="0"/>
              <a:t>Gold</a:t>
            </a:r>
            <a:r>
              <a:rPr kumimoji="0" lang="ja-JP" altLang="en-US" sz="1800" b="1" dirty="0"/>
              <a:t>”</a:t>
            </a:r>
            <a:endParaRPr kumimoji="0" lang="en-US" altLang="en-US" sz="1800" b="1" dirty="0"/>
          </a:p>
        </p:txBody>
      </p:sp>
      <p:sp>
        <p:nvSpPr>
          <p:cNvPr id="1394691" name="Rectangle 3"/>
          <p:cNvSpPr>
            <a:spLocks noChangeArrowheads="1"/>
          </p:cNvSpPr>
          <p:nvPr/>
        </p:nvSpPr>
        <p:spPr bwMode="auto">
          <a:xfrm>
            <a:off x="458788" y="5240338"/>
            <a:ext cx="8375650" cy="161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Clr>
                <a:srgbClr val="002060"/>
              </a:buClr>
              <a:buSzPct val="100000"/>
            </a:pPr>
            <a:endParaRPr lang="en-US" altLang="en-US" sz="1800" dirty="0"/>
          </a:p>
        </p:txBody>
      </p:sp>
      <p:pic>
        <p:nvPicPr>
          <p:cNvPr id="7168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94" y="3617234"/>
            <a:ext cx="7386637" cy="135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8" y="857621"/>
            <a:ext cx="7832724" cy="217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4691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-Trees: Deletion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135063"/>
            <a:ext cx="7726362" cy="4137025"/>
          </a:xfrm>
        </p:spPr>
        <p:txBody>
          <a:bodyPr/>
          <a:lstStyle/>
          <a:p>
            <a:pPr marL="0" indent="0">
              <a:buFont typeface="Monotype Sorts" pitchFamily="-65" charset="2"/>
              <a:buNone/>
            </a:pPr>
            <a:r>
              <a:rPr lang="en-US" altLang="en-US" dirty="0"/>
              <a:t>Assume record already deleted from file.  Let </a:t>
            </a:r>
            <a:r>
              <a:rPr lang="en-US" altLang="en-US" i="1" dirty="0"/>
              <a:t>V </a:t>
            </a:r>
            <a:r>
              <a:rPr lang="en-US" altLang="en-US" dirty="0"/>
              <a:t>be the search key value of the record, and </a:t>
            </a:r>
            <a:r>
              <a:rPr lang="en-US" altLang="en-US" i="1" dirty="0" err="1"/>
              <a:t>Pr</a:t>
            </a:r>
            <a:r>
              <a:rPr lang="en-US" altLang="en-US" i="1" dirty="0"/>
              <a:t> </a:t>
            </a:r>
            <a:r>
              <a:rPr lang="en-US" altLang="en-US" dirty="0"/>
              <a:t>be the pointer to the record.</a:t>
            </a:r>
            <a:endParaRPr lang="en-US" altLang="en-US" dirty="0"/>
          </a:p>
          <a:p>
            <a:r>
              <a:rPr lang="en-US" altLang="en-US" dirty="0"/>
              <a:t>Remove (</a:t>
            </a:r>
            <a:r>
              <a:rPr lang="en-US" altLang="en-US" i="1" dirty="0" err="1"/>
              <a:t>Pr</a:t>
            </a:r>
            <a:r>
              <a:rPr lang="en-US" altLang="en-US" i="1" dirty="0"/>
              <a:t>, V</a:t>
            </a:r>
            <a:r>
              <a:rPr lang="en-US" altLang="en-US" dirty="0"/>
              <a:t>) from the leaf node </a:t>
            </a:r>
            <a:endParaRPr lang="en-US" altLang="en-US" dirty="0"/>
          </a:p>
          <a:p>
            <a:r>
              <a:rPr lang="en-US" altLang="en-US" dirty="0"/>
              <a:t>If the node has too few entries due to the removal, and the entries in the node and a sibling fit into a single node, then </a:t>
            </a:r>
            <a:r>
              <a:rPr lang="en-US" altLang="en-US" b="1" i="1" dirty="0">
                <a:solidFill>
                  <a:srgbClr val="002060"/>
                </a:solidFill>
              </a:rPr>
              <a:t>merge siblings</a:t>
            </a:r>
            <a:r>
              <a:rPr lang="en-US" altLang="en-US" dirty="0"/>
              <a:t>:</a:t>
            </a:r>
            <a:endParaRPr lang="en-US" altLang="en-US" dirty="0"/>
          </a:p>
          <a:p>
            <a:pPr lvl="1"/>
            <a:r>
              <a:rPr lang="en-US" altLang="en-US" dirty="0"/>
              <a:t>Insert all the search-key values in the two nodes into a single node (the one on the left), and delete the other node.</a:t>
            </a:r>
            <a:endParaRPr lang="en-US" altLang="en-US" dirty="0"/>
          </a:p>
          <a:p>
            <a:pPr lvl="1"/>
            <a:r>
              <a:rPr lang="en-US" altLang="en-US" dirty="0"/>
              <a:t>Delete the pair (</a:t>
            </a:r>
            <a:r>
              <a:rPr lang="en-US" altLang="en-US" i="1" dirty="0"/>
              <a:t>K</a:t>
            </a:r>
            <a:r>
              <a:rPr lang="en-US" altLang="en-US" i="1" baseline="-25000" dirty="0"/>
              <a:t>i–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),</a:t>
            </a:r>
            <a:r>
              <a:rPr lang="en-US" altLang="en-US" dirty="0"/>
              <a:t> where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is the pointer to the deleted node, from its parent, recursively using the above procedure.</a:t>
            </a:r>
            <a:endParaRPr lang="en-US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-Trees:  Deletion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3379" y="1067662"/>
            <a:ext cx="7671358" cy="5263469"/>
          </a:xfrm>
        </p:spPr>
        <p:txBody>
          <a:bodyPr/>
          <a:lstStyle/>
          <a:p>
            <a:r>
              <a:rPr lang="en-US" altLang="en-US" sz="2000" dirty="0"/>
              <a:t>Otherwise, if the node has too few entries due to the removal, but the entries in the node and a sibling do not fit into a single node, then </a:t>
            </a:r>
            <a:r>
              <a:rPr lang="en-US" altLang="en-US" sz="2000" b="1" dirty="0"/>
              <a:t>redistribute pointers</a:t>
            </a:r>
            <a:r>
              <a:rPr lang="en-US" altLang="en-US" sz="2000" dirty="0"/>
              <a:t>:</a:t>
            </a:r>
            <a:endParaRPr lang="en-US" altLang="en-US" sz="2000" dirty="0"/>
          </a:p>
          <a:p>
            <a:pPr lvl="1"/>
            <a:r>
              <a:rPr lang="en-US" altLang="en-US" sz="2000" dirty="0"/>
              <a:t>Redistribute the pointers between the node and a sibling such that both have more than the minimum number of entries.</a:t>
            </a:r>
            <a:endParaRPr lang="en-US" altLang="en-US" sz="2000" dirty="0"/>
          </a:p>
          <a:p>
            <a:pPr lvl="1"/>
            <a:r>
              <a:rPr lang="en-US" altLang="en-US" sz="2000" dirty="0"/>
              <a:t>Update the corresponding search-key value in the parent of the node.</a:t>
            </a:r>
            <a:endParaRPr lang="en-US" altLang="en-US" sz="2000" dirty="0"/>
          </a:p>
          <a:p>
            <a:r>
              <a:rPr lang="en-US" altLang="en-US" sz="2000" dirty="0"/>
              <a:t>The node deletions may cascade upwards till a node which has  </a:t>
            </a:r>
            <a:r>
              <a:rPr lang="en-US" altLang="en-US" sz="2000" dirty="0">
                <a:sym typeface="Symbol" panose="05050102010706020507" pitchFamily="18" charset="2"/>
              </a:rPr>
              <a:t></a:t>
            </a:r>
            <a:r>
              <a:rPr lang="en-US" altLang="en-US" sz="2000" i="1" dirty="0">
                <a:sym typeface="Symbol" panose="05050102010706020507" pitchFamily="18" charset="2"/>
              </a:rPr>
              <a:t>n/2</a:t>
            </a:r>
            <a:r>
              <a:rPr lang="en-US" altLang="en-US" sz="2000" dirty="0">
                <a:sym typeface="Symbol" panose="05050102010706020507" pitchFamily="18" charset="2"/>
              </a:rPr>
              <a:t> or more pointers is found.  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If the root node has only one pointer after deletion, it is deleted and the sole child becomes the root</a:t>
            </a:r>
            <a:r>
              <a:rPr lang="en-US" altLang="en-US" dirty="0">
                <a:sym typeface="Symbol" panose="05050102010706020507" pitchFamily="18" charset="2"/>
              </a:rPr>
              <a:t>. </a:t>
            </a:r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Complexity of Updates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8889" y="1067662"/>
            <a:ext cx="7635848" cy="5263469"/>
          </a:xfrm>
        </p:spPr>
        <p:txBody>
          <a:bodyPr/>
          <a:lstStyle/>
          <a:p>
            <a:r>
              <a:rPr lang="en-IN" sz="2000" dirty="0"/>
              <a:t>Cost (in terms of number of I/O operations) of insertion and deletion of a single entry proportional to height of the tree</a:t>
            </a:r>
            <a:endParaRPr lang="en-IN" sz="2000" dirty="0"/>
          </a:p>
          <a:p>
            <a:pPr lvl="1"/>
            <a:r>
              <a:rPr lang="en-IN" sz="2000" dirty="0"/>
              <a:t>With K entries and maximum fanout of n, worst case complexity of insert/delete of an entry is O(</a:t>
            </a:r>
            <a:r>
              <a:rPr lang="en-US" altLang="en-US" sz="2000" dirty="0" err="1">
                <a:sym typeface="Symbol" panose="05050102010706020507" pitchFamily="18" charset="2"/>
              </a:rPr>
              <a:t>log</a:t>
            </a:r>
            <a:r>
              <a:rPr lang="en-US" altLang="en-US" sz="2000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sz="20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000" baseline="-25000" dirty="0">
                <a:sym typeface="Symbol" panose="05050102010706020507" pitchFamily="18" charset="2"/>
              </a:rPr>
              <a:t>/2</a:t>
            </a:r>
            <a:r>
              <a:rPr lang="en-US" altLang="en-US" sz="2000" dirty="0"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ym typeface="Symbol" panose="05050102010706020507" pitchFamily="18" charset="2"/>
              </a:rPr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))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IN" sz="2000" dirty="0"/>
              <a:t>In practice, number of I/O operations is less:</a:t>
            </a:r>
            <a:endParaRPr lang="en-IN" sz="2000" dirty="0"/>
          </a:p>
          <a:p>
            <a:pPr lvl="1"/>
            <a:r>
              <a:rPr lang="en-IN" sz="2000" dirty="0"/>
              <a:t>Internal nodes tend to be in buffer</a:t>
            </a:r>
            <a:endParaRPr lang="en-IN" sz="2000" dirty="0"/>
          </a:p>
          <a:p>
            <a:pPr lvl="1"/>
            <a:r>
              <a:rPr lang="en-IN" sz="2000" dirty="0"/>
              <a:t>Splits/merges are rare, most insert/delete operations only affect a leaf node</a:t>
            </a:r>
            <a:endParaRPr lang="en-IN" sz="2000" dirty="0"/>
          </a:p>
          <a:p>
            <a:r>
              <a:rPr lang="en-IN" sz="2000" dirty="0"/>
              <a:t>Average node occupancy depends on insertion order</a:t>
            </a:r>
            <a:endParaRPr lang="en-IN" sz="2000" dirty="0"/>
          </a:p>
          <a:p>
            <a:pPr lvl="1"/>
            <a:r>
              <a:rPr lang="en-IN" sz="2000" dirty="0"/>
              <a:t>2/3rds with random, ½ with insertion in sorted order</a:t>
            </a:r>
            <a:endParaRPr lang="en-IN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Non-Unique Search Keys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861134" y="1067662"/>
            <a:ext cx="7653603" cy="5263469"/>
          </a:xfrm>
        </p:spPr>
        <p:txBody>
          <a:bodyPr/>
          <a:lstStyle/>
          <a:p>
            <a:r>
              <a:rPr lang="en-US" altLang="en-US" sz="2000" dirty="0"/>
              <a:t>Alternatives to scheme described earlier</a:t>
            </a:r>
            <a:endParaRPr lang="en-US" altLang="en-US" sz="2000" dirty="0"/>
          </a:p>
          <a:p>
            <a:pPr lvl="1"/>
            <a:r>
              <a:rPr lang="en-US" altLang="en-US" sz="2000" dirty="0"/>
              <a:t>Buckets on separate block (bad idea)</a:t>
            </a:r>
            <a:endParaRPr lang="en-US" altLang="en-US" sz="2000" dirty="0"/>
          </a:p>
          <a:p>
            <a:pPr lvl="1"/>
            <a:r>
              <a:rPr lang="en-US" altLang="en-US" sz="2000" dirty="0"/>
              <a:t>List of tuple pointers with each key</a:t>
            </a:r>
            <a:endParaRPr lang="en-US" altLang="en-US" sz="2000" dirty="0"/>
          </a:p>
          <a:p>
            <a:pPr lvl="2"/>
            <a:r>
              <a:rPr lang="en-US" altLang="en-US" sz="2000" dirty="0"/>
              <a:t>Extra code to handle long lists</a:t>
            </a:r>
            <a:endParaRPr lang="en-US" altLang="en-US" sz="2000" dirty="0"/>
          </a:p>
          <a:p>
            <a:pPr lvl="2"/>
            <a:r>
              <a:rPr lang="en-US" altLang="en-US" sz="2000" dirty="0"/>
              <a:t>Deletion of a tuple can be expensive if there are many duplicates on search key (why?)</a:t>
            </a:r>
            <a:endParaRPr lang="en-US" altLang="en-US" sz="2000" dirty="0"/>
          </a:p>
          <a:p>
            <a:pPr lvl="3"/>
            <a:r>
              <a:rPr lang="en-US" altLang="en-US" sz="2000" dirty="0"/>
              <a:t>Worst case complexity may be linear!</a:t>
            </a:r>
            <a:endParaRPr lang="en-US" altLang="en-US" sz="2000" dirty="0"/>
          </a:p>
          <a:p>
            <a:pPr lvl="2"/>
            <a:r>
              <a:rPr lang="en-US" altLang="en-US" sz="2000" dirty="0"/>
              <a:t>Low space overhead, no extra cost for queries</a:t>
            </a:r>
            <a:endParaRPr lang="en-US" altLang="en-US" sz="2000" dirty="0"/>
          </a:p>
          <a:p>
            <a:pPr lvl="1"/>
            <a:r>
              <a:rPr lang="en-US" altLang="en-US" sz="2000" dirty="0"/>
              <a:t>Make search key unique by adding a record-identifier</a:t>
            </a:r>
            <a:endParaRPr lang="en-US" altLang="en-US" sz="2000" dirty="0"/>
          </a:p>
          <a:p>
            <a:pPr lvl="2"/>
            <a:r>
              <a:rPr lang="en-US" altLang="en-US" sz="2000" dirty="0"/>
              <a:t>Extra storage overhead for keys</a:t>
            </a:r>
            <a:endParaRPr lang="en-US" altLang="en-US" sz="2000" dirty="0"/>
          </a:p>
          <a:p>
            <a:pPr lvl="2"/>
            <a:r>
              <a:rPr lang="en-US" altLang="en-US" sz="2000" dirty="0"/>
              <a:t>Simpler code for insertion/deletion</a:t>
            </a:r>
            <a:endParaRPr lang="en-US" altLang="en-US" sz="2000" dirty="0"/>
          </a:p>
          <a:p>
            <a:pPr lvl="2"/>
            <a:r>
              <a:rPr lang="en-US" altLang="en-US" sz="2000" dirty="0"/>
              <a:t>Widely used</a:t>
            </a:r>
            <a:endParaRPr lang="en-US" altLang="en-US" sz="2000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File Organization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US" altLang="en-US" sz="2000" dirty="0"/>
              <a:t>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 File Organization:</a:t>
            </a:r>
            <a:endParaRPr lang="en-US" altLang="en-US" sz="2000" dirty="0"/>
          </a:p>
          <a:p>
            <a:pPr lvl="1"/>
            <a:r>
              <a:rPr lang="en-US" altLang="en-US" sz="2000" dirty="0"/>
              <a:t>Leaf nodes in a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 file organization store records, instead of pointers</a:t>
            </a:r>
            <a:endParaRPr lang="en-US" altLang="en-US" sz="2000" dirty="0"/>
          </a:p>
          <a:p>
            <a:pPr lvl="1"/>
            <a:r>
              <a:rPr lang="en-US" altLang="en-US" sz="2000" dirty="0"/>
              <a:t>Helps keep data records clustered even when there are insertions/deletions/updates</a:t>
            </a:r>
            <a:endParaRPr lang="en-US" altLang="en-US" sz="2000" dirty="0"/>
          </a:p>
          <a:p>
            <a:r>
              <a:rPr lang="en-US" altLang="en-US" sz="2000" dirty="0"/>
              <a:t>Leaf nodes are still required to be half full</a:t>
            </a:r>
            <a:endParaRPr lang="en-US" altLang="en-US" sz="2000" dirty="0"/>
          </a:p>
          <a:p>
            <a:pPr lvl="1"/>
            <a:r>
              <a:rPr lang="en-US" altLang="en-US" sz="2000" dirty="0"/>
              <a:t>Since records are larger than pointers, the maximum number of records that can be stored in a leaf node is less than the number of pointers in a nonleaf node.</a:t>
            </a:r>
            <a:endParaRPr lang="en-US" altLang="en-US" sz="2000" dirty="0"/>
          </a:p>
          <a:p>
            <a:r>
              <a:rPr lang="en-US" altLang="en-US" sz="2000" dirty="0"/>
              <a:t>Insertion and deletion are handled in the same way as insertion and deletion of entries in a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 index.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File Organization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206560"/>
            <a:ext cx="7619747" cy="5030787"/>
          </a:xfrm>
        </p:spPr>
        <p:txBody>
          <a:bodyPr/>
          <a:lstStyle/>
          <a:p>
            <a:r>
              <a:rPr lang="en-US" altLang="en-US" dirty="0"/>
              <a:t>Example of B+-tree File Organization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Good space utilization important since records use more space than pointers.  </a:t>
            </a:r>
            <a:endParaRPr lang="en-US" altLang="en-US" dirty="0"/>
          </a:p>
          <a:p>
            <a:r>
              <a:rPr lang="en-US" altLang="en-US" dirty="0"/>
              <a:t>To improve space utilization, involve more sibling nodes in redistribution during splits and merges</a:t>
            </a:r>
            <a:endParaRPr lang="en-US" altLang="en-US" dirty="0"/>
          </a:p>
          <a:p>
            <a:pPr lvl="1"/>
            <a:r>
              <a:rPr lang="en-US" altLang="en-US" dirty="0"/>
              <a:t>Involving 2 siblings in redistribution (to avoid split / merge where possible) results in each node having at least     </a:t>
            </a:r>
            <a:r>
              <a:rPr lang="en-US" altLang="en-US" dirty="0">
                <a:sym typeface="Symbol" panose="05050102010706020507" pitchFamily="18" charset="2"/>
              </a:rPr>
              <a:t>       </a:t>
            </a:r>
            <a:r>
              <a:rPr lang="en-US" altLang="en-US" dirty="0"/>
              <a:t>  entries</a:t>
            </a:r>
            <a:endParaRPr lang="en-US" altLang="en-US" dirty="0"/>
          </a:p>
          <a:p>
            <a:pPr>
              <a:buFont typeface="Monotype Sorts" pitchFamily="-65" charset="2"/>
              <a:buNone/>
            </a:pPr>
            <a:endParaRPr lang="en-US" altLang="en-US" dirty="0"/>
          </a:p>
        </p:txBody>
      </p:sp>
      <p:graphicFrame>
        <p:nvGraphicFramePr>
          <p:cNvPr id="81925" name="Object 2"/>
          <p:cNvGraphicFramePr>
            <a:graphicFrameLocks noChangeAspect="1"/>
          </p:cNvGraphicFramePr>
          <p:nvPr/>
        </p:nvGraphicFramePr>
        <p:xfrm>
          <a:off x="6021590" y="5543543"/>
          <a:ext cx="660400" cy="311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6" name="Equation" r:id="rId1" imgW="11277600" imgH="5486400" progId="">
                  <p:embed/>
                </p:oleObj>
              </mc:Choice>
              <mc:Fallback>
                <p:oleObj name="Equation" r:id="rId1" imgW="11277600" imgH="5486400" progId="">
                  <p:embed/>
                  <p:pic>
                    <p:nvPicPr>
                      <p:cNvPr id="0" name="Picture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1590" y="5543543"/>
                        <a:ext cx="660400" cy="311634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304" y="1652077"/>
            <a:ext cx="6281224" cy="219250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Other Issues in Indexing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19267" name="Rectangle 3"/>
          <p:cNvSpPr>
            <a:spLocks noGrp="1" noChangeArrowheads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US" altLang="en-US" sz="2000" b="1" dirty="0"/>
              <a:t>Record relocation and secondary indices</a:t>
            </a:r>
            <a:endParaRPr lang="en-US" altLang="en-US" sz="2000" b="1" dirty="0"/>
          </a:p>
          <a:p>
            <a:pPr lvl="1"/>
            <a:r>
              <a:rPr lang="en-US" altLang="en-US" sz="2000" dirty="0"/>
              <a:t>If a record moves, all secondary indices that store record pointers have to be updated </a:t>
            </a:r>
            <a:endParaRPr lang="en-US" altLang="en-US" sz="2000" dirty="0"/>
          </a:p>
          <a:p>
            <a:pPr lvl="1"/>
            <a:r>
              <a:rPr lang="en-US" altLang="en-US" sz="2000" dirty="0"/>
              <a:t>Node splits in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 file organizations become very expensive</a:t>
            </a:r>
            <a:endParaRPr lang="en-US" altLang="en-US" sz="2000" dirty="0"/>
          </a:p>
          <a:p>
            <a:pPr lvl="1"/>
            <a:r>
              <a:rPr lang="en-US" altLang="en-US" sz="2000" i="1" dirty="0"/>
              <a:t>Solution</a:t>
            </a:r>
            <a:r>
              <a:rPr lang="en-US" altLang="en-US" sz="2000" dirty="0"/>
              <a:t>: use search key of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 file organization instead of record pointer in secondary index</a:t>
            </a:r>
            <a:endParaRPr lang="en-US" altLang="en-US" sz="2000" dirty="0"/>
          </a:p>
          <a:p>
            <a:pPr lvl="2"/>
            <a:r>
              <a:rPr lang="en-US" altLang="en-US" sz="2000" dirty="0"/>
              <a:t>Add record-id if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 file organization search key is non-unique</a:t>
            </a:r>
            <a:endParaRPr lang="en-US" altLang="en-US" sz="2000" dirty="0"/>
          </a:p>
          <a:p>
            <a:pPr lvl="2"/>
            <a:r>
              <a:rPr lang="en-US" altLang="en-US" sz="2000" dirty="0"/>
              <a:t>Extra traversal of file organization to locate record</a:t>
            </a:r>
            <a:endParaRPr lang="en-US" altLang="en-US" sz="2000" dirty="0"/>
          </a:p>
          <a:p>
            <a:pPr lvl="3"/>
            <a:r>
              <a:rPr lang="en-US" altLang="en-US" sz="2000" dirty="0"/>
              <a:t>Higher cost for queries, but node splits are cheap</a:t>
            </a:r>
            <a:endParaRPr lang="en-US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Indexing Strings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0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0012" y="1067662"/>
            <a:ext cx="7644725" cy="5263469"/>
          </a:xfrm>
        </p:spPr>
        <p:txBody>
          <a:bodyPr/>
          <a:lstStyle/>
          <a:p>
            <a:r>
              <a:rPr lang="en-US" altLang="en-US" sz="2000" dirty="0"/>
              <a:t>Variable length strings as keys</a:t>
            </a:r>
            <a:endParaRPr lang="en-US" altLang="en-US" sz="2000" dirty="0"/>
          </a:p>
          <a:p>
            <a:pPr lvl="1"/>
            <a:r>
              <a:rPr lang="en-US" altLang="en-US" sz="2000" dirty="0"/>
              <a:t>Variable fanout</a:t>
            </a:r>
            <a:endParaRPr lang="en-US" altLang="en-US" sz="2000" dirty="0"/>
          </a:p>
          <a:p>
            <a:pPr lvl="1"/>
            <a:r>
              <a:rPr lang="en-US" altLang="en-US" sz="2000" dirty="0"/>
              <a:t>Use space utilization as criterion for splitting, not number of pointers</a:t>
            </a:r>
            <a:endParaRPr lang="en-US" altLang="en-US" sz="2000" dirty="0"/>
          </a:p>
          <a:p>
            <a:r>
              <a:rPr lang="en-US" altLang="en-US" sz="2000" b="1" dirty="0"/>
              <a:t>Prefix compression</a:t>
            </a:r>
            <a:endParaRPr lang="en-US" altLang="en-US" sz="2000" b="1" dirty="0"/>
          </a:p>
          <a:p>
            <a:pPr lvl="1"/>
            <a:r>
              <a:rPr lang="en-US" altLang="en-US" sz="2000" dirty="0"/>
              <a:t>Key values at internal nodes can be prefixes of full key</a:t>
            </a:r>
            <a:endParaRPr lang="en-US" altLang="en-US" sz="2000" dirty="0"/>
          </a:p>
          <a:p>
            <a:pPr lvl="2"/>
            <a:r>
              <a:rPr lang="en-US" altLang="en-US" sz="2000" dirty="0"/>
              <a:t>Keep enough characters to distinguish entries in the subtrees separated by the key value</a:t>
            </a:r>
            <a:endParaRPr lang="en-US" altLang="en-US" sz="2000" dirty="0"/>
          </a:p>
          <a:p>
            <a:pPr lvl="3"/>
            <a:r>
              <a:rPr lang="en-US" altLang="en-US" sz="2000" dirty="0"/>
              <a:t>E.g., </a:t>
            </a:r>
            <a:r>
              <a:rPr lang="ja-JP" altLang="en-US" sz="2000" dirty="0"/>
              <a:t>“</a:t>
            </a:r>
            <a:r>
              <a:rPr lang="en-US" altLang="ja-JP" sz="2000" dirty="0"/>
              <a:t>Silas</a:t>
            </a:r>
            <a:r>
              <a:rPr lang="ja-JP" altLang="en-US" sz="2000" dirty="0"/>
              <a:t>”</a:t>
            </a:r>
            <a:r>
              <a:rPr lang="en-US" altLang="ja-JP" sz="2000" dirty="0"/>
              <a:t> and </a:t>
            </a:r>
            <a:r>
              <a:rPr lang="ja-JP" altLang="en-US" sz="2000" dirty="0"/>
              <a:t>“</a:t>
            </a:r>
            <a:r>
              <a:rPr lang="en-US" altLang="ja-JP" sz="2000" dirty="0"/>
              <a:t>Silberschatz</a:t>
            </a:r>
            <a:r>
              <a:rPr lang="ja-JP" altLang="en-US" sz="2000" dirty="0"/>
              <a:t>”</a:t>
            </a:r>
            <a:r>
              <a:rPr lang="en-US" altLang="ja-JP" sz="2000" dirty="0"/>
              <a:t> can be separated by </a:t>
            </a:r>
            <a:r>
              <a:rPr lang="ja-JP" altLang="en-US" sz="2000" dirty="0"/>
              <a:t>“</a:t>
            </a:r>
            <a:r>
              <a:rPr lang="en-US" altLang="ja-JP" sz="2000" dirty="0" err="1"/>
              <a:t>Silb</a:t>
            </a:r>
            <a:r>
              <a:rPr lang="ja-JP" altLang="en-US" sz="2000" dirty="0"/>
              <a:t>”</a:t>
            </a:r>
            <a:endParaRPr lang="en-US" altLang="ja-JP" sz="2000" dirty="0"/>
          </a:p>
          <a:p>
            <a:pPr lvl="1"/>
            <a:r>
              <a:rPr lang="en-US" altLang="en-US" sz="2000" dirty="0"/>
              <a:t>Keys in leaf node can be compressed by sharing common prefixes</a:t>
            </a:r>
            <a:endParaRPr lang="en-US" alt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Bulk Loading and Bottom-Up Build</a:t>
            </a:r>
            <a:endParaRPr lang="en-US" altLang="en-US" dirty="0">
              <a:effectLst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889875" cy="5178425"/>
          </a:xfrm>
        </p:spPr>
        <p:txBody>
          <a:bodyPr/>
          <a:lstStyle/>
          <a:p>
            <a:r>
              <a:rPr lang="en-US" altLang="en-US" dirty="0"/>
              <a:t>Inserting entries one-at-a-time into a B</a:t>
            </a:r>
            <a:r>
              <a:rPr lang="en-US" altLang="en-US" baseline="30000" dirty="0"/>
              <a:t>+</a:t>
            </a:r>
            <a:r>
              <a:rPr lang="en-US" altLang="en-US" dirty="0"/>
              <a:t>-tree requires </a:t>
            </a:r>
            <a:r>
              <a:rPr lang="en-US" altLang="en-US" dirty="0">
                <a:sym typeface="Symbol" panose="05050102010706020507" pitchFamily="18" charset="2"/>
              </a:rPr>
              <a:t></a:t>
            </a:r>
            <a:r>
              <a:rPr lang="en-US" altLang="en-US" dirty="0"/>
              <a:t> 1 IO per entry </a:t>
            </a:r>
            <a:endParaRPr lang="en-US" altLang="en-US" dirty="0"/>
          </a:p>
          <a:p>
            <a:pPr lvl="1"/>
            <a:r>
              <a:rPr lang="en-US" altLang="en-US" dirty="0"/>
              <a:t>assuming leaf level does not fit in memory</a:t>
            </a:r>
            <a:endParaRPr lang="en-US" altLang="en-US" dirty="0"/>
          </a:p>
          <a:p>
            <a:pPr lvl="1"/>
            <a:r>
              <a:rPr lang="en-US" altLang="en-US" dirty="0"/>
              <a:t>can be very inefficient for loading a large number of entries at a time (</a:t>
            </a:r>
            <a:r>
              <a:rPr lang="en-US" altLang="en-US" b="1" dirty="0"/>
              <a:t>bulk loading</a:t>
            </a:r>
            <a:r>
              <a:rPr lang="en-US" altLang="en-US" dirty="0"/>
              <a:t>)</a:t>
            </a:r>
            <a:endParaRPr lang="en-US" altLang="en-US" dirty="0"/>
          </a:p>
          <a:p>
            <a:r>
              <a:rPr lang="en-US" altLang="en-US" dirty="0"/>
              <a:t>Efficient alternative 1:</a:t>
            </a:r>
            <a:endParaRPr lang="en-US" altLang="en-US" dirty="0"/>
          </a:p>
          <a:p>
            <a:pPr lvl="1"/>
            <a:r>
              <a:rPr lang="en-US" altLang="en-US" dirty="0"/>
              <a:t>sort entries first (using efficient external-memory sort algorithms discussed later in Section 12.4)</a:t>
            </a:r>
            <a:endParaRPr lang="en-US" altLang="en-US" dirty="0"/>
          </a:p>
          <a:p>
            <a:pPr lvl="1"/>
            <a:r>
              <a:rPr lang="en-US" altLang="en-US" dirty="0"/>
              <a:t>insert in sorted order</a:t>
            </a:r>
            <a:endParaRPr lang="en-US" altLang="en-US" dirty="0"/>
          </a:p>
          <a:p>
            <a:pPr lvl="2"/>
            <a:r>
              <a:rPr lang="en-US" altLang="en-US" dirty="0"/>
              <a:t>insertion will go to existing page (or cause a split)</a:t>
            </a:r>
            <a:endParaRPr lang="en-US" altLang="en-US" dirty="0"/>
          </a:p>
          <a:p>
            <a:pPr lvl="2"/>
            <a:r>
              <a:rPr lang="en-US" altLang="en-US" dirty="0"/>
              <a:t>much improved IO performance, but most leaf nodes half full</a:t>
            </a:r>
            <a:endParaRPr lang="en-US" altLang="en-US" dirty="0"/>
          </a:p>
          <a:p>
            <a:r>
              <a:rPr lang="en-US" altLang="en-US" dirty="0"/>
              <a:t>Efficient alternative 2: </a:t>
            </a:r>
            <a:r>
              <a:rPr lang="en-US" altLang="en-US" b="1" dirty="0"/>
              <a:t>Bottom-up B</a:t>
            </a:r>
            <a:r>
              <a:rPr lang="en-US" altLang="en-US" b="1" baseline="30000" dirty="0"/>
              <a:t>+</a:t>
            </a:r>
            <a:r>
              <a:rPr lang="en-US" altLang="en-US" b="1" dirty="0"/>
              <a:t>-tree construction</a:t>
            </a:r>
            <a:endParaRPr lang="en-US" altLang="en-US" b="1" dirty="0"/>
          </a:p>
          <a:p>
            <a:pPr lvl="1"/>
            <a:r>
              <a:rPr lang="en-US" altLang="en-US" dirty="0"/>
              <a:t>As before sort entries</a:t>
            </a:r>
            <a:endParaRPr lang="en-US" altLang="en-US" dirty="0"/>
          </a:p>
          <a:p>
            <a:pPr lvl="1"/>
            <a:r>
              <a:rPr lang="en-US" altLang="en-US" dirty="0"/>
              <a:t>And then create tree layer-by-layer, starting with leaf level</a:t>
            </a:r>
            <a:endParaRPr lang="en-US" altLang="en-US" dirty="0"/>
          </a:p>
          <a:p>
            <a:pPr lvl="2"/>
            <a:r>
              <a:rPr lang="en-US" altLang="en-US" dirty="0"/>
              <a:t>details as an exercise</a:t>
            </a:r>
            <a:endParaRPr lang="en-US" altLang="en-US" dirty="0"/>
          </a:p>
          <a:p>
            <a:pPr lvl="1"/>
            <a:r>
              <a:rPr lang="en-US" altLang="en-US" dirty="0"/>
              <a:t>Implemented as part of bulk-load utility by most database systems</a:t>
            </a:r>
            <a:endParaRPr lang="en-US" altLang="en-US" dirty="0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B-Tree Index Files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900113" y="1135063"/>
            <a:ext cx="7815262" cy="416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000" dirty="0"/>
              <a:t>Similar to B+-tree, but B-tree allows search-key values to appear only once; eliminates redundant storage of search keys.</a:t>
            </a:r>
            <a:endParaRPr lang="en-US" altLang="en-US" sz="2000" dirty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000" dirty="0"/>
              <a:t>Search keys in nonleaf nodes appear nowhere else in the B-tree; an additional pointer field for each search key in a nonleaf node must be included.</a:t>
            </a:r>
            <a:endParaRPr lang="en-US" altLang="en-US" sz="2000" dirty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000" dirty="0"/>
              <a:t>Generalized B-tree leaf node</a:t>
            </a:r>
            <a:endParaRPr lang="en-US" altLang="en-US" sz="2000" dirty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1700" dirty="0"/>
          </a:p>
          <a:p>
            <a:pPr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000" dirty="0"/>
              <a:t>Nonleaf node – pointers Bi are the bucket or file record pointers.</a:t>
            </a:r>
            <a:br>
              <a:rPr lang="en-US" altLang="en-US" sz="2000" dirty="0"/>
            </a:br>
            <a:endParaRPr lang="en-US" altLang="en-US" sz="2000" dirty="0"/>
          </a:p>
          <a:p>
            <a:pPr marL="0" indent="0">
              <a:buClr>
                <a:srgbClr val="002060"/>
              </a:buClr>
              <a:buSzPct val="100000"/>
              <a:buNone/>
            </a:pPr>
            <a:br>
              <a:rPr lang="en-US" altLang="en-US" sz="1700" dirty="0"/>
            </a:br>
            <a:br>
              <a:rPr lang="en-US" altLang="en-US" sz="1700" dirty="0"/>
            </a:br>
            <a:endParaRPr lang="en-US" altLang="en-US" sz="1700" dirty="0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00113" y="5500689"/>
            <a:ext cx="6724650" cy="444490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br>
              <a:rPr lang="en-US" altLang="en-US" dirty="0"/>
            </a:br>
            <a:endParaRPr lang="en-US" altLang="en-US" dirty="0"/>
          </a:p>
        </p:txBody>
      </p:sp>
      <p:pic>
        <p:nvPicPr>
          <p:cNvPr id="89093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222" y="3663306"/>
            <a:ext cx="5612606" cy="145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B-Tree Index Files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4" y="1135063"/>
            <a:ext cx="7631328" cy="4545012"/>
          </a:xfrm>
        </p:spPr>
        <p:txBody>
          <a:bodyPr/>
          <a:lstStyle/>
          <a:p>
            <a:r>
              <a:rPr lang="en-US" altLang="en-US" sz="2000" dirty="0"/>
              <a:t>Advantages of B-Tree indices:</a:t>
            </a:r>
            <a:endParaRPr lang="en-US" altLang="en-US" sz="2000" dirty="0"/>
          </a:p>
          <a:p>
            <a:pPr lvl="1"/>
            <a:r>
              <a:rPr lang="en-US" altLang="en-US" sz="2000" dirty="0"/>
              <a:t>May use less tree nodes than a corresponding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-Tree.</a:t>
            </a:r>
            <a:endParaRPr lang="en-US" altLang="en-US" sz="2000" dirty="0"/>
          </a:p>
          <a:p>
            <a:pPr lvl="1"/>
            <a:r>
              <a:rPr lang="en-US" altLang="en-US" sz="2000" dirty="0"/>
              <a:t>Sometimes possible to find search-key value before reaching leaf node.</a:t>
            </a:r>
            <a:endParaRPr lang="en-US" altLang="en-US" sz="2000" dirty="0"/>
          </a:p>
          <a:p>
            <a:r>
              <a:rPr lang="en-US" altLang="en-US" sz="2000" dirty="0"/>
              <a:t>Disadvantages of B-Tree indices:</a:t>
            </a:r>
            <a:endParaRPr lang="en-US" altLang="en-US" sz="2000" dirty="0"/>
          </a:p>
          <a:p>
            <a:pPr lvl="1"/>
            <a:r>
              <a:rPr lang="en-US" altLang="en-US" sz="2000" dirty="0"/>
              <a:t>Only small fraction of all search-key values are found early </a:t>
            </a:r>
            <a:endParaRPr lang="en-US" altLang="en-US" sz="2000" dirty="0"/>
          </a:p>
          <a:p>
            <a:pPr lvl="1"/>
            <a:r>
              <a:rPr lang="en-US" altLang="en-US" sz="2000" dirty="0"/>
              <a:t>Non-leaf nodes are larger, so fan-out is reduced.  Thus, B-Trees typically have greater depth than corresponding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</a:t>
            </a:r>
            <a:endParaRPr lang="en-US" altLang="en-US" sz="2000" dirty="0"/>
          </a:p>
          <a:p>
            <a:pPr lvl="1"/>
            <a:r>
              <a:rPr lang="en-US" altLang="en-US" sz="2000" dirty="0"/>
              <a:t>Insertion and deletion more complicated than in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-Trees </a:t>
            </a:r>
            <a:endParaRPr lang="en-US" altLang="en-US" sz="2000" dirty="0"/>
          </a:p>
          <a:p>
            <a:pPr lvl="1"/>
            <a:r>
              <a:rPr lang="en-US" altLang="en-US" sz="2000" dirty="0"/>
              <a:t>Implementation is harder than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-Trees.</a:t>
            </a:r>
            <a:endParaRPr lang="en-US" altLang="en-US" sz="2000" dirty="0"/>
          </a:p>
          <a:p>
            <a:r>
              <a:rPr lang="en-US" altLang="en-US" sz="2000" dirty="0"/>
              <a:t>Typically, advantages of B-Trees do not out weigh disadvanta</a:t>
            </a:r>
            <a:r>
              <a:rPr lang="en-US" altLang="en-US" dirty="0"/>
              <a:t>ges. 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B-Tree Index File Example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3187" name="Text Box 4"/>
          <p:cNvSpPr>
            <a:spLocks noGrp="1" noChangeArrowheads="1"/>
          </p:cNvSpPr>
          <p:nvPr>
            <p:ph type="body" idx="1"/>
          </p:nvPr>
        </p:nvSpPr>
        <p:spPr>
          <a:xfrm>
            <a:off x="390525" y="3862388"/>
            <a:ext cx="7848600" cy="463550"/>
          </a:xfrm>
          <a:noFill/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/>
              <a:t>B-tree (above) and B+-tree (below) on same data</a:t>
            </a:r>
            <a:endParaRPr kumimoji="0" lang="en-US" altLang="en-US"/>
          </a:p>
        </p:txBody>
      </p:sp>
      <p:pic>
        <p:nvPicPr>
          <p:cNvPr id="93188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8" y="1262063"/>
            <a:ext cx="8475662" cy="22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256"/>
          <a:stretch>
            <a:fillRect/>
          </a:stretch>
        </p:blipFill>
        <p:spPr bwMode="auto">
          <a:xfrm>
            <a:off x="260350" y="4289425"/>
            <a:ext cx="8648700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Indexing on Flash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IN" sz="2000" dirty="0"/>
              <a:t>Random I/O cost much lower on flash</a:t>
            </a:r>
            <a:endParaRPr lang="en-IN" sz="2000" dirty="0"/>
          </a:p>
          <a:p>
            <a:pPr lvl="1"/>
            <a:r>
              <a:rPr lang="en-IN" sz="2000" dirty="0"/>
              <a:t>20 to 100 microseconds for read/write</a:t>
            </a:r>
            <a:endParaRPr lang="en-IN" sz="2000" dirty="0"/>
          </a:p>
          <a:p>
            <a:r>
              <a:rPr lang="en-IN" sz="2000" dirty="0"/>
              <a:t>Writes are not in-place, and (eventually) require a more expensive erase</a:t>
            </a:r>
            <a:endParaRPr lang="en-IN" sz="2000" dirty="0"/>
          </a:p>
          <a:p>
            <a:r>
              <a:rPr lang="en-IN" sz="2000" dirty="0"/>
              <a:t>Optimum page size therefore much smaller</a:t>
            </a:r>
            <a:endParaRPr lang="en-IN" sz="2000" dirty="0"/>
          </a:p>
          <a:p>
            <a:r>
              <a:rPr lang="en-IN" sz="2000" dirty="0"/>
              <a:t>Bulk-loading still useful since it minimizes page erases</a:t>
            </a:r>
            <a:endParaRPr lang="en-IN" sz="2000" dirty="0"/>
          </a:p>
          <a:p>
            <a:r>
              <a:rPr lang="en-IN" sz="2000" dirty="0"/>
              <a:t>Write-optimized tree structures (discussed later) have been adapted to minimize page writes for flash-optimized search trees</a:t>
            </a:r>
            <a:endParaRPr lang="en-IN" sz="2000" dirty="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Indexing in Main Memory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012" y="1067662"/>
            <a:ext cx="7644725" cy="5263469"/>
          </a:xfrm>
        </p:spPr>
        <p:txBody>
          <a:bodyPr/>
          <a:lstStyle/>
          <a:p>
            <a:r>
              <a:rPr lang="en-IN" sz="2000" dirty="0"/>
              <a:t>Random access in memory </a:t>
            </a:r>
            <a:endParaRPr lang="en-IN" sz="2000" dirty="0"/>
          </a:p>
          <a:p>
            <a:pPr lvl="1"/>
            <a:r>
              <a:rPr lang="en-IN" sz="2000" dirty="0"/>
              <a:t>Much cheaper than on disk/flash</a:t>
            </a:r>
            <a:endParaRPr lang="en-IN" sz="2000" dirty="0"/>
          </a:p>
          <a:p>
            <a:pPr lvl="1"/>
            <a:r>
              <a:rPr lang="en-IN" sz="2000" dirty="0"/>
              <a:t>But still expensive compared to cache read</a:t>
            </a:r>
            <a:endParaRPr lang="en-IN" sz="2000" dirty="0"/>
          </a:p>
          <a:p>
            <a:pPr lvl="1"/>
            <a:r>
              <a:rPr lang="en-IN" sz="2000" dirty="0"/>
              <a:t>Data structures that make best use of cache preferable</a:t>
            </a:r>
            <a:endParaRPr lang="en-IN" sz="2000" dirty="0"/>
          </a:p>
          <a:p>
            <a:pPr lvl="1"/>
            <a:r>
              <a:rPr lang="en-IN" sz="2000" dirty="0"/>
              <a:t>Binary search for a key value within a large B</a:t>
            </a:r>
            <a:r>
              <a:rPr lang="en-IN" sz="2000" baseline="30000" dirty="0"/>
              <a:t>+</a:t>
            </a:r>
            <a:r>
              <a:rPr lang="en-IN" sz="2000" dirty="0"/>
              <a:t>-tree node results in many cache misses</a:t>
            </a:r>
            <a:endParaRPr lang="en-IN" sz="2000" dirty="0"/>
          </a:p>
          <a:p>
            <a:r>
              <a:rPr lang="en-IN" sz="2000" dirty="0"/>
              <a:t>B</a:t>
            </a:r>
            <a:r>
              <a:rPr lang="en-IN" sz="2000" baseline="30000" dirty="0"/>
              <a:t>+</a:t>
            </a:r>
            <a:r>
              <a:rPr lang="en-IN" sz="2000" dirty="0"/>
              <a:t>- trees with small nodes that fit in cache line are preferable to reduce cache misses</a:t>
            </a:r>
            <a:endParaRPr lang="en-IN" sz="2000" dirty="0"/>
          </a:p>
          <a:p>
            <a:r>
              <a:rPr lang="en-IN" sz="2000" dirty="0"/>
              <a:t>Key idea:  use large node size to optimize disk access, but structure data within a node using a tree with small node size, instead of using an array.</a:t>
            </a:r>
            <a:endParaRPr lang="en-IN" sz="2000" dirty="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1182" y="2825222"/>
            <a:ext cx="3442522" cy="815505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</a:rPr>
              <a:t>Hashing</a:t>
            </a:r>
            <a:endParaRPr lang="en-IN" sz="3200" b="1" dirty="0">
              <a:solidFill>
                <a:srgbClr val="00206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+mj-l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Static Hashing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3378" y="1191566"/>
            <a:ext cx="7362409" cy="4138612"/>
          </a:xfrm>
        </p:spPr>
        <p:txBody>
          <a:bodyPr/>
          <a:lstStyle/>
          <a:p>
            <a:r>
              <a:rPr lang="en-US" altLang="en-US" sz="2000" dirty="0"/>
              <a:t>A </a:t>
            </a:r>
            <a:r>
              <a:rPr lang="en-US" altLang="en-US" sz="2000" b="1" dirty="0">
                <a:solidFill>
                  <a:srgbClr val="002060"/>
                </a:solidFill>
              </a:rPr>
              <a:t>bucket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is a unit of storage containing one or more entries (a bucket is typically a disk block). </a:t>
            </a:r>
            <a:endParaRPr lang="en-US" altLang="en-US" sz="2000" dirty="0"/>
          </a:p>
          <a:p>
            <a:pPr lvl="1"/>
            <a:r>
              <a:rPr lang="en-US" altLang="en-US" sz="2000" dirty="0"/>
              <a:t>we obtain the bucket of an entry from its search-key value using a </a:t>
            </a:r>
            <a:r>
              <a:rPr lang="en-US" altLang="en-US" sz="2000" b="1" dirty="0">
                <a:solidFill>
                  <a:srgbClr val="002060"/>
                </a:solidFill>
              </a:rPr>
              <a:t>hash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b="1" dirty="0">
                <a:solidFill>
                  <a:srgbClr val="002060"/>
                </a:solidFill>
              </a:rPr>
              <a:t>function</a:t>
            </a:r>
            <a:endParaRPr lang="en-US" altLang="en-US" sz="2000" dirty="0"/>
          </a:p>
          <a:p>
            <a:r>
              <a:rPr lang="en-US" altLang="en-US" sz="2000" dirty="0"/>
              <a:t>Hash function </a:t>
            </a:r>
            <a:r>
              <a:rPr lang="en-US" altLang="en-US" sz="2000" i="1" dirty="0"/>
              <a:t>h</a:t>
            </a:r>
            <a:r>
              <a:rPr lang="en-US" altLang="en-US" sz="2000" dirty="0"/>
              <a:t> is a function from the set of all search-key values </a:t>
            </a:r>
            <a:r>
              <a:rPr lang="en-US" altLang="en-US" sz="2000" i="1" dirty="0"/>
              <a:t>K</a:t>
            </a:r>
            <a:r>
              <a:rPr lang="en-US" altLang="en-US" sz="2000" dirty="0"/>
              <a:t> to the set of all bucket addresses </a:t>
            </a:r>
            <a:r>
              <a:rPr lang="en-US" altLang="en-US" sz="2000" i="1" dirty="0"/>
              <a:t>B.</a:t>
            </a:r>
            <a:endParaRPr lang="en-US" altLang="en-US" sz="2000" i="1" dirty="0"/>
          </a:p>
          <a:p>
            <a:r>
              <a:rPr lang="en-US" altLang="en-US" sz="2000" dirty="0"/>
              <a:t>Hash function is used to locate entries for access, insertion as well as deletion.</a:t>
            </a:r>
            <a:endParaRPr lang="en-US" altLang="en-US" sz="2000" dirty="0"/>
          </a:p>
          <a:p>
            <a:r>
              <a:rPr lang="en-US" altLang="en-US" sz="2000" dirty="0"/>
              <a:t>Entries with different search-key values may be mapped to the same bucket; thus entire bucket has to be searched sequentially to locate an entry. </a:t>
            </a:r>
            <a:endParaRPr lang="en-US" altLang="en-US" sz="2000" dirty="0"/>
          </a:p>
          <a:p>
            <a:r>
              <a:rPr lang="en-US" altLang="en-US" sz="2000" dirty="0"/>
              <a:t>In a </a:t>
            </a:r>
            <a:r>
              <a:rPr lang="en-US" altLang="en-US" sz="2000" b="1" dirty="0">
                <a:solidFill>
                  <a:srgbClr val="002060"/>
                </a:solidFill>
              </a:rPr>
              <a:t>hash index</a:t>
            </a:r>
            <a:r>
              <a:rPr lang="en-US" altLang="en-US" sz="2000" dirty="0"/>
              <a:t>, buckets store entries with pointers to records</a:t>
            </a:r>
            <a:endParaRPr lang="en-US" altLang="en-US" sz="2000" dirty="0"/>
          </a:p>
          <a:p>
            <a:r>
              <a:rPr lang="en-US" altLang="en-US" sz="2000" dirty="0"/>
              <a:t>In a </a:t>
            </a:r>
            <a:r>
              <a:rPr lang="en-US" altLang="en-US" sz="2000" b="1" dirty="0">
                <a:solidFill>
                  <a:srgbClr val="002060"/>
                </a:solidFill>
              </a:rPr>
              <a:t>hash file-organization </a:t>
            </a:r>
            <a:r>
              <a:rPr lang="en-US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buckets store records</a:t>
            </a:r>
            <a:endParaRPr lang="en-US" alt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Handling of Bucket Overflows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135063"/>
            <a:ext cx="7639050" cy="5073650"/>
          </a:xfrm>
        </p:spPr>
        <p:txBody>
          <a:bodyPr/>
          <a:lstStyle/>
          <a:p>
            <a:r>
              <a:rPr lang="en-US" altLang="en-US" sz="2000" dirty="0"/>
              <a:t>Bucket overflow can occur because of </a:t>
            </a:r>
            <a:endParaRPr lang="en-US" altLang="en-US" sz="2000" dirty="0"/>
          </a:p>
          <a:p>
            <a:pPr lvl="1"/>
            <a:r>
              <a:rPr lang="en-US" altLang="en-US" sz="2000" dirty="0"/>
              <a:t>Insufficient buckets </a:t>
            </a:r>
            <a:endParaRPr lang="en-US" altLang="en-US" sz="2000" dirty="0"/>
          </a:p>
          <a:p>
            <a:pPr lvl="1"/>
            <a:r>
              <a:rPr lang="en-US" altLang="en-US" sz="2000" dirty="0"/>
              <a:t>Skew in distribution of records.  This can occur due to two reasons:</a:t>
            </a:r>
            <a:endParaRPr lang="en-US" altLang="en-US" sz="2000" dirty="0"/>
          </a:p>
          <a:p>
            <a:pPr lvl="2"/>
            <a:r>
              <a:rPr lang="en-US" altLang="en-US" sz="2000" dirty="0"/>
              <a:t>multiple records have same search-key value</a:t>
            </a:r>
            <a:endParaRPr lang="en-US" altLang="en-US" sz="2000" dirty="0"/>
          </a:p>
          <a:p>
            <a:pPr lvl="2"/>
            <a:r>
              <a:rPr lang="en-US" altLang="en-US" sz="2000" dirty="0"/>
              <a:t>chosen hash function produces non-uniform distribution of key values</a:t>
            </a:r>
            <a:endParaRPr lang="en-US" altLang="en-US" sz="2000" dirty="0"/>
          </a:p>
          <a:p>
            <a:r>
              <a:rPr lang="en-US" altLang="en-US" sz="2000" dirty="0"/>
              <a:t>Although the probability of bucket overflow can be reduced, it cannot be eliminated; it is handled by using </a:t>
            </a:r>
            <a:r>
              <a:rPr lang="en-US" altLang="en-US" sz="2000" b="1" i="1" dirty="0">
                <a:solidFill>
                  <a:srgbClr val="002060"/>
                </a:solidFill>
              </a:rPr>
              <a:t>overflow buckets</a:t>
            </a:r>
            <a:r>
              <a:rPr lang="en-US" altLang="en-US" sz="2000" i="1" dirty="0"/>
              <a:t>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Hash Index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1878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787400"/>
            <a:ext cx="5929313" cy="572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88" name="Text Box 4"/>
          <p:cNvSpPr txBox="1">
            <a:spLocks noChangeArrowheads="1"/>
          </p:cNvSpPr>
          <p:nvPr/>
        </p:nvSpPr>
        <p:spPr bwMode="auto">
          <a:xfrm>
            <a:off x="3765550" y="5497513"/>
            <a:ext cx="4050276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hash index on </a:t>
            </a:r>
            <a:r>
              <a:rPr kumimoji="0" lang="en-US" altLang="en-US" sz="1700" i="1" dirty="0"/>
              <a:t>instructor, </a:t>
            </a:r>
            <a:r>
              <a:rPr kumimoji="0" lang="en-US" altLang="en-US" sz="1700" dirty="0"/>
              <a:t> on attribute </a:t>
            </a:r>
            <a:r>
              <a:rPr kumimoji="0" lang="en-US" altLang="en-US" sz="1700" i="1" dirty="0"/>
              <a:t>ID</a:t>
            </a:r>
            <a:endParaRPr kumimoji="0" lang="en-US" alt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0413" y="0"/>
            <a:ext cx="8077200" cy="796926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Handling of Bucket Overflows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0413" y="1135063"/>
            <a:ext cx="7796212" cy="4876800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Overflow chaining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the overflow buckets of a given bucket are chained together in a linked list.</a:t>
            </a:r>
            <a:endParaRPr lang="en-US" altLang="en-US" dirty="0"/>
          </a:p>
          <a:p>
            <a:r>
              <a:rPr lang="en-US" altLang="en-US" dirty="0"/>
              <a:t>Above scheme is called </a:t>
            </a:r>
            <a:r>
              <a:rPr lang="en-US" altLang="en-US" b="1" dirty="0">
                <a:solidFill>
                  <a:srgbClr val="002060"/>
                </a:solidFill>
              </a:rPr>
              <a:t>closed addressing (</a:t>
            </a:r>
            <a:r>
              <a:rPr lang="en-US" altLang="en-US" dirty="0">
                <a:solidFill>
                  <a:srgbClr val="000000"/>
                </a:solidFill>
              </a:rPr>
              <a:t>also called </a:t>
            </a:r>
            <a:r>
              <a:rPr lang="en-US" altLang="en-US" b="1" dirty="0">
                <a:solidFill>
                  <a:srgbClr val="002060"/>
                </a:solidFill>
              </a:rPr>
              <a:t>closed hashing </a:t>
            </a:r>
            <a:r>
              <a:rPr lang="en-US" altLang="en-US" b="1" dirty="0"/>
              <a:t>or </a:t>
            </a:r>
            <a:r>
              <a:rPr lang="en-US" altLang="en-US" b="1" dirty="0">
                <a:solidFill>
                  <a:srgbClr val="002060"/>
                </a:solidFill>
              </a:rPr>
              <a:t>open hashing </a:t>
            </a:r>
            <a:r>
              <a:rPr lang="en-US" altLang="en-US" dirty="0"/>
              <a:t>depending on the book you use</a:t>
            </a:r>
            <a:r>
              <a:rPr lang="en-US" altLang="en-US" b="1" dirty="0">
                <a:solidFill>
                  <a:srgbClr val="002060"/>
                </a:solidFill>
              </a:rPr>
              <a:t>)</a:t>
            </a:r>
            <a:r>
              <a:rPr lang="en-US" altLang="en-US" dirty="0"/>
              <a:t>  </a:t>
            </a:r>
            <a:endParaRPr lang="en-US" altLang="en-US" dirty="0"/>
          </a:p>
          <a:p>
            <a:pPr lvl="1"/>
            <a:r>
              <a:rPr lang="en-US" altLang="en-US" dirty="0"/>
              <a:t>An alternative, called </a:t>
            </a:r>
            <a:br>
              <a:rPr lang="en-US" altLang="en-US" dirty="0"/>
            </a:br>
            <a:r>
              <a:rPr lang="en-US" altLang="en-US" b="1" dirty="0">
                <a:solidFill>
                  <a:srgbClr val="002060"/>
                </a:solidFill>
              </a:rPr>
              <a:t>open addressing </a:t>
            </a:r>
            <a:br>
              <a:rPr lang="en-US" altLang="en-US" b="1" dirty="0">
                <a:solidFill>
                  <a:srgbClr val="002060"/>
                </a:solidFill>
              </a:rPr>
            </a:br>
            <a:r>
              <a:rPr lang="en-US" altLang="en-US" b="1" dirty="0">
                <a:solidFill>
                  <a:srgbClr val="002060"/>
                </a:solidFill>
              </a:rPr>
              <a:t>(</a:t>
            </a:r>
            <a:r>
              <a:rPr lang="en-US" altLang="en-US" dirty="0"/>
              <a:t>also called </a:t>
            </a:r>
            <a:br>
              <a:rPr lang="en-US" altLang="en-US" dirty="0"/>
            </a:br>
            <a:r>
              <a:rPr lang="en-US" altLang="en-US" b="1" dirty="0">
                <a:solidFill>
                  <a:srgbClr val="002060"/>
                </a:solidFill>
              </a:rPr>
              <a:t>open hashing </a:t>
            </a:r>
            <a:r>
              <a:rPr lang="en-US" altLang="en-US" dirty="0"/>
              <a:t>or</a:t>
            </a:r>
            <a:r>
              <a:rPr lang="en-US" altLang="en-US" b="1" dirty="0"/>
              <a:t> </a:t>
            </a:r>
            <a:br>
              <a:rPr lang="en-US" altLang="en-US" b="1" dirty="0"/>
            </a:br>
            <a:r>
              <a:rPr lang="en-US" altLang="en-US" b="1" dirty="0">
                <a:solidFill>
                  <a:srgbClr val="002060"/>
                </a:solidFill>
              </a:rPr>
              <a:t>closed hashing </a:t>
            </a:r>
            <a:br>
              <a:rPr lang="en-US" altLang="en-US" b="1" dirty="0">
                <a:solidFill>
                  <a:srgbClr val="0000FF"/>
                </a:solidFill>
              </a:rPr>
            </a:br>
            <a:r>
              <a:rPr lang="en-US" altLang="en-US" dirty="0"/>
              <a:t>depending on the                                                                                    book you use) which                                                                           does not use over-                                                                                     flow buckets, is not                                                                         suitable for database                                                                               applications.</a:t>
            </a:r>
            <a:endParaRPr lang="en-US" altLang="en-US" dirty="0"/>
          </a:p>
          <a:p>
            <a:endParaRPr lang="en-US" altLang="en-US" dirty="0"/>
          </a:p>
        </p:txBody>
      </p:sp>
      <p:pic>
        <p:nvPicPr>
          <p:cNvPr id="112644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263" y="2528881"/>
            <a:ext cx="4581444" cy="3278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367407"/>
            <a:ext cx="8358187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Hash File Organization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593" y="1871651"/>
            <a:ext cx="7466012" cy="2700343"/>
          </a:xfrm>
        </p:spPr>
        <p:txBody>
          <a:bodyPr/>
          <a:lstStyle/>
          <a:p>
            <a:r>
              <a:rPr lang="en-US" altLang="en-US" sz="2000" dirty="0"/>
              <a:t>There are 10 buckets,</a:t>
            </a:r>
            <a:endParaRPr lang="en-US" altLang="en-US" sz="2000" dirty="0"/>
          </a:p>
          <a:p>
            <a:r>
              <a:rPr lang="en-US" altLang="en-US" sz="2000" dirty="0"/>
              <a:t>The binary representation of the </a:t>
            </a:r>
            <a:r>
              <a:rPr lang="en-US" altLang="en-US" sz="2000" i="1" dirty="0"/>
              <a:t>I </a:t>
            </a:r>
            <a:r>
              <a:rPr lang="en-US" altLang="en-US" sz="2000" baseline="30000" dirty="0" err="1"/>
              <a:t>th</a:t>
            </a:r>
            <a:r>
              <a:rPr lang="en-US" altLang="en-US" sz="2000" dirty="0"/>
              <a:t> character is assumed to be the integer </a:t>
            </a:r>
            <a:r>
              <a:rPr lang="en-US" altLang="en-US" sz="2000" i="1" dirty="0"/>
              <a:t>i.</a:t>
            </a:r>
            <a:endParaRPr lang="en-US" altLang="en-US" sz="2000" dirty="0"/>
          </a:p>
          <a:p>
            <a:r>
              <a:rPr lang="en-US" altLang="en-US" sz="2000" dirty="0"/>
              <a:t>The hash function returns the sum of the binary representations of the characters modulo 10</a:t>
            </a:r>
            <a:endParaRPr lang="en-US" altLang="en-US" sz="2000" dirty="0"/>
          </a:p>
          <a:p>
            <a:pPr lvl="1"/>
            <a:r>
              <a:rPr lang="en-US" altLang="en-US" sz="2000" dirty="0"/>
              <a:t>E.g. h(Music) = 1        h(History) = 2   </a:t>
            </a:r>
            <a:br>
              <a:rPr lang="en-US" altLang="en-US" sz="2000" dirty="0"/>
            </a:br>
            <a:r>
              <a:rPr lang="en-US" altLang="en-US" sz="2000" dirty="0"/>
              <a:t>        h(Physics) =  3   h(Elec. Eng.) = 3</a:t>
            </a:r>
            <a:endParaRPr lang="en-US" altLang="en-US" sz="2000" dirty="0"/>
          </a:p>
        </p:txBody>
      </p:sp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900113" y="908280"/>
            <a:ext cx="7377341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br>
              <a:rPr kumimoji="0" lang="en-US" altLang="en-US" sz="1700" dirty="0"/>
            </a:br>
            <a:r>
              <a:rPr kumimoji="0" lang="en-US" altLang="en-US" sz="2000" dirty="0"/>
              <a:t>Hash file organization of </a:t>
            </a:r>
            <a:r>
              <a:rPr kumimoji="0" lang="en-US" altLang="en-US" sz="2000" i="1" dirty="0"/>
              <a:t>instructor</a:t>
            </a:r>
            <a:r>
              <a:rPr kumimoji="0" lang="en-US" altLang="en-US" sz="2000" dirty="0"/>
              <a:t> file, using </a:t>
            </a:r>
            <a:r>
              <a:rPr kumimoji="0" lang="en-US" altLang="en-US" sz="2000" i="1" dirty="0"/>
              <a:t>dept_name </a:t>
            </a:r>
            <a:r>
              <a:rPr kumimoji="0" lang="en-US" altLang="en-US" sz="2000" dirty="0"/>
              <a:t>as key</a:t>
            </a:r>
            <a:br>
              <a:rPr kumimoji="0" lang="en-US" altLang="en-US" sz="2000" dirty="0"/>
            </a:br>
            <a:r>
              <a:rPr kumimoji="0" lang="en-US" altLang="en-US" sz="2000" dirty="0"/>
              <a:t> (See figure in next slide.)</a:t>
            </a:r>
            <a:endParaRPr kumimoji="0" lang="en-US" altLang="en-US" sz="2000" dirty="0"/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Hash File Organization 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1100831" y="1112820"/>
            <a:ext cx="696843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Hash file organization of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 file, using </a:t>
            </a:r>
            <a:r>
              <a:rPr kumimoji="0" lang="en-US" altLang="en-US" sz="1700" i="1" dirty="0"/>
              <a:t>dept_name </a:t>
            </a:r>
            <a:r>
              <a:rPr kumimoji="0" lang="en-US" altLang="en-US" sz="1700" dirty="0"/>
              <a:t>as key.</a:t>
            </a:r>
            <a:endParaRPr kumimoji="0" lang="en-US" altLang="en-US" sz="1700" dirty="0"/>
          </a:p>
        </p:txBody>
      </p:sp>
      <p:pic>
        <p:nvPicPr>
          <p:cNvPr id="108548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2" y="1692081"/>
            <a:ext cx="5627687" cy="444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Deficiencies of Static Hashing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135063"/>
            <a:ext cx="7542551" cy="4343400"/>
          </a:xfrm>
        </p:spPr>
        <p:txBody>
          <a:bodyPr/>
          <a:lstStyle/>
          <a:p>
            <a:r>
              <a:rPr lang="en-US" altLang="en-US" sz="2000" dirty="0"/>
              <a:t>In static hashing, function </a:t>
            </a:r>
            <a:r>
              <a:rPr lang="en-US" altLang="en-US" sz="2000" i="1" dirty="0"/>
              <a:t>h</a:t>
            </a:r>
            <a:r>
              <a:rPr lang="en-US" altLang="en-US" sz="2000" dirty="0"/>
              <a:t> maps search-key values to a fixed set of </a:t>
            </a:r>
            <a:r>
              <a:rPr lang="en-US" altLang="en-US" sz="2000" i="1" dirty="0"/>
              <a:t>B</a:t>
            </a:r>
            <a:r>
              <a:rPr lang="en-US" altLang="en-US" sz="2000" dirty="0"/>
              <a:t> of bucket addresses. Databases grow or shrink with time. </a:t>
            </a:r>
            <a:endParaRPr lang="en-US" altLang="en-US" sz="2000" dirty="0"/>
          </a:p>
          <a:p>
            <a:pPr lvl="1"/>
            <a:r>
              <a:rPr lang="en-US" altLang="en-US" sz="2000" dirty="0"/>
              <a:t>If initial number of buckets is too small, and file grows, performance will degrade due to too much overflows.</a:t>
            </a:r>
            <a:endParaRPr lang="en-US" altLang="en-US" sz="2000" dirty="0"/>
          </a:p>
          <a:p>
            <a:pPr lvl="1"/>
            <a:r>
              <a:rPr lang="en-US" altLang="en-US" sz="2000" dirty="0"/>
              <a:t>If space is allocated for anticipated growth, a significant amount of space will be wasted initially (and buckets will be </a:t>
            </a:r>
            <a:r>
              <a:rPr lang="en-US" altLang="en-US" sz="2000" dirty="0" err="1"/>
              <a:t>underfull</a:t>
            </a:r>
            <a:r>
              <a:rPr lang="en-US" altLang="en-US" sz="2000" dirty="0"/>
              <a:t>).</a:t>
            </a:r>
            <a:endParaRPr lang="en-US" altLang="en-US" sz="2000" dirty="0"/>
          </a:p>
          <a:p>
            <a:pPr lvl="1"/>
            <a:r>
              <a:rPr lang="en-US" altLang="en-US" sz="2000" dirty="0"/>
              <a:t>If database shrinks, again space will be wasted.</a:t>
            </a:r>
            <a:endParaRPr lang="en-US" altLang="en-US" sz="2000" dirty="0"/>
          </a:p>
          <a:p>
            <a:r>
              <a:rPr lang="en-US" altLang="en-US" sz="2000" dirty="0"/>
              <a:t>One solution: periodic re-organization of the file with a new hash function</a:t>
            </a:r>
            <a:endParaRPr lang="en-US" altLang="en-US" sz="2000" dirty="0"/>
          </a:p>
          <a:p>
            <a:pPr lvl="1"/>
            <a:r>
              <a:rPr lang="en-US" altLang="en-US" sz="2000" dirty="0"/>
              <a:t>Expensive, disrupts normal operations</a:t>
            </a:r>
            <a:endParaRPr lang="en-US" altLang="en-US" sz="2000" dirty="0"/>
          </a:p>
          <a:p>
            <a:r>
              <a:rPr lang="en-US" altLang="en-US" sz="2000" dirty="0"/>
              <a:t>Better solution: allow the number of buckets to be modified dynamically</a:t>
            </a:r>
            <a:r>
              <a:rPr lang="en-US" altLang="en-US" dirty="0"/>
              <a:t>. </a:t>
            </a:r>
            <a:endParaRPr lang="en-US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Dynamic Hashing</a:t>
            </a:r>
            <a:endParaRPr lang="en-IN" dirty="0"/>
          </a:p>
        </p:txBody>
      </p:sp>
      <p:sp>
        <p:nvSpPr>
          <p:cNvPr id="12288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IN" altLang="en-US" sz="2000" dirty="0"/>
              <a:t>Periodic rehashing</a:t>
            </a:r>
            <a:endParaRPr lang="en-IN" altLang="en-US" sz="2000" dirty="0"/>
          </a:p>
          <a:p>
            <a:pPr lvl="1"/>
            <a:r>
              <a:rPr lang="en-IN" altLang="en-US" sz="2000" dirty="0"/>
              <a:t>If number of entries in a hash table becomes (say) 1.5 times size of hash table, </a:t>
            </a:r>
            <a:endParaRPr lang="en-IN" altLang="en-US" sz="2000" dirty="0"/>
          </a:p>
          <a:p>
            <a:pPr lvl="2"/>
            <a:r>
              <a:rPr lang="en-IN" altLang="en-US" sz="2000" dirty="0"/>
              <a:t>create new hash table of size  (say) 2 times the size of the previous hash table</a:t>
            </a:r>
            <a:endParaRPr lang="en-IN" altLang="en-US" sz="2000" dirty="0"/>
          </a:p>
          <a:p>
            <a:pPr lvl="2"/>
            <a:r>
              <a:rPr lang="en-IN" altLang="en-US" sz="2000" dirty="0"/>
              <a:t>Rehash all entries to new table</a:t>
            </a:r>
            <a:endParaRPr lang="en-IN" altLang="en-US" sz="2000" dirty="0"/>
          </a:p>
          <a:p>
            <a:r>
              <a:rPr lang="en-IN" altLang="en-US" sz="2000" dirty="0"/>
              <a:t>Linear Hashing</a:t>
            </a:r>
            <a:endParaRPr lang="en-IN" altLang="en-US" sz="2000" dirty="0"/>
          </a:p>
          <a:p>
            <a:pPr lvl="1"/>
            <a:r>
              <a:rPr lang="en-IN" altLang="en-US" sz="2000" dirty="0"/>
              <a:t>Do rehashing in an incremental manner</a:t>
            </a:r>
            <a:endParaRPr lang="en-IN" altLang="en-US" sz="2000" dirty="0"/>
          </a:p>
          <a:p>
            <a:r>
              <a:rPr lang="en-IN" altLang="en-US" sz="2000" dirty="0"/>
              <a:t>Extendable Hashing</a:t>
            </a:r>
            <a:endParaRPr lang="en-IN" altLang="en-US" sz="2000" dirty="0"/>
          </a:p>
          <a:p>
            <a:pPr lvl="1"/>
            <a:r>
              <a:rPr lang="en-IN" altLang="en-US" sz="2000" dirty="0"/>
              <a:t>Tailored to disk based hashing, with buckets shared by multiple hash values</a:t>
            </a:r>
            <a:endParaRPr lang="en-IN" altLang="en-US" sz="2000" dirty="0"/>
          </a:p>
          <a:p>
            <a:pPr lvl="1"/>
            <a:r>
              <a:rPr lang="en-IN" altLang="en-US" sz="2000" dirty="0"/>
              <a:t>Doubling of # of entries in hash table, without doubling # of buckets</a:t>
            </a:r>
            <a:endParaRPr lang="en-IN" altLang="en-US" sz="2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68300" y="228600"/>
            <a:ext cx="9086850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Comparison of Ordered Indexing and Hashing</a:t>
            </a:r>
            <a:endParaRPr lang="en-US" alt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1134" y="1093788"/>
            <a:ext cx="7617041" cy="4903787"/>
          </a:xfrm>
        </p:spPr>
        <p:txBody>
          <a:bodyPr/>
          <a:lstStyle/>
          <a:p>
            <a:r>
              <a:rPr lang="en-US" altLang="en-US" sz="2000" dirty="0"/>
              <a:t>Cost of periodic re-organization</a:t>
            </a:r>
            <a:endParaRPr lang="en-US" altLang="en-US" sz="2000" dirty="0"/>
          </a:p>
          <a:p>
            <a:r>
              <a:rPr lang="en-US" altLang="en-US" sz="2000" dirty="0"/>
              <a:t>Relative frequency of insertions and deletions</a:t>
            </a:r>
            <a:endParaRPr lang="en-US" altLang="en-US" sz="2000" dirty="0"/>
          </a:p>
          <a:p>
            <a:r>
              <a:rPr lang="en-US" altLang="en-US" sz="2000" dirty="0"/>
              <a:t>Is it desirable to optimize average access time at the expense of worst-case access time?</a:t>
            </a:r>
            <a:endParaRPr lang="en-US" altLang="en-US" sz="2000" dirty="0"/>
          </a:p>
          <a:p>
            <a:r>
              <a:rPr lang="en-US" altLang="en-US" sz="2000" dirty="0"/>
              <a:t>Expected type of queries:</a:t>
            </a:r>
            <a:endParaRPr lang="en-US" altLang="en-US" sz="2000" dirty="0"/>
          </a:p>
          <a:p>
            <a:pPr lvl="1"/>
            <a:r>
              <a:rPr lang="en-US" altLang="en-US" sz="2000" dirty="0"/>
              <a:t>Hashing is generally better at retrieving records having a specified value of the key.</a:t>
            </a:r>
            <a:endParaRPr lang="en-US" altLang="en-US" sz="2000" dirty="0"/>
          </a:p>
          <a:p>
            <a:pPr lvl="1"/>
            <a:r>
              <a:rPr lang="en-US" altLang="en-US" sz="2000" dirty="0"/>
              <a:t>If range queries are common, ordered indices are to be preferred</a:t>
            </a:r>
            <a:endParaRPr lang="en-US" altLang="en-US" sz="2000" dirty="0"/>
          </a:p>
          <a:p>
            <a:r>
              <a:rPr lang="en-US" altLang="en-US" sz="2000" dirty="0"/>
              <a:t>In practice:</a:t>
            </a:r>
            <a:endParaRPr lang="en-US" altLang="en-US" sz="2000" dirty="0"/>
          </a:p>
          <a:p>
            <a:pPr lvl="1"/>
            <a:r>
              <a:rPr lang="en-US" altLang="en-US" sz="2000" dirty="0"/>
              <a:t>PostgreSQL supports hash indices, but discourages use due to poor performance</a:t>
            </a:r>
            <a:endParaRPr lang="en-US" altLang="en-US" sz="2000" dirty="0"/>
          </a:p>
          <a:p>
            <a:pPr lvl="1"/>
            <a:r>
              <a:rPr lang="en-US" altLang="en-US" sz="2000" dirty="0"/>
              <a:t>Oracle supports static hash organization, but not hash indices</a:t>
            </a:r>
            <a:endParaRPr lang="en-US" altLang="en-US" sz="2000" dirty="0"/>
          </a:p>
          <a:p>
            <a:pPr lvl="1"/>
            <a:r>
              <a:rPr lang="en-US" altLang="en-US" sz="2000" dirty="0" err="1"/>
              <a:t>SQLServer</a:t>
            </a:r>
            <a:r>
              <a:rPr lang="en-US" altLang="en-US" sz="2000" dirty="0"/>
              <a:t> supports only B</a:t>
            </a:r>
            <a:r>
              <a:rPr lang="en-US" altLang="en-US" sz="2000" baseline="30000" dirty="0"/>
              <a:t>+</a:t>
            </a:r>
            <a:r>
              <a:rPr lang="en-US" altLang="en-US" sz="2000" dirty="0"/>
              <a:t>-trees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Multiple-Key Access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1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8675" y="1101725"/>
            <a:ext cx="76200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Use multiple indices for certain types of queries.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Example: </a:t>
            </a:r>
            <a:endParaRPr lang="en-US" altLang="en-US" sz="2000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2000" b="1" dirty="0"/>
              <a:t>select </a:t>
            </a:r>
            <a:r>
              <a:rPr lang="en-US" altLang="en-US" sz="2000" i="1" dirty="0"/>
              <a:t>ID</a:t>
            </a:r>
            <a:endParaRPr lang="en-US" altLang="en-US" sz="2000" i="1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2000" b="1" dirty="0"/>
              <a:t>from</a:t>
            </a:r>
            <a:r>
              <a:rPr lang="en-US" altLang="en-US" sz="2000" i="1" dirty="0"/>
              <a:t> instructor</a:t>
            </a:r>
            <a:endParaRPr lang="en-US" altLang="en-US" sz="2000" i="1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2000" b="1" dirty="0"/>
              <a:t>where</a:t>
            </a:r>
            <a:r>
              <a:rPr lang="en-US" altLang="en-US" sz="2000" i="1" dirty="0"/>
              <a:t> dept_name </a:t>
            </a:r>
            <a:r>
              <a:rPr lang="en-US" altLang="en-US" sz="2000" dirty="0"/>
              <a:t>= </a:t>
            </a:r>
            <a:r>
              <a:rPr lang="ja-JP" altLang="en-US" sz="2000" dirty="0"/>
              <a:t>“</a:t>
            </a:r>
            <a:r>
              <a:rPr lang="en-US" altLang="ja-JP" sz="2000" dirty="0"/>
              <a:t>Finance</a:t>
            </a:r>
            <a:r>
              <a:rPr lang="ja-JP" altLang="en-US" sz="2000" dirty="0"/>
              <a:t>”</a:t>
            </a:r>
            <a:r>
              <a:rPr lang="en-US" altLang="ja-JP" sz="2000" dirty="0"/>
              <a:t> </a:t>
            </a:r>
            <a:r>
              <a:rPr lang="en-US" altLang="ja-JP" sz="2000" b="1" dirty="0"/>
              <a:t>and </a:t>
            </a:r>
            <a:r>
              <a:rPr lang="en-US" altLang="ja-JP" sz="2000" i="1" dirty="0"/>
              <a:t> salary</a:t>
            </a:r>
            <a:r>
              <a:rPr lang="en-US" altLang="ja-JP" sz="2000" dirty="0"/>
              <a:t> = 80000</a:t>
            </a:r>
            <a:endParaRPr lang="en-US" altLang="ja-JP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Possible strategies for processing query using indices on single attributes:</a:t>
            </a:r>
            <a:endParaRPr lang="en-US" altLang="en-US" sz="2000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2000" dirty="0"/>
              <a:t>1.	Use index on </a:t>
            </a:r>
            <a:r>
              <a:rPr lang="en-US" altLang="en-US" sz="2000" i="1" dirty="0"/>
              <a:t>dept_name </a:t>
            </a:r>
            <a:r>
              <a:rPr lang="en-US" altLang="en-US" sz="2000" dirty="0"/>
              <a:t>to find instructors with department name Finance; test </a:t>
            </a:r>
            <a:r>
              <a:rPr lang="en-US" altLang="en-US" sz="2000" i="1" dirty="0"/>
              <a:t>salary = 80000 </a:t>
            </a:r>
            <a:endParaRPr lang="en-US" altLang="en-US" sz="2000" i="1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2000" i="1" dirty="0"/>
              <a:t>2.	</a:t>
            </a:r>
            <a:r>
              <a:rPr lang="en-US" altLang="en-US" sz="2000" dirty="0"/>
              <a:t>Use index</a:t>
            </a:r>
            <a:r>
              <a:rPr lang="en-US" altLang="en-US" sz="2000" i="1" dirty="0"/>
              <a:t> </a:t>
            </a:r>
            <a:r>
              <a:rPr lang="en-US" altLang="en-US" sz="2000" dirty="0"/>
              <a:t>on</a:t>
            </a:r>
            <a:r>
              <a:rPr lang="en-US" altLang="en-US" sz="2000" i="1" dirty="0"/>
              <a:t> salary </a:t>
            </a:r>
            <a:r>
              <a:rPr lang="en-US" altLang="en-US" sz="2000" dirty="0"/>
              <a:t>to find instructors with a salary of $80000; test</a:t>
            </a:r>
            <a:r>
              <a:rPr lang="en-US" altLang="en-US" sz="2000" i="1" dirty="0"/>
              <a:t> dept_name = </a:t>
            </a:r>
            <a:r>
              <a:rPr lang="ja-JP" altLang="en-US" sz="2000" dirty="0"/>
              <a:t>“</a:t>
            </a:r>
            <a:r>
              <a:rPr lang="en-US" altLang="ja-JP" sz="2000" dirty="0"/>
              <a:t>Finance</a:t>
            </a:r>
            <a:r>
              <a:rPr lang="ja-JP" altLang="en-US" sz="2000" dirty="0"/>
              <a:t>”</a:t>
            </a:r>
            <a:r>
              <a:rPr lang="en-US" altLang="ja-JP" sz="2000" dirty="0"/>
              <a:t>.</a:t>
            </a:r>
            <a:endParaRPr lang="en-US" altLang="ja-JP" sz="2000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2000" dirty="0"/>
              <a:t>3.	Use </a:t>
            </a:r>
            <a:r>
              <a:rPr lang="en-US" altLang="en-US" sz="2000" i="1" dirty="0"/>
              <a:t>dept_name </a:t>
            </a:r>
            <a:r>
              <a:rPr lang="en-US" altLang="en-US" sz="2000" dirty="0"/>
              <a:t>index to find pointers to all records pertaining to the </a:t>
            </a:r>
            <a:r>
              <a:rPr lang="ja-JP" altLang="en-US" sz="2000" dirty="0"/>
              <a:t>“</a:t>
            </a:r>
            <a:r>
              <a:rPr lang="en-US" altLang="ja-JP" sz="2000" dirty="0"/>
              <a:t>Finance</a:t>
            </a:r>
            <a:r>
              <a:rPr lang="ja-JP" altLang="en-US" sz="2000" dirty="0"/>
              <a:t>”</a:t>
            </a:r>
            <a:r>
              <a:rPr lang="en-US" altLang="ja-JP" sz="2000" dirty="0"/>
              <a:t> department.  Similarly use index on </a:t>
            </a:r>
            <a:r>
              <a:rPr lang="en-US" altLang="ja-JP" sz="2000" i="1" dirty="0"/>
              <a:t>salary</a:t>
            </a:r>
            <a:r>
              <a:rPr lang="en-US" altLang="ja-JP" sz="2000" dirty="0"/>
              <a:t>.  Take intersection of both sets of pointers obtained.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Indices on Multiple Keys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Composite search keys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are search keys containing more than one attribute</a:t>
            </a:r>
            <a:endParaRPr lang="en-US" altLang="en-US" sz="2000" dirty="0"/>
          </a:p>
          <a:p>
            <a:pPr lvl="1"/>
            <a:r>
              <a:rPr lang="en-US" altLang="en-US" sz="2000" dirty="0"/>
              <a:t>E.g., (</a:t>
            </a:r>
            <a:r>
              <a:rPr lang="en-US" altLang="en-US" sz="2000" i="1" dirty="0"/>
              <a:t>dept_name, salary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r>
              <a:rPr lang="en-US" altLang="en-US" sz="2000" dirty="0"/>
              <a:t>Lexicographic ordering: (a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a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) &lt; (b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b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) if either </a:t>
            </a:r>
            <a:endParaRPr lang="en-US" altLang="en-US" sz="2000" dirty="0"/>
          </a:p>
          <a:p>
            <a:pPr lvl="1"/>
            <a:r>
              <a:rPr lang="en-US" altLang="en-US" sz="2000" dirty="0"/>
              <a:t>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&lt; b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or </a:t>
            </a:r>
            <a:endParaRPr lang="en-US" altLang="en-US" sz="2000" dirty="0"/>
          </a:p>
          <a:p>
            <a:pPr lvl="1"/>
            <a:r>
              <a:rPr lang="en-US" altLang="en-US" sz="2000" dirty="0"/>
              <a:t>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=b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and  a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&lt; b</a:t>
            </a:r>
            <a:r>
              <a:rPr lang="en-US" altLang="en-US" sz="2000" baseline="-25000" dirty="0"/>
              <a:t>2</a:t>
            </a:r>
            <a:endParaRPr lang="en-US" altLang="en-US" sz="2000" baseline="-25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Indices on Multiple Attributes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8393" y="1900234"/>
            <a:ext cx="7467600" cy="4137025"/>
          </a:xfrm>
        </p:spPr>
        <p:txBody>
          <a:bodyPr/>
          <a:lstStyle/>
          <a:p>
            <a:r>
              <a:rPr lang="en-US" altLang="en-US" sz="2000" dirty="0"/>
              <a:t> With the </a:t>
            </a:r>
            <a:r>
              <a:rPr lang="en-US" altLang="en-US" sz="2000" b="1" dirty="0"/>
              <a:t>where</a:t>
            </a:r>
            <a:r>
              <a:rPr lang="en-US" altLang="en-US" sz="2000" dirty="0"/>
              <a:t> clause</a:t>
            </a:r>
            <a:br>
              <a:rPr lang="en-US" altLang="en-US" sz="2000" dirty="0"/>
            </a:br>
            <a:r>
              <a:rPr lang="en-US" altLang="en-US" sz="2000" dirty="0"/>
              <a:t>           </a:t>
            </a:r>
            <a:r>
              <a:rPr lang="en-US" altLang="en-US" sz="2000" b="1" dirty="0"/>
              <a:t>where</a:t>
            </a:r>
            <a:r>
              <a:rPr lang="en-US" altLang="en-US" sz="2000" i="1" dirty="0"/>
              <a:t> dept_name =</a:t>
            </a:r>
            <a:r>
              <a:rPr lang="en-US" altLang="en-US" sz="2000" dirty="0"/>
              <a:t> </a:t>
            </a:r>
            <a:r>
              <a:rPr lang="ja-JP" altLang="en-US" sz="2000" dirty="0"/>
              <a:t>“</a:t>
            </a:r>
            <a:r>
              <a:rPr lang="en-US" altLang="ja-JP" sz="2000" dirty="0"/>
              <a:t>Finance</a:t>
            </a:r>
            <a:r>
              <a:rPr lang="ja-JP" altLang="en-US" sz="2000" dirty="0"/>
              <a:t>”</a:t>
            </a:r>
            <a:r>
              <a:rPr lang="en-US" altLang="ja-JP" sz="2000" dirty="0"/>
              <a:t> </a:t>
            </a:r>
            <a:r>
              <a:rPr lang="en-US" altLang="ja-JP" sz="2000" b="1" dirty="0"/>
              <a:t>and</a:t>
            </a:r>
            <a:r>
              <a:rPr lang="en-US" altLang="ja-JP" sz="2000" dirty="0"/>
              <a:t> </a:t>
            </a:r>
            <a:r>
              <a:rPr lang="en-US" altLang="ja-JP" sz="2000" i="1" dirty="0"/>
              <a:t>salary = </a:t>
            </a:r>
            <a:r>
              <a:rPr lang="en-US" altLang="ja-JP" sz="2000" dirty="0"/>
              <a:t>80000</a:t>
            </a:r>
            <a:br>
              <a:rPr lang="en-US" altLang="ja-JP" sz="2000" dirty="0"/>
            </a:br>
            <a:r>
              <a:rPr lang="en-US" altLang="ja-JP" sz="2000" dirty="0"/>
              <a:t>the index on (</a:t>
            </a:r>
            <a:r>
              <a:rPr lang="en-US" altLang="ja-JP" sz="2000" i="1" dirty="0"/>
              <a:t>dept_name, salary</a:t>
            </a:r>
            <a:r>
              <a:rPr lang="en-US" altLang="ja-JP" sz="2000" dirty="0"/>
              <a:t>) can be used to fetch only records that satisfy both conditions.</a:t>
            </a:r>
            <a:endParaRPr lang="en-US" altLang="ja-JP" sz="2000" dirty="0"/>
          </a:p>
          <a:p>
            <a:pPr lvl="1"/>
            <a:r>
              <a:rPr lang="en-US" altLang="en-US" sz="2000" dirty="0"/>
              <a:t>Using separate indices in less efficient — we may fetch many records (or pointers) that satisfy only one of the conditions.</a:t>
            </a:r>
            <a:endParaRPr lang="en-US" altLang="en-US" sz="2000" dirty="0"/>
          </a:p>
          <a:p>
            <a:r>
              <a:rPr lang="en-US" altLang="en-US" sz="2000" dirty="0"/>
              <a:t>Can also efficiently handle </a:t>
            </a:r>
            <a:br>
              <a:rPr lang="en-US" altLang="en-US" sz="2000" dirty="0"/>
            </a:br>
            <a:r>
              <a:rPr lang="en-US" altLang="en-US" sz="2000" dirty="0"/>
              <a:t>           </a:t>
            </a:r>
            <a:r>
              <a:rPr lang="en-US" altLang="en-US" sz="2000" b="1" dirty="0"/>
              <a:t>where</a:t>
            </a:r>
            <a:r>
              <a:rPr lang="en-US" altLang="en-US" sz="2000" i="1" dirty="0"/>
              <a:t> dept_name</a:t>
            </a:r>
            <a:r>
              <a:rPr lang="en-US" altLang="en-US" sz="2000" dirty="0"/>
              <a:t> = </a:t>
            </a:r>
            <a:r>
              <a:rPr lang="ja-JP" altLang="en-US" sz="2000" dirty="0"/>
              <a:t>“</a:t>
            </a:r>
            <a:r>
              <a:rPr lang="en-US" altLang="ja-JP" sz="2000" dirty="0"/>
              <a:t>Finance</a:t>
            </a:r>
            <a:r>
              <a:rPr lang="ja-JP" altLang="en-US" sz="2000" dirty="0"/>
              <a:t>”</a:t>
            </a:r>
            <a:r>
              <a:rPr lang="en-US" altLang="ja-JP" sz="2000" dirty="0"/>
              <a:t> </a:t>
            </a:r>
            <a:r>
              <a:rPr lang="en-US" altLang="ja-JP" sz="2000" b="1" dirty="0"/>
              <a:t>and </a:t>
            </a:r>
            <a:r>
              <a:rPr lang="en-US" altLang="ja-JP" sz="2000" i="1" dirty="0"/>
              <a:t>salary </a:t>
            </a:r>
            <a:r>
              <a:rPr lang="en-US" altLang="ja-JP" sz="2000" dirty="0"/>
              <a:t>&lt; 80000</a:t>
            </a:r>
            <a:endParaRPr lang="en-US" altLang="ja-JP" sz="2000" dirty="0"/>
          </a:p>
          <a:p>
            <a:r>
              <a:rPr lang="en-US" altLang="en-US" sz="2000" dirty="0"/>
              <a:t>But cannot efficiently handle</a:t>
            </a:r>
            <a:br>
              <a:rPr lang="en-US" altLang="en-US" sz="2000" dirty="0"/>
            </a:br>
            <a:r>
              <a:rPr lang="en-US" altLang="en-US" sz="2000" dirty="0"/>
              <a:t>          </a:t>
            </a:r>
            <a:r>
              <a:rPr lang="en-US" altLang="en-US" sz="2000" b="1" dirty="0"/>
              <a:t>where</a:t>
            </a:r>
            <a:r>
              <a:rPr lang="en-US" altLang="en-US" sz="2000" i="1" dirty="0"/>
              <a:t> dept_name </a:t>
            </a:r>
            <a:r>
              <a:rPr lang="en-US" altLang="en-US" sz="2000" dirty="0"/>
              <a:t>&lt; </a:t>
            </a:r>
            <a:r>
              <a:rPr lang="ja-JP" altLang="en-US" sz="2000" dirty="0"/>
              <a:t>“</a:t>
            </a:r>
            <a:r>
              <a:rPr lang="en-US" altLang="ja-JP" sz="2000" dirty="0"/>
              <a:t>Finance</a:t>
            </a:r>
            <a:r>
              <a:rPr lang="ja-JP" altLang="en-US" sz="2000" dirty="0"/>
              <a:t>”</a:t>
            </a:r>
            <a:r>
              <a:rPr lang="en-US" altLang="ja-JP" sz="2000" dirty="0"/>
              <a:t> </a:t>
            </a:r>
            <a:r>
              <a:rPr lang="en-US" altLang="ja-JP" sz="2000" b="1" dirty="0"/>
              <a:t>and</a:t>
            </a:r>
            <a:r>
              <a:rPr lang="en-US" altLang="ja-JP" sz="2000" dirty="0"/>
              <a:t> </a:t>
            </a:r>
            <a:r>
              <a:rPr lang="en-US" altLang="ja-JP" sz="2000" i="1" dirty="0"/>
              <a:t>balance = </a:t>
            </a:r>
            <a:r>
              <a:rPr lang="en-US" altLang="ja-JP" sz="2000" dirty="0"/>
              <a:t>80000</a:t>
            </a:r>
            <a:endParaRPr lang="en-US" altLang="ja-JP" sz="2000" dirty="0"/>
          </a:p>
          <a:p>
            <a:pPr lvl="1"/>
            <a:r>
              <a:rPr lang="en-US" altLang="en-US" sz="2000" dirty="0"/>
              <a:t>May fetch many records that satisfy the first but not the second condition</a:t>
            </a:r>
            <a:endParaRPr lang="en-US" altLang="en-US" sz="2000" dirty="0"/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900113" y="1131957"/>
            <a:ext cx="73358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2165350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Suppose we have an index on combined search-key</a:t>
            </a:r>
            <a:endParaRPr kumimoji="0" lang="en-US" altLang="en-US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	(</a:t>
            </a:r>
            <a:r>
              <a:rPr kumimoji="0" lang="en-US" altLang="en-US" sz="2000" i="1" dirty="0"/>
              <a:t>dept_name, salary</a:t>
            </a:r>
            <a:r>
              <a:rPr kumimoji="0" lang="en-US" altLang="en-US" sz="2000" dirty="0"/>
              <a:t>).</a:t>
            </a:r>
            <a:endParaRPr kumimoji="0" lang="en-US" altLang="en-US" sz="2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Other Features</a:t>
            </a:r>
            <a:endParaRPr lang="en-US" altLang="en-US" dirty="0">
              <a:effectLst/>
            </a:endParaRP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4501" y="1067662"/>
            <a:ext cx="7680236" cy="5263469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</a:rPr>
              <a:t>Covering indices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pPr lvl="1"/>
            <a:r>
              <a:rPr lang="en-US" altLang="en-US" sz="2000" dirty="0"/>
              <a:t>Add extra attributes to index so (some) queries can avoid fetching the actual records</a:t>
            </a:r>
            <a:endParaRPr lang="en-US" altLang="en-US" sz="2000" dirty="0"/>
          </a:p>
          <a:p>
            <a:pPr lvl="1"/>
            <a:r>
              <a:rPr lang="en-US" altLang="en-US" sz="2000" dirty="0"/>
              <a:t>Store extra attributes only at leaf</a:t>
            </a:r>
            <a:endParaRPr lang="en-US" altLang="en-US" sz="2000" dirty="0"/>
          </a:p>
          <a:p>
            <a:pPr lvl="2"/>
            <a:r>
              <a:rPr lang="en-US" altLang="en-US" sz="2000" dirty="0"/>
              <a:t>Why?</a:t>
            </a:r>
            <a:endParaRPr lang="en-US" altLang="en-US" sz="2000" dirty="0"/>
          </a:p>
          <a:p>
            <a:r>
              <a:rPr lang="en-US" altLang="en-US" sz="2000" dirty="0"/>
              <a:t>Particularly useful for secondary indices </a:t>
            </a:r>
            <a:endParaRPr lang="en-US" altLang="en-US" sz="2000" dirty="0"/>
          </a:p>
          <a:p>
            <a:pPr lvl="1"/>
            <a:r>
              <a:rPr lang="en-US" altLang="en-US" sz="2000" dirty="0"/>
              <a:t>Why?</a:t>
            </a:r>
            <a:endParaRPr lang="en-US" altLang="en-US" sz="2000" dirty="0"/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4501" y="1067662"/>
            <a:ext cx="7528264" cy="5263469"/>
          </a:xfrm>
        </p:spPr>
        <p:txBody>
          <a:bodyPr/>
          <a:lstStyle/>
          <a:p>
            <a:r>
              <a:rPr lang="en-US" altLang="en-US" sz="2000" dirty="0"/>
              <a:t>Bitmap indices are a special type of index designed for efficient querying on multiple keys</a:t>
            </a:r>
            <a:endParaRPr lang="en-US" altLang="en-US" sz="2000" dirty="0"/>
          </a:p>
          <a:p>
            <a:r>
              <a:rPr lang="en-US" altLang="en-US" sz="2000" dirty="0"/>
              <a:t>Records in a relation are assumed to be numbered sequentially from, say, 0</a:t>
            </a:r>
            <a:endParaRPr lang="en-US" altLang="en-US" sz="2000" dirty="0"/>
          </a:p>
          <a:p>
            <a:pPr lvl="1"/>
            <a:r>
              <a:rPr lang="en-US" altLang="en-US" sz="2000" dirty="0"/>
              <a:t>Given a number </a:t>
            </a:r>
            <a:r>
              <a:rPr lang="en-US" altLang="en-US" sz="2000" i="1" dirty="0"/>
              <a:t>n</a:t>
            </a:r>
            <a:r>
              <a:rPr lang="en-US" altLang="en-US" sz="2000" dirty="0"/>
              <a:t> it must be easy to retrieve record </a:t>
            </a:r>
            <a:r>
              <a:rPr lang="en-US" altLang="en-US" sz="2000" i="1" dirty="0"/>
              <a:t>n</a:t>
            </a:r>
            <a:endParaRPr lang="en-US" altLang="en-US" sz="2000" dirty="0"/>
          </a:p>
          <a:p>
            <a:pPr lvl="2"/>
            <a:r>
              <a:rPr lang="en-US" altLang="en-US" sz="2000" dirty="0"/>
              <a:t>Particularly easy if records are of fixed size</a:t>
            </a:r>
            <a:endParaRPr lang="en-US" altLang="en-US" sz="2000" dirty="0"/>
          </a:p>
          <a:p>
            <a:r>
              <a:rPr lang="en-US" altLang="en-US" sz="2000" dirty="0"/>
              <a:t>Applicable on attributes that take on a relatively small number of distinct values</a:t>
            </a:r>
            <a:endParaRPr lang="en-US" altLang="en-US" sz="2000" dirty="0"/>
          </a:p>
          <a:p>
            <a:pPr lvl="1"/>
            <a:r>
              <a:rPr lang="en-US" altLang="en-US" sz="2000" dirty="0"/>
              <a:t>E.g., gender, country, state, …</a:t>
            </a:r>
            <a:endParaRPr lang="en-US" altLang="en-US" sz="2000" dirty="0"/>
          </a:p>
          <a:p>
            <a:pPr lvl="1"/>
            <a:r>
              <a:rPr lang="en-US" altLang="en-US" sz="2000" dirty="0"/>
              <a:t>E.g., income-level (income broken up into a small number of  levels such as 0-9999, 10000-19999, 20000-50000, 50000- infinity)</a:t>
            </a:r>
            <a:endParaRPr lang="en-US" altLang="en-US" sz="2000" dirty="0"/>
          </a:p>
          <a:p>
            <a:r>
              <a:rPr lang="en-US" altLang="en-US" sz="2000" dirty="0"/>
              <a:t>A bitmap is simply an array of bits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4501" y="1020932"/>
            <a:ext cx="7641162" cy="4976643"/>
          </a:xfrm>
        </p:spPr>
        <p:txBody>
          <a:bodyPr/>
          <a:lstStyle/>
          <a:p>
            <a:r>
              <a:rPr lang="en-US" altLang="en-US" sz="2000" dirty="0"/>
              <a:t>In its simplest form a bitmap index on an attribute has a bitmap for each value of the attribute</a:t>
            </a:r>
            <a:endParaRPr lang="en-US" altLang="en-US" sz="2000" dirty="0"/>
          </a:p>
          <a:p>
            <a:pPr lvl="1"/>
            <a:r>
              <a:rPr lang="en-US" altLang="en-US" sz="2000" dirty="0"/>
              <a:t>Bitmap has as many bits as records</a:t>
            </a:r>
            <a:endParaRPr lang="en-US" altLang="en-US" sz="2000" dirty="0"/>
          </a:p>
          <a:p>
            <a:pPr lvl="1"/>
            <a:r>
              <a:rPr lang="en-US" altLang="en-US" sz="2000" dirty="0"/>
              <a:t>In a bitmap for value v, the bit for a record is 1 if the record has the value v for the attribute, and is 0 otherwise</a:t>
            </a:r>
            <a:endParaRPr lang="en-US" altLang="en-US" sz="2000" dirty="0"/>
          </a:p>
          <a:p>
            <a:r>
              <a:rPr lang="en-US" altLang="en-US" sz="2000" dirty="0"/>
              <a:t>Example</a:t>
            </a:r>
            <a:endParaRPr lang="en-US" altLang="en-US" sz="2000" dirty="0"/>
          </a:p>
        </p:txBody>
      </p:sp>
      <p:pic>
        <p:nvPicPr>
          <p:cNvPr id="157700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886" y="3367639"/>
            <a:ext cx="6038127" cy="2629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4502" y="1083075"/>
            <a:ext cx="7732450" cy="5311375"/>
          </a:xfrm>
        </p:spPr>
        <p:txBody>
          <a:bodyPr/>
          <a:lstStyle/>
          <a:p>
            <a:pPr marL="381000" indent="-381000"/>
            <a:r>
              <a:rPr lang="en-US" altLang="en-US" sz="2000" dirty="0"/>
              <a:t>Bitmap indices are useful for queries on multiple attributes </a:t>
            </a:r>
            <a:endParaRPr lang="en-US" altLang="en-US" sz="2000" dirty="0"/>
          </a:p>
          <a:p>
            <a:pPr marL="800100" lvl="1" indent="-342900"/>
            <a:r>
              <a:rPr lang="en-US" altLang="en-US" sz="2000" dirty="0"/>
              <a:t>not particularly useful for single attribute queries</a:t>
            </a:r>
            <a:endParaRPr lang="en-US" altLang="en-US" sz="2000" dirty="0"/>
          </a:p>
          <a:p>
            <a:pPr marL="381000" indent="-381000"/>
            <a:r>
              <a:rPr lang="en-US" altLang="en-US" sz="2000" dirty="0"/>
              <a:t>Queries are answered using bitmap operations</a:t>
            </a:r>
            <a:endParaRPr lang="en-US" altLang="en-US" sz="2000" dirty="0"/>
          </a:p>
          <a:p>
            <a:pPr marL="800100" lvl="1" indent="-342900"/>
            <a:r>
              <a:rPr lang="en-US" altLang="en-US" sz="2000" dirty="0"/>
              <a:t>Intersection (and)</a:t>
            </a:r>
            <a:endParaRPr lang="en-US" altLang="en-US" sz="2000" dirty="0"/>
          </a:p>
          <a:p>
            <a:pPr marL="800100" lvl="1" indent="-342900"/>
            <a:r>
              <a:rPr lang="en-US" altLang="en-US" sz="2000" dirty="0"/>
              <a:t>Union (or)</a:t>
            </a:r>
            <a:endParaRPr lang="en-US" altLang="en-US" sz="2000" dirty="0"/>
          </a:p>
          <a:p>
            <a:pPr marL="381000" indent="-381000"/>
            <a:r>
              <a:rPr lang="en-US" altLang="en-US" sz="2000" dirty="0"/>
              <a:t>Each operation takes two bitmaps of the same size and applies the operation on corresponding bits to get the result bitmap</a:t>
            </a:r>
            <a:endParaRPr lang="en-US" altLang="en-US" sz="2000" dirty="0"/>
          </a:p>
          <a:p>
            <a:pPr marL="800100" lvl="1" indent="-342900"/>
            <a:r>
              <a:rPr lang="en-US" altLang="en-US" sz="2000" dirty="0"/>
              <a:t>E.g.,   100110  AND 110011 = 100010</a:t>
            </a:r>
            <a:endParaRPr lang="en-US" altLang="en-US" sz="2000" dirty="0"/>
          </a:p>
          <a:p>
            <a:pPr marL="800100" lvl="1" indent="-342900">
              <a:buFont typeface="Monotype Sorts" pitchFamily="-65" charset="2"/>
              <a:buNone/>
            </a:pPr>
            <a:r>
              <a:rPr lang="en-US" altLang="en-US" sz="2000" dirty="0"/>
              <a:t>                100110  OR  110011 = 110111</a:t>
            </a:r>
            <a:br>
              <a:rPr lang="en-US" altLang="en-US" sz="2000" dirty="0"/>
            </a:br>
            <a:r>
              <a:rPr lang="en-US" altLang="en-US" sz="2000" dirty="0"/>
              <a:t>                       NOT 100110  = 011001</a:t>
            </a:r>
            <a:endParaRPr lang="en-US" altLang="en-US" sz="2000" dirty="0"/>
          </a:p>
          <a:p>
            <a:pPr marL="800100" lvl="1" indent="-342900"/>
            <a:r>
              <a:rPr lang="en-US" altLang="en-US" sz="2000" dirty="0"/>
              <a:t>Males with income level L1:   10010 AND 10100 = 10000</a:t>
            </a:r>
            <a:endParaRPr lang="en-US" altLang="en-US" sz="2000" dirty="0"/>
          </a:p>
          <a:p>
            <a:pPr marL="1200150" lvl="2" indent="-342900"/>
            <a:r>
              <a:rPr lang="en-US" altLang="en-US" sz="2000" dirty="0"/>
              <a:t>Can then retrieve required tuples.</a:t>
            </a:r>
            <a:endParaRPr lang="en-US" altLang="en-US" sz="2000" dirty="0"/>
          </a:p>
          <a:p>
            <a:pPr marL="1200150" lvl="2" indent="-342900"/>
            <a:r>
              <a:rPr lang="en-US" altLang="en-US" sz="2000" dirty="0"/>
              <a:t>Counting number of matching tuples is even faster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Bitmap Indices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2256" y="1198485"/>
            <a:ext cx="7510509" cy="4813378"/>
          </a:xfrm>
        </p:spPr>
        <p:txBody>
          <a:bodyPr/>
          <a:lstStyle/>
          <a:p>
            <a:r>
              <a:rPr lang="en-US" altLang="en-US" sz="2000" dirty="0"/>
              <a:t>Bitmap indices generally very small compared with relation size</a:t>
            </a:r>
            <a:endParaRPr lang="en-US" altLang="en-US" sz="2000" dirty="0"/>
          </a:p>
          <a:p>
            <a:pPr lvl="1"/>
            <a:r>
              <a:rPr lang="en-US" altLang="en-US" sz="2000" dirty="0"/>
              <a:t>E.g., if record is 100 bytes, space for a single bitmap is 1/800 of space used by relation.  </a:t>
            </a:r>
            <a:endParaRPr lang="en-US" altLang="en-US" sz="2000" dirty="0"/>
          </a:p>
          <a:p>
            <a:pPr lvl="2"/>
            <a:r>
              <a:rPr lang="en-US" altLang="en-US" sz="2000" dirty="0"/>
              <a:t>If number of distinct attribute values is 8, bitmap is only 1% of relation size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Efficient Implementation of Bitmap Operations</a:t>
            </a:r>
            <a:endParaRPr lang="en-US" alt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4500" y="1093788"/>
            <a:ext cx="7581531" cy="4903787"/>
          </a:xfrm>
        </p:spPr>
        <p:txBody>
          <a:bodyPr/>
          <a:lstStyle/>
          <a:p>
            <a:r>
              <a:rPr lang="en-US" altLang="en-US" sz="1800" dirty="0"/>
              <a:t>Bitmaps are packed into words;  a single word and (a basic CPU instruction) computes and of 32 or 64 bits at once</a:t>
            </a:r>
            <a:endParaRPr lang="en-US" altLang="en-US" sz="1800" dirty="0"/>
          </a:p>
          <a:p>
            <a:pPr lvl="1"/>
            <a:r>
              <a:rPr lang="en-US" altLang="en-US" sz="1800" dirty="0"/>
              <a:t>E.g., 1-million-bit maps can be and-</a:t>
            </a:r>
            <a:r>
              <a:rPr lang="en-US" altLang="en-US" sz="1800" dirty="0" err="1"/>
              <a:t>ed</a:t>
            </a:r>
            <a:r>
              <a:rPr lang="en-US" altLang="en-US" sz="1800" dirty="0"/>
              <a:t> with just 31,250 instruction</a:t>
            </a:r>
            <a:endParaRPr lang="en-US" altLang="en-US" sz="1800" dirty="0"/>
          </a:p>
          <a:p>
            <a:r>
              <a:rPr lang="en-US" altLang="en-US" sz="1800" dirty="0"/>
              <a:t>Counting number of 1s can be done fast by a trick:</a:t>
            </a:r>
            <a:endParaRPr lang="en-US" altLang="en-US" sz="1800" dirty="0"/>
          </a:p>
          <a:p>
            <a:pPr lvl="1"/>
            <a:r>
              <a:rPr lang="en-US" altLang="en-US" sz="1800" dirty="0"/>
              <a:t>Use each byte to index into a precomputed array of 256 elements each storing the count of 1s in the binary representation</a:t>
            </a:r>
            <a:endParaRPr lang="en-US" altLang="en-US" sz="1800" dirty="0"/>
          </a:p>
          <a:p>
            <a:pPr lvl="2"/>
            <a:r>
              <a:rPr lang="en-US" altLang="en-US" sz="1800" dirty="0"/>
              <a:t>Can use pairs of bytes to speed up further at a higher memory cost</a:t>
            </a:r>
            <a:endParaRPr lang="en-US" altLang="en-US" sz="1800" dirty="0"/>
          </a:p>
          <a:p>
            <a:pPr lvl="1"/>
            <a:r>
              <a:rPr lang="en-US" altLang="en-US" sz="1800" dirty="0"/>
              <a:t>Add up the retrieved counts</a:t>
            </a:r>
            <a:endParaRPr lang="en-US" altLang="en-US" sz="1800" dirty="0"/>
          </a:p>
          <a:p>
            <a:r>
              <a:rPr lang="en-US" altLang="en-US" sz="1800" dirty="0"/>
              <a:t>Bitmaps can be used instead of Tuple-ID lists at leaf levels of </a:t>
            </a:r>
            <a:br>
              <a:rPr lang="en-US" altLang="en-US" sz="1800" dirty="0"/>
            </a:br>
            <a:r>
              <a:rPr lang="en-US" altLang="en-US" sz="1800" dirty="0"/>
              <a:t>B</a:t>
            </a:r>
            <a:r>
              <a:rPr lang="en-US" altLang="en-US" sz="1800" baseline="30000" dirty="0"/>
              <a:t>+</a:t>
            </a:r>
            <a:r>
              <a:rPr lang="en-US" altLang="en-US" sz="1800" dirty="0"/>
              <a:t>-trees, for values that have a large number of matching records</a:t>
            </a:r>
            <a:endParaRPr lang="en-US" altLang="en-US" sz="1800" dirty="0"/>
          </a:p>
          <a:p>
            <a:pPr lvl="1"/>
            <a:r>
              <a:rPr lang="en-US" altLang="en-US" sz="1800" dirty="0"/>
              <a:t>Worthwhile if &gt; 1/64 of the records have that value, assuming a tuple-id is 64 bits</a:t>
            </a:r>
            <a:endParaRPr lang="en-US" altLang="en-US" sz="1800" dirty="0"/>
          </a:p>
          <a:p>
            <a:pPr lvl="1"/>
            <a:r>
              <a:rPr lang="en-US" altLang="en-US" sz="1800" dirty="0"/>
              <a:t>Above technique merges benefits of bitmap and B</a:t>
            </a:r>
            <a:r>
              <a:rPr lang="en-US" altLang="en-US" sz="1800" baseline="30000" dirty="0"/>
              <a:t>+</a:t>
            </a:r>
            <a:r>
              <a:rPr lang="en-US" altLang="en-US" sz="1800" dirty="0"/>
              <a:t>-tree indices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Creation of Indices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500" y="1067662"/>
            <a:ext cx="8011050" cy="5263469"/>
          </a:xfrm>
        </p:spPr>
        <p:txBody>
          <a:bodyPr/>
          <a:lstStyle/>
          <a:p>
            <a:r>
              <a:rPr lang="en-IN" dirty="0"/>
              <a:t>Example</a:t>
            </a:r>
            <a:br>
              <a:rPr lang="en-IN" b="1" dirty="0"/>
            </a:br>
            <a:r>
              <a:rPr lang="en-IN" sz="2000" b="1" dirty="0"/>
              <a:t>  </a:t>
            </a:r>
            <a:r>
              <a:rPr lang="en-IN" sz="2000" b="1" dirty="0">
                <a:solidFill>
                  <a:srgbClr val="FF0000"/>
                </a:solidFill>
              </a:rPr>
              <a:t>create index</a:t>
            </a:r>
            <a:r>
              <a:rPr lang="en-IN" sz="2000" dirty="0">
                <a:solidFill>
                  <a:srgbClr val="FF0000"/>
                </a:solidFill>
              </a:rPr>
              <a:t> </a:t>
            </a:r>
            <a:r>
              <a:rPr lang="en-IN" sz="2000" i="1" dirty="0" err="1"/>
              <a:t>takes_pk</a:t>
            </a:r>
            <a:r>
              <a:rPr lang="en-IN" sz="2000" dirty="0"/>
              <a:t> </a:t>
            </a:r>
            <a:r>
              <a:rPr lang="en-IN" sz="2000" b="1" dirty="0">
                <a:solidFill>
                  <a:srgbClr val="002060"/>
                </a:solidFill>
              </a:rPr>
              <a:t>on</a:t>
            </a:r>
            <a:r>
              <a:rPr lang="en-IN" sz="2000" dirty="0"/>
              <a:t> </a:t>
            </a:r>
            <a:r>
              <a:rPr lang="en-IN" sz="2000" i="1" dirty="0"/>
              <a:t>takes</a:t>
            </a:r>
            <a:r>
              <a:rPr lang="en-IN" sz="2000" dirty="0"/>
              <a:t> (</a:t>
            </a:r>
            <a:r>
              <a:rPr lang="en-IN" sz="2000" i="1" dirty="0" err="1"/>
              <a:t>ID,course_ID</a:t>
            </a:r>
            <a:r>
              <a:rPr lang="en-IN" sz="2000" i="1" dirty="0"/>
              <a:t>, year, semester, section</a:t>
            </a:r>
            <a:r>
              <a:rPr lang="en-IN" sz="2000" dirty="0"/>
              <a:t>)</a:t>
            </a:r>
            <a:br>
              <a:rPr lang="en-IN" sz="2000" dirty="0"/>
            </a:br>
            <a:r>
              <a:rPr lang="en-US" sz="2000" dirty="0"/>
              <a:t>  </a:t>
            </a:r>
            <a:r>
              <a:rPr lang="en-US" altLang="en-US" sz="2000" b="1" dirty="0">
                <a:solidFill>
                  <a:srgbClr val="FF0000"/>
                </a:solidFill>
              </a:rPr>
              <a:t>drop index 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  <a:r>
              <a:rPr lang="en-US" altLang="en-US" sz="2000" i="1" dirty="0" err="1"/>
              <a:t>takes_pk</a:t>
            </a:r>
            <a:endParaRPr lang="en-US" altLang="en-US" sz="2000" dirty="0"/>
          </a:p>
          <a:p>
            <a:pPr>
              <a:tabLst>
                <a:tab pos="1312545" algn="l"/>
                <a:tab pos="2120900" algn="l"/>
                <a:tab pos="4575175" algn="l"/>
                <a:tab pos="4978400" algn="l"/>
              </a:tabLst>
            </a:pPr>
            <a:r>
              <a:rPr lang="en-US" altLang="en-US" sz="2000" dirty="0"/>
              <a:t>Most database systems allow specification of type of index, and clustering.</a:t>
            </a:r>
            <a:endParaRPr lang="en-IN" sz="2000" dirty="0"/>
          </a:p>
          <a:p>
            <a:r>
              <a:rPr lang="en-IN" sz="2000" dirty="0"/>
              <a:t>Indices on primary key created automatically by all databases</a:t>
            </a:r>
            <a:endParaRPr lang="en-IN" sz="2000" dirty="0"/>
          </a:p>
          <a:p>
            <a:pPr lvl="1"/>
            <a:r>
              <a:rPr lang="en-IN" sz="2000" dirty="0"/>
              <a:t>Why?</a:t>
            </a:r>
            <a:endParaRPr lang="en-IN" sz="2000" dirty="0"/>
          </a:p>
          <a:p>
            <a:r>
              <a:rPr lang="en-IN" sz="2000" dirty="0"/>
              <a:t>Some database also create indices on foreign key attributes</a:t>
            </a:r>
            <a:endParaRPr lang="en-IN" sz="2000" dirty="0"/>
          </a:p>
          <a:p>
            <a:pPr lvl="1"/>
            <a:r>
              <a:rPr lang="en-IN" sz="2000" dirty="0"/>
              <a:t>Why might such an index be useful for this query:</a:t>
            </a:r>
            <a:endParaRPr lang="en-IN" sz="2000" dirty="0"/>
          </a:p>
          <a:p>
            <a:pPr lvl="2"/>
            <a:r>
              <a:rPr lang="en-IN" sz="2000" i="1" dirty="0"/>
              <a:t>takes </a:t>
            </a:r>
            <a:r>
              <a:rPr lang="en-IN" sz="2000" dirty="0"/>
              <a:t>⨝ </a:t>
            </a:r>
            <a:r>
              <a:rPr lang="el-GR" sz="2000" dirty="0"/>
              <a:t>σ</a:t>
            </a:r>
            <a:r>
              <a:rPr lang="en-IN" sz="2000" i="1" baseline="-25000" dirty="0"/>
              <a:t>name='Shankar'</a:t>
            </a:r>
            <a:r>
              <a:rPr lang="en-IN" sz="2000" i="1" dirty="0"/>
              <a:t> </a:t>
            </a:r>
            <a:r>
              <a:rPr lang="en-IN" sz="2000" dirty="0"/>
              <a:t>(</a:t>
            </a:r>
            <a:r>
              <a:rPr lang="en-IN" sz="2000" i="1" dirty="0"/>
              <a:t>student</a:t>
            </a:r>
            <a:r>
              <a:rPr lang="en-IN" sz="2000" dirty="0"/>
              <a:t>)</a:t>
            </a:r>
            <a:endParaRPr lang="en-IN" sz="2000" dirty="0"/>
          </a:p>
          <a:p>
            <a:r>
              <a:rPr lang="en-IN" sz="2000" dirty="0"/>
              <a:t>Indices can greatly speed up lookups, but impose cost on updates</a:t>
            </a:r>
            <a:endParaRPr lang="en-IN" sz="2000" dirty="0"/>
          </a:p>
          <a:p>
            <a:pPr lvl="1"/>
            <a:r>
              <a:rPr lang="en-IN" sz="2000" dirty="0"/>
              <a:t>Index tuning assistants/wizards supported on several databases to help choose indices, based on query and update workload</a:t>
            </a:r>
            <a:endParaRPr lang="en-IN" sz="20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Index Definition in SQL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3379" y="1067662"/>
            <a:ext cx="7546019" cy="5263469"/>
          </a:xfrm>
        </p:spPr>
        <p:txBody>
          <a:bodyPr/>
          <a:lstStyle/>
          <a:p>
            <a:pPr>
              <a:tabLst>
                <a:tab pos="1312545" algn="l"/>
                <a:tab pos="2120900" algn="l"/>
                <a:tab pos="4575175" algn="l"/>
                <a:tab pos="4978400" algn="l"/>
              </a:tabLst>
            </a:pPr>
            <a:r>
              <a:rPr lang="en-US" altLang="en-US" sz="2000" dirty="0"/>
              <a:t>Create an index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  <a:tabLst>
                <a:tab pos="1312545" algn="l"/>
                <a:tab pos="2120900" algn="l"/>
                <a:tab pos="4575175" algn="l"/>
                <a:tab pos="4978400" algn="l"/>
              </a:tabLst>
            </a:pPr>
            <a:r>
              <a:rPr lang="en-US" altLang="en-US" sz="2000" dirty="0"/>
              <a:t>		</a:t>
            </a:r>
            <a:r>
              <a:rPr lang="en-US" altLang="en-US" sz="2000" b="1" dirty="0"/>
              <a:t>create index</a:t>
            </a:r>
            <a:r>
              <a:rPr lang="en-US" altLang="en-US" sz="2000" dirty="0"/>
              <a:t> &lt;index-name&gt; </a:t>
            </a:r>
            <a:r>
              <a:rPr lang="en-US" altLang="en-US" sz="2000" b="1" dirty="0"/>
              <a:t>on</a:t>
            </a:r>
            <a:r>
              <a:rPr lang="en-US" altLang="en-US" sz="2000" dirty="0"/>
              <a:t> &lt;relation-name&gt;</a:t>
            </a:r>
            <a:br>
              <a:rPr lang="en-US" altLang="en-US" sz="2000" dirty="0"/>
            </a:br>
            <a:r>
              <a:rPr lang="en-US" altLang="en-US" sz="2000" dirty="0"/>
              <a:t>			(&lt;attribute-list&gt;)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  <a:tabLst>
                <a:tab pos="1312545" algn="l"/>
                <a:tab pos="2120900" algn="l"/>
                <a:tab pos="4575175" algn="l"/>
                <a:tab pos="4978400" algn="l"/>
              </a:tabLst>
            </a:pPr>
            <a:r>
              <a:rPr lang="en-US" altLang="en-US" sz="2000" dirty="0"/>
              <a:t>E.g.,:  </a:t>
            </a:r>
            <a:r>
              <a:rPr lang="en-US" altLang="en-US" sz="2000" b="1" dirty="0"/>
              <a:t>create index </a:t>
            </a:r>
            <a:r>
              <a:rPr lang="en-US" altLang="en-US" sz="2000" i="1" dirty="0"/>
              <a:t> b-index </a:t>
            </a:r>
            <a:r>
              <a:rPr lang="en-US" altLang="en-US" sz="2000" b="1" dirty="0"/>
              <a:t>on</a:t>
            </a:r>
            <a:r>
              <a:rPr lang="en-US" altLang="en-US" sz="2000" i="1" dirty="0"/>
              <a:t> branch(</a:t>
            </a:r>
            <a:r>
              <a:rPr lang="en-US" altLang="en-US" sz="2000" i="1" dirty="0" err="1"/>
              <a:t>branch_name</a:t>
            </a:r>
            <a:r>
              <a:rPr lang="en-US" altLang="en-US" sz="2000" i="1" dirty="0"/>
              <a:t>)</a:t>
            </a:r>
            <a:endParaRPr lang="en-US" altLang="en-US" sz="2000" dirty="0"/>
          </a:p>
          <a:p>
            <a:pPr>
              <a:tabLst>
                <a:tab pos="1312545" algn="l"/>
                <a:tab pos="2120900" algn="l"/>
                <a:tab pos="4575175" algn="l"/>
                <a:tab pos="4978400" algn="l"/>
              </a:tabLst>
            </a:pPr>
            <a:r>
              <a:rPr lang="en-US" altLang="en-US" sz="2000" dirty="0"/>
              <a:t>Use </a:t>
            </a:r>
            <a:r>
              <a:rPr lang="en-US" altLang="en-US" sz="2000" b="1" dirty="0"/>
              <a:t>create unique index</a:t>
            </a:r>
            <a:r>
              <a:rPr lang="en-US" altLang="en-US" sz="2000" dirty="0"/>
              <a:t> to indirectly specify and enforce the condition that the search key is a candidate key is a candidate key.</a:t>
            </a:r>
            <a:endParaRPr lang="en-US" altLang="en-US" sz="2000" dirty="0"/>
          </a:p>
          <a:p>
            <a:pPr lvl="1">
              <a:tabLst>
                <a:tab pos="1312545" algn="l"/>
                <a:tab pos="2120900" algn="l"/>
                <a:tab pos="4575175" algn="l"/>
                <a:tab pos="4978400" algn="l"/>
              </a:tabLst>
            </a:pPr>
            <a:r>
              <a:rPr lang="en-US" altLang="en-US" sz="2000" dirty="0"/>
              <a:t>Not really required if SQL </a:t>
            </a:r>
            <a:r>
              <a:rPr lang="en-US" altLang="en-US" sz="2000" b="1" dirty="0"/>
              <a:t>unique</a:t>
            </a:r>
            <a:r>
              <a:rPr lang="en-US" altLang="en-US" sz="2000" dirty="0"/>
              <a:t> integrity constraint is supported</a:t>
            </a:r>
            <a:endParaRPr lang="en-US" altLang="en-US" sz="2000" dirty="0"/>
          </a:p>
          <a:p>
            <a:pPr>
              <a:tabLst>
                <a:tab pos="1312545" algn="l"/>
                <a:tab pos="2120900" algn="l"/>
                <a:tab pos="4575175" algn="l"/>
                <a:tab pos="4978400" algn="l"/>
              </a:tabLst>
            </a:pPr>
            <a:r>
              <a:rPr lang="en-US" altLang="en-US" sz="2000" dirty="0"/>
              <a:t>To drop an index 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  <a:tabLst>
                <a:tab pos="1312545" algn="l"/>
                <a:tab pos="2120900" algn="l"/>
                <a:tab pos="4575175" algn="l"/>
                <a:tab pos="4978400" algn="l"/>
              </a:tabLst>
            </a:pPr>
            <a:r>
              <a:rPr lang="en-US" altLang="en-US" sz="2000" dirty="0"/>
              <a:t>			</a:t>
            </a:r>
            <a:r>
              <a:rPr lang="en-US" altLang="en-US" sz="2000" b="1" dirty="0"/>
              <a:t>drop index </a:t>
            </a:r>
            <a:r>
              <a:rPr lang="en-US" altLang="en-US" sz="2000" dirty="0"/>
              <a:t>&lt;index-name&gt;</a:t>
            </a:r>
            <a:endParaRPr lang="en-US" altLang="en-US" sz="2000" dirty="0"/>
          </a:p>
          <a:p>
            <a:pPr>
              <a:tabLst>
                <a:tab pos="1312545" algn="l"/>
                <a:tab pos="2120900" algn="l"/>
                <a:tab pos="4575175" algn="l"/>
                <a:tab pos="4978400" algn="l"/>
              </a:tabLst>
            </a:pPr>
            <a:r>
              <a:rPr lang="en-US" altLang="en-US" sz="2000" dirty="0"/>
              <a:t>Most database systems allow specification of type of index, and clustering.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10</a:t>
            </a: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0</TotalTime>
  <Words>28068</Words>
  <Application>WPS 演示</Application>
  <PresentationFormat>全屏显示(4:3)</PresentationFormat>
  <Paragraphs>683</Paragraphs>
  <Slides>72</Slides>
  <Notes>58</Notes>
  <HiddenSlides>7</HiddenSlides>
  <MMClips>0</MMClips>
  <ScaleCrop>false</ScaleCrop>
  <HeadingPairs>
    <vt:vector size="10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72</vt:i4>
      </vt:variant>
      <vt:variant>
        <vt:lpstr>自定义放映</vt:lpstr>
      </vt:variant>
      <vt:variant>
        <vt:i4>1</vt:i4>
      </vt:variant>
    </vt:vector>
  </HeadingPairs>
  <TitlesOfParts>
    <vt:vector size="87" baseType="lpstr">
      <vt:lpstr>Arial</vt:lpstr>
      <vt:lpstr>宋体</vt:lpstr>
      <vt:lpstr>Wingdings</vt:lpstr>
      <vt:lpstr>Helvetica</vt:lpstr>
      <vt:lpstr>MS PGothic</vt:lpstr>
      <vt:lpstr>Times New Roman</vt:lpstr>
      <vt:lpstr>Monotype Sorts</vt:lpstr>
      <vt:lpstr>Wingdings</vt:lpstr>
      <vt:lpstr>Webdings</vt:lpstr>
      <vt:lpstr>微软雅黑</vt:lpstr>
      <vt:lpstr>Arial Unicode MS</vt:lpstr>
      <vt:lpstr>Symbol</vt:lpstr>
      <vt:lpstr>Monotype Sorts</vt:lpstr>
      <vt:lpstr>2_db-5-grey</vt:lpstr>
      <vt:lpstr>Chapter 10: Indexing</vt:lpstr>
      <vt:lpstr>Outline</vt:lpstr>
      <vt:lpstr>Basic Concepts</vt:lpstr>
      <vt:lpstr>Index Evaluation Metrics</vt:lpstr>
      <vt:lpstr>Ordered Indices</vt:lpstr>
      <vt:lpstr>Dense Index Files</vt:lpstr>
      <vt:lpstr>Dense Index Files (Cont.)</vt:lpstr>
      <vt:lpstr>Sparse Index Files</vt:lpstr>
      <vt:lpstr>Sparse Index Files (Cont.)</vt:lpstr>
      <vt:lpstr>Secondary Indices Example</vt:lpstr>
      <vt:lpstr>Clustering vs Nonclustering Indices</vt:lpstr>
      <vt:lpstr>Multilevel Index</vt:lpstr>
      <vt:lpstr>Multilevel Index (Cont.)</vt:lpstr>
      <vt:lpstr>Index Update:  Deletion</vt:lpstr>
      <vt:lpstr>Index Update:  Insertion</vt:lpstr>
      <vt:lpstr>Indices on Multiple Keys</vt:lpstr>
      <vt:lpstr>B+-Tree Index Files</vt:lpstr>
      <vt:lpstr>Example of B+-Tree</vt:lpstr>
      <vt:lpstr>B+-Tree Index Files (Cont.)</vt:lpstr>
      <vt:lpstr>B+-Tree Node Structure</vt:lpstr>
      <vt:lpstr>Leaf Nodes in B+-Trees</vt:lpstr>
      <vt:lpstr>Non-Leaf Nodes in B+-Trees</vt:lpstr>
      <vt:lpstr>Example of B+-tree</vt:lpstr>
      <vt:lpstr>Observations about B+-trees</vt:lpstr>
      <vt:lpstr>Queries on B+-Trees</vt:lpstr>
      <vt:lpstr>Queries on B+-Trees (Cont.)</vt:lpstr>
      <vt:lpstr>Queries on B+-Trees (Cont.)</vt:lpstr>
      <vt:lpstr>Non-Unique Keys</vt:lpstr>
      <vt:lpstr>Updates on B+-Trees:  Insertion</vt:lpstr>
      <vt:lpstr>Updates on B+-Trees:  Insertion (Cont.)</vt:lpstr>
      <vt:lpstr>B+-Tree  Insertion</vt:lpstr>
      <vt:lpstr>B+-Tree  Insertion</vt:lpstr>
      <vt:lpstr>Insertion in B+-Trees (Cont.)</vt:lpstr>
      <vt:lpstr>Examples of B+-Tree Deletion</vt:lpstr>
      <vt:lpstr>Examples of B+-Tree Deletion (Cont.)</vt:lpstr>
      <vt:lpstr>Example of B+-tree Deletion (Cont.)</vt:lpstr>
      <vt:lpstr>Updates on B+-Trees: Deletion</vt:lpstr>
      <vt:lpstr>Updates on B+-Trees:  Deletion</vt:lpstr>
      <vt:lpstr>Complexity of Updates</vt:lpstr>
      <vt:lpstr>Non-Unique Search Keys</vt:lpstr>
      <vt:lpstr>B+-Tree File Organization</vt:lpstr>
      <vt:lpstr>B+-Tree File Organization (Cont.)</vt:lpstr>
      <vt:lpstr>Other Issues in Indexing</vt:lpstr>
      <vt:lpstr>Indexing Strings</vt:lpstr>
      <vt:lpstr>Bulk Loading and Bottom-Up Build</vt:lpstr>
      <vt:lpstr>B-Tree Index Files</vt:lpstr>
      <vt:lpstr>B-Tree Index Files (Cont.)</vt:lpstr>
      <vt:lpstr>B-Tree Index File Example</vt:lpstr>
      <vt:lpstr>Indexing on Flash</vt:lpstr>
      <vt:lpstr>Indexing in Main Memory</vt:lpstr>
      <vt:lpstr>PowerPoint 演示文稿</vt:lpstr>
      <vt:lpstr>Static Hashing</vt:lpstr>
      <vt:lpstr>Handling of Bucket Overflows</vt:lpstr>
      <vt:lpstr>Example of Hash Index</vt:lpstr>
      <vt:lpstr>Handling of Bucket Overflows (Cont.)</vt:lpstr>
      <vt:lpstr>Example of Hash File Organization</vt:lpstr>
      <vt:lpstr>Example of Hash File Organization </vt:lpstr>
      <vt:lpstr>Deficiencies of Static Hashing</vt:lpstr>
      <vt:lpstr>Dynamic Hashing</vt:lpstr>
      <vt:lpstr>Comparison of Ordered Indexing and Hashing</vt:lpstr>
      <vt:lpstr>Multiple-Key Access</vt:lpstr>
      <vt:lpstr>Indices on Multiple Keys</vt:lpstr>
      <vt:lpstr>Indices on Multiple Attributes</vt:lpstr>
      <vt:lpstr>Other Features</vt:lpstr>
      <vt:lpstr>Bitmap Indices</vt:lpstr>
      <vt:lpstr>Bitmap Indices (Cont.)</vt:lpstr>
      <vt:lpstr>Bitmap Indices (Cont.)</vt:lpstr>
      <vt:lpstr>Bitmap Indices (Cont.)</vt:lpstr>
      <vt:lpstr>Efficient Implementation of Bitmap Operations</vt:lpstr>
      <vt:lpstr>Creation of Indices</vt:lpstr>
      <vt:lpstr>Index Definition in SQL</vt:lpstr>
      <vt:lpstr>End of Chapter 10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赖韩江</cp:lastModifiedBy>
  <cp:revision>360</cp:revision>
  <cp:lastPrinted>2019-06-24T14:40:00Z</cp:lastPrinted>
  <dcterms:created xsi:type="dcterms:W3CDTF">2009-12-23T00:01:00Z</dcterms:created>
  <dcterms:modified xsi:type="dcterms:W3CDTF">2025-12-01T03:44:35Z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6FB03CDD2D6141C5BC7A9E6F6334044E_12</vt:lpwstr>
  </property>
  <property fmtid="{D5CDD505-2E9C-101B-9397-08002B2CF9AE}" pid="3" name="KSOProductBuildVer">
    <vt:lpwstr>2052-12.1.0.18912</vt:lpwstr>
  </property>
</Properties>
</file>