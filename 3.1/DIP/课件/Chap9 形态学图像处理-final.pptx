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54" r:id="rId3"/>
  </p:sldMasterIdLst>
  <p:notesMasterIdLst>
    <p:notesMasterId r:id="rId57"/>
  </p:notesMasterIdLst>
  <p:handoutMasterIdLst>
    <p:handoutMasterId r:id="rId58"/>
  </p:handoutMasterIdLst>
  <p:sldIdLst>
    <p:sldId id="284" r:id="rId4"/>
    <p:sldId id="616" r:id="rId5"/>
    <p:sldId id="1169" r:id="rId6"/>
    <p:sldId id="595" r:id="rId7"/>
    <p:sldId id="1170" r:id="rId8"/>
    <p:sldId id="1172" r:id="rId9"/>
    <p:sldId id="1285" r:id="rId10"/>
    <p:sldId id="1174" r:id="rId11"/>
    <p:sldId id="1175" r:id="rId12"/>
    <p:sldId id="1176" r:id="rId13"/>
    <p:sldId id="622" r:id="rId14"/>
    <p:sldId id="1178" r:id="rId15"/>
    <p:sldId id="1179" r:id="rId16"/>
    <p:sldId id="1180" r:id="rId17"/>
    <p:sldId id="1182" r:id="rId18"/>
    <p:sldId id="1181" r:id="rId19"/>
    <p:sldId id="771" r:id="rId20"/>
    <p:sldId id="1252" r:id="rId21"/>
    <p:sldId id="1253" r:id="rId22"/>
    <p:sldId id="1254" r:id="rId23"/>
    <p:sldId id="1255" r:id="rId24"/>
    <p:sldId id="1256" r:id="rId25"/>
    <p:sldId id="1257" r:id="rId26"/>
    <p:sldId id="772" r:id="rId27"/>
    <p:sldId id="1258" r:id="rId28"/>
    <p:sldId id="1287" r:id="rId29"/>
    <p:sldId id="1288" r:id="rId30"/>
    <p:sldId id="1259" r:id="rId31"/>
    <p:sldId id="735" r:id="rId32"/>
    <p:sldId id="1260" r:id="rId33"/>
    <p:sldId id="1261" r:id="rId34"/>
    <p:sldId id="1262" r:id="rId35"/>
    <p:sldId id="1263" r:id="rId36"/>
    <p:sldId id="1264" r:id="rId37"/>
    <p:sldId id="1265" r:id="rId38"/>
    <p:sldId id="1268" r:id="rId39"/>
    <p:sldId id="1286" r:id="rId40"/>
    <p:sldId id="1266" r:id="rId41"/>
    <p:sldId id="1267" r:id="rId42"/>
    <p:sldId id="937" r:id="rId43"/>
    <p:sldId id="1273" r:id="rId44"/>
    <p:sldId id="1274" r:id="rId45"/>
    <p:sldId id="1275" r:id="rId46"/>
    <p:sldId id="1276" r:id="rId47"/>
    <p:sldId id="1278" r:id="rId48"/>
    <p:sldId id="1277" r:id="rId49"/>
    <p:sldId id="1279" r:id="rId50"/>
    <p:sldId id="1280" r:id="rId51"/>
    <p:sldId id="1281" r:id="rId52"/>
    <p:sldId id="1282" r:id="rId53"/>
    <p:sldId id="1283" r:id="rId54"/>
    <p:sldId id="745" r:id="rId55"/>
    <p:sldId id="1289" r:id="rId56"/>
  </p:sldIdLst>
  <p:sldSz cx="9144000" cy="6858000" type="screen4x3"/>
  <p:notesSz cx="6858000" cy="9144000"/>
  <p:custDataLst>
    <p:tags r:id="rId59"/>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52" userDrawn="1">
          <p15:clr>
            <a:srgbClr val="A4A3A4"/>
          </p15:clr>
        </p15:guide>
        <p15:guide id="2" pos="29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FFFF"/>
    <a:srgbClr val="769ACC"/>
    <a:srgbClr val="E6E4E3"/>
    <a:srgbClr val="EFCD47"/>
    <a:srgbClr val="F0CDA0"/>
    <a:srgbClr val="E7EEF8"/>
    <a:srgbClr val="006600"/>
    <a:srgbClr val="4978C1"/>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94636"/>
  </p:normalViewPr>
  <p:slideViewPr>
    <p:cSldViewPr showGuides="1">
      <p:cViewPr varScale="1">
        <p:scale>
          <a:sx n="108" d="100"/>
          <a:sy n="108" d="100"/>
        </p:scale>
        <p:origin x="1920" y="102"/>
      </p:cViewPr>
      <p:guideLst>
        <p:guide orient="horz" pos="2052"/>
        <p:guide pos="292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handoutMaster" Target="handoutMasters/handoutMaster1.xml"/><Relationship Id="rId5" Type="http://schemas.openxmlformats.org/officeDocument/2006/relationships/slide" Target="slides/slide2.xml"/><Relationship Id="rId61"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ags" Target="tags/tag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5" Type="http://schemas.openxmlformats.org/officeDocument/2006/relationships/image" Target="../media/image16.wmf"/><Relationship Id="rId4"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4"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image" Target="../media/image41.wmf"/><Relationship Id="rId7" Type="http://schemas.openxmlformats.org/officeDocument/2006/relationships/image" Target="../media/image45.wmf"/><Relationship Id="rId2" Type="http://schemas.openxmlformats.org/officeDocument/2006/relationships/image" Target="../media/image40.wmf"/><Relationship Id="rId1" Type="http://schemas.openxmlformats.org/officeDocument/2006/relationships/image" Target="../media/image39.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 Id="rId5" Type="http://schemas.openxmlformats.org/officeDocument/2006/relationships/image" Target="../media/image110.wmf"/><Relationship Id="rId4" Type="http://schemas.openxmlformats.org/officeDocument/2006/relationships/image" Target="../media/image10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 Id="rId4" Type="http://schemas.openxmlformats.org/officeDocument/2006/relationships/image" Target="../media/image114.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image" Target="../media/image118.wmf"/><Relationship Id="rId7" Type="http://schemas.openxmlformats.org/officeDocument/2006/relationships/image" Target="../media/image122.wmf"/><Relationship Id="rId2" Type="http://schemas.openxmlformats.org/officeDocument/2006/relationships/image" Target="../media/image117.wmf"/><Relationship Id="rId1" Type="http://schemas.openxmlformats.org/officeDocument/2006/relationships/image" Target="../media/image116.wmf"/><Relationship Id="rId6" Type="http://schemas.openxmlformats.org/officeDocument/2006/relationships/image" Target="../media/image121.wmf"/><Relationship Id="rId5" Type="http://schemas.openxmlformats.org/officeDocument/2006/relationships/image" Target="../media/image120.wmf"/><Relationship Id="rId10" Type="http://schemas.openxmlformats.org/officeDocument/2006/relationships/image" Target="../media/image125.wmf"/><Relationship Id="rId4" Type="http://schemas.openxmlformats.org/officeDocument/2006/relationships/image" Target="../media/image119.wmf"/><Relationship Id="rId9" Type="http://schemas.openxmlformats.org/officeDocument/2006/relationships/image" Target="../media/image12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29.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33.wmf"/><Relationship Id="rId1" Type="http://schemas.openxmlformats.org/officeDocument/2006/relationships/image" Target="../media/image1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CF60E50-E977-4703-9CF9-26B16EB46A5E}"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2025/11/17</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1F81ED93-5709-4605-A622-A198C8D5C292}"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62787D2-DF1C-4BFB-9B81-3F03CD4C3ED5}"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2025/11/17</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8089A28D-C584-49F1-9853-754E85AD2AEB}"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a:solidFill>
              <a:srgbClr val="000000">
                <a:alpha val="100000"/>
              </a:srgbClr>
            </a:solidFill>
            <a:miter lim="800000"/>
          </a:ln>
        </p:spPr>
      </p:sp>
      <p:sp>
        <p:nvSpPr>
          <p:cNvPr id="2048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latin typeface="Arial" panose="020B0604020202020204" pitchFamily="34" charset="0"/>
              </a:rPr>
              <a:t>2</a:t>
            </a:fld>
            <a:endParaRPr lang="zh-CN" altLang="en-US"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a:solidFill>
              <a:srgbClr val="000000">
                <a:alpha val="100000"/>
              </a:srgbClr>
            </a:solidFill>
            <a:miter lim="800000"/>
          </a:ln>
        </p:spPr>
      </p:sp>
      <p:sp>
        <p:nvSpPr>
          <p:cNvPr id="2048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latin typeface="Arial" panose="020B0604020202020204" pitchFamily="34" charset="0"/>
              </a:rPr>
              <a:t>3</a:t>
            </a:fld>
            <a:endParaRPr lang="zh-CN" altLang="en-US"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72634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a:solidFill>
              <a:srgbClr val="000000">
                <a:alpha val="100000"/>
              </a:srgbClr>
            </a:solidFill>
            <a:miter lim="800000"/>
          </a:ln>
        </p:spPr>
      </p:sp>
      <p:sp>
        <p:nvSpPr>
          <p:cNvPr id="2048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latin typeface="Arial" panose="020B0604020202020204" pitchFamily="34" charset="0"/>
              </a:rPr>
              <a:t>10</a:t>
            </a:fld>
            <a:endParaRPr lang="zh-CN" altLang="en-US"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a:solidFill>
              <a:srgbClr val="000000">
                <a:alpha val="100000"/>
              </a:srgbClr>
            </a:solidFill>
            <a:miter lim="800000"/>
          </a:ln>
        </p:spPr>
      </p:sp>
      <p:sp>
        <p:nvSpPr>
          <p:cNvPr id="2048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latin typeface="Arial" panose="020B0604020202020204" pitchFamily="34" charset="0"/>
              </a:rPr>
              <a:t>16</a:t>
            </a:fld>
            <a:endParaRPr lang="zh-CN" altLang="en-US"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a:solidFill>
              <a:srgbClr val="000000">
                <a:alpha val="100000"/>
              </a:srgbClr>
            </a:solidFill>
            <a:miter lim="800000"/>
          </a:ln>
        </p:spPr>
      </p:sp>
      <p:sp>
        <p:nvSpPr>
          <p:cNvPr id="2048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latin typeface="Arial" panose="020B0604020202020204" pitchFamily="34" charset="0"/>
              </a:rPr>
              <a:t>23</a:t>
            </a:fld>
            <a:endParaRPr lang="zh-CN" altLang="en-US" dirty="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a:solidFill>
              <a:srgbClr val="000000">
                <a:alpha val="100000"/>
              </a:srgbClr>
            </a:solidFill>
            <a:miter lim="800000"/>
          </a:ln>
        </p:spPr>
      </p:sp>
      <p:sp>
        <p:nvSpPr>
          <p:cNvPr id="2048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latin typeface="Arial" panose="020B0604020202020204" pitchFamily="34" charset="0"/>
              </a:rPr>
              <a:t>28</a:t>
            </a:fld>
            <a:endParaRPr lang="zh-CN" altLang="en-US" dirty="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a:solidFill>
              <a:srgbClr val="000000">
                <a:alpha val="100000"/>
              </a:srgbClr>
            </a:solidFill>
            <a:miter lim="800000"/>
          </a:ln>
        </p:spPr>
      </p:sp>
      <p:sp>
        <p:nvSpPr>
          <p:cNvPr id="2048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latin typeface="Arial" panose="020B0604020202020204" pitchFamily="34" charset="0"/>
              </a:rPr>
              <a:t>37</a:t>
            </a:fld>
            <a:endParaRPr lang="zh-CN" altLang="en-US" dirty="0">
              <a:latin typeface="Arial" panose="020B0604020202020204" pitchFamily="34" charset="0"/>
            </a:endParaRPr>
          </a:p>
        </p:txBody>
      </p:sp>
    </p:spTree>
    <p:extLst>
      <p:ext uri="{BB962C8B-B14F-4D97-AF65-F5344CB8AC3E}">
        <p14:creationId xmlns:p14="http://schemas.microsoft.com/office/powerpoint/2010/main" val="6541552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a:solidFill>
              <a:srgbClr val="000000">
                <a:alpha val="100000"/>
              </a:srgbClr>
            </a:solidFill>
            <a:miter lim="800000"/>
          </a:ln>
        </p:spPr>
      </p:sp>
      <p:sp>
        <p:nvSpPr>
          <p:cNvPr id="2048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latin typeface="Arial" panose="020B0604020202020204" pitchFamily="34" charset="0"/>
              </a:rPr>
              <a:t>38</a:t>
            </a:fld>
            <a:endParaRPr lang="zh-CN" altLang="en-US"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a:solidFill>
              <a:srgbClr val="000000">
                <a:alpha val="100000"/>
              </a:srgbClr>
            </a:solidFill>
            <a:miter lim="800000"/>
          </a:ln>
        </p:spPr>
      </p:sp>
      <p:sp>
        <p:nvSpPr>
          <p:cNvPr id="2048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latin typeface="Arial" panose="020B0604020202020204" pitchFamily="34" charset="0"/>
              </a:rPr>
              <a:t>39</a:t>
            </a:fld>
            <a:endParaRPr lang="zh-CN"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27330"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a:t>单击此处编辑母版标题样式</a:t>
            </a:r>
          </a:p>
        </p:txBody>
      </p:sp>
      <p:sp>
        <p:nvSpPr>
          <p:cNvPr id="227331"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7" name="Rectangle 4"/>
          <p:cNvSpPr>
            <a:spLocks noGrp="1" noChangeArrowheads="1"/>
          </p:cNvSpPr>
          <p:nvPr>
            <p:ph type="dt" sz="half" idx="2"/>
          </p:nvPr>
        </p:nvSpPr>
        <p:spPr bwMode="auto">
          <a:xfrm>
            <a:off x="301625" y="6245225"/>
            <a:ext cx="2289175"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6"/>
          <p:cNvSpPr>
            <a:spLocks noGrp="1" noChangeArrowheads="1"/>
          </p:cNvSpPr>
          <p:nvPr>
            <p:ph type="sldNum" sz="quarter" idx="4"/>
          </p:nvPr>
        </p:nvSpPr>
        <p:spPr bwMode="auto">
          <a:xfrm>
            <a:off x="3786188" y="6381750"/>
            <a:ext cx="931863" cy="476250"/>
          </a:xfrm>
          <a:prstGeom prst="rect">
            <a:avLst/>
          </a:prstGeom>
          <a:ln>
            <a:miter lim="800000"/>
          </a:ln>
        </p:spPr>
        <p:txBody>
          <a:bodyPr vert="horz" wrap="square" lIns="91440" tIns="45720" rIns="91440" bIns="45720" numCol="1" anchor="t" anchorCtr="0" compatLnSpc="1"/>
          <a:lstStyle>
            <a:lvl1pPr algn="ctr">
              <a:defRPr/>
            </a:lvl1pPr>
          </a:lstStyle>
          <a:p>
            <a:pPr marL="0" marR="0" lvl="0" indent="0" defTabSz="914400" rtl="0" eaLnBrk="1" fontAlgn="base" latinLnBrk="0" hangingPunct="1">
              <a:lnSpc>
                <a:spcPct val="100000"/>
              </a:lnSpc>
              <a:spcBef>
                <a:spcPct val="0"/>
              </a:spcBef>
              <a:spcAft>
                <a:spcPct val="0"/>
              </a:spcAft>
              <a:buClrTx/>
              <a:buSzTx/>
              <a:buFontTx/>
              <a:buNone/>
              <a:defRPr/>
            </a:pPr>
            <a:fld id="{C3963032-7F61-419C-8B83-C365E2D21EA3}"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fade/>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3074" name="Line 5"/>
          <p:cNvSpPr/>
          <p:nvPr userDrawn="1"/>
        </p:nvSpPr>
        <p:spPr>
          <a:xfrm>
            <a:off x="539750" y="714375"/>
            <a:ext cx="7993063" cy="0"/>
          </a:xfrm>
          <a:prstGeom prst="line">
            <a:avLst/>
          </a:prstGeom>
          <a:ln w="19050" cap="flat" cmpd="sng">
            <a:solidFill>
              <a:srgbClr val="006600"/>
            </a:solidFill>
            <a:prstDash val="solid"/>
            <a:headEnd type="none" w="med" len="med"/>
            <a:tailEnd type="none" w="med" len="med"/>
          </a:ln>
        </p:spPr>
      </p:sp>
      <p:sp>
        <p:nvSpPr>
          <p:cNvPr id="3075" name="Line 5"/>
          <p:cNvSpPr/>
          <p:nvPr userDrawn="1"/>
        </p:nvSpPr>
        <p:spPr>
          <a:xfrm>
            <a:off x="539750" y="6308725"/>
            <a:ext cx="7200900" cy="73025"/>
          </a:xfrm>
          <a:prstGeom prst="line">
            <a:avLst/>
          </a:prstGeom>
          <a:ln w="19050" cap="flat" cmpd="sng">
            <a:solidFill>
              <a:srgbClr val="006600"/>
            </a:solidFill>
            <a:prstDash val="solid"/>
            <a:headEnd type="none" w="med" len="med"/>
            <a:tailEnd type="none" w="med" len="med"/>
          </a:ln>
        </p:spPr>
      </p:sp>
      <p:pic>
        <p:nvPicPr>
          <p:cNvPr id="3077" name="Picture 23"/>
          <p:cNvPicPr>
            <a:picLocks noChangeAspect="1"/>
          </p:cNvPicPr>
          <p:nvPr userDrawn="1"/>
        </p:nvPicPr>
        <p:blipFill>
          <a:blip r:embed="rId2"/>
          <a:stretch>
            <a:fillRect/>
          </a:stretch>
        </p:blipFill>
        <p:spPr>
          <a:xfrm>
            <a:off x="7924800" y="5857875"/>
            <a:ext cx="1004888" cy="1000125"/>
          </a:xfrm>
          <a:prstGeom prst="rect">
            <a:avLst/>
          </a:prstGeom>
          <a:noFill/>
          <a:ln w="9525">
            <a:noFill/>
          </a:ln>
        </p:spPr>
      </p:pic>
      <p:sp>
        <p:nvSpPr>
          <p:cNvPr id="3" name="内容占位符 2"/>
          <p:cNvSpPr>
            <a:spLocks noGrp="1"/>
          </p:cNvSpPr>
          <p:nvPr>
            <p:ph idx="1"/>
          </p:nvPr>
        </p:nvSpPr>
        <p:spPr>
          <a:xfrm>
            <a:off x="301625" y="1000108"/>
            <a:ext cx="8540750" cy="5286412"/>
          </a:xfrm>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Rectangle 2"/>
          <p:cNvSpPr>
            <a:spLocks noGrp="1" noRot="1" noChangeArrowheads="1"/>
          </p:cNvSpPr>
          <p:nvPr>
            <p:ph type="title"/>
          </p:nvPr>
        </p:nvSpPr>
        <p:spPr bwMode="auto">
          <a:xfrm>
            <a:off x="301625" y="23810"/>
            <a:ext cx="8540750" cy="619108"/>
          </a:xfrm>
          <a:prstGeom prst="rect">
            <a:avLst/>
          </a:prstGeom>
          <a:noFill/>
          <a:ln w="9525">
            <a:noFill/>
            <a:miter lim="800000"/>
          </a:ln>
        </p:spPr>
        <p:txBody>
          <a:bodyPr/>
          <a:lstStyle>
            <a:lvl1pPr algn="l">
              <a:defRPr sz="3000" b="1" baseline="0">
                <a:solidFill>
                  <a:srgbClr val="006600"/>
                </a:solidFill>
              </a:defRPr>
            </a:lvl1pPr>
          </a:lstStyle>
          <a:p>
            <a:pPr lvl="0"/>
            <a:r>
              <a:rPr lang="zh-CN" altLang="en-US" dirty="0"/>
              <a:t>单击此处编辑母版标题样式</a:t>
            </a:r>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TextBox 9"/>
          <p:cNvSpPr txBox="1">
            <a:spLocks noChangeArrowheads="1"/>
          </p:cNvSpPr>
          <p:nvPr userDrawn="1"/>
        </p:nvSpPr>
        <p:spPr bwMode="auto">
          <a:xfrm>
            <a:off x="4405630" y="6465888"/>
            <a:ext cx="359219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1" i="1" u="none" strike="noStrike" kern="1200" cap="none" spc="0" normalizeH="0" baseline="0" noProof="0" dirty="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rPr>
              <a:t>School of  Computer Science and Engineering</a:t>
            </a:r>
            <a:endParaRPr kumimoji="0" lang="zh-CN" altLang="en-US" sz="1400" b="1" i="1" u="none" strike="noStrike" kern="1200" cap="none" spc="0" normalizeH="0" baseline="0" noProof="0" dirty="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Rectangle 6"/>
          <p:cNvSpPr>
            <a:spLocks noGrp="1" noChangeArrowheads="1"/>
          </p:cNvSpPr>
          <p:nvPr>
            <p:ph type="sldNum" sz="quarter" idx="4"/>
          </p:nvPr>
        </p:nvSpPr>
        <p:spPr bwMode="auto">
          <a:xfrm>
            <a:off x="3714433" y="6453188"/>
            <a:ext cx="931863" cy="333375"/>
          </a:xfrm>
          <a:prstGeom prst="rect">
            <a:avLst/>
          </a:prstGeom>
          <a:ln>
            <a:miter lim="800000"/>
          </a:ln>
        </p:spPr>
        <p:txBody>
          <a:bodyPr vert="horz" wrap="square" lIns="91440" tIns="45720" rIns="91440" bIns="45720" numCol="1" anchor="t" anchorCtr="0" compatLnSpc="1"/>
          <a:lstStyle>
            <a:lvl1pPr>
              <a:defRPr>
                <a:solidFill>
                  <a:srgbClr val="006600"/>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a:xfrm>
            <a:off x="2621915" y="6172200"/>
            <a:ext cx="2895600" cy="47625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27330"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a:t>单击此处编辑母版标题样式</a:t>
            </a:r>
          </a:p>
        </p:txBody>
      </p:sp>
      <p:sp>
        <p:nvSpPr>
          <p:cNvPr id="227331"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7" name="Rectangle 4"/>
          <p:cNvSpPr>
            <a:spLocks noGrp="1" noChangeArrowheads="1"/>
          </p:cNvSpPr>
          <p:nvPr>
            <p:ph type="dt" sz="half" idx="2"/>
          </p:nvPr>
        </p:nvSpPr>
        <p:spPr bwMode="auto">
          <a:xfrm>
            <a:off x="301625" y="6245225"/>
            <a:ext cx="2289175"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6"/>
          <p:cNvSpPr>
            <a:spLocks noGrp="1" noChangeArrowheads="1"/>
          </p:cNvSpPr>
          <p:nvPr>
            <p:ph type="sldNum" sz="quarter" idx="4"/>
          </p:nvPr>
        </p:nvSpPr>
        <p:spPr bwMode="auto">
          <a:xfrm>
            <a:off x="3347403" y="6308725"/>
            <a:ext cx="931863"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C3963032-7F61-419C-8B83-C365E2D21EA3}"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fade/>
  </p:transition>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3074" name="Line 5"/>
          <p:cNvSpPr/>
          <p:nvPr userDrawn="1"/>
        </p:nvSpPr>
        <p:spPr>
          <a:xfrm>
            <a:off x="539750" y="714375"/>
            <a:ext cx="7993063" cy="0"/>
          </a:xfrm>
          <a:prstGeom prst="line">
            <a:avLst/>
          </a:prstGeom>
          <a:ln w="19050" cap="flat" cmpd="sng">
            <a:solidFill>
              <a:srgbClr val="006600"/>
            </a:solidFill>
            <a:prstDash val="solid"/>
            <a:headEnd type="none" w="med" len="med"/>
            <a:tailEnd type="none" w="med" len="med"/>
          </a:ln>
        </p:spPr>
      </p:sp>
      <p:sp>
        <p:nvSpPr>
          <p:cNvPr id="3075" name="Line 5"/>
          <p:cNvSpPr/>
          <p:nvPr userDrawn="1"/>
        </p:nvSpPr>
        <p:spPr>
          <a:xfrm>
            <a:off x="539750" y="6308725"/>
            <a:ext cx="7200900" cy="73025"/>
          </a:xfrm>
          <a:prstGeom prst="line">
            <a:avLst/>
          </a:prstGeom>
          <a:ln w="19050" cap="flat" cmpd="sng">
            <a:solidFill>
              <a:srgbClr val="006600"/>
            </a:solidFill>
            <a:prstDash val="solid"/>
            <a:headEnd type="none" w="med" len="med"/>
            <a:tailEnd type="none" w="med" len="med"/>
          </a:ln>
        </p:spPr>
      </p:sp>
      <p:sp>
        <p:nvSpPr>
          <p:cNvPr id="9" name="TextBox 9"/>
          <p:cNvSpPr txBox="1">
            <a:spLocks noChangeArrowheads="1"/>
          </p:cNvSpPr>
          <p:nvPr userDrawn="1"/>
        </p:nvSpPr>
        <p:spPr bwMode="auto">
          <a:xfrm>
            <a:off x="4405630" y="6465888"/>
            <a:ext cx="359219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1" i="1" u="none" strike="noStrike" kern="1200" cap="none" spc="0" normalizeH="0" baseline="0" noProof="0" dirty="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rPr>
              <a:t>School of  Computer Science and Engineering</a:t>
            </a:r>
            <a:endParaRPr kumimoji="0" lang="zh-CN" altLang="en-US" sz="1400" b="1" i="1" u="none" strike="noStrike" kern="1200" cap="none" spc="0" normalizeH="0" baseline="0" noProof="0" dirty="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077" name="Picture 23"/>
          <p:cNvPicPr>
            <a:picLocks noChangeAspect="1"/>
          </p:cNvPicPr>
          <p:nvPr userDrawn="1"/>
        </p:nvPicPr>
        <p:blipFill>
          <a:blip r:embed="rId2"/>
          <a:stretch>
            <a:fillRect/>
          </a:stretch>
        </p:blipFill>
        <p:spPr>
          <a:xfrm>
            <a:off x="7924800" y="5857875"/>
            <a:ext cx="1004888" cy="1000125"/>
          </a:xfrm>
          <a:prstGeom prst="rect">
            <a:avLst/>
          </a:prstGeom>
          <a:noFill/>
          <a:ln w="9525">
            <a:noFill/>
          </a:ln>
        </p:spPr>
      </p:pic>
      <p:sp>
        <p:nvSpPr>
          <p:cNvPr id="3" name="内容占位符 2"/>
          <p:cNvSpPr>
            <a:spLocks noGrp="1"/>
          </p:cNvSpPr>
          <p:nvPr>
            <p:ph idx="1"/>
          </p:nvPr>
        </p:nvSpPr>
        <p:spPr>
          <a:xfrm>
            <a:off x="301625" y="1000108"/>
            <a:ext cx="8540750" cy="5286412"/>
          </a:xfrm>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Rectangle 2"/>
          <p:cNvSpPr>
            <a:spLocks noGrp="1" noRot="1" noChangeArrowheads="1"/>
          </p:cNvSpPr>
          <p:nvPr>
            <p:ph type="title"/>
          </p:nvPr>
        </p:nvSpPr>
        <p:spPr bwMode="auto">
          <a:xfrm>
            <a:off x="301625" y="23810"/>
            <a:ext cx="8540750" cy="619108"/>
          </a:xfrm>
          <a:prstGeom prst="rect">
            <a:avLst/>
          </a:prstGeom>
          <a:noFill/>
          <a:ln w="9525">
            <a:noFill/>
            <a:miter lim="800000"/>
          </a:ln>
        </p:spPr>
        <p:txBody>
          <a:bodyPr/>
          <a:lstStyle>
            <a:lvl1pPr algn="l">
              <a:defRPr sz="3000" b="1" baseline="0">
                <a:solidFill>
                  <a:srgbClr val="006600"/>
                </a:solidFill>
              </a:defRPr>
            </a:lvl1pPr>
          </a:lstStyle>
          <a:p>
            <a:pPr lvl="0"/>
            <a:r>
              <a:rPr lang="zh-CN" altLang="en-US" dirty="0"/>
              <a:t>单击此处编辑母版标题样式</a:t>
            </a:r>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a:xfrm>
            <a:off x="2693670" y="6172200"/>
            <a:ext cx="2895600" cy="47625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Rectangle 6"/>
          <p:cNvSpPr>
            <a:spLocks noGrp="1" noChangeArrowheads="1"/>
          </p:cNvSpPr>
          <p:nvPr>
            <p:ph type="sldNum" sz="quarter" idx="4"/>
          </p:nvPr>
        </p:nvSpPr>
        <p:spPr bwMode="auto">
          <a:xfrm>
            <a:off x="3714433" y="6453188"/>
            <a:ext cx="931863" cy="333375"/>
          </a:xfrm>
          <a:prstGeom prst="rect">
            <a:avLst/>
          </a:prstGeom>
          <a:ln>
            <a:miter lim="800000"/>
          </a:ln>
        </p:spPr>
        <p:txBody>
          <a:bodyPr vert="horz" wrap="square" lIns="91440" tIns="45720" rIns="91440" bIns="45720" numCol="1" anchor="t" anchorCtr="0" compatLnSpc="1"/>
          <a:lstStyle>
            <a:lvl1pPr>
              <a:defRPr>
                <a:solidFill>
                  <a:srgbClr val="006600"/>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27330"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a:t>单击此处编辑母版标题样式</a:t>
            </a:r>
          </a:p>
        </p:txBody>
      </p:sp>
      <p:sp>
        <p:nvSpPr>
          <p:cNvPr id="227331"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7" name="Rectangle 4"/>
          <p:cNvSpPr>
            <a:spLocks noGrp="1" noChangeArrowheads="1"/>
          </p:cNvSpPr>
          <p:nvPr>
            <p:ph type="dt" sz="half" idx="2"/>
          </p:nvPr>
        </p:nvSpPr>
        <p:spPr bwMode="auto">
          <a:xfrm>
            <a:off x="301625" y="6245225"/>
            <a:ext cx="2289175"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6"/>
          <p:cNvSpPr>
            <a:spLocks noGrp="1" noChangeArrowheads="1"/>
          </p:cNvSpPr>
          <p:nvPr>
            <p:ph type="sldNum" sz="quarter" idx="4"/>
          </p:nvPr>
        </p:nvSpPr>
        <p:spPr bwMode="auto">
          <a:xfrm>
            <a:off x="3786188" y="6381750"/>
            <a:ext cx="931863" cy="476250"/>
          </a:xfrm>
          <a:prstGeom prst="rect">
            <a:avLst/>
          </a:prstGeom>
          <a:ln>
            <a:miter lim="800000"/>
          </a:ln>
        </p:spPr>
        <p:txBody>
          <a:bodyPr vert="horz" wrap="square" lIns="91440" tIns="45720" rIns="91440" bIns="45720" numCol="1" anchor="t" anchorCtr="0" compatLnSpc="1"/>
          <a:lstStyle>
            <a:lvl1pPr algn="ctr">
              <a:defRPr/>
            </a:lvl1pPr>
          </a:lstStyle>
          <a:p>
            <a:pPr marL="0" marR="0" lvl="0" indent="0" defTabSz="914400" rtl="0" eaLnBrk="1" fontAlgn="base" latinLnBrk="0" hangingPunct="1">
              <a:lnSpc>
                <a:spcPct val="100000"/>
              </a:lnSpc>
              <a:spcBef>
                <a:spcPct val="0"/>
              </a:spcBef>
              <a:spcAft>
                <a:spcPct val="0"/>
              </a:spcAft>
              <a:buClrTx/>
              <a:buSzTx/>
              <a:buFontTx/>
              <a:buNone/>
              <a:defRPr/>
            </a:pPr>
            <a:fld id="{C3963032-7F61-419C-8B83-C365E2D21EA3}"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fade/>
  </p:transition>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3074" name="Line 5"/>
          <p:cNvSpPr/>
          <p:nvPr userDrawn="1"/>
        </p:nvSpPr>
        <p:spPr>
          <a:xfrm>
            <a:off x="539750" y="714375"/>
            <a:ext cx="7993063" cy="0"/>
          </a:xfrm>
          <a:prstGeom prst="line">
            <a:avLst/>
          </a:prstGeom>
          <a:ln w="19050" cap="flat" cmpd="sng">
            <a:solidFill>
              <a:srgbClr val="006600"/>
            </a:solidFill>
            <a:prstDash val="solid"/>
            <a:headEnd type="none" w="med" len="med"/>
            <a:tailEnd type="none" w="med" len="med"/>
          </a:ln>
        </p:spPr>
      </p:sp>
      <p:sp>
        <p:nvSpPr>
          <p:cNvPr id="3075" name="Line 5"/>
          <p:cNvSpPr/>
          <p:nvPr userDrawn="1"/>
        </p:nvSpPr>
        <p:spPr>
          <a:xfrm>
            <a:off x="539750" y="6308725"/>
            <a:ext cx="7200900" cy="73025"/>
          </a:xfrm>
          <a:prstGeom prst="line">
            <a:avLst/>
          </a:prstGeom>
          <a:ln w="19050" cap="flat" cmpd="sng">
            <a:solidFill>
              <a:srgbClr val="006600"/>
            </a:solidFill>
            <a:prstDash val="solid"/>
            <a:headEnd type="none" w="med" len="med"/>
            <a:tailEnd type="none" w="med" len="med"/>
          </a:ln>
        </p:spPr>
      </p:sp>
      <p:pic>
        <p:nvPicPr>
          <p:cNvPr id="3077" name="Picture 23"/>
          <p:cNvPicPr>
            <a:picLocks noChangeAspect="1"/>
          </p:cNvPicPr>
          <p:nvPr userDrawn="1"/>
        </p:nvPicPr>
        <p:blipFill>
          <a:blip r:embed="rId2"/>
          <a:stretch>
            <a:fillRect/>
          </a:stretch>
        </p:blipFill>
        <p:spPr>
          <a:xfrm>
            <a:off x="7924800" y="5857875"/>
            <a:ext cx="1004888" cy="1000125"/>
          </a:xfrm>
          <a:prstGeom prst="rect">
            <a:avLst/>
          </a:prstGeom>
          <a:noFill/>
          <a:ln w="9525">
            <a:noFill/>
          </a:ln>
        </p:spPr>
      </p:pic>
      <p:sp>
        <p:nvSpPr>
          <p:cNvPr id="3" name="内容占位符 2"/>
          <p:cNvSpPr>
            <a:spLocks noGrp="1"/>
          </p:cNvSpPr>
          <p:nvPr>
            <p:ph idx="1"/>
          </p:nvPr>
        </p:nvSpPr>
        <p:spPr>
          <a:xfrm>
            <a:off x="301625" y="1000108"/>
            <a:ext cx="8540750" cy="5286412"/>
          </a:xfrm>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Rectangle 2"/>
          <p:cNvSpPr>
            <a:spLocks noGrp="1" noRot="1" noChangeArrowheads="1"/>
          </p:cNvSpPr>
          <p:nvPr>
            <p:ph type="title"/>
          </p:nvPr>
        </p:nvSpPr>
        <p:spPr bwMode="auto">
          <a:xfrm>
            <a:off x="301625" y="23810"/>
            <a:ext cx="8540750" cy="619108"/>
          </a:xfrm>
          <a:prstGeom prst="rect">
            <a:avLst/>
          </a:prstGeom>
          <a:noFill/>
          <a:ln w="9525">
            <a:noFill/>
            <a:miter lim="800000"/>
          </a:ln>
        </p:spPr>
        <p:txBody>
          <a:bodyPr/>
          <a:lstStyle>
            <a:lvl1pPr algn="l">
              <a:defRPr sz="3000" b="1" baseline="0">
                <a:solidFill>
                  <a:srgbClr val="006600"/>
                </a:solidFill>
              </a:defRPr>
            </a:lvl1pPr>
          </a:lstStyle>
          <a:p>
            <a:pPr lvl="0"/>
            <a:r>
              <a:rPr lang="zh-CN" altLang="en-US" dirty="0"/>
              <a:t>单击此处编辑母版标题样式</a:t>
            </a:r>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TextBox 9"/>
          <p:cNvSpPr txBox="1">
            <a:spLocks noChangeArrowheads="1"/>
          </p:cNvSpPr>
          <p:nvPr userDrawn="1"/>
        </p:nvSpPr>
        <p:spPr bwMode="auto">
          <a:xfrm>
            <a:off x="4405630" y="6465888"/>
            <a:ext cx="359219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1" i="1" u="none" strike="noStrike" kern="1200" cap="none" spc="0" normalizeH="0" baseline="0" noProof="0" dirty="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rPr>
              <a:t>School of  Computer Science and Engineering</a:t>
            </a:r>
            <a:endParaRPr kumimoji="0" lang="zh-CN" altLang="en-US" sz="1400" b="1" i="1" u="none" strike="noStrike" kern="1200" cap="none" spc="0" normalizeH="0" baseline="0" noProof="0" dirty="0">
              <a:ln>
                <a:noFill/>
              </a:ln>
              <a:solidFill>
                <a:srgbClr val="0066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Rectangle 6"/>
          <p:cNvSpPr>
            <a:spLocks noGrp="1" noChangeArrowheads="1"/>
          </p:cNvSpPr>
          <p:nvPr>
            <p:ph type="sldNum" sz="quarter" idx="4"/>
          </p:nvPr>
        </p:nvSpPr>
        <p:spPr bwMode="auto">
          <a:xfrm>
            <a:off x="3714433" y="6453188"/>
            <a:ext cx="931863" cy="333375"/>
          </a:xfrm>
          <a:prstGeom prst="rect">
            <a:avLst/>
          </a:prstGeom>
          <a:ln>
            <a:miter lim="800000"/>
          </a:ln>
        </p:spPr>
        <p:txBody>
          <a:bodyPr vert="horz" wrap="square" lIns="91440" tIns="45720" rIns="91440" bIns="45720" numCol="1" anchor="t" anchorCtr="0" compatLnSpc="1"/>
          <a:lstStyle>
            <a:lvl1pPr>
              <a:defRPr>
                <a:solidFill>
                  <a:srgbClr val="006600"/>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a:xfrm>
            <a:off x="2621915" y="6172200"/>
            <a:ext cx="2895600" cy="47625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Rot="1"/>
          </p:cNvSpPr>
          <p:nvPr>
            <p:ph type="title"/>
          </p:nvPr>
        </p:nvSpPr>
        <p:spPr>
          <a:xfrm>
            <a:off x="301625" y="381000"/>
            <a:ext cx="8540750" cy="11430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noRot="1"/>
          </p:cNvSpPr>
          <p:nvPr>
            <p:ph type="body" idx="1"/>
          </p:nvPr>
        </p:nvSpPr>
        <p:spPr>
          <a:xfrm>
            <a:off x="301625" y="1752600"/>
            <a:ext cx="8540750" cy="427037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26308" name="Rectangle 4"/>
          <p:cNvSpPr>
            <a:spLocks noGrp="1" noChangeArrowheads="1"/>
          </p:cNvSpPr>
          <p:nvPr>
            <p:ph type="dt" sz="half" idx="2"/>
          </p:nvPr>
        </p:nvSpPr>
        <p:spPr bwMode="auto">
          <a:xfrm>
            <a:off x="301625" y="6172200"/>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6309" name="Rectangle 5"/>
          <p:cNvSpPr>
            <a:spLocks noGrp="1" noChangeArrowheads="1"/>
          </p:cNvSpPr>
          <p:nvPr>
            <p:ph type="ftr" sz="quarter" idx="3"/>
          </p:nvPr>
        </p:nvSpPr>
        <p:spPr bwMode="auto">
          <a:xfrm>
            <a:off x="3124200" y="61722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6310" name="Rectangle 6"/>
          <p:cNvSpPr>
            <a:spLocks noGrp="1" noChangeArrowheads="1"/>
          </p:cNvSpPr>
          <p:nvPr>
            <p:ph type="sldNum" sz="quarter" idx="4"/>
          </p:nvPr>
        </p:nvSpPr>
        <p:spPr bwMode="auto">
          <a:xfrm>
            <a:off x="6553200" y="6172200"/>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5EFC77C5-824B-4F32-B4B7-45F91792B5E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slow">
    <p:fade/>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Rot="1"/>
          </p:cNvSpPr>
          <p:nvPr>
            <p:ph type="title"/>
          </p:nvPr>
        </p:nvSpPr>
        <p:spPr>
          <a:xfrm>
            <a:off x="301625" y="381000"/>
            <a:ext cx="8540750" cy="11430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noRot="1"/>
          </p:cNvSpPr>
          <p:nvPr>
            <p:ph type="body" idx="1"/>
          </p:nvPr>
        </p:nvSpPr>
        <p:spPr>
          <a:xfrm>
            <a:off x="301625" y="1752600"/>
            <a:ext cx="8540750" cy="427037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26308" name="Rectangle 4"/>
          <p:cNvSpPr>
            <a:spLocks noGrp="1" noChangeArrowheads="1"/>
          </p:cNvSpPr>
          <p:nvPr>
            <p:ph type="dt" sz="half" idx="2"/>
          </p:nvPr>
        </p:nvSpPr>
        <p:spPr bwMode="auto">
          <a:xfrm>
            <a:off x="301625" y="6172200"/>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6309" name="Rectangle 5"/>
          <p:cNvSpPr>
            <a:spLocks noGrp="1" noChangeArrowheads="1"/>
          </p:cNvSpPr>
          <p:nvPr>
            <p:ph type="ftr" sz="quarter" idx="3"/>
          </p:nvPr>
        </p:nvSpPr>
        <p:spPr bwMode="auto">
          <a:xfrm>
            <a:off x="3124200" y="61722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6310" name="Rectangle 6"/>
          <p:cNvSpPr>
            <a:spLocks noGrp="1" noChangeArrowheads="1"/>
          </p:cNvSpPr>
          <p:nvPr>
            <p:ph type="sldNum" sz="quarter" idx="4"/>
          </p:nvPr>
        </p:nvSpPr>
        <p:spPr bwMode="auto">
          <a:xfrm>
            <a:off x="6553200" y="6172200"/>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5EFC77C5-824B-4F32-B4B7-45F91792B5E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Lst>
  <p:transition spd="slow">
    <p:fade/>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Rot="1"/>
          </p:cNvSpPr>
          <p:nvPr>
            <p:ph type="title"/>
          </p:nvPr>
        </p:nvSpPr>
        <p:spPr>
          <a:xfrm>
            <a:off x="301625" y="381000"/>
            <a:ext cx="8540750" cy="11430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noRot="1"/>
          </p:cNvSpPr>
          <p:nvPr>
            <p:ph type="body" idx="1"/>
          </p:nvPr>
        </p:nvSpPr>
        <p:spPr>
          <a:xfrm>
            <a:off x="301625" y="1752600"/>
            <a:ext cx="8540750" cy="427037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26308" name="Rectangle 4"/>
          <p:cNvSpPr>
            <a:spLocks noGrp="1" noChangeArrowheads="1"/>
          </p:cNvSpPr>
          <p:nvPr>
            <p:ph type="dt" sz="half" idx="2"/>
          </p:nvPr>
        </p:nvSpPr>
        <p:spPr bwMode="auto">
          <a:xfrm>
            <a:off x="301625" y="6172200"/>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6309" name="Rectangle 5"/>
          <p:cNvSpPr>
            <a:spLocks noGrp="1" noChangeArrowheads="1"/>
          </p:cNvSpPr>
          <p:nvPr>
            <p:ph type="ftr" sz="quarter" idx="3"/>
          </p:nvPr>
        </p:nvSpPr>
        <p:spPr bwMode="auto">
          <a:xfrm>
            <a:off x="3124200" y="61722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6310" name="Rectangle 6"/>
          <p:cNvSpPr>
            <a:spLocks noGrp="1" noChangeArrowheads="1"/>
          </p:cNvSpPr>
          <p:nvPr>
            <p:ph type="sldNum" sz="quarter" idx="4"/>
          </p:nvPr>
        </p:nvSpPr>
        <p:spPr bwMode="auto">
          <a:xfrm>
            <a:off x="6553200" y="6172200"/>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5EFC77C5-824B-4F32-B4B7-45F91792B5E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Lst>
  <p:transition spd="slow">
    <p:fade/>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oleObject" Target="../embeddings/oleObject3.bin"/><Relationship Id="rId3" Type="http://schemas.openxmlformats.org/officeDocument/2006/relationships/image" Target="../media/image6.png"/><Relationship Id="rId7" Type="http://schemas.openxmlformats.org/officeDocument/2006/relationships/image" Target="../media/image4.wmf"/><Relationship Id="rId12"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oleObject" Target="../embeddings/oleObject3.bin"/><Relationship Id="rId5" Type="http://schemas.openxmlformats.org/officeDocument/2006/relationships/image" Target="../media/image3.wmf"/><Relationship Id="rId15" Type="http://schemas.openxmlformats.org/officeDocument/2006/relationships/image" Target="../media/image9.png"/><Relationship Id="rId10" Type="http://schemas.openxmlformats.org/officeDocument/2006/relationships/image" Target="../media/image8.png"/><Relationship Id="rId4" Type="http://schemas.openxmlformats.org/officeDocument/2006/relationships/oleObject" Target="../embeddings/oleObject1.bin"/><Relationship Id="rId9" Type="http://schemas.openxmlformats.org/officeDocument/2006/relationships/image" Target="../media/image72.png"/><Relationship Id="rId14" Type="http://schemas.openxmlformats.org/officeDocument/2006/relationships/image" Target="../media/image5.wmf"/></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image" Target="../media/image15.wmf"/><Relationship Id="rId3" Type="http://schemas.openxmlformats.org/officeDocument/2006/relationships/image" Target="../media/image17.png"/><Relationship Id="rId7" Type="http://schemas.openxmlformats.org/officeDocument/2006/relationships/oleObject" Target="../embeddings/oleObject5.bin"/><Relationship Id="rId12" Type="http://schemas.openxmlformats.org/officeDocument/2006/relationships/oleObject" Target="../embeddings/oleObject7.bin"/><Relationship Id="rId2" Type="http://schemas.openxmlformats.org/officeDocument/2006/relationships/slideLayout" Target="../slideLayouts/slideLayout2.xml"/><Relationship Id="rId16" Type="http://schemas.openxmlformats.org/officeDocument/2006/relationships/oleObject" Target="../embeddings/oleObject9.bin"/><Relationship Id="rId1" Type="http://schemas.openxmlformats.org/officeDocument/2006/relationships/vmlDrawing" Target="../drawings/vmlDrawing2.vml"/><Relationship Id="rId6" Type="http://schemas.openxmlformats.org/officeDocument/2006/relationships/image" Target="../media/image12.wmf"/><Relationship Id="rId11" Type="http://schemas.openxmlformats.org/officeDocument/2006/relationships/image" Target="../media/image14.wmf"/><Relationship Id="rId5" Type="http://schemas.openxmlformats.org/officeDocument/2006/relationships/oleObject" Target="../embeddings/oleObject4.bin"/><Relationship Id="rId15" Type="http://schemas.openxmlformats.org/officeDocument/2006/relationships/image" Target="../media/image16.wmf"/><Relationship Id="rId10" Type="http://schemas.openxmlformats.org/officeDocument/2006/relationships/oleObject" Target="../embeddings/oleObject6.bin"/><Relationship Id="rId4" Type="http://schemas.openxmlformats.org/officeDocument/2006/relationships/image" Target="../media/image18.png"/><Relationship Id="rId9" Type="http://schemas.openxmlformats.org/officeDocument/2006/relationships/image" Target="../media/image19.png"/><Relationship Id="rId1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image" Target="../media/image27.png"/><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26.png"/><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22.wmf"/><Relationship Id="rId11" Type="http://schemas.openxmlformats.org/officeDocument/2006/relationships/image" Target="../media/image25.png"/><Relationship Id="rId5" Type="http://schemas.openxmlformats.org/officeDocument/2006/relationships/oleObject" Target="../embeddings/oleObject11.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13.bin"/></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oleObject" Target="../embeddings/oleObject14.bin"/><Relationship Id="rId7"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1.wmf"/><Relationship Id="rId5" Type="http://schemas.openxmlformats.org/officeDocument/2006/relationships/oleObject" Target="../embeddings/oleObject15.bin"/><Relationship Id="rId4" Type="http://schemas.openxmlformats.org/officeDocument/2006/relationships/image" Target="../media/image30.wmf"/><Relationship Id="rId9"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43.wmf"/><Relationship Id="rId18" Type="http://schemas.openxmlformats.org/officeDocument/2006/relationships/oleObject" Target="../embeddings/oleObject23.bin"/><Relationship Id="rId3" Type="http://schemas.openxmlformats.org/officeDocument/2006/relationships/image" Target="../media/image18.png"/><Relationship Id="rId21" Type="http://schemas.openxmlformats.org/officeDocument/2006/relationships/oleObject" Target="../embeddings/oleObject25.bin"/><Relationship Id="rId7" Type="http://schemas.openxmlformats.org/officeDocument/2006/relationships/image" Target="../media/image40.wmf"/><Relationship Id="rId12" Type="http://schemas.openxmlformats.org/officeDocument/2006/relationships/oleObject" Target="../embeddings/oleObject20.bin"/><Relationship Id="rId17" Type="http://schemas.openxmlformats.org/officeDocument/2006/relationships/image" Target="../media/image45.wmf"/><Relationship Id="rId2" Type="http://schemas.openxmlformats.org/officeDocument/2006/relationships/slideLayout" Target="../slideLayouts/slideLayout2.xml"/><Relationship Id="rId16" Type="http://schemas.openxmlformats.org/officeDocument/2006/relationships/oleObject" Target="../embeddings/oleObject22.bin"/><Relationship Id="rId20" Type="http://schemas.openxmlformats.org/officeDocument/2006/relationships/oleObject" Target="../embeddings/oleObject24.bin"/><Relationship Id="rId1" Type="http://schemas.openxmlformats.org/officeDocument/2006/relationships/vmlDrawing" Target="../drawings/vmlDrawing5.vml"/><Relationship Id="rId6" Type="http://schemas.openxmlformats.org/officeDocument/2006/relationships/oleObject" Target="../embeddings/oleObject17.bin"/><Relationship Id="rId11" Type="http://schemas.openxmlformats.org/officeDocument/2006/relationships/image" Target="../media/image42.wmf"/><Relationship Id="rId5" Type="http://schemas.openxmlformats.org/officeDocument/2006/relationships/image" Target="../media/image39.wmf"/><Relationship Id="rId15" Type="http://schemas.openxmlformats.org/officeDocument/2006/relationships/image" Target="../media/image44.wmf"/><Relationship Id="rId10" Type="http://schemas.openxmlformats.org/officeDocument/2006/relationships/oleObject" Target="../embeddings/oleObject19.bin"/><Relationship Id="rId19" Type="http://schemas.openxmlformats.org/officeDocument/2006/relationships/image" Target="../media/image46.wmf"/><Relationship Id="rId4" Type="http://schemas.openxmlformats.org/officeDocument/2006/relationships/oleObject" Target="../embeddings/oleObject16.bin"/><Relationship Id="rId9" Type="http://schemas.openxmlformats.org/officeDocument/2006/relationships/image" Target="../media/image41.wmf"/><Relationship Id="rId14" Type="http://schemas.openxmlformats.org/officeDocument/2006/relationships/oleObject" Target="../embeddings/oleObject21.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48.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27.bin"/><Relationship Id="rId5" Type="http://schemas.openxmlformats.org/officeDocument/2006/relationships/image" Target="../media/image47.wmf"/><Relationship Id="rId4" Type="http://schemas.openxmlformats.org/officeDocument/2006/relationships/oleObject" Target="../embeddings/oleObject26.bin"/></Relationships>
</file>

<file path=ppt/slides/_rels/slide1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notesSlide" Target="../notesSlides/notesSlide7.xml"/><Relationship Id="rId7" Type="http://schemas.openxmlformats.org/officeDocument/2006/relationships/image" Target="../media/image49.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28.bin"/><Relationship Id="rId5" Type="http://schemas.openxmlformats.org/officeDocument/2006/relationships/image" Target="../media/image18.png"/><Relationship Id="rId4" Type="http://schemas.openxmlformats.org/officeDocument/2006/relationships/image" Target="../media/image50.png"/><Relationship Id="rId9" Type="http://schemas.openxmlformats.org/officeDocument/2006/relationships/image" Target="../media/image52.png"/></Relationships>
</file>

<file path=ppt/slides/_rels/slide19.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notesSlide" Target="../notesSlides/notesSlide8.xml"/><Relationship Id="rId7" Type="http://schemas.openxmlformats.org/officeDocument/2006/relationships/image" Target="../media/image53.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29.bin"/><Relationship Id="rId5" Type="http://schemas.openxmlformats.org/officeDocument/2006/relationships/image" Target="../media/image18.png"/><Relationship Id="rId4" Type="http://schemas.openxmlformats.org/officeDocument/2006/relationships/image" Target="../media/image50.png"/><Relationship Id="rId9" Type="http://schemas.openxmlformats.org/officeDocument/2006/relationships/image" Target="../media/image55.pn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notesSlide" Target="../notesSlides/notesSlide10.xml"/><Relationship Id="rId7"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62.png"/><Relationship Id="rId5" Type="http://schemas.openxmlformats.org/officeDocument/2006/relationships/image" Target="../media/image58.wmf"/><Relationship Id="rId10" Type="http://schemas.openxmlformats.org/officeDocument/2006/relationships/image" Target="../media/image60.wmf"/><Relationship Id="rId4" Type="http://schemas.openxmlformats.org/officeDocument/2006/relationships/oleObject" Target="../embeddings/oleObject30.bin"/><Relationship Id="rId9" Type="http://schemas.openxmlformats.org/officeDocument/2006/relationships/oleObject" Target="../embeddings/oleObject32.bin"/></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4.xml"/><Relationship Id="rId1" Type="http://schemas.openxmlformats.org/officeDocument/2006/relationships/vmlDrawing" Target="../drawings/vmlDrawing10.vml"/><Relationship Id="rId4" Type="http://schemas.openxmlformats.org/officeDocument/2006/relationships/image" Target="../media/image64.wmf"/></Relationships>
</file>

<file path=ppt/slides/_rels/slide2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67.png"/><Relationship Id="rId4" Type="http://schemas.openxmlformats.org/officeDocument/2006/relationships/image" Target="../media/image66.wmf"/></Relationships>
</file>

<file path=ppt/slides/_rels/slide2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wmf"/></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oleObject" Target="../embeddings/oleObject36.bin"/><Relationship Id="rId7" Type="http://schemas.openxmlformats.org/officeDocument/2006/relationships/image" Target="../media/image78.png"/><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77.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wmf"/><Relationship Id="rId9" Type="http://schemas.openxmlformats.org/officeDocument/2006/relationships/image" Target="../media/image80.png"/></Relationships>
</file>

<file path=ppt/slides/_rels/slide3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oleObject" Target="../embeddings/oleObject37.bin"/><Relationship Id="rId7" Type="http://schemas.openxmlformats.org/officeDocument/2006/relationships/image" Target="../media/image86.png"/><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85.png"/><Relationship Id="rId5" Type="http://schemas.openxmlformats.org/officeDocument/2006/relationships/image" Target="../media/image84.png"/><Relationship Id="rId10" Type="http://schemas.openxmlformats.org/officeDocument/2006/relationships/image" Target="../media/image89.png"/><Relationship Id="rId4" Type="http://schemas.openxmlformats.org/officeDocument/2006/relationships/image" Target="../media/image83.wmf"/><Relationship Id="rId9" Type="http://schemas.openxmlformats.org/officeDocument/2006/relationships/image" Target="../media/image88.png"/></Relationships>
</file>

<file path=ppt/slides/_rels/slide3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910.png"/><Relationship Id="rId7" Type="http://schemas.openxmlformats.org/officeDocument/2006/relationships/image" Target="../media/image93.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39.bin"/><Relationship Id="rId11" Type="http://schemas.openxmlformats.org/officeDocument/2006/relationships/image" Target="../media/image97.png"/><Relationship Id="rId5" Type="http://schemas.openxmlformats.org/officeDocument/2006/relationships/image" Target="../media/image92.wmf"/><Relationship Id="rId10" Type="http://schemas.openxmlformats.org/officeDocument/2006/relationships/image" Target="../media/image96.png"/><Relationship Id="rId4" Type="http://schemas.openxmlformats.org/officeDocument/2006/relationships/oleObject" Target="../embeddings/oleObject38.bin"/><Relationship Id="rId9" Type="http://schemas.openxmlformats.org/officeDocument/2006/relationships/image" Target="../media/image95.png"/></Relationships>
</file>

<file path=ppt/slides/_rels/slide36.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99.wmf"/><Relationship Id="rId5" Type="http://schemas.openxmlformats.org/officeDocument/2006/relationships/oleObject" Target="../embeddings/oleObject41.bin"/><Relationship Id="rId4" Type="http://schemas.openxmlformats.org/officeDocument/2006/relationships/image" Target="../media/image98.w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3.png"/><Relationship Id="rId7" Type="http://schemas.openxmlformats.org/officeDocument/2006/relationships/image" Target="../media/image104.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44.bin"/><Relationship Id="rId5" Type="http://schemas.openxmlformats.org/officeDocument/2006/relationships/image" Target="../media/image103.wmf"/><Relationship Id="rId4" Type="http://schemas.openxmlformats.org/officeDocument/2006/relationships/oleObject" Target="../embeddings/oleObject43.bin"/></Relationships>
</file>

<file path=ppt/slides/_rels/slide42.xml.rels><?xml version="1.0" encoding="UTF-8" standalone="yes"?>
<Relationships xmlns="http://schemas.openxmlformats.org/package/2006/relationships"><Relationship Id="rId8" Type="http://schemas.openxmlformats.org/officeDocument/2006/relationships/image" Target="../media/image108.wmf"/><Relationship Id="rId13" Type="http://schemas.openxmlformats.org/officeDocument/2006/relationships/image" Target="../media/image111.png"/><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110.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107.wmf"/><Relationship Id="rId11" Type="http://schemas.openxmlformats.org/officeDocument/2006/relationships/oleObject" Target="../embeddings/oleObject49.bin"/><Relationship Id="rId5" Type="http://schemas.openxmlformats.org/officeDocument/2006/relationships/oleObject" Target="../embeddings/oleObject46.bin"/><Relationship Id="rId10" Type="http://schemas.openxmlformats.org/officeDocument/2006/relationships/image" Target="../media/image109.wmf"/><Relationship Id="rId4" Type="http://schemas.openxmlformats.org/officeDocument/2006/relationships/image" Target="../media/image106.wmf"/><Relationship Id="rId9" Type="http://schemas.openxmlformats.org/officeDocument/2006/relationships/oleObject" Target="../embeddings/oleObject48.bin"/></Relationships>
</file>

<file path=ppt/slides/_rels/slide43.xml.rels><?xml version="1.0" encoding="UTF-8" standalone="yes"?>
<Relationships xmlns="http://schemas.openxmlformats.org/package/2006/relationships"><Relationship Id="rId8" Type="http://schemas.openxmlformats.org/officeDocument/2006/relationships/image" Target="../media/image113.w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112.wmf"/><Relationship Id="rId5" Type="http://schemas.openxmlformats.org/officeDocument/2006/relationships/oleObject" Target="../embeddings/oleObject51.bin"/><Relationship Id="rId10" Type="http://schemas.openxmlformats.org/officeDocument/2006/relationships/image" Target="../media/image114.wmf"/><Relationship Id="rId4" Type="http://schemas.openxmlformats.org/officeDocument/2006/relationships/image" Target="../media/image111.wmf"/><Relationship Id="rId9" Type="http://schemas.openxmlformats.org/officeDocument/2006/relationships/oleObject" Target="../embeddings/oleObject53.bin"/></Relationships>
</file>

<file path=ppt/slides/_rels/slide4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118.wmf"/><Relationship Id="rId13" Type="http://schemas.openxmlformats.org/officeDocument/2006/relationships/oleObject" Target="../embeddings/oleObject59.bin"/><Relationship Id="rId18" Type="http://schemas.openxmlformats.org/officeDocument/2006/relationships/image" Target="../media/image123.wmf"/><Relationship Id="rId3" Type="http://schemas.openxmlformats.org/officeDocument/2006/relationships/oleObject" Target="../embeddings/oleObject54.bin"/><Relationship Id="rId21" Type="http://schemas.openxmlformats.org/officeDocument/2006/relationships/oleObject" Target="../embeddings/oleObject63.bin"/><Relationship Id="rId7" Type="http://schemas.openxmlformats.org/officeDocument/2006/relationships/oleObject" Target="../embeddings/oleObject56.bin"/><Relationship Id="rId12" Type="http://schemas.openxmlformats.org/officeDocument/2006/relationships/image" Target="../media/image120.wmf"/><Relationship Id="rId17" Type="http://schemas.openxmlformats.org/officeDocument/2006/relationships/oleObject" Target="../embeddings/oleObject61.bin"/><Relationship Id="rId2" Type="http://schemas.openxmlformats.org/officeDocument/2006/relationships/slideLayout" Target="../slideLayouts/slideLayout2.xml"/><Relationship Id="rId16" Type="http://schemas.openxmlformats.org/officeDocument/2006/relationships/image" Target="../media/image122.wmf"/><Relationship Id="rId20" Type="http://schemas.openxmlformats.org/officeDocument/2006/relationships/image" Target="../media/image124.wmf"/><Relationship Id="rId1" Type="http://schemas.openxmlformats.org/officeDocument/2006/relationships/vmlDrawing" Target="../drawings/vmlDrawing20.vml"/><Relationship Id="rId6" Type="http://schemas.openxmlformats.org/officeDocument/2006/relationships/image" Target="../media/image117.wmf"/><Relationship Id="rId11" Type="http://schemas.openxmlformats.org/officeDocument/2006/relationships/oleObject" Target="../embeddings/oleObject58.bin"/><Relationship Id="rId5" Type="http://schemas.openxmlformats.org/officeDocument/2006/relationships/oleObject" Target="../embeddings/oleObject55.bin"/><Relationship Id="rId15" Type="http://schemas.openxmlformats.org/officeDocument/2006/relationships/oleObject" Target="../embeddings/oleObject60.bin"/><Relationship Id="rId10" Type="http://schemas.openxmlformats.org/officeDocument/2006/relationships/image" Target="../media/image119.wmf"/><Relationship Id="rId19" Type="http://schemas.openxmlformats.org/officeDocument/2006/relationships/oleObject" Target="../embeddings/oleObject62.bin"/><Relationship Id="rId4" Type="http://schemas.openxmlformats.org/officeDocument/2006/relationships/image" Target="../media/image116.wmf"/><Relationship Id="rId9" Type="http://schemas.openxmlformats.org/officeDocument/2006/relationships/oleObject" Target="../embeddings/oleObject57.bin"/><Relationship Id="rId14" Type="http://schemas.openxmlformats.org/officeDocument/2006/relationships/image" Target="../media/image121.wmf"/><Relationship Id="rId22" Type="http://schemas.openxmlformats.org/officeDocument/2006/relationships/image" Target="../media/image125.wmf"/></Relationships>
</file>

<file path=ppt/slides/_rels/slide4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64.bin"/><Relationship Id="rId7" Type="http://schemas.openxmlformats.org/officeDocument/2006/relationships/image" Target="../media/image132.png"/><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wmf"/></Relationships>
</file>

<file path=ppt/slides/_rels/slide49.x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tags" Target="../tags/tag3.xml"/><Relationship Id="rId7" Type="http://schemas.openxmlformats.org/officeDocument/2006/relationships/oleObject" Target="../embeddings/oleObject65.bin"/><Relationship Id="rId2" Type="http://schemas.openxmlformats.org/officeDocument/2006/relationships/tags" Target="../tags/tag2.xml"/><Relationship Id="rId1" Type="http://schemas.openxmlformats.org/officeDocument/2006/relationships/vmlDrawing" Target="../drawings/vmlDrawing22.vml"/><Relationship Id="rId6" Type="http://schemas.openxmlformats.org/officeDocument/2006/relationships/slideLayout" Target="../slideLayouts/slideLayout2.xml"/><Relationship Id="rId11" Type="http://schemas.openxmlformats.org/officeDocument/2006/relationships/image" Target="../media/image134.png"/><Relationship Id="rId5" Type="http://schemas.openxmlformats.org/officeDocument/2006/relationships/tags" Target="../tags/tag5.xml"/><Relationship Id="rId10" Type="http://schemas.openxmlformats.org/officeDocument/2006/relationships/image" Target="../media/image133.wmf"/><Relationship Id="rId4" Type="http://schemas.openxmlformats.org/officeDocument/2006/relationships/tags" Target="../tags/tag4.xml"/><Relationship Id="rId9" Type="http://schemas.openxmlformats.org/officeDocument/2006/relationships/oleObject" Target="../embeddings/oleObject66.bin"/></Relationships>
</file>

<file path=ppt/slides/_rels/slide5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 Id="rId4" Type="http://schemas.openxmlformats.org/officeDocument/2006/relationships/image" Target="../media/image137.png"/></Relationships>
</file>

<file path=ppt/slides/_rels/slide51.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21327" t="28889" r="8919" b="5694"/>
          <a:stretch>
            <a:fillRect/>
          </a:stretch>
        </p:blipFill>
        <p:spPr bwMode="auto">
          <a:xfrm>
            <a:off x="607939" y="908720"/>
            <a:ext cx="7848674" cy="5256584"/>
          </a:xfrm>
          <a:prstGeom prst="rect">
            <a:avLst/>
          </a:prstGeom>
          <a:ln>
            <a:noFill/>
          </a:ln>
          <a:effectLst>
            <a:softEdge rad="112500"/>
          </a:effectLst>
        </p:spPr>
      </p:pic>
      <p:sp>
        <p:nvSpPr>
          <p:cNvPr id="6147" name="Rectangle 2"/>
          <p:cNvSpPr>
            <a:spLocks noGrp="1" noRot="1"/>
          </p:cNvSpPr>
          <p:nvPr>
            <p:ph type="ctrTitle"/>
          </p:nvPr>
        </p:nvSpPr>
        <p:spPr>
          <a:xfrm>
            <a:off x="549275" y="1412875"/>
            <a:ext cx="7907655" cy="1224280"/>
          </a:xfrm>
        </p:spPr>
        <p:txBody>
          <a:bodyPr vert="horz" wrap="square" lIns="91440" tIns="45720" rIns="91440" bIns="45720" anchor="ctr" anchorCtr="0"/>
          <a:lstStyle/>
          <a:p>
            <a:pPr eaLnBrk="1" hangingPunct="1">
              <a:buClrTx/>
              <a:buSzTx/>
              <a:buFontTx/>
              <a:buNone/>
            </a:pPr>
            <a:r>
              <a:rPr lang="zh-CN" altLang="en-US" sz="4800" dirty="0">
                <a:latin typeface="Times New Roman" panose="02020603050405020304" pitchFamily="18" charset="0"/>
                <a:ea typeface="楷体_GB2312" panose="02010609030101010101" pitchFamily="49" charset="-122"/>
                <a:cs typeface="+mj-cs"/>
              </a:rPr>
              <a:t>第九章</a:t>
            </a:r>
            <a:r>
              <a:rPr lang="en-US" altLang="zh-CN" sz="4800" dirty="0">
                <a:latin typeface="Times New Roman" panose="02020603050405020304" pitchFamily="18" charset="0"/>
                <a:ea typeface="楷体_GB2312" panose="02010609030101010101" pitchFamily="49" charset="-122"/>
                <a:cs typeface="+mj-cs"/>
              </a:rPr>
              <a:t>. </a:t>
            </a:r>
            <a:r>
              <a:rPr lang="zh-CN" altLang="en-US" sz="4800" dirty="0">
                <a:latin typeface="Times New Roman" panose="02020603050405020304" pitchFamily="18" charset="0"/>
                <a:ea typeface="楷体_GB2312" panose="02010609030101010101" pitchFamily="49" charset="-122"/>
                <a:cs typeface="+mj-cs"/>
              </a:rPr>
              <a:t>形态学图像处理</a:t>
            </a:r>
          </a:p>
        </p:txBody>
      </p:sp>
      <p:sp>
        <p:nvSpPr>
          <p:cNvPr id="6148" name="Rectangle 3"/>
          <p:cNvSpPr>
            <a:spLocks noGrp="1" noRot="1"/>
          </p:cNvSpPr>
          <p:nvPr>
            <p:ph type="subTitle" idx="1"/>
          </p:nvPr>
        </p:nvSpPr>
        <p:spPr>
          <a:xfrm>
            <a:off x="860426" y="3579883"/>
            <a:ext cx="7715250" cy="1879647"/>
          </a:xfrm>
        </p:spPr>
        <p:txBody>
          <a:bodyPr vert="horz" wrap="square" lIns="91440" tIns="45720" rIns="91440" bIns="45720" anchor="t" anchorCtr="0"/>
          <a:lstStyle/>
          <a:p>
            <a:pPr eaLnBrk="1" hangingPunct="1">
              <a:lnSpc>
                <a:spcPct val="90000"/>
              </a:lnSpc>
              <a:buSzTx/>
            </a:pPr>
            <a:r>
              <a:rPr lang="zh-CN" altLang="en-US" sz="2800" dirty="0">
                <a:latin typeface="Times New Roman" panose="02020603050405020304" pitchFamily="18" charset="0"/>
                <a:ea typeface="楷体_GB2312" panose="02010609030101010101" pitchFamily="49" charset="-122"/>
              </a:rPr>
              <a:t>骆伟祺</a:t>
            </a:r>
          </a:p>
          <a:p>
            <a:pPr eaLnBrk="1" hangingPunct="1">
              <a:lnSpc>
                <a:spcPct val="90000"/>
              </a:lnSpc>
              <a:buSzTx/>
            </a:pPr>
            <a:r>
              <a:rPr lang="zh-CN" altLang="en-US" sz="2800" dirty="0">
                <a:latin typeface="Times New Roman" panose="02020603050405020304" pitchFamily="18" charset="0"/>
                <a:ea typeface="楷体_GB2312" panose="02010609030101010101" pitchFamily="49" charset="-122"/>
                <a:cs typeface="+mn-cs"/>
              </a:rPr>
              <a:t>中山大学计算机学院</a:t>
            </a:r>
            <a:endParaRPr lang="en-US" altLang="zh-CN" sz="2800" dirty="0">
              <a:latin typeface="Times New Roman" panose="02020603050405020304" pitchFamily="18" charset="0"/>
              <a:ea typeface="楷体_GB2312" panose="02010609030101010101" pitchFamily="49" charset="-122"/>
              <a:cs typeface="+mn-cs"/>
            </a:endParaRPr>
          </a:p>
          <a:p>
            <a:pPr eaLnBrk="1" hangingPunct="1">
              <a:lnSpc>
                <a:spcPct val="90000"/>
              </a:lnSpc>
              <a:buSzTx/>
            </a:pPr>
            <a:r>
              <a:rPr lang="en-US" altLang="zh-CN" sz="2400" dirty="0">
                <a:latin typeface="Times New Roman" panose="02020603050405020304" pitchFamily="18" charset="0"/>
                <a:ea typeface="楷体_GB2312" panose="02010609030101010101" pitchFamily="49" charset="-122"/>
                <a:cs typeface="+mn-cs"/>
              </a:rPr>
              <a:t>Email</a:t>
            </a:r>
            <a:r>
              <a:rPr lang="zh-CN" altLang="en-US" sz="2400" dirty="0">
                <a:latin typeface="Times New Roman" panose="02020603050405020304" pitchFamily="18" charset="0"/>
                <a:ea typeface="楷体_GB2312" panose="02010609030101010101" pitchFamily="49" charset="-122"/>
                <a:cs typeface="+mn-cs"/>
              </a:rPr>
              <a:t>：</a:t>
            </a:r>
            <a:r>
              <a:rPr lang="en-US" altLang="zh-CN" sz="2400" u="sng" dirty="0">
                <a:latin typeface="Times New Roman" panose="02020603050405020304" pitchFamily="18" charset="0"/>
                <a:ea typeface="楷体_GB2312" panose="02010609030101010101" pitchFamily="49" charset="-122"/>
                <a:cs typeface="+mn-cs"/>
              </a:rPr>
              <a:t>luoweiqi@mail.sysu.edu.cn</a:t>
            </a:r>
          </a:p>
        </p:txBody>
      </p:sp>
      <p:sp>
        <p:nvSpPr>
          <p:cNvPr id="6149" name="Line 5"/>
          <p:cNvSpPr/>
          <p:nvPr/>
        </p:nvSpPr>
        <p:spPr>
          <a:xfrm>
            <a:off x="611188" y="6308725"/>
            <a:ext cx="7921625" cy="0"/>
          </a:xfrm>
          <a:prstGeom prst="line">
            <a:avLst/>
          </a:prstGeom>
          <a:ln w="19050" cap="flat" cmpd="sng">
            <a:solidFill>
              <a:srgbClr val="006600"/>
            </a:solidFill>
            <a:prstDash val="solid"/>
            <a:headEnd type="none" w="med" len="med"/>
            <a:tailEnd type="none" w="med" len="med"/>
          </a:ln>
        </p:spPr>
      </p:sp>
      <p:sp>
        <p:nvSpPr>
          <p:cNvPr id="6150" name="Line 5"/>
          <p:cNvSpPr/>
          <p:nvPr/>
        </p:nvSpPr>
        <p:spPr>
          <a:xfrm>
            <a:off x="539750" y="714375"/>
            <a:ext cx="7993063" cy="0"/>
          </a:xfrm>
          <a:prstGeom prst="line">
            <a:avLst/>
          </a:prstGeom>
          <a:ln w="19050" cap="flat" cmpd="sng">
            <a:solidFill>
              <a:srgbClr val="006600"/>
            </a:solidFill>
            <a:prstDash val="solid"/>
            <a:headEnd type="none" w="med" len="med"/>
            <a:tailEnd type="none" w="med" len="med"/>
          </a:ln>
        </p:spPr>
      </p:sp>
      <p:sp>
        <p:nvSpPr>
          <p:cNvPr id="5" name="灯片编号占位符 4"/>
          <p:cNvSpPr>
            <a:spLocks noGrp="1"/>
          </p:cNvSpPr>
          <p:nvPr>
            <p:ph type="sldNum" sz="quarter" idx="4"/>
          </p:nvPr>
        </p:nvSpPr>
        <p:spPr/>
        <p:txBody>
          <a:bodyPr/>
          <a:lstStyle/>
          <a:p>
            <a:pPr marL="0" marR="0" lvl="0" indent="0" defTabSz="914400" rtl="0" eaLnBrk="1" fontAlgn="base" latinLnBrk="0" hangingPunct="1">
              <a:lnSpc>
                <a:spcPct val="100000"/>
              </a:lnSpc>
              <a:spcBef>
                <a:spcPct val="0"/>
              </a:spcBef>
              <a:spcAft>
                <a:spcPct val="0"/>
              </a:spcAft>
              <a:buClrTx/>
              <a:buSzTx/>
              <a:buFontTx/>
              <a:buNone/>
              <a:defRPr/>
            </a:pPr>
            <a:fld id="{C3963032-7F61-419C-8B83-C365E2D21EA3}"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1</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1"/>
          </p:nvPr>
        </p:nvSpPr>
        <p:spPr>
          <a:xfrm>
            <a:off x="445135" y="1420495"/>
            <a:ext cx="8540750" cy="4434840"/>
          </a:xfrm>
        </p:spPr>
        <p:txBody>
          <a:bodyPr vert="horz" wrap="square" lIns="91440" tIns="45720" rIns="91440" bIns="45720" anchor="t" anchorCtr="0"/>
          <a:lstStyle/>
          <a:p>
            <a:pPr marL="514350" indent="-514350">
              <a:buFont typeface="Arial" panose="020B0604020202020204" pitchFamily="34" charset="0"/>
              <a:buAutoNum type="arabicPeriod"/>
            </a:pPr>
            <a:r>
              <a:rPr lang="zh-CN" altLang="en-US" sz="2800" dirty="0">
                <a:latin typeface="Times New Roman" panose="02020603050405020304" pitchFamily="18" charset="0"/>
                <a:ea typeface="+mn-ea"/>
                <a:cs typeface="+mn-cs"/>
              </a:rPr>
              <a:t>预备知识</a:t>
            </a:r>
          </a:p>
          <a:p>
            <a:pPr marL="514350" indent="-514350">
              <a:buFont typeface="Arial" panose="020B0604020202020204" pitchFamily="34" charset="0"/>
              <a:buAutoNum type="arabicPeriod"/>
            </a:pPr>
            <a:r>
              <a:rPr lang="zh-CN" altLang="en-US" sz="2800" dirty="0"/>
              <a:t>腐蚀和膨胀</a:t>
            </a:r>
          </a:p>
          <a:p>
            <a:pPr marL="514350" indent="-514350">
              <a:buFont typeface="Arial" panose="020B0604020202020204" pitchFamily="34" charset="0"/>
              <a:buAutoNum type="arabicPeriod"/>
            </a:pPr>
            <a:r>
              <a:rPr lang="zh-CN" altLang="en-US" sz="2800" dirty="0"/>
              <a:t>开运算与闭运算</a:t>
            </a:r>
          </a:p>
          <a:p>
            <a:pPr marL="514350" indent="-514350">
              <a:buFont typeface="Arial" panose="020B0604020202020204" pitchFamily="34" charset="0"/>
              <a:buAutoNum type="arabicPeriod"/>
            </a:pPr>
            <a:r>
              <a:rPr lang="zh-CN" altLang="en-US" sz="2800" dirty="0"/>
              <a:t>击中</a:t>
            </a:r>
            <a:r>
              <a:rPr lang="en-US" altLang="zh-CN" sz="2800" dirty="0"/>
              <a:t>-</a:t>
            </a:r>
            <a:r>
              <a:rPr lang="zh-CN" altLang="en-US" sz="2800" dirty="0"/>
              <a:t>击不中变换</a:t>
            </a:r>
          </a:p>
          <a:p>
            <a:pPr marL="514350" indent="-514350">
              <a:buFont typeface="Arial" panose="020B0604020202020204" pitchFamily="34" charset="0"/>
              <a:buAutoNum type="arabicPeriod"/>
            </a:pPr>
            <a:r>
              <a:rPr lang="zh-CN" altLang="en-US" sz="2800" dirty="0"/>
              <a:t>一些基本的形态学算法</a:t>
            </a:r>
          </a:p>
          <a:p>
            <a:pPr marL="514350" indent="-514350">
              <a:buFont typeface="Arial" panose="020B0604020202020204" pitchFamily="34" charset="0"/>
              <a:buAutoNum type="arabicPeriod"/>
            </a:pPr>
            <a:r>
              <a:rPr lang="zh-CN" altLang="en-US" sz="2800" dirty="0"/>
              <a:t>形态学重建</a:t>
            </a:r>
          </a:p>
          <a:p>
            <a:pPr marL="514350" indent="-514350">
              <a:buFont typeface="Arial" panose="020B0604020202020204" pitchFamily="34" charset="0"/>
              <a:buAutoNum type="arabicPeriod"/>
            </a:pPr>
            <a:r>
              <a:rPr lang="zh-CN" altLang="en-US" sz="2800" dirty="0"/>
              <a:t>二值图像形态学运算小结</a:t>
            </a:r>
          </a:p>
          <a:p>
            <a:pPr marL="514350" indent="-514350">
              <a:buFont typeface="Arial" panose="020B0604020202020204" pitchFamily="34" charset="0"/>
              <a:buAutoNum type="arabicPeriod"/>
            </a:pPr>
            <a:r>
              <a:rPr lang="zh-CN" altLang="en-US" sz="2800" dirty="0"/>
              <a:t>灰度级形态学</a:t>
            </a:r>
            <a:endParaRPr lang="en-US" altLang="zh-CN" sz="3600" dirty="0"/>
          </a:p>
          <a:p>
            <a:pPr marL="514350" indent="-514350">
              <a:buFont typeface="Arial" panose="020B0604020202020204" pitchFamily="34" charset="0"/>
              <a:buAutoNum type="arabicPeriod"/>
            </a:pPr>
            <a:endParaRPr lang="en-US" altLang="zh-CN" sz="3600" dirty="0">
              <a:latin typeface="Times New Roman" panose="02020603050405020304" pitchFamily="18" charset="0"/>
              <a:ea typeface="+mn-ea"/>
              <a:cs typeface="+mn-cs"/>
            </a:endParaRPr>
          </a:p>
        </p:txBody>
      </p:sp>
      <p:sp>
        <p:nvSpPr>
          <p:cNvPr id="19460" name="TextBox 3"/>
          <p:cNvSpPr txBox="1"/>
          <p:nvPr/>
        </p:nvSpPr>
        <p:spPr>
          <a:xfrm>
            <a:off x="445135" y="836613"/>
            <a:ext cx="4359910" cy="5835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dirty="0"/>
              <a:t>第九章</a:t>
            </a:r>
            <a:r>
              <a:rPr lang="en-US" altLang="zh-CN" dirty="0"/>
              <a:t>:</a:t>
            </a:r>
            <a:r>
              <a:rPr lang="zh-CN" altLang="en-US" dirty="0"/>
              <a:t>形态学图像处理</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rPr>
              <a:t>2</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1"/>
          </p:nvPr>
        </p:nvSpPr>
        <p:spPr>
          <a:xfrm>
            <a:off x="445135" y="1420495"/>
            <a:ext cx="8540750" cy="4434840"/>
          </a:xfrm>
        </p:spPr>
        <p:txBody>
          <a:bodyPr vert="horz" wrap="square" lIns="91440" tIns="45720" rIns="91440" bIns="45720" anchor="t" anchorCtr="0"/>
          <a:lstStyle/>
          <a:p>
            <a:pPr marL="514350" indent="-514350">
              <a:buFont typeface="Arial" panose="020B0604020202020204" pitchFamily="34" charset="0"/>
              <a:buAutoNum type="arabicPeriod"/>
            </a:pPr>
            <a:r>
              <a:rPr lang="zh-CN" altLang="en-US" sz="2800" b="1" dirty="0">
                <a:latin typeface="Times New Roman" panose="02020603050405020304" pitchFamily="18" charset="0"/>
                <a:ea typeface="+mn-ea"/>
                <a:cs typeface="+mn-cs"/>
              </a:rPr>
              <a:t>预备知识</a:t>
            </a:r>
            <a:endParaRPr lang="zh-CN" altLang="en-US" sz="2800" dirty="0">
              <a:latin typeface="Times New Roman" panose="02020603050405020304" pitchFamily="18" charset="0"/>
              <a:ea typeface="+mn-ea"/>
              <a:cs typeface="+mn-cs"/>
            </a:endParaRPr>
          </a:p>
          <a:p>
            <a:pPr marL="514350" indent="-514350">
              <a:buFont typeface="Arial" panose="020B0604020202020204" pitchFamily="34" charset="0"/>
              <a:buAutoNum type="arabicPeriod"/>
            </a:pPr>
            <a:r>
              <a:rPr lang="zh-CN" altLang="en-US" sz="2800" dirty="0"/>
              <a:t>腐蚀和膨胀</a:t>
            </a:r>
          </a:p>
          <a:p>
            <a:pPr marL="514350" indent="-514350">
              <a:buFont typeface="Arial" panose="020B0604020202020204" pitchFamily="34" charset="0"/>
              <a:buAutoNum type="arabicPeriod"/>
            </a:pPr>
            <a:r>
              <a:rPr lang="zh-CN" altLang="en-US" sz="2800" dirty="0"/>
              <a:t>开运算与闭运算</a:t>
            </a:r>
          </a:p>
          <a:p>
            <a:pPr marL="514350" indent="-514350">
              <a:buFont typeface="Arial" panose="020B0604020202020204" pitchFamily="34" charset="0"/>
              <a:buAutoNum type="arabicPeriod"/>
            </a:pPr>
            <a:r>
              <a:rPr lang="zh-CN" altLang="en-US" sz="2800" dirty="0"/>
              <a:t>击中</a:t>
            </a:r>
            <a:r>
              <a:rPr lang="en-US" altLang="zh-CN" sz="2800" dirty="0"/>
              <a:t>-</a:t>
            </a:r>
            <a:r>
              <a:rPr lang="zh-CN" altLang="en-US" sz="2800" dirty="0"/>
              <a:t>击不中变换</a:t>
            </a:r>
          </a:p>
          <a:p>
            <a:pPr marL="514350" indent="-514350">
              <a:buFont typeface="Arial" panose="020B0604020202020204" pitchFamily="34" charset="0"/>
              <a:buAutoNum type="arabicPeriod"/>
            </a:pPr>
            <a:r>
              <a:rPr lang="zh-CN" altLang="en-US" sz="2800" dirty="0"/>
              <a:t>一些基本的形态学算法</a:t>
            </a:r>
          </a:p>
          <a:p>
            <a:pPr marL="514350" indent="-514350">
              <a:buFont typeface="Arial" panose="020B0604020202020204" pitchFamily="34" charset="0"/>
              <a:buAutoNum type="arabicPeriod"/>
            </a:pPr>
            <a:r>
              <a:rPr lang="zh-CN" altLang="en-US" sz="2800" dirty="0"/>
              <a:t>形态学重建</a:t>
            </a:r>
          </a:p>
          <a:p>
            <a:pPr marL="514350" indent="-514350">
              <a:buFont typeface="Arial" panose="020B0604020202020204" pitchFamily="34" charset="0"/>
              <a:buAutoNum type="arabicPeriod"/>
            </a:pPr>
            <a:r>
              <a:rPr lang="zh-CN" altLang="en-US" sz="2800" dirty="0"/>
              <a:t>二值图像形态学运算小结</a:t>
            </a:r>
          </a:p>
          <a:p>
            <a:pPr marL="514350" indent="-514350">
              <a:buFont typeface="Arial" panose="020B0604020202020204" pitchFamily="34" charset="0"/>
              <a:buAutoNum type="arabicPeriod"/>
            </a:pPr>
            <a:r>
              <a:rPr lang="zh-CN" altLang="en-US" sz="2800" dirty="0"/>
              <a:t>灰度级形态学</a:t>
            </a:r>
            <a:endParaRPr lang="en-US" altLang="zh-CN" sz="3600" dirty="0"/>
          </a:p>
          <a:p>
            <a:pPr marL="514350" indent="-514350">
              <a:buFont typeface="Arial" panose="020B0604020202020204" pitchFamily="34" charset="0"/>
              <a:buAutoNum type="arabicPeriod"/>
            </a:pPr>
            <a:endParaRPr lang="en-US" altLang="zh-CN" sz="3600" dirty="0">
              <a:latin typeface="Times New Roman" panose="02020603050405020304" pitchFamily="18" charset="0"/>
              <a:ea typeface="+mn-ea"/>
              <a:cs typeface="+mn-cs"/>
            </a:endParaRPr>
          </a:p>
        </p:txBody>
      </p:sp>
      <p:sp>
        <p:nvSpPr>
          <p:cNvPr id="19460" name="TextBox 3"/>
          <p:cNvSpPr txBox="1"/>
          <p:nvPr/>
        </p:nvSpPr>
        <p:spPr>
          <a:xfrm>
            <a:off x="445135" y="836613"/>
            <a:ext cx="4359910" cy="5835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dirty="0"/>
              <a:t>第九章</a:t>
            </a:r>
            <a:r>
              <a:rPr lang="en-US" altLang="zh-CN" dirty="0"/>
              <a:t>:</a:t>
            </a:r>
            <a:r>
              <a:rPr lang="zh-CN" altLang="en-US" dirty="0"/>
              <a:t>形态学图像处理</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rPr>
              <a:t>3</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5"/>
          <p:cNvSpPr txBox="1">
            <a:spLocks noChangeArrowheads="1"/>
          </p:cNvSpPr>
          <p:nvPr/>
        </p:nvSpPr>
        <p:spPr bwMode="auto">
          <a:xfrm>
            <a:off x="489585" y="836295"/>
            <a:ext cx="8029575" cy="5077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285750" indent="-285750" algn="just">
              <a:lnSpc>
                <a:spcPct val="150000"/>
              </a:lnSpc>
              <a:spcBef>
                <a:spcPts val="0"/>
              </a:spcBef>
              <a:buClr>
                <a:srgbClr val="FF0000"/>
              </a:buClr>
              <a:buSzTx/>
              <a:buFont typeface="Wingdings" panose="05000000000000000000" charset="0"/>
              <a:buChar char="l"/>
            </a:pPr>
            <a:r>
              <a:rPr lang="zh-CN" altLang="en-US" sz="1800" b="1" dirty="0">
                <a:latin typeface="微软雅黑" panose="020B0503020204020204" pitchFamily="34" charset="-122"/>
                <a:ea typeface="微软雅黑" panose="020B0503020204020204" pitchFamily="34" charset="-122"/>
              </a:rPr>
              <a:t>形态学：</a:t>
            </a:r>
            <a:r>
              <a:rPr lang="zh-CN" altLang="en-US" sz="1800" dirty="0">
                <a:latin typeface="微软雅黑" panose="020B0503020204020204" pitchFamily="34" charset="-122"/>
                <a:ea typeface="微软雅黑" panose="020B0503020204020204" pitchFamily="34" charset="-122"/>
              </a:rPr>
              <a:t>生物学的一个分支，主要研究动植物的形态和结构。</a:t>
            </a:r>
          </a:p>
          <a:p>
            <a:pPr marL="285750" indent="-285750" algn="just">
              <a:lnSpc>
                <a:spcPct val="150000"/>
              </a:lnSpc>
              <a:spcBef>
                <a:spcPts val="0"/>
              </a:spcBef>
              <a:buClr>
                <a:srgbClr val="FF0000"/>
              </a:buClr>
              <a:buSzTx/>
              <a:buFont typeface="Wingdings" panose="05000000000000000000" charset="0"/>
              <a:buChar char="l"/>
            </a:pPr>
            <a:r>
              <a:rPr lang="zh-CN" altLang="en-US" sz="1800" b="1" dirty="0">
                <a:latin typeface="微软雅黑" panose="020B0503020204020204" pitchFamily="34" charset="-122"/>
                <a:ea typeface="微软雅黑" panose="020B0503020204020204" pitchFamily="34" charset="-122"/>
              </a:rPr>
              <a:t>数学形态学：</a:t>
            </a:r>
            <a:r>
              <a:rPr lang="zh-CN" altLang="en-US" sz="1800" dirty="0">
                <a:latin typeface="微软雅黑" panose="020B0503020204020204" pitchFamily="34" charset="-122"/>
                <a:ea typeface="微软雅黑" panose="020B0503020204020204" pitchFamily="34" charset="-122"/>
              </a:rPr>
              <a:t>以数学形态学为工具从图像中提取表达和描绘区域形状的有用图像分量，如边界、骨架和凸壳等。</a:t>
            </a:r>
          </a:p>
          <a:p>
            <a:pPr algn="just">
              <a:lnSpc>
                <a:spcPct val="150000"/>
              </a:lnSpc>
              <a:spcBef>
                <a:spcPts val="0"/>
              </a:spcBef>
              <a:buClr>
                <a:srgbClr val="FF0000"/>
              </a:buClr>
              <a:buSzTx/>
              <a:buFont typeface="Wingdings" panose="05000000000000000000" charset="0"/>
              <a:buNone/>
            </a:pPr>
            <a:endParaRPr lang="zh-CN" altLang="en-US" sz="1800" dirty="0">
              <a:latin typeface="微软雅黑" panose="020B0503020204020204" pitchFamily="34" charset="-122"/>
              <a:ea typeface="微软雅黑" panose="020B0503020204020204" pitchFamily="34" charset="-122"/>
            </a:endParaRPr>
          </a:p>
          <a:p>
            <a:pPr marL="742950" lvl="1" indent="-285750" algn="just">
              <a:lnSpc>
                <a:spcPct val="150000"/>
              </a:lnSpc>
              <a:spcBef>
                <a:spcPts val="0"/>
              </a:spcBef>
              <a:buClr>
                <a:srgbClr val="2929FF"/>
              </a:buClr>
              <a:buSzTx/>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数学形态学的语言是</a:t>
            </a:r>
            <a:r>
              <a:rPr lang="zh-CN" altLang="en-US" sz="1800" b="1" dirty="0">
                <a:latin typeface="微软雅黑" panose="020B0503020204020204" pitchFamily="34" charset="-122"/>
                <a:ea typeface="微软雅黑" panose="020B0503020204020204" pitchFamily="34" charset="-122"/>
              </a:rPr>
              <a:t>集合论</a:t>
            </a:r>
            <a:r>
              <a:rPr lang="zh-CN" altLang="en-US" sz="1800" dirty="0">
                <a:latin typeface="微软雅黑" panose="020B0503020204020204" pitchFamily="34" charset="-122"/>
                <a:ea typeface="微软雅黑" panose="020B0503020204020204" pitchFamily="34" charset="-122"/>
              </a:rPr>
              <a:t>。</a:t>
            </a:r>
          </a:p>
          <a:p>
            <a:pPr marL="742950" lvl="1" indent="-285750" algn="just">
              <a:lnSpc>
                <a:spcPct val="150000"/>
              </a:lnSpc>
              <a:spcBef>
                <a:spcPts val="0"/>
              </a:spcBef>
              <a:buClr>
                <a:srgbClr val="2929FF"/>
              </a:buClr>
              <a:buSzTx/>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形态学为大量图像处理问题提供了一种统一且强大的方法。</a:t>
            </a:r>
          </a:p>
          <a:p>
            <a:pPr marL="742950" lvl="1" indent="-285750" algn="just">
              <a:lnSpc>
                <a:spcPct val="150000"/>
              </a:lnSpc>
              <a:spcBef>
                <a:spcPts val="0"/>
              </a:spcBef>
              <a:buClr>
                <a:srgbClr val="2929FF"/>
              </a:buClr>
              <a:buSzTx/>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数学形态学中的集合表示图像中的对象。</a:t>
            </a:r>
          </a:p>
          <a:p>
            <a:pPr marL="742950" lvl="1" indent="-285750" algn="just">
              <a:lnSpc>
                <a:spcPct val="150000"/>
              </a:lnSpc>
              <a:spcBef>
                <a:spcPts val="0"/>
              </a:spcBef>
              <a:buClr>
                <a:srgbClr val="2929FF"/>
              </a:buClr>
              <a:buSzTx/>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大多数高级图像分析工具包都实现了一些形态学方法。</a:t>
            </a:r>
          </a:p>
          <a:p>
            <a:pPr lvl="1" algn="just">
              <a:lnSpc>
                <a:spcPct val="150000"/>
              </a:lnSpc>
              <a:spcBef>
                <a:spcPts val="0"/>
              </a:spcBef>
              <a:buSzTx/>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sym typeface="+mn-ea"/>
              </a:rPr>
              <a:t>一种简单的非线性代数算子 。</a:t>
            </a:r>
            <a:endParaRPr lang="zh-CN" altLang="en-US" sz="1800" dirty="0">
              <a:latin typeface="微软雅黑" panose="020B0503020204020204" pitchFamily="34" charset="-122"/>
              <a:ea typeface="微软雅黑" panose="020B0503020204020204" pitchFamily="34" charset="-122"/>
            </a:endParaRPr>
          </a:p>
          <a:p>
            <a:pPr lvl="1" algn="just">
              <a:lnSpc>
                <a:spcPct val="150000"/>
              </a:lnSpc>
              <a:spcBef>
                <a:spcPts val="0"/>
              </a:spcBef>
              <a:buSzTx/>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sym typeface="+mn-ea"/>
              </a:rPr>
              <a:t>主要用于二值图像，可扩展到灰度图像。</a:t>
            </a:r>
            <a:endParaRPr lang="zh-CN" altLang="en-US" sz="1800" dirty="0">
              <a:latin typeface="微软雅黑" panose="020B0503020204020204" pitchFamily="34" charset="-122"/>
              <a:ea typeface="微软雅黑" panose="020B0503020204020204" pitchFamily="34" charset="-122"/>
            </a:endParaRPr>
          </a:p>
          <a:p>
            <a:pPr marL="742950" lvl="1" indent="-285750" algn="just">
              <a:lnSpc>
                <a:spcPct val="150000"/>
              </a:lnSpc>
              <a:spcBef>
                <a:spcPts val="0"/>
              </a:spcBef>
              <a:buClr>
                <a:srgbClr val="2929FF"/>
              </a:buClr>
              <a:buSzTx/>
              <a:buFont typeface="Wingdings" panose="05000000000000000000" charset="0"/>
              <a:buChar char="Ø"/>
            </a:pPr>
            <a:endParaRPr lang="zh-CN" altLang="en-US" sz="1800" dirty="0">
              <a:latin typeface="微软雅黑" panose="020B0503020204020204" pitchFamily="34" charset="-122"/>
              <a:ea typeface="微软雅黑" panose="020B0503020204020204" pitchFamily="34" charset="-122"/>
            </a:endParaRPr>
          </a:p>
          <a:p>
            <a:pPr algn="just">
              <a:lnSpc>
                <a:spcPct val="150000"/>
              </a:lnSpc>
              <a:spcBef>
                <a:spcPts val="0"/>
              </a:spcBef>
              <a:buClr>
                <a:srgbClr val="2929FF"/>
              </a:buClr>
              <a:buSzTx/>
              <a:buFont typeface="Wingdings" panose="05000000000000000000" charset="0"/>
              <a:buNone/>
            </a:pPr>
            <a:endParaRPr lang="en-US" altLang="zh-CN" sz="1800" dirty="0">
              <a:latin typeface="微软雅黑" panose="020B0503020204020204" pitchFamily="34" charset="-122"/>
              <a:ea typeface="微软雅黑" panose="020B0503020204020204" pitchFamily="34" charset="-122"/>
            </a:endParaRPr>
          </a:p>
        </p:txBody>
      </p:sp>
      <p:sp>
        <p:nvSpPr>
          <p:cNvPr id="12292" name="标题 8"/>
          <p:cNvSpPr>
            <a:spLocks noGrp="1"/>
          </p:cNvSpPr>
          <p:nvPr>
            <p:ph type="title"/>
          </p:nvPr>
        </p:nvSpPr>
        <p:spPr>
          <a:xfrm>
            <a:off x="301625" y="23813"/>
            <a:ext cx="8540750" cy="619125"/>
          </a:xfrm>
        </p:spPr>
        <p:txBody>
          <a:bodyPr vert="horz" wrap="square" lIns="91440" tIns="45720" rIns="91440" bIns="45720" anchor="ctr" anchorCtr="0"/>
          <a:lstStyle/>
          <a:p>
            <a:r>
              <a:rPr lang="en-US" altLang="zh-CN" dirty="0">
                <a:sym typeface="+mn-ea"/>
              </a:rPr>
              <a:t>1.</a:t>
            </a:r>
            <a:r>
              <a:rPr lang="en-US" altLang="zh-CN" dirty="0">
                <a:latin typeface="Times New Roman" panose="02020603050405020304" pitchFamily="18" charset="0"/>
                <a:ea typeface="+mn-ea"/>
                <a:cs typeface="+mn-cs"/>
                <a:sym typeface="+mn-ea"/>
              </a:rPr>
              <a:t> </a:t>
            </a:r>
            <a:r>
              <a:rPr lang="zh-CN" dirty="0">
                <a:solidFill>
                  <a:srgbClr val="006600"/>
                </a:solidFill>
                <a:latin typeface="Times New Roman" panose="02020603050405020304" pitchFamily="18" charset="0"/>
                <a:ea typeface="+mn-ea"/>
                <a:cs typeface="+mn-cs"/>
                <a:sym typeface="+mn-ea"/>
              </a:rPr>
              <a:t>预备知识</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rPr>
              <a:t>4</a:t>
            </a:fld>
            <a:endParaRPr kumimoji="0" lang="en-US" altLang="zh-CN" sz="1400" b="0"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标题 8"/>
          <p:cNvSpPr>
            <a:spLocks noGrp="1"/>
          </p:cNvSpPr>
          <p:nvPr>
            <p:ph type="title"/>
          </p:nvPr>
        </p:nvSpPr>
        <p:spPr>
          <a:xfrm>
            <a:off x="301625" y="23813"/>
            <a:ext cx="8540750" cy="619125"/>
          </a:xfrm>
        </p:spPr>
        <p:txBody>
          <a:bodyPr vert="horz" wrap="square" lIns="91440" tIns="45720" rIns="91440" bIns="45720" anchor="ctr" anchorCtr="0"/>
          <a:lstStyle/>
          <a:p>
            <a:r>
              <a:rPr lang="en-US" altLang="zh-CN" dirty="0">
                <a:sym typeface="+mn-ea"/>
              </a:rPr>
              <a:t>1.</a:t>
            </a:r>
            <a:r>
              <a:rPr lang="en-US" altLang="zh-CN" dirty="0">
                <a:latin typeface="Times New Roman" panose="02020603050405020304" pitchFamily="18" charset="0"/>
                <a:ea typeface="+mn-ea"/>
                <a:cs typeface="+mn-cs"/>
                <a:sym typeface="+mn-ea"/>
              </a:rPr>
              <a:t> </a:t>
            </a:r>
            <a:r>
              <a:rPr lang="zh-CN" altLang="en-US" dirty="0">
                <a:solidFill>
                  <a:srgbClr val="006600"/>
                </a:solidFill>
                <a:latin typeface="Times New Roman" panose="02020603050405020304" pitchFamily="18" charset="0"/>
                <a:ea typeface="+mn-ea"/>
                <a:cs typeface="+mn-cs"/>
                <a:sym typeface="+mn-ea"/>
              </a:rPr>
              <a:t>集合运算（回顾</a:t>
            </a:r>
            <a:r>
              <a:rPr lang="en-US" altLang="zh-CN" dirty="0">
                <a:solidFill>
                  <a:srgbClr val="006600"/>
                </a:solidFill>
                <a:latin typeface="Times New Roman" panose="02020603050405020304" pitchFamily="18" charset="0"/>
                <a:ea typeface="+mn-ea"/>
                <a:cs typeface="+mn-cs"/>
                <a:sym typeface="+mn-ea"/>
              </a:rPr>
              <a:t>2.6</a:t>
            </a:r>
            <a:r>
              <a:rPr lang="zh-CN" altLang="en-US" dirty="0">
                <a:solidFill>
                  <a:srgbClr val="006600"/>
                </a:solidFill>
                <a:latin typeface="Times New Roman" panose="02020603050405020304" pitchFamily="18" charset="0"/>
                <a:ea typeface="+mn-ea"/>
                <a:cs typeface="+mn-cs"/>
                <a:sym typeface="+mn-ea"/>
              </a:rPr>
              <a:t>节）</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rPr>
              <a:t>5</a:t>
            </a:fld>
            <a:endParaRPr kumimoji="0" lang="en-US" altLang="zh-CN" sz="1400" b="0"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endParaRPr>
          </a:p>
        </p:txBody>
      </p:sp>
      <p:grpSp>
        <p:nvGrpSpPr>
          <p:cNvPr id="20" name="组合 19"/>
          <p:cNvGrpSpPr/>
          <p:nvPr/>
        </p:nvGrpSpPr>
        <p:grpSpPr>
          <a:xfrm>
            <a:off x="722630" y="795655"/>
            <a:ext cx="4500245" cy="5387975"/>
            <a:chOff x="736" y="1203"/>
            <a:chExt cx="7087" cy="8485"/>
          </a:xfrm>
        </p:grpSpPr>
        <p:grpSp>
          <p:nvGrpSpPr>
            <p:cNvPr id="10" name="组合 9"/>
            <p:cNvGrpSpPr/>
            <p:nvPr/>
          </p:nvGrpSpPr>
          <p:grpSpPr>
            <a:xfrm>
              <a:off x="736" y="1203"/>
              <a:ext cx="5903" cy="4194"/>
              <a:chOff x="736" y="1203"/>
              <a:chExt cx="5903" cy="4194"/>
            </a:xfrm>
          </p:grpSpPr>
          <p:sp>
            <p:nvSpPr>
              <p:cNvPr id="6" name="文本框 5"/>
              <p:cNvSpPr txBox="1"/>
              <p:nvPr/>
            </p:nvSpPr>
            <p:spPr>
              <a:xfrm>
                <a:off x="736" y="1203"/>
                <a:ext cx="1837" cy="603"/>
              </a:xfrm>
              <a:prstGeom prst="rect">
                <a:avLst/>
              </a:prstGeom>
              <a:noFill/>
            </p:spPr>
            <p:txBody>
              <a:bodyPr wrap="square" rtlCol="0" anchor="t">
                <a:noAutofit/>
              </a:bodyPr>
              <a:lstStyle/>
              <a:p>
                <a:r>
                  <a:rPr lang="zh-CN" altLang="en-US">
                    <a:latin typeface="微软雅黑" panose="020B0503020204020204" pitchFamily="34" charset="-122"/>
                    <a:ea typeface="微软雅黑" panose="020B0503020204020204" pitchFamily="34" charset="-122"/>
                  </a:rPr>
                  <a:t>集合的并</a:t>
                </a:r>
              </a:p>
            </p:txBody>
          </p:sp>
          <p:pic>
            <p:nvPicPr>
              <p:cNvPr id="5" name="图片 4"/>
              <p:cNvPicPr>
                <a:picLocks noChangeAspect="1"/>
              </p:cNvPicPr>
              <p:nvPr/>
            </p:nvPicPr>
            <p:blipFill>
              <a:blip r:embed="rId3"/>
              <a:stretch>
                <a:fillRect/>
              </a:stretch>
            </p:blipFill>
            <p:spPr>
              <a:xfrm>
                <a:off x="1984" y="1809"/>
                <a:ext cx="3284" cy="3588"/>
              </a:xfrm>
              <a:prstGeom prst="rect">
                <a:avLst/>
              </a:prstGeom>
            </p:spPr>
          </p:pic>
          <p:graphicFrame>
            <p:nvGraphicFramePr>
              <p:cNvPr id="7" name="对象 6">
                <a:hlinkClick r:id="" action="ppaction://ole?verb=0"/>
              </p:cNvPr>
              <p:cNvGraphicFramePr>
                <a:graphicFrameLocks noChangeAspect="1"/>
              </p:cNvGraphicFramePr>
              <p:nvPr/>
            </p:nvGraphicFramePr>
            <p:xfrm>
              <a:off x="2437" y="1228"/>
              <a:ext cx="4202" cy="554"/>
            </p:xfrm>
            <a:graphic>
              <a:graphicData uri="http://schemas.openxmlformats.org/presentationml/2006/ole">
                <mc:AlternateContent xmlns:mc="http://schemas.openxmlformats.org/markup-compatibility/2006">
                  <mc:Choice xmlns:v="urn:schemas-microsoft-com:vml" Requires="v">
                    <p:oleObj spid="_x0000_s5435" r:id="rId4" imgW="1638300" imgH="215900" progId="Equation.KSEE3">
                      <p:embed/>
                    </p:oleObj>
                  </mc:Choice>
                  <mc:Fallback>
                    <p:oleObj r:id="rId4" imgW="1638300" imgH="215900" progId="Equation.KSEE3">
                      <p:embed/>
                      <p:pic>
                        <p:nvPicPr>
                          <p:cNvPr id="0" name="图片 5120"/>
                          <p:cNvPicPr/>
                          <p:nvPr/>
                        </p:nvPicPr>
                        <p:blipFill>
                          <a:blip r:embed="rId5"/>
                          <a:stretch>
                            <a:fillRect/>
                          </a:stretch>
                        </p:blipFill>
                        <p:spPr>
                          <a:xfrm>
                            <a:off x="2437" y="1228"/>
                            <a:ext cx="4202" cy="554"/>
                          </a:xfrm>
                          <a:prstGeom prst="rect">
                            <a:avLst/>
                          </a:prstGeom>
                        </p:spPr>
                      </p:pic>
                    </p:oleObj>
                  </mc:Fallback>
                </mc:AlternateContent>
              </a:graphicData>
            </a:graphic>
          </p:graphicFrame>
        </p:grpSp>
        <p:grpSp>
          <p:nvGrpSpPr>
            <p:cNvPr id="15" name="组合 14"/>
            <p:cNvGrpSpPr/>
            <p:nvPr/>
          </p:nvGrpSpPr>
          <p:grpSpPr>
            <a:xfrm>
              <a:off x="736" y="5515"/>
              <a:ext cx="7087" cy="623"/>
              <a:chOff x="736" y="5515"/>
              <a:chExt cx="7087" cy="623"/>
            </a:xfrm>
          </p:grpSpPr>
          <p:sp>
            <p:nvSpPr>
              <p:cNvPr id="8" name="文本框 7"/>
              <p:cNvSpPr txBox="1"/>
              <p:nvPr/>
            </p:nvSpPr>
            <p:spPr>
              <a:xfrm>
                <a:off x="736" y="5515"/>
                <a:ext cx="7087" cy="580"/>
              </a:xfrm>
              <a:prstGeom prst="rect">
                <a:avLst/>
              </a:prstGeom>
              <a:noFill/>
            </p:spPr>
            <p:txBody>
              <a:bodyPr wrap="square" rtlCol="0" anchor="t">
                <a:spAutoFit/>
              </a:bodyPr>
              <a:lstStyle/>
              <a:p>
                <a:r>
                  <a:rPr lang="zh-CN" altLang="en-US">
                    <a:latin typeface="微软雅黑" panose="020B0503020204020204" pitchFamily="34" charset="-122"/>
                    <a:ea typeface="微软雅黑" panose="020B0503020204020204" pitchFamily="34" charset="-122"/>
                    <a:sym typeface="+mn-ea"/>
                  </a:rPr>
                  <a:t>集合的补</a:t>
                </a:r>
                <a:r>
                  <a:rPr lang="en-US" altLang="zh-CN">
                    <a:latin typeface="微软雅黑" panose="020B0503020204020204" pitchFamily="34" charset="-122"/>
                    <a:ea typeface="微软雅黑" panose="020B0503020204020204" pitchFamily="34" charset="-122"/>
                    <a:sym typeface="+mn-ea"/>
                  </a:rPr>
                  <a:t> </a:t>
                </a:r>
              </a:p>
            </p:txBody>
          </p:sp>
          <p:graphicFrame>
            <p:nvGraphicFramePr>
              <p:cNvPr id="9" name="对象 8">
                <a:hlinkClick r:id="" action="ppaction://ole?verb=0"/>
              </p:cNvPr>
              <p:cNvGraphicFramePr>
                <a:graphicFrameLocks noChangeAspect="1"/>
              </p:cNvGraphicFramePr>
              <p:nvPr/>
            </p:nvGraphicFramePr>
            <p:xfrm>
              <a:off x="2324" y="5515"/>
              <a:ext cx="2628" cy="623"/>
            </p:xfrm>
            <a:graphic>
              <a:graphicData uri="http://schemas.openxmlformats.org/presentationml/2006/ole">
                <mc:AlternateContent xmlns:mc="http://schemas.openxmlformats.org/markup-compatibility/2006">
                  <mc:Choice xmlns:v="urn:schemas-microsoft-com:vml" Requires="v">
                    <p:oleObj spid="_x0000_s5436" r:id="rId6" imgW="965200" imgH="228600" progId="Equation.KSEE3">
                      <p:embed/>
                    </p:oleObj>
                  </mc:Choice>
                  <mc:Fallback>
                    <p:oleObj r:id="rId6" imgW="965200" imgH="228600" progId="Equation.KSEE3">
                      <p:embed/>
                      <p:pic>
                        <p:nvPicPr>
                          <p:cNvPr id="0" name="图片 5121"/>
                          <p:cNvPicPr/>
                          <p:nvPr/>
                        </p:nvPicPr>
                        <p:blipFill>
                          <a:blip r:embed="rId7"/>
                          <a:stretch>
                            <a:fillRect/>
                          </a:stretch>
                        </p:blipFill>
                        <p:spPr>
                          <a:xfrm>
                            <a:off x="2324" y="5515"/>
                            <a:ext cx="2628" cy="623"/>
                          </a:xfrm>
                          <a:prstGeom prst="rect">
                            <a:avLst/>
                          </a:prstGeom>
                        </p:spPr>
                      </p:pic>
                    </p:oleObj>
                  </mc:Fallback>
                </mc:AlternateContent>
              </a:graphicData>
            </a:graphic>
          </p:graphicFrame>
        </p:grpSp>
        <p:pic>
          <p:nvPicPr>
            <p:cNvPr id="16" name="图片 15"/>
            <p:cNvPicPr>
              <a:picLocks noChangeAspect="1"/>
            </p:cNvPicPr>
            <p:nvPr/>
          </p:nvPicPr>
          <p:blipFill>
            <a:blip r:embed="rId8"/>
            <a:stretch>
              <a:fillRect/>
            </a:stretch>
          </p:blipFill>
          <p:spPr>
            <a:xfrm>
              <a:off x="2098" y="6194"/>
              <a:ext cx="3233" cy="3494"/>
            </a:xfrm>
            <a:prstGeom prst="rect">
              <a:avLst/>
            </a:prstGeom>
          </p:spPr>
        </p:pic>
      </p:grpSp>
      <p:grpSp>
        <p:nvGrpSpPr>
          <p:cNvPr id="21" name="组合 20"/>
          <p:cNvGrpSpPr/>
          <p:nvPr/>
        </p:nvGrpSpPr>
        <p:grpSpPr>
          <a:xfrm>
            <a:off x="4572000" y="805180"/>
            <a:ext cx="4572000" cy="5377180"/>
            <a:chOff x="7769" y="1193"/>
            <a:chExt cx="7200" cy="8468"/>
          </a:xfrm>
        </p:grpSpPr>
        <p:grpSp>
          <p:nvGrpSpPr>
            <p:cNvPr id="11" name="组合 10"/>
            <p:cNvGrpSpPr/>
            <p:nvPr/>
          </p:nvGrpSpPr>
          <p:grpSpPr>
            <a:xfrm>
              <a:off x="7769" y="1193"/>
              <a:ext cx="7200" cy="4161"/>
              <a:chOff x="8221" y="1080"/>
              <a:chExt cx="7200" cy="4161"/>
            </a:xfrm>
          </p:grpSpPr>
          <mc:AlternateContent xmlns:mc="http://schemas.openxmlformats.org/markup-compatibility/2006" xmlns:a14="http://schemas.microsoft.com/office/drawing/2010/main">
            <mc:Choice Requires="a14">
              <p:sp>
                <p:nvSpPr>
                  <p:cNvPr id="12" name="文本框 11"/>
                  <p:cNvSpPr txBox="1"/>
                  <p:nvPr/>
                </p:nvSpPr>
                <p:spPr>
                  <a:xfrm>
                    <a:off x="8221" y="1080"/>
                    <a:ext cx="7200" cy="580"/>
                  </a:xfrm>
                  <a:prstGeom prst="rect">
                    <a:avLst/>
                  </a:prstGeom>
                  <a:noFill/>
                </p:spPr>
                <p:txBody>
                  <a:bodyPr wrap="square" rtlCol="0" anchor="t">
                    <a:spAutoFit/>
                  </a:bodyPr>
                  <a:lstStyle/>
                  <a:p>
                    <a:r>
                      <a:rPr lang="zh-CN" altLang="en-US">
                        <a:latin typeface="微软雅黑" panose="020B0503020204020204" pitchFamily="34" charset="-122"/>
                        <a:ea typeface="微软雅黑" panose="020B0503020204020204" pitchFamily="34" charset="-122"/>
                        <a:sym typeface="+mn-ea"/>
                      </a:rPr>
                      <a:t>集合的交</a:t>
                    </a:r>
                    <a:r>
                      <a:rPr lang="en-US" altLang="zh-CN">
                        <a:latin typeface="微软雅黑" panose="020B0503020204020204" pitchFamily="34" charset="-122"/>
                        <a:ea typeface="微软雅黑" panose="020B0503020204020204" pitchFamily="34" charset="-122"/>
                        <a:sym typeface="+mn-ea"/>
                      </a:rPr>
                      <a:t> </a:t>
                    </a:r>
                    <a14:m>
                      <m:oMath xmlns:m="http://schemas.openxmlformats.org/officeDocument/2006/math">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𝐴</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𝐵</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𝑥</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𝑥</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𝐴</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且</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𝑥</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𝐵</m:t>
                        </m:r>
                        <m:r>
                          <a:rPr lang="en-US" altLang="zh-CN" i="1">
                            <a:latin typeface="Cambria Math" panose="02040503050406030204" pitchFamily="18" charset="0"/>
                            <a:ea typeface="微软雅黑" panose="020B0503020204020204" pitchFamily="34" charset="-122"/>
                            <a:cs typeface="Cambria Math" panose="02040503050406030204" pitchFamily="18" charset="0"/>
                            <a:sym typeface="+mn-ea"/>
                          </a:rPr>
                          <m:t>}</m:t>
                        </m:r>
                      </m:oMath>
                    </a14:m>
                    <a:endParaRPr lang="en-US" altLang="zh-CN">
                      <a:latin typeface="微软雅黑" panose="020B0503020204020204" pitchFamily="34" charset="-122"/>
                      <a:ea typeface="微软雅黑" panose="020B0503020204020204" pitchFamily="34" charset="-122"/>
                      <a:sym typeface="+mn-ea"/>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8221" y="1080"/>
                    <a:ext cx="7200" cy="580"/>
                  </a:xfrm>
                  <a:prstGeom prst="rect">
                    <a:avLst/>
                  </a:prstGeom>
                  <a:blipFill rotWithShape="1">
                    <a:blip r:embed="rId9"/>
                  </a:blipFill>
                </p:spPr>
                <p:txBody>
                  <a:bodyPr/>
                  <a:lstStyle/>
                  <a:p>
                    <a:r>
                      <a:rPr lang="zh-CN" altLang="en-US">
                        <a:noFill/>
                      </a:rPr>
                      <a:t> </a:t>
                    </a:r>
                  </a:p>
                </p:txBody>
              </p:sp>
            </mc:Fallback>
          </mc:AlternateContent>
          <p:pic>
            <p:nvPicPr>
              <p:cNvPr id="17" name="图片 16"/>
              <p:cNvPicPr>
                <a:picLocks noChangeAspect="1"/>
              </p:cNvPicPr>
              <p:nvPr/>
            </p:nvPicPr>
            <p:blipFill>
              <a:blip r:embed="rId10"/>
              <a:stretch>
                <a:fillRect/>
              </a:stretch>
            </p:blipFill>
            <p:spPr>
              <a:xfrm>
                <a:off x="9581" y="1658"/>
                <a:ext cx="3292" cy="3583"/>
              </a:xfrm>
              <a:prstGeom prst="rect">
                <a:avLst/>
              </a:prstGeom>
            </p:spPr>
          </p:pic>
        </p:grpSp>
        <p:grpSp>
          <p:nvGrpSpPr>
            <p:cNvPr id="18" name="组合 17"/>
            <p:cNvGrpSpPr/>
            <p:nvPr/>
          </p:nvGrpSpPr>
          <p:grpSpPr>
            <a:xfrm>
              <a:off x="7770" y="5580"/>
              <a:ext cx="6857" cy="589"/>
              <a:chOff x="8222" y="5580"/>
              <a:chExt cx="6857" cy="589"/>
            </a:xfrm>
          </p:grpSpPr>
          <p:sp>
            <p:nvSpPr>
              <p:cNvPr id="19" name="文本框 18"/>
              <p:cNvSpPr txBox="1"/>
              <p:nvPr/>
            </p:nvSpPr>
            <p:spPr>
              <a:xfrm>
                <a:off x="8222" y="5580"/>
                <a:ext cx="6857" cy="580"/>
              </a:xfrm>
              <a:prstGeom prst="rect">
                <a:avLst/>
              </a:prstGeom>
              <a:noFill/>
            </p:spPr>
            <p:txBody>
              <a:bodyPr wrap="square" rtlCol="0" anchor="t">
                <a:spAutoFit/>
              </a:bodyPr>
              <a:lstStyle/>
              <a:p>
                <a:r>
                  <a:rPr lang="zh-CN" altLang="en-US">
                    <a:latin typeface="微软雅黑" panose="020B0503020204020204" pitchFamily="34" charset="-122"/>
                    <a:ea typeface="微软雅黑" panose="020B0503020204020204" pitchFamily="34" charset="-122"/>
                    <a:sym typeface="+mn-ea"/>
                  </a:rPr>
                  <a:t>集合的差</a:t>
                </a:r>
              </a:p>
            </p:txBody>
          </p:sp>
          <mc:AlternateContent xmlns:mc="http://schemas.openxmlformats.org/markup-compatibility/2006" xmlns:a14="http://schemas.microsoft.com/office/drawing/2010/main">
            <mc:Choice Requires="a14">
              <p:graphicFrame>
                <p:nvGraphicFramePr>
                  <p:cNvPr id="22" name="对象 21">
                    <a:hlinkClick r:id="" action="ppaction://ole?verb=0"/>
                  </p:cNvPr>
                  <p:cNvGraphicFramePr>
                    <a:graphicFrameLocks noChangeAspect="1"/>
                  </p:cNvGraphicFramePr>
                  <p:nvPr/>
                </p:nvGraphicFramePr>
                <p:xfrm>
                  <a:off x="9922" y="5580"/>
                  <a:ext cx="4427" cy="589"/>
                </p:xfrm>
                <a:graphic>
                  <a:graphicData uri="http://schemas.openxmlformats.org/presentationml/2006/ole">
                    <mc:AlternateContent>
                      <mc:Choice xmlns:v="urn:schemas-microsoft-com:vml" Requires="v">
                        <p:oleObj spid="_x0000_s5437" r:id="rId11" imgW="1625600" imgH="215900" progId="Equation.KSEE3">
                          <p:embed/>
                        </p:oleObj>
                      </mc:Choice>
                      <mc:Fallback>
                        <p:oleObj r:id="rId11" imgW="1625600" imgH="215900" progId="Equation.KSEE3">
                          <p:embed/>
                          <p:pic>
                            <p:nvPicPr>
                              <p:cNvPr id="0" name="图片 5121"/>
                              <p:cNvPicPr/>
                              <p:nvPr/>
                            </p:nvPicPr>
                            <p:blipFill>
                              <a:blip r:embed="rId12"/>
                              <a:stretch>
                                <a:fillRect/>
                              </a:stretch>
                            </p:blipFill>
                            <p:spPr>
                              <a:xfrm>
                                <a:off x="9922" y="5580"/>
                                <a:ext cx="4427" cy="589"/>
                              </a:xfrm>
                              <a:prstGeom prst="rect">
                                <a:avLst/>
                              </a:prstGeom>
                            </p:spPr>
                          </p:pic>
                        </p:oleObj>
                      </mc:Fallback>
                    </mc:AlternateContent>
                  </a:graphicData>
                </a:graphic>
              </p:graphicFrame>
            </mc:Choice>
            <mc:Fallback xmlns="">
              <p:graphicFrame>
                <p:nvGraphicFramePr>
                  <p:cNvPr id="22" name="对象 21">
                    <a:hlinkClick r:id="" action="ppaction://ole?verb=0"/>
                  </p:cNvPr>
                  <p:cNvGraphicFramePr>
                    <a:graphicFrameLocks noChangeAspect="1"/>
                  </p:cNvGraphicFramePr>
                  <p:nvPr/>
                </p:nvGraphicFramePr>
                <p:xfrm>
                  <a:off x="9922" y="5580"/>
                  <a:ext cx="4427" cy="589"/>
                </p:xfrm>
                <a:graphic>
                  <a:graphicData uri="http://schemas.openxmlformats.org/presentationml/2006/ole">
                    <mc:AlternateContent>
                      <mc:Choice xmlns:v="urn:schemas-microsoft-com:vml" Requires="v">
                        <p:oleObj spid="_x0000_s5131" r:id="rId13" imgW="1625600" imgH="215900" progId="Equation.KSEE3">
                          <p:embed/>
                        </p:oleObj>
                      </mc:Choice>
                      <mc:Fallback>
                        <p:oleObj r:id="rId13" imgW="1625600" imgH="215900" progId="Equation.KSEE3">
                          <p:embed/>
                          <p:pic>
                            <p:nvPicPr>
                              <p:cNvPr id="0" name="图片 5121"/>
                              <p:cNvPicPr/>
                              <p:nvPr/>
                            </p:nvPicPr>
                            <p:blipFill>
                              <a:blip r:embed="rId14"/>
                              <a:stretch>
                                <a:fillRect/>
                              </a:stretch>
                            </p:blipFill>
                            <p:spPr>
                              <a:xfrm>
                                <a:off x="9922" y="5580"/>
                                <a:ext cx="4427" cy="589"/>
                              </a:xfrm>
                              <a:prstGeom prst="rect">
                                <a:avLst/>
                              </a:prstGeom>
                            </p:spPr>
                          </p:pic>
                        </p:oleObj>
                      </mc:Fallback>
                    </mc:AlternateContent>
                  </a:graphicData>
                </a:graphic>
              </p:graphicFrame>
            </mc:Fallback>
          </mc:AlternateContent>
        </p:grpSp>
        <p:pic>
          <p:nvPicPr>
            <p:cNvPr id="24" name="图片 23"/>
            <p:cNvPicPr>
              <a:picLocks noChangeAspect="1"/>
            </p:cNvPicPr>
            <p:nvPr/>
          </p:nvPicPr>
          <p:blipFill>
            <a:blip r:embed="rId15"/>
            <a:stretch>
              <a:fillRect/>
            </a:stretch>
          </p:blipFill>
          <p:spPr>
            <a:xfrm>
              <a:off x="9129" y="6167"/>
              <a:ext cx="3257" cy="3494"/>
            </a:xfrm>
            <a:prstGeom prst="rect">
              <a:avLst/>
            </a:prstGeom>
          </p:spPr>
        </p:pic>
      </p:gr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标题 8"/>
          <p:cNvSpPr>
            <a:spLocks noGrp="1"/>
          </p:cNvSpPr>
          <p:nvPr>
            <p:ph type="title"/>
          </p:nvPr>
        </p:nvSpPr>
        <p:spPr>
          <a:xfrm>
            <a:off x="301625" y="23813"/>
            <a:ext cx="8540750" cy="619125"/>
          </a:xfrm>
        </p:spPr>
        <p:txBody>
          <a:bodyPr vert="horz" wrap="square" lIns="91440" tIns="45720" rIns="91440" bIns="45720" anchor="ctr" anchorCtr="0"/>
          <a:lstStyle/>
          <a:p>
            <a:r>
              <a:rPr lang="en-US" altLang="zh-CN" dirty="0">
                <a:sym typeface="+mn-ea"/>
              </a:rPr>
              <a:t>1.</a:t>
            </a:r>
            <a:r>
              <a:rPr lang="en-US" altLang="zh-CN" dirty="0">
                <a:latin typeface="Times New Roman" panose="02020603050405020304" pitchFamily="18" charset="0"/>
                <a:ea typeface="+mn-ea"/>
                <a:cs typeface="+mn-cs"/>
                <a:sym typeface="+mn-ea"/>
              </a:rPr>
              <a:t> </a:t>
            </a:r>
            <a:r>
              <a:rPr lang="zh-CN" altLang="en-US" dirty="0">
                <a:solidFill>
                  <a:srgbClr val="006600"/>
                </a:solidFill>
                <a:latin typeface="Times New Roman" panose="02020603050405020304" pitchFamily="18" charset="0"/>
                <a:ea typeface="+mn-ea"/>
                <a:cs typeface="+mn-cs"/>
                <a:sym typeface="+mn-ea"/>
              </a:rPr>
              <a:t>逻辑运算（回顾</a:t>
            </a:r>
            <a:r>
              <a:rPr lang="en-US" altLang="zh-CN" dirty="0">
                <a:solidFill>
                  <a:srgbClr val="006600"/>
                </a:solidFill>
                <a:latin typeface="Times New Roman" panose="02020603050405020304" pitchFamily="18" charset="0"/>
                <a:ea typeface="+mn-ea"/>
                <a:cs typeface="+mn-cs"/>
                <a:sym typeface="+mn-ea"/>
              </a:rPr>
              <a:t>2.6</a:t>
            </a:r>
            <a:r>
              <a:rPr lang="zh-CN" altLang="en-US" dirty="0">
                <a:solidFill>
                  <a:srgbClr val="006600"/>
                </a:solidFill>
                <a:latin typeface="Times New Roman" panose="02020603050405020304" pitchFamily="18" charset="0"/>
                <a:ea typeface="+mn-ea"/>
                <a:cs typeface="+mn-cs"/>
                <a:sym typeface="+mn-ea"/>
              </a:rPr>
              <a:t>节）</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rPr>
              <a:t>6</a:t>
            </a:fld>
            <a:endParaRPr kumimoji="0" lang="en-US" altLang="zh-CN" sz="1400" b="0"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endParaRPr>
          </a:p>
        </p:txBody>
      </p:sp>
      <p:pic>
        <p:nvPicPr>
          <p:cNvPr id="76811" name="Picture 11"/>
          <p:cNvPicPr>
            <a:picLocks noGrp="1" noChangeAspect="1" noChangeArrowheads="1"/>
          </p:cNvPicPr>
          <p:nvPr/>
        </p:nvPicPr>
        <p:blipFill rotWithShape="1">
          <a:blip r:embed="rId2">
            <a:extLst>
              <a:ext uri="{28A0092B-C50C-407E-A947-70E740481C1C}">
                <a14:useLocalDpi xmlns:a14="http://schemas.microsoft.com/office/drawing/2010/main" val="0"/>
              </a:ext>
            </a:extLst>
          </a:blip>
          <a:srcRect r="24592"/>
          <a:stretch>
            <a:fillRect/>
          </a:stretch>
        </p:blipFill>
        <p:spPr>
          <a:xfrm>
            <a:off x="4716145" y="908685"/>
            <a:ext cx="3456305" cy="5015865"/>
          </a:xfrm>
          <a:prstGeom prst="rect">
            <a:avLst/>
          </a:prstGeom>
          <a:noFill/>
        </p:spPr>
      </p:pic>
      <p:sp>
        <p:nvSpPr>
          <p:cNvPr id="2" name="文本框 1"/>
          <p:cNvSpPr txBox="1"/>
          <p:nvPr/>
        </p:nvSpPr>
        <p:spPr>
          <a:xfrm>
            <a:off x="539115" y="980440"/>
            <a:ext cx="3863340" cy="4407535"/>
          </a:xfrm>
          <a:prstGeom prst="rect">
            <a:avLst/>
          </a:prstGeom>
          <a:noFill/>
        </p:spPr>
        <p:txBody>
          <a:bodyPr wrap="square" rtlCol="0" anchor="t">
            <a:spAutoFit/>
          </a:bodyPr>
          <a:lstStyle/>
          <a:p>
            <a:pPr algn="just">
              <a:lnSpc>
                <a:spcPct val="130000"/>
              </a:lnSpc>
            </a:pPr>
            <a:r>
              <a:rPr lang="zh-CN" altLang="en-US" sz="1800" b="1" dirty="0">
                <a:latin typeface="微软雅黑" panose="020B0503020204020204" pitchFamily="34" charset="-122"/>
                <a:ea typeface="微软雅黑" panose="020B0503020204020204" pitchFamily="34" charset="-122"/>
                <a:sym typeface="+mn-ea"/>
              </a:rPr>
              <a:t>二值的逻辑运算</a:t>
            </a:r>
          </a:p>
          <a:p>
            <a:pPr algn="just">
              <a:lnSpc>
                <a:spcPct val="130000"/>
              </a:lnSpc>
            </a:pPr>
            <a:endParaRPr lang="zh-CN" altLang="en-US" sz="1800" b="1" dirty="0">
              <a:latin typeface="微软雅黑" panose="020B0503020204020204" pitchFamily="34" charset="-122"/>
              <a:ea typeface="微软雅黑" panose="020B0503020204020204" pitchFamily="34" charset="-122"/>
              <a:sym typeface="+mn-ea"/>
            </a:endParaRPr>
          </a:p>
          <a:p>
            <a:pPr indent="457200" algn="just">
              <a:lnSpc>
                <a:spcPct val="130000"/>
              </a:lnSpc>
            </a:pPr>
            <a:r>
              <a:rPr lang="zh-CN" altLang="en-US" sz="1800">
                <a:latin typeface="微软雅黑" panose="020B0503020204020204" pitchFamily="34" charset="-122"/>
                <a:ea typeface="微软雅黑" panose="020B0503020204020204" pitchFamily="34" charset="-122"/>
                <a:sym typeface="+mn-ea"/>
              </a:rPr>
              <a:t>逻辑运算处理TRUE(通常用1表示)和FALSE(通常用0表示)变量与表达式。对于我们的目的而言，这意味着由前景(1值)像素和(0值)背景像素组成的二值图像。</a:t>
            </a:r>
          </a:p>
          <a:p>
            <a:pPr algn="just">
              <a:lnSpc>
                <a:spcPct val="130000"/>
              </a:lnSpc>
            </a:pPr>
            <a:endParaRPr lang="zh-CN" altLang="en-US" sz="1800" b="1" dirty="0">
              <a:latin typeface="微软雅黑" panose="020B0503020204020204" pitchFamily="34" charset="-122"/>
              <a:ea typeface="微软雅黑" panose="020B0503020204020204" pitchFamily="34" charset="-122"/>
              <a:sym typeface="+mn-ea"/>
            </a:endParaRPr>
          </a:p>
          <a:p>
            <a:pPr algn="just">
              <a:lnSpc>
                <a:spcPct val="130000"/>
              </a:lnSpc>
            </a:pPr>
            <a:endParaRPr lang="zh-CN" altLang="en-US" sz="1800" b="1" dirty="0">
              <a:latin typeface="微软雅黑" panose="020B0503020204020204" pitchFamily="34" charset="-122"/>
              <a:ea typeface="微软雅黑" panose="020B0503020204020204" pitchFamily="34" charset="-122"/>
              <a:sym typeface="+mn-ea"/>
            </a:endParaRPr>
          </a:p>
          <a:p>
            <a:pPr algn="just">
              <a:lnSpc>
                <a:spcPct val="130000"/>
              </a:lnSpc>
            </a:pPr>
            <a:r>
              <a:rPr lang="en-US" altLang="zh-CN" sz="1800">
                <a:latin typeface="微软雅黑" panose="020B0503020204020204" pitchFamily="34" charset="-122"/>
                <a:ea typeface="微软雅黑" panose="020B0503020204020204" pitchFamily="34" charset="-122"/>
                <a:sym typeface="+mn-ea"/>
              </a:rPr>
              <a:t>   </a:t>
            </a:r>
            <a:r>
              <a:rPr lang="zh-CN" altLang="en-US" sz="1800">
                <a:latin typeface="微软雅黑" panose="020B0503020204020204" pitchFamily="34" charset="-122"/>
                <a:ea typeface="微软雅黑" panose="020B0503020204020204" pitchFamily="34" charset="-122"/>
                <a:sym typeface="+mn-ea"/>
              </a:rPr>
              <a:t>集合运算与逻辑运算有一一对应的关系。</a:t>
            </a:r>
            <a:endParaRPr lang="en-US" altLang="zh-CN" sz="1800" baseline="0">
              <a:latin typeface="微软雅黑" panose="020B0503020204020204" pitchFamily="34" charset="-122"/>
              <a:ea typeface="微软雅黑" panose="020B0503020204020204" pitchFamily="34" charset="-122"/>
            </a:endParaRPr>
          </a:p>
          <a:p>
            <a:pPr algn="just">
              <a:lnSpc>
                <a:spcPct val="130000"/>
              </a:lnSpc>
            </a:pPr>
            <a:endParaRPr lang="zh-CN" altLang="en-US" sz="1800" b="1" dirty="0">
              <a:latin typeface="微软雅黑" panose="020B0503020204020204" pitchFamily="34" charset="-122"/>
              <a:ea typeface="微软雅黑" panose="020B0503020204020204" pitchFamily="34" charset="-122"/>
              <a:sym typeface="+mn-ea"/>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标题 8"/>
          <p:cNvSpPr>
            <a:spLocks noGrp="1"/>
          </p:cNvSpPr>
          <p:nvPr>
            <p:ph type="title"/>
          </p:nvPr>
        </p:nvSpPr>
        <p:spPr>
          <a:xfrm>
            <a:off x="301625" y="23813"/>
            <a:ext cx="8540750" cy="619125"/>
          </a:xfrm>
        </p:spPr>
        <p:txBody>
          <a:bodyPr vert="horz" wrap="square" lIns="91440" tIns="45720" rIns="91440" bIns="45720" anchor="ctr" anchorCtr="0"/>
          <a:lstStyle/>
          <a:p>
            <a:r>
              <a:rPr lang="en-US" altLang="zh-CN" dirty="0">
                <a:sym typeface="+mn-ea"/>
              </a:rPr>
              <a:t>1.</a:t>
            </a:r>
            <a:r>
              <a:rPr lang="en-US" altLang="zh-CN" dirty="0">
                <a:latin typeface="Times New Roman" panose="02020603050405020304" pitchFamily="18" charset="0"/>
                <a:ea typeface="+mn-ea"/>
                <a:cs typeface="+mn-cs"/>
                <a:sym typeface="+mn-ea"/>
              </a:rPr>
              <a:t> </a:t>
            </a:r>
            <a:r>
              <a:rPr lang="zh-CN" altLang="en-US" dirty="0">
                <a:latin typeface="Times New Roman" panose="02020603050405020304" pitchFamily="18" charset="0"/>
                <a:ea typeface="+mn-ea"/>
                <a:cs typeface="+mn-cs"/>
                <a:sym typeface="+mn-ea"/>
              </a:rPr>
              <a:t>目标元素与</a:t>
            </a:r>
            <a:r>
              <a:rPr lang="zh-CN" altLang="en-US" dirty="0">
                <a:solidFill>
                  <a:srgbClr val="006600"/>
                </a:solidFill>
                <a:latin typeface="Times New Roman" panose="02020603050405020304" pitchFamily="18" charset="0"/>
                <a:ea typeface="+mn-ea"/>
                <a:cs typeface="+mn-cs"/>
                <a:sym typeface="+mn-ea"/>
              </a:rPr>
              <a:t>结构元</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rPr>
              <a:t>7</a:t>
            </a:fld>
            <a:endParaRPr kumimoji="0" lang="en-US" altLang="zh-CN" sz="1400" b="0"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endParaRPr>
          </a:p>
        </p:txBody>
      </p:sp>
      <p:sp>
        <p:nvSpPr>
          <p:cNvPr id="6" name="Rectangle 3" descr="Rectangle: Click to edit Master text styles&#10;Second level&#10;Third level&#10;Fourth level&#10;Fifth level"/>
          <p:cNvSpPr>
            <a:spLocks noGrp="1" noChangeArrowheads="1"/>
          </p:cNvSpPr>
          <p:nvPr>
            <p:ph type="body" sz="half" idx="1"/>
          </p:nvPr>
        </p:nvSpPr>
        <p:spPr>
          <a:xfrm>
            <a:off x="406082" y="753686"/>
            <a:ext cx="8198485" cy="1813302"/>
          </a:xfrm>
        </p:spPr>
        <p:txBody>
          <a:bodyPr/>
          <a:lstStyle/>
          <a:p>
            <a:pPr marL="0" lvl="1" indent="457200" algn="just" defTabSz="914400" latinLnBrk="0">
              <a:lnSpc>
                <a:spcPct val="150000"/>
              </a:lnSpc>
              <a:spcBef>
                <a:spcPts val="0"/>
              </a:spcBef>
              <a:buSzTx/>
              <a:buFont typeface="Wingdings" panose="05000000000000000000" charset="0"/>
              <a:buNone/>
            </a:pPr>
            <a:r>
              <a:rPr lang="zh-CN" altLang="en-US" sz="1800" kern="1200" dirty="0">
                <a:latin typeface="微软雅黑" panose="020B0503020204020204" pitchFamily="34" charset="-122"/>
                <a:ea typeface="微软雅黑" panose="020B0503020204020204" pitchFamily="34" charset="-122"/>
                <a:cs typeface="+mn-cs"/>
              </a:rPr>
              <a:t>形态学运算是用</a:t>
            </a:r>
            <a:r>
              <a:rPr lang="zh-CN" altLang="en-US" sz="1800" b="1" kern="1200" dirty="0">
                <a:latin typeface="微软雅黑" panose="020B0503020204020204" pitchFamily="34" charset="-122"/>
                <a:ea typeface="微软雅黑" panose="020B0503020204020204" pitchFamily="34" charset="-122"/>
                <a:cs typeface="+mn-cs"/>
              </a:rPr>
              <a:t>集合</a:t>
            </a:r>
            <a:r>
              <a:rPr lang="zh-CN" altLang="en-US" sz="1800" kern="1200" dirty="0">
                <a:latin typeface="微软雅黑" panose="020B0503020204020204" pitchFamily="34" charset="-122"/>
                <a:ea typeface="微软雅黑" panose="020B0503020204020204" pitchFamily="34" charset="-122"/>
                <a:cs typeface="+mn-cs"/>
              </a:rPr>
              <a:t>来定义的。在图像处理中，我们使用两类像素集合的形态学:</a:t>
            </a:r>
            <a:r>
              <a:rPr lang="zh-CN" altLang="en-US" sz="1800" kern="1200" dirty="0">
                <a:solidFill>
                  <a:schemeClr val="tx2">
                    <a:lumMod val="60000"/>
                    <a:lumOff val="40000"/>
                  </a:schemeClr>
                </a:solidFill>
                <a:latin typeface="微软雅黑" panose="020B0503020204020204" pitchFamily="34" charset="-122"/>
                <a:ea typeface="微软雅黑" panose="020B0503020204020204" pitchFamily="34" charset="-122"/>
                <a:cs typeface="+mn-cs"/>
              </a:rPr>
              <a:t>目标元素</a:t>
            </a:r>
            <a:r>
              <a:rPr lang="zh-CN" altLang="en-US" sz="1800" kern="1200" dirty="0">
                <a:latin typeface="微软雅黑" panose="020B0503020204020204" pitchFamily="34" charset="-122"/>
                <a:ea typeface="微软雅黑" panose="020B0503020204020204" pitchFamily="34" charset="-122"/>
                <a:cs typeface="+mn-cs"/>
              </a:rPr>
              <a:t>和</a:t>
            </a:r>
            <a:r>
              <a:rPr lang="zh-CN" altLang="en-US" sz="1800" kern="1200" dirty="0">
                <a:solidFill>
                  <a:schemeClr val="tx2">
                    <a:lumMod val="60000"/>
                    <a:lumOff val="40000"/>
                  </a:schemeClr>
                </a:solidFill>
                <a:latin typeface="微软雅黑" panose="020B0503020204020204" pitchFamily="34" charset="-122"/>
                <a:ea typeface="微软雅黑" panose="020B0503020204020204" pitchFamily="34" charset="-122"/>
                <a:cs typeface="+mn-cs"/>
              </a:rPr>
              <a:t>结构元(SE)</a:t>
            </a:r>
            <a:r>
              <a:rPr lang="zh-CN" altLang="en-US" sz="1800" kern="1200" dirty="0">
                <a:latin typeface="微软雅黑" panose="020B0503020204020204" pitchFamily="34" charset="-122"/>
                <a:ea typeface="微软雅黑" panose="020B0503020204020204" pitchFamily="34" charset="-122"/>
                <a:cs typeface="+mn-cs"/>
              </a:rPr>
              <a:t>。通常，目标定义为前景像素集合。结构元可以按照前景像素和</a:t>
            </a:r>
            <a:r>
              <a:rPr lang="zh-CN" altLang="en-US" sz="1800" kern="1200" dirty="0">
                <a:latin typeface="微软雅黑" panose="020B0503020204020204" pitchFamily="34" charset="-122"/>
                <a:ea typeface="微软雅黑" panose="020B0503020204020204" pitchFamily="34" charset="-122"/>
                <a:cs typeface="+mn-cs"/>
                <a:sym typeface="+mn-ea"/>
              </a:rPr>
              <a:t>背景像素来</a:t>
            </a:r>
            <a:r>
              <a:rPr lang="zh-CN" altLang="en-US" sz="1800" kern="1200" dirty="0">
                <a:latin typeface="微软雅黑" panose="020B0503020204020204" pitchFamily="34" charset="-122"/>
                <a:ea typeface="微软雅黑" panose="020B0503020204020204" pitchFamily="34" charset="-122"/>
                <a:cs typeface="+mn-cs"/>
              </a:rPr>
              <a:t>规定。结构元有时会包含所谓的“不关心”元素，表示为×，这意味着 SE 中这个特定元素的值无关紧要。</a:t>
            </a:r>
          </a:p>
        </p:txBody>
      </p:sp>
      <p:grpSp>
        <p:nvGrpSpPr>
          <p:cNvPr id="12" name="组合 11">
            <a:extLst>
              <a:ext uri="{FF2B5EF4-FFF2-40B4-BE49-F238E27FC236}">
                <a16:creationId xmlns:a16="http://schemas.microsoft.com/office/drawing/2014/main" id="{07A328EE-C636-4F2F-93A1-F54F4B0ECF63}"/>
              </a:ext>
            </a:extLst>
          </p:cNvPr>
          <p:cNvGrpSpPr/>
          <p:nvPr/>
        </p:nvGrpSpPr>
        <p:grpSpPr>
          <a:xfrm>
            <a:off x="539750" y="2602865"/>
            <a:ext cx="7807633" cy="3232785"/>
            <a:chOff x="539750" y="2602865"/>
            <a:chExt cx="7807633" cy="3232785"/>
          </a:xfrm>
        </p:grpSpPr>
        <p:pic>
          <p:nvPicPr>
            <p:cNvPr id="2" name="图片 1"/>
            <p:cNvPicPr>
              <a:picLocks noChangeAspect="1"/>
            </p:cNvPicPr>
            <p:nvPr/>
          </p:nvPicPr>
          <p:blipFill>
            <a:blip r:embed="rId2"/>
            <a:stretch>
              <a:fillRect/>
            </a:stretch>
          </p:blipFill>
          <p:spPr>
            <a:xfrm>
              <a:off x="683568" y="2602865"/>
              <a:ext cx="7663815" cy="3232785"/>
            </a:xfrm>
            <a:prstGeom prst="rect">
              <a:avLst/>
            </a:prstGeom>
          </p:spPr>
        </p:pic>
        <p:sp>
          <p:nvSpPr>
            <p:cNvPr id="3" name="文本框 2"/>
            <p:cNvSpPr txBox="1"/>
            <p:nvPr/>
          </p:nvSpPr>
          <p:spPr>
            <a:xfrm>
              <a:off x="539750" y="4113530"/>
              <a:ext cx="2364105" cy="425450"/>
            </a:xfrm>
            <a:prstGeom prst="rect">
              <a:avLst/>
            </a:prstGeom>
            <a:solidFill>
              <a:schemeClr val="bg1"/>
            </a:solidFill>
          </p:spPr>
          <p:txBody>
            <a:bodyPr wrap="square" rtlCol="0" anchor="t">
              <a:noAutofit/>
            </a:bodyPr>
            <a:lstStyle/>
            <a:p>
              <a:pPr algn="ctr"/>
              <a:r>
                <a:rPr lang="zh-CN" altLang="en-US" sz="1600" dirty="0">
                  <a:latin typeface="微软雅黑" panose="020B0503020204020204" pitchFamily="34" charset="-122"/>
                  <a:ea typeface="微软雅黑" panose="020B0503020204020204" pitchFamily="34" charset="-122"/>
                  <a:sym typeface="+mn-ea"/>
                </a:rPr>
                <a:t>表示为集合的物体</a:t>
              </a:r>
            </a:p>
          </p:txBody>
        </p:sp>
        <p:sp>
          <p:nvSpPr>
            <p:cNvPr id="5" name="文本框 4"/>
            <p:cNvSpPr txBox="1"/>
            <p:nvPr/>
          </p:nvSpPr>
          <p:spPr>
            <a:xfrm>
              <a:off x="3060065" y="4330065"/>
              <a:ext cx="2475230" cy="425450"/>
            </a:xfrm>
            <a:prstGeom prst="rect">
              <a:avLst/>
            </a:prstGeom>
            <a:solidFill>
              <a:schemeClr val="bg1"/>
            </a:solidFill>
          </p:spPr>
          <p:txBody>
            <a:bodyPr wrap="square" rtlCol="0" anchor="t">
              <a:noAutofit/>
            </a:bodyPr>
            <a:lstStyle/>
            <a:p>
              <a:pPr algn="ctr"/>
              <a:r>
                <a:rPr lang="zh-CN" altLang="en-US" sz="1600" dirty="0">
                  <a:latin typeface="微软雅黑" panose="020B0503020204020204" pitchFamily="34" charset="-122"/>
                  <a:ea typeface="微软雅黑" panose="020B0503020204020204" pitchFamily="34" charset="-122"/>
                  <a:sym typeface="+mn-ea"/>
                </a:rPr>
                <a:t>表示为图形图像的物体</a:t>
              </a:r>
            </a:p>
          </p:txBody>
        </p:sp>
        <p:sp>
          <p:nvSpPr>
            <p:cNvPr id="8" name="文本框 7"/>
            <p:cNvSpPr txBox="1"/>
            <p:nvPr/>
          </p:nvSpPr>
          <p:spPr>
            <a:xfrm>
              <a:off x="5691505" y="4330065"/>
              <a:ext cx="2475230" cy="425450"/>
            </a:xfrm>
            <a:prstGeom prst="rect">
              <a:avLst/>
            </a:prstGeom>
            <a:solidFill>
              <a:schemeClr val="bg1"/>
            </a:solidFill>
          </p:spPr>
          <p:txBody>
            <a:bodyPr wrap="square" rtlCol="0" anchor="t">
              <a:noAutofit/>
            </a:bodyPr>
            <a:lstStyle/>
            <a:p>
              <a:pPr algn="ctr"/>
              <a:r>
                <a:rPr lang="zh-CN" altLang="en-US" sz="1600" dirty="0">
                  <a:latin typeface="微软雅黑" panose="020B0503020204020204" pitchFamily="34" charset="-122"/>
                  <a:ea typeface="微软雅黑" panose="020B0503020204020204" pitchFamily="34" charset="-122"/>
                  <a:sym typeface="+mn-ea"/>
                </a:rPr>
                <a:t>数字图像</a:t>
              </a:r>
            </a:p>
          </p:txBody>
        </p:sp>
        <p:sp>
          <p:nvSpPr>
            <p:cNvPr id="9" name="文本框 8"/>
            <p:cNvSpPr txBox="1"/>
            <p:nvPr/>
          </p:nvSpPr>
          <p:spPr>
            <a:xfrm>
              <a:off x="539750" y="5410200"/>
              <a:ext cx="2475230" cy="425450"/>
            </a:xfrm>
            <a:prstGeom prst="rect">
              <a:avLst/>
            </a:prstGeom>
            <a:solidFill>
              <a:schemeClr val="bg1"/>
            </a:solidFill>
          </p:spPr>
          <p:txBody>
            <a:bodyPr wrap="square" rtlCol="0" anchor="t">
              <a:noAutofit/>
            </a:bodyPr>
            <a:lstStyle/>
            <a:p>
              <a:pPr algn="ctr"/>
              <a:r>
                <a:rPr lang="zh-CN" altLang="en-US" sz="1600" dirty="0">
                  <a:latin typeface="微软雅黑" panose="020B0503020204020204" pitchFamily="34" charset="-122"/>
                  <a:ea typeface="微软雅黑" panose="020B0503020204020204" pitchFamily="34" charset="-122"/>
                  <a:sym typeface="+mn-ea"/>
                </a:rPr>
                <a:t>表示为集合的结构元</a:t>
              </a:r>
            </a:p>
          </p:txBody>
        </p:sp>
        <p:sp>
          <p:nvSpPr>
            <p:cNvPr id="10" name="文本框 9"/>
            <p:cNvSpPr txBox="1"/>
            <p:nvPr/>
          </p:nvSpPr>
          <p:spPr>
            <a:xfrm>
              <a:off x="3028340" y="5374323"/>
              <a:ext cx="2703195" cy="425450"/>
            </a:xfrm>
            <a:prstGeom prst="rect">
              <a:avLst/>
            </a:prstGeom>
            <a:solidFill>
              <a:schemeClr val="bg1"/>
            </a:solidFill>
          </p:spPr>
          <p:txBody>
            <a:bodyPr wrap="square" rtlCol="0" anchor="t">
              <a:noAutofit/>
            </a:bodyPr>
            <a:lstStyle/>
            <a:p>
              <a:pPr algn="ctr"/>
              <a:r>
                <a:rPr lang="zh-CN" altLang="en-US" sz="1600" dirty="0">
                  <a:latin typeface="微软雅黑" panose="020B0503020204020204" pitchFamily="34" charset="-122"/>
                  <a:ea typeface="微软雅黑" panose="020B0503020204020204" pitchFamily="34" charset="-122"/>
                  <a:sym typeface="+mn-ea"/>
                </a:rPr>
                <a:t>表示为图形图像的结构元</a:t>
              </a:r>
            </a:p>
          </p:txBody>
        </p:sp>
        <p:sp>
          <p:nvSpPr>
            <p:cNvPr id="11" name="文本框 10"/>
            <p:cNvSpPr txBox="1"/>
            <p:nvPr/>
          </p:nvSpPr>
          <p:spPr>
            <a:xfrm>
              <a:off x="5724525" y="5410200"/>
              <a:ext cx="2475230" cy="425450"/>
            </a:xfrm>
            <a:prstGeom prst="rect">
              <a:avLst/>
            </a:prstGeom>
            <a:solidFill>
              <a:schemeClr val="bg1"/>
            </a:solidFill>
          </p:spPr>
          <p:txBody>
            <a:bodyPr wrap="square" rtlCol="0" anchor="t">
              <a:noAutofit/>
            </a:bodyPr>
            <a:lstStyle/>
            <a:p>
              <a:pPr algn="ctr"/>
              <a:r>
                <a:rPr lang="zh-CN" altLang="en-US" sz="1600" dirty="0">
                  <a:latin typeface="微软雅黑" panose="020B0503020204020204" pitchFamily="34" charset="-122"/>
                  <a:ea typeface="微软雅黑" panose="020B0503020204020204" pitchFamily="34" charset="-122"/>
                  <a:sym typeface="+mn-ea"/>
                </a:rPr>
                <a:t>数字结构元</a:t>
              </a:r>
            </a:p>
          </p:txBody>
        </p:sp>
      </p:grpSp>
      <p:sp>
        <p:nvSpPr>
          <p:cNvPr id="7" name="文本框 6">
            <a:extLst>
              <a:ext uri="{FF2B5EF4-FFF2-40B4-BE49-F238E27FC236}">
                <a16:creationId xmlns:a16="http://schemas.microsoft.com/office/drawing/2014/main" id="{7656A44A-8404-4BF2-BC6C-AA2E55FB5849}"/>
              </a:ext>
            </a:extLst>
          </p:cNvPr>
          <p:cNvSpPr txBox="1"/>
          <p:nvPr/>
        </p:nvSpPr>
        <p:spPr>
          <a:xfrm>
            <a:off x="755576" y="5920859"/>
            <a:ext cx="6532558" cy="369332"/>
          </a:xfrm>
          <a:prstGeom prst="rect">
            <a:avLst/>
          </a:prstGeom>
          <a:noFill/>
        </p:spPr>
        <p:txBody>
          <a:bodyPr wrap="non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注意：</a:t>
            </a:r>
            <a:r>
              <a:rPr lang="en-US" altLang="zh-CN" dirty="0">
                <a:solidFill>
                  <a:srgbClr val="FF0000"/>
                </a:solidFill>
                <a:latin typeface="微软雅黑" panose="020B0503020204020204" pitchFamily="34" charset="-122"/>
                <a:ea typeface="微软雅黑" panose="020B0503020204020204" pitchFamily="34" charset="-122"/>
              </a:rPr>
              <a:t>9.2-9.7</a:t>
            </a:r>
            <a:r>
              <a:rPr lang="zh-CN" altLang="en-US" dirty="0">
                <a:solidFill>
                  <a:srgbClr val="FF0000"/>
                </a:solidFill>
                <a:latin typeface="微软雅黑" panose="020B0503020204020204" pitchFamily="34" charset="-122"/>
                <a:ea typeface="微软雅黑" panose="020B0503020204020204" pitchFamily="34" charset="-122"/>
              </a:rPr>
              <a:t>节考察二值图像和结构元；</a:t>
            </a:r>
            <a:r>
              <a:rPr lang="en-US" altLang="zh-CN" dirty="0">
                <a:solidFill>
                  <a:srgbClr val="FF0000"/>
                </a:solidFill>
                <a:latin typeface="微软雅黑" panose="020B0503020204020204" pitchFamily="34" charset="-122"/>
                <a:ea typeface="微软雅黑" panose="020B0503020204020204" pitchFamily="34" charset="-122"/>
              </a:rPr>
              <a:t>9.8</a:t>
            </a:r>
            <a:r>
              <a:rPr lang="zh-CN" altLang="en-US" dirty="0">
                <a:solidFill>
                  <a:srgbClr val="FF0000"/>
                </a:solidFill>
                <a:latin typeface="微软雅黑" panose="020B0503020204020204" pitchFamily="34" charset="-122"/>
                <a:ea typeface="微软雅黑" panose="020B0503020204020204" pitchFamily="34" charset="-122"/>
              </a:rPr>
              <a:t>节扩展到灰度场景</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a:fillRect/>
          </a:stretch>
        </p:blipFill>
        <p:spPr>
          <a:xfrm>
            <a:off x="6331490" y="3830132"/>
            <a:ext cx="1272648" cy="1903124"/>
          </a:xfrm>
          <a:prstGeom prst="rect">
            <a:avLst/>
          </a:prstGeom>
        </p:spPr>
      </p:pic>
      <p:sp>
        <p:nvSpPr>
          <p:cNvPr id="1034" name="Rectangle 10" descr="Rectangle: Click to edit Master text styles&#10;Second level&#10;Third level&#10;Fourth level&#10;Fifth level"/>
          <p:cNvSpPr>
            <a:spLocks noChangeArrowheads="1"/>
          </p:cNvSpPr>
          <p:nvPr/>
        </p:nvSpPr>
        <p:spPr bwMode="auto">
          <a:xfrm>
            <a:off x="467995" y="1629410"/>
            <a:ext cx="4133215" cy="716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10000"/>
              <a:buFont typeface="Wingdings" panose="05000000000000000000" pitchFamily="2" charset="2"/>
              <a:buBlip>
                <a:blip r:embed="rId4"/>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1"/>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95000"/>
              <a:buFont typeface="Wingdings" panose="05000000000000000000" pitchFamily="2" charset="2"/>
              <a:buChar char="w"/>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algn="just">
              <a:lnSpc>
                <a:spcPct val="110000"/>
              </a:lnSpc>
              <a:spcBef>
                <a:spcPts val="0"/>
              </a:spcBef>
              <a:buFont typeface="Wingdings" panose="05000000000000000000" pitchFamily="2" charset="2"/>
              <a:buNone/>
            </a:pPr>
            <a:r>
              <a:rPr kumimoji="0" lang="zh-CN" altLang="en-US" sz="1800" baseline="0" dirty="0">
                <a:latin typeface="Times New Roman" panose="02020603050405020304" pitchFamily="18" charset="0"/>
                <a:ea typeface="微软雅黑" panose="020B0503020204020204" pitchFamily="34" charset="-122"/>
              </a:rPr>
              <a:t>集合（结构元）</a:t>
            </a:r>
            <a:r>
              <a:rPr kumimoji="0" lang="en-US" altLang="zh-CN" sz="1800" i="1" baseline="0" dirty="0">
                <a:latin typeface="Times New Roman" panose="02020603050405020304" pitchFamily="18" charset="0"/>
                <a:ea typeface="微软雅黑" panose="020B0503020204020204" pitchFamily="34" charset="-122"/>
              </a:rPr>
              <a:t>B </a:t>
            </a:r>
            <a:r>
              <a:rPr kumimoji="0" lang="zh-CN" altLang="en-US" sz="1800" baseline="0" dirty="0">
                <a:latin typeface="Times New Roman" panose="02020603050405020304" pitchFamily="18" charset="0"/>
                <a:ea typeface="微软雅黑" panose="020B0503020204020204" pitchFamily="34" charset="-122"/>
              </a:rPr>
              <a:t>相对于其原点的</a:t>
            </a:r>
            <a:r>
              <a:rPr kumimoji="0" lang="zh-CN" altLang="en-US" sz="1800" b="1" baseline="0" dirty="0">
                <a:solidFill>
                  <a:schemeClr val="tx2">
                    <a:lumMod val="60000"/>
                    <a:lumOff val="40000"/>
                  </a:schemeClr>
                </a:solidFill>
                <a:latin typeface="Times New Roman" panose="02020603050405020304" pitchFamily="18" charset="0"/>
                <a:ea typeface="微软雅黑" panose="020B0503020204020204" pitchFamily="34" charset="-122"/>
              </a:rPr>
              <a:t>反射</a:t>
            </a:r>
            <a:r>
              <a:rPr kumimoji="0" lang="zh-CN" altLang="en-US" sz="1800" baseline="0" dirty="0">
                <a:latin typeface="Times New Roman" panose="02020603050405020304" pitchFamily="18" charset="0"/>
                <a:ea typeface="微软雅黑" panose="020B0503020204020204" pitchFamily="34" charset="-122"/>
              </a:rPr>
              <a:t>（表示为</a:t>
            </a:r>
            <a:r>
              <a:rPr kumimoji="0" lang="en-US" altLang="zh-CN" sz="1800" baseline="0" dirty="0">
                <a:latin typeface="Times New Roman" panose="02020603050405020304" pitchFamily="18" charset="0"/>
                <a:ea typeface="微软雅黑" panose="020B0503020204020204" pitchFamily="34" charset="-122"/>
              </a:rPr>
              <a:t>       </a:t>
            </a:r>
            <a:r>
              <a:rPr kumimoji="0" lang="zh-CN" altLang="en-US" sz="1800" baseline="0" dirty="0">
                <a:latin typeface="Times New Roman" panose="02020603050405020304" pitchFamily="18" charset="0"/>
                <a:ea typeface="微软雅黑" panose="020B0503020204020204" pitchFamily="34" charset="-122"/>
              </a:rPr>
              <a:t>）定义如下：</a:t>
            </a:r>
          </a:p>
        </p:txBody>
      </p:sp>
      <p:sp>
        <p:nvSpPr>
          <p:cNvPr id="12292" name="标题 8"/>
          <p:cNvSpPr>
            <a:spLocks noGrp="1"/>
          </p:cNvSpPr>
          <p:nvPr>
            <p:ph type="title"/>
          </p:nvPr>
        </p:nvSpPr>
        <p:spPr>
          <a:xfrm>
            <a:off x="301625" y="23813"/>
            <a:ext cx="8540750" cy="619125"/>
          </a:xfrm>
        </p:spPr>
        <p:txBody>
          <a:bodyPr vert="horz" wrap="square" lIns="91440" tIns="45720" rIns="91440" bIns="45720" anchor="ctr" anchorCtr="0"/>
          <a:lstStyle/>
          <a:p>
            <a:r>
              <a:rPr lang="en-US" altLang="zh-CN" dirty="0">
                <a:sym typeface="+mn-ea"/>
              </a:rPr>
              <a:t>1.</a:t>
            </a:r>
            <a:r>
              <a:rPr lang="en-US" altLang="zh-CN" dirty="0">
                <a:latin typeface="Times New Roman" panose="02020603050405020304" pitchFamily="18" charset="0"/>
                <a:ea typeface="+mn-ea"/>
                <a:cs typeface="+mn-cs"/>
                <a:sym typeface="+mn-ea"/>
              </a:rPr>
              <a:t> </a:t>
            </a:r>
            <a:r>
              <a:rPr lang="zh-CN" altLang="en-US" dirty="0">
                <a:latin typeface="Times New Roman" panose="02020603050405020304" pitchFamily="18" charset="0"/>
                <a:ea typeface="+mn-ea"/>
                <a:cs typeface="+mn-cs"/>
                <a:sym typeface="+mn-ea"/>
              </a:rPr>
              <a:t>反射和平移</a:t>
            </a:r>
            <a:endParaRPr lang="zh-CN" altLang="en-US" dirty="0">
              <a:solidFill>
                <a:srgbClr val="006600"/>
              </a:solidFill>
              <a:latin typeface="Times New Roman" panose="02020603050405020304" pitchFamily="18" charset="0"/>
              <a:ea typeface="+mn-ea"/>
              <a:cs typeface="+mn-cs"/>
              <a:sym typeface="+mn-ea"/>
            </a:endParaRP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rPr>
              <a:t>8</a:t>
            </a:fld>
            <a:endParaRPr kumimoji="0" lang="en-US" altLang="zh-CN" sz="1400" b="0"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endParaRPr>
          </a:p>
        </p:txBody>
      </p:sp>
      <p:sp>
        <p:nvSpPr>
          <p:cNvPr id="1027" name="Rectangle 3" descr="Rectangle: Click to edit Master text styles&#10;Second level&#10;Third level&#10;Fourth level&#10;Fifth level"/>
          <p:cNvSpPr>
            <a:spLocks noGrp="1" noChangeArrowheads="1"/>
          </p:cNvSpPr>
          <p:nvPr>
            <p:ph type="body" sz="half" idx="1"/>
          </p:nvPr>
        </p:nvSpPr>
        <p:spPr>
          <a:xfrm>
            <a:off x="431800" y="765175"/>
            <a:ext cx="7992110" cy="503555"/>
          </a:xfrm>
        </p:spPr>
        <p:txBody>
          <a:bodyPr/>
          <a:lstStyle/>
          <a:p>
            <a:pPr marL="0" algn="l" latinLnBrk="0">
              <a:lnSpc>
                <a:spcPct val="120000"/>
              </a:lnSpc>
              <a:spcBef>
                <a:spcPts val="0"/>
              </a:spcBef>
              <a:buFont typeface="Wingdings" panose="05000000000000000000" pitchFamily="2" charset="2"/>
              <a:buNone/>
            </a:pPr>
            <a:r>
              <a:rPr lang="en-US" altLang="zh-CN" sz="1800" kern="1200" dirty="0">
                <a:latin typeface="微软雅黑" panose="020B0503020204020204" pitchFamily="34" charset="-122"/>
                <a:ea typeface="微软雅黑" panose="020B0503020204020204" pitchFamily="34" charset="-122"/>
              </a:rPr>
              <a:t>        </a:t>
            </a:r>
            <a:r>
              <a:rPr lang="zh-CN" altLang="en-US" sz="1800" kern="1200" dirty="0">
                <a:latin typeface="微软雅黑" panose="020B0503020204020204" pitchFamily="34" charset="-122"/>
                <a:ea typeface="微软雅黑" panose="020B0503020204020204" pitchFamily="34" charset="-122"/>
              </a:rPr>
              <a:t>除2.6节中给出的集合定义外，形态学中广泛使用集合的</a:t>
            </a:r>
            <a:r>
              <a:rPr lang="zh-CN" altLang="en-US" sz="1800" b="1" kern="1200" dirty="0">
                <a:latin typeface="微软雅黑" panose="020B0503020204020204" pitchFamily="34" charset="-122"/>
                <a:ea typeface="微软雅黑" panose="020B0503020204020204" pitchFamily="34" charset="-122"/>
              </a:rPr>
              <a:t>反射</a:t>
            </a:r>
            <a:r>
              <a:rPr lang="zh-CN" altLang="en-US" sz="1800" kern="1200" dirty="0">
                <a:latin typeface="微软雅黑" panose="020B0503020204020204" pitchFamily="34" charset="-122"/>
                <a:ea typeface="微软雅黑" panose="020B0503020204020204" pitchFamily="34" charset="-122"/>
              </a:rPr>
              <a:t>和</a:t>
            </a:r>
            <a:r>
              <a:rPr lang="zh-CN" altLang="en-US" sz="1800" b="1" kern="1200" dirty="0">
                <a:latin typeface="微软雅黑" panose="020B0503020204020204" pitchFamily="34" charset="-122"/>
                <a:ea typeface="微软雅黑" panose="020B0503020204020204" pitchFamily="34" charset="-122"/>
              </a:rPr>
              <a:t>平移</a:t>
            </a:r>
            <a:r>
              <a:rPr lang="zh-CN" altLang="en-US" sz="1800" kern="1200" dirty="0">
                <a:latin typeface="微软雅黑" panose="020B0503020204020204" pitchFamily="34" charset="-122"/>
                <a:ea typeface="微软雅黑" panose="020B0503020204020204" pitchFamily="34" charset="-122"/>
              </a:rPr>
              <a:t>概念与结构元有关。</a:t>
            </a:r>
          </a:p>
          <a:p>
            <a:pPr marL="0" algn="l" latinLnBrk="0">
              <a:lnSpc>
                <a:spcPct val="120000"/>
              </a:lnSpc>
              <a:spcBef>
                <a:spcPts val="0"/>
              </a:spcBef>
              <a:buFont typeface="Wingdings" panose="05000000000000000000" pitchFamily="2" charset="2"/>
              <a:buNone/>
            </a:pPr>
            <a:endParaRPr lang="zh-CN" altLang="en-US" sz="1800" b="1" kern="1200" dirty="0">
              <a:latin typeface="微软雅黑" panose="020B0503020204020204" pitchFamily="34" charset="-122"/>
              <a:ea typeface="微软雅黑" panose="020B0503020204020204" pitchFamily="34" charset="-122"/>
            </a:endParaRPr>
          </a:p>
        </p:txBody>
      </p:sp>
      <p:graphicFrame>
        <p:nvGraphicFramePr>
          <p:cNvPr id="1033" name="Object 9"/>
          <p:cNvGraphicFramePr>
            <a:graphicFrameLocks noChangeAspect="1"/>
          </p:cNvGraphicFramePr>
          <p:nvPr/>
        </p:nvGraphicFramePr>
        <p:xfrm>
          <a:off x="1548130" y="1945005"/>
          <a:ext cx="318135" cy="334645"/>
        </p:xfrm>
        <a:graphic>
          <a:graphicData uri="http://schemas.openxmlformats.org/presentationml/2006/ole">
            <mc:AlternateContent xmlns:mc="http://schemas.openxmlformats.org/markup-compatibility/2006">
              <mc:Choice xmlns:v="urn:schemas-microsoft-com:vml" Requires="v">
                <p:oleObj spid="_x0000_s158749" name="公式" r:id="rId5" imgW="152400" imgH="203200" progId="Equation.3">
                  <p:embed/>
                </p:oleObj>
              </mc:Choice>
              <mc:Fallback>
                <p:oleObj name="公式" r:id="rId5" imgW="152400" imgH="203200" progId="Equation.3">
                  <p:embed/>
                  <p:pic>
                    <p:nvPicPr>
                      <p:cNvPr id="0" name="Object 9"/>
                      <p:cNvPicPr>
                        <a:picLocks noChangeAspect="1" noChangeArrowheads="1"/>
                      </p:cNvPicPr>
                      <p:nvPr/>
                    </p:nvPicPr>
                    <p:blipFill>
                      <a:blip r:embed="rId6"/>
                      <a:srcRect/>
                      <a:stretch>
                        <a:fillRect/>
                      </a:stretch>
                    </p:blipFill>
                    <p:spPr bwMode="auto">
                      <a:xfrm>
                        <a:off x="1548130" y="1945005"/>
                        <a:ext cx="318135" cy="334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39" name="Object 15"/>
          <p:cNvGraphicFramePr>
            <a:graphicFrameLocks noChangeAspect="1"/>
          </p:cNvGraphicFramePr>
          <p:nvPr>
            <p:extLst>
              <p:ext uri="{D42A27DB-BD31-4B8C-83A1-F6EECF244321}">
                <p14:modId xmlns:p14="http://schemas.microsoft.com/office/powerpoint/2010/main" val="3284975286"/>
              </p:ext>
            </p:extLst>
          </p:nvPr>
        </p:nvGraphicFramePr>
        <p:xfrm>
          <a:off x="1450975" y="2346960"/>
          <a:ext cx="2544961" cy="439572"/>
        </p:xfrm>
        <a:graphic>
          <a:graphicData uri="http://schemas.openxmlformats.org/presentationml/2006/ole">
            <mc:AlternateContent xmlns:mc="http://schemas.openxmlformats.org/markup-compatibility/2006">
              <mc:Choice xmlns:v="urn:schemas-microsoft-com:vml" Requires="v">
                <p:oleObj spid="_x0000_s158750" name="公式" r:id="rId7" imgW="1384300" imgH="241300" progId="Equation.3">
                  <p:embed/>
                </p:oleObj>
              </mc:Choice>
              <mc:Fallback>
                <p:oleObj name="公式" r:id="rId7" imgW="1384300" imgH="2413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50975" y="2346960"/>
                        <a:ext cx="2544961" cy="439572"/>
                      </a:xfrm>
                      <a:prstGeom prst="rect">
                        <a:avLst/>
                      </a:prstGeom>
                      <a:noFill/>
                      <a:ln>
                        <a:noFill/>
                      </a:ln>
                    </p:spPr>
                  </p:pic>
                </p:oleObj>
              </mc:Fallback>
            </mc:AlternateContent>
          </a:graphicData>
        </a:graphic>
      </p:graphicFrame>
      <p:pic>
        <p:nvPicPr>
          <p:cNvPr id="3" name="图片 2"/>
          <p:cNvPicPr>
            <a:picLocks noChangeAspect="1"/>
          </p:cNvPicPr>
          <p:nvPr/>
        </p:nvPicPr>
        <p:blipFill>
          <a:blip r:embed="rId9"/>
          <a:stretch>
            <a:fillRect/>
          </a:stretch>
        </p:blipFill>
        <p:spPr>
          <a:xfrm>
            <a:off x="4776470" y="1268730"/>
            <a:ext cx="3899535" cy="1810385"/>
          </a:xfrm>
          <a:prstGeom prst="rect">
            <a:avLst/>
          </a:prstGeom>
        </p:spPr>
      </p:pic>
      <p:sp>
        <p:nvSpPr>
          <p:cNvPr id="2" name="Rectangle 16" descr="Rectangle: Click to edit Master text styles&#10;Second level&#10;Third level&#10;Fourth level&#10;Fifth level"/>
          <p:cNvSpPr>
            <a:spLocks noChangeArrowheads="1"/>
          </p:cNvSpPr>
          <p:nvPr/>
        </p:nvSpPr>
        <p:spPr bwMode="auto">
          <a:xfrm>
            <a:off x="394970" y="3571240"/>
            <a:ext cx="56324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10000"/>
              <a:buFont typeface="Wingdings" panose="05000000000000000000" pitchFamily="2" charset="2"/>
              <a:buBlip>
                <a:blip r:embed="rId4"/>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1"/>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95000"/>
              <a:buFont typeface="Wingdings" panose="05000000000000000000" pitchFamily="2" charset="2"/>
              <a:buChar char="w"/>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algn="just">
              <a:lnSpc>
                <a:spcPct val="130000"/>
              </a:lnSpc>
              <a:spcBef>
                <a:spcPts val="0"/>
              </a:spcBef>
              <a:buFont typeface="Wingdings" panose="05000000000000000000" pitchFamily="2" charset="2"/>
              <a:buNone/>
            </a:pPr>
            <a:r>
              <a:rPr kumimoji="0" lang="zh-CN" altLang="en-US" sz="1800" baseline="0" dirty="0">
                <a:latin typeface="Times New Roman" panose="02020603050405020304" pitchFamily="18" charset="0"/>
                <a:ea typeface="微软雅黑" panose="020B0503020204020204" pitchFamily="34" charset="-122"/>
              </a:rPr>
              <a:t>集合</a:t>
            </a:r>
            <a:r>
              <a:rPr kumimoji="0" lang="en-US" altLang="zh-CN" sz="1800" baseline="0" dirty="0">
                <a:latin typeface="Times New Roman" panose="02020603050405020304" pitchFamily="18" charset="0"/>
                <a:ea typeface="微软雅黑" panose="020B0503020204020204" pitchFamily="34" charset="-122"/>
              </a:rPr>
              <a:t> </a:t>
            </a:r>
            <a:r>
              <a:rPr kumimoji="0" lang="en-US" altLang="zh-CN" sz="1800" i="1" dirty="0">
                <a:latin typeface="Times New Roman" panose="02020603050405020304" pitchFamily="18" charset="0"/>
                <a:ea typeface="微软雅黑" panose="020B0503020204020204" pitchFamily="34" charset="-122"/>
                <a:sym typeface="+mn-ea"/>
              </a:rPr>
              <a:t>B </a:t>
            </a:r>
            <a:r>
              <a:rPr kumimoji="0" lang="zh-CN" altLang="en-US" sz="1800" dirty="0">
                <a:latin typeface="Times New Roman" panose="02020603050405020304" pitchFamily="18" charset="0"/>
                <a:ea typeface="微软雅黑" panose="020B0503020204020204" pitchFamily="34" charset="-122"/>
                <a:sym typeface="+mn-ea"/>
              </a:rPr>
              <a:t>相对于点</a:t>
            </a:r>
            <a:r>
              <a:rPr kumimoji="0" lang="en-US" altLang="zh-CN" sz="1800" dirty="0">
                <a:latin typeface="Times New Roman" panose="02020603050405020304" pitchFamily="18" charset="0"/>
                <a:ea typeface="微软雅黑" panose="020B0503020204020204" pitchFamily="34" charset="-122"/>
                <a:sym typeface="+mn-ea"/>
              </a:rPr>
              <a:t>                     </a:t>
            </a:r>
            <a:r>
              <a:rPr kumimoji="0" lang="zh-CN" altLang="en-US" sz="1800" dirty="0">
                <a:latin typeface="Times New Roman" panose="02020603050405020304" pitchFamily="18" charset="0"/>
                <a:ea typeface="微软雅黑" panose="020B0503020204020204" pitchFamily="34" charset="-122"/>
                <a:sym typeface="+mn-ea"/>
              </a:rPr>
              <a:t>的</a:t>
            </a:r>
            <a:r>
              <a:rPr kumimoji="0" lang="zh-CN" altLang="en-US" sz="1800" b="1" baseline="0" dirty="0">
                <a:solidFill>
                  <a:schemeClr val="tx2">
                    <a:lumMod val="60000"/>
                    <a:lumOff val="40000"/>
                  </a:schemeClr>
                </a:solidFill>
                <a:latin typeface="Times New Roman" panose="02020603050405020304" pitchFamily="18" charset="0"/>
                <a:ea typeface="微软雅黑" panose="020B0503020204020204" pitchFamily="34" charset="-122"/>
              </a:rPr>
              <a:t>平移</a:t>
            </a:r>
            <a:r>
              <a:rPr kumimoji="0" lang="en-US" altLang="zh-CN" sz="1800" baseline="0" dirty="0">
                <a:latin typeface="Times New Roman" panose="02020603050405020304" pitchFamily="18" charset="0"/>
                <a:ea typeface="微软雅黑" panose="020B0503020204020204" pitchFamily="34" charset="-122"/>
              </a:rPr>
              <a:t>（表示为</a:t>
            </a:r>
            <a:r>
              <a:rPr kumimoji="0" lang="en-US" altLang="zh-CN" sz="1800" baseline="0" dirty="0">
                <a:solidFill>
                  <a:srgbClr val="FF0000"/>
                </a:solidFill>
                <a:latin typeface="Times New Roman" panose="02020603050405020304" pitchFamily="18" charset="0"/>
                <a:ea typeface="微软雅黑" panose="020B0503020204020204" pitchFamily="34" charset="-122"/>
              </a:rPr>
              <a:t>        </a:t>
            </a:r>
            <a:r>
              <a:rPr kumimoji="0" lang="en-US" altLang="zh-CN" sz="1800" baseline="0" dirty="0">
                <a:latin typeface="Times New Roman" panose="02020603050405020304" pitchFamily="18" charset="0"/>
                <a:ea typeface="微软雅黑" panose="020B0503020204020204" pitchFamily="34" charset="-122"/>
              </a:rPr>
              <a:t>）</a:t>
            </a:r>
          </a:p>
          <a:p>
            <a:pPr marL="0" algn="just">
              <a:lnSpc>
                <a:spcPct val="130000"/>
              </a:lnSpc>
              <a:spcBef>
                <a:spcPts val="0"/>
              </a:spcBef>
              <a:buFont typeface="Wingdings" panose="05000000000000000000" pitchFamily="2" charset="2"/>
              <a:buNone/>
            </a:pPr>
            <a:r>
              <a:rPr kumimoji="0" lang="zh-CN" altLang="en-US" sz="1800" baseline="0" dirty="0">
                <a:latin typeface="Times New Roman" panose="02020603050405020304" pitchFamily="18" charset="0"/>
                <a:ea typeface="微软雅黑" panose="020B0503020204020204" pitchFamily="34" charset="-122"/>
              </a:rPr>
              <a:t>定义如下：</a:t>
            </a:r>
          </a:p>
          <a:p>
            <a:pPr marL="0" algn="just">
              <a:lnSpc>
                <a:spcPct val="130000"/>
              </a:lnSpc>
              <a:spcBef>
                <a:spcPts val="0"/>
              </a:spcBef>
              <a:buFont typeface="Wingdings" panose="05000000000000000000" pitchFamily="2" charset="2"/>
              <a:buNone/>
            </a:pPr>
            <a:endParaRPr kumimoji="0" lang="zh-CN" altLang="en-US" sz="1800" baseline="0" dirty="0">
              <a:latin typeface="Times New Roman" panose="02020603050405020304" pitchFamily="18" charset="0"/>
              <a:ea typeface="微软雅黑" panose="020B0503020204020204" pitchFamily="34" charset="-122"/>
            </a:endParaRPr>
          </a:p>
          <a:p>
            <a:pPr marL="0" algn="just">
              <a:lnSpc>
                <a:spcPct val="130000"/>
              </a:lnSpc>
              <a:spcBef>
                <a:spcPts val="0"/>
              </a:spcBef>
              <a:buFont typeface="Wingdings" panose="05000000000000000000" pitchFamily="2" charset="2"/>
              <a:buNone/>
            </a:pPr>
            <a:endParaRPr kumimoji="0" lang="zh-CN" altLang="en-US" sz="1800" baseline="0" dirty="0">
              <a:latin typeface="Times New Roman" panose="02020603050405020304" pitchFamily="18" charset="0"/>
              <a:ea typeface="微软雅黑" panose="020B0503020204020204" pitchFamily="34" charset="-122"/>
            </a:endParaRPr>
          </a:p>
          <a:p>
            <a:pPr marL="0" algn="just">
              <a:lnSpc>
                <a:spcPct val="130000"/>
              </a:lnSpc>
              <a:spcBef>
                <a:spcPts val="0"/>
              </a:spcBef>
              <a:buFont typeface="Wingdings" panose="05000000000000000000" pitchFamily="2" charset="2"/>
              <a:buNone/>
            </a:pPr>
            <a:r>
              <a:rPr kumimoji="0" lang="zh-CN" altLang="en-US" sz="1800" baseline="0" dirty="0">
                <a:latin typeface="Times New Roman" panose="02020603050405020304" pitchFamily="18" charset="0"/>
                <a:ea typeface="微软雅黑" panose="020B0503020204020204" pitchFamily="34" charset="-122"/>
              </a:rPr>
              <a:t>也就是说，若</a:t>
            </a:r>
            <a:r>
              <a:rPr kumimoji="0" lang="en-US" altLang="zh-CN" sz="1800" i="1" baseline="0" dirty="0">
                <a:latin typeface="Times New Roman" panose="02020603050405020304" pitchFamily="18" charset="0"/>
                <a:ea typeface="微软雅黑" panose="020B0503020204020204" pitchFamily="34" charset="-122"/>
              </a:rPr>
              <a:t>B</a:t>
            </a:r>
            <a:r>
              <a:rPr kumimoji="0" lang="zh-CN" altLang="en-US" sz="1800" baseline="0" dirty="0">
                <a:latin typeface="Times New Roman" panose="02020603050405020304" pitchFamily="18" charset="0"/>
                <a:ea typeface="微软雅黑" panose="020B0503020204020204" pitchFamily="34" charset="-122"/>
              </a:rPr>
              <a:t>是一个二维像素集合，则</a:t>
            </a:r>
            <a:r>
              <a:rPr kumimoji="0" lang="en-US" altLang="zh-CN" sz="1800" baseline="0" dirty="0">
                <a:latin typeface="Times New Roman" panose="02020603050405020304" pitchFamily="18" charset="0"/>
                <a:ea typeface="微软雅黑" panose="020B0503020204020204" pitchFamily="34" charset="-122"/>
              </a:rPr>
              <a:t>          </a:t>
            </a:r>
            <a:r>
              <a:rPr kumimoji="0" lang="zh-CN" altLang="en-US" sz="1800" baseline="0" dirty="0">
                <a:latin typeface="Times New Roman" panose="02020603050405020304" pitchFamily="18" charset="0"/>
                <a:ea typeface="微软雅黑" panose="020B0503020204020204" pitchFamily="34" charset="-122"/>
              </a:rPr>
              <a:t>是</a:t>
            </a:r>
            <a:r>
              <a:rPr kumimoji="0" lang="en-US" altLang="zh-CN" sz="1800" i="1" baseline="0" dirty="0">
                <a:latin typeface="Times New Roman" panose="02020603050405020304" pitchFamily="18" charset="0"/>
                <a:ea typeface="微软雅黑" panose="020B0503020204020204" pitchFamily="34" charset="-122"/>
              </a:rPr>
              <a:t>B</a:t>
            </a:r>
            <a:r>
              <a:rPr kumimoji="0" lang="zh-CN" altLang="en-US" sz="1800" baseline="0" dirty="0">
                <a:latin typeface="Times New Roman" panose="02020603050405020304" pitchFamily="18" charset="0"/>
                <a:ea typeface="微软雅黑" panose="020B0503020204020204" pitchFamily="34" charset="-122"/>
              </a:rPr>
              <a:t>中坐标</a:t>
            </a:r>
            <a:r>
              <a:rPr kumimoji="0" lang="en-US" altLang="zh-CN" sz="1800" baseline="0" dirty="0">
                <a:latin typeface="Times New Roman" panose="02020603050405020304" pitchFamily="18" charset="0"/>
                <a:ea typeface="微软雅黑" panose="020B0503020204020204" pitchFamily="34" charset="-122"/>
              </a:rPr>
              <a:t>(</a:t>
            </a:r>
            <a:r>
              <a:rPr kumimoji="0" lang="en-US" altLang="zh-CN" sz="1800" i="1" baseline="0" dirty="0">
                <a:latin typeface="Times New Roman" panose="02020603050405020304" pitchFamily="18" charset="0"/>
                <a:ea typeface="微软雅黑" panose="020B0503020204020204" pitchFamily="34" charset="-122"/>
              </a:rPr>
              <a:t>x</a:t>
            </a:r>
            <a:r>
              <a:rPr kumimoji="0" lang="en-US" altLang="zh-CN" sz="1800" baseline="0" dirty="0">
                <a:latin typeface="Times New Roman" panose="02020603050405020304" pitchFamily="18" charset="0"/>
                <a:ea typeface="微软雅黑" panose="020B0503020204020204" pitchFamily="34" charset="-122"/>
              </a:rPr>
              <a:t>,</a:t>
            </a:r>
            <a:r>
              <a:rPr kumimoji="0" lang="en-US" altLang="zh-CN" sz="1800" i="1" baseline="0" dirty="0">
                <a:latin typeface="Times New Roman" panose="02020603050405020304" pitchFamily="18" charset="0"/>
                <a:ea typeface="微软雅黑" panose="020B0503020204020204" pitchFamily="34" charset="-122"/>
              </a:rPr>
              <a:t>y</a:t>
            </a:r>
            <a:r>
              <a:rPr kumimoji="0" lang="en-US" altLang="zh-CN" sz="1800" baseline="0" dirty="0">
                <a:latin typeface="Times New Roman" panose="02020603050405020304" pitchFamily="18" charset="0"/>
                <a:ea typeface="微软雅黑" panose="020B0503020204020204" pitchFamily="34" charset="-122"/>
              </a:rPr>
              <a:t>)</a:t>
            </a:r>
            <a:r>
              <a:rPr kumimoji="0" lang="zh-CN" altLang="en-US" sz="1800" baseline="0" dirty="0">
                <a:latin typeface="Times New Roman" panose="02020603050405020304" pitchFamily="18" charset="0"/>
                <a:ea typeface="微软雅黑" panose="020B0503020204020204" pitchFamily="34" charset="-122"/>
              </a:rPr>
              <a:t>已被</a:t>
            </a:r>
            <a:r>
              <a:rPr kumimoji="0" lang="en-US" altLang="zh-CN" sz="1800" baseline="0" dirty="0">
                <a:latin typeface="Times New Roman" panose="02020603050405020304" pitchFamily="18" charset="0"/>
                <a:ea typeface="微软雅黑" panose="020B0503020204020204" pitchFamily="34" charset="-122"/>
              </a:rPr>
              <a:t>(</a:t>
            </a:r>
            <a:r>
              <a:rPr kumimoji="0" lang="en-US" altLang="zh-CN" sz="1800" i="1" baseline="0" dirty="0">
                <a:latin typeface="Times New Roman" panose="02020603050405020304" pitchFamily="18" charset="0"/>
                <a:ea typeface="微软雅黑" panose="020B0503020204020204" pitchFamily="34" charset="-122"/>
              </a:rPr>
              <a:t>x</a:t>
            </a:r>
            <a:r>
              <a:rPr kumimoji="0" lang="en-US" altLang="zh-CN" sz="1800" baseline="0" dirty="0">
                <a:latin typeface="Times New Roman" panose="02020603050405020304" pitchFamily="18" charset="0"/>
                <a:ea typeface="微软雅黑" panose="020B0503020204020204" pitchFamily="34" charset="-122"/>
              </a:rPr>
              <a:t>+</a:t>
            </a:r>
            <a:r>
              <a:rPr kumimoji="0" lang="en-US" altLang="zh-CN" sz="1800" i="1" baseline="0" dirty="0">
                <a:latin typeface="Times New Roman" panose="02020603050405020304" pitchFamily="18" charset="0"/>
                <a:ea typeface="微软雅黑" panose="020B0503020204020204" pitchFamily="34" charset="-122"/>
              </a:rPr>
              <a:t>z</a:t>
            </a:r>
            <a:r>
              <a:rPr kumimoji="0" lang="en-US" altLang="zh-CN" sz="1800" i="1" baseline="-25000" dirty="0">
                <a:latin typeface="Times New Roman" panose="02020603050405020304" pitchFamily="18" charset="0"/>
                <a:ea typeface="微软雅黑" panose="020B0503020204020204" pitchFamily="34" charset="-122"/>
              </a:rPr>
              <a:t>1 </a:t>
            </a:r>
            <a:r>
              <a:rPr kumimoji="0" lang="en-US" altLang="zh-CN" sz="1800" baseline="0" dirty="0">
                <a:latin typeface="Times New Roman" panose="02020603050405020304" pitchFamily="18" charset="0"/>
                <a:ea typeface="微软雅黑" panose="020B0503020204020204" pitchFamily="34" charset="-122"/>
              </a:rPr>
              <a:t>, </a:t>
            </a:r>
            <a:r>
              <a:rPr kumimoji="0" lang="en-US" altLang="zh-CN" sz="1800" i="1" baseline="0" dirty="0">
                <a:latin typeface="Times New Roman" panose="02020603050405020304" pitchFamily="18" charset="0"/>
                <a:ea typeface="微软雅黑" panose="020B0503020204020204" pitchFamily="34" charset="-122"/>
              </a:rPr>
              <a:t>y</a:t>
            </a:r>
            <a:r>
              <a:rPr kumimoji="0" lang="en-US" altLang="zh-CN" sz="1800" baseline="0" dirty="0">
                <a:latin typeface="Times New Roman" panose="02020603050405020304" pitchFamily="18" charset="0"/>
                <a:ea typeface="微软雅黑" panose="020B0503020204020204" pitchFamily="34" charset="-122"/>
              </a:rPr>
              <a:t>+</a:t>
            </a:r>
            <a:r>
              <a:rPr kumimoji="0" lang="en-US" altLang="zh-CN" sz="1800" i="1" baseline="0" dirty="0">
                <a:latin typeface="Times New Roman" panose="02020603050405020304" pitchFamily="18" charset="0"/>
                <a:ea typeface="微软雅黑" panose="020B0503020204020204" pitchFamily="34" charset="-122"/>
              </a:rPr>
              <a:t>z</a:t>
            </a:r>
            <a:r>
              <a:rPr kumimoji="0" lang="en-US" altLang="zh-CN" sz="1800" i="1" baseline="-25000" dirty="0">
                <a:latin typeface="Times New Roman" panose="02020603050405020304" pitchFamily="18" charset="0"/>
                <a:ea typeface="微软雅黑" panose="020B0503020204020204" pitchFamily="34" charset="-122"/>
              </a:rPr>
              <a:t>2</a:t>
            </a:r>
            <a:r>
              <a:rPr kumimoji="0" lang="en-US" altLang="zh-CN" sz="1800" baseline="0" dirty="0">
                <a:latin typeface="Times New Roman" panose="02020603050405020304" pitchFamily="18" charset="0"/>
                <a:ea typeface="微软雅黑" panose="020B0503020204020204" pitchFamily="34" charset="-122"/>
              </a:rPr>
              <a:t>)</a:t>
            </a:r>
            <a:r>
              <a:rPr kumimoji="0" lang="zh-CN" altLang="en-US" sz="1800" baseline="0" dirty="0">
                <a:latin typeface="Times New Roman" panose="02020603050405020304" pitchFamily="18" charset="0"/>
                <a:ea typeface="微软雅黑" panose="020B0503020204020204" pitchFamily="34" charset="-122"/>
              </a:rPr>
              <a:t>代替的点集。</a:t>
            </a:r>
          </a:p>
        </p:txBody>
      </p:sp>
      <p:graphicFrame>
        <p:nvGraphicFramePr>
          <p:cNvPr id="5" name="Object 20"/>
          <p:cNvGraphicFramePr>
            <a:graphicFrameLocks noChangeAspect="1"/>
          </p:cNvGraphicFramePr>
          <p:nvPr/>
        </p:nvGraphicFramePr>
        <p:xfrm>
          <a:off x="2123758" y="3607435"/>
          <a:ext cx="1152244" cy="360000"/>
        </p:xfrm>
        <a:graphic>
          <a:graphicData uri="http://schemas.openxmlformats.org/presentationml/2006/ole">
            <mc:AlternateContent xmlns:mc="http://schemas.openxmlformats.org/markup-compatibility/2006">
              <mc:Choice xmlns:v="urn:schemas-microsoft-com:vml" Requires="v">
                <p:oleObj spid="_x0000_s158751" name="公式" r:id="rId10" imgW="685800" imgH="215900" progId="Equation.3">
                  <p:embed/>
                </p:oleObj>
              </mc:Choice>
              <mc:Fallback>
                <p:oleObj name="公式" r:id="rId10" imgW="685800" imgH="215900" progId="Equation.3">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23758" y="3607435"/>
                        <a:ext cx="1152244"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24"/>
          <p:cNvGraphicFramePr>
            <a:graphicFrameLocks noChangeAspect="1"/>
          </p:cNvGraphicFramePr>
          <p:nvPr/>
        </p:nvGraphicFramePr>
        <p:xfrm>
          <a:off x="4932036" y="3645513"/>
          <a:ext cx="513080" cy="360045"/>
        </p:xfrm>
        <a:graphic>
          <a:graphicData uri="http://schemas.openxmlformats.org/presentationml/2006/ole">
            <mc:AlternateContent xmlns:mc="http://schemas.openxmlformats.org/markup-compatibility/2006">
              <mc:Choice xmlns:v="urn:schemas-microsoft-com:vml" Requires="v">
                <p:oleObj spid="_x0000_s158752" name="公式" r:id="rId12" imgW="304800" imgH="215900" progId="Equation.3">
                  <p:embed/>
                </p:oleObj>
              </mc:Choice>
              <mc:Fallback>
                <p:oleObj name="公式" r:id="rId12" imgW="304800" imgH="215900" progId="Equation.3">
                  <p:embed/>
                  <p:pic>
                    <p:nvPicPr>
                      <p:cNvPr id="0" name="Object 24"/>
                      <p:cNvPicPr>
                        <a:picLocks noChangeAspect="1" noChangeArrowheads="1"/>
                      </p:cNvPicPr>
                      <p:nvPr/>
                    </p:nvPicPr>
                    <p:blipFill>
                      <a:blip r:embed="rId13"/>
                      <a:srcRect/>
                      <a:stretch>
                        <a:fillRect/>
                      </a:stretch>
                    </p:blipFill>
                    <p:spPr bwMode="auto">
                      <a:xfrm>
                        <a:off x="4932036" y="3645513"/>
                        <a:ext cx="513080" cy="36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28"/>
          <p:cNvGraphicFramePr>
            <a:graphicFrameLocks noChangeAspect="1"/>
          </p:cNvGraphicFramePr>
          <p:nvPr>
            <p:extLst>
              <p:ext uri="{D42A27DB-BD31-4B8C-83A1-F6EECF244321}">
                <p14:modId xmlns:p14="http://schemas.microsoft.com/office/powerpoint/2010/main" val="1337765703"/>
              </p:ext>
            </p:extLst>
          </p:nvPr>
        </p:nvGraphicFramePr>
        <p:xfrm>
          <a:off x="1450975" y="4369753"/>
          <a:ext cx="2710815" cy="360045"/>
        </p:xfrm>
        <a:graphic>
          <a:graphicData uri="http://schemas.openxmlformats.org/presentationml/2006/ole">
            <mc:AlternateContent xmlns:mc="http://schemas.openxmlformats.org/markup-compatibility/2006">
              <mc:Choice xmlns:v="urn:schemas-microsoft-com:vml" Requires="v">
                <p:oleObj spid="_x0000_s158753" name="公式" r:id="rId14" imgW="1612900" imgH="215900" progId="Equation.3">
                  <p:embed/>
                </p:oleObj>
              </mc:Choice>
              <mc:Fallback>
                <p:oleObj name="公式" r:id="rId14" imgW="1612900" imgH="215900" progId="Equation.3">
                  <p:embed/>
                  <p:pic>
                    <p:nvPicPr>
                      <p:cNvPr id="0" name="Object 28"/>
                      <p:cNvPicPr>
                        <a:picLocks noChangeAspect="1" noChangeArrowheads="1"/>
                      </p:cNvPicPr>
                      <p:nvPr/>
                    </p:nvPicPr>
                    <p:blipFill>
                      <a:blip r:embed="rId15"/>
                      <a:srcRect/>
                      <a:stretch>
                        <a:fillRect/>
                      </a:stretch>
                    </p:blipFill>
                    <p:spPr bwMode="auto">
                      <a:xfrm>
                        <a:off x="1450975" y="4369753"/>
                        <a:ext cx="2710815" cy="36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文本框 11"/>
          <p:cNvSpPr txBox="1"/>
          <p:nvPr/>
        </p:nvSpPr>
        <p:spPr>
          <a:xfrm>
            <a:off x="4646296" y="2997200"/>
            <a:ext cx="4390199" cy="523220"/>
          </a:xfrm>
          <a:prstGeom prst="rect">
            <a:avLst/>
          </a:prstGeom>
          <a:noFill/>
        </p:spPr>
        <p:txBody>
          <a:bodyPr wrap="square" rtlCol="0" anchor="t">
            <a:spAutoFit/>
          </a:bodyPr>
          <a:lstStyle/>
          <a:p>
            <a:r>
              <a:rPr lang="en-US" altLang="zh-CN" sz="1400" dirty="0">
                <a:latin typeface="Times New Roman" panose="02020603050405020304" pitchFamily="18" charset="0"/>
                <a:ea typeface="微软雅黑" panose="020B0503020204020204" pitchFamily="34" charset="-122"/>
              </a:rPr>
              <a:t>结构元及其相对于原点的反射(</a:t>
            </a:r>
            <a:r>
              <a:rPr lang="zh-CN" altLang="en-US" sz="1400" dirty="0">
                <a:latin typeface="Times New Roman" panose="02020603050405020304" pitchFamily="18" charset="0"/>
                <a:ea typeface="微软雅黑" panose="020B0503020204020204" pitchFamily="34" charset="-122"/>
              </a:rPr>
              <a:t>×</a:t>
            </a:r>
            <a:r>
              <a:rPr lang="en-US" altLang="zh-CN" sz="1400" dirty="0">
                <a:latin typeface="Times New Roman" panose="02020603050405020304" pitchFamily="18" charset="0"/>
                <a:ea typeface="微软雅黑" panose="020B0503020204020204" pitchFamily="34" charset="-122"/>
              </a:rPr>
              <a:t>是“不关心”元素，黑点表示原点)</a:t>
            </a:r>
            <a:r>
              <a:rPr lang="zh-CN" altLang="en-US" sz="1400" dirty="0">
                <a:latin typeface="Times New Roman" panose="02020603050405020304" pitchFamily="18" charset="0"/>
                <a:ea typeface="微软雅黑" panose="020B0503020204020204" pitchFamily="34" charset="-122"/>
              </a:rPr>
              <a:t>；</a:t>
            </a:r>
            <a:r>
              <a:rPr lang="en-US" altLang="zh-CN" sz="1400" b="1" dirty="0">
                <a:solidFill>
                  <a:schemeClr val="tx2">
                    <a:lumMod val="60000"/>
                    <a:lumOff val="40000"/>
                  </a:schemeClr>
                </a:solidFill>
                <a:latin typeface="Times New Roman" panose="02020603050405020304" pitchFamily="18" charset="0"/>
                <a:ea typeface="微软雅黑" panose="020B0503020204020204" pitchFamily="34" charset="-122"/>
              </a:rPr>
              <a:t>反射是指 SE 相对于原点旋转 180°</a:t>
            </a:r>
          </a:p>
        </p:txBody>
      </p:sp>
      <p:graphicFrame>
        <p:nvGraphicFramePr>
          <p:cNvPr id="13" name="Object 24"/>
          <p:cNvGraphicFramePr>
            <a:graphicFrameLocks noChangeAspect="1"/>
          </p:cNvGraphicFramePr>
          <p:nvPr/>
        </p:nvGraphicFramePr>
        <p:xfrm>
          <a:off x="4601210" y="5085715"/>
          <a:ext cx="482600" cy="338455"/>
        </p:xfrm>
        <a:graphic>
          <a:graphicData uri="http://schemas.openxmlformats.org/presentationml/2006/ole">
            <mc:AlternateContent xmlns:mc="http://schemas.openxmlformats.org/markup-compatibility/2006">
              <mc:Choice xmlns:v="urn:schemas-microsoft-com:vml" Requires="v">
                <p:oleObj spid="_x0000_s158754" name="公式" r:id="rId16" imgW="304800" imgH="215900" progId="Equation.3">
                  <p:embed/>
                </p:oleObj>
              </mc:Choice>
              <mc:Fallback>
                <p:oleObj name="公式" r:id="rId16" imgW="304800" imgH="215900" progId="Equation.3">
                  <p:embed/>
                  <p:pic>
                    <p:nvPicPr>
                      <p:cNvPr id="0" name="Object 24"/>
                      <p:cNvPicPr>
                        <a:picLocks noChangeAspect="1" noChangeArrowheads="1"/>
                      </p:cNvPicPr>
                      <p:nvPr/>
                    </p:nvPicPr>
                    <p:blipFill>
                      <a:blip r:embed="rId13"/>
                      <a:srcRect/>
                      <a:stretch>
                        <a:fillRect/>
                      </a:stretch>
                    </p:blipFill>
                    <p:spPr bwMode="auto">
                      <a:xfrm>
                        <a:off x="4601210" y="5085715"/>
                        <a:ext cx="482600" cy="338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4" end="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 grpId="0" bldLvl="0"/>
      <p:bldP spid="1034" grpId="1"/>
      <p:bldP spid="2" grpId="0" bldLvl="0"/>
      <p:bldP spid="2" grpId="1"/>
      <p:bldP spid="12" grpId="0"/>
      <p:bldP spid="12"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标题 8"/>
          <p:cNvSpPr>
            <a:spLocks noGrp="1"/>
          </p:cNvSpPr>
          <p:nvPr>
            <p:ph type="title"/>
          </p:nvPr>
        </p:nvSpPr>
        <p:spPr>
          <a:xfrm>
            <a:off x="301625" y="23813"/>
            <a:ext cx="8540750" cy="619125"/>
          </a:xfrm>
        </p:spPr>
        <p:txBody>
          <a:bodyPr vert="horz" wrap="square" lIns="91440" tIns="45720" rIns="91440" bIns="45720" anchor="ctr" anchorCtr="0"/>
          <a:lstStyle/>
          <a:p>
            <a:r>
              <a:rPr lang="en-US" altLang="zh-CN" dirty="0">
                <a:sym typeface="+mn-ea"/>
              </a:rPr>
              <a:t>1.</a:t>
            </a:r>
            <a:r>
              <a:rPr lang="en-US" altLang="zh-CN" dirty="0">
                <a:latin typeface="Times New Roman" panose="02020603050405020304" pitchFamily="18" charset="0"/>
                <a:ea typeface="+mn-ea"/>
                <a:cs typeface="+mn-cs"/>
                <a:sym typeface="+mn-ea"/>
              </a:rPr>
              <a:t> </a:t>
            </a:r>
            <a:r>
              <a:rPr lang="zh-CN" altLang="en-US" dirty="0">
                <a:latin typeface="Times New Roman" panose="02020603050405020304" pitchFamily="18" charset="0"/>
                <a:ea typeface="+mn-ea"/>
                <a:cs typeface="+mn-cs"/>
                <a:sym typeface="+mn-ea"/>
              </a:rPr>
              <a:t>基于结构元的图像处理例子</a:t>
            </a:r>
            <a:endParaRPr lang="zh-CN" altLang="en-US" dirty="0">
              <a:solidFill>
                <a:srgbClr val="006600"/>
              </a:solidFill>
              <a:latin typeface="Times New Roman" panose="02020603050405020304" pitchFamily="18" charset="0"/>
              <a:ea typeface="+mn-ea"/>
              <a:cs typeface="+mn-cs"/>
              <a:sym typeface="+mn-ea"/>
            </a:endParaRP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rPr>
              <a:t>9</a:t>
            </a:fld>
            <a:endParaRPr kumimoji="0" lang="en-US" altLang="zh-CN" sz="1400" b="0" i="0" u="none" strike="noStrike" kern="120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endParaRPr>
          </a:p>
        </p:txBody>
      </p:sp>
      <p:sp>
        <p:nvSpPr>
          <p:cNvPr id="6" name="Rectangle 3" descr="Rectangle: Click to edit Master text styles&#10;Second level&#10;Third level&#10;Fourth level&#10;Fifth level"/>
          <p:cNvSpPr>
            <a:spLocks noGrp="1" noChangeArrowheads="1"/>
          </p:cNvSpPr>
          <p:nvPr>
            <p:ph type="body" sz="half" idx="1"/>
          </p:nvPr>
        </p:nvSpPr>
        <p:spPr>
          <a:xfrm>
            <a:off x="683260" y="836295"/>
            <a:ext cx="7685405" cy="947420"/>
          </a:xfrm>
        </p:spPr>
        <p:txBody>
          <a:bodyPr/>
          <a:lstStyle/>
          <a:p>
            <a:pPr marL="0" algn="l" latinLnBrk="0">
              <a:lnSpc>
                <a:spcPct val="110000"/>
              </a:lnSpc>
              <a:spcBef>
                <a:spcPts val="0"/>
              </a:spcBef>
              <a:buFont typeface="Wingdings" panose="05000000000000000000" pitchFamily="2" charset="2"/>
              <a:buNone/>
            </a:pPr>
            <a:r>
              <a:rPr lang="zh-CN" altLang="en-US" sz="1800" b="1" dirty="0">
                <a:solidFill>
                  <a:schemeClr val="tx1"/>
                </a:solidFill>
                <a:uFillTx/>
                <a:ea typeface="微软雅黑" panose="020B0503020204020204" pitchFamily="34" charset="-122"/>
                <a:sym typeface="+mn-ea"/>
              </a:rPr>
              <a:t>定义操作</a:t>
            </a:r>
            <a:r>
              <a:rPr lang="zh-CN" altLang="en-US" sz="1800" dirty="0">
                <a:solidFill>
                  <a:schemeClr val="tx1"/>
                </a:solidFill>
                <a:uFillTx/>
                <a:ea typeface="微软雅黑" panose="020B0503020204020204" pitchFamily="34" charset="-122"/>
                <a:sym typeface="+mn-ea"/>
              </a:rPr>
              <a:t>：在结构元</a:t>
            </a:r>
            <a:r>
              <a:rPr lang="en-US" altLang="zh-CN" sz="1800" dirty="0">
                <a:solidFill>
                  <a:schemeClr val="tx1"/>
                </a:solidFill>
                <a:uFillTx/>
                <a:ea typeface="微软雅黑" panose="020B0503020204020204" pitchFamily="34" charset="-122"/>
                <a:sym typeface="+mn-ea"/>
              </a:rPr>
              <a:t> </a:t>
            </a:r>
            <a:r>
              <a:rPr lang="en-US" altLang="zh-CN" sz="1800" i="1" dirty="0">
                <a:solidFill>
                  <a:schemeClr val="tx1"/>
                </a:solidFill>
                <a:uFillTx/>
                <a:ea typeface="微软雅黑" panose="020B0503020204020204" pitchFamily="34" charset="-122"/>
                <a:sym typeface="+mn-ea"/>
              </a:rPr>
              <a:t>B </a:t>
            </a:r>
            <a:r>
              <a:rPr lang="zh-CN" altLang="en-US" sz="1800" dirty="0">
                <a:solidFill>
                  <a:schemeClr val="tx1"/>
                </a:solidFill>
                <a:uFillTx/>
                <a:ea typeface="微软雅黑" panose="020B0503020204020204" pitchFamily="34" charset="-122"/>
                <a:sym typeface="+mn-ea"/>
              </a:rPr>
              <a:t>的每个原点位置，如果</a:t>
            </a:r>
            <a:r>
              <a:rPr lang="en-US" altLang="zh-CN" sz="1800" dirty="0">
                <a:solidFill>
                  <a:schemeClr val="tx1"/>
                </a:solidFill>
                <a:uFillTx/>
                <a:ea typeface="微软雅黑" panose="020B0503020204020204" pitchFamily="34" charset="-122"/>
                <a:sym typeface="+mn-ea"/>
              </a:rPr>
              <a:t> </a:t>
            </a:r>
            <a:r>
              <a:rPr lang="en-US" altLang="zh-CN" sz="1800" i="1" dirty="0">
                <a:solidFill>
                  <a:schemeClr val="tx1"/>
                </a:solidFill>
                <a:uFillTx/>
                <a:ea typeface="微软雅黑" panose="020B0503020204020204" pitchFamily="34" charset="-122"/>
                <a:sym typeface="+mn-ea"/>
              </a:rPr>
              <a:t>B </a:t>
            </a:r>
            <a:r>
              <a:rPr lang="zh-CN" altLang="en-US" sz="1800" dirty="0">
                <a:solidFill>
                  <a:schemeClr val="tx1"/>
                </a:solidFill>
                <a:uFillTx/>
                <a:ea typeface="微软雅黑" panose="020B0503020204020204" pitchFamily="34" charset="-122"/>
                <a:sym typeface="+mn-ea"/>
              </a:rPr>
              <a:t>完全被</a:t>
            </a:r>
            <a:r>
              <a:rPr lang="en-US" altLang="zh-CN" sz="1800" dirty="0">
                <a:solidFill>
                  <a:schemeClr val="tx1"/>
                </a:solidFill>
                <a:uFillTx/>
                <a:ea typeface="微软雅黑" panose="020B0503020204020204" pitchFamily="34" charset="-122"/>
                <a:sym typeface="+mn-ea"/>
              </a:rPr>
              <a:t> </a:t>
            </a:r>
            <a:r>
              <a:rPr lang="en-US" altLang="zh-CN" sz="1800" i="1" dirty="0">
                <a:solidFill>
                  <a:schemeClr val="tx1"/>
                </a:solidFill>
                <a:uFillTx/>
                <a:ea typeface="微软雅黑" panose="020B0503020204020204" pitchFamily="34" charset="-122"/>
                <a:sym typeface="+mn-ea"/>
              </a:rPr>
              <a:t>I </a:t>
            </a:r>
            <a:r>
              <a:rPr lang="zh-CN" altLang="en-US" sz="1800" dirty="0">
                <a:solidFill>
                  <a:schemeClr val="tx1"/>
                </a:solidFill>
                <a:uFillTx/>
                <a:ea typeface="微软雅黑" panose="020B0503020204020204" pitchFamily="34" charset="-122"/>
                <a:sym typeface="+mn-ea"/>
              </a:rPr>
              <a:t>包含，则将该位置标记为新集合的成员。</a:t>
            </a:r>
          </a:p>
          <a:p>
            <a:pPr marL="0" algn="l" latinLnBrk="0">
              <a:lnSpc>
                <a:spcPct val="110000"/>
              </a:lnSpc>
              <a:spcBef>
                <a:spcPts val="0"/>
              </a:spcBef>
              <a:buFont typeface="Wingdings" panose="05000000000000000000" pitchFamily="2" charset="2"/>
              <a:buNone/>
            </a:pPr>
            <a:endParaRPr lang="zh-CN" altLang="en-US" sz="1800" baseline="0" dirty="0">
              <a:solidFill>
                <a:schemeClr val="tx1"/>
              </a:solidFill>
              <a:uFillTx/>
              <a:ea typeface="微软雅黑" panose="020B0503020204020204" pitchFamily="34" charset="-122"/>
              <a:sym typeface="+mn-ea"/>
            </a:endParaRPr>
          </a:p>
          <a:p>
            <a:pPr marL="0" algn="l" latinLnBrk="0">
              <a:lnSpc>
                <a:spcPct val="110000"/>
              </a:lnSpc>
              <a:spcBef>
                <a:spcPts val="0"/>
              </a:spcBef>
              <a:buFont typeface="Wingdings" panose="05000000000000000000" pitchFamily="2" charset="2"/>
              <a:buNone/>
            </a:pPr>
            <a:endParaRPr lang="zh-CN" altLang="en-US" sz="1800" baseline="0" dirty="0">
              <a:solidFill>
                <a:schemeClr val="tx1"/>
              </a:solidFill>
              <a:uFillTx/>
              <a:ea typeface="微软雅黑" panose="020B0503020204020204" pitchFamily="34" charset="-122"/>
              <a:sym typeface="+mn-ea"/>
            </a:endParaRPr>
          </a:p>
          <a:p>
            <a:pPr marL="0" algn="l" latinLnBrk="0">
              <a:lnSpc>
                <a:spcPct val="110000"/>
              </a:lnSpc>
              <a:spcBef>
                <a:spcPts val="0"/>
              </a:spcBef>
              <a:buFont typeface="Wingdings" panose="05000000000000000000" pitchFamily="2" charset="2"/>
              <a:buNone/>
            </a:pPr>
            <a:endParaRPr lang="zh-CN" altLang="en-US" sz="1800" baseline="0" dirty="0">
              <a:solidFill>
                <a:schemeClr val="tx1"/>
              </a:solidFill>
              <a:uFillTx/>
              <a:ea typeface="微软雅黑" panose="020B0503020204020204" pitchFamily="34" charset="-122"/>
              <a:sym typeface="+mn-ea"/>
            </a:endParaRPr>
          </a:p>
          <a:p>
            <a:pPr marL="0" algn="l" latinLnBrk="0">
              <a:lnSpc>
                <a:spcPct val="110000"/>
              </a:lnSpc>
              <a:spcBef>
                <a:spcPts val="0"/>
              </a:spcBef>
              <a:buFont typeface="Wingdings" panose="05000000000000000000" pitchFamily="2" charset="2"/>
              <a:buNone/>
            </a:pPr>
            <a:endParaRPr lang="zh-CN" altLang="en-US" sz="1800" baseline="0" dirty="0">
              <a:solidFill>
                <a:schemeClr val="tx1"/>
              </a:solidFill>
              <a:uFillTx/>
              <a:ea typeface="微软雅黑" panose="020B0503020204020204" pitchFamily="34" charset="-122"/>
              <a:sym typeface="+mn-ea"/>
            </a:endParaRPr>
          </a:p>
          <a:p>
            <a:pPr marL="0" algn="l" latinLnBrk="0">
              <a:lnSpc>
                <a:spcPct val="110000"/>
              </a:lnSpc>
              <a:spcBef>
                <a:spcPts val="0"/>
              </a:spcBef>
              <a:buFont typeface="Wingdings" panose="05000000000000000000" pitchFamily="2" charset="2"/>
              <a:buNone/>
            </a:pPr>
            <a:endParaRPr lang="zh-CN" altLang="en-US" sz="1800" baseline="0" dirty="0">
              <a:solidFill>
                <a:schemeClr val="tx1"/>
              </a:solidFill>
              <a:uFillTx/>
              <a:ea typeface="微软雅黑" panose="020B0503020204020204" pitchFamily="34" charset="-122"/>
              <a:sym typeface="+mn-ea"/>
            </a:endParaRPr>
          </a:p>
          <a:p>
            <a:pPr marL="0" algn="l" latinLnBrk="0">
              <a:lnSpc>
                <a:spcPct val="110000"/>
              </a:lnSpc>
              <a:spcBef>
                <a:spcPts val="0"/>
              </a:spcBef>
              <a:buFont typeface="Wingdings" panose="05000000000000000000" pitchFamily="2" charset="2"/>
              <a:buNone/>
            </a:pPr>
            <a:endParaRPr lang="zh-CN" altLang="en-US" sz="1800" baseline="0" dirty="0">
              <a:solidFill>
                <a:schemeClr val="tx1"/>
              </a:solidFill>
              <a:uFillTx/>
              <a:ea typeface="微软雅黑" panose="020B0503020204020204" pitchFamily="34" charset="-122"/>
              <a:sym typeface="+mn-ea"/>
            </a:endParaRPr>
          </a:p>
          <a:p>
            <a:pPr marL="0" algn="l" latinLnBrk="0">
              <a:lnSpc>
                <a:spcPct val="110000"/>
              </a:lnSpc>
              <a:spcBef>
                <a:spcPts val="0"/>
              </a:spcBef>
              <a:buFont typeface="Wingdings" panose="05000000000000000000" pitchFamily="2" charset="2"/>
              <a:buNone/>
            </a:pPr>
            <a:endParaRPr lang="zh-CN" altLang="en-US" sz="1800" baseline="0" dirty="0">
              <a:solidFill>
                <a:schemeClr val="tx1"/>
              </a:solidFill>
              <a:uFillTx/>
              <a:ea typeface="微软雅黑" panose="020B0503020204020204" pitchFamily="34" charset="-122"/>
              <a:sym typeface="+mn-ea"/>
            </a:endParaRPr>
          </a:p>
          <a:p>
            <a:pPr marL="0" algn="l" latinLnBrk="0">
              <a:lnSpc>
                <a:spcPct val="110000"/>
              </a:lnSpc>
              <a:spcBef>
                <a:spcPts val="0"/>
              </a:spcBef>
              <a:buFont typeface="Wingdings" panose="05000000000000000000" pitchFamily="2" charset="2"/>
              <a:buNone/>
            </a:pPr>
            <a:endParaRPr lang="zh-CN" altLang="en-US" sz="1800" baseline="0" dirty="0">
              <a:solidFill>
                <a:schemeClr val="tx1"/>
              </a:solidFill>
              <a:uFillTx/>
              <a:ea typeface="微软雅黑" panose="020B0503020204020204" pitchFamily="34" charset="-122"/>
              <a:sym typeface="+mn-ea"/>
            </a:endParaRPr>
          </a:p>
          <a:p>
            <a:pPr marL="0" algn="l" latinLnBrk="0">
              <a:lnSpc>
                <a:spcPct val="110000"/>
              </a:lnSpc>
              <a:spcBef>
                <a:spcPts val="0"/>
              </a:spcBef>
              <a:buFont typeface="Wingdings" panose="05000000000000000000" pitchFamily="2" charset="2"/>
              <a:buNone/>
            </a:pPr>
            <a:endParaRPr lang="zh-CN" altLang="en-US" sz="1800" baseline="0" dirty="0">
              <a:solidFill>
                <a:schemeClr val="tx1"/>
              </a:solidFill>
              <a:uFillTx/>
              <a:ea typeface="微软雅黑" panose="020B0503020204020204" pitchFamily="34" charset="-122"/>
              <a:sym typeface="+mn-ea"/>
            </a:endParaRPr>
          </a:p>
          <a:p>
            <a:pPr marL="0" algn="l" latinLnBrk="0">
              <a:lnSpc>
                <a:spcPct val="120000"/>
              </a:lnSpc>
              <a:spcBef>
                <a:spcPts val="0"/>
              </a:spcBef>
              <a:buFont typeface="Wingdings" panose="05000000000000000000" pitchFamily="2" charset="2"/>
              <a:buNone/>
            </a:pPr>
            <a:r>
              <a:rPr lang="zh-CN" altLang="en-US" sz="1800" dirty="0">
                <a:solidFill>
                  <a:schemeClr val="tx1"/>
                </a:solidFill>
                <a:uFillTx/>
                <a:ea typeface="微软雅黑" panose="020B0503020204020204" pitchFamily="34" charset="-122"/>
              </a:rPr>
              <a:t>形态学运算:</a:t>
            </a:r>
          </a:p>
          <a:p>
            <a:pPr marL="0" algn="l" latinLnBrk="0">
              <a:lnSpc>
                <a:spcPct val="120000"/>
              </a:lnSpc>
              <a:spcBef>
                <a:spcPts val="0"/>
              </a:spcBef>
              <a:buFont typeface="Wingdings" panose="05000000000000000000" pitchFamily="2" charset="2"/>
              <a:buNone/>
            </a:pPr>
            <a:r>
              <a:rPr lang="zh-CN" altLang="en-US" sz="1800" dirty="0">
                <a:solidFill>
                  <a:schemeClr val="tx1"/>
                </a:solidFill>
                <a:uFillTx/>
                <a:ea typeface="微软雅黑" panose="020B0503020204020204" pitchFamily="34" charset="-122"/>
              </a:rPr>
              <a:t>(1)形成一幅大小与</a:t>
            </a:r>
            <a:r>
              <a:rPr lang="en-US" altLang="zh-CN" sz="1800" dirty="0">
                <a:solidFill>
                  <a:schemeClr val="tx1"/>
                </a:solidFill>
                <a:uFillTx/>
                <a:ea typeface="微软雅黑" panose="020B0503020204020204" pitchFamily="34" charset="-122"/>
              </a:rPr>
              <a:t> </a:t>
            </a:r>
            <a:r>
              <a:rPr lang="en-US" altLang="zh-CN" sz="1800" i="1" dirty="0">
                <a:solidFill>
                  <a:schemeClr val="tx1"/>
                </a:solidFill>
                <a:uFillTx/>
                <a:ea typeface="微软雅黑" panose="020B0503020204020204" pitchFamily="34" charset="-122"/>
              </a:rPr>
              <a:t>I  </a:t>
            </a:r>
            <a:r>
              <a:rPr lang="zh-CN" altLang="en-US" sz="1800" dirty="0">
                <a:solidFill>
                  <a:schemeClr val="tx1"/>
                </a:solidFill>
                <a:uFillTx/>
                <a:ea typeface="微软雅黑" panose="020B0503020204020204" pitchFamily="34" charset="-122"/>
              </a:rPr>
              <a:t>相同的新图像，它最初只包含背景值。</a:t>
            </a:r>
          </a:p>
          <a:p>
            <a:pPr marL="0" algn="l" latinLnBrk="0">
              <a:lnSpc>
                <a:spcPct val="120000"/>
              </a:lnSpc>
              <a:spcBef>
                <a:spcPts val="0"/>
              </a:spcBef>
              <a:buFont typeface="Wingdings" panose="05000000000000000000" pitchFamily="2" charset="2"/>
              <a:buNone/>
            </a:pPr>
            <a:r>
              <a:rPr lang="zh-CN" altLang="en-US" sz="1800" dirty="0">
                <a:solidFill>
                  <a:schemeClr val="tx1"/>
                </a:solidFill>
                <a:uFillTx/>
                <a:ea typeface="微软雅黑" panose="020B0503020204020204" pitchFamily="34" charset="-122"/>
              </a:rPr>
              <a:t>(2)在图像</a:t>
            </a:r>
            <a:r>
              <a:rPr lang="en-US" altLang="zh-CN" sz="1800" dirty="0">
                <a:uFillTx/>
                <a:ea typeface="微软雅黑" panose="020B0503020204020204" pitchFamily="34" charset="-122"/>
                <a:sym typeface="+mn-ea"/>
              </a:rPr>
              <a:t> </a:t>
            </a:r>
            <a:r>
              <a:rPr lang="en-US" altLang="zh-CN" sz="1800" i="1" dirty="0">
                <a:uFillTx/>
                <a:ea typeface="微软雅黑" panose="020B0503020204020204" pitchFamily="34" charset="-122"/>
                <a:sym typeface="+mn-ea"/>
              </a:rPr>
              <a:t>I  </a:t>
            </a:r>
            <a:r>
              <a:rPr lang="zh-CN" altLang="en-US" sz="1800" dirty="0">
                <a:solidFill>
                  <a:schemeClr val="tx1"/>
                </a:solidFill>
                <a:uFillTx/>
                <a:ea typeface="微软雅黑" panose="020B0503020204020204" pitchFamily="34" charset="-122"/>
              </a:rPr>
              <a:t>的上方平移(滑动)</a:t>
            </a:r>
            <a:r>
              <a:rPr lang="zh-CN" altLang="en-US" sz="1800" i="1" dirty="0">
                <a:solidFill>
                  <a:schemeClr val="tx1"/>
                </a:solidFill>
                <a:uFillTx/>
                <a:ea typeface="微软雅黑" panose="020B0503020204020204" pitchFamily="34" charset="-122"/>
              </a:rPr>
              <a:t>B</a:t>
            </a:r>
            <a:r>
              <a:rPr lang="zh-CN" altLang="en-US" sz="1800" dirty="0">
                <a:solidFill>
                  <a:schemeClr val="tx1"/>
                </a:solidFill>
                <a:uFillTx/>
                <a:ea typeface="微软雅黑" panose="020B0503020204020204" pitchFamily="34" charset="-122"/>
              </a:rPr>
              <a:t>。</a:t>
            </a:r>
          </a:p>
          <a:p>
            <a:pPr marL="0" algn="l" latinLnBrk="0">
              <a:lnSpc>
                <a:spcPct val="120000"/>
              </a:lnSpc>
              <a:spcBef>
                <a:spcPts val="0"/>
              </a:spcBef>
              <a:buFont typeface="Wingdings" panose="05000000000000000000" pitchFamily="2" charset="2"/>
              <a:buNone/>
            </a:pPr>
            <a:r>
              <a:rPr lang="zh-CN" altLang="en-US" sz="1800" dirty="0">
                <a:solidFill>
                  <a:schemeClr val="tx1"/>
                </a:solidFill>
                <a:uFillTx/>
                <a:ea typeface="微软雅黑" panose="020B0503020204020204" pitchFamily="34" charset="-122"/>
              </a:rPr>
              <a:t>(3)每平移一个增量，若</a:t>
            </a:r>
            <a:r>
              <a:rPr lang="zh-CN" altLang="en-US" sz="1800" i="1" dirty="0">
                <a:solidFill>
                  <a:schemeClr val="tx1"/>
                </a:solidFill>
                <a:uFillTx/>
                <a:ea typeface="微软雅黑" panose="020B0503020204020204" pitchFamily="34" charset="-122"/>
              </a:rPr>
              <a:t>B</a:t>
            </a:r>
            <a:r>
              <a:rPr lang="zh-CN" altLang="en-US" sz="1800" dirty="0">
                <a:solidFill>
                  <a:schemeClr val="tx1"/>
                </a:solidFill>
                <a:uFillTx/>
                <a:ea typeface="微软雅黑" panose="020B0503020204020204" pitchFamily="34" charset="-122"/>
              </a:rPr>
              <a:t>完全包含于</a:t>
            </a:r>
            <a:r>
              <a:rPr lang="en-US" altLang="zh-CN" sz="1800" dirty="0">
                <a:uFillTx/>
                <a:ea typeface="微软雅黑" panose="020B0503020204020204" pitchFamily="34" charset="-122"/>
                <a:sym typeface="+mn-ea"/>
              </a:rPr>
              <a:t> </a:t>
            </a:r>
            <a:r>
              <a:rPr lang="en-US" altLang="zh-CN" sz="1800" i="1" dirty="0">
                <a:uFillTx/>
                <a:ea typeface="微软雅黑" panose="020B0503020204020204" pitchFamily="34" charset="-122"/>
                <a:sym typeface="+mn-ea"/>
              </a:rPr>
              <a:t>I </a:t>
            </a:r>
            <a:r>
              <a:rPr lang="zh-CN" altLang="en-US" sz="1800" dirty="0">
                <a:solidFill>
                  <a:schemeClr val="tx1"/>
                </a:solidFill>
                <a:uFillTx/>
                <a:ea typeface="微软雅黑" panose="020B0503020204020204" pitchFamily="34" charset="-122"/>
              </a:rPr>
              <a:t>,</a:t>
            </a:r>
            <a:r>
              <a:rPr lang="en-US" altLang="zh-CN" sz="1800" dirty="0">
                <a:solidFill>
                  <a:schemeClr val="tx1"/>
                </a:solidFill>
                <a:uFillTx/>
                <a:ea typeface="微软雅黑" panose="020B0503020204020204" pitchFamily="34" charset="-122"/>
              </a:rPr>
              <a:t> </a:t>
            </a:r>
            <a:r>
              <a:rPr lang="zh-CN" altLang="en-US" sz="1800" dirty="0">
                <a:solidFill>
                  <a:schemeClr val="tx1"/>
                </a:solidFill>
                <a:uFillTx/>
                <a:ea typeface="微软雅黑" panose="020B0503020204020204" pitchFamily="34" charset="-122"/>
              </a:rPr>
              <a:t>则将</a:t>
            </a:r>
            <a:r>
              <a:rPr lang="zh-CN" altLang="en-US" sz="1800" i="1" dirty="0">
                <a:solidFill>
                  <a:schemeClr val="tx1"/>
                </a:solidFill>
                <a:uFillTx/>
                <a:ea typeface="微软雅黑" panose="020B0503020204020204" pitchFamily="34" charset="-122"/>
              </a:rPr>
              <a:t>B</a:t>
            </a:r>
            <a:r>
              <a:rPr lang="zh-CN" altLang="en-US" sz="1800" dirty="0">
                <a:solidFill>
                  <a:schemeClr val="tx1"/>
                </a:solidFill>
                <a:uFillTx/>
                <a:ea typeface="微软雅黑" panose="020B0503020204020204" pitchFamily="34" charset="-122"/>
              </a:rPr>
              <a:t>的原点位置标记为新图像中的一个前景像素；否则，将它标记为一个背景点。</a:t>
            </a:r>
          </a:p>
        </p:txBody>
      </p:sp>
      <p:pic>
        <p:nvPicPr>
          <p:cNvPr id="3" name="图片 2"/>
          <p:cNvPicPr>
            <a:picLocks noChangeAspect="1"/>
          </p:cNvPicPr>
          <p:nvPr/>
        </p:nvPicPr>
        <p:blipFill>
          <a:blip r:embed="rId2"/>
          <a:stretch>
            <a:fillRect/>
          </a:stretch>
        </p:blipFill>
        <p:spPr>
          <a:xfrm>
            <a:off x="683260" y="1772285"/>
            <a:ext cx="7839710" cy="217360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1"/>
          </p:nvPr>
        </p:nvSpPr>
        <p:spPr>
          <a:xfrm>
            <a:off x="445135" y="1420495"/>
            <a:ext cx="8540750" cy="4434840"/>
          </a:xfrm>
        </p:spPr>
        <p:txBody>
          <a:bodyPr vert="horz" wrap="square" lIns="91440" tIns="45720" rIns="91440" bIns="45720" anchor="t" anchorCtr="0"/>
          <a:lstStyle/>
          <a:p>
            <a:pPr marL="514350" indent="-514350">
              <a:buFont typeface="Arial" panose="020B0604020202020204" pitchFamily="34" charset="0"/>
              <a:buAutoNum type="arabicPeriod"/>
            </a:pPr>
            <a:r>
              <a:rPr lang="zh-CN" altLang="en-US" sz="2800" dirty="0">
                <a:latin typeface="Times New Roman" panose="02020603050405020304" pitchFamily="18" charset="0"/>
                <a:ea typeface="+mn-ea"/>
                <a:cs typeface="+mn-cs"/>
              </a:rPr>
              <a:t>预备知识</a:t>
            </a:r>
          </a:p>
          <a:p>
            <a:pPr marL="514350" indent="-514350">
              <a:buFont typeface="Arial" panose="020B0604020202020204" pitchFamily="34" charset="0"/>
              <a:buAutoNum type="arabicPeriod"/>
            </a:pPr>
            <a:r>
              <a:rPr lang="zh-CN" altLang="en-US" sz="2800" b="1" dirty="0"/>
              <a:t>腐蚀和膨胀</a:t>
            </a:r>
          </a:p>
          <a:p>
            <a:pPr marL="514350" indent="-514350">
              <a:buFont typeface="Arial" panose="020B0604020202020204" pitchFamily="34" charset="0"/>
              <a:buAutoNum type="arabicPeriod"/>
            </a:pPr>
            <a:r>
              <a:rPr lang="zh-CN" altLang="en-US" sz="2800" dirty="0"/>
              <a:t>开运算与闭运算</a:t>
            </a:r>
          </a:p>
          <a:p>
            <a:pPr marL="514350" indent="-514350">
              <a:buFont typeface="Arial" panose="020B0604020202020204" pitchFamily="34" charset="0"/>
              <a:buAutoNum type="arabicPeriod"/>
            </a:pPr>
            <a:r>
              <a:rPr lang="zh-CN" altLang="en-US" sz="2800" dirty="0"/>
              <a:t>击中</a:t>
            </a:r>
            <a:r>
              <a:rPr lang="en-US" altLang="zh-CN" sz="2800" dirty="0"/>
              <a:t>-</a:t>
            </a:r>
            <a:r>
              <a:rPr lang="zh-CN" altLang="en-US" sz="2800" dirty="0"/>
              <a:t>击不中变换</a:t>
            </a:r>
          </a:p>
          <a:p>
            <a:pPr marL="514350" indent="-514350">
              <a:buFont typeface="Arial" panose="020B0604020202020204" pitchFamily="34" charset="0"/>
              <a:buAutoNum type="arabicPeriod"/>
            </a:pPr>
            <a:r>
              <a:rPr lang="zh-CN" altLang="en-US" sz="2800" dirty="0"/>
              <a:t>一些基本的形态学算法</a:t>
            </a:r>
          </a:p>
          <a:p>
            <a:pPr marL="514350" indent="-514350">
              <a:buFont typeface="Arial" panose="020B0604020202020204" pitchFamily="34" charset="0"/>
              <a:buAutoNum type="arabicPeriod"/>
            </a:pPr>
            <a:r>
              <a:rPr lang="zh-CN" altLang="en-US" sz="2800" dirty="0"/>
              <a:t>形态学重建</a:t>
            </a:r>
          </a:p>
          <a:p>
            <a:pPr marL="514350" indent="-514350">
              <a:buFont typeface="Arial" panose="020B0604020202020204" pitchFamily="34" charset="0"/>
              <a:buAutoNum type="arabicPeriod"/>
            </a:pPr>
            <a:r>
              <a:rPr lang="zh-CN" altLang="en-US" sz="2800" dirty="0"/>
              <a:t>二值图像形态学运算小结</a:t>
            </a:r>
          </a:p>
          <a:p>
            <a:pPr marL="514350" indent="-514350">
              <a:buFont typeface="Arial" panose="020B0604020202020204" pitchFamily="34" charset="0"/>
              <a:buAutoNum type="arabicPeriod"/>
            </a:pPr>
            <a:r>
              <a:rPr lang="zh-CN" altLang="en-US" sz="2800" dirty="0"/>
              <a:t>灰度级形态学</a:t>
            </a:r>
            <a:endParaRPr lang="en-US" altLang="zh-CN" sz="3600" dirty="0"/>
          </a:p>
          <a:p>
            <a:pPr marL="514350" indent="-514350">
              <a:buFont typeface="Arial" panose="020B0604020202020204" pitchFamily="34" charset="0"/>
              <a:buAutoNum type="arabicPeriod"/>
            </a:pPr>
            <a:endParaRPr lang="en-US" altLang="zh-CN" sz="3600" dirty="0">
              <a:latin typeface="Times New Roman" panose="02020603050405020304" pitchFamily="18" charset="0"/>
              <a:ea typeface="+mn-ea"/>
              <a:cs typeface="+mn-cs"/>
            </a:endParaRPr>
          </a:p>
        </p:txBody>
      </p:sp>
      <p:sp>
        <p:nvSpPr>
          <p:cNvPr id="19460" name="TextBox 3"/>
          <p:cNvSpPr txBox="1"/>
          <p:nvPr/>
        </p:nvSpPr>
        <p:spPr>
          <a:xfrm>
            <a:off x="445135" y="836613"/>
            <a:ext cx="4359910" cy="5835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dirty="0"/>
              <a:t>第九章</a:t>
            </a:r>
            <a:r>
              <a:rPr lang="en-US" altLang="zh-CN" dirty="0"/>
              <a:t>:</a:t>
            </a:r>
            <a:r>
              <a:rPr lang="zh-CN" altLang="en-US" dirty="0"/>
              <a:t>形态学图像处理</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rPr>
              <a:t>10</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a:t>
            </a:r>
            <a:r>
              <a:rPr lang="zh-CN" altLang="en-US" dirty="0"/>
              <a:t>腐蚀</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11</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5" name="Rectangle 3" descr="Rectangle: Click to edit Master text styles&#10;Second level&#10;Third level&#10;Fourth level&#10;Fifth level"/>
          <p:cNvSpPr>
            <a:spLocks noGrp="1" noChangeArrowheads="1"/>
          </p:cNvSpPr>
          <p:nvPr>
            <p:ph type="body" sz="half" idx="1"/>
          </p:nvPr>
        </p:nvSpPr>
        <p:spPr>
          <a:xfrm>
            <a:off x="683895" y="836930"/>
            <a:ext cx="7685405" cy="5324475"/>
          </a:xfrm>
        </p:spPr>
        <p:txBody>
          <a:bodyPr/>
          <a:lstStyle/>
          <a:p>
            <a:pPr marL="0" algn="just" latinLnBrk="0">
              <a:lnSpc>
                <a:spcPct val="110000"/>
              </a:lnSpc>
              <a:spcBef>
                <a:spcPts val="0"/>
              </a:spcBef>
              <a:buFont typeface="Wingdings" panose="05000000000000000000" pitchFamily="2" charset="2"/>
              <a:buNone/>
            </a:pPr>
            <a:r>
              <a:rPr lang="zh-CN" altLang="en-US" sz="1800" dirty="0">
                <a:uFillTx/>
                <a:ea typeface="微软雅黑" panose="020B0503020204020204" pitchFamily="34" charset="-122"/>
              </a:rPr>
              <a:t> 集合</a:t>
            </a:r>
            <a:r>
              <a:rPr lang="zh-CN" altLang="en-US" sz="1800" i="1" dirty="0">
                <a:uFillTx/>
                <a:ea typeface="微软雅黑" panose="020B0503020204020204" pitchFamily="34" charset="-122"/>
              </a:rPr>
              <a:t>A</a:t>
            </a:r>
            <a:r>
              <a:rPr lang="zh-CN" altLang="en-US" sz="1800" dirty="0">
                <a:uFillTx/>
                <a:ea typeface="微软雅黑" panose="020B0503020204020204" pitchFamily="34" charset="-122"/>
              </a:rPr>
              <a:t>和</a:t>
            </a:r>
            <a:r>
              <a:rPr lang="zh-CN" altLang="en-US" sz="1800" i="1" dirty="0">
                <a:uFillTx/>
                <a:ea typeface="微软雅黑" panose="020B0503020204020204" pitchFamily="34" charset="-122"/>
              </a:rPr>
              <a:t>B</a:t>
            </a:r>
            <a:r>
              <a:rPr lang="zh-CN" altLang="en-US" sz="1800" dirty="0">
                <a:uFillTx/>
                <a:ea typeface="微软雅黑" panose="020B0503020204020204" pitchFamily="34" charset="-122"/>
              </a:rPr>
              <a:t>都在</a:t>
            </a:r>
            <a:r>
              <a:rPr lang="zh-CN" altLang="en-US" sz="1800" i="1" dirty="0">
                <a:uFillTx/>
                <a:ea typeface="微软雅黑" panose="020B0503020204020204" pitchFamily="34" charset="-122"/>
              </a:rPr>
              <a:t>Z</a:t>
            </a:r>
            <a:r>
              <a:rPr lang="en-US" altLang="zh-CN" sz="1800" i="1" baseline="30000" dirty="0">
                <a:uFillTx/>
                <a:ea typeface="微软雅黑" panose="020B0503020204020204" pitchFamily="34" charset="-122"/>
              </a:rPr>
              <a:t>2</a:t>
            </a:r>
            <a:r>
              <a:rPr lang="zh-CN" altLang="en-US" sz="1800" dirty="0">
                <a:uFillTx/>
                <a:ea typeface="微软雅黑" panose="020B0503020204020204" pitchFamily="34" charset="-122"/>
              </a:rPr>
              <a:t>中，</a:t>
            </a:r>
            <a:r>
              <a:rPr lang="zh-CN" altLang="en-US" sz="1800" i="1" dirty="0">
                <a:uFillTx/>
                <a:ea typeface="微软雅黑" panose="020B0503020204020204" pitchFamily="34" charset="-122"/>
              </a:rPr>
              <a:t>B</a:t>
            </a:r>
            <a:r>
              <a:rPr lang="zh-CN" altLang="en-US" sz="1800" dirty="0">
                <a:uFillTx/>
                <a:ea typeface="微软雅黑" panose="020B0503020204020204" pitchFamily="34" charset="-122"/>
              </a:rPr>
              <a:t>对</a:t>
            </a:r>
            <a:r>
              <a:rPr lang="zh-CN" altLang="en-US" sz="1800" i="1" dirty="0">
                <a:uFillTx/>
                <a:ea typeface="微软雅黑" panose="020B0503020204020204" pitchFamily="34" charset="-122"/>
              </a:rPr>
              <a:t>A</a:t>
            </a:r>
            <a:r>
              <a:rPr lang="zh-CN" altLang="en-US" sz="1800" dirty="0">
                <a:uFillTx/>
                <a:ea typeface="微软雅黑" panose="020B0503020204020204" pitchFamily="34" charset="-122"/>
              </a:rPr>
              <a:t>的腐蚀表示为</a:t>
            </a:r>
            <a:r>
              <a:rPr lang="en-US" altLang="zh-CN" sz="1800" dirty="0">
                <a:uFillTx/>
                <a:ea typeface="微软雅黑" panose="020B0503020204020204" pitchFamily="34" charset="-122"/>
              </a:rPr>
              <a:t>             </a:t>
            </a:r>
            <a:r>
              <a:rPr lang="zh-CN" altLang="en-US" sz="1800" dirty="0">
                <a:uFillTx/>
                <a:ea typeface="微软雅黑" panose="020B0503020204020204" pitchFamily="34" charset="-122"/>
              </a:rPr>
              <a:t>，定义为</a:t>
            </a:r>
            <a:r>
              <a:rPr lang="en-US" altLang="zh-CN" sz="1800" dirty="0">
                <a:uFillTx/>
                <a:ea typeface="微软雅黑" panose="020B0503020204020204" pitchFamily="34" charset="-122"/>
              </a:rPr>
              <a:t>:</a:t>
            </a:r>
          </a:p>
          <a:p>
            <a:pPr marL="0" algn="just" latinLnBrk="0">
              <a:lnSpc>
                <a:spcPct val="110000"/>
              </a:lnSpc>
              <a:spcBef>
                <a:spcPts val="0"/>
              </a:spcBef>
              <a:buFont typeface="Wingdings" panose="05000000000000000000" pitchFamily="2" charset="2"/>
              <a:buNone/>
            </a:pPr>
            <a:endParaRPr lang="en-US" altLang="zh-CN"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en-US" altLang="zh-CN"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en-US" altLang="zh-CN" sz="1800" dirty="0">
              <a:uFillTx/>
              <a:ea typeface="微软雅黑" panose="020B0503020204020204" pitchFamily="34" charset="-122"/>
            </a:endParaRPr>
          </a:p>
          <a:p>
            <a:pPr marL="0" algn="just" latinLnBrk="0">
              <a:lnSpc>
                <a:spcPct val="150000"/>
              </a:lnSpc>
              <a:spcBef>
                <a:spcPts val="0"/>
              </a:spcBef>
              <a:buFont typeface="Wingdings" panose="05000000000000000000" pitchFamily="2" charset="2"/>
              <a:buNone/>
            </a:pPr>
            <a:r>
              <a:rPr lang="zh-CN" altLang="en-US" sz="1800" i="1" dirty="0">
                <a:uFillTx/>
                <a:ea typeface="微软雅黑" panose="020B0503020204020204" pitchFamily="34" charset="-122"/>
              </a:rPr>
              <a:t>    B</a:t>
            </a:r>
            <a:r>
              <a:rPr lang="zh-CN" altLang="en-US" sz="1800" dirty="0">
                <a:uFillTx/>
                <a:ea typeface="微软雅黑" panose="020B0503020204020204" pitchFamily="34" charset="-122"/>
              </a:rPr>
              <a:t>对</a:t>
            </a:r>
            <a:r>
              <a:rPr lang="zh-CN" altLang="en-US" sz="1800" i="1" dirty="0">
                <a:uFillTx/>
                <a:ea typeface="微软雅黑" panose="020B0503020204020204" pitchFamily="34" charset="-122"/>
              </a:rPr>
              <a:t>A</a:t>
            </a:r>
            <a:r>
              <a:rPr lang="zh-CN" altLang="en-US" sz="1800" dirty="0">
                <a:uFillTx/>
                <a:ea typeface="微软雅黑" panose="020B0503020204020204" pitchFamily="34" charset="-122"/>
              </a:rPr>
              <a:t>的腐蚀是一个用</a:t>
            </a:r>
            <a:r>
              <a:rPr lang="zh-CN" altLang="en-US" sz="1800" i="1" dirty="0">
                <a:uFillTx/>
                <a:ea typeface="微软雅黑" panose="020B0503020204020204" pitchFamily="34" charset="-122"/>
              </a:rPr>
              <a:t>z</a:t>
            </a:r>
            <a:r>
              <a:rPr lang="zh-CN" altLang="en-US" sz="1800" dirty="0">
                <a:uFillTx/>
                <a:ea typeface="微软雅黑" panose="020B0503020204020204" pitchFamily="34" charset="-122"/>
              </a:rPr>
              <a:t>平移的</a:t>
            </a:r>
            <a:r>
              <a:rPr lang="zh-CN" altLang="en-US" sz="1800" i="1" dirty="0">
                <a:uFillTx/>
                <a:ea typeface="微软雅黑" panose="020B0503020204020204" pitchFamily="34" charset="-122"/>
              </a:rPr>
              <a:t>B</a:t>
            </a:r>
            <a:r>
              <a:rPr lang="zh-CN" altLang="en-US" sz="1800" dirty="0">
                <a:uFillTx/>
                <a:ea typeface="微软雅黑" panose="020B0503020204020204" pitchFamily="34" charset="-122"/>
              </a:rPr>
              <a:t>包含在</a:t>
            </a:r>
            <a:r>
              <a:rPr lang="zh-CN" altLang="en-US" sz="1800" i="1" dirty="0">
                <a:uFillTx/>
                <a:ea typeface="微软雅黑" panose="020B0503020204020204" pitchFamily="34" charset="-122"/>
              </a:rPr>
              <a:t>A</a:t>
            </a:r>
            <a:r>
              <a:rPr lang="zh-CN" altLang="en-US" sz="1800" dirty="0">
                <a:uFillTx/>
                <a:ea typeface="微软雅黑" panose="020B0503020204020204" pitchFamily="34" charset="-122"/>
              </a:rPr>
              <a:t>中的所有的点</a:t>
            </a:r>
            <a:r>
              <a:rPr lang="zh-CN" altLang="en-US" sz="1800" i="1" dirty="0">
                <a:uFillTx/>
                <a:ea typeface="微软雅黑" panose="020B0503020204020204" pitchFamily="34" charset="-122"/>
              </a:rPr>
              <a:t>z</a:t>
            </a:r>
            <a:r>
              <a:rPr lang="zh-CN" altLang="en-US" sz="1800" dirty="0">
                <a:uFillTx/>
                <a:ea typeface="微软雅黑" panose="020B0503020204020204" pitchFamily="34" charset="-122"/>
              </a:rPr>
              <a:t>的集合。我们假设</a:t>
            </a:r>
            <a:r>
              <a:rPr lang="zh-CN" altLang="en-US" sz="1800" i="1" dirty="0">
                <a:uFillTx/>
                <a:ea typeface="微软雅黑" panose="020B0503020204020204" pitchFamily="34" charset="-122"/>
              </a:rPr>
              <a:t>B</a:t>
            </a:r>
            <a:r>
              <a:rPr lang="zh-CN" altLang="en-US" sz="1800" dirty="0">
                <a:uFillTx/>
                <a:ea typeface="微软雅黑" panose="020B0503020204020204" pitchFamily="34" charset="-122"/>
              </a:rPr>
              <a:t>是一个结构元，从上面描述将公式等价为：</a:t>
            </a:r>
          </a:p>
          <a:p>
            <a:pPr marL="0" algn="just" latinLnBrk="0">
              <a:lnSpc>
                <a:spcPct val="110000"/>
              </a:lnSpc>
              <a:spcBef>
                <a:spcPts val="0"/>
              </a:spcBef>
              <a:buFont typeface="Wingdings" panose="05000000000000000000" pitchFamily="2" charset="2"/>
              <a:buNone/>
            </a:pPr>
            <a:endParaRPr lang="zh-CN" altLang="en-US"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en-US" altLang="zh-CN"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zh-CN" altLang="en-US"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r>
              <a:rPr lang="zh-CN" altLang="en-US" sz="1800" dirty="0">
                <a:uFillTx/>
                <a:ea typeface="微软雅黑" panose="020B0503020204020204" pitchFamily="34" charset="-122"/>
              </a:rPr>
              <a:t>其中</a:t>
            </a:r>
            <a:r>
              <a:rPr lang="zh-CN" altLang="en-US" sz="1800" i="1" dirty="0">
                <a:uFillTx/>
                <a:ea typeface="微软雅黑" panose="020B0503020204020204" pitchFamily="34" charset="-122"/>
              </a:rPr>
              <a:t>A</a:t>
            </a:r>
            <a:r>
              <a:rPr lang="en-US" altLang="zh-CN" sz="1800" i="1" baseline="30000" dirty="0">
                <a:uFillTx/>
                <a:ea typeface="微软雅黑" panose="020B0503020204020204" pitchFamily="34" charset="-122"/>
              </a:rPr>
              <a:t>c</a:t>
            </a:r>
            <a:r>
              <a:rPr lang="zh-CN" altLang="en-US" sz="1800" dirty="0">
                <a:uFillTx/>
                <a:ea typeface="微软雅黑" panose="020B0503020204020204" pitchFamily="34" charset="-122"/>
              </a:rPr>
              <a:t>为</a:t>
            </a:r>
            <a:r>
              <a:rPr lang="zh-CN" altLang="en-US" sz="1800" i="1" dirty="0">
                <a:uFillTx/>
                <a:ea typeface="微软雅黑" panose="020B0503020204020204" pitchFamily="34" charset="-122"/>
              </a:rPr>
              <a:t>A</a:t>
            </a:r>
            <a:r>
              <a:rPr lang="zh-CN" altLang="en-US" sz="1800" dirty="0">
                <a:uFillTx/>
                <a:ea typeface="微软雅黑" panose="020B0503020204020204" pitchFamily="34" charset="-122"/>
              </a:rPr>
              <a:t>的补集，</a:t>
            </a:r>
            <a:r>
              <a:rPr lang="en-US" altLang="zh-CN" sz="1800" dirty="0">
                <a:uFillTx/>
                <a:ea typeface="微软雅黑" panose="020B0503020204020204" pitchFamily="34" charset="-122"/>
              </a:rPr>
              <a:t>      </a:t>
            </a:r>
            <a:r>
              <a:rPr lang="zh-CN" altLang="en-US" sz="1800" dirty="0">
                <a:uFillTx/>
                <a:ea typeface="微软雅黑" panose="020B0503020204020204" pitchFamily="34" charset="-122"/>
              </a:rPr>
              <a:t>为空集。</a:t>
            </a:r>
            <a:endParaRPr lang="en-US" altLang="zh-CN"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zh-CN" altLang="en-US"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en-US" altLang="zh-CN"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en-US" altLang="zh-CN"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en-US" altLang="zh-CN"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en-US" altLang="zh-CN"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en-US" altLang="zh-CN" sz="1800" dirty="0">
              <a:uFillTx/>
              <a:ea typeface="微软雅黑" panose="020B0503020204020204" pitchFamily="34" charset="-122"/>
            </a:endParaRPr>
          </a:p>
          <a:p>
            <a:pPr marL="0" algn="just" latinLnBrk="0">
              <a:lnSpc>
                <a:spcPct val="160000"/>
              </a:lnSpc>
              <a:spcBef>
                <a:spcPts val="0"/>
              </a:spcBef>
              <a:buFont typeface="Wingdings" panose="05000000000000000000" pitchFamily="2" charset="2"/>
              <a:buNone/>
            </a:pPr>
            <a:r>
              <a:rPr lang="zh-CN" altLang="en-US" sz="1800" dirty="0">
                <a:uFillTx/>
                <a:ea typeface="微软雅黑" panose="020B0503020204020204" pitchFamily="34" charset="-122"/>
              </a:rPr>
              <a:t>如上述例子所示，腐蚀结果受结构元形状的控制</a:t>
            </a:r>
          </a:p>
        </p:txBody>
      </p:sp>
      <p:graphicFrame>
        <p:nvGraphicFramePr>
          <p:cNvPr id="8" name="对象 7"/>
          <p:cNvGraphicFramePr/>
          <p:nvPr/>
        </p:nvGraphicFramePr>
        <p:xfrm>
          <a:off x="3635693" y="1440498"/>
          <a:ext cx="1855470" cy="473710"/>
        </p:xfrm>
        <a:graphic>
          <a:graphicData uri="http://schemas.openxmlformats.org/presentationml/2006/ole">
            <mc:AlternateContent xmlns:mc="http://schemas.openxmlformats.org/markup-compatibility/2006">
              <mc:Choice xmlns:v="urn:schemas-microsoft-com:vml" Requires="v">
                <p:oleObj spid="_x0000_s6569" r:id="rId3" imgW="1409700" imgH="330200" progId="Equation.DSMT4">
                  <p:embed/>
                </p:oleObj>
              </mc:Choice>
              <mc:Fallback>
                <p:oleObj r:id="rId3" imgW="1409700" imgH="330200" progId="Equation.DSMT4">
                  <p:embed/>
                  <p:pic>
                    <p:nvPicPr>
                      <p:cNvPr id="0" name="图片 8"/>
                      <p:cNvPicPr/>
                      <p:nvPr/>
                    </p:nvPicPr>
                    <p:blipFill>
                      <a:blip r:embed="rId4"/>
                      <a:stretch>
                        <a:fillRect/>
                      </a:stretch>
                    </p:blipFill>
                    <p:spPr>
                      <a:xfrm>
                        <a:off x="3635693" y="1440498"/>
                        <a:ext cx="1855470" cy="473710"/>
                      </a:xfrm>
                      <a:prstGeom prst="rect">
                        <a:avLst/>
                      </a:prstGeom>
                    </p:spPr>
                  </p:pic>
                </p:oleObj>
              </mc:Fallback>
            </mc:AlternateContent>
          </a:graphicData>
        </a:graphic>
      </p:graphicFrame>
      <p:graphicFrame>
        <p:nvGraphicFramePr>
          <p:cNvPr id="10" name="对象 9"/>
          <p:cNvGraphicFramePr/>
          <p:nvPr/>
        </p:nvGraphicFramePr>
        <p:xfrm>
          <a:off x="4788535" y="909320"/>
          <a:ext cx="824865" cy="344170"/>
        </p:xfrm>
        <a:graphic>
          <a:graphicData uri="http://schemas.openxmlformats.org/presentationml/2006/ole">
            <mc:AlternateContent xmlns:mc="http://schemas.openxmlformats.org/markup-compatibility/2006">
              <mc:Choice xmlns:v="urn:schemas-microsoft-com:vml" Requires="v">
                <p:oleObj spid="_x0000_s6570" r:id="rId5" imgW="598805" imgH="280670" progId="Equation.DSMT4">
                  <p:embed/>
                </p:oleObj>
              </mc:Choice>
              <mc:Fallback>
                <p:oleObj r:id="rId5" imgW="598805" imgH="280670" progId="Equation.DSMT4">
                  <p:embed/>
                  <p:pic>
                    <p:nvPicPr>
                      <p:cNvPr id="0" name="图片 10"/>
                      <p:cNvPicPr/>
                      <p:nvPr/>
                    </p:nvPicPr>
                    <p:blipFill>
                      <a:blip r:embed="rId6"/>
                      <a:stretch>
                        <a:fillRect/>
                      </a:stretch>
                    </p:blipFill>
                    <p:spPr>
                      <a:xfrm>
                        <a:off x="4788535" y="909320"/>
                        <a:ext cx="824865" cy="344170"/>
                      </a:xfrm>
                      <a:prstGeom prst="rect">
                        <a:avLst/>
                      </a:prstGeom>
                    </p:spPr>
                  </p:pic>
                </p:oleObj>
              </mc:Fallback>
            </mc:AlternateContent>
          </a:graphicData>
        </a:graphic>
      </p:graphicFrame>
      <p:graphicFrame>
        <p:nvGraphicFramePr>
          <p:cNvPr id="12" name="对象 11"/>
          <p:cNvGraphicFramePr/>
          <p:nvPr>
            <p:extLst>
              <p:ext uri="{D42A27DB-BD31-4B8C-83A1-F6EECF244321}">
                <p14:modId xmlns:p14="http://schemas.microsoft.com/office/powerpoint/2010/main" val="19185368"/>
              </p:ext>
            </p:extLst>
          </p:nvPr>
        </p:nvGraphicFramePr>
        <p:xfrm>
          <a:off x="3464877" y="3039725"/>
          <a:ext cx="2647315" cy="531495"/>
        </p:xfrm>
        <a:graphic>
          <a:graphicData uri="http://schemas.openxmlformats.org/presentationml/2006/ole">
            <mc:AlternateContent xmlns:mc="http://schemas.openxmlformats.org/markup-compatibility/2006">
              <mc:Choice xmlns:v="urn:schemas-microsoft-com:vml" Requires="v">
                <p:oleObj spid="_x0000_s6571" r:id="rId7" imgW="1752600" imgH="330200" progId="Equation.DSMT4">
                  <p:embed/>
                </p:oleObj>
              </mc:Choice>
              <mc:Fallback>
                <p:oleObj r:id="rId7" imgW="1752600" imgH="330200" progId="Equation.DSMT4">
                  <p:embed/>
                  <p:pic>
                    <p:nvPicPr>
                      <p:cNvPr id="0" name="图片 8"/>
                      <p:cNvPicPr/>
                      <p:nvPr/>
                    </p:nvPicPr>
                    <p:blipFill>
                      <a:blip r:embed="rId8"/>
                      <a:stretch>
                        <a:fillRect/>
                      </a:stretch>
                    </p:blipFill>
                    <p:spPr>
                      <a:xfrm>
                        <a:off x="3464877" y="3039725"/>
                        <a:ext cx="2647315" cy="531495"/>
                      </a:xfrm>
                      <a:prstGeom prst="rect">
                        <a:avLst/>
                      </a:prstGeom>
                    </p:spPr>
                  </p:pic>
                </p:oleObj>
              </mc:Fallback>
            </mc:AlternateContent>
          </a:graphicData>
        </a:graphic>
      </p:graphicFrame>
      <p:graphicFrame>
        <p:nvGraphicFramePr>
          <p:cNvPr id="14" name="对象 13"/>
          <p:cNvGraphicFramePr/>
          <p:nvPr>
            <p:extLst>
              <p:ext uri="{D42A27DB-BD31-4B8C-83A1-F6EECF244321}">
                <p14:modId xmlns:p14="http://schemas.microsoft.com/office/powerpoint/2010/main" val="1410992662"/>
              </p:ext>
            </p:extLst>
          </p:nvPr>
        </p:nvGraphicFramePr>
        <p:xfrm>
          <a:off x="2656547" y="3852059"/>
          <a:ext cx="284480" cy="297180"/>
        </p:xfrm>
        <a:graphic>
          <a:graphicData uri="http://schemas.openxmlformats.org/presentationml/2006/ole">
            <mc:AlternateContent xmlns:mc="http://schemas.openxmlformats.org/markup-compatibility/2006">
              <mc:Choice xmlns:v="urn:schemas-microsoft-com:vml" Requires="v">
                <p:oleObj spid="_x0000_s6572" r:id="rId9" imgW="165100" imgH="177165" progId="Equation.DSMT4">
                  <p:embed/>
                </p:oleObj>
              </mc:Choice>
              <mc:Fallback>
                <p:oleObj r:id="rId9" imgW="165100" imgH="177165" progId="Equation.DSMT4">
                  <p:embed/>
                  <p:pic>
                    <p:nvPicPr>
                      <p:cNvPr id="0" name="图片 14"/>
                      <p:cNvPicPr/>
                      <p:nvPr/>
                    </p:nvPicPr>
                    <p:blipFill>
                      <a:blip r:embed="rId10"/>
                      <a:stretch>
                        <a:fillRect/>
                      </a:stretch>
                    </p:blipFill>
                    <p:spPr>
                      <a:xfrm>
                        <a:off x="2656547" y="3852059"/>
                        <a:ext cx="284480" cy="297180"/>
                      </a:xfrm>
                      <a:prstGeom prst="rect">
                        <a:avLst/>
                      </a:prstGeom>
                    </p:spPr>
                  </p:pic>
                </p:oleObj>
              </mc:Fallback>
            </mc:AlternateContent>
          </a:graphicData>
        </a:graphic>
      </p:graphicFrame>
      <p:pic>
        <p:nvPicPr>
          <p:cNvPr id="16" name="图片 15"/>
          <p:cNvPicPr>
            <a:picLocks noChangeAspect="1"/>
          </p:cNvPicPr>
          <p:nvPr/>
        </p:nvPicPr>
        <p:blipFill>
          <a:blip r:embed="rId11"/>
          <a:stretch>
            <a:fillRect/>
          </a:stretch>
        </p:blipFill>
        <p:spPr>
          <a:xfrm>
            <a:off x="693420" y="4246245"/>
            <a:ext cx="3954780" cy="1494155"/>
          </a:xfrm>
          <a:prstGeom prst="rect">
            <a:avLst/>
          </a:prstGeom>
        </p:spPr>
      </p:pic>
      <p:pic>
        <p:nvPicPr>
          <p:cNvPr id="18" name="图片 17"/>
          <p:cNvPicPr>
            <a:picLocks noChangeAspect="1"/>
          </p:cNvPicPr>
          <p:nvPr/>
        </p:nvPicPr>
        <p:blipFill>
          <a:blip r:embed="rId12"/>
          <a:stretch>
            <a:fillRect/>
          </a:stretch>
        </p:blipFill>
        <p:spPr>
          <a:xfrm>
            <a:off x="5158105" y="4311015"/>
            <a:ext cx="638175" cy="1318260"/>
          </a:xfrm>
          <a:prstGeom prst="rect">
            <a:avLst/>
          </a:prstGeom>
        </p:spPr>
      </p:pic>
      <p:pic>
        <p:nvPicPr>
          <p:cNvPr id="19" name="图片 18"/>
          <p:cNvPicPr>
            <a:picLocks noChangeAspect="1"/>
          </p:cNvPicPr>
          <p:nvPr/>
        </p:nvPicPr>
        <p:blipFill>
          <a:blip r:embed="rId13"/>
          <a:stretch>
            <a:fillRect/>
          </a:stretch>
        </p:blipFill>
        <p:spPr>
          <a:xfrm>
            <a:off x="6309995" y="4221480"/>
            <a:ext cx="1932940" cy="149733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a:t>
            </a:r>
            <a:r>
              <a:rPr lang="zh-CN" altLang="en-US" dirty="0"/>
              <a:t>腐蚀删除图像中的某些部分</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12</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pic>
        <p:nvPicPr>
          <p:cNvPr id="6" name="图片 5"/>
          <p:cNvPicPr>
            <a:picLocks noChangeAspect="1"/>
          </p:cNvPicPr>
          <p:nvPr/>
        </p:nvPicPr>
        <p:blipFill>
          <a:blip r:embed="rId2"/>
          <a:stretch>
            <a:fillRect/>
          </a:stretch>
        </p:blipFill>
        <p:spPr>
          <a:xfrm>
            <a:off x="3852545" y="909320"/>
            <a:ext cx="4752975" cy="4676775"/>
          </a:xfrm>
          <a:prstGeom prst="rect">
            <a:avLst/>
          </a:prstGeom>
        </p:spPr>
      </p:pic>
      <p:pic>
        <p:nvPicPr>
          <p:cNvPr id="7" name="图片 6"/>
          <p:cNvPicPr>
            <a:picLocks noChangeAspect="1"/>
          </p:cNvPicPr>
          <p:nvPr/>
        </p:nvPicPr>
        <p:blipFill>
          <a:blip r:embed="rId3"/>
          <a:stretch>
            <a:fillRect/>
          </a:stretch>
        </p:blipFill>
        <p:spPr>
          <a:xfrm>
            <a:off x="7092315" y="5589270"/>
            <a:ext cx="538480" cy="495300"/>
          </a:xfrm>
          <a:prstGeom prst="rect">
            <a:avLst/>
          </a:prstGeom>
        </p:spPr>
      </p:pic>
      <mc:AlternateContent xmlns:mc="http://schemas.openxmlformats.org/markup-compatibility/2006" xmlns:a14="http://schemas.microsoft.com/office/drawing/2010/main">
        <mc:Choice Requires="a14">
          <p:sp>
            <p:nvSpPr>
              <p:cNvPr id="17" name="文本框 16"/>
              <p:cNvSpPr txBox="1"/>
              <p:nvPr/>
            </p:nvSpPr>
            <p:spPr>
              <a:xfrm>
                <a:off x="301625" y="1340768"/>
                <a:ext cx="3458656" cy="2937856"/>
              </a:xfrm>
              <a:prstGeom prst="rect">
                <a:avLst/>
              </a:prstGeom>
              <a:noFill/>
            </p:spPr>
            <p:txBody>
              <a:bodyPr wrap="square" rtlCol="0" anchor="t">
                <a:spAutoFit/>
              </a:bodyPr>
              <a:lstStyle/>
              <a:p>
                <a:pPr algn="just">
                  <a:lnSpc>
                    <a:spcPct val="130000"/>
                  </a:lnSpc>
                </a:pPr>
                <a:r>
                  <a:rPr lang="en-US" altLang="zh-CN" dirty="0">
                    <a:solidFill>
                      <a:schemeClr val="tx1"/>
                    </a:solidFill>
                    <a:uFillTx/>
                    <a:latin typeface="Times New Roman" panose="02020603050405020304" pitchFamily="18" charset="0"/>
                    <a:ea typeface="微软雅黑" panose="020B0503020204020204" pitchFamily="34" charset="-122"/>
                  </a:rPr>
                  <a:t>(a)</a:t>
                </a:r>
                <a:r>
                  <a:rPr lang="zh-CN" altLang="en-US" dirty="0">
                    <a:solidFill>
                      <a:schemeClr val="tx1"/>
                    </a:solidFill>
                    <a:uFillTx/>
                    <a:latin typeface="Times New Roman" panose="02020603050405020304" pitchFamily="18" charset="0"/>
                    <a:ea typeface="微软雅黑" panose="020B0503020204020204" pitchFamily="34" charset="-122"/>
                  </a:rPr>
                  <a:t>大小为</a:t>
                </a:r>
                <a:r>
                  <a:rPr lang="en-US" altLang="zh-CN" dirty="0">
                    <a:solidFill>
                      <a:schemeClr val="tx1"/>
                    </a:solidFill>
                    <a:uFillTx/>
                    <a:latin typeface="Times New Roman" panose="02020603050405020304" pitchFamily="18" charset="0"/>
                    <a:ea typeface="微软雅黑" panose="020B0503020204020204" pitchFamily="34" charset="-122"/>
                  </a:rPr>
                  <a:t> </a:t>
                </a:r>
                <a14:m>
                  <m:oMath xmlns:m="http://schemas.openxmlformats.org/officeDocument/2006/math">
                    <m:r>
                      <a:rPr lang="en-US" altLang="zh-CN" i="1" dirty="0" smtClean="0">
                        <a:solidFill>
                          <a:schemeClr val="tx1"/>
                        </a:solidFill>
                        <a:uFillTx/>
                        <a:latin typeface="Cambria Math" panose="02040503050406030204" pitchFamily="18" charset="0"/>
                        <a:ea typeface="微软雅黑" panose="020B0503020204020204" pitchFamily="34" charset="-122"/>
                      </a:rPr>
                      <m:t>486</m:t>
                    </m:r>
                    <m:r>
                      <a:rPr lang="en-US" altLang="zh-CN" i="1" dirty="0" smtClean="0">
                        <a:solidFill>
                          <a:schemeClr val="tx1"/>
                        </a:solidFill>
                        <a:uFillTx/>
                        <a:latin typeface="Cambria Math" panose="02040503050406030204" pitchFamily="18" charset="0"/>
                        <a:ea typeface="Cambria Math" panose="02040503050406030204" pitchFamily="18" charset="0"/>
                      </a:rPr>
                      <m:t>×</m:t>
                    </m:r>
                    <m:r>
                      <a:rPr lang="en-US" altLang="zh-CN" i="1" dirty="0" smtClean="0">
                        <a:solidFill>
                          <a:schemeClr val="tx1"/>
                        </a:solidFill>
                        <a:uFillTx/>
                        <a:latin typeface="Cambria Math" panose="02040503050406030204" pitchFamily="18" charset="0"/>
                        <a:ea typeface="微软雅黑" panose="020B0503020204020204" pitchFamily="34" charset="-122"/>
                      </a:rPr>
                      <m:t>486</m:t>
                    </m:r>
                  </m:oMath>
                </a14:m>
                <a:r>
                  <a:rPr lang="zh-CN" altLang="en-US" dirty="0">
                    <a:solidFill>
                      <a:schemeClr val="tx1"/>
                    </a:solidFill>
                    <a:uFillTx/>
                    <a:latin typeface="Times New Roman" panose="02020603050405020304" pitchFamily="18" charset="0"/>
                    <a:ea typeface="微软雅黑" panose="020B0503020204020204" pitchFamily="34" charset="-122"/>
                  </a:rPr>
                  <a:t>的焊线模板的二值图像</a:t>
                </a:r>
                <a:r>
                  <a:rPr lang="en-US" altLang="zh-CN" dirty="0">
                    <a:solidFill>
                      <a:schemeClr val="tx1"/>
                    </a:solidFill>
                    <a:uFillTx/>
                    <a:latin typeface="Times New Roman" panose="02020603050405020304" pitchFamily="18" charset="0"/>
                    <a:ea typeface="微软雅黑" panose="020B0503020204020204" pitchFamily="34" charset="-122"/>
                  </a:rPr>
                  <a:t>,</a:t>
                </a:r>
                <a:r>
                  <a:rPr lang="zh-CN" altLang="en-US" dirty="0">
                    <a:solidFill>
                      <a:schemeClr val="tx1"/>
                    </a:solidFill>
                    <a:uFillTx/>
                    <a:latin typeface="Times New Roman" panose="02020603050405020304" pitchFamily="18" charset="0"/>
                    <a:ea typeface="微软雅黑" panose="020B0503020204020204" pitchFamily="34" charset="-122"/>
                  </a:rPr>
                  <a:t>前景像素显示为白色</a:t>
                </a:r>
                <a:endParaRPr lang="en-US" altLang="zh-CN" dirty="0">
                  <a:solidFill>
                    <a:schemeClr val="tx1"/>
                  </a:solidFill>
                  <a:uFillTx/>
                  <a:latin typeface="Times New Roman" panose="02020603050405020304" pitchFamily="18" charset="0"/>
                  <a:ea typeface="微软雅黑" panose="020B0503020204020204" pitchFamily="34" charset="-122"/>
                </a:endParaRPr>
              </a:p>
              <a:p>
                <a:pPr algn="just">
                  <a:lnSpc>
                    <a:spcPct val="130000"/>
                  </a:lnSpc>
                </a:pPr>
                <a:r>
                  <a:rPr lang="en-US" altLang="zh-CN" dirty="0">
                    <a:solidFill>
                      <a:schemeClr val="tx1"/>
                    </a:solidFill>
                    <a:uFillTx/>
                    <a:latin typeface="Times New Roman" panose="02020603050405020304" pitchFamily="18" charset="0"/>
                    <a:ea typeface="微软雅黑" panose="020B0503020204020204" pitchFamily="34" charset="-122"/>
                  </a:rPr>
                  <a:t>(b)~(d) </a:t>
                </a:r>
                <a:r>
                  <a:rPr lang="zh-CN" altLang="en-US" dirty="0">
                    <a:solidFill>
                      <a:schemeClr val="tx1"/>
                    </a:solidFill>
                    <a:uFillTx/>
                    <a:latin typeface="Times New Roman" panose="02020603050405020304" pitchFamily="18" charset="0"/>
                    <a:ea typeface="微软雅黑" panose="020B0503020204020204" pitchFamily="34" charset="-122"/>
                  </a:rPr>
                  <a:t>分别使用大小为</a:t>
                </a:r>
                <a:r>
                  <a:rPr lang="en-US" altLang="zh-CN" dirty="0">
                    <a:solidFill>
                      <a:schemeClr val="tx1"/>
                    </a:solidFill>
                    <a:uFillTx/>
                    <a:latin typeface="Times New Roman" panose="02020603050405020304" pitchFamily="18" charset="0"/>
                    <a:ea typeface="微软雅黑" panose="020B0503020204020204" pitchFamily="34" charset="-122"/>
                  </a:rPr>
                  <a:t> 11x11</a:t>
                </a:r>
                <a:r>
                  <a:rPr lang="zh-CN" altLang="en-US" dirty="0">
                    <a:solidFill>
                      <a:schemeClr val="tx1"/>
                    </a:solidFill>
                    <a:uFillTx/>
                    <a:latin typeface="Times New Roman" panose="02020603050405020304" pitchFamily="18" charset="0"/>
                    <a:ea typeface="微软雅黑" panose="020B0503020204020204" pitchFamily="34" charset="-122"/>
                  </a:rPr>
                  <a:t>、</a:t>
                </a:r>
                <a:r>
                  <a:rPr lang="en-US" altLang="zh-CN" dirty="0">
                    <a:solidFill>
                      <a:schemeClr val="tx1"/>
                    </a:solidFill>
                    <a:uFillTx/>
                    <a:latin typeface="Times New Roman" panose="02020603050405020304" pitchFamily="18" charset="0"/>
                    <a:ea typeface="微软雅黑" panose="020B0503020204020204" pitchFamily="34" charset="-122"/>
                  </a:rPr>
                  <a:t>15x15 </a:t>
                </a:r>
                <a:r>
                  <a:rPr lang="zh-CN" altLang="en-US" dirty="0">
                    <a:solidFill>
                      <a:schemeClr val="tx1"/>
                    </a:solidFill>
                    <a:uFillTx/>
                    <a:latin typeface="Times New Roman" panose="02020603050405020304" pitchFamily="18" charset="0"/>
                    <a:ea typeface="微软雅黑" panose="020B0503020204020204" pitchFamily="34" charset="-122"/>
                  </a:rPr>
                  <a:t>和</a:t>
                </a:r>
                <a:r>
                  <a:rPr lang="en-US" altLang="zh-CN" dirty="0">
                    <a:solidFill>
                      <a:schemeClr val="tx1"/>
                    </a:solidFill>
                    <a:uFillTx/>
                    <a:latin typeface="Times New Roman" panose="02020603050405020304" pitchFamily="18" charset="0"/>
                    <a:ea typeface="微软雅黑" panose="020B0503020204020204" pitchFamily="34" charset="-122"/>
                  </a:rPr>
                  <a:t> 45x45 </a:t>
                </a:r>
                <a:r>
                  <a:rPr lang="zh-CN" altLang="en-US" dirty="0">
                    <a:solidFill>
                      <a:schemeClr val="tx1"/>
                    </a:solidFill>
                    <a:uFillTx/>
                    <a:latin typeface="Times New Roman" panose="02020603050405020304" pitchFamily="18" charset="0"/>
                    <a:ea typeface="微软雅黑" panose="020B0503020204020204" pitchFamily="34" charset="-122"/>
                  </a:rPr>
                  <a:t>的结构元腐蚀图像后的结果</a:t>
                </a:r>
              </a:p>
              <a:p>
                <a:pPr algn="just">
                  <a:lnSpc>
                    <a:spcPct val="130000"/>
                  </a:lnSpc>
                </a:pPr>
                <a:endParaRPr lang="zh-CN" altLang="en-US" dirty="0">
                  <a:solidFill>
                    <a:schemeClr val="tx1"/>
                  </a:solidFill>
                  <a:uFillTx/>
                  <a:latin typeface="Times New Roman" panose="02020603050405020304" pitchFamily="18" charset="0"/>
                  <a:ea typeface="微软雅黑" panose="020B0503020204020204" pitchFamily="34" charset="-122"/>
                </a:endParaRPr>
              </a:p>
              <a:p>
                <a:pPr algn="just">
                  <a:lnSpc>
                    <a:spcPct val="130000"/>
                  </a:lnSpc>
                </a:pPr>
                <a:r>
                  <a:rPr lang="zh-CN" altLang="en-US" dirty="0">
                    <a:solidFill>
                      <a:schemeClr val="tx1"/>
                    </a:solidFill>
                    <a:uFillTx/>
                    <a:latin typeface="Times New Roman" panose="02020603050405020304" pitchFamily="18" charset="0"/>
                    <a:ea typeface="微软雅黑" panose="020B0503020204020204" pitchFamily="34" charset="-122"/>
                  </a:rPr>
                  <a:t>腐蚀效果能缩小、细化二值图像中的目标。 </a:t>
                </a:r>
              </a:p>
            </p:txBody>
          </p:sp>
        </mc:Choice>
        <mc:Fallback xmlns="">
          <p:sp>
            <p:nvSpPr>
              <p:cNvPr id="17" name="文本框 16"/>
              <p:cNvSpPr txBox="1">
                <a:spLocks noRot="1" noChangeAspect="1" noMove="1" noResize="1" noEditPoints="1" noAdjustHandles="1" noChangeArrowheads="1" noChangeShapeType="1" noTextEdit="1"/>
              </p:cNvSpPr>
              <p:nvPr/>
            </p:nvSpPr>
            <p:spPr>
              <a:xfrm>
                <a:off x="301625" y="1340768"/>
                <a:ext cx="3458656" cy="2937856"/>
              </a:xfrm>
              <a:prstGeom prst="rect">
                <a:avLst/>
              </a:prstGeom>
              <a:blipFill>
                <a:blip r:embed="rId4"/>
                <a:stretch>
                  <a:fillRect l="-1408" r="-1408" b="-2282"/>
                </a:stretch>
              </a:blipFill>
            </p:spPr>
            <p:txBody>
              <a:bodyPr/>
              <a:lstStyle/>
              <a:p>
                <a:r>
                  <a:rPr lang="zh-CN" altLang="en-US">
                    <a:noFill/>
                  </a:rPr>
                  <a:t> </a:t>
                </a:r>
              </a:p>
            </p:txBody>
          </p:sp>
        </mc:Fallback>
      </mc:AlternateContent>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a:t>
            </a:r>
            <a:r>
              <a:rPr lang="zh-CN" altLang="en-US" dirty="0"/>
              <a:t>膨胀</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13</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5" name="Rectangle 3" descr="Rectangle: Click to edit Master text styles&#10;Second level&#10;Third level&#10;Fourth level&#10;Fifth level"/>
          <p:cNvSpPr>
            <a:spLocks noGrp="1" noChangeArrowheads="1"/>
          </p:cNvSpPr>
          <p:nvPr>
            <p:ph type="body" sz="half" idx="1"/>
          </p:nvPr>
        </p:nvSpPr>
        <p:spPr>
          <a:xfrm>
            <a:off x="683895" y="836930"/>
            <a:ext cx="7685405" cy="5324475"/>
          </a:xfrm>
        </p:spPr>
        <p:txBody>
          <a:bodyPr/>
          <a:lstStyle/>
          <a:p>
            <a:pPr marL="0" algn="just" latinLnBrk="0">
              <a:lnSpc>
                <a:spcPct val="110000"/>
              </a:lnSpc>
              <a:spcBef>
                <a:spcPts val="0"/>
              </a:spcBef>
              <a:buFont typeface="Wingdings" panose="05000000000000000000" pitchFamily="2" charset="2"/>
              <a:buNone/>
            </a:pPr>
            <a:r>
              <a:rPr lang="zh-CN" altLang="en-US" sz="1800" dirty="0">
                <a:uFillTx/>
                <a:ea typeface="微软雅黑" panose="020B0503020204020204" pitchFamily="34" charset="-122"/>
              </a:rPr>
              <a:t> 集合A和B都在Z</a:t>
            </a:r>
            <a:r>
              <a:rPr lang="zh-CN" altLang="en-US" sz="1800" baseline="30000" dirty="0">
                <a:uFillTx/>
                <a:ea typeface="微软雅黑" panose="020B0503020204020204" pitchFamily="34" charset="-122"/>
              </a:rPr>
              <a:t>2</a:t>
            </a:r>
            <a:r>
              <a:rPr lang="zh-CN" altLang="en-US" sz="1800" dirty="0">
                <a:uFillTx/>
                <a:ea typeface="微软雅黑" panose="020B0503020204020204" pitchFamily="34" charset="-122"/>
              </a:rPr>
              <a:t>中，B对A的膨胀表示为             ，定义为:</a:t>
            </a:r>
          </a:p>
          <a:p>
            <a:pPr marL="0" algn="just" latinLnBrk="0">
              <a:lnSpc>
                <a:spcPct val="110000"/>
              </a:lnSpc>
              <a:spcBef>
                <a:spcPts val="0"/>
              </a:spcBef>
              <a:buFont typeface="Wingdings" panose="05000000000000000000" pitchFamily="2" charset="2"/>
              <a:buNone/>
            </a:pPr>
            <a:endParaRPr lang="zh-CN" altLang="en-US"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zh-CN" altLang="en-US"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zh-CN" altLang="en-US" sz="1800" dirty="0">
              <a:uFillTx/>
              <a:ea typeface="微软雅黑" panose="020B0503020204020204" pitchFamily="34" charset="-122"/>
            </a:endParaRPr>
          </a:p>
          <a:p>
            <a:pPr marL="0" algn="just" latinLnBrk="0">
              <a:lnSpc>
                <a:spcPct val="150000"/>
              </a:lnSpc>
              <a:spcBef>
                <a:spcPts val="0"/>
              </a:spcBef>
              <a:buFont typeface="Wingdings" panose="05000000000000000000" pitchFamily="2" charset="2"/>
              <a:buNone/>
            </a:pPr>
            <a:r>
              <a:rPr lang="zh-CN" altLang="en-US" sz="1800" dirty="0">
                <a:ea typeface="微软雅黑" panose="020B0503020204020204" pitchFamily="34" charset="-122"/>
              </a:rPr>
              <a:t>   先对B反射，然后以z对其进行平移，并确保平移后</a:t>
            </a:r>
            <a:r>
              <a:rPr lang="zh-CN" altLang="en-US" sz="1800" dirty="0">
                <a:uFillTx/>
                <a:ea typeface="微软雅黑" panose="020B0503020204020204" pitchFamily="34" charset="-122"/>
              </a:rPr>
              <a:t>和</a:t>
            </a:r>
            <a:r>
              <a:rPr lang="zh-CN" altLang="en-US" sz="1800" i="1" dirty="0">
                <a:uFillTx/>
                <a:ea typeface="微软雅黑" panose="020B0503020204020204" pitchFamily="34" charset="-122"/>
              </a:rPr>
              <a:t>A</a:t>
            </a:r>
            <a:r>
              <a:rPr lang="zh-CN" altLang="en-US" sz="1800" dirty="0">
                <a:uFillTx/>
                <a:ea typeface="微软雅黑" panose="020B0503020204020204" pitchFamily="34" charset="-122"/>
              </a:rPr>
              <a:t>至少是有一个元素是重叠的，即交集非空</a:t>
            </a:r>
            <a:r>
              <a:rPr lang="zh-CN" altLang="en-US" sz="1800" dirty="0">
                <a:ea typeface="微软雅黑" panose="020B0503020204020204" pitchFamily="34" charset="-122"/>
              </a:rPr>
              <a:t>。</a:t>
            </a:r>
            <a:endParaRPr lang="zh-CN" altLang="en-US"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zh-CN" altLang="en-US"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r>
              <a:rPr lang="zh-CN" altLang="en-US" sz="1800" dirty="0">
                <a:uFillTx/>
                <a:ea typeface="微软雅黑" panose="020B0503020204020204" pitchFamily="34" charset="-122"/>
              </a:rPr>
              <a:t>    腐蚀是一种细化或收缩操作，而膨胀则会“增长”或“粗化”二值图像中的物体，如下图所示：</a:t>
            </a:r>
          </a:p>
          <a:p>
            <a:pPr marL="0" algn="just" latinLnBrk="0">
              <a:lnSpc>
                <a:spcPct val="110000"/>
              </a:lnSpc>
              <a:spcBef>
                <a:spcPts val="0"/>
              </a:spcBef>
              <a:buFont typeface="Wingdings" panose="05000000000000000000" pitchFamily="2" charset="2"/>
              <a:buNone/>
            </a:pPr>
            <a:endParaRPr lang="zh-CN" altLang="en-US"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zh-CN" altLang="en-US"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zh-CN" altLang="en-US" sz="1800" dirty="0">
              <a:uFillTx/>
              <a:ea typeface="微软雅黑" panose="020B0503020204020204" pitchFamily="34" charset="-122"/>
            </a:endParaRPr>
          </a:p>
          <a:p>
            <a:pPr marL="0" algn="just" latinLnBrk="0">
              <a:lnSpc>
                <a:spcPct val="110000"/>
              </a:lnSpc>
              <a:spcBef>
                <a:spcPts val="0"/>
              </a:spcBef>
              <a:buFont typeface="Wingdings" panose="05000000000000000000" pitchFamily="2" charset="2"/>
              <a:buNone/>
            </a:pPr>
            <a:endParaRPr lang="zh-CN" altLang="en-US" sz="1800" dirty="0">
              <a:uFillTx/>
              <a:ea typeface="微软雅黑" panose="020B0503020204020204" pitchFamily="34" charset="-122"/>
            </a:endParaRPr>
          </a:p>
          <a:p>
            <a:pPr marL="0" algn="just" latinLnBrk="0">
              <a:lnSpc>
                <a:spcPct val="160000"/>
              </a:lnSpc>
              <a:spcBef>
                <a:spcPts val="0"/>
              </a:spcBef>
              <a:buFont typeface="Wingdings" panose="05000000000000000000" pitchFamily="2" charset="2"/>
              <a:buNone/>
            </a:pPr>
            <a:endParaRPr lang="zh-CN" altLang="en-US" sz="1800" dirty="0">
              <a:uFillTx/>
              <a:ea typeface="微软雅黑" panose="020B0503020204020204" pitchFamily="34" charset="-122"/>
            </a:endParaRPr>
          </a:p>
        </p:txBody>
      </p:sp>
      <p:graphicFrame>
        <p:nvGraphicFramePr>
          <p:cNvPr id="8" name="对象 7"/>
          <p:cNvGraphicFramePr/>
          <p:nvPr/>
        </p:nvGraphicFramePr>
        <p:xfrm>
          <a:off x="3493453" y="1422083"/>
          <a:ext cx="2139950" cy="510540"/>
        </p:xfrm>
        <a:graphic>
          <a:graphicData uri="http://schemas.openxmlformats.org/presentationml/2006/ole">
            <mc:AlternateContent xmlns:mc="http://schemas.openxmlformats.org/markup-compatibility/2006">
              <mc:Choice xmlns:v="urn:schemas-microsoft-com:vml" Requires="v">
                <p:oleObj spid="_x0000_s7408" r:id="rId3" imgW="1625600" imgH="355600" progId="Equation.DSMT4">
                  <p:embed/>
                </p:oleObj>
              </mc:Choice>
              <mc:Fallback>
                <p:oleObj r:id="rId3" imgW="1625600" imgH="355600" progId="Equation.DSMT4">
                  <p:embed/>
                  <p:pic>
                    <p:nvPicPr>
                      <p:cNvPr id="0" name="图片 8"/>
                      <p:cNvPicPr/>
                      <p:nvPr/>
                    </p:nvPicPr>
                    <p:blipFill>
                      <a:blip r:embed="rId4"/>
                      <a:stretch>
                        <a:fillRect/>
                      </a:stretch>
                    </p:blipFill>
                    <p:spPr>
                      <a:xfrm>
                        <a:off x="3493453" y="1422083"/>
                        <a:ext cx="2139950" cy="510540"/>
                      </a:xfrm>
                      <a:prstGeom prst="rect">
                        <a:avLst/>
                      </a:prstGeom>
                    </p:spPr>
                  </p:pic>
                </p:oleObj>
              </mc:Fallback>
            </mc:AlternateContent>
          </a:graphicData>
        </a:graphic>
      </p:graphicFrame>
      <p:graphicFrame>
        <p:nvGraphicFramePr>
          <p:cNvPr id="10" name="对象 9"/>
          <p:cNvGraphicFramePr/>
          <p:nvPr/>
        </p:nvGraphicFramePr>
        <p:xfrm>
          <a:off x="4914900" y="912495"/>
          <a:ext cx="575310" cy="278130"/>
        </p:xfrm>
        <a:graphic>
          <a:graphicData uri="http://schemas.openxmlformats.org/presentationml/2006/ole">
            <mc:AlternateContent xmlns:mc="http://schemas.openxmlformats.org/markup-compatibility/2006">
              <mc:Choice xmlns:v="urn:schemas-microsoft-com:vml" Requires="v">
                <p:oleObj spid="_x0000_s7409" r:id="rId5" imgW="419100" imgH="177165" progId="Equation.DSMT4">
                  <p:embed/>
                </p:oleObj>
              </mc:Choice>
              <mc:Fallback>
                <p:oleObj r:id="rId5" imgW="419100" imgH="177165" progId="Equation.DSMT4">
                  <p:embed/>
                  <p:pic>
                    <p:nvPicPr>
                      <p:cNvPr id="0" name="图片 10"/>
                      <p:cNvPicPr/>
                      <p:nvPr/>
                    </p:nvPicPr>
                    <p:blipFill>
                      <a:blip r:embed="rId6"/>
                      <a:stretch>
                        <a:fillRect/>
                      </a:stretch>
                    </p:blipFill>
                    <p:spPr>
                      <a:xfrm>
                        <a:off x="4914900" y="912495"/>
                        <a:ext cx="575310" cy="278130"/>
                      </a:xfrm>
                      <a:prstGeom prst="rect">
                        <a:avLst/>
                      </a:prstGeom>
                    </p:spPr>
                  </p:pic>
                </p:oleObj>
              </mc:Fallback>
            </mc:AlternateContent>
          </a:graphicData>
        </a:graphic>
      </p:graphicFrame>
      <p:pic>
        <p:nvPicPr>
          <p:cNvPr id="2" name="图片 1"/>
          <p:cNvPicPr>
            <a:picLocks noChangeAspect="1"/>
          </p:cNvPicPr>
          <p:nvPr/>
        </p:nvPicPr>
        <p:blipFill>
          <a:blip r:embed="rId7"/>
          <a:stretch>
            <a:fillRect/>
          </a:stretch>
        </p:blipFill>
        <p:spPr>
          <a:xfrm>
            <a:off x="1331640" y="3978275"/>
            <a:ext cx="3761740" cy="1894205"/>
          </a:xfrm>
          <a:prstGeom prst="rect">
            <a:avLst/>
          </a:prstGeom>
        </p:spPr>
      </p:pic>
      <p:pic>
        <p:nvPicPr>
          <p:cNvPr id="6" name="图片 5"/>
          <p:cNvPicPr>
            <a:picLocks noChangeAspect="1"/>
          </p:cNvPicPr>
          <p:nvPr/>
        </p:nvPicPr>
        <p:blipFill>
          <a:blip r:embed="rId8"/>
          <a:stretch>
            <a:fillRect/>
          </a:stretch>
        </p:blipFill>
        <p:spPr>
          <a:xfrm>
            <a:off x="5292135" y="4209415"/>
            <a:ext cx="655320" cy="1431290"/>
          </a:xfrm>
          <a:prstGeom prst="rect">
            <a:avLst/>
          </a:prstGeom>
        </p:spPr>
      </p:pic>
      <p:pic>
        <p:nvPicPr>
          <p:cNvPr id="7" name="图片 6"/>
          <p:cNvPicPr>
            <a:picLocks noChangeAspect="1"/>
          </p:cNvPicPr>
          <p:nvPr/>
        </p:nvPicPr>
        <p:blipFill>
          <a:blip r:embed="rId9"/>
          <a:stretch>
            <a:fillRect/>
          </a:stretch>
        </p:blipFill>
        <p:spPr>
          <a:xfrm>
            <a:off x="6299880" y="3984625"/>
            <a:ext cx="1655445" cy="188785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a:t>
            </a:r>
            <a:r>
              <a:rPr lang="zh-CN" altLang="en-US" dirty="0"/>
              <a:t>使用膨胀修复图像中的断裂字符</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14</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pic>
        <p:nvPicPr>
          <p:cNvPr id="16" name="图片 15"/>
          <p:cNvPicPr>
            <a:picLocks noChangeAspect="1"/>
          </p:cNvPicPr>
          <p:nvPr/>
        </p:nvPicPr>
        <p:blipFill>
          <a:blip r:embed="rId2"/>
          <a:stretch>
            <a:fillRect/>
          </a:stretch>
        </p:blipFill>
        <p:spPr>
          <a:xfrm>
            <a:off x="612140" y="836930"/>
            <a:ext cx="3231496" cy="3240000"/>
          </a:xfrm>
          <a:prstGeom prst="rect">
            <a:avLst/>
          </a:prstGeom>
        </p:spPr>
      </p:pic>
      <p:pic>
        <p:nvPicPr>
          <p:cNvPr id="17" name="图片 16"/>
          <p:cNvPicPr>
            <a:picLocks noChangeAspect="1"/>
          </p:cNvPicPr>
          <p:nvPr/>
        </p:nvPicPr>
        <p:blipFill>
          <a:blip r:embed="rId3"/>
          <a:stretch>
            <a:fillRect/>
          </a:stretch>
        </p:blipFill>
        <p:spPr>
          <a:xfrm>
            <a:off x="5109845" y="836930"/>
            <a:ext cx="3159916" cy="3240000"/>
          </a:xfrm>
          <a:prstGeom prst="rect">
            <a:avLst/>
          </a:prstGeom>
        </p:spPr>
      </p:pic>
      <p:pic>
        <p:nvPicPr>
          <p:cNvPr id="18" name="图片 17"/>
          <p:cNvPicPr>
            <a:picLocks noChangeAspect="1"/>
          </p:cNvPicPr>
          <p:nvPr/>
        </p:nvPicPr>
        <p:blipFill>
          <a:blip r:embed="rId4"/>
          <a:stretch>
            <a:fillRect/>
          </a:stretch>
        </p:blipFill>
        <p:spPr>
          <a:xfrm>
            <a:off x="3996055" y="3573145"/>
            <a:ext cx="1104900" cy="1133475"/>
          </a:xfrm>
          <a:prstGeom prst="rect">
            <a:avLst/>
          </a:prstGeom>
        </p:spPr>
      </p:pic>
      <p:sp>
        <p:nvSpPr>
          <p:cNvPr id="19" name="文本框 18"/>
          <p:cNvSpPr txBox="1"/>
          <p:nvPr/>
        </p:nvSpPr>
        <p:spPr>
          <a:xfrm>
            <a:off x="612140" y="4725670"/>
            <a:ext cx="7861300" cy="1252855"/>
          </a:xfrm>
          <a:prstGeom prst="rect">
            <a:avLst/>
          </a:prstGeom>
          <a:noFill/>
        </p:spPr>
        <p:txBody>
          <a:bodyPr wrap="square" rtlCol="0" anchor="t">
            <a:spAutoFit/>
          </a:bodyPr>
          <a:lstStyle/>
          <a:p>
            <a:pPr algn="just">
              <a:lnSpc>
                <a:spcPct val="140000"/>
              </a:lnSpc>
              <a:buClrTx/>
              <a:buSzTx/>
              <a:buNone/>
            </a:pPr>
            <a:r>
              <a:rPr lang="en-US" altLang="zh-CN" sz="1800" dirty="0">
                <a:uFillTx/>
                <a:latin typeface="Times New Roman" panose="02020603050405020304" pitchFamily="18" charset="0"/>
                <a:ea typeface="微软雅黑" panose="020B0503020204020204" pitchFamily="34" charset="-122"/>
              </a:rPr>
              <a:t>(a) </a:t>
            </a:r>
            <a:r>
              <a:rPr lang="en-US" altLang="zh-CN" sz="1800" dirty="0" err="1">
                <a:uFillTx/>
                <a:latin typeface="Times New Roman" panose="02020603050405020304" pitchFamily="18" charset="0"/>
                <a:ea typeface="微软雅黑" panose="020B0503020204020204" pitchFamily="34" charset="-122"/>
              </a:rPr>
              <a:t>带有断裂字符的低分辨率文本</a:t>
            </a:r>
            <a:r>
              <a:rPr lang="en-US" altLang="zh-CN" sz="1800" dirty="0">
                <a:uFillTx/>
                <a:latin typeface="Times New Roman" panose="02020603050405020304" pitchFamily="18" charset="0"/>
                <a:ea typeface="微软雅黑" panose="020B0503020204020204" pitchFamily="34" charset="-122"/>
              </a:rPr>
              <a:t>(</a:t>
            </a:r>
            <a:r>
              <a:rPr lang="en-US" altLang="zh-CN" sz="1800" dirty="0" err="1">
                <a:uFillTx/>
                <a:latin typeface="Times New Roman" panose="02020603050405020304" pitchFamily="18" charset="0"/>
                <a:ea typeface="微软雅黑" panose="020B0503020204020204" pitchFamily="34" charset="-122"/>
              </a:rPr>
              <a:t>见放大后的视图</a:t>
            </a:r>
            <a:r>
              <a:rPr lang="en-US" altLang="zh-CN" sz="1800" dirty="0">
                <a:uFillTx/>
                <a:latin typeface="Times New Roman" panose="02020603050405020304" pitchFamily="18" charset="0"/>
                <a:ea typeface="微软雅黑" panose="020B0503020204020204" pitchFamily="34" charset="-122"/>
              </a:rPr>
              <a:t>);</a:t>
            </a:r>
          </a:p>
          <a:p>
            <a:pPr algn="just">
              <a:lnSpc>
                <a:spcPct val="140000"/>
              </a:lnSpc>
              <a:buClrTx/>
              <a:buSzTx/>
              <a:buNone/>
            </a:pPr>
            <a:r>
              <a:rPr lang="en-US" altLang="zh-CN" sz="1800" dirty="0">
                <a:uFillTx/>
                <a:latin typeface="Times New Roman" panose="02020603050405020304" pitchFamily="18" charset="0"/>
                <a:ea typeface="微软雅黑" panose="020B0503020204020204" pitchFamily="34" charset="-122"/>
              </a:rPr>
              <a:t>(b) </a:t>
            </a:r>
            <a:r>
              <a:rPr lang="en-US" altLang="zh-CN" sz="1800" dirty="0" err="1">
                <a:uFillTx/>
                <a:latin typeface="Times New Roman" panose="02020603050405020304" pitchFamily="18" charset="0"/>
                <a:ea typeface="微软雅黑" panose="020B0503020204020204" pitchFamily="34" charset="-122"/>
              </a:rPr>
              <a:t>结构元</a:t>
            </a:r>
            <a:r>
              <a:rPr lang="en-US" altLang="zh-CN" sz="1800" dirty="0">
                <a:uFillTx/>
                <a:latin typeface="Times New Roman" panose="02020603050405020304" pitchFamily="18" charset="0"/>
                <a:ea typeface="微软雅黑" panose="020B0503020204020204" pitchFamily="34" charset="-122"/>
              </a:rPr>
              <a:t>;</a:t>
            </a:r>
          </a:p>
          <a:p>
            <a:pPr algn="just">
              <a:lnSpc>
                <a:spcPct val="140000"/>
              </a:lnSpc>
              <a:buClrTx/>
              <a:buSzTx/>
              <a:buNone/>
            </a:pPr>
            <a:r>
              <a:rPr lang="en-US" altLang="zh-CN" sz="1800" dirty="0">
                <a:uFillTx/>
                <a:latin typeface="Times New Roman" panose="02020603050405020304" pitchFamily="18" charset="0"/>
                <a:ea typeface="微软雅黑" panose="020B0503020204020204" pitchFamily="34" charset="-122"/>
              </a:rPr>
              <a:t>(c) (b)对(a)</a:t>
            </a:r>
            <a:r>
              <a:rPr lang="en-US" altLang="zh-CN" sz="1800" dirty="0" err="1">
                <a:uFillTx/>
                <a:latin typeface="Times New Roman" panose="02020603050405020304" pitchFamily="18" charset="0"/>
                <a:ea typeface="微软雅黑" panose="020B0503020204020204" pitchFamily="34" charset="-122"/>
              </a:rPr>
              <a:t>的膨胀。断裂已连上</a:t>
            </a:r>
            <a:endParaRPr lang="en-US" altLang="zh-CN" sz="1800" dirty="0">
              <a:uFillTx/>
              <a:latin typeface="Times New Roman" panose="02020603050405020304" pitchFamily="18" charset="0"/>
              <a:ea typeface="微软雅黑" panose="020B0503020204020204" pitchFamily="34" charset="-122"/>
            </a:endParaRPr>
          </a:p>
        </p:txBody>
      </p:sp>
      <p:pic>
        <p:nvPicPr>
          <p:cNvPr id="20" name="图片 19"/>
          <p:cNvPicPr>
            <a:picLocks noChangeAspect="1"/>
          </p:cNvPicPr>
          <p:nvPr/>
        </p:nvPicPr>
        <p:blipFill>
          <a:blip r:embed="rId5"/>
          <a:stretch>
            <a:fillRect/>
          </a:stretch>
        </p:blipFill>
        <p:spPr>
          <a:xfrm>
            <a:off x="4267250" y="1367577"/>
            <a:ext cx="542925" cy="386080"/>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a:t>
            </a:r>
            <a:r>
              <a:rPr lang="zh-CN" altLang="en-US" dirty="0"/>
              <a:t>对偶性</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15</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90114" name="Rectangle 2" descr="Rectangle: Click to edit Master text styles&#10;Second level&#10;Third level&#10;Fourth level&#10;Fifth level"/>
          <p:cNvSpPr>
            <a:spLocks noChangeArrowheads="1"/>
          </p:cNvSpPr>
          <p:nvPr/>
        </p:nvSpPr>
        <p:spPr bwMode="auto">
          <a:xfrm>
            <a:off x="539552" y="885329"/>
            <a:ext cx="6624637"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10000"/>
              <a:buFont typeface="Wingdings" panose="05000000000000000000" pitchFamily="2" charset="2"/>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1"/>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95000"/>
              <a:buFont typeface="Wingdings" panose="05000000000000000000" pitchFamily="2" charset="2"/>
              <a:buChar char="w"/>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a:lnSpc>
                <a:spcPct val="90000"/>
              </a:lnSpc>
              <a:buFont typeface="Wingdings" panose="05000000000000000000" pitchFamily="2" charset="2"/>
              <a:buNone/>
            </a:pPr>
            <a:r>
              <a:rPr kumimoji="0" lang="zh-CN" altLang="en-US" sz="2000" kern="0" baseline="0" dirty="0">
                <a:uFillTx/>
                <a:latin typeface="Times New Roman" panose="02020603050405020304" pitchFamily="18" charset="0"/>
                <a:ea typeface="微软雅黑" panose="020B0503020204020204" pitchFamily="34" charset="-122"/>
              </a:rPr>
              <a:t>膨胀与腐蚀的关系：对偶性</a:t>
            </a:r>
          </a:p>
        </p:txBody>
      </p:sp>
      <p:sp>
        <p:nvSpPr>
          <p:cNvPr id="90115" name="Rectangle 3" descr="Rectangle: Click to edit Master text styles&#10;Second level&#10;Third level&#10;Fourth level&#10;Fifth level"/>
          <p:cNvSpPr>
            <a:spLocks noChangeArrowheads="1"/>
          </p:cNvSpPr>
          <p:nvPr/>
        </p:nvSpPr>
        <p:spPr bwMode="auto">
          <a:xfrm>
            <a:off x="755650" y="2133600"/>
            <a:ext cx="662463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10000"/>
              <a:buFont typeface="Wingdings" panose="05000000000000000000" pitchFamily="2" charset="2"/>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1"/>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95000"/>
              <a:buFont typeface="Wingdings" panose="05000000000000000000" pitchFamily="2" charset="2"/>
              <a:buChar char="w"/>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a:lnSpc>
                <a:spcPct val="90000"/>
              </a:lnSpc>
              <a:buFont typeface="Wingdings" panose="05000000000000000000" pitchFamily="2" charset="2"/>
              <a:buNone/>
            </a:pPr>
            <a:r>
              <a:rPr kumimoji="0" lang="zh-CN" altLang="en-US" sz="1800" b="1" kern="0" baseline="0" dirty="0">
                <a:uFillTx/>
                <a:latin typeface="Times New Roman" panose="02020603050405020304" pitchFamily="18" charset="0"/>
                <a:ea typeface="微软雅黑" panose="020B0503020204020204" pitchFamily="34" charset="-122"/>
              </a:rPr>
              <a:t>证明:</a:t>
            </a:r>
          </a:p>
        </p:txBody>
      </p:sp>
      <p:sp>
        <p:nvSpPr>
          <p:cNvPr id="90121" name="Rectangle 9" descr="Rectangle: Click to edit Master text styles&#10;Second level&#10;Third level&#10;Fourth level&#10;Fifth level"/>
          <p:cNvSpPr>
            <a:spLocks noChangeArrowheads="1"/>
          </p:cNvSpPr>
          <p:nvPr/>
        </p:nvSpPr>
        <p:spPr bwMode="auto">
          <a:xfrm>
            <a:off x="827088" y="3052763"/>
            <a:ext cx="6624637"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10000"/>
              <a:buFont typeface="Wingdings" panose="05000000000000000000" pitchFamily="2" charset="2"/>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1"/>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95000"/>
              <a:buFont typeface="Wingdings" panose="05000000000000000000" pitchFamily="2" charset="2"/>
              <a:buChar char="w"/>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a:lnSpc>
                <a:spcPct val="90000"/>
              </a:lnSpc>
              <a:buFont typeface="Wingdings" panose="05000000000000000000" pitchFamily="2" charset="2"/>
              <a:buNone/>
            </a:pPr>
            <a:r>
              <a:rPr kumimoji="0" lang="zh-CN" altLang="en-US" sz="1800" kern="0" baseline="0" dirty="0">
                <a:uFillTx/>
                <a:latin typeface="Times New Roman" panose="02020603050405020304" pitchFamily="18" charset="0"/>
                <a:ea typeface="微软雅黑" panose="020B0503020204020204" pitchFamily="34" charset="-122"/>
              </a:rPr>
              <a:t>如果集合 </a:t>
            </a:r>
            <a:r>
              <a:rPr kumimoji="0" lang="en-US" altLang="zh-CN" sz="1800" kern="0" baseline="0" dirty="0">
                <a:uFillTx/>
                <a:latin typeface="Times New Roman" panose="02020603050405020304" pitchFamily="18" charset="0"/>
                <a:ea typeface="微软雅黑" panose="020B0503020204020204" pitchFamily="34" charset="-122"/>
              </a:rPr>
              <a:t>     </a:t>
            </a:r>
            <a:r>
              <a:rPr kumimoji="0" lang="zh-CN" altLang="en-US" sz="1800" kern="0" baseline="0" dirty="0">
                <a:uFillTx/>
                <a:latin typeface="Times New Roman" panose="02020603050405020304" pitchFamily="18" charset="0"/>
                <a:ea typeface="微软雅黑" panose="020B0503020204020204" pitchFamily="34" charset="-122"/>
              </a:rPr>
              <a:t>       包含于</a:t>
            </a:r>
            <a:r>
              <a:rPr kumimoji="0" lang="zh-CN" altLang="en-US" sz="1800" i="1" kern="0" baseline="0" dirty="0">
                <a:uFillTx/>
                <a:latin typeface="Times New Roman" panose="02020603050405020304" pitchFamily="18" charset="0"/>
                <a:ea typeface="微软雅黑" panose="020B0503020204020204" pitchFamily="34" charset="-122"/>
              </a:rPr>
              <a:t>A</a:t>
            </a:r>
            <a:r>
              <a:rPr kumimoji="0" lang="zh-CN" altLang="en-US" sz="1800" kern="0" baseline="0" dirty="0">
                <a:uFillTx/>
                <a:latin typeface="Times New Roman" panose="02020603050405020304" pitchFamily="18" charset="0"/>
                <a:ea typeface="微软雅黑" panose="020B0503020204020204" pitchFamily="34" charset="-122"/>
              </a:rPr>
              <a:t>, 则等价于</a:t>
            </a:r>
          </a:p>
        </p:txBody>
      </p:sp>
      <p:sp>
        <p:nvSpPr>
          <p:cNvPr id="90128" name="Rectangle 16" descr="Rectangle: Click to edit Master text styles&#10;Second level&#10;Third level&#10;Fourth level&#10;Fifth level"/>
          <p:cNvSpPr>
            <a:spLocks noChangeArrowheads="1"/>
          </p:cNvSpPr>
          <p:nvPr/>
        </p:nvSpPr>
        <p:spPr bwMode="auto">
          <a:xfrm>
            <a:off x="755650" y="3556000"/>
            <a:ext cx="12954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10000"/>
              <a:buFont typeface="Wingdings" panose="05000000000000000000" pitchFamily="2" charset="2"/>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1"/>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95000"/>
              <a:buFont typeface="Wingdings" panose="05000000000000000000" pitchFamily="2" charset="2"/>
              <a:buChar char="w"/>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a:lnSpc>
                <a:spcPct val="90000"/>
              </a:lnSpc>
              <a:buFont typeface="Wingdings" panose="05000000000000000000" pitchFamily="2" charset="2"/>
              <a:buNone/>
            </a:pPr>
            <a:r>
              <a:rPr kumimoji="0" lang="zh-CN" altLang="en-US" sz="1800" kern="0" baseline="0" dirty="0">
                <a:uFillTx/>
                <a:latin typeface="Times New Roman" panose="02020603050405020304" pitchFamily="18" charset="0"/>
                <a:ea typeface="微软雅黑" panose="020B0503020204020204" pitchFamily="34" charset="-122"/>
              </a:rPr>
              <a:t>于是:</a:t>
            </a:r>
          </a:p>
        </p:txBody>
      </p:sp>
      <p:sp>
        <p:nvSpPr>
          <p:cNvPr id="90132" name="Rectangle 20" descr="Rectangle: Click to edit Master text styles&#10;Second level&#10;Third level&#10;Fourth level&#10;Fifth level"/>
          <p:cNvSpPr>
            <a:spLocks noChangeArrowheads="1"/>
          </p:cNvSpPr>
          <p:nvPr/>
        </p:nvSpPr>
        <p:spPr bwMode="auto">
          <a:xfrm>
            <a:off x="755650" y="4132263"/>
            <a:ext cx="165611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10000"/>
              <a:buFont typeface="Wingdings" panose="05000000000000000000" pitchFamily="2" charset="2"/>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1"/>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95000"/>
              <a:buFont typeface="Wingdings" panose="05000000000000000000" pitchFamily="2" charset="2"/>
              <a:buChar char="w"/>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a:lnSpc>
                <a:spcPct val="90000"/>
              </a:lnSpc>
              <a:buFont typeface="Wingdings" panose="05000000000000000000" pitchFamily="2" charset="2"/>
              <a:buNone/>
            </a:pPr>
            <a:r>
              <a:rPr kumimoji="0" lang="zh-CN" altLang="en-US" sz="1800" kern="0" baseline="0" dirty="0">
                <a:uFillTx/>
                <a:latin typeface="Times New Roman" panose="02020603050405020304" pitchFamily="18" charset="0"/>
                <a:ea typeface="微软雅黑" panose="020B0503020204020204" pitchFamily="34" charset="-122"/>
              </a:rPr>
              <a:t>根据膨胀定义:</a:t>
            </a:r>
          </a:p>
        </p:txBody>
      </p:sp>
      <p:sp>
        <p:nvSpPr>
          <p:cNvPr id="90142" name="Rectangle 30" descr="Rectangle: Click to edit Master text styles&#10;Second level&#10;Third level&#10;Fourth level&#10;Fifth level"/>
          <p:cNvSpPr>
            <a:spLocks noChangeArrowheads="1"/>
          </p:cNvSpPr>
          <p:nvPr/>
        </p:nvSpPr>
        <p:spPr bwMode="auto">
          <a:xfrm>
            <a:off x="755650" y="4637088"/>
            <a:ext cx="20161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10000"/>
              <a:buFont typeface="Wingdings" panose="05000000000000000000" pitchFamily="2" charset="2"/>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1"/>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95000"/>
              <a:buFont typeface="Wingdings" panose="05000000000000000000" pitchFamily="2" charset="2"/>
              <a:buChar char="w"/>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a:lnSpc>
                <a:spcPct val="90000"/>
              </a:lnSpc>
              <a:buFont typeface="Wingdings" panose="05000000000000000000" pitchFamily="2" charset="2"/>
              <a:buNone/>
            </a:pPr>
            <a:r>
              <a:rPr kumimoji="0" lang="zh-CN" altLang="en-US" sz="1800" kern="0" baseline="0" dirty="0">
                <a:uFillTx/>
                <a:latin typeface="Times New Roman" panose="02020603050405020304" pitchFamily="18" charset="0"/>
                <a:ea typeface="微软雅黑" panose="020B0503020204020204" pitchFamily="34" charset="-122"/>
              </a:rPr>
              <a:t>类似可定义:</a:t>
            </a:r>
          </a:p>
        </p:txBody>
      </p:sp>
      <p:sp>
        <p:nvSpPr>
          <p:cNvPr id="90146" name="Rectangle 34" descr="Rectangle: Click to edit Master text styles&#10;Second level&#10;Third level&#10;Fourth level&#10;Fifth level"/>
          <p:cNvSpPr>
            <a:spLocks noChangeArrowheads="1"/>
          </p:cNvSpPr>
          <p:nvPr/>
        </p:nvSpPr>
        <p:spPr bwMode="auto">
          <a:xfrm>
            <a:off x="755650" y="5284788"/>
            <a:ext cx="12954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10000"/>
              <a:buFont typeface="Wingdings" panose="05000000000000000000" pitchFamily="2" charset="2"/>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1"/>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95000"/>
              <a:buFont typeface="Wingdings" panose="05000000000000000000" pitchFamily="2" charset="2"/>
              <a:buChar char="w"/>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a:lnSpc>
                <a:spcPct val="90000"/>
              </a:lnSpc>
              <a:buFont typeface="Wingdings" panose="05000000000000000000" pitchFamily="2" charset="2"/>
              <a:buNone/>
            </a:pPr>
            <a:r>
              <a:rPr kumimoji="0" lang="zh-CN" altLang="en-US" sz="1800" kern="0" baseline="0" dirty="0">
                <a:uFillTx/>
                <a:latin typeface="Times New Roman" panose="02020603050405020304" pitchFamily="18" charset="0"/>
                <a:ea typeface="微软雅黑" panose="020B0503020204020204" pitchFamily="34" charset="-122"/>
              </a:rPr>
              <a:t>故</a:t>
            </a:r>
          </a:p>
        </p:txBody>
      </p:sp>
      <p:sp>
        <p:nvSpPr>
          <p:cNvPr id="20" name="Rectangle 30" descr="Rectangle: Click to edit Master text styles&#10;Second level&#10;Third level&#10;Fourth level&#10;Fifth level"/>
          <p:cNvSpPr>
            <a:spLocks noChangeArrowheads="1"/>
          </p:cNvSpPr>
          <p:nvPr/>
        </p:nvSpPr>
        <p:spPr bwMode="auto">
          <a:xfrm>
            <a:off x="1835745" y="5838252"/>
            <a:ext cx="2016125" cy="28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10000"/>
              <a:buFont typeface="Wingdings" panose="05000000000000000000" pitchFamily="2" charset="2"/>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1"/>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95000"/>
              <a:buFont typeface="Wingdings" panose="05000000000000000000" pitchFamily="2" charset="2"/>
              <a:buChar char="w"/>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a:lnSpc>
                <a:spcPct val="90000"/>
              </a:lnSpc>
              <a:buFont typeface="Wingdings" panose="05000000000000000000" pitchFamily="2" charset="2"/>
              <a:buNone/>
            </a:pPr>
            <a:r>
              <a:rPr kumimoji="0" lang="zh-CN" altLang="en-US" sz="1800" kern="0" baseline="0" dirty="0">
                <a:uFillTx/>
                <a:latin typeface="Times New Roman" panose="02020603050405020304" pitchFamily="18" charset="0"/>
                <a:ea typeface="微软雅黑" panose="020B0503020204020204" pitchFamily="34" charset="-122"/>
              </a:rPr>
              <a:t>类似</a:t>
            </a:r>
            <a:r>
              <a:rPr kumimoji="0" lang="zh-CN" altLang="en-US" sz="1800" kern="0" dirty="0">
                <a:latin typeface="Times New Roman" panose="02020603050405020304" pitchFamily="18" charset="0"/>
                <a:ea typeface="微软雅黑" panose="020B0503020204020204" pitchFamily="34" charset="-122"/>
              </a:rPr>
              <a:t>可证明</a:t>
            </a:r>
            <a:r>
              <a:rPr kumimoji="0" lang="zh-CN" altLang="en-US" sz="1800" kern="0" baseline="0" dirty="0">
                <a:uFillTx/>
                <a:latin typeface="Times New Roman" panose="02020603050405020304" pitchFamily="18" charset="0"/>
                <a:ea typeface="微软雅黑" panose="020B0503020204020204" pitchFamily="34" charset="-122"/>
              </a:rPr>
              <a:t>:</a:t>
            </a:r>
          </a:p>
        </p:txBody>
      </p:sp>
      <p:graphicFrame>
        <p:nvGraphicFramePr>
          <p:cNvPr id="17" name="对象 16"/>
          <p:cNvGraphicFramePr/>
          <p:nvPr/>
        </p:nvGraphicFramePr>
        <p:xfrm>
          <a:off x="2195830" y="1412875"/>
          <a:ext cx="1800000" cy="397510"/>
        </p:xfrm>
        <a:graphic>
          <a:graphicData uri="http://schemas.openxmlformats.org/presentationml/2006/ole">
            <mc:AlternateContent xmlns:mc="http://schemas.openxmlformats.org/markup-compatibility/2006">
              <mc:Choice xmlns:v="urn:schemas-microsoft-com:vml" Requires="v">
                <p:oleObj spid="_x0000_s159781" r:id="rId4" imgW="1155700" imgH="241300" progId="Equation.DSMT4">
                  <p:embed/>
                </p:oleObj>
              </mc:Choice>
              <mc:Fallback>
                <p:oleObj r:id="rId4" imgW="1155700" imgH="241300" progId="Equation.DSMT4">
                  <p:embed/>
                  <p:pic>
                    <p:nvPicPr>
                      <p:cNvPr id="0" name="图片 8"/>
                      <p:cNvPicPr/>
                      <p:nvPr/>
                    </p:nvPicPr>
                    <p:blipFill>
                      <a:blip r:embed="rId5"/>
                      <a:stretch>
                        <a:fillRect/>
                      </a:stretch>
                    </p:blipFill>
                    <p:spPr>
                      <a:xfrm>
                        <a:off x="2195830" y="1412875"/>
                        <a:ext cx="1800000" cy="397510"/>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5066030" y="1395730"/>
          <a:ext cx="1801726" cy="432000"/>
        </p:xfrm>
        <a:graphic>
          <a:graphicData uri="http://schemas.openxmlformats.org/presentationml/2006/ole">
            <mc:AlternateContent xmlns:mc="http://schemas.openxmlformats.org/markup-compatibility/2006">
              <mc:Choice xmlns:v="urn:schemas-microsoft-com:vml" Requires="v">
                <p:oleObj spid="_x0000_s159782" r:id="rId6" imgW="1168400" imgH="279400" progId="Equation.DSMT4">
                  <p:embed/>
                </p:oleObj>
              </mc:Choice>
              <mc:Fallback>
                <p:oleObj r:id="rId6" imgW="1168400" imgH="279400" progId="Equation.DSMT4">
                  <p:embed/>
                  <p:pic>
                    <p:nvPicPr>
                      <p:cNvPr id="0" name="图片 8"/>
                      <p:cNvPicPr/>
                      <p:nvPr/>
                    </p:nvPicPr>
                    <p:blipFill>
                      <a:blip r:embed="rId7"/>
                      <a:stretch>
                        <a:fillRect/>
                      </a:stretch>
                    </p:blipFill>
                    <p:spPr>
                      <a:xfrm>
                        <a:off x="5066030" y="1395730"/>
                        <a:ext cx="1801726" cy="432000"/>
                      </a:xfrm>
                      <a:prstGeom prst="rect">
                        <a:avLst/>
                      </a:prstGeom>
                    </p:spPr>
                  </p:pic>
                </p:oleObj>
              </mc:Fallback>
            </mc:AlternateContent>
          </a:graphicData>
        </a:graphic>
      </p:graphicFrame>
      <p:graphicFrame>
        <p:nvGraphicFramePr>
          <p:cNvPr id="23" name="对象 22"/>
          <p:cNvGraphicFramePr/>
          <p:nvPr/>
        </p:nvGraphicFramePr>
        <p:xfrm>
          <a:off x="2052525" y="2205038"/>
          <a:ext cx="2532380" cy="586105"/>
        </p:xfrm>
        <a:graphic>
          <a:graphicData uri="http://schemas.openxmlformats.org/presentationml/2006/ole">
            <mc:AlternateContent xmlns:mc="http://schemas.openxmlformats.org/markup-compatibility/2006">
              <mc:Choice xmlns:v="urn:schemas-microsoft-com:vml" Requires="v">
                <p:oleObj spid="_x0000_s159783" r:id="rId8" imgW="1625600" imgH="355600" progId="Equation.DSMT4">
                  <p:embed/>
                </p:oleObj>
              </mc:Choice>
              <mc:Fallback>
                <p:oleObj r:id="rId8" imgW="1625600" imgH="355600" progId="Equation.DSMT4">
                  <p:embed/>
                  <p:pic>
                    <p:nvPicPr>
                      <p:cNvPr id="0" name="图片 8"/>
                      <p:cNvPicPr/>
                      <p:nvPr/>
                    </p:nvPicPr>
                    <p:blipFill>
                      <a:blip r:embed="rId9"/>
                      <a:stretch>
                        <a:fillRect/>
                      </a:stretch>
                    </p:blipFill>
                    <p:spPr>
                      <a:xfrm>
                        <a:off x="2052525" y="2205038"/>
                        <a:ext cx="2532380" cy="586105"/>
                      </a:xfrm>
                      <a:prstGeom prst="rect">
                        <a:avLst/>
                      </a:prstGeom>
                    </p:spPr>
                  </p:pic>
                </p:oleObj>
              </mc:Fallback>
            </mc:AlternateContent>
          </a:graphicData>
        </a:graphic>
      </p:graphicFrame>
      <p:graphicFrame>
        <p:nvGraphicFramePr>
          <p:cNvPr id="25" name="对象 24"/>
          <p:cNvGraphicFramePr/>
          <p:nvPr/>
        </p:nvGraphicFramePr>
        <p:xfrm>
          <a:off x="1908175" y="3002280"/>
          <a:ext cx="612775" cy="442595"/>
        </p:xfrm>
        <a:graphic>
          <a:graphicData uri="http://schemas.openxmlformats.org/presentationml/2006/ole">
            <mc:AlternateContent xmlns:mc="http://schemas.openxmlformats.org/markup-compatibility/2006">
              <mc:Choice xmlns:v="urn:schemas-microsoft-com:vml" Requires="v">
                <p:oleObj spid="_x0000_s159784" r:id="rId10" imgW="488315" imgH="353695" progId="Equation.DSMT4">
                  <p:embed/>
                </p:oleObj>
              </mc:Choice>
              <mc:Fallback>
                <p:oleObj r:id="rId10" imgW="488315" imgH="353695" progId="Equation.DSMT4">
                  <p:embed/>
                  <p:pic>
                    <p:nvPicPr>
                      <p:cNvPr id="0" name="图片 25"/>
                      <p:cNvPicPr/>
                      <p:nvPr/>
                    </p:nvPicPr>
                    <p:blipFill>
                      <a:blip r:embed="rId11"/>
                      <a:stretch>
                        <a:fillRect/>
                      </a:stretch>
                    </p:blipFill>
                    <p:spPr>
                      <a:xfrm>
                        <a:off x="1908175" y="3002280"/>
                        <a:ext cx="612775" cy="442595"/>
                      </a:xfrm>
                      <a:prstGeom prst="rect">
                        <a:avLst/>
                      </a:prstGeom>
                    </p:spPr>
                  </p:pic>
                </p:oleObj>
              </mc:Fallback>
            </mc:AlternateContent>
          </a:graphicData>
        </a:graphic>
      </p:graphicFrame>
      <p:graphicFrame>
        <p:nvGraphicFramePr>
          <p:cNvPr id="27" name="对象 26"/>
          <p:cNvGraphicFramePr/>
          <p:nvPr/>
        </p:nvGraphicFramePr>
        <p:xfrm>
          <a:off x="4714875" y="3021965"/>
          <a:ext cx="1465580" cy="407035"/>
        </p:xfrm>
        <a:graphic>
          <a:graphicData uri="http://schemas.openxmlformats.org/presentationml/2006/ole">
            <mc:AlternateContent xmlns:mc="http://schemas.openxmlformats.org/markup-compatibility/2006">
              <mc:Choice xmlns:v="urn:schemas-microsoft-com:vml" Requires="v">
                <p:oleObj spid="_x0000_s159785" r:id="rId12" imgW="952500" imgH="254000" progId="Equation.DSMT4">
                  <p:embed/>
                </p:oleObj>
              </mc:Choice>
              <mc:Fallback>
                <p:oleObj r:id="rId12" imgW="952500" imgH="254000" progId="Equation.DSMT4">
                  <p:embed/>
                  <p:pic>
                    <p:nvPicPr>
                      <p:cNvPr id="0" name="图片 8"/>
                      <p:cNvPicPr/>
                      <p:nvPr/>
                    </p:nvPicPr>
                    <p:blipFill>
                      <a:blip r:embed="rId13"/>
                      <a:stretch>
                        <a:fillRect/>
                      </a:stretch>
                    </p:blipFill>
                    <p:spPr>
                      <a:xfrm>
                        <a:off x="4714875" y="3021965"/>
                        <a:ext cx="1465580" cy="407035"/>
                      </a:xfrm>
                      <a:prstGeom prst="rect">
                        <a:avLst/>
                      </a:prstGeom>
                    </p:spPr>
                  </p:pic>
                </p:oleObj>
              </mc:Fallback>
            </mc:AlternateContent>
          </a:graphicData>
        </a:graphic>
      </p:graphicFrame>
      <p:graphicFrame>
        <p:nvGraphicFramePr>
          <p:cNvPr id="29" name="对象 28"/>
          <p:cNvGraphicFramePr/>
          <p:nvPr>
            <p:extLst>
              <p:ext uri="{D42A27DB-BD31-4B8C-83A1-F6EECF244321}">
                <p14:modId xmlns:p14="http://schemas.microsoft.com/office/powerpoint/2010/main" val="3105026714"/>
              </p:ext>
            </p:extLst>
          </p:nvPr>
        </p:nvGraphicFramePr>
        <p:xfrm>
          <a:off x="1973263" y="3430588"/>
          <a:ext cx="5043487" cy="568325"/>
        </p:xfrm>
        <a:graphic>
          <a:graphicData uri="http://schemas.openxmlformats.org/presentationml/2006/ole">
            <mc:AlternateContent xmlns:mc="http://schemas.openxmlformats.org/markup-compatibility/2006">
              <mc:Choice xmlns:v="urn:schemas-microsoft-com:vml" Requires="v">
                <p:oleObj spid="_x0000_s159786" name="Equation" r:id="rId14" imgW="3238200" imgH="342720" progId="Equation.DSMT4">
                  <p:embed/>
                </p:oleObj>
              </mc:Choice>
              <mc:Fallback>
                <p:oleObj name="Equation" r:id="rId14" imgW="3238200" imgH="342720" progId="Equation.DSMT4">
                  <p:embed/>
                  <p:pic>
                    <p:nvPicPr>
                      <p:cNvPr id="0" name="图片 8"/>
                      <p:cNvPicPr/>
                      <p:nvPr/>
                    </p:nvPicPr>
                    <p:blipFill>
                      <a:blip r:embed="rId15"/>
                      <a:stretch>
                        <a:fillRect/>
                      </a:stretch>
                    </p:blipFill>
                    <p:spPr>
                      <a:xfrm>
                        <a:off x="1973263" y="3430588"/>
                        <a:ext cx="5043487" cy="568325"/>
                      </a:xfrm>
                      <a:prstGeom prst="rect">
                        <a:avLst/>
                      </a:prstGeom>
                    </p:spPr>
                  </p:pic>
                </p:oleObj>
              </mc:Fallback>
            </mc:AlternateContent>
          </a:graphicData>
        </a:graphic>
      </p:graphicFrame>
      <p:graphicFrame>
        <p:nvGraphicFramePr>
          <p:cNvPr id="31" name="对象 30"/>
          <p:cNvGraphicFramePr/>
          <p:nvPr>
            <p:extLst>
              <p:ext uri="{D42A27DB-BD31-4B8C-83A1-F6EECF244321}">
                <p14:modId xmlns:p14="http://schemas.microsoft.com/office/powerpoint/2010/main" val="1407892594"/>
              </p:ext>
            </p:extLst>
          </p:nvPr>
        </p:nvGraphicFramePr>
        <p:xfrm>
          <a:off x="2700225" y="4079558"/>
          <a:ext cx="2473960" cy="440055"/>
        </p:xfrm>
        <a:graphic>
          <a:graphicData uri="http://schemas.openxmlformats.org/presentationml/2006/ole">
            <mc:AlternateContent xmlns:mc="http://schemas.openxmlformats.org/markup-compatibility/2006">
              <mc:Choice xmlns:v="urn:schemas-microsoft-com:vml" Requires="v">
                <p:oleObj spid="_x0000_s159787" r:id="rId16" imgW="1587500" imgH="266700" progId="Equation.DSMT4">
                  <p:embed/>
                </p:oleObj>
              </mc:Choice>
              <mc:Fallback>
                <p:oleObj r:id="rId16" imgW="1587500" imgH="266700" progId="Equation.DSMT4">
                  <p:embed/>
                  <p:pic>
                    <p:nvPicPr>
                      <p:cNvPr id="0" name="图片 8"/>
                      <p:cNvPicPr/>
                      <p:nvPr/>
                    </p:nvPicPr>
                    <p:blipFill>
                      <a:blip r:embed="rId17"/>
                      <a:stretch>
                        <a:fillRect/>
                      </a:stretch>
                    </p:blipFill>
                    <p:spPr>
                      <a:xfrm>
                        <a:off x="2700225" y="4079558"/>
                        <a:ext cx="2473960" cy="440055"/>
                      </a:xfrm>
                      <a:prstGeom prst="rect">
                        <a:avLst/>
                      </a:prstGeom>
                    </p:spPr>
                  </p:pic>
                </p:oleObj>
              </mc:Fallback>
            </mc:AlternateContent>
          </a:graphicData>
        </a:graphic>
      </p:graphicFrame>
      <p:graphicFrame>
        <p:nvGraphicFramePr>
          <p:cNvPr id="33" name="对象 32"/>
          <p:cNvGraphicFramePr/>
          <p:nvPr>
            <p:extLst>
              <p:ext uri="{D42A27DB-BD31-4B8C-83A1-F6EECF244321}">
                <p14:modId xmlns:p14="http://schemas.microsoft.com/office/powerpoint/2010/main" val="2421990274"/>
              </p:ext>
            </p:extLst>
          </p:nvPr>
        </p:nvGraphicFramePr>
        <p:xfrm>
          <a:off x="2520950" y="4602640"/>
          <a:ext cx="2731770" cy="440055"/>
        </p:xfrm>
        <a:graphic>
          <a:graphicData uri="http://schemas.openxmlformats.org/presentationml/2006/ole">
            <mc:AlternateContent xmlns:mc="http://schemas.openxmlformats.org/markup-compatibility/2006">
              <mc:Choice xmlns:v="urn:schemas-microsoft-com:vml" Requires="v">
                <p:oleObj spid="_x0000_s159788" r:id="rId18" imgW="1752600" imgH="266700" progId="Equation.DSMT4">
                  <p:embed/>
                </p:oleObj>
              </mc:Choice>
              <mc:Fallback>
                <p:oleObj r:id="rId18" imgW="1752600" imgH="266700" progId="Equation.DSMT4">
                  <p:embed/>
                  <p:pic>
                    <p:nvPicPr>
                      <p:cNvPr id="0" name="图片 8"/>
                      <p:cNvPicPr/>
                      <p:nvPr/>
                    </p:nvPicPr>
                    <p:blipFill>
                      <a:blip r:embed="rId19"/>
                      <a:stretch>
                        <a:fillRect/>
                      </a:stretch>
                    </p:blipFill>
                    <p:spPr>
                      <a:xfrm>
                        <a:off x="2520950" y="4602640"/>
                        <a:ext cx="2731770" cy="440055"/>
                      </a:xfrm>
                      <a:prstGeom prst="rect">
                        <a:avLst/>
                      </a:prstGeom>
                    </p:spPr>
                  </p:pic>
                </p:oleObj>
              </mc:Fallback>
            </mc:AlternateContent>
          </a:graphicData>
        </a:graphic>
      </p:graphicFrame>
      <p:graphicFrame>
        <p:nvGraphicFramePr>
          <p:cNvPr id="35" name="对象 34"/>
          <p:cNvGraphicFramePr/>
          <p:nvPr/>
        </p:nvGraphicFramePr>
        <p:xfrm>
          <a:off x="1692275" y="5252085"/>
          <a:ext cx="1800000" cy="397510"/>
        </p:xfrm>
        <a:graphic>
          <a:graphicData uri="http://schemas.openxmlformats.org/presentationml/2006/ole">
            <mc:AlternateContent xmlns:mc="http://schemas.openxmlformats.org/markup-compatibility/2006">
              <mc:Choice xmlns:v="urn:schemas-microsoft-com:vml" Requires="v">
                <p:oleObj spid="_x0000_s159789" r:id="rId20" imgW="1155700" imgH="241300" progId="Equation.DSMT4">
                  <p:embed/>
                </p:oleObj>
              </mc:Choice>
              <mc:Fallback>
                <p:oleObj r:id="rId20" imgW="1155700" imgH="241300" progId="Equation.DSMT4">
                  <p:embed/>
                  <p:pic>
                    <p:nvPicPr>
                      <p:cNvPr id="0" name="图片 8"/>
                      <p:cNvPicPr/>
                      <p:nvPr/>
                    </p:nvPicPr>
                    <p:blipFill>
                      <a:blip r:embed="rId5"/>
                      <a:stretch>
                        <a:fillRect/>
                      </a:stretch>
                    </p:blipFill>
                    <p:spPr>
                      <a:xfrm>
                        <a:off x="1692275" y="5252085"/>
                        <a:ext cx="1800000" cy="397510"/>
                      </a:xfrm>
                      <a:prstGeom prst="rect">
                        <a:avLst/>
                      </a:prstGeom>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1175542068"/>
              </p:ext>
            </p:extLst>
          </p:nvPr>
        </p:nvGraphicFramePr>
        <p:xfrm>
          <a:off x="3594143" y="5716588"/>
          <a:ext cx="1801726" cy="432000"/>
        </p:xfrm>
        <a:graphic>
          <a:graphicData uri="http://schemas.openxmlformats.org/presentationml/2006/ole">
            <mc:AlternateContent xmlns:mc="http://schemas.openxmlformats.org/markup-compatibility/2006">
              <mc:Choice xmlns:v="urn:schemas-microsoft-com:vml" Requires="v">
                <p:oleObj spid="_x0000_s159790" r:id="rId21" imgW="1168400" imgH="279400" progId="Equation.DSMT4">
                  <p:embed/>
                </p:oleObj>
              </mc:Choice>
              <mc:Fallback>
                <p:oleObj r:id="rId21" imgW="1168400" imgH="279400" progId="Equation.DSMT4">
                  <p:embed/>
                  <p:pic>
                    <p:nvPicPr>
                      <p:cNvPr id="0" name="图片 8"/>
                      <p:cNvPicPr/>
                      <p:nvPr/>
                    </p:nvPicPr>
                    <p:blipFill>
                      <a:blip r:embed="rId7"/>
                      <a:stretch>
                        <a:fillRect/>
                      </a:stretch>
                    </p:blipFill>
                    <p:spPr>
                      <a:xfrm>
                        <a:off x="3594143" y="5716588"/>
                        <a:ext cx="1801726" cy="432000"/>
                      </a:xfrm>
                      <a:prstGeom prst="rect">
                        <a:avLst/>
                      </a:prstGeom>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01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01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01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01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01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014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1" animBg="1"/>
      <p:bldP spid="90115" grpId="0" animBg="1"/>
      <p:bldP spid="90115" grpId="1" animBg="1"/>
      <p:bldP spid="90121" grpId="0" animBg="1"/>
      <p:bldP spid="90121" grpId="1" animBg="1"/>
      <p:bldP spid="90128" grpId="0" animBg="1"/>
      <p:bldP spid="90128" grpId="1" animBg="1"/>
      <p:bldP spid="90132" grpId="0" animBg="1"/>
      <p:bldP spid="90132" grpId="1" animBg="1"/>
      <p:bldP spid="90142" grpId="0" animBg="1"/>
      <p:bldP spid="90142" grpId="1" animBg="1"/>
      <p:bldP spid="90146" grpId="0" animBg="1"/>
      <p:bldP spid="90146" grpId="1" animBg="1"/>
      <p:bldP spid="20" grpId="0" animBg="1"/>
      <p:bldP spid="20"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1"/>
          </p:nvPr>
        </p:nvSpPr>
        <p:spPr>
          <a:xfrm>
            <a:off x="445135" y="1420495"/>
            <a:ext cx="8540750" cy="4434840"/>
          </a:xfrm>
        </p:spPr>
        <p:txBody>
          <a:bodyPr vert="horz" wrap="square" lIns="91440" tIns="45720" rIns="91440" bIns="45720" anchor="t" anchorCtr="0"/>
          <a:lstStyle/>
          <a:p>
            <a:pPr marL="514350" indent="-514350">
              <a:buFont typeface="Arial" panose="020B0604020202020204" pitchFamily="34" charset="0"/>
              <a:buAutoNum type="arabicPeriod"/>
            </a:pPr>
            <a:r>
              <a:rPr lang="zh-CN" altLang="en-US" sz="2800" dirty="0">
                <a:latin typeface="Times New Roman" panose="02020603050405020304" pitchFamily="18" charset="0"/>
                <a:ea typeface="+mn-ea"/>
                <a:cs typeface="+mn-cs"/>
              </a:rPr>
              <a:t>预备知识</a:t>
            </a:r>
          </a:p>
          <a:p>
            <a:pPr marL="514350" indent="-514350">
              <a:buFont typeface="Arial" panose="020B0604020202020204" pitchFamily="34" charset="0"/>
              <a:buAutoNum type="arabicPeriod"/>
            </a:pPr>
            <a:r>
              <a:rPr lang="zh-CN" altLang="en-US" sz="2800" dirty="0"/>
              <a:t>腐蚀和膨胀</a:t>
            </a:r>
          </a:p>
          <a:p>
            <a:pPr marL="514350" indent="-514350">
              <a:buFont typeface="Arial" panose="020B0604020202020204" pitchFamily="34" charset="0"/>
              <a:buAutoNum type="arabicPeriod"/>
            </a:pPr>
            <a:r>
              <a:rPr lang="zh-CN" altLang="en-US" sz="2800" b="1" dirty="0"/>
              <a:t>开运算与闭运算</a:t>
            </a:r>
          </a:p>
          <a:p>
            <a:pPr marL="514350" indent="-514350">
              <a:buFont typeface="Arial" panose="020B0604020202020204" pitchFamily="34" charset="0"/>
              <a:buAutoNum type="arabicPeriod"/>
            </a:pPr>
            <a:r>
              <a:rPr lang="zh-CN" altLang="en-US" sz="2800" dirty="0"/>
              <a:t>击中</a:t>
            </a:r>
            <a:r>
              <a:rPr lang="en-US" altLang="zh-CN" sz="2800" dirty="0"/>
              <a:t>-</a:t>
            </a:r>
            <a:r>
              <a:rPr lang="zh-CN" altLang="en-US" sz="2800" dirty="0"/>
              <a:t>击不中变换</a:t>
            </a:r>
          </a:p>
          <a:p>
            <a:pPr marL="514350" indent="-514350">
              <a:buFont typeface="Arial" panose="020B0604020202020204" pitchFamily="34" charset="0"/>
              <a:buAutoNum type="arabicPeriod"/>
            </a:pPr>
            <a:r>
              <a:rPr lang="zh-CN" altLang="en-US" sz="2800" dirty="0"/>
              <a:t>一些基本的形态学算法</a:t>
            </a:r>
          </a:p>
          <a:p>
            <a:pPr marL="514350" indent="-514350">
              <a:buFont typeface="Arial" panose="020B0604020202020204" pitchFamily="34" charset="0"/>
              <a:buAutoNum type="arabicPeriod"/>
            </a:pPr>
            <a:r>
              <a:rPr lang="zh-CN" altLang="en-US" sz="2800" dirty="0"/>
              <a:t>形态学重建</a:t>
            </a:r>
          </a:p>
          <a:p>
            <a:pPr marL="514350" indent="-514350">
              <a:buFont typeface="Arial" panose="020B0604020202020204" pitchFamily="34" charset="0"/>
              <a:buAutoNum type="arabicPeriod"/>
            </a:pPr>
            <a:r>
              <a:rPr lang="zh-CN" altLang="en-US" sz="2800" dirty="0"/>
              <a:t>二值图像形态学运算小结</a:t>
            </a:r>
          </a:p>
          <a:p>
            <a:pPr marL="514350" indent="-514350">
              <a:buFont typeface="Arial" panose="020B0604020202020204" pitchFamily="34" charset="0"/>
              <a:buAutoNum type="arabicPeriod"/>
            </a:pPr>
            <a:r>
              <a:rPr lang="zh-CN" altLang="en-US" sz="2800" dirty="0"/>
              <a:t>灰度级形态学</a:t>
            </a:r>
            <a:endParaRPr lang="en-US" altLang="zh-CN" sz="3600" dirty="0"/>
          </a:p>
          <a:p>
            <a:pPr marL="514350" indent="-514350">
              <a:buFont typeface="Arial" panose="020B0604020202020204" pitchFamily="34" charset="0"/>
              <a:buAutoNum type="arabicPeriod"/>
            </a:pPr>
            <a:endParaRPr lang="en-US" altLang="zh-CN" sz="3600" dirty="0">
              <a:latin typeface="Times New Roman" panose="02020603050405020304" pitchFamily="18" charset="0"/>
              <a:ea typeface="+mn-ea"/>
              <a:cs typeface="+mn-cs"/>
            </a:endParaRPr>
          </a:p>
        </p:txBody>
      </p:sp>
      <p:sp>
        <p:nvSpPr>
          <p:cNvPr id="19460" name="TextBox 3"/>
          <p:cNvSpPr txBox="1"/>
          <p:nvPr/>
        </p:nvSpPr>
        <p:spPr>
          <a:xfrm>
            <a:off x="445135" y="836613"/>
            <a:ext cx="4359910" cy="5835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dirty="0"/>
              <a:t>第九章</a:t>
            </a:r>
            <a:r>
              <a:rPr lang="en-US" altLang="zh-CN" dirty="0"/>
              <a:t>:</a:t>
            </a:r>
            <a:r>
              <a:rPr lang="zh-CN" altLang="en-US" dirty="0"/>
              <a:t>形态学图像处理</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rPr>
              <a:t>16</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3. </a:t>
            </a:r>
            <a:r>
              <a:rPr lang="zh-CN" altLang="en-US" dirty="0"/>
              <a:t>开运算与闭运算</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17</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35843" name="Rectangle 5"/>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45" name="Rectangle 7"/>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48" name="Rectangle 14"/>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50" name="Rectangle 16"/>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52" name="Rectangle 18"/>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6" name="文本框 5"/>
          <p:cNvSpPr txBox="1"/>
          <p:nvPr/>
        </p:nvSpPr>
        <p:spPr>
          <a:xfrm>
            <a:off x="653415" y="836930"/>
            <a:ext cx="7837805" cy="4017510"/>
          </a:xfrm>
          <a:prstGeom prst="rect">
            <a:avLst/>
          </a:prstGeom>
          <a:noFill/>
        </p:spPr>
        <p:txBody>
          <a:bodyPr wrap="square" rtlCol="0" anchor="t">
            <a:spAutoFit/>
          </a:bodyPr>
          <a:lstStyle/>
          <a:p>
            <a:pPr indent="457200" algn="just">
              <a:lnSpc>
                <a:spcPct val="130000"/>
              </a:lnSpc>
            </a:pPr>
            <a:r>
              <a:rPr lang="zh-CN" altLang="en-US" sz="1800" dirty="0">
                <a:uFillTx/>
                <a:latin typeface="Times New Roman" panose="02020603050405020304" pitchFamily="18" charset="0"/>
                <a:ea typeface="微软雅黑" panose="020B0503020204020204" pitchFamily="34" charset="-122"/>
                <a:sym typeface="+mn-ea"/>
              </a:rPr>
              <a:t>基于膨胀、腐蚀两个基本操作。本节定义另外两个重要的形态学运算：开运算和闭运算。</a:t>
            </a:r>
          </a:p>
          <a:p>
            <a:pPr marL="285750" indent="-285750" algn="just">
              <a:lnSpc>
                <a:spcPct val="130000"/>
              </a:lnSpc>
              <a:buClr>
                <a:srgbClr val="FF0000"/>
              </a:buClr>
              <a:buFont typeface="Wingdings" panose="05000000000000000000" charset="0"/>
              <a:buChar char="l"/>
            </a:pPr>
            <a:endParaRPr lang="zh-CN" altLang="en-US" sz="1800" dirty="0">
              <a:uFillTx/>
              <a:latin typeface="Times New Roman" panose="02020603050405020304" pitchFamily="18" charset="0"/>
              <a:ea typeface="微软雅黑" panose="020B0503020204020204" pitchFamily="34" charset="-122"/>
              <a:sym typeface="+mn-ea"/>
            </a:endParaRPr>
          </a:p>
          <a:p>
            <a:pPr algn="just">
              <a:lnSpc>
                <a:spcPct val="130000"/>
              </a:lnSpc>
              <a:buClr>
                <a:srgbClr val="FF0000"/>
              </a:buClr>
              <a:buFont typeface="Wingdings" panose="05000000000000000000" charset="0"/>
            </a:pPr>
            <a:r>
              <a:rPr lang="zh-CN" altLang="en-US" sz="1800" dirty="0">
                <a:solidFill>
                  <a:schemeClr val="tx2">
                    <a:lumMod val="60000"/>
                    <a:lumOff val="40000"/>
                  </a:schemeClr>
                </a:solidFill>
                <a:uFillTx/>
                <a:latin typeface="Times New Roman" panose="02020603050405020304" pitchFamily="18" charset="0"/>
                <a:ea typeface="微软雅黑" panose="020B0503020204020204" pitchFamily="34" charset="-122"/>
                <a:sym typeface="+mn-ea"/>
              </a:rPr>
              <a:t>开运算：</a:t>
            </a:r>
            <a:r>
              <a:rPr lang="zh-CN" altLang="en-US" sz="1800" dirty="0">
                <a:uFillTx/>
                <a:latin typeface="Times New Roman" panose="02020603050405020304" pitchFamily="18" charset="0"/>
                <a:ea typeface="微软雅黑" panose="020B0503020204020204" pitchFamily="34" charset="-122"/>
                <a:sym typeface="+mn-ea"/>
              </a:rPr>
              <a:t>结构元</a:t>
            </a:r>
            <a:r>
              <a:rPr lang="en-US" altLang="zh-CN" sz="1800" i="1" dirty="0">
                <a:uFillTx/>
                <a:latin typeface="Times New Roman" panose="02020603050405020304" pitchFamily="18" charset="0"/>
                <a:ea typeface="微软雅黑" panose="020B0503020204020204" pitchFamily="34" charset="-122"/>
                <a:sym typeface="+mn-ea"/>
              </a:rPr>
              <a:t>B</a:t>
            </a:r>
            <a:r>
              <a:rPr lang="zh-CN" altLang="en-US" sz="1800" dirty="0">
                <a:uFillTx/>
                <a:latin typeface="Times New Roman" panose="02020603050405020304" pitchFamily="18" charset="0"/>
                <a:ea typeface="微软雅黑" panose="020B0503020204020204" pitchFamily="34" charset="-122"/>
                <a:sym typeface="+mn-ea"/>
              </a:rPr>
              <a:t>对集合</a:t>
            </a:r>
            <a:r>
              <a:rPr lang="en-US" altLang="zh-CN" sz="1800" i="1" dirty="0">
                <a:uFillTx/>
                <a:latin typeface="Times New Roman" panose="02020603050405020304" pitchFamily="18" charset="0"/>
                <a:ea typeface="微软雅黑" panose="020B0503020204020204" pitchFamily="34" charset="-122"/>
                <a:sym typeface="+mn-ea"/>
              </a:rPr>
              <a:t>A</a:t>
            </a:r>
            <a:r>
              <a:rPr lang="zh-CN" altLang="en-US" sz="1800" dirty="0">
                <a:uFillTx/>
                <a:latin typeface="Times New Roman" panose="02020603050405020304" pitchFamily="18" charset="0"/>
                <a:ea typeface="微软雅黑" panose="020B0503020204020204" pitchFamily="34" charset="-122"/>
                <a:sym typeface="+mn-ea"/>
              </a:rPr>
              <a:t>的开运算定义为：</a:t>
            </a:r>
          </a:p>
          <a:p>
            <a:pPr algn="just">
              <a:lnSpc>
                <a:spcPct val="130000"/>
              </a:lnSpc>
              <a:buClr>
                <a:srgbClr val="FF0000"/>
              </a:buClr>
              <a:buFont typeface="Wingdings" panose="05000000000000000000" charset="0"/>
            </a:pPr>
            <a:endParaRPr lang="zh-CN" altLang="en-US" sz="1800" dirty="0">
              <a:uFillTx/>
              <a:latin typeface="Times New Roman" panose="02020603050405020304" pitchFamily="18" charset="0"/>
              <a:ea typeface="微软雅黑" panose="020B0503020204020204" pitchFamily="34" charset="-122"/>
              <a:sym typeface="+mn-ea"/>
            </a:endParaRPr>
          </a:p>
          <a:p>
            <a:pPr indent="457200" algn="just">
              <a:lnSpc>
                <a:spcPct val="130000"/>
              </a:lnSpc>
              <a:buClr>
                <a:srgbClr val="FF0000"/>
              </a:buClr>
              <a:buFont typeface="Wingdings" panose="05000000000000000000" charset="0"/>
            </a:pPr>
            <a:r>
              <a:rPr lang="zh-CN" altLang="en-US" sz="1800" dirty="0">
                <a:uFillTx/>
                <a:latin typeface="Times New Roman" panose="02020603050405020304" pitchFamily="18" charset="0"/>
                <a:ea typeface="微软雅黑" panose="020B0503020204020204" pitchFamily="34" charset="-122"/>
                <a:sym typeface="+mn-ea"/>
              </a:rPr>
              <a:t>即，使用结构元</a:t>
            </a:r>
            <a:r>
              <a:rPr lang="zh-CN" altLang="en-US" sz="1800" i="1" dirty="0">
                <a:uFillTx/>
                <a:latin typeface="Times New Roman" panose="02020603050405020304" pitchFamily="18" charset="0"/>
                <a:ea typeface="微软雅黑" panose="020B0503020204020204" pitchFamily="34" charset="-122"/>
                <a:sym typeface="+mn-ea"/>
              </a:rPr>
              <a:t>B</a:t>
            </a:r>
            <a:r>
              <a:rPr lang="zh-CN" altLang="en-US" sz="1800" dirty="0">
                <a:uFillTx/>
                <a:latin typeface="Times New Roman" panose="02020603050405020304" pitchFamily="18" charset="0"/>
                <a:ea typeface="微软雅黑" panose="020B0503020204020204" pitchFamily="34" charset="-122"/>
                <a:sym typeface="+mn-ea"/>
              </a:rPr>
              <a:t>对集合</a:t>
            </a:r>
            <a:r>
              <a:rPr lang="zh-CN" altLang="en-US" sz="1800" i="1" dirty="0">
                <a:uFillTx/>
                <a:latin typeface="Times New Roman" panose="02020603050405020304" pitchFamily="18" charset="0"/>
                <a:ea typeface="微软雅黑" panose="020B0503020204020204" pitchFamily="34" charset="-122"/>
                <a:sym typeface="+mn-ea"/>
              </a:rPr>
              <a:t>A</a:t>
            </a:r>
            <a:r>
              <a:rPr lang="zh-CN" altLang="en-US" sz="1800" dirty="0">
                <a:uFillTx/>
                <a:latin typeface="Times New Roman" panose="02020603050405020304" pitchFamily="18" charset="0"/>
                <a:ea typeface="微软雅黑" panose="020B0503020204020204" pitchFamily="34" charset="-122"/>
                <a:sym typeface="+mn-ea"/>
              </a:rPr>
              <a:t>进行</a:t>
            </a:r>
            <a:r>
              <a:rPr lang="zh-CN" altLang="en-US" sz="1800" dirty="0">
                <a:solidFill>
                  <a:schemeClr val="tx2">
                    <a:lumMod val="60000"/>
                    <a:lumOff val="40000"/>
                  </a:schemeClr>
                </a:solidFill>
                <a:uFillTx/>
                <a:latin typeface="Times New Roman" panose="02020603050405020304" pitchFamily="18" charset="0"/>
                <a:ea typeface="微软雅黑" panose="020B0503020204020204" pitchFamily="34" charset="-122"/>
                <a:sym typeface="+mn-ea"/>
              </a:rPr>
              <a:t>先腐蚀，然后膨胀</a:t>
            </a:r>
            <a:endParaRPr lang="zh-CN" altLang="en-US" sz="1800" dirty="0">
              <a:uFillTx/>
              <a:latin typeface="Times New Roman" panose="02020603050405020304" pitchFamily="18" charset="0"/>
              <a:ea typeface="微软雅黑" panose="020B0503020204020204" pitchFamily="34" charset="-122"/>
              <a:sym typeface="+mn-ea"/>
            </a:endParaRPr>
          </a:p>
          <a:p>
            <a:pPr algn="just">
              <a:lnSpc>
                <a:spcPct val="130000"/>
              </a:lnSpc>
              <a:buClr>
                <a:srgbClr val="FF0000"/>
              </a:buClr>
              <a:buFont typeface="Wingdings" panose="05000000000000000000" charset="0"/>
            </a:pPr>
            <a:endParaRPr lang="zh-CN" altLang="en-US" sz="1800" dirty="0">
              <a:uFillTx/>
              <a:latin typeface="Times New Roman" panose="02020603050405020304" pitchFamily="18" charset="0"/>
              <a:ea typeface="微软雅黑" panose="020B0503020204020204" pitchFamily="34" charset="-122"/>
              <a:sym typeface="+mn-ea"/>
            </a:endParaRPr>
          </a:p>
          <a:p>
            <a:pPr algn="just">
              <a:lnSpc>
                <a:spcPct val="130000"/>
              </a:lnSpc>
              <a:buClr>
                <a:srgbClr val="FF0000"/>
              </a:buClr>
              <a:buFont typeface="Wingdings" panose="05000000000000000000" charset="0"/>
            </a:pPr>
            <a:r>
              <a:rPr lang="zh-CN" altLang="en-US" sz="1800" dirty="0">
                <a:solidFill>
                  <a:schemeClr val="tx2">
                    <a:lumMod val="60000"/>
                    <a:lumOff val="40000"/>
                  </a:schemeClr>
                </a:solidFill>
                <a:uFillTx/>
                <a:latin typeface="Times New Roman" panose="02020603050405020304" pitchFamily="18" charset="0"/>
                <a:ea typeface="微软雅黑" panose="020B0503020204020204" pitchFamily="34" charset="-122"/>
                <a:sym typeface="+mn-ea"/>
              </a:rPr>
              <a:t>闭运算：</a:t>
            </a:r>
            <a:r>
              <a:rPr lang="zh-CN" altLang="en-US" sz="1800" dirty="0">
                <a:uFillTx/>
                <a:latin typeface="Times New Roman" panose="02020603050405020304" pitchFamily="18" charset="0"/>
                <a:ea typeface="微软雅黑" panose="020B0503020204020204" pitchFamily="34" charset="-122"/>
                <a:sym typeface="+mn-ea"/>
              </a:rPr>
              <a:t>结构元</a:t>
            </a:r>
            <a:r>
              <a:rPr lang="en-US" altLang="zh-CN" sz="1800" i="1" dirty="0">
                <a:uFillTx/>
                <a:latin typeface="Times New Roman" panose="02020603050405020304" pitchFamily="18" charset="0"/>
                <a:ea typeface="微软雅黑" panose="020B0503020204020204" pitchFamily="34" charset="-122"/>
                <a:sym typeface="+mn-ea"/>
              </a:rPr>
              <a:t>B</a:t>
            </a:r>
            <a:r>
              <a:rPr lang="zh-CN" altLang="en-US" sz="1800" dirty="0">
                <a:uFillTx/>
                <a:latin typeface="Times New Roman" panose="02020603050405020304" pitchFamily="18" charset="0"/>
                <a:ea typeface="微软雅黑" panose="020B0503020204020204" pitchFamily="34" charset="-122"/>
                <a:sym typeface="+mn-ea"/>
              </a:rPr>
              <a:t>对集合</a:t>
            </a:r>
            <a:r>
              <a:rPr lang="en-US" altLang="zh-CN" sz="1800" i="1" dirty="0">
                <a:uFillTx/>
                <a:latin typeface="Times New Roman" panose="02020603050405020304" pitchFamily="18" charset="0"/>
                <a:ea typeface="微软雅黑" panose="020B0503020204020204" pitchFamily="34" charset="-122"/>
                <a:sym typeface="+mn-ea"/>
              </a:rPr>
              <a:t>A</a:t>
            </a:r>
            <a:r>
              <a:rPr lang="zh-CN" altLang="en-US" sz="1800" dirty="0">
                <a:uFillTx/>
                <a:latin typeface="Times New Roman" panose="02020603050405020304" pitchFamily="18" charset="0"/>
                <a:ea typeface="微软雅黑" panose="020B0503020204020204" pitchFamily="34" charset="-122"/>
                <a:sym typeface="+mn-ea"/>
              </a:rPr>
              <a:t>的闭运算定义为：</a:t>
            </a:r>
          </a:p>
          <a:p>
            <a:pPr algn="just">
              <a:lnSpc>
                <a:spcPct val="130000"/>
              </a:lnSpc>
              <a:buClr>
                <a:srgbClr val="FF0000"/>
              </a:buClr>
              <a:buFont typeface="Wingdings" panose="05000000000000000000" charset="0"/>
            </a:pPr>
            <a:endParaRPr lang="zh-CN" altLang="en-US" sz="1800" dirty="0">
              <a:uFillTx/>
              <a:latin typeface="Times New Roman" panose="02020603050405020304" pitchFamily="18" charset="0"/>
              <a:ea typeface="微软雅黑" panose="020B0503020204020204" pitchFamily="34" charset="-122"/>
              <a:sym typeface="+mn-ea"/>
            </a:endParaRPr>
          </a:p>
          <a:p>
            <a:pPr indent="457200" algn="just">
              <a:lnSpc>
                <a:spcPct val="130000"/>
              </a:lnSpc>
              <a:buClr>
                <a:srgbClr val="FF0000"/>
              </a:buClr>
              <a:buFont typeface="Wingdings" panose="05000000000000000000" charset="0"/>
            </a:pPr>
            <a:r>
              <a:rPr lang="zh-CN" altLang="en-US" sz="1800" dirty="0">
                <a:uFillTx/>
                <a:latin typeface="Times New Roman" panose="02020603050405020304" pitchFamily="18" charset="0"/>
                <a:ea typeface="微软雅黑" panose="020B0503020204020204" pitchFamily="34" charset="-122"/>
                <a:sym typeface="+mn-ea"/>
              </a:rPr>
              <a:t>即，使用结构元</a:t>
            </a:r>
            <a:r>
              <a:rPr lang="zh-CN" altLang="en-US" sz="1800" i="1" dirty="0">
                <a:uFillTx/>
                <a:latin typeface="Times New Roman" panose="02020603050405020304" pitchFamily="18" charset="0"/>
                <a:ea typeface="微软雅黑" panose="020B0503020204020204" pitchFamily="34" charset="-122"/>
                <a:sym typeface="+mn-ea"/>
              </a:rPr>
              <a:t>B</a:t>
            </a:r>
            <a:r>
              <a:rPr lang="zh-CN" altLang="en-US" sz="1800" dirty="0">
                <a:uFillTx/>
                <a:latin typeface="Times New Roman" panose="02020603050405020304" pitchFamily="18" charset="0"/>
                <a:ea typeface="微软雅黑" panose="020B0503020204020204" pitchFamily="34" charset="-122"/>
                <a:sym typeface="+mn-ea"/>
              </a:rPr>
              <a:t>对集合</a:t>
            </a:r>
            <a:r>
              <a:rPr lang="zh-CN" altLang="en-US" sz="1800" i="1" dirty="0">
                <a:uFillTx/>
                <a:latin typeface="Times New Roman" panose="02020603050405020304" pitchFamily="18" charset="0"/>
                <a:ea typeface="微软雅黑" panose="020B0503020204020204" pitchFamily="34" charset="-122"/>
                <a:sym typeface="+mn-ea"/>
              </a:rPr>
              <a:t>A</a:t>
            </a:r>
            <a:r>
              <a:rPr lang="zh-CN" altLang="en-US" sz="1800" dirty="0">
                <a:uFillTx/>
                <a:latin typeface="Times New Roman" panose="02020603050405020304" pitchFamily="18" charset="0"/>
                <a:ea typeface="微软雅黑" panose="020B0503020204020204" pitchFamily="34" charset="-122"/>
                <a:sym typeface="+mn-ea"/>
              </a:rPr>
              <a:t>进行</a:t>
            </a:r>
            <a:r>
              <a:rPr lang="zh-CN" altLang="en-US" sz="1800" dirty="0">
                <a:solidFill>
                  <a:schemeClr val="tx2">
                    <a:lumMod val="60000"/>
                    <a:lumOff val="40000"/>
                  </a:schemeClr>
                </a:solidFill>
                <a:uFillTx/>
                <a:latin typeface="Times New Roman" panose="02020603050405020304" pitchFamily="18" charset="0"/>
                <a:ea typeface="微软雅黑" panose="020B0503020204020204" pitchFamily="34" charset="-122"/>
                <a:sym typeface="+mn-ea"/>
              </a:rPr>
              <a:t>先膨胀，然后腐蚀</a:t>
            </a:r>
            <a:endParaRPr lang="zh-CN" altLang="en-US" sz="1800" dirty="0">
              <a:uFillTx/>
              <a:latin typeface="Times New Roman" panose="02020603050405020304" pitchFamily="18" charset="0"/>
              <a:ea typeface="微软雅黑" panose="020B0503020204020204" pitchFamily="34" charset="-122"/>
              <a:sym typeface="+mn-ea"/>
            </a:endParaRPr>
          </a:p>
          <a:p>
            <a:pPr algn="just">
              <a:lnSpc>
                <a:spcPct val="130000"/>
              </a:lnSpc>
              <a:buClr>
                <a:srgbClr val="FF0000"/>
              </a:buClr>
              <a:buFont typeface="Wingdings" panose="05000000000000000000" charset="0"/>
            </a:pPr>
            <a:endParaRPr lang="zh-CN" altLang="en-US" sz="1800" dirty="0">
              <a:uFillTx/>
              <a:latin typeface="Times New Roman" panose="02020603050405020304" pitchFamily="18" charset="0"/>
              <a:ea typeface="微软雅黑" panose="020B0503020204020204" pitchFamily="34" charset="-122"/>
              <a:sym typeface="+mn-ea"/>
            </a:endParaRPr>
          </a:p>
        </p:txBody>
      </p:sp>
      <p:graphicFrame>
        <p:nvGraphicFramePr>
          <p:cNvPr id="17" name="对象 16"/>
          <p:cNvGraphicFramePr/>
          <p:nvPr>
            <p:extLst>
              <p:ext uri="{D42A27DB-BD31-4B8C-83A1-F6EECF244321}">
                <p14:modId xmlns:p14="http://schemas.microsoft.com/office/powerpoint/2010/main" val="2762353311"/>
              </p:ext>
            </p:extLst>
          </p:nvPr>
        </p:nvGraphicFramePr>
        <p:xfrm>
          <a:off x="3358024" y="2348880"/>
          <a:ext cx="1939290" cy="335280"/>
        </p:xfrm>
        <a:graphic>
          <a:graphicData uri="http://schemas.openxmlformats.org/presentationml/2006/ole">
            <mc:AlternateContent xmlns:mc="http://schemas.openxmlformats.org/markup-compatibility/2006">
              <mc:Choice xmlns:v="urn:schemas-microsoft-com:vml" Requires="v">
                <p:oleObj spid="_x0000_s9429" name="Equation" r:id="rId4" imgW="1244600" imgH="203200" progId="Equation.DSMT4">
                  <p:embed/>
                </p:oleObj>
              </mc:Choice>
              <mc:Fallback>
                <p:oleObj name="Equation" r:id="rId4" imgW="1244600" imgH="203200" progId="Equation.DSMT4">
                  <p:embed/>
                  <p:pic>
                    <p:nvPicPr>
                      <p:cNvPr id="0" name="图片 8"/>
                      <p:cNvPicPr/>
                      <p:nvPr/>
                    </p:nvPicPr>
                    <p:blipFill>
                      <a:blip r:embed="rId5"/>
                      <a:stretch>
                        <a:fillRect/>
                      </a:stretch>
                    </p:blipFill>
                    <p:spPr>
                      <a:xfrm>
                        <a:off x="3358024" y="2348880"/>
                        <a:ext cx="1939290" cy="335280"/>
                      </a:xfrm>
                      <a:prstGeom prst="rect">
                        <a:avLst/>
                      </a:prstGeom>
                    </p:spPr>
                  </p:pic>
                </p:oleObj>
              </mc:Fallback>
            </mc:AlternateContent>
          </a:graphicData>
        </a:graphic>
      </p:graphicFrame>
      <p:graphicFrame>
        <p:nvGraphicFramePr>
          <p:cNvPr id="2" name="对象 1"/>
          <p:cNvGraphicFramePr/>
          <p:nvPr>
            <p:extLst>
              <p:ext uri="{D42A27DB-BD31-4B8C-83A1-F6EECF244321}">
                <p14:modId xmlns:p14="http://schemas.microsoft.com/office/powerpoint/2010/main" val="1214247662"/>
              </p:ext>
            </p:extLst>
          </p:nvPr>
        </p:nvGraphicFramePr>
        <p:xfrm>
          <a:off x="3358024" y="3815788"/>
          <a:ext cx="1918970" cy="335280"/>
        </p:xfrm>
        <a:graphic>
          <a:graphicData uri="http://schemas.openxmlformats.org/presentationml/2006/ole">
            <mc:AlternateContent xmlns:mc="http://schemas.openxmlformats.org/markup-compatibility/2006">
              <mc:Choice xmlns:v="urn:schemas-microsoft-com:vml" Requires="v">
                <p:oleObj spid="_x0000_s9430" r:id="rId6" imgW="1231265" imgH="203200" progId="Equation.DSMT4">
                  <p:embed/>
                </p:oleObj>
              </mc:Choice>
              <mc:Fallback>
                <p:oleObj r:id="rId6" imgW="1231265" imgH="203200" progId="Equation.DSMT4">
                  <p:embed/>
                  <p:pic>
                    <p:nvPicPr>
                      <p:cNvPr id="0" name="图片 8"/>
                      <p:cNvPicPr/>
                      <p:nvPr/>
                    </p:nvPicPr>
                    <p:blipFill>
                      <a:blip r:embed="rId7"/>
                      <a:stretch>
                        <a:fillRect/>
                      </a:stretch>
                    </p:blipFill>
                    <p:spPr>
                      <a:xfrm>
                        <a:off x="3358024" y="3815788"/>
                        <a:ext cx="1918970" cy="335280"/>
                      </a:xfrm>
                      <a:prstGeom prst="rect">
                        <a:avLst/>
                      </a:prstGeom>
                    </p:spPr>
                  </p:pic>
                </p:oleObj>
              </mc:Fallback>
            </mc:AlternateContent>
          </a:graphicData>
        </a:graphic>
      </p:graphicFrame>
      <p:sp>
        <p:nvSpPr>
          <p:cNvPr id="13" name="文本框 12">
            <a:extLst>
              <a:ext uri="{FF2B5EF4-FFF2-40B4-BE49-F238E27FC236}">
                <a16:creationId xmlns:a16="http://schemas.microsoft.com/office/drawing/2014/main" id="{21B4488C-DD72-470B-8870-1A1B48708EFC}"/>
              </a:ext>
            </a:extLst>
          </p:cNvPr>
          <p:cNvSpPr txBox="1"/>
          <p:nvPr/>
        </p:nvSpPr>
        <p:spPr>
          <a:xfrm>
            <a:off x="543960" y="4914837"/>
            <a:ext cx="7272808" cy="1137363"/>
          </a:xfrm>
          <a:prstGeom prst="rect">
            <a:avLst/>
          </a:prstGeom>
          <a:noFill/>
        </p:spPr>
        <p:txBody>
          <a:bodyPr wrap="square">
            <a:spAutoFit/>
          </a:bodyPr>
          <a:lstStyle/>
          <a:p>
            <a:pPr marL="285750" indent="-285750" algn="just">
              <a:lnSpc>
                <a:spcPct val="130000"/>
              </a:lnSpc>
              <a:buClr>
                <a:srgbClr val="FF0000"/>
              </a:buClr>
              <a:buFont typeface="Wingdings" panose="05000000000000000000" charset="0"/>
              <a:buChar char="l"/>
            </a:pPr>
            <a:r>
              <a:rPr lang="zh-CN" altLang="en-US" sz="1800" dirty="0">
                <a:uFillTx/>
                <a:latin typeface="Times New Roman" panose="02020603050405020304" pitchFamily="18" charset="0"/>
                <a:ea typeface="微软雅黑" panose="020B0503020204020204" pitchFamily="34" charset="-122"/>
                <a:sym typeface="+mn-ea"/>
              </a:rPr>
              <a:t>开运算通常平滑物体的轮廓、断开狭窄的狭颈、消除细长的突出物</a:t>
            </a:r>
            <a:r>
              <a:rPr lang="en-US" altLang="zh-CN" sz="1800" dirty="0">
                <a:uFillTx/>
                <a:latin typeface="Times New Roman" panose="02020603050405020304" pitchFamily="18" charset="0"/>
                <a:ea typeface="微软雅黑" panose="020B0503020204020204" pitchFamily="34" charset="-122"/>
                <a:sym typeface="+mn-ea"/>
              </a:rPr>
              <a:t>;</a:t>
            </a:r>
          </a:p>
          <a:p>
            <a:pPr marL="285750" indent="-285750" algn="just">
              <a:lnSpc>
                <a:spcPct val="130000"/>
              </a:lnSpc>
              <a:buClr>
                <a:srgbClr val="FF0000"/>
              </a:buClr>
              <a:buFont typeface="Wingdings" panose="05000000000000000000" charset="0"/>
              <a:buChar char="l"/>
            </a:pPr>
            <a:r>
              <a:rPr lang="zh-CN" altLang="en-US" sz="1800" dirty="0">
                <a:uFillTx/>
                <a:latin typeface="Times New Roman" panose="02020603050405020304" pitchFamily="18" charset="0"/>
                <a:ea typeface="微软雅黑" panose="020B0503020204020204" pitchFamily="34" charset="-122"/>
                <a:sym typeface="+mn-ea"/>
              </a:rPr>
              <a:t>闭运算同样平滑轮廓，但与开运算相反，它通常弥合狭窄的断裂和细长的沟壑，消除小孔，并填补轮廓中的缝隙。</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4"/>
          <a:stretch>
            <a:fillRect/>
          </a:stretch>
        </p:blipFill>
        <p:spPr>
          <a:xfrm>
            <a:off x="5437506" y="5631635"/>
            <a:ext cx="509905" cy="533400"/>
          </a:xfrm>
          <a:prstGeom prst="rect">
            <a:avLst/>
          </a:prstGeom>
        </p:spPr>
      </p:pic>
      <p:sp>
        <p:nvSpPr>
          <p:cNvPr id="3" name="标题 2"/>
          <p:cNvSpPr>
            <a:spLocks noGrp="1"/>
          </p:cNvSpPr>
          <p:nvPr>
            <p:ph type="title"/>
          </p:nvPr>
        </p:nvSpPr>
        <p:spPr/>
        <p:txBody>
          <a:bodyPr/>
          <a:lstStyle/>
          <a:p>
            <a:r>
              <a:rPr lang="en-US" altLang="zh-CN" dirty="0"/>
              <a:t>3. </a:t>
            </a:r>
            <a:r>
              <a:rPr lang="zh-CN" altLang="en-US" dirty="0"/>
              <a:t>开运算</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18</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35843" name="Rectangle 5"/>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45" name="Rectangle 7"/>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48" name="Rectangle 14"/>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50" name="Rectangle 16"/>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52" name="Rectangle 18"/>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7" name="Rectangle 8" descr="Rectangle: Click to edit Master text styles&#10;Second level&#10;Third level&#10;Fourth level&#10;Fifth level"/>
          <p:cNvSpPr>
            <a:spLocks noChangeArrowheads="1"/>
          </p:cNvSpPr>
          <p:nvPr/>
        </p:nvSpPr>
        <p:spPr bwMode="auto">
          <a:xfrm>
            <a:off x="755577" y="919549"/>
            <a:ext cx="7488832" cy="2221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10000"/>
              <a:buFont typeface="Wingdings" panose="05000000000000000000" pitchFamily="2" charset="2"/>
              <a:buBlip>
                <a:blip r:embed="rId5"/>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1"/>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95000"/>
              <a:buFont typeface="Wingdings" panose="05000000000000000000" pitchFamily="2" charset="2"/>
              <a:buChar char="w"/>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algn="just">
              <a:lnSpc>
                <a:spcPct val="100000"/>
              </a:lnSpc>
              <a:spcBef>
                <a:spcPts val="0"/>
              </a:spcBef>
              <a:buFont typeface="Wingdings" panose="05000000000000000000" pitchFamily="2" charset="2"/>
              <a:buNone/>
            </a:pP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开运算结果的边界：当</a:t>
            </a:r>
            <a:r>
              <a:rPr lang="en-US" altLang="zh-CN" sz="1800" i="1" baseline="0" dirty="0">
                <a:latin typeface="Times New Roman" panose="02020603050405020304" pitchFamily="18" charset="0"/>
                <a:ea typeface="微软雅黑" panose="020B0503020204020204" pitchFamily="34" charset="-122"/>
                <a:cs typeface="微软雅黑" panose="020B0503020204020204" pitchFamily="34" charset="-122"/>
              </a:rPr>
              <a:t>B</a:t>
            </a: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在</a:t>
            </a:r>
            <a:r>
              <a:rPr lang="en-US" altLang="zh-CN" sz="1800" i="1" baseline="0" dirty="0">
                <a:latin typeface="Times New Roman" panose="02020603050405020304" pitchFamily="18" charset="0"/>
                <a:ea typeface="微软雅黑" panose="020B0503020204020204" pitchFamily="34" charset="-122"/>
                <a:cs typeface="微软雅黑" panose="020B0503020204020204" pitchFamily="34" charset="-122"/>
              </a:rPr>
              <a:t>A</a:t>
            </a: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的边界</a:t>
            </a:r>
            <a:r>
              <a:rPr lang="zh-CN" altLang="en-US" sz="1800" baseline="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内侧滚动</a:t>
            </a: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时，</a:t>
            </a:r>
            <a:r>
              <a:rPr lang="en-US" altLang="zh-CN" sz="1800" i="1" baseline="0" dirty="0">
                <a:latin typeface="Times New Roman" panose="02020603050405020304" pitchFamily="18" charset="0"/>
                <a:ea typeface="微软雅黑" panose="020B0503020204020204" pitchFamily="34" charset="-122"/>
                <a:cs typeface="微软雅黑" panose="020B0503020204020204" pitchFamily="34" charset="-122"/>
              </a:rPr>
              <a:t>B</a:t>
            </a: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所能到达的</a:t>
            </a:r>
            <a:r>
              <a:rPr lang="en-US" altLang="zh-CN" sz="1800" i="1" baseline="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A</a:t>
            </a:r>
            <a:r>
              <a:rPr lang="zh-CN" altLang="en-US" sz="1800" baseline="0" dirty="0">
                <a:solidFill>
                  <a:srgbClr val="FF0000"/>
                </a:solidFill>
                <a:latin typeface="Times New Roman" panose="02020603050405020304" pitchFamily="18" charset="0"/>
                <a:ea typeface="微软雅黑" panose="020B0503020204020204" pitchFamily="34" charset="-122"/>
                <a:cs typeface="微软雅黑" panose="020B0503020204020204" pitchFamily="34" charset="-122"/>
              </a:rPr>
              <a:t>的边界</a:t>
            </a: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的最远点。（注意：不是中心）</a:t>
            </a:r>
          </a:p>
          <a:p>
            <a:pPr marL="0" algn="just">
              <a:lnSpc>
                <a:spcPct val="100000"/>
              </a:lnSpc>
              <a:spcBef>
                <a:spcPts val="0"/>
              </a:spcBef>
              <a:buFont typeface="Wingdings" panose="05000000000000000000" pitchFamily="2" charset="2"/>
              <a:buNone/>
            </a:pPr>
            <a:endParaRPr lang="en-US" altLang="zh-CN" sz="1800" baseline="0" dirty="0">
              <a:latin typeface="Times New Roman" panose="02020603050405020304" pitchFamily="18" charset="0"/>
              <a:ea typeface="微软雅黑" panose="020B0503020204020204" pitchFamily="34" charset="-122"/>
              <a:cs typeface="微软雅黑" panose="020B0503020204020204" pitchFamily="34" charset="-122"/>
            </a:endParaRPr>
          </a:p>
          <a:p>
            <a:pPr marL="0" algn="just">
              <a:lnSpc>
                <a:spcPct val="100000"/>
              </a:lnSpc>
              <a:spcBef>
                <a:spcPts val="0"/>
              </a:spcBef>
              <a:buFont typeface="Wingdings" panose="05000000000000000000" pitchFamily="2" charset="2"/>
              <a:buNone/>
            </a:pPr>
            <a:r>
              <a:rPr lang="en-US" altLang="zh-CN" sz="1800" i="1" baseline="0" dirty="0">
                <a:latin typeface="Times New Roman" panose="02020603050405020304" pitchFamily="18" charset="0"/>
                <a:ea typeface="微软雅黑" panose="020B0503020204020204" pitchFamily="34" charset="-122"/>
                <a:cs typeface="微软雅黑" panose="020B0503020204020204" pitchFamily="34" charset="-122"/>
              </a:rPr>
              <a:t>B</a:t>
            </a: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对</a:t>
            </a:r>
            <a:r>
              <a:rPr lang="en-US" altLang="zh-CN" sz="1800" i="1" baseline="0" dirty="0">
                <a:latin typeface="Times New Roman" panose="02020603050405020304" pitchFamily="18" charset="0"/>
                <a:ea typeface="微软雅黑" panose="020B0503020204020204" pitchFamily="34" charset="-122"/>
                <a:cs typeface="微软雅黑" panose="020B0503020204020204" pitchFamily="34" charset="-122"/>
              </a:rPr>
              <a:t>A</a:t>
            </a: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的开运算是</a:t>
            </a:r>
            <a:r>
              <a:rPr lang="en-US" altLang="zh-CN" sz="1800" i="1" baseline="0" dirty="0">
                <a:latin typeface="Times New Roman" panose="02020603050405020304" pitchFamily="18" charset="0"/>
                <a:ea typeface="微软雅黑" panose="020B0503020204020204" pitchFamily="34" charset="-122"/>
                <a:cs typeface="微软雅黑" panose="020B0503020204020204" pitchFamily="34" charset="-122"/>
              </a:rPr>
              <a:t>B</a:t>
            </a: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的所有平移的并集，条件是</a:t>
            </a:r>
            <a:r>
              <a:rPr lang="en-US" altLang="zh-CN" sz="1800" i="1" baseline="0" dirty="0">
                <a:latin typeface="Times New Roman" panose="02020603050405020304" pitchFamily="18" charset="0"/>
                <a:ea typeface="微软雅黑" panose="020B0503020204020204" pitchFamily="34" charset="-122"/>
                <a:cs typeface="微软雅黑" panose="020B0503020204020204" pitchFamily="34" charset="-122"/>
              </a:rPr>
              <a:t>B</a:t>
            </a: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完全拟合于</a:t>
            </a:r>
            <a:r>
              <a:rPr lang="en-US" altLang="zh-CN" sz="1800" i="1" baseline="0" dirty="0">
                <a:latin typeface="Times New Roman" panose="02020603050405020304" pitchFamily="18" charset="0"/>
                <a:ea typeface="微软雅黑" panose="020B0503020204020204" pitchFamily="34" charset="-122"/>
                <a:cs typeface="微软雅黑" panose="020B0503020204020204" pitchFamily="34" charset="-122"/>
              </a:rPr>
              <a:t>A</a:t>
            </a: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，这种解释可用公式写为：</a:t>
            </a:r>
          </a:p>
          <a:p>
            <a:pPr marL="0" algn="just">
              <a:lnSpc>
                <a:spcPct val="100000"/>
              </a:lnSpc>
              <a:spcBef>
                <a:spcPts val="0"/>
              </a:spcBef>
              <a:buFont typeface="Wingdings" panose="05000000000000000000" pitchFamily="2" charset="2"/>
              <a:buNone/>
            </a:pPr>
            <a:endPar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endParaRPr>
          </a:p>
          <a:p>
            <a:pPr marL="0" algn="just">
              <a:lnSpc>
                <a:spcPct val="100000"/>
              </a:lnSpc>
              <a:spcBef>
                <a:spcPts val="0"/>
              </a:spcBef>
              <a:buFont typeface="Wingdings" panose="05000000000000000000" pitchFamily="2" charset="2"/>
              <a:buNone/>
            </a:pPr>
            <a:endPar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endParaRPr>
          </a:p>
          <a:p>
            <a:pPr marL="0" algn="just">
              <a:lnSpc>
                <a:spcPct val="100000"/>
              </a:lnSpc>
              <a:spcBef>
                <a:spcPts val="0"/>
              </a:spcBef>
              <a:buFont typeface="Wingdings" panose="05000000000000000000" pitchFamily="2" charset="2"/>
              <a:buNone/>
            </a:pP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式中，</a:t>
            </a:r>
            <a:r>
              <a:rPr lang="en-US" altLang="zh-CN" sz="1800" baseline="0" dirty="0">
                <a:latin typeface="Times New Roman" panose="02020603050405020304" pitchFamily="18" charset="0"/>
                <a:ea typeface="微软雅黑" panose="020B0503020204020204" pitchFamily="34" charset="-122"/>
                <a:cs typeface="微软雅黑" panose="020B0503020204020204" pitchFamily="34" charset="-122"/>
              </a:rPr>
              <a:t>U</a:t>
            </a:r>
            <a:r>
              <a:rPr lang="zh-CN" altLang="en-US" sz="1800" baseline="0" dirty="0">
                <a:latin typeface="Times New Roman" panose="02020603050405020304" pitchFamily="18" charset="0"/>
                <a:ea typeface="微软雅黑" panose="020B0503020204020204" pitchFamily="34" charset="-122"/>
                <a:cs typeface="微软雅黑" panose="020B0503020204020204" pitchFamily="34" charset="-122"/>
              </a:rPr>
              <a:t>表示大括号内所有集合的并集。</a:t>
            </a:r>
          </a:p>
        </p:txBody>
      </p:sp>
      <p:graphicFrame>
        <p:nvGraphicFramePr>
          <p:cNvPr id="8" name="对象 7"/>
          <p:cNvGraphicFramePr/>
          <p:nvPr>
            <p:extLst>
              <p:ext uri="{D42A27DB-BD31-4B8C-83A1-F6EECF244321}">
                <p14:modId xmlns:p14="http://schemas.microsoft.com/office/powerpoint/2010/main" val="117426849"/>
              </p:ext>
            </p:extLst>
          </p:nvPr>
        </p:nvGraphicFramePr>
        <p:xfrm>
          <a:off x="3345181" y="2267690"/>
          <a:ext cx="2602230" cy="444500"/>
        </p:xfrm>
        <a:graphic>
          <a:graphicData uri="http://schemas.openxmlformats.org/presentationml/2006/ole">
            <mc:AlternateContent xmlns:mc="http://schemas.openxmlformats.org/markup-compatibility/2006">
              <mc:Choice xmlns:v="urn:schemas-microsoft-com:vml" Requires="v">
                <p:oleObj spid="_x0000_s10347" r:id="rId6" imgW="1688465" imgH="279400" progId="Equation.DSMT4">
                  <p:embed/>
                </p:oleObj>
              </mc:Choice>
              <mc:Fallback>
                <p:oleObj r:id="rId6" imgW="1688465" imgH="279400" progId="Equation.DSMT4">
                  <p:embed/>
                  <p:pic>
                    <p:nvPicPr>
                      <p:cNvPr id="0" name="图片 8"/>
                      <p:cNvPicPr/>
                      <p:nvPr/>
                    </p:nvPicPr>
                    <p:blipFill>
                      <a:blip r:embed="rId7"/>
                      <a:stretch>
                        <a:fillRect/>
                      </a:stretch>
                    </p:blipFill>
                    <p:spPr>
                      <a:xfrm>
                        <a:off x="3345181" y="2267690"/>
                        <a:ext cx="2602230" cy="444500"/>
                      </a:xfrm>
                      <a:prstGeom prst="rect">
                        <a:avLst/>
                      </a:prstGeom>
                    </p:spPr>
                  </p:pic>
                </p:oleObj>
              </mc:Fallback>
            </mc:AlternateContent>
          </a:graphicData>
        </a:graphic>
      </p:graphicFrame>
      <p:pic>
        <p:nvPicPr>
          <p:cNvPr id="11" name="图片 10"/>
          <p:cNvPicPr>
            <a:picLocks noChangeAspect="1"/>
          </p:cNvPicPr>
          <p:nvPr/>
        </p:nvPicPr>
        <p:blipFill>
          <a:blip r:embed="rId8"/>
          <a:stretch>
            <a:fillRect/>
          </a:stretch>
        </p:blipFill>
        <p:spPr>
          <a:xfrm>
            <a:off x="683895" y="3284855"/>
            <a:ext cx="4753965" cy="1440000"/>
          </a:xfrm>
          <a:prstGeom prst="rect">
            <a:avLst/>
          </a:prstGeom>
        </p:spPr>
      </p:pic>
      <p:pic>
        <p:nvPicPr>
          <p:cNvPr id="12" name="图片 11"/>
          <p:cNvPicPr>
            <a:picLocks noChangeAspect="1"/>
          </p:cNvPicPr>
          <p:nvPr/>
        </p:nvPicPr>
        <p:blipFill>
          <a:blip r:embed="rId9"/>
          <a:stretch>
            <a:fillRect/>
          </a:stretch>
        </p:blipFill>
        <p:spPr>
          <a:xfrm>
            <a:off x="615315" y="4725035"/>
            <a:ext cx="4822722" cy="1440000"/>
          </a:xfrm>
          <a:prstGeom prst="rect">
            <a:avLst/>
          </a:prstGeom>
        </p:spPr>
      </p:pic>
      <p:sp>
        <p:nvSpPr>
          <p:cNvPr id="13" name="文本框 12"/>
          <p:cNvSpPr txBox="1"/>
          <p:nvPr/>
        </p:nvSpPr>
        <p:spPr>
          <a:xfrm>
            <a:off x="5506440" y="3648075"/>
            <a:ext cx="3637559" cy="1778436"/>
          </a:xfrm>
          <a:prstGeom prst="rect">
            <a:avLst/>
          </a:prstGeom>
          <a:noFill/>
        </p:spPr>
        <p:txBody>
          <a:bodyPr wrap="square" rtlCol="0" anchor="t">
            <a:spAutoFit/>
          </a:bodyPr>
          <a:lstStyle/>
          <a:p>
            <a:pPr>
              <a:lnSpc>
                <a:spcPct val="140000"/>
              </a:lnSpc>
            </a:pP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(a)由集合(目标)</a:t>
            </a:r>
            <a:r>
              <a:rPr kumimoji="1" lang="zh-CN" altLang="en-US"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和背景组成的图像</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I</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t>
            </a:r>
          </a:p>
          <a:p>
            <a:pPr>
              <a:lnSpc>
                <a:spcPct val="140000"/>
              </a:lnSpc>
            </a:pP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(b)结构元 </a:t>
            </a:r>
            <a:r>
              <a:rPr kumimoji="1" lang="zh-CN" altLang="en-US"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B</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t>
            </a:r>
          </a:p>
          <a:p>
            <a:pPr>
              <a:lnSpc>
                <a:spcPct val="140000"/>
              </a:lnSpc>
            </a:pP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(c)</a:t>
            </a:r>
            <a:r>
              <a:rPr kumimoji="1" lang="zh-CN" altLang="en-US"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B</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在</a:t>
            </a:r>
            <a:r>
              <a:rPr kumimoji="1" lang="zh-CN" altLang="en-US"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内的平移(为清楚起见,</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显示为暗色);</a:t>
            </a:r>
          </a:p>
          <a:p>
            <a:pPr>
              <a:lnSpc>
                <a:spcPct val="140000"/>
              </a:lnSpc>
            </a:pP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(d)</a:t>
            </a:r>
            <a:r>
              <a:rPr kumimoji="1" lang="zh-CN" altLang="en-US"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B</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对</a:t>
            </a:r>
            <a:r>
              <a:rPr kumimoji="1" lang="zh-CN" altLang="en-US"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的开运算</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4"/>
          <a:stretch>
            <a:fillRect/>
          </a:stretch>
        </p:blipFill>
        <p:spPr>
          <a:xfrm>
            <a:off x="5358130" y="5584190"/>
            <a:ext cx="509905" cy="533400"/>
          </a:xfrm>
          <a:prstGeom prst="rect">
            <a:avLst/>
          </a:prstGeom>
        </p:spPr>
      </p:pic>
      <p:sp>
        <p:nvSpPr>
          <p:cNvPr id="3" name="标题 2"/>
          <p:cNvSpPr>
            <a:spLocks noGrp="1"/>
          </p:cNvSpPr>
          <p:nvPr>
            <p:ph type="title"/>
          </p:nvPr>
        </p:nvSpPr>
        <p:spPr/>
        <p:txBody>
          <a:bodyPr/>
          <a:lstStyle/>
          <a:p>
            <a:r>
              <a:rPr lang="en-US" altLang="zh-CN" dirty="0"/>
              <a:t>3. </a:t>
            </a:r>
            <a:r>
              <a:rPr lang="zh-CN" altLang="en-US" dirty="0"/>
              <a:t>闭运算</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19</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35843" name="Rectangle 5"/>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45" name="Rectangle 7"/>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48" name="Rectangle 14"/>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50" name="Rectangle 16"/>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52" name="Rectangle 18"/>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7" name="Rectangle 8" descr="Rectangle: Click to edit Master text styles&#10;Second level&#10;Third level&#10;Fourth level&#10;Fifth level"/>
          <p:cNvSpPr>
            <a:spLocks noChangeArrowheads="1"/>
          </p:cNvSpPr>
          <p:nvPr/>
        </p:nvSpPr>
        <p:spPr bwMode="auto">
          <a:xfrm>
            <a:off x="611505" y="908685"/>
            <a:ext cx="7883525" cy="2221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110000"/>
              <a:buFont typeface="Wingdings" panose="05000000000000000000" pitchFamily="2" charset="2"/>
              <a:buBlip>
                <a:blip r:embed="rId5"/>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tx1"/>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95000"/>
              <a:buFont typeface="Wingdings" panose="05000000000000000000" pitchFamily="2" charset="2"/>
              <a:buChar char="w"/>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algn="just">
              <a:lnSpc>
                <a:spcPct val="100000"/>
              </a:lnSpc>
              <a:spcBef>
                <a:spcPts val="0"/>
              </a:spcBef>
              <a:buFont typeface="Wingdings" panose="05000000000000000000" pitchFamily="2" charset="2"/>
              <a:buNone/>
            </a:pPr>
            <a:r>
              <a:rPr lang="zh-CN" altLang="en-US"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闭操作结果的边界：当</a:t>
            </a:r>
            <a:r>
              <a:rPr lang="en-US" altLang="zh-CN" sz="1800" i="1"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B</a:t>
            </a:r>
            <a:r>
              <a:rPr lang="zh-CN" altLang="en-US"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在</a:t>
            </a:r>
            <a:r>
              <a:rPr lang="en-US" altLang="zh-CN" sz="1800" i="1"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a:t>
            </a:r>
            <a:r>
              <a:rPr lang="zh-CN" altLang="en-US"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的边界</a:t>
            </a:r>
            <a:r>
              <a:rPr lang="zh-CN" altLang="en-US" sz="1800" baseline="0" dirty="0">
                <a:solidFill>
                  <a:srgbClr val="FF0000"/>
                </a:solidFill>
                <a:uFillTx/>
                <a:latin typeface="Times New Roman" panose="02020603050405020304" pitchFamily="18" charset="0"/>
                <a:ea typeface="微软雅黑" panose="020B0503020204020204" pitchFamily="34" charset="-122"/>
                <a:cs typeface="微软雅黑" panose="020B0503020204020204" pitchFamily="34" charset="-122"/>
              </a:rPr>
              <a:t>外侧滚动</a:t>
            </a:r>
            <a:r>
              <a:rPr lang="zh-CN" altLang="en-US"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时，</a:t>
            </a:r>
            <a:r>
              <a:rPr lang="en-US" altLang="zh-CN" sz="1800" i="1"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B</a:t>
            </a:r>
            <a:r>
              <a:rPr lang="zh-CN" altLang="en-US"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所能</a:t>
            </a:r>
            <a:r>
              <a:rPr lang="zh-CN" altLang="en-US" sz="1800" baseline="0" dirty="0">
                <a:uFillTx/>
                <a:latin typeface="Times New Roman" panose="02020603050405020304" pitchFamily="18" charset="0"/>
                <a:ea typeface="微软雅黑" panose="020B0503020204020204" pitchFamily="34" charset="-122"/>
                <a:cs typeface="微软雅黑" panose="020B0503020204020204" pitchFamily="34" charset="-122"/>
              </a:rPr>
              <a:t>到达的</a:t>
            </a:r>
            <a:r>
              <a:rPr lang="en-US" altLang="zh-CN" sz="1800" i="1" baseline="0" dirty="0">
                <a:solidFill>
                  <a:srgbClr val="FF0000"/>
                </a:solidFill>
                <a:uFillTx/>
                <a:latin typeface="Times New Roman" panose="02020603050405020304" pitchFamily="18" charset="0"/>
                <a:ea typeface="微软雅黑" panose="020B0503020204020204" pitchFamily="34" charset="-122"/>
                <a:cs typeface="微软雅黑" panose="020B0503020204020204" pitchFamily="34" charset="-122"/>
              </a:rPr>
              <a:t>A</a:t>
            </a:r>
            <a:r>
              <a:rPr lang="zh-CN" altLang="en-US" sz="1800" baseline="0" dirty="0">
                <a:solidFill>
                  <a:srgbClr val="FF0000"/>
                </a:solidFill>
                <a:uFillTx/>
                <a:latin typeface="Times New Roman" panose="02020603050405020304" pitchFamily="18" charset="0"/>
                <a:ea typeface="微软雅黑" panose="020B0503020204020204" pitchFamily="34" charset="-122"/>
                <a:cs typeface="微软雅黑" panose="020B0503020204020204" pitchFamily="34" charset="-122"/>
              </a:rPr>
              <a:t>的边界</a:t>
            </a:r>
            <a:r>
              <a:rPr lang="zh-CN" altLang="en-US"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的最远点。（注意：不是中心）</a:t>
            </a:r>
          </a:p>
          <a:p>
            <a:pPr marL="0" algn="just">
              <a:lnSpc>
                <a:spcPct val="100000"/>
              </a:lnSpc>
              <a:spcBef>
                <a:spcPts val="0"/>
              </a:spcBef>
              <a:buFont typeface="Wingdings" panose="05000000000000000000" pitchFamily="2" charset="2"/>
              <a:buNone/>
            </a:pPr>
            <a:endParaRPr lang="zh-CN" altLang="en-US"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endParaRPr>
          </a:p>
          <a:p>
            <a:pPr marL="0" algn="just">
              <a:lnSpc>
                <a:spcPct val="100000"/>
              </a:lnSpc>
              <a:spcBef>
                <a:spcPts val="0"/>
              </a:spcBef>
              <a:buFont typeface="Wingdings" panose="05000000000000000000" pitchFamily="2" charset="2"/>
              <a:buNone/>
            </a:pPr>
            <a:r>
              <a:rPr lang="zh-CN" altLang="en-US"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闭运算是</a:t>
            </a:r>
            <a:r>
              <a:rPr lang="en-US" altLang="zh-CN"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B</a:t>
            </a:r>
            <a:r>
              <a:rPr lang="zh-CN" altLang="en-US"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的所有不与</a:t>
            </a:r>
            <a:r>
              <a:rPr lang="en-US" altLang="zh-CN"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a:t>
            </a:r>
            <a:r>
              <a:rPr lang="zh-CN" altLang="en-US"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重叠的平移的并集的补集，这种解释可用公式写为：</a:t>
            </a:r>
          </a:p>
          <a:p>
            <a:pPr marL="0" algn="just">
              <a:lnSpc>
                <a:spcPct val="100000"/>
              </a:lnSpc>
              <a:spcBef>
                <a:spcPts val="0"/>
              </a:spcBef>
              <a:buFont typeface="Wingdings" panose="05000000000000000000" pitchFamily="2" charset="2"/>
              <a:buNone/>
            </a:pPr>
            <a:endParaRPr lang="zh-CN" altLang="en-US"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endParaRPr>
          </a:p>
          <a:p>
            <a:pPr marL="0" algn="just">
              <a:lnSpc>
                <a:spcPct val="100000"/>
              </a:lnSpc>
              <a:spcBef>
                <a:spcPts val="0"/>
              </a:spcBef>
              <a:buFont typeface="Wingdings" panose="05000000000000000000" pitchFamily="2" charset="2"/>
              <a:buNone/>
            </a:pPr>
            <a:endParaRPr lang="zh-CN" altLang="en-US" sz="1800" baseline="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endParaRPr>
          </a:p>
        </p:txBody>
      </p:sp>
      <p:graphicFrame>
        <p:nvGraphicFramePr>
          <p:cNvPr id="8" name="对象 7"/>
          <p:cNvGraphicFramePr/>
          <p:nvPr/>
        </p:nvGraphicFramePr>
        <p:xfrm>
          <a:off x="2995295" y="2277110"/>
          <a:ext cx="3307080" cy="444500"/>
        </p:xfrm>
        <a:graphic>
          <a:graphicData uri="http://schemas.openxmlformats.org/presentationml/2006/ole">
            <mc:AlternateContent xmlns:mc="http://schemas.openxmlformats.org/markup-compatibility/2006">
              <mc:Choice xmlns:v="urn:schemas-microsoft-com:vml" Requires="v">
                <p:oleObj spid="_x0000_s11371" r:id="rId6" imgW="2145665" imgH="279400" progId="Equation.DSMT4">
                  <p:embed/>
                </p:oleObj>
              </mc:Choice>
              <mc:Fallback>
                <p:oleObj r:id="rId6" imgW="2145665" imgH="279400" progId="Equation.DSMT4">
                  <p:embed/>
                  <p:pic>
                    <p:nvPicPr>
                      <p:cNvPr id="0" name="图片 8"/>
                      <p:cNvPicPr/>
                      <p:nvPr/>
                    </p:nvPicPr>
                    <p:blipFill>
                      <a:blip r:embed="rId7"/>
                      <a:stretch>
                        <a:fillRect/>
                      </a:stretch>
                    </p:blipFill>
                    <p:spPr>
                      <a:xfrm>
                        <a:off x="2995295" y="2277110"/>
                        <a:ext cx="3307080" cy="444500"/>
                      </a:xfrm>
                      <a:prstGeom prst="rect">
                        <a:avLst/>
                      </a:prstGeom>
                    </p:spPr>
                  </p:pic>
                </p:oleObj>
              </mc:Fallback>
            </mc:AlternateContent>
          </a:graphicData>
        </a:graphic>
      </p:graphicFrame>
      <p:sp>
        <p:nvSpPr>
          <p:cNvPr id="13" name="文本框 12"/>
          <p:cNvSpPr txBox="1"/>
          <p:nvPr/>
        </p:nvSpPr>
        <p:spPr>
          <a:xfrm>
            <a:off x="5597306" y="3379036"/>
            <a:ext cx="3521452" cy="1778436"/>
          </a:xfrm>
          <a:prstGeom prst="rect">
            <a:avLst/>
          </a:prstGeom>
          <a:noFill/>
        </p:spPr>
        <p:txBody>
          <a:bodyPr wrap="square" rtlCol="0" anchor="t">
            <a:spAutoFit/>
          </a:bodyPr>
          <a:lstStyle/>
          <a:p>
            <a:pPr>
              <a:lnSpc>
                <a:spcPct val="140000"/>
              </a:lnSpc>
            </a:pPr>
            <a:r>
              <a:rPr kumimoji="1" lang="en-US" altLang="zh-CN"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由集合</a:t>
            </a:r>
            <a:r>
              <a:rPr kumimoji="1" lang="zh-CN" altLang="en-US" sz="1600" i="1" dirty="0">
                <a:uFillTx/>
                <a:latin typeface="Times New Roman" panose="02020603050405020304" pitchFamily="18" charset="0"/>
                <a:ea typeface="微软雅黑" panose="020B0503020204020204" pitchFamily="34" charset="-122"/>
                <a:cs typeface="微软雅黑" panose="020B0503020204020204" pitchFamily="34" charset="-122"/>
                <a:sym typeface="+mn-ea"/>
              </a:rPr>
              <a:t>A</a:t>
            </a:r>
            <a:r>
              <a:rPr kumimoji="1" lang="en-US" altLang="zh-CN" sz="1600" i="1" dirty="0">
                <a:uFillTx/>
                <a:latin typeface="Times New Roman" panose="02020603050405020304" pitchFamily="18" charset="0"/>
                <a:ea typeface="微软雅黑" panose="020B0503020204020204" pitchFamily="34" charset="-122"/>
                <a:cs typeface="微软雅黑" panose="020B0503020204020204" pitchFamily="34" charset="-122"/>
                <a:sym typeface="+mn-ea"/>
              </a:rPr>
              <a:t>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和背景组成的图像</a:t>
            </a:r>
            <a:r>
              <a:rPr kumimoji="1" lang="en-US" altLang="zh-CN"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 </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I</a:t>
            </a:r>
            <a:r>
              <a:rPr kumimoji="1" lang="en-US" altLang="zh-CN"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t>
            </a:r>
          </a:p>
          <a:p>
            <a:pPr>
              <a:lnSpc>
                <a:spcPct val="140000"/>
              </a:lnSpc>
            </a:pPr>
            <a:r>
              <a:rPr kumimoji="1" lang="en-US" altLang="zh-CN"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(b)</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结构元</a:t>
            </a:r>
            <a:r>
              <a:rPr kumimoji="1" lang="en-US" altLang="zh-CN"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 </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B</a:t>
            </a:r>
            <a:r>
              <a:rPr kumimoji="1" lang="en-US" altLang="zh-CN"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t>
            </a:r>
          </a:p>
          <a:p>
            <a:pPr>
              <a:lnSpc>
                <a:spcPct val="140000"/>
              </a:lnSpc>
            </a:pPr>
            <a:r>
              <a:rPr kumimoji="1" lang="en-US" altLang="zh-CN"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(c)</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B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不与</a:t>
            </a:r>
            <a:r>
              <a:rPr kumimoji="1" lang="en-US" altLang="zh-CN"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 </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的任何部分重叠时，</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B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的平移</a:t>
            </a:r>
            <a:r>
              <a:rPr kumimoji="1" lang="en-US" altLang="zh-CN"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为清楚起见，</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显示为暗色</a:t>
            </a:r>
            <a:r>
              <a:rPr kumimoji="1" lang="en-US" altLang="zh-CN"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a:t>
            </a:r>
          </a:p>
          <a:p>
            <a:pPr>
              <a:lnSpc>
                <a:spcPct val="140000"/>
              </a:lnSpc>
            </a:pPr>
            <a:r>
              <a:rPr kumimoji="1" lang="en-US" altLang="zh-CN"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(d)</a:t>
            </a:r>
            <a:r>
              <a:rPr kumimoji="1" lang="en-US" altLang="zh-CN" sz="1600" i="1"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B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对</a:t>
            </a:r>
            <a:r>
              <a:rPr kumimoji="1" lang="en-US" altLang="zh-CN"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 </a:t>
            </a:r>
            <a:r>
              <a:rPr kumimoji="1" lang="en-US" altLang="zh-CN" sz="1600" i="1" dirty="0">
                <a:uFillTx/>
                <a:latin typeface="Times New Roman" panose="02020603050405020304" pitchFamily="18" charset="0"/>
                <a:ea typeface="微软雅黑" panose="020B0503020204020204" pitchFamily="34" charset="-122"/>
                <a:cs typeface="微软雅黑" panose="020B0503020204020204" pitchFamily="34" charset="-122"/>
                <a:sym typeface="+mn-ea"/>
              </a:rPr>
              <a:t>A </a:t>
            </a:r>
            <a:r>
              <a:rPr kumimoji="1" lang="zh-CN" altLang="en-US" sz="1600" dirty="0">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rPr>
              <a:t>的闭运算</a:t>
            </a:r>
          </a:p>
        </p:txBody>
      </p:sp>
      <p:pic>
        <p:nvPicPr>
          <p:cNvPr id="2" name="图片 1"/>
          <p:cNvPicPr>
            <a:picLocks noChangeAspect="1"/>
          </p:cNvPicPr>
          <p:nvPr/>
        </p:nvPicPr>
        <p:blipFill>
          <a:blip r:embed="rId8"/>
          <a:stretch>
            <a:fillRect/>
          </a:stretch>
        </p:blipFill>
        <p:spPr>
          <a:xfrm>
            <a:off x="539115" y="3131185"/>
            <a:ext cx="4742815" cy="1513205"/>
          </a:xfrm>
          <a:prstGeom prst="rect">
            <a:avLst/>
          </a:prstGeom>
        </p:spPr>
      </p:pic>
      <p:pic>
        <p:nvPicPr>
          <p:cNvPr id="5" name="图片 4"/>
          <p:cNvPicPr>
            <a:picLocks noChangeAspect="1"/>
          </p:cNvPicPr>
          <p:nvPr/>
        </p:nvPicPr>
        <p:blipFill>
          <a:blip r:embed="rId9"/>
          <a:stretch>
            <a:fillRect/>
          </a:stretch>
        </p:blipFill>
        <p:spPr>
          <a:xfrm>
            <a:off x="467360" y="4653280"/>
            <a:ext cx="4903470" cy="1464310"/>
          </a:xfrm>
          <a:prstGeom prst="rect">
            <a:avLst/>
          </a:prstGeom>
        </p:spPr>
      </p:pic>
      <p:sp>
        <p:nvSpPr>
          <p:cNvPr id="9" name="矩形: 圆角 8">
            <a:extLst>
              <a:ext uri="{FF2B5EF4-FFF2-40B4-BE49-F238E27FC236}">
                <a16:creationId xmlns:a16="http://schemas.microsoft.com/office/drawing/2014/main" id="{2490ABCB-A265-4CC0-A467-BBFE0BD81C1D}"/>
              </a:ext>
            </a:extLst>
          </p:cNvPr>
          <p:cNvSpPr/>
          <p:nvPr/>
        </p:nvSpPr>
        <p:spPr bwMode="auto">
          <a:xfrm>
            <a:off x="1524001" y="5445224"/>
            <a:ext cx="383703" cy="216024"/>
          </a:xfrm>
          <a:prstGeom prst="roundRect">
            <a:avLst/>
          </a:prstGeom>
          <a:noFill/>
          <a:ln w="22225">
            <a:solidFill>
              <a:srgbClr val="FF0000"/>
            </a:solidFill>
            <a:prstDash val="sysDash"/>
            <a:round/>
          </a:ln>
        </p:spPr>
        <p:txBody>
          <a:bodyPr rtlCol="0" anchor="ctr"/>
          <a:lstStyle/>
          <a:p>
            <a:pPr algn="ct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3. </a:t>
            </a:r>
            <a:r>
              <a:rPr lang="zh-CN" altLang="en-US" dirty="0"/>
              <a:t>开运算与闭运算</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20</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35843" name="Rectangle 5"/>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45" name="Rectangle 7"/>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48" name="Rectangle 14"/>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50" name="Rectangle 16"/>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52" name="Rectangle 18"/>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6" name="文本框 5"/>
          <p:cNvSpPr txBox="1"/>
          <p:nvPr/>
        </p:nvSpPr>
        <p:spPr>
          <a:xfrm>
            <a:off x="611505" y="836930"/>
            <a:ext cx="7837805" cy="810260"/>
          </a:xfrm>
          <a:prstGeom prst="rect">
            <a:avLst/>
          </a:prstGeom>
          <a:noFill/>
        </p:spPr>
        <p:txBody>
          <a:bodyPr wrap="square" rtlCol="0" anchor="t">
            <a:spAutoFit/>
          </a:bodyPr>
          <a:lstStyle/>
          <a:p>
            <a:pPr indent="457200" algn="just">
              <a:lnSpc>
                <a:spcPct val="130000"/>
              </a:lnSpc>
            </a:pPr>
            <a:r>
              <a:rPr lang="zh-CN" altLang="en-US" sz="1800" b="1" dirty="0">
                <a:uFillTx/>
                <a:latin typeface="Times New Roman" panose="02020603050405020304" pitchFamily="18" charset="0"/>
                <a:ea typeface="微软雅黑" panose="020B0503020204020204" pitchFamily="34" charset="-122"/>
                <a:sym typeface="+mn-ea"/>
              </a:rPr>
              <a:t>开运算</a:t>
            </a:r>
            <a:r>
              <a:rPr lang="zh-CN" altLang="en-US" sz="1800" dirty="0">
                <a:uFillTx/>
                <a:latin typeface="Times New Roman" panose="02020603050405020304" pitchFamily="18" charset="0"/>
                <a:ea typeface="微软雅黑" panose="020B0503020204020204" pitchFamily="34" charset="-122"/>
                <a:sym typeface="+mn-ea"/>
              </a:rPr>
              <a:t>与</a:t>
            </a:r>
            <a:r>
              <a:rPr lang="zh-CN" altLang="en-US" sz="1800" b="1" dirty="0">
                <a:uFillTx/>
                <a:latin typeface="Times New Roman" panose="02020603050405020304" pitchFamily="18" charset="0"/>
                <a:ea typeface="微软雅黑" panose="020B0503020204020204" pitchFamily="34" charset="-122"/>
                <a:sym typeface="+mn-ea"/>
              </a:rPr>
              <a:t>闭运算</a:t>
            </a:r>
            <a:r>
              <a:rPr lang="zh-CN" altLang="en-US" sz="1800" dirty="0">
                <a:uFillTx/>
                <a:latin typeface="Times New Roman" panose="02020603050405020304" pitchFamily="18" charset="0"/>
                <a:ea typeface="微软雅黑" panose="020B0503020204020204" pitchFamily="34" charset="-122"/>
                <a:sym typeface="+mn-ea"/>
              </a:rPr>
              <a:t>与</a:t>
            </a:r>
            <a:r>
              <a:rPr lang="zh-CN" altLang="en-US" sz="1800" b="1" dirty="0">
                <a:uFillTx/>
                <a:latin typeface="Times New Roman" panose="02020603050405020304" pitchFamily="18" charset="0"/>
                <a:ea typeface="微软雅黑" panose="020B0503020204020204" pitchFamily="34" charset="-122"/>
                <a:sym typeface="+mn-ea"/>
              </a:rPr>
              <a:t>腐蚀</a:t>
            </a:r>
            <a:r>
              <a:rPr lang="zh-CN" altLang="en-US" sz="1800" dirty="0">
                <a:uFillTx/>
                <a:latin typeface="Times New Roman" panose="02020603050405020304" pitchFamily="18" charset="0"/>
                <a:ea typeface="微软雅黑" panose="020B0503020204020204" pitchFamily="34" charset="-122"/>
                <a:sym typeface="+mn-ea"/>
              </a:rPr>
              <a:t>和</a:t>
            </a:r>
            <a:r>
              <a:rPr lang="zh-CN" altLang="en-US" sz="1800" b="1" dirty="0">
                <a:uFillTx/>
                <a:latin typeface="Times New Roman" panose="02020603050405020304" pitchFamily="18" charset="0"/>
                <a:ea typeface="微软雅黑" panose="020B0503020204020204" pitchFamily="34" charset="-122"/>
                <a:sym typeface="+mn-ea"/>
              </a:rPr>
              <a:t>膨胀</a:t>
            </a:r>
            <a:r>
              <a:rPr lang="zh-CN" altLang="en-US" sz="1800" dirty="0">
                <a:uFillTx/>
                <a:latin typeface="Times New Roman" panose="02020603050405020304" pitchFamily="18" charset="0"/>
                <a:ea typeface="微软雅黑" panose="020B0503020204020204" pitchFamily="34" charset="-122"/>
                <a:sym typeface="+mn-ea"/>
              </a:rPr>
              <a:t>之间有着千丝万缕的关系，下面的图可以让我们更好的对这四种方法加以理解。</a:t>
            </a:r>
            <a:endParaRPr lang="en-US" altLang="zh-CN" sz="1800" dirty="0">
              <a:uFillTx/>
              <a:latin typeface="Times New Roman" panose="02020603050405020304" pitchFamily="18" charset="0"/>
              <a:ea typeface="微软雅黑" panose="020B0503020204020204" pitchFamily="34" charset="-122"/>
              <a:sym typeface="+mn-ea"/>
            </a:endParaRPr>
          </a:p>
        </p:txBody>
      </p:sp>
      <p:pic>
        <p:nvPicPr>
          <p:cNvPr id="7" name="图片 6"/>
          <p:cNvPicPr>
            <a:picLocks noChangeAspect="1"/>
          </p:cNvPicPr>
          <p:nvPr/>
        </p:nvPicPr>
        <p:blipFill>
          <a:blip r:embed="rId3"/>
          <a:stretch>
            <a:fillRect/>
          </a:stretch>
        </p:blipFill>
        <p:spPr>
          <a:xfrm>
            <a:off x="611505" y="2924810"/>
            <a:ext cx="2751455" cy="1188085"/>
          </a:xfrm>
          <a:prstGeom prst="rect">
            <a:avLst/>
          </a:prstGeom>
        </p:spPr>
      </p:pic>
      <p:pic>
        <p:nvPicPr>
          <p:cNvPr id="8" name="图片 7"/>
          <p:cNvPicPr>
            <a:picLocks noChangeAspect="1"/>
          </p:cNvPicPr>
          <p:nvPr/>
        </p:nvPicPr>
        <p:blipFill>
          <a:blip r:embed="rId4"/>
          <a:stretch>
            <a:fillRect/>
          </a:stretch>
        </p:blipFill>
        <p:spPr>
          <a:xfrm>
            <a:off x="4710430" y="1569402"/>
            <a:ext cx="3644900" cy="4194175"/>
          </a:xfrm>
          <a:prstGeom prst="rect">
            <a:avLst/>
          </a:prstGeom>
        </p:spPr>
      </p:pic>
      <p:sp>
        <p:nvSpPr>
          <p:cNvPr id="9" name="右箭头 8"/>
          <p:cNvSpPr/>
          <p:nvPr/>
        </p:nvSpPr>
        <p:spPr>
          <a:xfrm>
            <a:off x="3419475" y="3284855"/>
            <a:ext cx="469265" cy="381635"/>
          </a:xfrm>
          <a:prstGeom prst="rightArrow">
            <a:avLst/>
          </a:prstGeom>
          <a:noFill/>
          <a:ln w="19050">
            <a:solidFill>
              <a:schemeClr val="tx2"/>
            </a:solidFill>
            <a:round/>
          </a:ln>
        </p:spPr>
        <p:txBody>
          <a:bodyPr/>
          <a:lstStyle/>
          <a:p>
            <a:endParaRPr lang="zh-CN" altLang="en-US"/>
          </a:p>
        </p:txBody>
      </p:sp>
      <p:sp>
        <p:nvSpPr>
          <p:cNvPr id="10" name="文本框 9"/>
          <p:cNvSpPr txBox="1"/>
          <p:nvPr/>
        </p:nvSpPr>
        <p:spPr>
          <a:xfrm>
            <a:off x="4032250" y="2060575"/>
            <a:ext cx="678180" cy="368300"/>
          </a:xfrm>
          <a:prstGeom prst="rect">
            <a:avLst/>
          </a:prstGeom>
          <a:noFill/>
        </p:spPr>
        <p:txBody>
          <a:bodyPr wrap="square" rtlCol="0" anchor="t">
            <a:spAutoFit/>
          </a:bodyPr>
          <a:lstStyle/>
          <a:p>
            <a:r>
              <a:rPr lang="zh-CN" altLang="en-US" sz="1800" b="1" dirty="0">
                <a:uFillTx/>
                <a:latin typeface="Times New Roman" panose="02020603050405020304" pitchFamily="18" charset="0"/>
                <a:ea typeface="微软雅黑" panose="020B0503020204020204" pitchFamily="34" charset="-122"/>
                <a:sym typeface="+mn-ea"/>
              </a:rPr>
              <a:t>腐蚀</a:t>
            </a:r>
          </a:p>
        </p:txBody>
      </p:sp>
      <p:sp>
        <p:nvSpPr>
          <p:cNvPr id="11" name="文本框 10"/>
          <p:cNvSpPr txBox="1"/>
          <p:nvPr/>
        </p:nvSpPr>
        <p:spPr>
          <a:xfrm>
            <a:off x="3924935" y="3140710"/>
            <a:ext cx="994410" cy="368300"/>
          </a:xfrm>
          <a:prstGeom prst="rect">
            <a:avLst/>
          </a:prstGeom>
          <a:noFill/>
        </p:spPr>
        <p:txBody>
          <a:bodyPr wrap="square" rtlCol="0" anchor="t">
            <a:spAutoFit/>
          </a:bodyPr>
          <a:lstStyle/>
          <a:p>
            <a:r>
              <a:rPr lang="zh-CN" altLang="en-US" sz="1800" b="1" dirty="0">
                <a:uFillTx/>
                <a:latin typeface="Times New Roman" panose="02020603050405020304" pitchFamily="18" charset="0"/>
                <a:ea typeface="微软雅黑" panose="020B0503020204020204" pitchFamily="34" charset="-122"/>
                <a:sym typeface="+mn-ea"/>
              </a:rPr>
              <a:t>开运算</a:t>
            </a:r>
          </a:p>
        </p:txBody>
      </p:sp>
      <p:sp>
        <p:nvSpPr>
          <p:cNvPr id="12" name="文本框 11"/>
          <p:cNvSpPr txBox="1"/>
          <p:nvPr/>
        </p:nvSpPr>
        <p:spPr>
          <a:xfrm>
            <a:off x="4067810" y="4112895"/>
            <a:ext cx="4572000" cy="368300"/>
          </a:xfrm>
          <a:prstGeom prst="rect">
            <a:avLst/>
          </a:prstGeom>
          <a:noFill/>
        </p:spPr>
        <p:txBody>
          <a:bodyPr wrap="square" rtlCol="0" anchor="t">
            <a:spAutoFit/>
          </a:bodyPr>
          <a:lstStyle/>
          <a:p>
            <a:r>
              <a:rPr lang="zh-CN" altLang="en-US" sz="1800" b="1" dirty="0">
                <a:uFillTx/>
                <a:latin typeface="Times New Roman" panose="02020603050405020304" pitchFamily="18" charset="0"/>
                <a:ea typeface="微软雅黑" panose="020B0503020204020204" pitchFamily="34" charset="-122"/>
                <a:sym typeface="+mn-ea"/>
              </a:rPr>
              <a:t>膨胀</a:t>
            </a:r>
          </a:p>
        </p:txBody>
      </p:sp>
      <p:sp>
        <p:nvSpPr>
          <p:cNvPr id="13" name="文本框 12"/>
          <p:cNvSpPr txBox="1"/>
          <p:nvPr/>
        </p:nvSpPr>
        <p:spPr>
          <a:xfrm>
            <a:off x="3924935" y="5157470"/>
            <a:ext cx="4572000" cy="368300"/>
          </a:xfrm>
          <a:prstGeom prst="rect">
            <a:avLst/>
          </a:prstGeom>
          <a:noFill/>
        </p:spPr>
        <p:txBody>
          <a:bodyPr wrap="square" rtlCol="0" anchor="t">
            <a:spAutoFit/>
          </a:bodyPr>
          <a:lstStyle/>
          <a:p>
            <a:r>
              <a:rPr lang="zh-CN" altLang="en-US" sz="1800" b="1" dirty="0">
                <a:uFillTx/>
                <a:latin typeface="Times New Roman" panose="02020603050405020304" pitchFamily="18" charset="0"/>
                <a:ea typeface="微软雅黑" panose="020B0503020204020204" pitchFamily="34" charset="-122"/>
                <a:sym typeface="+mn-ea"/>
              </a:rPr>
              <a:t>闭运算</a:t>
            </a:r>
          </a:p>
        </p:txBody>
      </p:sp>
      <p:grpSp>
        <p:nvGrpSpPr>
          <p:cNvPr id="14" name="组合 13">
            <a:extLst>
              <a:ext uri="{FF2B5EF4-FFF2-40B4-BE49-F238E27FC236}">
                <a16:creationId xmlns:a16="http://schemas.microsoft.com/office/drawing/2014/main" id="{FA19170E-1B9B-4BAC-9FFF-2DF50740587B}"/>
              </a:ext>
            </a:extLst>
          </p:cNvPr>
          <p:cNvGrpSpPr/>
          <p:nvPr/>
        </p:nvGrpSpPr>
        <p:grpSpPr>
          <a:xfrm>
            <a:off x="3817620" y="2492896"/>
            <a:ext cx="610364" cy="647814"/>
            <a:chOff x="3817620" y="2492896"/>
            <a:chExt cx="610364" cy="647814"/>
          </a:xfrm>
        </p:grpSpPr>
        <p:cxnSp>
          <p:nvCxnSpPr>
            <p:cNvPr id="5" name="直接箭头连接符 4">
              <a:extLst>
                <a:ext uri="{FF2B5EF4-FFF2-40B4-BE49-F238E27FC236}">
                  <a16:creationId xmlns:a16="http://schemas.microsoft.com/office/drawing/2014/main" id="{9F2BF28F-2C41-4238-AD17-6333D9521D9A}"/>
                </a:ext>
              </a:extLst>
            </p:cNvPr>
            <p:cNvCxnSpPr>
              <a:endCxn id="11" idx="0"/>
            </p:cNvCxnSpPr>
            <p:nvPr/>
          </p:nvCxnSpPr>
          <p:spPr>
            <a:xfrm flipH="1">
              <a:off x="4422140" y="2492896"/>
              <a:ext cx="5844" cy="647814"/>
            </a:xfrm>
            <a:prstGeom prst="straightConnector1">
              <a:avLst/>
            </a:prstGeom>
            <a:ln>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0260A4C1-0742-4753-AA64-91A0005FA7F7}"/>
                </a:ext>
              </a:extLst>
            </p:cNvPr>
            <p:cNvSpPr txBox="1"/>
            <p:nvPr/>
          </p:nvSpPr>
          <p:spPr>
            <a:xfrm>
              <a:off x="3817620" y="2607895"/>
              <a:ext cx="604520" cy="338554"/>
            </a:xfrm>
            <a:prstGeom prst="rect">
              <a:avLst/>
            </a:prstGeom>
            <a:noFill/>
          </p:spPr>
          <p:txBody>
            <a:bodyPr wrap="square" rtlCol="0" anchor="t">
              <a:spAutoFit/>
            </a:bodyPr>
            <a:lstStyle/>
            <a:p>
              <a:r>
                <a:rPr lang="zh-CN" altLang="en-US" sz="1600" b="1" dirty="0">
                  <a:solidFill>
                    <a:schemeClr val="tx2">
                      <a:lumMod val="60000"/>
                      <a:lumOff val="40000"/>
                    </a:schemeClr>
                  </a:solidFill>
                  <a:uFillTx/>
                  <a:latin typeface="Times New Roman" panose="02020603050405020304" pitchFamily="18" charset="0"/>
                  <a:ea typeface="微软雅黑" panose="020B0503020204020204" pitchFamily="34" charset="-122"/>
                  <a:sym typeface="+mn-ea"/>
                </a:rPr>
                <a:t>膨胀</a:t>
              </a:r>
            </a:p>
          </p:txBody>
        </p:sp>
      </p:grpSp>
      <p:grpSp>
        <p:nvGrpSpPr>
          <p:cNvPr id="15" name="组合 14">
            <a:extLst>
              <a:ext uri="{FF2B5EF4-FFF2-40B4-BE49-F238E27FC236}">
                <a16:creationId xmlns:a16="http://schemas.microsoft.com/office/drawing/2014/main" id="{91B45EAE-18B4-4F57-88B1-9D06BE02E509}"/>
              </a:ext>
            </a:extLst>
          </p:cNvPr>
          <p:cNvGrpSpPr/>
          <p:nvPr/>
        </p:nvGrpSpPr>
        <p:grpSpPr>
          <a:xfrm>
            <a:off x="3763898" y="4510877"/>
            <a:ext cx="610364" cy="647814"/>
            <a:chOff x="3763898" y="4510877"/>
            <a:chExt cx="610364" cy="647814"/>
          </a:xfrm>
        </p:grpSpPr>
        <p:cxnSp>
          <p:nvCxnSpPr>
            <p:cNvPr id="20" name="直接箭头连接符 19">
              <a:extLst>
                <a:ext uri="{FF2B5EF4-FFF2-40B4-BE49-F238E27FC236}">
                  <a16:creationId xmlns:a16="http://schemas.microsoft.com/office/drawing/2014/main" id="{5550F619-1362-4DBB-9DB8-D002C4E0F39E}"/>
                </a:ext>
              </a:extLst>
            </p:cNvPr>
            <p:cNvCxnSpPr/>
            <p:nvPr/>
          </p:nvCxnSpPr>
          <p:spPr>
            <a:xfrm flipH="1">
              <a:off x="4368418" y="4510877"/>
              <a:ext cx="5844" cy="647814"/>
            </a:xfrm>
            <a:prstGeom prst="straightConnector1">
              <a:avLst/>
            </a:prstGeom>
            <a:ln>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9FA782AD-223C-43A5-9F96-4490F809DB5E}"/>
                </a:ext>
              </a:extLst>
            </p:cNvPr>
            <p:cNvSpPr txBox="1"/>
            <p:nvPr/>
          </p:nvSpPr>
          <p:spPr>
            <a:xfrm>
              <a:off x="3763898" y="4625876"/>
              <a:ext cx="604520" cy="338554"/>
            </a:xfrm>
            <a:prstGeom prst="rect">
              <a:avLst/>
            </a:prstGeom>
            <a:noFill/>
          </p:spPr>
          <p:txBody>
            <a:bodyPr wrap="square" rtlCol="0" anchor="t">
              <a:spAutoFit/>
            </a:bodyPr>
            <a:lstStyle/>
            <a:p>
              <a:r>
                <a:rPr lang="zh-CN" altLang="en-US" sz="1600" b="1" dirty="0">
                  <a:solidFill>
                    <a:schemeClr val="tx2">
                      <a:lumMod val="60000"/>
                      <a:lumOff val="40000"/>
                    </a:schemeClr>
                  </a:solidFill>
                  <a:latin typeface="Times New Roman" panose="02020603050405020304" pitchFamily="18" charset="0"/>
                  <a:ea typeface="微软雅黑" panose="020B0503020204020204" pitchFamily="34" charset="-122"/>
                  <a:sym typeface="+mn-ea"/>
                </a:rPr>
                <a:t>腐蚀</a:t>
              </a:r>
              <a:endParaRPr lang="zh-CN" altLang="en-US" sz="1600" b="1" dirty="0">
                <a:solidFill>
                  <a:schemeClr val="tx2">
                    <a:lumMod val="60000"/>
                    <a:lumOff val="40000"/>
                  </a:schemeClr>
                </a:solidFill>
                <a:uFillTx/>
                <a:latin typeface="Times New Roman" panose="02020603050405020304" pitchFamily="18" charset="0"/>
                <a:ea typeface="微软雅黑" panose="020B0503020204020204" pitchFamily="34" charset="-122"/>
                <a:sym typeface="+mn-ea"/>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p:bldP spid="10" grpId="1"/>
      <p:bldP spid="11" grpId="0"/>
      <p:bldP spid="11" grpId="1"/>
      <p:bldP spid="12" grpId="0"/>
      <p:bldP spid="12" grpId="1"/>
      <p:bldP spid="13" grpId="0"/>
      <p:bldP spid="13" grpId="1"/>
      <p:bldP spid="19" grpId="1"/>
      <p:bldP spid="21"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3. </a:t>
            </a:r>
            <a:r>
              <a:rPr lang="zh-CN" altLang="en-US" dirty="0"/>
              <a:t>运算性质</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21</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35843" name="Rectangle 5"/>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45" name="Rectangle 7"/>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48" name="Rectangle 14"/>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50" name="Rectangle 16"/>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52" name="Rectangle 18"/>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112644" name="Rectangle 4"/>
          <p:cNvSpPr>
            <a:spLocks noChangeArrowheads="1"/>
          </p:cNvSpPr>
          <p:nvPr/>
        </p:nvSpPr>
        <p:spPr bwMode="auto">
          <a:xfrm>
            <a:off x="539750" y="836613"/>
            <a:ext cx="56880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800" b="1" baseline="0">
                <a:latin typeface="微软雅黑" panose="020B0503020204020204" pitchFamily="34" charset="-122"/>
                <a:ea typeface="微软雅黑" panose="020B0503020204020204" pitchFamily="34" charset="-122"/>
              </a:rPr>
              <a:t>开运算与闭</a:t>
            </a:r>
            <a:r>
              <a:rPr lang="zh-CN" altLang="en-US" sz="1800" b="1">
                <a:latin typeface="微软雅黑" panose="020B0503020204020204" pitchFamily="34" charset="-122"/>
                <a:ea typeface="微软雅黑" panose="020B0503020204020204" pitchFamily="34" charset="-122"/>
                <a:sym typeface="+mn-ea"/>
              </a:rPr>
              <a:t>运算</a:t>
            </a:r>
            <a:r>
              <a:rPr lang="zh-CN" altLang="en-US" sz="1800" b="1" baseline="0">
                <a:latin typeface="微软雅黑" panose="020B0503020204020204" pitchFamily="34" charset="-122"/>
                <a:ea typeface="微软雅黑" panose="020B0503020204020204" pitchFamily="34" charset="-122"/>
              </a:rPr>
              <a:t>的性质：</a:t>
            </a:r>
          </a:p>
        </p:txBody>
      </p:sp>
      <p:graphicFrame>
        <p:nvGraphicFramePr>
          <p:cNvPr id="112650" name="Object 10"/>
          <p:cNvGraphicFramePr>
            <a:graphicFrameLocks noGrp="1" noChangeAspect="1"/>
          </p:cNvGraphicFramePr>
          <p:nvPr>
            <p:ph sz="quarter" idx="1"/>
          </p:nvPr>
        </p:nvGraphicFramePr>
        <p:xfrm>
          <a:off x="2686050" y="2787650"/>
          <a:ext cx="114300" cy="215900"/>
        </p:xfrm>
        <a:graphic>
          <a:graphicData uri="http://schemas.openxmlformats.org/presentationml/2006/ole">
            <mc:AlternateContent xmlns:mc="http://schemas.openxmlformats.org/markup-compatibility/2006">
              <mc:Choice xmlns:v="urn:schemas-microsoft-com:vml" Requires="v">
                <p:oleObj spid="_x0000_s113284" name="公式" r:id="rId4" imgW="114300" imgH="215900" progId="Equation.3">
                  <p:embed/>
                </p:oleObj>
              </mc:Choice>
              <mc:Fallback>
                <p:oleObj name="公式" r:id="rId4" imgW="114300" imgH="21590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6050" y="27876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12657" name="Text Box 17"/>
              <p:cNvSpPr txBox="1">
                <a:spLocks noChangeArrowheads="1"/>
              </p:cNvSpPr>
              <p:nvPr/>
            </p:nvSpPr>
            <p:spPr bwMode="auto">
              <a:xfrm>
                <a:off x="539751" y="3140968"/>
                <a:ext cx="6480522" cy="308956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nchor="b">
                <a:spAutoFit/>
              </a:bodyPr>
              <a:lstStyle>
                <a:lvl1pPr marL="495300" indent="-495300">
                  <a:defRPr kumimoji="1" sz="2400">
                    <a:solidFill>
                      <a:schemeClr val="tx1"/>
                    </a:solidFill>
                    <a:latin typeface="Times New Roman" panose="02020603050405020304" pitchFamily="18" charset="0"/>
                    <a:ea typeface="宋体" panose="02010600030101010101" pitchFamily="2" charset="-122"/>
                  </a:defRPr>
                </a:lvl1pPr>
                <a:lvl2pPr marL="952500" indent="-495300">
                  <a:defRPr kumimoji="1" sz="2400">
                    <a:solidFill>
                      <a:schemeClr val="tx1"/>
                    </a:solidFill>
                    <a:latin typeface="Times New Roman" panose="02020603050405020304" pitchFamily="18" charset="0"/>
                    <a:ea typeface="宋体" panose="02010600030101010101" pitchFamily="2" charset="-122"/>
                  </a:defRPr>
                </a:lvl2pPr>
                <a:lvl3pPr marL="1409700" indent="-495300">
                  <a:defRPr kumimoji="1" sz="2400">
                    <a:solidFill>
                      <a:schemeClr val="tx1"/>
                    </a:solidFill>
                    <a:latin typeface="Times New Roman" panose="02020603050405020304" pitchFamily="18" charset="0"/>
                    <a:ea typeface="宋体" panose="02010600030101010101" pitchFamily="2" charset="-122"/>
                  </a:defRPr>
                </a:lvl3pPr>
                <a:lvl4pPr marL="1866900" indent="-495300">
                  <a:defRPr kumimoji="1" sz="2400">
                    <a:solidFill>
                      <a:schemeClr val="tx1"/>
                    </a:solidFill>
                    <a:latin typeface="Times New Roman" panose="02020603050405020304" pitchFamily="18" charset="0"/>
                    <a:ea typeface="宋体" panose="02010600030101010101" pitchFamily="2" charset="-122"/>
                  </a:defRPr>
                </a:lvl4pPr>
                <a:lvl5pPr marL="2324100" indent="-495300">
                  <a:defRPr kumimoji="1" sz="2400">
                    <a:solidFill>
                      <a:schemeClr val="tx1"/>
                    </a:solidFill>
                    <a:latin typeface="Times New Roman" panose="02020603050405020304" pitchFamily="18" charset="0"/>
                    <a:ea typeface="宋体" panose="02010600030101010101" pitchFamily="2" charset="-122"/>
                  </a:defRPr>
                </a:lvl5pPr>
                <a:lvl6pPr marL="2781300" indent="-4953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38500" indent="-4953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95700" indent="-4953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52900" indent="-4953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sz="1800" baseline="0" dirty="0">
                    <a:ea typeface="微软雅黑" panose="020B0503020204020204" pitchFamily="34" charset="-122"/>
                    <a:cs typeface="Times New Roman" panose="02020603050405020304" pitchFamily="18" charset="0"/>
                  </a:rPr>
                  <a:t>开运算满足下列性质：</a:t>
                </a:r>
              </a:p>
              <a:p>
                <a:pPr>
                  <a:lnSpc>
                    <a:spcPct val="110000"/>
                  </a:lnSpc>
                </a:pPr>
                <a:r>
                  <a:rPr lang="en-US" altLang="zh-CN" sz="1800" baseline="0" dirty="0">
                    <a:ea typeface="微软雅黑" panose="020B0503020204020204" pitchFamily="34" charset="-122"/>
                    <a:cs typeface="Times New Roman" panose="02020603050405020304" pitchFamily="18" charset="0"/>
                  </a:rPr>
                  <a:t>(</a:t>
                </a:r>
                <a:r>
                  <a:rPr lang="en-US" altLang="zh-CN" sz="1800" baseline="0" dirty="0" err="1">
                    <a:ea typeface="微软雅黑" panose="020B0503020204020204" pitchFamily="34" charset="-122"/>
                    <a:cs typeface="Times New Roman" panose="02020603050405020304" pitchFamily="18" charset="0"/>
                  </a:rPr>
                  <a:t>i</a:t>
                </a:r>
                <a:r>
                  <a:rPr lang="en-US" altLang="zh-CN" sz="1800" baseline="0" dirty="0">
                    <a:ea typeface="微软雅黑" panose="020B0503020204020204" pitchFamily="34" charset="-122"/>
                    <a:cs typeface="Times New Roman" panose="02020603050405020304" pitchFamily="18" charset="0"/>
                  </a:rPr>
                  <a:t>)</a:t>
                </a:r>
                <a14:m>
                  <m:oMath xmlns:m="http://schemas.openxmlformats.org/officeDocument/2006/math">
                    <m:r>
                      <a:rPr lang="en-US" altLang="zh-CN" sz="1800" i="1" baseline="0">
                        <a:latin typeface="Cambria Math" panose="02040503050406030204" pitchFamily="18" charset="0"/>
                        <a:ea typeface="微软雅黑" panose="020B0503020204020204" pitchFamily="34" charset="-122"/>
                        <a:cs typeface="Cambria Math" panose="02040503050406030204" pitchFamily="18" charset="0"/>
                      </a:rPr>
                      <m:t>𝐴</m:t>
                    </m:r>
                    <m:r>
                      <a:rPr lang="en-US" altLang="zh-CN" sz="1800" i="1" baseline="0" smtClean="0">
                        <a:latin typeface="Cambria Math" panose="02040503050406030204" pitchFamily="18" charset="0"/>
                        <a:ea typeface="MS Mincho" charset="0"/>
                        <a:cs typeface="Cambria Math" panose="02040503050406030204" pitchFamily="18" charset="0"/>
                      </a:rPr>
                      <m:t>°</m:t>
                    </m:r>
                    <m:r>
                      <a:rPr lang="en-US" altLang="zh-CN" sz="1800" i="1" baseline="0">
                        <a:latin typeface="Cambria Math" panose="02040503050406030204" pitchFamily="18" charset="0"/>
                        <a:ea typeface="微软雅黑" panose="020B0503020204020204" pitchFamily="34" charset="-122"/>
                        <a:cs typeface="Cambria Math" panose="02040503050406030204" pitchFamily="18" charset="0"/>
                      </a:rPr>
                      <m:t>𝐵</m:t>
                    </m:r>
                  </m:oMath>
                </a14:m>
                <a:r>
                  <a:rPr lang="zh-CN" altLang="en-US" sz="1800" baseline="0" dirty="0">
                    <a:ea typeface="微软雅黑" panose="020B0503020204020204" pitchFamily="34" charset="-122"/>
                    <a:cs typeface="Times New Roman" panose="02020603050405020304" pitchFamily="18" charset="0"/>
                  </a:rPr>
                  <a:t>是</a:t>
                </a:r>
                <a:r>
                  <a:rPr lang="en-US" altLang="zh-CN" sz="1800" i="1" baseline="0" dirty="0">
                    <a:ea typeface="微软雅黑" panose="020B0503020204020204" pitchFamily="34" charset="-122"/>
                    <a:cs typeface="Times New Roman" panose="02020603050405020304" pitchFamily="18" charset="0"/>
                  </a:rPr>
                  <a:t>A</a:t>
                </a:r>
                <a:r>
                  <a:rPr lang="zh-CN" altLang="en-US" sz="1800" baseline="0" dirty="0">
                    <a:ea typeface="微软雅黑" panose="020B0503020204020204" pitchFamily="34" charset="-122"/>
                    <a:cs typeface="Times New Roman" panose="02020603050405020304" pitchFamily="18" charset="0"/>
                  </a:rPr>
                  <a:t>的子集合（开操作后变小）。</a:t>
                </a:r>
              </a:p>
              <a:p>
                <a:pPr>
                  <a:lnSpc>
                    <a:spcPct val="110000"/>
                  </a:lnSpc>
                </a:pPr>
                <a:r>
                  <a:rPr lang="en-US" altLang="zh-CN" sz="1800" baseline="0" dirty="0">
                    <a:ea typeface="微软雅黑" panose="020B0503020204020204" pitchFamily="34" charset="-122"/>
                    <a:cs typeface="Times New Roman" panose="02020603050405020304" pitchFamily="18" charset="0"/>
                  </a:rPr>
                  <a:t>(ii) </a:t>
                </a:r>
                <a:r>
                  <a:rPr lang="zh-CN" altLang="en-US" sz="1800" baseline="0" dirty="0">
                    <a:ea typeface="微软雅黑" panose="020B0503020204020204" pitchFamily="34" charset="-122"/>
                    <a:cs typeface="Times New Roman" panose="02020603050405020304" pitchFamily="18" charset="0"/>
                  </a:rPr>
                  <a:t>如果</a:t>
                </a:r>
                <a:r>
                  <a:rPr lang="en-US" altLang="zh-CN" sz="1800" i="1" baseline="0" dirty="0">
                    <a:ea typeface="微软雅黑" panose="020B0503020204020204" pitchFamily="34" charset="-122"/>
                    <a:cs typeface="Times New Roman" panose="02020603050405020304" pitchFamily="18" charset="0"/>
                  </a:rPr>
                  <a:t>C</a:t>
                </a:r>
                <a:r>
                  <a:rPr lang="zh-CN" altLang="en-US" sz="1800" baseline="0" dirty="0">
                    <a:ea typeface="微软雅黑" panose="020B0503020204020204" pitchFamily="34" charset="-122"/>
                    <a:cs typeface="Times New Roman" panose="02020603050405020304" pitchFamily="18" charset="0"/>
                  </a:rPr>
                  <a:t>是</a:t>
                </a:r>
                <a:r>
                  <a:rPr lang="en-US" altLang="zh-CN" sz="1800" i="1" baseline="0" dirty="0">
                    <a:ea typeface="微软雅黑" panose="020B0503020204020204" pitchFamily="34" charset="-122"/>
                    <a:cs typeface="Times New Roman" panose="02020603050405020304" pitchFamily="18" charset="0"/>
                  </a:rPr>
                  <a:t>D</a:t>
                </a:r>
                <a:r>
                  <a:rPr lang="zh-CN" altLang="en-US" sz="1800" baseline="0" dirty="0">
                    <a:ea typeface="微软雅黑" panose="020B0503020204020204" pitchFamily="34" charset="-122"/>
                    <a:cs typeface="Times New Roman" panose="02020603050405020304" pitchFamily="18" charset="0"/>
                  </a:rPr>
                  <a:t>的子集合，则 </a:t>
                </a:r>
                <a:r>
                  <a:rPr lang="en-US" altLang="zh-CN" sz="1800" baseline="0" dirty="0">
                    <a:ea typeface="微软雅黑" panose="020B0503020204020204" pitchFamily="34" charset="-122"/>
                    <a:cs typeface="Times New Roman" panose="02020603050405020304" pitchFamily="18" charset="0"/>
                  </a:rPr>
                  <a:t>C</a:t>
                </a:r>
                <a14:m>
                  <m:oMath xmlns:m="http://schemas.openxmlformats.org/officeDocument/2006/math">
                    <m:r>
                      <a:rPr lang="en-US" altLang="zh-CN" sz="1800" b="0" i="1" baseline="0" smtClean="0">
                        <a:latin typeface="Cambria Math" panose="02040503050406030204" pitchFamily="18" charset="0"/>
                        <a:ea typeface="MS Mincho" charset="0"/>
                        <a:cs typeface="Cambria Math" panose="02040503050406030204" pitchFamily="18" charset="0"/>
                      </a:rPr>
                      <m:t>°</m:t>
                    </m:r>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𝐵</m:t>
                    </m:r>
                  </m:oMath>
                </a14:m>
                <a:r>
                  <a:rPr lang="zh-CN" altLang="en-US" sz="1800" baseline="0" dirty="0">
                    <a:ea typeface="微软雅黑" panose="020B0503020204020204" pitchFamily="34" charset="-122"/>
                    <a:cs typeface="Times New Roman" panose="02020603050405020304" pitchFamily="18" charset="0"/>
                  </a:rPr>
                  <a:t>是</a:t>
                </a:r>
                <a:r>
                  <a:rPr lang="en-US" altLang="zh-CN" sz="1800" baseline="0" dirty="0">
                    <a:ea typeface="微软雅黑" panose="020B0503020204020204" pitchFamily="34" charset="-122"/>
                    <a:cs typeface="Times New Roman" panose="02020603050405020304" pitchFamily="18" charset="0"/>
                  </a:rPr>
                  <a:t>D</a:t>
                </a:r>
                <a14:m>
                  <m:oMath xmlns:m="http://schemas.openxmlformats.org/officeDocument/2006/math">
                    <m:r>
                      <a:rPr lang="en-US" altLang="zh-CN" sz="1800" b="0" i="1" baseline="0" smtClean="0">
                        <a:latin typeface="Cambria Math" panose="02040503050406030204" pitchFamily="18" charset="0"/>
                        <a:ea typeface="MS Mincho" charset="0"/>
                        <a:cs typeface="Cambria Math" panose="02040503050406030204" pitchFamily="18" charset="0"/>
                      </a:rPr>
                      <m:t>°</m:t>
                    </m:r>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𝐵</m:t>
                    </m:r>
                  </m:oMath>
                </a14:m>
                <a:r>
                  <a:rPr lang="zh-CN" altLang="en-US" sz="1800" baseline="0" dirty="0">
                    <a:ea typeface="微软雅黑" panose="020B0503020204020204" pitchFamily="34" charset="-122"/>
                    <a:cs typeface="Times New Roman" panose="02020603050405020304" pitchFamily="18" charset="0"/>
                  </a:rPr>
                  <a:t>的子集。</a:t>
                </a:r>
              </a:p>
              <a:p>
                <a:pPr>
                  <a:lnSpc>
                    <a:spcPct val="110000"/>
                  </a:lnSpc>
                </a:pPr>
                <a:r>
                  <a:rPr lang="en-US" altLang="zh-CN" sz="1800" baseline="0" dirty="0">
                    <a:ea typeface="微软雅黑" panose="020B0503020204020204" pitchFamily="34" charset="-122"/>
                    <a:cs typeface="Times New Roman" panose="02020603050405020304" pitchFamily="18" charset="0"/>
                  </a:rPr>
                  <a:t>(iii) (</a:t>
                </a:r>
                <a14:m>
                  <m:oMath xmlns:m="http://schemas.openxmlformats.org/officeDocument/2006/math">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𝐴</m:t>
                    </m:r>
                    <m:r>
                      <a:rPr lang="en-US" altLang="zh-CN" sz="1800" b="0" i="1" baseline="0" smtClean="0">
                        <a:latin typeface="Cambria Math" panose="02040503050406030204" pitchFamily="18" charset="0"/>
                        <a:ea typeface="MS Mincho" charset="0"/>
                        <a:cs typeface="Cambria Math" panose="02040503050406030204" pitchFamily="18" charset="0"/>
                      </a:rPr>
                      <m:t>°</m:t>
                    </m:r>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𝐵</m:t>
                    </m:r>
                  </m:oMath>
                </a14:m>
                <a:r>
                  <a:rPr lang="en-US" altLang="zh-CN" sz="1800" baseline="0" dirty="0">
                    <a:ea typeface="微软雅黑" panose="020B0503020204020204" pitchFamily="34" charset="-122"/>
                    <a:cs typeface="Times New Roman" panose="02020603050405020304" pitchFamily="18" charset="0"/>
                  </a:rPr>
                  <a:t>)</a:t>
                </a:r>
                <a:r>
                  <a:rPr lang="en-US" altLang="zh-CN" sz="1800" b="0" baseline="0" dirty="0">
                    <a:ea typeface="微软雅黑" panose="020B0503020204020204" pitchFamily="34" charset="-122"/>
                    <a:cs typeface="Times New Roman" panose="02020603050405020304" pitchFamily="18" charset="0"/>
                  </a:rPr>
                  <a:t> </a:t>
                </a:r>
                <a14:m>
                  <m:oMath xmlns:m="http://schemas.openxmlformats.org/officeDocument/2006/math">
                    <m:r>
                      <a:rPr lang="en-US" altLang="zh-CN" sz="1800" b="0" i="1" baseline="0" smtClean="0">
                        <a:latin typeface="Cambria Math" panose="02040503050406030204" pitchFamily="18" charset="0"/>
                        <a:ea typeface="MS Mincho" charset="0"/>
                        <a:cs typeface="Cambria Math" panose="02040503050406030204" pitchFamily="18" charset="0"/>
                      </a:rPr>
                      <m:t>°</m:t>
                    </m:r>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𝐵</m:t>
                    </m:r>
                  </m:oMath>
                </a14:m>
                <a:r>
                  <a:rPr lang="en-US" altLang="zh-CN" sz="1800" baseline="0" dirty="0">
                    <a:ea typeface="微软雅黑" panose="020B0503020204020204" pitchFamily="34" charset="-122"/>
                    <a:cs typeface="Times New Roman" panose="02020603050405020304" pitchFamily="18" charset="0"/>
                  </a:rPr>
                  <a:t>=</a:t>
                </a:r>
                <a:r>
                  <a:rPr lang="en-US" altLang="zh-CN" sz="1800" b="0" baseline="0" dirty="0">
                    <a:ea typeface="微软雅黑" panose="020B0503020204020204" pitchFamily="34" charset="-122"/>
                    <a:cs typeface="Times New Roman" panose="02020603050405020304" pitchFamily="18" charset="0"/>
                  </a:rPr>
                  <a:t> A</a:t>
                </a:r>
                <a14:m>
                  <m:oMath xmlns:m="http://schemas.openxmlformats.org/officeDocument/2006/math">
                    <m:r>
                      <a:rPr lang="en-US" altLang="zh-CN" sz="1800" b="0" i="1" baseline="0" smtClean="0">
                        <a:latin typeface="Cambria Math" panose="02040503050406030204" pitchFamily="18" charset="0"/>
                        <a:ea typeface="MS Mincho" charset="0"/>
                        <a:cs typeface="Cambria Math" panose="02040503050406030204" pitchFamily="18" charset="0"/>
                      </a:rPr>
                      <m:t>°</m:t>
                    </m:r>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𝐵</m:t>
                    </m:r>
                  </m:oMath>
                </a14:m>
                <a:r>
                  <a:rPr lang="en-US" altLang="zh-CN" sz="1800" baseline="0" dirty="0">
                    <a:ea typeface="微软雅黑" panose="020B0503020204020204" pitchFamily="34" charset="-122"/>
                    <a:cs typeface="Times New Roman" panose="02020603050405020304" pitchFamily="18" charset="0"/>
                  </a:rPr>
                  <a:t> </a:t>
                </a:r>
                <a:r>
                  <a:rPr lang="zh-CN" altLang="en-US" sz="1800" baseline="0" dirty="0">
                    <a:ea typeface="微软雅黑" panose="020B0503020204020204" pitchFamily="34" charset="-122"/>
                    <a:cs typeface="Times New Roman" panose="02020603050405020304" pitchFamily="18" charset="0"/>
                  </a:rPr>
                  <a:t>（</a:t>
                </a:r>
                <a:r>
                  <a:rPr lang="zh-CN" altLang="en-US" sz="1800" baseline="0" dirty="0">
                    <a:solidFill>
                      <a:schemeClr val="tx2">
                        <a:lumMod val="60000"/>
                        <a:lumOff val="40000"/>
                      </a:schemeClr>
                    </a:solidFill>
                    <a:ea typeface="微软雅黑" panose="020B0503020204020204" pitchFamily="34" charset="-122"/>
                    <a:cs typeface="Times New Roman" panose="02020603050405020304" pitchFamily="18" charset="0"/>
                  </a:rPr>
                  <a:t>反复开等于一次开</a:t>
                </a:r>
                <a:r>
                  <a:rPr lang="zh-CN" altLang="en-US" sz="1800" baseline="0" dirty="0">
                    <a:ea typeface="微软雅黑" panose="020B0503020204020204" pitchFamily="34" charset="-122"/>
                    <a:cs typeface="Times New Roman" panose="02020603050405020304" pitchFamily="18" charset="0"/>
                  </a:rPr>
                  <a:t>）</a:t>
                </a:r>
                <a:endParaRPr lang="en-US" altLang="zh-CN" sz="1800" baseline="0" dirty="0">
                  <a:ea typeface="微软雅黑" panose="020B0503020204020204" pitchFamily="34" charset="-122"/>
                  <a:cs typeface="Times New Roman" panose="02020603050405020304" pitchFamily="18" charset="0"/>
                </a:endParaRPr>
              </a:p>
              <a:p>
                <a:pPr>
                  <a:lnSpc>
                    <a:spcPct val="110000"/>
                  </a:lnSpc>
                </a:pPr>
                <a:endParaRPr lang="en-US" altLang="zh-CN" sz="1800" baseline="0" dirty="0">
                  <a:ea typeface="微软雅黑" panose="020B0503020204020204" pitchFamily="34" charset="-122"/>
                  <a:cs typeface="Times New Roman" panose="02020603050405020304" pitchFamily="18" charset="0"/>
                </a:endParaRPr>
              </a:p>
              <a:p>
                <a:pPr>
                  <a:lnSpc>
                    <a:spcPct val="110000"/>
                  </a:lnSpc>
                </a:pPr>
                <a:r>
                  <a:rPr lang="zh-CN" altLang="en-US" sz="1800" baseline="0" dirty="0">
                    <a:ea typeface="微软雅黑" panose="020B0503020204020204" pitchFamily="34" charset="-122"/>
                    <a:cs typeface="Times New Roman" panose="02020603050405020304" pitchFamily="18" charset="0"/>
                  </a:rPr>
                  <a:t>同样，闭</a:t>
                </a:r>
                <a:r>
                  <a:rPr lang="zh-CN" altLang="en-US" sz="1800" dirty="0">
                    <a:ea typeface="微软雅黑" panose="020B0503020204020204" pitchFamily="34" charset="-122"/>
                    <a:cs typeface="Times New Roman" panose="02020603050405020304" pitchFamily="18" charset="0"/>
                    <a:sym typeface="+mn-ea"/>
                  </a:rPr>
                  <a:t>运算</a:t>
                </a:r>
                <a:r>
                  <a:rPr lang="zh-CN" altLang="en-US" sz="1800" baseline="0" dirty="0">
                    <a:ea typeface="微软雅黑" panose="020B0503020204020204" pitchFamily="34" charset="-122"/>
                    <a:cs typeface="Times New Roman" panose="02020603050405020304" pitchFamily="18" charset="0"/>
                  </a:rPr>
                  <a:t>也满足下列性质：</a:t>
                </a:r>
              </a:p>
              <a:p>
                <a:r>
                  <a:rPr lang="en-US" altLang="zh-CN" sz="1800" baseline="0" dirty="0">
                    <a:ea typeface="微软雅黑" panose="020B0503020204020204" pitchFamily="34" charset="-122"/>
                    <a:cs typeface="Times New Roman" panose="02020603050405020304" pitchFamily="18" charset="0"/>
                  </a:rPr>
                  <a:t>(</a:t>
                </a:r>
                <a:r>
                  <a:rPr lang="en-US" altLang="zh-CN" sz="1800" baseline="0" dirty="0" err="1">
                    <a:ea typeface="微软雅黑" panose="020B0503020204020204" pitchFamily="34" charset="-122"/>
                    <a:cs typeface="Times New Roman" panose="02020603050405020304" pitchFamily="18" charset="0"/>
                  </a:rPr>
                  <a:t>i</a:t>
                </a:r>
                <a:r>
                  <a:rPr lang="en-US" altLang="zh-CN" sz="1800" baseline="0" dirty="0">
                    <a:ea typeface="微软雅黑" panose="020B0503020204020204" pitchFamily="34" charset="-122"/>
                    <a:cs typeface="Times New Roman" panose="02020603050405020304" pitchFamily="18" charset="0"/>
                  </a:rPr>
                  <a:t>) </a:t>
                </a:r>
                <a:r>
                  <a:rPr lang="en-US" altLang="zh-CN" sz="1800" i="1" baseline="0" dirty="0">
                    <a:ea typeface="微软雅黑" panose="020B0503020204020204" pitchFamily="34" charset="-122"/>
                    <a:cs typeface="Times New Roman" panose="02020603050405020304" pitchFamily="18" charset="0"/>
                  </a:rPr>
                  <a:t>A</a:t>
                </a:r>
                <a:r>
                  <a:rPr lang="zh-CN" altLang="en-US" sz="1800" baseline="0" dirty="0">
                    <a:ea typeface="微软雅黑" panose="020B0503020204020204" pitchFamily="34" charset="-122"/>
                    <a:cs typeface="Times New Roman" panose="02020603050405020304" pitchFamily="18" charset="0"/>
                  </a:rPr>
                  <a:t>是</a:t>
                </a:r>
                <a14:m>
                  <m:oMath xmlns:m="http://schemas.openxmlformats.org/officeDocument/2006/math">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𝐴</m:t>
                    </m:r>
                    <m:r>
                      <a:rPr lang="en-US" altLang="zh-CN" sz="1800" i="1" baseline="0" smtClean="0">
                        <a:latin typeface="Cambria Math" panose="02040503050406030204" pitchFamily="18" charset="0"/>
                        <a:ea typeface="MS Mincho" charset="0"/>
                        <a:cs typeface="Cambria Math" panose="02040503050406030204" pitchFamily="18" charset="0"/>
                      </a:rPr>
                      <m:t>∙</m:t>
                    </m:r>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𝐵</m:t>
                    </m:r>
                  </m:oMath>
                </a14:m>
                <a:r>
                  <a:rPr lang="zh-CN" altLang="en-US" sz="1800" baseline="0" dirty="0">
                    <a:ea typeface="微软雅黑" panose="020B0503020204020204" pitchFamily="34" charset="-122"/>
                    <a:cs typeface="Times New Roman" panose="02020603050405020304" pitchFamily="18" charset="0"/>
                  </a:rPr>
                  <a:t>的子集（闭操作后变大）。</a:t>
                </a:r>
              </a:p>
              <a:p>
                <a:pPr>
                  <a:lnSpc>
                    <a:spcPct val="110000"/>
                  </a:lnSpc>
                </a:pPr>
                <a:r>
                  <a:rPr lang="en-US" altLang="zh-CN" sz="1800" baseline="0" dirty="0">
                    <a:ea typeface="微软雅黑" panose="020B0503020204020204" pitchFamily="34" charset="-122"/>
                    <a:cs typeface="Times New Roman" panose="02020603050405020304" pitchFamily="18" charset="0"/>
                  </a:rPr>
                  <a:t>(ii) </a:t>
                </a:r>
                <a:r>
                  <a:rPr lang="zh-CN" altLang="en-US" sz="1800" baseline="0" dirty="0">
                    <a:ea typeface="微软雅黑" panose="020B0503020204020204" pitchFamily="34" charset="-122"/>
                    <a:cs typeface="Times New Roman" panose="02020603050405020304" pitchFamily="18" charset="0"/>
                  </a:rPr>
                  <a:t>如果</a:t>
                </a:r>
                <a:r>
                  <a:rPr lang="en-US" altLang="zh-CN" sz="1800" i="1" baseline="0" dirty="0">
                    <a:ea typeface="微软雅黑" panose="020B0503020204020204" pitchFamily="34" charset="-122"/>
                    <a:cs typeface="Times New Roman" panose="02020603050405020304" pitchFamily="18" charset="0"/>
                  </a:rPr>
                  <a:t>C</a:t>
                </a:r>
                <a:r>
                  <a:rPr lang="zh-CN" altLang="en-US" sz="1800" baseline="0" dirty="0">
                    <a:ea typeface="微软雅黑" panose="020B0503020204020204" pitchFamily="34" charset="-122"/>
                    <a:cs typeface="Times New Roman" panose="02020603050405020304" pitchFamily="18" charset="0"/>
                  </a:rPr>
                  <a:t>是</a:t>
                </a:r>
                <a:r>
                  <a:rPr lang="en-US" altLang="zh-CN" sz="1800" i="1" baseline="0" dirty="0">
                    <a:ea typeface="微软雅黑" panose="020B0503020204020204" pitchFamily="34" charset="-122"/>
                    <a:cs typeface="Times New Roman" panose="02020603050405020304" pitchFamily="18" charset="0"/>
                  </a:rPr>
                  <a:t>D</a:t>
                </a:r>
                <a:r>
                  <a:rPr lang="zh-CN" altLang="en-US" sz="1800" baseline="0" dirty="0">
                    <a:ea typeface="微软雅黑" panose="020B0503020204020204" pitchFamily="34" charset="-122"/>
                    <a:cs typeface="Times New Roman" panose="02020603050405020304" pitchFamily="18" charset="0"/>
                  </a:rPr>
                  <a:t>的子集，则</a:t>
                </a:r>
                <a:r>
                  <a:rPr lang="en-US" altLang="zh-CN" sz="1800" baseline="0" dirty="0">
                    <a:ea typeface="微软雅黑" panose="020B0503020204020204" pitchFamily="34" charset="-122"/>
                    <a:cs typeface="Times New Roman" panose="02020603050405020304" pitchFamily="18" charset="0"/>
                  </a:rPr>
                  <a:t>C</a:t>
                </a:r>
                <a14:m>
                  <m:oMath xmlns:m="http://schemas.openxmlformats.org/officeDocument/2006/math">
                    <m:r>
                      <a:rPr lang="en-US" altLang="zh-CN" sz="1800" b="0" i="1" baseline="0" smtClean="0">
                        <a:latin typeface="Cambria Math" panose="02040503050406030204" pitchFamily="18" charset="0"/>
                        <a:ea typeface="MS Mincho" charset="0"/>
                        <a:cs typeface="Cambria Math" panose="02040503050406030204" pitchFamily="18" charset="0"/>
                      </a:rPr>
                      <m:t>∙</m:t>
                    </m:r>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𝐵</m:t>
                    </m:r>
                  </m:oMath>
                </a14:m>
                <a:r>
                  <a:rPr lang="zh-CN" altLang="en-US" sz="1800" baseline="0" dirty="0">
                    <a:ea typeface="微软雅黑" panose="020B0503020204020204" pitchFamily="34" charset="-122"/>
                    <a:cs typeface="Times New Roman" panose="02020603050405020304" pitchFamily="18" charset="0"/>
                  </a:rPr>
                  <a:t>是</a:t>
                </a:r>
                <a:r>
                  <a:rPr lang="en-US" altLang="zh-CN" sz="1800" baseline="0" dirty="0">
                    <a:ea typeface="微软雅黑" panose="020B0503020204020204" pitchFamily="34" charset="-122"/>
                    <a:cs typeface="Times New Roman" panose="02020603050405020304" pitchFamily="18" charset="0"/>
                  </a:rPr>
                  <a:t>D</a:t>
                </a:r>
                <a14:m>
                  <m:oMath xmlns:m="http://schemas.openxmlformats.org/officeDocument/2006/math">
                    <m:r>
                      <a:rPr lang="en-US" altLang="zh-CN" sz="1800" b="0" i="1" baseline="0" smtClean="0">
                        <a:latin typeface="Cambria Math" panose="02040503050406030204" pitchFamily="18" charset="0"/>
                        <a:ea typeface="MS Mincho" charset="0"/>
                        <a:cs typeface="Cambria Math" panose="02040503050406030204" pitchFamily="18" charset="0"/>
                      </a:rPr>
                      <m:t>∙</m:t>
                    </m:r>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𝐵</m:t>
                    </m:r>
                  </m:oMath>
                </a14:m>
                <a:r>
                  <a:rPr lang="zh-CN" altLang="en-US" sz="1800" baseline="0" dirty="0">
                    <a:ea typeface="微软雅黑" panose="020B0503020204020204" pitchFamily="34" charset="-122"/>
                    <a:cs typeface="Times New Roman" panose="02020603050405020304" pitchFamily="18" charset="0"/>
                  </a:rPr>
                  <a:t>的子集。</a:t>
                </a:r>
              </a:p>
              <a:p>
                <a:pPr>
                  <a:lnSpc>
                    <a:spcPct val="110000"/>
                  </a:lnSpc>
                </a:pPr>
                <a:r>
                  <a:rPr lang="en-US" altLang="zh-CN" sz="1800" baseline="0" dirty="0">
                    <a:ea typeface="微软雅黑" panose="020B0503020204020204" pitchFamily="34" charset="-122"/>
                    <a:cs typeface="Times New Roman" panose="02020603050405020304" pitchFamily="18" charset="0"/>
                  </a:rPr>
                  <a:t>(iii) (</a:t>
                </a:r>
                <a14:m>
                  <m:oMath xmlns:m="http://schemas.openxmlformats.org/officeDocument/2006/math">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𝐴</m:t>
                    </m:r>
                    <m:r>
                      <a:rPr lang="en-US" altLang="zh-CN" sz="1800" b="0" i="1" baseline="0" smtClean="0">
                        <a:latin typeface="Cambria Math" panose="02040503050406030204" pitchFamily="18" charset="0"/>
                        <a:ea typeface="MS Mincho" charset="0"/>
                        <a:cs typeface="Cambria Math" panose="02040503050406030204" pitchFamily="18" charset="0"/>
                      </a:rPr>
                      <m:t>∙</m:t>
                    </m:r>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𝐵</m:t>
                    </m:r>
                  </m:oMath>
                </a14:m>
                <a:r>
                  <a:rPr lang="en-US" altLang="zh-CN" sz="1800" baseline="0" dirty="0">
                    <a:ea typeface="微软雅黑" panose="020B0503020204020204" pitchFamily="34" charset="-122"/>
                    <a:cs typeface="Times New Roman" panose="02020603050405020304" pitchFamily="18" charset="0"/>
                  </a:rPr>
                  <a:t>)</a:t>
                </a:r>
                <a:r>
                  <a:rPr lang="en-US" altLang="zh-CN" sz="1800" b="0" baseline="0" dirty="0">
                    <a:ea typeface="微软雅黑" panose="020B0503020204020204" pitchFamily="34" charset="-122"/>
                    <a:cs typeface="Times New Roman" panose="02020603050405020304" pitchFamily="18" charset="0"/>
                  </a:rPr>
                  <a:t> </a:t>
                </a:r>
                <a14:m>
                  <m:oMath xmlns:m="http://schemas.openxmlformats.org/officeDocument/2006/math">
                    <m:r>
                      <a:rPr lang="en-US" altLang="zh-CN" sz="1800" b="0" i="1" baseline="0" smtClean="0">
                        <a:latin typeface="Cambria Math" panose="02040503050406030204" pitchFamily="18" charset="0"/>
                        <a:ea typeface="MS Mincho" charset="0"/>
                        <a:cs typeface="Cambria Math" panose="02040503050406030204" pitchFamily="18" charset="0"/>
                      </a:rPr>
                      <m:t>∙</m:t>
                    </m:r>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𝐵</m:t>
                    </m:r>
                  </m:oMath>
                </a14:m>
                <a:r>
                  <a:rPr lang="en-US" altLang="zh-CN" sz="1800" baseline="0" dirty="0">
                    <a:ea typeface="微软雅黑" panose="020B0503020204020204" pitchFamily="34" charset="-122"/>
                    <a:cs typeface="Times New Roman" panose="02020603050405020304" pitchFamily="18" charset="0"/>
                  </a:rPr>
                  <a:t>=</a:t>
                </a:r>
                <a:r>
                  <a:rPr lang="en-US" altLang="zh-CN" sz="1800" b="0" baseline="0" dirty="0">
                    <a:ea typeface="微软雅黑" panose="020B0503020204020204" pitchFamily="34" charset="-122"/>
                    <a:cs typeface="Times New Roman" panose="02020603050405020304" pitchFamily="18" charset="0"/>
                  </a:rPr>
                  <a:t> A</a:t>
                </a:r>
                <a14:m>
                  <m:oMath xmlns:m="http://schemas.openxmlformats.org/officeDocument/2006/math">
                    <m:r>
                      <a:rPr lang="en-US" altLang="zh-CN" sz="1800" b="0" i="1" baseline="0" smtClean="0">
                        <a:latin typeface="Cambria Math" panose="02040503050406030204" pitchFamily="18" charset="0"/>
                        <a:ea typeface="MS Mincho" charset="0"/>
                        <a:cs typeface="Cambria Math" panose="02040503050406030204" pitchFamily="18" charset="0"/>
                      </a:rPr>
                      <m:t>∙</m:t>
                    </m:r>
                    <m:r>
                      <a:rPr lang="en-US" altLang="zh-CN" sz="1800" b="0" i="1" baseline="0" smtClean="0">
                        <a:latin typeface="Cambria Math" panose="02040503050406030204" pitchFamily="18" charset="0"/>
                        <a:ea typeface="微软雅黑" panose="020B0503020204020204" pitchFamily="34" charset="-122"/>
                        <a:cs typeface="Cambria Math" panose="02040503050406030204" pitchFamily="18" charset="0"/>
                      </a:rPr>
                      <m:t>𝐵</m:t>
                    </m:r>
                  </m:oMath>
                </a14:m>
                <a:r>
                  <a:rPr lang="en-US" altLang="zh-CN" sz="1800" baseline="0" dirty="0">
                    <a:ea typeface="微软雅黑" panose="020B0503020204020204" pitchFamily="34" charset="-122"/>
                    <a:cs typeface="Times New Roman" panose="02020603050405020304" pitchFamily="18" charset="0"/>
                  </a:rPr>
                  <a:t> </a:t>
                </a:r>
                <a:r>
                  <a:rPr lang="zh-CN" altLang="en-US" sz="1800" baseline="0" dirty="0">
                    <a:ea typeface="微软雅黑" panose="020B0503020204020204" pitchFamily="34" charset="-122"/>
                    <a:cs typeface="Times New Roman" panose="02020603050405020304" pitchFamily="18" charset="0"/>
                  </a:rPr>
                  <a:t>（</a:t>
                </a:r>
                <a:r>
                  <a:rPr lang="zh-CN" altLang="en-US" sz="1800" baseline="0" dirty="0">
                    <a:solidFill>
                      <a:schemeClr val="tx2">
                        <a:lumMod val="60000"/>
                        <a:lumOff val="40000"/>
                      </a:schemeClr>
                    </a:solidFill>
                    <a:ea typeface="微软雅黑" panose="020B0503020204020204" pitchFamily="34" charset="-122"/>
                    <a:cs typeface="Times New Roman" panose="02020603050405020304" pitchFamily="18" charset="0"/>
                  </a:rPr>
                  <a:t>反复闭等于一次闭</a:t>
                </a:r>
                <a:r>
                  <a:rPr lang="zh-CN" altLang="en-US" sz="1800" baseline="0" dirty="0">
                    <a:ea typeface="微软雅黑" panose="020B0503020204020204" pitchFamily="34" charset="-122"/>
                    <a:cs typeface="Times New Roman" panose="02020603050405020304" pitchFamily="18" charset="0"/>
                  </a:rPr>
                  <a:t>）</a:t>
                </a:r>
                <a:endParaRPr lang="en-US" altLang="zh-CN" sz="1800" baseline="0" dirty="0">
                  <a:ea typeface="微软雅黑" panose="020B0503020204020204" pitchFamily="34" charset="-122"/>
                  <a:cs typeface="Times New Roman" panose="02020603050405020304" pitchFamily="18" charset="0"/>
                </a:endParaRPr>
              </a:p>
              <a:p>
                <a:pPr>
                  <a:lnSpc>
                    <a:spcPct val="110000"/>
                  </a:lnSpc>
                </a:pPr>
                <a:endParaRPr lang="en-US" altLang="zh-CN" sz="1800" baseline="0" dirty="0">
                  <a:ea typeface="微软雅黑" panose="020B0503020204020204" pitchFamily="34" charset="-122"/>
                  <a:cs typeface="Times New Roman" panose="02020603050405020304" pitchFamily="18" charset="0"/>
                </a:endParaRPr>
              </a:p>
            </p:txBody>
          </p:sp>
        </mc:Choice>
        <mc:Fallback xmlns="">
          <p:sp>
            <p:nvSpPr>
              <p:cNvPr id="112657" name="Text Box 17"/>
              <p:cNvSpPr txBox="1">
                <a:spLocks noRot="1" noChangeAspect="1" noMove="1" noResize="1" noEditPoints="1" noAdjustHandles="1" noChangeArrowheads="1" noChangeShapeType="1" noTextEdit="1"/>
              </p:cNvSpPr>
              <p:nvPr/>
            </p:nvSpPr>
            <p:spPr bwMode="auto">
              <a:xfrm>
                <a:off x="539751" y="3140968"/>
                <a:ext cx="6480522" cy="3089564"/>
              </a:xfrm>
              <a:prstGeom prst="rect">
                <a:avLst/>
              </a:prstGeom>
              <a:blipFill>
                <a:blip r:embed="rId6"/>
                <a:stretch>
                  <a:fillRect l="-84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17" name="Object 10"/>
          <p:cNvGraphicFramePr>
            <a:graphicFrameLocks noChangeAspect="1"/>
          </p:cNvGraphicFramePr>
          <p:nvPr>
            <p:extLst>
              <p:ext uri="{D42A27DB-BD31-4B8C-83A1-F6EECF244321}">
                <p14:modId xmlns:p14="http://schemas.microsoft.com/office/powerpoint/2010/main" val="2443459212"/>
              </p:ext>
            </p:extLst>
          </p:nvPr>
        </p:nvGraphicFramePr>
        <p:xfrm>
          <a:off x="3314700" y="2088395"/>
          <a:ext cx="2514600" cy="519112"/>
        </p:xfrm>
        <a:graphic>
          <a:graphicData uri="http://schemas.openxmlformats.org/presentationml/2006/ole">
            <mc:AlternateContent xmlns:mc="http://schemas.openxmlformats.org/markup-compatibility/2006">
              <mc:Choice xmlns:v="urn:schemas-microsoft-com:vml" Requires="v">
                <p:oleObj spid="_x0000_s113285" name="公式" r:id="rId7" imgW="27736800" imgH="5791200" progId="Equation.3">
                  <p:embed/>
                </p:oleObj>
              </mc:Choice>
              <mc:Fallback>
                <p:oleObj name="公式" r:id="rId7" imgW="27736800" imgH="5791200" progId="Equation.3">
                  <p:embed/>
                  <p:pic>
                    <p:nvPicPr>
                      <p:cNvPr id="0" name="Object 10"/>
                      <p:cNvPicPr>
                        <a:picLocks noChangeAspect="1" noChangeArrowheads="1"/>
                      </p:cNvPicPr>
                      <p:nvPr/>
                    </p:nvPicPr>
                    <p:blipFill>
                      <a:blip r:embed="rId8"/>
                      <a:srcRect/>
                      <a:stretch>
                        <a:fillRect/>
                      </a:stretch>
                    </p:blipFill>
                    <p:spPr bwMode="auto">
                      <a:xfrm>
                        <a:off x="3314700" y="2088395"/>
                        <a:ext cx="251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0"/>
          <p:cNvGraphicFramePr>
            <a:graphicFrameLocks noChangeAspect="1"/>
          </p:cNvGraphicFramePr>
          <p:nvPr>
            <p:extLst>
              <p:ext uri="{D42A27DB-BD31-4B8C-83A1-F6EECF244321}">
                <p14:modId xmlns:p14="http://schemas.microsoft.com/office/powerpoint/2010/main" val="3801345994"/>
              </p:ext>
            </p:extLst>
          </p:nvPr>
        </p:nvGraphicFramePr>
        <p:xfrm>
          <a:off x="3314700" y="1403767"/>
          <a:ext cx="2514600" cy="519112"/>
        </p:xfrm>
        <a:graphic>
          <a:graphicData uri="http://schemas.openxmlformats.org/presentationml/2006/ole">
            <mc:AlternateContent xmlns:mc="http://schemas.openxmlformats.org/markup-compatibility/2006">
              <mc:Choice xmlns:v="urn:schemas-microsoft-com:vml" Requires="v">
                <p:oleObj spid="_x0000_s113286" name="公式" r:id="rId9" imgW="27736800" imgH="5791200" progId="Equation.3">
                  <p:embed/>
                </p:oleObj>
              </mc:Choice>
              <mc:Fallback>
                <p:oleObj name="公式" r:id="rId9" imgW="27736800" imgH="5791200" progId="Equation.3">
                  <p:embed/>
                  <p:pic>
                    <p:nvPicPr>
                      <p:cNvPr id="0" name="Object 10"/>
                      <p:cNvPicPr>
                        <a:picLocks noChangeAspect="1" noChangeArrowheads="1"/>
                      </p:cNvPicPr>
                      <p:nvPr/>
                    </p:nvPicPr>
                    <p:blipFill>
                      <a:blip r:embed="rId10"/>
                      <a:srcRect/>
                      <a:stretch>
                        <a:fillRect/>
                      </a:stretch>
                    </p:blipFill>
                    <p:spPr bwMode="auto">
                      <a:xfrm>
                        <a:off x="3314700" y="1403767"/>
                        <a:ext cx="251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5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5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65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5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265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265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265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265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3. </a:t>
            </a:r>
            <a:r>
              <a:rPr lang="zh-CN" altLang="en-US" dirty="0"/>
              <a:t>开运算与闭运算</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22</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35843" name="Rectangle 5"/>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45" name="Rectangle 7"/>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48" name="Rectangle 14"/>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50" name="Rectangle 16"/>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35852" name="Rectangle 18"/>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3203848" y="1124585"/>
            <a:ext cx="5100955" cy="4749165"/>
          </a:xfrm>
          <a:prstGeom prst="rect">
            <a:avLst/>
          </a:prstGeom>
        </p:spPr>
      </p:pic>
      <p:pic>
        <p:nvPicPr>
          <p:cNvPr id="6" name="图片 5"/>
          <p:cNvPicPr>
            <a:picLocks noChangeAspect="1"/>
          </p:cNvPicPr>
          <p:nvPr/>
        </p:nvPicPr>
        <p:blipFill>
          <a:blip r:embed="rId4"/>
          <a:stretch>
            <a:fillRect/>
          </a:stretch>
        </p:blipFill>
        <p:spPr>
          <a:xfrm>
            <a:off x="7957820" y="1124585"/>
            <a:ext cx="419100" cy="538480"/>
          </a:xfrm>
          <a:prstGeom prst="rect">
            <a:avLst/>
          </a:prstGeom>
        </p:spPr>
      </p:pic>
      <p:sp>
        <p:nvSpPr>
          <p:cNvPr id="7" name="文本框 6"/>
          <p:cNvSpPr txBox="1"/>
          <p:nvPr/>
        </p:nvSpPr>
        <p:spPr>
          <a:xfrm>
            <a:off x="398254" y="1393825"/>
            <a:ext cx="2868310" cy="3228975"/>
          </a:xfrm>
          <a:prstGeom prst="rect">
            <a:avLst/>
          </a:prstGeom>
          <a:noFill/>
        </p:spPr>
        <p:txBody>
          <a:bodyPr wrap="square" rtlCol="0" anchor="t">
            <a:noAutofit/>
          </a:bodyPr>
          <a:lstStyle/>
          <a:p>
            <a:pPr algn="just">
              <a:lnSpc>
                <a:spcPct val="160000"/>
              </a:lnSpc>
              <a:buClrTx/>
              <a:buSzTx/>
              <a:buNone/>
            </a:pPr>
            <a:r>
              <a:rPr lang="en-US" altLang="zh-CN" sz="1800" dirty="0">
                <a:uFillTx/>
                <a:latin typeface="Times New Roman" panose="02020603050405020304" pitchFamily="18" charset="0"/>
                <a:ea typeface="微软雅黑" panose="020B0503020204020204" pitchFamily="34" charset="-122"/>
              </a:rPr>
              <a:t>(a)</a:t>
            </a:r>
            <a:r>
              <a:rPr lang="en-US" altLang="zh-CN" sz="1800" dirty="0" err="1">
                <a:uFillTx/>
                <a:latin typeface="Times New Roman" panose="02020603050405020304" pitchFamily="18" charset="0"/>
                <a:ea typeface="微软雅黑" panose="020B0503020204020204" pitchFamily="34" charset="-122"/>
              </a:rPr>
              <a:t>噪声图像</a:t>
            </a:r>
            <a:r>
              <a:rPr lang="en-US" altLang="zh-CN" sz="1800" dirty="0">
                <a:uFillTx/>
                <a:latin typeface="Times New Roman" panose="02020603050405020304" pitchFamily="18" charset="0"/>
                <a:ea typeface="微软雅黑" panose="020B0503020204020204" pitchFamily="34" charset="-122"/>
              </a:rPr>
              <a:t>;</a:t>
            </a:r>
          </a:p>
          <a:p>
            <a:pPr algn="just">
              <a:lnSpc>
                <a:spcPct val="160000"/>
              </a:lnSpc>
              <a:buClrTx/>
              <a:buSzTx/>
              <a:buNone/>
            </a:pPr>
            <a:r>
              <a:rPr lang="en-US" altLang="zh-CN" sz="1800" dirty="0">
                <a:uFillTx/>
                <a:latin typeface="Times New Roman" panose="02020603050405020304" pitchFamily="18" charset="0"/>
                <a:ea typeface="微软雅黑" panose="020B0503020204020204" pitchFamily="34" charset="-122"/>
              </a:rPr>
              <a:t>(b)</a:t>
            </a:r>
            <a:r>
              <a:rPr lang="en-US" altLang="zh-CN" sz="1800" dirty="0" err="1">
                <a:uFillTx/>
                <a:latin typeface="Times New Roman" panose="02020603050405020304" pitchFamily="18" charset="0"/>
                <a:ea typeface="微软雅黑" panose="020B0503020204020204" pitchFamily="34" charset="-122"/>
              </a:rPr>
              <a:t>结构元</a:t>
            </a:r>
            <a:r>
              <a:rPr lang="en-US" altLang="zh-CN" sz="1800" dirty="0">
                <a:uFillTx/>
                <a:latin typeface="Times New Roman" panose="02020603050405020304" pitchFamily="18" charset="0"/>
                <a:ea typeface="微软雅黑" panose="020B0503020204020204" pitchFamily="34" charset="-122"/>
              </a:rPr>
              <a:t>;</a:t>
            </a:r>
          </a:p>
          <a:p>
            <a:pPr algn="just">
              <a:lnSpc>
                <a:spcPct val="160000"/>
              </a:lnSpc>
              <a:buClrTx/>
              <a:buSzTx/>
              <a:buNone/>
            </a:pPr>
            <a:r>
              <a:rPr lang="en-US" altLang="zh-CN" sz="1800" dirty="0">
                <a:uFillTx/>
                <a:latin typeface="Times New Roman" panose="02020603050405020304" pitchFamily="18" charset="0"/>
                <a:ea typeface="微软雅黑" panose="020B0503020204020204" pitchFamily="34" charset="-122"/>
              </a:rPr>
              <a:t>(c)</a:t>
            </a:r>
            <a:r>
              <a:rPr lang="en-US" altLang="zh-CN" sz="1800" dirty="0" err="1">
                <a:uFillTx/>
                <a:latin typeface="Times New Roman" panose="02020603050405020304" pitchFamily="18" charset="0"/>
                <a:ea typeface="微软雅黑" panose="020B0503020204020204" pitchFamily="34" charset="-122"/>
              </a:rPr>
              <a:t>腐蚀后的图像</a:t>
            </a:r>
            <a:r>
              <a:rPr lang="en-US" altLang="zh-CN" sz="1800" dirty="0">
                <a:uFillTx/>
                <a:latin typeface="Times New Roman" panose="02020603050405020304" pitchFamily="18" charset="0"/>
                <a:ea typeface="微软雅黑" panose="020B0503020204020204" pitchFamily="34" charset="-122"/>
              </a:rPr>
              <a:t>;</a:t>
            </a:r>
          </a:p>
          <a:p>
            <a:pPr algn="just">
              <a:lnSpc>
                <a:spcPct val="160000"/>
              </a:lnSpc>
              <a:buClrTx/>
              <a:buSzTx/>
              <a:buNone/>
            </a:pPr>
            <a:r>
              <a:rPr lang="en-US" altLang="zh-CN" sz="1800" dirty="0">
                <a:uFillTx/>
                <a:latin typeface="Times New Roman" panose="02020603050405020304" pitchFamily="18" charset="0"/>
                <a:ea typeface="微软雅黑" panose="020B0503020204020204" pitchFamily="34" charset="-122"/>
              </a:rPr>
              <a:t>(d)</a:t>
            </a:r>
            <a:r>
              <a:rPr lang="en-US" altLang="zh-CN" sz="1800" dirty="0" err="1">
                <a:uFillTx/>
                <a:latin typeface="Times New Roman" panose="02020603050405020304" pitchFamily="18" charset="0"/>
                <a:ea typeface="微软雅黑" panose="020B0503020204020204" pitchFamily="34" charset="-122"/>
              </a:rPr>
              <a:t>腐蚀的膨胀</a:t>
            </a:r>
            <a:r>
              <a:rPr lang="en-US" altLang="zh-CN" sz="1800" dirty="0">
                <a:uFillTx/>
                <a:latin typeface="Times New Roman" panose="02020603050405020304" pitchFamily="18" charset="0"/>
                <a:ea typeface="微软雅黑" panose="020B0503020204020204" pitchFamily="34" charset="-122"/>
              </a:rPr>
              <a:t>(</a:t>
            </a:r>
            <a:r>
              <a:rPr lang="en-US" altLang="zh-CN" sz="1800" i="1" dirty="0" err="1">
                <a:uFillTx/>
                <a:latin typeface="Times New Roman" panose="02020603050405020304" pitchFamily="18" charset="0"/>
                <a:ea typeface="微软雅黑" panose="020B0503020204020204" pitchFamily="34" charset="-122"/>
              </a:rPr>
              <a:t>A</a:t>
            </a:r>
            <a:r>
              <a:rPr lang="en-US" altLang="zh-CN" sz="1800" dirty="0" err="1">
                <a:uFillTx/>
                <a:latin typeface="Times New Roman" panose="02020603050405020304" pitchFamily="18" charset="0"/>
                <a:ea typeface="微软雅黑" panose="020B0503020204020204" pitchFamily="34" charset="-122"/>
              </a:rPr>
              <a:t>的开运算</a:t>
            </a:r>
            <a:r>
              <a:rPr lang="en-US" altLang="zh-CN" sz="1800" dirty="0">
                <a:uFillTx/>
                <a:latin typeface="Times New Roman" panose="02020603050405020304" pitchFamily="18" charset="0"/>
                <a:ea typeface="微软雅黑" panose="020B0503020204020204" pitchFamily="34" charset="-122"/>
              </a:rPr>
              <a:t>);</a:t>
            </a:r>
          </a:p>
          <a:p>
            <a:pPr algn="just">
              <a:lnSpc>
                <a:spcPct val="160000"/>
              </a:lnSpc>
              <a:buClrTx/>
              <a:buSzTx/>
              <a:buNone/>
            </a:pPr>
            <a:r>
              <a:rPr lang="en-US" altLang="zh-CN" sz="1800" dirty="0">
                <a:uFillTx/>
                <a:latin typeface="Times New Roman" panose="02020603050405020304" pitchFamily="18" charset="0"/>
                <a:ea typeface="微软雅黑" panose="020B0503020204020204" pitchFamily="34" charset="-122"/>
              </a:rPr>
              <a:t>(e)</a:t>
            </a:r>
            <a:r>
              <a:rPr lang="en-US" altLang="zh-CN" sz="1800" dirty="0" err="1">
                <a:uFillTx/>
                <a:latin typeface="Times New Roman" panose="02020603050405020304" pitchFamily="18" charset="0"/>
                <a:ea typeface="微软雅黑" panose="020B0503020204020204" pitchFamily="34" charset="-122"/>
              </a:rPr>
              <a:t>开运算的膨胀</a:t>
            </a:r>
            <a:r>
              <a:rPr lang="en-US" altLang="zh-CN" sz="1800" dirty="0">
                <a:uFillTx/>
                <a:latin typeface="Times New Roman" panose="02020603050405020304" pitchFamily="18" charset="0"/>
                <a:ea typeface="微软雅黑" panose="020B0503020204020204" pitchFamily="34" charset="-122"/>
              </a:rPr>
              <a:t>;</a:t>
            </a:r>
          </a:p>
          <a:p>
            <a:pPr algn="just">
              <a:lnSpc>
                <a:spcPct val="160000"/>
              </a:lnSpc>
              <a:buClrTx/>
              <a:buSzTx/>
              <a:buNone/>
            </a:pPr>
            <a:r>
              <a:rPr lang="en-US" altLang="zh-CN" sz="1800" dirty="0">
                <a:uFillTx/>
                <a:latin typeface="Times New Roman" panose="02020603050405020304" pitchFamily="18" charset="0"/>
                <a:ea typeface="微软雅黑" panose="020B0503020204020204" pitchFamily="34" charset="-122"/>
              </a:rPr>
              <a:t>(f)</a:t>
            </a:r>
            <a:r>
              <a:rPr lang="en-US" altLang="zh-CN" sz="1800" dirty="0" err="1">
                <a:uFillTx/>
                <a:latin typeface="Times New Roman" panose="02020603050405020304" pitchFamily="18" charset="0"/>
                <a:ea typeface="微软雅黑" panose="020B0503020204020204" pitchFamily="34" charset="-122"/>
              </a:rPr>
              <a:t>开运算的闭运算</a:t>
            </a:r>
            <a:r>
              <a:rPr lang="zh-CN" altLang="en-US" sz="1800" dirty="0">
                <a:uFillTx/>
                <a:latin typeface="Times New Roman" panose="02020603050405020304" pitchFamily="18" charset="0"/>
                <a:ea typeface="微软雅黑" panose="020B0503020204020204" pitchFamily="34" charset="-122"/>
              </a:rPr>
              <a:t>。</a:t>
            </a:r>
          </a:p>
        </p:txBody>
      </p:sp>
      <p:sp>
        <p:nvSpPr>
          <p:cNvPr id="8" name="文本框 7"/>
          <p:cNvSpPr txBox="1"/>
          <p:nvPr/>
        </p:nvSpPr>
        <p:spPr>
          <a:xfrm>
            <a:off x="755650" y="764540"/>
            <a:ext cx="4572000" cy="368300"/>
          </a:xfrm>
          <a:prstGeom prst="rect">
            <a:avLst/>
          </a:prstGeom>
          <a:noFill/>
        </p:spPr>
        <p:txBody>
          <a:bodyPr wrap="square" rtlCol="0" anchor="t">
            <a:spAutoFit/>
          </a:bodyPr>
          <a:lstStyle/>
          <a:p>
            <a:r>
              <a:rPr lang="zh-CN" altLang="en-US" dirty="0">
                <a:solidFill>
                  <a:schemeClr val="tx2">
                    <a:lumMod val="60000"/>
                    <a:lumOff val="40000"/>
                  </a:schemeClr>
                </a:solidFill>
                <a:latin typeface="微软雅黑" panose="020B0503020204020204" pitchFamily="34" charset="-122"/>
                <a:ea typeface="微软雅黑" panose="020B0503020204020204" pitchFamily="34" charset="-122"/>
                <a:sym typeface="+mn-ea"/>
              </a:rPr>
              <a:t>开操作</a:t>
            </a:r>
            <a:r>
              <a:rPr lang="en-US" altLang="zh-CN" dirty="0">
                <a:solidFill>
                  <a:schemeClr val="tx2">
                    <a:lumMod val="60000"/>
                    <a:lumOff val="40000"/>
                  </a:schemeClr>
                </a:solidFill>
                <a:latin typeface="微软雅黑" panose="020B0503020204020204" pitchFamily="34" charset="-122"/>
                <a:ea typeface="微软雅黑" panose="020B0503020204020204" pitchFamily="34" charset="-122"/>
                <a:sym typeface="+mn-ea"/>
              </a:rPr>
              <a:t>+</a:t>
            </a:r>
            <a:r>
              <a:rPr lang="zh-CN" altLang="en-US" dirty="0">
                <a:solidFill>
                  <a:schemeClr val="tx2">
                    <a:lumMod val="60000"/>
                    <a:lumOff val="40000"/>
                  </a:schemeClr>
                </a:solidFill>
                <a:latin typeface="微软雅黑" panose="020B0503020204020204" pitchFamily="34" charset="-122"/>
                <a:ea typeface="微软雅黑" panose="020B0503020204020204" pitchFamily="34" charset="-122"/>
                <a:sym typeface="+mn-ea"/>
              </a:rPr>
              <a:t>闭操作实现指纹图像预处理</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1"/>
          </p:nvPr>
        </p:nvSpPr>
        <p:spPr>
          <a:xfrm>
            <a:off x="445135" y="1420495"/>
            <a:ext cx="8540750" cy="4434840"/>
          </a:xfrm>
        </p:spPr>
        <p:txBody>
          <a:bodyPr vert="horz" wrap="square" lIns="91440" tIns="45720" rIns="91440" bIns="45720" anchor="t" anchorCtr="0"/>
          <a:lstStyle/>
          <a:p>
            <a:pPr marL="514350" indent="-514350">
              <a:buFont typeface="Arial" panose="020B0604020202020204" pitchFamily="34" charset="0"/>
              <a:buAutoNum type="arabicPeriod"/>
            </a:pPr>
            <a:r>
              <a:rPr lang="zh-CN" altLang="en-US" sz="2800" dirty="0">
                <a:latin typeface="Times New Roman" panose="02020603050405020304" pitchFamily="18" charset="0"/>
                <a:ea typeface="+mn-ea"/>
                <a:cs typeface="+mn-cs"/>
              </a:rPr>
              <a:t>预备知识</a:t>
            </a:r>
          </a:p>
          <a:p>
            <a:pPr marL="514350" indent="-514350">
              <a:buFont typeface="Arial" panose="020B0604020202020204" pitchFamily="34" charset="0"/>
              <a:buAutoNum type="arabicPeriod"/>
            </a:pPr>
            <a:r>
              <a:rPr lang="zh-CN" altLang="en-US" sz="2800" dirty="0"/>
              <a:t>腐蚀和膨胀</a:t>
            </a:r>
          </a:p>
          <a:p>
            <a:pPr marL="514350" indent="-514350">
              <a:buFont typeface="Arial" panose="020B0604020202020204" pitchFamily="34" charset="0"/>
              <a:buAutoNum type="arabicPeriod"/>
            </a:pPr>
            <a:r>
              <a:rPr lang="zh-CN" altLang="en-US" sz="2800" dirty="0"/>
              <a:t>开运算与闭运算</a:t>
            </a:r>
          </a:p>
          <a:p>
            <a:pPr marL="514350" indent="-514350">
              <a:buFont typeface="Arial" panose="020B0604020202020204" pitchFamily="34" charset="0"/>
              <a:buAutoNum type="arabicPeriod"/>
            </a:pPr>
            <a:r>
              <a:rPr lang="zh-CN" altLang="en-US" sz="2800" b="1" dirty="0"/>
              <a:t>击中</a:t>
            </a:r>
            <a:r>
              <a:rPr lang="en-US" altLang="zh-CN" sz="2800" b="1" dirty="0"/>
              <a:t>-</a:t>
            </a:r>
            <a:r>
              <a:rPr lang="zh-CN" altLang="en-US" sz="2800" b="1" dirty="0"/>
              <a:t>击不中变换</a:t>
            </a:r>
          </a:p>
          <a:p>
            <a:pPr marL="514350" indent="-514350">
              <a:buFont typeface="Arial" panose="020B0604020202020204" pitchFamily="34" charset="0"/>
              <a:buAutoNum type="arabicPeriod"/>
            </a:pPr>
            <a:r>
              <a:rPr lang="zh-CN" altLang="en-US" sz="2800" dirty="0"/>
              <a:t>一些基本的形态学算法</a:t>
            </a:r>
          </a:p>
          <a:p>
            <a:pPr marL="514350" indent="-514350">
              <a:buFont typeface="Arial" panose="020B0604020202020204" pitchFamily="34" charset="0"/>
              <a:buAutoNum type="arabicPeriod"/>
            </a:pPr>
            <a:r>
              <a:rPr lang="zh-CN" altLang="en-US" sz="2800" dirty="0"/>
              <a:t>形态学重建</a:t>
            </a:r>
          </a:p>
          <a:p>
            <a:pPr marL="514350" indent="-514350">
              <a:buFont typeface="Arial" panose="020B0604020202020204" pitchFamily="34" charset="0"/>
              <a:buAutoNum type="arabicPeriod"/>
            </a:pPr>
            <a:r>
              <a:rPr lang="zh-CN" altLang="en-US" sz="2800" dirty="0"/>
              <a:t>二值图像形态学运算小结</a:t>
            </a:r>
          </a:p>
          <a:p>
            <a:pPr marL="514350" indent="-514350">
              <a:buFont typeface="Arial" panose="020B0604020202020204" pitchFamily="34" charset="0"/>
              <a:buAutoNum type="arabicPeriod"/>
            </a:pPr>
            <a:r>
              <a:rPr lang="zh-CN" altLang="en-US" sz="2800" dirty="0"/>
              <a:t>灰度级形态学</a:t>
            </a:r>
            <a:endParaRPr lang="en-US" altLang="zh-CN" sz="3600" dirty="0"/>
          </a:p>
          <a:p>
            <a:pPr marL="514350" indent="-514350">
              <a:buFont typeface="Arial" panose="020B0604020202020204" pitchFamily="34" charset="0"/>
              <a:buAutoNum type="arabicPeriod"/>
            </a:pPr>
            <a:endParaRPr lang="en-US" altLang="zh-CN" sz="3600" dirty="0">
              <a:latin typeface="Times New Roman" panose="02020603050405020304" pitchFamily="18" charset="0"/>
              <a:ea typeface="+mn-ea"/>
              <a:cs typeface="+mn-cs"/>
            </a:endParaRPr>
          </a:p>
        </p:txBody>
      </p:sp>
      <p:sp>
        <p:nvSpPr>
          <p:cNvPr id="19460" name="TextBox 3"/>
          <p:cNvSpPr txBox="1"/>
          <p:nvPr/>
        </p:nvSpPr>
        <p:spPr>
          <a:xfrm>
            <a:off x="445135" y="836613"/>
            <a:ext cx="4359910" cy="5835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dirty="0"/>
              <a:t>第九章</a:t>
            </a:r>
            <a:r>
              <a:rPr lang="en-US" altLang="zh-CN" dirty="0"/>
              <a:t>:</a:t>
            </a:r>
            <a:r>
              <a:rPr lang="zh-CN" altLang="en-US" dirty="0"/>
              <a:t>形态学图像处理</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rPr>
              <a:t>23</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4.</a:t>
            </a:r>
            <a:r>
              <a:rPr lang="zh-CN" altLang="en-US" dirty="0"/>
              <a:t> 击中</a:t>
            </a:r>
            <a:r>
              <a:rPr lang="en-US" altLang="zh-CN" dirty="0"/>
              <a:t>-</a:t>
            </a:r>
            <a:r>
              <a:rPr lang="zh-CN" altLang="en-US" dirty="0"/>
              <a:t>击不中变换</a:t>
            </a:r>
          </a:p>
        </p:txBody>
      </p:sp>
      <p:sp>
        <p:nvSpPr>
          <p:cNvPr id="4" name="灯片编号占位符 3"/>
          <p:cNvSpPr>
            <a:spLocks noGrp="1"/>
          </p:cNvSpPr>
          <p:nvPr>
            <p:ph type="sldNum" sz="quarter" idx="4"/>
          </p:nvPr>
        </p:nvSpPr>
        <p:spPr>
          <a:xfrm>
            <a:off x="3786188" y="6524943"/>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24</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5" name="文本框 4"/>
          <p:cNvSpPr txBox="1"/>
          <p:nvPr/>
        </p:nvSpPr>
        <p:spPr>
          <a:xfrm>
            <a:off x="539551" y="920859"/>
            <a:ext cx="8302823" cy="3782702"/>
          </a:xfrm>
          <a:prstGeom prst="rect">
            <a:avLst/>
          </a:prstGeom>
          <a:noFill/>
        </p:spPr>
        <p:txBody>
          <a:bodyPr wrap="square" rtlCol="0" anchor="t">
            <a:spAutoFit/>
          </a:bodyPr>
          <a:lstStyle/>
          <a:p>
            <a:pPr indent="457200" algn="just">
              <a:lnSpc>
                <a:spcPct val="150000"/>
              </a:lnSpc>
            </a:pP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击中-击不中变换(HMT</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:Hit-or-Miss Transform</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)是</a:t>
            </a:r>
            <a:r>
              <a:rPr kumimoji="1" lang="zh-CN" altLang="en-US"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形状检测的基本工具</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。令</a:t>
            </a:r>
            <a:r>
              <a:rPr kumimoji="1" lang="en-US" altLang="zh-CN" i="1" dirty="0">
                <a:latin typeface="Times New Roman" panose="02020603050405020304" pitchFamily="18" charset="0"/>
                <a:ea typeface="微软雅黑" panose="020B0503020204020204" pitchFamily="34" charset="-122"/>
                <a:cs typeface="Times New Roman" panose="02020603050405020304" pitchFamily="18" charset="0"/>
              </a:rPr>
              <a:t>I</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是由前景(</a:t>
            </a:r>
            <a:r>
              <a:rPr kumimoji="1" lang="zh-CN" altLang="en-US" i="1" dirty="0">
                <a:latin typeface="Times New Roman" panose="02020603050405020304" pitchFamily="18" charset="0"/>
                <a:ea typeface="微软雅黑" panose="020B0503020204020204" pitchFamily="34" charset="-122"/>
                <a:cs typeface="Times New Roman" panose="02020603050405020304" pitchFamily="18" charset="0"/>
              </a:rPr>
              <a:t>A</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)像素和背景像素组成的一幅二值图像。与先前的形态学方法不同，HMT 使用两个结构元：前景中检测形状的</a:t>
            </a:r>
            <a:r>
              <a:rPr kumimoji="1" lang="zh-CN" altLang="en-US" i="1" dirty="0">
                <a:latin typeface="Times New Roman" panose="02020603050405020304" pitchFamily="18" charset="0"/>
                <a:ea typeface="微软雅黑" panose="020B0503020204020204" pitchFamily="34" charset="-122"/>
                <a:cs typeface="Times New Roman" panose="02020603050405020304" pitchFamily="18" charset="0"/>
              </a:rPr>
              <a:t> B</a:t>
            </a:r>
            <a:r>
              <a:rPr kumimoji="1" lang="en-US" altLang="zh-CN"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，在背景中检测形状的 </a:t>
            </a:r>
            <a:r>
              <a:rPr kumimoji="1" lang="zh-CN" altLang="en-US" i="1" dirty="0">
                <a:latin typeface="Times New Roman" panose="02020603050405020304" pitchFamily="18" charset="0"/>
                <a:ea typeface="微软雅黑" panose="020B0503020204020204" pitchFamily="34" charset="-122"/>
                <a:cs typeface="Times New Roman" panose="02020603050405020304" pitchFamily="18" charset="0"/>
              </a:rPr>
              <a:t>B</a:t>
            </a:r>
            <a:r>
              <a:rPr kumimoji="1" lang="en-US" altLang="zh-CN" i="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。图像I的 HMT 定义为：</a:t>
            </a:r>
          </a:p>
          <a:p>
            <a:pPr indent="457200" algn="just">
              <a:lnSpc>
                <a:spcPct val="150000"/>
              </a:lnSpc>
            </a:pPr>
            <a:endPar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50000"/>
              </a:lnSpc>
            </a:pPr>
            <a:endPar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50000"/>
              </a:lnSpc>
            </a:pP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换言之，形态学</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 HMT </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是结构元</a:t>
            </a:r>
            <a:r>
              <a:rPr kumimoji="1" lang="zh-CN" altLang="en-US" i="1" dirty="0">
                <a:latin typeface="Times New Roman" panose="02020603050405020304" pitchFamily="18" charset="0"/>
                <a:ea typeface="微软雅黑" panose="020B0503020204020204" pitchFamily="34" charset="-122"/>
                <a:cs typeface="Times New Roman" panose="02020603050405020304" pitchFamily="18" charset="0"/>
                <a:sym typeface="+mn-ea"/>
              </a:rPr>
              <a:t> B</a:t>
            </a:r>
            <a:r>
              <a:rPr kumimoji="1" lang="en-US" altLang="zh-CN" i="1"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1</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和</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i="1" dirty="0">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i="1"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2</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同时平移</a:t>
            </a:r>
            <a:r>
              <a:rPr kumimoji="1" lang="en-US" altLang="zh-CN" i="1" dirty="0">
                <a:latin typeface="Times New Roman" panose="02020603050405020304" pitchFamily="18" charset="0"/>
                <a:ea typeface="微软雅黑" panose="020B0503020204020204" pitchFamily="34" charset="-122"/>
                <a:cs typeface="Times New Roman" panose="02020603050405020304" pitchFamily="18" charset="0"/>
              </a:rPr>
              <a:t>z</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的集合，条件是</a:t>
            </a:r>
            <a:r>
              <a:rPr kumimoji="1" lang="zh-CN" altLang="en-US" i="1" dirty="0">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i="1"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1</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在前景</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A</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中找到了匹配项 </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即</a:t>
            </a:r>
            <a:r>
              <a:rPr kumimoji="1" lang="zh-CN" altLang="en-US" i="1" dirty="0">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i="1"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1</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包含于</a:t>
            </a:r>
            <a:r>
              <a:rPr kumimoji="1" lang="en-US" altLang="zh-CN" i="1" dirty="0">
                <a:latin typeface="Times New Roman" panose="02020603050405020304" pitchFamily="18" charset="0"/>
                <a:ea typeface="微软雅黑" panose="020B0503020204020204" pitchFamily="34" charset="-122"/>
                <a:cs typeface="Times New Roman" panose="02020603050405020304" pitchFamily="18" charset="0"/>
              </a:rPr>
              <a:t>A</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i="1" dirty="0">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i="1"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2</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在背景</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A</a:t>
            </a:r>
            <a:r>
              <a:rPr kumimoji="1" lang="en-US" altLang="zh-CN" baseline="30000" dirty="0">
                <a:latin typeface="Times New Roman" panose="02020603050405020304" pitchFamily="18" charset="0"/>
                <a:ea typeface="微软雅黑" panose="020B0503020204020204" pitchFamily="34" charset="-122"/>
                <a:cs typeface="Times New Roman" panose="02020603050405020304" pitchFamily="18" charset="0"/>
              </a:rPr>
              <a:t>C</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中找到了匹配项 </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即</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i="1" dirty="0">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i="1"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2</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包含于</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i="1" dirty="0">
                <a:latin typeface="Times New Roman" panose="02020603050405020304" pitchFamily="18" charset="0"/>
                <a:ea typeface="微软雅黑" panose="020B0503020204020204" pitchFamily="34" charset="-122"/>
                <a:cs typeface="Times New Roman" panose="02020603050405020304" pitchFamily="18" charset="0"/>
              </a:rPr>
              <a:t>A</a:t>
            </a:r>
            <a:r>
              <a:rPr kumimoji="1" lang="en-US" altLang="zh-CN" i="1" baseline="30000" dirty="0">
                <a:latin typeface="Times New Roman" panose="02020603050405020304" pitchFamily="18" charset="0"/>
                <a:ea typeface="微软雅黑" panose="020B0503020204020204" pitchFamily="34" charset="-122"/>
                <a:cs typeface="Times New Roman" panose="02020603050405020304" pitchFamily="18" charset="0"/>
              </a:rPr>
              <a:t>c</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同时</a:t>
            </a:r>
            <a:r>
              <a:rPr kumimoji="1"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一词表明两个结构元的平移</a:t>
            </a:r>
            <a:r>
              <a:rPr kumimoji="1" lang="en-US" altLang="zh-CN" i="1" dirty="0">
                <a:latin typeface="Times New Roman" panose="02020603050405020304" pitchFamily="18" charset="0"/>
                <a:ea typeface="微软雅黑" panose="020B0503020204020204" pitchFamily="34" charset="-122"/>
                <a:cs typeface="Times New Roman" panose="02020603050405020304" pitchFamily="18" charset="0"/>
              </a:rPr>
              <a:t>z</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是相同</a:t>
            </a:r>
            <a:r>
              <a:rPr kumimoji="1" lang="zh-CN" altLang="en-US">
                <a:latin typeface="Times New Roman" panose="02020603050405020304" pitchFamily="18" charset="0"/>
                <a:ea typeface="微软雅黑" panose="020B0503020204020204" pitchFamily="34" charset="-122"/>
                <a:cs typeface="Times New Roman" panose="02020603050405020304" pitchFamily="18" charset="0"/>
              </a:rPr>
              <a:t>的。</a:t>
            </a:r>
            <a:endPar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 name="对象 7"/>
          <p:cNvGraphicFramePr/>
          <p:nvPr/>
        </p:nvGraphicFramePr>
        <p:xfrm>
          <a:off x="1125855" y="2783205"/>
          <a:ext cx="6724015" cy="444500"/>
        </p:xfrm>
        <a:graphic>
          <a:graphicData uri="http://schemas.openxmlformats.org/presentationml/2006/ole">
            <mc:AlternateContent xmlns:mc="http://schemas.openxmlformats.org/markup-compatibility/2006">
              <mc:Choice xmlns:v="urn:schemas-microsoft-com:vml" Requires="v">
                <p:oleObj spid="_x0000_s156713" r:id="rId3" imgW="3987800" imgH="279400" progId="Equation.DSMT4">
                  <p:embed/>
                </p:oleObj>
              </mc:Choice>
              <mc:Fallback>
                <p:oleObj r:id="rId3" imgW="3987800" imgH="279400" progId="Equation.DSMT4">
                  <p:embed/>
                  <p:pic>
                    <p:nvPicPr>
                      <p:cNvPr id="8" name="对象 7"/>
                      <p:cNvPicPr/>
                      <p:nvPr/>
                    </p:nvPicPr>
                    <p:blipFill>
                      <a:blip r:embed="rId4"/>
                      <a:stretch>
                        <a:fillRect/>
                      </a:stretch>
                    </p:blipFill>
                    <p:spPr>
                      <a:xfrm>
                        <a:off x="1125855" y="2783205"/>
                        <a:ext cx="6724015" cy="444500"/>
                      </a:xfrm>
                      <a:prstGeom prst="rect">
                        <a:avLst/>
                      </a:prstGeom>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4.</a:t>
            </a:r>
            <a:r>
              <a:rPr lang="zh-CN" altLang="en-US" dirty="0"/>
              <a:t> 击中</a:t>
            </a:r>
            <a:r>
              <a:rPr lang="en-US" altLang="zh-CN" dirty="0"/>
              <a:t>-</a:t>
            </a:r>
            <a:r>
              <a:rPr lang="zh-CN" altLang="en-US" dirty="0"/>
              <a:t>击不中变换</a:t>
            </a:r>
          </a:p>
        </p:txBody>
      </p:sp>
      <p:sp>
        <p:nvSpPr>
          <p:cNvPr id="4" name="灯片编号占位符 3"/>
          <p:cNvSpPr>
            <a:spLocks noGrp="1"/>
          </p:cNvSpPr>
          <p:nvPr>
            <p:ph type="sldNum" sz="quarter" idx="4"/>
          </p:nvPr>
        </p:nvSpPr>
        <p:spPr>
          <a:xfrm>
            <a:off x="3786188" y="6524943"/>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25</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pic>
        <p:nvPicPr>
          <p:cNvPr id="2" name="图片 1"/>
          <p:cNvPicPr>
            <a:picLocks noChangeAspect="1"/>
          </p:cNvPicPr>
          <p:nvPr/>
        </p:nvPicPr>
        <p:blipFill>
          <a:blip r:embed="rId2"/>
          <a:stretch>
            <a:fillRect/>
          </a:stretch>
        </p:blipFill>
        <p:spPr>
          <a:xfrm>
            <a:off x="2844165" y="1724025"/>
            <a:ext cx="3665855" cy="4420870"/>
          </a:xfrm>
          <a:prstGeom prst="rect">
            <a:avLst/>
          </a:prstGeom>
        </p:spPr>
      </p:pic>
      <p:sp>
        <p:nvSpPr>
          <p:cNvPr id="5" name="文本框 4"/>
          <p:cNvSpPr txBox="1"/>
          <p:nvPr/>
        </p:nvSpPr>
        <p:spPr>
          <a:xfrm>
            <a:off x="502920" y="888446"/>
            <a:ext cx="8138160" cy="368300"/>
          </a:xfrm>
          <a:prstGeom prst="rect">
            <a:avLst/>
          </a:prstGeom>
          <a:noFill/>
        </p:spPr>
        <p:txBody>
          <a:bodyPr wrap="square" rtlCol="0" anchor="t">
            <a:spAutoFit/>
          </a:bodyPr>
          <a:lstStyle/>
          <a:p>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假设希望在图像</a:t>
            </a:r>
            <a:r>
              <a:rPr kumimoji="1" lang="en-US" altLang="zh-CN" sz="1800" i="1"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中</a:t>
            </a:r>
            <a:r>
              <a:rPr kumimoji="1" lang="zh-CN" altLang="en-US" sz="1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找到目标（集合）</a:t>
            </a:r>
            <a:r>
              <a:rPr kumimoji="1" lang="en-US" altLang="zh-CN" sz="1800"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kumimoji="1" lang="zh-CN" altLang="en-US" sz="1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的原点位置。</a:t>
            </a:r>
          </a:p>
        </p:txBody>
      </p:sp>
      <p:sp>
        <p:nvSpPr>
          <p:cNvPr id="8" name="文本框 7"/>
          <p:cNvSpPr txBox="1"/>
          <p:nvPr/>
        </p:nvSpPr>
        <p:spPr>
          <a:xfrm>
            <a:off x="401320" y="1844675"/>
            <a:ext cx="2205990" cy="952953"/>
          </a:xfrm>
          <a:prstGeom prst="rect">
            <a:avLst/>
          </a:prstGeom>
          <a:noFill/>
        </p:spPr>
        <p:txBody>
          <a:bodyPr wrap="square" rtlCol="0" anchor="t">
            <a:spAutoFit/>
          </a:bodyPr>
          <a:lstStyle/>
          <a:p>
            <a:pPr algn="ctr">
              <a:lnSpc>
                <a:spcPct val="120000"/>
              </a:lnSpc>
            </a:pP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是</a:t>
            </a:r>
            <a:r>
              <a:rPr kumimoji="1"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C</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kumimoji="1"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D</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kumimoji="1"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E</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的并集</a:t>
            </a:r>
          </a:p>
          <a:p>
            <a:pPr algn="ctr">
              <a:lnSpc>
                <a:spcPct val="120000"/>
              </a:lnSpc>
            </a:pP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由前景</a:t>
            </a:r>
            <a:r>
              <a:rPr kumimoji="1"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和背景组成</a:t>
            </a:r>
          </a:p>
          <a:p>
            <a:pPr algn="ctr">
              <a:lnSpc>
                <a:spcPct val="120000"/>
              </a:lnSpc>
            </a:pPr>
            <a:endPar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9" name="左箭头 8"/>
          <p:cNvSpPr/>
          <p:nvPr/>
        </p:nvSpPr>
        <p:spPr>
          <a:xfrm>
            <a:off x="2607310" y="2103120"/>
            <a:ext cx="236855" cy="201295"/>
          </a:xfrm>
          <a:prstGeom prst="leftArrow">
            <a:avLst>
              <a:gd name="adj1" fmla="val 50000"/>
              <a:gd name="adj2" fmla="val 48908"/>
            </a:avLst>
          </a:prstGeom>
          <a:noFill/>
          <a:ln w="19050">
            <a:solidFill>
              <a:schemeClr val="tx2"/>
            </a:solidFill>
            <a:round/>
          </a:ln>
        </p:spPr>
        <p:txBody>
          <a:bodyPr/>
          <a:lstStyle/>
          <a:p>
            <a:endParaRPr lang="zh-CN" altLang="en-US"/>
          </a:p>
        </p:txBody>
      </p:sp>
      <p:sp>
        <p:nvSpPr>
          <p:cNvPr id="10" name="左箭头 9"/>
          <p:cNvSpPr/>
          <p:nvPr/>
        </p:nvSpPr>
        <p:spPr>
          <a:xfrm>
            <a:off x="2607310" y="3717290"/>
            <a:ext cx="236855" cy="201295"/>
          </a:xfrm>
          <a:prstGeom prst="leftArrow">
            <a:avLst>
              <a:gd name="adj1" fmla="val 50000"/>
              <a:gd name="adj2" fmla="val 48908"/>
            </a:avLst>
          </a:prstGeom>
          <a:noFill/>
          <a:ln w="19050">
            <a:solidFill>
              <a:schemeClr val="tx2"/>
            </a:solidFill>
            <a:round/>
          </a:ln>
        </p:spPr>
        <p:txBody>
          <a:bodyPr/>
          <a:lstStyle/>
          <a:p>
            <a:endParaRPr lang="zh-CN" altLang="en-US"/>
          </a:p>
        </p:txBody>
      </p:sp>
      <p:sp>
        <p:nvSpPr>
          <p:cNvPr id="11" name="文本框 10"/>
          <p:cNvSpPr txBox="1"/>
          <p:nvPr/>
        </p:nvSpPr>
        <p:spPr>
          <a:xfrm>
            <a:off x="301625" y="3141345"/>
            <a:ext cx="2421255" cy="1861185"/>
          </a:xfrm>
          <a:prstGeom prst="rect">
            <a:avLst/>
          </a:prstGeom>
          <a:noFill/>
        </p:spPr>
        <p:txBody>
          <a:bodyPr wrap="square" rtlCol="0" anchor="t">
            <a:spAutoFit/>
          </a:bodyPr>
          <a:lstStyle/>
          <a:p>
            <a:pPr algn="ctr">
              <a:lnSpc>
                <a:spcPct val="120000"/>
              </a:lnSpc>
            </a:pP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需要两个能够同时检测</a:t>
            </a:r>
            <a:r>
              <a:rPr kumimoji="1" lang="zh-CN" altLang="en-US" sz="16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前景</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和</a:t>
            </a:r>
            <a:r>
              <a:rPr kumimoji="1" lang="zh-CN" altLang="en-US" sz="16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背景</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特性的结构元</a:t>
            </a:r>
          </a:p>
          <a:p>
            <a:pPr algn="ctr">
              <a:lnSpc>
                <a:spcPct val="120000"/>
              </a:lnSpc>
            </a:pPr>
            <a:r>
              <a:rPr kumimoji="1"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结构元</a:t>
            </a:r>
            <a:r>
              <a:rPr kumimoji="1" lang="en-US" altLang="zh-CN" sz="16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sz="1600" i="1"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kumimoji="1"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是</a:t>
            </a:r>
            <a:r>
              <a:rPr kumimoji="1" lang="en-US" altLang="zh-CN" sz="16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kumimoji="1"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本身</a:t>
            </a:r>
          </a:p>
          <a:p>
            <a:pPr algn="ctr">
              <a:lnSpc>
                <a:spcPct val="120000"/>
              </a:lnSpc>
            </a:pP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sz="1600" i="1"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2</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用于检测</a:t>
            </a: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en-US" altLang="zh-CN" sz="1600" i="1" baseline="30000" dirty="0">
                <a:latin typeface="Times New Roman" panose="02020603050405020304" pitchFamily="18" charset="0"/>
                <a:ea typeface="微软雅黑" panose="020B0503020204020204" pitchFamily="34" charset="-122"/>
                <a:cs typeface="Times New Roman" panose="02020603050405020304" pitchFamily="18" charset="0"/>
                <a:sym typeface="+mn-ea"/>
              </a:rPr>
              <a:t>c</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中的</a:t>
            </a: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D</a:t>
            </a:r>
            <a:endPar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algn="ctr">
              <a:lnSpc>
                <a:spcPct val="120000"/>
              </a:lnSpc>
            </a:pPr>
            <a:endPar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algn="ctr">
              <a:lnSpc>
                <a:spcPct val="120000"/>
              </a:lnSpc>
            </a:pPr>
            <a:endParaRPr kumimoji="1"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3" name="文本框 12"/>
          <p:cNvSpPr txBox="1"/>
          <p:nvPr/>
        </p:nvSpPr>
        <p:spPr>
          <a:xfrm>
            <a:off x="6588760" y="1844675"/>
            <a:ext cx="2301875" cy="1258570"/>
          </a:xfrm>
          <a:prstGeom prst="rect">
            <a:avLst/>
          </a:prstGeom>
          <a:noFill/>
        </p:spPr>
        <p:txBody>
          <a:bodyPr wrap="square" rtlCol="0" anchor="t">
            <a:spAutoFit/>
          </a:bodyPr>
          <a:lstStyle/>
          <a:p>
            <a:pPr algn="ctr">
              <a:lnSpc>
                <a:spcPct val="130000"/>
              </a:lnSpc>
            </a:pP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的补集</a:t>
            </a: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en-US" altLang="zh-CN" sz="1600" i="1" baseline="30000" dirty="0">
                <a:latin typeface="Times New Roman" panose="02020603050405020304" pitchFamily="18" charset="0"/>
                <a:ea typeface="微软雅黑" panose="020B0503020204020204" pitchFamily="34" charset="-122"/>
                <a:cs typeface="Times New Roman" panose="02020603050405020304" pitchFamily="18" charset="0"/>
                <a:sym typeface="+mn-ea"/>
              </a:rPr>
              <a:t>c</a:t>
            </a:r>
          </a:p>
          <a:p>
            <a:pPr algn="ctr">
              <a:lnSpc>
                <a:spcPct val="130000"/>
              </a:lnSpc>
            </a:pP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en-US" altLang="zh-CN" sz="1600" i="1" baseline="30000" dirty="0">
                <a:latin typeface="Times New Roman" panose="02020603050405020304" pitchFamily="18" charset="0"/>
                <a:ea typeface="微软雅黑" panose="020B0503020204020204" pitchFamily="34" charset="-122"/>
                <a:cs typeface="Times New Roman" panose="02020603050405020304" pitchFamily="18" charset="0"/>
                <a:sym typeface="+mn-ea"/>
              </a:rPr>
              <a:t>c</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的前景定义为</a:t>
            </a: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en-US" altLang="zh-CN" sz="1600" i="1" baseline="30000" dirty="0">
                <a:latin typeface="Times New Roman" panose="02020603050405020304" pitchFamily="18" charset="0"/>
                <a:ea typeface="微软雅黑" panose="020B0503020204020204" pitchFamily="34" charset="-122"/>
                <a:cs typeface="Times New Roman" panose="02020603050405020304" pitchFamily="18" charset="0"/>
                <a:sym typeface="+mn-ea"/>
              </a:rPr>
              <a:t>c</a:t>
            </a:r>
          </a:p>
          <a:p>
            <a:pPr algn="ctr">
              <a:lnSpc>
                <a:spcPct val="130000"/>
              </a:lnSpc>
            </a:pP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的像素集合</a:t>
            </a:r>
            <a:endParaRPr kumimoji="1" lang="en-US" altLang="zh-CN" sz="1600" i="1" baseline="30000"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algn="ctr">
              <a:lnSpc>
                <a:spcPct val="130000"/>
              </a:lnSpc>
            </a:pPr>
            <a:endParaRPr kumimoji="1" lang="en-US" altLang="zh-CN" sz="1600" i="1" baseline="30000"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4" name="左箭头 13"/>
          <p:cNvSpPr/>
          <p:nvPr/>
        </p:nvSpPr>
        <p:spPr>
          <a:xfrm flipH="1">
            <a:off x="6516370" y="2103120"/>
            <a:ext cx="236855" cy="201295"/>
          </a:xfrm>
          <a:prstGeom prst="leftArrow">
            <a:avLst>
              <a:gd name="adj1" fmla="val 50000"/>
              <a:gd name="adj2" fmla="val 48908"/>
            </a:avLst>
          </a:prstGeom>
          <a:noFill/>
          <a:ln w="19050">
            <a:solidFill>
              <a:schemeClr val="tx2"/>
            </a:solidFill>
            <a:round/>
          </a:ln>
        </p:spPr>
        <p:txBody>
          <a:bodyPr/>
          <a:lstStyle/>
          <a:p>
            <a:endParaRPr lang="zh-CN" altLang="en-US"/>
          </a:p>
        </p:txBody>
      </p:sp>
      <p:sp>
        <p:nvSpPr>
          <p:cNvPr id="15" name="文本框 14"/>
          <p:cNvSpPr txBox="1"/>
          <p:nvPr/>
        </p:nvSpPr>
        <p:spPr>
          <a:xfrm>
            <a:off x="6680200" y="3336290"/>
            <a:ext cx="2405380" cy="829945"/>
          </a:xfrm>
          <a:prstGeom prst="rect">
            <a:avLst/>
          </a:prstGeom>
          <a:noFill/>
        </p:spPr>
        <p:txBody>
          <a:bodyPr wrap="square" rtlCol="0" anchor="t">
            <a:spAutoFit/>
          </a:bodyPr>
          <a:lstStyle/>
          <a:p>
            <a:pPr algn="ct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sz="1600" i="1"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1</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对</a:t>
            </a: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的腐蚀结果中包含了一个点（</a:t>
            </a:r>
            <a:r>
              <a:rPr kumimoji="1" lang="en-US" altLang="zh-CN"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kumimoji="1"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的原点</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a:t>
            </a:r>
          </a:p>
          <a:p>
            <a:pPr algn="ct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以及</a:t>
            </a: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C</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的一部分</a:t>
            </a:r>
          </a:p>
        </p:txBody>
      </p:sp>
      <p:sp>
        <p:nvSpPr>
          <p:cNvPr id="17" name="左箭头 16"/>
          <p:cNvSpPr/>
          <p:nvPr/>
        </p:nvSpPr>
        <p:spPr>
          <a:xfrm flipH="1">
            <a:off x="6516370" y="3429000"/>
            <a:ext cx="236855" cy="201295"/>
          </a:xfrm>
          <a:prstGeom prst="leftArrow">
            <a:avLst>
              <a:gd name="adj1" fmla="val 50000"/>
              <a:gd name="adj2" fmla="val 48908"/>
            </a:avLst>
          </a:prstGeom>
          <a:noFill/>
          <a:ln w="19050">
            <a:solidFill>
              <a:schemeClr val="tx2"/>
            </a:solidFill>
            <a:round/>
          </a:ln>
        </p:spPr>
        <p:txBody>
          <a:bodyPr/>
          <a:lstStyle/>
          <a:p>
            <a:endParaRPr lang="zh-CN" altLang="en-US"/>
          </a:p>
        </p:txBody>
      </p:sp>
      <p:sp>
        <p:nvSpPr>
          <p:cNvPr id="21" name="左箭头 20"/>
          <p:cNvSpPr/>
          <p:nvPr/>
        </p:nvSpPr>
        <p:spPr>
          <a:xfrm>
            <a:off x="2627630" y="5027930"/>
            <a:ext cx="236855" cy="201295"/>
          </a:xfrm>
          <a:prstGeom prst="leftArrow">
            <a:avLst>
              <a:gd name="adj1" fmla="val 50000"/>
              <a:gd name="adj2" fmla="val 48908"/>
            </a:avLst>
          </a:prstGeom>
          <a:noFill/>
          <a:ln w="19050">
            <a:solidFill>
              <a:schemeClr val="tx2"/>
            </a:solidFill>
            <a:round/>
          </a:ln>
        </p:spPr>
        <p:txBody>
          <a:bodyPr/>
          <a:lstStyle/>
          <a:p>
            <a:endParaRPr lang="zh-CN" altLang="en-US"/>
          </a:p>
        </p:txBody>
      </p:sp>
      <p:sp>
        <p:nvSpPr>
          <p:cNvPr id="22" name="文本框 21"/>
          <p:cNvSpPr txBox="1"/>
          <p:nvPr/>
        </p:nvSpPr>
        <p:spPr>
          <a:xfrm>
            <a:off x="179705" y="4519930"/>
            <a:ext cx="2604770" cy="1443990"/>
          </a:xfrm>
          <a:prstGeom prst="rect">
            <a:avLst/>
          </a:prstGeom>
          <a:noFill/>
        </p:spPr>
        <p:txBody>
          <a:bodyPr wrap="square" rtlCol="0" anchor="t">
            <a:spAutoFit/>
          </a:bodyPr>
          <a:lstStyle/>
          <a:p>
            <a:pPr algn="ctr">
              <a:lnSpc>
                <a:spcPct val="110000"/>
              </a:lnSpc>
            </a:pP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sz="1600" i="1"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2</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设计检测</a:t>
            </a: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D</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的边界</a:t>
            </a:r>
          </a:p>
          <a:p>
            <a:pPr algn="ctr">
              <a:lnSpc>
                <a:spcPct val="110000"/>
              </a:lnSpc>
            </a:pP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由</a:t>
            </a:r>
            <a:r>
              <a:rPr kumimoji="1"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1</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像素宽的前景元素矩形组成，</a:t>
            </a:r>
            <a:r>
              <a:rPr kumimoji="1"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大小恰好能够包围D</a:t>
            </a:r>
          </a:p>
          <a:p>
            <a:pPr algn="ctr">
              <a:lnSpc>
                <a:spcPct val="110000"/>
              </a:lnSpc>
            </a:pP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结果中包含</a:t>
            </a:r>
            <a:r>
              <a:rPr kumimoji="1" lang="zh-CN" altLang="en-US"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kumimoji="1"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的原点</a:t>
            </a:r>
          </a:p>
          <a:p>
            <a:pPr algn="ctr">
              <a:lnSpc>
                <a:spcPct val="110000"/>
              </a:lnSpc>
            </a:pPr>
            <a:r>
              <a:rPr kumimoji="1"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也包含集合</a:t>
            </a: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en-US" altLang="zh-CN" sz="1600" i="1" baseline="30000" dirty="0">
                <a:latin typeface="Times New Roman" panose="02020603050405020304" pitchFamily="18" charset="0"/>
                <a:ea typeface="微软雅黑" panose="020B0503020204020204" pitchFamily="34" charset="-122"/>
                <a:cs typeface="Times New Roman" panose="02020603050405020304" pitchFamily="18" charset="0"/>
                <a:sym typeface="+mn-ea"/>
              </a:rPr>
              <a:t>c</a:t>
            </a:r>
            <a:r>
              <a:rPr kumimoji="1"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和</a:t>
            </a:r>
            <a:r>
              <a:rPr kumimoji="1"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C</a:t>
            </a:r>
            <a:r>
              <a:rPr kumimoji="1"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的一部分</a:t>
            </a:r>
          </a:p>
        </p:txBody>
      </p:sp>
      <p:sp>
        <p:nvSpPr>
          <p:cNvPr id="23" name="左箭头 22"/>
          <p:cNvSpPr/>
          <p:nvPr/>
        </p:nvSpPr>
        <p:spPr>
          <a:xfrm flipH="1">
            <a:off x="6516370" y="5027930"/>
            <a:ext cx="236855" cy="201295"/>
          </a:xfrm>
          <a:prstGeom prst="leftArrow">
            <a:avLst>
              <a:gd name="adj1" fmla="val 50000"/>
              <a:gd name="adj2" fmla="val 48908"/>
            </a:avLst>
          </a:prstGeom>
          <a:noFill/>
          <a:ln w="19050">
            <a:solidFill>
              <a:schemeClr val="tx2"/>
            </a:solidFill>
            <a:round/>
          </a:ln>
        </p:spPr>
        <p:txBody>
          <a:bodyPr/>
          <a:lstStyle/>
          <a:p>
            <a:endParaRPr lang="zh-CN" altLang="en-US"/>
          </a:p>
        </p:txBody>
      </p:sp>
      <p:sp>
        <p:nvSpPr>
          <p:cNvPr id="24" name="文本框 23"/>
          <p:cNvSpPr txBox="1"/>
          <p:nvPr/>
        </p:nvSpPr>
        <p:spPr>
          <a:xfrm>
            <a:off x="6804025" y="4869180"/>
            <a:ext cx="2250440" cy="632460"/>
          </a:xfrm>
          <a:prstGeom prst="rect">
            <a:avLst/>
          </a:prstGeom>
          <a:noFill/>
        </p:spPr>
        <p:txBody>
          <a:bodyPr wrap="square" rtlCol="0" anchor="t">
            <a:spAutoFit/>
          </a:bodyPr>
          <a:lstStyle/>
          <a:p>
            <a:pPr algn="ctr">
              <a:lnSpc>
                <a:spcPct val="110000"/>
              </a:lnSpc>
            </a:pP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因此两个元素集合的</a:t>
            </a:r>
            <a:r>
              <a:rPr kumimoji="1"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交集</a:t>
            </a:r>
            <a:r>
              <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给出了</a:t>
            </a:r>
            <a:r>
              <a:rPr kumimoji="1"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原点的位置</a:t>
            </a:r>
            <a:endPar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9" grpId="0" animBg="1"/>
      <p:bldP spid="9" grpId="1" animBg="1"/>
      <p:bldP spid="10" grpId="0" animBg="1"/>
      <p:bldP spid="10" grpId="1" animBg="1"/>
      <p:bldP spid="11" grpId="0"/>
      <p:bldP spid="11" grpId="1"/>
      <p:bldP spid="13" grpId="0"/>
      <p:bldP spid="13" grpId="1"/>
      <p:bldP spid="14" grpId="0" animBg="1"/>
      <p:bldP spid="14" grpId="1" animBg="1"/>
      <p:bldP spid="15" grpId="0"/>
      <p:bldP spid="15" grpId="1"/>
      <p:bldP spid="17" grpId="0" animBg="1"/>
      <p:bldP spid="17" grpId="1" animBg="1"/>
      <p:bldP spid="21" grpId="0" animBg="1"/>
      <p:bldP spid="21" grpId="1" animBg="1"/>
      <p:bldP spid="22" grpId="0"/>
      <p:bldP spid="22" grpId="1"/>
      <p:bldP spid="23" grpId="0" animBg="1"/>
      <p:bldP spid="23" grpId="1" animBg="1"/>
      <p:bldP spid="24" grpId="0"/>
      <p:bldP spid="24"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4.</a:t>
            </a:r>
            <a:r>
              <a:rPr lang="zh-CN" altLang="en-US" dirty="0"/>
              <a:t> 击中</a:t>
            </a:r>
            <a:r>
              <a:rPr lang="en-US" altLang="zh-CN" dirty="0"/>
              <a:t>-</a:t>
            </a:r>
            <a:r>
              <a:rPr lang="zh-CN" altLang="en-US" dirty="0"/>
              <a:t>击不中变换</a:t>
            </a:r>
          </a:p>
        </p:txBody>
      </p:sp>
      <p:sp>
        <p:nvSpPr>
          <p:cNvPr id="4" name="灯片编号占位符 3"/>
          <p:cNvSpPr>
            <a:spLocks noGrp="1"/>
          </p:cNvSpPr>
          <p:nvPr>
            <p:ph type="sldNum" sz="quarter" idx="4"/>
          </p:nvPr>
        </p:nvSpPr>
        <p:spPr>
          <a:xfrm>
            <a:off x="3786188" y="6524943"/>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26</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5" name="文本框 4"/>
          <p:cNvSpPr txBox="1"/>
          <p:nvPr/>
        </p:nvSpPr>
        <p:spPr>
          <a:xfrm>
            <a:off x="539750" y="765175"/>
            <a:ext cx="8138160" cy="2723181"/>
          </a:xfrm>
          <a:prstGeom prst="rect">
            <a:avLst/>
          </a:prstGeom>
          <a:noFill/>
        </p:spPr>
        <p:txBody>
          <a:bodyPr wrap="square" rtlCol="0" anchor="t">
            <a:spAutoFit/>
          </a:bodyPr>
          <a:lstStyle/>
          <a:p>
            <a:pPr>
              <a:lnSpc>
                <a:spcPct val="120000"/>
              </a:lnSpc>
            </a:pP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为何</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不直接用</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一个结构元检测图像</a:t>
            </a:r>
            <a:r>
              <a:rPr kumimoji="1" lang="en-US" altLang="zh-CN" sz="1800" i="1"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中的</a:t>
            </a:r>
            <a:r>
              <a:rPr kumimoji="1" lang="en-US" altLang="zh-CN" sz="1800" i="1" dirty="0">
                <a:latin typeface="Times New Roman" panose="02020603050405020304" pitchFamily="18" charset="0"/>
                <a:ea typeface="微软雅黑" panose="020B0503020204020204" pitchFamily="34" charset="-122"/>
                <a:cs typeface="Times New Roman" panose="02020603050405020304" pitchFamily="18" charset="0"/>
                <a:sym typeface="+mn-ea"/>
              </a:rPr>
              <a:t>D</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a:t>
            </a:r>
          </a:p>
          <a:p>
            <a:pPr indent="457200">
              <a:lnSpc>
                <a:spcPct val="120000"/>
              </a:lnSpc>
            </a:pP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可行，但不能采用</a:t>
            </a:r>
            <a:r>
              <a:rPr kumimoji="1" lang="en-US" altLang="zh-CN" sz="18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传统</a:t>
            </a:r>
            <a:r>
              <a:rPr kumimoji="1" lang="en-US" altLang="zh-CN" sz="18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的</a:t>
            </a:r>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腐蚀操作，即只处理前景像素。</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要在图像中直接检测</a:t>
            </a:r>
            <a:r>
              <a:rPr kumimoji="1" lang="en-US" altLang="zh-CN" sz="1800" i="1" dirty="0">
                <a:latin typeface="Times New Roman" panose="02020603050405020304" pitchFamily="18" charset="0"/>
                <a:ea typeface="微软雅黑" panose="020B0503020204020204" pitchFamily="34" charset="-122"/>
                <a:cs typeface="Times New Roman" panose="02020603050405020304" pitchFamily="18" charset="0"/>
                <a:sym typeface="+mn-ea"/>
              </a:rPr>
              <a:t>D</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就必须</a:t>
            </a:r>
            <a:r>
              <a:rPr kumimoji="1" lang="zh-CN" altLang="en-US" sz="18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同时处理前景像素和背景像素</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a:t>
            </a:r>
          </a:p>
          <a:p>
            <a:pPr indent="457200">
              <a:lnSpc>
                <a:spcPct val="120000"/>
              </a:lnSpc>
            </a:pP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例如，我们定义一个结构元</a:t>
            </a:r>
            <a:r>
              <a:rPr kumimoji="1" lang="en-US" altLang="zh-CN" sz="1800" dirty="0">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，它与</a:t>
            </a:r>
            <a:r>
              <a:rPr kumimoji="1" lang="en-US" altLang="zh-CN" sz="1800" dirty="0">
                <a:latin typeface="Times New Roman" panose="02020603050405020304" pitchFamily="18" charset="0"/>
                <a:ea typeface="微软雅黑" panose="020B0503020204020204" pitchFamily="34" charset="-122"/>
                <a:cs typeface="Times New Roman" panose="02020603050405020304" pitchFamily="18" charset="0"/>
                <a:sym typeface="+mn-ea"/>
              </a:rPr>
              <a:t>D</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相同，但它还有一个宽度为</a:t>
            </a:r>
            <a:r>
              <a:rPr kumimoji="1" lang="en-US" altLang="zh-CN" sz="1800" dirty="0">
                <a:latin typeface="Times New Roman" panose="02020603050405020304" pitchFamily="18" charset="0"/>
                <a:ea typeface="微软雅黑" panose="020B0503020204020204" pitchFamily="34" charset="-122"/>
                <a:cs typeface="Times New Roman" panose="02020603050405020304" pitchFamily="18" charset="0"/>
                <a:sym typeface="+mn-ea"/>
              </a:rPr>
              <a:t>1</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像素的背景元素的边界。我们可将</a:t>
            </a:r>
            <a:r>
              <a:rPr kumimoji="1" lang="en-US" altLang="zh-CN" sz="1800" dirty="0">
                <a:latin typeface="Times New Roman" panose="02020603050405020304" pitchFamily="18" charset="0"/>
                <a:ea typeface="微软雅黑" panose="020B0503020204020204" pitchFamily="34" charset="-122"/>
                <a:cs typeface="Times New Roman" panose="02020603050405020304" pitchFamily="18" charset="0"/>
                <a:sym typeface="+mn-ea"/>
              </a:rPr>
              <a:t>HMT</a:t>
            </a: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重新表示为：</a:t>
            </a:r>
          </a:p>
          <a:p>
            <a:pPr indent="457200">
              <a:lnSpc>
                <a:spcPct val="120000"/>
              </a:lnSpc>
            </a:pPr>
            <a:endPar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indent="457200">
              <a:lnSpc>
                <a:spcPct val="120000"/>
              </a:lnSpc>
            </a:pPr>
            <a:endPar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indent="457200">
              <a:lnSpc>
                <a:spcPct val="120000"/>
              </a:lnSpc>
            </a:pPr>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与上一示例相同的解决方案，但使用的是上述内容讨论的一个结构元。</a:t>
            </a:r>
            <a:endParaRPr kumimoji="1" lang="en-US" altLang="zh-CN" sz="1800"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aphicFrame>
        <p:nvGraphicFramePr>
          <p:cNvPr id="6" name="对象 5"/>
          <p:cNvGraphicFramePr/>
          <p:nvPr>
            <p:extLst>
              <p:ext uri="{D42A27DB-BD31-4B8C-83A1-F6EECF244321}">
                <p14:modId xmlns:p14="http://schemas.microsoft.com/office/powerpoint/2010/main" val="3043530246"/>
              </p:ext>
            </p:extLst>
          </p:nvPr>
        </p:nvGraphicFramePr>
        <p:xfrm>
          <a:off x="3516630" y="2564904"/>
          <a:ext cx="2184400" cy="444500"/>
        </p:xfrm>
        <a:graphic>
          <a:graphicData uri="http://schemas.openxmlformats.org/presentationml/2006/ole">
            <mc:AlternateContent xmlns:mc="http://schemas.openxmlformats.org/markup-compatibility/2006">
              <mc:Choice xmlns:v="urn:schemas-microsoft-com:vml" Requires="v">
                <p:oleObj spid="_x0000_s157737" r:id="rId3" imgW="1295400" imgH="279400" progId="Equation.DSMT4">
                  <p:embed/>
                </p:oleObj>
              </mc:Choice>
              <mc:Fallback>
                <p:oleObj r:id="rId3" imgW="1295400" imgH="279400" progId="Equation.DSMT4">
                  <p:embed/>
                  <p:pic>
                    <p:nvPicPr>
                      <p:cNvPr id="6" name="对象 5"/>
                      <p:cNvPicPr/>
                      <p:nvPr/>
                    </p:nvPicPr>
                    <p:blipFill>
                      <a:blip r:embed="rId4"/>
                      <a:stretch>
                        <a:fillRect/>
                      </a:stretch>
                    </p:blipFill>
                    <p:spPr>
                      <a:xfrm>
                        <a:off x="3516630" y="2564904"/>
                        <a:ext cx="2184400" cy="444500"/>
                      </a:xfrm>
                      <a:prstGeom prst="rect">
                        <a:avLst/>
                      </a:prstGeom>
                    </p:spPr>
                  </p:pic>
                </p:oleObj>
              </mc:Fallback>
            </mc:AlternateContent>
          </a:graphicData>
        </a:graphic>
      </p:graphicFrame>
      <p:pic>
        <p:nvPicPr>
          <p:cNvPr id="16" name="图片 15"/>
          <p:cNvPicPr>
            <a:picLocks noChangeAspect="1"/>
          </p:cNvPicPr>
          <p:nvPr/>
        </p:nvPicPr>
        <p:blipFill>
          <a:blip r:embed="rId5"/>
          <a:stretch>
            <a:fillRect/>
          </a:stretch>
        </p:blipFill>
        <p:spPr>
          <a:xfrm>
            <a:off x="1619885" y="4077335"/>
            <a:ext cx="5943600" cy="204660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4.</a:t>
            </a:r>
            <a:r>
              <a:rPr lang="zh-CN" altLang="en-US" dirty="0"/>
              <a:t> 击中</a:t>
            </a:r>
            <a:r>
              <a:rPr lang="en-US" altLang="zh-CN" dirty="0"/>
              <a:t>-</a:t>
            </a:r>
            <a:r>
              <a:rPr lang="zh-CN" altLang="en-US" dirty="0"/>
              <a:t>击不中变换</a:t>
            </a:r>
          </a:p>
        </p:txBody>
      </p:sp>
      <p:sp>
        <p:nvSpPr>
          <p:cNvPr id="4" name="灯片编号占位符 3"/>
          <p:cNvSpPr>
            <a:spLocks noGrp="1"/>
          </p:cNvSpPr>
          <p:nvPr>
            <p:ph type="sldNum" sz="quarter" idx="4"/>
          </p:nvPr>
        </p:nvSpPr>
        <p:spPr>
          <a:xfrm>
            <a:off x="3786188" y="6524943"/>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27</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467544" y="806529"/>
            <a:ext cx="1655857" cy="369332"/>
          </a:xfrm>
          <a:prstGeom prst="rect">
            <a:avLst/>
          </a:prstGeom>
          <a:noFill/>
        </p:spPr>
        <p:txBody>
          <a:bodyPr wrap="square" rtlCol="0" anchor="t">
            <a:spAutoFit/>
          </a:bodyPr>
          <a:lstStyle/>
          <a:p>
            <a:r>
              <a:rPr kumimoji="1" lang="zh-CN" altLang="en-US" sz="1800" dirty="0">
                <a:latin typeface="Times New Roman" panose="02020603050405020304" pitchFamily="18" charset="0"/>
                <a:ea typeface="微软雅黑" panose="020B0503020204020204" pitchFamily="34" charset="-122"/>
                <a:cs typeface="Times New Roman" panose="02020603050405020304" pitchFamily="18" charset="0"/>
                <a:sym typeface="+mn-ea"/>
              </a:rPr>
              <a:t>更多的示例</a:t>
            </a:r>
          </a:p>
        </p:txBody>
      </p:sp>
      <p:pic>
        <p:nvPicPr>
          <p:cNvPr id="8" name="图片 7"/>
          <p:cNvPicPr>
            <a:picLocks noChangeAspect="1"/>
          </p:cNvPicPr>
          <p:nvPr/>
        </p:nvPicPr>
        <p:blipFill>
          <a:blip r:embed="rId2"/>
          <a:stretch>
            <a:fillRect/>
          </a:stretch>
        </p:blipFill>
        <p:spPr>
          <a:xfrm>
            <a:off x="1223628" y="1092358"/>
            <a:ext cx="6696744" cy="4506278"/>
          </a:xfrm>
          <a:prstGeom prst="rect">
            <a:avLst/>
          </a:prstGeom>
        </p:spPr>
      </p:pic>
      <p:sp>
        <p:nvSpPr>
          <p:cNvPr id="11" name="文本框 10"/>
          <p:cNvSpPr txBox="1"/>
          <p:nvPr/>
        </p:nvSpPr>
        <p:spPr>
          <a:xfrm>
            <a:off x="2151023" y="5765642"/>
            <a:ext cx="5589329" cy="521970"/>
          </a:xfrm>
          <a:prstGeom prst="rect">
            <a:avLst/>
          </a:prstGeom>
          <a:noFill/>
        </p:spPr>
        <p:txBody>
          <a:bodyPr wrap="square" rtlCol="0" anchor="t">
            <a:spAutoFit/>
          </a:bodyPr>
          <a:lstStyle/>
          <a:p>
            <a:pPr algn="just">
              <a:buClrTx/>
              <a:buSzTx/>
              <a:buNone/>
            </a:pPr>
            <a:r>
              <a:rPr kumimoji="1" lang="zh-CN" altLang="en-US" sz="14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我们可以认为“不关心”元素的值总是与图像中的对应像素匹配。</a:t>
            </a:r>
          </a:p>
          <a:p>
            <a:pPr algn="just">
              <a:buClrTx/>
              <a:buSzTx/>
              <a:buNone/>
            </a:pPr>
            <a:r>
              <a:rPr kumimoji="1" lang="zh-CN" altLang="en-US" sz="14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使用“不关心”元素可以增大结构元充当多个角色的灵活性</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1"/>
          </p:nvPr>
        </p:nvSpPr>
        <p:spPr>
          <a:xfrm>
            <a:off x="445135" y="1420495"/>
            <a:ext cx="8540750" cy="4434840"/>
          </a:xfrm>
        </p:spPr>
        <p:txBody>
          <a:bodyPr vert="horz" wrap="square" lIns="91440" tIns="45720" rIns="91440" bIns="45720" anchor="t" anchorCtr="0"/>
          <a:lstStyle/>
          <a:p>
            <a:pPr marL="514350" indent="-514350">
              <a:buFont typeface="Arial" panose="020B0604020202020204" pitchFamily="34" charset="0"/>
              <a:buAutoNum type="arabicPeriod"/>
            </a:pPr>
            <a:r>
              <a:rPr lang="zh-CN" altLang="en-US" sz="2800" dirty="0">
                <a:latin typeface="Times New Roman" panose="02020603050405020304" pitchFamily="18" charset="0"/>
                <a:ea typeface="+mn-ea"/>
                <a:cs typeface="+mn-cs"/>
              </a:rPr>
              <a:t>预备知识</a:t>
            </a:r>
          </a:p>
          <a:p>
            <a:pPr marL="514350" indent="-514350">
              <a:buFont typeface="Arial" panose="020B0604020202020204" pitchFamily="34" charset="0"/>
              <a:buAutoNum type="arabicPeriod"/>
            </a:pPr>
            <a:r>
              <a:rPr lang="zh-CN" altLang="en-US" sz="2800" dirty="0"/>
              <a:t>腐蚀和膨胀</a:t>
            </a:r>
          </a:p>
          <a:p>
            <a:pPr marL="514350" indent="-514350">
              <a:buFont typeface="Arial" panose="020B0604020202020204" pitchFamily="34" charset="0"/>
              <a:buAutoNum type="arabicPeriod"/>
            </a:pPr>
            <a:r>
              <a:rPr lang="zh-CN" altLang="en-US" sz="2800" dirty="0"/>
              <a:t>开运算与闭运算</a:t>
            </a:r>
          </a:p>
          <a:p>
            <a:pPr marL="514350" indent="-514350">
              <a:buFont typeface="Arial" panose="020B0604020202020204" pitchFamily="34" charset="0"/>
              <a:buAutoNum type="arabicPeriod"/>
            </a:pPr>
            <a:r>
              <a:rPr lang="zh-CN" altLang="en-US" sz="2800" dirty="0"/>
              <a:t>击中</a:t>
            </a:r>
            <a:r>
              <a:rPr lang="en-US" altLang="zh-CN" sz="2800" dirty="0"/>
              <a:t>-</a:t>
            </a:r>
            <a:r>
              <a:rPr lang="zh-CN" altLang="en-US" sz="2800" dirty="0"/>
              <a:t>击不中变换</a:t>
            </a:r>
          </a:p>
          <a:p>
            <a:pPr marL="514350" indent="-514350">
              <a:buFont typeface="Arial" panose="020B0604020202020204" pitchFamily="34" charset="0"/>
              <a:buAutoNum type="arabicPeriod"/>
            </a:pPr>
            <a:r>
              <a:rPr lang="zh-CN" altLang="en-US" sz="2800" b="1" dirty="0"/>
              <a:t>一些基本的形态学算法</a:t>
            </a:r>
          </a:p>
          <a:p>
            <a:pPr marL="514350" indent="-514350">
              <a:buFont typeface="Arial" panose="020B0604020202020204" pitchFamily="34" charset="0"/>
              <a:buAutoNum type="arabicPeriod"/>
            </a:pPr>
            <a:r>
              <a:rPr lang="zh-CN" altLang="en-US" sz="2800" dirty="0"/>
              <a:t>形态学重建</a:t>
            </a:r>
          </a:p>
          <a:p>
            <a:pPr marL="514350" indent="-514350">
              <a:buFont typeface="Arial" panose="020B0604020202020204" pitchFamily="34" charset="0"/>
              <a:buAutoNum type="arabicPeriod"/>
            </a:pPr>
            <a:r>
              <a:rPr lang="zh-CN" altLang="en-US" sz="2800" dirty="0"/>
              <a:t>二值图像形态学运算小结</a:t>
            </a:r>
          </a:p>
          <a:p>
            <a:pPr marL="514350" indent="-514350">
              <a:buFont typeface="Arial" panose="020B0604020202020204" pitchFamily="34" charset="0"/>
              <a:buAutoNum type="arabicPeriod"/>
            </a:pPr>
            <a:r>
              <a:rPr lang="zh-CN" altLang="en-US" sz="2800" dirty="0"/>
              <a:t>灰度级形态学</a:t>
            </a:r>
            <a:endParaRPr lang="en-US" altLang="zh-CN" sz="3600" dirty="0"/>
          </a:p>
          <a:p>
            <a:pPr marL="514350" indent="-514350">
              <a:buFont typeface="Arial" panose="020B0604020202020204" pitchFamily="34" charset="0"/>
              <a:buAutoNum type="arabicPeriod"/>
            </a:pPr>
            <a:endParaRPr lang="en-US" altLang="zh-CN" sz="3600" dirty="0">
              <a:latin typeface="Times New Roman" panose="02020603050405020304" pitchFamily="18" charset="0"/>
              <a:ea typeface="+mn-ea"/>
              <a:cs typeface="+mn-cs"/>
            </a:endParaRPr>
          </a:p>
        </p:txBody>
      </p:sp>
      <p:sp>
        <p:nvSpPr>
          <p:cNvPr id="19460" name="TextBox 3"/>
          <p:cNvSpPr txBox="1"/>
          <p:nvPr/>
        </p:nvSpPr>
        <p:spPr>
          <a:xfrm>
            <a:off x="445135" y="836613"/>
            <a:ext cx="4359910" cy="5835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dirty="0"/>
              <a:t>第九章</a:t>
            </a:r>
            <a:r>
              <a:rPr lang="en-US" altLang="zh-CN" dirty="0"/>
              <a:t>:</a:t>
            </a:r>
            <a:r>
              <a:rPr lang="zh-CN" altLang="en-US" dirty="0"/>
              <a:t>形态学图像处理</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rPr>
              <a:t>28</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5. </a:t>
            </a:r>
            <a:r>
              <a:rPr lang="zh-CN" altLang="en-US" dirty="0"/>
              <a:t>边界提取</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29</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7" name="文本框 6"/>
          <p:cNvSpPr txBox="1"/>
          <p:nvPr/>
        </p:nvSpPr>
        <p:spPr>
          <a:xfrm>
            <a:off x="467360" y="836295"/>
            <a:ext cx="8025765" cy="873957"/>
          </a:xfrm>
          <a:prstGeom prst="rect">
            <a:avLst/>
          </a:prstGeom>
          <a:noFill/>
        </p:spPr>
        <p:txBody>
          <a:bodyPr wrap="square" rtlCol="0">
            <a:spAutoFit/>
          </a:bodyPr>
          <a:lstStyle/>
          <a:p>
            <a:pPr indent="457200">
              <a:lnSpc>
                <a:spcPct val="150000"/>
              </a:lnSpc>
            </a:pPr>
            <a:r>
              <a:rPr lang="zh-CN" altLang="en-US" dirty="0">
                <a:uFillTx/>
                <a:latin typeface="+mn-lt"/>
                <a:ea typeface="微软雅黑" panose="020B0503020204020204" pitchFamily="34" charset="-122"/>
              </a:rPr>
              <a:t>前景像素集合</a:t>
            </a:r>
            <a:r>
              <a:rPr lang="en-US" altLang="zh-CN" i="1" dirty="0">
                <a:uFillTx/>
                <a:latin typeface="+mn-lt"/>
                <a:ea typeface="微软雅黑" panose="020B0503020204020204" pitchFamily="34" charset="-122"/>
              </a:rPr>
              <a:t>A</a:t>
            </a:r>
            <a:r>
              <a:rPr lang="zh-CN" altLang="en-US" dirty="0">
                <a:uFillTx/>
                <a:latin typeface="+mn-lt"/>
                <a:ea typeface="微软雅黑" panose="020B0503020204020204" pitchFamily="34" charset="-122"/>
              </a:rPr>
              <a:t>的边界</a:t>
            </a:r>
            <a:r>
              <a:rPr lang="en-US" altLang="zh-CN" i="1" dirty="0">
                <a:uFillTx/>
                <a:latin typeface="+mn-lt"/>
                <a:ea typeface="微软雅黑" panose="020B0503020204020204" pitchFamily="34" charset="-122"/>
              </a:rPr>
              <a:t>β</a:t>
            </a:r>
            <a:r>
              <a:rPr lang="en-US" altLang="zh-CN" dirty="0">
                <a:uFillTx/>
                <a:latin typeface="+mn-lt"/>
                <a:ea typeface="微软雅黑" panose="020B0503020204020204" pitchFamily="34" charset="-122"/>
              </a:rPr>
              <a:t>(</a:t>
            </a:r>
            <a:r>
              <a:rPr lang="en-US" altLang="zh-CN" i="1" dirty="0">
                <a:uFillTx/>
                <a:latin typeface="+mn-lt"/>
                <a:ea typeface="微软雅黑" panose="020B0503020204020204" pitchFamily="34" charset="-122"/>
              </a:rPr>
              <a:t>A</a:t>
            </a:r>
            <a:r>
              <a:rPr lang="en-US" altLang="zh-CN" dirty="0">
                <a:uFillTx/>
                <a:latin typeface="+mn-lt"/>
                <a:ea typeface="微软雅黑" panose="020B0503020204020204" pitchFamily="34" charset="-122"/>
              </a:rPr>
              <a:t>)</a:t>
            </a:r>
            <a:r>
              <a:rPr lang="zh-CN" altLang="en-US" dirty="0">
                <a:uFillTx/>
                <a:latin typeface="+mn-lt"/>
                <a:ea typeface="微软雅黑" panose="020B0503020204020204" pitchFamily="34" charset="-122"/>
              </a:rPr>
              <a:t>可按如下方式得到：首先使用合适的结构元</a:t>
            </a:r>
            <a:r>
              <a:rPr lang="en-US" altLang="zh-CN" i="1" dirty="0">
                <a:uFillTx/>
                <a:latin typeface="+mn-lt"/>
                <a:ea typeface="微软雅黑" panose="020B0503020204020204" pitchFamily="34" charset="-122"/>
              </a:rPr>
              <a:t>B</a:t>
            </a:r>
            <a:r>
              <a:rPr lang="zh-CN" altLang="en-US" dirty="0">
                <a:uFillTx/>
                <a:latin typeface="+mn-lt"/>
                <a:ea typeface="微软雅黑" panose="020B0503020204020204" pitchFamily="34" charset="-122"/>
              </a:rPr>
              <a:t>腐蚀</a:t>
            </a:r>
            <a:r>
              <a:rPr lang="en-US" altLang="zh-CN" dirty="0">
                <a:uFillTx/>
                <a:latin typeface="+mn-lt"/>
                <a:ea typeface="微软雅黑" panose="020B0503020204020204" pitchFamily="34" charset="-122"/>
              </a:rPr>
              <a:t> </a:t>
            </a:r>
            <a:r>
              <a:rPr lang="en-US" altLang="zh-CN" i="1" dirty="0">
                <a:uFillTx/>
                <a:latin typeface="+mn-lt"/>
                <a:ea typeface="微软雅黑" panose="020B0503020204020204" pitchFamily="34" charset="-122"/>
              </a:rPr>
              <a:t>A</a:t>
            </a:r>
            <a:r>
              <a:rPr lang="zh-CN" altLang="en-US" dirty="0">
                <a:uFillTx/>
                <a:latin typeface="+mn-lt"/>
                <a:ea typeface="微软雅黑" panose="020B0503020204020204" pitchFamily="34" charset="-122"/>
              </a:rPr>
              <a:t>，然后求</a:t>
            </a:r>
            <a:r>
              <a:rPr lang="en-US" altLang="zh-CN" i="1" dirty="0">
                <a:uFillTx/>
                <a:latin typeface="+mn-lt"/>
                <a:ea typeface="微软雅黑" panose="020B0503020204020204" pitchFamily="34" charset="-122"/>
              </a:rPr>
              <a:t>A</a:t>
            </a:r>
            <a:r>
              <a:rPr lang="zh-CN" altLang="en-US" dirty="0">
                <a:uFillTx/>
                <a:latin typeface="+mn-lt"/>
                <a:ea typeface="微软雅黑" panose="020B0503020204020204" pitchFamily="34" charset="-122"/>
              </a:rPr>
              <a:t>和腐蚀结果的差集。</a:t>
            </a:r>
          </a:p>
        </p:txBody>
      </p:sp>
      <p:graphicFrame>
        <p:nvGraphicFramePr>
          <p:cNvPr id="9" name="对象 8"/>
          <p:cNvGraphicFramePr/>
          <p:nvPr>
            <p:extLst>
              <p:ext uri="{D42A27DB-BD31-4B8C-83A1-F6EECF244321}">
                <p14:modId xmlns:p14="http://schemas.microsoft.com/office/powerpoint/2010/main" val="3418619643"/>
              </p:ext>
            </p:extLst>
          </p:nvPr>
        </p:nvGraphicFramePr>
        <p:xfrm>
          <a:off x="3543935" y="1891107"/>
          <a:ext cx="2056130" cy="323850"/>
        </p:xfrm>
        <a:graphic>
          <a:graphicData uri="http://schemas.openxmlformats.org/presentationml/2006/ole">
            <mc:AlternateContent xmlns:mc="http://schemas.openxmlformats.org/markup-compatibility/2006">
              <mc:Choice xmlns:v="urn:schemas-microsoft-com:vml" Requires="v">
                <p:oleObj spid="_x0000_s114794" r:id="rId3" imgW="1219200" imgH="203200" progId="Equation.DSMT4">
                  <p:embed/>
                </p:oleObj>
              </mc:Choice>
              <mc:Fallback>
                <p:oleObj r:id="rId3" imgW="1219200" imgH="203200" progId="Equation.DSMT4">
                  <p:embed/>
                  <p:pic>
                    <p:nvPicPr>
                      <p:cNvPr id="0" name="图片 8"/>
                      <p:cNvPicPr/>
                      <p:nvPr/>
                    </p:nvPicPr>
                    <p:blipFill>
                      <a:blip r:embed="rId4"/>
                      <a:stretch>
                        <a:fillRect/>
                      </a:stretch>
                    </p:blipFill>
                    <p:spPr>
                      <a:xfrm>
                        <a:off x="3543935" y="1891107"/>
                        <a:ext cx="2056130" cy="323850"/>
                      </a:xfrm>
                      <a:prstGeom prst="rect">
                        <a:avLst/>
                      </a:prstGeom>
                    </p:spPr>
                  </p:pic>
                </p:oleObj>
              </mc:Fallback>
            </mc:AlternateContent>
          </a:graphicData>
        </a:graphic>
      </p:graphicFrame>
      <p:pic>
        <p:nvPicPr>
          <p:cNvPr id="14" name="图片 13"/>
          <p:cNvPicPr>
            <a:picLocks noChangeAspect="1"/>
          </p:cNvPicPr>
          <p:nvPr/>
        </p:nvPicPr>
        <p:blipFill>
          <a:blip r:embed="rId5"/>
          <a:stretch>
            <a:fillRect/>
          </a:stretch>
        </p:blipFill>
        <p:spPr>
          <a:xfrm>
            <a:off x="755576" y="2507019"/>
            <a:ext cx="4396105" cy="2738755"/>
          </a:xfrm>
          <a:prstGeom prst="rect">
            <a:avLst/>
          </a:prstGeom>
        </p:spPr>
      </p:pic>
      <p:sp>
        <p:nvSpPr>
          <p:cNvPr id="15" name="文本框 14"/>
          <p:cNvSpPr txBox="1"/>
          <p:nvPr/>
        </p:nvSpPr>
        <p:spPr>
          <a:xfrm>
            <a:off x="5508104" y="2630636"/>
            <a:ext cx="2370455" cy="1973580"/>
          </a:xfrm>
          <a:prstGeom prst="rect">
            <a:avLst/>
          </a:prstGeom>
          <a:noFill/>
        </p:spPr>
        <p:txBody>
          <a:bodyPr wrap="square" rtlCol="0" anchor="t">
            <a:spAutoFit/>
          </a:bodyPr>
          <a:lstStyle/>
          <a:p>
            <a:pPr>
              <a:lnSpc>
                <a:spcPct val="170000"/>
              </a:lnSpc>
            </a:pPr>
            <a:r>
              <a:rPr lang="zh-CN" altLang="en-US" sz="1800" dirty="0">
                <a:uFillTx/>
                <a:latin typeface="+mn-lt"/>
                <a:ea typeface="微软雅黑" panose="020B0503020204020204" pitchFamily="34" charset="-122"/>
              </a:rPr>
              <a:t>(a)前景像素集合 </a:t>
            </a:r>
            <a:r>
              <a:rPr lang="zh-CN" altLang="en-US" sz="1800" i="1" dirty="0">
                <a:uFillTx/>
                <a:latin typeface="+mn-lt"/>
                <a:ea typeface="微软雅黑" panose="020B0503020204020204" pitchFamily="34" charset="-122"/>
              </a:rPr>
              <a:t>A</a:t>
            </a:r>
            <a:r>
              <a:rPr lang="zh-CN" altLang="en-US" sz="1800" dirty="0">
                <a:uFillTx/>
                <a:latin typeface="+mn-lt"/>
                <a:ea typeface="微软雅黑" panose="020B0503020204020204" pitchFamily="34" charset="-122"/>
              </a:rPr>
              <a:t>;</a:t>
            </a:r>
          </a:p>
          <a:p>
            <a:pPr>
              <a:lnSpc>
                <a:spcPct val="170000"/>
              </a:lnSpc>
            </a:pPr>
            <a:r>
              <a:rPr lang="zh-CN" altLang="en-US" sz="1800" dirty="0">
                <a:uFillTx/>
                <a:latin typeface="+mn-lt"/>
                <a:ea typeface="微软雅黑" panose="020B0503020204020204" pitchFamily="34" charset="-122"/>
              </a:rPr>
              <a:t>(b)结构元;</a:t>
            </a:r>
          </a:p>
          <a:p>
            <a:pPr>
              <a:lnSpc>
                <a:spcPct val="170000"/>
              </a:lnSpc>
            </a:pPr>
            <a:r>
              <a:rPr lang="zh-CN" altLang="en-US" sz="1800" dirty="0">
                <a:uFillTx/>
                <a:latin typeface="+mn-lt"/>
                <a:ea typeface="微软雅黑" panose="020B0503020204020204" pitchFamily="34" charset="-122"/>
              </a:rPr>
              <a:t>(c)</a:t>
            </a:r>
            <a:r>
              <a:rPr lang="zh-CN" altLang="en-US" sz="1800" i="1" dirty="0">
                <a:uFillTx/>
                <a:latin typeface="+mn-lt"/>
                <a:ea typeface="微软雅黑" panose="020B0503020204020204" pitchFamily="34" charset="-122"/>
              </a:rPr>
              <a:t>B</a:t>
            </a:r>
            <a:r>
              <a:rPr lang="zh-CN" altLang="en-US" sz="1800" dirty="0">
                <a:uFillTx/>
                <a:latin typeface="+mn-lt"/>
                <a:ea typeface="微软雅黑" panose="020B0503020204020204" pitchFamily="34" charset="-122"/>
              </a:rPr>
              <a:t>对</a:t>
            </a:r>
            <a:r>
              <a:rPr lang="zh-CN" altLang="en-US" sz="1800" i="1" dirty="0">
                <a:uFillTx/>
                <a:latin typeface="+mn-lt"/>
                <a:ea typeface="微软雅黑" panose="020B0503020204020204" pitchFamily="34" charset="-122"/>
              </a:rPr>
              <a:t>A</a:t>
            </a:r>
            <a:r>
              <a:rPr lang="zh-CN" altLang="en-US" sz="1800" dirty="0">
                <a:uFillTx/>
                <a:latin typeface="+mn-lt"/>
                <a:ea typeface="微软雅黑" panose="020B0503020204020204" pitchFamily="34" charset="-122"/>
              </a:rPr>
              <a:t>的腐蚀;</a:t>
            </a:r>
          </a:p>
          <a:p>
            <a:pPr>
              <a:lnSpc>
                <a:spcPct val="170000"/>
              </a:lnSpc>
            </a:pPr>
            <a:r>
              <a:rPr lang="zh-CN" altLang="en-US" sz="1800" dirty="0">
                <a:uFillTx/>
                <a:latin typeface="+mn-lt"/>
                <a:ea typeface="微软雅黑" panose="020B0503020204020204" pitchFamily="34" charset="-122"/>
              </a:rPr>
              <a:t>(d)</a:t>
            </a:r>
            <a:r>
              <a:rPr lang="en-US" altLang="zh-CN" sz="1800" i="1" dirty="0">
                <a:uFillTx/>
                <a:latin typeface="+mn-lt"/>
                <a:ea typeface="微软雅黑" panose="020B0503020204020204" pitchFamily="34" charset="-122"/>
              </a:rPr>
              <a:t>A</a:t>
            </a:r>
            <a:r>
              <a:rPr lang="zh-CN" altLang="en-US" sz="1800" dirty="0">
                <a:uFillTx/>
                <a:latin typeface="+mn-lt"/>
                <a:ea typeface="微软雅黑" panose="020B0503020204020204" pitchFamily="34" charset="-122"/>
              </a:rPr>
              <a:t>的边界</a:t>
            </a:r>
          </a:p>
        </p:txBody>
      </p:sp>
      <p:pic>
        <p:nvPicPr>
          <p:cNvPr id="16" name="图片 15"/>
          <p:cNvPicPr>
            <a:picLocks noChangeAspect="1"/>
          </p:cNvPicPr>
          <p:nvPr/>
        </p:nvPicPr>
        <p:blipFill>
          <a:blip r:embed="rId6"/>
          <a:stretch>
            <a:fillRect/>
          </a:stretch>
        </p:blipFill>
        <p:spPr>
          <a:xfrm>
            <a:off x="323528" y="2636912"/>
            <a:ext cx="561975" cy="54292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5. </a:t>
            </a:r>
            <a:r>
              <a:rPr lang="zh-CN" altLang="en-US" dirty="0"/>
              <a:t>边界提取</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30</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pic>
        <p:nvPicPr>
          <p:cNvPr id="2" name="图片 1"/>
          <p:cNvPicPr>
            <a:picLocks noChangeAspect="1"/>
          </p:cNvPicPr>
          <p:nvPr/>
        </p:nvPicPr>
        <p:blipFill>
          <a:blip r:embed="rId2"/>
          <a:stretch>
            <a:fillRect/>
          </a:stretch>
        </p:blipFill>
        <p:spPr>
          <a:xfrm>
            <a:off x="1331595" y="836295"/>
            <a:ext cx="6610350" cy="3929380"/>
          </a:xfrm>
          <a:prstGeom prst="rect">
            <a:avLst/>
          </a:prstGeom>
        </p:spPr>
      </p:pic>
      <p:sp>
        <p:nvSpPr>
          <p:cNvPr id="5" name="文本框 4"/>
          <p:cNvSpPr txBox="1"/>
          <p:nvPr/>
        </p:nvSpPr>
        <p:spPr>
          <a:xfrm>
            <a:off x="1331595" y="4940935"/>
            <a:ext cx="7265035" cy="1032510"/>
          </a:xfrm>
          <a:prstGeom prst="rect">
            <a:avLst/>
          </a:prstGeom>
          <a:noFill/>
        </p:spPr>
        <p:txBody>
          <a:bodyPr wrap="square" rtlCol="0" anchor="t">
            <a:spAutoFit/>
          </a:bodyPr>
          <a:lstStyle/>
          <a:p>
            <a:pPr algn="l">
              <a:lnSpc>
                <a:spcPct val="170000"/>
              </a:lnSpc>
              <a:buClrTx/>
              <a:buSzTx/>
              <a:buNone/>
            </a:pPr>
            <a:r>
              <a:rPr lang="zh-CN" altLang="en-US" sz="1800">
                <a:uFillTx/>
                <a:latin typeface="+mn-lt"/>
                <a:ea typeface="微软雅黑" panose="020B0503020204020204" pitchFamily="34" charset="-122"/>
              </a:rPr>
              <a:t>(a)一幅二值图像;</a:t>
            </a:r>
          </a:p>
          <a:p>
            <a:pPr algn="l">
              <a:lnSpc>
                <a:spcPct val="170000"/>
              </a:lnSpc>
              <a:buClrTx/>
              <a:buSzTx/>
              <a:buNone/>
            </a:pPr>
            <a:r>
              <a:rPr lang="zh-CN" altLang="en-US" sz="1800">
                <a:uFillTx/>
                <a:latin typeface="+mn-lt"/>
                <a:ea typeface="微软雅黑" panose="020B0503020204020204" pitchFamily="34" charset="-122"/>
              </a:rPr>
              <a:t>(b)使用式(9.18)和图 9.15(b)中的结构元得到的结果 </a:t>
            </a:r>
          </a:p>
        </p:txBody>
      </p:sp>
      <p:pic>
        <p:nvPicPr>
          <p:cNvPr id="6" name="图片 5"/>
          <p:cNvPicPr>
            <a:picLocks noChangeAspect="1"/>
          </p:cNvPicPr>
          <p:nvPr/>
        </p:nvPicPr>
        <p:blipFill>
          <a:blip r:embed="rId3"/>
          <a:stretch>
            <a:fillRect/>
          </a:stretch>
        </p:blipFill>
        <p:spPr>
          <a:xfrm>
            <a:off x="6948170" y="4765675"/>
            <a:ext cx="652780" cy="323850"/>
          </a:xfrm>
          <a:prstGeom prst="rect">
            <a:avLst/>
          </a:prstGeom>
        </p:spPr>
      </p:pic>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5. </a:t>
            </a:r>
            <a:r>
              <a:rPr lang="zh-CN" altLang="en-US" dirty="0"/>
              <a:t>孔洞填充</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31</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7" name="文本框 6"/>
          <p:cNvSpPr txBox="1"/>
          <p:nvPr/>
        </p:nvSpPr>
        <p:spPr>
          <a:xfrm>
            <a:off x="467360" y="836295"/>
            <a:ext cx="8166100" cy="3367204"/>
          </a:xfrm>
          <a:prstGeom prst="rect">
            <a:avLst/>
          </a:prstGeom>
          <a:noFill/>
        </p:spPr>
        <p:txBody>
          <a:bodyPr wrap="square" rtlCol="0">
            <a:spAutoFit/>
          </a:bodyPr>
          <a:lstStyle/>
          <a:p>
            <a:pPr indent="457200">
              <a:lnSpc>
                <a:spcPct val="150000"/>
              </a:lnSpc>
            </a:pPr>
            <a:r>
              <a:rPr lang="zh-CN" altLang="en-US" dirty="0">
                <a:uFillTx/>
                <a:latin typeface="Times New Roman" panose="02020603050405020304" pitchFamily="18" charset="0"/>
                <a:ea typeface="微软雅黑" panose="020B0503020204020204" pitchFamily="34" charset="-122"/>
              </a:rPr>
              <a:t>令</a:t>
            </a:r>
            <a:r>
              <a:rPr lang="en-US" altLang="zh-CN" i="1" dirty="0">
                <a:uFillTx/>
                <a:latin typeface="Times New Roman" panose="02020603050405020304" pitchFamily="18" charset="0"/>
                <a:ea typeface="微软雅黑" panose="020B0503020204020204" pitchFamily="34" charset="-122"/>
              </a:rPr>
              <a:t>A</a:t>
            </a:r>
            <a:r>
              <a:rPr lang="zh-CN" altLang="en-US" dirty="0">
                <a:uFillTx/>
                <a:latin typeface="Times New Roman" panose="02020603050405020304" pitchFamily="18" charset="0"/>
                <a:ea typeface="微软雅黑" panose="020B0503020204020204" pitchFamily="34" charset="-122"/>
              </a:rPr>
              <a:t>表示一个集合，它的元素是</a:t>
            </a:r>
            <a:r>
              <a:rPr lang="en-US" altLang="zh-CN" dirty="0">
                <a:uFillTx/>
                <a:latin typeface="Times New Roman" panose="02020603050405020304" pitchFamily="18" charset="0"/>
                <a:ea typeface="微软雅黑" panose="020B0503020204020204" pitchFamily="34" charset="-122"/>
              </a:rPr>
              <a:t>8</a:t>
            </a:r>
            <a:r>
              <a:rPr lang="zh-CN" altLang="en-US" dirty="0">
                <a:uFillTx/>
                <a:latin typeface="Times New Roman" panose="02020603050405020304" pitchFamily="18" charset="0"/>
                <a:ea typeface="微软雅黑" panose="020B0503020204020204" pitchFamily="34" charset="-122"/>
              </a:rPr>
              <a:t>连通边界，每个边界包围一个背景区域</a:t>
            </a:r>
            <a:r>
              <a:rPr lang="en-US" altLang="zh-CN" dirty="0">
                <a:uFillTx/>
                <a:latin typeface="Times New Roman" panose="02020603050405020304" pitchFamily="18" charset="0"/>
                <a:ea typeface="微软雅黑" panose="020B0503020204020204" pitchFamily="34" charset="-122"/>
              </a:rPr>
              <a:t>(</a:t>
            </a:r>
            <a:r>
              <a:rPr lang="zh-CN" altLang="en-US" dirty="0">
                <a:uFillTx/>
                <a:latin typeface="Times New Roman" panose="02020603050405020304" pitchFamily="18" charset="0"/>
                <a:ea typeface="微软雅黑" panose="020B0503020204020204" pitchFamily="34" charset="-122"/>
              </a:rPr>
              <a:t>即一个孔洞</a:t>
            </a:r>
            <a:r>
              <a:rPr lang="en-US" altLang="zh-CN" dirty="0">
                <a:uFillTx/>
                <a:latin typeface="Times New Roman" panose="02020603050405020304" pitchFamily="18" charset="0"/>
                <a:ea typeface="微软雅黑" panose="020B0503020204020204" pitchFamily="34" charset="-122"/>
              </a:rPr>
              <a:t>)</a:t>
            </a:r>
            <a:r>
              <a:rPr lang="zh-CN" altLang="en-US" dirty="0">
                <a:uFillTx/>
                <a:latin typeface="Times New Roman" panose="02020603050405020304" pitchFamily="18" charset="0"/>
                <a:ea typeface="微软雅黑" panose="020B0503020204020204" pitchFamily="34" charset="-122"/>
              </a:rPr>
              <a:t>。已知每个孔洞中的其中一个点</a:t>
            </a:r>
            <a:r>
              <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rPr>
              <a:t>（用于决定填充边界内外），</a:t>
            </a:r>
            <a:r>
              <a:rPr lang="zh-CN" altLang="en-US" dirty="0">
                <a:uFillTx/>
                <a:latin typeface="Times New Roman" panose="02020603050405020304" pitchFamily="18" charset="0"/>
                <a:ea typeface="微软雅黑" panose="020B0503020204020204" pitchFamily="34" charset="-122"/>
              </a:rPr>
              <a:t>我们的目的就是用前景像素</a:t>
            </a:r>
            <a:r>
              <a:rPr lang="en-US" altLang="zh-CN" dirty="0">
                <a:uFillTx/>
                <a:latin typeface="Times New Roman" panose="02020603050405020304" pitchFamily="18" charset="0"/>
                <a:ea typeface="微软雅黑" panose="020B0503020204020204" pitchFamily="34" charset="-122"/>
              </a:rPr>
              <a:t>(1)</a:t>
            </a:r>
            <a:r>
              <a:rPr lang="zh-CN" altLang="en-US" dirty="0">
                <a:uFillTx/>
                <a:latin typeface="Times New Roman" panose="02020603050405020304" pitchFamily="18" charset="0"/>
                <a:ea typeface="微软雅黑" panose="020B0503020204020204" pitchFamily="34" charset="-122"/>
              </a:rPr>
              <a:t>填充所有孔洞。</a:t>
            </a:r>
          </a:p>
          <a:p>
            <a:pPr indent="457200">
              <a:lnSpc>
                <a:spcPct val="150000"/>
              </a:lnSpc>
            </a:pPr>
            <a:r>
              <a:rPr lang="zh-CN" altLang="en-US" dirty="0">
                <a:uFillTx/>
                <a:latin typeface="Times New Roman" panose="02020603050405020304" pitchFamily="18" charset="0"/>
                <a:ea typeface="微软雅黑" panose="020B0503020204020204" pitchFamily="34" charset="-122"/>
              </a:rPr>
              <a:t>首先，我们形成一个元素为</a:t>
            </a:r>
            <a:r>
              <a:rPr lang="en-US" altLang="zh-CN" dirty="0">
                <a:uFillTx/>
                <a:latin typeface="Times New Roman" panose="02020603050405020304" pitchFamily="18" charset="0"/>
                <a:ea typeface="微软雅黑" panose="020B0503020204020204" pitchFamily="34" charset="-122"/>
              </a:rPr>
              <a:t>0</a:t>
            </a:r>
            <a:r>
              <a:rPr lang="zh-CN" altLang="en-US" dirty="0">
                <a:uFillTx/>
                <a:latin typeface="Times New Roman" panose="02020603050405020304" pitchFamily="18" charset="0"/>
                <a:ea typeface="微软雅黑" panose="020B0503020204020204" pitchFamily="34" charset="-122"/>
              </a:rPr>
              <a:t>的图像</a:t>
            </a:r>
            <a:r>
              <a:rPr lang="en-US" altLang="zh-CN" i="1" dirty="0">
                <a:uFillTx/>
                <a:latin typeface="Times New Roman" panose="02020603050405020304" pitchFamily="18" charset="0"/>
                <a:ea typeface="微软雅黑" panose="020B0503020204020204" pitchFamily="34" charset="-122"/>
              </a:rPr>
              <a:t>X</a:t>
            </a:r>
            <a:r>
              <a:rPr lang="en-US" altLang="zh-CN" baseline="-25000" dirty="0">
                <a:uFillTx/>
                <a:latin typeface="Times New Roman" panose="02020603050405020304" pitchFamily="18" charset="0"/>
                <a:ea typeface="微软雅黑" panose="020B0503020204020204" pitchFamily="34" charset="-122"/>
              </a:rPr>
              <a:t>0</a:t>
            </a:r>
            <a:r>
              <a:rPr lang="en-US" altLang="zh-CN" dirty="0">
                <a:uFillTx/>
                <a:latin typeface="Times New Roman" panose="02020603050405020304" pitchFamily="18" charset="0"/>
                <a:ea typeface="微软雅黑" panose="020B0503020204020204" pitchFamily="34" charset="-122"/>
              </a:rPr>
              <a:t>,(</a:t>
            </a:r>
            <a:r>
              <a:rPr lang="zh-CN" altLang="en-US" dirty="0">
                <a:uFillTx/>
                <a:latin typeface="Times New Roman" panose="02020603050405020304" pitchFamily="18" charset="0"/>
                <a:ea typeface="微软雅黑" panose="020B0503020204020204" pitchFamily="34" charset="-122"/>
              </a:rPr>
              <a:t>其大小与包含</a:t>
            </a:r>
            <a:r>
              <a:rPr lang="en-US" altLang="zh-CN" i="1" dirty="0">
                <a:uFillTx/>
                <a:latin typeface="Times New Roman" panose="02020603050405020304" pitchFamily="18" charset="0"/>
                <a:ea typeface="微软雅黑" panose="020B0503020204020204" pitchFamily="34" charset="-122"/>
                <a:sym typeface="+mn-ea"/>
              </a:rPr>
              <a:t>A</a:t>
            </a:r>
            <a:r>
              <a:rPr lang="zh-CN" altLang="en-US" dirty="0">
                <a:uFillTx/>
                <a:latin typeface="Times New Roman" panose="02020603050405020304" pitchFamily="18" charset="0"/>
                <a:ea typeface="微软雅黑" panose="020B0503020204020204" pitchFamily="34" charset="-122"/>
              </a:rPr>
              <a:t>的图像</a:t>
            </a:r>
            <a:r>
              <a:rPr lang="en-US" altLang="zh-CN" i="1" dirty="0">
                <a:uFillTx/>
                <a:latin typeface="Times New Roman" panose="02020603050405020304" pitchFamily="18" charset="0"/>
                <a:ea typeface="微软雅黑" panose="020B0503020204020204" pitchFamily="34" charset="-122"/>
              </a:rPr>
              <a:t>I</a:t>
            </a:r>
            <a:r>
              <a:rPr lang="zh-CN" altLang="en-US" dirty="0">
                <a:uFillTx/>
                <a:latin typeface="Times New Roman" panose="02020603050405020304" pitchFamily="18" charset="0"/>
                <a:ea typeface="微软雅黑" panose="020B0503020204020204" pitchFamily="34" charset="-122"/>
              </a:rPr>
              <a:t>相同</a:t>
            </a:r>
            <a:r>
              <a:rPr lang="en-US" altLang="zh-CN" dirty="0">
                <a:uFillTx/>
                <a:latin typeface="Times New Roman" panose="02020603050405020304" pitchFamily="18" charset="0"/>
                <a:ea typeface="微软雅黑" panose="020B0503020204020204" pitchFamily="34" charset="-122"/>
              </a:rPr>
              <a:t>),</a:t>
            </a:r>
            <a:r>
              <a:rPr lang="zh-CN" altLang="en-US" dirty="0">
                <a:uFillTx/>
                <a:latin typeface="Times New Roman" panose="02020603050405020304" pitchFamily="18" charset="0"/>
                <a:ea typeface="微软雅黑" panose="020B0503020204020204" pitchFamily="34" charset="-122"/>
              </a:rPr>
              <a:t>但</a:t>
            </a:r>
            <a:r>
              <a:rPr lang="en-US" altLang="zh-CN" i="1" dirty="0">
                <a:uFillTx/>
                <a:latin typeface="Times New Roman" panose="02020603050405020304" pitchFamily="18" charset="0"/>
                <a:ea typeface="微软雅黑" panose="020B0503020204020204" pitchFamily="34" charset="-122"/>
                <a:sym typeface="+mn-ea"/>
              </a:rPr>
              <a:t>X</a:t>
            </a:r>
            <a:r>
              <a:rPr lang="en-US" altLang="zh-CN" baseline="-25000" dirty="0">
                <a:uFillTx/>
                <a:latin typeface="Times New Roman" panose="02020603050405020304" pitchFamily="18" charset="0"/>
                <a:ea typeface="微软雅黑" panose="020B0503020204020204" pitchFamily="34" charset="-122"/>
                <a:sym typeface="+mn-ea"/>
              </a:rPr>
              <a:t>0</a:t>
            </a:r>
            <a:r>
              <a:rPr lang="zh-CN" altLang="en-US" dirty="0">
                <a:uFillTx/>
                <a:latin typeface="Times New Roman" panose="02020603050405020304" pitchFamily="18" charset="0"/>
                <a:ea typeface="微软雅黑" panose="020B0503020204020204" pitchFamily="34" charset="-122"/>
              </a:rPr>
              <a:t>中对应孔洞的那些像素值为</a:t>
            </a:r>
            <a:r>
              <a:rPr lang="en-US" altLang="zh-CN" dirty="0">
                <a:uFillTx/>
                <a:latin typeface="Times New Roman" panose="02020603050405020304" pitchFamily="18" charset="0"/>
                <a:ea typeface="微软雅黑" panose="020B0503020204020204" pitchFamily="34" charset="-122"/>
              </a:rPr>
              <a:t>1</a:t>
            </a:r>
            <a:r>
              <a:rPr lang="zh-CN" altLang="en-US" dirty="0">
                <a:uFillTx/>
                <a:latin typeface="Times New Roman" panose="02020603050405020304" pitchFamily="18" charset="0"/>
                <a:ea typeface="微软雅黑" panose="020B0503020204020204" pitchFamily="34" charset="-122"/>
              </a:rPr>
              <a:t>。于是，如下过程将用</a:t>
            </a:r>
            <a:r>
              <a:rPr lang="en-US" altLang="zh-CN" dirty="0">
                <a:uFillTx/>
                <a:latin typeface="Times New Roman" panose="02020603050405020304" pitchFamily="18" charset="0"/>
                <a:ea typeface="微软雅黑" panose="020B0503020204020204" pitchFamily="34" charset="-122"/>
              </a:rPr>
              <a:t>1</a:t>
            </a:r>
            <a:r>
              <a:rPr lang="zh-CN" altLang="en-US" dirty="0">
                <a:uFillTx/>
                <a:latin typeface="Times New Roman" panose="02020603050405020304" pitchFamily="18" charset="0"/>
                <a:ea typeface="微软雅黑" panose="020B0503020204020204" pitchFamily="34" charset="-122"/>
              </a:rPr>
              <a:t>填充所有孔洞：</a:t>
            </a:r>
            <a:endParaRPr lang="en-US" altLang="zh-CN" dirty="0">
              <a:uFillTx/>
              <a:latin typeface="Times New Roman" panose="02020603050405020304" pitchFamily="18" charset="0"/>
              <a:ea typeface="微软雅黑" panose="020B0503020204020204" pitchFamily="34" charset="-122"/>
            </a:endParaRPr>
          </a:p>
          <a:p>
            <a:pPr indent="457200">
              <a:lnSpc>
                <a:spcPct val="150000"/>
              </a:lnSpc>
            </a:pPr>
            <a:endParaRPr lang="en-US" altLang="zh-CN" dirty="0">
              <a:uFillTx/>
              <a:latin typeface="Times New Roman" panose="02020603050405020304" pitchFamily="18" charset="0"/>
              <a:ea typeface="微软雅黑" panose="020B0503020204020204" pitchFamily="34" charset="-122"/>
            </a:endParaRPr>
          </a:p>
          <a:p>
            <a:pPr indent="457200">
              <a:lnSpc>
                <a:spcPct val="150000"/>
              </a:lnSpc>
            </a:pPr>
            <a:r>
              <a:rPr lang="zh-CN" altLang="en-US" dirty="0">
                <a:uFillTx/>
                <a:latin typeface="Times New Roman" panose="02020603050405020304" pitchFamily="18" charset="0"/>
                <a:ea typeface="微软雅黑" panose="020B0503020204020204" pitchFamily="34" charset="-122"/>
              </a:rPr>
              <a:t>式中，</a:t>
            </a:r>
            <a:r>
              <a:rPr lang="en-US" altLang="zh-CN" i="1" dirty="0">
                <a:uFillTx/>
                <a:latin typeface="Times New Roman" panose="02020603050405020304" pitchFamily="18" charset="0"/>
                <a:ea typeface="微软雅黑" panose="020B0503020204020204" pitchFamily="34" charset="-122"/>
              </a:rPr>
              <a:t>B </a:t>
            </a:r>
            <a:r>
              <a:rPr lang="zh-CN" altLang="en-US" dirty="0">
                <a:uFillTx/>
                <a:latin typeface="Times New Roman" panose="02020603050405020304" pitchFamily="18" charset="0"/>
                <a:ea typeface="微软雅黑" panose="020B0503020204020204" pitchFamily="34" charset="-122"/>
              </a:rPr>
              <a:t>是下图</a:t>
            </a:r>
            <a:r>
              <a:rPr lang="en-US" altLang="zh-CN" dirty="0">
                <a:uFillTx/>
                <a:latin typeface="Times New Roman" panose="02020603050405020304" pitchFamily="18" charset="0"/>
                <a:ea typeface="微软雅黑" panose="020B0503020204020204" pitchFamily="34" charset="-122"/>
              </a:rPr>
              <a:t> (c)</a:t>
            </a:r>
            <a:r>
              <a:rPr lang="zh-CN" altLang="en-US" dirty="0">
                <a:uFillTx/>
                <a:latin typeface="Times New Roman" panose="02020603050405020304" pitchFamily="18" charset="0"/>
                <a:ea typeface="微软雅黑" panose="020B0503020204020204" pitchFamily="34" charset="-122"/>
              </a:rPr>
              <a:t>中的对称结构元。若</a:t>
            </a:r>
            <a:r>
              <a:rPr lang="en-US" altLang="zh-CN" i="1" dirty="0" err="1">
                <a:uFillTx/>
                <a:latin typeface="Times New Roman" panose="02020603050405020304" pitchFamily="18" charset="0"/>
                <a:ea typeface="微软雅黑" panose="020B0503020204020204" pitchFamily="34" charset="-122"/>
              </a:rPr>
              <a:t>X</a:t>
            </a:r>
            <a:r>
              <a:rPr lang="en-US" altLang="zh-CN" i="1" baseline="-25000" dirty="0" err="1">
                <a:uFillTx/>
                <a:latin typeface="Times New Roman" panose="02020603050405020304" pitchFamily="18" charset="0"/>
                <a:ea typeface="微软雅黑" panose="020B0503020204020204" pitchFamily="34" charset="-122"/>
              </a:rPr>
              <a:t>k</a:t>
            </a:r>
            <a:r>
              <a:rPr lang="en-US" altLang="zh-CN" dirty="0">
                <a:uFillTx/>
                <a:latin typeface="Times New Roman" panose="02020603050405020304" pitchFamily="18" charset="0"/>
                <a:ea typeface="微软雅黑" panose="020B0503020204020204" pitchFamily="34" charset="-122"/>
              </a:rPr>
              <a:t>=</a:t>
            </a:r>
            <a:r>
              <a:rPr lang="en-US" altLang="zh-CN" i="1" dirty="0">
                <a:uFillTx/>
                <a:latin typeface="Times New Roman" panose="02020603050405020304" pitchFamily="18" charset="0"/>
                <a:ea typeface="微软雅黑" panose="020B0503020204020204" pitchFamily="34" charset="-122"/>
              </a:rPr>
              <a:t>X</a:t>
            </a:r>
            <a:r>
              <a:rPr lang="en-US" altLang="zh-CN" i="1" baseline="-25000" dirty="0">
                <a:uFillTx/>
                <a:latin typeface="Times New Roman" panose="02020603050405020304" pitchFamily="18" charset="0"/>
                <a:ea typeface="微软雅黑" panose="020B0503020204020204" pitchFamily="34" charset="-122"/>
              </a:rPr>
              <a:t>k-1</a:t>
            </a:r>
            <a:r>
              <a:rPr lang="zh-CN" altLang="en-US" dirty="0">
                <a:uFillTx/>
                <a:latin typeface="Times New Roman" panose="02020603050405020304" pitchFamily="18" charset="0"/>
                <a:ea typeface="微软雅黑" panose="020B0503020204020204" pitchFamily="34" charset="-122"/>
              </a:rPr>
              <a:t>，则算法迭代的第</a:t>
            </a:r>
            <a:r>
              <a:rPr lang="en-US" altLang="zh-CN" dirty="0">
                <a:uFillTx/>
                <a:latin typeface="Times New Roman" panose="02020603050405020304" pitchFamily="18" charset="0"/>
                <a:ea typeface="微软雅黑" panose="020B0503020204020204" pitchFamily="34" charset="-122"/>
              </a:rPr>
              <a:t>k</a:t>
            </a:r>
            <a:r>
              <a:rPr lang="zh-CN" altLang="en-US" dirty="0">
                <a:uFillTx/>
                <a:latin typeface="Times New Roman" panose="02020603050405020304" pitchFamily="18" charset="0"/>
                <a:ea typeface="微软雅黑" panose="020B0503020204020204" pitchFamily="34" charset="-122"/>
              </a:rPr>
              <a:t>步结束。然后，</a:t>
            </a:r>
            <a:r>
              <a:rPr lang="en-US" altLang="zh-CN" i="1" dirty="0" err="1">
                <a:uFillTx/>
                <a:latin typeface="Times New Roman" panose="02020603050405020304" pitchFamily="18" charset="0"/>
                <a:ea typeface="微软雅黑" panose="020B0503020204020204" pitchFamily="34" charset="-122"/>
                <a:sym typeface="+mn-ea"/>
              </a:rPr>
              <a:t>X</a:t>
            </a:r>
            <a:r>
              <a:rPr lang="en-US" altLang="zh-CN" i="1" baseline="-25000" dirty="0" err="1">
                <a:uFillTx/>
                <a:latin typeface="Times New Roman" panose="02020603050405020304" pitchFamily="18" charset="0"/>
                <a:ea typeface="微软雅黑" panose="020B0503020204020204" pitchFamily="34" charset="-122"/>
                <a:sym typeface="+mn-ea"/>
              </a:rPr>
              <a:t>k</a:t>
            </a:r>
            <a:r>
              <a:rPr lang="zh-CN" altLang="en-US" dirty="0">
                <a:uFillTx/>
                <a:latin typeface="Times New Roman" panose="02020603050405020304" pitchFamily="18" charset="0"/>
                <a:ea typeface="微软雅黑" panose="020B0503020204020204" pitchFamily="34" charset="-122"/>
              </a:rPr>
              <a:t>包含所有被填充的孔洞。</a:t>
            </a:r>
            <a:r>
              <a:rPr lang="en-US" altLang="zh-CN" i="1" dirty="0" err="1">
                <a:uFillTx/>
                <a:latin typeface="Times New Roman" panose="02020603050405020304" pitchFamily="18" charset="0"/>
                <a:ea typeface="微软雅黑" panose="020B0503020204020204" pitchFamily="34" charset="-122"/>
                <a:sym typeface="+mn-ea"/>
              </a:rPr>
              <a:t>X</a:t>
            </a:r>
            <a:r>
              <a:rPr lang="en-US" altLang="zh-CN" i="1" baseline="-25000" dirty="0" err="1">
                <a:uFillTx/>
                <a:latin typeface="Times New Roman" panose="02020603050405020304" pitchFamily="18" charset="0"/>
                <a:ea typeface="微软雅黑" panose="020B0503020204020204" pitchFamily="34" charset="-122"/>
                <a:sym typeface="+mn-ea"/>
              </a:rPr>
              <a:t>k</a:t>
            </a:r>
            <a:r>
              <a:rPr lang="zh-CN" altLang="en-US" dirty="0">
                <a:uFillTx/>
                <a:latin typeface="Times New Roman" panose="02020603050405020304" pitchFamily="18" charset="0"/>
                <a:ea typeface="微软雅黑" panose="020B0503020204020204" pitchFamily="34" charset="-122"/>
              </a:rPr>
              <a:t>和</a:t>
            </a:r>
            <a:r>
              <a:rPr lang="en-US" altLang="zh-CN" i="1" dirty="0">
                <a:uFillTx/>
                <a:latin typeface="Times New Roman" panose="02020603050405020304" pitchFamily="18" charset="0"/>
                <a:ea typeface="微软雅黑" panose="020B0503020204020204" pitchFamily="34" charset="-122"/>
              </a:rPr>
              <a:t>I</a:t>
            </a:r>
            <a:r>
              <a:rPr lang="zh-CN" altLang="en-US" dirty="0">
                <a:uFillTx/>
                <a:latin typeface="Times New Roman" panose="02020603050405020304" pitchFamily="18" charset="0"/>
                <a:ea typeface="微软雅黑" panose="020B0503020204020204" pitchFamily="34" charset="-122"/>
              </a:rPr>
              <a:t>的并集包含被填充的孔洞及孔洞的边界</a:t>
            </a:r>
            <a:r>
              <a:rPr lang="en-US" altLang="zh-CN" dirty="0">
                <a:uFillTx/>
                <a:latin typeface="Times New Roman" panose="02020603050405020304" pitchFamily="18" charset="0"/>
                <a:ea typeface="微软雅黑" panose="020B0503020204020204" pitchFamily="34" charset="-122"/>
              </a:rPr>
              <a:t>.</a:t>
            </a:r>
          </a:p>
        </p:txBody>
      </p:sp>
      <p:graphicFrame>
        <p:nvGraphicFramePr>
          <p:cNvPr id="2" name="对象 1"/>
          <p:cNvGraphicFramePr/>
          <p:nvPr>
            <p:extLst>
              <p:ext uri="{D42A27DB-BD31-4B8C-83A1-F6EECF244321}">
                <p14:modId xmlns:p14="http://schemas.microsoft.com/office/powerpoint/2010/main" val="3597251331"/>
              </p:ext>
            </p:extLst>
          </p:nvPr>
        </p:nvGraphicFramePr>
        <p:xfrm>
          <a:off x="2676207" y="2996952"/>
          <a:ext cx="3748405" cy="405130"/>
        </p:xfrm>
        <a:graphic>
          <a:graphicData uri="http://schemas.openxmlformats.org/presentationml/2006/ole">
            <mc:AlternateContent xmlns:mc="http://schemas.openxmlformats.org/markup-compatibility/2006">
              <mc:Choice xmlns:v="urn:schemas-microsoft-com:vml" Requires="v">
                <p:oleObj spid="_x0000_s115818" r:id="rId3" imgW="2222500" imgH="254000" progId="Equation.DSMT4">
                  <p:embed/>
                </p:oleObj>
              </mc:Choice>
              <mc:Fallback>
                <p:oleObj r:id="rId3" imgW="2222500" imgH="254000" progId="Equation.DSMT4">
                  <p:embed/>
                  <p:pic>
                    <p:nvPicPr>
                      <p:cNvPr id="0" name="图片 8"/>
                      <p:cNvPicPr/>
                      <p:nvPr/>
                    </p:nvPicPr>
                    <p:blipFill>
                      <a:blip r:embed="rId4"/>
                      <a:stretch>
                        <a:fillRect/>
                      </a:stretch>
                    </p:blipFill>
                    <p:spPr>
                      <a:xfrm>
                        <a:off x="2676207" y="2996952"/>
                        <a:ext cx="3748405" cy="405130"/>
                      </a:xfrm>
                      <a:prstGeom prst="rect">
                        <a:avLst/>
                      </a:prstGeom>
                    </p:spPr>
                  </p:pic>
                </p:oleObj>
              </mc:Fallback>
            </mc:AlternateContent>
          </a:graphicData>
        </a:graphic>
      </p:graphicFrame>
      <p:grpSp>
        <p:nvGrpSpPr>
          <p:cNvPr id="5" name="组合 4">
            <a:extLst>
              <a:ext uri="{FF2B5EF4-FFF2-40B4-BE49-F238E27FC236}">
                <a16:creationId xmlns:a16="http://schemas.microsoft.com/office/drawing/2014/main" id="{D16A900D-3B64-4F3C-877C-CDBA4FA502CE}"/>
              </a:ext>
            </a:extLst>
          </p:cNvPr>
          <p:cNvGrpSpPr/>
          <p:nvPr/>
        </p:nvGrpSpPr>
        <p:grpSpPr>
          <a:xfrm>
            <a:off x="539552" y="4394472"/>
            <a:ext cx="7917815" cy="1823720"/>
            <a:chOff x="611505" y="4142740"/>
            <a:chExt cx="7917815" cy="1823720"/>
          </a:xfrm>
        </p:grpSpPr>
        <p:pic>
          <p:nvPicPr>
            <p:cNvPr id="6" name="图片 5"/>
            <p:cNvPicPr>
              <a:picLocks noChangeAspect="1"/>
            </p:cNvPicPr>
            <p:nvPr/>
          </p:nvPicPr>
          <p:blipFill>
            <a:blip r:embed="rId5"/>
            <a:stretch>
              <a:fillRect/>
            </a:stretch>
          </p:blipFill>
          <p:spPr>
            <a:xfrm>
              <a:off x="611505" y="4142740"/>
              <a:ext cx="2440305" cy="1433830"/>
            </a:xfrm>
            <a:prstGeom prst="rect">
              <a:avLst/>
            </a:prstGeom>
          </p:spPr>
        </p:pic>
        <p:pic>
          <p:nvPicPr>
            <p:cNvPr id="8" name="图片 7"/>
            <p:cNvPicPr>
              <a:picLocks noChangeAspect="1"/>
            </p:cNvPicPr>
            <p:nvPr/>
          </p:nvPicPr>
          <p:blipFill>
            <a:blip r:embed="rId6"/>
            <a:stretch>
              <a:fillRect/>
            </a:stretch>
          </p:blipFill>
          <p:spPr>
            <a:xfrm>
              <a:off x="3059430" y="4187825"/>
              <a:ext cx="2672080" cy="1397000"/>
            </a:xfrm>
            <a:prstGeom prst="rect">
              <a:avLst/>
            </a:prstGeom>
          </p:spPr>
        </p:pic>
        <p:pic>
          <p:nvPicPr>
            <p:cNvPr id="10" name="图片 9"/>
            <p:cNvPicPr>
              <a:picLocks noChangeAspect="1"/>
            </p:cNvPicPr>
            <p:nvPr/>
          </p:nvPicPr>
          <p:blipFill>
            <a:blip r:embed="rId7"/>
            <a:stretch>
              <a:fillRect/>
            </a:stretch>
          </p:blipFill>
          <p:spPr>
            <a:xfrm>
              <a:off x="5868035" y="4220845"/>
              <a:ext cx="2661285" cy="1393825"/>
            </a:xfrm>
            <a:prstGeom prst="rect">
              <a:avLst/>
            </a:prstGeom>
          </p:spPr>
        </p:pic>
        <p:pic>
          <p:nvPicPr>
            <p:cNvPr id="11" name="图片 10"/>
            <p:cNvPicPr>
              <a:picLocks noChangeAspect="1"/>
            </p:cNvPicPr>
            <p:nvPr/>
          </p:nvPicPr>
          <p:blipFill>
            <a:blip r:embed="rId8"/>
            <a:stretch>
              <a:fillRect/>
            </a:stretch>
          </p:blipFill>
          <p:spPr>
            <a:xfrm>
              <a:off x="1691640" y="5732780"/>
              <a:ext cx="666750" cy="233680"/>
            </a:xfrm>
            <a:prstGeom prst="rect">
              <a:avLst/>
            </a:prstGeom>
          </p:spPr>
        </p:pic>
        <p:pic>
          <p:nvPicPr>
            <p:cNvPr id="13" name="图片 12"/>
            <p:cNvPicPr>
              <a:picLocks noChangeAspect="1"/>
            </p:cNvPicPr>
            <p:nvPr/>
          </p:nvPicPr>
          <p:blipFill>
            <a:blip r:embed="rId9"/>
            <a:stretch>
              <a:fillRect/>
            </a:stretch>
          </p:blipFill>
          <p:spPr>
            <a:xfrm>
              <a:off x="4074795" y="5756910"/>
              <a:ext cx="571500" cy="209550"/>
            </a:xfrm>
            <a:prstGeom prst="rect">
              <a:avLst/>
            </a:prstGeom>
          </p:spPr>
        </p:pic>
        <p:pic>
          <p:nvPicPr>
            <p:cNvPr id="17" name="图片 16"/>
            <p:cNvPicPr>
              <a:picLocks noChangeAspect="1"/>
            </p:cNvPicPr>
            <p:nvPr/>
          </p:nvPicPr>
          <p:blipFill>
            <a:blip r:embed="rId10"/>
            <a:stretch>
              <a:fillRect/>
            </a:stretch>
          </p:blipFill>
          <p:spPr>
            <a:xfrm>
              <a:off x="6910070" y="5766435"/>
              <a:ext cx="576580" cy="200025"/>
            </a:xfrm>
            <a:prstGeom prst="rect">
              <a:avLst/>
            </a:prstGeom>
          </p:spPr>
        </p:pic>
      </p:grpSp>
      <p:sp>
        <p:nvSpPr>
          <p:cNvPr id="9" name="椭圆 8">
            <a:extLst>
              <a:ext uri="{FF2B5EF4-FFF2-40B4-BE49-F238E27FC236}">
                <a16:creationId xmlns:a16="http://schemas.microsoft.com/office/drawing/2014/main" id="{92496214-4B39-4B28-B464-632E15925A27}"/>
              </a:ext>
            </a:extLst>
          </p:cNvPr>
          <p:cNvSpPr/>
          <p:nvPr/>
        </p:nvSpPr>
        <p:spPr bwMode="auto">
          <a:xfrm>
            <a:off x="2286437" y="5157192"/>
            <a:ext cx="666750" cy="671110"/>
          </a:xfrm>
          <a:prstGeom prst="ellipse">
            <a:avLst/>
          </a:prstGeom>
          <a:noFill/>
          <a:ln w="19050">
            <a:solidFill>
              <a:srgbClr val="FF0000"/>
            </a:solidFill>
            <a:prstDash val="sysDash"/>
            <a:round/>
          </a:ln>
        </p:spPr>
        <p:txBody>
          <a:bodyPr rtlCol="0" anchor="ctr"/>
          <a:lstStyle/>
          <a:p>
            <a:pPr algn="ct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5. </a:t>
            </a:r>
            <a:r>
              <a:rPr lang="zh-CN" altLang="en-US" dirty="0"/>
              <a:t>孔洞填充 </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32</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5" name="文本框 4"/>
          <p:cNvSpPr txBox="1"/>
          <p:nvPr/>
        </p:nvSpPr>
        <p:spPr>
          <a:xfrm>
            <a:off x="1156028" y="4832350"/>
            <a:ext cx="6048671" cy="970907"/>
          </a:xfrm>
          <a:prstGeom prst="rect">
            <a:avLst/>
          </a:prstGeom>
          <a:noFill/>
        </p:spPr>
        <p:txBody>
          <a:bodyPr wrap="square" rtlCol="0" anchor="t">
            <a:spAutoFit/>
          </a:bodyPr>
          <a:lstStyle/>
          <a:p>
            <a:pPr algn="l">
              <a:lnSpc>
                <a:spcPct val="170000"/>
              </a:lnSpc>
              <a:buClrTx/>
              <a:buSzTx/>
              <a:buNone/>
            </a:pPr>
            <a:r>
              <a:rPr lang="en-US" altLang="zh-CN" sz="1800" dirty="0">
                <a:uFillTx/>
                <a:latin typeface="+mn-lt"/>
                <a:ea typeface="微软雅黑" panose="020B0503020204020204" pitchFamily="34" charset="-122"/>
              </a:rPr>
              <a:t>(a)</a:t>
            </a:r>
            <a:r>
              <a:rPr lang="zh-CN" altLang="en-US" sz="1800" dirty="0">
                <a:uFillTx/>
                <a:latin typeface="+mn-lt"/>
                <a:ea typeface="微软雅黑" panose="020B0503020204020204" pitchFamily="34" charset="-122"/>
              </a:rPr>
              <a:t>二值图像，区域内部的白点是孔洞填充的起始点</a:t>
            </a:r>
            <a:endParaRPr lang="en-US" altLang="zh-CN" sz="1800" dirty="0">
              <a:uFillTx/>
              <a:latin typeface="+mn-lt"/>
              <a:ea typeface="微软雅黑" panose="020B0503020204020204" pitchFamily="34" charset="-122"/>
            </a:endParaRPr>
          </a:p>
          <a:p>
            <a:pPr algn="l">
              <a:lnSpc>
                <a:spcPct val="170000"/>
              </a:lnSpc>
              <a:buClrTx/>
              <a:buSzTx/>
              <a:buNone/>
            </a:pPr>
            <a:r>
              <a:rPr lang="en-US" altLang="zh-CN" sz="1800" dirty="0">
                <a:uFillTx/>
                <a:latin typeface="+mn-lt"/>
                <a:ea typeface="微软雅黑" panose="020B0503020204020204" pitchFamily="34" charset="-122"/>
              </a:rPr>
              <a:t>(b)</a:t>
            </a:r>
            <a:r>
              <a:rPr lang="zh-CN" altLang="en-US" sz="1800" dirty="0">
                <a:uFillTx/>
                <a:latin typeface="+mn-lt"/>
                <a:ea typeface="微软雅黑" panose="020B0503020204020204" pitchFamily="34" charset="-122"/>
              </a:rPr>
              <a:t>填充所有孔洞后的结果</a:t>
            </a:r>
          </a:p>
        </p:txBody>
      </p:sp>
      <p:pic>
        <p:nvPicPr>
          <p:cNvPr id="6" name="图片 5"/>
          <p:cNvPicPr>
            <a:picLocks noChangeAspect="1"/>
          </p:cNvPicPr>
          <p:nvPr/>
        </p:nvPicPr>
        <p:blipFill>
          <a:blip r:embed="rId2"/>
          <a:stretch>
            <a:fillRect/>
          </a:stretch>
        </p:blipFill>
        <p:spPr>
          <a:xfrm>
            <a:off x="6948170" y="4508500"/>
            <a:ext cx="652780" cy="323850"/>
          </a:xfrm>
          <a:prstGeom prst="rect">
            <a:avLst/>
          </a:prstGeom>
        </p:spPr>
      </p:pic>
      <p:pic>
        <p:nvPicPr>
          <p:cNvPr id="7" name="图片 6"/>
          <p:cNvPicPr>
            <a:picLocks noChangeAspect="1"/>
          </p:cNvPicPr>
          <p:nvPr/>
        </p:nvPicPr>
        <p:blipFill>
          <a:blip r:embed="rId3"/>
          <a:stretch>
            <a:fillRect/>
          </a:stretch>
        </p:blipFill>
        <p:spPr>
          <a:xfrm>
            <a:off x="971550" y="836295"/>
            <a:ext cx="7106920" cy="3514090"/>
          </a:xfrm>
          <a:prstGeom prst="rect">
            <a:avLst/>
          </a:prstGeom>
        </p:spPr>
      </p:pic>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5. </a:t>
            </a:r>
            <a:r>
              <a:rPr lang="zh-CN" altLang="en-US" dirty="0"/>
              <a:t>提取连通分量</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33</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7" name="文本框 6"/>
          <p:cNvSpPr txBox="1"/>
          <p:nvPr/>
        </p:nvSpPr>
        <p:spPr>
          <a:xfrm>
            <a:off x="467360" y="836295"/>
            <a:ext cx="8166100" cy="3367204"/>
          </a:xfrm>
          <a:prstGeom prst="rect">
            <a:avLst/>
          </a:prstGeom>
          <a:noFill/>
        </p:spPr>
        <p:txBody>
          <a:bodyPr wrap="square" rtlCol="0">
            <a:spAutoFit/>
          </a:bodyPr>
          <a:lstStyle/>
          <a:p>
            <a:pPr indent="457200">
              <a:lnSpc>
                <a:spcPct val="150000"/>
              </a:lnSpc>
            </a:pPr>
            <a:r>
              <a:rPr lang="zh-CN" altLang="en-US" dirty="0">
                <a:uFillTx/>
                <a:latin typeface="Times New Roman" panose="02020603050405020304" pitchFamily="18" charset="0"/>
                <a:ea typeface="微软雅黑" panose="020B0503020204020204" pitchFamily="34" charset="-122"/>
              </a:rPr>
              <a:t>令</a:t>
            </a:r>
            <a:r>
              <a:rPr lang="en-US" altLang="zh-CN" i="1" dirty="0">
                <a:uFillTx/>
                <a:latin typeface="Times New Roman" panose="02020603050405020304" pitchFamily="18" charset="0"/>
                <a:ea typeface="微软雅黑" panose="020B0503020204020204" pitchFamily="34" charset="-122"/>
              </a:rPr>
              <a:t>A</a:t>
            </a:r>
            <a:r>
              <a:rPr lang="zh-CN" altLang="en-US" dirty="0">
                <a:uFillTx/>
                <a:latin typeface="Times New Roman" panose="02020603050405020304" pitchFamily="18" charset="0"/>
                <a:ea typeface="微软雅黑" panose="020B0503020204020204" pitchFamily="34" charset="-122"/>
              </a:rPr>
              <a:t>是由一个或多个连通分量组成的前景像素集合。 设图像</a:t>
            </a:r>
            <a:r>
              <a:rPr lang="en-US" altLang="zh-CN" i="1" dirty="0">
                <a:uFillTx/>
                <a:latin typeface="Times New Roman" panose="02020603050405020304" pitchFamily="18" charset="0"/>
                <a:ea typeface="微软雅黑" panose="020B0503020204020204" pitchFamily="34" charset="-122"/>
              </a:rPr>
              <a:t>X</a:t>
            </a:r>
            <a:r>
              <a:rPr lang="en-US" altLang="zh-CN" i="1" baseline="-25000" dirty="0">
                <a:uFillTx/>
                <a:latin typeface="Times New Roman" panose="02020603050405020304" pitchFamily="18" charset="0"/>
                <a:ea typeface="微软雅黑" panose="020B0503020204020204" pitchFamily="34" charset="-122"/>
              </a:rPr>
              <a:t>0</a:t>
            </a:r>
            <a:r>
              <a:rPr lang="en-US" altLang="zh-CN" dirty="0">
                <a:uFillTx/>
                <a:latin typeface="Times New Roman" panose="02020603050405020304" pitchFamily="18" charset="0"/>
                <a:ea typeface="微软雅黑" panose="020B0503020204020204" pitchFamily="34" charset="-122"/>
              </a:rPr>
              <a:t>(</a:t>
            </a:r>
            <a:r>
              <a:rPr lang="zh-CN" altLang="en-US" dirty="0">
                <a:uFillTx/>
                <a:latin typeface="Times New Roman" panose="02020603050405020304" pitchFamily="18" charset="0"/>
                <a:ea typeface="微软雅黑" panose="020B0503020204020204" pitchFamily="34" charset="-122"/>
              </a:rPr>
              <a:t>与包含</a:t>
            </a:r>
            <a:r>
              <a:rPr lang="en-US" altLang="zh-CN" i="1" dirty="0">
                <a:uFillTx/>
                <a:latin typeface="Times New Roman" panose="02020603050405020304" pitchFamily="18" charset="0"/>
                <a:ea typeface="微软雅黑" panose="020B0503020204020204" pitchFamily="34" charset="-122"/>
              </a:rPr>
              <a:t>A</a:t>
            </a:r>
            <a:r>
              <a:rPr lang="zh-CN" altLang="en-US" dirty="0">
                <a:uFillTx/>
                <a:latin typeface="Times New Roman" panose="02020603050405020304" pitchFamily="18" charset="0"/>
                <a:ea typeface="微软雅黑" panose="020B0503020204020204" pitchFamily="34" charset="-122"/>
              </a:rPr>
              <a:t>的图像</a:t>
            </a:r>
            <a:r>
              <a:rPr lang="en-US" altLang="zh-CN" i="1" dirty="0">
                <a:uFillTx/>
                <a:latin typeface="Times New Roman" panose="02020603050405020304" pitchFamily="18" charset="0"/>
                <a:ea typeface="微软雅黑" panose="020B0503020204020204" pitchFamily="34" charset="-122"/>
              </a:rPr>
              <a:t>I</a:t>
            </a:r>
            <a:r>
              <a:rPr lang="zh-CN" altLang="en-US" dirty="0">
                <a:uFillTx/>
                <a:latin typeface="Times New Roman" panose="02020603050405020304" pitchFamily="18" charset="0"/>
                <a:ea typeface="微软雅黑" panose="020B0503020204020204" pitchFamily="34" charset="-122"/>
              </a:rPr>
              <a:t>的大小相同</a:t>
            </a:r>
            <a:r>
              <a:rPr lang="en-US" altLang="zh-CN" dirty="0">
                <a:uFillTx/>
                <a:latin typeface="Times New Roman" panose="02020603050405020304" pitchFamily="18" charset="0"/>
                <a:ea typeface="微软雅黑" panose="020B0503020204020204" pitchFamily="34" charset="-122"/>
              </a:rPr>
              <a:t>)</a:t>
            </a:r>
            <a:r>
              <a:rPr lang="zh-CN" altLang="en-US" dirty="0">
                <a:uFillTx/>
                <a:latin typeface="Times New Roman" panose="02020603050405020304" pitchFamily="18" charset="0"/>
                <a:ea typeface="微软雅黑" panose="020B0503020204020204" pitchFamily="34" charset="-122"/>
              </a:rPr>
              <a:t>，图像的元素是</a:t>
            </a:r>
            <a:r>
              <a:rPr lang="en-US" altLang="zh-CN" dirty="0">
                <a:uFillTx/>
                <a:latin typeface="Times New Roman" panose="02020603050405020304" pitchFamily="18" charset="0"/>
                <a:ea typeface="微软雅黑" panose="020B0503020204020204" pitchFamily="34" charset="-122"/>
              </a:rPr>
              <a:t>0(</a:t>
            </a:r>
            <a:r>
              <a:rPr lang="zh-CN" altLang="en-US" dirty="0">
                <a:uFillTx/>
                <a:latin typeface="Times New Roman" panose="02020603050405020304" pitchFamily="18" charset="0"/>
                <a:ea typeface="微软雅黑" panose="020B0503020204020204" pitchFamily="34" charset="-122"/>
              </a:rPr>
              <a:t>背景值</a:t>
            </a:r>
            <a:r>
              <a:rPr lang="en-US" altLang="zh-CN" dirty="0">
                <a:uFillTx/>
                <a:latin typeface="Times New Roman" panose="02020603050405020304" pitchFamily="18" charset="0"/>
                <a:ea typeface="微软雅黑" panose="020B0503020204020204" pitchFamily="34" charset="-122"/>
              </a:rPr>
              <a:t>), </a:t>
            </a:r>
            <a:r>
              <a:rPr lang="zh-CN" altLang="en-US" dirty="0">
                <a:uFillTx/>
                <a:latin typeface="Times New Roman" panose="02020603050405020304" pitchFamily="18" charset="0"/>
                <a:ea typeface="微软雅黑" panose="020B0503020204020204" pitchFamily="34" charset="-122"/>
              </a:rPr>
              <a:t>在</a:t>
            </a:r>
            <a:r>
              <a:rPr lang="en-US" altLang="zh-CN" dirty="0">
                <a:uFillTx/>
                <a:latin typeface="Times New Roman" panose="02020603050405020304" pitchFamily="18" charset="0"/>
                <a:ea typeface="微软雅黑" panose="020B0503020204020204" pitchFamily="34" charset="-122"/>
              </a:rPr>
              <a:t> </a:t>
            </a:r>
            <a:r>
              <a:rPr lang="en-US" altLang="zh-CN" i="1" dirty="0">
                <a:uFillTx/>
                <a:latin typeface="Times New Roman" panose="02020603050405020304" pitchFamily="18" charset="0"/>
                <a:ea typeface="微软雅黑" panose="020B0503020204020204" pitchFamily="34" charset="-122"/>
              </a:rPr>
              <a:t>A</a:t>
            </a:r>
            <a:r>
              <a:rPr lang="zh-CN" altLang="en-US" dirty="0">
                <a:uFillTx/>
                <a:latin typeface="Times New Roman" panose="02020603050405020304" pitchFamily="18" charset="0"/>
                <a:ea typeface="微软雅黑" panose="020B0503020204020204" pitchFamily="34" charset="-122"/>
              </a:rPr>
              <a:t>中每个连通分量内的一个点的已知位置，图像的元素是</a:t>
            </a:r>
            <a:r>
              <a:rPr lang="en-US" altLang="zh-CN" dirty="0">
                <a:uFillTx/>
                <a:latin typeface="Times New Roman" panose="02020603050405020304" pitchFamily="18" charset="0"/>
                <a:ea typeface="微软雅黑" panose="020B0503020204020204" pitchFamily="34" charset="-122"/>
              </a:rPr>
              <a:t>1(</a:t>
            </a:r>
            <a:r>
              <a:rPr lang="zh-CN" altLang="en-US" dirty="0">
                <a:uFillTx/>
                <a:latin typeface="Times New Roman" panose="02020603050405020304" pitchFamily="18" charset="0"/>
                <a:ea typeface="微软雅黑" panose="020B0503020204020204" pitchFamily="34" charset="-122"/>
              </a:rPr>
              <a:t>前景值</a:t>
            </a:r>
            <a:r>
              <a:rPr lang="en-US" altLang="zh-CN" dirty="0">
                <a:uFillTx/>
                <a:latin typeface="Times New Roman" panose="02020603050405020304" pitchFamily="18" charset="0"/>
                <a:ea typeface="微软雅黑" panose="020B0503020204020204" pitchFamily="34" charset="-122"/>
              </a:rPr>
              <a:t>)</a:t>
            </a:r>
            <a:r>
              <a:rPr lang="zh-CN" altLang="en-US" dirty="0">
                <a:uFillTx/>
                <a:latin typeface="Times New Roman" panose="02020603050405020304" pitchFamily="18" charset="0"/>
                <a:ea typeface="微软雅黑" panose="020B0503020204020204" pitchFamily="34" charset="-122"/>
              </a:rPr>
              <a:t>。我们的目标是从</a:t>
            </a:r>
            <a:r>
              <a:rPr lang="en-US" altLang="zh-CN" i="1" dirty="0">
                <a:uFillTx/>
                <a:latin typeface="Times New Roman" panose="02020603050405020304" pitchFamily="18" charset="0"/>
                <a:ea typeface="微软雅黑" panose="020B0503020204020204" pitchFamily="34" charset="-122"/>
                <a:sym typeface="+mn-ea"/>
              </a:rPr>
              <a:t>X</a:t>
            </a:r>
            <a:r>
              <a:rPr lang="en-US" altLang="zh-CN" i="1" baseline="-25000" dirty="0">
                <a:uFillTx/>
                <a:latin typeface="Times New Roman" panose="02020603050405020304" pitchFamily="18" charset="0"/>
                <a:ea typeface="微软雅黑" panose="020B0503020204020204" pitchFamily="34" charset="-122"/>
                <a:sym typeface="+mn-ea"/>
              </a:rPr>
              <a:t>0</a:t>
            </a:r>
            <a:r>
              <a:rPr lang="zh-CN" altLang="en-US" dirty="0">
                <a:uFillTx/>
                <a:latin typeface="Times New Roman" panose="02020603050405020304" pitchFamily="18" charset="0"/>
                <a:ea typeface="微软雅黑" panose="020B0503020204020204" pitchFamily="34" charset="-122"/>
              </a:rPr>
              <a:t>开始，找到</a:t>
            </a:r>
            <a:r>
              <a:rPr lang="en-US" altLang="zh-CN" i="1" dirty="0">
                <a:uFillTx/>
                <a:latin typeface="Times New Roman" panose="02020603050405020304" pitchFamily="18" charset="0"/>
                <a:ea typeface="微软雅黑" panose="020B0503020204020204" pitchFamily="34" charset="-122"/>
                <a:sym typeface="+mn-ea"/>
              </a:rPr>
              <a:t>I</a:t>
            </a:r>
            <a:r>
              <a:rPr lang="zh-CN" altLang="en-US" dirty="0">
                <a:uFillTx/>
                <a:latin typeface="Times New Roman" panose="02020603050405020304" pitchFamily="18" charset="0"/>
                <a:ea typeface="微软雅黑" panose="020B0503020204020204" pitchFamily="34" charset="-122"/>
              </a:rPr>
              <a:t>中的所有连通分量。如下迭代过程可实现这一目的</a:t>
            </a:r>
            <a:r>
              <a:rPr lang="en-US" altLang="zh-CN" dirty="0">
                <a:uFillTx/>
                <a:latin typeface="Times New Roman" panose="02020603050405020304" pitchFamily="18" charset="0"/>
                <a:ea typeface="微软雅黑" panose="020B0503020204020204" pitchFamily="34" charset="-122"/>
              </a:rPr>
              <a:t>:</a:t>
            </a:r>
          </a:p>
          <a:p>
            <a:pPr indent="457200">
              <a:lnSpc>
                <a:spcPct val="150000"/>
              </a:lnSpc>
            </a:pPr>
            <a:endParaRPr lang="zh-CN" altLang="en-US" dirty="0">
              <a:uFillTx/>
              <a:latin typeface="Times New Roman" panose="02020603050405020304" pitchFamily="18" charset="0"/>
              <a:ea typeface="微软雅黑" panose="020B0503020204020204" pitchFamily="34" charset="-122"/>
            </a:endParaRPr>
          </a:p>
          <a:p>
            <a:pPr indent="457200">
              <a:lnSpc>
                <a:spcPct val="150000"/>
              </a:lnSpc>
            </a:pPr>
            <a:endParaRPr lang="zh-CN" altLang="en-US" dirty="0">
              <a:uFillTx/>
              <a:latin typeface="Times New Roman" panose="02020603050405020304" pitchFamily="18" charset="0"/>
              <a:ea typeface="微软雅黑" panose="020B0503020204020204" pitchFamily="34" charset="-122"/>
            </a:endParaRPr>
          </a:p>
          <a:p>
            <a:pPr indent="457200">
              <a:lnSpc>
                <a:spcPct val="150000"/>
              </a:lnSpc>
            </a:pPr>
            <a:r>
              <a:rPr lang="zh-CN" altLang="en-US" dirty="0">
                <a:uFillTx/>
                <a:latin typeface="Times New Roman" panose="02020603050405020304" pitchFamily="18" charset="0"/>
                <a:ea typeface="微软雅黑" panose="020B0503020204020204" pitchFamily="34" charset="-122"/>
              </a:rPr>
              <a:t>式中，</a:t>
            </a:r>
            <a:r>
              <a:rPr lang="en-US" altLang="zh-CN" i="1" dirty="0">
                <a:uFillTx/>
                <a:latin typeface="Times New Roman" panose="02020603050405020304" pitchFamily="18" charset="0"/>
                <a:ea typeface="微软雅黑" panose="020B0503020204020204" pitchFamily="34" charset="-122"/>
              </a:rPr>
              <a:t>B</a:t>
            </a:r>
            <a:r>
              <a:rPr lang="zh-CN" altLang="en-US" dirty="0">
                <a:uFillTx/>
                <a:latin typeface="Times New Roman" panose="02020603050405020304" pitchFamily="18" charset="0"/>
                <a:ea typeface="微软雅黑" panose="020B0503020204020204" pitchFamily="34" charset="-122"/>
              </a:rPr>
              <a:t>是下</a:t>
            </a:r>
            <a:r>
              <a:rPr lang="en-US" altLang="zh-CN" dirty="0">
                <a:uFillTx/>
                <a:latin typeface="Times New Roman" panose="02020603050405020304" pitchFamily="18" charset="0"/>
                <a:ea typeface="微软雅黑" panose="020B0503020204020204" pitchFamily="34" charset="-122"/>
              </a:rPr>
              <a:t>(a)</a:t>
            </a:r>
            <a:r>
              <a:rPr lang="zh-CN" altLang="en-US" dirty="0">
                <a:uFillTx/>
                <a:latin typeface="Times New Roman" panose="02020603050405020304" pitchFamily="18" charset="0"/>
                <a:ea typeface="微软雅黑" panose="020B0503020204020204" pitchFamily="34" charset="-122"/>
              </a:rPr>
              <a:t>中的结构元。当</a:t>
            </a:r>
            <a:r>
              <a:rPr lang="en-US" altLang="zh-CN" i="1" dirty="0" err="1">
                <a:uFillTx/>
                <a:latin typeface="Times New Roman" panose="02020603050405020304" pitchFamily="18" charset="0"/>
                <a:ea typeface="微软雅黑" panose="020B0503020204020204" pitchFamily="34" charset="-122"/>
                <a:sym typeface="+mn-ea"/>
              </a:rPr>
              <a:t>X</a:t>
            </a:r>
            <a:r>
              <a:rPr lang="en-US" altLang="zh-CN" i="1" baseline="-25000" dirty="0" err="1">
                <a:uFillTx/>
                <a:latin typeface="Times New Roman" panose="02020603050405020304" pitchFamily="18" charset="0"/>
                <a:ea typeface="微软雅黑" panose="020B0503020204020204" pitchFamily="34" charset="-122"/>
                <a:sym typeface="+mn-ea"/>
              </a:rPr>
              <a:t>k</a:t>
            </a:r>
            <a:r>
              <a:rPr lang="en-US" altLang="zh-CN" dirty="0">
                <a:uFillTx/>
                <a:latin typeface="Times New Roman" panose="02020603050405020304" pitchFamily="18" charset="0"/>
                <a:ea typeface="微软雅黑" panose="020B0503020204020204" pitchFamily="34" charset="-122"/>
                <a:sym typeface="+mn-ea"/>
              </a:rPr>
              <a:t>=</a:t>
            </a:r>
            <a:r>
              <a:rPr lang="en-US" altLang="zh-CN" i="1" dirty="0">
                <a:uFillTx/>
                <a:latin typeface="Times New Roman" panose="02020603050405020304" pitchFamily="18" charset="0"/>
                <a:ea typeface="微软雅黑" panose="020B0503020204020204" pitchFamily="34" charset="-122"/>
                <a:sym typeface="+mn-ea"/>
              </a:rPr>
              <a:t>X</a:t>
            </a:r>
            <a:r>
              <a:rPr lang="en-US" altLang="zh-CN" i="1" baseline="-25000" dirty="0">
                <a:uFillTx/>
                <a:latin typeface="Times New Roman" panose="02020603050405020304" pitchFamily="18" charset="0"/>
                <a:ea typeface="微软雅黑" panose="020B0503020204020204" pitchFamily="34" charset="-122"/>
                <a:sym typeface="+mn-ea"/>
              </a:rPr>
              <a:t>k-1</a:t>
            </a:r>
            <a:r>
              <a:rPr lang="zh-CN" altLang="en-US" dirty="0">
                <a:uFillTx/>
                <a:latin typeface="Times New Roman" panose="02020603050405020304" pitchFamily="18" charset="0"/>
                <a:ea typeface="微软雅黑" panose="020B0503020204020204" pitchFamily="34" charset="-122"/>
              </a:rPr>
              <a:t>时，迭代过程结束，</a:t>
            </a:r>
            <a:r>
              <a:rPr lang="en-US" altLang="zh-CN" i="1" dirty="0" err="1">
                <a:uFillTx/>
                <a:latin typeface="Times New Roman" panose="02020603050405020304" pitchFamily="18" charset="0"/>
                <a:ea typeface="微软雅黑" panose="020B0503020204020204" pitchFamily="34" charset="-122"/>
                <a:sym typeface="+mn-ea"/>
              </a:rPr>
              <a:t>X</a:t>
            </a:r>
            <a:r>
              <a:rPr lang="en-US" altLang="zh-CN" i="1" baseline="-25000" dirty="0" err="1">
                <a:uFillTx/>
                <a:latin typeface="Times New Roman" panose="02020603050405020304" pitchFamily="18" charset="0"/>
                <a:ea typeface="微软雅黑" panose="020B0503020204020204" pitchFamily="34" charset="-122"/>
                <a:sym typeface="+mn-ea"/>
              </a:rPr>
              <a:t>k</a:t>
            </a:r>
            <a:r>
              <a:rPr lang="zh-CN" altLang="en-US" dirty="0">
                <a:uFillTx/>
                <a:latin typeface="Times New Roman" panose="02020603050405020304" pitchFamily="18" charset="0"/>
                <a:ea typeface="微软雅黑" panose="020B0503020204020204" pitchFamily="34" charset="-122"/>
              </a:rPr>
              <a:t>包含图像中前景像素的所有连通分量。</a:t>
            </a:r>
          </a:p>
        </p:txBody>
      </p:sp>
      <p:graphicFrame>
        <p:nvGraphicFramePr>
          <p:cNvPr id="2" name="对象 1"/>
          <p:cNvGraphicFramePr/>
          <p:nvPr>
            <p:extLst>
              <p:ext uri="{D42A27DB-BD31-4B8C-83A1-F6EECF244321}">
                <p14:modId xmlns:p14="http://schemas.microsoft.com/office/powerpoint/2010/main" val="2167204760"/>
              </p:ext>
            </p:extLst>
          </p:nvPr>
        </p:nvGraphicFramePr>
        <p:xfrm>
          <a:off x="2729547" y="2727646"/>
          <a:ext cx="3641725" cy="405130"/>
        </p:xfrm>
        <a:graphic>
          <a:graphicData uri="http://schemas.openxmlformats.org/presentationml/2006/ole">
            <mc:AlternateContent xmlns:mc="http://schemas.openxmlformats.org/markup-compatibility/2006">
              <mc:Choice xmlns:v="urn:schemas-microsoft-com:vml" Requires="v">
                <p:oleObj spid="_x0000_s116842" r:id="rId3" imgW="2159000" imgH="254000" progId="Equation.DSMT4">
                  <p:embed/>
                </p:oleObj>
              </mc:Choice>
              <mc:Fallback>
                <p:oleObj r:id="rId3" imgW="2159000" imgH="254000" progId="Equation.DSMT4">
                  <p:embed/>
                  <p:pic>
                    <p:nvPicPr>
                      <p:cNvPr id="0" name="图片 8"/>
                      <p:cNvPicPr/>
                      <p:nvPr/>
                    </p:nvPicPr>
                    <p:blipFill>
                      <a:blip r:embed="rId4"/>
                      <a:stretch>
                        <a:fillRect/>
                      </a:stretch>
                    </p:blipFill>
                    <p:spPr>
                      <a:xfrm>
                        <a:off x="2729547" y="2727646"/>
                        <a:ext cx="3641725" cy="405130"/>
                      </a:xfrm>
                      <a:prstGeom prst="rect">
                        <a:avLst/>
                      </a:prstGeom>
                    </p:spPr>
                  </p:pic>
                </p:oleObj>
              </mc:Fallback>
            </mc:AlternateContent>
          </a:graphicData>
        </a:graphic>
      </p:graphicFrame>
      <p:grpSp>
        <p:nvGrpSpPr>
          <p:cNvPr id="5" name="组合 4">
            <a:extLst>
              <a:ext uri="{FF2B5EF4-FFF2-40B4-BE49-F238E27FC236}">
                <a16:creationId xmlns:a16="http://schemas.microsoft.com/office/drawing/2014/main" id="{9647C42A-82E6-41CE-A66D-15610623126B}"/>
              </a:ext>
            </a:extLst>
          </p:cNvPr>
          <p:cNvGrpSpPr/>
          <p:nvPr/>
        </p:nvGrpSpPr>
        <p:grpSpPr>
          <a:xfrm>
            <a:off x="395536" y="4411709"/>
            <a:ext cx="8206105" cy="1526222"/>
            <a:chOff x="545465" y="4425950"/>
            <a:chExt cx="8206105" cy="1526222"/>
          </a:xfrm>
        </p:grpSpPr>
        <p:pic>
          <p:nvPicPr>
            <p:cNvPr id="6" name="图片 5"/>
            <p:cNvPicPr>
              <a:picLocks noChangeAspect="1"/>
            </p:cNvPicPr>
            <p:nvPr/>
          </p:nvPicPr>
          <p:blipFill>
            <a:blip r:embed="rId5"/>
            <a:stretch>
              <a:fillRect/>
            </a:stretch>
          </p:blipFill>
          <p:spPr>
            <a:xfrm>
              <a:off x="545465" y="4652645"/>
              <a:ext cx="786130" cy="561975"/>
            </a:xfrm>
            <a:prstGeom prst="rect">
              <a:avLst/>
            </a:prstGeom>
          </p:spPr>
        </p:pic>
        <p:pic>
          <p:nvPicPr>
            <p:cNvPr id="10" name="图片 9"/>
            <p:cNvPicPr>
              <a:picLocks noChangeAspect="1"/>
            </p:cNvPicPr>
            <p:nvPr/>
          </p:nvPicPr>
          <p:blipFill>
            <a:blip r:embed="rId6"/>
            <a:stretch>
              <a:fillRect/>
            </a:stretch>
          </p:blipFill>
          <p:spPr>
            <a:xfrm>
              <a:off x="766401" y="5671820"/>
              <a:ext cx="300355" cy="209550"/>
            </a:xfrm>
            <a:prstGeom prst="rect">
              <a:avLst/>
            </a:prstGeom>
          </p:spPr>
        </p:pic>
        <p:pic>
          <p:nvPicPr>
            <p:cNvPr id="8" name="图片 7"/>
            <p:cNvPicPr>
              <a:picLocks noChangeAspect="1"/>
            </p:cNvPicPr>
            <p:nvPr/>
          </p:nvPicPr>
          <p:blipFill>
            <a:blip r:embed="rId7"/>
            <a:stretch>
              <a:fillRect/>
            </a:stretch>
          </p:blipFill>
          <p:spPr>
            <a:xfrm>
              <a:off x="1331595" y="4441825"/>
              <a:ext cx="3606800" cy="1267460"/>
            </a:xfrm>
            <a:prstGeom prst="rect">
              <a:avLst/>
            </a:prstGeom>
          </p:spPr>
        </p:pic>
        <p:pic>
          <p:nvPicPr>
            <p:cNvPr id="14" name="图片 13"/>
            <p:cNvPicPr>
              <a:picLocks noChangeAspect="1"/>
            </p:cNvPicPr>
            <p:nvPr/>
          </p:nvPicPr>
          <p:blipFill>
            <a:blip r:embed="rId8"/>
            <a:stretch>
              <a:fillRect/>
            </a:stretch>
          </p:blipFill>
          <p:spPr>
            <a:xfrm>
              <a:off x="5009515" y="4425950"/>
              <a:ext cx="3742055" cy="1363345"/>
            </a:xfrm>
            <a:prstGeom prst="rect">
              <a:avLst/>
            </a:prstGeom>
          </p:spPr>
        </p:pic>
        <p:pic>
          <p:nvPicPr>
            <p:cNvPr id="16" name="图片 15"/>
            <p:cNvPicPr>
              <a:picLocks noChangeAspect="1"/>
            </p:cNvPicPr>
            <p:nvPr/>
          </p:nvPicPr>
          <p:blipFill>
            <a:blip r:embed="rId9"/>
            <a:stretch>
              <a:fillRect/>
            </a:stretch>
          </p:blipFill>
          <p:spPr>
            <a:xfrm>
              <a:off x="2697458" y="5721032"/>
              <a:ext cx="681355" cy="205105"/>
            </a:xfrm>
            <a:prstGeom prst="rect">
              <a:avLst/>
            </a:prstGeom>
          </p:spPr>
        </p:pic>
        <p:pic>
          <p:nvPicPr>
            <p:cNvPr id="18" name="图片 17"/>
            <p:cNvPicPr>
              <a:picLocks noChangeAspect="1"/>
            </p:cNvPicPr>
            <p:nvPr/>
          </p:nvPicPr>
          <p:blipFill>
            <a:blip r:embed="rId10"/>
            <a:stretch>
              <a:fillRect/>
            </a:stretch>
          </p:blipFill>
          <p:spPr>
            <a:xfrm>
              <a:off x="6535635" y="5718492"/>
              <a:ext cx="605155" cy="233680"/>
            </a:xfrm>
            <a:prstGeom prst="rect">
              <a:avLst/>
            </a:prstGeom>
          </p:spPr>
        </p:pic>
      </p:grpSp>
      <p:sp>
        <p:nvSpPr>
          <p:cNvPr id="13" name="椭圆 12">
            <a:extLst>
              <a:ext uri="{FF2B5EF4-FFF2-40B4-BE49-F238E27FC236}">
                <a16:creationId xmlns:a16="http://schemas.microsoft.com/office/drawing/2014/main" id="{B57CB5C6-E8DC-4AB1-8A4A-C9299821D952}"/>
              </a:ext>
            </a:extLst>
          </p:cNvPr>
          <p:cNvSpPr/>
          <p:nvPr/>
        </p:nvSpPr>
        <p:spPr bwMode="auto">
          <a:xfrm>
            <a:off x="395536" y="4583836"/>
            <a:ext cx="666750" cy="671110"/>
          </a:xfrm>
          <a:prstGeom prst="ellipse">
            <a:avLst/>
          </a:prstGeom>
          <a:noFill/>
          <a:ln w="19050">
            <a:solidFill>
              <a:srgbClr val="FF0000"/>
            </a:solidFill>
            <a:prstDash val="sysDash"/>
            <a:round/>
          </a:ln>
        </p:spPr>
        <p:txBody>
          <a:bodyPr rtlCol="0" anchor="ctr"/>
          <a:lstStyle/>
          <a:p>
            <a:pPr algn="ct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563888" y="922402"/>
            <a:ext cx="5459730" cy="4818380"/>
          </a:xfrm>
          <a:prstGeom prst="rect">
            <a:avLst/>
          </a:prstGeom>
        </p:spPr>
      </p:pic>
      <p:pic>
        <p:nvPicPr>
          <p:cNvPr id="8" name="图片 7"/>
          <p:cNvPicPr>
            <a:picLocks noChangeAspect="1"/>
          </p:cNvPicPr>
          <p:nvPr/>
        </p:nvPicPr>
        <p:blipFill>
          <a:blip r:embed="rId3"/>
          <a:stretch>
            <a:fillRect/>
          </a:stretch>
        </p:blipFill>
        <p:spPr>
          <a:xfrm>
            <a:off x="7812405" y="1556385"/>
            <a:ext cx="395605" cy="586105"/>
          </a:xfrm>
          <a:prstGeom prst="rect">
            <a:avLst/>
          </a:prstGeom>
        </p:spPr>
      </p:pic>
      <p:sp>
        <p:nvSpPr>
          <p:cNvPr id="3" name="标题 2"/>
          <p:cNvSpPr>
            <a:spLocks noGrp="1"/>
          </p:cNvSpPr>
          <p:nvPr>
            <p:ph type="title"/>
          </p:nvPr>
        </p:nvSpPr>
        <p:spPr/>
        <p:txBody>
          <a:bodyPr/>
          <a:lstStyle/>
          <a:p>
            <a:r>
              <a:rPr lang="en-US" altLang="zh-CN" dirty="0"/>
              <a:t>5. </a:t>
            </a:r>
            <a:r>
              <a:rPr lang="zh-CN" altLang="en-US" dirty="0"/>
              <a:t>提取连通分量 </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34</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5" name="文本框 4"/>
          <p:cNvSpPr txBox="1"/>
          <p:nvPr/>
        </p:nvSpPr>
        <p:spPr>
          <a:xfrm>
            <a:off x="25640" y="1523667"/>
            <a:ext cx="3714433" cy="2383601"/>
          </a:xfrm>
          <a:prstGeom prst="rect">
            <a:avLst/>
          </a:prstGeom>
          <a:noFill/>
        </p:spPr>
        <p:txBody>
          <a:bodyPr wrap="square" rtlCol="0" anchor="t">
            <a:spAutoFit/>
          </a:bodyPr>
          <a:lstStyle/>
          <a:p>
            <a:pPr algn="just">
              <a:lnSpc>
                <a:spcPct val="170000"/>
              </a:lnSpc>
              <a:buClrTx/>
              <a:buSzTx/>
              <a:buNone/>
            </a:pPr>
            <a:r>
              <a:rPr lang="en-US" altLang="zh-CN" sz="1800" dirty="0">
                <a:uFillTx/>
                <a:latin typeface="+mn-lt"/>
                <a:ea typeface="微软雅黑" panose="020B0503020204020204" pitchFamily="34" charset="-122"/>
              </a:rPr>
              <a:t>(a)</a:t>
            </a:r>
            <a:r>
              <a:rPr lang="zh-CN" altLang="en-US" sz="1800" dirty="0">
                <a:uFillTx/>
                <a:latin typeface="+mn-lt"/>
                <a:ea typeface="微软雅黑" panose="020B0503020204020204" pitchFamily="34" charset="-122"/>
              </a:rPr>
              <a:t>含有碎骨的鸡胸肉的</a:t>
            </a:r>
            <a:r>
              <a:rPr lang="en-US" altLang="zh-CN" sz="1800" dirty="0">
                <a:uFillTx/>
                <a:latin typeface="+mn-lt"/>
                <a:ea typeface="微软雅黑" panose="020B0503020204020204" pitchFamily="34" charset="-122"/>
              </a:rPr>
              <a:t>X</a:t>
            </a:r>
            <a:r>
              <a:rPr lang="zh-CN" altLang="en-US" sz="1800" dirty="0">
                <a:uFillTx/>
                <a:latin typeface="+mn-lt"/>
                <a:ea typeface="微软雅黑" panose="020B0503020204020204" pitchFamily="34" charset="-122"/>
              </a:rPr>
              <a:t>射线图像</a:t>
            </a:r>
            <a:r>
              <a:rPr lang="en-US" altLang="zh-CN" sz="1800" dirty="0">
                <a:uFillTx/>
                <a:latin typeface="+mn-lt"/>
                <a:ea typeface="微软雅黑" panose="020B0503020204020204" pitchFamily="34" charset="-122"/>
              </a:rPr>
              <a:t>;</a:t>
            </a:r>
          </a:p>
          <a:p>
            <a:pPr algn="just">
              <a:lnSpc>
                <a:spcPct val="170000"/>
              </a:lnSpc>
              <a:buClrTx/>
              <a:buSzTx/>
              <a:buNone/>
            </a:pPr>
            <a:r>
              <a:rPr lang="en-US" altLang="zh-CN" sz="1800" dirty="0">
                <a:uFillTx/>
                <a:latin typeface="+mn-lt"/>
                <a:ea typeface="微软雅黑" panose="020B0503020204020204" pitchFamily="34" charset="-122"/>
              </a:rPr>
              <a:t>(b)</a:t>
            </a:r>
            <a:r>
              <a:rPr lang="zh-CN" altLang="en-US" sz="1800" dirty="0">
                <a:uFillTx/>
                <a:latin typeface="+mn-lt"/>
                <a:ea typeface="微软雅黑" panose="020B0503020204020204" pitchFamily="34" charset="-122"/>
              </a:rPr>
              <a:t>阈值处理后的图像</a:t>
            </a:r>
            <a:r>
              <a:rPr lang="en-US" altLang="zh-CN" sz="1800" dirty="0">
                <a:uFillTx/>
                <a:latin typeface="+mn-lt"/>
                <a:ea typeface="微软雅黑" panose="020B0503020204020204" pitchFamily="34" charset="-122"/>
              </a:rPr>
              <a:t> </a:t>
            </a:r>
          </a:p>
          <a:p>
            <a:pPr algn="just">
              <a:lnSpc>
                <a:spcPct val="170000"/>
              </a:lnSpc>
              <a:buClrTx/>
              <a:buSzTx/>
              <a:buNone/>
            </a:pPr>
            <a:r>
              <a:rPr lang="en-US" altLang="zh-CN" sz="1800" dirty="0">
                <a:uFillTx/>
                <a:latin typeface="+mn-lt"/>
                <a:ea typeface="微软雅黑" panose="020B0503020204020204" pitchFamily="34" charset="-122"/>
              </a:rPr>
              <a:t>(c)</a:t>
            </a:r>
            <a:r>
              <a:rPr lang="zh-CN" altLang="en-US" sz="1800" dirty="0">
                <a:uFillTx/>
                <a:latin typeface="+mn-lt"/>
                <a:ea typeface="微软雅黑" panose="020B0503020204020204" pitchFamily="34" charset="-122"/>
              </a:rPr>
              <a:t>使用元素为</a:t>
            </a:r>
            <a:r>
              <a:rPr lang="en-US" altLang="zh-CN" sz="1800" dirty="0">
                <a:uFillTx/>
                <a:latin typeface="+mn-lt"/>
                <a:ea typeface="微软雅黑" panose="020B0503020204020204" pitchFamily="34" charset="-122"/>
              </a:rPr>
              <a:t> 1</a:t>
            </a:r>
            <a:r>
              <a:rPr lang="zh-CN" altLang="en-US" sz="1800" dirty="0">
                <a:uFillTx/>
                <a:latin typeface="+mn-lt"/>
                <a:ea typeface="微软雅黑" panose="020B0503020204020204" pitchFamily="34" charset="-122"/>
              </a:rPr>
              <a:t>、大小为</a:t>
            </a:r>
            <a:r>
              <a:rPr lang="en-US" altLang="zh-CN" sz="1800" dirty="0">
                <a:uFillTx/>
                <a:latin typeface="+mn-lt"/>
                <a:ea typeface="微软雅黑" panose="020B0503020204020204" pitchFamily="34" charset="-122"/>
              </a:rPr>
              <a:t> 5x5 </a:t>
            </a:r>
            <a:r>
              <a:rPr lang="zh-CN" altLang="en-US" sz="1800" dirty="0">
                <a:uFillTx/>
                <a:latin typeface="+mn-lt"/>
                <a:ea typeface="微软雅黑" panose="020B0503020204020204" pitchFamily="34" charset="-122"/>
              </a:rPr>
              <a:t>的结构元腐蚀后的图像</a:t>
            </a:r>
            <a:r>
              <a:rPr lang="en-US" altLang="zh-CN" sz="1800" dirty="0">
                <a:uFillTx/>
                <a:latin typeface="+mn-lt"/>
                <a:ea typeface="微软雅黑" panose="020B0503020204020204" pitchFamily="34" charset="-122"/>
              </a:rPr>
              <a:t>;</a:t>
            </a:r>
          </a:p>
          <a:p>
            <a:pPr algn="just">
              <a:lnSpc>
                <a:spcPct val="170000"/>
              </a:lnSpc>
              <a:buClrTx/>
              <a:buSzTx/>
              <a:buNone/>
            </a:pPr>
            <a:r>
              <a:rPr lang="en-US" altLang="zh-CN" sz="1800" dirty="0">
                <a:uFillTx/>
                <a:latin typeface="+mn-lt"/>
                <a:ea typeface="微软雅黑" panose="020B0503020204020204" pitchFamily="34" charset="-122"/>
              </a:rPr>
              <a:t>(d)</a:t>
            </a:r>
            <a:r>
              <a:rPr lang="zh-CN" altLang="en-US" sz="1800" dirty="0">
                <a:uFillTx/>
                <a:latin typeface="+mn-lt"/>
                <a:ea typeface="微软雅黑" panose="020B0503020204020204" pitchFamily="34" charset="-122"/>
              </a:rPr>
              <a:t>图</a:t>
            </a:r>
            <a:r>
              <a:rPr lang="en-US" altLang="zh-CN" sz="1800" dirty="0">
                <a:uFillTx/>
                <a:latin typeface="+mn-lt"/>
                <a:ea typeface="微软雅黑" panose="020B0503020204020204" pitchFamily="34" charset="-122"/>
              </a:rPr>
              <a:t>(c)</a:t>
            </a:r>
            <a:r>
              <a:rPr lang="zh-CN" altLang="en-US" sz="1800" dirty="0">
                <a:uFillTx/>
                <a:latin typeface="+mn-lt"/>
                <a:ea typeface="微软雅黑" panose="020B0503020204020204" pitchFamily="34" charset="-122"/>
              </a:rPr>
              <a:t>的连通分量中的像素数</a:t>
            </a:r>
            <a:endParaRPr lang="en-US" altLang="zh-CN" sz="1800" dirty="0">
              <a:uFillTx/>
              <a:latin typeface="+mn-lt"/>
              <a:ea typeface="微软雅黑" panose="020B0503020204020204" pitchFamily="34" charset="-122"/>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5. </a:t>
            </a:r>
            <a:r>
              <a:rPr lang="zh-CN" altLang="en-US" dirty="0"/>
              <a:t>凸壳</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35</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7" name="文本框 6"/>
              <p:cNvSpPr txBox="1"/>
              <p:nvPr/>
            </p:nvSpPr>
            <p:spPr>
              <a:xfrm>
                <a:off x="467360" y="836295"/>
                <a:ext cx="8166100" cy="2120709"/>
              </a:xfrm>
              <a:prstGeom prst="rect">
                <a:avLst/>
              </a:prstGeom>
              <a:noFill/>
            </p:spPr>
            <p:txBody>
              <a:bodyPr wrap="square" rtlCol="0">
                <a:spAutoFit/>
              </a:bodyPr>
              <a:lstStyle/>
              <a:p>
                <a:pPr indent="457200">
                  <a:lnSpc>
                    <a:spcPct val="150000"/>
                  </a:lnSpc>
                </a:pPr>
                <a:r>
                  <a:rPr lang="zh-CN" altLang="en-US" dirty="0">
                    <a:uFillTx/>
                    <a:latin typeface="Times New Roman" panose="02020603050405020304" pitchFamily="18" charset="0"/>
                    <a:ea typeface="微软雅黑" panose="020B0503020204020204" pitchFamily="34" charset="-122"/>
                  </a:rPr>
                  <a:t>集合</a:t>
                </a:r>
                <a14:m>
                  <m:oMath xmlns:m="http://schemas.openxmlformats.org/officeDocument/2006/math">
                    <m:r>
                      <a:rPr lang="en-US" altLang="zh-CN" i="1" dirty="0" smtClean="0">
                        <a:uFillTx/>
                        <a:latin typeface="Cambria Math" panose="02040503050406030204" pitchFamily="18" charset="0"/>
                        <a:ea typeface="微软雅黑" panose="020B0503020204020204" pitchFamily="34" charset="-122"/>
                      </a:rPr>
                      <m:t>𝐴</m:t>
                    </m:r>
                  </m:oMath>
                </a14:m>
                <a:r>
                  <a:rPr lang="zh-CN" altLang="en-US" dirty="0">
                    <a:uFillTx/>
                    <a:latin typeface="Times New Roman" panose="02020603050405020304" pitchFamily="18" charset="0"/>
                    <a:ea typeface="微软雅黑" panose="020B0503020204020204" pitchFamily="34" charset="-122"/>
                  </a:rPr>
                  <a:t>内连接任意两个点的直线段都在</a:t>
                </a:r>
                <a14:m>
                  <m:oMath xmlns:m="http://schemas.openxmlformats.org/officeDocument/2006/math">
                    <m:r>
                      <a:rPr lang="en-US" altLang="zh-CN" i="1" dirty="0" smtClean="0">
                        <a:uFillTx/>
                        <a:latin typeface="Cambria Math" panose="02040503050406030204" pitchFamily="18" charset="0"/>
                        <a:ea typeface="微软雅黑" panose="020B0503020204020204" pitchFamily="34" charset="-122"/>
                      </a:rPr>
                      <m:t>𝐴</m:t>
                    </m:r>
                  </m:oMath>
                </a14:m>
                <a:r>
                  <a:rPr lang="zh-CN" altLang="en-US" dirty="0">
                    <a:uFillTx/>
                    <a:latin typeface="Times New Roman" panose="02020603050405020304" pitchFamily="18" charset="0"/>
                    <a:ea typeface="微软雅黑" panose="020B0503020204020204" pitchFamily="34" charset="-122"/>
                  </a:rPr>
                  <a:t>的内部，则称</a:t>
                </a:r>
                <a14:m>
                  <m:oMath xmlns:m="http://schemas.openxmlformats.org/officeDocument/2006/math">
                    <m:r>
                      <a:rPr lang="en-US" altLang="zh-CN" i="1" dirty="0" smtClean="0">
                        <a:uFillTx/>
                        <a:latin typeface="Cambria Math" panose="02040503050406030204" pitchFamily="18" charset="0"/>
                        <a:ea typeface="微软雅黑" panose="020B0503020204020204" pitchFamily="34" charset="-122"/>
                      </a:rPr>
                      <m:t>𝐴</m:t>
                    </m:r>
                  </m:oMath>
                </a14:m>
                <a:r>
                  <a:rPr lang="zh-CN" altLang="en-US" dirty="0">
                    <a:uFillTx/>
                    <a:latin typeface="Times New Roman" panose="02020603050405020304" pitchFamily="18" charset="0"/>
                    <a:ea typeface="微软雅黑" panose="020B0503020204020204" pitchFamily="34" charset="-122"/>
                  </a:rPr>
                  <a:t>的凸的。任意集合</a:t>
                </a:r>
                <a14:m>
                  <m:oMath xmlns:m="http://schemas.openxmlformats.org/officeDocument/2006/math">
                    <m:r>
                      <a:rPr lang="en-US" altLang="zh-CN" i="1" dirty="0" smtClean="0">
                        <a:uFillTx/>
                        <a:latin typeface="Cambria Math" panose="02040503050406030204" pitchFamily="18" charset="0"/>
                        <a:ea typeface="微软雅黑" panose="020B0503020204020204" pitchFamily="34" charset="-122"/>
                      </a:rPr>
                      <m:t>𝑆</m:t>
                    </m:r>
                  </m:oMath>
                </a14:m>
                <a:r>
                  <a:rPr lang="zh-CN" altLang="en-US" dirty="0">
                    <a:uFillTx/>
                    <a:latin typeface="Times New Roman" panose="02020603050405020304" pitchFamily="18" charset="0"/>
                    <a:ea typeface="微软雅黑" panose="020B0503020204020204" pitchFamily="34" charset="-122"/>
                  </a:rPr>
                  <a:t>的凸壳</a:t>
                </a:r>
                <a14:m>
                  <m:oMath xmlns:m="http://schemas.openxmlformats.org/officeDocument/2006/math">
                    <m:r>
                      <a:rPr lang="en-US" altLang="zh-CN" i="1" dirty="0" smtClean="0">
                        <a:uFillTx/>
                        <a:latin typeface="Cambria Math" panose="02040503050406030204" pitchFamily="18" charset="0"/>
                        <a:ea typeface="微软雅黑" panose="020B0503020204020204" pitchFamily="34" charset="-122"/>
                      </a:rPr>
                      <m:t>𝐻</m:t>
                    </m:r>
                  </m:oMath>
                </a14:m>
                <a:r>
                  <a:rPr lang="zh-CN" altLang="en-US" dirty="0">
                    <a:uFillTx/>
                    <a:latin typeface="Times New Roman" panose="02020603050405020304" pitchFamily="18" charset="0"/>
                    <a:ea typeface="微软雅黑" panose="020B0503020204020204" pitchFamily="34" charset="-122"/>
                  </a:rPr>
                  <a:t>是包含</a:t>
                </a:r>
                <a14:m>
                  <m:oMath xmlns:m="http://schemas.openxmlformats.org/officeDocument/2006/math">
                    <m:r>
                      <a:rPr lang="en-US" altLang="zh-CN" i="1" dirty="0" smtClean="0">
                        <a:uFillTx/>
                        <a:latin typeface="Cambria Math" panose="02040503050406030204" pitchFamily="18" charset="0"/>
                        <a:ea typeface="微软雅黑" panose="020B0503020204020204" pitchFamily="34" charset="-122"/>
                      </a:rPr>
                      <m:t>𝑆</m:t>
                    </m:r>
                  </m:oMath>
                </a14:m>
                <a:r>
                  <a:rPr lang="zh-CN" altLang="en-US" dirty="0">
                    <a:uFillTx/>
                    <a:latin typeface="Times New Roman" panose="02020603050405020304" pitchFamily="18" charset="0"/>
                    <a:ea typeface="微软雅黑" panose="020B0503020204020204" pitchFamily="34" charset="-122"/>
                  </a:rPr>
                  <a:t>的最小凸集，</a:t>
                </a:r>
                <a14:m>
                  <m:oMath xmlns:m="http://schemas.openxmlformats.org/officeDocument/2006/math">
                    <m:r>
                      <a:rPr lang="en-US" altLang="zh-CN" i="1" dirty="0" smtClean="0">
                        <a:uFillTx/>
                        <a:latin typeface="Cambria Math" panose="02040503050406030204" pitchFamily="18" charset="0"/>
                        <a:ea typeface="微软雅黑" panose="020B0503020204020204" pitchFamily="34" charset="-122"/>
                      </a:rPr>
                      <m:t>𝐻</m:t>
                    </m:r>
                    <m:r>
                      <a:rPr lang="en-US" altLang="zh-CN" i="1" dirty="0" smtClean="0">
                        <a:uFillTx/>
                        <a:latin typeface="Cambria Math" panose="02040503050406030204" pitchFamily="18" charset="0"/>
                        <a:ea typeface="微软雅黑" panose="020B0503020204020204" pitchFamily="34" charset="-122"/>
                      </a:rPr>
                      <m:t>−</m:t>
                    </m:r>
                    <m:r>
                      <a:rPr lang="en-US" altLang="zh-CN" i="1" dirty="0" smtClean="0">
                        <a:uFillTx/>
                        <a:latin typeface="Cambria Math" panose="02040503050406030204" pitchFamily="18" charset="0"/>
                        <a:ea typeface="微软雅黑" panose="020B0503020204020204" pitchFamily="34" charset="-122"/>
                      </a:rPr>
                      <m:t>𝑆</m:t>
                    </m:r>
                  </m:oMath>
                </a14:m>
                <a:r>
                  <a:rPr lang="zh-CN" altLang="en-US" i="1" dirty="0">
                    <a:uFillTx/>
                    <a:latin typeface="Times New Roman" panose="02020603050405020304" pitchFamily="18" charset="0"/>
                    <a:ea typeface="微软雅黑" panose="020B0503020204020204" pitchFamily="34" charset="-122"/>
                  </a:rPr>
                  <a:t>则</a:t>
                </a:r>
                <a:r>
                  <a:rPr lang="zh-CN" altLang="en-US" dirty="0">
                    <a:uFillTx/>
                    <a:latin typeface="Times New Roman" panose="02020603050405020304" pitchFamily="18" charset="0"/>
                    <a:ea typeface="微软雅黑" panose="020B0503020204020204" pitchFamily="34" charset="-122"/>
                  </a:rPr>
                  <a:t>称为</a:t>
                </a:r>
                <a14:m>
                  <m:oMath xmlns:m="http://schemas.openxmlformats.org/officeDocument/2006/math">
                    <m:r>
                      <a:rPr lang="en-US" altLang="zh-CN" i="1" dirty="0" smtClean="0">
                        <a:uFillTx/>
                        <a:latin typeface="Cambria Math" panose="02040503050406030204" pitchFamily="18" charset="0"/>
                        <a:ea typeface="微软雅黑" panose="020B0503020204020204" pitchFamily="34" charset="-122"/>
                      </a:rPr>
                      <m:t>𝑆</m:t>
                    </m:r>
                  </m:oMath>
                </a14:m>
                <a:r>
                  <a:rPr lang="zh-CN" altLang="en-US" dirty="0">
                    <a:uFillTx/>
                    <a:latin typeface="Times New Roman" panose="02020603050405020304" pitchFamily="18" charset="0"/>
                    <a:ea typeface="微软雅黑" panose="020B0503020204020204" pitchFamily="34" charset="-122"/>
                  </a:rPr>
                  <a:t>的凸缺。寻找凸壳算法：</a:t>
                </a:r>
                <a:r>
                  <a:rPr lang="en-US" altLang="zh-CN" dirty="0">
                    <a:uFillTx/>
                    <a:latin typeface="Times New Roman" panose="02020603050405020304" pitchFamily="18" charset="0"/>
                    <a:ea typeface="微软雅黑" panose="020B0503020204020204" pitchFamily="34" charset="-122"/>
                  </a:rPr>
                  <a:t> </a:t>
                </a:r>
              </a:p>
              <a:p>
                <a:pPr indent="457200">
                  <a:lnSpc>
                    <a:spcPct val="150000"/>
                  </a:lnSpc>
                </a:pPr>
                <a:endParaRPr lang="en-US" altLang="zh-CN" dirty="0">
                  <a:uFillTx/>
                  <a:latin typeface="Times New Roman" panose="02020603050405020304" pitchFamily="18" charset="0"/>
                  <a:ea typeface="微软雅黑" panose="020B0503020204020204" pitchFamily="34" charset="-122"/>
                </a:endParaRPr>
              </a:p>
              <a:p>
                <a:pPr indent="457200">
                  <a:lnSpc>
                    <a:spcPct val="150000"/>
                  </a:lnSpc>
                </a:pPr>
                <a:r>
                  <a:rPr lang="zh-CN" altLang="en-US" dirty="0">
                    <a:uFillTx/>
                    <a:latin typeface="Times New Roman" panose="02020603050405020304" pitchFamily="18" charset="0"/>
                    <a:ea typeface="微软雅黑" panose="020B0503020204020204" pitchFamily="34" charset="-122"/>
                  </a:rPr>
                  <a:t>式中，</a:t>
                </a:r>
                <a14:m>
                  <m:oMath xmlns:m="http://schemas.openxmlformats.org/officeDocument/2006/math">
                    <m:r>
                      <a:rPr lang="en-US" altLang="zh-CN" i="1" dirty="0" smtClean="0">
                        <a:uFillTx/>
                        <a:latin typeface="Cambria Math" panose="02040503050406030204" pitchFamily="18" charset="0"/>
                        <a:ea typeface="微软雅黑" panose="020B0503020204020204" pitchFamily="34" charset="-122"/>
                      </a:rPr>
                      <m:t>𝑋</m:t>
                    </m:r>
                    <m:r>
                      <a:rPr lang="en-US" altLang="zh-CN" i="1" baseline="-25000" dirty="0">
                        <a:uFillTx/>
                        <a:latin typeface="Cambria Math" panose="02040503050406030204" pitchFamily="18" charset="0"/>
                        <a:ea typeface="微软雅黑" panose="020B0503020204020204" pitchFamily="34" charset="-122"/>
                      </a:rPr>
                      <m:t>0</m:t>
                    </m:r>
                    <m:r>
                      <a:rPr lang="en-US" altLang="zh-CN" i="1" baseline="30000" dirty="0">
                        <a:uFillTx/>
                        <a:latin typeface="Cambria Math" panose="02040503050406030204" pitchFamily="18" charset="0"/>
                        <a:ea typeface="微软雅黑" panose="020B0503020204020204" pitchFamily="34" charset="-122"/>
                      </a:rPr>
                      <m:t>𝑖</m:t>
                    </m:r>
                    <m:r>
                      <a:rPr lang="en-US" altLang="zh-CN" i="1" dirty="0">
                        <a:uFillTx/>
                        <a:latin typeface="Cambria Math" panose="02040503050406030204" pitchFamily="18" charset="0"/>
                        <a:ea typeface="微软雅黑" panose="020B0503020204020204" pitchFamily="34" charset="-122"/>
                      </a:rPr>
                      <m:t>=</m:t>
                    </m:r>
                    <m:r>
                      <a:rPr lang="en-US" altLang="zh-CN" i="1" dirty="0">
                        <a:uFillTx/>
                        <a:latin typeface="Cambria Math" panose="02040503050406030204" pitchFamily="18" charset="0"/>
                        <a:ea typeface="微软雅黑" panose="020B0503020204020204" pitchFamily="34" charset="-122"/>
                      </a:rPr>
                      <m:t>𝐼</m:t>
                    </m:r>
                  </m:oMath>
                </a14:m>
                <a:r>
                  <a:rPr lang="zh-CN" altLang="en-US" dirty="0">
                    <a:uFillTx/>
                    <a:latin typeface="Times New Roman" panose="02020603050405020304" pitchFamily="18" charset="0"/>
                    <a:ea typeface="微软雅黑" panose="020B0503020204020204" pitchFamily="34" charset="-122"/>
                  </a:rPr>
                  <a:t>。使用第</a:t>
                </a:r>
                <a:r>
                  <a:rPr lang="en-US" altLang="zh-CN" i="1" dirty="0" err="1">
                    <a:uFillTx/>
                    <a:latin typeface="Times New Roman" panose="02020603050405020304" pitchFamily="18" charset="0"/>
                    <a:ea typeface="微软雅黑" panose="020B0503020204020204" pitchFamily="34" charset="-122"/>
                  </a:rPr>
                  <a:t>i</a:t>
                </a:r>
                <a:r>
                  <a:rPr lang="zh-CN" altLang="en-US" dirty="0">
                    <a:uFillTx/>
                    <a:latin typeface="Times New Roman" panose="02020603050405020304" pitchFamily="18" charset="0"/>
                    <a:ea typeface="微软雅黑" panose="020B0503020204020204" pitchFamily="34" charset="-122"/>
                  </a:rPr>
                  <a:t>个结构元程序收敛时</a:t>
                </a:r>
                <a:r>
                  <a:rPr lang="en-US" altLang="zh-CN" dirty="0">
                    <a:uFillTx/>
                    <a:latin typeface="Times New Roman" panose="02020603050405020304" pitchFamily="18" charset="0"/>
                    <a:ea typeface="微软雅黑" panose="020B0503020204020204" pitchFamily="34" charset="-122"/>
                  </a:rPr>
                  <a:t>(</a:t>
                </a:r>
                <a:r>
                  <a:rPr lang="zh-CN" altLang="en-US" dirty="0">
                    <a:uFillTx/>
                    <a:latin typeface="Times New Roman" panose="02020603050405020304" pitchFamily="18" charset="0"/>
                    <a:ea typeface="微软雅黑" panose="020B0503020204020204" pitchFamily="34" charset="-122"/>
                  </a:rPr>
                  <a:t>即当</a:t>
                </a:r>
                <a14:m>
                  <m:oMath xmlns:m="http://schemas.openxmlformats.org/officeDocument/2006/math">
                    <m:r>
                      <a:rPr lang="en-US" altLang="zh-CN" i="1" dirty="0" smtClean="0">
                        <a:uFillTx/>
                        <a:latin typeface="Cambria Math" panose="02040503050406030204" pitchFamily="18" charset="0"/>
                        <a:ea typeface="微软雅黑" panose="020B0503020204020204" pitchFamily="34" charset="-122"/>
                        <a:sym typeface="+mn-ea"/>
                      </a:rPr>
                      <m:t>𝑋</m:t>
                    </m:r>
                    <m:r>
                      <a:rPr lang="en-US" altLang="zh-CN" i="1" baseline="-25000" dirty="0" err="1">
                        <a:uFillTx/>
                        <a:latin typeface="Cambria Math" panose="02040503050406030204" pitchFamily="18" charset="0"/>
                        <a:ea typeface="微软雅黑" panose="020B0503020204020204" pitchFamily="34" charset="-122"/>
                        <a:sym typeface="+mn-ea"/>
                      </a:rPr>
                      <m:t>𝑘</m:t>
                    </m:r>
                    <m:r>
                      <a:rPr lang="en-US" altLang="zh-CN" i="1" baseline="30000" dirty="0" err="1">
                        <a:uFillTx/>
                        <a:latin typeface="Cambria Math" panose="02040503050406030204" pitchFamily="18" charset="0"/>
                        <a:ea typeface="微软雅黑" panose="020B0503020204020204" pitchFamily="34" charset="-122"/>
                        <a:sym typeface="+mn-ea"/>
                      </a:rPr>
                      <m:t>𝑖</m:t>
                    </m:r>
                    <m:r>
                      <a:rPr lang="en-US" altLang="zh-CN" i="1" dirty="0">
                        <a:uFillTx/>
                        <a:latin typeface="Cambria Math" panose="02040503050406030204" pitchFamily="18" charset="0"/>
                        <a:ea typeface="微软雅黑" panose="020B0503020204020204" pitchFamily="34" charset="-122"/>
                      </a:rPr>
                      <m:t>=</m:t>
                    </m:r>
                    <m:r>
                      <a:rPr lang="en-US" altLang="zh-CN" i="1" dirty="0">
                        <a:uFillTx/>
                        <a:latin typeface="Cambria Math" panose="02040503050406030204" pitchFamily="18" charset="0"/>
                        <a:ea typeface="微软雅黑" panose="020B0503020204020204" pitchFamily="34" charset="-122"/>
                        <a:sym typeface="+mn-ea"/>
                      </a:rPr>
                      <m:t>𝑋</m:t>
                    </m:r>
                    <m:r>
                      <a:rPr lang="en-US" altLang="zh-CN" i="1" baseline="-25000" dirty="0">
                        <a:uFillTx/>
                        <a:latin typeface="Cambria Math" panose="02040503050406030204" pitchFamily="18" charset="0"/>
                        <a:ea typeface="微软雅黑" panose="020B0503020204020204" pitchFamily="34" charset="-122"/>
                        <a:sym typeface="+mn-ea"/>
                      </a:rPr>
                      <m:t>𝑘</m:t>
                    </m:r>
                    <m:r>
                      <a:rPr lang="en-US" altLang="zh-CN" i="1" baseline="-25000" dirty="0">
                        <a:uFillTx/>
                        <a:latin typeface="Cambria Math" panose="02040503050406030204" pitchFamily="18" charset="0"/>
                        <a:ea typeface="微软雅黑" panose="020B0503020204020204" pitchFamily="34" charset="-122"/>
                        <a:sym typeface="+mn-ea"/>
                      </a:rPr>
                      <m:t>−1</m:t>
                    </m:r>
                    <m:r>
                      <a:rPr lang="en-US" altLang="zh-CN" i="1" baseline="30000" dirty="0">
                        <a:uFillTx/>
                        <a:latin typeface="Cambria Math" panose="02040503050406030204" pitchFamily="18" charset="0"/>
                        <a:ea typeface="微软雅黑" panose="020B0503020204020204" pitchFamily="34" charset="-122"/>
                        <a:sym typeface="+mn-ea"/>
                      </a:rPr>
                      <m:t>𝑖</m:t>
                    </m:r>
                  </m:oMath>
                </a14:m>
                <a:r>
                  <a:rPr lang="zh-CN" altLang="en-US" dirty="0">
                    <a:uFillTx/>
                    <a:latin typeface="Times New Roman" panose="02020603050405020304" pitchFamily="18" charset="0"/>
                    <a:ea typeface="微软雅黑" panose="020B0503020204020204" pitchFamily="34" charset="-122"/>
                  </a:rPr>
                  <a:t>时</a:t>
                </a:r>
                <a:r>
                  <a:rPr lang="en-US" altLang="zh-CN" dirty="0">
                    <a:uFillTx/>
                    <a:latin typeface="Times New Roman" panose="02020603050405020304" pitchFamily="18" charset="0"/>
                    <a:ea typeface="微软雅黑" panose="020B0503020204020204" pitchFamily="34" charset="-122"/>
                  </a:rPr>
                  <a:t>)</a:t>
                </a:r>
                <a:r>
                  <a:rPr lang="zh-CN" altLang="en-US" dirty="0">
                    <a:uFillTx/>
                    <a:latin typeface="Times New Roman" panose="02020603050405020304" pitchFamily="18" charset="0"/>
                    <a:ea typeface="微软雅黑" panose="020B0503020204020204" pitchFamily="34" charset="-122"/>
                  </a:rPr>
                  <a:t>，我们令</a:t>
                </a:r>
                <a14:m>
                  <m:oMath xmlns:m="http://schemas.openxmlformats.org/officeDocument/2006/math">
                    <m:r>
                      <a:rPr lang="en-US" altLang="zh-CN" i="1" dirty="0" smtClean="0">
                        <a:uFillTx/>
                        <a:latin typeface="Cambria Math" panose="02040503050406030204" pitchFamily="18" charset="0"/>
                        <a:ea typeface="微软雅黑" panose="020B0503020204020204" pitchFamily="34" charset="-122"/>
                      </a:rPr>
                      <m:t>𝐷</m:t>
                    </m:r>
                    <m:r>
                      <a:rPr lang="en-US" altLang="zh-CN" i="1" baseline="30000" dirty="0">
                        <a:uFillTx/>
                        <a:latin typeface="Cambria Math" panose="02040503050406030204" pitchFamily="18" charset="0"/>
                        <a:ea typeface="微软雅黑" panose="020B0503020204020204" pitchFamily="34" charset="-122"/>
                      </a:rPr>
                      <m:t>𝑖</m:t>
                    </m:r>
                    <m:r>
                      <a:rPr lang="en-US" altLang="zh-CN" i="1" dirty="0">
                        <a:uFillTx/>
                        <a:latin typeface="Cambria Math" panose="02040503050406030204" pitchFamily="18" charset="0"/>
                        <a:ea typeface="微软雅黑" panose="020B0503020204020204" pitchFamily="34" charset="-122"/>
                      </a:rPr>
                      <m:t>=</m:t>
                    </m:r>
                    <m:r>
                      <a:rPr lang="en-US" altLang="zh-CN" i="1" dirty="0" err="1">
                        <a:uFillTx/>
                        <a:latin typeface="Cambria Math" panose="02040503050406030204" pitchFamily="18" charset="0"/>
                        <a:ea typeface="微软雅黑" panose="020B0503020204020204" pitchFamily="34" charset="-122"/>
                        <a:sym typeface="+mn-ea"/>
                      </a:rPr>
                      <m:t>𝑋</m:t>
                    </m:r>
                    <m:r>
                      <a:rPr lang="en-US" altLang="zh-CN" i="1" baseline="-25000" dirty="0" err="1">
                        <a:uFillTx/>
                        <a:latin typeface="Cambria Math" panose="02040503050406030204" pitchFamily="18" charset="0"/>
                        <a:ea typeface="微软雅黑" panose="020B0503020204020204" pitchFamily="34" charset="-122"/>
                        <a:sym typeface="+mn-ea"/>
                      </a:rPr>
                      <m:t>𝑘</m:t>
                    </m:r>
                    <m:r>
                      <a:rPr lang="en-US" altLang="zh-CN" i="1" baseline="30000" dirty="0" err="1">
                        <a:uFillTx/>
                        <a:latin typeface="Cambria Math" panose="02040503050406030204" pitchFamily="18" charset="0"/>
                        <a:ea typeface="微软雅黑" panose="020B0503020204020204" pitchFamily="34" charset="-122"/>
                        <a:sym typeface="+mn-ea"/>
                      </a:rPr>
                      <m:t>𝑖</m:t>
                    </m:r>
                  </m:oMath>
                </a14:m>
                <a:r>
                  <a:rPr lang="zh-CN" altLang="en-US" dirty="0">
                    <a:uFillTx/>
                    <a:latin typeface="Times New Roman" panose="02020603050405020304" pitchFamily="18" charset="0"/>
                    <a:ea typeface="微软雅黑" panose="020B0503020204020204" pitchFamily="34" charset="-122"/>
                  </a:rPr>
                  <a:t>。于是</a:t>
                </a:r>
                <a:r>
                  <a:rPr lang="en-US" altLang="zh-CN" dirty="0">
                    <a:uFillTx/>
                    <a:latin typeface="Times New Roman" panose="02020603050405020304" pitchFamily="18" charset="0"/>
                    <a:ea typeface="微软雅黑" panose="020B0503020204020204" pitchFamily="34" charset="-122"/>
                  </a:rPr>
                  <a:t>,</a:t>
                </a:r>
                <a14:m>
                  <m:oMath xmlns:m="http://schemas.openxmlformats.org/officeDocument/2006/math">
                    <m:r>
                      <a:rPr lang="en-US" altLang="zh-CN" i="1" dirty="0" smtClean="0">
                        <a:uFillTx/>
                        <a:latin typeface="Cambria Math" panose="02040503050406030204" pitchFamily="18" charset="0"/>
                        <a:ea typeface="微软雅黑" panose="020B0503020204020204" pitchFamily="34" charset="-122"/>
                      </a:rPr>
                      <m:t>𝐴</m:t>
                    </m:r>
                  </m:oMath>
                </a14:m>
                <a:r>
                  <a:rPr lang="zh-CN" altLang="en-US" dirty="0">
                    <a:uFillTx/>
                    <a:latin typeface="Times New Roman" panose="02020603050405020304" pitchFamily="18" charset="0"/>
                    <a:ea typeface="微软雅黑" panose="020B0503020204020204" pitchFamily="34" charset="-122"/>
                  </a:rPr>
                  <a:t>的凸壳为</a:t>
                </a:r>
                <a:r>
                  <a:rPr lang="en-US" altLang="zh-CN" dirty="0">
                    <a:uFillTx/>
                    <a:latin typeface="Times New Roman" panose="02020603050405020304" pitchFamily="18" charset="0"/>
                    <a:ea typeface="微软雅黑" panose="020B0503020204020204" pitchFamily="34" charset="-122"/>
                  </a:rPr>
                  <a:t>4</a:t>
                </a:r>
                <a:r>
                  <a:rPr lang="zh-CN" altLang="en-US" dirty="0">
                    <a:uFillTx/>
                    <a:latin typeface="Times New Roman" panose="02020603050405020304" pitchFamily="18" charset="0"/>
                    <a:ea typeface="微软雅黑" panose="020B0503020204020204" pitchFamily="34" charset="-122"/>
                  </a:rPr>
                  <a:t>个结果的并集</a:t>
                </a:r>
                <a:r>
                  <a:rPr lang="en-US" altLang="zh-CN" dirty="0">
                    <a:uFillTx/>
                    <a:latin typeface="Times New Roman" panose="02020603050405020304" pitchFamily="18" charset="0"/>
                    <a:ea typeface="微软雅黑" panose="020B0503020204020204" pitchFamily="34" charset="-122"/>
                  </a:rPr>
                  <a:t>:</a:t>
                </a:r>
              </a:p>
            </p:txBody>
          </p:sp>
        </mc:Choice>
        <mc:Fallback xmlns="">
          <p:sp>
            <p:nvSpPr>
              <p:cNvPr id="7" name="文本框 6"/>
              <p:cNvSpPr txBox="1">
                <a:spLocks noRot="1" noChangeAspect="1" noMove="1" noResize="1" noEditPoints="1" noAdjustHandles="1" noChangeArrowheads="1" noChangeShapeType="1" noTextEdit="1"/>
              </p:cNvSpPr>
              <p:nvPr/>
            </p:nvSpPr>
            <p:spPr>
              <a:xfrm>
                <a:off x="467360" y="836295"/>
                <a:ext cx="8166100" cy="2120709"/>
              </a:xfrm>
              <a:prstGeom prst="rect">
                <a:avLst/>
              </a:prstGeom>
              <a:blipFill>
                <a:blip r:embed="rId3"/>
                <a:stretch>
                  <a:fillRect l="-672" b="-3736"/>
                </a:stretch>
              </a:blipFill>
            </p:spPr>
            <p:txBody>
              <a:bodyPr/>
              <a:lstStyle/>
              <a:p>
                <a:r>
                  <a:rPr lang="zh-CN" altLang="en-US">
                    <a:noFill/>
                  </a:rPr>
                  <a:t> </a:t>
                </a:r>
              </a:p>
            </p:txBody>
          </p:sp>
        </mc:Fallback>
      </mc:AlternateContent>
      <p:graphicFrame>
        <p:nvGraphicFramePr>
          <p:cNvPr id="6" name="对象 5"/>
          <p:cNvGraphicFramePr/>
          <p:nvPr>
            <p:extLst>
              <p:ext uri="{D42A27DB-BD31-4B8C-83A1-F6EECF244321}">
                <p14:modId xmlns:p14="http://schemas.microsoft.com/office/powerpoint/2010/main" val="457808513"/>
              </p:ext>
            </p:extLst>
          </p:nvPr>
        </p:nvGraphicFramePr>
        <p:xfrm>
          <a:off x="1835696" y="1727583"/>
          <a:ext cx="5719763" cy="404813"/>
        </p:xfrm>
        <a:graphic>
          <a:graphicData uri="http://schemas.openxmlformats.org/presentationml/2006/ole">
            <mc:AlternateContent xmlns:mc="http://schemas.openxmlformats.org/markup-compatibility/2006">
              <mc:Choice xmlns:v="urn:schemas-microsoft-com:vml" Requires="v">
                <p:oleObj spid="_x0000_s117971" name="Equation" r:id="rId4" imgW="3390840" imgH="253800" progId="Equation.DSMT4">
                  <p:embed/>
                </p:oleObj>
              </mc:Choice>
              <mc:Fallback>
                <p:oleObj name="Equation" r:id="rId4" imgW="3390840" imgH="253800" progId="Equation.DSMT4">
                  <p:embed/>
                  <p:pic>
                    <p:nvPicPr>
                      <p:cNvPr id="0" name="图片 8"/>
                      <p:cNvPicPr/>
                      <p:nvPr/>
                    </p:nvPicPr>
                    <p:blipFill>
                      <a:blip r:embed="rId5"/>
                      <a:stretch>
                        <a:fillRect/>
                      </a:stretch>
                    </p:blipFill>
                    <p:spPr>
                      <a:xfrm>
                        <a:off x="1835696" y="1727583"/>
                        <a:ext cx="5719763" cy="404813"/>
                      </a:xfrm>
                      <a:prstGeom prst="rect">
                        <a:avLst/>
                      </a:prstGeom>
                    </p:spPr>
                  </p:pic>
                </p:oleObj>
              </mc:Fallback>
            </mc:AlternateContent>
          </a:graphicData>
        </a:graphic>
      </p:graphicFrame>
      <p:graphicFrame>
        <p:nvGraphicFramePr>
          <p:cNvPr id="10" name="对象 9"/>
          <p:cNvGraphicFramePr/>
          <p:nvPr>
            <p:extLst>
              <p:ext uri="{D42A27DB-BD31-4B8C-83A1-F6EECF244321}">
                <p14:modId xmlns:p14="http://schemas.microsoft.com/office/powerpoint/2010/main" val="2596813297"/>
              </p:ext>
            </p:extLst>
          </p:nvPr>
        </p:nvGraphicFramePr>
        <p:xfrm>
          <a:off x="4917370" y="2501580"/>
          <a:ext cx="1351915" cy="578485"/>
        </p:xfrm>
        <a:graphic>
          <a:graphicData uri="http://schemas.openxmlformats.org/presentationml/2006/ole">
            <mc:AlternateContent xmlns:mc="http://schemas.openxmlformats.org/markup-compatibility/2006">
              <mc:Choice xmlns:v="urn:schemas-microsoft-com:vml" Requires="v">
                <p:oleObj spid="_x0000_s117972" r:id="rId6" imgW="850900" imgH="431800" progId="Equation.DSMT4">
                  <p:embed/>
                </p:oleObj>
              </mc:Choice>
              <mc:Fallback>
                <p:oleObj r:id="rId6" imgW="850900" imgH="431800" progId="Equation.DSMT4">
                  <p:embed/>
                  <p:pic>
                    <p:nvPicPr>
                      <p:cNvPr id="0" name="图片 8"/>
                      <p:cNvPicPr/>
                      <p:nvPr/>
                    </p:nvPicPr>
                    <p:blipFill>
                      <a:blip r:embed="rId7"/>
                      <a:stretch>
                        <a:fillRect/>
                      </a:stretch>
                    </p:blipFill>
                    <p:spPr>
                      <a:xfrm>
                        <a:off x="4917370" y="2501580"/>
                        <a:ext cx="1351915" cy="578485"/>
                      </a:xfrm>
                      <a:prstGeom prst="rect">
                        <a:avLst/>
                      </a:prstGeom>
                    </p:spPr>
                  </p:pic>
                </p:oleObj>
              </mc:Fallback>
            </mc:AlternateContent>
          </a:graphicData>
        </a:graphic>
      </p:graphicFrame>
      <p:grpSp>
        <p:nvGrpSpPr>
          <p:cNvPr id="8" name="组合 7">
            <a:extLst>
              <a:ext uri="{FF2B5EF4-FFF2-40B4-BE49-F238E27FC236}">
                <a16:creationId xmlns:a16="http://schemas.microsoft.com/office/drawing/2014/main" id="{6D732337-FEC9-4D52-84F9-03839F1101AE}"/>
              </a:ext>
            </a:extLst>
          </p:cNvPr>
          <p:cNvGrpSpPr/>
          <p:nvPr/>
        </p:nvGrpSpPr>
        <p:grpSpPr>
          <a:xfrm>
            <a:off x="318404" y="3023684"/>
            <a:ext cx="8090274" cy="3328323"/>
            <a:chOff x="318404" y="3023684"/>
            <a:chExt cx="8090274" cy="3328323"/>
          </a:xfrm>
        </p:grpSpPr>
        <p:pic>
          <p:nvPicPr>
            <p:cNvPr id="13" name="图片 12"/>
            <p:cNvPicPr>
              <a:picLocks noChangeAspect="1"/>
            </p:cNvPicPr>
            <p:nvPr/>
          </p:nvPicPr>
          <p:blipFill>
            <a:blip r:embed="rId8"/>
            <a:stretch>
              <a:fillRect/>
            </a:stretch>
          </p:blipFill>
          <p:spPr>
            <a:xfrm>
              <a:off x="356810" y="3427019"/>
              <a:ext cx="1824355" cy="590550"/>
            </a:xfrm>
            <a:prstGeom prst="rect">
              <a:avLst/>
            </a:prstGeom>
          </p:spPr>
        </p:pic>
        <p:pic>
          <p:nvPicPr>
            <p:cNvPr id="17" name="图片 16"/>
            <p:cNvPicPr>
              <a:picLocks noChangeAspect="1"/>
            </p:cNvPicPr>
            <p:nvPr/>
          </p:nvPicPr>
          <p:blipFill>
            <a:blip r:embed="rId9"/>
            <a:stretch>
              <a:fillRect/>
            </a:stretch>
          </p:blipFill>
          <p:spPr>
            <a:xfrm>
              <a:off x="318404" y="4471788"/>
              <a:ext cx="3670300" cy="1473835"/>
            </a:xfrm>
            <a:prstGeom prst="rect">
              <a:avLst/>
            </a:prstGeom>
          </p:spPr>
        </p:pic>
        <p:pic>
          <p:nvPicPr>
            <p:cNvPr id="19" name="图片 18"/>
            <p:cNvPicPr>
              <a:picLocks noChangeAspect="1"/>
            </p:cNvPicPr>
            <p:nvPr/>
          </p:nvPicPr>
          <p:blipFill>
            <a:blip r:embed="rId10"/>
            <a:stretch>
              <a:fillRect/>
            </a:stretch>
          </p:blipFill>
          <p:spPr>
            <a:xfrm>
              <a:off x="4427468" y="4481903"/>
              <a:ext cx="3683635" cy="1510030"/>
            </a:xfrm>
            <a:prstGeom prst="rect">
              <a:avLst/>
            </a:prstGeom>
          </p:spPr>
        </p:pic>
        <p:pic>
          <p:nvPicPr>
            <p:cNvPr id="20" name="图片 19"/>
            <p:cNvPicPr>
              <a:picLocks noChangeAspect="1"/>
            </p:cNvPicPr>
            <p:nvPr/>
          </p:nvPicPr>
          <p:blipFill>
            <a:blip r:embed="rId11"/>
            <a:stretch>
              <a:fillRect/>
            </a:stretch>
          </p:blipFill>
          <p:spPr>
            <a:xfrm>
              <a:off x="6774188" y="3023684"/>
              <a:ext cx="1634490" cy="1411605"/>
            </a:xfrm>
            <a:prstGeom prst="rect">
              <a:avLst/>
            </a:prstGeom>
          </p:spPr>
        </p:pic>
        <p:sp>
          <p:nvSpPr>
            <p:cNvPr id="2" name="文本框 1">
              <a:extLst>
                <a:ext uri="{FF2B5EF4-FFF2-40B4-BE49-F238E27FC236}">
                  <a16:creationId xmlns:a16="http://schemas.microsoft.com/office/drawing/2014/main" id="{A4B307E0-989F-4E11-9604-00382D045579}"/>
                </a:ext>
              </a:extLst>
            </p:cNvPr>
            <p:cNvSpPr txBox="1"/>
            <p:nvPr/>
          </p:nvSpPr>
          <p:spPr>
            <a:xfrm>
              <a:off x="2217403" y="3562443"/>
              <a:ext cx="800219" cy="338554"/>
            </a:xfrm>
            <a:prstGeom prst="rect">
              <a:avLst/>
            </a:prstGeom>
            <a:noFill/>
          </p:spPr>
          <p:txBody>
            <a:bodyPr wrap="none" rtlCol="0">
              <a:spAutoFit/>
            </a:bodyPr>
            <a:lstStyle/>
            <a:p>
              <a:r>
                <a:rPr lang="zh-CN" altLang="en-US" sz="1600" b="1" dirty="0">
                  <a:solidFill>
                    <a:schemeClr val="tx2">
                      <a:lumMod val="60000"/>
                      <a:lumOff val="40000"/>
                    </a:schemeClr>
                  </a:solidFill>
                  <a:latin typeface="Times New Roman" panose="02020603050405020304" pitchFamily="18" charset="0"/>
                  <a:ea typeface="微软雅黑" panose="020B0503020204020204" pitchFamily="34" charset="-122"/>
                </a:rPr>
                <a:t>结构元</a:t>
              </a:r>
            </a:p>
          </p:txBody>
        </p:sp>
        <p:sp>
          <p:nvSpPr>
            <p:cNvPr id="16" name="文本框 15">
              <a:extLst>
                <a:ext uri="{FF2B5EF4-FFF2-40B4-BE49-F238E27FC236}">
                  <a16:creationId xmlns:a16="http://schemas.microsoft.com/office/drawing/2014/main" id="{DEDB2E08-3039-4792-8155-4E7E2F15FD17}"/>
                </a:ext>
              </a:extLst>
            </p:cNvPr>
            <p:cNvSpPr txBox="1"/>
            <p:nvPr/>
          </p:nvSpPr>
          <p:spPr>
            <a:xfrm>
              <a:off x="687707" y="5983290"/>
              <a:ext cx="742511" cy="338554"/>
            </a:xfrm>
            <a:prstGeom prst="rect">
              <a:avLst/>
            </a:prstGeom>
            <a:noFill/>
          </p:spPr>
          <p:txBody>
            <a:bodyPr wrap="none" rtlCol="0">
              <a:spAutoFit/>
            </a:bodyPr>
            <a:lstStyle/>
            <a:p>
              <a:r>
                <a:rPr lang="zh-CN" altLang="en-US" sz="1600" b="1" dirty="0">
                  <a:solidFill>
                    <a:schemeClr val="tx2">
                      <a:lumMod val="60000"/>
                      <a:lumOff val="40000"/>
                    </a:schemeClr>
                  </a:solidFill>
                  <a:latin typeface="Times New Roman" panose="02020603050405020304" pitchFamily="18" charset="0"/>
                  <a:ea typeface="微软雅黑" panose="020B0503020204020204" pitchFamily="34" charset="-122"/>
                </a:rPr>
                <a:t>集合</a:t>
              </a:r>
              <a:r>
                <a:rPr lang="en-US" altLang="zh-CN" sz="1600" b="1" dirty="0">
                  <a:solidFill>
                    <a:schemeClr val="tx2">
                      <a:lumMod val="60000"/>
                      <a:lumOff val="40000"/>
                    </a:schemeClr>
                  </a:solidFill>
                  <a:latin typeface="Times New Roman" panose="02020603050405020304" pitchFamily="18" charset="0"/>
                  <a:ea typeface="微软雅黑" panose="020B0503020204020204" pitchFamily="34" charset="-122"/>
                </a:rPr>
                <a:t>A</a:t>
              </a:r>
              <a:endParaRPr lang="zh-CN" altLang="en-US" sz="1600" b="1" dirty="0">
                <a:solidFill>
                  <a:schemeClr val="tx2">
                    <a:lumMod val="60000"/>
                    <a:lumOff val="40000"/>
                  </a:schemeClr>
                </a:solidFill>
                <a:latin typeface="Times New Roman" panose="02020603050405020304" pitchFamily="18" charset="0"/>
                <a:ea typeface="微软雅黑" panose="020B0503020204020204" pitchFamily="34" charset="-122"/>
              </a:endParaRPr>
            </a:p>
          </p:txBody>
        </p:sp>
        <p:sp>
          <p:nvSpPr>
            <p:cNvPr id="18" name="文本框 17">
              <a:extLst>
                <a:ext uri="{FF2B5EF4-FFF2-40B4-BE49-F238E27FC236}">
                  <a16:creationId xmlns:a16="http://schemas.microsoft.com/office/drawing/2014/main" id="{8240C42E-EEC0-40DD-B5CC-9DC9B8BF5A11}"/>
                </a:ext>
              </a:extLst>
            </p:cNvPr>
            <p:cNvSpPr txBox="1"/>
            <p:nvPr/>
          </p:nvSpPr>
          <p:spPr>
            <a:xfrm>
              <a:off x="1466658" y="5991933"/>
              <a:ext cx="1244251" cy="338554"/>
            </a:xfrm>
            <a:prstGeom prst="rect">
              <a:avLst/>
            </a:prstGeom>
            <a:noFill/>
          </p:spPr>
          <p:txBody>
            <a:bodyPr wrap="none" rtlCol="0">
              <a:spAutoFit/>
            </a:bodyPr>
            <a:lstStyle/>
            <a:p>
              <a:r>
                <a:rPr lang="en-US" altLang="zh-CN" sz="1600" b="1" dirty="0">
                  <a:solidFill>
                    <a:schemeClr val="tx2">
                      <a:lumMod val="60000"/>
                      <a:lumOff val="40000"/>
                    </a:schemeClr>
                  </a:solidFill>
                  <a:latin typeface="Times New Roman" panose="02020603050405020304" pitchFamily="18" charset="0"/>
                  <a:ea typeface="微软雅黑" panose="020B0503020204020204" pitchFamily="34" charset="-122"/>
                </a:rPr>
                <a:t>B</a:t>
              </a:r>
              <a:r>
                <a:rPr lang="en-US" altLang="zh-CN" sz="1600" b="1" baseline="30000" dirty="0">
                  <a:solidFill>
                    <a:schemeClr val="tx2">
                      <a:lumMod val="60000"/>
                      <a:lumOff val="40000"/>
                    </a:schemeClr>
                  </a:solidFill>
                  <a:latin typeface="Times New Roman" panose="02020603050405020304" pitchFamily="18" charset="0"/>
                  <a:ea typeface="微软雅黑" panose="020B0503020204020204" pitchFamily="34" charset="-122"/>
                </a:rPr>
                <a:t>1</a:t>
              </a:r>
              <a:r>
                <a:rPr lang="zh-CN" altLang="en-US" sz="1600" b="1" dirty="0">
                  <a:solidFill>
                    <a:schemeClr val="tx2">
                      <a:lumMod val="60000"/>
                      <a:lumOff val="40000"/>
                    </a:schemeClr>
                  </a:solidFill>
                  <a:latin typeface="Times New Roman" panose="02020603050405020304" pitchFamily="18" charset="0"/>
                  <a:ea typeface="微软雅黑" panose="020B0503020204020204" pitchFamily="34" charset="-122"/>
                </a:rPr>
                <a:t>收敛结果</a:t>
              </a:r>
            </a:p>
          </p:txBody>
        </p:sp>
        <p:sp>
          <p:nvSpPr>
            <p:cNvPr id="21" name="文本框 20">
              <a:extLst>
                <a:ext uri="{FF2B5EF4-FFF2-40B4-BE49-F238E27FC236}">
                  <a16:creationId xmlns:a16="http://schemas.microsoft.com/office/drawing/2014/main" id="{38DB828C-F413-4BBF-BDAD-85CAA769AA33}"/>
                </a:ext>
              </a:extLst>
            </p:cNvPr>
            <p:cNvSpPr txBox="1"/>
            <p:nvPr/>
          </p:nvSpPr>
          <p:spPr>
            <a:xfrm>
              <a:off x="2766513" y="6013453"/>
              <a:ext cx="1244251" cy="338554"/>
            </a:xfrm>
            <a:prstGeom prst="rect">
              <a:avLst/>
            </a:prstGeom>
            <a:noFill/>
          </p:spPr>
          <p:txBody>
            <a:bodyPr wrap="none" rtlCol="0">
              <a:spAutoFit/>
            </a:bodyPr>
            <a:lstStyle/>
            <a:p>
              <a:r>
                <a:rPr lang="en-US" altLang="zh-CN" sz="1600" b="1" dirty="0">
                  <a:solidFill>
                    <a:schemeClr val="tx2">
                      <a:lumMod val="60000"/>
                      <a:lumOff val="40000"/>
                    </a:schemeClr>
                  </a:solidFill>
                  <a:latin typeface="Times New Roman" panose="02020603050405020304" pitchFamily="18" charset="0"/>
                  <a:ea typeface="微软雅黑" panose="020B0503020204020204" pitchFamily="34" charset="-122"/>
                </a:rPr>
                <a:t>B</a:t>
              </a:r>
              <a:r>
                <a:rPr lang="en-US" altLang="zh-CN" sz="1600" b="1" baseline="30000" dirty="0">
                  <a:solidFill>
                    <a:schemeClr val="tx2">
                      <a:lumMod val="60000"/>
                      <a:lumOff val="40000"/>
                    </a:schemeClr>
                  </a:solidFill>
                  <a:latin typeface="Times New Roman" panose="02020603050405020304" pitchFamily="18" charset="0"/>
                  <a:ea typeface="微软雅黑" panose="020B0503020204020204" pitchFamily="34" charset="-122"/>
                </a:rPr>
                <a:t>2</a:t>
              </a:r>
              <a:r>
                <a:rPr lang="zh-CN" altLang="en-US" sz="1600" b="1" dirty="0">
                  <a:solidFill>
                    <a:schemeClr val="tx2">
                      <a:lumMod val="60000"/>
                      <a:lumOff val="40000"/>
                    </a:schemeClr>
                  </a:solidFill>
                  <a:latin typeface="Times New Roman" panose="02020603050405020304" pitchFamily="18" charset="0"/>
                  <a:ea typeface="微软雅黑" panose="020B0503020204020204" pitchFamily="34" charset="-122"/>
                </a:rPr>
                <a:t>收敛结果</a:t>
              </a:r>
            </a:p>
          </p:txBody>
        </p:sp>
        <p:sp>
          <p:nvSpPr>
            <p:cNvPr id="26" name="文本框 25">
              <a:extLst>
                <a:ext uri="{FF2B5EF4-FFF2-40B4-BE49-F238E27FC236}">
                  <a16:creationId xmlns:a16="http://schemas.microsoft.com/office/drawing/2014/main" id="{286A2418-F50E-41F4-9FBE-213703497D4E}"/>
                </a:ext>
              </a:extLst>
            </p:cNvPr>
            <p:cNvSpPr txBox="1"/>
            <p:nvPr/>
          </p:nvSpPr>
          <p:spPr>
            <a:xfrm>
              <a:off x="4446204" y="6013453"/>
              <a:ext cx="1244251" cy="338554"/>
            </a:xfrm>
            <a:prstGeom prst="rect">
              <a:avLst/>
            </a:prstGeom>
            <a:noFill/>
          </p:spPr>
          <p:txBody>
            <a:bodyPr wrap="none" rtlCol="0">
              <a:spAutoFit/>
            </a:bodyPr>
            <a:lstStyle/>
            <a:p>
              <a:r>
                <a:rPr lang="en-US" altLang="zh-CN" sz="1600" b="1" dirty="0">
                  <a:solidFill>
                    <a:schemeClr val="tx2">
                      <a:lumMod val="60000"/>
                      <a:lumOff val="40000"/>
                    </a:schemeClr>
                  </a:solidFill>
                  <a:latin typeface="Times New Roman" panose="02020603050405020304" pitchFamily="18" charset="0"/>
                  <a:ea typeface="微软雅黑" panose="020B0503020204020204" pitchFamily="34" charset="-122"/>
                </a:rPr>
                <a:t>B</a:t>
              </a:r>
              <a:r>
                <a:rPr lang="en-US" altLang="zh-CN" sz="1600" b="1" baseline="30000" dirty="0">
                  <a:solidFill>
                    <a:schemeClr val="tx2">
                      <a:lumMod val="60000"/>
                      <a:lumOff val="40000"/>
                    </a:schemeClr>
                  </a:solidFill>
                  <a:latin typeface="Times New Roman" panose="02020603050405020304" pitchFamily="18" charset="0"/>
                  <a:ea typeface="微软雅黑" panose="020B0503020204020204" pitchFamily="34" charset="-122"/>
                </a:rPr>
                <a:t>3</a:t>
              </a:r>
              <a:r>
                <a:rPr lang="zh-CN" altLang="en-US" sz="1600" b="1" dirty="0">
                  <a:solidFill>
                    <a:schemeClr val="tx2">
                      <a:lumMod val="60000"/>
                      <a:lumOff val="40000"/>
                    </a:schemeClr>
                  </a:solidFill>
                  <a:latin typeface="Times New Roman" panose="02020603050405020304" pitchFamily="18" charset="0"/>
                  <a:ea typeface="微软雅黑" panose="020B0503020204020204" pitchFamily="34" charset="-122"/>
                </a:rPr>
                <a:t>收敛结果</a:t>
              </a:r>
            </a:p>
          </p:txBody>
        </p:sp>
        <p:sp>
          <p:nvSpPr>
            <p:cNvPr id="27" name="文本框 26">
              <a:extLst>
                <a:ext uri="{FF2B5EF4-FFF2-40B4-BE49-F238E27FC236}">
                  <a16:creationId xmlns:a16="http://schemas.microsoft.com/office/drawing/2014/main" id="{FF0B3810-31B8-400A-B12B-43C391885813}"/>
                </a:ext>
              </a:extLst>
            </p:cNvPr>
            <p:cNvSpPr txBox="1"/>
            <p:nvPr/>
          </p:nvSpPr>
          <p:spPr>
            <a:xfrm>
              <a:off x="5682556" y="6013453"/>
              <a:ext cx="1244251" cy="338554"/>
            </a:xfrm>
            <a:prstGeom prst="rect">
              <a:avLst/>
            </a:prstGeom>
            <a:noFill/>
          </p:spPr>
          <p:txBody>
            <a:bodyPr wrap="none" rtlCol="0">
              <a:spAutoFit/>
            </a:bodyPr>
            <a:lstStyle/>
            <a:p>
              <a:r>
                <a:rPr lang="en-US" altLang="zh-CN" sz="1600" b="1" dirty="0">
                  <a:solidFill>
                    <a:schemeClr val="tx2">
                      <a:lumMod val="60000"/>
                      <a:lumOff val="40000"/>
                    </a:schemeClr>
                  </a:solidFill>
                  <a:latin typeface="Times New Roman" panose="02020603050405020304" pitchFamily="18" charset="0"/>
                  <a:ea typeface="微软雅黑" panose="020B0503020204020204" pitchFamily="34" charset="-122"/>
                </a:rPr>
                <a:t>B</a:t>
              </a:r>
              <a:r>
                <a:rPr lang="en-US" altLang="zh-CN" sz="1600" b="1" baseline="30000" dirty="0">
                  <a:solidFill>
                    <a:schemeClr val="tx2">
                      <a:lumMod val="60000"/>
                      <a:lumOff val="40000"/>
                    </a:schemeClr>
                  </a:solidFill>
                  <a:latin typeface="Times New Roman" panose="02020603050405020304" pitchFamily="18" charset="0"/>
                  <a:ea typeface="微软雅黑" panose="020B0503020204020204" pitchFamily="34" charset="-122"/>
                </a:rPr>
                <a:t>4</a:t>
              </a:r>
              <a:r>
                <a:rPr lang="zh-CN" altLang="en-US" sz="1600" b="1" dirty="0">
                  <a:solidFill>
                    <a:schemeClr val="tx2">
                      <a:lumMod val="60000"/>
                      <a:lumOff val="40000"/>
                    </a:schemeClr>
                  </a:solidFill>
                  <a:latin typeface="Times New Roman" panose="02020603050405020304" pitchFamily="18" charset="0"/>
                  <a:ea typeface="微软雅黑" panose="020B0503020204020204" pitchFamily="34" charset="-122"/>
                </a:rPr>
                <a:t>收敛结果</a:t>
              </a:r>
            </a:p>
          </p:txBody>
        </p:sp>
        <p:sp>
          <p:nvSpPr>
            <p:cNvPr id="28" name="文本框 27">
              <a:extLst>
                <a:ext uri="{FF2B5EF4-FFF2-40B4-BE49-F238E27FC236}">
                  <a16:creationId xmlns:a16="http://schemas.microsoft.com/office/drawing/2014/main" id="{34BFCBC0-CFF1-481E-859A-0A286BE9D2E5}"/>
                </a:ext>
              </a:extLst>
            </p:cNvPr>
            <p:cNvSpPr txBox="1"/>
            <p:nvPr/>
          </p:nvSpPr>
          <p:spPr>
            <a:xfrm>
              <a:off x="7267852" y="5983808"/>
              <a:ext cx="595035" cy="338554"/>
            </a:xfrm>
            <a:prstGeom prst="rect">
              <a:avLst/>
            </a:prstGeom>
            <a:noFill/>
          </p:spPr>
          <p:txBody>
            <a:bodyPr wrap="none" rtlCol="0">
              <a:spAutoFit/>
            </a:bodyPr>
            <a:lstStyle/>
            <a:p>
              <a:r>
                <a:rPr lang="zh-CN" altLang="en-US" sz="1600" b="1" dirty="0">
                  <a:solidFill>
                    <a:schemeClr val="tx2">
                      <a:lumMod val="60000"/>
                      <a:lumOff val="40000"/>
                    </a:schemeClr>
                  </a:solidFill>
                  <a:latin typeface="Times New Roman" panose="02020603050405020304" pitchFamily="18" charset="0"/>
                  <a:ea typeface="微软雅黑" panose="020B0503020204020204" pitchFamily="34" charset="-122"/>
                </a:rPr>
                <a:t>凸壳</a:t>
              </a:r>
            </a:p>
          </p:txBody>
        </p:sp>
        <p:sp>
          <p:nvSpPr>
            <p:cNvPr id="29" name="文本框 28">
              <a:extLst>
                <a:ext uri="{FF2B5EF4-FFF2-40B4-BE49-F238E27FC236}">
                  <a16:creationId xmlns:a16="http://schemas.microsoft.com/office/drawing/2014/main" id="{9050804F-F268-4C93-B2A8-4E6B5A7EDF24}"/>
                </a:ext>
              </a:extLst>
            </p:cNvPr>
            <p:cNvSpPr txBox="1"/>
            <p:nvPr/>
          </p:nvSpPr>
          <p:spPr>
            <a:xfrm>
              <a:off x="5445662" y="3679015"/>
              <a:ext cx="1415772" cy="338554"/>
            </a:xfrm>
            <a:prstGeom prst="rect">
              <a:avLst/>
            </a:prstGeom>
            <a:noFill/>
          </p:spPr>
          <p:txBody>
            <a:bodyPr wrap="none" rtlCol="0">
              <a:spAutoFit/>
            </a:bodyPr>
            <a:lstStyle/>
            <a:p>
              <a:r>
                <a:rPr lang="zh-CN" altLang="en-US" sz="1600" b="1" dirty="0">
                  <a:solidFill>
                    <a:schemeClr val="tx2">
                      <a:lumMod val="60000"/>
                      <a:lumOff val="40000"/>
                    </a:schemeClr>
                  </a:solidFill>
                  <a:latin typeface="Times New Roman" panose="02020603050405020304" pitchFamily="18" charset="0"/>
                  <a:ea typeface="微软雅黑" panose="020B0503020204020204" pitchFamily="34" charset="-122"/>
                </a:rPr>
                <a:t>各结构元贡献</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5. </a:t>
            </a:r>
            <a:r>
              <a:rPr lang="zh-CN" altLang="en-US" dirty="0"/>
              <a:t>一些基本的形态学算法（了解）</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36</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7" name="文本框 6"/>
          <p:cNvSpPr txBox="1"/>
          <p:nvPr/>
        </p:nvSpPr>
        <p:spPr>
          <a:xfrm>
            <a:off x="467360" y="836295"/>
            <a:ext cx="8166100" cy="4770120"/>
          </a:xfrm>
          <a:prstGeom prst="rect">
            <a:avLst/>
          </a:prstGeom>
          <a:noFill/>
        </p:spPr>
        <p:txBody>
          <a:bodyPr wrap="square" rtlCol="0">
            <a:spAutoFit/>
          </a:bodyPr>
          <a:lstStyle/>
          <a:p>
            <a:pPr>
              <a:lnSpc>
                <a:spcPct val="110000"/>
              </a:lnSpc>
            </a:pPr>
            <a:r>
              <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rPr>
              <a:t>细化</a:t>
            </a:r>
          </a:p>
          <a:p>
            <a:pPr>
              <a:lnSpc>
                <a:spcPct val="110000"/>
              </a:lnSpc>
            </a:pPr>
            <a:endPar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endParaRPr>
          </a:p>
          <a:p>
            <a:pPr>
              <a:lnSpc>
                <a:spcPct val="110000"/>
              </a:lnSpc>
            </a:pPr>
            <a:endPar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endParaRPr>
          </a:p>
          <a:p>
            <a:pPr>
              <a:lnSpc>
                <a:spcPct val="110000"/>
              </a:lnSpc>
            </a:pPr>
            <a:r>
              <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sym typeface="+mn-ea"/>
              </a:rPr>
              <a:t>粗化</a:t>
            </a:r>
          </a:p>
          <a:p>
            <a:pPr>
              <a:lnSpc>
                <a:spcPct val="110000"/>
              </a:lnSpc>
            </a:pPr>
            <a:endPar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sym typeface="+mn-ea"/>
            </a:endParaRPr>
          </a:p>
          <a:p>
            <a:pPr>
              <a:lnSpc>
                <a:spcPct val="110000"/>
              </a:lnSpc>
            </a:pPr>
            <a:endPar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sym typeface="+mn-ea"/>
            </a:endParaRPr>
          </a:p>
          <a:p>
            <a:pPr>
              <a:lnSpc>
                <a:spcPct val="110000"/>
              </a:lnSpc>
            </a:pPr>
            <a:endPar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sym typeface="+mn-ea"/>
            </a:endParaRPr>
          </a:p>
          <a:p>
            <a:pPr>
              <a:lnSpc>
                <a:spcPct val="110000"/>
              </a:lnSpc>
            </a:pPr>
            <a:r>
              <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sym typeface="+mn-ea"/>
              </a:rPr>
              <a:t>骨架</a:t>
            </a:r>
          </a:p>
          <a:p>
            <a:pPr>
              <a:lnSpc>
                <a:spcPct val="110000"/>
              </a:lnSpc>
            </a:pPr>
            <a:endPar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sym typeface="+mn-ea"/>
            </a:endParaRPr>
          </a:p>
          <a:p>
            <a:pPr>
              <a:lnSpc>
                <a:spcPct val="110000"/>
              </a:lnSpc>
            </a:pPr>
            <a:endPar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sym typeface="+mn-ea"/>
            </a:endParaRPr>
          </a:p>
          <a:p>
            <a:pPr>
              <a:lnSpc>
                <a:spcPct val="110000"/>
              </a:lnSpc>
            </a:pPr>
            <a:r>
              <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sym typeface="+mn-ea"/>
              </a:rPr>
              <a:t>裁剪</a:t>
            </a:r>
            <a:endPar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endParaRPr>
          </a:p>
          <a:p>
            <a:pPr marL="0" indent="457200" algn="just">
              <a:lnSpc>
                <a:spcPct val="80000"/>
              </a:lnSpc>
              <a:buNone/>
            </a:pPr>
            <a:endParaRPr lang="zh-CN" altLang="en-US" dirty="0">
              <a:latin typeface="微软雅黑" panose="020B0503020204020204" pitchFamily="34" charset="-122"/>
              <a:ea typeface="微软雅黑" panose="020B0503020204020204" pitchFamily="34" charset="-122"/>
              <a:sym typeface="+mn-ea"/>
            </a:endParaRPr>
          </a:p>
          <a:p>
            <a:pPr marL="0" indent="457200" algn="just">
              <a:lnSpc>
                <a:spcPct val="80000"/>
              </a:lnSpc>
              <a:buNone/>
            </a:pPr>
            <a:r>
              <a:rPr lang="zh-CN" altLang="en-US" dirty="0">
                <a:latin typeface="微软雅黑" panose="020B0503020204020204" pitchFamily="34" charset="-122"/>
                <a:ea typeface="微软雅黑" panose="020B0503020204020204" pitchFamily="34" charset="-122"/>
                <a:sym typeface="+mn-ea"/>
              </a:rPr>
              <a:t>剪裁通常用于细化和骨架绘制算法的后处理</a:t>
            </a:r>
            <a:r>
              <a:rPr lang="en-US" altLang="zh-CN" dirty="0">
                <a:latin typeface="微软雅黑" panose="020B0503020204020204" pitchFamily="34" charset="-122"/>
                <a:ea typeface="微软雅黑" panose="020B0503020204020204" pitchFamily="34" charset="-122"/>
                <a:sym typeface="+mn-ea"/>
              </a:rPr>
              <a:t>. </a:t>
            </a:r>
            <a:endParaRPr lang="en-US" altLang="zh-CN" baseline="0" dirty="0">
              <a:latin typeface="微软雅黑" panose="020B0503020204020204" pitchFamily="34" charset="-122"/>
              <a:ea typeface="微软雅黑" panose="020B0503020204020204" pitchFamily="34" charset="-122"/>
            </a:endParaRPr>
          </a:p>
          <a:p>
            <a:pPr marL="0" indent="457200" algn="just">
              <a:buNone/>
            </a:pPr>
            <a:r>
              <a:rPr lang="zh-CN" altLang="en-US" dirty="0">
                <a:latin typeface="微软雅黑" panose="020B0503020204020204" pitchFamily="34" charset="-122"/>
                <a:ea typeface="微软雅黑" panose="020B0503020204020204" pitchFamily="34" charset="-122"/>
                <a:sym typeface="+mn-ea"/>
              </a:rPr>
              <a:t>用于消除“毛刺”</a:t>
            </a:r>
            <a:r>
              <a:rPr lang="en-US" altLang="zh-CN" dirty="0">
                <a:latin typeface="微软雅黑" panose="020B0503020204020204" pitchFamily="34" charset="-122"/>
                <a:ea typeface="微软雅黑" panose="020B0503020204020204" pitchFamily="34" charset="-122"/>
                <a:sym typeface="+mn-ea"/>
              </a:rPr>
              <a:t>—</a:t>
            </a:r>
            <a:r>
              <a:rPr lang="zh-CN" altLang="en-US" dirty="0">
                <a:solidFill>
                  <a:srgbClr val="FF0000"/>
                </a:solidFill>
                <a:latin typeface="微软雅黑" panose="020B0503020204020204" pitchFamily="34" charset="-122"/>
                <a:ea typeface="微软雅黑" panose="020B0503020204020204" pitchFamily="34" charset="-122"/>
                <a:sym typeface="+mn-ea"/>
              </a:rPr>
              <a:t>比较短的像素端点</a:t>
            </a:r>
            <a:r>
              <a:rPr lang="zh-CN" altLang="en-US" dirty="0">
                <a:latin typeface="微软雅黑" panose="020B0503020204020204" pitchFamily="34" charset="-122"/>
                <a:ea typeface="微软雅黑" panose="020B0503020204020204" pitchFamily="34" charset="-122"/>
                <a:sym typeface="+mn-ea"/>
              </a:rPr>
              <a:t>，比如说小于等于</a:t>
            </a:r>
            <a:r>
              <a:rPr lang="en-US" altLang="zh-CN" dirty="0">
                <a:latin typeface="微软雅黑" panose="020B0503020204020204" pitchFamily="34" charset="-122"/>
                <a:ea typeface="微软雅黑" panose="020B0503020204020204" pitchFamily="34" charset="-122"/>
                <a:sym typeface="+mn-ea"/>
              </a:rPr>
              <a:t>3</a:t>
            </a:r>
            <a:r>
              <a:rPr lang="zh-CN" altLang="en-US" dirty="0">
                <a:latin typeface="微软雅黑" panose="020B0503020204020204" pitchFamily="34" charset="-122"/>
                <a:ea typeface="微软雅黑" panose="020B0503020204020204" pitchFamily="34" charset="-122"/>
                <a:sym typeface="+mn-ea"/>
              </a:rPr>
              <a:t>个像素长度</a:t>
            </a:r>
            <a:r>
              <a:rPr lang="en-US" altLang="zh-CN" dirty="0">
                <a:latin typeface="微软雅黑" panose="020B0503020204020204" pitchFamily="34" charset="-122"/>
                <a:ea typeface="微软雅黑" panose="020B0503020204020204" pitchFamily="34" charset="-122"/>
                <a:sym typeface="+mn-ea"/>
              </a:rPr>
              <a:t>.</a:t>
            </a:r>
            <a:endParaRPr lang="en-US" altLang="zh-CN" baseline="0" dirty="0">
              <a:latin typeface="微软雅黑" panose="020B0503020204020204" pitchFamily="34" charset="-122"/>
              <a:ea typeface="微软雅黑" panose="020B0503020204020204" pitchFamily="34" charset="-122"/>
            </a:endParaRPr>
          </a:p>
          <a:p>
            <a:pPr>
              <a:lnSpc>
                <a:spcPct val="110000"/>
              </a:lnSpc>
            </a:pPr>
            <a:endPar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endParaRPr>
          </a:p>
          <a:p>
            <a:pPr indent="457200">
              <a:lnSpc>
                <a:spcPct val="110000"/>
              </a:lnSpc>
            </a:pPr>
            <a:endParaRPr lang="en-US" altLang="zh-CN" dirty="0">
              <a:uFillTx/>
              <a:latin typeface="Times New Roman" panose="02020603050405020304" pitchFamily="18" charset="0"/>
              <a:ea typeface="微软雅黑" panose="020B0503020204020204" pitchFamily="34" charset="-122"/>
            </a:endParaRPr>
          </a:p>
        </p:txBody>
      </p:sp>
      <p:graphicFrame>
        <p:nvGraphicFramePr>
          <p:cNvPr id="2" name="对象 1"/>
          <p:cNvGraphicFramePr/>
          <p:nvPr/>
        </p:nvGraphicFramePr>
        <p:xfrm>
          <a:off x="1619250" y="1268730"/>
          <a:ext cx="4291330" cy="408305"/>
        </p:xfrm>
        <a:graphic>
          <a:graphicData uri="http://schemas.openxmlformats.org/presentationml/2006/ole">
            <mc:AlternateContent xmlns:mc="http://schemas.openxmlformats.org/markup-compatibility/2006">
              <mc:Choice xmlns:v="urn:schemas-microsoft-com:vml" Requires="v">
                <p:oleObj spid="_x0000_s145807" r:id="rId3" imgW="2463165" imgH="228600" progId="Equation.DSMT4">
                  <p:embed/>
                </p:oleObj>
              </mc:Choice>
              <mc:Fallback>
                <p:oleObj r:id="rId3" imgW="2463165" imgH="228600" progId="Equation.DSMT4">
                  <p:embed/>
                  <p:pic>
                    <p:nvPicPr>
                      <p:cNvPr id="0" name="图片 8"/>
                      <p:cNvPicPr/>
                      <p:nvPr/>
                    </p:nvPicPr>
                    <p:blipFill>
                      <a:blip r:embed="rId4"/>
                      <a:stretch>
                        <a:fillRect/>
                      </a:stretch>
                    </p:blipFill>
                    <p:spPr>
                      <a:xfrm>
                        <a:off x="1619250" y="1268730"/>
                        <a:ext cx="4291330" cy="408305"/>
                      </a:xfrm>
                      <a:prstGeom prst="rect">
                        <a:avLst/>
                      </a:prstGeom>
                    </p:spPr>
                  </p:pic>
                </p:oleObj>
              </mc:Fallback>
            </mc:AlternateContent>
          </a:graphicData>
        </a:graphic>
      </p:graphicFrame>
      <p:graphicFrame>
        <p:nvGraphicFramePr>
          <p:cNvPr id="9" name="对象 8"/>
          <p:cNvGraphicFramePr/>
          <p:nvPr>
            <p:extLst>
              <p:ext uri="{D42A27DB-BD31-4B8C-83A1-F6EECF244321}">
                <p14:modId xmlns:p14="http://schemas.microsoft.com/office/powerpoint/2010/main" val="811319791"/>
              </p:ext>
            </p:extLst>
          </p:nvPr>
        </p:nvGraphicFramePr>
        <p:xfrm>
          <a:off x="1630363" y="2276475"/>
          <a:ext cx="4268787" cy="407988"/>
        </p:xfrm>
        <a:graphic>
          <a:graphicData uri="http://schemas.openxmlformats.org/presentationml/2006/ole">
            <mc:AlternateContent xmlns:mc="http://schemas.openxmlformats.org/markup-compatibility/2006">
              <mc:Choice xmlns:v="urn:schemas-microsoft-com:vml" Requires="v">
                <p:oleObj spid="_x0000_s145808" name="Equation" r:id="rId5" imgW="2450880" imgH="228600" progId="Equation.DSMT4">
                  <p:embed/>
                </p:oleObj>
              </mc:Choice>
              <mc:Fallback>
                <p:oleObj name="Equation" r:id="rId5" imgW="2450880" imgH="228600" progId="Equation.DSMT4">
                  <p:embed/>
                  <p:pic>
                    <p:nvPicPr>
                      <p:cNvPr id="0" name="图片 8"/>
                      <p:cNvPicPr/>
                      <p:nvPr/>
                    </p:nvPicPr>
                    <p:blipFill>
                      <a:blip r:embed="rId6"/>
                      <a:stretch>
                        <a:fillRect/>
                      </a:stretch>
                    </p:blipFill>
                    <p:spPr>
                      <a:xfrm>
                        <a:off x="1630363" y="2276475"/>
                        <a:ext cx="4268787" cy="407988"/>
                      </a:xfrm>
                      <a:prstGeom prst="rect">
                        <a:avLst/>
                      </a:prstGeom>
                    </p:spPr>
                  </p:pic>
                </p:oleObj>
              </mc:Fallback>
            </mc:AlternateContent>
          </a:graphicData>
        </a:graphic>
      </p:graphicFrame>
      <p:graphicFrame>
        <p:nvGraphicFramePr>
          <p:cNvPr id="162832" name="Object 16"/>
          <p:cNvGraphicFramePr>
            <a:graphicFrameLocks noChangeAspect="1"/>
          </p:cNvGraphicFramePr>
          <p:nvPr>
            <p:extLst>
              <p:ext uri="{D42A27DB-BD31-4B8C-83A1-F6EECF244321}">
                <p14:modId xmlns:p14="http://schemas.microsoft.com/office/powerpoint/2010/main" val="2269558991"/>
              </p:ext>
            </p:extLst>
          </p:nvPr>
        </p:nvGraphicFramePr>
        <p:xfrm>
          <a:off x="1691631" y="3212512"/>
          <a:ext cx="4421187" cy="385763"/>
        </p:xfrm>
        <a:graphic>
          <a:graphicData uri="http://schemas.openxmlformats.org/presentationml/2006/ole">
            <mc:AlternateContent xmlns:mc="http://schemas.openxmlformats.org/markup-compatibility/2006">
              <mc:Choice xmlns:v="urn:schemas-microsoft-com:vml" Requires="v">
                <p:oleObj spid="_x0000_s145809" name="Equation" r:id="rId7" imgW="59131200" imgH="5181600" progId="Equation.DSMT4">
                  <p:embed/>
                </p:oleObj>
              </mc:Choice>
              <mc:Fallback>
                <p:oleObj name="Equation" r:id="rId7" imgW="59131200" imgH="5181600" progId="Equation.DSMT4">
                  <p:embed/>
                  <p:pic>
                    <p:nvPicPr>
                      <p:cNvPr id="0" name="Object 16"/>
                      <p:cNvPicPr>
                        <a:picLocks noChangeAspect="1" noChangeArrowheads="1"/>
                      </p:cNvPicPr>
                      <p:nvPr/>
                    </p:nvPicPr>
                    <p:blipFill>
                      <a:blip r:embed="rId8"/>
                      <a:srcRect/>
                      <a:stretch>
                        <a:fillRect/>
                      </a:stretch>
                    </p:blipFill>
                    <p:spPr bwMode="auto">
                      <a:xfrm>
                        <a:off x="1691631" y="3212512"/>
                        <a:ext cx="4421187"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28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1"/>
          </p:nvPr>
        </p:nvSpPr>
        <p:spPr>
          <a:xfrm>
            <a:off x="445135" y="1420495"/>
            <a:ext cx="8540750" cy="4434840"/>
          </a:xfrm>
        </p:spPr>
        <p:txBody>
          <a:bodyPr vert="horz" wrap="square" lIns="91440" tIns="45720" rIns="91440" bIns="45720" anchor="t" anchorCtr="0"/>
          <a:lstStyle/>
          <a:p>
            <a:pPr marL="514350" indent="-514350">
              <a:buFont typeface="Arial" panose="020B0604020202020204" pitchFamily="34" charset="0"/>
              <a:buAutoNum type="arabicPeriod"/>
            </a:pPr>
            <a:r>
              <a:rPr lang="zh-CN" altLang="en-US" sz="2800" dirty="0">
                <a:latin typeface="Times New Roman" panose="02020603050405020304" pitchFamily="18" charset="0"/>
                <a:ea typeface="+mn-ea"/>
                <a:cs typeface="+mn-cs"/>
              </a:rPr>
              <a:t>预备知识</a:t>
            </a:r>
          </a:p>
          <a:p>
            <a:pPr marL="514350" indent="-514350">
              <a:buFont typeface="Arial" panose="020B0604020202020204" pitchFamily="34" charset="0"/>
              <a:buAutoNum type="arabicPeriod"/>
            </a:pPr>
            <a:r>
              <a:rPr lang="zh-CN" altLang="en-US" sz="2800" dirty="0"/>
              <a:t>腐蚀和膨胀</a:t>
            </a:r>
          </a:p>
          <a:p>
            <a:pPr marL="514350" indent="-514350">
              <a:buFont typeface="Arial" panose="020B0604020202020204" pitchFamily="34" charset="0"/>
              <a:buAutoNum type="arabicPeriod"/>
            </a:pPr>
            <a:r>
              <a:rPr lang="zh-CN" altLang="en-US" sz="2800" dirty="0"/>
              <a:t>开运算与闭运算</a:t>
            </a:r>
          </a:p>
          <a:p>
            <a:pPr marL="514350" indent="-514350">
              <a:buFont typeface="Arial" panose="020B0604020202020204" pitchFamily="34" charset="0"/>
              <a:buAutoNum type="arabicPeriod"/>
            </a:pPr>
            <a:r>
              <a:rPr lang="zh-CN" altLang="en-US" sz="2800" dirty="0"/>
              <a:t>击中</a:t>
            </a:r>
            <a:r>
              <a:rPr lang="en-US" altLang="zh-CN" sz="2800" dirty="0"/>
              <a:t>-</a:t>
            </a:r>
            <a:r>
              <a:rPr lang="zh-CN" altLang="en-US" sz="2800" dirty="0"/>
              <a:t>击不中变换</a:t>
            </a:r>
          </a:p>
          <a:p>
            <a:pPr marL="514350" indent="-514350">
              <a:buFont typeface="Arial" panose="020B0604020202020204" pitchFamily="34" charset="0"/>
              <a:buAutoNum type="arabicPeriod"/>
            </a:pPr>
            <a:r>
              <a:rPr lang="zh-CN" altLang="en-US" sz="2800" dirty="0"/>
              <a:t>一些基本的形态学算法</a:t>
            </a:r>
            <a:endParaRPr lang="zh-CN" altLang="en-US" sz="2800" b="1" dirty="0"/>
          </a:p>
          <a:p>
            <a:pPr marL="514350" indent="-514350">
              <a:buFont typeface="Arial" panose="020B0604020202020204" pitchFamily="34" charset="0"/>
              <a:buAutoNum type="arabicPeriod"/>
            </a:pPr>
            <a:r>
              <a:rPr lang="zh-CN" altLang="en-US" sz="2800" b="1" dirty="0"/>
              <a:t>形态学重建（了解）</a:t>
            </a:r>
          </a:p>
          <a:p>
            <a:pPr marL="514350" indent="-514350">
              <a:buFont typeface="Arial" panose="020B0604020202020204" pitchFamily="34" charset="0"/>
              <a:buAutoNum type="arabicPeriod"/>
            </a:pPr>
            <a:r>
              <a:rPr lang="zh-CN" altLang="en-US" sz="2800" dirty="0"/>
              <a:t>二值图像形态学运算小结</a:t>
            </a:r>
            <a:r>
              <a:rPr lang="zh-CN" altLang="en-US" sz="2800" dirty="0">
                <a:sym typeface="+mn-ea"/>
              </a:rPr>
              <a:t> </a:t>
            </a:r>
            <a:endParaRPr lang="zh-CN" altLang="en-US" sz="2800" dirty="0"/>
          </a:p>
          <a:p>
            <a:pPr marL="514350" indent="-514350">
              <a:buFont typeface="Arial" panose="020B0604020202020204" pitchFamily="34" charset="0"/>
              <a:buAutoNum type="arabicPeriod"/>
            </a:pPr>
            <a:r>
              <a:rPr lang="zh-CN" altLang="en-US" sz="2800" dirty="0"/>
              <a:t>灰度级形态学</a:t>
            </a:r>
            <a:endParaRPr lang="en-US" altLang="zh-CN" sz="3600" dirty="0"/>
          </a:p>
          <a:p>
            <a:pPr marL="514350" indent="-514350">
              <a:buFont typeface="Arial" panose="020B0604020202020204" pitchFamily="34" charset="0"/>
              <a:buAutoNum type="arabicPeriod"/>
            </a:pPr>
            <a:endParaRPr lang="en-US" altLang="zh-CN" sz="3600" dirty="0">
              <a:latin typeface="Times New Roman" panose="02020603050405020304" pitchFamily="18" charset="0"/>
              <a:ea typeface="+mn-ea"/>
              <a:cs typeface="+mn-cs"/>
            </a:endParaRPr>
          </a:p>
        </p:txBody>
      </p:sp>
      <p:sp>
        <p:nvSpPr>
          <p:cNvPr id="19460" name="TextBox 3"/>
          <p:cNvSpPr txBox="1"/>
          <p:nvPr/>
        </p:nvSpPr>
        <p:spPr>
          <a:xfrm>
            <a:off x="445135" y="836613"/>
            <a:ext cx="4359910" cy="5835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dirty="0"/>
              <a:t>第九章</a:t>
            </a:r>
            <a:r>
              <a:rPr lang="en-US" altLang="zh-CN" dirty="0"/>
              <a:t>:</a:t>
            </a:r>
            <a:r>
              <a:rPr lang="zh-CN" altLang="en-US" dirty="0"/>
              <a:t>形态学图像处理</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rPr>
              <a:t>37</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2368147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1"/>
          </p:nvPr>
        </p:nvSpPr>
        <p:spPr>
          <a:xfrm>
            <a:off x="445135" y="1420495"/>
            <a:ext cx="8540750" cy="4434840"/>
          </a:xfrm>
        </p:spPr>
        <p:txBody>
          <a:bodyPr vert="horz" wrap="square" lIns="91440" tIns="45720" rIns="91440" bIns="45720" anchor="t" anchorCtr="0"/>
          <a:lstStyle/>
          <a:p>
            <a:pPr marL="514350" indent="-514350">
              <a:buFont typeface="Arial" panose="020B0604020202020204" pitchFamily="34" charset="0"/>
              <a:buAutoNum type="arabicPeriod"/>
            </a:pPr>
            <a:r>
              <a:rPr lang="zh-CN" altLang="en-US" sz="2800" dirty="0">
                <a:latin typeface="Times New Roman" panose="02020603050405020304" pitchFamily="18" charset="0"/>
                <a:ea typeface="+mn-ea"/>
                <a:cs typeface="+mn-cs"/>
              </a:rPr>
              <a:t>预备知识</a:t>
            </a:r>
          </a:p>
          <a:p>
            <a:pPr marL="514350" indent="-514350">
              <a:buFont typeface="Arial" panose="020B0604020202020204" pitchFamily="34" charset="0"/>
              <a:buAutoNum type="arabicPeriod"/>
            </a:pPr>
            <a:r>
              <a:rPr lang="zh-CN" altLang="en-US" sz="2800" dirty="0"/>
              <a:t>腐蚀和膨胀</a:t>
            </a:r>
          </a:p>
          <a:p>
            <a:pPr marL="514350" indent="-514350">
              <a:buFont typeface="Arial" panose="020B0604020202020204" pitchFamily="34" charset="0"/>
              <a:buAutoNum type="arabicPeriod"/>
            </a:pPr>
            <a:r>
              <a:rPr lang="zh-CN" altLang="en-US" sz="2800" dirty="0"/>
              <a:t>开运算与闭运算</a:t>
            </a:r>
          </a:p>
          <a:p>
            <a:pPr marL="514350" indent="-514350">
              <a:buFont typeface="Arial" panose="020B0604020202020204" pitchFamily="34" charset="0"/>
              <a:buAutoNum type="arabicPeriod"/>
            </a:pPr>
            <a:r>
              <a:rPr lang="zh-CN" altLang="en-US" sz="2800" dirty="0"/>
              <a:t>击中</a:t>
            </a:r>
            <a:r>
              <a:rPr lang="en-US" altLang="zh-CN" sz="2800" dirty="0"/>
              <a:t>-</a:t>
            </a:r>
            <a:r>
              <a:rPr lang="zh-CN" altLang="en-US" sz="2800" dirty="0"/>
              <a:t>击不中变换</a:t>
            </a:r>
          </a:p>
          <a:p>
            <a:pPr marL="514350" indent="-514350">
              <a:buFont typeface="Arial" panose="020B0604020202020204" pitchFamily="34" charset="0"/>
              <a:buAutoNum type="arabicPeriod"/>
            </a:pPr>
            <a:r>
              <a:rPr lang="zh-CN" altLang="en-US" sz="2800" dirty="0"/>
              <a:t>一些基本的形态学算法</a:t>
            </a:r>
            <a:endParaRPr lang="zh-CN" altLang="en-US" sz="2800" b="1" dirty="0"/>
          </a:p>
          <a:p>
            <a:pPr marL="514350" indent="-514350">
              <a:buFont typeface="Arial" panose="020B0604020202020204" pitchFamily="34" charset="0"/>
              <a:buAutoNum type="arabicPeriod"/>
            </a:pPr>
            <a:r>
              <a:rPr lang="zh-CN" altLang="en-US" sz="2800" dirty="0"/>
              <a:t>形态学重建 </a:t>
            </a:r>
          </a:p>
          <a:p>
            <a:pPr marL="514350" indent="-514350">
              <a:buFont typeface="Arial" panose="020B0604020202020204" pitchFamily="34" charset="0"/>
              <a:buAutoNum type="arabicPeriod"/>
            </a:pPr>
            <a:r>
              <a:rPr lang="zh-CN" altLang="en-US" sz="2800" b="1" dirty="0"/>
              <a:t>二值图像形态学运算小结</a:t>
            </a:r>
            <a:r>
              <a:rPr lang="zh-CN" altLang="en-US" sz="2800" b="1" dirty="0">
                <a:sym typeface="+mn-ea"/>
              </a:rPr>
              <a:t>（了解）</a:t>
            </a:r>
            <a:endParaRPr lang="zh-CN" altLang="en-US" sz="2800" dirty="0"/>
          </a:p>
          <a:p>
            <a:pPr marL="514350" indent="-514350">
              <a:buFont typeface="Arial" panose="020B0604020202020204" pitchFamily="34" charset="0"/>
              <a:buAutoNum type="arabicPeriod"/>
            </a:pPr>
            <a:r>
              <a:rPr lang="zh-CN" altLang="en-US" sz="2800" dirty="0"/>
              <a:t>灰度级形态学</a:t>
            </a:r>
            <a:endParaRPr lang="en-US" altLang="zh-CN" sz="3600" dirty="0"/>
          </a:p>
          <a:p>
            <a:pPr marL="514350" indent="-514350">
              <a:buFont typeface="Arial" panose="020B0604020202020204" pitchFamily="34" charset="0"/>
              <a:buAutoNum type="arabicPeriod"/>
            </a:pPr>
            <a:endParaRPr lang="en-US" altLang="zh-CN" sz="3600" dirty="0">
              <a:latin typeface="Times New Roman" panose="02020603050405020304" pitchFamily="18" charset="0"/>
              <a:ea typeface="+mn-ea"/>
              <a:cs typeface="+mn-cs"/>
            </a:endParaRPr>
          </a:p>
        </p:txBody>
      </p:sp>
      <p:sp>
        <p:nvSpPr>
          <p:cNvPr id="19460" name="TextBox 3"/>
          <p:cNvSpPr txBox="1"/>
          <p:nvPr/>
        </p:nvSpPr>
        <p:spPr>
          <a:xfrm>
            <a:off x="445135" y="836613"/>
            <a:ext cx="4359910" cy="5835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dirty="0"/>
              <a:t>第九章</a:t>
            </a:r>
            <a:r>
              <a:rPr lang="en-US" altLang="zh-CN" dirty="0"/>
              <a:t>:</a:t>
            </a:r>
            <a:r>
              <a:rPr lang="zh-CN" altLang="en-US" dirty="0"/>
              <a:t>形态学图像处理</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rPr>
              <a:t>38</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1"/>
          </p:nvPr>
        </p:nvSpPr>
        <p:spPr>
          <a:xfrm>
            <a:off x="445135" y="1420495"/>
            <a:ext cx="8540750" cy="4434840"/>
          </a:xfrm>
        </p:spPr>
        <p:txBody>
          <a:bodyPr vert="horz" wrap="square" lIns="91440" tIns="45720" rIns="91440" bIns="45720" anchor="t" anchorCtr="0"/>
          <a:lstStyle/>
          <a:p>
            <a:pPr marL="514350" indent="-514350">
              <a:buFont typeface="Arial" panose="020B0604020202020204" pitchFamily="34" charset="0"/>
              <a:buAutoNum type="arabicPeriod"/>
            </a:pPr>
            <a:r>
              <a:rPr lang="zh-CN" altLang="en-US" sz="2800" dirty="0">
                <a:latin typeface="Times New Roman" panose="02020603050405020304" pitchFamily="18" charset="0"/>
                <a:ea typeface="+mn-ea"/>
                <a:cs typeface="+mn-cs"/>
              </a:rPr>
              <a:t>预备知识</a:t>
            </a:r>
          </a:p>
          <a:p>
            <a:pPr marL="514350" indent="-514350">
              <a:buFont typeface="Arial" panose="020B0604020202020204" pitchFamily="34" charset="0"/>
              <a:buAutoNum type="arabicPeriod"/>
            </a:pPr>
            <a:r>
              <a:rPr lang="zh-CN" altLang="en-US" sz="2800" dirty="0"/>
              <a:t>腐蚀和膨胀</a:t>
            </a:r>
          </a:p>
          <a:p>
            <a:pPr marL="514350" indent="-514350">
              <a:buFont typeface="Arial" panose="020B0604020202020204" pitchFamily="34" charset="0"/>
              <a:buAutoNum type="arabicPeriod"/>
            </a:pPr>
            <a:r>
              <a:rPr lang="zh-CN" altLang="en-US" sz="2800" dirty="0"/>
              <a:t>开运算与闭运算</a:t>
            </a:r>
          </a:p>
          <a:p>
            <a:pPr marL="514350" indent="-514350">
              <a:buFont typeface="Arial" panose="020B0604020202020204" pitchFamily="34" charset="0"/>
              <a:buAutoNum type="arabicPeriod"/>
            </a:pPr>
            <a:r>
              <a:rPr lang="zh-CN" altLang="en-US" sz="2800" dirty="0"/>
              <a:t>击中</a:t>
            </a:r>
            <a:r>
              <a:rPr lang="en-US" altLang="zh-CN" sz="2800" dirty="0"/>
              <a:t>-</a:t>
            </a:r>
            <a:r>
              <a:rPr lang="zh-CN" altLang="en-US" sz="2800" dirty="0"/>
              <a:t>击不中变换</a:t>
            </a:r>
          </a:p>
          <a:p>
            <a:pPr marL="514350" indent="-514350">
              <a:buFont typeface="Arial" panose="020B0604020202020204" pitchFamily="34" charset="0"/>
              <a:buAutoNum type="arabicPeriod"/>
            </a:pPr>
            <a:r>
              <a:rPr lang="zh-CN" altLang="en-US" sz="2800" dirty="0"/>
              <a:t>一些基本的形态学算法</a:t>
            </a:r>
            <a:endParaRPr lang="zh-CN" altLang="en-US" sz="2800" b="1" dirty="0"/>
          </a:p>
          <a:p>
            <a:pPr marL="514350" indent="-514350">
              <a:buFont typeface="Arial" panose="020B0604020202020204" pitchFamily="34" charset="0"/>
              <a:buAutoNum type="arabicPeriod"/>
            </a:pPr>
            <a:r>
              <a:rPr lang="zh-CN" altLang="en-US" sz="2800" dirty="0"/>
              <a:t>形态学重建</a:t>
            </a:r>
          </a:p>
          <a:p>
            <a:pPr marL="514350" indent="-514350">
              <a:buFont typeface="Arial" panose="020B0604020202020204" pitchFamily="34" charset="0"/>
              <a:buAutoNum type="arabicPeriod"/>
            </a:pPr>
            <a:r>
              <a:rPr lang="zh-CN" altLang="en-US" sz="2800" dirty="0"/>
              <a:t>二值图像形态学运算小结</a:t>
            </a:r>
          </a:p>
          <a:p>
            <a:pPr marL="514350" indent="-514350">
              <a:buFont typeface="Arial" panose="020B0604020202020204" pitchFamily="34" charset="0"/>
              <a:buAutoNum type="arabicPeriod"/>
            </a:pPr>
            <a:r>
              <a:rPr lang="zh-CN" altLang="en-US" sz="2800" b="1" dirty="0"/>
              <a:t>灰度级形态学</a:t>
            </a:r>
            <a:endParaRPr lang="en-US" altLang="zh-CN" sz="3600" b="1" dirty="0"/>
          </a:p>
          <a:p>
            <a:pPr marL="514350" indent="-514350">
              <a:buFont typeface="Arial" panose="020B0604020202020204" pitchFamily="34" charset="0"/>
              <a:buAutoNum type="arabicPeriod"/>
            </a:pPr>
            <a:endParaRPr lang="en-US" altLang="zh-CN" sz="3600" b="1" dirty="0">
              <a:latin typeface="Times New Roman" panose="02020603050405020304" pitchFamily="18" charset="0"/>
              <a:ea typeface="+mn-ea"/>
              <a:cs typeface="+mn-cs"/>
            </a:endParaRPr>
          </a:p>
        </p:txBody>
      </p:sp>
      <p:sp>
        <p:nvSpPr>
          <p:cNvPr id="19460" name="TextBox 3"/>
          <p:cNvSpPr txBox="1"/>
          <p:nvPr/>
        </p:nvSpPr>
        <p:spPr>
          <a:xfrm>
            <a:off x="445135" y="836613"/>
            <a:ext cx="4359910" cy="5835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dirty="0"/>
              <a:t>第九章</a:t>
            </a:r>
            <a:r>
              <a:rPr lang="en-US" altLang="zh-CN" dirty="0"/>
              <a:t>:</a:t>
            </a:r>
            <a:r>
              <a:rPr lang="zh-CN" altLang="en-US" dirty="0"/>
              <a:t>形态学图像处理</a:t>
            </a:r>
          </a:p>
        </p:txBody>
      </p:sp>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rPr>
              <a:t>39</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5770" y="23810"/>
            <a:ext cx="8540750" cy="619108"/>
          </a:xfrm>
        </p:spPr>
        <p:txBody>
          <a:bodyPr/>
          <a:lstStyle/>
          <a:p>
            <a:r>
              <a:rPr lang="en-US" altLang="zh-CN" dirty="0"/>
              <a:t>8. </a:t>
            </a:r>
            <a:r>
              <a:rPr lang="zh-CN" altLang="en-US" dirty="0"/>
              <a:t>灰度级形态学</a:t>
            </a:r>
          </a:p>
        </p:txBody>
      </p:sp>
      <p:sp>
        <p:nvSpPr>
          <p:cNvPr id="4" name="灯片编号占位符 3"/>
          <p:cNvSpPr>
            <a:spLocks noGrp="1"/>
          </p:cNvSpPr>
          <p:nvPr>
            <p:ph type="sldNum" sz="quarter" idx="4"/>
          </p:nvPr>
        </p:nvSpPr>
        <p:spPr>
          <a:xfrm>
            <a:off x="3858578" y="6453188"/>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40</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2162" name="Rectangle 114"/>
          <p:cNvSpPr>
            <a:spLocks noChangeArrowheads="1"/>
          </p:cNvSpPr>
          <p:nvPr/>
        </p:nvSpPr>
        <p:spPr bwMode="auto">
          <a:xfrm>
            <a:off x="467677" y="836541"/>
            <a:ext cx="8352795"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algn="just">
              <a:lnSpc>
                <a:spcPct val="120000"/>
              </a:lnSpc>
            </a:pP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本节首先把</a:t>
            </a:r>
            <a:r>
              <a:rPr lang="zh-CN" altLang="en-US" baseline="0" dirty="0">
                <a:solidFill>
                  <a:schemeClr val="tx2">
                    <a:lumMod val="60000"/>
                    <a:lumOff val="40000"/>
                  </a:schemeClr>
                </a:solidFill>
                <a:uFillTx/>
                <a:latin typeface="Times New Roman" panose="02020603050405020304" pitchFamily="18" charset="0"/>
                <a:ea typeface="微软雅黑" panose="020B0503020204020204" pitchFamily="34" charset="-122"/>
                <a:cs typeface="Times New Roman" panose="02020603050405020304" pitchFamily="18" charset="0"/>
              </a:rPr>
              <a:t>膨胀、腐蚀、开运算和闭运算</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的基本运算扩展到</a:t>
            </a:r>
            <a:r>
              <a:rPr lang="zh-CN" altLang="en-US" baseline="0" dirty="0">
                <a:solidFill>
                  <a:schemeClr val="tx2">
                    <a:lumMod val="60000"/>
                    <a:lumOff val="40000"/>
                  </a:schemeClr>
                </a:solidFill>
                <a:uFillTx/>
                <a:latin typeface="Times New Roman" panose="02020603050405020304" pitchFamily="18" charset="0"/>
                <a:ea typeface="微软雅黑" panose="020B0503020204020204" pitchFamily="34" charset="-122"/>
                <a:cs typeface="Times New Roman" panose="02020603050405020304" pitchFamily="18" charset="0"/>
              </a:rPr>
              <a:t>灰度图像</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，然后使用这些运算来开发几个基本的灰度级形态学算法。</a:t>
            </a:r>
          </a:p>
        </p:txBody>
      </p:sp>
      <p:grpSp>
        <p:nvGrpSpPr>
          <p:cNvPr id="2" name="组合 1">
            <a:extLst>
              <a:ext uri="{FF2B5EF4-FFF2-40B4-BE49-F238E27FC236}">
                <a16:creationId xmlns:a16="http://schemas.microsoft.com/office/drawing/2014/main" id="{4A2D434D-067F-400A-9F91-D042E33E1448}"/>
              </a:ext>
            </a:extLst>
          </p:cNvPr>
          <p:cNvGrpSpPr/>
          <p:nvPr/>
        </p:nvGrpSpPr>
        <p:grpSpPr>
          <a:xfrm>
            <a:off x="1232242" y="3799914"/>
            <a:ext cx="6967805" cy="2000250"/>
            <a:chOff x="1680429" y="3732530"/>
            <a:chExt cx="6967805" cy="2000250"/>
          </a:xfrm>
        </p:grpSpPr>
        <p:sp>
          <p:nvSpPr>
            <p:cNvPr id="13" name="文本框 12"/>
            <p:cNvSpPr txBox="1"/>
            <p:nvPr/>
          </p:nvSpPr>
          <p:spPr>
            <a:xfrm>
              <a:off x="2052191" y="5157725"/>
              <a:ext cx="1097280" cy="368300"/>
            </a:xfrm>
            <a:prstGeom prst="rect">
              <a:avLst/>
            </a:prstGeom>
            <a:noFill/>
          </p:spPr>
          <p:txBody>
            <a:bodyPr wrap="none" rtlCol="0">
              <a:spAutoFit/>
            </a:bodyPr>
            <a:lstStyle/>
            <a:p>
              <a:r>
                <a:rPr lang="zh-CN" altLang="en-US" baseline="0" dirty="0">
                  <a:latin typeface="Times New Roman" panose="02020603050405020304" pitchFamily="18" charset="0"/>
                  <a:ea typeface="微软雅黑" panose="020B0503020204020204" pitchFamily="34" charset="-122"/>
                  <a:cs typeface="Times New Roman" panose="02020603050405020304" pitchFamily="18" charset="0"/>
                </a:rPr>
                <a:t>灰度剖面</a:t>
              </a:r>
            </a:p>
          </p:txBody>
        </p:sp>
        <p:sp>
          <p:nvSpPr>
            <p:cNvPr id="14" name="文本框 13"/>
            <p:cNvSpPr txBox="1"/>
            <p:nvPr/>
          </p:nvSpPr>
          <p:spPr>
            <a:xfrm>
              <a:off x="1680429" y="3980790"/>
              <a:ext cx="1569660" cy="369332"/>
            </a:xfrm>
            <a:prstGeom prst="rect">
              <a:avLst/>
            </a:prstGeom>
            <a:noFill/>
          </p:spPr>
          <p:txBody>
            <a:bodyPr wrap="none" rtlCol="0">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不</a:t>
              </a:r>
              <a:r>
                <a:rPr lang="zh-CN" altLang="en-US" baseline="0" dirty="0">
                  <a:latin typeface="Times New Roman" panose="02020603050405020304" pitchFamily="18" charset="0"/>
                  <a:ea typeface="微软雅黑" panose="020B0503020204020204" pitchFamily="34" charset="-122"/>
                  <a:cs typeface="Times New Roman" panose="02020603050405020304" pitchFamily="18" charset="0"/>
                </a:rPr>
                <a:t>平坦结构元</a:t>
              </a:r>
            </a:p>
          </p:txBody>
        </p:sp>
        <p:pic>
          <p:nvPicPr>
            <p:cNvPr id="5" name="图片 4"/>
            <p:cNvPicPr>
              <a:picLocks noChangeAspect="1"/>
            </p:cNvPicPr>
            <p:nvPr/>
          </p:nvPicPr>
          <p:blipFill>
            <a:blip r:embed="rId2"/>
            <a:stretch>
              <a:fillRect/>
            </a:stretch>
          </p:blipFill>
          <p:spPr>
            <a:xfrm>
              <a:off x="3636010" y="3732530"/>
              <a:ext cx="1828800" cy="809625"/>
            </a:xfrm>
            <a:prstGeom prst="rect">
              <a:avLst/>
            </a:prstGeom>
          </p:spPr>
        </p:pic>
        <p:pic>
          <p:nvPicPr>
            <p:cNvPr id="6" name="图片 5"/>
            <p:cNvPicPr>
              <a:picLocks noChangeAspect="1"/>
            </p:cNvPicPr>
            <p:nvPr/>
          </p:nvPicPr>
          <p:blipFill>
            <a:blip r:embed="rId3"/>
            <a:stretch>
              <a:fillRect/>
            </a:stretch>
          </p:blipFill>
          <p:spPr>
            <a:xfrm>
              <a:off x="3649980" y="4784725"/>
              <a:ext cx="1814830" cy="948055"/>
            </a:xfrm>
            <a:prstGeom prst="rect">
              <a:avLst/>
            </a:prstGeom>
          </p:spPr>
        </p:pic>
        <p:sp>
          <p:nvSpPr>
            <p:cNvPr id="9" name="文本框 8"/>
            <p:cNvSpPr txBox="1"/>
            <p:nvPr/>
          </p:nvSpPr>
          <p:spPr>
            <a:xfrm>
              <a:off x="5867882" y="5158062"/>
              <a:ext cx="1097280" cy="368300"/>
            </a:xfrm>
            <a:prstGeom prst="rect">
              <a:avLst/>
            </a:prstGeom>
            <a:noFill/>
          </p:spPr>
          <p:txBody>
            <a:bodyPr wrap="none" rtlCol="0">
              <a:spAutoFit/>
            </a:bodyPr>
            <a:lstStyle/>
            <a:p>
              <a:pPr algn="l"/>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灰度剖面</a:t>
              </a:r>
              <a:endParaRPr lang="zh-CN" altLang="en-US" baseline="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5866703" y="3933775"/>
              <a:ext cx="2781531" cy="369332"/>
            </a:xfrm>
            <a:prstGeom prst="rect">
              <a:avLst/>
            </a:prstGeom>
            <a:noFill/>
          </p:spPr>
          <p:txBody>
            <a:bodyPr wrap="none" rtlCol="0">
              <a:spAutoFit/>
            </a:bodyPr>
            <a:lstStyle/>
            <a:p>
              <a:r>
                <a:rPr lang="zh-CN" altLang="en-US" baseline="0" dirty="0">
                  <a:latin typeface="Times New Roman" panose="02020603050405020304" pitchFamily="18" charset="0"/>
                  <a:ea typeface="微软雅黑" panose="020B0503020204020204" pitchFamily="34" charset="-122"/>
                  <a:cs typeface="Times New Roman" panose="02020603050405020304" pitchFamily="18" charset="0"/>
                </a:rPr>
                <a:t>平坦结构元 （本节重点）</a:t>
              </a:r>
            </a:p>
          </p:txBody>
        </p:sp>
      </p:grpSp>
      <p:sp>
        <p:nvSpPr>
          <p:cNvPr id="12" name="文本框 11"/>
          <p:cNvSpPr txBox="1"/>
          <p:nvPr/>
        </p:nvSpPr>
        <p:spPr>
          <a:xfrm>
            <a:off x="467677" y="1976586"/>
            <a:ext cx="8215630" cy="1170305"/>
          </a:xfrm>
          <a:prstGeom prst="rect">
            <a:avLst/>
          </a:prstGeom>
          <a:noFill/>
        </p:spPr>
        <p:txBody>
          <a:bodyPr wrap="square" rtlCol="0" anchor="t">
            <a:spAutoFit/>
          </a:bodyPr>
          <a:lstStyle/>
          <a:p>
            <a:pPr indent="457200" algn="just">
              <a:lnSpc>
                <a:spcPct val="130000"/>
              </a:lnSpc>
              <a:buClrTx/>
              <a:buSzTx/>
              <a:buFontTx/>
            </a:pPr>
            <a:r>
              <a:rPr lang="zh-CN" altLang="en-US" sz="1800" dirty="0">
                <a:uFillTx/>
                <a:latin typeface="Times New Roman" panose="02020603050405020304" pitchFamily="18" charset="0"/>
                <a:ea typeface="微软雅黑" panose="020B0503020204020204" pitchFamily="34" charset="-122"/>
                <a:cs typeface="Times New Roman" panose="02020603050405020304" pitchFamily="18" charset="0"/>
              </a:rPr>
              <a:t>灰度级形态学中的结构元的基本功能，类似于二值形态学中对应的结构元：它们都是检查给定图像中特定特性的“探测器”。灰度级形态学中的结构元</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uFillTx/>
                <a:latin typeface="Times New Roman" panose="02020603050405020304" pitchFamily="18" charset="0"/>
                <a:ea typeface="微软雅黑" panose="020B0503020204020204" pitchFamily="34" charset="-122"/>
                <a:cs typeface="Times New Roman" panose="02020603050405020304" pitchFamily="18" charset="0"/>
              </a:rPr>
              <a:t>分为两类：不平坦结构元和平坦结构元。如下图所示：</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1"/>
      <p:bldP spid="14" grpId="1"/>
      <p:bldP spid="9" grpId="1"/>
      <p:bldP spid="11" grpId="1"/>
      <p:bldP spid="12" grpId="0"/>
      <p:bldP spid="12"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5770" y="23810"/>
            <a:ext cx="8540750" cy="619108"/>
          </a:xfrm>
        </p:spPr>
        <p:txBody>
          <a:bodyPr/>
          <a:lstStyle/>
          <a:p>
            <a:r>
              <a:rPr lang="en-US" altLang="zh-CN" dirty="0"/>
              <a:t>8. </a:t>
            </a:r>
            <a:r>
              <a:rPr lang="zh-CN" altLang="en-US" dirty="0"/>
              <a:t>灰度腐蚀和膨胀</a:t>
            </a:r>
          </a:p>
        </p:txBody>
      </p:sp>
      <p:sp>
        <p:nvSpPr>
          <p:cNvPr id="4" name="灯片编号占位符 3"/>
          <p:cNvSpPr>
            <a:spLocks noGrp="1"/>
          </p:cNvSpPr>
          <p:nvPr>
            <p:ph type="sldNum" sz="quarter" idx="4"/>
          </p:nvPr>
        </p:nvSpPr>
        <p:spPr>
          <a:xfrm>
            <a:off x="3858578" y="6453188"/>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41</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162" name="Rectangle 114"/>
              <p:cNvSpPr>
                <a:spLocks noChangeArrowheads="1"/>
              </p:cNvSpPr>
              <p:nvPr/>
            </p:nvSpPr>
            <p:spPr bwMode="auto">
              <a:xfrm>
                <a:off x="467677" y="836541"/>
                <a:ext cx="8457883" cy="358110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indent="457200" algn="just">
                  <a:lnSpc>
                    <a:spcPct val="140000"/>
                  </a:lnSpc>
                </a:pP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当</a:t>
                </a:r>
                <a:r>
                  <a:rPr lang="zh-CN" altLang="en-US" baseline="0" dirty="0">
                    <a:solidFill>
                      <a:schemeClr val="tx2">
                        <a:lumMod val="60000"/>
                        <a:lumOff val="40000"/>
                      </a:schemeClr>
                    </a:solidFill>
                    <a:uFillTx/>
                    <a:latin typeface="Times New Roman" panose="02020603050405020304" pitchFamily="18" charset="0"/>
                    <a:ea typeface="微软雅黑" panose="020B0503020204020204" pitchFamily="34" charset="-122"/>
                    <a:cs typeface="Times New Roman" panose="02020603050405020304" pitchFamily="18" charset="0"/>
                  </a:rPr>
                  <a:t>平坦结构元</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的原点是</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时，它在</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处对图像</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f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的灰度腐蚀定义为：图像</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f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重合区域中的最小值</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，即</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类似地，当</a:t>
                </a:r>
                <a14:m>
                  <m:oMath xmlns:m="http://schemas.openxmlformats.org/officeDocument/2006/math">
                    <m:r>
                      <a:rPr lang="en-US" altLang="zh-CN" baseline="0" dirty="0">
                        <a:solidFill>
                          <a:schemeClr val="tx1"/>
                        </a:solidFill>
                        <a:uFillTx/>
                        <a:latin typeface="Cambria Math" panose="02040503050406030204" pitchFamily="18" charset="0"/>
                        <a:ea typeface="微软雅黑" panose="020B0503020204020204" pitchFamily="34" charset="-122"/>
                        <a:cs typeface="Times New Roman" panose="02020603050405020304" pitchFamily="18" charset="0"/>
                      </a:rPr>
                      <m:t> </m:t>
                    </m:r>
                    <m:acc>
                      <m:accPr>
                        <m:chr m:val="̂"/>
                        <m:ctrlPr>
                          <a:rPr lang="en-US" altLang="zh-CN" b="0" i="1" baseline="0" smtClean="0">
                            <a:solidFill>
                              <a:schemeClr val="tx1"/>
                            </a:solidFill>
                            <a:latin typeface="Cambria Math" panose="02040503050406030204" pitchFamily="18" charset="0"/>
                          </a:rPr>
                        </m:ctrlPr>
                      </m:accPr>
                      <m:e>
                        <m:r>
                          <a:rPr lang="en-US" altLang="zh-CN" b="0" i="1" baseline="0" smtClean="0">
                            <a:solidFill>
                              <a:schemeClr val="tx1"/>
                            </a:solidFill>
                            <a:latin typeface="Cambria Math" panose="02040503050406030204" pitchFamily="18" charset="0"/>
                          </a:rPr>
                          <m:t>𝑏</m:t>
                        </m:r>
                      </m:e>
                    </m:acc>
                  </m:oMath>
                </a14:m>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的原点是</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时，平坦结构元</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处对图像</a:t>
                </a:r>
                <a:r>
                  <a:rPr lang="en-US" altLang="zh-CN" dirty="0">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i="1" dirty="0">
                    <a:uFillTx/>
                    <a:latin typeface="Times New Roman" panose="02020603050405020304" pitchFamily="18" charset="0"/>
                    <a:ea typeface="微软雅黑" panose="020B0503020204020204" pitchFamily="34" charset="-122"/>
                    <a:cs typeface="Times New Roman" panose="02020603050405020304" pitchFamily="18" charset="0"/>
                    <a:sym typeface="+mn-ea"/>
                  </a:rPr>
                  <a:t>f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的膨胀定义为：图像</a:t>
                </a:r>
                <a:r>
                  <a:rPr lang="en-US" altLang="zh-CN" dirty="0">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i="1" dirty="0">
                    <a:uFillTx/>
                    <a:latin typeface="Times New Roman" panose="02020603050405020304" pitchFamily="18" charset="0"/>
                    <a:ea typeface="微软雅黑" panose="020B0503020204020204" pitchFamily="34" charset="-122"/>
                    <a:cs typeface="Times New Roman" panose="02020603050405020304" pitchFamily="18" charset="0"/>
                    <a:sym typeface="+mn-ea"/>
                  </a:rPr>
                  <a:t>f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与</a:t>
                </a:r>
                <a14:m>
                  <m:oMath xmlns:m="http://schemas.openxmlformats.org/officeDocument/2006/math">
                    <m:r>
                      <a:rPr lang="en-US" altLang="zh-CN" baseline="0" dirty="0">
                        <a:solidFill>
                          <a:schemeClr val="tx1"/>
                        </a:solidFill>
                        <a:uFillTx/>
                        <a:latin typeface="Cambria Math" panose="02040503050406030204" pitchFamily="18" charset="0"/>
                        <a:ea typeface="微软雅黑" panose="020B0503020204020204" pitchFamily="34" charset="-122"/>
                        <a:cs typeface="Times New Roman" panose="02020603050405020304" pitchFamily="18" charset="0"/>
                      </a:rPr>
                      <m:t> </m:t>
                    </m:r>
                    <m:acc>
                      <m:accPr>
                        <m:chr m:val="̂"/>
                        <m:ctrlPr>
                          <a:rPr lang="en-US" altLang="zh-CN" b="0" i="1" baseline="0" smtClean="0">
                            <a:solidFill>
                              <a:schemeClr val="tx1"/>
                            </a:solidFill>
                            <a:latin typeface="Cambria Math" panose="02040503050406030204" pitchFamily="18" charset="0"/>
                          </a:rPr>
                        </m:ctrlPr>
                      </m:accPr>
                      <m:e>
                        <m:r>
                          <a:rPr lang="en-US" altLang="zh-CN" b="0" i="1" baseline="0" smtClean="0">
                            <a:solidFill>
                              <a:schemeClr val="tx1"/>
                            </a:solidFill>
                            <a:latin typeface="Cambria Math" panose="02040503050406030204" pitchFamily="18" charset="0"/>
                          </a:rPr>
                          <m:t>𝑏</m:t>
                        </m:r>
                      </m:e>
                    </m:acc>
                  </m:oMath>
                </a14:m>
                <a:r>
                  <a:rPr lang="en-US" altLang="zh-CN" dirty="0">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重合区</a:t>
                </a:r>
                <a:r>
                  <a:rPr lang="zh-CN" altLang="en-US" dirty="0">
                    <a:uFillTx/>
                    <a:latin typeface="Times New Roman" panose="02020603050405020304" pitchFamily="18" charset="0"/>
                    <a:ea typeface="微软雅黑" panose="020B0503020204020204" pitchFamily="34" charset="-122"/>
                    <a:cs typeface="Times New Roman" panose="02020603050405020304" pitchFamily="18" charset="0"/>
                    <a:sym typeface="+mn-ea"/>
                  </a:rPr>
                  <a:t>域中的最大值，即</a:t>
                </a: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2162" name="Rectangle 114"/>
              <p:cNvSpPr>
                <a:spLocks noRot="1" noChangeAspect="1" noMove="1" noResize="1" noEditPoints="1" noAdjustHandles="1" noChangeArrowheads="1" noChangeShapeType="1" noTextEdit="1"/>
              </p:cNvSpPr>
              <p:nvPr/>
            </p:nvSpPr>
            <p:spPr bwMode="auto">
              <a:xfrm>
                <a:off x="467677" y="836541"/>
                <a:ext cx="8457883" cy="3581109"/>
              </a:xfrm>
              <a:prstGeom prst="rect">
                <a:avLst/>
              </a:prstGeom>
              <a:blipFill>
                <a:blip r:embed="rId3"/>
                <a:stretch>
                  <a:fillRect l="-649" r="-57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12" name="对象 11"/>
          <p:cNvGraphicFramePr/>
          <p:nvPr>
            <p:extLst>
              <p:ext uri="{D42A27DB-BD31-4B8C-83A1-F6EECF244321}">
                <p14:modId xmlns:p14="http://schemas.microsoft.com/office/powerpoint/2010/main" val="2016726106"/>
              </p:ext>
            </p:extLst>
          </p:nvPr>
        </p:nvGraphicFramePr>
        <p:xfrm>
          <a:off x="2493591" y="1821011"/>
          <a:ext cx="4226560" cy="431165"/>
        </p:xfrm>
        <a:graphic>
          <a:graphicData uri="http://schemas.openxmlformats.org/presentationml/2006/ole">
            <mc:AlternateContent xmlns:mc="http://schemas.openxmlformats.org/markup-compatibility/2006">
              <mc:Choice xmlns:v="urn:schemas-microsoft-com:vml" Requires="v">
                <p:oleObj spid="_x0000_s146641" r:id="rId4" imgW="2425700" imgH="241300" progId="Equation.DSMT4">
                  <p:embed/>
                </p:oleObj>
              </mc:Choice>
              <mc:Fallback>
                <p:oleObj r:id="rId4" imgW="2425700" imgH="241300" progId="Equation.DSMT4">
                  <p:embed/>
                  <p:pic>
                    <p:nvPicPr>
                      <p:cNvPr id="0" name="图片 8"/>
                      <p:cNvPicPr/>
                      <p:nvPr/>
                    </p:nvPicPr>
                    <p:blipFill>
                      <a:blip r:embed="rId5"/>
                      <a:stretch>
                        <a:fillRect/>
                      </a:stretch>
                    </p:blipFill>
                    <p:spPr>
                      <a:xfrm>
                        <a:off x="2493591" y="1821011"/>
                        <a:ext cx="4226560" cy="431165"/>
                      </a:xfrm>
                      <a:prstGeom prst="rect">
                        <a:avLst/>
                      </a:prstGeom>
                    </p:spPr>
                  </p:pic>
                </p:oleObj>
              </mc:Fallback>
            </mc:AlternateContent>
          </a:graphicData>
        </a:graphic>
      </p:graphicFrame>
      <p:graphicFrame>
        <p:nvGraphicFramePr>
          <p:cNvPr id="14" name="对象 13"/>
          <p:cNvGraphicFramePr/>
          <p:nvPr>
            <p:extLst>
              <p:ext uri="{D42A27DB-BD31-4B8C-83A1-F6EECF244321}">
                <p14:modId xmlns:p14="http://schemas.microsoft.com/office/powerpoint/2010/main" val="4010331016"/>
              </p:ext>
            </p:extLst>
          </p:nvPr>
        </p:nvGraphicFramePr>
        <p:xfrm>
          <a:off x="2654935" y="3339782"/>
          <a:ext cx="4271010" cy="476885"/>
        </p:xfrm>
        <a:graphic>
          <a:graphicData uri="http://schemas.openxmlformats.org/presentationml/2006/ole">
            <mc:AlternateContent xmlns:mc="http://schemas.openxmlformats.org/markup-compatibility/2006">
              <mc:Choice xmlns:v="urn:schemas-microsoft-com:vml" Requires="v">
                <p:oleObj spid="_x0000_s146642" r:id="rId6" imgW="2451100" imgH="266700" progId="Equation.DSMT4">
                  <p:embed/>
                </p:oleObj>
              </mc:Choice>
              <mc:Fallback>
                <p:oleObj r:id="rId6" imgW="2451100" imgH="266700" progId="Equation.DSMT4">
                  <p:embed/>
                  <p:pic>
                    <p:nvPicPr>
                      <p:cNvPr id="0" name="图片 8"/>
                      <p:cNvPicPr/>
                      <p:nvPr/>
                    </p:nvPicPr>
                    <p:blipFill>
                      <a:blip r:embed="rId7"/>
                      <a:stretch>
                        <a:fillRect/>
                      </a:stretch>
                    </p:blipFill>
                    <p:spPr>
                      <a:xfrm>
                        <a:off x="2654935" y="3339782"/>
                        <a:ext cx="4271010" cy="476885"/>
                      </a:xfrm>
                      <a:prstGeom prst="rect">
                        <a:avLst/>
                      </a:prstGeom>
                    </p:spPr>
                  </p:pic>
                </p:oleObj>
              </mc:Fallback>
            </mc:AlternateContent>
          </a:graphicData>
        </a:graphic>
      </p:graphicFrame>
      <p:pic>
        <p:nvPicPr>
          <p:cNvPr id="23" name="图片 22"/>
          <p:cNvPicPr>
            <a:picLocks noChangeAspect="1"/>
          </p:cNvPicPr>
          <p:nvPr/>
        </p:nvPicPr>
        <p:blipFill>
          <a:blip r:embed="rId8"/>
          <a:stretch>
            <a:fillRect/>
          </a:stretch>
        </p:blipFill>
        <p:spPr>
          <a:xfrm>
            <a:off x="1043608" y="3857793"/>
            <a:ext cx="5940425" cy="2092960"/>
          </a:xfrm>
          <a:prstGeom prst="rect">
            <a:avLst/>
          </a:prstGeom>
        </p:spPr>
      </p:pic>
      <p:sp>
        <p:nvSpPr>
          <p:cNvPr id="25" name="文本框 24"/>
          <p:cNvSpPr txBox="1"/>
          <p:nvPr/>
        </p:nvSpPr>
        <p:spPr>
          <a:xfrm>
            <a:off x="1349525" y="5983922"/>
            <a:ext cx="5887085" cy="368300"/>
          </a:xfrm>
          <a:prstGeom prst="rect">
            <a:avLst/>
          </a:prstGeom>
          <a:noFill/>
        </p:spPr>
        <p:txBody>
          <a:bodyPr wrap="square" rtlCol="0" anchor="t">
            <a:spAutoFit/>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灰度</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X</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射线图像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腐蚀</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膨胀</a:t>
            </a:r>
          </a:p>
        </p:txBody>
      </p:sp>
      <p:sp>
        <p:nvSpPr>
          <p:cNvPr id="26" name="文本框 25"/>
          <p:cNvSpPr txBox="1"/>
          <p:nvPr/>
        </p:nvSpPr>
        <p:spPr>
          <a:xfrm>
            <a:off x="-339739" y="4273898"/>
            <a:ext cx="4572000" cy="478155"/>
          </a:xfrm>
          <a:prstGeom prst="rect">
            <a:avLst/>
          </a:prstGeom>
          <a:noFill/>
        </p:spPr>
        <p:txBody>
          <a:bodyPr wrap="square" rtlCol="0" anchor="t">
            <a:spAutoFit/>
          </a:bodyPr>
          <a:lstStyle/>
          <a:p>
            <a:pPr indent="457200" algn="just">
              <a:lnSpc>
                <a:spcPct val="140000"/>
              </a:lnSpc>
            </a:pPr>
            <a:r>
              <a:rPr lang="zh-CN" altLang="en-US" dirty="0">
                <a:solidFill>
                  <a:schemeClr val="tx2">
                    <a:lumMod val="60000"/>
                    <a:lumOff val="40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示例</a:t>
            </a:r>
          </a:p>
        </p:txBody>
      </p:sp>
      <p:sp>
        <p:nvSpPr>
          <p:cNvPr id="2" name="文本框 1">
            <a:extLst>
              <a:ext uri="{FF2B5EF4-FFF2-40B4-BE49-F238E27FC236}">
                <a16:creationId xmlns:a16="http://schemas.microsoft.com/office/drawing/2014/main" id="{D32FC410-B4E1-4626-82E4-BDC226C621CE}"/>
              </a:ext>
            </a:extLst>
          </p:cNvPr>
          <p:cNvSpPr txBox="1"/>
          <p:nvPr/>
        </p:nvSpPr>
        <p:spPr>
          <a:xfrm>
            <a:off x="7200145" y="4581107"/>
            <a:ext cx="1800493" cy="646331"/>
          </a:xfrm>
          <a:prstGeom prst="rect">
            <a:avLst/>
          </a:prstGeom>
          <a:noFill/>
        </p:spPr>
        <p:txBody>
          <a:bodyPr wrap="none" rtlCol="0">
            <a:spAutoFit/>
          </a:bodyPr>
          <a:lstStyle/>
          <a:p>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与最小值最大值</a:t>
            </a:r>
            <a:endPar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滤波的区别</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6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5" grpId="1"/>
      <p:bldP spid="26" grpId="0"/>
      <p:bldP spid="26"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5770" y="23810"/>
            <a:ext cx="8540750" cy="619108"/>
          </a:xfrm>
        </p:spPr>
        <p:txBody>
          <a:bodyPr/>
          <a:lstStyle/>
          <a:p>
            <a:r>
              <a:rPr lang="en-US" altLang="zh-CN" dirty="0"/>
              <a:t>8. </a:t>
            </a:r>
            <a:r>
              <a:rPr lang="zh-CN" altLang="en-US" dirty="0"/>
              <a:t>灰度腐蚀和膨胀</a:t>
            </a:r>
          </a:p>
        </p:txBody>
      </p:sp>
      <p:sp>
        <p:nvSpPr>
          <p:cNvPr id="4" name="灯片编号占位符 3"/>
          <p:cNvSpPr>
            <a:spLocks noGrp="1"/>
          </p:cNvSpPr>
          <p:nvPr>
            <p:ph type="sldNum" sz="quarter" idx="4"/>
          </p:nvPr>
        </p:nvSpPr>
        <p:spPr>
          <a:xfrm>
            <a:off x="3858578" y="6453188"/>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42</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2162" name="Rectangle 114"/>
          <p:cNvSpPr>
            <a:spLocks noChangeArrowheads="1"/>
          </p:cNvSpPr>
          <p:nvPr/>
        </p:nvSpPr>
        <p:spPr bwMode="auto">
          <a:xfrm>
            <a:off x="446087" y="836541"/>
            <a:ext cx="8194675" cy="4703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indent="457200" algn="just">
              <a:lnSpc>
                <a:spcPct val="140000"/>
              </a:lnSpc>
            </a:pPr>
            <a:r>
              <a:rPr lang="zh-CN" altLang="en-US" baseline="0" dirty="0">
                <a:solidFill>
                  <a:schemeClr val="tx2">
                    <a:lumMod val="60000"/>
                    <a:lumOff val="40000"/>
                  </a:schemeClr>
                </a:solidFill>
                <a:uFillTx/>
                <a:latin typeface="Times New Roman" panose="02020603050405020304" pitchFamily="18" charset="0"/>
                <a:ea typeface="微软雅黑" panose="020B0503020204020204" pitchFamily="34" charset="-122"/>
                <a:cs typeface="Times New Roman" panose="02020603050405020304" pitchFamily="18" charset="0"/>
              </a:rPr>
              <a:t>非平坦结构元</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的灰度值会随它们的定义域变化。非平坦结构元</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i="1" baseline="-2500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对图像</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f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的腐蚀定义为：</a:t>
            </a:r>
          </a:p>
          <a:p>
            <a:pPr indent="457200" algn="just">
              <a:lnSpc>
                <a:spcPct val="140000"/>
              </a:lnSpc>
            </a:pP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式中，为求任何点处的腐蚀，从</a:t>
            </a:r>
            <a:r>
              <a:rPr lang="en-US" altLang="zh-CN" dirty="0">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i="1" dirty="0">
                <a:uFillTx/>
                <a:latin typeface="Times New Roman" panose="02020603050405020304" pitchFamily="18" charset="0"/>
                <a:ea typeface="微软雅黑" panose="020B0503020204020204" pitchFamily="34" charset="-122"/>
                <a:cs typeface="Times New Roman" panose="02020603050405020304" pitchFamily="18" charset="0"/>
                <a:sym typeface="+mn-ea"/>
              </a:rPr>
              <a:t>f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中减去了</a:t>
            </a:r>
            <a:r>
              <a:rPr lang="en-US" altLang="zh-CN" i="1" dirty="0" err="1">
                <a:uFillTx/>
                <a:latin typeface="Times New Roman" panose="02020603050405020304" pitchFamily="18" charset="0"/>
                <a:ea typeface="微软雅黑" panose="020B0503020204020204" pitchFamily="34" charset="-122"/>
                <a:cs typeface="Times New Roman" panose="02020603050405020304" pitchFamily="18" charset="0"/>
                <a:sym typeface="+mn-ea"/>
              </a:rPr>
              <a:t>b</a:t>
            </a:r>
            <a:r>
              <a:rPr lang="en-US" altLang="zh-CN" i="1" baseline="-25000" dirty="0" err="1">
                <a:uFillTx/>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类似地，使用</a:t>
            </a:r>
            <a:r>
              <a:rPr lang="zh-CN" altLang="en-US" sz="1800" baseline="0" dirty="0">
                <a:solidFill>
                  <a:schemeClr val="tx2">
                    <a:lumMod val="60000"/>
                    <a:lumOff val="40000"/>
                  </a:schemeClr>
                </a:solidFill>
                <a:uFillTx/>
                <a:latin typeface="Times New Roman" panose="02020603050405020304" pitchFamily="18" charset="0"/>
                <a:ea typeface="微软雅黑" panose="020B0503020204020204" pitchFamily="34" charset="-122"/>
                <a:cs typeface="Times New Roman" panose="02020603050405020304" pitchFamily="18" charset="0"/>
              </a:rPr>
              <a:t>非平坦结构元</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的膨胀定义为：</a:t>
            </a:r>
          </a:p>
          <a:p>
            <a:pPr indent="457200" algn="just">
              <a:lnSpc>
                <a:spcPct val="140000"/>
              </a:lnSpc>
            </a:pP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与二值情况类似，灰度腐蚀和膨胀相对于补集和反射是</a:t>
            </a:r>
            <a:r>
              <a:rPr lang="zh-CN" altLang="en-US" sz="1800" baseline="0" dirty="0">
                <a:solidFill>
                  <a:schemeClr val="tx2">
                    <a:lumMod val="60000"/>
                    <a:lumOff val="40000"/>
                  </a:schemeClr>
                </a:solidFill>
                <a:uFillTx/>
                <a:latin typeface="Times New Roman" panose="02020603050405020304" pitchFamily="18" charset="0"/>
                <a:ea typeface="微软雅黑" panose="020B0503020204020204" pitchFamily="34" charset="-122"/>
                <a:cs typeface="Times New Roman" panose="02020603050405020304" pitchFamily="18" charset="0"/>
              </a:rPr>
              <a:t>对偶的</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，即</a:t>
            </a:r>
          </a:p>
          <a:p>
            <a:pPr indent="457200" algn="just">
              <a:lnSpc>
                <a:spcPct val="140000"/>
              </a:lnSpc>
            </a:pP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endPar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40000"/>
              </a:lnSpc>
            </a:pP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可简化为：</a:t>
            </a:r>
          </a:p>
        </p:txBody>
      </p:sp>
      <p:graphicFrame>
        <p:nvGraphicFramePr>
          <p:cNvPr id="12" name="对象 11"/>
          <p:cNvGraphicFramePr/>
          <p:nvPr>
            <p:extLst>
              <p:ext uri="{D42A27DB-BD31-4B8C-83A1-F6EECF244321}">
                <p14:modId xmlns:p14="http://schemas.microsoft.com/office/powerpoint/2010/main" val="688607915"/>
              </p:ext>
            </p:extLst>
          </p:nvPr>
        </p:nvGraphicFramePr>
        <p:xfrm>
          <a:off x="1994217" y="1556792"/>
          <a:ext cx="5443855" cy="431165"/>
        </p:xfrm>
        <a:graphic>
          <a:graphicData uri="http://schemas.openxmlformats.org/presentationml/2006/ole">
            <mc:AlternateContent xmlns:mc="http://schemas.openxmlformats.org/markup-compatibility/2006">
              <mc:Choice xmlns:v="urn:schemas-microsoft-com:vml" Requires="v">
                <p:oleObj spid="_x0000_s147982" name="Equation" r:id="rId3" imgW="3124080" imgH="241200" progId="Equation.DSMT4">
                  <p:embed/>
                </p:oleObj>
              </mc:Choice>
              <mc:Fallback>
                <p:oleObj name="Equation" r:id="rId3" imgW="3124080" imgH="241200" progId="Equation.DSMT4">
                  <p:embed/>
                  <p:pic>
                    <p:nvPicPr>
                      <p:cNvPr id="0" name="图片 8"/>
                      <p:cNvPicPr/>
                      <p:nvPr/>
                    </p:nvPicPr>
                    <p:blipFill>
                      <a:blip r:embed="rId4"/>
                      <a:stretch>
                        <a:fillRect/>
                      </a:stretch>
                    </p:blipFill>
                    <p:spPr>
                      <a:xfrm>
                        <a:off x="1994217" y="1556792"/>
                        <a:ext cx="5443855" cy="431165"/>
                      </a:xfrm>
                      <a:prstGeom prst="rect">
                        <a:avLst/>
                      </a:prstGeom>
                    </p:spPr>
                  </p:pic>
                </p:oleObj>
              </mc:Fallback>
            </mc:AlternateContent>
          </a:graphicData>
        </a:graphic>
      </p:graphicFrame>
      <p:graphicFrame>
        <p:nvGraphicFramePr>
          <p:cNvPr id="14" name="对象 13"/>
          <p:cNvGraphicFramePr/>
          <p:nvPr>
            <p:extLst>
              <p:ext uri="{D42A27DB-BD31-4B8C-83A1-F6EECF244321}">
                <p14:modId xmlns:p14="http://schemas.microsoft.com/office/powerpoint/2010/main" val="663654170"/>
              </p:ext>
            </p:extLst>
          </p:nvPr>
        </p:nvGraphicFramePr>
        <p:xfrm>
          <a:off x="1799906" y="3297479"/>
          <a:ext cx="5487035" cy="545465"/>
        </p:xfrm>
        <a:graphic>
          <a:graphicData uri="http://schemas.openxmlformats.org/presentationml/2006/ole">
            <mc:AlternateContent xmlns:mc="http://schemas.openxmlformats.org/markup-compatibility/2006">
              <mc:Choice xmlns:v="urn:schemas-microsoft-com:vml" Requires="v">
                <p:oleObj spid="_x0000_s147983" name="Equation" r:id="rId5" imgW="3149280" imgH="304560" progId="Equation.DSMT4">
                  <p:embed/>
                </p:oleObj>
              </mc:Choice>
              <mc:Fallback>
                <p:oleObj name="Equation" r:id="rId5" imgW="3149280" imgH="304560" progId="Equation.DSMT4">
                  <p:embed/>
                  <p:pic>
                    <p:nvPicPr>
                      <p:cNvPr id="0" name="图片 8"/>
                      <p:cNvPicPr/>
                      <p:nvPr/>
                    </p:nvPicPr>
                    <p:blipFill>
                      <a:blip r:embed="rId6"/>
                      <a:stretch>
                        <a:fillRect/>
                      </a:stretch>
                    </p:blipFill>
                    <p:spPr>
                      <a:xfrm>
                        <a:off x="1799906" y="3297479"/>
                        <a:ext cx="5487035" cy="545465"/>
                      </a:xfrm>
                      <a:prstGeom prst="rect">
                        <a:avLst/>
                      </a:prstGeom>
                    </p:spPr>
                  </p:pic>
                </p:oleObj>
              </mc:Fallback>
            </mc:AlternateContent>
          </a:graphicData>
        </a:graphic>
      </p:graphicFrame>
      <p:graphicFrame>
        <p:nvGraphicFramePr>
          <p:cNvPr id="2" name="对象 1"/>
          <p:cNvGraphicFramePr/>
          <p:nvPr>
            <p:extLst>
              <p:ext uri="{D42A27DB-BD31-4B8C-83A1-F6EECF244321}">
                <p14:modId xmlns:p14="http://schemas.microsoft.com/office/powerpoint/2010/main" val="1374928628"/>
              </p:ext>
            </p:extLst>
          </p:nvPr>
        </p:nvGraphicFramePr>
        <p:xfrm>
          <a:off x="2945447" y="4356466"/>
          <a:ext cx="3253105" cy="432435"/>
        </p:xfrm>
        <a:graphic>
          <a:graphicData uri="http://schemas.openxmlformats.org/presentationml/2006/ole">
            <mc:AlternateContent xmlns:mc="http://schemas.openxmlformats.org/markup-compatibility/2006">
              <mc:Choice xmlns:v="urn:schemas-microsoft-com:vml" Requires="v">
                <p:oleObj spid="_x0000_s147984" name="Equation" r:id="rId7" imgW="1866900" imgH="241300" progId="Equation.DSMT4">
                  <p:embed/>
                </p:oleObj>
              </mc:Choice>
              <mc:Fallback>
                <p:oleObj name="Equation" r:id="rId7" imgW="1866900" imgH="241300" progId="Equation.DSMT4">
                  <p:embed/>
                  <p:pic>
                    <p:nvPicPr>
                      <p:cNvPr id="0" name="图片 8"/>
                      <p:cNvPicPr/>
                      <p:nvPr/>
                    </p:nvPicPr>
                    <p:blipFill>
                      <a:blip r:embed="rId8"/>
                      <a:stretch>
                        <a:fillRect/>
                      </a:stretch>
                    </p:blipFill>
                    <p:spPr>
                      <a:xfrm>
                        <a:off x="2945447" y="4356466"/>
                        <a:ext cx="3253105" cy="432435"/>
                      </a:xfrm>
                      <a:prstGeom prst="rect">
                        <a:avLst/>
                      </a:prstGeom>
                    </p:spPr>
                  </p:pic>
                </p:oleObj>
              </mc:Fallback>
            </mc:AlternateContent>
          </a:graphicData>
        </a:graphic>
      </p:graphicFrame>
      <p:graphicFrame>
        <p:nvGraphicFramePr>
          <p:cNvPr id="6" name="对象 5"/>
          <p:cNvGraphicFramePr/>
          <p:nvPr>
            <p:extLst>
              <p:ext uri="{D42A27DB-BD31-4B8C-83A1-F6EECF244321}">
                <p14:modId xmlns:p14="http://schemas.microsoft.com/office/powerpoint/2010/main" val="3359149017"/>
              </p:ext>
            </p:extLst>
          </p:nvPr>
        </p:nvGraphicFramePr>
        <p:xfrm>
          <a:off x="2376964" y="5082525"/>
          <a:ext cx="1947545" cy="432435"/>
        </p:xfrm>
        <a:graphic>
          <a:graphicData uri="http://schemas.openxmlformats.org/presentationml/2006/ole">
            <mc:AlternateContent xmlns:mc="http://schemas.openxmlformats.org/markup-compatibility/2006">
              <mc:Choice xmlns:v="urn:schemas-microsoft-com:vml" Requires="v">
                <p:oleObj spid="_x0000_s147985" name="Equation" r:id="rId9" imgW="1117440" imgH="241200" progId="Equation.DSMT4">
                  <p:embed/>
                </p:oleObj>
              </mc:Choice>
              <mc:Fallback>
                <p:oleObj name="Equation" r:id="rId9" imgW="1117440" imgH="241200" progId="Equation.DSMT4">
                  <p:embed/>
                  <p:pic>
                    <p:nvPicPr>
                      <p:cNvPr id="0" name="图片 8"/>
                      <p:cNvPicPr/>
                      <p:nvPr/>
                    </p:nvPicPr>
                    <p:blipFill>
                      <a:blip r:embed="rId10"/>
                      <a:stretch>
                        <a:fillRect/>
                      </a:stretch>
                    </p:blipFill>
                    <p:spPr>
                      <a:xfrm>
                        <a:off x="2376964" y="5082525"/>
                        <a:ext cx="1947545" cy="432435"/>
                      </a:xfrm>
                      <a:prstGeom prst="rect">
                        <a:avLst/>
                      </a:prstGeom>
                    </p:spPr>
                  </p:pic>
                </p:oleObj>
              </mc:Fallback>
            </mc:AlternateContent>
          </a:graphicData>
        </a:graphic>
      </p:graphicFrame>
      <p:graphicFrame>
        <p:nvGraphicFramePr>
          <p:cNvPr id="8" name="对象 7"/>
          <p:cNvGraphicFramePr/>
          <p:nvPr>
            <p:extLst>
              <p:ext uri="{D42A27DB-BD31-4B8C-83A1-F6EECF244321}">
                <p14:modId xmlns:p14="http://schemas.microsoft.com/office/powerpoint/2010/main" val="1638391312"/>
              </p:ext>
            </p:extLst>
          </p:nvPr>
        </p:nvGraphicFramePr>
        <p:xfrm>
          <a:off x="4819493" y="5074545"/>
          <a:ext cx="1947545" cy="432435"/>
        </p:xfrm>
        <a:graphic>
          <a:graphicData uri="http://schemas.openxmlformats.org/presentationml/2006/ole">
            <mc:AlternateContent xmlns:mc="http://schemas.openxmlformats.org/markup-compatibility/2006">
              <mc:Choice xmlns:v="urn:schemas-microsoft-com:vml" Requires="v">
                <p:oleObj spid="_x0000_s147986" r:id="rId11" imgW="1117600" imgH="241300" progId="Equation.DSMT4">
                  <p:embed/>
                </p:oleObj>
              </mc:Choice>
              <mc:Fallback>
                <p:oleObj r:id="rId11" imgW="1117600" imgH="241300" progId="Equation.DSMT4">
                  <p:embed/>
                  <p:pic>
                    <p:nvPicPr>
                      <p:cNvPr id="0" name="图片 8"/>
                      <p:cNvPicPr/>
                      <p:nvPr/>
                    </p:nvPicPr>
                    <p:blipFill>
                      <a:blip r:embed="rId12"/>
                      <a:stretch>
                        <a:fillRect/>
                      </a:stretch>
                    </p:blipFill>
                    <p:spPr>
                      <a:xfrm>
                        <a:off x="4819493" y="5074545"/>
                        <a:ext cx="1947545" cy="43243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9B34415-2A8C-43C6-9649-301BCAE6F826}"/>
                  </a:ext>
                </a:extLst>
              </p:cNvPr>
              <p:cNvSpPr/>
              <p:nvPr/>
            </p:nvSpPr>
            <p:spPr>
              <a:xfrm>
                <a:off x="918895" y="5734656"/>
                <a:ext cx="6636945" cy="430887"/>
              </a:xfrm>
              <a:prstGeom prst="rect">
                <a:avLst/>
              </a:prstGeom>
            </p:spPr>
            <p:txBody>
              <a:bodyPr wrap="none">
                <a:spAutoFit/>
              </a:bodyPr>
              <a:lstStyle/>
              <a:p>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注意：对于灰度图像，</a:t>
                </a:r>
                <a14:m>
                  <m:oMath xmlns:m="http://schemas.openxmlformats.org/officeDocument/2006/math">
                    <m:r>
                      <a:rPr lang="en-US" altLang="zh-CN" b="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𝑓</m:t>
                    </m:r>
                    <m:r>
                      <a:rPr lang="en-US" altLang="zh-CN" b="0" i="1" baseline="30000"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𝑐</m:t>
                    </m:r>
                    <m:r>
                      <a:rPr lang="en-US" altLang="zh-CN" b="0" i="1" dirty="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b="0" i="1" dirty="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𝑦</m:t>
                    </m:r>
                    <m:r>
                      <a:rPr lang="en-US" altLang="zh-CN" b="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𝑓</m:t>
                    </m:r>
                    <m:d>
                      <m:dPr>
                        <m:ctrlPr>
                          <a:rPr lang="en-US" altLang="zh-CN"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0" i="1" dirty="0" err="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b="0" i="1" dirty="0" err="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err="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𝑦</m:t>
                        </m:r>
                      </m:e>
                    </m:d>
                  </m:oMath>
                </a14:m>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acc>
                      <m:accPr>
                        <m:chr m:val="̇"/>
                        <m:ctrlPr>
                          <a:rPr lang="en-US" altLang="zh-CN"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accPr>
                      <m:e>
                        <m:acc>
                          <m:accPr>
                            <m:chr m:val="̂"/>
                            <m:ctrlPr>
                              <a:rPr lang="en-US" altLang="zh-CN"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b="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𝑏</m:t>
                            </m:r>
                          </m:e>
                        </m:acc>
                      </m:e>
                    </m:acc>
                    <m:r>
                      <a:rPr lang="en-US" altLang="zh-CN" b="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err="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b="0" i="1" dirty="0" err="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err="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𝑦</m:t>
                    </m:r>
                    <m:r>
                      <a:rPr lang="en-US" altLang="zh-CN" b="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𝑏</m:t>
                    </m:r>
                    <m:r>
                      <a:rPr lang="en-US" altLang="zh-CN" b="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b="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𝑦</m:t>
                    </m:r>
                    <m:r>
                      <a:rPr lang="en-US" altLang="zh-CN" b="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oMath>
                </a14:m>
                <a:endPar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19B34415-2A8C-43C6-9649-301BCAE6F826}"/>
                  </a:ext>
                </a:extLst>
              </p:cNvPr>
              <p:cNvSpPr>
                <a:spLocks noRot="1" noChangeAspect="1" noMove="1" noResize="1" noEditPoints="1" noAdjustHandles="1" noChangeArrowheads="1" noChangeShapeType="1" noTextEdit="1"/>
              </p:cNvSpPr>
              <p:nvPr/>
            </p:nvSpPr>
            <p:spPr>
              <a:xfrm>
                <a:off x="918895" y="5734656"/>
                <a:ext cx="6636945" cy="430887"/>
              </a:xfrm>
              <a:prstGeom prst="rect">
                <a:avLst/>
              </a:prstGeom>
              <a:blipFill>
                <a:blip r:embed="rId13"/>
                <a:stretch>
                  <a:fillRect l="-827" b="-22857"/>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6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6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6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62">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5770" y="23810"/>
            <a:ext cx="8540750" cy="619108"/>
          </a:xfrm>
        </p:spPr>
        <p:txBody>
          <a:bodyPr/>
          <a:lstStyle/>
          <a:p>
            <a:r>
              <a:rPr lang="en-US" altLang="zh-CN" dirty="0"/>
              <a:t>8. </a:t>
            </a:r>
            <a:r>
              <a:rPr lang="zh-CN" altLang="en-US" dirty="0"/>
              <a:t>灰度开运算和闭运算</a:t>
            </a:r>
          </a:p>
        </p:txBody>
      </p:sp>
      <p:sp>
        <p:nvSpPr>
          <p:cNvPr id="4" name="灯片编号占位符 3"/>
          <p:cNvSpPr>
            <a:spLocks noGrp="1"/>
          </p:cNvSpPr>
          <p:nvPr>
            <p:ph type="sldNum" sz="quarter" idx="4"/>
          </p:nvPr>
        </p:nvSpPr>
        <p:spPr>
          <a:xfrm>
            <a:off x="3858578" y="6453188"/>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43</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2162" name="Rectangle 114"/>
          <p:cNvSpPr>
            <a:spLocks noChangeArrowheads="1"/>
          </p:cNvSpPr>
          <p:nvPr/>
        </p:nvSpPr>
        <p:spPr bwMode="auto">
          <a:xfrm>
            <a:off x="446087" y="836541"/>
            <a:ext cx="8194675" cy="502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indent="457200" algn="just">
              <a:lnSpc>
                <a:spcPct val="150000"/>
              </a:lnSpc>
            </a:pP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灰度图像开运算和闭运算的公式，形式上与二值图像开运算和闭运算的公式相同。结构元</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对图像</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f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的开运算如下：</a:t>
            </a:r>
          </a:p>
          <a:p>
            <a:pPr indent="457200" algn="just">
              <a:lnSpc>
                <a:spcPct val="150000"/>
              </a:lnSpc>
            </a:pPr>
            <a:endPar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50000"/>
              </a:lnSpc>
            </a:pP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50000"/>
              </a:lnSpc>
            </a:pP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开运算照例首先简单地用</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baseline="0" dirty="0">
                <a:solidFill>
                  <a:schemeClr val="tx2">
                    <a:lumMod val="60000"/>
                    <a:lumOff val="40000"/>
                  </a:schemeClr>
                </a:solidFill>
                <a:uFillTx/>
                <a:latin typeface="Times New Roman" panose="02020603050405020304" pitchFamily="18" charset="0"/>
                <a:ea typeface="微软雅黑" panose="020B0503020204020204" pitchFamily="34" charset="-122"/>
                <a:cs typeface="Times New Roman" panose="02020603050405020304" pitchFamily="18" charset="0"/>
              </a:rPr>
              <a:t>腐蚀</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f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然后用</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baseline="0" dirty="0">
                <a:solidFill>
                  <a:schemeClr val="tx2">
                    <a:lumMod val="60000"/>
                    <a:lumOff val="40000"/>
                  </a:schemeClr>
                </a:solidFill>
                <a:uFillTx/>
                <a:latin typeface="Times New Roman" panose="02020603050405020304" pitchFamily="18" charset="0"/>
                <a:ea typeface="微软雅黑" panose="020B0503020204020204" pitchFamily="34" charset="-122"/>
                <a:cs typeface="Times New Roman" panose="02020603050405020304" pitchFamily="18" charset="0"/>
              </a:rPr>
              <a:t>膨胀</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得到的结果。类似地，</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对</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f </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的闭运算如下：</a:t>
            </a:r>
          </a:p>
          <a:p>
            <a:pPr indent="457200" algn="just">
              <a:lnSpc>
                <a:spcPct val="150000"/>
              </a:lnSpc>
            </a:pPr>
            <a:endPar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50000"/>
              </a:lnSpc>
            </a:pPr>
            <a:endPar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indent="457200" algn="just">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即使用结构元</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sym typeface="+mn-ea"/>
              </a:rPr>
              <a:t>b</a:t>
            </a: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对图像</a:t>
            </a:r>
            <a:r>
              <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sym typeface="+mn-ea"/>
              </a:rPr>
              <a:t>f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进行先</a:t>
            </a:r>
            <a:r>
              <a:rPr lang="zh-CN" altLang="en-US"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膨胀</a:t>
            </a: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，然后</a:t>
            </a:r>
            <a:r>
              <a:rPr lang="zh-CN" altLang="en-US"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腐蚀</a:t>
            </a:r>
            <a:r>
              <a:rPr lang="zh-CN" altLang="en-US"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。灰度图像的开运算和闭运算相对于补集和结构元反射是对偶的</a:t>
            </a:r>
            <a:r>
              <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p>
          <a:p>
            <a:pPr indent="457200" algn="just">
              <a:lnSpc>
                <a:spcPct val="150000"/>
              </a:lnSpc>
            </a:pPr>
            <a:endPar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50000"/>
              </a:lnSpc>
            </a:pPr>
            <a:endParaRPr lang="en-US" altLang="zh-CN"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2" name="对象 11"/>
          <p:cNvGraphicFramePr/>
          <p:nvPr>
            <p:extLst>
              <p:ext uri="{D42A27DB-BD31-4B8C-83A1-F6EECF244321}">
                <p14:modId xmlns:p14="http://schemas.microsoft.com/office/powerpoint/2010/main" val="4002625169"/>
              </p:ext>
            </p:extLst>
          </p:nvPr>
        </p:nvGraphicFramePr>
        <p:xfrm>
          <a:off x="3479800" y="1771650"/>
          <a:ext cx="2058988" cy="363538"/>
        </p:xfrm>
        <a:graphic>
          <a:graphicData uri="http://schemas.openxmlformats.org/presentationml/2006/ole">
            <mc:AlternateContent xmlns:mc="http://schemas.openxmlformats.org/markup-compatibility/2006">
              <mc:Choice xmlns:v="urn:schemas-microsoft-com:vml" Requires="v">
                <p:oleObj spid="_x0000_s149067" name="Equation" r:id="rId3" imgW="1180800" imgH="203040" progId="Equation.DSMT4">
                  <p:embed/>
                </p:oleObj>
              </mc:Choice>
              <mc:Fallback>
                <p:oleObj name="Equation" r:id="rId3" imgW="1180800" imgH="203040" progId="Equation.DSMT4">
                  <p:embed/>
                  <p:pic>
                    <p:nvPicPr>
                      <p:cNvPr id="0" name="图片 8"/>
                      <p:cNvPicPr/>
                      <p:nvPr/>
                    </p:nvPicPr>
                    <p:blipFill>
                      <a:blip r:embed="rId4"/>
                      <a:stretch>
                        <a:fillRect/>
                      </a:stretch>
                    </p:blipFill>
                    <p:spPr>
                      <a:xfrm>
                        <a:off x="3479800" y="1771650"/>
                        <a:ext cx="2058988" cy="363538"/>
                      </a:xfrm>
                      <a:prstGeom prst="rect">
                        <a:avLst/>
                      </a:prstGeom>
                    </p:spPr>
                  </p:pic>
                </p:oleObj>
              </mc:Fallback>
            </mc:AlternateContent>
          </a:graphicData>
        </a:graphic>
      </p:graphicFrame>
      <p:graphicFrame>
        <p:nvGraphicFramePr>
          <p:cNvPr id="14" name="对象 13"/>
          <p:cNvGraphicFramePr/>
          <p:nvPr>
            <p:extLst>
              <p:ext uri="{D42A27DB-BD31-4B8C-83A1-F6EECF244321}">
                <p14:modId xmlns:p14="http://schemas.microsoft.com/office/powerpoint/2010/main" val="2508122735"/>
              </p:ext>
            </p:extLst>
          </p:nvPr>
        </p:nvGraphicFramePr>
        <p:xfrm>
          <a:off x="3467422" y="3178521"/>
          <a:ext cx="2014855" cy="363855"/>
        </p:xfrm>
        <a:graphic>
          <a:graphicData uri="http://schemas.openxmlformats.org/presentationml/2006/ole">
            <mc:AlternateContent xmlns:mc="http://schemas.openxmlformats.org/markup-compatibility/2006">
              <mc:Choice xmlns:v="urn:schemas-microsoft-com:vml" Requires="v">
                <p:oleObj spid="_x0000_s149068" name="Equation" r:id="rId5" imgW="1155600" imgH="203040" progId="Equation.DSMT4">
                  <p:embed/>
                </p:oleObj>
              </mc:Choice>
              <mc:Fallback>
                <p:oleObj name="Equation" r:id="rId5" imgW="1155600" imgH="203040" progId="Equation.DSMT4">
                  <p:embed/>
                  <p:pic>
                    <p:nvPicPr>
                      <p:cNvPr id="0" name="图片 8"/>
                      <p:cNvPicPr/>
                      <p:nvPr/>
                    </p:nvPicPr>
                    <p:blipFill>
                      <a:blip r:embed="rId6"/>
                      <a:stretch>
                        <a:fillRect/>
                      </a:stretch>
                    </p:blipFill>
                    <p:spPr>
                      <a:xfrm>
                        <a:off x="3467422" y="3178521"/>
                        <a:ext cx="2014855" cy="363855"/>
                      </a:xfrm>
                      <a:prstGeom prst="rect">
                        <a:avLst/>
                      </a:prstGeom>
                    </p:spPr>
                  </p:pic>
                </p:oleObj>
              </mc:Fallback>
            </mc:AlternateContent>
          </a:graphicData>
        </a:graphic>
      </p:graphicFrame>
      <p:graphicFrame>
        <p:nvGraphicFramePr>
          <p:cNvPr id="6" name="对象 5"/>
          <p:cNvGraphicFramePr/>
          <p:nvPr>
            <p:extLst>
              <p:ext uri="{D42A27DB-BD31-4B8C-83A1-F6EECF244321}">
                <p14:modId xmlns:p14="http://schemas.microsoft.com/office/powerpoint/2010/main" val="2372693023"/>
              </p:ext>
            </p:extLst>
          </p:nvPr>
        </p:nvGraphicFramePr>
        <p:xfrm>
          <a:off x="2238623" y="5301313"/>
          <a:ext cx="1684338" cy="433387"/>
        </p:xfrm>
        <a:graphic>
          <a:graphicData uri="http://schemas.openxmlformats.org/presentationml/2006/ole">
            <mc:AlternateContent xmlns:mc="http://schemas.openxmlformats.org/markup-compatibility/2006">
              <mc:Choice xmlns:v="urn:schemas-microsoft-com:vml" Requires="v">
                <p:oleObj spid="_x0000_s149069" name="Equation" r:id="rId7" imgW="965160" imgH="241200" progId="Equation.DSMT4">
                  <p:embed/>
                </p:oleObj>
              </mc:Choice>
              <mc:Fallback>
                <p:oleObj name="Equation" r:id="rId7" imgW="965160" imgH="241200" progId="Equation.DSMT4">
                  <p:embed/>
                  <p:pic>
                    <p:nvPicPr>
                      <p:cNvPr id="0" name="图片 8"/>
                      <p:cNvPicPr/>
                      <p:nvPr/>
                    </p:nvPicPr>
                    <p:blipFill>
                      <a:blip r:embed="rId8"/>
                      <a:stretch>
                        <a:fillRect/>
                      </a:stretch>
                    </p:blipFill>
                    <p:spPr>
                      <a:xfrm>
                        <a:off x="2238623" y="5301313"/>
                        <a:ext cx="1684338" cy="433387"/>
                      </a:xfrm>
                      <a:prstGeom prst="rect">
                        <a:avLst/>
                      </a:prstGeom>
                    </p:spPr>
                  </p:pic>
                </p:oleObj>
              </mc:Fallback>
            </mc:AlternateContent>
          </a:graphicData>
        </a:graphic>
      </p:graphicFrame>
      <p:graphicFrame>
        <p:nvGraphicFramePr>
          <p:cNvPr id="8" name="对象 7"/>
          <p:cNvGraphicFramePr/>
          <p:nvPr>
            <p:extLst>
              <p:ext uri="{D42A27DB-BD31-4B8C-83A1-F6EECF244321}">
                <p14:modId xmlns:p14="http://schemas.microsoft.com/office/powerpoint/2010/main" val="247872053"/>
              </p:ext>
            </p:extLst>
          </p:nvPr>
        </p:nvGraphicFramePr>
        <p:xfrm>
          <a:off x="5004048" y="5302900"/>
          <a:ext cx="1684338" cy="431800"/>
        </p:xfrm>
        <a:graphic>
          <a:graphicData uri="http://schemas.openxmlformats.org/presentationml/2006/ole">
            <mc:AlternateContent xmlns:mc="http://schemas.openxmlformats.org/markup-compatibility/2006">
              <mc:Choice xmlns:v="urn:schemas-microsoft-com:vml" Requires="v">
                <p:oleObj spid="_x0000_s149070" name="Equation" r:id="rId9" imgW="965160" imgH="241200" progId="Equation.DSMT4">
                  <p:embed/>
                </p:oleObj>
              </mc:Choice>
              <mc:Fallback>
                <p:oleObj name="Equation" r:id="rId9" imgW="965160" imgH="241200" progId="Equation.DSMT4">
                  <p:embed/>
                  <p:pic>
                    <p:nvPicPr>
                      <p:cNvPr id="0" name="图片 8"/>
                      <p:cNvPicPr/>
                      <p:nvPr/>
                    </p:nvPicPr>
                    <p:blipFill>
                      <a:blip r:embed="rId10"/>
                      <a:stretch>
                        <a:fillRect/>
                      </a:stretch>
                    </p:blipFill>
                    <p:spPr>
                      <a:xfrm>
                        <a:off x="5004048" y="5302900"/>
                        <a:ext cx="1684338" cy="43180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6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6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5770" y="23810"/>
            <a:ext cx="8540750" cy="619108"/>
          </a:xfrm>
        </p:spPr>
        <p:txBody>
          <a:bodyPr/>
          <a:lstStyle/>
          <a:p>
            <a:r>
              <a:rPr lang="en-US" altLang="zh-CN" dirty="0"/>
              <a:t>8. </a:t>
            </a:r>
            <a:r>
              <a:rPr lang="zh-CN" altLang="en-US" dirty="0"/>
              <a:t>灰度开运算和闭运算</a:t>
            </a:r>
          </a:p>
        </p:txBody>
      </p:sp>
      <p:sp>
        <p:nvSpPr>
          <p:cNvPr id="4" name="灯片编号占位符 3"/>
          <p:cNvSpPr>
            <a:spLocks noGrp="1"/>
          </p:cNvSpPr>
          <p:nvPr>
            <p:ph type="sldNum" sz="quarter" idx="4"/>
          </p:nvPr>
        </p:nvSpPr>
        <p:spPr>
          <a:xfrm>
            <a:off x="3858578" y="6453188"/>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44</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5" name="文本框 4"/>
          <p:cNvSpPr txBox="1"/>
          <p:nvPr/>
        </p:nvSpPr>
        <p:spPr>
          <a:xfrm>
            <a:off x="5580112" y="2348905"/>
            <a:ext cx="2062641" cy="744306"/>
          </a:xfrm>
          <a:prstGeom prst="rect">
            <a:avLst/>
          </a:prstGeom>
          <a:noFill/>
        </p:spPr>
        <p:txBody>
          <a:bodyPr wrap="square" rtlCol="0">
            <a:spAutoFit/>
          </a:bodyPr>
          <a:lstStyle/>
          <a:p>
            <a:pPr algn="just">
              <a:lnSpc>
                <a:spcPct val="140000"/>
              </a:lnSpc>
              <a:buClr>
                <a:srgbClr val="2929FF"/>
              </a:buClr>
              <a:buSzTx/>
            </a:pPr>
            <a:r>
              <a:rPr lang="zh-CN" altLang="en-US" sz="1600" baseline="0" dirty="0">
                <a:solidFill>
                  <a:schemeClr val="tx2">
                    <a:lumMod val="60000"/>
                    <a:lumOff val="40000"/>
                  </a:schemeClr>
                </a:solidFill>
                <a:uFillTx/>
                <a:latin typeface="Times New Roman" panose="02020603050405020304" pitchFamily="18" charset="0"/>
                <a:ea typeface="微软雅黑" panose="020B0503020204020204" pitchFamily="34" charset="-122"/>
                <a:cs typeface="Times New Roman" panose="02020603050405020304" pitchFamily="18" charset="0"/>
              </a:rPr>
              <a:t>开：下表面往上推动结构元所达到最高处</a:t>
            </a:r>
          </a:p>
        </p:txBody>
      </p:sp>
      <p:sp>
        <p:nvSpPr>
          <p:cNvPr id="18" name="文本框 17"/>
          <p:cNvSpPr txBox="1"/>
          <p:nvPr/>
        </p:nvSpPr>
        <p:spPr>
          <a:xfrm>
            <a:off x="5580112" y="4005089"/>
            <a:ext cx="2062642" cy="744306"/>
          </a:xfrm>
          <a:prstGeom prst="rect">
            <a:avLst/>
          </a:prstGeom>
          <a:noFill/>
        </p:spPr>
        <p:txBody>
          <a:bodyPr wrap="square" rtlCol="0">
            <a:spAutoFit/>
          </a:bodyPr>
          <a:lstStyle/>
          <a:p>
            <a:pPr algn="just">
              <a:lnSpc>
                <a:spcPct val="140000"/>
              </a:lnSpc>
              <a:buClr>
                <a:srgbClr val="2929FF"/>
              </a:buClr>
              <a:buSzTx/>
              <a:buFontTx/>
            </a:pPr>
            <a:r>
              <a:rPr lang="zh-CN" altLang="en-US" sz="16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闭：上表面往下推动结构元所达到最高处</a:t>
            </a:r>
          </a:p>
        </p:txBody>
      </p:sp>
      <p:pic>
        <p:nvPicPr>
          <p:cNvPr id="2" name="图片 1"/>
          <p:cNvPicPr>
            <a:picLocks noChangeAspect="1"/>
          </p:cNvPicPr>
          <p:nvPr/>
        </p:nvPicPr>
        <p:blipFill>
          <a:blip r:embed="rId2"/>
          <a:stretch>
            <a:fillRect/>
          </a:stretch>
        </p:blipFill>
        <p:spPr>
          <a:xfrm>
            <a:off x="1115616" y="836712"/>
            <a:ext cx="4166309" cy="4320505"/>
          </a:xfrm>
          <a:prstGeom prst="rect">
            <a:avLst/>
          </a:prstGeom>
        </p:spPr>
      </p:pic>
      <p:sp>
        <p:nvSpPr>
          <p:cNvPr id="11" name="文本框 10">
            <a:extLst>
              <a:ext uri="{FF2B5EF4-FFF2-40B4-BE49-F238E27FC236}">
                <a16:creationId xmlns:a16="http://schemas.microsoft.com/office/drawing/2014/main" id="{9F5BC6FF-44E4-4288-8079-006F59F76DB4}"/>
              </a:ext>
            </a:extLst>
          </p:cNvPr>
          <p:cNvSpPr txBox="1"/>
          <p:nvPr/>
        </p:nvSpPr>
        <p:spPr>
          <a:xfrm>
            <a:off x="5586036" y="1013197"/>
            <a:ext cx="1450830" cy="744306"/>
          </a:xfrm>
          <a:prstGeom prst="rect">
            <a:avLst/>
          </a:prstGeom>
          <a:noFill/>
        </p:spPr>
        <p:txBody>
          <a:bodyPr wrap="square" rtlCol="0">
            <a:spAutoFit/>
          </a:bodyPr>
          <a:lstStyle/>
          <a:p>
            <a:pPr algn="just">
              <a:lnSpc>
                <a:spcPct val="140000"/>
              </a:lnSpc>
              <a:buClr>
                <a:srgbClr val="2929FF"/>
              </a:buClr>
              <a:buSzTx/>
            </a:pPr>
            <a:r>
              <a:rPr lang="zh-CN" altLang="en-US" sz="16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一维信号及其平坦的结构元</a:t>
            </a:r>
            <a:endParaRPr lang="zh-CN" altLang="en-US" sz="1600" baseline="0" dirty="0">
              <a:solidFill>
                <a:schemeClr val="tx2">
                  <a:lumMod val="60000"/>
                  <a:lumOff val="40000"/>
                </a:schemeClr>
              </a:solidFill>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a:extLst>
              <a:ext uri="{FF2B5EF4-FFF2-40B4-BE49-F238E27FC236}">
                <a16:creationId xmlns:a16="http://schemas.microsoft.com/office/drawing/2014/main" id="{64FF1D48-3F0F-4D33-91E1-6463BA6138DE}"/>
              </a:ext>
            </a:extLst>
          </p:cNvPr>
          <p:cNvSpPr/>
          <p:nvPr/>
        </p:nvSpPr>
        <p:spPr bwMode="auto">
          <a:xfrm>
            <a:off x="1115616" y="1757503"/>
            <a:ext cx="6912768" cy="1671522"/>
          </a:xfrm>
          <a:prstGeom prst="rect">
            <a:avLst/>
          </a:prstGeom>
          <a:noFill/>
          <a:ln w="25400">
            <a:solidFill>
              <a:srgbClr val="FF0000"/>
            </a:solidFill>
            <a:prstDash val="sysDash"/>
            <a:round/>
          </a:ln>
        </p:spPr>
        <p:txBody>
          <a:bodyPr rtlCol="0" anchor="ctr"/>
          <a:lstStyle/>
          <a:p>
            <a:pPr algn="ctr"/>
            <a:endParaRPr lang="zh-CN" altLang="en-US"/>
          </a:p>
        </p:txBody>
      </p:sp>
      <p:sp>
        <p:nvSpPr>
          <p:cNvPr id="10" name="矩形 9">
            <a:extLst>
              <a:ext uri="{FF2B5EF4-FFF2-40B4-BE49-F238E27FC236}">
                <a16:creationId xmlns:a16="http://schemas.microsoft.com/office/drawing/2014/main" id="{F04B27E2-0406-4BAF-90EF-FCB1712D7F18}"/>
              </a:ext>
            </a:extLst>
          </p:cNvPr>
          <p:cNvSpPr/>
          <p:nvPr/>
        </p:nvSpPr>
        <p:spPr bwMode="auto">
          <a:xfrm>
            <a:off x="1115616" y="3416944"/>
            <a:ext cx="6912768" cy="1671522"/>
          </a:xfrm>
          <a:prstGeom prst="rect">
            <a:avLst/>
          </a:prstGeom>
          <a:noFill/>
          <a:ln w="25400">
            <a:solidFill>
              <a:srgbClr val="FF0000"/>
            </a:solidFill>
            <a:prstDash val="sysDash"/>
            <a:round/>
          </a:ln>
        </p:spPr>
        <p:txBody>
          <a:bodyPr rtlCol="0" anchor="ctr"/>
          <a:lstStyle/>
          <a:p>
            <a:pPr algn="ctr"/>
            <a:endParaRPr lang="zh-CN" altLang="en-US"/>
          </a:p>
        </p:txBody>
      </p:sp>
      <p:sp>
        <p:nvSpPr>
          <p:cNvPr id="12" name="Rectangle 114">
            <a:extLst>
              <a:ext uri="{FF2B5EF4-FFF2-40B4-BE49-F238E27FC236}">
                <a16:creationId xmlns:a16="http://schemas.microsoft.com/office/drawing/2014/main" id="{67E54D8B-DCDD-4FC9-86D5-3402623EF6F1}"/>
              </a:ext>
            </a:extLst>
          </p:cNvPr>
          <p:cNvSpPr>
            <a:spLocks noChangeArrowheads="1"/>
          </p:cNvSpPr>
          <p:nvPr/>
        </p:nvSpPr>
        <p:spPr bwMode="auto">
          <a:xfrm>
            <a:off x="474662" y="5548997"/>
            <a:ext cx="8194675" cy="437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0000"/>
              </a:lnSpc>
              <a:buClr>
                <a:srgbClr val="2929FF"/>
              </a:buClr>
            </a:pPr>
            <a:r>
              <a:rPr lang="zh-CN" altLang="en-US" sz="180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开运算经常用于去除小而明亮的细节；闭</a:t>
            </a:r>
            <a:r>
              <a:rPr lang="zh-CN" altLang="en-US" sz="1800" dirty="0">
                <a:uFillTx/>
                <a:latin typeface="Times New Roman" panose="02020603050405020304" pitchFamily="18" charset="0"/>
                <a:ea typeface="微软雅黑" panose="020B0503020204020204" pitchFamily="34" charset="-122"/>
                <a:cs typeface="Times New Roman" panose="02020603050405020304" pitchFamily="18" charset="0"/>
                <a:sym typeface="+mn-ea"/>
              </a:rPr>
              <a:t>运算</a:t>
            </a:r>
            <a:r>
              <a:rPr lang="zh-CN" altLang="en-US" sz="180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经常用于去除小而黑暗的细节</a:t>
            </a:r>
            <a:endParaRPr lang="zh-CN" altLang="en-US" sz="1800" baseline="0" dirty="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2"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p:bldP spid="5" grpId="2"/>
      <p:bldP spid="18" grpId="1"/>
      <p:bldP spid="18" grpId="2"/>
      <p:bldP spid="11" grpId="0"/>
      <p:bldP spid="11" grpId="1"/>
      <p:bldP spid="6" grpId="0" animBg="1"/>
      <p:bldP spid="10" grpId="0" animBg="1"/>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5770" y="23810"/>
            <a:ext cx="8540750" cy="619108"/>
          </a:xfrm>
        </p:spPr>
        <p:txBody>
          <a:bodyPr/>
          <a:lstStyle/>
          <a:p>
            <a:r>
              <a:rPr lang="en-US" altLang="zh-CN" dirty="0"/>
              <a:t>8. </a:t>
            </a:r>
            <a:r>
              <a:rPr lang="zh-CN" altLang="en-US" dirty="0"/>
              <a:t>灰度开运算和闭运算</a:t>
            </a:r>
          </a:p>
        </p:txBody>
      </p:sp>
      <p:sp>
        <p:nvSpPr>
          <p:cNvPr id="4" name="灯片编号占位符 3"/>
          <p:cNvSpPr>
            <a:spLocks noGrp="1"/>
          </p:cNvSpPr>
          <p:nvPr>
            <p:ph type="sldNum" sz="quarter" idx="4"/>
          </p:nvPr>
        </p:nvSpPr>
        <p:spPr>
          <a:xfrm>
            <a:off x="3858578" y="6453188"/>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45</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6" name="Rectangle 17"/>
          <p:cNvSpPr>
            <a:spLocks noChangeArrowheads="1"/>
          </p:cNvSpPr>
          <p:nvPr/>
        </p:nvSpPr>
        <p:spPr bwMode="auto">
          <a:xfrm>
            <a:off x="683578" y="836008"/>
            <a:ext cx="8208962" cy="216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baseline="0" dirty="0">
                <a:solidFill>
                  <a:schemeClr val="tx1"/>
                </a:solidFill>
                <a:uFillTx/>
                <a:latin typeface="Times New Roman" panose="02020603050405020304" pitchFamily="18" charset="0"/>
                <a:ea typeface="微软雅黑" panose="020B0503020204020204" pitchFamily="34" charset="-122"/>
              </a:rPr>
              <a:t>灰度级</a:t>
            </a:r>
            <a:r>
              <a:rPr lang="zh-CN" altLang="en-US" b="1" baseline="0" dirty="0">
                <a:solidFill>
                  <a:schemeClr val="tx1"/>
                </a:solidFill>
                <a:uFillTx/>
                <a:latin typeface="Times New Roman" panose="02020603050405020304" pitchFamily="18" charset="0"/>
                <a:ea typeface="微软雅黑" panose="020B0503020204020204" pitchFamily="34" charset="-122"/>
              </a:rPr>
              <a:t>开操作</a:t>
            </a:r>
            <a:r>
              <a:rPr lang="zh-CN" altLang="en-US" baseline="0" dirty="0">
                <a:solidFill>
                  <a:schemeClr val="tx1"/>
                </a:solidFill>
                <a:uFillTx/>
                <a:latin typeface="Times New Roman" panose="02020603050405020304" pitchFamily="18" charset="0"/>
                <a:ea typeface="微软雅黑" panose="020B0503020204020204" pitchFamily="34" charset="-122"/>
              </a:rPr>
              <a:t>满足下列性质：</a:t>
            </a:r>
          </a:p>
          <a:p>
            <a:pPr>
              <a:lnSpc>
                <a:spcPct val="150000"/>
              </a:lnSpc>
            </a:pPr>
            <a:r>
              <a:rPr lang="en-US" altLang="zh-CN" baseline="0" dirty="0">
                <a:solidFill>
                  <a:schemeClr val="tx1"/>
                </a:solidFill>
                <a:uFillTx/>
                <a:latin typeface="Times New Roman" panose="02020603050405020304" pitchFamily="18" charset="0"/>
                <a:ea typeface="微软雅黑" panose="020B0503020204020204" pitchFamily="34" charset="-122"/>
              </a:rPr>
              <a:t>(</a:t>
            </a:r>
            <a:r>
              <a:rPr lang="en-US" altLang="zh-CN" baseline="0" dirty="0" err="1">
                <a:solidFill>
                  <a:schemeClr val="tx1"/>
                </a:solidFill>
                <a:uFillTx/>
                <a:latin typeface="Times New Roman" panose="02020603050405020304" pitchFamily="18" charset="0"/>
                <a:ea typeface="微软雅黑" panose="020B0503020204020204" pitchFamily="34" charset="-122"/>
              </a:rPr>
              <a:t>i</a:t>
            </a:r>
            <a:r>
              <a:rPr lang="en-US" altLang="zh-CN" baseline="0" dirty="0">
                <a:solidFill>
                  <a:schemeClr val="tx1"/>
                </a:solidFill>
                <a:uFillTx/>
                <a:latin typeface="Times New Roman" panose="02020603050405020304" pitchFamily="18" charset="0"/>
                <a:ea typeface="微软雅黑" panose="020B0503020204020204" pitchFamily="34" charset="-122"/>
              </a:rPr>
              <a:t>)</a:t>
            </a:r>
          </a:p>
          <a:p>
            <a:pPr>
              <a:lnSpc>
                <a:spcPct val="150000"/>
              </a:lnSpc>
            </a:pPr>
            <a:r>
              <a:rPr lang="en-US" altLang="zh-CN" baseline="0" dirty="0">
                <a:solidFill>
                  <a:schemeClr val="tx1"/>
                </a:solidFill>
                <a:uFillTx/>
                <a:latin typeface="Times New Roman" panose="02020603050405020304" pitchFamily="18" charset="0"/>
                <a:ea typeface="微软雅黑" panose="020B0503020204020204" pitchFamily="34" charset="-122"/>
              </a:rPr>
              <a:t>(ii) </a:t>
            </a:r>
            <a:r>
              <a:rPr lang="zh-CN" altLang="en-US" baseline="0" dirty="0">
                <a:solidFill>
                  <a:schemeClr val="tx1"/>
                </a:solidFill>
                <a:uFillTx/>
                <a:latin typeface="Times New Roman" panose="02020603050405020304" pitchFamily="18" charset="0"/>
                <a:ea typeface="微软雅黑" panose="020B0503020204020204" pitchFamily="34" charset="-122"/>
              </a:rPr>
              <a:t>如果         ，</a:t>
            </a:r>
            <a:r>
              <a:rPr lang="en-US" altLang="zh-CN" baseline="0" dirty="0">
                <a:solidFill>
                  <a:schemeClr val="tx1"/>
                </a:solidFill>
                <a:uFillTx/>
                <a:latin typeface="Times New Roman" panose="02020603050405020304" pitchFamily="18" charset="0"/>
                <a:ea typeface="微软雅黑" panose="020B0503020204020204" pitchFamily="34" charset="-122"/>
              </a:rPr>
              <a:t> </a:t>
            </a:r>
            <a:r>
              <a:rPr lang="zh-CN" altLang="en-US" baseline="0" dirty="0">
                <a:solidFill>
                  <a:schemeClr val="tx1"/>
                </a:solidFill>
                <a:uFillTx/>
                <a:latin typeface="Times New Roman" panose="02020603050405020304" pitchFamily="18" charset="0"/>
                <a:ea typeface="微软雅黑" panose="020B0503020204020204" pitchFamily="34" charset="-122"/>
              </a:rPr>
              <a:t>则</a:t>
            </a:r>
          </a:p>
          <a:p>
            <a:pPr>
              <a:lnSpc>
                <a:spcPct val="150000"/>
              </a:lnSpc>
            </a:pPr>
            <a:r>
              <a:rPr lang="en-US" altLang="zh-CN" baseline="0" dirty="0">
                <a:solidFill>
                  <a:schemeClr val="tx1"/>
                </a:solidFill>
                <a:uFillTx/>
                <a:latin typeface="Times New Roman" panose="02020603050405020304" pitchFamily="18" charset="0"/>
                <a:ea typeface="微软雅黑" panose="020B0503020204020204" pitchFamily="34" charset="-122"/>
              </a:rPr>
              <a:t>(iii) </a:t>
            </a:r>
          </a:p>
          <a:p>
            <a:pPr>
              <a:lnSpc>
                <a:spcPct val="150000"/>
              </a:lnSpc>
            </a:pPr>
            <a:r>
              <a:rPr lang="zh-CN" altLang="en-US" baseline="0" dirty="0">
                <a:solidFill>
                  <a:schemeClr val="tx1"/>
                </a:solidFill>
                <a:uFillTx/>
                <a:latin typeface="Times New Roman" panose="02020603050405020304" pitchFamily="18" charset="0"/>
                <a:ea typeface="微软雅黑" panose="020B0503020204020204" pitchFamily="34" charset="-122"/>
              </a:rPr>
              <a:t>符号</a:t>
            </a:r>
            <a:r>
              <a:rPr lang="en-US" altLang="zh-CN" baseline="0" dirty="0">
                <a:solidFill>
                  <a:schemeClr val="tx1"/>
                </a:solidFill>
                <a:uFillTx/>
                <a:latin typeface="Times New Roman" panose="02020603050405020304" pitchFamily="18" charset="0"/>
                <a:ea typeface="微软雅黑" panose="020B0503020204020204" pitchFamily="34" charset="-122"/>
              </a:rPr>
              <a:t>    </a:t>
            </a:r>
            <a:r>
              <a:rPr lang="zh-CN" altLang="en-US" baseline="0" dirty="0">
                <a:solidFill>
                  <a:schemeClr val="tx1"/>
                </a:solidFill>
                <a:uFillTx/>
                <a:latin typeface="Times New Roman" panose="02020603050405020304" pitchFamily="18" charset="0"/>
                <a:ea typeface="微软雅黑" panose="020B0503020204020204" pitchFamily="34" charset="-122"/>
              </a:rPr>
              <a:t>      </a:t>
            </a:r>
            <a:r>
              <a:rPr lang="en-US" altLang="zh-CN" baseline="0" dirty="0">
                <a:solidFill>
                  <a:schemeClr val="tx1"/>
                </a:solidFill>
                <a:uFillTx/>
                <a:latin typeface="Times New Roman" panose="02020603050405020304" pitchFamily="18" charset="0"/>
                <a:ea typeface="微软雅黑" panose="020B0503020204020204" pitchFamily="34" charset="-122"/>
              </a:rPr>
              <a:t> </a:t>
            </a:r>
            <a:r>
              <a:rPr lang="zh-CN" altLang="en-US" baseline="0" dirty="0">
                <a:solidFill>
                  <a:schemeClr val="tx1"/>
                </a:solidFill>
                <a:uFillTx/>
                <a:latin typeface="Times New Roman" panose="02020603050405020304" pitchFamily="18" charset="0"/>
                <a:ea typeface="微软雅黑" panose="020B0503020204020204" pitchFamily="34" charset="-122"/>
              </a:rPr>
              <a:t>表示</a:t>
            </a:r>
            <a:r>
              <a:rPr lang="en-US" altLang="zh-CN" i="1" baseline="0" dirty="0">
                <a:solidFill>
                  <a:schemeClr val="tx1"/>
                </a:solidFill>
                <a:uFillTx/>
                <a:latin typeface="Times New Roman" panose="02020603050405020304" pitchFamily="18" charset="0"/>
                <a:ea typeface="微软雅黑" panose="020B0503020204020204" pitchFamily="34" charset="-122"/>
              </a:rPr>
              <a:t>q</a:t>
            </a:r>
            <a:r>
              <a:rPr lang="zh-CN" altLang="en-US" baseline="0" dirty="0">
                <a:solidFill>
                  <a:schemeClr val="tx1"/>
                </a:solidFill>
                <a:uFillTx/>
                <a:latin typeface="Times New Roman" panose="02020603050405020304" pitchFamily="18" charset="0"/>
                <a:ea typeface="微软雅黑" panose="020B0503020204020204" pitchFamily="34" charset="-122"/>
              </a:rPr>
              <a:t>的域是</a:t>
            </a:r>
            <a:r>
              <a:rPr lang="en-US" altLang="zh-CN" i="1" baseline="0" dirty="0">
                <a:solidFill>
                  <a:schemeClr val="tx1"/>
                </a:solidFill>
                <a:uFillTx/>
                <a:latin typeface="Times New Roman" panose="02020603050405020304" pitchFamily="18" charset="0"/>
                <a:ea typeface="微软雅黑" panose="020B0503020204020204" pitchFamily="34" charset="-122"/>
              </a:rPr>
              <a:t>r</a:t>
            </a:r>
            <a:r>
              <a:rPr lang="zh-CN" altLang="en-US" baseline="0" dirty="0">
                <a:solidFill>
                  <a:schemeClr val="tx1"/>
                </a:solidFill>
                <a:uFillTx/>
                <a:latin typeface="Times New Roman" panose="02020603050405020304" pitchFamily="18" charset="0"/>
                <a:ea typeface="微软雅黑" panose="020B0503020204020204" pitchFamily="34" charset="-122"/>
              </a:rPr>
              <a:t>的域的子集，且对</a:t>
            </a:r>
            <a:r>
              <a:rPr lang="en-US" altLang="zh-CN" i="1" dirty="0">
                <a:uFillTx/>
                <a:latin typeface="Times New Roman" panose="02020603050405020304" pitchFamily="18" charset="0"/>
                <a:ea typeface="微软雅黑" panose="020B0503020204020204" pitchFamily="34" charset="-122"/>
                <a:sym typeface="+mn-ea"/>
              </a:rPr>
              <a:t>q</a:t>
            </a:r>
            <a:r>
              <a:rPr lang="zh-CN" altLang="en-US" baseline="0" dirty="0">
                <a:solidFill>
                  <a:schemeClr val="tx1"/>
                </a:solidFill>
                <a:uFillTx/>
                <a:latin typeface="Times New Roman" panose="02020603050405020304" pitchFamily="18" charset="0"/>
                <a:ea typeface="微软雅黑" panose="020B0503020204020204" pitchFamily="34" charset="-122"/>
              </a:rPr>
              <a:t>的域内的任何</a:t>
            </a:r>
            <a:r>
              <a:rPr lang="en-US" altLang="zh-CN" baseline="0" dirty="0">
                <a:solidFill>
                  <a:schemeClr val="tx1"/>
                </a:solidFill>
                <a:uFillTx/>
                <a:latin typeface="Times New Roman" panose="02020603050405020304" pitchFamily="18" charset="0"/>
                <a:ea typeface="微软雅黑" panose="020B0503020204020204" pitchFamily="34" charset="-122"/>
              </a:rPr>
              <a:t>(</a:t>
            </a:r>
            <a:r>
              <a:rPr lang="en-US" altLang="zh-CN" baseline="0" dirty="0" err="1">
                <a:solidFill>
                  <a:schemeClr val="tx1"/>
                </a:solidFill>
                <a:uFillTx/>
                <a:latin typeface="Times New Roman" panose="02020603050405020304" pitchFamily="18" charset="0"/>
                <a:ea typeface="微软雅黑" panose="020B0503020204020204" pitchFamily="34" charset="-122"/>
              </a:rPr>
              <a:t>x,y</a:t>
            </a:r>
            <a:r>
              <a:rPr lang="en-US" altLang="zh-CN" baseline="0" dirty="0">
                <a:solidFill>
                  <a:schemeClr val="tx1"/>
                </a:solidFill>
                <a:uFillTx/>
                <a:latin typeface="Times New Roman" panose="02020603050405020304" pitchFamily="18" charset="0"/>
                <a:ea typeface="微软雅黑" panose="020B0503020204020204" pitchFamily="34" charset="-122"/>
              </a:rPr>
              <a:t>)</a:t>
            </a:r>
            <a:r>
              <a:rPr lang="zh-CN" altLang="en-US" baseline="0" dirty="0">
                <a:solidFill>
                  <a:schemeClr val="tx1"/>
                </a:solidFill>
                <a:uFillTx/>
                <a:latin typeface="Times New Roman" panose="02020603050405020304" pitchFamily="18" charset="0"/>
                <a:ea typeface="微软雅黑" panose="020B0503020204020204" pitchFamily="34" charset="-122"/>
              </a:rPr>
              <a:t>有 </a:t>
            </a:r>
          </a:p>
        </p:txBody>
      </p:sp>
      <p:graphicFrame>
        <p:nvGraphicFramePr>
          <p:cNvPr id="151572" name="Object 20"/>
          <p:cNvGraphicFramePr>
            <a:graphicFrameLocks noChangeAspect="1"/>
          </p:cNvGraphicFramePr>
          <p:nvPr>
            <p:extLst>
              <p:ext uri="{D42A27DB-BD31-4B8C-83A1-F6EECF244321}">
                <p14:modId xmlns:p14="http://schemas.microsoft.com/office/powerpoint/2010/main" val="33158818"/>
              </p:ext>
            </p:extLst>
          </p:nvPr>
        </p:nvGraphicFramePr>
        <p:xfrm>
          <a:off x="1115378" y="1340198"/>
          <a:ext cx="936625" cy="371475"/>
        </p:xfrm>
        <a:graphic>
          <a:graphicData uri="http://schemas.openxmlformats.org/presentationml/2006/ole">
            <mc:AlternateContent xmlns:mc="http://schemas.openxmlformats.org/markup-compatibility/2006">
              <mc:Choice xmlns:v="urn:schemas-microsoft-com:vml" Requires="v">
                <p:oleObj spid="_x0000_s156458" name="Equation" r:id="rId3" imgW="508000" imgH="203200" progId="Equation.DSMT4">
                  <p:embed/>
                </p:oleObj>
              </mc:Choice>
              <mc:Fallback>
                <p:oleObj name="Equation" r:id="rId3" imgW="508000" imgH="203200" progId="Equation.DSMT4">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378" y="1340198"/>
                        <a:ext cx="9366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75" name="Object 23"/>
          <p:cNvGraphicFramePr>
            <a:graphicFrameLocks noChangeAspect="1"/>
          </p:cNvGraphicFramePr>
          <p:nvPr/>
        </p:nvGraphicFramePr>
        <p:xfrm>
          <a:off x="1618933" y="1779618"/>
          <a:ext cx="647700" cy="376237"/>
        </p:xfrm>
        <a:graphic>
          <a:graphicData uri="http://schemas.openxmlformats.org/presentationml/2006/ole">
            <mc:AlternateContent xmlns:mc="http://schemas.openxmlformats.org/markup-compatibility/2006">
              <mc:Choice xmlns:v="urn:schemas-microsoft-com:vml" Requires="v">
                <p:oleObj spid="_x0000_s156459" name="公式" r:id="rId5" imgW="368300" imgH="215900" progId="Equation.3">
                  <p:embed/>
                </p:oleObj>
              </mc:Choice>
              <mc:Fallback>
                <p:oleObj name="公式" r:id="rId5" imgW="368300" imgH="215900" progId="Equation.3">
                  <p:embed/>
                  <p:pic>
                    <p:nvPicPr>
                      <p:cNvPr id="0"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8933" y="1779618"/>
                        <a:ext cx="647700"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78" name="Object 26"/>
          <p:cNvGraphicFramePr>
            <a:graphicFrameLocks noChangeAspect="1"/>
          </p:cNvGraphicFramePr>
          <p:nvPr/>
        </p:nvGraphicFramePr>
        <p:xfrm>
          <a:off x="2700020" y="1771998"/>
          <a:ext cx="1295400" cy="376237"/>
        </p:xfrm>
        <a:graphic>
          <a:graphicData uri="http://schemas.openxmlformats.org/presentationml/2006/ole">
            <mc:AlternateContent xmlns:mc="http://schemas.openxmlformats.org/markup-compatibility/2006">
              <mc:Choice xmlns:v="urn:schemas-microsoft-com:vml" Requires="v">
                <p:oleObj spid="_x0000_s156460" name="公式" r:id="rId7" imgW="735965" imgH="215900" progId="Equation.3">
                  <p:embed/>
                </p:oleObj>
              </mc:Choice>
              <mc:Fallback>
                <p:oleObj name="公式" r:id="rId7" imgW="735965" imgH="215900" progId="Equation.3">
                  <p:embed/>
                  <p:pic>
                    <p:nvPicPr>
                      <p:cNvPr id="0"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0020" y="1771998"/>
                        <a:ext cx="1295400"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81" name="Object 29"/>
          <p:cNvGraphicFramePr>
            <a:graphicFrameLocks noChangeAspect="1"/>
          </p:cNvGraphicFramePr>
          <p:nvPr/>
        </p:nvGraphicFramePr>
        <p:xfrm>
          <a:off x="1187450" y="2210783"/>
          <a:ext cx="1854200" cy="354012"/>
        </p:xfrm>
        <a:graphic>
          <a:graphicData uri="http://schemas.openxmlformats.org/presentationml/2006/ole">
            <mc:AlternateContent xmlns:mc="http://schemas.openxmlformats.org/markup-compatibility/2006">
              <mc:Choice xmlns:v="urn:schemas-microsoft-com:vml" Requires="v">
                <p:oleObj spid="_x0000_s156461" name="公式" r:id="rId9" imgW="1054100" imgH="203200" progId="Equation.3">
                  <p:embed/>
                </p:oleObj>
              </mc:Choice>
              <mc:Fallback>
                <p:oleObj name="公式" r:id="rId9" imgW="1054100" imgH="203200" progId="Equation.3">
                  <p:embed/>
                  <p:pic>
                    <p:nvPicPr>
                      <p:cNvPr id="0"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7450" y="2210783"/>
                        <a:ext cx="1854200"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84" name="Object 32"/>
          <p:cNvGraphicFramePr>
            <a:graphicFrameLocks noChangeAspect="1"/>
          </p:cNvGraphicFramePr>
          <p:nvPr/>
        </p:nvGraphicFramePr>
        <p:xfrm>
          <a:off x="1259840" y="2620040"/>
          <a:ext cx="537845" cy="348615"/>
        </p:xfrm>
        <a:graphic>
          <a:graphicData uri="http://schemas.openxmlformats.org/presentationml/2006/ole">
            <mc:AlternateContent xmlns:mc="http://schemas.openxmlformats.org/markup-compatibility/2006">
              <mc:Choice xmlns:v="urn:schemas-microsoft-com:vml" Requires="v">
                <p:oleObj spid="_x0000_s156462" name="公式" r:id="rId11" imgW="292100" imgH="190500" progId="Equation.3">
                  <p:embed/>
                </p:oleObj>
              </mc:Choice>
              <mc:Fallback>
                <p:oleObj name="公式" r:id="rId11" imgW="292100" imgH="190500" progId="Equation.3">
                  <p:embed/>
                  <p:pic>
                    <p:nvPicPr>
                      <p:cNvPr id="0" name="Object 32"/>
                      <p:cNvPicPr>
                        <a:picLocks noChangeAspect="1" noChangeArrowheads="1"/>
                      </p:cNvPicPr>
                      <p:nvPr/>
                    </p:nvPicPr>
                    <p:blipFill>
                      <a:blip r:embed="rId12"/>
                      <a:srcRect/>
                      <a:stretch>
                        <a:fillRect/>
                      </a:stretch>
                    </p:blipFill>
                    <p:spPr bwMode="auto">
                      <a:xfrm>
                        <a:off x="1259840" y="2620040"/>
                        <a:ext cx="537845" cy="348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87" name="Object 35"/>
          <p:cNvGraphicFramePr>
            <a:graphicFrameLocks noChangeAspect="1"/>
          </p:cNvGraphicFramePr>
          <p:nvPr/>
        </p:nvGraphicFramePr>
        <p:xfrm>
          <a:off x="7236460" y="2564765"/>
          <a:ext cx="1788795" cy="360045"/>
        </p:xfrm>
        <a:graphic>
          <a:graphicData uri="http://schemas.openxmlformats.org/presentationml/2006/ole">
            <mc:AlternateContent xmlns:mc="http://schemas.openxmlformats.org/markup-compatibility/2006">
              <mc:Choice xmlns:v="urn:schemas-microsoft-com:vml" Requires="v">
                <p:oleObj spid="_x0000_s156463" name="公式" r:id="rId13" imgW="1002665" imgH="203200" progId="Equation.3">
                  <p:embed/>
                </p:oleObj>
              </mc:Choice>
              <mc:Fallback>
                <p:oleObj name="公式" r:id="rId13" imgW="1002665" imgH="203200" progId="Equation.3">
                  <p:embed/>
                  <p:pic>
                    <p:nvPicPr>
                      <p:cNvPr id="0" name="Object 35"/>
                      <p:cNvPicPr>
                        <a:picLocks noChangeAspect="1" noChangeArrowheads="1"/>
                      </p:cNvPicPr>
                      <p:nvPr/>
                    </p:nvPicPr>
                    <p:blipFill>
                      <a:blip r:embed="rId14"/>
                      <a:srcRect/>
                      <a:stretch>
                        <a:fillRect/>
                      </a:stretch>
                    </p:blipFill>
                    <p:spPr bwMode="auto">
                      <a:xfrm>
                        <a:off x="7236460" y="2564765"/>
                        <a:ext cx="1788795" cy="36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36"/>
          <p:cNvSpPr>
            <a:spLocks noChangeArrowheads="1"/>
          </p:cNvSpPr>
          <p:nvPr/>
        </p:nvSpPr>
        <p:spPr bwMode="auto">
          <a:xfrm>
            <a:off x="683895" y="3500785"/>
            <a:ext cx="8208963" cy="216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baseline="0" dirty="0">
                <a:latin typeface="微软雅黑" panose="020B0503020204020204" pitchFamily="34" charset="-122"/>
                <a:ea typeface="微软雅黑" panose="020B0503020204020204" pitchFamily="34" charset="-122"/>
              </a:rPr>
              <a:t>灰度级</a:t>
            </a:r>
            <a:r>
              <a:rPr lang="zh-CN" altLang="en-US" b="1" baseline="0" dirty="0">
                <a:latin typeface="微软雅黑" panose="020B0503020204020204" pitchFamily="34" charset="-122"/>
                <a:ea typeface="微软雅黑" panose="020B0503020204020204" pitchFamily="34" charset="-122"/>
              </a:rPr>
              <a:t>闭操作</a:t>
            </a:r>
            <a:r>
              <a:rPr lang="zh-CN" altLang="en-US" baseline="0" dirty="0">
                <a:latin typeface="微软雅黑" panose="020B0503020204020204" pitchFamily="34" charset="-122"/>
                <a:ea typeface="微软雅黑" panose="020B0503020204020204" pitchFamily="34" charset="-122"/>
              </a:rPr>
              <a:t>满足下列性质：</a:t>
            </a:r>
          </a:p>
          <a:p>
            <a:pPr>
              <a:lnSpc>
                <a:spcPct val="150000"/>
              </a:lnSpc>
            </a:pPr>
            <a:r>
              <a:rPr lang="en-US" altLang="zh-CN" baseline="0" dirty="0">
                <a:latin typeface="微软雅黑" panose="020B0503020204020204" pitchFamily="34" charset="-122"/>
                <a:ea typeface="微软雅黑" panose="020B0503020204020204" pitchFamily="34" charset="-122"/>
              </a:rPr>
              <a:t>(</a:t>
            </a:r>
            <a:r>
              <a:rPr lang="en-US" altLang="zh-CN" baseline="0" dirty="0" err="1">
                <a:latin typeface="微软雅黑" panose="020B0503020204020204" pitchFamily="34" charset="-122"/>
                <a:ea typeface="微软雅黑" panose="020B0503020204020204" pitchFamily="34" charset="-122"/>
              </a:rPr>
              <a:t>i</a:t>
            </a:r>
            <a:r>
              <a:rPr lang="en-US" altLang="zh-CN" baseline="0" dirty="0">
                <a:latin typeface="微软雅黑" panose="020B0503020204020204" pitchFamily="34" charset="-122"/>
                <a:ea typeface="微软雅黑" panose="020B0503020204020204" pitchFamily="34" charset="-122"/>
              </a:rPr>
              <a:t>)</a:t>
            </a:r>
          </a:p>
          <a:p>
            <a:pPr>
              <a:lnSpc>
                <a:spcPct val="150000"/>
              </a:lnSpc>
            </a:pPr>
            <a:r>
              <a:rPr lang="en-US" altLang="zh-CN" baseline="0" dirty="0">
                <a:latin typeface="微软雅黑" panose="020B0503020204020204" pitchFamily="34" charset="-122"/>
                <a:ea typeface="微软雅黑" panose="020B0503020204020204" pitchFamily="34" charset="-122"/>
              </a:rPr>
              <a:t>(ii) </a:t>
            </a:r>
            <a:r>
              <a:rPr lang="zh-CN" altLang="en-US" baseline="0" dirty="0">
                <a:latin typeface="微软雅黑" panose="020B0503020204020204" pitchFamily="34" charset="-122"/>
                <a:ea typeface="微软雅黑" panose="020B0503020204020204" pitchFamily="34" charset="-122"/>
              </a:rPr>
              <a:t>如果</a:t>
            </a:r>
            <a:r>
              <a:rPr lang="en-US" altLang="zh-CN" baseline="0" dirty="0">
                <a:latin typeface="微软雅黑" panose="020B0503020204020204" pitchFamily="34" charset="-122"/>
                <a:ea typeface="微软雅黑" panose="020B0503020204020204" pitchFamily="34" charset="-122"/>
              </a:rPr>
              <a:t>  </a:t>
            </a:r>
            <a:r>
              <a:rPr lang="zh-CN" altLang="en-US" baseline="0" dirty="0">
                <a:latin typeface="微软雅黑" panose="020B0503020204020204" pitchFamily="34" charset="-122"/>
                <a:ea typeface="微软雅黑" panose="020B0503020204020204" pitchFamily="34" charset="-122"/>
              </a:rPr>
              <a:t>         ，则</a:t>
            </a:r>
          </a:p>
          <a:p>
            <a:pPr>
              <a:lnSpc>
                <a:spcPct val="150000"/>
              </a:lnSpc>
            </a:pPr>
            <a:r>
              <a:rPr lang="en-US" altLang="zh-CN" baseline="0" dirty="0">
                <a:latin typeface="微软雅黑" panose="020B0503020204020204" pitchFamily="34" charset="-122"/>
                <a:ea typeface="微软雅黑" panose="020B0503020204020204" pitchFamily="34" charset="-122"/>
              </a:rPr>
              <a:t>(iii) </a:t>
            </a:r>
          </a:p>
          <a:p>
            <a:pPr>
              <a:lnSpc>
                <a:spcPct val="150000"/>
              </a:lnSpc>
            </a:pPr>
            <a:r>
              <a:rPr lang="zh-CN" altLang="en-US" baseline="0" dirty="0">
                <a:latin typeface="微软雅黑" panose="020B0503020204020204" pitchFamily="34" charset="-122"/>
                <a:ea typeface="微软雅黑" panose="020B0503020204020204" pitchFamily="34" charset="-122"/>
              </a:rPr>
              <a:t>这些性质的用途类似于二值图像中的对应性质。</a:t>
            </a:r>
          </a:p>
        </p:txBody>
      </p:sp>
      <p:graphicFrame>
        <p:nvGraphicFramePr>
          <p:cNvPr id="151589" name="Object 37"/>
          <p:cNvGraphicFramePr>
            <a:graphicFrameLocks noChangeAspect="1"/>
          </p:cNvGraphicFramePr>
          <p:nvPr/>
        </p:nvGraphicFramePr>
        <p:xfrm>
          <a:off x="1115378" y="4004975"/>
          <a:ext cx="889000" cy="371475"/>
        </p:xfrm>
        <a:graphic>
          <a:graphicData uri="http://schemas.openxmlformats.org/presentationml/2006/ole">
            <mc:AlternateContent xmlns:mc="http://schemas.openxmlformats.org/markup-compatibility/2006">
              <mc:Choice xmlns:v="urn:schemas-microsoft-com:vml" Requires="v">
                <p:oleObj spid="_x0000_s156464" name="公式" r:id="rId15" imgW="482600" imgH="203200" progId="Equation.3">
                  <p:embed/>
                </p:oleObj>
              </mc:Choice>
              <mc:Fallback>
                <p:oleObj name="公式" r:id="rId15" imgW="482600" imgH="203200" progId="Equation.3">
                  <p:embed/>
                  <p:pic>
                    <p:nvPicPr>
                      <p:cNvPr id="0" name="Object 3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5378" y="4004975"/>
                        <a:ext cx="8890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90" name="Object 38"/>
          <p:cNvGraphicFramePr>
            <a:graphicFrameLocks noChangeAspect="1"/>
          </p:cNvGraphicFramePr>
          <p:nvPr/>
        </p:nvGraphicFramePr>
        <p:xfrm>
          <a:off x="1619250" y="4436775"/>
          <a:ext cx="647700" cy="376238"/>
        </p:xfrm>
        <a:graphic>
          <a:graphicData uri="http://schemas.openxmlformats.org/presentationml/2006/ole">
            <mc:AlternateContent xmlns:mc="http://schemas.openxmlformats.org/markup-compatibility/2006">
              <mc:Choice xmlns:v="urn:schemas-microsoft-com:vml" Requires="v">
                <p:oleObj spid="_x0000_s156465" name="公式" r:id="rId17" imgW="368300" imgH="215900" progId="Equation.3">
                  <p:embed/>
                </p:oleObj>
              </mc:Choice>
              <mc:Fallback>
                <p:oleObj name="公式" r:id="rId17" imgW="368300" imgH="215900" progId="Equation.3">
                  <p:embed/>
                  <p:pic>
                    <p:nvPicPr>
                      <p:cNvPr id="0" name="Object 3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19250" y="4436775"/>
                        <a:ext cx="647700"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91" name="Object 39"/>
          <p:cNvGraphicFramePr>
            <a:graphicFrameLocks noChangeAspect="1"/>
          </p:cNvGraphicFramePr>
          <p:nvPr/>
        </p:nvGraphicFramePr>
        <p:xfrm>
          <a:off x="2843530" y="4436775"/>
          <a:ext cx="1317625" cy="376238"/>
        </p:xfrm>
        <a:graphic>
          <a:graphicData uri="http://schemas.openxmlformats.org/presentationml/2006/ole">
            <mc:AlternateContent xmlns:mc="http://schemas.openxmlformats.org/markup-compatibility/2006">
              <mc:Choice xmlns:v="urn:schemas-microsoft-com:vml" Requires="v">
                <p:oleObj spid="_x0000_s156466" name="公式" r:id="rId19" imgW="748665" imgH="215900" progId="Equation.3">
                  <p:embed/>
                </p:oleObj>
              </mc:Choice>
              <mc:Fallback>
                <p:oleObj name="公式" r:id="rId19" imgW="748665" imgH="215900" progId="Equation.3">
                  <p:embed/>
                  <p:pic>
                    <p:nvPicPr>
                      <p:cNvPr id="0" name="Object 3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43530" y="4436775"/>
                        <a:ext cx="1317625"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92" name="Object 40"/>
          <p:cNvGraphicFramePr>
            <a:graphicFrameLocks noChangeAspect="1"/>
          </p:cNvGraphicFramePr>
          <p:nvPr/>
        </p:nvGraphicFramePr>
        <p:xfrm>
          <a:off x="1164908" y="4873655"/>
          <a:ext cx="1898650" cy="354013"/>
        </p:xfrm>
        <a:graphic>
          <a:graphicData uri="http://schemas.openxmlformats.org/presentationml/2006/ole">
            <mc:AlternateContent xmlns:mc="http://schemas.openxmlformats.org/markup-compatibility/2006">
              <mc:Choice xmlns:v="urn:schemas-microsoft-com:vml" Requires="v">
                <p:oleObj spid="_x0000_s156467" name="公式" r:id="rId21" imgW="1078865" imgH="203200" progId="Equation.3">
                  <p:embed/>
                </p:oleObj>
              </mc:Choice>
              <mc:Fallback>
                <p:oleObj name="公式" r:id="rId21" imgW="1078865" imgH="203200" progId="Equation.3">
                  <p:embed/>
                  <p:pic>
                    <p:nvPicPr>
                      <p:cNvPr id="0" name="Object 4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64908" y="4873655"/>
                        <a:ext cx="189865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5770" y="23810"/>
            <a:ext cx="8540750" cy="619108"/>
          </a:xfrm>
        </p:spPr>
        <p:txBody>
          <a:bodyPr/>
          <a:lstStyle/>
          <a:p>
            <a:r>
              <a:rPr lang="en-US" altLang="zh-CN" dirty="0"/>
              <a:t>8. </a:t>
            </a:r>
            <a:r>
              <a:rPr lang="zh-CN" altLang="en-US" dirty="0"/>
              <a:t>灰度开运算和闭运算示例</a:t>
            </a:r>
          </a:p>
        </p:txBody>
      </p:sp>
      <p:sp>
        <p:nvSpPr>
          <p:cNvPr id="4" name="灯片编号占位符 3"/>
          <p:cNvSpPr>
            <a:spLocks noGrp="1"/>
          </p:cNvSpPr>
          <p:nvPr>
            <p:ph type="sldNum" sz="quarter" idx="4"/>
          </p:nvPr>
        </p:nvSpPr>
        <p:spPr>
          <a:xfrm>
            <a:off x="3858578" y="6453188"/>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46</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pic>
        <p:nvPicPr>
          <p:cNvPr id="6" name="图片 5"/>
          <p:cNvPicPr>
            <a:picLocks noChangeAspect="1"/>
          </p:cNvPicPr>
          <p:nvPr/>
        </p:nvPicPr>
        <p:blipFill>
          <a:blip r:embed="rId2"/>
          <a:stretch>
            <a:fillRect/>
          </a:stretch>
        </p:blipFill>
        <p:spPr>
          <a:xfrm>
            <a:off x="683895" y="1196489"/>
            <a:ext cx="7534275" cy="2721610"/>
          </a:xfrm>
          <a:prstGeom prst="rect">
            <a:avLst/>
          </a:prstGeom>
        </p:spPr>
      </p:pic>
      <p:pic>
        <p:nvPicPr>
          <p:cNvPr id="7" name="图片 6"/>
          <p:cNvPicPr>
            <a:picLocks noChangeAspect="1"/>
          </p:cNvPicPr>
          <p:nvPr/>
        </p:nvPicPr>
        <p:blipFill>
          <a:blip r:embed="rId3"/>
          <a:stretch>
            <a:fillRect/>
          </a:stretch>
        </p:blipFill>
        <p:spPr>
          <a:xfrm>
            <a:off x="7236460" y="4076700"/>
            <a:ext cx="719455" cy="304800"/>
          </a:xfrm>
          <a:prstGeom prst="rect">
            <a:avLst/>
          </a:prstGeom>
        </p:spPr>
      </p:pic>
      <p:sp>
        <p:nvSpPr>
          <p:cNvPr id="8" name="文本框 7"/>
          <p:cNvSpPr txBox="1"/>
          <p:nvPr/>
        </p:nvSpPr>
        <p:spPr>
          <a:xfrm>
            <a:off x="683895" y="4471670"/>
            <a:ext cx="7887970" cy="1585595"/>
          </a:xfrm>
          <a:prstGeom prst="rect">
            <a:avLst/>
          </a:prstGeom>
          <a:noFill/>
        </p:spPr>
        <p:txBody>
          <a:bodyPr wrap="square" rtlCol="0" anchor="t">
            <a:spAutoFit/>
          </a:bodyPr>
          <a:lstStyle/>
          <a:p>
            <a:pPr algn="just">
              <a:lnSpc>
                <a:spcPct val="180000"/>
              </a:lnSpc>
              <a:buClrTx/>
              <a:buSzTx/>
              <a:buNone/>
            </a:pPr>
            <a:r>
              <a:rPr lang="en-US" altLang="zh-CN" sz="1800">
                <a:uFillTx/>
                <a:latin typeface="Times New Roman" panose="02020603050405020304" pitchFamily="18" charset="0"/>
                <a:ea typeface="微软雅黑" panose="020B0503020204020204" pitchFamily="34" charset="-122"/>
              </a:rPr>
              <a:t>(a)</a:t>
            </a:r>
            <a:r>
              <a:rPr lang="zh-CN" altLang="en-US" sz="1800">
                <a:uFillTx/>
                <a:latin typeface="Times New Roman" panose="02020603050405020304" pitchFamily="18" charset="0"/>
                <a:ea typeface="微软雅黑" panose="020B0503020204020204" pitchFamily="34" charset="-122"/>
              </a:rPr>
              <a:t>大小为</a:t>
            </a:r>
            <a:r>
              <a:rPr lang="en-US" altLang="zh-CN" sz="1800">
                <a:uFillTx/>
                <a:latin typeface="Times New Roman" panose="02020603050405020304" pitchFamily="18" charset="0"/>
                <a:ea typeface="微软雅黑" panose="020B0503020204020204" pitchFamily="34" charset="-122"/>
              </a:rPr>
              <a:t> 448x425 </a:t>
            </a:r>
            <a:r>
              <a:rPr lang="zh-CN" altLang="en-US" sz="1800">
                <a:uFillTx/>
                <a:latin typeface="Times New Roman" panose="02020603050405020304" pitchFamily="18" charset="0"/>
                <a:ea typeface="微软雅黑" panose="020B0503020204020204" pitchFamily="34" charset="-122"/>
              </a:rPr>
              <a:t>像素的灰度</a:t>
            </a:r>
            <a:r>
              <a:rPr lang="en-US" altLang="zh-CN" sz="1800">
                <a:uFillTx/>
                <a:latin typeface="Times New Roman" panose="02020603050405020304" pitchFamily="18" charset="0"/>
                <a:ea typeface="微软雅黑" panose="020B0503020204020204" pitchFamily="34" charset="-122"/>
              </a:rPr>
              <a:t>X</a:t>
            </a:r>
            <a:r>
              <a:rPr lang="zh-CN" altLang="en-US" sz="1800">
                <a:uFillTx/>
                <a:latin typeface="Times New Roman" panose="02020603050405020304" pitchFamily="18" charset="0"/>
                <a:ea typeface="微软雅黑" panose="020B0503020204020204" pitchFamily="34" charset="-122"/>
              </a:rPr>
              <a:t>射线图像</a:t>
            </a:r>
            <a:r>
              <a:rPr lang="en-US" altLang="zh-CN" sz="1800">
                <a:uFillTx/>
                <a:latin typeface="Times New Roman" panose="02020603050405020304" pitchFamily="18" charset="0"/>
                <a:ea typeface="微软雅黑" panose="020B0503020204020204" pitchFamily="34" charset="-122"/>
              </a:rPr>
              <a:t>;</a:t>
            </a:r>
          </a:p>
          <a:p>
            <a:pPr algn="just">
              <a:lnSpc>
                <a:spcPct val="180000"/>
              </a:lnSpc>
              <a:buClrTx/>
              <a:buSzTx/>
              <a:buNone/>
            </a:pPr>
            <a:r>
              <a:rPr lang="en-US" altLang="zh-CN" sz="1800">
                <a:uFillTx/>
                <a:latin typeface="Times New Roman" panose="02020603050405020304" pitchFamily="18" charset="0"/>
                <a:ea typeface="微软雅黑" panose="020B0503020204020204" pitchFamily="34" charset="-122"/>
              </a:rPr>
              <a:t>(b)</a:t>
            </a:r>
            <a:r>
              <a:rPr lang="zh-CN" altLang="en-US" sz="1800">
                <a:uFillTx/>
                <a:latin typeface="Times New Roman" panose="02020603050405020304" pitchFamily="18" charset="0"/>
                <a:ea typeface="微软雅黑" panose="020B0503020204020204" pitchFamily="34" charset="-122"/>
              </a:rPr>
              <a:t>使用半径为</a:t>
            </a:r>
            <a:r>
              <a:rPr lang="en-US" altLang="zh-CN" sz="1800">
                <a:uFillTx/>
                <a:latin typeface="Times New Roman" panose="02020603050405020304" pitchFamily="18" charset="0"/>
                <a:ea typeface="微软雅黑" panose="020B0503020204020204" pitchFamily="34" charset="-122"/>
              </a:rPr>
              <a:t>3</a:t>
            </a:r>
            <a:r>
              <a:rPr lang="zh-CN" altLang="en-US" sz="1800">
                <a:uFillTx/>
                <a:latin typeface="Times New Roman" panose="02020603050405020304" pitchFamily="18" charset="0"/>
                <a:ea typeface="微软雅黑" panose="020B0503020204020204" pitchFamily="34" charset="-122"/>
              </a:rPr>
              <a:t>像素的圆盘形结构元得到的开运算</a:t>
            </a:r>
            <a:r>
              <a:rPr lang="en-US" altLang="zh-CN" sz="1800">
                <a:uFillTx/>
                <a:latin typeface="Times New Roman" panose="02020603050405020304" pitchFamily="18" charset="0"/>
                <a:ea typeface="微软雅黑" panose="020B0503020204020204" pitchFamily="34" charset="-122"/>
              </a:rPr>
              <a:t>;</a:t>
            </a:r>
          </a:p>
          <a:p>
            <a:pPr algn="just">
              <a:lnSpc>
                <a:spcPct val="180000"/>
              </a:lnSpc>
              <a:buClrTx/>
              <a:buSzTx/>
              <a:buNone/>
            </a:pPr>
            <a:r>
              <a:rPr lang="en-US" altLang="zh-CN" sz="1800">
                <a:uFillTx/>
                <a:latin typeface="Times New Roman" panose="02020603050405020304" pitchFamily="18" charset="0"/>
                <a:ea typeface="微软雅黑" panose="020B0503020204020204" pitchFamily="34" charset="-122"/>
              </a:rPr>
              <a:t>(c)</a:t>
            </a:r>
            <a:r>
              <a:rPr lang="zh-CN" altLang="en-US" sz="1800">
                <a:uFillTx/>
                <a:latin typeface="Times New Roman" panose="02020603050405020304" pitchFamily="18" charset="0"/>
                <a:ea typeface="微软雅黑" panose="020B0503020204020204" pitchFamily="34" charset="-122"/>
              </a:rPr>
              <a:t>使用半径为</a:t>
            </a:r>
            <a:r>
              <a:rPr lang="en-US" altLang="zh-CN" sz="1800">
                <a:uFillTx/>
                <a:latin typeface="Times New Roman" panose="02020603050405020304" pitchFamily="18" charset="0"/>
                <a:ea typeface="微软雅黑" panose="020B0503020204020204" pitchFamily="34" charset="-122"/>
              </a:rPr>
              <a:t>5</a:t>
            </a:r>
            <a:r>
              <a:rPr lang="zh-CN" altLang="en-US" sz="1800">
                <a:uFillTx/>
                <a:latin typeface="Times New Roman" panose="02020603050405020304" pitchFamily="18" charset="0"/>
                <a:ea typeface="微软雅黑" panose="020B0503020204020204" pitchFamily="34" charset="-122"/>
              </a:rPr>
              <a:t>像素的结构元得到的闭运算</a:t>
            </a: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5770" y="23810"/>
            <a:ext cx="8540750" cy="619108"/>
          </a:xfrm>
        </p:spPr>
        <p:txBody>
          <a:bodyPr/>
          <a:lstStyle/>
          <a:p>
            <a:r>
              <a:rPr lang="en-US" altLang="zh-CN" dirty="0"/>
              <a:t>8. </a:t>
            </a:r>
            <a:r>
              <a:rPr lang="zh-CN" altLang="en-US" dirty="0"/>
              <a:t>形态学平滑</a:t>
            </a:r>
          </a:p>
        </p:txBody>
      </p:sp>
      <p:sp>
        <p:nvSpPr>
          <p:cNvPr id="4" name="灯片编号占位符 3"/>
          <p:cNvSpPr>
            <a:spLocks noGrp="1"/>
          </p:cNvSpPr>
          <p:nvPr>
            <p:ph type="sldNum" sz="quarter" idx="4"/>
          </p:nvPr>
        </p:nvSpPr>
        <p:spPr>
          <a:xfrm>
            <a:off x="3858578" y="6453188"/>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47</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155666" name="Rectangle 18"/>
          <p:cNvSpPr>
            <a:spLocks noChangeArrowheads="1"/>
          </p:cNvSpPr>
          <p:nvPr/>
        </p:nvSpPr>
        <p:spPr bwMode="auto">
          <a:xfrm>
            <a:off x="683568" y="1013529"/>
            <a:ext cx="5537656" cy="784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20000"/>
              </a:spcBef>
              <a:buClr>
                <a:schemeClr val="hlink"/>
              </a:buClr>
              <a:buSzPct val="110000"/>
              <a:buFont typeface="Wingdings" panose="05000000000000000000" pitchFamily="2" charset="2"/>
            </a:pPr>
            <a:r>
              <a:rPr lang="en-US" altLang="zh-CN" sz="1800" b="1" baseline="0" dirty="0" err="1">
                <a:uFillTx/>
                <a:latin typeface="Times New Roman" panose="02020603050405020304" pitchFamily="18" charset="0"/>
                <a:ea typeface="微软雅黑" panose="020B0503020204020204" pitchFamily="34" charset="-122"/>
              </a:rPr>
              <a:t>先采用开</a:t>
            </a:r>
            <a:r>
              <a:rPr lang="zh-CN" altLang="en-US" sz="1800" b="1" baseline="0" dirty="0">
                <a:uFillTx/>
                <a:latin typeface="Times New Roman" panose="02020603050405020304" pitchFamily="18" charset="0"/>
                <a:ea typeface="微软雅黑" panose="020B0503020204020204" pitchFamily="34" charset="-122"/>
              </a:rPr>
              <a:t>运算 （</a:t>
            </a:r>
            <a:r>
              <a:rPr lang="en-US" altLang="zh-CN" sz="1800" b="1" baseline="0" dirty="0" err="1">
                <a:uFillTx/>
                <a:latin typeface="Times New Roman" panose="02020603050405020304" pitchFamily="18" charset="0"/>
                <a:ea typeface="微软雅黑" panose="020B0503020204020204" pitchFamily="34" charset="-122"/>
              </a:rPr>
              <a:t>抑制比结构元小的亮点</a:t>
            </a:r>
            <a:r>
              <a:rPr lang="zh-CN" altLang="en-US" sz="1800" b="1" baseline="0" dirty="0">
                <a:uFillTx/>
                <a:latin typeface="Times New Roman" panose="02020603050405020304" pitchFamily="18" charset="0"/>
                <a:ea typeface="微软雅黑" panose="020B0503020204020204" pitchFamily="34" charset="-122"/>
              </a:rPr>
              <a:t>）</a:t>
            </a:r>
            <a:endParaRPr lang="en-US" altLang="zh-CN" sz="1800" b="1" baseline="0" dirty="0">
              <a:uFillTx/>
              <a:latin typeface="Times New Roman" panose="02020603050405020304" pitchFamily="18" charset="0"/>
              <a:ea typeface="微软雅黑" panose="020B0503020204020204" pitchFamily="34" charset="-122"/>
            </a:endParaRPr>
          </a:p>
          <a:p>
            <a:pPr algn="l">
              <a:lnSpc>
                <a:spcPct val="120000"/>
              </a:lnSpc>
              <a:spcBef>
                <a:spcPct val="20000"/>
              </a:spcBef>
              <a:buClr>
                <a:schemeClr val="hlink"/>
              </a:buClr>
              <a:buSzPct val="110000"/>
              <a:buFont typeface="Wingdings" panose="05000000000000000000" pitchFamily="2" charset="2"/>
            </a:pPr>
            <a:r>
              <a:rPr lang="en-US" altLang="zh-CN" sz="1800" b="1" baseline="0" dirty="0" err="1">
                <a:uFillTx/>
                <a:latin typeface="Times New Roman" panose="02020603050405020304" pitchFamily="18" charset="0"/>
                <a:ea typeface="微软雅黑" panose="020B0503020204020204" pitchFamily="34" charset="-122"/>
              </a:rPr>
              <a:t>然后采用闭</a:t>
            </a:r>
            <a:r>
              <a:rPr lang="zh-CN" altLang="en-US" sz="1800" b="1" baseline="0" dirty="0">
                <a:uFillTx/>
                <a:latin typeface="Times New Roman" panose="02020603050405020304" pitchFamily="18" charset="0"/>
                <a:ea typeface="微软雅黑" panose="020B0503020204020204" pitchFamily="34" charset="-122"/>
              </a:rPr>
              <a:t>运算（</a:t>
            </a:r>
            <a:r>
              <a:rPr lang="en-US" altLang="zh-CN" sz="1800" b="1" baseline="0" dirty="0" err="1">
                <a:uFillTx/>
                <a:latin typeface="Times New Roman" panose="02020603050405020304" pitchFamily="18" charset="0"/>
                <a:ea typeface="微软雅黑" panose="020B0503020204020204" pitchFamily="34" charset="-122"/>
              </a:rPr>
              <a:t>抑制暗细节</a:t>
            </a:r>
            <a:r>
              <a:rPr lang="zh-CN" altLang="en-US" sz="1800" b="1" baseline="0" dirty="0">
                <a:uFillTx/>
                <a:latin typeface="Times New Roman" panose="02020603050405020304" pitchFamily="18" charset="0"/>
                <a:ea typeface="微软雅黑" panose="020B0503020204020204" pitchFamily="34" charset="-122"/>
              </a:rPr>
              <a:t>）</a:t>
            </a:r>
            <a:endParaRPr lang="en-US" altLang="zh-CN" sz="1800" baseline="0" dirty="0">
              <a:uFillTx/>
              <a:latin typeface="Times New Roman" panose="02020603050405020304" pitchFamily="18" charset="0"/>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2700149" y="2168329"/>
            <a:ext cx="3521075" cy="3549650"/>
          </a:xfrm>
          <a:prstGeom prst="rect">
            <a:avLst/>
          </a:prstGeom>
        </p:spPr>
      </p:pic>
      <p:sp>
        <p:nvSpPr>
          <p:cNvPr id="5" name="文本框 4"/>
          <p:cNvSpPr txBox="1"/>
          <p:nvPr/>
        </p:nvSpPr>
        <p:spPr>
          <a:xfrm>
            <a:off x="1619166" y="3018773"/>
            <a:ext cx="1512168" cy="461665"/>
          </a:xfrm>
          <a:prstGeom prst="rect">
            <a:avLst/>
          </a:prstGeom>
          <a:noFill/>
        </p:spPr>
        <p:txBody>
          <a:bodyPr wrap="square" rtlCol="0">
            <a:spAutoFit/>
          </a:bodyPr>
          <a:lstStyle/>
          <a:p>
            <a:r>
              <a:rPr lang="zh-CN" altLang="en-US" baseline="0" dirty="0">
                <a:latin typeface="微软雅黑" panose="020B0503020204020204" pitchFamily="34" charset="-122"/>
                <a:ea typeface="微软雅黑" panose="020B0503020204020204" pitchFamily="34" charset="-122"/>
              </a:rPr>
              <a:t>原图</a:t>
            </a:r>
          </a:p>
        </p:txBody>
      </p:sp>
      <p:sp>
        <p:nvSpPr>
          <p:cNvPr id="9" name="文本框 8"/>
          <p:cNvSpPr txBox="1"/>
          <p:nvPr/>
        </p:nvSpPr>
        <p:spPr>
          <a:xfrm>
            <a:off x="6515710" y="3018773"/>
            <a:ext cx="1944216" cy="368300"/>
          </a:xfrm>
          <a:prstGeom prst="rect">
            <a:avLst/>
          </a:prstGeom>
          <a:noFill/>
        </p:spPr>
        <p:txBody>
          <a:bodyPr wrap="square" rtlCol="0">
            <a:spAutoFit/>
          </a:bodyPr>
          <a:lstStyle/>
          <a:p>
            <a:r>
              <a:rPr lang="zh-CN" altLang="en-US" baseline="0" dirty="0">
                <a:latin typeface="微软雅黑" panose="020B0503020204020204" pitchFamily="34" charset="-122"/>
                <a:ea typeface="微软雅黑" panose="020B0503020204020204" pitchFamily="34" charset="-122"/>
              </a:rPr>
              <a:t>半径</a:t>
            </a:r>
            <a:r>
              <a:rPr lang="en-US" altLang="zh-CN" baseline="0" dirty="0">
                <a:latin typeface="微软雅黑" panose="020B0503020204020204" pitchFamily="34" charset="-122"/>
                <a:ea typeface="微软雅黑" panose="020B0503020204020204" pitchFamily="34" charset="-122"/>
              </a:rPr>
              <a:t>1</a:t>
            </a:r>
            <a:r>
              <a:rPr lang="zh-CN" altLang="en-US" baseline="0" dirty="0">
                <a:latin typeface="微软雅黑" panose="020B0503020204020204" pitchFamily="34" charset="-122"/>
                <a:ea typeface="微软雅黑" panose="020B0503020204020204" pitchFamily="34" charset="-122"/>
              </a:rPr>
              <a:t>平滑</a:t>
            </a:r>
          </a:p>
        </p:txBody>
      </p:sp>
      <p:sp>
        <p:nvSpPr>
          <p:cNvPr id="10" name="文本框 9"/>
          <p:cNvSpPr txBox="1"/>
          <p:nvPr/>
        </p:nvSpPr>
        <p:spPr>
          <a:xfrm>
            <a:off x="1115621" y="5048659"/>
            <a:ext cx="1944216" cy="461665"/>
          </a:xfrm>
          <a:prstGeom prst="rect">
            <a:avLst/>
          </a:prstGeom>
          <a:noFill/>
        </p:spPr>
        <p:txBody>
          <a:bodyPr wrap="square" rtlCol="0">
            <a:spAutoFit/>
          </a:bodyPr>
          <a:lstStyle/>
          <a:p>
            <a:r>
              <a:rPr lang="zh-CN" altLang="en-US" baseline="0" dirty="0">
                <a:latin typeface="微软雅黑" panose="020B0503020204020204" pitchFamily="34" charset="-122"/>
                <a:ea typeface="微软雅黑" panose="020B0503020204020204" pitchFamily="34" charset="-122"/>
              </a:rPr>
              <a:t>半径</a:t>
            </a:r>
            <a:r>
              <a:rPr lang="en-US" altLang="zh-CN" baseline="0" dirty="0">
                <a:latin typeface="微软雅黑" panose="020B0503020204020204" pitchFamily="34" charset="-122"/>
                <a:ea typeface="微软雅黑" panose="020B0503020204020204" pitchFamily="34" charset="-122"/>
              </a:rPr>
              <a:t>3</a:t>
            </a:r>
            <a:r>
              <a:rPr lang="zh-CN" altLang="en-US" baseline="0" dirty="0">
                <a:latin typeface="微软雅黑" panose="020B0503020204020204" pitchFamily="34" charset="-122"/>
                <a:ea typeface="微软雅黑" panose="020B0503020204020204" pitchFamily="34" charset="-122"/>
              </a:rPr>
              <a:t>平滑</a:t>
            </a:r>
          </a:p>
        </p:txBody>
      </p:sp>
      <p:sp>
        <p:nvSpPr>
          <p:cNvPr id="11" name="文本框 10"/>
          <p:cNvSpPr txBox="1"/>
          <p:nvPr/>
        </p:nvSpPr>
        <p:spPr>
          <a:xfrm>
            <a:off x="6516345" y="5048836"/>
            <a:ext cx="1944216" cy="461665"/>
          </a:xfrm>
          <a:prstGeom prst="rect">
            <a:avLst/>
          </a:prstGeom>
          <a:noFill/>
        </p:spPr>
        <p:txBody>
          <a:bodyPr wrap="square" rtlCol="0">
            <a:spAutoFit/>
          </a:bodyPr>
          <a:lstStyle/>
          <a:p>
            <a:r>
              <a:rPr lang="zh-CN" altLang="en-US" baseline="0" dirty="0">
                <a:latin typeface="微软雅黑" panose="020B0503020204020204" pitchFamily="34" charset="-122"/>
                <a:ea typeface="微软雅黑" panose="020B0503020204020204" pitchFamily="34" charset="-122"/>
              </a:rPr>
              <a:t>半径</a:t>
            </a:r>
            <a:r>
              <a:rPr lang="en-US" altLang="zh-CN" baseline="0" dirty="0">
                <a:latin typeface="微软雅黑" panose="020B0503020204020204" pitchFamily="34" charset="-122"/>
                <a:ea typeface="微软雅黑" panose="020B0503020204020204" pitchFamily="34" charset="-122"/>
              </a:rPr>
              <a:t>5</a:t>
            </a:r>
            <a:r>
              <a:rPr lang="zh-CN" altLang="en-US" baseline="0" dirty="0">
                <a:latin typeface="微软雅黑" panose="020B0503020204020204" pitchFamily="34" charset="-122"/>
                <a:ea typeface="微软雅黑" panose="020B0503020204020204" pitchFamily="34" charset="-122"/>
              </a:rPr>
              <a:t>平滑</a:t>
            </a: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9" grpId="0"/>
      <p:bldP spid="9" grpId="1"/>
      <p:bldP spid="10" grpId="0"/>
      <p:bldP spid="10" grpId="1"/>
      <p:bldP spid="11" grpId="0"/>
      <p:bldP spid="11" grpId="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5770" y="23810"/>
            <a:ext cx="8540750" cy="619108"/>
          </a:xfrm>
        </p:spPr>
        <p:txBody>
          <a:bodyPr/>
          <a:lstStyle/>
          <a:p>
            <a:r>
              <a:rPr lang="en-US" altLang="zh-CN" dirty="0"/>
              <a:t>8. </a:t>
            </a:r>
            <a:r>
              <a:rPr lang="zh-CN" altLang="en-US" dirty="0"/>
              <a:t>形态学梯度</a:t>
            </a:r>
          </a:p>
        </p:txBody>
      </p:sp>
      <p:sp>
        <p:nvSpPr>
          <p:cNvPr id="4" name="灯片编号占位符 3"/>
          <p:cNvSpPr>
            <a:spLocks noGrp="1"/>
          </p:cNvSpPr>
          <p:nvPr>
            <p:ph type="sldNum" sz="quarter" idx="4"/>
          </p:nvPr>
        </p:nvSpPr>
        <p:spPr>
          <a:xfrm>
            <a:off x="3858578" y="6453188"/>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48</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graphicFrame>
        <p:nvGraphicFramePr>
          <p:cNvPr id="14" name="对象 13"/>
          <p:cNvGraphicFramePr/>
          <p:nvPr>
            <p:extLst>
              <p:ext uri="{D42A27DB-BD31-4B8C-83A1-F6EECF244321}">
                <p14:modId xmlns:p14="http://schemas.microsoft.com/office/powerpoint/2010/main" val="1850005532"/>
              </p:ext>
            </p:extLst>
          </p:nvPr>
        </p:nvGraphicFramePr>
        <p:xfrm>
          <a:off x="3969886" y="1026572"/>
          <a:ext cx="2347595" cy="455295"/>
        </p:xfrm>
        <a:graphic>
          <a:graphicData uri="http://schemas.openxmlformats.org/presentationml/2006/ole">
            <mc:AlternateContent xmlns:mc="http://schemas.openxmlformats.org/markup-compatibility/2006">
              <mc:Choice xmlns:v="urn:schemas-microsoft-com:vml" Requires="v">
                <p:oleObj spid="_x0000_s153705" name="Equation" r:id="rId3" imgW="1346040" imgH="253800" progId="Equation.DSMT4">
                  <p:embed/>
                </p:oleObj>
              </mc:Choice>
              <mc:Fallback>
                <p:oleObj name="Equation" r:id="rId3" imgW="1346040" imgH="253800" progId="Equation.DSMT4">
                  <p:embed/>
                  <p:pic>
                    <p:nvPicPr>
                      <p:cNvPr id="0" name="图片 8"/>
                      <p:cNvPicPr/>
                      <p:nvPr/>
                    </p:nvPicPr>
                    <p:blipFill>
                      <a:blip r:embed="rId4"/>
                      <a:stretch>
                        <a:fillRect/>
                      </a:stretch>
                    </p:blipFill>
                    <p:spPr>
                      <a:xfrm>
                        <a:off x="3969886" y="1026572"/>
                        <a:ext cx="2347595" cy="455295"/>
                      </a:xfrm>
                      <a:prstGeom prst="rect">
                        <a:avLst/>
                      </a:prstGeom>
                    </p:spPr>
                  </p:pic>
                </p:oleObj>
              </mc:Fallback>
            </mc:AlternateContent>
          </a:graphicData>
        </a:graphic>
      </p:graphicFrame>
      <p:pic>
        <p:nvPicPr>
          <p:cNvPr id="13" name="图片 12"/>
          <p:cNvPicPr>
            <a:picLocks noChangeAspect="1"/>
          </p:cNvPicPr>
          <p:nvPr/>
        </p:nvPicPr>
        <p:blipFill>
          <a:blip r:embed="rId5"/>
          <a:stretch>
            <a:fillRect/>
          </a:stretch>
        </p:blipFill>
        <p:spPr>
          <a:xfrm>
            <a:off x="4067810" y="2132330"/>
            <a:ext cx="3801745" cy="3810635"/>
          </a:xfrm>
          <a:prstGeom prst="rect">
            <a:avLst/>
          </a:prstGeom>
        </p:spPr>
      </p:pic>
      <p:sp>
        <p:nvSpPr>
          <p:cNvPr id="16" name="文本框 15"/>
          <p:cNvSpPr txBox="1"/>
          <p:nvPr/>
        </p:nvSpPr>
        <p:spPr>
          <a:xfrm>
            <a:off x="445770" y="2276872"/>
            <a:ext cx="3399095" cy="2515432"/>
          </a:xfrm>
          <a:prstGeom prst="rect">
            <a:avLst/>
          </a:prstGeom>
          <a:noFill/>
        </p:spPr>
        <p:txBody>
          <a:bodyPr wrap="square" rtlCol="0" anchor="t">
            <a:spAutoFit/>
          </a:bodyPr>
          <a:lstStyle/>
          <a:p>
            <a:pPr algn="just">
              <a:lnSpc>
                <a:spcPct val="180000"/>
              </a:lnSpc>
              <a:buClrTx/>
              <a:buSzTx/>
              <a:buNone/>
            </a:pPr>
            <a:r>
              <a:rPr lang="en-US" altLang="zh-CN" sz="1800" dirty="0">
                <a:uFillTx/>
                <a:latin typeface="Times New Roman" panose="02020603050405020304" pitchFamily="18" charset="0"/>
                <a:ea typeface="微软雅黑" panose="020B0503020204020204" pitchFamily="34" charset="-122"/>
              </a:rPr>
              <a:t>(a)512x512 </a:t>
            </a:r>
            <a:r>
              <a:rPr lang="en-US" altLang="zh-CN" sz="1800" dirty="0" err="1">
                <a:uFillTx/>
                <a:latin typeface="Times New Roman" panose="02020603050405020304" pitchFamily="18" charset="0"/>
                <a:ea typeface="微软雅黑" panose="020B0503020204020204" pitchFamily="34" charset="-122"/>
              </a:rPr>
              <a:t>的头部</a:t>
            </a:r>
            <a:r>
              <a:rPr lang="en-US" altLang="zh-CN" sz="1800" dirty="0">
                <a:uFillTx/>
                <a:latin typeface="Times New Roman" panose="02020603050405020304" pitchFamily="18" charset="0"/>
                <a:ea typeface="微软雅黑" panose="020B0503020204020204" pitchFamily="34" charset="-122"/>
              </a:rPr>
              <a:t> CT </a:t>
            </a:r>
            <a:r>
              <a:rPr lang="en-US" altLang="zh-CN" sz="1800" dirty="0" err="1">
                <a:uFillTx/>
                <a:latin typeface="Times New Roman" panose="02020603050405020304" pitchFamily="18" charset="0"/>
                <a:ea typeface="微软雅黑" panose="020B0503020204020204" pitchFamily="34" charset="-122"/>
              </a:rPr>
              <a:t>扫描图像</a:t>
            </a:r>
            <a:r>
              <a:rPr lang="en-US" altLang="zh-CN" sz="1800" dirty="0">
                <a:uFillTx/>
                <a:latin typeface="Times New Roman" panose="02020603050405020304" pitchFamily="18" charset="0"/>
                <a:ea typeface="微软雅黑" panose="020B0503020204020204" pitchFamily="34" charset="-122"/>
              </a:rPr>
              <a:t>;</a:t>
            </a:r>
          </a:p>
          <a:p>
            <a:pPr algn="just">
              <a:lnSpc>
                <a:spcPct val="180000"/>
              </a:lnSpc>
              <a:buClrTx/>
              <a:buSzTx/>
              <a:buNone/>
            </a:pPr>
            <a:r>
              <a:rPr lang="en-US" altLang="zh-CN" sz="1800" dirty="0">
                <a:uFillTx/>
                <a:latin typeface="Times New Roman" panose="02020603050405020304" pitchFamily="18" charset="0"/>
                <a:ea typeface="微软雅黑" panose="020B0503020204020204" pitchFamily="34" charset="-122"/>
              </a:rPr>
              <a:t>(b)</a:t>
            </a:r>
            <a:r>
              <a:rPr lang="en-US" altLang="zh-CN" sz="1800" dirty="0" err="1">
                <a:uFillTx/>
                <a:latin typeface="Times New Roman" panose="02020603050405020304" pitchFamily="18" charset="0"/>
                <a:ea typeface="微软雅黑" panose="020B0503020204020204" pitchFamily="34" charset="-122"/>
              </a:rPr>
              <a:t>膨胀后的图像</a:t>
            </a:r>
            <a:r>
              <a:rPr lang="en-US" altLang="zh-CN" sz="1800" dirty="0">
                <a:uFillTx/>
                <a:latin typeface="Times New Roman" panose="02020603050405020304" pitchFamily="18" charset="0"/>
                <a:ea typeface="微软雅黑" panose="020B0503020204020204" pitchFamily="34" charset="-122"/>
              </a:rPr>
              <a:t>;</a:t>
            </a:r>
          </a:p>
          <a:p>
            <a:pPr algn="just">
              <a:lnSpc>
                <a:spcPct val="180000"/>
              </a:lnSpc>
              <a:buClrTx/>
              <a:buSzTx/>
              <a:buNone/>
            </a:pPr>
            <a:r>
              <a:rPr lang="en-US" altLang="zh-CN" sz="1800" dirty="0">
                <a:uFillTx/>
                <a:latin typeface="Times New Roman" panose="02020603050405020304" pitchFamily="18" charset="0"/>
                <a:ea typeface="微软雅黑" panose="020B0503020204020204" pitchFamily="34" charset="-122"/>
              </a:rPr>
              <a:t>(c)</a:t>
            </a:r>
            <a:r>
              <a:rPr lang="en-US" altLang="zh-CN" sz="1800" dirty="0" err="1">
                <a:uFillTx/>
                <a:latin typeface="Times New Roman" panose="02020603050405020304" pitchFamily="18" charset="0"/>
                <a:ea typeface="微软雅黑" panose="020B0503020204020204" pitchFamily="34" charset="-122"/>
              </a:rPr>
              <a:t>腐蚀后的图像</a:t>
            </a:r>
            <a:r>
              <a:rPr lang="en-US" altLang="zh-CN" sz="1800" dirty="0">
                <a:uFillTx/>
                <a:latin typeface="Times New Roman" panose="02020603050405020304" pitchFamily="18" charset="0"/>
                <a:ea typeface="微软雅黑" panose="020B0503020204020204" pitchFamily="34" charset="-122"/>
              </a:rPr>
              <a:t>;</a:t>
            </a:r>
          </a:p>
          <a:p>
            <a:pPr algn="just">
              <a:lnSpc>
                <a:spcPct val="180000"/>
              </a:lnSpc>
              <a:buClrTx/>
              <a:buSzTx/>
              <a:buNone/>
            </a:pPr>
            <a:r>
              <a:rPr lang="en-US" altLang="zh-CN" sz="1800" dirty="0">
                <a:uFillTx/>
                <a:latin typeface="Times New Roman" panose="02020603050405020304" pitchFamily="18" charset="0"/>
                <a:ea typeface="微软雅黑" panose="020B0503020204020204" pitchFamily="34" charset="-122"/>
              </a:rPr>
              <a:t>(d)</a:t>
            </a:r>
            <a:r>
              <a:rPr lang="en-US" altLang="zh-CN" sz="1800" dirty="0" err="1">
                <a:uFillTx/>
                <a:latin typeface="Times New Roman" panose="02020603050405020304" pitchFamily="18" charset="0"/>
                <a:ea typeface="微软雅黑" panose="020B0503020204020204" pitchFamily="34" charset="-122"/>
              </a:rPr>
              <a:t>根据图</a:t>
            </a:r>
            <a:r>
              <a:rPr lang="en-US" altLang="zh-CN" sz="1800" dirty="0">
                <a:uFillTx/>
                <a:latin typeface="Times New Roman" panose="02020603050405020304" pitchFamily="18" charset="0"/>
                <a:ea typeface="微软雅黑" panose="020B0503020204020204" pitchFamily="34" charset="-122"/>
              </a:rPr>
              <a:t>(b)</a:t>
            </a:r>
            <a:r>
              <a:rPr lang="en-US" altLang="zh-CN" sz="1800" dirty="0" err="1">
                <a:uFillTx/>
                <a:latin typeface="Times New Roman" panose="02020603050405020304" pitchFamily="18" charset="0"/>
                <a:ea typeface="微软雅黑" panose="020B0503020204020204" pitchFamily="34" charset="-122"/>
              </a:rPr>
              <a:t>和图</a:t>
            </a:r>
            <a:r>
              <a:rPr lang="en-US" altLang="zh-CN" sz="1800" dirty="0">
                <a:uFillTx/>
                <a:latin typeface="Times New Roman" panose="02020603050405020304" pitchFamily="18" charset="0"/>
                <a:ea typeface="微软雅黑" panose="020B0503020204020204" pitchFamily="34" charset="-122"/>
              </a:rPr>
              <a:t>(c)</a:t>
            </a:r>
            <a:r>
              <a:rPr lang="en-US" altLang="zh-CN" sz="1800" dirty="0" err="1">
                <a:uFillTx/>
                <a:latin typeface="Times New Roman" panose="02020603050405020304" pitchFamily="18" charset="0"/>
                <a:ea typeface="微软雅黑" panose="020B0503020204020204" pitchFamily="34" charset="-122"/>
              </a:rPr>
              <a:t>的差计算得到的形态学梯度</a:t>
            </a:r>
            <a:endParaRPr lang="en-US" altLang="zh-CN" sz="1800" dirty="0">
              <a:uFillTx/>
              <a:latin typeface="Times New Roman" panose="02020603050405020304" pitchFamily="18" charset="0"/>
              <a:ea typeface="微软雅黑" panose="020B0503020204020204" pitchFamily="34" charset="-122"/>
            </a:endParaRPr>
          </a:p>
        </p:txBody>
      </p:sp>
      <p:sp>
        <p:nvSpPr>
          <p:cNvPr id="197643" name="Rectangle 11"/>
          <p:cNvSpPr>
            <a:spLocks noChangeArrowheads="1"/>
          </p:cNvSpPr>
          <p:nvPr/>
        </p:nvSpPr>
        <p:spPr bwMode="auto">
          <a:xfrm>
            <a:off x="5795963" y="1700213"/>
            <a:ext cx="3021981" cy="38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spcBef>
                <a:spcPct val="20000"/>
              </a:spcBef>
              <a:buClr>
                <a:schemeClr val="hlink"/>
              </a:buClr>
              <a:buSzPct val="110000"/>
              <a:buFont typeface="Wingdings" panose="05000000000000000000" pitchFamily="2" charset="2"/>
              <a:buNone/>
            </a:pPr>
            <a:r>
              <a:rPr lang="zh-CN" altLang="en-US" baseline="0" dirty="0">
                <a:latin typeface="微软雅黑" panose="020B0503020204020204" pitchFamily="34" charset="-122"/>
                <a:ea typeface="微软雅黑" panose="020B0503020204020204" pitchFamily="34" charset="-122"/>
              </a:rPr>
              <a:t>使用全</a:t>
            </a:r>
            <a:r>
              <a:rPr lang="en-US" altLang="zh-CN" baseline="0" dirty="0">
                <a:latin typeface="微软雅黑" panose="020B0503020204020204" pitchFamily="34" charset="-122"/>
                <a:ea typeface="微软雅黑" panose="020B0503020204020204" pitchFamily="34" charset="-122"/>
              </a:rPr>
              <a:t>1</a:t>
            </a:r>
            <a:r>
              <a:rPr lang="zh-CN" altLang="en-US" baseline="0" dirty="0">
                <a:latin typeface="微软雅黑" panose="020B0503020204020204" pitchFamily="34" charset="-122"/>
                <a:ea typeface="微软雅黑" panose="020B0503020204020204" pitchFamily="34" charset="-122"/>
              </a:rPr>
              <a:t>的</a:t>
            </a:r>
            <a:r>
              <a:rPr lang="en-US" altLang="zh-CN" baseline="0" dirty="0">
                <a:latin typeface="微软雅黑" panose="020B0503020204020204" pitchFamily="34" charset="-122"/>
                <a:ea typeface="微软雅黑" panose="020B0503020204020204" pitchFamily="34" charset="-122"/>
              </a:rPr>
              <a:t>3*3</a:t>
            </a:r>
            <a:r>
              <a:rPr lang="zh-CN" altLang="en-US" baseline="0" dirty="0">
                <a:latin typeface="微软雅黑" panose="020B0503020204020204" pitchFamily="34" charset="-122"/>
                <a:ea typeface="微软雅黑" panose="020B0503020204020204" pitchFamily="34" charset="-122"/>
              </a:rPr>
              <a:t>结构元</a:t>
            </a:r>
          </a:p>
        </p:txBody>
      </p:sp>
      <p:pic>
        <p:nvPicPr>
          <p:cNvPr id="17" name="图片 16"/>
          <p:cNvPicPr>
            <a:picLocks noChangeAspect="1"/>
          </p:cNvPicPr>
          <p:nvPr/>
        </p:nvPicPr>
        <p:blipFill>
          <a:blip r:embed="rId6"/>
          <a:stretch>
            <a:fillRect/>
          </a:stretch>
        </p:blipFill>
        <p:spPr>
          <a:xfrm>
            <a:off x="4932045" y="5949315"/>
            <a:ext cx="452755" cy="371475"/>
          </a:xfrm>
          <a:prstGeom prst="rect">
            <a:avLst/>
          </a:prstGeom>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7AC32DA-22AD-4982-B17A-F9AE7BD6A654}"/>
                  </a:ext>
                </a:extLst>
              </p:cNvPr>
              <p:cNvSpPr/>
              <p:nvPr/>
            </p:nvSpPr>
            <p:spPr>
              <a:xfrm>
                <a:off x="539552" y="911045"/>
                <a:ext cx="3434273" cy="521040"/>
              </a:xfrm>
              <a:prstGeom prst="rect">
                <a:avLst/>
              </a:prstGeom>
            </p:spPr>
            <p:txBody>
              <a:bodyPr wrap="none">
                <a:spAutoFit/>
              </a:bodyPr>
              <a:lstStyle/>
              <a:p>
                <a:pPr algn="just">
                  <a:lnSpc>
                    <a:spcPct val="180000"/>
                  </a:lnSpc>
                </a:pPr>
                <a:r>
                  <a:rPr lang="zh-CN" altLang="en-US" dirty="0">
                    <a:latin typeface="Times New Roman" panose="02020603050405020304" pitchFamily="18" charset="0"/>
                    <a:ea typeface="微软雅黑" panose="020B0503020204020204" pitchFamily="34" charset="-122"/>
                  </a:rPr>
                  <a:t>灰度图像</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𝑓</m:t>
                    </m:r>
                  </m:oMath>
                </a14:m>
                <a:r>
                  <a:rPr lang="zh-CN" altLang="en-US" dirty="0">
                    <a:latin typeface="Times New Roman" panose="02020603050405020304" pitchFamily="18" charset="0"/>
                    <a:ea typeface="微软雅黑" panose="020B0503020204020204" pitchFamily="34" charset="-122"/>
                  </a:rPr>
                  <a:t>的形态学梯度</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𝑔</m:t>
                    </m:r>
                  </m:oMath>
                </a14:m>
                <a:r>
                  <a:rPr lang="zh-CN" altLang="en-US" dirty="0">
                    <a:latin typeface="Times New Roman" panose="02020603050405020304" pitchFamily="18" charset="0"/>
                    <a:ea typeface="微软雅黑" panose="020B0503020204020204" pitchFamily="34" charset="-122"/>
                  </a:rPr>
                  <a:t>定义：</a:t>
                </a:r>
                <a:endParaRPr lang="en-US" altLang="zh-CN" dirty="0">
                  <a:latin typeface="Times New Roman" panose="02020603050405020304" pitchFamily="18" charset="0"/>
                  <a:ea typeface="微软雅黑" panose="020B0503020204020204" pitchFamily="34" charset="-122"/>
                </a:endParaRPr>
              </a:p>
            </p:txBody>
          </p:sp>
        </mc:Choice>
        <mc:Fallback xmlns="">
          <p:sp>
            <p:nvSpPr>
              <p:cNvPr id="2" name="矩形 1">
                <a:extLst>
                  <a:ext uri="{FF2B5EF4-FFF2-40B4-BE49-F238E27FC236}">
                    <a16:creationId xmlns:a16="http://schemas.microsoft.com/office/drawing/2014/main" id="{A7AC32DA-22AD-4982-B17A-F9AE7BD6A654}"/>
                  </a:ext>
                </a:extLst>
              </p:cNvPr>
              <p:cNvSpPr>
                <a:spLocks noRot="1" noChangeAspect="1" noMove="1" noResize="1" noEditPoints="1" noAdjustHandles="1" noChangeArrowheads="1" noChangeShapeType="1" noTextEdit="1"/>
              </p:cNvSpPr>
              <p:nvPr/>
            </p:nvSpPr>
            <p:spPr>
              <a:xfrm>
                <a:off x="539552" y="911045"/>
                <a:ext cx="3434273" cy="521040"/>
              </a:xfrm>
              <a:prstGeom prst="rect">
                <a:avLst/>
              </a:prstGeom>
              <a:blipFill>
                <a:blip r:embed="rId7"/>
                <a:stretch>
                  <a:fillRect l="-1599" r="-1954" b="-17442"/>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764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197643" grpId="0" animBg="1"/>
      <p:bldP spid="197643"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5770" y="23810"/>
            <a:ext cx="8540750" cy="619108"/>
          </a:xfrm>
        </p:spPr>
        <p:txBody>
          <a:bodyPr/>
          <a:lstStyle/>
          <a:p>
            <a:r>
              <a:rPr lang="en-US" altLang="zh-CN" dirty="0"/>
              <a:t>8. </a:t>
            </a:r>
            <a:r>
              <a:rPr lang="zh-CN" altLang="en-US" dirty="0"/>
              <a:t>顶帽变换和底帽变换</a:t>
            </a:r>
          </a:p>
        </p:txBody>
      </p:sp>
      <p:sp>
        <p:nvSpPr>
          <p:cNvPr id="4" name="灯片编号占位符 3"/>
          <p:cNvSpPr>
            <a:spLocks noGrp="1"/>
          </p:cNvSpPr>
          <p:nvPr>
            <p:ph type="sldNum" sz="quarter" idx="4"/>
          </p:nvPr>
        </p:nvSpPr>
        <p:spPr>
          <a:xfrm>
            <a:off x="3858578" y="6453188"/>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49</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graphicFrame>
        <p:nvGraphicFramePr>
          <p:cNvPr id="157715" name="Object 19"/>
          <p:cNvGraphicFramePr>
            <a:graphicFrameLocks noChangeAspect="1"/>
          </p:cNvGraphicFramePr>
          <p:nvPr>
            <p:custDataLst>
              <p:tags r:id="rId2"/>
            </p:custDataLst>
            <p:extLst>
              <p:ext uri="{D42A27DB-BD31-4B8C-83A1-F6EECF244321}">
                <p14:modId xmlns:p14="http://schemas.microsoft.com/office/powerpoint/2010/main" val="4201253098"/>
              </p:ext>
            </p:extLst>
          </p:nvPr>
        </p:nvGraphicFramePr>
        <p:xfrm>
          <a:off x="719940" y="975323"/>
          <a:ext cx="2063826" cy="504000"/>
        </p:xfrm>
        <a:graphic>
          <a:graphicData uri="http://schemas.openxmlformats.org/presentationml/2006/ole">
            <mc:AlternateContent xmlns:mc="http://schemas.openxmlformats.org/markup-compatibility/2006">
              <mc:Choice xmlns:v="urn:schemas-microsoft-com:vml" Requires="v">
                <p:oleObj spid="_x0000_s154996" name="Equation" r:id="rId7" imgW="927100" imgH="228600" progId="Equation.DSMT4">
                  <p:embed/>
                </p:oleObj>
              </mc:Choice>
              <mc:Fallback>
                <p:oleObj name="Equation" r:id="rId7" imgW="927100" imgH="228600" progId="Equation.DSMT4">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9940" y="975323"/>
                        <a:ext cx="2063826" cy="50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7729" name="Rectangle 33"/>
          <p:cNvSpPr>
            <a:spLocks noChangeArrowheads="1"/>
          </p:cNvSpPr>
          <p:nvPr>
            <p:custDataLst>
              <p:tags r:id="rId3"/>
            </p:custDataLst>
          </p:nvPr>
        </p:nvSpPr>
        <p:spPr bwMode="auto">
          <a:xfrm>
            <a:off x="3046730" y="1043080"/>
            <a:ext cx="4526280" cy="312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0000"/>
              </a:lnSpc>
              <a:spcBef>
                <a:spcPct val="20000"/>
              </a:spcBef>
              <a:buClr>
                <a:schemeClr val="hlink"/>
              </a:buClr>
              <a:buSzPct val="110000"/>
              <a:buFont typeface="Wingdings" panose="05000000000000000000" pitchFamily="2" charset="2"/>
              <a:buNone/>
            </a:pPr>
            <a:r>
              <a:rPr lang="zh-CN" altLang="en-US" sz="1800" baseline="0" dirty="0">
                <a:latin typeface="微软雅黑" panose="020B0503020204020204" pitchFamily="34" charset="-122"/>
                <a:ea typeface="微软雅黑" panose="020B0503020204020204" pitchFamily="34" charset="-122"/>
              </a:rPr>
              <a:t>亦称“白顶帽”变换，用于暗背景上亮物体</a:t>
            </a:r>
          </a:p>
        </p:txBody>
      </p:sp>
      <p:graphicFrame>
        <p:nvGraphicFramePr>
          <p:cNvPr id="157730" name="Object 34"/>
          <p:cNvGraphicFramePr>
            <a:graphicFrameLocks noChangeAspect="1"/>
          </p:cNvGraphicFramePr>
          <p:nvPr>
            <p:custDataLst>
              <p:tags r:id="rId4"/>
            </p:custDataLst>
            <p:extLst>
              <p:ext uri="{D42A27DB-BD31-4B8C-83A1-F6EECF244321}">
                <p14:modId xmlns:p14="http://schemas.microsoft.com/office/powerpoint/2010/main" val="434659906"/>
              </p:ext>
            </p:extLst>
          </p:nvPr>
        </p:nvGraphicFramePr>
        <p:xfrm>
          <a:off x="675014" y="1613761"/>
          <a:ext cx="2153678" cy="504000"/>
        </p:xfrm>
        <a:graphic>
          <a:graphicData uri="http://schemas.openxmlformats.org/presentationml/2006/ole">
            <mc:AlternateContent xmlns:mc="http://schemas.openxmlformats.org/markup-compatibility/2006">
              <mc:Choice xmlns:v="urn:schemas-microsoft-com:vml" Requires="v">
                <p:oleObj spid="_x0000_s154997" name="Equation" r:id="rId9" imgW="965200" imgH="228600" progId="Equation.DSMT4">
                  <p:embed/>
                </p:oleObj>
              </mc:Choice>
              <mc:Fallback>
                <p:oleObj name="Equation" r:id="rId9" imgW="965200" imgH="228600" progId="Equation.DSMT4">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5014" y="1613761"/>
                        <a:ext cx="2153678" cy="50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3"/>
          <p:cNvSpPr>
            <a:spLocks noChangeArrowheads="1"/>
          </p:cNvSpPr>
          <p:nvPr>
            <p:custDataLst>
              <p:tags r:id="rId5"/>
            </p:custDataLst>
          </p:nvPr>
        </p:nvSpPr>
        <p:spPr bwMode="auto">
          <a:xfrm>
            <a:off x="3046730" y="1729443"/>
            <a:ext cx="4526280" cy="312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0000"/>
              </a:lnSpc>
              <a:spcBef>
                <a:spcPct val="20000"/>
              </a:spcBef>
              <a:buClr>
                <a:schemeClr val="hlink"/>
              </a:buClr>
              <a:buSzPct val="110000"/>
              <a:buFont typeface="Wingdings" panose="05000000000000000000" pitchFamily="2" charset="2"/>
              <a:buNone/>
            </a:pPr>
            <a:r>
              <a:rPr lang="zh-CN" altLang="en-US" sz="1800" baseline="0" dirty="0">
                <a:latin typeface="微软雅黑" panose="020B0503020204020204" pitchFamily="34" charset="-122"/>
                <a:ea typeface="微软雅黑" panose="020B0503020204020204" pitchFamily="34" charset="-122"/>
              </a:rPr>
              <a:t>亦称“黑底帽”变换，用于亮背景上暗物体</a:t>
            </a:r>
          </a:p>
        </p:txBody>
      </p:sp>
      <p:pic>
        <p:nvPicPr>
          <p:cNvPr id="2" name="图片 1"/>
          <p:cNvPicPr>
            <a:picLocks noChangeAspect="1"/>
          </p:cNvPicPr>
          <p:nvPr/>
        </p:nvPicPr>
        <p:blipFill>
          <a:blip r:embed="rId11"/>
          <a:stretch>
            <a:fillRect/>
          </a:stretch>
        </p:blipFill>
        <p:spPr>
          <a:xfrm>
            <a:off x="1893982" y="2387448"/>
            <a:ext cx="4887595" cy="3293110"/>
          </a:xfrm>
          <a:prstGeom prst="rect">
            <a:avLst/>
          </a:prstGeom>
        </p:spPr>
      </p:pic>
      <p:sp>
        <p:nvSpPr>
          <p:cNvPr id="7" name="文本框 6"/>
          <p:cNvSpPr txBox="1"/>
          <p:nvPr/>
        </p:nvSpPr>
        <p:spPr>
          <a:xfrm>
            <a:off x="1589302" y="2917601"/>
            <a:ext cx="1000125" cy="368300"/>
          </a:xfrm>
          <a:prstGeom prst="rect">
            <a:avLst/>
          </a:prstGeom>
          <a:noFill/>
        </p:spPr>
        <p:txBody>
          <a:bodyPr wrap="square" rtlCol="0" anchor="t">
            <a:spAutoFit/>
          </a:bodyPr>
          <a:lstStyle/>
          <a:p>
            <a:r>
              <a:rPr lang="zh-CN" altLang="en-US" sz="1800">
                <a:latin typeface="微软雅黑" panose="020B0503020204020204" pitchFamily="34" charset="-122"/>
                <a:ea typeface="微软雅黑" panose="020B0503020204020204" pitchFamily="34" charset="-122"/>
                <a:sym typeface="+mn-ea"/>
              </a:rPr>
              <a:t>原图像</a:t>
            </a:r>
          </a:p>
        </p:txBody>
      </p:sp>
      <p:sp>
        <p:nvSpPr>
          <p:cNvPr id="8" name="文本框 7"/>
          <p:cNvSpPr txBox="1"/>
          <p:nvPr/>
        </p:nvSpPr>
        <p:spPr>
          <a:xfrm>
            <a:off x="5917462" y="2989991"/>
            <a:ext cx="2143125" cy="368300"/>
          </a:xfrm>
          <a:prstGeom prst="rect">
            <a:avLst/>
          </a:prstGeom>
          <a:noFill/>
        </p:spPr>
        <p:txBody>
          <a:bodyPr wrap="square" rtlCol="0" anchor="t">
            <a:spAutoFit/>
          </a:bodyPr>
          <a:lstStyle/>
          <a:p>
            <a:r>
              <a:rPr lang="zh-CN" altLang="en-US" sz="1800" dirty="0">
                <a:latin typeface="微软雅黑" panose="020B0503020204020204" pitchFamily="34" charset="-122"/>
                <a:ea typeface="微软雅黑" panose="020B0503020204020204" pitchFamily="34" charset="-122"/>
                <a:sym typeface="+mn-ea"/>
              </a:rPr>
              <a:t>阈值处理后的图像</a:t>
            </a:r>
          </a:p>
        </p:txBody>
      </p:sp>
      <p:sp>
        <p:nvSpPr>
          <p:cNvPr id="10" name="文本框 9"/>
          <p:cNvSpPr txBox="1"/>
          <p:nvPr/>
        </p:nvSpPr>
        <p:spPr>
          <a:xfrm>
            <a:off x="653312" y="5644501"/>
            <a:ext cx="2363470" cy="368300"/>
          </a:xfrm>
          <a:prstGeom prst="rect">
            <a:avLst/>
          </a:prstGeom>
          <a:noFill/>
        </p:spPr>
        <p:txBody>
          <a:bodyPr wrap="square" rtlCol="0" anchor="t">
            <a:spAutoFit/>
          </a:bodyPr>
          <a:lstStyle/>
          <a:p>
            <a:r>
              <a:rPr lang="zh-CN" altLang="en-US" sz="1800">
                <a:latin typeface="微软雅黑" panose="020B0503020204020204" pitchFamily="34" charset="-122"/>
                <a:ea typeface="微软雅黑" panose="020B0503020204020204" pitchFamily="34" charset="-122"/>
                <a:sym typeface="+mn-ea"/>
              </a:rPr>
              <a:t>半径 40 结构开运算</a:t>
            </a:r>
          </a:p>
        </p:txBody>
      </p:sp>
      <p:sp>
        <p:nvSpPr>
          <p:cNvPr id="11" name="文本框 10"/>
          <p:cNvSpPr txBox="1"/>
          <p:nvPr/>
        </p:nvSpPr>
        <p:spPr>
          <a:xfrm>
            <a:off x="3317772" y="5644501"/>
            <a:ext cx="2244090" cy="368300"/>
          </a:xfrm>
          <a:prstGeom prst="rect">
            <a:avLst/>
          </a:prstGeom>
          <a:noFill/>
        </p:spPr>
        <p:txBody>
          <a:bodyPr wrap="square" rtlCol="0" anchor="t">
            <a:spAutoFit/>
          </a:bodyPr>
          <a:lstStyle/>
          <a:p>
            <a:r>
              <a:rPr lang="zh-CN" altLang="en-US" sz="1800">
                <a:latin typeface="微软雅黑" panose="020B0503020204020204" pitchFamily="34" charset="-122"/>
                <a:ea typeface="微软雅黑" panose="020B0503020204020204" pitchFamily="34" charset="-122"/>
                <a:sym typeface="+mn-ea"/>
              </a:rPr>
              <a:t>顶帽变换后的图像</a:t>
            </a:r>
          </a:p>
        </p:txBody>
      </p:sp>
      <p:sp>
        <p:nvSpPr>
          <p:cNvPr id="18" name="文本框 17"/>
          <p:cNvSpPr txBox="1"/>
          <p:nvPr/>
        </p:nvSpPr>
        <p:spPr>
          <a:xfrm>
            <a:off x="5596394" y="5705364"/>
            <a:ext cx="2464193" cy="280670"/>
          </a:xfrm>
          <a:prstGeom prst="rect">
            <a:avLst/>
          </a:prstGeom>
          <a:noFill/>
        </p:spPr>
        <p:txBody>
          <a:bodyPr wrap="square" rtlCol="0" anchor="t">
            <a:noAutofit/>
          </a:bodyPr>
          <a:lstStyle/>
          <a:p>
            <a:pPr algn="l">
              <a:lnSpc>
                <a:spcPct val="100000"/>
              </a:lnSpc>
              <a:buClrTx/>
              <a:buSzTx/>
              <a:buFontTx/>
              <a:buNone/>
            </a:pPr>
            <a:r>
              <a:rPr lang="zh-CN" altLang="en-US" sz="1800" dirty="0">
                <a:latin typeface="微软雅黑" panose="020B0503020204020204" pitchFamily="34" charset="-122"/>
                <a:ea typeface="微软雅黑" panose="020B0503020204020204" pitchFamily="34" charset="-122"/>
                <a:sym typeface="+mn-ea"/>
              </a:rPr>
              <a:t>经阈值处理后的结果</a:t>
            </a: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29" grpId="1" animBg="1"/>
      <p:bldP spid="9" grpId="1" animBg="1"/>
      <p:bldP spid="7" grpId="0"/>
      <p:bldP spid="7" grpId="1"/>
      <p:bldP spid="8" grpId="0"/>
      <p:bldP spid="8" grpId="1"/>
      <p:bldP spid="10" grpId="0"/>
      <p:bldP spid="10" grpId="1"/>
      <p:bldP spid="11" grpId="0"/>
      <p:bldP spid="11" grpId="1"/>
      <p:bldP spid="18" grpId="0"/>
      <p:bldP spid="18"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5770" y="23810"/>
            <a:ext cx="8540750" cy="619108"/>
          </a:xfrm>
        </p:spPr>
        <p:txBody>
          <a:bodyPr/>
          <a:lstStyle/>
          <a:p>
            <a:r>
              <a:rPr lang="en-US" altLang="zh-CN" dirty="0"/>
              <a:t>8. </a:t>
            </a:r>
            <a:r>
              <a:rPr lang="zh-CN" altLang="en-US" dirty="0"/>
              <a:t>粒度测定</a:t>
            </a:r>
          </a:p>
        </p:txBody>
      </p:sp>
      <p:sp>
        <p:nvSpPr>
          <p:cNvPr id="4" name="灯片编号占位符 3"/>
          <p:cNvSpPr>
            <a:spLocks noGrp="1"/>
          </p:cNvSpPr>
          <p:nvPr>
            <p:ph type="sldNum" sz="quarter" idx="4"/>
          </p:nvPr>
        </p:nvSpPr>
        <p:spPr>
          <a:xfrm>
            <a:off x="3858578" y="6453188"/>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50</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158735" name="Rectangle 15"/>
          <p:cNvSpPr>
            <a:spLocks noChangeArrowheads="1"/>
          </p:cNvSpPr>
          <p:nvPr/>
        </p:nvSpPr>
        <p:spPr bwMode="auto">
          <a:xfrm>
            <a:off x="723582" y="983957"/>
            <a:ext cx="7553325" cy="108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20000"/>
              </a:lnSpc>
            </a:pPr>
            <a:r>
              <a:rPr lang="zh-CN" altLang="en-US" baseline="0" dirty="0">
                <a:latin typeface="微软雅黑" panose="020B0503020204020204" pitchFamily="34" charset="-122"/>
                <a:ea typeface="微软雅黑" panose="020B0503020204020204" pitchFamily="34" charset="-122"/>
              </a:rPr>
              <a:t>使用逐渐增大的结构元对图像进行开运算。</a:t>
            </a:r>
            <a:r>
              <a:rPr lang="zh-CN" altLang="en-US" baseline="0" dirty="0">
                <a:solidFill>
                  <a:srgbClr val="FF0000"/>
                </a:solidFill>
                <a:latin typeface="微软雅黑" panose="020B0503020204020204" pitchFamily="34" charset="-122"/>
                <a:ea typeface="微软雅黑" panose="020B0503020204020204" pitchFamily="34" charset="-122"/>
              </a:rPr>
              <a:t>某个特殊尺寸的开运算对包含类似尺寸的颗粒的输入图像的区域产生最大的效果。</a:t>
            </a:r>
            <a:r>
              <a:rPr lang="zh-CN" altLang="en-US" baseline="0" dirty="0">
                <a:latin typeface="微软雅黑" panose="020B0503020204020204" pitchFamily="34" charset="-122"/>
                <a:ea typeface="微软雅黑" panose="020B0503020204020204" pitchFamily="34" charset="-122"/>
              </a:rPr>
              <a:t>通过计算输入图像和输出图像之间的差异可以对相近尺寸颗粒的相对数量进行测算。</a:t>
            </a:r>
          </a:p>
        </p:txBody>
      </p:sp>
      <p:grpSp>
        <p:nvGrpSpPr>
          <p:cNvPr id="2" name="组合 1">
            <a:extLst>
              <a:ext uri="{FF2B5EF4-FFF2-40B4-BE49-F238E27FC236}">
                <a16:creationId xmlns:a16="http://schemas.microsoft.com/office/drawing/2014/main" id="{161AD55D-4E34-4B7E-8CE3-E2705C7B6CE4}"/>
              </a:ext>
            </a:extLst>
          </p:cNvPr>
          <p:cNvGrpSpPr/>
          <p:nvPr/>
        </p:nvGrpSpPr>
        <p:grpSpPr>
          <a:xfrm>
            <a:off x="676108" y="2142038"/>
            <a:ext cx="7860182" cy="3997685"/>
            <a:chOff x="676108" y="2142038"/>
            <a:chExt cx="7860182" cy="3997685"/>
          </a:xfrm>
        </p:grpSpPr>
        <p:pic>
          <p:nvPicPr>
            <p:cNvPr id="12" name="图片 11"/>
            <p:cNvPicPr>
              <a:picLocks noChangeAspect="1"/>
            </p:cNvPicPr>
            <p:nvPr/>
          </p:nvPicPr>
          <p:blipFill>
            <a:blip r:embed="rId2"/>
            <a:stretch>
              <a:fillRect/>
            </a:stretch>
          </p:blipFill>
          <p:spPr>
            <a:xfrm>
              <a:off x="4500244" y="2142038"/>
              <a:ext cx="486410" cy="351155"/>
            </a:xfrm>
            <a:prstGeom prst="rect">
              <a:avLst/>
            </a:prstGeom>
          </p:spPr>
        </p:pic>
        <p:pic>
          <p:nvPicPr>
            <p:cNvPr id="5" name="图片 4"/>
            <p:cNvPicPr>
              <a:picLocks noChangeAspect="1"/>
            </p:cNvPicPr>
            <p:nvPr/>
          </p:nvPicPr>
          <p:blipFill>
            <a:blip r:embed="rId3"/>
            <a:stretch>
              <a:fillRect/>
            </a:stretch>
          </p:blipFill>
          <p:spPr>
            <a:xfrm>
              <a:off x="690244" y="2493193"/>
              <a:ext cx="4311015" cy="2315210"/>
            </a:xfrm>
            <a:prstGeom prst="rect">
              <a:avLst/>
            </a:prstGeom>
          </p:spPr>
        </p:pic>
        <p:sp>
          <p:nvSpPr>
            <p:cNvPr id="6" name="文本框 5"/>
            <p:cNvSpPr txBox="1"/>
            <p:nvPr/>
          </p:nvSpPr>
          <p:spPr>
            <a:xfrm>
              <a:off x="676108" y="5052353"/>
              <a:ext cx="4443095" cy="821690"/>
            </a:xfrm>
            <a:prstGeom prst="rect">
              <a:avLst/>
            </a:prstGeom>
            <a:noFill/>
          </p:spPr>
          <p:txBody>
            <a:bodyPr wrap="square" rtlCol="0" anchor="t">
              <a:noAutofit/>
            </a:bodyPr>
            <a:lstStyle/>
            <a:p>
              <a:pPr algn="just"/>
              <a:r>
                <a:rPr lang="en-US" altLang="zh-CN" sz="1800" dirty="0">
                  <a:solidFill>
                    <a:schemeClr val="tx1"/>
                  </a:solidFill>
                  <a:uFillTx/>
                  <a:latin typeface="Times New Roman" panose="02020603050405020304" pitchFamily="18" charset="0"/>
                  <a:ea typeface="微软雅黑" panose="020B0503020204020204" pitchFamily="34" charset="-122"/>
                </a:rPr>
                <a:t>(a)</a:t>
              </a:r>
              <a:r>
                <a:rPr lang="zh-CN" altLang="en-US" sz="1800" dirty="0">
                  <a:solidFill>
                    <a:schemeClr val="tx1"/>
                  </a:solidFill>
                  <a:uFillTx/>
                  <a:latin typeface="Times New Roman" panose="02020603050405020304" pitchFamily="18" charset="0"/>
                  <a:ea typeface="微软雅黑" panose="020B0503020204020204" pitchFamily="34" charset="-122"/>
                </a:rPr>
                <a:t>大小为</a:t>
              </a:r>
              <a:r>
                <a:rPr lang="en-US" altLang="zh-CN" sz="1800" dirty="0">
                  <a:solidFill>
                    <a:schemeClr val="tx1"/>
                  </a:solidFill>
                  <a:uFillTx/>
                  <a:latin typeface="Times New Roman" panose="02020603050405020304" pitchFamily="18" charset="0"/>
                  <a:ea typeface="微软雅黑" panose="020B0503020204020204" pitchFamily="34" charset="-122"/>
                </a:rPr>
                <a:t> 531x675 </a:t>
              </a:r>
              <a:r>
                <a:rPr lang="zh-CN" altLang="en-US" sz="1800" dirty="0">
                  <a:solidFill>
                    <a:schemeClr val="tx1"/>
                  </a:solidFill>
                  <a:uFillTx/>
                  <a:latin typeface="Times New Roman" panose="02020603050405020304" pitchFamily="18" charset="0"/>
                  <a:ea typeface="微软雅黑" panose="020B0503020204020204" pitchFamily="34" charset="-122"/>
                </a:rPr>
                <a:t>的木钉图像</a:t>
              </a:r>
              <a:r>
                <a:rPr lang="en-US" altLang="zh-CN" sz="1800" dirty="0">
                  <a:solidFill>
                    <a:schemeClr val="tx1"/>
                  </a:solidFill>
                  <a:uFillTx/>
                  <a:latin typeface="Times New Roman" panose="02020603050405020304" pitchFamily="18" charset="0"/>
                  <a:ea typeface="微软雅黑" panose="020B0503020204020204" pitchFamily="34" charset="-122"/>
                </a:rPr>
                <a:t>;(b)</a:t>
              </a:r>
              <a:r>
                <a:rPr lang="zh-CN" altLang="en-US" sz="1800" dirty="0">
                  <a:solidFill>
                    <a:schemeClr val="tx1"/>
                  </a:solidFill>
                  <a:uFillTx/>
                  <a:latin typeface="Times New Roman" panose="02020603050405020304" pitchFamily="18" charset="0"/>
                  <a:ea typeface="微软雅黑" panose="020B0503020204020204" pitchFamily="34" charset="-122"/>
                </a:rPr>
                <a:t>平滑后的图像</a:t>
              </a:r>
              <a:r>
                <a:rPr lang="en-US" altLang="zh-CN" sz="1800" dirty="0">
                  <a:solidFill>
                    <a:schemeClr val="tx1"/>
                  </a:solidFill>
                  <a:uFillTx/>
                  <a:latin typeface="Times New Roman" panose="02020603050405020304" pitchFamily="18" charset="0"/>
                  <a:ea typeface="微软雅黑" panose="020B0503020204020204" pitchFamily="34" charset="-122"/>
                </a:rPr>
                <a:t>;(c)~(f)</a:t>
              </a:r>
              <a:r>
                <a:rPr lang="zh-CN" altLang="en-US" sz="1800" dirty="0">
                  <a:solidFill>
                    <a:schemeClr val="tx1"/>
                  </a:solidFill>
                  <a:uFillTx/>
                  <a:latin typeface="Times New Roman" panose="02020603050405020304" pitchFamily="18" charset="0"/>
                  <a:ea typeface="微软雅黑" panose="020B0503020204020204" pitchFamily="34" charset="-122"/>
                </a:rPr>
                <a:t>分别用半径为</a:t>
              </a:r>
              <a:r>
                <a:rPr lang="en-US" altLang="zh-CN" sz="1800" dirty="0">
                  <a:solidFill>
                    <a:schemeClr val="tx1"/>
                  </a:solidFill>
                  <a:uFillTx/>
                  <a:latin typeface="Times New Roman" panose="02020603050405020304" pitchFamily="18" charset="0"/>
                  <a:ea typeface="微软雅黑" panose="020B0503020204020204" pitchFamily="34" charset="-122"/>
                </a:rPr>
                <a:t> 10</a:t>
              </a:r>
              <a:r>
                <a:rPr lang="zh-CN" altLang="en-US" sz="1800" dirty="0">
                  <a:solidFill>
                    <a:schemeClr val="tx1"/>
                  </a:solidFill>
                  <a:uFillTx/>
                  <a:latin typeface="Times New Roman" panose="02020603050405020304" pitchFamily="18" charset="0"/>
                  <a:ea typeface="微软雅黑" panose="020B0503020204020204" pitchFamily="34" charset="-122"/>
                </a:rPr>
                <a:t>、</a:t>
              </a:r>
              <a:r>
                <a:rPr lang="en-US" altLang="zh-CN" sz="1800" dirty="0">
                  <a:solidFill>
                    <a:schemeClr val="tx1"/>
                  </a:solidFill>
                  <a:uFillTx/>
                  <a:latin typeface="Times New Roman" panose="02020603050405020304" pitchFamily="18" charset="0"/>
                  <a:ea typeface="微软雅黑" panose="020B0503020204020204" pitchFamily="34" charset="-122"/>
                </a:rPr>
                <a:t>20</a:t>
              </a:r>
              <a:r>
                <a:rPr lang="zh-CN" altLang="en-US" sz="1800" dirty="0">
                  <a:solidFill>
                    <a:schemeClr val="tx1"/>
                  </a:solidFill>
                  <a:uFillTx/>
                  <a:latin typeface="Times New Roman" panose="02020603050405020304" pitchFamily="18" charset="0"/>
                  <a:ea typeface="微软雅黑" panose="020B0503020204020204" pitchFamily="34" charset="-122"/>
                </a:rPr>
                <a:t>、</a:t>
              </a:r>
              <a:r>
                <a:rPr lang="en-US" altLang="zh-CN" sz="1800" dirty="0">
                  <a:solidFill>
                    <a:schemeClr val="tx1"/>
                  </a:solidFill>
                  <a:uFillTx/>
                  <a:latin typeface="Times New Roman" panose="02020603050405020304" pitchFamily="18" charset="0"/>
                  <a:ea typeface="微软雅黑" panose="020B0503020204020204" pitchFamily="34" charset="-122"/>
                </a:rPr>
                <a:t>25 </a:t>
              </a:r>
              <a:r>
                <a:rPr lang="zh-CN" altLang="en-US" sz="1800" dirty="0">
                  <a:solidFill>
                    <a:schemeClr val="tx1"/>
                  </a:solidFill>
                  <a:uFillTx/>
                  <a:latin typeface="Times New Roman" panose="02020603050405020304" pitchFamily="18" charset="0"/>
                  <a:ea typeface="微软雅黑" panose="020B0503020204020204" pitchFamily="34" charset="-122"/>
                </a:rPr>
                <a:t>和</a:t>
              </a:r>
              <a:r>
                <a:rPr lang="en-US" altLang="zh-CN" sz="1800" dirty="0">
                  <a:solidFill>
                    <a:schemeClr val="tx1"/>
                  </a:solidFill>
                  <a:uFillTx/>
                  <a:latin typeface="Times New Roman" panose="02020603050405020304" pitchFamily="18" charset="0"/>
                  <a:ea typeface="微软雅黑" panose="020B0503020204020204" pitchFamily="34" charset="-122"/>
                </a:rPr>
                <a:t> 30 </a:t>
              </a:r>
              <a:r>
                <a:rPr lang="zh-CN" altLang="en-US" sz="1800" dirty="0">
                  <a:solidFill>
                    <a:schemeClr val="tx1"/>
                  </a:solidFill>
                  <a:uFillTx/>
                  <a:latin typeface="Times New Roman" panose="02020603050405020304" pitchFamily="18" charset="0"/>
                  <a:ea typeface="微软雅黑" panose="020B0503020204020204" pitchFamily="34" charset="-122"/>
                </a:rPr>
                <a:t>像素的圆盘形结构元对图像进行开运算后的结果</a:t>
              </a:r>
            </a:p>
          </p:txBody>
        </p:sp>
        <p:pic>
          <p:nvPicPr>
            <p:cNvPr id="13" name="图片 12"/>
            <p:cNvPicPr>
              <a:picLocks noChangeAspect="1"/>
            </p:cNvPicPr>
            <p:nvPr/>
          </p:nvPicPr>
          <p:blipFill>
            <a:blip r:embed="rId4"/>
            <a:stretch>
              <a:fillRect/>
            </a:stretch>
          </p:blipFill>
          <p:spPr>
            <a:xfrm>
              <a:off x="5469255" y="2502033"/>
              <a:ext cx="2995295" cy="2499995"/>
            </a:xfrm>
            <a:prstGeom prst="rect">
              <a:avLst/>
            </a:prstGeom>
          </p:spPr>
        </p:pic>
        <p:sp>
          <p:nvSpPr>
            <p:cNvPr id="14" name="文本框 13"/>
            <p:cNvSpPr txBox="1"/>
            <p:nvPr/>
          </p:nvSpPr>
          <p:spPr>
            <a:xfrm>
              <a:off x="5652120" y="4940843"/>
              <a:ext cx="2884170" cy="1198880"/>
            </a:xfrm>
            <a:prstGeom prst="rect">
              <a:avLst/>
            </a:prstGeom>
            <a:noFill/>
          </p:spPr>
          <p:txBody>
            <a:bodyPr wrap="square" rtlCol="0" anchor="t">
              <a:spAutoFit/>
            </a:bodyPr>
            <a:lstStyle/>
            <a:p>
              <a:pPr algn="just">
                <a:buClrTx/>
                <a:buSzTx/>
                <a:buFontTx/>
              </a:pPr>
              <a:r>
                <a:rPr lang="en-US" altLang="zh-CN" sz="1800" dirty="0" err="1">
                  <a:uFillTx/>
                  <a:latin typeface="Times New Roman" panose="02020603050405020304" pitchFamily="18" charset="0"/>
                  <a:ea typeface="微软雅黑" panose="020B0503020204020204" pitchFamily="34" charset="-122"/>
                </a:rPr>
                <a:t>表面区域中的差是圆形结构元的半径r的函数。两个峰值表明图像中存在两种主要尺寸的颗粒</a:t>
              </a:r>
              <a:endParaRPr lang="en-US" altLang="zh-CN" sz="1800" dirty="0">
                <a:uFillTx/>
                <a:latin typeface="Times New Roman" panose="02020603050405020304" pitchFamily="18" charset="0"/>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P spid="14"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5770" y="23810"/>
            <a:ext cx="8540750" cy="619108"/>
          </a:xfrm>
        </p:spPr>
        <p:txBody>
          <a:bodyPr/>
          <a:lstStyle/>
          <a:p>
            <a:r>
              <a:rPr lang="en-US" altLang="zh-CN" dirty="0"/>
              <a:t>8. </a:t>
            </a:r>
            <a:r>
              <a:rPr lang="zh-CN" altLang="en-US" dirty="0"/>
              <a:t>纹理分割</a:t>
            </a:r>
          </a:p>
        </p:txBody>
      </p:sp>
      <p:sp>
        <p:nvSpPr>
          <p:cNvPr id="4" name="灯片编号占位符 3"/>
          <p:cNvSpPr>
            <a:spLocks noGrp="1"/>
          </p:cNvSpPr>
          <p:nvPr>
            <p:ph type="sldNum" sz="quarter" idx="4"/>
          </p:nvPr>
        </p:nvSpPr>
        <p:spPr>
          <a:xfrm>
            <a:off x="3858578" y="6453188"/>
            <a:ext cx="931863" cy="33337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51</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158735" name="Rectangle 15"/>
          <p:cNvSpPr>
            <a:spLocks noChangeArrowheads="1"/>
          </p:cNvSpPr>
          <p:nvPr/>
        </p:nvSpPr>
        <p:spPr bwMode="auto">
          <a:xfrm>
            <a:off x="323528" y="819695"/>
            <a:ext cx="8269227" cy="108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50000"/>
              </a:lnSpc>
            </a:pPr>
            <a:r>
              <a:rPr lang="zh-CN" altLang="en-US" dirty="0">
                <a:latin typeface="微软雅黑" panose="020B0503020204020204" pitchFamily="34" charset="-122"/>
                <a:ea typeface="微软雅黑" panose="020B0503020204020204" pitchFamily="34" charset="-122"/>
                <a:sym typeface="+mn-ea"/>
              </a:rPr>
              <a:t>右边区域的圆点直径比左边大。目的是以纹理为基础找到区域的边界。算法如下</a:t>
            </a:r>
            <a:r>
              <a:rPr lang="en-US" altLang="zh-CN" dirty="0">
                <a:latin typeface="微软雅黑" panose="020B0503020204020204" pitchFamily="34" charset="-122"/>
                <a:ea typeface="微软雅黑" panose="020B0503020204020204" pitchFamily="34" charset="-122"/>
                <a:sym typeface="+mn-ea"/>
              </a:rPr>
              <a:t>:</a:t>
            </a:r>
            <a:endParaRPr lang="en-US" altLang="zh-CN" baseline="0" dirty="0">
              <a:latin typeface="微软雅黑" panose="020B0503020204020204" pitchFamily="34" charset="-122"/>
              <a:ea typeface="微软雅黑" panose="020B0503020204020204" pitchFamily="34" charset="-122"/>
            </a:endParaRPr>
          </a:p>
          <a:p>
            <a:pPr lvl="1">
              <a:lnSpc>
                <a:spcPct val="150000"/>
              </a:lnSpc>
            </a:pPr>
            <a:r>
              <a:rPr lang="en-US" altLang="zh-CN" dirty="0">
                <a:latin typeface="微软雅黑" panose="020B0503020204020204" pitchFamily="34" charset="-122"/>
                <a:ea typeface="微软雅黑" panose="020B0503020204020204" pitchFamily="34" charset="-122"/>
                <a:sym typeface="+mn-ea"/>
              </a:rPr>
              <a:t>(</a:t>
            </a:r>
            <a:r>
              <a:rPr lang="en-US" altLang="zh-CN" dirty="0" err="1">
                <a:latin typeface="微软雅黑" panose="020B0503020204020204" pitchFamily="34" charset="-122"/>
                <a:ea typeface="微软雅黑" panose="020B0503020204020204" pitchFamily="34" charset="-122"/>
                <a:sym typeface="+mn-ea"/>
              </a:rPr>
              <a:t>i</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取尺寸比小斑点大的结构元做闭运算</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（半径</a:t>
            </a:r>
            <a:r>
              <a:rPr lang="en-US" altLang="zh-CN" dirty="0">
                <a:latin typeface="微软雅黑" panose="020B0503020204020204" pitchFamily="34" charset="-122"/>
                <a:ea typeface="微软雅黑" panose="020B0503020204020204" pitchFamily="34" charset="-122"/>
                <a:sym typeface="+mn-ea"/>
              </a:rPr>
              <a:t>=30</a:t>
            </a:r>
            <a:r>
              <a:rPr lang="zh-CN" altLang="en-US" dirty="0">
                <a:latin typeface="微软雅黑" panose="020B0503020204020204" pitchFamily="34" charset="-122"/>
                <a:ea typeface="微软雅黑" panose="020B0503020204020204" pitchFamily="34" charset="-122"/>
                <a:sym typeface="+mn-ea"/>
              </a:rPr>
              <a:t>）</a:t>
            </a:r>
            <a:endParaRPr lang="zh-CN" altLang="en-US" baseline="0" dirty="0">
              <a:latin typeface="微软雅黑" panose="020B0503020204020204" pitchFamily="34" charset="-122"/>
              <a:ea typeface="微软雅黑" panose="020B0503020204020204" pitchFamily="34" charset="-122"/>
            </a:endParaRPr>
          </a:p>
          <a:p>
            <a:pPr lvl="1">
              <a:lnSpc>
                <a:spcPct val="150000"/>
              </a:lnSpc>
            </a:pPr>
            <a:r>
              <a:rPr lang="en-US" altLang="zh-CN" dirty="0">
                <a:latin typeface="微软雅黑" panose="020B0503020204020204" pitchFamily="34" charset="-122"/>
                <a:ea typeface="微软雅黑" panose="020B0503020204020204" pitchFamily="34" charset="-122"/>
                <a:sym typeface="+mn-ea"/>
              </a:rPr>
              <a:t>(ii) </a:t>
            </a:r>
            <a:r>
              <a:rPr lang="zh-CN" altLang="en-US" dirty="0">
                <a:latin typeface="微软雅黑" panose="020B0503020204020204" pitchFamily="34" charset="-122"/>
                <a:ea typeface="微软雅黑" panose="020B0503020204020204" pitchFamily="34" charset="-122"/>
                <a:sym typeface="+mn-ea"/>
              </a:rPr>
              <a:t>取比大斑点间隙大的结构元做开操作</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（半径</a:t>
            </a:r>
            <a:r>
              <a:rPr lang="en-US" altLang="zh-CN" dirty="0">
                <a:latin typeface="微软雅黑" panose="020B0503020204020204" pitchFamily="34" charset="-122"/>
                <a:ea typeface="微软雅黑" panose="020B0503020204020204" pitchFamily="34" charset="-122"/>
                <a:sym typeface="+mn-ea"/>
              </a:rPr>
              <a:t>=60</a:t>
            </a:r>
            <a:r>
              <a:rPr lang="zh-CN" altLang="en-US" dirty="0">
                <a:latin typeface="微软雅黑" panose="020B0503020204020204" pitchFamily="34" charset="-122"/>
                <a:ea typeface="微软雅黑" panose="020B0503020204020204" pitchFamily="34" charset="-122"/>
                <a:sym typeface="+mn-ea"/>
              </a:rPr>
              <a:t>）</a:t>
            </a:r>
            <a:endParaRPr lang="zh-CN" altLang="en-US" baseline="0" dirty="0">
              <a:latin typeface="微软雅黑" panose="020B0503020204020204" pitchFamily="34" charset="-122"/>
              <a:ea typeface="微软雅黑" panose="020B0503020204020204" pitchFamily="34" charset="-122"/>
            </a:endParaRPr>
          </a:p>
          <a:p>
            <a:pPr lvl="1">
              <a:lnSpc>
                <a:spcPct val="150000"/>
              </a:lnSpc>
            </a:pPr>
            <a:r>
              <a:rPr lang="en-US" altLang="zh-CN" dirty="0">
                <a:latin typeface="微软雅黑" panose="020B0503020204020204" pitchFamily="34" charset="-122"/>
                <a:ea typeface="微软雅黑" panose="020B0503020204020204" pitchFamily="34" charset="-122"/>
                <a:sym typeface="+mn-ea"/>
              </a:rPr>
              <a:t>(iii)</a:t>
            </a:r>
            <a:r>
              <a:rPr lang="zh-CN" altLang="en-US" dirty="0">
                <a:latin typeface="微软雅黑" panose="020B0503020204020204" pitchFamily="34" charset="-122"/>
                <a:ea typeface="微软雅黑" panose="020B0503020204020204" pitchFamily="34" charset="-122"/>
                <a:sym typeface="+mn-ea"/>
              </a:rPr>
              <a:t>做二值化</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（使用全</a:t>
            </a:r>
            <a:r>
              <a:rPr lang="en-US" altLang="zh-CN" dirty="0">
                <a:latin typeface="微软雅黑" panose="020B0503020204020204" pitchFamily="34" charset="-122"/>
                <a:ea typeface="微软雅黑" panose="020B0503020204020204" pitchFamily="34" charset="-122"/>
                <a:sym typeface="+mn-ea"/>
              </a:rPr>
              <a:t>1</a:t>
            </a:r>
            <a:r>
              <a:rPr lang="zh-CN" altLang="en-US" dirty="0">
                <a:latin typeface="微软雅黑" panose="020B0503020204020204" pitchFamily="34" charset="-122"/>
                <a:ea typeface="微软雅黑" panose="020B0503020204020204" pitchFamily="34" charset="-122"/>
                <a:sym typeface="+mn-ea"/>
              </a:rPr>
              <a:t>的</a:t>
            </a:r>
            <a:r>
              <a:rPr lang="en-US" altLang="zh-CN" dirty="0">
                <a:latin typeface="微软雅黑" panose="020B0503020204020204" pitchFamily="34" charset="-122"/>
                <a:ea typeface="微软雅黑" panose="020B0503020204020204" pitchFamily="34" charset="-122"/>
                <a:sym typeface="+mn-ea"/>
              </a:rPr>
              <a:t>3*3</a:t>
            </a:r>
            <a:r>
              <a:rPr lang="zh-CN" altLang="en-US" dirty="0">
                <a:latin typeface="微软雅黑" panose="020B0503020204020204" pitchFamily="34" charset="-122"/>
                <a:ea typeface="微软雅黑" panose="020B0503020204020204" pitchFamily="34" charset="-122"/>
                <a:sym typeface="+mn-ea"/>
              </a:rPr>
              <a:t>结构元执行梯度画界）</a:t>
            </a:r>
            <a:endParaRPr lang="zh-CN" altLang="en-US" baseline="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a:stretch>
            <a:fillRect/>
          </a:stretch>
        </p:blipFill>
        <p:spPr>
          <a:xfrm>
            <a:off x="539750" y="2820548"/>
            <a:ext cx="4109727" cy="2016000"/>
          </a:xfrm>
          <a:prstGeom prst="rect">
            <a:avLst/>
          </a:prstGeom>
        </p:spPr>
      </p:pic>
      <p:pic>
        <p:nvPicPr>
          <p:cNvPr id="9" name="图片 8"/>
          <p:cNvPicPr>
            <a:picLocks noChangeAspect="1"/>
          </p:cNvPicPr>
          <p:nvPr/>
        </p:nvPicPr>
        <p:blipFill>
          <a:blip r:embed="rId3"/>
          <a:stretch>
            <a:fillRect/>
          </a:stretch>
        </p:blipFill>
        <p:spPr>
          <a:xfrm>
            <a:off x="4718121" y="2820548"/>
            <a:ext cx="4051235" cy="2016000"/>
          </a:xfrm>
          <a:prstGeom prst="rect">
            <a:avLst/>
          </a:prstGeom>
        </p:spPr>
      </p:pic>
      <p:sp>
        <p:nvSpPr>
          <p:cNvPr id="10" name="文本框 9"/>
          <p:cNvSpPr txBox="1"/>
          <p:nvPr/>
        </p:nvSpPr>
        <p:spPr>
          <a:xfrm>
            <a:off x="539750" y="5013325"/>
            <a:ext cx="7402195" cy="1322070"/>
          </a:xfrm>
          <a:prstGeom prst="rect">
            <a:avLst/>
          </a:prstGeom>
          <a:noFill/>
        </p:spPr>
        <p:txBody>
          <a:bodyPr wrap="square" rtlCol="0" anchor="t">
            <a:spAutoFit/>
          </a:bodyPr>
          <a:lstStyle/>
          <a:p>
            <a:pPr algn="just">
              <a:buClrTx/>
              <a:buSzTx/>
              <a:buFontTx/>
            </a:pPr>
            <a:r>
              <a:rPr lang="en-US" altLang="zh-CN" sz="1600" dirty="0">
                <a:uFillTx/>
                <a:latin typeface="Times New Roman" panose="02020603050405020304" pitchFamily="18" charset="0"/>
                <a:ea typeface="微软雅黑" panose="020B0503020204020204" pitchFamily="34" charset="-122"/>
              </a:rPr>
              <a:t>(a)</a:t>
            </a:r>
            <a:r>
              <a:rPr lang="en-US" altLang="zh-CN" sz="1600" dirty="0" err="1">
                <a:uFillTx/>
                <a:latin typeface="Times New Roman" panose="02020603050405020304" pitchFamily="18" charset="0"/>
                <a:ea typeface="微软雅黑" panose="020B0503020204020204" pitchFamily="34" charset="-122"/>
              </a:rPr>
              <a:t>由两种斑点组成的大小为</a:t>
            </a:r>
            <a:r>
              <a:rPr lang="en-US" altLang="zh-CN" sz="1600" dirty="0">
                <a:uFillTx/>
                <a:latin typeface="Times New Roman" panose="02020603050405020304" pitchFamily="18" charset="0"/>
                <a:ea typeface="微软雅黑" panose="020B0503020204020204" pitchFamily="34" charset="-122"/>
              </a:rPr>
              <a:t> 600x600的图像;</a:t>
            </a:r>
          </a:p>
          <a:p>
            <a:pPr algn="just">
              <a:buClrTx/>
              <a:buSzTx/>
              <a:buFontTx/>
            </a:pPr>
            <a:r>
              <a:rPr lang="en-US" altLang="zh-CN" sz="1600" dirty="0">
                <a:uFillTx/>
                <a:latin typeface="Times New Roman" panose="02020603050405020304" pitchFamily="18" charset="0"/>
                <a:ea typeface="微软雅黑" panose="020B0503020204020204" pitchFamily="34" charset="-122"/>
              </a:rPr>
              <a:t>(b)</a:t>
            </a:r>
            <a:r>
              <a:rPr lang="en-US" altLang="zh-CN" sz="1600" dirty="0" err="1">
                <a:uFillTx/>
                <a:latin typeface="Times New Roman" panose="02020603050405020304" pitchFamily="18" charset="0"/>
                <a:ea typeface="微软雅黑" panose="020B0503020204020204" pitchFamily="34" charset="-122"/>
              </a:rPr>
              <a:t>对图</a:t>
            </a:r>
            <a:r>
              <a:rPr lang="en-US" altLang="zh-CN" sz="1600" dirty="0">
                <a:uFillTx/>
                <a:latin typeface="Times New Roman" panose="02020603050405020304" pitchFamily="18" charset="0"/>
                <a:ea typeface="微软雅黑" panose="020B0503020204020204" pitchFamily="34" charset="-122"/>
              </a:rPr>
              <a:t>(a)</a:t>
            </a:r>
            <a:r>
              <a:rPr lang="en-US" altLang="zh-CN" sz="1600" dirty="0" err="1">
                <a:uFillTx/>
                <a:latin typeface="Times New Roman" panose="02020603050405020304" pitchFamily="18" charset="0"/>
                <a:ea typeface="微软雅黑" panose="020B0503020204020204" pitchFamily="34" charset="-122"/>
              </a:rPr>
              <a:t>执行闭运算后删除了小斑点的图像</a:t>
            </a:r>
            <a:r>
              <a:rPr lang="en-US" altLang="zh-CN" sz="1600" dirty="0">
                <a:uFillTx/>
                <a:latin typeface="Times New Roman" panose="02020603050405020304" pitchFamily="18" charset="0"/>
                <a:ea typeface="微软雅黑" panose="020B0503020204020204" pitchFamily="34" charset="-122"/>
              </a:rPr>
              <a:t>;</a:t>
            </a:r>
          </a:p>
          <a:p>
            <a:pPr algn="just">
              <a:buClrTx/>
              <a:buSzTx/>
              <a:buFontTx/>
            </a:pPr>
            <a:r>
              <a:rPr lang="en-US" altLang="zh-CN" sz="1600" dirty="0">
                <a:uFillTx/>
                <a:latin typeface="Times New Roman" panose="02020603050405020304" pitchFamily="18" charset="0"/>
                <a:ea typeface="微软雅黑" panose="020B0503020204020204" pitchFamily="34" charset="-122"/>
              </a:rPr>
              <a:t>(c)</a:t>
            </a:r>
            <a:r>
              <a:rPr lang="en-US" altLang="zh-CN" sz="1600" dirty="0" err="1">
                <a:uFillTx/>
                <a:latin typeface="Times New Roman" panose="02020603050405020304" pitchFamily="18" charset="0"/>
                <a:ea typeface="微软雅黑" panose="020B0503020204020204" pitchFamily="34" charset="-122"/>
              </a:rPr>
              <a:t>对图</a:t>
            </a:r>
            <a:r>
              <a:rPr lang="en-US" altLang="zh-CN" sz="1600" dirty="0">
                <a:uFillTx/>
                <a:latin typeface="Times New Roman" panose="02020603050405020304" pitchFamily="18" charset="0"/>
                <a:ea typeface="微软雅黑" panose="020B0503020204020204" pitchFamily="34" charset="-122"/>
              </a:rPr>
              <a:t>(b)</a:t>
            </a:r>
            <a:r>
              <a:rPr lang="en-US" altLang="zh-CN" sz="1600" dirty="0" err="1">
                <a:uFillTx/>
                <a:latin typeface="Times New Roman" panose="02020603050405020304" pitchFamily="18" charset="0"/>
                <a:ea typeface="微软雅黑" panose="020B0503020204020204" pitchFamily="34" charset="-122"/>
              </a:rPr>
              <a:t>执行开运算后删除了大斑点之间的亮间距的图像</a:t>
            </a:r>
            <a:r>
              <a:rPr lang="en-US" altLang="zh-CN" sz="1600" dirty="0">
                <a:uFillTx/>
                <a:latin typeface="Times New Roman" panose="02020603050405020304" pitchFamily="18" charset="0"/>
                <a:ea typeface="微软雅黑" panose="020B0503020204020204" pitchFamily="34" charset="-122"/>
              </a:rPr>
              <a:t>;</a:t>
            </a:r>
          </a:p>
          <a:p>
            <a:pPr algn="just">
              <a:buClrTx/>
              <a:buSzTx/>
              <a:buFontTx/>
            </a:pPr>
            <a:r>
              <a:rPr lang="en-US" altLang="zh-CN" sz="1600" dirty="0">
                <a:uFillTx/>
                <a:latin typeface="Times New Roman" panose="02020603050405020304" pitchFamily="18" charset="0"/>
                <a:ea typeface="微软雅黑" panose="020B0503020204020204" pitchFamily="34" charset="-122"/>
              </a:rPr>
              <a:t>(d)</a:t>
            </a:r>
            <a:r>
              <a:rPr lang="en-US" altLang="zh-CN" sz="1600" dirty="0" err="1">
                <a:uFillTx/>
                <a:latin typeface="Times New Roman" panose="02020603050405020304" pitchFamily="18" charset="0"/>
                <a:ea typeface="微软雅黑" panose="020B0503020204020204" pitchFamily="34" charset="-122"/>
              </a:rPr>
              <a:t>将图</a:t>
            </a:r>
            <a:r>
              <a:rPr lang="en-US" altLang="zh-CN" sz="1600" dirty="0">
                <a:uFillTx/>
                <a:latin typeface="Times New Roman" panose="02020603050405020304" pitchFamily="18" charset="0"/>
                <a:ea typeface="微软雅黑" panose="020B0503020204020204" pitchFamily="34" charset="-122"/>
              </a:rPr>
              <a:t>(c)</a:t>
            </a:r>
            <a:r>
              <a:rPr lang="en-US" altLang="zh-CN" sz="1600" dirty="0" err="1">
                <a:uFillTx/>
                <a:latin typeface="Times New Roman" panose="02020603050405020304" pitchFamily="18" charset="0"/>
                <a:ea typeface="微软雅黑" panose="020B0503020204020204" pitchFamily="34" charset="-122"/>
              </a:rPr>
              <a:t>中两个区域间的边界叠加到原图像上后的结果。边界是使用形态学梯度运算得到的</a:t>
            </a:r>
            <a:endParaRPr lang="en-US" altLang="zh-CN" sz="1600" dirty="0">
              <a:uFillTx/>
              <a:latin typeface="Times New Roman" panose="02020603050405020304" pitchFamily="18" charset="0"/>
              <a:ea typeface="微软雅黑" panose="020B0503020204020204" pitchFamily="34" charset="-122"/>
            </a:endParaRPr>
          </a:p>
        </p:txBody>
      </p:sp>
      <p:pic>
        <p:nvPicPr>
          <p:cNvPr id="11" name="图片 10"/>
          <p:cNvPicPr>
            <a:picLocks noChangeAspect="1"/>
          </p:cNvPicPr>
          <p:nvPr/>
        </p:nvPicPr>
        <p:blipFill>
          <a:blip r:embed="rId4"/>
          <a:stretch>
            <a:fillRect/>
          </a:stretch>
        </p:blipFill>
        <p:spPr>
          <a:xfrm>
            <a:off x="8028305" y="5013325"/>
            <a:ext cx="452755" cy="447675"/>
          </a:xfrm>
          <a:prstGeom prst="rect">
            <a:avLst/>
          </a:prstGeom>
        </p:spPr>
      </p:pic>
    </p:spTree>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52</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539750" y="764540"/>
            <a:ext cx="8003540" cy="4815840"/>
          </a:xfrm>
          <a:prstGeom prst="rect">
            <a:avLst/>
          </a:prstGeom>
          <a:noFill/>
        </p:spPr>
        <p:txBody>
          <a:bodyPr wrap="square" rtlCol="0" anchor="t">
            <a:noAutofit/>
          </a:bodyPr>
          <a:lstStyle/>
          <a:p>
            <a:pPr>
              <a:buFont typeface="Arial" panose="020B0604020202020204" pitchFamily="34" charset="0"/>
              <a:buNone/>
            </a:pPr>
            <a:r>
              <a:rPr lang="zh-CN" altLang="en-US" sz="2800" b="1" dirty="0">
                <a:latin typeface="微软雅黑" panose="020B0503020204020204" pitchFamily="34" charset="-122"/>
                <a:ea typeface="微软雅黑" panose="020B0503020204020204" pitchFamily="34" charset="-122"/>
                <a:sym typeface="+mn-ea"/>
              </a:rPr>
              <a:t>作业</a:t>
            </a:r>
            <a:r>
              <a:rPr lang="zh-CN" altLang="en-US" sz="2800" dirty="0">
                <a:latin typeface="微软雅黑" panose="020B0503020204020204" pitchFamily="34" charset="-122"/>
                <a:ea typeface="微软雅黑" panose="020B0503020204020204" pitchFamily="34" charset="-122"/>
                <a:sym typeface="+mn-ea"/>
              </a:rPr>
              <a:t>：</a:t>
            </a:r>
            <a:endParaRPr lang="en-US" altLang="zh-CN" sz="2800" dirty="0">
              <a:latin typeface="微软雅黑" panose="020B0503020204020204" pitchFamily="34" charset="-122"/>
              <a:ea typeface="微软雅黑" panose="020B0503020204020204" pitchFamily="34" charset="-122"/>
              <a:sym typeface="+mn-ea"/>
            </a:endParaRPr>
          </a:p>
          <a:p>
            <a:pPr>
              <a:buFont typeface="Arial" panose="020B0604020202020204" pitchFamily="34" charset="0"/>
              <a:buNone/>
            </a:pPr>
            <a:endParaRPr lang="en-US" altLang="zh-CN" sz="2800" dirty="0">
              <a:solidFill>
                <a:schemeClr val="tx1"/>
              </a:solidFill>
              <a:latin typeface="微软雅黑" panose="020B0503020204020204" pitchFamily="34" charset="-122"/>
              <a:ea typeface="微软雅黑" panose="020B0503020204020204" pitchFamily="34" charset="-122"/>
              <a:sym typeface="+mn-ea"/>
            </a:endParaRPr>
          </a:p>
          <a:p>
            <a:r>
              <a:rPr lang="en-US" altLang="zh-CN" sz="2800" dirty="0">
                <a:solidFill>
                  <a:schemeClr val="tx1"/>
                </a:solidFill>
                <a:latin typeface="微软雅黑" panose="020B0503020204020204" pitchFamily="34" charset="-122"/>
                <a:ea typeface="微软雅黑" panose="020B0503020204020204" pitchFamily="34" charset="-122"/>
              </a:rPr>
              <a:t>9.4</a:t>
            </a:r>
            <a:r>
              <a:rPr lang="zh-CN" altLang="en-US" sz="2800" dirty="0">
                <a:solidFill>
                  <a:schemeClr val="tx1"/>
                </a:solidFill>
                <a:latin typeface="微软雅黑" panose="020B0503020204020204" pitchFamily="34" charset="-122"/>
                <a:ea typeface="微软雅黑" panose="020B0503020204020204" pitchFamily="34" charset="-122"/>
              </a:rPr>
              <a:t>，</a:t>
            </a:r>
            <a:r>
              <a:rPr lang="en-US" altLang="zh-CN" sz="2800" dirty="0">
                <a:solidFill>
                  <a:schemeClr val="tx1"/>
                </a:solidFill>
                <a:latin typeface="微软雅黑" panose="020B0503020204020204" pitchFamily="34" charset="-122"/>
                <a:ea typeface="微软雅黑" panose="020B0503020204020204" pitchFamily="34" charset="-122"/>
              </a:rPr>
              <a:t>9.9</a:t>
            </a:r>
            <a:r>
              <a:rPr lang="zh-CN" altLang="en-US" sz="2800" dirty="0">
                <a:solidFill>
                  <a:schemeClr val="tx1"/>
                </a:solidFill>
                <a:latin typeface="微软雅黑" panose="020B0503020204020204" pitchFamily="34" charset="-122"/>
                <a:ea typeface="微软雅黑" panose="020B0503020204020204" pitchFamily="34" charset="-122"/>
              </a:rPr>
              <a:t>，</a:t>
            </a:r>
            <a:r>
              <a:rPr lang="en-US" altLang="zh-CN" sz="2800" dirty="0">
                <a:solidFill>
                  <a:schemeClr val="tx1"/>
                </a:solidFill>
                <a:latin typeface="微软雅黑" panose="020B0503020204020204" pitchFamily="34" charset="-122"/>
                <a:ea typeface="微软雅黑" panose="020B0503020204020204" pitchFamily="34" charset="-122"/>
              </a:rPr>
              <a:t>9.26</a:t>
            </a:r>
            <a:r>
              <a:rPr lang="zh-CN" altLang="en-US" sz="2800" dirty="0">
                <a:solidFill>
                  <a:schemeClr val="tx1"/>
                </a:solidFill>
                <a:latin typeface="微软雅黑" panose="020B0503020204020204" pitchFamily="34" charset="-122"/>
                <a:ea typeface="微软雅黑" panose="020B0503020204020204" pitchFamily="34" charset="-122"/>
              </a:rPr>
              <a:t>，</a:t>
            </a:r>
            <a:r>
              <a:rPr lang="en-US" altLang="zh-CN" sz="2800" dirty="0">
                <a:solidFill>
                  <a:schemeClr val="tx1"/>
                </a:solidFill>
                <a:latin typeface="微软雅黑" panose="020B0503020204020204" pitchFamily="34" charset="-122"/>
                <a:ea typeface="微软雅黑" panose="020B0503020204020204" pitchFamily="34" charset="-122"/>
              </a:rPr>
              <a:t>9.30</a:t>
            </a:r>
            <a:r>
              <a:rPr lang="zh-CN" altLang="en-US" sz="2800" dirty="0">
                <a:solidFill>
                  <a:schemeClr val="tx1"/>
                </a:solidFill>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9.37</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9.51</a:t>
            </a:r>
            <a:r>
              <a:rPr lang="en-US" altLang="zh-CN" sz="2800" dirty="0">
                <a:latin typeface="微软雅黑" panose="020B0503020204020204" pitchFamily="34" charset="-122"/>
                <a:ea typeface="微软雅黑" panose="020B0503020204020204" pitchFamily="34" charset="-122"/>
                <a:sym typeface="+mn-ea"/>
              </a:rPr>
              <a:t> </a:t>
            </a:r>
            <a:endParaRPr lang="en-US" altLang="zh-CN" sz="2800" dirty="0">
              <a:solidFill>
                <a:schemeClr val="tx1"/>
              </a:solidFill>
              <a:latin typeface="微软雅黑" panose="020B0503020204020204" pitchFamily="34" charset="-122"/>
              <a:ea typeface="微软雅黑" panose="020B0503020204020204" pitchFamily="34" charset="-122"/>
            </a:endParaRPr>
          </a:p>
          <a:p>
            <a:pPr>
              <a:buFont typeface="Arial" panose="020B0604020202020204" pitchFamily="34" charset="0"/>
              <a:buNone/>
            </a:pPr>
            <a:endParaRPr lang="zh-CN" altLang="en-US" sz="2800" dirty="0">
              <a:latin typeface="微软雅黑" panose="020B0503020204020204" pitchFamily="34" charset="-122"/>
              <a:ea typeface="微软雅黑" panose="020B0503020204020204" pitchFamily="34" charset="-122"/>
              <a:sym typeface="+mn-ea"/>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A0DB2DC-4C9A-4742-B13C-FB6460FD3503}" type="slidenum">
              <a:rPr kumimoji="0" lang="en-US" altLang="zh-CN" sz="1400" b="0" i="0" u="none" strike="noStrike" kern="1200" cap="none" spc="0" normalizeH="0" baseline="0" noProof="0" smtClean="0">
                <a:ln>
                  <a:noFill/>
                </a:ln>
                <a:solidFill>
                  <a:srgbClr val="006600"/>
                </a:solidFill>
                <a:effectLst/>
                <a:uLnTx/>
                <a:uFillTx/>
                <a:latin typeface="Arial" panose="020B0604020202020204" pitchFamily="34" charset="0"/>
                <a:ea typeface="宋体" panose="02010600030101010101" pitchFamily="2" charset="-122"/>
                <a:cs typeface="+mn-cs"/>
              </a:rPr>
              <a:t>53</a:t>
            </a:fld>
            <a:endParaRPr kumimoji="0" lang="en-US" altLang="zh-CN" sz="1400" b="0" i="0" u="none" strike="noStrike" kern="1200" cap="none" spc="0" normalizeH="0" baseline="0" noProof="0" dirty="0">
              <a:ln>
                <a:noFill/>
              </a:ln>
              <a:solidFill>
                <a:srgbClr val="006600"/>
              </a:solidFill>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539750" y="764540"/>
            <a:ext cx="8003540" cy="4815840"/>
          </a:xfrm>
          <a:prstGeom prst="rect">
            <a:avLst/>
          </a:prstGeom>
          <a:noFill/>
        </p:spPr>
        <p:txBody>
          <a:bodyPr wrap="square" rtlCol="0" anchor="t">
            <a:noAutofit/>
          </a:bodyPr>
          <a:lstStyle/>
          <a:p>
            <a:pPr>
              <a:lnSpc>
                <a:spcPct val="130000"/>
              </a:lnSpc>
              <a:buFont typeface="Arial" panose="020B0604020202020204" pitchFamily="34" charset="0"/>
              <a:buNone/>
            </a:pPr>
            <a:r>
              <a:rPr lang="zh-CN" altLang="en-US" sz="1600" b="1" dirty="0">
                <a:latin typeface="微软雅黑" panose="020B0503020204020204" pitchFamily="34" charset="-122"/>
                <a:ea typeface="微软雅黑" panose="020B0503020204020204" pitchFamily="34" charset="-122"/>
                <a:sym typeface="+mn-ea"/>
              </a:rPr>
              <a:t>编程作业</a:t>
            </a:r>
            <a:r>
              <a:rPr lang="zh-CN" altLang="en-US" sz="1600" dirty="0">
                <a:latin typeface="微软雅黑" panose="020B0503020204020204" pitchFamily="34" charset="-122"/>
                <a:ea typeface="微软雅黑" panose="020B0503020204020204" pitchFamily="34" charset="-122"/>
                <a:sym typeface="+mn-ea"/>
              </a:rPr>
              <a:t>：</a:t>
            </a:r>
          </a:p>
          <a:p>
            <a:pPr>
              <a:lnSpc>
                <a:spcPct val="130000"/>
              </a:lnSpc>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sym typeface="+mn-ea"/>
              </a:rPr>
              <a:t>a</a:t>
            </a:r>
            <a:r>
              <a:rPr lang="zh-CN" altLang="en-US" sz="1600" dirty="0">
                <a:latin typeface="微软雅黑" panose="020B0503020204020204" pitchFamily="34" charset="-122"/>
                <a:ea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rPr>
              <a:t>编写一个计算机程序</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方法，能够用任意</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即指定的</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大小为</a:t>
            </a:r>
            <a:r>
              <a:rPr lang="en-US" altLang="zh-CN" sz="1600" dirty="0">
                <a:solidFill>
                  <a:schemeClr val="tx1"/>
                </a:solidFill>
                <a:latin typeface="微软雅黑" panose="020B0503020204020204" pitchFamily="34" charset="-122"/>
                <a:ea typeface="微软雅黑" panose="020B0503020204020204" pitchFamily="34" charset="-122"/>
              </a:rPr>
              <a:t>3 x3</a:t>
            </a:r>
            <a:r>
              <a:rPr lang="zh-CN" altLang="en-US" sz="1600" dirty="0">
                <a:solidFill>
                  <a:schemeClr val="tx1"/>
                </a:solidFill>
                <a:latin typeface="微软雅黑" panose="020B0503020204020204" pitchFamily="34" charset="-122"/>
                <a:ea typeface="微软雅黑" panose="020B0503020204020204" pitchFamily="34" charset="-122"/>
              </a:rPr>
              <a:t>的结构元素进行二进制膨胀和腐蚀。</a:t>
            </a:r>
          </a:p>
          <a:p>
            <a:pPr>
              <a:lnSpc>
                <a:spcPct val="130000"/>
              </a:lnSpc>
              <a:buFont typeface="Arial" panose="020B0604020202020204" pitchFamily="34" charset="0"/>
              <a:buNone/>
            </a:pPr>
            <a:r>
              <a:rPr lang="zh-CN" altLang="en-US" sz="1600" dirty="0">
                <a:solidFill>
                  <a:schemeClr val="tx1"/>
                </a:solidFill>
                <a:latin typeface="微软雅黑" panose="020B0503020204020204" pitchFamily="34" charset="-122"/>
                <a:ea typeface="微软雅黑" panose="020B0503020204020204" pitchFamily="34" charset="-122"/>
              </a:rPr>
              <a:t>（</a:t>
            </a:r>
            <a:r>
              <a:rPr lang="en-US" altLang="zh-CN" sz="1600" dirty="0">
                <a:solidFill>
                  <a:schemeClr val="tx1"/>
                </a:solidFill>
                <a:latin typeface="微软雅黑" panose="020B0503020204020204" pitchFamily="34" charset="-122"/>
                <a:ea typeface="微软雅黑" panose="020B0503020204020204" pitchFamily="34" charset="-122"/>
              </a:rPr>
              <a:t>b</a:t>
            </a:r>
            <a:r>
              <a:rPr lang="zh-CN" altLang="en-US" sz="1600" dirty="0">
                <a:solidFill>
                  <a:schemeClr val="tx1"/>
                </a:solidFill>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sym typeface="+mn-ea"/>
              </a:rPr>
              <a:t>使用</a:t>
            </a:r>
            <a:r>
              <a:rPr lang="en-US" altLang="zh-CN" sz="1600" dirty="0">
                <a:latin typeface="微软雅黑" panose="020B0503020204020204" pitchFamily="34" charset="-122"/>
                <a:ea typeface="微软雅黑" panose="020B0503020204020204" pitchFamily="34" charset="-122"/>
                <a:sym typeface="+mn-ea"/>
              </a:rPr>
              <a:t>(a)</a:t>
            </a:r>
            <a:r>
              <a:rPr lang="zh-CN" altLang="en-US" sz="1600" dirty="0">
                <a:latin typeface="微软雅黑" panose="020B0503020204020204" pitchFamily="34" charset="-122"/>
                <a:ea typeface="微软雅黑" panose="020B0503020204020204" pitchFamily="34" charset="-122"/>
                <a:sym typeface="+mn-ea"/>
              </a:rPr>
              <a:t>的结果实现如式</a:t>
            </a:r>
            <a:r>
              <a:rPr lang="en-US" altLang="zh-CN" sz="1600" dirty="0">
                <a:latin typeface="微软雅黑" panose="020B0503020204020204" pitchFamily="34" charset="-122"/>
                <a:ea typeface="微软雅黑" panose="020B0503020204020204" pitchFamily="34" charset="-122"/>
                <a:sym typeface="+mn-ea"/>
              </a:rPr>
              <a:t>(9.18)</a:t>
            </a:r>
            <a:r>
              <a:rPr lang="zh-CN" altLang="en-US" sz="1600" dirty="0">
                <a:latin typeface="微软雅黑" panose="020B0503020204020204" pitchFamily="34" charset="-122"/>
                <a:ea typeface="微软雅黑" panose="020B0503020204020204" pitchFamily="34" charset="-122"/>
                <a:sym typeface="+mn-ea"/>
              </a:rPr>
              <a:t>所示的形态边界提取，对下图提取字符边界。</a:t>
            </a:r>
          </a:p>
        </p:txBody>
      </p:sp>
      <p:pic>
        <p:nvPicPr>
          <p:cNvPr id="5" name="图片 4" descr="FigProb9.20(left)"/>
          <p:cNvPicPr>
            <a:picLocks noChangeAspect="1"/>
          </p:cNvPicPr>
          <p:nvPr/>
        </p:nvPicPr>
        <p:blipFill>
          <a:blip r:embed="rId2"/>
          <a:stretch>
            <a:fillRect/>
          </a:stretch>
        </p:blipFill>
        <p:spPr>
          <a:xfrm>
            <a:off x="2915920" y="2492375"/>
            <a:ext cx="3251200" cy="3251200"/>
          </a:xfrm>
          <a:prstGeom prst="rect">
            <a:avLst/>
          </a:prstGeom>
        </p:spPr>
      </p:pic>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E4Mzk2YjliNTc0M2Q5NTQwNjc5MmQxYThhYjkyNTc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07.62496062992128,&quot;left&quot;:57.75,&quot;top&quot;:116.87503937007872,&quot;width&quot;:658.316141732283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07.62496062992128,&quot;left&quot;:57.75,&quot;top&quot;:116.87503937007872,&quot;width&quot;:658.316141732283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07.62496062992128,&quot;left&quot;:57.75,&quot;top&quot;:116.87503937007872,&quot;width&quot;:658.316141732283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07.62496062992128,&quot;left&quot;:57.75,&quot;top&quot;:116.87503937007872,&quot;width&quot;:658.3161417322835}"/>
</p:tagLst>
</file>

<file path=ppt/theme/theme1.xml><?xml version="1.0" encoding="utf-8"?>
<a:theme xmlns:a="http://schemas.openxmlformats.org/drawingml/2006/main" name="万里长城">
  <a:themeElements>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fontScheme name="万里长城">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solidFill>
            <a:schemeClr val="tx2"/>
          </a:solidFill>
          <a:round/>
        </a:ln>
      </a:spPr>
      <a:bodyPr/>
      <a:lstStyle>
        <a:defPPr>
          <a:defRPr/>
        </a:defPPr>
      </a:lstStyle>
    </a:spDef>
  </a:objectDefaul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万里长城">
  <a:themeElements>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fontScheme name="万里长城">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solidFill>
            <a:schemeClr val="tx2"/>
          </a:solidFill>
          <a:round/>
        </a:ln>
      </a:spPr>
      <a:bodyPr/>
      <a:lstStyle>
        <a:defPPr>
          <a:defRPr/>
        </a:defPPr>
      </a:lstStyle>
    </a:spDef>
  </a:objectDefaul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万里长城">
  <a:themeElements>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fontScheme name="万里长城">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solidFill>
            <a:schemeClr val="tx2"/>
          </a:solidFill>
          <a:round/>
        </a:ln>
      </a:spPr>
      <a:bodyPr/>
      <a:lstStyle>
        <a:defPPr>
          <a:defRPr/>
        </a:defPPr>
      </a:lstStyle>
    </a:spDef>
  </a:objectDefaul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CDESIGNC</Template>
  <TotalTime>801</TotalTime>
  <Words>4159</Words>
  <Application>Microsoft Office PowerPoint</Application>
  <PresentationFormat>全屏显示(4:3)</PresentationFormat>
  <Paragraphs>492</Paragraphs>
  <Slides>53</Slides>
  <Notes>16</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4</vt:i4>
      </vt:variant>
      <vt:variant>
        <vt:lpstr>幻灯片标题</vt:lpstr>
      </vt:variant>
      <vt:variant>
        <vt:i4>53</vt:i4>
      </vt:variant>
    </vt:vector>
  </HeadingPairs>
  <TitlesOfParts>
    <vt:vector size="69" baseType="lpstr">
      <vt:lpstr>MS Mincho</vt:lpstr>
      <vt:lpstr>楷体_GB2312</vt:lpstr>
      <vt:lpstr>宋体</vt:lpstr>
      <vt:lpstr>微软雅黑</vt:lpstr>
      <vt:lpstr>Arial</vt:lpstr>
      <vt:lpstr>Calibri</vt:lpstr>
      <vt:lpstr>Cambria Math</vt:lpstr>
      <vt:lpstr>Times New Roman</vt:lpstr>
      <vt:lpstr>Wingdings</vt:lpstr>
      <vt:lpstr>万里长城</vt:lpstr>
      <vt:lpstr>1_万里长城</vt:lpstr>
      <vt:lpstr>2_万里长城</vt:lpstr>
      <vt:lpstr>Equation.KSEE3</vt:lpstr>
      <vt:lpstr>公式</vt:lpstr>
      <vt:lpstr>MathType 6.0 Equation</vt:lpstr>
      <vt:lpstr>Equation</vt:lpstr>
      <vt:lpstr>第九章. 形态学图像处理</vt:lpstr>
      <vt:lpstr>PowerPoint 演示文稿</vt:lpstr>
      <vt:lpstr>PowerPoint 演示文稿</vt:lpstr>
      <vt:lpstr>1. 预备知识</vt:lpstr>
      <vt:lpstr>1. 集合运算（回顾2.6节）</vt:lpstr>
      <vt:lpstr>1. 逻辑运算（回顾2.6节）</vt:lpstr>
      <vt:lpstr>1. 目标元素与结构元</vt:lpstr>
      <vt:lpstr>1. 反射和平移</vt:lpstr>
      <vt:lpstr>1. 基于结构元的图像处理例子</vt:lpstr>
      <vt:lpstr>PowerPoint 演示文稿</vt:lpstr>
      <vt:lpstr>2. 腐蚀</vt:lpstr>
      <vt:lpstr>2. 腐蚀删除图像中的某些部分</vt:lpstr>
      <vt:lpstr>2. 膨胀</vt:lpstr>
      <vt:lpstr>2. 使用膨胀修复图像中的断裂字符</vt:lpstr>
      <vt:lpstr>2. 对偶性</vt:lpstr>
      <vt:lpstr>PowerPoint 演示文稿</vt:lpstr>
      <vt:lpstr>3. 开运算与闭运算</vt:lpstr>
      <vt:lpstr>3. 开运算</vt:lpstr>
      <vt:lpstr>3. 闭运算</vt:lpstr>
      <vt:lpstr>3. 开运算与闭运算</vt:lpstr>
      <vt:lpstr>3. 运算性质</vt:lpstr>
      <vt:lpstr>3. 开运算与闭运算</vt:lpstr>
      <vt:lpstr>PowerPoint 演示文稿</vt:lpstr>
      <vt:lpstr>4. 击中-击不中变换</vt:lpstr>
      <vt:lpstr>4. 击中-击不中变换</vt:lpstr>
      <vt:lpstr>4. 击中-击不中变换</vt:lpstr>
      <vt:lpstr>4. 击中-击不中变换</vt:lpstr>
      <vt:lpstr>PowerPoint 演示文稿</vt:lpstr>
      <vt:lpstr>5. 边界提取</vt:lpstr>
      <vt:lpstr>5. 边界提取</vt:lpstr>
      <vt:lpstr>5. 孔洞填充</vt:lpstr>
      <vt:lpstr>5. 孔洞填充 </vt:lpstr>
      <vt:lpstr>5. 提取连通分量</vt:lpstr>
      <vt:lpstr>5. 提取连通分量 </vt:lpstr>
      <vt:lpstr>5. 凸壳</vt:lpstr>
      <vt:lpstr>5. 一些基本的形态学算法（了解）</vt:lpstr>
      <vt:lpstr>PowerPoint 演示文稿</vt:lpstr>
      <vt:lpstr>PowerPoint 演示文稿</vt:lpstr>
      <vt:lpstr>PowerPoint 演示文稿</vt:lpstr>
      <vt:lpstr>8. 灰度级形态学</vt:lpstr>
      <vt:lpstr>8. 灰度腐蚀和膨胀</vt:lpstr>
      <vt:lpstr>8. 灰度腐蚀和膨胀</vt:lpstr>
      <vt:lpstr>8. 灰度开运算和闭运算</vt:lpstr>
      <vt:lpstr>8. 灰度开运算和闭运算</vt:lpstr>
      <vt:lpstr>8. 灰度开运算和闭运算</vt:lpstr>
      <vt:lpstr>8. 灰度开运算和闭运算示例</vt:lpstr>
      <vt:lpstr>8. 形态学平滑</vt:lpstr>
      <vt:lpstr>8. 形态学梯度</vt:lpstr>
      <vt:lpstr>8. 顶帽变换和底帽变换</vt:lpstr>
      <vt:lpstr>8. 粒度测定</vt:lpstr>
      <vt:lpstr>8. 纹理分割</vt:lpstr>
      <vt:lpstr>PowerPoint 演示文稿</vt:lpstr>
      <vt:lpstr>PowerPoint 演示文稿</vt:lpstr>
    </vt:vector>
  </TitlesOfParts>
  <Company>SYSU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HFJ</dc:creator>
  <cp:lastModifiedBy>Dell</cp:lastModifiedBy>
  <cp:revision>4389</cp:revision>
  <dcterms:created xsi:type="dcterms:W3CDTF">2006-02-09T12:25:00Z</dcterms:created>
  <dcterms:modified xsi:type="dcterms:W3CDTF">2025-11-17T04:20:00Z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BC61B1C7ACB042F59B94791665B2FFA7_13</vt:lpwstr>
  </property>
  <property fmtid="{D5CDD505-2E9C-101B-9397-08002B2CF9AE}" pid="3" name="KSOProductBuildVer">
    <vt:lpwstr>2052-12.1.0.18912</vt:lpwstr>
  </property>
</Properties>
</file>