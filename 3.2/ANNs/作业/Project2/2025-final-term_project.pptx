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4392" r:id="rId2"/>
    <p:sldId id="260" r:id="rId3"/>
    <p:sldId id="8628" r:id="rId4"/>
    <p:sldId id="8706" r:id="rId5"/>
    <p:sldId id="8707" r:id="rId6"/>
    <p:sldId id="8756" r:id="rId7"/>
    <p:sldId id="8757" r:id="rId8"/>
    <p:sldId id="8758" r:id="rId9"/>
    <p:sldId id="8759" r:id="rId10"/>
    <p:sldId id="8760" r:id="rId11"/>
    <p:sldId id="8761" r:id="rId12"/>
    <p:sldId id="4352" r:id="rId13"/>
  </p:sldIdLst>
  <p:sldSz cx="20104100" cy="11309350"/>
  <p:notesSz cx="20104100" cy="11309350"/>
  <p:custDataLst>
    <p:tags r:id="rId16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01" userDrawn="1">
          <p15:clr>
            <a:srgbClr val="A4A3A4"/>
          </p15:clr>
        </p15:guide>
        <p15:guide id="2" pos="21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2DCDB"/>
    <a:srgbClr val="FFFFFF"/>
    <a:srgbClr val="FF66FF"/>
    <a:srgbClr val="FF5557"/>
    <a:srgbClr val="E15677"/>
    <a:srgbClr val="08FC4E"/>
    <a:srgbClr val="F3F3F3"/>
    <a:srgbClr val="ED5B7D"/>
    <a:srgbClr val="FD60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85888" autoAdjust="0"/>
  </p:normalViewPr>
  <p:slideViewPr>
    <p:cSldViewPr showGuides="1">
      <p:cViewPr varScale="1">
        <p:scale>
          <a:sx n="60" d="100"/>
          <a:sy n="60" d="100"/>
        </p:scale>
        <p:origin x="1160" y="168"/>
      </p:cViewPr>
      <p:guideLst>
        <p:guide orient="horz" pos="2901"/>
        <p:guide pos="2156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3" d="100"/>
          <a:sy n="73" d="100"/>
        </p:scale>
        <p:origin x="1416" y="2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247CB6-0225-EE4B-94F8-678E887FEE40}" type="datetimeFigureOut">
              <a:rPr kumimoji="1" lang="zh-CN" altLang="en-US" smtClean="0"/>
              <a:t>2025/6/8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472F16-1517-1A4C-982B-0956F8669B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0AE38-7A63-DF40-B885-651C75E12B34}" type="datetimeFigureOut">
              <a:rPr kumimoji="1" lang="zh-CN" altLang="en-US" smtClean="0"/>
              <a:t>2025/6/8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B34903-EDE3-934A-BA3B-78B879A8EC1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9F82E-008A-4340-FB1E-3FA83A008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BE8456-0B62-A3DA-716C-D6FA32481D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51CF5C-D69C-D7B5-AC40-33EAF819DC2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667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822CD-CAA6-815E-AFCD-6013487DD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06CF87A-BCA0-C684-B1F0-98517A1929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A05EC5-B3B8-46BB-7B44-235BEB45BAD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6010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76E4E-08FA-0FE1-71B6-7B6174377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618BEB-5DCD-BA15-E7E5-B8125C6CBC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26F427-7B7F-B702-3F8E-FB800044D63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821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9DFD0-3B12-2655-E393-54786E881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04AA12-2B60-D783-1FC8-3416798696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E86C8D-BABE-9747-C345-82FAD8A20B7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439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60335-2520-EACB-CD97-FA836B55F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1DCCCC-D272-8ABF-6AB5-1D26374C42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6ACBA4-3682-7C6E-9CCC-A83F19A6B75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9413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02627-A686-0514-923B-89AC72592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1FEDA7-E266-B060-912F-B6867D6104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D034BE-73D0-1FFD-6D28-D3BEDE1D6D2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354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29F8F-9DE6-4F6F-08F8-D678606C4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604798-63F8-D1D4-37A9-D6EA65891B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9F4E8E-5E88-0273-05EC-B20C3CB40C8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751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B8900-5ED6-5A33-4C0D-B73806488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33E748-D321-FE4F-AB00-16F21D3590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ED0149-9126-D282-9C38-E71413CAFEE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753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CN" spc="-50" smtClean="0"/>
              <a:t>‹#›</a:t>
            </a:fld>
            <a:endParaRPr lang="en-US" altLang="zh-CN"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CN" spc="-50" smtClean="0"/>
              <a:t>‹#›</a:t>
            </a:fld>
            <a:endParaRPr lang="en-US" altLang="zh-CN" spc="-50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4565650" y="10888132"/>
            <a:ext cx="1112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800" dirty="0">
                <a:solidFill>
                  <a:schemeClr val="bg1"/>
                </a:solidFill>
              </a:rPr>
              <a:t>中山大学计算机专业课</a:t>
            </a:r>
            <a:r>
              <a:rPr kumimoji="1" lang="en-US" altLang="zh-CN" sz="1800" dirty="0">
                <a:solidFill>
                  <a:schemeClr val="bg1"/>
                </a:solidFill>
              </a:rPr>
              <a:t>《</a:t>
            </a:r>
            <a:r>
              <a:rPr kumimoji="1" lang="zh-CN" altLang="en-US" sz="1800" dirty="0">
                <a:solidFill>
                  <a:schemeClr val="bg1"/>
                </a:solidFill>
              </a:rPr>
              <a:t>人工神经网络</a:t>
            </a:r>
            <a:r>
              <a:rPr kumimoji="1" lang="en-US" altLang="zh-CN" sz="1800" dirty="0">
                <a:solidFill>
                  <a:schemeClr val="bg1"/>
                </a:solidFill>
              </a:rPr>
              <a:t>》</a:t>
            </a:r>
            <a:endParaRPr kumimoji="1" lang="zh-CN" alt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2219881"/>
            <a:ext cx="17088486" cy="10772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1" i="0">
                <a:solidFill>
                  <a:srgbClr val="A31F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9196050" y="10922758"/>
            <a:ext cx="483181" cy="386592"/>
          </a:xfrm>
        </p:spPr>
        <p:txBody>
          <a:bodyPr lIns="0" tIns="0" rIns="0" bIns="0"/>
          <a:lstStyle>
            <a:lvl1pPr>
              <a:defRPr sz="1950" b="0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4565650" y="10888132"/>
            <a:ext cx="1089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800" dirty="0">
                <a:solidFill>
                  <a:schemeClr val="bg1"/>
                </a:solidFill>
              </a:rPr>
              <a:t>中山大学计算机专业课</a:t>
            </a:r>
            <a:r>
              <a:rPr kumimoji="1" lang="en-US" altLang="zh-CN" sz="1800" dirty="0">
                <a:solidFill>
                  <a:schemeClr val="bg1"/>
                </a:solidFill>
              </a:rPr>
              <a:t>《</a:t>
            </a:r>
            <a:r>
              <a:rPr kumimoji="1" lang="zh-CN" altLang="en-US" sz="1800" dirty="0">
                <a:solidFill>
                  <a:schemeClr val="bg1"/>
                </a:solidFill>
              </a:rPr>
              <a:t>人工神经网络</a:t>
            </a:r>
            <a:r>
              <a:rPr kumimoji="1" lang="en-US" altLang="zh-CN" sz="1800" dirty="0">
                <a:solidFill>
                  <a:schemeClr val="bg1"/>
                </a:solidFill>
              </a:rPr>
              <a:t>》</a:t>
            </a:r>
            <a:endParaRPr kumimoji="1" lang="zh-CN" alt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9450" y="396875"/>
            <a:ext cx="15373350" cy="1077218"/>
          </a:xfrm>
        </p:spPr>
        <p:txBody>
          <a:bodyPr lIns="0" tIns="0" rIns="0" bIns="0"/>
          <a:lstStyle>
            <a:lvl1pPr>
              <a:defRPr sz="7000" b="0" i="0">
                <a:solidFill>
                  <a:srgbClr val="A31F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defRPr>
            </a:lvl1pPr>
          </a:lstStyle>
          <a:p>
            <a:endParaRPr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19272250" y="10922758"/>
            <a:ext cx="406981" cy="386592"/>
          </a:xfrm>
        </p:spPr>
        <p:txBody>
          <a:bodyPr lIns="0" tIns="0" rIns="0" bIns="0"/>
          <a:lstStyle>
            <a:lvl1pPr>
              <a:defRPr sz="1950" b="0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4565650" y="10888132"/>
            <a:ext cx="1112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800" dirty="0">
                <a:solidFill>
                  <a:schemeClr val="bg1"/>
                </a:solidFill>
              </a:rPr>
              <a:t>中山大学计算机专业课</a:t>
            </a:r>
            <a:r>
              <a:rPr kumimoji="1" lang="en-US" altLang="zh-CN" sz="1800" dirty="0">
                <a:solidFill>
                  <a:schemeClr val="bg1"/>
                </a:solidFill>
              </a:rPr>
              <a:t>《</a:t>
            </a:r>
            <a:r>
              <a:rPr kumimoji="1" lang="zh-CN" altLang="en-US" sz="1800" dirty="0">
                <a:solidFill>
                  <a:schemeClr val="bg1"/>
                </a:solidFill>
              </a:rPr>
              <a:t>人工神经网络</a:t>
            </a:r>
            <a:r>
              <a:rPr kumimoji="1" lang="en-US" altLang="zh-CN" sz="1800" dirty="0">
                <a:solidFill>
                  <a:schemeClr val="bg1"/>
                </a:solidFill>
              </a:rPr>
              <a:t>》</a:t>
            </a:r>
            <a:endParaRPr kumimoji="1" lang="zh-CN" altLang="en-US" sz="1800" dirty="0">
              <a:solidFill>
                <a:schemeClr val="bg1"/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12850" y="2454275"/>
            <a:ext cx="16764000" cy="6629400"/>
          </a:xfrm>
        </p:spPr>
        <p:txBody>
          <a:bodyPr>
            <a:normAutofit/>
          </a:bodyPr>
          <a:lstStyle>
            <a:lvl1pPr marL="360045" indent="-360045" defTabSz="1080135">
              <a:lnSpc>
                <a:spcPct val="140000"/>
              </a:lnSpc>
              <a:spcBef>
                <a:spcPts val="900"/>
              </a:spcBef>
              <a:spcAft>
                <a:spcPts val="600"/>
              </a:spcAft>
              <a:buClr>
                <a:srgbClr val="CC3300"/>
              </a:buClr>
              <a:buFont typeface="Wingdings" panose="05000000000000000000" pitchFamily="2" charset="2"/>
              <a:buChar char="q"/>
              <a:defRPr sz="4400" spc="0" baseline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1007745" indent="-288290">
              <a:lnSpc>
                <a:spcPct val="140000"/>
              </a:lnSpc>
              <a:spcBef>
                <a:spcPts val="900"/>
              </a:spcBef>
              <a:spcAft>
                <a:spcPts val="600"/>
              </a:spcAft>
              <a:buClr>
                <a:srgbClr val="CC3300"/>
              </a:buClr>
              <a:buFont typeface="Wingdings" panose="05000000000000000000" pitchFamily="2" charset="2"/>
              <a:buChar char="n"/>
              <a:defRPr sz="4000" spc="0" baseline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1619885" marR="0" indent="-252095" algn="l" defTabSz="821055" rtl="0" eaLnBrk="1" fontAlgn="auto" latinLnBrk="0" hangingPunct="1">
              <a:lnSpc>
                <a:spcPct val="140000"/>
              </a:lnSpc>
              <a:spcBef>
                <a:spcPts val="900"/>
              </a:spcBef>
              <a:spcAft>
                <a:spcPts val="600"/>
              </a:spcAft>
              <a:buClr>
                <a:srgbClr val="CC3300"/>
              </a:buClr>
              <a:buSzTx/>
              <a:buFont typeface="Arial" panose="020B0604020202020204" pitchFamily="34" charset="0"/>
              <a:buChar char="•"/>
              <a:defRPr sz="4000" spc="-30" baseline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defRPr>
            </a:lvl3pPr>
            <a:lvl4pPr>
              <a:defRPr sz="2800" spc="-30" baseline="0">
                <a:latin typeface="Century" panose="02040604050505020304" pitchFamily="18" charset="0"/>
                <a:cs typeface="Arial" panose="020B0604020202020204" pitchFamily="34" charset="0"/>
              </a:defRPr>
            </a:lvl4pPr>
            <a:lvl5pPr>
              <a:defRPr sz="2800" spc="-30" baseline="0">
                <a:latin typeface="Century" panose="02040604050505020304" pitchFamily="18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 编辑母版文本样式</a:t>
            </a:r>
          </a:p>
          <a:p>
            <a:pPr lvl="1"/>
            <a:r>
              <a:rPr lang="zh-CN" altLang="en-US" dirty="0"/>
              <a:t> 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rgbClr val="A31F34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19272250" y="10922758"/>
            <a:ext cx="406981" cy="218317"/>
          </a:xfrm>
        </p:spPr>
        <p:txBody>
          <a:bodyPr lIns="0" tIns="0" rIns="0" bIns="0"/>
          <a:lstStyle>
            <a:lvl1pPr>
              <a:defRPr sz="1950" b="0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4565650" y="10888133"/>
            <a:ext cx="1066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1800" dirty="0">
                <a:solidFill>
                  <a:schemeClr val="bg1"/>
                </a:solidFill>
              </a:rPr>
              <a:t>中山大学计算机专业课</a:t>
            </a:r>
            <a:r>
              <a:rPr kumimoji="1" lang="en-US" altLang="zh-CN" sz="1800" dirty="0">
                <a:solidFill>
                  <a:schemeClr val="bg1"/>
                </a:solidFill>
              </a:rPr>
              <a:t>《</a:t>
            </a:r>
            <a:r>
              <a:rPr kumimoji="1" lang="zh-CN" altLang="en-US" sz="1800" dirty="0">
                <a:solidFill>
                  <a:schemeClr val="bg1"/>
                </a:solidFill>
              </a:rPr>
              <a:t>人工神经网络</a:t>
            </a:r>
            <a:r>
              <a:rPr kumimoji="1" lang="en-US" altLang="zh-CN" sz="1800">
                <a:solidFill>
                  <a:schemeClr val="bg1"/>
                </a:solidFill>
              </a:rPr>
              <a:t>》</a:t>
            </a:r>
            <a:endParaRPr kumimoji="1" lang="zh-CN" alt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30" y="41126"/>
            <a:ext cx="19316733" cy="1591686"/>
          </a:xfrm>
        </p:spPr>
        <p:txBody>
          <a:bodyPr>
            <a:normAutofit/>
          </a:bodyPr>
          <a:lstStyle>
            <a:lvl1pPr>
              <a:defRPr sz="5935">
                <a:latin typeface="Century" panose="02040604050505020304" pitchFamily="18" charset="0"/>
                <a:cs typeface="A new day begins" panose="02000503000000000000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3659" y="2428108"/>
            <a:ext cx="18896804" cy="7175679"/>
          </a:xfrm>
        </p:spPr>
        <p:txBody>
          <a:bodyPr>
            <a:normAutofit/>
          </a:bodyPr>
          <a:lstStyle>
            <a:lvl1pPr marL="593725" indent="-593725" defTabSz="1781175">
              <a:lnSpc>
                <a:spcPct val="110000"/>
              </a:lnSpc>
              <a:spcAft>
                <a:spcPts val="0"/>
              </a:spcAft>
              <a:buClr>
                <a:srgbClr val="CC3300"/>
              </a:buClr>
              <a:buFont typeface="Wingdings" panose="05000000000000000000" pitchFamily="2" charset="2"/>
              <a:buChar char="q"/>
              <a:defRPr sz="4615" spc="0" baseline="0">
                <a:latin typeface="+mn-lt"/>
                <a:cs typeface="Arial" panose="020B0604020202020204" pitchFamily="34" charset="0"/>
              </a:defRPr>
            </a:lvl1pPr>
            <a:lvl2pPr marL="1068705" indent="-474980">
              <a:lnSpc>
                <a:spcPct val="110000"/>
              </a:lnSpc>
              <a:spcBef>
                <a:spcPts val="685"/>
              </a:spcBef>
              <a:buClr>
                <a:srgbClr val="CC3300"/>
              </a:buClr>
              <a:buFont typeface="Courier New" panose="02070309020205020404" pitchFamily="49" charset="0"/>
              <a:buChar char="o"/>
              <a:defRPr sz="4125" spc="0" baseline="0">
                <a:latin typeface="+mn-lt"/>
                <a:cs typeface="Arial" panose="020B0604020202020204" pitchFamily="34" charset="0"/>
              </a:defRPr>
            </a:lvl2pPr>
            <a:lvl3pPr marL="1781175" marR="0" indent="-415290" algn="l" defTabSz="1353820" rtl="0" eaLnBrk="1" fontAlgn="auto" latinLnBrk="0" hangingPunct="1">
              <a:lnSpc>
                <a:spcPct val="110000"/>
              </a:lnSpc>
              <a:spcBef>
                <a:spcPts val="685"/>
              </a:spcBef>
              <a:spcAft>
                <a:spcPts val="0"/>
              </a:spcAft>
              <a:buClr>
                <a:srgbClr val="CC3300"/>
              </a:buClr>
              <a:buSzTx/>
              <a:buFont typeface="Arial" panose="020B0604020202020204" pitchFamily="34" charset="0"/>
              <a:buChar char="•"/>
              <a:defRPr sz="3795" spc="-49" baseline="0">
                <a:latin typeface="+mn-lt"/>
                <a:cs typeface="Arial" panose="020B0604020202020204" pitchFamily="34" charset="0"/>
              </a:defRPr>
            </a:lvl3pPr>
            <a:lvl4pPr>
              <a:defRPr sz="4615" spc="-49" baseline="0">
                <a:latin typeface="Century" panose="02040604050505020304" pitchFamily="18" charset="0"/>
                <a:cs typeface="Arial" panose="020B0604020202020204" pitchFamily="34" charset="0"/>
              </a:defRPr>
            </a:lvl4pPr>
            <a:lvl5pPr>
              <a:defRPr sz="4615" spc="-49" baseline="0">
                <a:latin typeface="Century" panose="02040604050505020304" pitchFamily="18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231174" y="10399083"/>
            <a:ext cx="4523423" cy="304571"/>
          </a:xfrm>
        </p:spPr>
        <p:txBody>
          <a:bodyPr/>
          <a:lstStyle>
            <a:lvl1pPr>
              <a:defRPr sz="1980">
                <a:solidFill>
                  <a:schemeClr val="tx1"/>
                </a:solidFill>
              </a:defRPr>
            </a:lvl1pPr>
          </a:lstStyle>
          <a:p>
            <a:fld id="{C41F4663-0531-4737-B72D-B5295F101AE4}" type="slidenum">
              <a:rPr lang="en-US" altLang="en-US" smtClean="0"/>
              <a:t>‹#›</a:t>
            </a:fld>
            <a:r>
              <a:rPr lang="en-US" altLang="en-US" dirty="0"/>
              <a:t> / 101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0837626"/>
            <a:ext cx="20104100" cy="471805"/>
          </a:xfrm>
          <a:custGeom>
            <a:avLst/>
            <a:gdLst/>
            <a:ahLst/>
            <a:cxnLst/>
            <a:rect l="l" t="t" r="r" b="b"/>
            <a:pathLst>
              <a:path w="20104100" h="471804">
                <a:moveTo>
                  <a:pt x="20104099" y="0"/>
                </a:moveTo>
                <a:lnTo>
                  <a:pt x="0" y="0"/>
                </a:lnTo>
                <a:lnTo>
                  <a:pt x="0" y="471189"/>
                </a:lnTo>
                <a:lnTo>
                  <a:pt x="20104099" y="471189"/>
                </a:lnTo>
                <a:lnTo>
                  <a:pt x="20104099" y="0"/>
                </a:lnTo>
                <a:close/>
              </a:path>
            </a:pathLst>
          </a:custGeom>
          <a:solidFill>
            <a:srgbClr val="A31F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1705" y="381391"/>
            <a:ext cx="209550" cy="1047115"/>
          </a:xfrm>
          <a:custGeom>
            <a:avLst/>
            <a:gdLst/>
            <a:ahLst/>
            <a:cxnLst/>
            <a:rect l="l" t="t" r="r" b="b"/>
            <a:pathLst>
              <a:path w="209550" h="1047115">
                <a:moveTo>
                  <a:pt x="209417" y="0"/>
                </a:moveTo>
                <a:lnTo>
                  <a:pt x="0" y="0"/>
                </a:lnTo>
                <a:lnTo>
                  <a:pt x="0" y="1047088"/>
                </a:lnTo>
                <a:lnTo>
                  <a:pt x="209417" y="1047088"/>
                </a:lnTo>
                <a:lnTo>
                  <a:pt x="209417" y="0"/>
                </a:lnTo>
                <a:close/>
              </a:path>
            </a:pathLst>
          </a:custGeom>
          <a:solidFill>
            <a:srgbClr val="A31F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3248" y="207113"/>
            <a:ext cx="15373350" cy="1862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1" i="0">
                <a:solidFill>
                  <a:srgbClr val="A31F34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9272250" y="10922758"/>
            <a:ext cx="406981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orch.org/tutorials/intermediate/seq2seq_translation_tutorial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arxiv.org/pdf/1706.03762.pdf" TargetMode="External"/><Relationship Id="rId5" Type="http://schemas.openxmlformats.org/officeDocument/2006/relationships/hyperlink" Target="https://github.com/google/sentencepiece" TargetMode="External"/><Relationship Id="rId4" Type="http://schemas.openxmlformats.org/officeDocument/2006/relationships/hyperlink" Target="https://github.com/fxsjy/jieba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bject 28"/>
          <p:cNvSpPr/>
          <p:nvPr/>
        </p:nvSpPr>
        <p:spPr>
          <a:xfrm>
            <a:off x="0" y="10837626"/>
            <a:ext cx="20104100" cy="471805"/>
          </a:xfrm>
          <a:custGeom>
            <a:avLst/>
            <a:gdLst/>
            <a:ahLst/>
            <a:cxnLst/>
            <a:rect l="l" t="t" r="r" b="b"/>
            <a:pathLst>
              <a:path w="20104100" h="471804">
                <a:moveTo>
                  <a:pt x="20104099" y="0"/>
                </a:moveTo>
                <a:lnTo>
                  <a:pt x="0" y="0"/>
                </a:lnTo>
                <a:lnTo>
                  <a:pt x="0" y="471189"/>
                </a:lnTo>
                <a:lnTo>
                  <a:pt x="20104099" y="471189"/>
                </a:lnTo>
                <a:lnTo>
                  <a:pt x="20104099" y="0"/>
                </a:lnTo>
                <a:close/>
              </a:path>
            </a:pathLst>
          </a:custGeom>
          <a:solidFill>
            <a:srgbClr val="A31F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文本框 43"/>
          <p:cNvSpPr txBox="1"/>
          <p:nvPr/>
        </p:nvSpPr>
        <p:spPr>
          <a:xfrm>
            <a:off x="7509955" y="3978275"/>
            <a:ext cx="117347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8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人工神经网络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7662323" y="2649258"/>
            <a:ext cx="117347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中山大学计算机专业课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7824906" y="9617075"/>
            <a:ext cx="1158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2025</a:t>
            </a:r>
            <a:r>
              <a:rPr kumimoji="1" lang="zh-CN" altLang="en-US" sz="32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年春季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821869" y="6409600"/>
            <a:ext cx="11734768" cy="1660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权小军</a:t>
            </a:r>
            <a:endParaRPr kumimoji="1" lang="en-US" altLang="zh-CN" sz="3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中山大学计算机学院</a:t>
            </a:r>
          </a:p>
        </p:txBody>
      </p:sp>
      <p:pic>
        <p:nvPicPr>
          <p:cNvPr id="1028" name="Picture 4" descr="Amazon | Deep Learning (Adaptive Computation and Machine Learning series) |  Goodfellow, Ian, Bengio, Yoshua, Courville, Aaron | Human Vision &amp;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-15583"/>
            <a:ext cx="8244000" cy="10851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461250" y="4546679"/>
            <a:ext cx="117347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6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期末项目</a:t>
            </a:r>
            <a:r>
              <a:rPr kumimoji="1" lang="en-US" altLang="zh-CN" sz="6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r>
              <a:rPr kumimoji="1" lang="zh-CN" altLang="en-US" sz="6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kumimoji="1" lang="en-US" altLang="zh-CN" sz="6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6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英机器翻译</a:t>
            </a:r>
          </a:p>
        </p:txBody>
      </p:sp>
      <p:cxnSp>
        <p:nvCxnSpPr>
          <p:cNvPr id="9" name="直线连接符 8"/>
          <p:cNvCxnSpPr/>
          <p:nvPr/>
        </p:nvCxnSpPr>
        <p:spPr>
          <a:xfrm>
            <a:off x="8985250" y="5965145"/>
            <a:ext cx="8610600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CN" spc="-50" smtClean="0"/>
              <a:t>2</a:t>
            </a:fld>
            <a:endParaRPr lang="en-US" altLang="zh-CN" spc="-50" dirty="0"/>
          </a:p>
        </p:txBody>
      </p:sp>
      <p:pic>
        <p:nvPicPr>
          <p:cNvPr id="2054" name="Picture 6" descr="Neural Networks 101 – paulvanderlaken.c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733" y="2378075"/>
            <a:ext cx="66675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数据集简介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CN" spc="-50" smtClean="0"/>
              <a:t>3</a:t>
            </a:fld>
            <a:endParaRPr lang="en-US" altLang="zh-CN" spc="-50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1492539" y="1997076"/>
            <a:ext cx="17983201" cy="8534400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数据集说明：压缩包中共有</a:t>
            </a:r>
            <a:r>
              <a:rPr lang="en-US" altLang="zh-CN" sz="4800" dirty="0"/>
              <a:t>4</a:t>
            </a:r>
            <a:r>
              <a:rPr lang="zh-CN" altLang="en-US" sz="4800" dirty="0"/>
              <a:t>个</a:t>
            </a:r>
            <a:r>
              <a:rPr lang="en-US" altLang="zh-CN" sz="4800" dirty="0" err="1"/>
              <a:t>jsonl</a:t>
            </a:r>
            <a:r>
              <a:rPr lang="zh-CN" altLang="en-US" sz="4800" dirty="0"/>
              <a:t>文件，分别对应着训练集（小）、训练集（大）、验证集和测试集，它们的大小分别是</a:t>
            </a:r>
            <a:r>
              <a:rPr lang="en-US" altLang="zh-CN" sz="4800" dirty="0"/>
              <a:t>100k</a:t>
            </a:r>
            <a:r>
              <a:rPr lang="zh-CN" altLang="en-US" sz="4800" dirty="0"/>
              <a:t>、</a:t>
            </a:r>
            <a:r>
              <a:rPr lang="en-US" altLang="zh-CN" sz="4800" dirty="0"/>
              <a:t>10k</a:t>
            </a:r>
            <a:r>
              <a:rPr lang="zh-CN" altLang="en-US" sz="4800" dirty="0"/>
              <a:t>、</a:t>
            </a:r>
            <a:r>
              <a:rPr lang="en-US" altLang="zh-CN" sz="4800" dirty="0"/>
              <a:t>500</a:t>
            </a:r>
            <a:r>
              <a:rPr lang="zh-CN" altLang="en-US" sz="4800" dirty="0"/>
              <a:t>、</a:t>
            </a:r>
            <a:r>
              <a:rPr lang="en-US" altLang="zh-CN" sz="4800" dirty="0"/>
              <a:t>200</a:t>
            </a:r>
            <a:r>
              <a:rPr lang="zh-CN" altLang="en-US" sz="4800" dirty="0"/>
              <a:t>。</a:t>
            </a:r>
            <a:r>
              <a:rPr lang="en-US" altLang="zh-CN" sz="4800" dirty="0" err="1"/>
              <a:t>jsonl</a:t>
            </a:r>
            <a:r>
              <a:rPr lang="zh-CN" altLang="en-US" sz="4800" dirty="0"/>
              <a:t>文件中的每一行包含一个平行语料样本。模型的性能以测试集的结果为最终标准。</a:t>
            </a:r>
            <a:endParaRPr lang="en-US" altLang="zh-CN" sz="4800" dirty="0"/>
          </a:p>
          <a:p>
            <a:pPr lvl="1"/>
            <a:r>
              <a:rPr lang="zh-CN" altLang="en-US" sz="4400" dirty="0">
                <a:latin typeface="楷体" panose="02010609060101010101" pitchFamily="49" charset="-122"/>
                <a:ea typeface="楷体" panose="02010609060101010101" pitchFamily="49" charset="-122"/>
              </a:rPr>
              <a:t>若计算设备受限，可以仅使用训练集（小）中的</a:t>
            </a:r>
            <a:r>
              <a:rPr lang="en-US" altLang="zh-CN" sz="4400" dirty="0">
                <a:latin typeface="楷体" panose="02010609060101010101" pitchFamily="49" charset="-122"/>
                <a:ea typeface="楷体" panose="02010609060101010101" pitchFamily="49" charset="-122"/>
              </a:rPr>
              <a:t>10k</a:t>
            </a:r>
            <a:r>
              <a:rPr lang="zh-CN" altLang="en-US" sz="4400" dirty="0">
                <a:latin typeface="楷体" panose="02010609060101010101" pitchFamily="49" charset="-122"/>
                <a:ea typeface="楷体" panose="02010609060101010101" pitchFamily="49" charset="-122"/>
              </a:rPr>
              <a:t>平行语料进行训练；鼓励探索使用训练集（大）；</a:t>
            </a:r>
            <a:endParaRPr lang="en-US" altLang="zh-CN" sz="4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4800" dirty="0"/>
              <a:t>数据下载地址：</a:t>
            </a:r>
            <a:r>
              <a:rPr lang="zh-CN" altLang="en-US" sz="4800" dirty="0">
                <a:highlight>
                  <a:srgbClr val="FFFF00"/>
                </a:highlight>
              </a:rPr>
              <a:t>见附件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EAC78-55BB-B378-F5C6-2F4B58332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9F5348-9AE8-4069-CB68-153EFE299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数据预处理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83A6D51-3087-8F6C-DBE3-B39155FA06A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CN" spc="-50" smtClean="0"/>
              <a:t>4</a:t>
            </a:fld>
            <a:endParaRPr lang="en-US" altLang="zh-CN" spc="-50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17E3A2-4DB0-3C3E-A4C4-B9B99D391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0050" y="1844675"/>
            <a:ext cx="16764000" cy="8839200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4000" dirty="0"/>
              <a:t>数据清洗：非法字符，稀少字词的过滤；过长句子的过滤或截断。</a:t>
            </a:r>
            <a:endParaRPr lang="en-US" altLang="zh-CN" sz="4000" dirty="0"/>
          </a:p>
          <a:p>
            <a:r>
              <a:rPr lang="zh-CN" altLang="en-US" sz="4000" dirty="0"/>
              <a:t>分词：将输入句子切分为</a:t>
            </a:r>
            <a:r>
              <a:rPr lang="en-US" altLang="zh-CN" sz="4000" dirty="0"/>
              <a:t>tokens</a:t>
            </a:r>
            <a:r>
              <a:rPr lang="zh-CN" altLang="en-US" sz="4000" dirty="0"/>
              <a:t>，每个子串相对有着完整的语义，便于学习</a:t>
            </a:r>
            <a:r>
              <a:rPr lang="en-US" altLang="zh-CN" sz="4000" dirty="0"/>
              <a:t>embedding</a:t>
            </a:r>
            <a:r>
              <a:rPr lang="zh-CN" altLang="en-US" sz="4000" dirty="0"/>
              <a:t>表达</a:t>
            </a:r>
            <a:endParaRPr lang="en-US" altLang="zh-CN" sz="4000" dirty="0"/>
          </a:p>
          <a:p>
            <a:pPr lvl="1"/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</a:rPr>
              <a:t>英文</a:t>
            </a:r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</a:rPr>
              <a:t>词语之间存在天然的分隔</a:t>
            </a:r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</a:rPr>
              <a:t>空格、标点符号</a:t>
            </a:r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</a:rPr>
              <a:t>，可以直接利用</a:t>
            </a:r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</a:rPr>
              <a:t>NLTK</a:t>
            </a:r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</a:rPr>
              <a:t>BPE</a:t>
            </a:r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3600" dirty="0" err="1">
                <a:latin typeface="楷体" panose="02010609060101010101" pitchFamily="49" charset="-122"/>
                <a:ea typeface="楷体" panose="02010609060101010101" pitchFamily="49" charset="-122"/>
              </a:rPr>
              <a:t>WordPiece</a:t>
            </a:r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</a:rPr>
              <a:t>等统计方法分词</a:t>
            </a:r>
            <a:endParaRPr lang="en-US" altLang="zh-CN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</a:rPr>
              <a:t>中文：可以借助分词工具，诸如</a:t>
            </a:r>
            <a:r>
              <a:rPr lang="en-US" altLang="zh-CN" sz="3600" dirty="0" err="1">
                <a:latin typeface="楷体" panose="02010609060101010101" pitchFamily="49" charset="-122"/>
                <a:ea typeface="楷体" panose="02010609060101010101" pitchFamily="49" charset="-122"/>
              </a:rPr>
              <a:t>Jieba</a:t>
            </a:r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</a:rPr>
              <a:t>轻量型</a:t>
            </a:r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</a:rPr>
              <a:t>), </a:t>
            </a:r>
            <a:r>
              <a:rPr lang="en-US" altLang="zh-CN" sz="3600" dirty="0" err="1">
                <a:latin typeface="楷体" panose="02010609060101010101" pitchFamily="49" charset="-122"/>
                <a:ea typeface="楷体" panose="02010609060101010101" pitchFamily="49" charset="-122"/>
              </a:rPr>
              <a:t>HanLP</a:t>
            </a:r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</a:rPr>
              <a:t>大体量但效果好</a:t>
            </a:r>
            <a:r>
              <a:rPr lang="en-US" altLang="zh-CN" sz="36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  <a:p>
            <a:r>
              <a:rPr lang="zh-CN" altLang="en-US" sz="4000" dirty="0"/>
              <a:t>构建词典：利用分词后的结果构建统计词典，可以过滤掉出现频次较低的词语，防止词典规模过大</a:t>
            </a:r>
            <a:endParaRPr lang="en-US" altLang="zh-CN" sz="4000" dirty="0"/>
          </a:p>
          <a:p>
            <a:r>
              <a:rPr lang="zh-CN" altLang="en-US" sz="4000" dirty="0"/>
              <a:t>建议用预训练词向量初始化，在训练的过程中允许更新</a:t>
            </a:r>
            <a:endParaRPr lang="en-US" altLang="zh-CN" sz="4000" dirty="0"/>
          </a:p>
          <a:p>
            <a:r>
              <a:rPr lang="zh-CN" altLang="en-US" sz="4000" dirty="0"/>
              <a:t>除了提供的基础实现（</a:t>
            </a:r>
            <a:r>
              <a:rPr lang="en-US" altLang="zh-CN" sz="4000" dirty="0" err="1"/>
              <a:t>Jieba</a:t>
            </a:r>
            <a:r>
              <a:rPr lang="en-US" altLang="zh-CN" sz="4000" dirty="0"/>
              <a:t>+</a:t>
            </a:r>
            <a:r>
              <a:rPr lang="zh-CN" altLang="en-US" sz="4000" dirty="0"/>
              <a:t>空格分词），学生可尝试更先进的分词方式</a:t>
            </a:r>
            <a:endParaRPr lang="en-US" altLang="zh-CN" sz="4000" dirty="0"/>
          </a:p>
          <a:p>
            <a:endParaRPr lang="en-US" altLang="zh-CN" sz="4000" dirty="0"/>
          </a:p>
        </p:txBody>
      </p:sp>
    </p:spTree>
    <p:extLst>
      <p:ext uri="{BB962C8B-B14F-4D97-AF65-F5344CB8AC3E}">
        <p14:creationId xmlns:p14="http://schemas.microsoft.com/office/powerpoint/2010/main" val="2550996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1E9A5-BCC2-163A-82C2-74E01F301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A3F535-9C57-845A-5C17-827386E70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模型结构说明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F542186-7A62-3454-412B-2BB2E869FC2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CN" spc="-50" smtClean="0"/>
              <a:t>5</a:t>
            </a:fld>
            <a:endParaRPr lang="en-US" altLang="zh-CN" spc="-50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17E85E-48A5-C696-6C10-1EA84D60C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450" y="5061215"/>
            <a:ext cx="19436316" cy="5845145"/>
          </a:xfrm>
        </p:spPr>
        <p:txBody>
          <a:bodyPr>
            <a:noAutofit/>
          </a:bodyPr>
          <a:lstStyle/>
          <a:p>
            <a:r>
              <a:rPr lang="zh-CN" altLang="en-US" sz="4000" dirty="0"/>
              <a:t>使用</a:t>
            </a:r>
            <a:r>
              <a:rPr lang="en-US" altLang="zh-CN" sz="4000" dirty="0"/>
              <a:t>Transformer</a:t>
            </a:r>
            <a:r>
              <a:rPr lang="zh-CN" altLang="en-US" sz="4000" dirty="0"/>
              <a:t>架构构建中译英翻译模型，使用</a:t>
            </a:r>
            <a:r>
              <a:rPr lang="en-US" altLang="zh-CN" sz="4000" dirty="0"/>
              <a:t>Encoder-Decoder</a:t>
            </a:r>
            <a:r>
              <a:rPr lang="zh-CN" altLang="en-US" sz="4000" dirty="0"/>
              <a:t>结构。</a:t>
            </a:r>
            <a:endParaRPr lang="en-US" altLang="zh-CN" sz="4000" dirty="0"/>
          </a:p>
          <a:p>
            <a:r>
              <a:rPr lang="zh-CN" altLang="en-US" sz="4000" dirty="0"/>
              <a:t>将提供一个带有空缺函数的</a:t>
            </a:r>
            <a:r>
              <a:rPr lang="en-US" altLang="zh-CN" sz="4000" dirty="0"/>
              <a:t>Transformer</a:t>
            </a:r>
            <a:r>
              <a:rPr lang="zh-CN" altLang="en-US" sz="4000" dirty="0"/>
              <a:t>代码框架，学生需：</a:t>
            </a:r>
            <a:endParaRPr lang="en-US" altLang="zh-CN" sz="4000" dirty="0"/>
          </a:p>
          <a:p>
            <a:pPr lvl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补充完成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MultiHeadAttention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Scaled Dot-Product Attention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PositionalEncoding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EncoderLayer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DecoderLayer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等模块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正确实现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forward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传播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鼓励探索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dropout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LayerNorm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等正则化技术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DF2DB9F-E4A5-6389-20A2-C9411036E5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525" y="1467846"/>
            <a:ext cx="11287125" cy="359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33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C5F98-CDAC-2EC8-4035-C6095091C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B5A07-98DE-6223-A769-501433069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训练和推理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2A77DC5-9F94-DF9F-8C17-786CA77CBC8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CN" spc="-50" smtClean="0"/>
              <a:t>6</a:t>
            </a:fld>
            <a:endParaRPr lang="en-US" altLang="zh-CN" spc="-50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FF35D6-87C0-7151-43E2-30BE212CA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1450" y="2301875"/>
            <a:ext cx="17830800" cy="6705600"/>
          </a:xfrm>
        </p:spPr>
        <p:txBody>
          <a:bodyPr>
            <a:normAutofit/>
          </a:bodyPr>
          <a:lstStyle/>
          <a:p>
            <a:r>
              <a:rPr lang="zh-CN" altLang="en-US" dirty="0"/>
              <a:t>定义损失函数（例如交叉熵损失）和优化器（例如 </a:t>
            </a:r>
            <a:r>
              <a:rPr lang="en-US" altLang="zh-CN" dirty="0"/>
              <a:t>Adam</a:t>
            </a:r>
            <a:r>
              <a:rPr lang="zh-CN" altLang="en-US" dirty="0"/>
              <a:t>）。</a:t>
            </a:r>
            <a:endParaRPr lang="en-US" altLang="zh-CN" dirty="0"/>
          </a:p>
          <a:p>
            <a:r>
              <a:rPr lang="zh-CN" altLang="en-US" dirty="0"/>
              <a:t>将双语平行语料库处理成中译英数据，训练模型的中译英能力。</a:t>
            </a:r>
            <a:endParaRPr lang="en-US" altLang="zh-CN" dirty="0"/>
          </a:p>
          <a:p>
            <a:r>
              <a:rPr lang="zh-CN" altLang="en-US" dirty="0"/>
              <a:t>模型训练采用</a:t>
            </a:r>
            <a:r>
              <a:rPr lang="en-US" altLang="zh-CN" dirty="0"/>
              <a:t>teacher forcing</a:t>
            </a:r>
            <a:r>
              <a:rPr lang="zh-CN" altLang="en-US" dirty="0"/>
              <a:t>策略；推理阶段使用</a:t>
            </a:r>
            <a:r>
              <a:rPr lang="en-US" altLang="zh-CN" dirty="0"/>
              <a:t>greedy</a:t>
            </a:r>
            <a:r>
              <a:rPr lang="zh-CN" altLang="en-US" dirty="0"/>
              <a:t>（已提供）或其他（自行实现）。</a:t>
            </a:r>
            <a:endParaRPr lang="en-US" altLang="zh-CN" dirty="0"/>
          </a:p>
          <a:p>
            <a:r>
              <a:rPr lang="zh-CN" altLang="en-US" dirty="0"/>
              <a:t>鼓励对比不同训练参数对性能的影响，如</a:t>
            </a:r>
            <a:r>
              <a:rPr lang="en-US" altLang="zh-CN" dirty="0"/>
              <a:t>batch size</a:t>
            </a:r>
            <a:r>
              <a:rPr lang="zh-CN" altLang="en-US" dirty="0"/>
              <a:t>、学习率、层数等。</a:t>
            </a:r>
          </a:p>
        </p:txBody>
      </p:sp>
    </p:spTree>
    <p:extLst>
      <p:ext uri="{BB962C8B-B14F-4D97-AF65-F5344CB8AC3E}">
        <p14:creationId xmlns:p14="http://schemas.microsoft.com/office/powerpoint/2010/main" val="178707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1894F-2907-E38B-66E8-877C0F7DB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0188C-139A-344A-5AEF-73FD03E46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编程语言与环境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948072F-223E-DFB7-40AD-C242AFA9D52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CN" spc="-50" smtClean="0"/>
              <a:t>7</a:t>
            </a:fld>
            <a:endParaRPr lang="en-US" altLang="zh-CN" spc="-50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FA7B55-4561-74CE-C92C-2AF5CC1D9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0050" y="1844675"/>
            <a:ext cx="16764000" cy="8839200"/>
          </a:xfrm>
        </p:spPr>
        <p:txBody>
          <a:bodyPr>
            <a:norm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sz="6000" dirty="0"/>
              <a:t>编程语言：</a:t>
            </a:r>
            <a:r>
              <a:rPr lang="en-US" altLang="zh-CN" sz="6000" dirty="0"/>
              <a:t>python</a:t>
            </a:r>
          </a:p>
          <a:p>
            <a:r>
              <a:rPr lang="zh-CN" altLang="en-US" sz="6000" dirty="0"/>
              <a:t>深度学习框架：</a:t>
            </a:r>
            <a:r>
              <a:rPr lang="en-US" altLang="zh-CN" sz="6000" dirty="0" err="1"/>
              <a:t>pytorch</a:t>
            </a:r>
            <a:endParaRPr lang="en-US" altLang="zh-CN" sz="6000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8931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0A30F-BC58-8CDD-DDC9-686A909B2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39C673-74F4-EE48-D6D6-D89537C3E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评估指标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4D196A3-4F50-4BD4-DD22-9B0FFBD3380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CN" spc="-50" smtClean="0"/>
              <a:t>8</a:t>
            </a:fld>
            <a:endParaRPr lang="en-US" altLang="zh-CN" spc="-50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44493F7-7DD3-E30C-1AE3-09057F85C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0050" y="2301875"/>
            <a:ext cx="16764000" cy="6705600"/>
          </a:xfrm>
        </p:spPr>
        <p:txBody>
          <a:bodyPr>
            <a:normAutofit/>
          </a:bodyPr>
          <a:lstStyle/>
          <a:p>
            <a:r>
              <a:rPr lang="en-US" altLang="zh-CN" dirty="0"/>
              <a:t>BLEU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5B701B4-8109-B8B2-3510-9D9AA84823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250" y="3539409"/>
            <a:ext cx="14325600" cy="548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486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34ECA-AA11-4CB7-5CAF-BFE61D44E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9B8C02-B053-8B88-99EE-AF7F14F63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重点考察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B729138-2070-491F-BCD6-9272CDA30B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CN" spc="-50" smtClean="0"/>
              <a:t>9</a:t>
            </a:fld>
            <a:endParaRPr lang="en-US" altLang="zh-CN" spc="-50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E1EAE9-5700-8D16-E87B-0CF3FAF9B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0050" y="2301875"/>
            <a:ext cx="16764000" cy="8077200"/>
          </a:xfrm>
        </p:spPr>
        <p:txBody>
          <a:bodyPr>
            <a:normAutofit/>
          </a:bodyPr>
          <a:lstStyle/>
          <a:p>
            <a:r>
              <a:rPr lang="zh-CN" altLang="en-US" dirty="0"/>
              <a:t>理解</a:t>
            </a:r>
            <a:r>
              <a:rPr lang="en-US" altLang="zh-CN" dirty="0"/>
              <a:t>Transformer</a:t>
            </a:r>
            <a:r>
              <a:rPr lang="zh-CN" altLang="en-US" dirty="0"/>
              <a:t>模型结构和模块功能</a:t>
            </a:r>
            <a:endParaRPr lang="en-US" altLang="zh-CN" dirty="0"/>
          </a:p>
          <a:p>
            <a:r>
              <a:rPr lang="zh-CN" altLang="en-US" dirty="0"/>
              <a:t>独立完成空缺模块的代码补全与调试</a:t>
            </a:r>
          </a:p>
          <a:p>
            <a:r>
              <a:rPr lang="zh-CN" altLang="en-US" dirty="0"/>
              <a:t>掌握训练、推理流程和优化技巧</a:t>
            </a:r>
          </a:p>
          <a:p>
            <a:r>
              <a:rPr lang="zh-CN" altLang="en-US" dirty="0"/>
              <a:t>使用</a:t>
            </a:r>
            <a:r>
              <a:rPr lang="en-US" altLang="zh-CN" dirty="0"/>
              <a:t>BLEU</a:t>
            </a:r>
            <a:r>
              <a:rPr lang="zh-CN" altLang="en-US" dirty="0"/>
              <a:t>指标进行效果评估与对比分析</a:t>
            </a:r>
          </a:p>
          <a:p>
            <a:r>
              <a:rPr lang="zh-CN" altLang="en-US" dirty="0"/>
              <a:t>可视化</a:t>
            </a:r>
            <a:r>
              <a:rPr lang="en-US" altLang="zh-CN" dirty="0"/>
              <a:t>attention</a:t>
            </a:r>
            <a:r>
              <a:rPr lang="zh-CN" altLang="en-US" dirty="0"/>
              <a:t>权重，辅助解释模型行为（少量案例进行分析）</a:t>
            </a:r>
          </a:p>
          <a:p>
            <a:pPr marL="0" indent="0" algn="ctr">
              <a:buNone/>
            </a:pPr>
            <a:r>
              <a:rPr lang="zh-CN" altLang="en-US" sz="5400" dirty="0">
                <a:solidFill>
                  <a:srgbClr val="FF0000"/>
                </a:solidFill>
              </a:rPr>
              <a:t>独立完成，不得抄袭！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167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BA6FF-937B-F0BB-376E-DE4C73D67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6D16FA-A473-4DA3-3093-F6FCBD2B7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提交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908AD49-D202-0155-0D28-53DF8D8B6B6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CN" spc="-50" smtClean="0"/>
              <a:t>10</a:t>
            </a:fld>
            <a:endParaRPr lang="en-US" altLang="zh-CN" spc="-50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AE3045-98D0-6C36-51E3-EF4BA9528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0050" y="2301875"/>
            <a:ext cx="16764000" cy="8077200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dirty="0"/>
              <a:t>源代码，最终用于测评的 </a:t>
            </a:r>
            <a:r>
              <a:rPr lang="en-US" altLang="zh-CN" dirty="0"/>
              <a:t>checkpoint</a:t>
            </a:r>
            <a:r>
              <a:rPr lang="zh-CN" altLang="en-US" dirty="0"/>
              <a:t> 及输出文件（详细文件及格式见附件中的</a:t>
            </a:r>
            <a:r>
              <a:rPr lang="en-US" altLang="zh-CN" dirty="0"/>
              <a:t>README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项目报告（</a:t>
            </a:r>
            <a:r>
              <a:rPr lang="en-US" altLang="zh-CN" dirty="0"/>
              <a:t>PDF</a:t>
            </a:r>
            <a:r>
              <a:rPr lang="zh-CN" altLang="en-US" dirty="0"/>
              <a:t>格式），需包含：</a:t>
            </a:r>
            <a:endParaRPr lang="en-US" altLang="zh-CN" dirty="0"/>
          </a:p>
          <a:p>
            <a:pPr lvl="1"/>
            <a:r>
              <a:rPr lang="zh-CN" altLang="en-US" dirty="0"/>
              <a:t>模型结构说明与代码补全过程说明</a:t>
            </a:r>
          </a:p>
          <a:p>
            <a:pPr lvl="1"/>
            <a:r>
              <a:rPr lang="zh-CN" altLang="en-US" dirty="0"/>
              <a:t>实验结果分析（含</a:t>
            </a:r>
            <a:r>
              <a:rPr lang="en-US" altLang="zh-CN" dirty="0"/>
              <a:t>BLEU</a:t>
            </a:r>
            <a:r>
              <a:rPr lang="zh-CN" altLang="en-US" dirty="0"/>
              <a:t>得分，评分与最终的</a:t>
            </a:r>
            <a:r>
              <a:rPr lang="en-US" altLang="zh-CN" dirty="0"/>
              <a:t>BLEU</a:t>
            </a:r>
            <a:r>
              <a:rPr lang="zh-CN" altLang="en-US" dirty="0"/>
              <a:t>分数无关）</a:t>
            </a:r>
          </a:p>
          <a:p>
            <a:pPr lvl="1"/>
            <a:r>
              <a:rPr lang="zh-CN" altLang="en-US" dirty="0"/>
              <a:t>可视化分析与个人总结</a:t>
            </a:r>
          </a:p>
          <a:p>
            <a:r>
              <a:rPr lang="zh-CN" altLang="en-US" dirty="0"/>
              <a:t>压缩文件并命名：“</a:t>
            </a:r>
            <a:r>
              <a:rPr lang="en-US" altLang="zh-CN" dirty="0"/>
              <a:t>2025ANN-final-term-project-</a:t>
            </a:r>
            <a:r>
              <a:rPr lang="zh-CN" altLang="en-US" dirty="0"/>
              <a:t>学号</a:t>
            </a:r>
            <a:r>
              <a:rPr lang="en-US" altLang="zh-CN" dirty="0"/>
              <a:t>-</a:t>
            </a:r>
            <a:r>
              <a:rPr lang="zh-CN" altLang="en-US" dirty="0"/>
              <a:t>姓名</a:t>
            </a:r>
            <a:r>
              <a:rPr lang="en-US" altLang="zh-CN" dirty="0"/>
              <a:t>.zip/</a:t>
            </a:r>
            <a:r>
              <a:rPr lang="en-US" altLang="zh-CN" dirty="0" err="1"/>
              <a:t>rar</a:t>
            </a:r>
            <a:r>
              <a:rPr lang="en-US" altLang="zh-CN" dirty="0"/>
              <a:t>”</a:t>
            </a:r>
          </a:p>
          <a:p>
            <a:r>
              <a:rPr lang="zh-CN" altLang="en-US" dirty="0"/>
              <a:t>邮件主题：</a:t>
            </a:r>
            <a:r>
              <a:rPr lang="en-US" altLang="zh-CN" dirty="0"/>
              <a:t>2025ANN-final-term-project-</a:t>
            </a:r>
            <a:r>
              <a:rPr lang="zh-CN" altLang="en-US" dirty="0"/>
              <a:t>学号</a:t>
            </a:r>
            <a:r>
              <a:rPr lang="en-US" altLang="zh-CN" dirty="0"/>
              <a:t>-</a:t>
            </a:r>
            <a:r>
              <a:rPr lang="zh-CN" altLang="en-US" dirty="0"/>
              <a:t>姓名</a:t>
            </a:r>
            <a:endParaRPr lang="en-US" altLang="zh-CN" dirty="0"/>
          </a:p>
          <a:p>
            <a:r>
              <a:rPr lang="zh-CN" altLang="en-US" dirty="0"/>
              <a:t>提交方式：</a:t>
            </a:r>
            <a:r>
              <a:rPr lang="zh-CN" altLang="en-US" dirty="0">
                <a:highlight>
                  <a:srgbClr val="FFFF00"/>
                </a:highlight>
              </a:rPr>
              <a:t>对分易平台</a:t>
            </a:r>
            <a:endParaRPr lang="en-US" altLang="zh-CN" dirty="0">
              <a:highlight>
                <a:srgbClr val="FFFF00"/>
              </a:highlight>
            </a:endParaRPr>
          </a:p>
          <a:p>
            <a:r>
              <a:rPr lang="en-US" altLang="zh-CN" dirty="0"/>
              <a:t>Deadline: </a:t>
            </a:r>
            <a:r>
              <a:rPr lang="en-US" altLang="zh-CN" dirty="0">
                <a:highlight>
                  <a:srgbClr val="FFFF00"/>
                </a:highlight>
              </a:rPr>
              <a:t>2025-06-30 24:00PM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29768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49EF7-0CF6-AD9F-90D1-5C52A1ACD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02CE9C-E6F4-1C28-9D08-29E6F7359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参考资料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213CEC0-171C-E26C-4937-D95D81FDDBA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CN" spc="-50" smtClean="0"/>
              <a:t>11</a:t>
            </a:fld>
            <a:endParaRPr lang="en-US" altLang="zh-CN" spc="-50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95B68A-B736-0E73-5EBB-E91C78E22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0050" y="2301875"/>
            <a:ext cx="16764000" cy="807720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seq2seq</a:t>
            </a:r>
            <a:r>
              <a:rPr lang="zh-CN" altLang="en-US" dirty="0"/>
              <a:t>机器翻译教程 </a:t>
            </a:r>
            <a:r>
              <a:rPr lang="en-US" altLang="zh-CN" dirty="0"/>
              <a:t>(</a:t>
            </a:r>
            <a:r>
              <a:rPr lang="zh-CN" altLang="en-US" dirty="0"/>
              <a:t>来自 </a:t>
            </a:r>
            <a:r>
              <a:rPr lang="en-US" altLang="zh-CN" dirty="0" err="1"/>
              <a:t>pytorch</a:t>
            </a:r>
            <a:r>
              <a:rPr lang="en-US" altLang="zh-CN" dirty="0"/>
              <a:t> </a:t>
            </a:r>
            <a:r>
              <a:rPr lang="zh-CN" altLang="en-US" dirty="0"/>
              <a:t>官方教程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r>
              <a:rPr lang="en-US" altLang="zh-CN" u="sng" dirty="0">
                <a:hlinkClick r:id="rId3"/>
              </a:rPr>
              <a:t>https://docs.pytorch.org/tutorials/intermediate/seq2seq_translation_tutorial.html</a:t>
            </a:r>
            <a:endParaRPr lang="en-US" altLang="zh-CN" u="sng" dirty="0"/>
          </a:p>
          <a:p>
            <a:r>
              <a:rPr lang="zh-CN" altLang="en-US" dirty="0"/>
              <a:t>分词工具使用</a:t>
            </a:r>
            <a:r>
              <a:rPr lang="en-US" altLang="zh-CN" dirty="0"/>
              <a:t>: </a:t>
            </a:r>
          </a:p>
          <a:p>
            <a:pPr lvl="1"/>
            <a:r>
              <a:rPr lang="en-US" altLang="zh-CN" dirty="0" err="1"/>
              <a:t>jieba</a:t>
            </a:r>
            <a:r>
              <a:rPr lang="zh-CN" altLang="en-US" dirty="0"/>
              <a:t>中文分词工具：</a:t>
            </a:r>
            <a:r>
              <a:rPr lang="en-US" altLang="zh-CN" dirty="0">
                <a:hlinkClick r:id="rId4"/>
              </a:rPr>
              <a:t>https://github.com/fxsjy/jieba</a:t>
            </a:r>
            <a:endParaRPr lang="en-US" altLang="zh-CN" dirty="0"/>
          </a:p>
          <a:p>
            <a:pPr lvl="1"/>
            <a:r>
              <a:rPr lang="en-US" altLang="zh-CN" dirty="0" err="1"/>
              <a:t>sentencepiece</a:t>
            </a:r>
            <a:r>
              <a:rPr lang="zh-CN" altLang="en-US" dirty="0"/>
              <a:t>英文分词工具：</a:t>
            </a:r>
            <a:r>
              <a:rPr lang="en-US" altLang="zh-CN" u="sng" dirty="0">
                <a:hlinkClick r:id="rId5"/>
              </a:rPr>
              <a:t>https://github.com/google/sentencepiece</a:t>
            </a:r>
            <a:endParaRPr lang="en-US" altLang="zh-CN" u="sng" dirty="0"/>
          </a:p>
          <a:p>
            <a:r>
              <a:rPr lang="zh-CN" altLang="en-US" dirty="0"/>
              <a:t>参考论文：</a:t>
            </a:r>
            <a:r>
              <a:rPr lang="en-US" altLang="zh-CN" dirty="0">
                <a:hlinkClick r:id="rId6"/>
              </a:rPr>
              <a:t>Attention is All You Need (Vaswani et al., 2017)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4191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94450" y="4664075"/>
            <a:ext cx="8915400" cy="1231106"/>
          </a:xfrm>
        </p:spPr>
        <p:txBody>
          <a:bodyPr/>
          <a:lstStyle/>
          <a:p>
            <a:pPr algn="ctr"/>
            <a:r>
              <a:rPr kumimoji="1" lang="zh-CN" altLang="en-US" sz="8000" dirty="0"/>
              <a:t>谢谢大家！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lang="en-US" altLang="zh-CN" spc="-50" smtClean="0"/>
              <a:t>12</a:t>
            </a:fld>
            <a:endParaRPr lang="en-US" altLang="zh-CN" spc="-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9&quot;:[20348550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 new day begins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 new day begins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 new day begins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2492</TotalTime>
  <Words>689</Words>
  <Application>Microsoft Macintosh PowerPoint</Application>
  <PresentationFormat>自定义</PresentationFormat>
  <Paragraphs>71</Paragraphs>
  <Slides>12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等线</vt:lpstr>
      <vt:lpstr>楷体</vt:lpstr>
      <vt:lpstr>微软雅黑</vt:lpstr>
      <vt:lpstr>微软雅黑 Light</vt:lpstr>
      <vt:lpstr>Arial</vt:lpstr>
      <vt:lpstr>Calibri</vt:lpstr>
      <vt:lpstr>Century</vt:lpstr>
      <vt:lpstr>Courier New</vt:lpstr>
      <vt:lpstr>Wingdings</vt:lpstr>
      <vt:lpstr>Office Theme</vt:lpstr>
      <vt:lpstr>PowerPoint 演示文稿</vt:lpstr>
      <vt:lpstr>PowerPoint 演示文稿</vt:lpstr>
      <vt:lpstr>数据集简介</vt:lpstr>
      <vt:lpstr>数据预处理</vt:lpstr>
      <vt:lpstr>模型结构说明</vt:lpstr>
      <vt:lpstr>训练和推理</vt:lpstr>
      <vt:lpstr>编程语言与环境</vt:lpstr>
      <vt:lpstr>评估指标</vt:lpstr>
      <vt:lpstr>重点考察</vt:lpstr>
      <vt:lpstr>提交</vt:lpstr>
      <vt:lpstr>参考资料</vt:lpstr>
      <vt:lpstr>谢谢大家！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Lec01-Introduction</dc:title>
  <dc:creator>zengyy78</dc:creator>
  <cp:lastModifiedBy>小军 权</cp:lastModifiedBy>
  <cp:revision>1325</cp:revision>
  <dcterms:created xsi:type="dcterms:W3CDTF">2025-02-05T01:47:00Z</dcterms:created>
  <dcterms:modified xsi:type="dcterms:W3CDTF">2025-06-08T08:57:25Z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2024-09-06T16:00:00Z</vt:filetime>
  </property>
  <property fmtid="{D5CDD505-2E9C-101B-9397-08002B2CF9AE}" pid="3" name="Creator">
    <vt:lpwstr>Keynote</vt:lpwstr>
  </property>
  <property fmtid="{D5CDD505-2E9C-101B-9397-08002B2CF9AE}" pid="4" name="LastSaved">
    <vt:filetime>2025-02-06T16:00:00Z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ICV">
    <vt:lpwstr>A97DFFC9A1214206B2F1E75508B8BDFC_12</vt:lpwstr>
  </property>
  <property fmtid="{D5CDD505-2E9C-101B-9397-08002B2CF9AE}" pid="7" name="KSOProductBuildVer">
    <vt:lpwstr>2052-12.1.0.20784</vt:lpwstr>
  </property>
</Properties>
</file>