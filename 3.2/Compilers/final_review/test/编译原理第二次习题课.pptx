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_rels/slide4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5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16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45.xml.rels" ContentType="application/vnd.openxmlformats-package.relationships+xml"/>
  <Override PartName="/ppt/slides/_rels/slide38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23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8.xml.rels" ContentType="application/vnd.openxmlformats-package.relationships+xml"/>
  <Override PartName="/ppt/slides/slide30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44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43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42.xml" ContentType="application/vnd.openxmlformats-officedocument.presentationml.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_rels/presentation.xml.rels" ContentType="application/vnd.openxmlformats-package.relationships+xml"/>
  <Override PartName="/ppt/media/image64.png" ContentType="image/png"/>
  <Override PartName="/ppt/media/image63.png" ContentType="image/png"/>
  <Override PartName="/ppt/media/image62.png" ContentType="image/png"/>
  <Override PartName="/ppt/media/image61.png" ContentType="image/png"/>
  <Override PartName="/ppt/media/image60.png" ContentType="image/png"/>
  <Override PartName="/ppt/media/image23.png" ContentType="image/png"/>
  <Override PartName="/ppt/media/image22.png" ContentType="image/png"/>
  <Override PartName="/ppt/media/image59.png" ContentType="image/png"/>
  <Override PartName="/ppt/media/image21.png" ContentType="image/png"/>
  <Override PartName="/ppt/media/image58.png" ContentType="image/png"/>
  <Override PartName="/ppt/media/image20.png" ContentType="image/png"/>
  <Override PartName="/ppt/media/image57.png" ContentType="image/png"/>
  <Override PartName="/ppt/media/image24.png" ContentType="image/png"/>
  <Override PartName="/ppt/media/image31.png" ContentType="image/png"/>
  <Override PartName="/ppt/media/image25.png" ContentType="image/png"/>
  <Override PartName="/ppt/media/image14.png" ContentType="image/png"/>
  <Override PartName="/ppt/media/image2.png" ContentType="image/png"/>
  <Override PartName="/ppt/media/image32.png" ContentType="image/png"/>
  <Override PartName="/ppt/media/image26.png" ContentType="image/png"/>
  <Override PartName="/ppt/media/image15.png" ContentType="image/png"/>
  <Override PartName="/ppt/media/image3.png" ContentType="image/png"/>
  <Override PartName="/ppt/media/image33.png" ContentType="image/png"/>
  <Override PartName="/ppt/media/image27.png" ContentType="image/png"/>
  <Override PartName="/ppt/media/image16.png" ContentType="image/png"/>
  <Override PartName="/ppt/media/image4.png" ContentType="image/png"/>
  <Override PartName="/ppt/media/image34.png" ContentType="image/png"/>
  <Override PartName="/ppt/media/image28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29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30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slideLayouts/_rels/slideLayout47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单击</a:t>
            </a:r>
            <a:r>
              <a:rPr b="0" lang="en-US" sz="4400" spc="-1" strike="noStrike">
                <a:latin typeface="Arial"/>
              </a:rPr>
              <a:t>鼠标</a:t>
            </a:r>
            <a:r>
              <a:rPr b="0" lang="en-US" sz="4400" spc="-1" strike="noStrike">
                <a:latin typeface="Arial"/>
              </a:rPr>
              <a:t>编辑</a:t>
            </a:r>
            <a:r>
              <a:rPr b="0" lang="en-US" sz="4400" spc="-1" strike="noStrike">
                <a:latin typeface="Arial"/>
              </a:rPr>
              <a:t>标题</a:t>
            </a:r>
            <a:r>
              <a:rPr b="0" lang="en-US" sz="4400" spc="-1" strike="noStrike">
                <a:latin typeface="Arial"/>
              </a:rPr>
              <a:t>文字</a:t>
            </a:r>
            <a:r>
              <a:rPr b="0" lang="en-US" sz="4400" spc="-1" strike="noStrike">
                <a:latin typeface="Arial"/>
              </a:rPr>
              <a:t>格式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单击鼠标编辑大纲文字格式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第二个大纲级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第三大纲级别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第四大纲级别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第五大纲级别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第六大纲级别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第七大纲级别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单击</a:t>
            </a:r>
            <a:r>
              <a:rPr b="0" lang="en-US" sz="4400" spc="-1" strike="noStrike">
                <a:latin typeface="Arial"/>
              </a:rPr>
              <a:t>鼠标</a:t>
            </a:r>
            <a:r>
              <a:rPr b="0" lang="en-US" sz="4400" spc="-1" strike="noStrike">
                <a:latin typeface="Arial"/>
              </a:rPr>
              <a:t>编辑</a:t>
            </a:r>
            <a:r>
              <a:rPr b="0" lang="en-US" sz="4400" spc="-1" strike="noStrike">
                <a:latin typeface="Arial"/>
              </a:rPr>
              <a:t>标题</a:t>
            </a:r>
            <a:r>
              <a:rPr b="0" lang="en-US" sz="4400" spc="-1" strike="noStrike">
                <a:latin typeface="Arial"/>
              </a:rPr>
              <a:t>文字</a:t>
            </a:r>
            <a:r>
              <a:rPr b="0" lang="en-US" sz="4400" spc="-1" strike="noStrike">
                <a:latin typeface="Arial"/>
              </a:rPr>
              <a:t>格式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单击鼠标编辑大纲文字格式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第二个大纲级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第三大纲级别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第四大纲级别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第五大纲级别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第六大纲级别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第七大纲级别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单</a:t>
            </a:r>
            <a:r>
              <a:rPr b="0" lang="en-US" sz="4400" spc="-1" strike="noStrike">
                <a:latin typeface="Arial"/>
              </a:rPr>
              <a:t>击</a:t>
            </a:r>
            <a:r>
              <a:rPr b="0" lang="en-US" sz="4400" spc="-1" strike="noStrike">
                <a:latin typeface="Arial"/>
              </a:rPr>
              <a:t>鼠</a:t>
            </a:r>
            <a:r>
              <a:rPr b="0" lang="en-US" sz="4400" spc="-1" strike="noStrike">
                <a:latin typeface="Arial"/>
              </a:rPr>
              <a:t>标</a:t>
            </a:r>
            <a:r>
              <a:rPr b="0" lang="en-US" sz="4400" spc="-1" strike="noStrike">
                <a:latin typeface="Arial"/>
              </a:rPr>
              <a:t>编</a:t>
            </a:r>
            <a:r>
              <a:rPr b="0" lang="en-US" sz="4400" spc="-1" strike="noStrike">
                <a:latin typeface="Arial"/>
              </a:rPr>
              <a:t>辑</a:t>
            </a:r>
            <a:r>
              <a:rPr b="0" lang="en-US" sz="4400" spc="-1" strike="noStrike">
                <a:latin typeface="Arial"/>
              </a:rPr>
              <a:t>标</a:t>
            </a:r>
            <a:r>
              <a:rPr b="0" lang="en-US" sz="4400" spc="-1" strike="noStrike">
                <a:latin typeface="Arial"/>
              </a:rPr>
              <a:t>题</a:t>
            </a:r>
            <a:r>
              <a:rPr b="0" lang="en-US" sz="4400" spc="-1" strike="noStrike">
                <a:latin typeface="Arial"/>
              </a:rPr>
              <a:t>文</a:t>
            </a:r>
            <a:r>
              <a:rPr b="0" lang="en-US" sz="4400" spc="-1" strike="noStrike">
                <a:latin typeface="Arial"/>
              </a:rPr>
              <a:t>字</a:t>
            </a:r>
            <a:r>
              <a:rPr b="0" lang="en-US" sz="4400" spc="-1" strike="noStrike">
                <a:latin typeface="Arial"/>
              </a:rPr>
              <a:t>格</a:t>
            </a:r>
            <a:r>
              <a:rPr b="0" lang="en-US" sz="4400" spc="-1" strike="noStrike">
                <a:latin typeface="Arial"/>
              </a:rPr>
              <a:t>式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单击鼠标编辑大纲文字格式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第二个大纲级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第三大纲级别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第四大纲级别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第五大纲级别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第六大纲级别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第七大纲级别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US" sz="4400" spc="-1" strike="noStrike">
                <a:latin typeface="Arial"/>
              </a:rPr>
              <a:t>单</a:t>
            </a:r>
            <a:r>
              <a:rPr b="0" lang="en-US" sz="4400" spc="-1" strike="noStrike">
                <a:latin typeface="Arial"/>
              </a:rPr>
              <a:t>击</a:t>
            </a:r>
            <a:r>
              <a:rPr b="0" lang="en-US" sz="4400" spc="-1" strike="noStrike">
                <a:latin typeface="Arial"/>
              </a:rPr>
              <a:t>鼠</a:t>
            </a:r>
            <a:r>
              <a:rPr b="0" lang="en-US" sz="4400" spc="-1" strike="noStrike">
                <a:latin typeface="Arial"/>
              </a:rPr>
              <a:t>标</a:t>
            </a:r>
            <a:r>
              <a:rPr b="0" lang="en-US" sz="4400" spc="-1" strike="noStrike">
                <a:latin typeface="Arial"/>
              </a:rPr>
              <a:t>编</a:t>
            </a:r>
            <a:r>
              <a:rPr b="0" lang="en-US" sz="4400" spc="-1" strike="noStrike">
                <a:latin typeface="Arial"/>
              </a:rPr>
              <a:t>辑</a:t>
            </a:r>
            <a:r>
              <a:rPr b="0" lang="en-US" sz="4400" spc="-1" strike="noStrike">
                <a:latin typeface="Arial"/>
              </a:rPr>
              <a:t>标</a:t>
            </a:r>
            <a:r>
              <a:rPr b="0" lang="en-US" sz="4400" spc="-1" strike="noStrike">
                <a:latin typeface="Arial"/>
              </a:rPr>
              <a:t>题</a:t>
            </a:r>
            <a:r>
              <a:rPr b="0" lang="en-US" sz="4400" spc="-1" strike="noStrike">
                <a:latin typeface="Arial"/>
              </a:rPr>
              <a:t>文</a:t>
            </a:r>
            <a:r>
              <a:rPr b="0" lang="en-US" sz="4400" spc="-1" strike="noStrike">
                <a:latin typeface="Arial"/>
              </a:rPr>
              <a:t>字</a:t>
            </a:r>
            <a:r>
              <a:rPr b="0" lang="en-US" sz="4400" spc="-1" strike="noStrike">
                <a:latin typeface="Arial"/>
              </a:rPr>
              <a:t>格</a:t>
            </a:r>
            <a:r>
              <a:rPr b="0" lang="en-US" sz="4400" spc="-1" strike="noStrike">
                <a:latin typeface="Arial"/>
              </a:rPr>
              <a:t>式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单击鼠标编辑大纲文字格式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第二个大纲级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第三大纲级别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第四大纲级别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第五大纲级别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第六大纲级别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第七大纲级别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2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2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2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2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2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2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2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2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2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25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25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25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slideLayout" Target="../slideLayouts/slideLayout25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25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slideLayout" Target="../slideLayouts/slideLayout25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slideLayout" Target="../slideLayouts/slideLayout2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480"/>
          </a:xfrm>
          <a:prstGeom prst="rect">
            <a:avLst/>
          </a:prstGeom>
          <a:ln>
            <a:noFill/>
          </a:ln>
        </p:spPr>
      </p:pic>
      <p:pic>
        <p:nvPicPr>
          <p:cNvPr id="153" name="Picture 2" descr=""/>
          <p:cNvPicPr/>
          <p:nvPr/>
        </p:nvPicPr>
        <p:blipFill>
          <a:blip r:embed="rId2"/>
          <a:stretch/>
        </p:blipFill>
        <p:spPr>
          <a:xfrm>
            <a:off x="1417320" y="5349240"/>
            <a:ext cx="9324360" cy="1446480"/>
          </a:xfrm>
          <a:prstGeom prst="rect">
            <a:avLst/>
          </a:prstGeom>
          <a:ln>
            <a:noFill/>
          </a:ln>
        </p:spPr>
      </p:pic>
      <p:pic>
        <p:nvPicPr>
          <p:cNvPr id="154" name="Picture 3" descr=""/>
          <p:cNvPicPr/>
          <p:nvPr/>
        </p:nvPicPr>
        <p:blipFill>
          <a:blip r:embed="rId3"/>
          <a:stretch/>
        </p:blipFill>
        <p:spPr>
          <a:xfrm>
            <a:off x="5166360" y="685800"/>
            <a:ext cx="1826280" cy="1720800"/>
          </a:xfrm>
          <a:prstGeom prst="rect">
            <a:avLst/>
          </a:prstGeom>
          <a:ln>
            <a:noFill/>
          </a:ln>
        </p:spPr>
      </p:pic>
      <p:sp>
        <p:nvSpPr>
          <p:cNvPr id="155" name="CustomShape 1"/>
          <p:cNvSpPr/>
          <p:nvPr/>
        </p:nvSpPr>
        <p:spPr>
          <a:xfrm>
            <a:off x="2377440" y="2834640"/>
            <a:ext cx="7495560" cy="704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ctr">
              <a:lnSpc>
                <a:spcPct val="100000"/>
              </a:lnSpc>
            </a:pPr>
            <a:r>
              <a:rPr b="1" lang="en-US" sz="44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编译原理第二次习题课</a:t>
            </a:r>
            <a:endParaRPr b="0" lang="en-US" sz="44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146160" y="21024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CustomShape 2"/>
          <p:cNvSpPr/>
          <p:nvPr/>
        </p:nvSpPr>
        <p:spPr>
          <a:xfrm>
            <a:off x="146160" y="30168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CustomShape 3"/>
          <p:cNvSpPr/>
          <p:nvPr/>
        </p:nvSpPr>
        <p:spPr>
          <a:xfrm>
            <a:off x="146160" y="39312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9" name="CustomShape 4"/>
          <p:cNvSpPr/>
          <p:nvPr/>
        </p:nvSpPr>
        <p:spPr>
          <a:xfrm>
            <a:off x="365760" y="146160"/>
            <a:ext cx="804420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>
              <a:lnSpc>
                <a:spcPct val="105000"/>
              </a:lnSpc>
            </a:pPr>
            <a:r>
              <a:rPr b="1" lang="en-US" sz="24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LR </a:t>
            </a:r>
            <a:r>
              <a:rPr b="1" lang="en-US" sz="24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分析核心定义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0" name="CustomShape 5"/>
          <p:cNvSpPr/>
          <p:nvPr/>
        </p:nvSpPr>
        <p:spPr>
          <a:xfrm>
            <a:off x="9235440" y="164520"/>
            <a:ext cx="957600" cy="19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 algn="r">
              <a:lnSpc>
                <a:spcPct val="105000"/>
              </a:lnSpc>
            </a:pPr>
            <a:r>
              <a:rPr b="0" lang="en-US" sz="8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LR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61" name="CustomShape 6"/>
          <p:cNvSpPr/>
          <p:nvPr/>
        </p:nvSpPr>
        <p:spPr>
          <a:xfrm>
            <a:off x="10561320" y="182880"/>
            <a:ext cx="1186200" cy="262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 algn="r">
              <a:lnSpc>
                <a:spcPct val="105000"/>
              </a:lnSpc>
            </a:pPr>
            <a:r>
              <a:rPr b="1" lang="en-US" sz="12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中山大学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2" name="CustomShape 7"/>
          <p:cNvSpPr/>
          <p:nvPr/>
        </p:nvSpPr>
        <p:spPr>
          <a:xfrm>
            <a:off x="365760" y="567000"/>
            <a:ext cx="11153160" cy="1584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CustomShape 8"/>
          <p:cNvSpPr/>
          <p:nvPr/>
        </p:nvSpPr>
        <p:spPr>
          <a:xfrm>
            <a:off x="0" y="6565320"/>
            <a:ext cx="12189240" cy="5220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graphicFrame>
        <p:nvGraphicFramePr>
          <p:cNvPr id="164" name="Table 9"/>
          <p:cNvGraphicFramePr/>
          <p:nvPr/>
        </p:nvGraphicFramePr>
        <p:xfrm>
          <a:off x="594360" y="868680"/>
          <a:ext cx="11018160" cy="4205520"/>
        </p:xfrm>
        <a:graphic>
          <a:graphicData uri="http://schemas.openxmlformats.org/drawingml/2006/table">
            <a:tbl>
              <a:tblPr/>
              <a:tblGrid>
                <a:gridCol w="2231280"/>
                <a:gridCol w="8787240"/>
              </a:tblGrid>
              <a:tr h="70092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概念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定义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70092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LR(0) item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形如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 → α · β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，点表示已经识别到的位置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92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closure(I)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对项目集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I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，若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[A→α·Bβ]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在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I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中，且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B→ γ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是文法产生式，则将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B→ ·γ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加入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I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  <a:ea typeface="Noto Sans CJK SC"/>
                        </a:rPr>
                        <a:t>中。重复该过程，直到不能再加入新项目为止。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92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GOTO(I, X)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对项目集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I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和文法符号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X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，若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A→α⋅X  β∈I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，则将圆点越过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X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，得到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A→αX⋅β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。所有此类项目构成集合后，再求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closure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，所得集合即为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GOTO(I,X)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。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92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SLR(1)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SLR(1)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分析表基于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LR(0)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项集族构造。若某状态中含有完成项目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A→α⋅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，则只在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FOLLOW(A)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中的终结符列填入归约动作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r:A→α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。若构造出的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ACTION/GOTO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表无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shift/reduce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或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reduce/reduce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冲突，则该文法为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SLR(1)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文法。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128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LR(1)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LR(1)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项写作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[A→α⋅β,a]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，其中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是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lookahead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符号，表示当已经识别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α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，接下来希望识别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β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，且归约后可能遇到输入符号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。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LR(1)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归约动作只在该项目自身的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lookahead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符号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上填写，而不是在整个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FOLLOW(A) </a:t>
                      </a:r>
                      <a:r>
                        <a:rPr b="0" lang="en-US" sz="16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上填写。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5" name="CustomShape 10"/>
          <p:cNvSpPr/>
          <p:nvPr/>
        </p:nvSpPr>
        <p:spPr>
          <a:xfrm>
            <a:off x="1005840" y="5754960"/>
            <a:ext cx="10422000" cy="591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ctr"/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判断是否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LR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：不是看“有没有左递归”，而是看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ACTION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表同一格是否出现多重动作。</a:t>
            </a:r>
            <a:endParaRPr b="0" lang="en-US" sz="20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360" y="384120"/>
            <a:ext cx="408600" cy="14328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7" name="CustomShape 2"/>
          <p:cNvSpPr/>
          <p:nvPr/>
        </p:nvSpPr>
        <p:spPr>
          <a:xfrm>
            <a:off x="360" y="612720"/>
            <a:ext cx="408600" cy="14328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8" name="CustomShape 3"/>
          <p:cNvSpPr/>
          <p:nvPr/>
        </p:nvSpPr>
        <p:spPr>
          <a:xfrm>
            <a:off x="360" y="841320"/>
            <a:ext cx="408600" cy="14328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CustomShape 4"/>
          <p:cNvSpPr/>
          <p:nvPr/>
        </p:nvSpPr>
        <p:spPr>
          <a:xfrm>
            <a:off x="694440" y="502920"/>
            <a:ext cx="6854760" cy="49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7.1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70" name="CustomShape 5"/>
          <p:cNvSpPr/>
          <p:nvPr/>
        </p:nvSpPr>
        <p:spPr>
          <a:xfrm>
            <a:off x="8274960" y="749880"/>
            <a:ext cx="1231560" cy="27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71" name="Picture 6" descr=""/>
          <p:cNvPicPr/>
          <p:nvPr/>
        </p:nvPicPr>
        <p:blipFill>
          <a:blip r:embed="rId1"/>
          <a:stretch/>
        </p:blipFill>
        <p:spPr>
          <a:xfrm>
            <a:off x="9646560" y="311040"/>
            <a:ext cx="2210040" cy="712080"/>
          </a:xfrm>
          <a:prstGeom prst="rect">
            <a:avLst/>
          </a:prstGeom>
          <a:ln>
            <a:noFill/>
          </a:ln>
        </p:spPr>
      </p:pic>
      <p:sp>
        <p:nvSpPr>
          <p:cNvPr id="172" name="CustomShape 6"/>
          <p:cNvSpPr/>
          <p:nvPr/>
        </p:nvSpPr>
        <p:spPr>
          <a:xfrm>
            <a:off x="360" y="6729840"/>
            <a:ext cx="12188520" cy="12528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3" name="CustomShape 7"/>
          <p:cNvSpPr/>
          <p:nvPr/>
        </p:nvSpPr>
        <p:spPr>
          <a:xfrm>
            <a:off x="776880" y="1325880"/>
            <a:ext cx="10649520" cy="2849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5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Consider the grammar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S → (SR | a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R → ,SR | )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Try to construct an SLR(1) parsing table for the grammar,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and see if there are conflicts in the parsing table.</a:t>
            </a:r>
            <a:endParaRPr b="0" lang="en-US" sz="28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5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7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7.1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题目解析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78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79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180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CustomShape 7"/>
          <p:cNvSpPr/>
          <p:nvPr/>
        </p:nvSpPr>
        <p:spPr>
          <a:xfrm>
            <a:off x="685800" y="1097280"/>
            <a:ext cx="10604520" cy="5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增广文法：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S' → S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；产生式编号 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1:S→(SR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，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2:S→a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，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3:R→,SR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，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4:R→)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。</a:t>
            </a:r>
            <a:br/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FIRST(S)={ (, a }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，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FIRST(R)={ ,, ) }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；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FOLLOW(S)=FOLLOW(R)={ ,, ), $ }</a:t>
            </a:r>
            <a:r>
              <a:rPr b="0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。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2" name="CustomShape 8"/>
          <p:cNvSpPr/>
          <p:nvPr/>
        </p:nvSpPr>
        <p:spPr>
          <a:xfrm>
            <a:off x="777240" y="1965960"/>
            <a:ext cx="5301000" cy="29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ACTION </a:t>
            </a:r>
            <a:r>
              <a:rPr b="1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表</a:t>
            </a:r>
            <a:endParaRPr b="0" lang="en-US" sz="1700" spc="-1" strike="noStrike">
              <a:latin typeface="Arial"/>
            </a:endParaRPr>
          </a:p>
        </p:txBody>
      </p:sp>
      <p:graphicFrame>
        <p:nvGraphicFramePr>
          <p:cNvPr id="183" name="Table 9"/>
          <p:cNvGraphicFramePr/>
          <p:nvPr/>
        </p:nvGraphicFramePr>
        <p:xfrm>
          <a:off x="640080" y="2286000"/>
          <a:ext cx="5742000" cy="3860640"/>
        </p:xfrm>
        <a:graphic>
          <a:graphicData uri="http://schemas.openxmlformats.org/drawingml/2006/table">
            <a:tbl>
              <a:tblPr/>
              <a:tblGrid>
                <a:gridCol w="713160"/>
                <a:gridCol w="1005840"/>
                <a:gridCol w="1005840"/>
                <a:gridCol w="1005840"/>
                <a:gridCol w="1005840"/>
                <a:gridCol w="1005840"/>
              </a:tblGrid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State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(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,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$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acc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CustomShape 10"/>
          <p:cNvSpPr/>
          <p:nvPr/>
        </p:nvSpPr>
        <p:spPr>
          <a:xfrm>
            <a:off x="7406640" y="1965960"/>
            <a:ext cx="3106440" cy="29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GOTO </a:t>
            </a:r>
            <a:r>
              <a:rPr b="1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表</a:t>
            </a:r>
            <a:endParaRPr b="0" lang="en-US" sz="1700" spc="-1" strike="noStrike">
              <a:latin typeface="Arial"/>
            </a:endParaRPr>
          </a:p>
        </p:txBody>
      </p:sp>
      <p:graphicFrame>
        <p:nvGraphicFramePr>
          <p:cNvPr id="185" name="Table 11"/>
          <p:cNvGraphicFramePr/>
          <p:nvPr/>
        </p:nvGraphicFramePr>
        <p:xfrm>
          <a:off x="7315200" y="2286000"/>
          <a:ext cx="2880000" cy="386064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</a:tblGrid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State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100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8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9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7.1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常见错误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90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91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192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graphicFrame>
        <p:nvGraphicFramePr>
          <p:cNvPr id="193" name="Table 7"/>
          <p:cNvGraphicFramePr/>
          <p:nvPr/>
        </p:nvGraphicFramePr>
        <p:xfrm>
          <a:off x="2820240" y="1488240"/>
          <a:ext cx="7404840" cy="3611160"/>
        </p:xfrm>
        <a:graphic>
          <a:graphicData uri="http://schemas.openxmlformats.org/drawingml/2006/table">
            <a:tbl>
              <a:tblPr/>
              <a:tblGrid>
                <a:gridCol w="3702600"/>
                <a:gridCol w="3702600"/>
              </a:tblGrid>
              <a:tr h="1203480">
                <a:tc>
                  <a:txBody>
                    <a:bodyPr lIns="54720" rIns="5472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错误类型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54720" marR="54720">
                    <a:solidFill>
                      <a:srgbClr val="eaeaea"/>
                    </a:solidFill>
                  </a:tcPr>
                </a:tc>
                <a:tc>
                  <a:txBody>
                    <a:bodyPr lIns="54720" rIns="5472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具体错误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54720" marR="54720">
                    <a:solidFill>
                      <a:srgbClr val="eaeaea"/>
                    </a:solidFill>
                  </a:tcPr>
                </a:tc>
              </a:tr>
              <a:tr h="1203480">
                <a:tc>
                  <a:txBody>
                    <a:bodyPr lIns="54720" rIns="5472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集合误算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54720" marR="54720">
                    <a:noFill/>
                  </a:tcPr>
                </a:tc>
                <a:tc>
                  <a:txBody>
                    <a:bodyPr lIns="54720" rIns="5472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FOLLOW(S) </a:t>
                      </a: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或 </a:t>
                      </a: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FOLLOW(R) </a:t>
                      </a: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漏掉 </a:t>
                      </a: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{$ , )} </a:t>
                      </a: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，导致归约列错误。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54720" marR="54720">
                    <a:noFill/>
                  </a:tcPr>
                </a:tc>
              </a:tr>
              <a:tr h="1204560">
                <a:tc>
                  <a:txBody>
                    <a:bodyPr lIns="54720" rIns="5472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表格不一致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54720" marR="54720">
                    <a:noFill/>
                  </a:tcPr>
                </a:tc>
                <a:tc>
                  <a:txBody>
                    <a:bodyPr lIns="54720" rIns="5472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项集编号、</a:t>
                      </a: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GOTO </a:t>
                      </a: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边、</a:t>
                      </a: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ACTION / GOTO </a:t>
                      </a:r>
                      <a:r>
                        <a:rPr b="0" lang="en-US" sz="2200" spc="-1" strike="noStrike">
                          <a:solidFill>
                            <a:srgbClr val="222222"/>
                          </a:solidFill>
                          <a:latin typeface="Times New Roman"/>
                          <a:ea typeface="Times New Roman"/>
                        </a:rPr>
                        <a:t>表编号对不上。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marL="54720" marR="54720">
                    <a:noFill/>
                  </a:tcPr>
                </a:tc>
              </a:tr>
            </a:tbl>
          </a:graphicData>
        </a:graphic>
      </p:graphicFrame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5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7.2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98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199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200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CustomShape 7"/>
          <p:cNvSpPr/>
          <p:nvPr/>
        </p:nvSpPr>
        <p:spPr>
          <a:xfrm>
            <a:off x="777240" y="1325880"/>
            <a:ext cx="10650240" cy="240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5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Consider the grammar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S → Sab | aR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R → S | a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Is the grammar an SLR(1) grammar? and why?</a:t>
            </a:r>
            <a:endParaRPr b="0" lang="en-US" sz="28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3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4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5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7.2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题目解析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06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07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208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CustomShape 7"/>
          <p:cNvSpPr/>
          <p:nvPr/>
        </p:nvSpPr>
        <p:spPr>
          <a:xfrm>
            <a:off x="695520" y="1198080"/>
            <a:ext cx="10787400" cy="42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>
              <a:lnSpc>
                <a:spcPct val="105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判断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SLR(1)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不能只看左递归；关键是找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ACTION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表同一格的多重动作。</a:t>
            </a:r>
            <a:endParaRPr b="0" lang="en-US" sz="2200" spc="-1" strike="noStrike">
              <a:latin typeface="Arial"/>
            </a:endParaRPr>
          </a:p>
        </p:txBody>
      </p:sp>
      <p:graphicFrame>
        <p:nvGraphicFramePr>
          <p:cNvPr id="210" name="Table 8"/>
          <p:cNvGraphicFramePr/>
          <p:nvPr/>
        </p:nvGraphicFramePr>
        <p:xfrm>
          <a:off x="878400" y="1838160"/>
          <a:ext cx="10149120" cy="1553760"/>
        </p:xfrm>
        <a:graphic>
          <a:graphicData uri="http://schemas.openxmlformats.org/drawingml/2006/table">
            <a:tbl>
              <a:tblPr/>
              <a:tblGrid>
                <a:gridCol w="2713320"/>
                <a:gridCol w="4321080"/>
                <a:gridCol w="3115080"/>
              </a:tblGrid>
              <a:tr h="51804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项目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含义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在输入 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 </a:t>
                      </a: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上的动作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51804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R → S ·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完成项目；按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FOLLOW(R)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归约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reduce R→S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804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 → S · a b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点后为终结符 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shift 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1" name="Table 9"/>
          <p:cNvGraphicFramePr/>
          <p:nvPr/>
        </p:nvGraphicFramePr>
        <p:xfrm>
          <a:off x="878400" y="3804120"/>
          <a:ext cx="10149120" cy="1279080"/>
        </p:xfrm>
        <a:graphic>
          <a:graphicData uri="http://schemas.openxmlformats.org/drawingml/2006/table">
            <a:tbl>
              <a:tblPr/>
              <a:tblGrid>
                <a:gridCol w="1955160"/>
                <a:gridCol w="2234520"/>
                <a:gridCol w="5959800"/>
              </a:tblGrid>
              <a:tr h="42660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集合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结果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说明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42660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FOLLOW(S)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{ a, $ }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为开始符号；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S→S a b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中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后接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588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FOLLOW(R)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{ a, $ }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S→aR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中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R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在末尾，继承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FOLLOW(S)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2" name="CustomShape 10"/>
          <p:cNvSpPr/>
          <p:nvPr/>
        </p:nvSpPr>
        <p:spPr>
          <a:xfrm>
            <a:off x="878400" y="5541480"/>
            <a:ext cx="10147320" cy="72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ctr"/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结论：同一状态在输入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a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上同时需要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shift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与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reduce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，出现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shift/reduce conflict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，所以该文法不是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SLR(1)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。</a:t>
            </a:r>
            <a:endParaRPr b="0" lang="en-US" sz="20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4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6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7.2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常见错误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17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18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219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graphicFrame>
        <p:nvGraphicFramePr>
          <p:cNvPr id="220" name="Table 7"/>
          <p:cNvGraphicFramePr/>
          <p:nvPr/>
        </p:nvGraphicFramePr>
        <p:xfrm>
          <a:off x="685800" y="1508760"/>
          <a:ext cx="10789200" cy="3474360"/>
        </p:xfrm>
        <a:graphic>
          <a:graphicData uri="http://schemas.openxmlformats.org/drawingml/2006/table">
            <a:tbl>
              <a:tblPr/>
              <a:tblGrid>
                <a:gridCol w="2834640"/>
                <a:gridCol w="3748680"/>
                <a:gridCol w="4206240"/>
              </a:tblGrid>
              <a:tr h="8686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常见错误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为什么不充分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规范写法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686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只写“不是 </a:t>
                      </a:r>
                      <a:r>
                        <a:rPr b="0" lang="en-US" sz="18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SLR(1)”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没有可复核的冲突证据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写出状态中的两个项目和冲突输入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把 </a:t>
                      </a:r>
                      <a:r>
                        <a:rPr b="0" lang="en-US" sz="18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FIRST </a:t>
                      </a:r>
                      <a:r>
                        <a:rPr b="0" lang="en-US" sz="18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当作归约依据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SLR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归约依据是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FOLLOW(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左部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先计算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FOLLOW(S), FOLLOW(R)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说“有左递归所以不是”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LR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分析允许左递归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冲突来自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ACTION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表同格多动作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2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3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7.3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25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LR(1)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26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227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CustomShape 7"/>
          <p:cNvSpPr/>
          <p:nvPr/>
        </p:nvSpPr>
        <p:spPr>
          <a:xfrm>
            <a:off x="777240" y="1325880"/>
            <a:ext cx="10650240" cy="419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5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Consider the grammar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S → A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A → BA | ε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B → aB | b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Prove that the grammar is an LR(1) grammar.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Construct an LR(1) parsing table for the grammar.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Show the detailed parsing procedure for the sentence abab,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following the style in slides of this lecture.</a:t>
            </a:r>
            <a:endParaRPr b="0" lang="en-US" sz="28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1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2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7.3 LR(1)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分析表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33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LR(1)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34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235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6" name="CustomShape 7"/>
          <p:cNvSpPr/>
          <p:nvPr/>
        </p:nvSpPr>
        <p:spPr>
          <a:xfrm>
            <a:off x="731520" y="1051560"/>
            <a:ext cx="10421640" cy="33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产生式编号：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1:S→A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；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2:A→BA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；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3:A→ε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；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4:B→aB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；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5:B→b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。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7" name="CustomShape 8"/>
          <p:cNvSpPr/>
          <p:nvPr/>
        </p:nvSpPr>
        <p:spPr>
          <a:xfrm>
            <a:off x="731520" y="1600200"/>
            <a:ext cx="4660920" cy="308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ACTION </a:t>
            </a:r>
            <a:r>
              <a:rPr b="1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表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238" name="Table 9"/>
          <p:cNvGraphicFramePr/>
          <p:nvPr/>
        </p:nvGraphicFramePr>
        <p:xfrm>
          <a:off x="731520" y="1920240"/>
          <a:ext cx="4937400" cy="338076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280160"/>
                <a:gridCol w="1280160"/>
              </a:tblGrid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State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r3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r1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r3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3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acc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6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0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7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r4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9" name="CustomShape 10"/>
          <p:cNvSpPr/>
          <p:nvPr/>
        </p:nvSpPr>
        <p:spPr>
          <a:xfrm>
            <a:off x="6583680" y="1600200"/>
            <a:ext cx="3929400" cy="308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GOTO </a:t>
            </a:r>
            <a:r>
              <a:rPr b="1" lang="en-US" sz="18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表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240" name="Table 11"/>
          <p:cNvGraphicFramePr/>
          <p:nvPr/>
        </p:nvGraphicFramePr>
        <p:xfrm>
          <a:off x="6492240" y="1920240"/>
          <a:ext cx="3840120" cy="338076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State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3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1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6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3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7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58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6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04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7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1" name="CustomShape 12"/>
          <p:cNvSpPr/>
          <p:nvPr/>
        </p:nvSpPr>
        <p:spPr>
          <a:xfrm>
            <a:off x="777240" y="5577840"/>
            <a:ext cx="10513080" cy="64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所有 </a:t>
            </a: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ACTION </a:t>
            </a: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表项唯一：无 </a:t>
            </a: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shift/reduce </a:t>
            </a: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或 </a:t>
            </a: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reduce/reduce conflict</a:t>
            </a: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，因此该文法是 </a:t>
            </a: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LR(1)</a:t>
            </a: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。</a:t>
            </a:r>
            <a:endParaRPr b="0" lang="en-US" sz="20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CustomShape 1"/>
          <p:cNvSpPr/>
          <p:nvPr/>
        </p:nvSpPr>
        <p:spPr>
          <a:xfrm>
            <a:off x="0" y="384120"/>
            <a:ext cx="409320" cy="14400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CustomShape 2"/>
          <p:cNvSpPr/>
          <p:nvPr/>
        </p:nvSpPr>
        <p:spPr>
          <a:xfrm>
            <a:off x="0" y="612720"/>
            <a:ext cx="409320" cy="14400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4" name="CustomShape 3"/>
          <p:cNvSpPr/>
          <p:nvPr/>
        </p:nvSpPr>
        <p:spPr>
          <a:xfrm>
            <a:off x="0" y="841320"/>
            <a:ext cx="409320" cy="14400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5" name="CustomShape 4"/>
          <p:cNvSpPr/>
          <p:nvPr/>
        </p:nvSpPr>
        <p:spPr>
          <a:xfrm>
            <a:off x="694800" y="502920"/>
            <a:ext cx="6855840" cy="4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Exercise 7.3</a:t>
            </a: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：</a:t>
            </a: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abab </a:t>
            </a: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分析过程（</a:t>
            </a: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1/2</a:t>
            </a: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）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6" name="CustomShape 5"/>
          <p:cNvSpPr/>
          <p:nvPr/>
        </p:nvSpPr>
        <p:spPr>
          <a:xfrm>
            <a:off x="8275320" y="749880"/>
            <a:ext cx="1232280" cy="27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Times New Roman"/>
                <a:ea typeface="Times New Roman"/>
              </a:rPr>
              <a:t>LR(1)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47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760" cy="712800"/>
          </a:xfrm>
          <a:prstGeom prst="rect">
            <a:avLst/>
          </a:prstGeom>
          <a:ln>
            <a:noFill/>
          </a:ln>
        </p:spPr>
      </p:pic>
      <p:sp>
        <p:nvSpPr>
          <p:cNvPr id="248" name="CustomShape 6"/>
          <p:cNvSpPr/>
          <p:nvPr/>
        </p:nvSpPr>
        <p:spPr>
          <a:xfrm>
            <a:off x="0" y="6729840"/>
            <a:ext cx="12189600" cy="12600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9" name="CustomShape 7"/>
          <p:cNvSpPr/>
          <p:nvPr/>
        </p:nvSpPr>
        <p:spPr>
          <a:xfrm>
            <a:off x="11594520" y="6364080"/>
            <a:ext cx="382680" cy="21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endParaRPr b="0" lang="en-US" sz="850" spc="-1" strike="noStrike">
              <a:latin typeface="Arial"/>
            </a:endParaRPr>
          </a:p>
        </p:txBody>
      </p:sp>
      <p:graphicFrame>
        <p:nvGraphicFramePr>
          <p:cNvPr id="250" name="Table 8"/>
          <p:cNvGraphicFramePr/>
          <p:nvPr/>
        </p:nvGraphicFramePr>
        <p:xfrm>
          <a:off x="502920" y="1143000"/>
          <a:ext cx="11109240" cy="4251240"/>
        </p:xfrm>
        <a:graphic>
          <a:graphicData uri="http://schemas.openxmlformats.org/drawingml/2006/table">
            <a:tbl>
              <a:tblPr/>
              <a:tblGrid>
                <a:gridCol w="566640"/>
                <a:gridCol w="1536120"/>
                <a:gridCol w="1389600"/>
                <a:gridCol w="1170360"/>
                <a:gridCol w="4800600"/>
                <a:gridCol w="1646280"/>
              </a:tblGrid>
              <a:tr h="5313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Step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Stack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State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Input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Action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Output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5313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abab$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shift a → state 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3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bab$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shift b → state 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3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a 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0 4 5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ab$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reduce B→b (r5); goto(4,B)=7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B→b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3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a 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0 4 7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ab$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reduce B→aB (r4); goto(0,B)=2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B→aB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3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ab$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shift a → state 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136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B 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0 2 4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shift b → state 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20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B a 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0 2 4 5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reduce B→b (r5); goto(4,B)=7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B→b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1" name="CustomShape 9"/>
          <p:cNvSpPr/>
          <p:nvPr/>
        </p:nvSpPr>
        <p:spPr>
          <a:xfrm>
            <a:off x="3834000" y="5532120"/>
            <a:ext cx="627372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说明：每一行只执行一个 </a:t>
            </a: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LR </a:t>
            </a: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动作；归约后的 </a:t>
            </a: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GOTO </a:t>
            </a: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写在同一行，用于说明新状态来源。</a:t>
            </a:r>
            <a:endParaRPr b="0" lang="en-US" sz="120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stomShape 1"/>
          <p:cNvSpPr/>
          <p:nvPr/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CustomShape 2"/>
          <p:cNvSpPr/>
          <p:nvPr/>
        </p:nvSpPr>
        <p:spPr>
          <a:xfrm>
            <a:off x="609480" y="3682080"/>
            <a:ext cx="5352840" cy="189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CustomShape 3"/>
          <p:cNvSpPr/>
          <p:nvPr/>
        </p:nvSpPr>
        <p:spPr>
          <a:xfrm>
            <a:off x="609480" y="3682080"/>
            <a:ext cx="5352840" cy="189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CustomShape 4"/>
          <p:cNvSpPr/>
          <p:nvPr/>
        </p:nvSpPr>
        <p:spPr>
          <a:xfrm>
            <a:off x="609480" y="3682080"/>
            <a:ext cx="5352840" cy="189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CustomShape 5"/>
          <p:cNvSpPr/>
          <p:nvPr/>
        </p:nvSpPr>
        <p:spPr>
          <a:xfrm>
            <a:off x="0" y="384120"/>
            <a:ext cx="409320" cy="14400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7" name="CustomShape 6"/>
          <p:cNvSpPr/>
          <p:nvPr/>
        </p:nvSpPr>
        <p:spPr>
          <a:xfrm>
            <a:off x="0" y="612720"/>
            <a:ext cx="409320" cy="14400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CustomShape 7"/>
          <p:cNvSpPr/>
          <p:nvPr/>
        </p:nvSpPr>
        <p:spPr>
          <a:xfrm>
            <a:off x="0" y="841320"/>
            <a:ext cx="409320" cy="14400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9" name="CustomShape 8"/>
          <p:cNvSpPr/>
          <p:nvPr/>
        </p:nvSpPr>
        <p:spPr>
          <a:xfrm>
            <a:off x="694800" y="502920"/>
            <a:ext cx="6855840" cy="4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Exercise 7.3</a:t>
            </a: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：</a:t>
            </a: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abab </a:t>
            </a: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分析过程（</a:t>
            </a: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2/2</a:t>
            </a:r>
            <a:r>
              <a:rPr b="1" lang="en-US" sz="2200" spc="-1" strike="noStrike">
                <a:solidFill>
                  <a:srgbClr val="00561f"/>
                </a:solidFill>
                <a:latin typeface="Times New Roman"/>
                <a:ea typeface="Times New Roman"/>
              </a:rPr>
              <a:t>）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0" name="CustomShape 9"/>
          <p:cNvSpPr/>
          <p:nvPr/>
        </p:nvSpPr>
        <p:spPr>
          <a:xfrm>
            <a:off x="8275320" y="749880"/>
            <a:ext cx="1232280" cy="27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Times New Roman"/>
                <a:ea typeface="Times New Roman"/>
              </a:rPr>
              <a:t>LR(1)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1" name="CustomShape 10"/>
          <p:cNvSpPr/>
          <p:nvPr/>
        </p:nvSpPr>
        <p:spPr>
          <a:xfrm>
            <a:off x="0" y="6729840"/>
            <a:ext cx="12189600" cy="12600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2" name="CustomShape 11"/>
          <p:cNvSpPr/>
          <p:nvPr/>
        </p:nvSpPr>
        <p:spPr>
          <a:xfrm>
            <a:off x="11594520" y="6364080"/>
            <a:ext cx="382680" cy="217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ctr">
              <a:lnSpc>
                <a:spcPct val="100000"/>
              </a:lnSpc>
            </a:pPr>
            <a:r>
              <a:rPr b="0" lang="en-US" sz="85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850" spc="-1" strike="noStrike">
              <a:latin typeface="Arial"/>
            </a:endParaRPr>
          </a:p>
        </p:txBody>
      </p:sp>
      <p:graphicFrame>
        <p:nvGraphicFramePr>
          <p:cNvPr id="263" name="Table 12"/>
          <p:cNvGraphicFramePr/>
          <p:nvPr/>
        </p:nvGraphicFramePr>
        <p:xfrm>
          <a:off x="502920" y="1143000"/>
          <a:ext cx="11109240" cy="4251240"/>
        </p:xfrm>
        <a:graphic>
          <a:graphicData uri="http://schemas.openxmlformats.org/drawingml/2006/table">
            <a:tbl>
              <a:tblPr/>
              <a:tblGrid>
                <a:gridCol w="566640"/>
                <a:gridCol w="1536120"/>
                <a:gridCol w="1389600"/>
                <a:gridCol w="1170360"/>
                <a:gridCol w="4800600"/>
                <a:gridCol w="1646280"/>
              </a:tblGrid>
              <a:tr h="60732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Step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Stack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State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Input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Action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35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Output</a:t>
                      </a:r>
                      <a:endParaRPr b="0" lang="en-US" sz="135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60732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B a 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0 2 4 7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reduce B→aB (r4); goto(2,B)=2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B→aB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732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9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B B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0 2 2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reduce A→ε (r3); goto(2,A)=6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A→ε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732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B B 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0 2 2 6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reduce A→BA (r2); goto(2,A)=6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A→BA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732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11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B 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0 2 6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reduce A→BA (r2); goto(0,A)=1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A→BA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732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12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0 1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reduce S→A (r1); goto(0,S)=3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S→A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76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13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 S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0 3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$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accept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marL="91440" marR="91440">
                    <a:lnL w="7200">
                      <a:solidFill>
                        <a:srgbClr val="a6a6a6"/>
                      </a:solidFill>
                    </a:lnL>
                    <a:lnR w="7200">
                      <a:solidFill>
                        <a:srgbClr val="a6a6a6"/>
                      </a:solidFill>
                    </a:lnR>
                    <a:lnT w="7200">
                      <a:solidFill>
                        <a:srgbClr val="a6a6a6"/>
                      </a:solidFill>
                    </a:lnT>
                    <a:lnB w="720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4" name="CustomShape 13"/>
          <p:cNvSpPr/>
          <p:nvPr/>
        </p:nvSpPr>
        <p:spPr>
          <a:xfrm>
            <a:off x="2805840" y="5532120"/>
            <a:ext cx="6273720" cy="27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说明：每一行只执行一个 </a:t>
            </a: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LR </a:t>
            </a: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动作；归约后的 </a:t>
            </a: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GOTO </a:t>
            </a: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写在同一行，用于说明新状态来源。</a:t>
            </a:r>
            <a:endParaRPr b="0" lang="en-US" sz="12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6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7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8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7.3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常见错误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69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LR(1)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70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271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graphicFrame>
        <p:nvGraphicFramePr>
          <p:cNvPr id="272" name="Table 7"/>
          <p:cNvGraphicFramePr/>
          <p:nvPr/>
        </p:nvGraphicFramePr>
        <p:xfrm>
          <a:off x="685800" y="1325880"/>
          <a:ext cx="10789560" cy="411444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4297680"/>
              </a:tblGrid>
              <a:tr h="8229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常见错误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错误原因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改正建议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229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把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LR(1)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项写成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LR(0)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项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无法证明无冲突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项目必须写成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[A→α·β, a]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A→ε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在所有终结符上归约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会错误制造冲突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只在该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LR(1)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项的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lookahead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上归约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abab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分析漏掉连续归约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栈无法回到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注意最后两次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A→BA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用“无二义性”替代证明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不是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LR(1)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的构造证明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以分析表无冲突作为证明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4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5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6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7.4*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77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LALR(1)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78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279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0" name="CustomShape 7"/>
          <p:cNvSpPr/>
          <p:nvPr/>
        </p:nvSpPr>
        <p:spPr>
          <a:xfrm>
            <a:off x="777240" y="1325880"/>
            <a:ext cx="10650240" cy="240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5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(DBv2, pp.278, ex.4.7.4) Show that the grammar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S → Aa | bAc | dc | bda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A → d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is LALR(1) but not SLR(1).</a:t>
            </a:r>
            <a:endParaRPr b="0" lang="en-US" sz="28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2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3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7.4*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题目解析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85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LALR(1)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286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287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graphicFrame>
        <p:nvGraphicFramePr>
          <p:cNvPr id="288" name="Table 7"/>
          <p:cNvGraphicFramePr/>
          <p:nvPr/>
        </p:nvGraphicFramePr>
        <p:xfrm>
          <a:off x="731520" y="1234440"/>
          <a:ext cx="10698120" cy="2833920"/>
        </p:xfrm>
        <a:graphic>
          <a:graphicData uri="http://schemas.openxmlformats.org/drawingml/2006/table">
            <a:tbl>
              <a:tblPr/>
              <a:tblGrid>
                <a:gridCol w="2194560"/>
                <a:gridCol w="8503920"/>
              </a:tblGrid>
              <a:tr h="70848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目标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关键状态 </a:t>
                      </a:r>
                      <a:r>
                        <a:rPr b="1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/ </a:t>
                      </a:r>
                      <a:r>
                        <a:rPr b="1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原因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0848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not SLR(1)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LR(0)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状态含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S→d·c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与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A→d·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；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FOLLOW(A)={a,c}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，因此输入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c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上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s/r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冲突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48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LR(1)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可区分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A→d·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的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lookahead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可由上下文区分为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或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c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，不必在所有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FOLLOW(A)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列归约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84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LALR(1)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合并同心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LR(1)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项后不产生新的冲突，因此仍可用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LALR(1)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表分析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ustomShape 1"/>
          <p:cNvSpPr/>
          <p:nvPr/>
        </p:nvSpPr>
        <p:spPr>
          <a:xfrm>
            <a:off x="146160" y="21024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CustomShape 2"/>
          <p:cNvSpPr/>
          <p:nvPr/>
        </p:nvSpPr>
        <p:spPr>
          <a:xfrm>
            <a:off x="146160" y="30168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1" name="CustomShape 3"/>
          <p:cNvSpPr/>
          <p:nvPr/>
        </p:nvSpPr>
        <p:spPr>
          <a:xfrm>
            <a:off x="146160" y="39312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2" name="CustomShape 4"/>
          <p:cNvSpPr/>
          <p:nvPr/>
        </p:nvSpPr>
        <p:spPr>
          <a:xfrm>
            <a:off x="365760" y="146160"/>
            <a:ext cx="8044200" cy="3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>
              <a:lnSpc>
                <a:spcPct val="105000"/>
              </a:lnSpc>
            </a:pPr>
            <a:r>
              <a:rPr b="1" lang="en-US" sz="20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Exercise 7.4* </a:t>
            </a:r>
            <a:r>
              <a:rPr b="1" lang="en-US" sz="20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第一步：证明 </a:t>
            </a:r>
            <a:r>
              <a:rPr b="1" lang="en-US" sz="20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not SLR(1)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93" name="CustomShape 5"/>
          <p:cNvSpPr/>
          <p:nvPr/>
        </p:nvSpPr>
        <p:spPr>
          <a:xfrm>
            <a:off x="9235440" y="164520"/>
            <a:ext cx="957600" cy="19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 algn="r">
              <a:lnSpc>
                <a:spcPct val="105000"/>
              </a:lnSpc>
            </a:pPr>
            <a:r>
              <a:rPr b="0" lang="en-US" sz="8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LALR(1)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294" name="CustomShape 6"/>
          <p:cNvSpPr/>
          <p:nvPr/>
        </p:nvSpPr>
        <p:spPr>
          <a:xfrm>
            <a:off x="10561320" y="182880"/>
            <a:ext cx="1186200" cy="262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 algn="r">
              <a:lnSpc>
                <a:spcPct val="105000"/>
              </a:lnSpc>
            </a:pPr>
            <a:r>
              <a:rPr b="1" lang="en-US" sz="12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中山大学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5" name="CustomShape 7"/>
          <p:cNvSpPr/>
          <p:nvPr/>
        </p:nvSpPr>
        <p:spPr>
          <a:xfrm>
            <a:off x="365760" y="567000"/>
            <a:ext cx="11153160" cy="1584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CustomShape 8"/>
          <p:cNvSpPr/>
          <p:nvPr/>
        </p:nvSpPr>
        <p:spPr>
          <a:xfrm>
            <a:off x="0" y="6565320"/>
            <a:ext cx="12189240" cy="5220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7" name="CustomShape 9"/>
          <p:cNvSpPr/>
          <p:nvPr/>
        </p:nvSpPr>
        <p:spPr>
          <a:xfrm>
            <a:off x="731520" y="868680"/>
            <a:ext cx="10513080" cy="42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>
              <a:lnSpc>
                <a:spcPct val="105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FOLLOW(A) = { a, c }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。因此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SLR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中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A→d·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要在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a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与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c </a:t>
            </a:r>
            <a:r>
              <a:rPr b="1" lang="en-US" sz="22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两列都归约。</a:t>
            </a:r>
            <a:endParaRPr b="0" lang="en-US" sz="2200" spc="-1" strike="noStrike">
              <a:latin typeface="Arial"/>
            </a:endParaRPr>
          </a:p>
        </p:txBody>
      </p:sp>
      <p:graphicFrame>
        <p:nvGraphicFramePr>
          <p:cNvPr id="298" name="Table 10"/>
          <p:cNvGraphicFramePr/>
          <p:nvPr/>
        </p:nvGraphicFramePr>
        <p:xfrm>
          <a:off x="777240" y="1600200"/>
          <a:ext cx="10697760" cy="2194200"/>
        </p:xfrm>
        <a:graphic>
          <a:graphicData uri="http://schemas.openxmlformats.org/drawingml/2006/table">
            <a:tbl>
              <a:tblPr/>
              <a:tblGrid>
                <a:gridCol w="1876680"/>
                <a:gridCol w="3753720"/>
                <a:gridCol w="1313640"/>
                <a:gridCol w="3754080"/>
              </a:tblGrid>
              <a:tr h="73152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LR(0) </a:t>
                      </a: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状态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状态内关键项目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冲突输入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冲突类型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73152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读入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d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后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 → d · c</a:t>
                      </a:r>
                      <a:endParaRPr b="0" lang="en-US" sz="17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 → d ·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shift c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与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reduce A→d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读入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b d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后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 → b d · a</a:t>
                      </a:r>
                      <a:endParaRPr b="0" lang="en-US" sz="17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 → d ·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shift a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与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reduce A→d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9" name="CustomShape 11"/>
          <p:cNvSpPr/>
          <p:nvPr/>
        </p:nvSpPr>
        <p:spPr>
          <a:xfrm>
            <a:off x="914400" y="4572000"/>
            <a:ext cx="10238760" cy="74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ctr"/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结论：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SLR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使用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FOLLOW(A)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统一填归约列，导致至少两个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shift/reduce conflict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，因此不是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SLR(1)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。</a:t>
            </a:r>
            <a:endParaRPr b="0" lang="en-US" sz="20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ustomShape 1"/>
          <p:cNvSpPr/>
          <p:nvPr/>
        </p:nvSpPr>
        <p:spPr>
          <a:xfrm>
            <a:off x="146160" y="21024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1" name="CustomShape 2"/>
          <p:cNvSpPr/>
          <p:nvPr/>
        </p:nvSpPr>
        <p:spPr>
          <a:xfrm>
            <a:off x="146160" y="30168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2" name="CustomShape 3"/>
          <p:cNvSpPr/>
          <p:nvPr/>
        </p:nvSpPr>
        <p:spPr>
          <a:xfrm>
            <a:off x="146160" y="39312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CustomShape 4"/>
          <p:cNvSpPr/>
          <p:nvPr/>
        </p:nvSpPr>
        <p:spPr>
          <a:xfrm>
            <a:off x="365760" y="146160"/>
            <a:ext cx="8044200" cy="3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>
              <a:lnSpc>
                <a:spcPct val="105000"/>
              </a:lnSpc>
            </a:pPr>
            <a:r>
              <a:rPr b="1" lang="en-US" sz="20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Exercise 7.4* </a:t>
            </a:r>
            <a:r>
              <a:rPr b="1" lang="en-US" sz="20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第二步：</a:t>
            </a:r>
            <a:r>
              <a:rPr b="1" lang="en-US" sz="20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LR(1) </a:t>
            </a:r>
            <a:r>
              <a:rPr b="1" lang="en-US" sz="20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消除冲突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04" name="CustomShape 5"/>
          <p:cNvSpPr/>
          <p:nvPr/>
        </p:nvSpPr>
        <p:spPr>
          <a:xfrm>
            <a:off x="9235440" y="164520"/>
            <a:ext cx="957600" cy="19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 algn="r">
              <a:lnSpc>
                <a:spcPct val="105000"/>
              </a:lnSpc>
            </a:pPr>
            <a:r>
              <a:rPr b="0" lang="en-US" sz="8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LALR(1)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05" name="CustomShape 6"/>
          <p:cNvSpPr/>
          <p:nvPr/>
        </p:nvSpPr>
        <p:spPr>
          <a:xfrm>
            <a:off x="10561320" y="182880"/>
            <a:ext cx="1186200" cy="262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 algn="r">
              <a:lnSpc>
                <a:spcPct val="105000"/>
              </a:lnSpc>
            </a:pPr>
            <a:r>
              <a:rPr b="1" lang="en-US" sz="12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中山大学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06" name="CustomShape 7"/>
          <p:cNvSpPr/>
          <p:nvPr/>
        </p:nvSpPr>
        <p:spPr>
          <a:xfrm>
            <a:off x="365760" y="567000"/>
            <a:ext cx="11153160" cy="1584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7" name="CustomShape 8"/>
          <p:cNvSpPr/>
          <p:nvPr/>
        </p:nvSpPr>
        <p:spPr>
          <a:xfrm>
            <a:off x="0" y="6565320"/>
            <a:ext cx="12189240" cy="5220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8" name="CustomShape 9"/>
          <p:cNvSpPr/>
          <p:nvPr/>
        </p:nvSpPr>
        <p:spPr>
          <a:xfrm>
            <a:off x="731520" y="1143000"/>
            <a:ext cx="5026680" cy="200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ctr"/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状态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I4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[A → d ·, a]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[S → d · c, $]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在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c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上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shift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；只在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a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上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reduce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09" name="CustomShape 10"/>
          <p:cNvSpPr/>
          <p:nvPr/>
        </p:nvSpPr>
        <p:spPr>
          <a:xfrm>
            <a:off x="6400800" y="1143000"/>
            <a:ext cx="5026680" cy="2009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ctr"/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状态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I7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[A → d ·, c]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[S → b d · a, $]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在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a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上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shift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；只在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c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上 </a:t>
            </a:r>
            <a:r>
              <a:rPr b="0" lang="en-US" sz="1700" spc="-1" strike="noStrike">
                <a:solidFill>
                  <a:srgbClr val="000000"/>
                </a:solidFill>
                <a:latin typeface="Consolas"/>
                <a:ea typeface="DejaVu Sans"/>
              </a:rPr>
              <a:t>reduce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10" name="Line 11"/>
          <p:cNvSpPr/>
          <p:nvPr/>
        </p:nvSpPr>
        <p:spPr>
          <a:xfrm>
            <a:off x="5760720" y="2103480"/>
            <a:ext cx="640080" cy="36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CustomShape 12"/>
          <p:cNvSpPr/>
          <p:nvPr/>
        </p:nvSpPr>
        <p:spPr>
          <a:xfrm>
            <a:off x="5807160" y="1775520"/>
            <a:ext cx="500400" cy="32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 algn="ctr">
              <a:lnSpc>
                <a:spcPct val="105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对比</a:t>
            </a:r>
            <a:endParaRPr b="0" lang="en-US" sz="1600" spc="-1" strike="noStrike">
              <a:latin typeface="Arial"/>
            </a:endParaRPr>
          </a:p>
        </p:txBody>
      </p:sp>
      <p:graphicFrame>
        <p:nvGraphicFramePr>
          <p:cNvPr id="312" name="Table 13"/>
          <p:cNvGraphicFramePr/>
          <p:nvPr/>
        </p:nvGraphicFramePr>
        <p:xfrm>
          <a:off x="822960" y="3886200"/>
          <a:ext cx="10606320" cy="1690920"/>
        </p:xfrm>
        <a:graphic>
          <a:graphicData uri="http://schemas.openxmlformats.org/drawingml/2006/table">
            <a:tbl>
              <a:tblPr/>
              <a:tblGrid>
                <a:gridCol w="1116360"/>
                <a:gridCol w="4465800"/>
                <a:gridCol w="5024520"/>
              </a:tblGrid>
              <a:tr h="56376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输入符号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SLR </a:t>
                      </a: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处理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LR(1) </a:t>
                      </a: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处理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56376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A→d·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会在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上归约，与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S→d·c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移进冲突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状态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I4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中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A→d·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的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lookahead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是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，不在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上归约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376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A→d·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会在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上归约，与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S→bd·a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移进冲突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状态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I7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中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A→d·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的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lookahead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是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，不在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a </a:t>
                      </a: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上归约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CustomShape 1"/>
          <p:cNvSpPr/>
          <p:nvPr/>
        </p:nvSpPr>
        <p:spPr>
          <a:xfrm>
            <a:off x="146160" y="21024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4" name="CustomShape 2"/>
          <p:cNvSpPr/>
          <p:nvPr/>
        </p:nvSpPr>
        <p:spPr>
          <a:xfrm>
            <a:off x="146160" y="30168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CustomShape 3"/>
          <p:cNvSpPr/>
          <p:nvPr/>
        </p:nvSpPr>
        <p:spPr>
          <a:xfrm>
            <a:off x="146160" y="393120"/>
            <a:ext cx="162000" cy="4788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6" name="CustomShape 4"/>
          <p:cNvSpPr/>
          <p:nvPr/>
        </p:nvSpPr>
        <p:spPr>
          <a:xfrm>
            <a:off x="365760" y="146160"/>
            <a:ext cx="8044200" cy="39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>
              <a:lnSpc>
                <a:spcPct val="105000"/>
              </a:lnSpc>
            </a:pPr>
            <a:r>
              <a:rPr b="1" lang="en-US" sz="20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Exercise 7.4* </a:t>
            </a:r>
            <a:r>
              <a:rPr b="1" lang="en-US" sz="20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第三步：为什么仍是 </a:t>
            </a:r>
            <a:r>
              <a:rPr b="1" lang="en-US" sz="20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LALR(1)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17" name="CustomShape 5"/>
          <p:cNvSpPr/>
          <p:nvPr/>
        </p:nvSpPr>
        <p:spPr>
          <a:xfrm>
            <a:off x="9235440" y="164520"/>
            <a:ext cx="957600" cy="19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 algn="r">
              <a:lnSpc>
                <a:spcPct val="105000"/>
              </a:lnSpc>
            </a:pPr>
            <a:r>
              <a:rPr b="0" lang="en-US" sz="8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LALR(1)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318" name="CustomShape 6"/>
          <p:cNvSpPr/>
          <p:nvPr/>
        </p:nvSpPr>
        <p:spPr>
          <a:xfrm>
            <a:off x="10561320" y="182880"/>
            <a:ext cx="1186200" cy="262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 algn="r">
              <a:lnSpc>
                <a:spcPct val="105000"/>
              </a:lnSpc>
            </a:pPr>
            <a:r>
              <a:rPr b="1" lang="en-US" sz="1200" spc="-1" strike="noStrike">
                <a:solidFill>
                  <a:srgbClr val="00561f"/>
                </a:solidFill>
                <a:latin typeface="Noto Sans CJK SC"/>
                <a:ea typeface="DejaVu Sans"/>
              </a:rPr>
              <a:t>中山大学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9" name="CustomShape 7"/>
          <p:cNvSpPr/>
          <p:nvPr/>
        </p:nvSpPr>
        <p:spPr>
          <a:xfrm>
            <a:off x="365760" y="567000"/>
            <a:ext cx="11153160" cy="1584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0" name="CustomShape 8"/>
          <p:cNvSpPr/>
          <p:nvPr/>
        </p:nvSpPr>
        <p:spPr>
          <a:xfrm>
            <a:off x="0" y="6565320"/>
            <a:ext cx="12189240" cy="52200"/>
          </a:xfrm>
          <a:prstGeom prst="rect">
            <a:avLst/>
          </a:prstGeom>
          <a:solidFill>
            <a:srgbClr val="00561f"/>
          </a:solidFill>
          <a:ln w="9360">
            <a:noFill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1" name="CustomShape 9"/>
          <p:cNvSpPr/>
          <p:nvPr/>
        </p:nvSpPr>
        <p:spPr>
          <a:xfrm>
            <a:off x="822960" y="868680"/>
            <a:ext cx="10604520" cy="711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36720" bIns="36720"/>
          <a:p>
            <a:pPr>
              <a:lnSpc>
                <a:spcPct val="105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LALR(1)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的构造：将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canonical LR(1)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自动机中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LR(0) core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相同的状态合并，并合并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lookahead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。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322" name="Table 10"/>
          <p:cNvGraphicFramePr/>
          <p:nvPr/>
        </p:nvGraphicFramePr>
        <p:xfrm>
          <a:off x="914400" y="1645920"/>
          <a:ext cx="10332000" cy="2925360"/>
        </p:xfrm>
        <a:graphic>
          <a:graphicData uri="http://schemas.openxmlformats.org/drawingml/2006/table">
            <a:tbl>
              <a:tblPr/>
              <a:tblGrid>
                <a:gridCol w="2896920"/>
                <a:gridCol w="7435440"/>
              </a:tblGrid>
              <a:tr h="58500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观察项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本题结论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58500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关键状态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I4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的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core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{ A→d·, S→d·c }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关键状态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I7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的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core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{ A→d·, S→bd·a }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是否会互相合并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不会，因为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LR(0) core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不同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72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合并后是否出现新冲突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不会；归约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lookahead </a:t>
                      </a: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不会被错误扩展到移进列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3" name="CustomShape 11"/>
          <p:cNvSpPr/>
          <p:nvPr/>
        </p:nvSpPr>
        <p:spPr>
          <a:xfrm>
            <a:off x="914400" y="5166360"/>
            <a:ext cx="10238760" cy="72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73080" rIns="73080" tIns="36720" bIns="36720" anchor="ctr"/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最终结论：该文法不是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SLR(1)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，但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canonical LR(1)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无冲突；合并同项后仍无冲突，因此是 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LALR(1)</a:t>
            </a:r>
            <a:r>
              <a:rPr b="1" lang="en-US" sz="2000" spc="-1" strike="noStrike">
                <a:solidFill>
                  <a:srgbClr val="000000"/>
                </a:solidFill>
                <a:latin typeface="Noto Sans CJK SC"/>
                <a:ea typeface="DejaVu Sans"/>
              </a:rPr>
              <a:t>。</a:t>
            </a:r>
            <a:endParaRPr b="0" lang="en-US" sz="2000" spc="-1" strike="noStrike"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5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6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7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8.1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28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SDT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329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330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1" name="CustomShape 7"/>
          <p:cNvSpPr/>
          <p:nvPr/>
        </p:nvSpPr>
        <p:spPr>
          <a:xfrm>
            <a:off x="777240" y="1325880"/>
            <a:ext cx="10650240" cy="300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5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Given the translation scheme for the EQN language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(see pp.40 in this lecture), calculate the height and depth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of the input: </a:t>
            </a:r>
            <a:r>
              <a:rPr b="1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text sub text sub text</a:t>
            </a: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.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Suppose that for each </a:t>
            </a:r>
            <a:r>
              <a:rPr b="1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text</a:t>
            </a: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getHeight(ps,</a:t>
            </a:r>
            <a:r>
              <a:rPr b="1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 text</a:t>
            </a: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.lexval) = 8 * ps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getDepth(ps, </a:t>
            </a:r>
            <a:r>
              <a:rPr b="1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text</a:t>
            </a: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.lexval) = 0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32" name="" descr=""/>
          <p:cNvPicPr/>
          <p:nvPr/>
        </p:nvPicPr>
        <p:blipFill>
          <a:blip r:embed="rId2"/>
          <a:stretch/>
        </p:blipFill>
        <p:spPr>
          <a:xfrm>
            <a:off x="6126480" y="3017520"/>
            <a:ext cx="5856480" cy="2924280"/>
          </a:xfrm>
          <a:prstGeom prst="rect">
            <a:avLst/>
          </a:prstGeom>
          <a:ln>
            <a:noFill/>
          </a:ln>
        </p:spPr>
      </p:pic>
      <p:sp>
        <p:nvSpPr>
          <p:cNvPr id="333" name="CustomShape 8"/>
          <p:cNvSpPr/>
          <p:nvPr/>
        </p:nvSpPr>
        <p:spPr>
          <a:xfrm>
            <a:off x="5944320" y="5952600"/>
            <a:ext cx="10513080" cy="35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课件说明：</a:t>
            </a:r>
            <a:r>
              <a:rPr b="1" lang="en-US" sz="21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sub </a:t>
            </a:r>
            <a:r>
              <a:rPr b="1" lang="en-US" sz="21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具有更高优先级，并按右结合处理。</a:t>
            </a:r>
            <a:endParaRPr b="0" lang="en-US" sz="2100" spc="-1" strike="noStrike"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5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6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7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8.1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属性传递图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38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SDT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339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340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CustomShape 7"/>
          <p:cNvSpPr/>
          <p:nvPr/>
        </p:nvSpPr>
        <p:spPr>
          <a:xfrm>
            <a:off x="4892040" y="1143000"/>
            <a:ext cx="2192040" cy="911880"/>
          </a:xfrm>
          <a:prstGeom prst="rect">
            <a:avLst/>
          </a:prstGeom>
          <a:solidFill>
            <a:srgbClr val="ffffff"/>
          </a:solidFill>
          <a:ln w="9360">
            <a:solidFill>
              <a:srgbClr val="222222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B</a:t>
            </a:r>
            <a:br/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ps=10</a:t>
            </a:r>
            <a:br/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ht=80, dp=4.25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42" name="CustomShape 8"/>
          <p:cNvSpPr/>
          <p:nvPr/>
        </p:nvSpPr>
        <p:spPr>
          <a:xfrm>
            <a:off x="1828800" y="2834640"/>
            <a:ext cx="1826280" cy="820440"/>
          </a:xfrm>
          <a:prstGeom prst="rect">
            <a:avLst/>
          </a:prstGeom>
          <a:solidFill>
            <a:srgbClr val="ffffff"/>
          </a:solidFill>
          <a:ln w="9360">
            <a:solidFill>
              <a:srgbClr val="222222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text1</a:t>
            </a:r>
            <a:br/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ps=10</a:t>
            </a:r>
            <a:br/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ht=80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43" name="CustomShape 9"/>
          <p:cNvSpPr/>
          <p:nvPr/>
        </p:nvSpPr>
        <p:spPr>
          <a:xfrm>
            <a:off x="5577840" y="2834640"/>
            <a:ext cx="2192040" cy="820440"/>
          </a:xfrm>
          <a:prstGeom prst="rect">
            <a:avLst/>
          </a:prstGeom>
          <a:solidFill>
            <a:srgbClr val="ffffff"/>
          </a:solidFill>
          <a:ln w="9360">
            <a:solidFill>
              <a:srgbClr val="222222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B</a:t>
            </a:r>
            <a:br/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ps=7</a:t>
            </a:r>
            <a:br/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ht=56,dp=1.75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44" name="CustomShape 10"/>
          <p:cNvSpPr/>
          <p:nvPr/>
        </p:nvSpPr>
        <p:spPr>
          <a:xfrm>
            <a:off x="4389120" y="4572000"/>
            <a:ext cx="1826280" cy="774720"/>
          </a:xfrm>
          <a:prstGeom prst="rect">
            <a:avLst/>
          </a:prstGeom>
          <a:solidFill>
            <a:srgbClr val="ffffff"/>
          </a:solidFill>
          <a:ln w="9360">
            <a:solidFill>
              <a:srgbClr val="222222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text2</a:t>
            </a:r>
            <a:br/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ps=7</a:t>
            </a:r>
            <a:br/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ht=56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45" name="CustomShape 11"/>
          <p:cNvSpPr/>
          <p:nvPr/>
        </p:nvSpPr>
        <p:spPr>
          <a:xfrm>
            <a:off x="7452360" y="4572000"/>
            <a:ext cx="1917720" cy="774720"/>
          </a:xfrm>
          <a:prstGeom prst="rect">
            <a:avLst/>
          </a:prstGeom>
          <a:solidFill>
            <a:srgbClr val="ffffff"/>
          </a:solidFill>
          <a:ln w="9360">
            <a:solidFill>
              <a:srgbClr val="222222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text3</a:t>
            </a:r>
            <a:br/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ps=4.9</a:t>
            </a:r>
            <a:br/>
            <a:r>
              <a:rPr b="0" lang="en-US" sz="17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ht=39.2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346" name="Line 12"/>
          <p:cNvSpPr/>
          <p:nvPr/>
        </p:nvSpPr>
        <p:spPr>
          <a:xfrm flipH="1">
            <a:off x="2743200" y="2057400"/>
            <a:ext cx="2834640" cy="777240"/>
          </a:xfrm>
          <a:prstGeom prst="line">
            <a:avLst/>
          </a:prstGeom>
          <a:ln w="158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Line 13"/>
          <p:cNvSpPr/>
          <p:nvPr/>
        </p:nvSpPr>
        <p:spPr>
          <a:xfrm>
            <a:off x="6309360" y="2057400"/>
            <a:ext cx="182880" cy="777240"/>
          </a:xfrm>
          <a:prstGeom prst="line">
            <a:avLst/>
          </a:prstGeom>
          <a:ln w="158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Line 14"/>
          <p:cNvSpPr/>
          <p:nvPr/>
        </p:nvSpPr>
        <p:spPr>
          <a:xfrm flipH="1">
            <a:off x="5303520" y="3657600"/>
            <a:ext cx="1188720" cy="914400"/>
          </a:xfrm>
          <a:prstGeom prst="line">
            <a:avLst/>
          </a:prstGeom>
          <a:ln w="158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Line 15"/>
          <p:cNvSpPr/>
          <p:nvPr/>
        </p:nvSpPr>
        <p:spPr>
          <a:xfrm>
            <a:off x="6995160" y="3657600"/>
            <a:ext cx="1417320" cy="914400"/>
          </a:xfrm>
          <a:prstGeom prst="line">
            <a:avLst/>
          </a:prstGeom>
          <a:ln w="1584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CustomShape 16"/>
          <p:cNvSpPr/>
          <p:nvPr/>
        </p:nvSpPr>
        <p:spPr>
          <a:xfrm>
            <a:off x="1005840" y="5715000"/>
            <a:ext cx="10238760" cy="370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右结合：</a:t>
            </a:r>
            <a:r>
              <a:rPr b="1" lang="en-US" sz="22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text1 sub (text2 sub text3)</a:t>
            </a:r>
            <a:r>
              <a:rPr b="1" lang="en-US" sz="22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；字号沿右操作数逐层乘 </a:t>
            </a:r>
            <a:r>
              <a:rPr b="1" lang="en-US" sz="22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70%</a:t>
            </a:r>
            <a:r>
              <a:rPr b="1" lang="en-US" sz="22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。</a:t>
            </a:r>
            <a:endParaRPr b="0" lang="en-US" sz="2200" spc="-1" strike="noStrike"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2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3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4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8.1 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55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SDT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356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357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8" name="CustomShape 7"/>
          <p:cNvSpPr/>
          <p:nvPr/>
        </p:nvSpPr>
        <p:spPr>
          <a:xfrm>
            <a:off x="731520" y="1051560"/>
            <a:ext cx="10513080" cy="35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课件说明：</a:t>
            </a:r>
            <a:r>
              <a:rPr b="1" lang="en-US" sz="21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sub </a:t>
            </a:r>
            <a:r>
              <a:rPr b="1" lang="en-US" sz="21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具有更高优先级，并按右结合处理。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359" name="CustomShape 8"/>
          <p:cNvSpPr/>
          <p:nvPr/>
        </p:nvSpPr>
        <p:spPr>
          <a:xfrm>
            <a:off x="868680" y="1691640"/>
            <a:ext cx="1826280" cy="591840"/>
          </a:xfrm>
          <a:prstGeom prst="rect">
            <a:avLst/>
          </a:prstGeom>
          <a:solidFill>
            <a:srgbClr val="e6e6e6"/>
          </a:solidFill>
          <a:ln w="9360">
            <a:solidFill>
              <a:srgbClr val="222222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初始字号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0" name="CustomShape 9"/>
          <p:cNvSpPr/>
          <p:nvPr/>
        </p:nvSpPr>
        <p:spPr>
          <a:xfrm>
            <a:off x="2880360" y="1691640"/>
            <a:ext cx="8135640" cy="591840"/>
          </a:xfrm>
          <a:prstGeom prst="rect">
            <a:avLst/>
          </a:prstGeom>
          <a:solidFill>
            <a:srgbClr val="ffffff"/>
          </a:solidFill>
          <a:ln w="9360">
            <a:solidFill>
              <a:srgbClr val="666666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S→B 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时 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B.ps = 10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1" name="CustomShape 10"/>
          <p:cNvSpPr/>
          <p:nvPr/>
        </p:nvSpPr>
        <p:spPr>
          <a:xfrm>
            <a:off x="868680" y="2880360"/>
            <a:ext cx="1826280" cy="591840"/>
          </a:xfrm>
          <a:prstGeom prst="rect">
            <a:avLst/>
          </a:prstGeom>
          <a:solidFill>
            <a:srgbClr val="e6e6e6"/>
          </a:solidFill>
          <a:ln w="9360">
            <a:solidFill>
              <a:srgbClr val="222222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继承属性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2" name="CustomShape 11"/>
          <p:cNvSpPr/>
          <p:nvPr/>
        </p:nvSpPr>
        <p:spPr>
          <a:xfrm>
            <a:off x="2880360" y="2880360"/>
            <a:ext cx="8135640" cy="591840"/>
          </a:xfrm>
          <a:prstGeom prst="rect">
            <a:avLst/>
          </a:prstGeom>
          <a:solidFill>
            <a:srgbClr val="ffffff"/>
          </a:solidFill>
          <a:ln w="9360">
            <a:solidFill>
              <a:srgbClr val="666666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B→B1 sub B2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：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B1.ps=B.ps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，</a:t>
            </a: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B2.ps=B.ps×70%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3" name="CustomShape 12"/>
          <p:cNvSpPr/>
          <p:nvPr/>
        </p:nvSpPr>
        <p:spPr>
          <a:xfrm>
            <a:off x="868680" y="4069080"/>
            <a:ext cx="1826280" cy="591840"/>
          </a:xfrm>
          <a:prstGeom prst="rect">
            <a:avLst/>
          </a:prstGeom>
          <a:solidFill>
            <a:srgbClr val="e6e6e6"/>
          </a:solidFill>
          <a:ln w="9360">
            <a:solidFill>
              <a:srgbClr val="222222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综合属性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4" name="CustomShape 13"/>
          <p:cNvSpPr/>
          <p:nvPr/>
        </p:nvSpPr>
        <p:spPr>
          <a:xfrm>
            <a:off x="2880360" y="4069080"/>
            <a:ext cx="8135640" cy="591840"/>
          </a:xfrm>
          <a:prstGeom prst="rect">
            <a:avLst/>
          </a:prstGeom>
          <a:solidFill>
            <a:srgbClr val="ffffff"/>
          </a:solidFill>
          <a:ln w="9360">
            <a:solidFill>
              <a:srgbClr val="666666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ctr"/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B.ht=max(B1.ht, B2.ht−B.ps×25%)</a:t>
            </a:r>
            <a:br/>
            <a:r>
              <a:rPr b="0" lang="en-US" sz="20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B.dp=max(B1.dp, B2.dp+B.ps×25%)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365" name="Table 14"/>
          <p:cNvGraphicFramePr/>
          <p:nvPr/>
        </p:nvGraphicFramePr>
        <p:xfrm>
          <a:off x="868680" y="5120640"/>
          <a:ext cx="9875160" cy="153756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  <a:gridCol w="2468880"/>
                <a:gridCol w="2468880"/>
              </a:tblGrid>
              <a:tr h="3844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节点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ps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ht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dp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844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text1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80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4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text2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7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56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480"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text3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4.9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39.2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41" dur="indefinite" restart="never" nodeType="tmRoot">
          <p:childTnLst>
            <p:seq>
              <p:cTn id="4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7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8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9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8.1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题目解析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70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SDT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371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372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graphicFrame>
        <p:nvGraphicFramePr>
          <p:cNvPr id="373" name="Table 7"/>
          <p:cNvGraphicFramePr/>
          <p:nvPr/>
        </p:nvGraphicFramePr>
        <p:xfrm>
          <a:off x="777240" y="1325880"/>
          <a:ext cx="10606680" cy="365724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  <a:gridCol w="2560320"/>
              </a:tblGrid>
              <a:tr h="7315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计算对象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公式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结果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内层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B23.ht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max(56, 39.2 − 7×25%)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56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内层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B23.dp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max(0, 0 + 7×25%)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1.75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根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B.ht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max(80, 56 − 10×25%)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80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根 </a:t>
                      </a: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B.dp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max(0, 1.75 + 10×25%)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4.25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4" name="CustomShape 8"/>
          <p:cNvSpPr/>
          <p:nvPr/>
        </p:nvSpPr>
        <p:spPr>
          <a:xfrm>
            <a:off x="777240" y="5349240"/>
            <a:ext cx="10513080" cy="43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最终答案：</a:t>
            </a:r>
            <a:r>
              <a:rPr b="1" lang="en-US" sz="2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height = 80</a:t>
            </a:r>
            <a:r>
              <a:rPr b="1" lang="en-US" sz="2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，</a:t>
            </a:r>
            <a:r>
              <a:rPr b="1" lang="en-US" sz="2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depth = 4.25</a:t>
            </a:r>
            <a:r>
              <a:rPr b="1" lang="en-US" sz="2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。</a:t>
            </a:r>
            <a:endParaRPr b="0" lang="en-US" sz="2600" spc="-1" strike="noStrike">
              <a:latin typeface="Arial"/>
            </a:endParaRPr>
          </a:p>
        </p:txBody>
      </p:sp>
    </p:spTree>
  </p:cSld>
  <p:timing>
    <p:tnLst>
      <p:par>
        <p:cTn id="43" dur="indefinite" restart="never" nodeType="tmRoot">
          <p:childTnLst>
            <p:seq>
              <p:cTn id="4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6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7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8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第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8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次作业常见错误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379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380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graphicFrame>
        <p:nvGraphicFramePr>
          <p:cNvPr id="381" name="Table 6"/>
          <p:cNvGraphicFramePr/>
          <p:nvPr/>
        </p:nvGraphicFramePr>
        <p:xfrm>
          <a:off x="2934720" y="1339200"/>
          <a:ext cx="6674760" cy="402264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</a:tblGrid>
              <a:tr h="804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常见错误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错误原因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804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把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sub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当作左结合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少数答案语法树方向不清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text3.ps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写成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7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继承属性传递少一步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只给符号公式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没有代入初始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ps=10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漏写 </a:t>
                      </a:r>
                      <a:r>
                        <a:rPr b="0" lang="en-US" sz="17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depth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height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普遍较好，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dp </a:t>
                      </a:r>
                      <a:r>
                        <a:rPr b="0" lang="en-US" sz="17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更易漏</a:t>
                      </a:r>
                      <a:endParaRPr b="0" lang="en-US" sz="17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45" dur="indefinite" restart="never" nodeType="tmRoot">
          <p:childTnLst>
            <p:seq>
              <p:cTn id="4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3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4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5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9.1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86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IR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387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388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9" name="CustomShape 7"/>
          <p:cNvSpPr/>
          <p:nvPr/>
        </p:nvSpPr>
        <p:spPr>
          <a:xfrm>
            <a:off x="777240" y="1325880"/>
            <a:ext cx="10650240" cy="358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5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Let A be declared as a [2..4] x [1..5] array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of integers and each integer occupy 4 bytes.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What is the translation result of input token string: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x := A[3, 2]?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Tips: use the translation scheme for Pascal.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DBv1, pp.484-485</a:t>
            </a:r>
            <a:endParaRPr b="0" lang="en-US" sz="2800" spc="-1" strike="noStrike">
              <a:latin typeface="Arial"/>
            </a:endParaRPr>
          </a:p>
        </p:txBody>
      </p:sp>
    </p:spTree>
  </p:cSld>
  <p:timing>
    <p:tnLst>
      <p:par>
        <p:cTn id="47" dur="indefinite" restart="never" nodeType="tmRoot">
          <p:childTnLst>
            <p:seq>
              <p:cTn id="4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1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2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3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9.2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394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IR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395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396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7" name="CustomShape 7"/>
          <p:cNvSpPr/>
          <p:nvPr/>
        </p:nvSpPr>
        <p:spPr>
          <a:xfrm>
            <a:off x="777240" y="1325880"/>
            <a:ext cx="10650240" cy="358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5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Let a be declared as a 5 x 6 array of integers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and each integer occupy 4 bytes.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What is the translation result of input token string: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i = a[3][2]?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Tips: use the translation scheme for C/C++.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DBv2, pp.383</a:t>
            </a:r>
            <a:endParaRPr b="0" lang="en-US" sz="2800" spc="-1" strike="noStrike">
              <a:latin typeface="Arial"/>
            </a:endParaRPr>
          </a:p>
        </p:txBody>
      </p:sp>
    </p:spTree>
  </p:cSld>
  <p:timing>
    <p:tnLst>
      <p:par>
        <p:cTn id="49" dur="indefinite" restart="never" nodeType="tmRoot">
          <p:childTnLst>
            <p:seq>
              <p:cTn id="5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9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0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1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9.1 / 9.2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地址翻译对比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02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IR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403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04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graphicFrame>
        <p:nvGraphicFramePr>
          <p:cNvPr id="405" name="Table 7"/>
          <p:cNvGraphicFramePr/>
          <p:nvPr/>
        </p:nvGraphicFramePr>
        <p:xfrm>
          <a:off x="675000" y="1581480"/>
          <a:ext cx="10925280" cy="3495600"/>
        </p:xfrm>
        <a:graphic>
          <a:graphicData uri="http://schemas.openxmlformats.org/drawingml/2006/table">
            <a:tbl>
              <a:tblPr/>
              <a:tblGrid>
                <a:gridCol w="1424880"/>
                <a:gridCol w="4749840"/>
                <a:gridCol w="4750920"/>
              </a:tblGrid>
              <a:tr h="69876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维度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Pascal: A[3,2]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C/C++: a[3][2]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38160">
                      <a:solidFill>
                        <a:srgbClr val="a6a6a6"/>
                      </a:solidFill>
                    </a:lnB>
                    <a:solidFill>
                      <a:srgbClr val="d9d9d9"/>
                    </a:solidFill>
                  </a:tcPr>
                </a:tc>
              </a:tr>
              <a:tr h="69876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下界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low1=2, low2=1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默认从 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0 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开始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76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行宽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n2=5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w=4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n2=6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w=4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，因此一行 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24 bytes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876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核心公式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V=i1×n2+i2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；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C=low1×n2+low2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；</a:t>
                      </a: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offset=(V−C)×w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offset=i1×(n2×w)+i2×w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0920"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本题偏移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(3×5+2 − 11)×4 = 24 bytes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360" rIns="3636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000000"/>
                          </a:solidFill>
                          <a:latin typeface="Noto Sans CJK SC"/>
                        </a:rPr>
                        <a:t>3×24+2×4 = 80 bytes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36360" marR="36360">
                    <a:lnL w="12240">
                      <a:solidFill>
                        <a:srgbClr val="a6a6a6"/>
                      </a:solidFill>
                    </a:lnL>
                    <a:lnR w="12240">
                      <a:solidFill>
                        <a:srgbClr val="a6a6a6"/>
                      </a:solidFill>
                    </a:lnR>
                    <a:lnT w="12240">
                      <a:solidFill>
                        <a:srgbClr val="a6a6a6"/>
                      </a:solidFill>
                    </a:lnT>
                    <a:lnB w="12240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51" dur="indefinite" restart="never" nodeType="tmRoot">
          <p:childTnLst>
            <p:seq>
              <p:cTn id="5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7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8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9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9.3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10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Backpatch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411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12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3" name="CustomShape 7"/>
          <p:cNvSpPr/>
          <p:nvPr/>
        </p:nvSpPr>
        <p:spPr>
          <a:xfrm>
            <a:off x="777240" y="1325880"/>
            <a:ext cx="10650240" cy="358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5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What is the translation result of input token string: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x &lt; 100 || x &gt; 200 &amp;&amp; x != y?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Tips: use the translation scheme for boolean expressions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with backpatching.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Suppose that the start position of the generated code is 100.</a:t>
            </a:r>
            <a:br/>
            <a:br/>
            <a:r>
              <a:rPr b="0" lang="en-US" sz="2800" spc="-1" strike="noStrike">
                <a:solidFill>
                  <a:srgbClr val="222222"/>
                </a:solidFill>
                <a:latin typeface="Times New Roman"/>
                <a:ea typeface="DejaVu Sans"/>
              </a:rPr>
              <a:t>DBv2, pp.411-416</a:t>
            </a:r>
            <a:endParaRPr b="0" lang="en-US" sz="2800" spc="-1" strike="noStrike">
              <a:latin typeface="Arial"/>
            </a:endParaRPr>
          </a:p>
        </p:txBody>
      </p:sp>
    </p:spTree>
  </p:cSld>
  <p:timing>
    <p:tnLst>
      <p:par>
        <p:cTn id="53" dur="indefinite" restart="never" nodeType="tmRoot">
          <p:childTnLst>
            <p:seq>
              <p:cTn id="5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5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6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7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Exercise 9.3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题目解析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18" name="CustomShape 5"/>
          <p:cNvSpPr/>
          <p:nvPr/>
        </p:nvSpPr>
        <p:spPr>
          <a:xfrm>
            <a:off x="8275320" y="749880"/>
            <a:ext cx="1231920" cy="27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r">
              <a:lnSpc>
                <a:spcPct val="100000"/>
              </a:lnSpc>
            </a:pPr>
            <a:r>
              <a:rPr b="1" lang="en-US" sz="16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Backpatch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419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20" name="CustomShape 6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1" name="CustomShape 7"/>
          <p:cNvSpPr/>
          <p:nvPr/>
        </p:nvSpPr>
        <p:spPr>
          <a:xfrm>
            <a:off x="685800" y="1051560"/>
            <a:ext cx="10787400" cy="324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优先级：</a:t>
            </a:r>
            <a:r>
              <a:rPr b="1" lang="en-US" sz="1900" spc="-1" strike="noStrike">
                <a:solidFill>
                  <a:srgbClr val="ce181e"/>
                </a:solidFill>
                <a:latin typeface="Microsoft YaHei"/>
                <a:ea typeface="DejaVu Sans"/>
              </a:rPr>
              <a:t>x &lt; 100 || (x &gt; 200 &amp;&amp; x != y)</a:t>
            </a:r>
            <a:r>
              <a:rPr b="1" lang="en-US" sz="19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。短路求值通过 </a:t>
            </a:r>
            <a:r>
              <a:rPr b="1" lang="en-US" sz="19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trueList / falseList </a:t>
            </a:r>
            <a:r>
              <a:rPr b="1" lang="en-US" sz="1900" spc="-1" strike="noStrike">
                <a:solidFill>
                  <a:srgbClr val="222222"/>
                </a:solidFill>
                <a:latin typeface="Microsoft YaHei"/>
                <a:ea typeface="DejaVu Sans"/>
              </a:rPr>
              <a:t>回填实现。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422" name="CustomShape 8"/>
          <p:cNvSpPr/>
          <p:nvPr/>
        </p:nvSpPr>
        <p:spPr>
          <a:xfrm>
            <a:off x="777240" y="1645920"/>
            <a:ext cx="5072400" cy="2877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aaaaaa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109800" rIns="73080" tIns="73080" bIns="73080" anchor="ctr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222222"/>
                </a:solidFill>
                <a:latin typeface="Consolas"/>
                <a:ea typeface="DejaVu Sans"/>
              </a:rPr>
              <a:t>100: if x &lt; 100 goto _T_</a:t>
            </a:r>
            <a:br/>
            <a:r>
              <a:rPr b="0" lang="en-US" sz="1800" spc="-1" strike="noStrike">
                <a:solidFill>
                  <a:srgbClr val="222222"/>
                </a:solidFill>
                <a:latin typeface="Consolas"/>
                <a:ea typeface="DejaVu Sans"/>
              </a:rPr>
              <a:t>101: goto _102_</a:t>
            </a:r>
            <a:br/>
            <a:r>
              <a:rPr b="0" lang="en-US" sz="1800" spc="-1" strike="noStrike">
                <a:solidFill>
                  <a:srgbClr val="222222"/>
                </a:solidFill>
                <a:latin typeface="Consolas"/>
                <a:ea typeface="DejaVu Sans"/>
              </a:rPr>
              <a:t>102: if x &gt; 200 goto _104_</a:t>
            </a:r>
            <a:br/>
            <a:r>
              <a:rPr b="0" lang="en-US" sz="1800" spc="-1" strike="noStrike">
                <a:solidFill>
                  <a:srgbClr val="222222"/>
                </a:solidFill>
                <a:latin typeface="Consolas"/>
                <a:ea typeface="DejaVu Sans"/>
              </a:rPr>
              <a:t>103: goto _F_</a:t>
            </a:r>
            <a:br/>
            <a:r>
              <a:rPr b="0" lang="en-US" sz="1800" spc="-1" strike="noStrike">
                <a:solidFill>
                  <a:srgbClr val="222222"/>
                </a:solidFill>
                <a:latin typeface="Consolas"/>
                <a:ea typeface="DejaVu Sans"/>
              </a:rPr>
              <a:t>104: if x != y goto _T_</a:t>
            </a:r>
            <a:br/>
            <a:r>
              <a:rPr b="0" lang="en-US" sz="1800" spc="-1" strike="noStrike">
                <a:solidFill>
                  <a:srgbClr val="222222"/>
                </a:solidFill>
                <a:latin typeface="Consolas"/>
                <a:ea typeface="DejaVu Sans"/>
              </a:rPr>
              <a:t>105: goto _F_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423" name="Table 9"/>
          <p:cNvGraphicFramePr/>
          <p:nvPr/>
        </p:nvGraphicFramePr>
        <p:xfrm>
          <a:off x="6172200" y="1645920"/>
          <a:ext cx="5257440" cy="2879640"/>
        </p:xfrm>
        <a:graphic>
          <a:graphicData uri="http://schemas.openxmlformats.org/drawingml/2006/table">
            <a:tbl>
              <a:tblPr/>
              <a:tblGrid>
                <a:gridCol w="2194560"/>
                <a:gridCol w="3063240"/>
              </a:tblGrid>
              <a:tr h="576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回填操作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含义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576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backpatch({101}, 102)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|| </a:t>
                      </a: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左操作数为假时，进入右操作数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backpatch({102}, 104)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&amp;&amp; </a:t>
                      </a: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左操作数为真时，进入右操作数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trueList = {100,104}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真出口等待外层语句回填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falseList = {103,105}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假出口等待外层语句回填</a:t>
                      </a:r>
                      <a:endParaRPr b="0" lang="en-US" sz="15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55" dur="indefinite" restart="never" nodeType="tmRoot">
          <p:childTnLst>
            <p:seq>
              <p:cTn id="5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5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6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7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第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9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次作业常见错误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28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29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graphicFrame>
        <p:nvGraphicFramePr>
          <p:cNvPr id="430" name="Table 6"/>
          <p:cNvGraphicFramePr/>
          <p:nvPr/>
        </p:nvGraphicFramePr>
        <p:xfrm>
          <a:off x="3103200" y="1232280"/>
          <a:ext cx="6766200" cy="316908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</a:tblGrid>
              <a:tr h="7923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类别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常见错误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923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数组寻址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Pascal </a:t>
                      </a: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题直接用 </a:t>
                      </a: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0 </a:t>
                      </a: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下界，或把 </a:t>
                      </a: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A[3,2] </a:t>
                      </a: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误算为 </a:t>
                      </a: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A[1,2]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23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数组寻址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只给偏移，不计算具体的</a:t>
                      </a: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byte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23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c00000"/>
                          </a:solidFill>
                          <a:latin typeface="Microsoft YaHei"/>
                        </a:rPr>
                        <a:t>布尔回填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&amp;&amp; </a:t>
                      </a: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和 </a:t>
                      </a: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|| </a:t>
                      </a:r>
                      <a:r>
                        <a:rPr b="0" lang="en-US" sz="1600" spc="-1" strike="noStrike">
                          <a:solidFill>
                            <a:srgbClr val="222222"/>
                          </a:solidFill>
                          <a:latin typeface="Microsoft YaHei"/>
                        </a:rPr>
                        <a:t>优先级混淆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57" dur="indefinite" restart="never" nodeType="tmRoot">
          <p:childTnLst>
            <p:seq>
              <p:cTn id="5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2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3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4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Quiz#5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35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36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37" name="" descr=""/>
          <p:cNvPicPr/>
          <p:nvPr/>
        </p:nvPicPr>
        <p:blipFill>
          <a:blip r:embed="rId2"/>
          <a:stretch/>
        </p:blipFill>
        <p:spPr>
          <a:xfrm>
            <a:off x="457200" y="1370160"/>
            <a:ext cx="11013120" cy="40240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9" dur="indefinite" restart="never" nodeType="tmRoot">
          <p:childTnLst>
            <p:seq>
              <p:cTn id="6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9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0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1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Quiz#5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解析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42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43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44" name="" descr=""/>
          <p:cNvPicPr/>
          <p:nvPr/>
        </p:nvPicPr>
        <p:blipFill>
          <a:blip r:embed="rId2"/>
          <a:srcRect l="0" t="0" r="5" b="62888"/>
          <a:stretch/>
        </p:blipFill>
        <p:spPr>
          <a:xfrm>
            <a:off x="72000" y="1335240"/>
            <a:ext cx="5553720" cy="2408400"/>
          </a:xfrm>
          <a:prstGeom prst="rect">
            <a:avLst/>
          </a:prstGeom>
          <a:ln>
            <a:noFill/>
          </a:ln>
        </p:spPr>
      </p:pic>
      <p:pic>
        <p:nvPicPr>
          <p:cNvPr id="445" name="" descr=""/>
          <p:cNvPicPr/>
          <p:nvPr/>
        </p:nvPicPr>
        <p:blipFill>
          <a:blip r:embed="rId3"/>
          <a:srcRect l="0" t="35948" r="5" b="0"/>
          <a:stretch/>
        </p:blipFill>
        <p:spPr>
          <a:xfrm>
            <a:off x="5832000" y="1296000"/>
            <a:ext cx="6251760" cy="4679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1" dur="indefinite" restart="never" nodeType="tmRoot">
          <p:childTnLst>
            <p:seq>
              <p:cTn id="6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7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8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9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Quiz#5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50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51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52" name="" descr=""/>
          <p:cNvPicPr/>
          <p:nvPr/>
        </p:nvPicPr>
        <p:blipFill>
          <a:blip r:embed="rId2"/>
          <a:stretch/>
        </p:blipFill>
        <p:spPr>
          <a:xfrm>
            <a:off x="14400" y="1231920"/>
            <a:ext cx="12146400" cy="43963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3" dur="indefinite" restart="never" nodeType="tmRoot">
          <p:childTnLst>
            <p:seq>
              <p:cTn id="6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4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5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6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Quiz#5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解析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57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58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59" name="" descr=""/>
          <p:cNvPicPr/>
          <p:nvPr/>
        </p:nvPicPr>
        <p:blipFill>
          <a:blip r:embed="rId2"/>
          <a:stretch/>
        </p:blipFill>
        <p:spPr>
          <a:xfrm>
            <a:off x="144000" y="1417680"/>
            <a:ext cx="11692440" cy="50619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5" dur="indefinite" restart="never" nodeType="tmRoot">
          <p:childTnLst>
            <p:seq>
              <p:cTn id="6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1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2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3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Quiz#5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64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65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66" name="" descr=""/>
          <p:cNvPicPr/>
          <p:nvPr/>
        </p:nvPicPr>
        <p:blipFill>
          <a:blip r:embed="rId2"/>
          <a:stretch/>
        </p:blipFill>
        <p:spPr>
          <a:xfrm>
            <a:off x="2420280" y="1023840"/>
            <a:ext cx="7803360" cy="5628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7" dur="indefinite" restart="never" nodeType="tmRoot">
          <p:childTnLst>
            <p:seq>
              <p:cTn id="6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8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9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0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Quiz#5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解析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71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72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73" name="" descr=""/>
          <p:cNvPicPr/>
          <p:nvPr/>
        </p:nvPicPr>
        <p:blipFill>
          <a:blip r:embed="rId2"/>
          <a:stretch/>
        </p:blipFill>
        <p:spPr>
          <a:xfrm>
            <a:off x="144000" y="1512000"/>
            <a:ext cx="11872080" cy="5111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69" dur="indefinite" restart="never" nodeType="tmRoot">
          <p:childTnLst>
            <p:seq>
              <p:cTn id="7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5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6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7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Quiz#4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78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79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80" name="" descr=""/>
          <p:cNvPicPr/>
          <p:nvPr/>
        </p:nvPicPr>
        <p:blipFill>
          <a:blip r:embed="rId2"/>
          <a:srcRect l="0" t="0" r="5" b="7305"/>
          <a:stretch/>
        </p:blipFill>
        <p:spPr>
          <a:xfrm>
            <a:off x="2922840" y="995040"/>
            <a:ext cx="7804800" cy="5556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1" dur="indefinite" restart="never" nodeType="tmRoot">
          <p:childTnLst>
            <p:seq>
              <p:cTn id="7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2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3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4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Quiz#4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解析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85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86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87" name="" descr=""/>
          <p:cNvPicPr/>
          <p:nvPr/>
        </p:nvPicPr>
        <p:blipFill>
          <a:blip r:embed="rId2"/>
          <a:stretch/>
        </p:blipFill>
        <p:spPr>
          <a:xfrm>
            <a:off x="3024000" y="936000"/>
            <a:ext cx="7127640" cy="57448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3" dur="indefinite" restart="never" nodeType="tmRoot">
          <p:childTnLst>
            <p:seq>
              <p:cTn id="7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9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0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1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Quiz#3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92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493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494" name="" descr=""/>
          <p:cNvPicPr/>
          <p:nvPr/>
        </p:nvPicPr>
        <p:blipFill>
          <a:blip r:embed="rId2"/>
          <a:stretch/>
        </p:blipFill>
        <p:spPr>
          <a:xfrm>
            <a:off x="864000" y="995040"/>
            <a:ext cx="10153800" cy="5700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5" dur="indefinite" restart="never" nodeType="tmRoot">
          <p:childTnLst>
            <p:seq>
              <p:cTn id="7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6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7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8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Quiz#3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解析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499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500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01" name="" descr=""/>
          <p:cNvPicPr/>
          <p:nvPr/>
        </p:nvPicPr>
        <p:blipFill>
          <a:blip r:embed="rId2"/>
          <a:stretch/>
        </p:blipFill>
        <p:spPr>
          <a:xfrm>
            <a:off x="576000" y="1425960"/>
            <a:ext cx="11160720" cy="25336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7" dur="indefinite" restart="never" nodeType="tmRoot">
          <p:childTnLst>
            <p:seq>
              <p:cTn id="7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3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4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5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Quiz#3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506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507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08" name="" descr=""/>
          <p:cNvPicPr/>
          <p:nvPr/>
        </p:nvPicPr>
        <p:blipFill>
          <a:blip r:embed="rId2"/>
          <a:stretch/>
        </p:blipFill>
        <p:spPr>
          <a:xfrm>
            <a:off x="216000" y="1337400"/>
            <a:ext cx="11615400" cy="3270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9" dur="indefinite" restart="never" nodeType="tmRoot">
          <p:childTnLst>
            <p:seq>
              <p:cTn id="8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0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1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2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Quiz#3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解析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513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514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15" name="" descr=""/>
          <p:cNvPicPr/>
          <p:nvPr/>
        </p:nvPicPr>
        <p:blipFill>
          <a:blip r:embed="rId2"/>
          <a:stretch/>
        </p:blipFill>
        <p:spPr>
          <a:xfrm>
            <a:off x="504000" y="1152000"/>
            <a:ext cx="10799640" cy="5399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81" dur="indefinite" restart="never" nodeType="tmRoot">
          <p:childTnLst>
            <p:seq>
              <p:cTn id="8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7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8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9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Quiz#2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520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521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22" name="" descr=""/>
          <p:cNvPicPr/>
          <p:nvPr/>
        </p:nvPicPr>
        <p:blipFill>
          <a:blip r:embed="rId2"/>
          <a:stretch/>
        </p:blipFill>
        <p:spPr>
          <a:xfrm>
            <a:off x="337680" y="1368000"/>
            <a:ext cx="11469960" cy="5039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83" dur="indefinite" restart="never" nodeType="tmRoot">
          <p:childTnLst>
            <p:seq>
              <p:cTn id="8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4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5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6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Quiz#2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解析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527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528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29" name="" descr=""/>
          <p:cNvPicPr/>
          <p:nvPr/>
        </p:nvPicPr>
        <p:blipFill>
          <a:blip r:embed="rId2"/>
          <a:stretch/>
        </p:blipFill>
        <p:spPr>
          <a:xfrm>
            <a:off x="96480" y="1512000"/>
            <a:ext cx="11999160" cy="4851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85" dur="indefinite" restart="never" nodeType="tmRoot">
          <p:childTnLst>
            <p:seq>
              <p:cTn id="8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1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2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3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Quiz#2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534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535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36" name="" descr=""/>
          <p:cNvPicPr/>
          <p:nvPr/>
        </p:nvPicPr>
        <p:blipFill>
          <a:blip r:embed="rId2"/>
          <a:srcRect l="0" t="19463" r="3127" b="20121"/>
          <a:stretch/>
        </p:blipFill>
        <p:spPr>
          <a:xfrm>
            <a:off x="3168000" y="216000"/>
            <a:ext cx="6695280" cy="431280"/>
          </a:xfrm>
          <a:prstGeom prst="rect">
            <a:avLst/>
          </a:prstGeom>
          <a:ln>
            <a:noFill/>
          </a:ln>
        </p:spPr>
      </p:pic>
      <p:pic>
        <p:nvPicPr>
          <p:cNvPr id="537" name="" descr=""/>
          <p:cNvPicPr/>
          <p:nvPr/>
        </p:nvPicPr>
        <p:blipFill>
          <a:blip r:embed="rId3"/>
          <a:stretch/>
        </p:blipFill>
        <p:spPr>
          <a:xfrm>
            <a:off x="3168000" y="864000"/>
            <a:ext cx="6981120" cy="5759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87" dur="indefinite" restart="never" nodeType="tmRoot">
          <p:childTnLst>
            <p:seq>
              <p:cTn id="8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CustomShape 1"/>
          <p:cNvSpPr/>
          <p:nvPr/>
        </p:nvSpPr>
        <p:spPr>
          <a:xfrm>
            <a:off x="0" y="3841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9" name="CustomShape 2"/>
          <p:cNvSpPr/>
          <p:nvPr/>
        </p:nvSpPr>
        <p:spPr>
          <a:xfrm>
            <a:off x="0" y="6127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0" name="CustomShape 3"/>
          <p:cNvSpPr/>
          <p:nvPr/>
        </p:nvSpPr>
        <p:spPr>
          <a:xfrm>
            <a:off x="0" y="841320"/>
            <a:ext cx="408960" cy="143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1" name="CustomShape 4"/>
          <p:cNvSpPr/>
          <p:nvPr/>
        </p:nvSpPr>
        <p:spPr>
          <a:xfrm>
            <a:off x="694800" y="502920"/>
            <a:ext cx="6855480" cy="49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Quiz#2 </a:t>
            </a:r>
            <a:r>
              <a:rPr b="1" lang="en-US" sz="3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题目</a:t>
            </a:r>
            <a:endParaRPr b="0" lang="en-US" sz="3000" spc="-1" strike="noStrike">
              <a:latin typeface="Arial"/>
            </a:endParaRPr>
          </a:p>
        </p:txBody>
      </p:sp>
      <p:pic>
        <p:nvPicPr>
          <p:cNvPr id="542" name="Picture 6" descr=""/>
          <p:cNvPicPr/>
          <p:nvPr/>
        </p:nvPicPr>
        <p:blipFill>
          <a:blip r:embed="rId1"/>
          <a:stretch/>
        </p:blipFill>
        <p:spPr>
          <a:xfrm>
            <a:off x="9646920" y="311040"/>
            <a:ext cx="2210400" cy="712440"/>
          </a:xfrm>
          <a:prstGeom prst="rect">
            <a:avLst/>
          </a:prstGeom>
          <a:ln>
            <a:noFill/>
          </a:ln>
        </p:spPr>
      </p:pic>
      <p:sp>
        <p:nvSpPr>
          <p:cNvPr id="543" name="CustomShape 5"/>
          <p:cNvSpPr/>
          <p:nvPr/>
        </p:nvSpPr>
        <p:spPr>
          <a:xfrm>
            <a:off x="0" y="6729840"/>
            <a:ext cx="12189240" cy="125640"/>
          </a:xfrm>
          <a:prstGeom prst="rect">
            <a:avLst/>
          </a:prstGeom>
          <a:solidFill>
            <a:srgbClr val="00561f"/>
          </a:solidFill>
          <a:ln w="9360">
            <a:solidFill>
              <a:srgbClr val="00561f"/>
            </a:solidFill>
            <a:round/>
          </a:ln>
          <a:effectLst>
            <a:outerShdw dir="5400000" dist="2304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44" name="" descr=""/>
          <p:cNvPicPr/>
          <p:nvPr/>
        </p:nvPicPr>
        <p:blipFill>
          <a:blip r:embed="rId2"/>
          <a:stretch/>
        </p:blipFill>
        <p:spPr>
          <a:xfrm>
            <a:off x="288000" y="1542960"/>
            <a:ext cx="11518920" cy="27046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89" dur="indefinite" restart="never" nodeType="tmRoot">
          <p:childTnLst>
            <p:seq>
              <p:cTn id="9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Picture 1" descr=""/>
          <p:cNvPicPr/>
          <p:nvPr/>
        </p:nvPicPr>
        <p:blipFill>
          <a:blip r:embed="rId1"/>
          <a:stretch/>
        </p:blipFill>
        <p:spPr>
          <a:xfrm>
            <a:off x="0" y="0"/>
            <a:ext cx="12189240" cy="6855480"/>
          </a:xfrm>
          <a:prstGeom prst="rect">
            <a:avLst/>
          </a:prstGeom>
          <a:ln>
            <a:noFill/>
          </a:ln>
        </p:spPr>
      </p:pic>
      <p:pic>
        <p:nvPicPr>
          <p:cNvPr id="546" name="Picture 2" descr=""/>
          <p:cNvPicPr/>
          <p:nvPr/>
        </p:nvPicPr>
        <p:blipFill>
          <a:blip r:embed="rId2"/>
          <a:stretch/>
        </p:blipFill>
        <p:spPr>
          <a:xfrm>
            <a:off x="1417320" y="5349240"/>
            <a:ext cx="9324360" cy="1446480"/>
          </a:xfrm>
          <a:prstGeom prst="rect">
            <a:avLst/>
          </a:prstGeom>
          <a:ln>
            <a:noFill/>
          </a:ln>
        </p:spPr>
      </p:pic>
      <p:pic>
        <p:nvPicPr>
          <p:cNvPr id="547" name="Picture 3" descr=""/>
          <p:cNvPicPr/>
          <p:nvPr/>
        </p:nvPicPr>
        <p:blipFill>
          <a:blip r:embed="rId3"/>
          <a:stretch/>
        </p:blipFill>
        <p:spPr>
          <a:xfrm>
            <a:off x="5303520" y="960120"/>
            <a:ext cx="1551960" cy="1462320"/>
          </a:xfrm>
          <a:prstGeom prst="rect">
            <a:avLst/>
          </a:prstGeom>
          <a:ln>
            <a:noFill/>
          </a:ln>
        </p:spPr>
      </p:pic>
      <p:sp>
        <p:nvSpPr>
          <p:cNvPr id="548" name="CustomShape 1"/>
          <p:cNvSpPr/>
          <p:nvPr/>
        </p:nvSpPr>
        <p:spPr>
          <a:xfrm>
            <a:off x="3840480" y="2880360"/>
            <a:ext cx="4478040" cy="79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ctr">
              <a:lnSpc>
                <a:spcPct val="100000"/>
              </a:lnSpc>
            </a:pPr>
            <a:r>
              <a:rPr b="1" lang="en-US" sz="5000" spc="-1" strike="noStrike">
                <a:solidFill>
                  <a:srgbClr val="00561f"/>
                </a:solidFill>
                <a:latin typeface="Microsoft YaHei"/>
                <a:ea typeface="DejaVu Sans"/>
              </a:rPr>
              <a:t>谢谢大家</a:t>
            </a:r>
            <a:endParaRPr b="0" lang="en-US" sz="5000" spc="-1" strike="noStrike">
              <a:latin typeface="Arial"/>
            </a:endParaRPr>
          </a:p>
        </p:txBody>
      </p:sp>
      <p:sp>
        <p:nvSpPr>
          <p:cNvPr id="549" name="CustomShape 2"/>
          <p:cNvSpPr/>
          <p:nvPr/>
        </p:nvSpPr>
        <p:spPr>
          <a:xfrm>
            <a:off x="1828800" y="3840480"/>
            <a:ext cx="8592840" cy="67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CustomShape 3"/>
          <p:cNvSpPr/>
          <p:nvPr/>
        </p:nvSpPr>
        <p:spPr>
          <a:xfrm>
            <a:off x="4160520" y="4389120"/>
            <a:ext cx="3837960" cy="30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18360" bIns="18360"/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666666"/>
                </a:solidFill>
                <a:latin typeface="Microsoft YaHei"/>
                <a:ea typeface="DejaVu Sans"/>
              </a:rPr>
              <a:t>编译原理第二次习题课</a:t>
            </a:r>
            <a:endParaRPr b="0" lang="en-US" sz="1800" spc="-1" strike="noStrike">
              <a:latin typeface="Arial"/>
            </a:endParaRPr>
          </a:p>
        </p:txBody>
      </p:sp>
    </p:spTree>
  </p:cSld>
  <p:timing>
    <p:tnLst>
      <p:par>
        <p:cTn id="91" dur="indefinite" restart="never" nodeType="tmRoot">
          <p:childTnLst>
            <p:seq>
              <p:cTn id="9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2026-06-09T15:35:29Z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