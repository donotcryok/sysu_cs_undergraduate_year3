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6"/>
  </p:notesMasterIdLst>
  <p:handoutMasterIdLst>
    <p:handoutMasterId r:id="rId107"/>
  </p:handoutMasterIdLst>
  <p:sldIdLst>
    <p:sldId id="460" r:id="rId2"/>
    <p:sldId id="461" r:id="rId3"/>
    <p:sldId id="462" r:id="rId4"/>
    <p:sldId id="463" r:id="rId5"/>
    <p:sldId id="464" r:id="rId6"/>
    <p:sldId id="465" r:id="rId7"/>
    <p:sldId id="466" r:id="rId8"/>
    <p:sldId id="467" r:id="rId9"/>
    <p:sldId id="468" r:id="rId10"/>
    <p:sldId id="469" r:id="rId11"/>
    <p:sldId id="470" r:id="rId12"/>
    <p:sldId id="471" r:id="rId13"/>
    <p:sldId id="472" r:id="rId14"/>
    <p:sldId id="473" r:id="rId15"/>
    <p:sldId id="474" r:id="rId16"/>
    <p:sldId id="475" r:id="rId17"/>
    <p:sldId id="476" r:id="rId18"/>
    <p:sldId id="477" r:id="rId19"/>
    <p:sldId id="478" r:id="rId20"/>
    <p:sldId id="479" r:id="rId21"/>
    <p:sldId id="480" r:id="rId22"/>
    <p:sldId id="481" r:id="rId23"/>
    <p:sldId id="482" r:id="rId24"/>
    <p:sldId id="483" r:id="rId25"/>
    <p:sldId id="484" r:id="rId26"/>
    <p:sldId id="485" r:id="rId27"/>
    <p:sldId id="486" r:id="rId28"/>
    <p:sldId id="487" r:id="rId29"/>
    <p:sldId id="488" r:id="rId30"/>
    <p:sldId id="489" r:id="rId31"/>
    <p:sldId id="490" r:id="rId32"/>
    <p:sldId id="491" r:id="rId33"/>
    <p:sldId id="492" r:id="rId34"/>
    <p:sldId id="493" r:id="rId35"/>
    <p:sldId id="494" r:id="rId36"/>
    <p:sldId id="495" r:id="rId37"/>
    <p:sldId id="496" r:id="rId38"/>
    <p:sldId id="497" r:id="rId39"/>
    <p:sldId id="498" r:id="rId40"/>
    <p:sldId id="499" r:id="rId41"/>
    <p:sldId id="500" r:id="rId42"/>
    <p:sldId id="501" r:id="rId43"/>
    <p:sldId id="502" r:id="rId44"/>
    <p:sldId id="503" r:id="rId45"/>
    <p:sldId id="504" r:id="rId46"/>
    <p:sldId id="505" r:id="rId47"/>
    <p:sldId id="506" r:id="rId48"/>
    <p:sldId id="507" r:id="rId49"/>
    <p:sldId id="508" r:id="rId50"/>
    <p:sldId id="509" r:id="rId51"/>
    <p:sldId id="510" r:id="rId52"/>
    <p:sldId id="511" r:id="rId53"/>
    <p:sldId id="512" r:id="rId54"/>
    <p:sldId id="513" r:id="rId55"/>
    <p:sldId id="514" r:id="rId56"/>
    <p:sldId id="515" r:id="rId57"/>
    <p:sldId id="516" r:id="rId58"/>
    <p:sldId id="517" r:id="rId59"/>
    <p:sldId id="518" r:id="rId60"/>
    <p:sldId id="519" r:id="rId61"/>
    <p:sldId id="520" r:id="rId62"/>
    <p:sldId id="521" r:id="rId63"/>
    <p:sldId id="522" r:id="rId64"/>
    <p:sldId id="523" r:id="rId65"/>
    <p:sldId id="524" r:id="rId66"/>
    <p:sldId id="525" r:id="rId67"/>
    <p:sldId id="526" r:id="rId68"/>
    <p:sldId id="527" r:id="rId69"/>
    <p:sldId id="528" r:id="rId70"/>
    <p:sldId id="529" r:id="rId71"/>
    <p:sldId id="530" r:id="rId72"/>
    <p:sldId id="531" r:id="rId73"/>
    <p:sldId id="532" r:id="rId74"/>
    <p:sldId id="533" r:id="rId75"/>
    <p:sldId id="534" r:id="rId76"/>
    <p:sldId id="535" r:id="rId77"/>
    <p:sldId id="536" r:id="rId78"/>
    <p:sldId id="537" r:id="rId79"/>
    <p:sldId id="538" r:id="rId80"/>
    <p:sldId id="539" r:id="rId81"/>
    <p:sldId id="540" r:id="rId82"/>
    <p:sldId id="541" r:id="rId83"/>
    <p:sldId id="542" r:id="rId84"/>
    <p:sldId id="543" r:id="rId85"/>
    <p:sldId id="544" r:id="rId86"/>
    <p:sldId id="545" r:id="rId87"/>
    <p:sldId id="546" r:id="rId88"/>
    <p:sldId id="547" r:id="rId89"/>
    <p:sldId id="548" r:id="rId90"/>
    <p:sldId id="549" r:id="rId91"/>
    <p:sldId id="550" r:id="rId92"/>
    <p:sldId id="551" r:id="rId93"/>
    <p:sldId id="552" r:id="rId94"/>
    <p:sldId id="553" r:id="rId95"/>
    <p:sldId id="554" r:id="rId96"/>
    <p:sldId id="555" r:id="rId97"/>
    <p:sldId id="556" r:id="rId98"/>
    <p:sldId id="557" r:id="rId99"/>
    <p:sldId id="558" r:id="rId100"/>
    <p:sldId id="559" r:id="rId101"/>
    <p:sldId id="560" r:id="rId102"/>
    <p:sldId id="583" r:id="rId103"/>
    <p:sldId id="584" r:id="rId104"/>
    <p:sldId id="585" r:id="rId10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ern="1200">
        <a:solidFill>
          <a:schemeClr val="tx1"/>
        </a:solidFill>
        <a:latin typeface="Tahoma" pitchFamily="34" charset="0"/>
        <a:ea typeface="宋体" pitchFamily="2" charset="-122"/>
        <a:cs typeface="+mn-cs"/>
      </a:defRPr>
    </a:lvl5pPr>
    <a:lvl6pPr marL="2286000" algn="l" defTabSz="914400" rtl="0" eaLnBrk="1" latinLnBrk="0" hangingPunct="1">
      <a:defRPr kern="1200">
        <a:solidFill>
          <a:schemeClr val="tx1"/>
        </a:solidFill>
        <a:latin typeface="Tahoma" pitchFamily="34" charset="0"/>
        <a:ea typeface="宋体" pitchFamily="2" charset="-122"/>
        <a:cs typeface="+mn-cs"/>
      </a:defRPr>
    </a:lvl6pPr>
    <a:lvl7pPr marL="2743200" algn="l" defTabSz="914400" rtl="0" eaLnBrk="1" latinLnBrk="0" hangingPunct="1">
      <a:defRPr kern="1200">
        <a:solidFill>
          <a:schemeClr val="tx1"/>
        </a:solidFill>
        <a:latin typeface="Tahoma" pitchFamily="34" charset="0"/>
        <a:ea typeface="宋体" pitchFamily="2" charset="-122"/>
        <a:cs typeface="+mn-cs"/>
      </a:defRPr>
    </a:lvl7pPr>
    <a:lvl8pPr marL="3200400" algn="l" defTabSz="914400" rtl="0" eaLnBrk="1" latinLnBrk="0" hangingPunct="1">
      <a:defRPr kern="1200">
        <a:solidFill>
          <a:schemeClr val="tx1"/>
        </a:solidFill>
        <a:latin typeface="Tahoma" pitchFamily="34" charset="0"/>
        <a:ea typeface="宋体" pitchFamily="2" charset="-122"/>
        <a:cs typeface="+mn-cs"/>
      </a:defRPr>
    </a:lvl8pPr>
    <a:lvl9pPr marL="3657600" algn="l" defTabSz="914400" rtl="0" eaLnBrk="1" latinLnBrk="0" hangingPunct="1">
      <a:defRPr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009999"/>
    <a:srgbClr val="FFFFCC"/>
    <a:srgbClr val="99FFCC"/>
    <a:srgbClr val="3399FF"/>
    <a:srgbClr val="FFFF00"/>
    <a:srgbClr val="CC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39" autoAdjust="0"/>
  </p:normalViewPr>
  <p:slideViewPr>
    <p:cSldViewPr>
      <p:cViewPr varScale="1">
        <p:scale>
          <a:sx n="108" d="100"/>
          <a:sy n="108" d="100"/>
        </p:scale>
        <p:origin x="1212" y="108"/>
      </p:cViewPr>
      <p:guideLst>
        <p:guide orient="horz" pos="2160"/>
        <p:guide pos="2880"/>
      </p:guideLst>
    </p:cSldViewPr>
  </p:slideViewPr>
  <p:outlineViewPr>
    <p:cViewPr>
      <p:scale>
        <a:sx n="25" d="100"/>
        <a:sy n="25" d="100"/>
      </p:scale>
      <p:origin x="0" y="-70578"/>
    </p:cViewPr>
    <p:sldLst>
      <p:sld r:id="rId1" collapse="1"/>
      <p:sld r:id="rId2" collapse="1"/>
      <p:sld r:id="rId3" collapse="1"/>
      <p:sld r:id="rId4" collapse="1"/>
      <p:sld r:id="rId5"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handoutMaster" Target="handoutMasters/handout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_rels/viewProps.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slide" Target="slides/slide34.xml"/><Relationship Id="rId1" Type="http://schemas.openxmlformats.org/officeDocument/2006/relationships/slide" Target="slides/slide26.xml"/><Relationship Id="rId5" Type="http://schemas.openxmlformats.org/officeDocument/2006/relationships/slide" Target="slides/slide59.xml"/><Relationship Id="rId4"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zh-CN" altLang="en-US"/>
          </a:p>
        </p:txBody>
      </p:sp>
      <p:sp>
        <p:nvSpPr>
          <p:cNvPr id="3993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993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3993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16DDA60-EDE3-4321-9965-5DECB955EFD1}" type="slidenum">
              <a:rPr lang="zh-CN" altLang="en-US"/>
              <a:pPr>
                <a:defRPr/>
              </a:pPr>
              <a:t>‹#›</a:t>
            </a:fld>
            <a:endParaRPr lang="en-US" altLang="zh-CN"/>
          </a:p>
        </p:txBody>
      </p:sp>
    </p:spTree>
    <p:extLst>
      <p:ext uri="{BB962C8B-B14F-4D97-AF65-F5344CB8AC3E}">
        <p14:creationId xmlns:p14="http://schemas.microsoft.com/office/powerpoint/2010/main" val="800965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3287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87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287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3287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EFB740E-98D6-4382-B8DC-6D63694CFF69}" type="slidenum">
              <a:rPr lang="zh-CN" altLang="en-US"/>
              <a:pPr>
                <a:defRPr/>
              </a:pPr>
              <a:t>‹#›</a:t>
            </a:fld>
            <a:endParaRPr lang="en-US" altLang="zh-CN"/>
          </a:p>
        </p:txBody>
      </p:sp>
    </p:spTree>
    <p:extLst>
      <p:ext uri="{BB962C8B-B14F-4D97-AF65-F5344CB8AC3E}">
        <p14:creationId xmlns:p14="http://schemas.microsoft.com/office/powerpoint/2010/main" val="1538558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09F454-196F-4584-A837-60AEEFB4A15F}" type="slidenum">
              <a:rPr lang="en-US" altLang="zh-CN"/>
              <a:pPr/>
              <a:t>3</a:t>
            </a:fld>
            <a:endParaRPr lang="en-US" altLang="zh-CN"/>
          </a:p>
        </p:txBody>
      </p:sp>
      <p:sp>
        <p:nvSpPr>
          <p:cNvPr id="2490370" name="Rectangle 2"/>
          <p:cNvSpPr>
            <a:spLocks noGrp="1" noRot="1" noChangeAspect="1" noChangeArrowheads="1" noTextEdit="1"/>
          </p:cNvSpPr>
          <p:nvPr>
            <p:ph type="sldImg"/>
          </p:nvPr>
        </p:nvSpPr>
        <p:spPr>
          <a:ln/>
        </p:spPr>
      </p:sp>
      <p:sp>
        <p:nvSpPr>
          <p:cNvPr id="24903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764857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F306AB-DA8A-444C-BDD3-2040FBEE2E54}" type="slidenum">
              <a:rPr lang="en-US" altLang="zh-CN"/>
              <a:pPr/>
              <a:t>4</a:t>
            </a:fld>
            <a:endParaRPr lang="en-US" altLang="zh-CN"/>
          </a:p>
        </p:txBody>
      </p:sp>
      <p:sp>
        <p:nvSpPr>
          <p:cNvPr id="2492418" name="Rectangle 2"/>
          <p:cNvSpPr>
            <a:spLocks noGrp="1" noRot="1" noChangeAspect="1" noChangeArrowheads="1" noTextEdit="1"/>
          </p:cNvSpPr>
          <p:nvPr>
            <p:ph type="sldImg"/>
          </p:nvPr>
        </p:nvSpPr>
        <p:spPr>
          <a:ln/>
        </p:spPr>
      </p:sp>
      <p:sp>
        <p:nvSpPr>
          <p:cNvPr id="24924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591962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C8F117-8106-4B10-BFB7-F8588E0AD5AB}" type="slidenum">
              <a:rPr lang="en-US" altLang="zh-CN"/>
              <a:pPr/>
              <a:t>5</a:t>
            </a:fld>
            <a:endParaRPr lang="en-US" altLang="zh-CN"/>
          </a:p>
        </p:txBody>
      </p:sp>
      <p:sp>
        <p:nvSpPr>
          <p:cNvPr id="2494466" name="Rectangle 2"/>
          <p:cNvSpPr>
            <a:spLocks noGrp="1" noRot="1" noChangeAspect="1" noChangeArrowheads="1" noTextEdit="1"/>
          </p:cNvSpPr>
          <p:nvPr>
            <p:ph type="sldImg"/>
          </p:nvPr>
        </p:nvSpPr>
        <p:spPr>
          <a:ln/>
        </p:spPr>
      </p:sp>
      <p:sp>
        <p:nvSpPr>
          <p:cNvPr id="249446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078392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32BC6B-5F25-415D-911C-A8A9E5E18AAF}" type="slidenum">
              <a:rPr lang="en-US" altLang="zh-CN"/>
              <a:pPr/>
              <a:t>6</a:t>
            </a:fld>
            <a:endParaRPr lang="en-US" altLang="zh-CN"/>
          </a:p>
        </p:txBody>
      </p:sp>
      <p:sp>
        <p:nvSpPr>
          <p:cNvPr id="2496514" name="Rectangle 2"/>
          <p:cNvSpPr>
            <a:spLocks noGrp="1" noRot="1" noChangeAspect="1" noChangeArrowheads="1" noTextEdit="1"/>
          </p:cNvSpPr>
          <p:nvPr>
            <p:ph type="sldImg"/>
          </p:nvPr>
        </p:nvSpPr>
        <p:spPr>
          <a:ln/>
        </p:spPr>
      </p:sp>
      <p:sp>
        <p:nvSpPr>
          <p:cNvPr id="249651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94033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BBE7CA-C010-4749-80D4-17952316F286}" type="slidenum">
              <a:rPr lang="en-US" altLang="zh-CN"/>
              <a:pPr/>
              <a:t>7</a:t>
            </a:fld>
            <a:endParaRPr lang="en-US" altLang="zh-CN"/>
          </a:p>
        </p:txBody>
      </p:sp>
      <p:sp>
        <p:nvSpPr>
          <p:cNvPr id="2498562" name="Rectangle 2"/>
          <p:cNvSpPr>
            <a:spLocks noGrp="1" noRot="1" noChangeAspect="1" noChangeArrowheads="1" noTextEdit="1"/>
          </p:cNvSpPr>
          <p:nvPr>
            <p:ph type="sldImg"/>
          </p:nvPr>
        </p:nvSpPr>
        <p:spPr>
          <a:ln/>
        </p:spPr>
      </p:sp>
      <p:sp>
        <p:nvSpPr>
          <p:cNvPr id="249856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615020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B922F0-E01C-4CB5-84D1-8AEA1EDDEA85}" type="slidenum">
              <a:rPr lang="en-US" altLang="zh-CN"/>
              <a:pPr/>
              <a:t>8</a:t>
            </a:fld>
            <a:endParaRPr lang="en-US" altLang="zh-CN"/>
          </a:p>
        </p:txBody>
      </p:sp>
      <p:sp>
        <p:nvSpPr>
          <p:cNvPr id="2500610" name="Rectangle 2"/>
          <p:cNvSpPr>
            <a:spLocks noGrp="1" noRot="1" noChangeAspect="1" noChangeArrowheads="1" noTextEdit="1"/>
          </p:cNvSpPr>
          <p:nvPr>
            <p:ph type="sldImg"/>
          </p:nvPr>
        </p:nvSpPr>
        <p:spPr>
          <a:ln/>
        </p:spPr>
      </p:sp>
      <p:sp>
        <p:nvSpPr>
          <p:cNvPr id="250061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575417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51DF98-6258-41EE-9415-A6D54295C65B}" type="slidenum">
              <a:rPr lang="en-US" altLang="zh-CN"/>
              <a:pPr/>
              <a:t>9</a:t>
            </a:fld>
            <a:endParaRPr lang="en-US" altLang="zh-CN"/>
          </a:p>
        </p:txBody>
      </p:sp>
      <p:sp>
        <p:nvSpPr>
          <p:cNvPr id="2502658" name="Rectangle 2"/>
          <p:cNvSpPr>
            <a:spLocks noGrp="1" noRot="1" noChangeAspect="1" noChangeArrowheads="1" noTextEdit="1"/>
          </p:cNvSpPr>
          <p:nvPr>
            <p:ph type="sldImg"/>
          </p:nvPr>
        </p:nvSpPr>
        <p:spPr>
          <a:ln/>
        </p:spPr>
      </p:sp>
      <p:sp>
        <p:nvSpPr>
          <p:cNvPr id="250265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50176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DE97FB-028A-4E65-A8B5-459D69439AF2}" type="slidenum">
              <a:rPr lang="en-US" altLang="zh-CN"/>
              <a:pPr/>
              <a:t>10</a:t>
            </a:fld>
            <a:endParaRPr lang="en-US" altLang="zh-CN"/>
          </a:p>
        </p:txBody>
      </p:sp>
      <p:sp>
        <p:nvSpPr>
          <p:cNvPr id="2955266" name="Rectangle 2"/>
          <p:cNvSpPr>
            <a:spLocks noGrp="1" noRot="1" noChangeAspect="1" noChangeArrowheads="1" noTextEdit="1"/>
          </p:cNvSpPr>
          <p:nvPr>
            <p:ph type="sldImg"/>
          </p:nvPr>
        </p:nvSpPr>
        <p:spPr>
          <a:ln/>
        </p:spPr>
      </p:sp>
      <p:sp>
        <p:nvSpPr>
          <p:cNvPr id="295526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4501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99FDC6-E971-41B3-A0C1-621C912B700A}" type="slidenum">
              <a:rPr lang="en-US" altLang="zh-CN"/>
              <a:pPr/>
              <a:t>11</a:t>
            </a:fld>
            <a:endParaRPr lang="en-US" altLang="zh-CN"/>
          </a:p>
        </p:txBody>
      </p:sp>
      <p:sp>
        <p:nvSpPr>
          <p:cNvPr id="2504706" name="Rectangle 2"/>
          <p:cNvSpPr>
            <a:spLocks noGrp="1" noRot="1" noChangeAspect="1" noChangeArrowheads="1" noTextEdit="1"/>
          </p:cNvSpPr>
          <p:nvPr>
            <p:ph type="sldImg"/>
          </p:nvPr>
        </p:nvSpPr>
        <p:spPr>
          <a:ln/>
        </p:spPr>
      </p:sp>
      <p:sp>
        <p:nvSpPr>
          <p:cNvPr id="250470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494756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C0E6FC-664F-4E4F-8A0B-86827CBC7BD1}" type="slidenum">
              <a:rPr lang="en-US" altLang="zh-CN"/>
              <a:pPr/>
              <a:t>12</a:t>
            </a:fld>
            <a:endParaRPr lang="en-US" altLang="zh-CN"/>
          </a:p>
        </p:txBody>
      </p:sp>
      <p:sp>
        <p:nvSpPr>
          <p:cNvPr id="2957314" name="Rectangle 2"/>
          <p:cNvSpPr>
            <a:spLocks noGrp="1" noRot="1" noChangeAspect="1" noChangeArrowheads="1" noTextEdit="1"/>
          </p:cNvSpPr>
          <p:nvPr>
            <p:ph type="sldImg"/>
          </p:nvPr>
        </p:nvSpPr>
        <p:spPr>
          <a:ln/>
        </p:spPr>
      </p:sp>
      <p:sp>
        <p:nvSpPr>
          <p:cNvPr id="295731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290464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FAB83F-F7CC-4D80-9079-D75DDA4DF9BE}" type="slidenum">
              <a:rPr lang="en-US" altLang="zh-CN"/>
              <a:pPr/>
              <a:t>13</a:t>
            </a:fld>
            <a:endParaRPr lang="en-US" altLang="zh-CN"/>
          </a:p>
        </p:txBody>
      </p:sp>
      <p:sp>
        <p:nvSpPr>
          <p:cNvPr id="2506754" name="Rectangle 2"/>
          <p:cNvSpPr>
            <a:spLocks noGrp="1" noRot="1" noChangeAspect="1" noChangeArrowheads="1" noTextEdit="1"/>
          </p:cNvSpPr>
          <p:nvPr>
            <p:ph type="sldImg"/>
          </p:nvPr>
        </p:nvSpPr>
        <p:spPr>
          <a:ln/>
        </p:spPr>
      </p:sp>
      <p:sp>
        <p:nvSpPr>
          <p:cNvPr id="250675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870579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BE5FE2-C14D-42FE-A82C-FF49812C0989}" type="slidenum">
              <a:rPr lang="en-US" altLang="zh-CN"/>
              <a:pPr/>
              <a:t>14</a:t>
            </a:fld>
            <a:endParaRPr lang="en-US" altLang="zh-CN"/>
          </a:p>
        </p:txBody>
      </p:sp>
      <p:sp>
        <p:nvSpPr>
          <p:cNvPr id="2879490" name="Rectangle 2"/>
          <p:cNvSpPr>
            <a:spLocks noGrp="1" noRot="1" noChangeAspect="1" noChangeArrowheads="1" noTextEdit="1"/>
          </p:cNvSpPr>
          <p:nvPr>
            <p:ph type="sldImg"/>
          </p:nvPr>
        </p:nvSpPr>
        <p:spPr>
          <a:ln/>
        </p:spPr>
      </p:sp>
      <p:sp>
        <p:nvSpPr>
          <p:cNvPr id="28794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99120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5482A7-DBE6-40E3-8FE7-D23D9ED9D6ED}" type="slidenum">
              <a:rPr lang="en-US" altLang="zh-CN"/>
              <a:pPr/>
              <a:t>15</a:t>
            </a:fld>
            <a:endParaRPr lang="en-US" altLang="zh-CN"/>
          </a:p>
        </p:txBody>
      </p:sp>
      <p:sp>
        <p:nvSpPr>
          <p:cNvPr id="2508802" name="Rectangle 2"/>
          <p:cNvSpPr>
            <a:spLocks noGrp="1" noRot="1" noChangeAspect="1" noChangeArrowheads="1" noTextEdit="1"/>
          </p:cNvSpPr>
          <p:nvPr>
            <p:ph type="sldImg"/>
          </p:nvPr>
        </p:nvSpPr>
        <p:spPr>
          <a:ln/>
        </p:spPr>
      </p:sp>
      <p:sp>
        <p:nvSpPr>
          <p:cNvPr id="25088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95585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CE9A05-CFF3-49CD-82A6-3A36A6017B2D}" type="slidenum">
              <a:rPr lang="en-US" altLang="zh-CN"/>
              <a:pPr/>
              <a:t>16</a:t>
            </a:fld>
            <a:endParaRPr lang="en-US" altLang="zh-CN"/>
          </a:p>
        </p:txBody>
      </p:sp>
      <p:sp>
        <p:nvSpPr>
          <p:cNvPr id="2510850" name="Rectangle 2"/>
          <p:cNvSpPr>
            <a:spLocks noGrp="1" noRot="1" noChangeAspect="1" noChangeArrowheads="1" noTextEdit="1"/>
          </p:cNvSpPr>
          <p:nvPr>
            <p:ph type="sldImg"/>
          </p:nvPr>
        </p:nvSpPr>
        <p:spPr>
          <a:ln/>
        </p:spPr>
      </p:sp>
      <p:sp>
        <p:nvSpPr>
          <p:cNvPr id="25108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921320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63B35D-5C80-4D53-A537-9AA5BB4E5601}" type="slidenum">
              <a:rPr lang="en-US" altLang="zh-CN"/>
              <a:pPr/>
              <a:t>17</a:t>
            </a:fld>
            <a:endParaRPr lang="en-US" altLang="zh-CN"/>
          </a:p>
        </p:txBody>
      </p:sp>
      <p:sp>
        <p:nvSpPr>
          <p:cNvPr id="2512898" name="Rectangle 2"/>
          <p:cNvSpPr>
            <a:spLocks noGrp="1" noRot="1" noChangeAspect="1" noChangeArrowheads="1" noTextEdit="1"/>
          </p:cNvSpPr>
          <p:nvPr>
            <p:ph type="sldImg"/>
          </p:nvPr>
        </p:nvSpPr>
        <p:spPr>
          <a:ln/>
        </p:spPr>
      </p:sp>
      <p:sp>
        <p:nvSpPr>
          <p:cNvPr id="251289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580302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A0500F-C909-4777-AFBF-F03DB79ADE03}" type="slidenum">
              <a:rPr lang="en-US" altLang="zh-CN"/>
              <a:pPr/>
              <a:t>18</a:t>
            </a:fld>
            <a:endParaRPr lang="en-US" altLang="zh-CN"/>
          </a:p>
        </p:txBody>
      </p:sp>
      <p:sp>
        <p:nvSpPr>
          <p:cNvPr id="2514946" name="Rectangle 2"/>
          <p:cNvSpPr>
            <a:spLocks noGrp="1" noRot="1" noChangeAspect="1" noChangeArrowheads="1" noTextEdit="1"/>
          </p:cNvSpPr>
          <p:nvPr>
            <p:ph type="sldImg"/>
          </p:nvPr>
        </p:nvSpPr>
        <p:spPr>
          <a:ln/>
        </p:spPr>
      </p:sp>
      <p:sp>
        <p:nvSpPr>
          <p:cNvPr id="25149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285336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CF5BB2-2AE2-495D-805F-57F6FDBEFFF7}" type="slidenum">
              <a:rPr lang="en-US" altLang="zh-CN"/>
              <a:pPr/>
              <a:t>19</a:t>
            </a:fld>
            <a:endParaRPr lang="en-US" altLang="zh-CN"/>
          </a:p>
        </p:txBody>
      </p:sp>
      <p:sp>
        <p:nvSpPr>
          <p:cNvPr id="2516994" name="Rectangle 2"/>
          <p:cNvSpPr>
            <a:spLocks noGrp="1" noRot="1" noChangeAspect="1" noChangeArrowheads="1" noTextEdit="1"/>
          </p:cNvSpPr>
          <p:nvPr>
            <p:ph type="sldImg"/>
          </p:nvPr>
        </p:nvSpPr>
        <p:spPr>
          <a:ln/>
        </p:spPr>
      </p:sp>
      <p:sp>
        <p:nvSpPr>
          <p:cNvPr id="25169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10180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CAE9EB-B3CA-40B7-9334-6267C168AD7A}" type="slidenum">
              <a:rPr lang="en-US" altLang="zh-CN"/>
              <a:pPr/>
              <a:t>20</a:t>
            </a:fld>
            <a:endParaRPr lang="en-US" altLang="zh-CN"/>
          </a:p>
        </p:txBody>
      </p:sp>
      <p:sp>
        <p:nvSpPr>
          <p:cNvPr id="2519042" name="Rectangle 2"/>
          <p:cNvSpPr>
            <a:spLocks noGrp="1" noRot="1" noChangeAspect="1" noChangeArrowheads="1" noTextEdit="1"/>
          </p:cNvSpPr>
          <p:nvPr>
            <p:ph type="sldImg"/>
          </p:nvPr>
        </p:nvSpPr>
        <p:spPr>
          <a:ln/>
        </p:spPr>
      </p:sp>
      <p:sp>
        <p:nvSpPr>
          <p:cNvPr id="25190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87151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1FA732-ACE7-4078-95C3-7DAF2B3DA1F8}" type="slidenum">
              <a:rPr lang="en-US" altLang="zh-CN"/>
              <a:pPr/>
              <a:t>21</a:t>
            </a:fld>
            <a:endParaRPr lang="en-US" altLang="zh-CN"/>
          </a:p>
        </p:txBody>
      </p:sp>
      <p:sp>
        <p:nvSpPr>
          <p:cNvPr id="2521090" name="Rectangle 2"/>
          <p:cNvSpPr>
            <a:spLocks noGrp="1" noRot="1" noChangeAspect="1" noChangeArrowheads="1" noTextEdit="1"/>
          </p:cNvSpPr>
          <p:nvPr>
            <p:ph type="sldImg"/>
          </p:nvPr>
        </p:nvSpPr>
        <p:spPr>
          <a:ln/>
        </p:spPr>
      </p:sp>
      <p:sp>
        <p:nvSpPr>
          <p:cNvPr id="25210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43181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E14D72-B5D1-43C4-85C3-97E9F1D2490C}" type="slidenum">
              <a:rPr lang="en-US" altLang="zh-CN"/>
              <a:pPr/>
              <a:t>23</a:t>
            </a:fld>
            <a:endParaRPr lang="en-US" altLang="zh-CN"/>
          </a:p>
        </p:txBody>
      </p:sp>
      <p:sp>
        <p:nvSpPr>
          <p:cNvPr id="2524162" name="Rectangle 2"/>
          <p:cNvSpPr>
            <a:spLocks noGrp="1" noRot="1" noChangeAspect="1" noChangeArrowheads="1" noTextEdit="1"/>
          </p:cNvSpPr>
          <p:nvPr>
            <p:ph type="sldImg"/>
          </p:nvPr>
        </p:nvSpPr>
        <p:spPr>
          <a:ln/>
        </p:spPr>
      </p:sp>
      <p:sp>
        <p:nvSpPr>
          <p:cNvPr id="252416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0503577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6298B5-98CC-4F59-A975-03D26572C6D3}" type="slidenum">
              <a:rPr lang="en-US" altLang="zh-CN"/>
              <a:pPr/>
              <a:t>24</a:t>
            </a:fld>
            <a:endParaRPr lang="en-US" altLang="zh-CN"/>
          </a:p>
        </p:txBody>
      </p:sp>
      <p:sp>
        <p:nvSpPr>
          <p:cNvPr id="2526210" name="Rectangle 2"/>
          <p:cNvSpPr>
            <a:spLocks noGrp="1" noRot="1" noChangeAspect="1" noChangeArrowheads="1" noTextEdit="1"/>
          </p:cNvSpPr>
          <p:nvPr>
            <p:ph type="sldImg"/>
          </p:nvPr>
        </p:nvSpPr>
        <p:spPr>
          <a:ln/>
        </p:spPr>
      </p:sp>
      <p:sp>
        <p:nvSpPr>
          <p:cNvPr id="252621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18607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1D33FD-B163-4A1D-9CA9-3B436512C63F}" type="slidenum">
              <a:rPr lang="en-US" altLang="zh-CN"/>
              <a:pPr/>
              <a:t>25</a:t>
            </a:fld>
            <a:endParaRPr lang="en-US" altLang="zh-CN"/>
          </a:p>
        </p:txBody>
      </p:sp>
      <p:sp>
        <p:nvSpPr>
          <p:cNvPr id="2528258" name="Rectangle 2"/>
          <p:cNvSpPr>
            <a:spLocks noGrp="1" noRot="1" noChangeAspect="1" noChangeArrowheads="1" noTextEdit="1"/>
          </p:cNvSpPr>
          <p:nvPr>
            <p:ph type="sldImg"/>
          </p:nvPr>
        </p:nvSpPr>
        <p:spPr>
          <a:ln/>
        </p:spPr>
      </p:sp>
      <p:sp>
        <p:nvSpPr>
          <p:cNvPr id="252825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651060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974C88-E1A3-472D-85F4-0C3D3EDFAAD3}" type="slidenum">
              <a:rPr lang="en-US" altLang="zh-CN"/>
              <a:pPr/>
              <a:t>30</a:t>
            </a:fld>
            <a:endParaRPr lang="en-US" altLang="zh-CN"/>
          </a:p>
        </p:txBody>
      </p:sp>
      <p:sp>
        <p:nvSpPr>
          <p:cNvPr id="2534402" name="Rectangle 2"/>
          <p:cNvSpPr>
            <a:spLocks noGrp="1" noRot="1" noChangeAspect="1" noChangeArrowheads="1" noTextEdit="1"/>
          </p:cNvSpPr>
          <p:nvPr>
            <p:ph type="sldImg"/>
          </p:nvPr>
        </p:nvSpPr>
        <p:spPr>
          <a:ln/>
        </p:spPr>
      </p:sp>
      <p:sp>
        <p:nvSpPr>
          <p:cNvPr id="25344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8802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44BD58-3106-4A41-86F2-4111F5DD4741}" type="slidenum">
              <a:rPr lang="en-US" altLang="zh-CN"/>
              <a:pPr/>
              <a:t>31</a:t>
            </a:fld>
            <a:endParaRPr lang="en-US" altLang="zh-CN"/>
          </a:p>
        </p:txBody>
      </p:sp>
      <p:sp>
        <p:nvSpPr>
          <p:cNvPr id="2536450" name="Rectangle 2"/>
          <p:cNvSpPr>
            <a:spLocks noGrp="1" noRot="1" noChangeAspect="1" noChangeArrowheads="1" noTextEdit="1"/>
          </p:cNvSpPr>
          <p:nvPr>
            <p:ph type="sldImg"/>
          </p:nvPr>
        </p:nvSpPr>
        <p:spPr>
          <a:ln/>
        </p:spPr>
      </p:sp>
      <p:sp>
        <p:nvSpPr>
          <p:cNvPr id="25364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365284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0D3D8E-284C-49FC-BB93-BB3B7409EE46}" type="slidenum">
              <a:rPr lang="en-US" altLang="zh-CN"/>
              <a:pPr/>
              <a:t>32</a:t>
            </a:fld>
            <a:endParaRPr lang="en-US" altLang="zh-CN"/>
          </a:p>
        </p:txBody>
      </p:sp>
      <p:sp>
        <p:nvSpPr>
          <p:cNvPr id="2538498" name="Rectangle 2"/>
          <p:cNvSpPr>
            <a:spLocks noGrp="1" noRot="1" noChangeAspect="1" noChangeArrowheads="1" noTextEdit="1"/>
          </p:cNvSpPr>
          <p:nvPr>
            <p:ph type="sldImg"/>
          </p:nvPr>
        </p:nvSpPr>
        <p:spPr>
          <a:ln/>
        </p:spPr>
      </p:sp>
      <p:sp>
        <p:nvSpPr>
          <p:cNvPr id="253849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83024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525601-D908-490D-A685-F45873430B2A}" type="slidenum">
              <a:rPr lang="en-US" altLang="zh-CN"/>
              <a:pPr/>
              <a:t>33</a:t>
            </a:fld>
            <a:endParaRPr lang="en-US" altLang="zh-CN"/>
          </a:p>
        </p:txBody>
      </p:sp>
      <p:sp>
        <p:nvSpPr>
          <p:cNvPr id="2540546" name="Rectangle 2"/>
          <p:cNvSpPr>
            <a:spLocks noGrp="1" noRot="1" noChangeAspect="1" noChangeArrowheads="1" noTextEdit="1"/>
          </p:cNvSpPr>
          <p:nvPr>
            <p:ph type="sldImg"/>
          </p:nvPr>
        </p:nvSpPr>
        <p:spPr>
          <a:ln/>
        </p:spPr>
      </p:sp>
      <p:sp>
        <p:nvSpPr>
          <p:cNvPr id="25405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024949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2521F6-C164-4ED0-96B4-E64E4803FE79}" type="slidenum">
              <a:rPr lang="en-US" altLang="zh-CN"/>
              <a:pPr/>
              <a:t>35</a:t>
            </a:fld>
            <a:endParaRPr lang="en-US" altLang="zh-CN"/>
          </a:p>
        </p:txBody>
      </p:sp>
      <p:sp>
        <p:nvSpPr>
          <p:cNvPr id="2543618" name="Rectangle 2"/>
          <p:cNvSpPr>
            <a:spLocks noGrp="1" noRot="1" noChangeAspect="1" noChangeArrowheads="1" noTextEdit="1"/>
          </p:cNvSpPr>
          <p:nvPr>
            <p:ph type="sldImg"/>
          </p:nvPr>
        </p:nvSpPr>
        <p:spPr>
          <a:ln/>
        </p:spPr>
      </p:sp>
      <p:sp>
        <p:nvSpPr>
          <p:cNvPr id="25436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584233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1F9DB7-D330-4866-BE53-B7303D284499}" type="slidenum">
              <a:rPr lang="en-US" altLang="zh-CN"/>
              <a:pPr/>
              <a:t>40</a:t>
            </a:fld>
            <a:endParaRPr lang="en-US" altLang="zh-CN"/>
          </a:p>
        </p:txBody>
      </p:sp>
      <p:sp>
        <p:nvSpPr>
          <p:cNvPr id="2549762" name="Rectangle 2"/>
          <p:cNvSpPr>
            <a:spLocks noGrp="1" noRot="1" noChangeAspect="1" noChangeArrowheads="1" noTextEdit="1"/>
          </p:cNvSpPr>
          <p:nvPr>
            <p:ph type="sldImg"/>
          </p:nvPr>
        </p:nvSpPr>
        <p:spPr>
          <a:ln/>
        </p:spPr>
      </p:sp>
      <p:sp>
        <p:nvSpPr>
          <p:cNvPr id="254976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168430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B45717-19B9-4DE7-8CD2-DB56AECC1A4F}" type="slidenum">
              <a:rPr lang="en-US" altLang="zh-CN"/>
              <a:pPr/>
              <a:t>41</a:t>
            </a:fld>
            <a:endParaRPr lang="en-US" altLang="zh-CN"/>
          </a:p>
        </p:txBody>
      </p:sp>
      <p:sp>
        <p:nvSpPr>
          <p:cNvPr id="2551810" name="Rectangle 2"/>
          <p:cNvSpPr>
            <a:spLocks noGrp="1" noRot="1" noChangeAspect="1" noChangeArrowheads="1" noTextEdit="1"/>
          </p:cNvSpPr>
          <p:nvPr>
            <p:ph type="sldImg"/>
          </p:nvPr>
        </p:nvSpPr>
        <p:spPr>
          <a:ln/>
        </p:spPr>
      </p:sp>
      <p:sp>
        <p:nvSpPr>
          <p:cNvPr id="255181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475706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23B44-432D-422C-B55D-00004842C2A3}" type="slidenum">
              <a:rPr lang="en-US" altLang="zh-CN"/>
              <a:pPr/>
              <a:t>42</a:t>
            </a:fld>
            <a:endParaRPr lang="en-US" altLang="zh-CN"/>
          </a:p>
        </p:txBody>
      </p:sp>
      <p:sp>
        <p:nvSpPr>
          <p:cNvPr id="2553858" name="Rectangle 2"/>
          <p:cNvSpPr>
            <a:spLocks noGrp="1" noRot="1" noChangeAspect="1" noChangeArrowheads="1" noTextEdit="1"/>
          </p:cNvSpPr>
          <p:nvPr>
            <p:ph type="sldImg"/>
          </p:nvPr>
        </p:nvSpPr>
        <p:spPr>
          <a:ln/>
        </p:spPr>
      </p:sp>
      <p:sp>
        <p:nvSpPr>
          <p:cNvPr id="255385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898128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264A93-90C2-4B77-9DCD-905899735D58}" type="slidenum">
              <a:rPr lang="en-US" altLang="zh-CN"/>
              <a:pPr/>
              <a:t>43</a:t>
            </a:fld>
            <a:endParaRPr lang="en-US" altLang="zh-CN"/>
          </a:p>
        </p:txBody>
      </p:sp>
      <p:sp>
        <p:nvSpPr>
          <p:cNvPr id="2555906" name="Rectangle 2"/>
          <p:cNvSpPr>
            <a:spLocks noGrp="1" noRot="1" noChangeAspect="1" noChangeArrowheads="1" noTextEdit="1"/>
          </p:cNvSpPr>
          <p:nvPr>
            <p:ph type="sldImg"/>
          </p:nvPr>
        </p:nvSpPr>
        <p:spPr>
          <a:ln/>
        </p:spPr>
      </p:sp>
      <p:sp>
        <p:nvSpPr>
          <p:cNvPr id="255590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987109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51E284-97D2-4418-A387-3405F15C0587}" type="slidenum">
              <a:rPr lang="en-US" altLang="zh-CN"/>
              <a:pPr/>
              <a:t>44</a:t>
            </a:fld>
            <a:endParaRPr lang="en-US" altLang="zh-CN"/>
          </a:p>
        </p:txBody>
      </p:sp>
      <p:sp>
        <p:nvSpPr>
          <p:cNvPr id="2557954" name="Rectangle 2"/>
          <p:cNvSpPr>
            <a:spLocks noGrp="1" noRot="1" noChangeAspect="1" noChangeArrowheads="1" noTextEdit="1"/>
          </p:cNvSpPr>
          <p:nvPr>
            <p:ph type="sldImg"/>
          </p:nvPr>
        </p:nvSpPr>
        <p:spPr>
          <a:ln/>
        </p:spPr>
      </p:sp>
      <p:sp>
        <p:nvSpPr>
          <p:cNvPr id="255795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669246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C4CE12-1E6F-4047-A71B-DE76CC05752E}" type="slidenum">
              <a:rPr lang="en-US" altLang="zh-CN"/>
              <a:pPr/>
              <a:t>45</a:t>
            </a:fld>
            <a:endParaRPr lang="en-US" altLang="zh-CN"/>
          </a:p>
        </p:txBody>
      </p:sp>
      <p:sp>
        <p:nvSpPr>
          <p:cNvPr id="2560002" name="Rectangle 2"/>
          <p:cNvSpPr>
            <a:spLocks noGrp="1" noRot="1" noChangeAspect="1" noChangeArrowheads="1" noTextEdit="1"/>
          </p:cNvSpPr>
          <p:nvPr>
            <p:ph type="sldImg"/>
          </p:nvPr>
        </p:nvSpPr>
        <p:spPr>
          <a:ln/>
        </p:spPr>
      </p:sp>
      <p:sp>
        <p:nvSpPr>
          <p:cNvPr id="25600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7066065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33DFAB-66B0-4779-9994-116E819009C5}" type="slidenum">
              <a:rPr lang="en-US" altLang="zh-CN"/>
              <a:pPr/>
              <a:t>46</a:t>
            </a:fld>
            <a:endParaRPr lang="en-US" altLang="zh-CN"/>
          </a:p>
        </p:txBody>
      </p:sp>
      <p:sp>
        <p:nvSpPr>
          <p:cNvPr id="2562050" name="Rectangle 2"/>
          <p:cNvSpPr>
            <a:spLocks noGrp="1" noRot="1" noChangeAspect="1" noChangeArrowheads="1" noTextEdit="1"/>
          </p:cNvSpPr>
          <p:nvPr>
            <p:ph type="sldImg"/>
          </p:nvPr>
        </p:nvSpPr>
        <p:spPr>
          <a:ln/>
        </p:spPr>
      </p:sp>
      <p:sp>
        <p:nvSpPr>
          <p:cNvPr id="25620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9874570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97B70D-E538-4658-8483-F00DD4D48E5D}" type="slidenum">
              <a:rPr lang="en-US" altLang="zh-CN"/>
              <a:pPr/>
              <a:t>51</a:t>
            </a:fld>
            <a:endParaRPr lang="en-US" altLang="zh-CN"/>
          </a:p>
        </p:txBody>
      </p:sp>
      <p:sp>
        <p:nvSpPr>
          <p:cNvPr id="2568194" name="Rectangle 2"/>
          <p:cNvSpPr>
            <a:spLocks noGrp="1" noRot="1" noChangeAspect="1" noChangeArrowheads="1" noTextEdit="1"/>
          </p:cNvSpPr>
          <p:nvPr>
            <p:ph type="sldImg"/>
          </p:nvPr>
        </p:nvSpPr>
        <p:spPr>
          <a:ln/>
        </p:spPr>
      </p:sp>
      <p:sp>
        <p:nvSpPr>
          <p:cNvPr id="25681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402098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958928-5E9E-411B-A962-29F22B3C8ABC}" type="slidenum">
              <a:rPr lang="en-US" altLang="zh-CN"/>
              <a:pPr/>
              <a:t>52</a:t>
            </a:fld>
            <a:endParaRPr lang="en-US" altLang="zh-CN"/>
          </a:p>
        </p:txBody>
      </p:sp>
      <p:sp>
        <p:nvSpPr>
          <p:cNvPr id="2570242" name="Rectangle 2"/>
          <p:cNvSpPr>
            <a:spLocks noGrp="1" noRot="1" noChangeAspect="1" noChangeArrowheads="1" noTextEdit="1"/>
          </p:cNvSpPr>
          <p:nvPr>
            <p:ph type="sldImg"/>
          </p:nvPr>
        </p:nvSpPr>
        <p:spPr>
          <a:ln/>
        </p:spPr>
      </p:sp>
      <p:sp>
        <p:nvSpPr>
          <p:cNvPr id="25702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0698200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9594DC-65E3-42B2-BE2E-796BE2683FF9}" type="slidenum">
              <a:rPr lang="en-US" altLang="zh-CN"/>
              <a:pPr/>
              <a:t>53</a:t>
            </a:fld>
            <a:endParaRPr lang="en-US" altLang="zh-CN"/>
          </a:p>
        </p:txBody>
      </p:sp>
      <p:sp>
        <p:nvSpPr>
          <p:cNvPr id="2572290" name="Rectangle 2"/>
          <p:cNvSpPr>
            <a:spLocks noGrp="1" noRot="1" noChangeAspect="1" noChangeArrowheads="1" noTextEdit="1"/>
          </p:cNvSpPr>
          <p:nvPr>
            <p:ph type="sldImg"/>
          </p:nvPr>
        </p:nvSpPr>
        <p:spPr>
          <a:ln/>
        </p:spPr>
      </p:sp>
      <p:sp>
        <p:nvSpPr>
          <p:cNvPr id="25722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471272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A3B4AE-7F6A-4CCD-BD3E-5D7679FE455A}" type="slidenum">
              <a:rPr lang="en-US" altLang="zh-CN"/>
              <a:pPr/>
              <a:t>54</a:t>
            </a:fld>
            <a:endParaRPr lang="en-US" altLang="zh-CN"/>
          </a:p>
        </p:txBody>
      </p:sp>
      <p:sp>
        <p:nvSpPr>
          <p:cNvPr id="2574338" name="Rectangle 2"/>
          <p:cNvSpPr>
            <a:spLocks noGrp="1" noRot="1" noChangeAspect="1" noChangeArrowheads="1" noTextEdit="1"/>
          </p:cNvSpPr>
          <p:nvPr>
            <p:ph type="sldImg"/>
          </p:nvPr>
        </p:nvSpPr>
        <p:spPr>
          <a:ln/>
        </p:spPr>
      </p:sp>
      <p:sp>
        <p:nvSpPr>
          <p:cNvPr id="257433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3239853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CC086B-1765-44AA-B520-6BB242D82306}" type="slidenum">
              <a:rPr lang="en-US" altLang="zh-CN"/>
              <a:pPr/>
              <a:t>55</a:t>
            </a:fld>
            <a:endParaRPr lang="en-US" altLang="zh-CN"/>
          </a:p>
        </p:txBody>
      </p:sp>
      <p:sp>
        <p:nvSpPr>
          <p:cNvPr id="2576386" name="Rectangle 2"/>
          <p:cNvSpPr>
            <a:spLocks noGrp="1" noRot="1" noChangeAspect="1" noChangeArrowheads="1" noTextEdit="1"/>
          </p:cNvSpPr>
          <p:nvPr>
            <p:ph type="sldImg"/>
          </p:nvPr>
        </p:nvSpPr>
        <p:spPr>
          <a:ln/>
        </p:spPr>
      </p:sp>
      <p:sp>
        <p:nvSpPr>
          <p:cNvPr id="257638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209363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A41EBD-6B28-47F5-8701-8A4325711009}" type="slidenum">
              <a:rPr lang="en-US" altLang="zh-CN"/>
              <a:pPr/>
              <a:t>56</a:t>
            </a:fld>
            <a:endParaRPr lang="en-US" altLang="zh-CN"/>
          </a:p>
        </p:txBody>
      </p:sp>
      <p:sp>
        <p:nvSpPr>
          <p:cNvPr id="2964482" name="Rectangle 2"/>
          <p:cNvSpPr>
            <a:spLocks noGrp="1" noRot="1" noChangeAspect="1" noChangeArrowheads="1" noTextEdit="1"/>
          </p:cNvSpPr>
          <p:nvPr>
            <p:ph type="sldImg"/>
          </p:nvPr>
        </p:nvSpPr>
        <p:spPr>
          <a:ln/>
        </p:spPr>
      </p:sp>
      <p:sp>
        <p:nvSpPr>
          <p:cNvPr id="296448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6280262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7F66BF-FE2A-469B-99EE-250BE96CB439}" type="slidenum">
              <a:rPr lang="en-US" altLang="zh-CN"/>
              <a:pPr/>
              <a:t>58</a:t>
            </a:fld>
            <a:endParaRPr lang="en-US" altLang="zh-CN"/>
          </a:p>
        </p:txBody>
      </p:sp>
      <p:sp>
        <p:nvSpPr>
          <p:cNvPr id="2579458" name="Rectangle 2"/>
          <p:cNvSpPr>
            <a:spLocks noGrp="1" noRot="1" noChangeAspect="1" noChangeArrowheads="1" noTextEdit="1"/>
          </p:cNvSpPr>
          <p:nvPr>
            <p:ph type="sldImg"/>
          </p:nvPr>
        </p:nvSpPr>
        <p:spPr>
          <a:ln/>
        </p:spPr>
      </p:sp>
      <p:sp>
        <p:nvSpPr>
          <p:cNvPr id="257945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1307728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B6432B-E2BB-4413-B8E6-FB77FB12D6A0}" type="slidenum">
              <a:rPr lang="en-US" altLang="zh-CN"/>
              <a:pPr/>
              <a:t>61</a:t>
            </a:fld>
            <a:endParaRPr lang="en-US" altLang="zh-CN"/>
          </a:p>
        </p:txBody>
      </p:sp>
      <p:sp>
        <p:nvSpPr>
          <p:cNvPr id="2583554" name="Rectangle 2"/>
          <p:cNvSpPr>
            <a:spLocks noGrp="1" noRot="1" noChangeAspect="1" noChangeArrowheads="1" noTextEdit="1"/>
          </p:cNvSpPr>
          <p:nvPr>
            <p:ph type="sldImg"/>
          </p:nvPr>
        </p:nvSpPr>
        <p:spPr>
          <a:ln/>
        </p:spPr>
      </p:sp>
      <p:sp>
        <p:nvSpPr>
          <p:cNvPr id="258355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6501197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C753FD-4D40-4EC8-82BA-F06397499A63}" type="slidenum">
              <a:rPr lang="en-US" altLang="zh-CN"/>
              <a:pPr/>
              <a:t>62</a:t>
            </a:fld>
            <a:endParaRPr lang="en-US" altLang="zh-CN"/>
          </a:p>
        </p:txBody>
      </p:sp>
      <p:sp>
        <p:nvSpPr>
          <p:cNvPr id="2585602" name="Rectangle 2"/>
          <p:cNvSpPr>
            <a:spLocks noGrp="1" noRot="1" noChangeAspect="1" noChangeArrowheads="1" noTextEdit="1"/>
          </p:cNvSpPr>
          <p:nvPr>
            <p:ph type="sldImg"/>
          </p:nvPr>
        </p:nvSpPr>
        <p:spPr>
          <a:ln/>
        </p:spPr>
      </p:sp>
      <p:sp>
        <p:nvSpPr>
          <p:cNvPr id="25856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9954294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6BAFE6-5BB3-4F9F-BCAD-916F730840FB}" type="slidenum">
              <a:rPr lang="en-US" altLang="zh-CN"/>
              <a:pPr/>
              <a:t>63</a:t>
            </a:fld>
            <a:endParaRPr lang="en-US" altLang="zh-CN"/>
          </a:p>
        </p:txBody>
      </p:sp>
      <p:sp>
        <p:nvSpPr>
          <p:cNvPr id="2587650" name="Rectangle 2"/>
          <p:cNvSpPr>
            <a:spLocks noGrp="1" noRot="1" noChangeAspect="1" noChangeArrowheads="1" noTextEdit="1"/>
          </p:cNvSpPr>
          <p:nvPr>
            <p:ph type="sldImg"/>
          </p:nvPr>
        </p:nvSpPr>
        <p:spPr>
          <a:ln/>
        </p:spPr>
      </p:sp>
      <p:sp>
        <p:nvSpPr>
          <p:cNvPr id="25876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7556184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072CC3-C4A9-4B7B-A303-F67F8C2CBCE0}" type="slidenum">
              <a:rPr lang="en-US" altLang="zh-CN"/>
              <a:pPr/>
              <a:t>64</a:t>
            </a:fld>
            <a:endParaRPr lang="en-US" altLang="zh-CN"/>
          </a:p>
        </p:txBody>
      </p:sp>
      <p:sp>
        <p:nvSpPr>
          <p:cNvPr id="2589698" name="Rectangle 2"/>
          <p:cNvSpPr>
            <a:spLocks noGrp="1" noRot="1" noChangeAspect="1" noChangeArrowheads="1" noTextEdit="1"/>
          </p:cNvSpPr>
          <p:nvPr>
            <p:ph type="sldImg"/>
          </p:nvPr>
        </p:nvSpPr>
        <p:spPr>
          <a:ln/>
        </p:spPr>
      </p:sp>
      <p:sp>
        <p:nvSpPr>
          <p:cNvPr id="258969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3804796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35E91F-96A6-4239-BF1E-6008CEE7A34C}" type="slidenum">
              <a:rPr lang="en-US" altLang="zh-CN"/>
              <a:pPr/>
              <a:t>65</a:t>
            </a:fld>
            <a:endParaRPr lang="en-US" altLang="zh-CN"/>
          </a:p>
        </p:txBody>
      </p:sp>
      <p:sp>
        <p:nvSpPr>
          <p:cNvPr id="2591746" name="Rectangle 2"/>
          <p:cNvSpPr>
            <a:spLocks noGrp="1" noRot="1" noChangeAspect="1" noChangeArrowheads="1" noTextEdit="1"/>
          </p:cNvSpPr>
          <p:nvPr>
            <p:ph type="sldImg"/>
          </p:nvPr>
        </p:nvSpPr>
        <p:spPr>
          <a:ln/>
        </p:spPr>
      </p:sp>
      <p:sp>
        <p:nvSpPr>
          <p:cNvPr id="25917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446489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9D4873-CF65-45F4-8E1D-282D8E6C3076}" type="slidenum">
              <a:rPr lang="en-US" altLang="zh-CN"/>
              <a:pPr/>
              <a:t>66</a:t>
            </a:fld>
            <a:endParaRPr lang="en-US" altLang="zh-CN"/>
          </a:p>
        </p:txBody>
      </p:sp>
      <p:sp>
        <p:nvSpPr>
          <p:cNvPr id="2593794" name="Rectangle 2"/>
          <p:cNvSpPr>
            <a:spLocks noGrp="1" noRot="1" noChangeAspect="1" noChangeArrowheads="1" noTextEdit="1"/>
          </p:cNvSpPr>
          <p:nvPr>
            <p:ph type="sldImg"/>
          </p:nvPr>
        </p:nvSpPr>
        <p:spPr>
          <a:ln/>
        </p:spPr>
      </p:sp>
      <p:sp>
        <p:nvSpPr>
          <p:cNvPr id="25937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785717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57A432-C882-4F0C-954B-CA2DFB1F358E}" type="slidenum">
              <a:rPr lang="en-US" altLang="zh-CN"/>
              <a:pPr/>
              <a:t>67</a:t>
            </a:fld>
            <a:endParaRPr lang="en-US" altLang="zh-CN"/>
          </a:p>
        </p:txBody>
      </p:sp>
      <p:sp>
        <p:nvSpPr>
          <p:cNvPr id="2595842" name="Rectangle 2"/>
          <p:cNvSpPr>
            <a:spLocks noGrp="1" noRot="1" noChangeAspect="1" noChangeArrowheads="1" noTextEdit="1"/>
          </p:cNvSpPr>
          <p:nvPr>
            <p:ph type="sldImg"/>
          </p:nvPr>
        </p:nvSpPr>
        <p:spPr>
          <a:ln/>
        </p:spPr>
      </p:sp>
      <p:sp>
        <p:nvSpPr>
          <p:cNvPr id="25958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2491918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021C50-7FD1-40F4-A7FC-F67A65E1C025}" type="slidenum">
              <a:rPr lang="en-US" altLang="zh-CN"/>
              <a:pPr/>
              <a:t>68</a:t>
            </a:fld>
            <a:endParaRPr lang="en-US" altLang="zh-CN"/>
          </a:p>
        </p:txBody>
      </p:sp>
      <p:sp>
        <p:nvSpPr>
          <p:cNvPr id="2597890" name="Rectangle 2"/>
          <p:cNvSpPr>
            <a:spLocks noGrp="1" noRot="1" noChangeAspect="1" noChangeArrowheads="1" noTextEdit="1"/>
          </p:cNvSpPr>
          <p:nvPr>
            <p:ph type="sldImg"/>
          </p:nvPr>
        </p:nvSpPr>
        <p:spPr>
          <a:ln/>
        </p:spPr>
      </p:sp>
      <p:sp>
        <p:nvSpPr>
          <p:cNvPr id="25978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5411939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74F4AA-9E05-4A51-B61B-573F80ABA3CC}" type="slidenum">
              <a:rPr lang="en-US" altLang="zh-CN"/>
              <a:pPr/>
              <a:t>69</a:t>
            </a:fld>
            <a:endParaRPr lang="en-US" altLang="zh-CN"/>
          </a:p>
        </p:txBody>
      </p:sp>
      <p:sp>
        <p:nvSpPr>
          <p:cNvPr id="2599938" name="Rectangle 2"/>
          <p:cNvSpPr>
            <a:spLocks noGrp="1" noRot="1" noChangeAspect="1" noChangeArrowheads="1" noTextEdit="1"/>
          </p:cNvSpPr>
          <p:nvPr>
            <p:ph type="sldImg"/>
          </p:nvPr>
        </p:nvSpPr>
        <p:spPr>
          <a:ln/>
        </p:spPr>
      </p:sp>
      <p:sp>
        <p:nvSpPr>
          <p:cNvPr id="259993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4781284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15F85B-F971-463F-BBD9-96C0CA0B0875}" type="slidenum">
              <a:rPr lang="en-US" altLang="zh-CN"/>
              <a:pPr/>
              <a:t>75</a:t>
            </a:fld>
            <a:endParaRPr lang="en-US" altLang="zh-CN"/>
          </a:p>
        </p:txBody>
      </p:sp>
      <p:sp>
        <p:nvSpPr>
          <p:cNvPr id="2609154" name="Rectangle 2"/>
          <p:cNvSpPr>
            <a:spLocks noGrp="1" noRot="1" noChangeAspect="1" noChangeArrowheads="1" noTextEdit="1"/>
          </p:cNvSpPr>
          <p:nvPr>
            <p:ph type="sldImg"/>
          </p:nvPr>
        </p:nvSpPr>
        <p:spPr>
          <a:ln/>
        </p:spPr>
      </p:sp>
      <p:sp>
        <p:nvSpPr>
          <p:cNvPr id="2609155" name="Rectangle 3"/>
          <p:cNvSpPr>
            <a:spLocks noGrp="1" noChangeArrowheads="1"/>
          </p:cNvSpPr>
          <p:nvPr>
            <p:ph type="body" idx="1"/>
          </p:nvPr>
        </p:nvSpPr>
        <p:spPr/>
        <p:txBody>
          <a:bodyPr/>
          <a:lstStyle/>
          <a:p>
            <a:r>
              <a:rPr lang="en-US" altLang="zh-CN"/>
              <a:t>N -&gt; N+1   SL(N+1) = SP(N)</a:t>
            </a:r>
          </a:p>
          <a:p>
            <a:endParaRPr lang="en-US" altLang="zh-CN"/>
          </a:p>
        </p:txBody>
      </p:sp>
    </p:spTree>
    <p:extLst>
      <p:ext uri="{BB962C8B-B14F-4D97-AF65-F5344CB8AC3E}">
        <p14:creationId xmlns:p14="http://schemas.microsoft.com/office/powerpoint/2010/main" val="34064921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5CBF74-41A6-4B8F-9BD8-65E25024B743}" type="slidenum">
              <a:rPr lang="en-US" altLang="zh-CN"/>
              <a:pPr/>
              <a:t>76</a:t>
            </a:fld>
            <a:endParaRPr lang="en-US" altLang="zh-CN"/>
          </a:p>
        </p:txBody>
      </p:sp>
      <p:sp>
        <p:nvSpPr>
          <p:cNvPr id="2611202" name="Rectangle 2"/>
          <p:cNvSpPr>
            <a:spLocks noGrp="1" noRot="1" noChangeAspect="1" noChangeArrowheads="1" noTextEdit="1"/>
          </p:cNvSpPr>
          <p:nvPr>
            <p:ph type="sldImg"/>
          </p:nvPr>
        </p:nvSpPr>
        <p:spPr>
          <a:ln/>
        </p:spPr>
      </p:sp>
      <p:sp>
        <p:nvSpPr>
          <p:cNvPr id="2611203" name="Rectangle 3"/>
          <p:cNvSpPr>
            <a:spLocks noGrp="1" noChangeArrowheads="1"/>
          </p:cNvSpPr>
          <p:nvPr>
            <p:ph type="body" idx="1"/>
          </p:nvPr>
        </p:nvSpPr>
        <p:spPr/>
        <p:txBody>
          <a:bodyPr/>
          <a:lstStyle/>
          <a:p>
            <a:r>
              <a:rPr lang="en-US" altLang="zh-CN"/>
              <a:t>N -&gt; N   SL(N+1) = SL(N)</a:t>
            </a:r>
          </a:p>
          <a:p>
            <a:endParaRPr lang="en-US" altLang="zh-CN"/>
          </a:p>
        </p:txBody>
      </p:sp>
    </p:spTree>
    <p:extLst>
      <p:ext uri="{BB962C8B-B14F-4D97-AF65-F5344CB8AC3E}">
        <p14:creationId xmlns:p14="http://schemas.microsoft.com/office/powerpoint/2010/main" val="6181014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CAC278-F564-4E58-9327-7B00E478F47B}" type="slidenum">
              <a:rPr lang="en-US" altLang="zh-CN"/>
              <a:pPr/>
              <a:t>78</a:t>
            </a:fld>
            <a:endParaRPr lang="en-US" altLang="zh-CN"/>
          </a:p>
        </p:txBody>
      </p:sp>
      <p:sp>
        <p:nvSpPr>
          <p:cNvPr id="2614274" name="Rectangle 2"/>
          <p:cNvSpPr>
            <a:spLocks noGrp="1" noRot="1" noChangeAspect="1" noChangeArrowheads="1" noTextEdit="1"/>
          </p:cNvSpPr>
          <p:nvPr>
            <p:ph type="sldImg"/>
          </p:nvPr>
        </p:nvSpPr>
        <p:spPr>
          <a:ln/>
        </p:spPr>
      </p:sp>
      <p:sp>
        <p:nvSpPr>
          <p:cNvPr id="2614275" name="Rectangle 3"/>
          <p:cNvSpPr>
            <a:spLocks noGrp="1" noChangeArrowheads="1"/>
          </p:cNvSpPr>
          <p:nvPr>
            <p:ph type="body" idx="1"/>
          </p:nvPr>
        </p:nvSpPr>
        <p:spPr/>
        <p:txBody>
          <a:bodyPr/>
          <a:lstStyle/>
          <a:p>
            <a:r>
              <a:rPr lang="en-US" altLang="zh-CN"/>
              <a:t>N+1 -&gt; N   </a:t>
            </a:r>
          </a:p>
          <a:p>
            <a:endParaRPr lang="en-US" altLang="zh-CN"/>
          </a:p>
        </p:txBody>
      </p:sp>
    </p:spTree>
    <p:extLst>
      <p:ext uri="{BB962C8B-B14F-4D97-AF65-F5344CB8AC3E}">
        <p14:creationId xmlns:p14="http://schemas.microsoft.com/office/powerpoint/2010/main" val="490265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4D0386-1B3D-4F22-9F63-94A2CF9C76F2}" type="slidenum">
              <a:rPr lang="en-US" altLang="zh-CN"/>
              <a:pPr/>
              <a:t>79</a:t>
            </a:fld>
            <a:endParaRPr lang="en-US" altLang="zh-CN"/>
          </a:p>
        </p:txBody>
      </p:sp>
      <p:sp>
        <p:nvSpPr>
          <p:cNvPr id="2616322" name="Rectangle 2"/>
          <p:cNvSpPr>
            <a:spLocks noGrp="1" noRot="1" noChangeAspect="1" noChangeArrowheads="1" noTextEdit="1"/>
          </p:cNvSpPr>
          <p:nvPr>
            <p:ph type="sldImg"/>
          </p:nvPr>
        </p:nvSpPr>
        <p:spPr>
          <a:ln/>
        </p:spPr>
      </p:sp>
      <p:sp>
        <p:nvSpPr>
          <p:cNvPr id="2616323" name="Rectangle 3"/>
          <p:cNvSpPr>
            <a:spLocks noGrp="1" noChangeArrowheads="1"/>
          </p:cNvSpPr>
          <p:nvPr>
            <p:ph type="body" idx="1"/>
          </p:nvPr>
        </p:nvSpPr>
        <p:spPr/>
        <p:txBody>
          <a:bodyPr/>
          <a:lstStyle/>
          <a:p>
            <a:r>
              <a:rPr lang="en-US" altLang="zh-CN"/>
              <a:t>N+1 -&gt; N   </a:t>
            </a:r>
          </a:p>
          <a:p>
            <a:endParaRPr lang="en-US" altLang="zh-CN"/>
          </a:p>
        </p:txBody>
      </p:sp>
    </p:spTree>
    <p:extLst>
      <p:ext uri="{BB962C8B-B14F-4D97-AF65-F5344CB8AC3E}">
        <p14:creationId xmlns:p14="http://schemas.microsoft.com/office/powerpoint/2010/main" val="12117063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8F0D01-9E02-4640-A8FC-5E64BB3C5144}" type="slidenum">
              <a:rPr lang="en-US" altLang="zh-CN"/>
              <a:pPr/>
              <a:t>97</a:t>
            </a:fld>
            <a:endParaRPr lang="en-US" altLang="zh-CN"/>
          </a:p>
        </p:txBody>
      </p:sp>
      <p:sp>
        <p:nvSpPr>
          <p:cNvPr id="2635778" name="Rectangle 2"/>
          <p:cNvSpPr>
            <a:spLocks noGrp="1" noRot="1" noChangeAspect="1" noChangeArrowheads="1" noTextEdit="1"/>
          </p:cNvSpPr>
          <p:nvPr>
            <p:ph type="sldImg"/>
          </p:nvPr>
        </p:nvSpPr>
        <p:spPr>
          <a:ln/>
        </p:spPr>
      </p:sp>
      <p:sp>
        <p:nvSpPr>
          <p:cNvPr id="263577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6424157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2D81DB-ED19-45EA-8B4B-9EBCD4E7D7EB}" type="slidenum">
              <a:rPr lang="en-US" altLang="zh-CN"/>
              <a:pPr/>
              <a:t>98</a:t>
            </a:fld>
            <a:endParaRPr lang="en-US" altLang="zh-CN"/>
          </a:p>
        </p:txBody>
      </p:sp>
      <p:sp>
        <p:nvSpPr>
          <p:cNvPr id="2637826" name="Rectangle 2"/>
          <p:cNvSpPr>
            <a:spLocks noGrp="1" noRot="1" noChangeAspect="1" noChangeArrowheads="1" noTextEdit="1"/>
          </p:cNvSpPr>
          <p:nvPr>
            <p:ph type="sldImg"/>
          </p:nvPr>
        </p:nvSpPr>
        <p:spPr>
          <a:ln/>
        </p:spPr>
      </p:sp>
      <p:sp>
        <p:nvSpPr>
          <p:cNvPr id="263782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2608761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2881ED-575A-4CCD-9E66-5C240671230C}" type="slidenum">
              <a:rPr lang="en-US" altLang="zh-CN"/>
              <a:pPr/>
              <a:t>99</a:t>
            </a:fld>
            <a:endParaRPr lang="en-US" altLang="zh-CN"/>
          </a:p>
        </p:txBody>
      </p:sp>
      <p:sp>
        <p:nvSpPr>
          <p:cNvPr id="2639874" name="Rectangle 2"/>
          <p:cNvSpPr>
            <a:spLocks noGrp="1" noRot="1" noChangeAspect="1" noChangeArrowheads="1" noTextEdit="1"/>
          </p:cNvSpPr>
          <p:nvPr>
            <p:ph type="sldImg"/>
          </p:nvPr>
        </p:nvSpPr>
        <p:spPr>
          <a:ln/>
        </p:spPr>
      </p:sp>
      <p:sp>
        <p:nvSpPr>
          <p:cNvPr id="263987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902535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9A4E22-2C95-4D5B-9F3C-3752569E10D8}" type="slidenum">
              <a:rPr lang="en-US" altLang="zh-CN"/>
              <a:pPr/>
              <a:t>100</a:t>
            </a:fld>
            <a:endParaRPr lang="en-US" altLang="zh-CN"/>
          </a:p>
        </p:txBody>
      </p:sp>
      <p:sp>
        <p:nvSpPr>
          <p:cNvPr id="2641922" name="Rectangle 2"/>
          <p:cNvSpPr>
            <a:spLocks noGrp="1" noRot="1" noChangeAspect="1" noChangeArrowheads="1" noTextEdit="1"/>
          </p:cNvSpPr>
          <p:nvPr>
            <p:ph type="sldImg"/>
          </p:nvPr>
        </p:nvSpPr>
        <p:spPr>
          <a:ln/>
        </p:spPr>
      </p:sp>
      <p:sp>
        <p:nvSpPr>
          <p:cNvPr id="264192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510140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EDDD07-7695-413B-B77A-246349977F82}" type="slidenum">
              <a:rPr lang="en-US" altLang="zh-CN"/>
              <a:pPr/>
              <a:t>101</a:t>
            </a:fld>
            <a:endParaRPr lang="en-US" altLang="zh-CN"/>
          </a:p>
        </p:txBody>
      </p:sp>
      <p:sp>
        <p:nvSpPr>
          <p:cNvPr id="2643970" name="Rectangle 2"/>
          <p:cNvSpPr>
            <a:spLocks noGrp="1" noRot="1" noChangeAspect="1" noChangeArrowheads="1" noTextEdit="1"/>
          </p:cNvSpPr>
          <p:nvPr>
            <p:ph type="sldImg"/>
          </p:nvPr>
        </p:nvSpPr>
        <p:spPr>
          <a:ln/>
        </p:spPr>
      </p:sp>
      <p:sp>
        <p:nvSpPr>
          <p:cNvPr id="26439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7440586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65461E-5D7F-4A34-8215-14D5BF8C2C54}" type="slidenum">
              <a:rPr lang="en-US" altLang="zh-CN"/>
              <a:pPr/>
              <a:t>102</a:t>
            </a:fld>
            <a:endParaRPr lang="en-US" altLang="zh-CN"/>
          </a:p>
        </p:txBody>
      </p:sp>
      <p:sp>
        <p:nvSpPr>
          <p:cNvPr id="2662402" name="Rectangle 2"/>
          <p:cNvSpPr>
            <a:spLocks noGrp="1" noRot="1" noChangeAspect="1" noChangeArrowheads="1" noTextEdit="1"/>
          </p:cNvSpPr>
          <p:nvPr>
            <p:ph type="sldImg"/>
          </p:nvPr>
        </p:nvSpPr>
        <p:spPr>
          <a:ln/>
        </p:spPr>
      </p:sp>
      <p:sp>
        <p:nvSpPr>
          <p:cNvPr id="26624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103777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653CC1-7288-438F-A18C-918740CE9B45}" type="slidenum">
              <a:rPr lang="en-US" altLang="zh-CN"/>
              <a:pPr/>
              <a:t>103</a:t>
            </a:fld>
            <a:endParaRPr lang="en-US" altLang="zh-CN"/>
          </a:p>
        </p:txBody>
      </p:sp>
      <p:sp>
        <p:nvSpPr>
          <p:cNvPr id="2883586" name="Rectangle 2"/>
          <p:cNvSpPr>
            <a:spLocks noGrp="1" noRot="1" noChangeAspect="1" noChangeArrowheads="1" noTextEdit="1"/>
          </p:cNvSpPr>
          <p:nvPr>
            <p:ph type="sldImg"/>
          </p:nvPr>
        </p:nvSpPr>
        <p:spPr>
          <a:ln/>
        </p:spPr>
      </p:sp>
      <p:sp>
        <p:nvSpPr>
          <p:cNvPr id="288358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0884470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1BC625-C350-4F68-9CD8-B0A3CA4ADDE6}" type="slidenum">
              <a:rPr lang="en-US" altLang="zh-CN"/>
              <a:pPr/>
              <a:t>104</a:t>
            </a:fld>
            <a:endParaRPr lang="en-US" altLang="zh-CN"/>
          </a:p>
        </p:txBody>
      </p:sp>
      <p:sp>
        <p:nvSpPr>
          <p:cNvPr id="2664450" name="Rectangle 2"/>
          <p:cNvSpPr>
            <a:spLocks noGrp="1" noRot="1" noChangeAspect="1" noChangeArrowheads="1" noTextEdit="1"/>
          </p:cNvSpPr>
          <p:nvPr>
            <p:ph type="sldImg"/>
          </p:nvPr>
        </p:nvSpPr>
        <p:spPr>
          <a:ln/>
        </p:spPr>
      </p:sp>
      <p:sp>
        <p:nvSpPr>
          <p:cNvPr id="26644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653016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6114"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smtClean="0"/>
              <a:t>单击此处编辑母版标题样式</a:t>
            </a:r>
            <a:endParaRPr lang="zh-CN" altLang="en-US"/>
          </a:p>
        </p:txBody>
      </p:sp>
      <p:sp>
        <p:nvSpPr>
          <p:cNvPr id="346115"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253FE72-D0EC-42FD-AF5B-20AFF69D3F0D}" type="datetime1">
              <a:rPr lang="zh-CN" altLang="en-US"/>
              <a:pPr>
                <a:defRPr/>
              </a:pPr>
              <a:t>2017/2/24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DA6346E-9113-4E7C-992E-5D320361FA45}" type="slidenum">
              <a:rPr lang="zh-CN" altLang="en-US"/>
              <a:pPr>
                <a:defRPr/>
              </a:pPr>
              <a:t>‹#›</a:t>
            </a:fld>
            <a:endParaRPr lang="en-US" altLang="zh-CN"/>
          </a:p>
        </p:txBody>
      </p:sp>
    </p:spTree>
    <p:extLst>
      <p:ext uri="{BB962C8B-B14F-4D97-AF65-F5344CB8AC3E}">
        <p14:creationId xmlns:p14="http://schemas.microsoft.com/office/powerpoint/2010/main" val="158145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74F26E3-542C-426E-B0A2-EF925FB1FC3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133331-7F63-4B9E-875E-062A44C5F090}" type="slidenum">
              <a:rPr lang="zh-CN" altLang="en-US"/>
              <a:pPr>
                <a:defRPr/>
              </a:pPr>
              <a:t>‹#›</a:t>
            </a:fld>
            <a:endParaRPr lang="en-US" altLang="zh-CN"/>
          </a:p>
        </p:txBody>
      </p:sp>
    </p:spTree>
    <p:extLst>
      <p:ext uri="{BB962C8B-B14F-4D97-AF65-F5344CB8AC3E}">
        <p14:creationId xmlns:p14="http://schemas.microsoft.com/office/powerpoint/2010/main" val="112012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F35F79F7-48E8-4AA1-A8C5-16BA0F90D9E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80F1FCD-B8FA-422A-B47A-9F4A54D4A476}" type="slidenum">
              <a:rPr lang="zh-CN" altLang="en-US"/>
              <a:pPr>
                <a:defRPr/>
              </a:pPr>
              <a:t>‹#›</a:t>
            </a:fld>
            <a:endParaRPr lang="en-US" altLang="zh-CN"/>
          </a:p>
        </p:txBody>
      </p:sp>
    </p:spTree>
    <p:extLst>
      <p:ext uri="{BB962C8B-B14F-4D97-AF65-F5344CB8AC3E}">
        <p14:creationId xmlns:p14="http://schemas.microsoft.com/office/powerpoint/2010/main" val="286143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037CCED0-3222-466C-BE7D-E16D1DABCEA6}"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8E5063-7393-4AC3-B969-AE1573CB3802}" type="slidenum">
              <a:rPr lang="zh-CN" altLang="en-US"/>
              <a:pPr>
                <a:defRPr/>
              </a:pPr>
              <a:t>‹#›</a:t>
            </a:fld>
            <a:endParaRPr lang="en-US" altLang="zh-CN"/>
          </a:p>
        </p:txBody>
      </p:sp>
    </p:spTree>
    <p:extLst>
      <p:ext uri="{BB962C8B-B14F-4D97-AF65-F5344CB8AC3E}">
        <p14:creationId xmlns:p14="http://schemas.microsoft.com/office/powerpoint/2010/main" val="2887547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CFA604AA-45FF-4B0C-AC64-3929012D0CCB}"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8C34DC2-7A5A-4238-8435-45C2B6E31675}" type="slidenum">
              <a:rPr lang="zh-CN" altLang="en-US"/>
              <a:pPr>
                <a:defRPr/>
              </a:pPr>
              <a:t>‹#›</a:t>
            </a:fld>
            <a:endParaRPr lang="en-US" altLang="zh-CN"/>
          </a:p>
        </p:txBody>
      </p:sp>
    </p:spTree>
    <p:extLst>
      <p:ext uri="{BB962C8B-B14F-4D97-AF65-F5344CB8AC3E}">
        <p14:creationId xmlns:p14="http://schemas.microsoft.com/office/powerpoint/2010/main" val="98687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71B34FCB-CBAC-4183-9483-6E1BD1D45952}"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B67C442-137D-49F9-BFF6-B32FF323B732}" type="slidenum">
              <a:rPr lang="zh-CN" altLang="en-US"/>
              <a:pPr>
                <a:defRPr/>
              </a:pPr>
              <a:t>‹#›</a:t>
            </a:fld>
            <a:endParaRPr lang="en-US" altLang="zh-CN"/>
          </a:p>
        </p:txBody>
      </p:sp>
    </p:spTree>
    <p:extLst>
      <p:ext uri="{BB962C8B-B14F-4D97-AF65-F5344CB8AC3E}">
        <p14:creationId xmlns:p14="http://schemas.microsoft.com/office/powerpoint/2010/main" val="199975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E982EDB-7BF8-4A5C-93B5-A56F66152FAE}" type="datetime1">
              <a:rPr lang="zh-CN" altLang="en-US"/>
              <a:pPr>
                <a:defRPr/>
              </a:pPr>
              <a:t>2017/2/24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BDC7CE6-81EC-404A-8A85-FFB6C8FE4823}" type="slidenum">
              <a:rPr lang="zh-CN" altLang="en-US"/>
              <a:pPr>
                <a:defRPr/>
              </a:pPr>
              <a:t>‹#›</a:t>
            </a:fld>
            <a:endParaRPr lang="en-US" altLang="zh-CN"/>
          </a:p>
        </p:txBody>
      </p:sp>
    </p:spTree>
    <p:extLst>
      <p:ext uri="{BB962C8B-B14F-4D97-AF65-F5344CB8AC3E}">
        <p14:creationId xmlns:p14="http://schemas.microsoft.com/office/powerpoint/2010/main" val="1983968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1006BC9-7732-4877-854F-B2D2FECBF825}"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6C67C5F-3580-4041-A110-1DE8500103D9}" type="slidenum">
              <a:rPr lang="zh-CN" altLang="en-US"/>
              <a:pPr>
                <a:defRPr/>
              </a:pPr>
              <a:t>‹#›</a:t>
            </a:fld>
            <a:endParaRPr lang="en-US" altLang="zh-CN"/>
          </a:p>
        </p:txBody>
      </p:sp>
    </p:spTree>
    <p:extLst>
      <p:ext uri="{BB962C8B-B14F-4D97-AF65-F5344CB8AC3E}">
        <p14:creationId xmlns:p14="http://schemas.microsoft.com/office/powerpoint/2010/main" val="2018834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0264EE0-4591-47F1-8D62-75D0D766C1DC}"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BCA80D-4718-488A-8FD6-CB70E5F6AE9B}" type="slidenum">
              <a:rPr lang="zh-CN" altLang="en-US"/>
              <a:pPr>
                <a:defRPr/>
              </a:pPr>
              <a:t>‹#›</a:t>
            </a:fld>
            <a:endParaRPr lang="en-US" altLang="zh-CN"/>
          </a:p>
        </p:txBody>
      </p:sp>
    </p:spTree>
    <p:extLst>
      <p:ext uri="{BB962C8B-B14F-4D97-AF65-F5344CB8AC3E}">
        <p14:creationId xmlns:p14="http://schemas.microsoft.com/office/powerpoint/2010/main" val="4174637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2292C845-B506-42E0-9D15-E1E696FDD0A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7F534A9-B071-444A-A1AE-5D0037B2C7D8}" type="slidenum">
              <a:rPr lang="zh-CN" altLang="en-US"/>
              <a:pPr>
                <a:defRPr/>
              </a:pPr>
              <a:t>‹#›</a:t>
            </a:fld>
            <a:endParaRPr lang="en-US" altLang="zh-CN"/>
          </a:p>
        </p:txBody>
      </p:sp>
    </p:spTree>
    <p:extLst>
      <p:ext uri="{BB962C8B-B14F-4D97-AF65-F5344CB8AC3E}">
        <p14:creationId xmlns:p14="http://schemas.microsoft.com/office/powerpoint/2010/main" val="863992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6BE66D8-A3A4-4F5B-8A16-DAFD6E0B31C3}"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CBE3214-D9D0-48DA-8E12-7C84DBDDDDB5}" type="slidenum">
              <a:rPr lang="zh-CN" altLang="en-US"/>
              <a:pPr>
                <a:defRPr/>
              </a:pPr>
              <a:t>‹#›</a:t>
            </a:fld>
            <a:endParaRPr lang="en-US" altLang="zh-CN"/>
          </a:p>
        </p:txBody>
      </p:sp>
    </p:spTree>
    <p:extLst>
      <p:ext uri="{BB962C8B-B14F-4D97-AF65-F5344CB8AC3E}">
        <p14:creationId xmlns:p14="http://schemas.microsoft.com/office/powerpoint/2010/main" val="3000883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a:ln/>
        </p:spPr>
        <p:txBody>
          <a:bodyPr/>
          <a:lstStyle>
            <a:lvl1pPr>
              <a:defRPr/>
            </a:lvl1pPr>
          </a:lstStyle>
          <a:p>
            <a:pPr>
              <a:defRPr/>
            </a:pPr>
            <a:fld id="{A69ABAD5-F3B1-402A-AD0B-F2CE7160418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DBF3B48-EBB0-4D16-933E-8C9765A4081C}" type="slidenum">
              <a:rPr lang="zh-CN" altLang="en-US"/>
              <a:pPr>
                <a:defRPr/>
              </a:pPr>
              <a:t>‹#›</a:t>
            </a:fld>
            <a:endParaRPr lang="en-US" altLang="zh-CN"/>
          </a:p>
        </p:txBody>
      </p:sp>
    </p:spTree>
    <p:extLst>
      <p:ext uri="{BB962C8B-B14F-4D97-AF65-F5344CB8AC3E}">
        <p14:creationId xmlns:p14="http://schemas.microsoft.com/office/powerpoint/2010/main" val="2818943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1162050" y="6243638"/>
            <a:ext cx="1905000" cy="457200"/>
          </a:xfrm>
        </p:spPr>
        <p:txBody>
          <a:bodyPr/>
          <a:lstStyle>
            <a:lvl1pPr>
              <a:defRPr/>
            </a:lvl1pPr>
          </a:lstStyle>
          <a:p>
            <a:pPr>
              <a:defRPr/>
            </a:pPr>
            <a:fld id="{57B2C022-CB24-4BA1-AF52-2C1017ED1647}" type="datetime1">
              <a:rPr lang="zh-CN" altLang="en-US"/>
              <a:pPr>
                <a:defRPr/>
              </a:pPr>
              <a:t>2017/2/24</a:t>
            </a:fld>
            <a:endParaRPr lang="en-US" altLang="zh-CN"/>
          </a:p>
        </p:txBody>
      </p:sp>
      <p:sp>
        <p:nvSpPr>
          <p:cNvPr id="4" name="页脚占位符 3"/>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7042150" y="6243638"/>
            <a:ext cx="1905000" cy="457200"/>
          </a:xfrm>
        </p:spPr>
        <p:txBody>
          <a:bodyPr/>
          <a:lstStyle>
            <a:lvl1pPr>
              <a:defRPr/>
            </a:lvl1pPr>
          </a:lstStyle>
          <a:p>
            <a:pPr>
              <a:defRPr/>
            </a:pPr>
            <a:fld id="{CD94D0BB-82A3-4BD4-9946-83C7D315A0EF}" type="slidenum">
              <a:rPr lang="zh-CN" altLang="en-US"/>
              <a:pPr>
                <a:defRPr/>
              </a:pPr>
              <a:t>‹#›</a:t>
            </a:fld>
            <a:endParaRPr lang="en-US" altLang="zh-CN"/>
          </a:p>
        </p:txBody>
      </p:sp>
    </p:spTree>
    <p:extLst>
      <p:ext uri="{BB962C8B-B14F-4D97-AF65-F5344CB8AC3E}">
        <p14:creationId xmlns:p14="http://schemas.microsoft.com/office/powerpoint/2010/main" val="1432524486"/>
      </p:ext>
    </p:extLst>
  </p:cSld>
  <p:clrMapOvr>
    <a:masterClrMapping/>
  </p:clrMapOvr>
  <p:transition/>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fld id="{F73D0CE3-D54D-41A4-8BEF-4D784D7C3E7A}" type="datetime1">
              <a:rPr lang="zh-CN" altLang="en-US"/>
              <a:pPr/>
              <a:t>2017/2/24</a:t>
            </a:fld>
            <a:endParaRPr lang="en-US" altLang="zh-CN"/>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fld id="{D6D0246D-5197-4CC0-86BE-92CAED202153}" type="slidenum">
              <a:rPr lang="en-US" altLang="zh-CN"/>
              <a:pPr/>
              <a:t>‹#›</a:t>
            </a:fld>
            <a:endParaRPr lang="en-US" altLang="zh-CN"/>
          </a:p>
        </p:txBody>
      </p:sp>
    </p:spTree>
    <p:extLst>
      <p:ext uri="{BB962C8B-B14F-4D97-AF65-F5344CB8AC3E}">
        <p14:creationId xmlns:p14="http://schemas.microsoft.com/office/powerpoint/2010/main" val="1490965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075"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45092"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fld id="{88219C38-A3D1-4E52-B4CC-4EA23219BA93}" type="datetime1">
              <a:rPr lang="zh-CN" altLang="en-US"/>
              <a:pPr>
                <a:defRPr/>
              </a:pPr>
              <a:t>2017/2/24</a:t>
            </a:fld>
            <a:endParaRPr lang="en-US" altLang="zh-CN"/>
          </a:p>
        </p:txBody>
      </p:sp>
      <p:sp>
        <p:nvSpPr>
          <p:cNvPr id="3450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345094"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E7D6CDD-CADD-4448-9501-B16368E6BE9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8"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30" r:id="rId13"/>
    <p:sldLayoutId id="2147483731" r:id="rId14"/>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oleObject" Target="../embeddings/oleObject5.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oleObject" Target="../embeddings/oleObject7.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4.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oleObject" Target="../embeddings/oleObject8.bin"/></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2.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7E1E14F-AE74-465E-843F-437A693BA94B}" type="slidenum">
              <a:rPr lang="zh-CN" altLang="en-US"/>
              <a:pPr eaLnBrk="1" hangingPunct="1"/>
              <a:t>1</a:t>
            </a:fld>
            <a:endParaRPr lang="en-US" altLang="zh-CN"/>
          </a:p>
        </p:txBody>
      </p:sp>
      <p:sp>
        <p:nvSpPr>
          <p:cNvPr id="1028" name="Rectangle 2"/>
          <p:cNvSpPr>
            <a:spLocks noGrp="1" noRot="1" noChangeArrowheads="1"/>
          </p:cNvSpPr>
          <p:nvPr>
            <p:ph type="ctrTitle"/>
          </p:nvPr>
        </p:nvSpPr>
        <p:spPr>
          <a:xfrm>
            <a:off x="1187450" y="1143000"/>
            <a:ext cx="6965950" cy="1524000"/>
          </a:xfrm>
        </p:spPr>
        <p:txBody>
          <a:bodyPr/>
          <a:lstStyle/>
          <a:p>
            <a:pPr eaLnBrk="1" hangingPunct="1"/>
            <a:r>
              <a:rPr lang="zh-CN" altLang="en-US" sz="6000" b="1" dirty="0" smtClean="0">
                <a:latin typeface="Times New Roman" panose="02020603050405020304" pitchFamily="18" charset="0"/>
                <a:ea typeface="华文新魏" panose="02010800040101010101" pitchFamily="2" charset="-122"/>
                <a:cs typeface="Times New Roman" panose="02020603050405020304" pitchFamily="18" charset="0"/>
              </a:rPr>
              <a:t>编译原理</a:t>
            </a:r>
            <a: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t/>
            </a:r>
            <a:b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br>
            <a:r>
              <a:rPr lang="en-US" altLang="zh-CN" b="1" dirty="0" smtClean="0">
                <a:latin typeface="Times New Roman" panose="02020603050405020304" pitchFamily="18" charset="0"/>
                <a:ea typeface="华文新魏" panose="02010800040101010101" pitchFamily="2" charset="-122"/>
                <a:cs typeface="Times New Roman" panose="02020603050405020304" pitchFamily="18" charset="0"/>
              </a:rPr>
              <a:t>(Principles of Compiling)</a:t>
            </a:r>
            <a:endPar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1026" name="Object 3">
            <a:hlinkClick r:id="" action="ppaction://ole?verb=0"/>
          </p:cNvPr>
          <p:cNvGraphicFramePr>
            <a:graphicFrameLocks/>
          </p:cNvGraphicFramePr>
          <p:nvPr/>
        </p:nvGraphicFramePr>
        <p:xfrm>
          <a:off x="7235825" y="2997200"/>
          <a:ext cx="1219200" cy="2438400"/>
        </p:xfrm>
        <a:graphic>
          <a:graphicData uri="http://schemas.openxmlformats.org/presentationml/2006/ole">
            <mc:AlternateContent xmlns:mc="http://schemas.openxmlformats.org/markup-compatibility/2006">
              <mc:Choice xmlns:v="urn:schemas-microsoft-com:vml" Requires="v">
                <p:oleObj spid="_x0000_s82950" name="剪辑" r:id="rId3" imgW="2641320" imgH="4586040" progId="MS_ClipArt_Gallery.2">
                  <p:embed/>
                </p:oleObj>
              </mc:Choice>
              <mc:Fallback>
                <p:oleObj name="剪辑" r:id="rId3" imgW="2641320" imgH="4586040"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2997200"/>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 Box 4"/>
          <p:cNvSpPr txBox="1">
            <a:spLocks noChangeArrowheads="1"/>
          </p:cNvSpPr>
          <p:nvPr/>
        </p:nvSpPr>
        <p:spPr bwMode="auto">
          <a:xfrm>
            <a:off x="1476375" y="3500438"/>
            <a:ext cx="60483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主讲：</a:t>
            </a:r>
            <a:r>
              <a:rPr lang="zh-CN" altLang="en-US" sz="2800" b="1" dirty="0" smtClean="0">
                <a:latin typeface="Times New Roman" pitchFamily="18" charset="0"/>
                <a:ea typeface="华文新魏" pitchFamily="2" charset="-122"/>
              </a:rPr>
              <a:t>蒋宗礼、姜守旭</a:t>
            </a:r>
            <a:endParaRPr lang="zh-CN" altLang="en-US"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办公室</a:t>
            </a:r>
            <a:r>
              <a:rPr lang="zh-CN" altLang="en-US" sz="2800" b="1" dirty="0" smtClean="0">
                <a:latin typeface="Times New Roman" pitchFamily="18" charset="0"/>
                <a:ea typeface="华文新魏" pitchFamily="2" charset="-122"/>
              </a:rPr>
              <a:t>：</a:t>
            </a:r>
            <a:r>
              <a:rPr lang="zh-CN" altLang="en-US" sz="2800" b="1" dirty="0">
                <a:latin typeface="Times New Roman" pitchFamily="18" charset="0"/>
                <a:ea typeface="华文新魏" pitchFamily="2" charset="-122"/>
              </a:rPr>
              <a:t>信</a:t>
            </a:r>
            <a:r>
              <a:rPr lang="zh-CN" altLang="en-US" sz="2800" b="1" dirty="0" smtClean="0">
                <a:latin typeface="Times New Roman" pitchFamily="18" charset="0"/>
                <a:ea typeface="华文新魏" pitchFamily="2" charset="-122"/>
              </a:rPr>
              <a:t>北</a:t>
            </a:r>
            <a:r>
              <a:rPr lang="en-US" altLang="zh-CN" sz="2800" b="1" dirty="0" smtClean="0">
                <a:latin typeface="Times New Roman" pitchFamily="18" charset="0"/>
                <a:ea typeface="华文新魏" pitchFamily="2" charset="-122"/>
              </a:rPr>
              <a:t>212</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电话：</a:t>
            </a:r>
            <a:r>
              <a:rPr lang="en-US" altLang="zh-CN" sz="2800" b="1" dirty="0" smtClean="0">
                <a:latin typeface="Times New Roman" pitchFamily="18" charset="0"/>
                <a:ea typeface="华文新魏" pitchFamily="2" charset="-122"/>
              </a:rPr>
              <a:t>67392397</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en-US" altLang="zh-CN" sz="2800" b="1" dirty="0">
                <a:latin typeface="Times New Roman" pitchFamily="18" charset="0"/>
                <a:ea typeface="华文新魏" pitchFamily="2" charset="-122"/>
              </a:rPr>
              <a:t>Email：jiangzl@bjut.edu.cn</a:t>
            </a:r>
          </a:p>
        </p:txBody>
      </p:sp>
      <p:pic>
        <p:nvPicPr>
          <p:cNvPr id="103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4813"/>
            <a:ext cx="1619250"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740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BC2ADC-0F28-4C71-94AB-E628CD6FF05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B8A3094-63A4-493C-8519-D1B28F9FAE02}" type="slidenum">
              <a:rPr lang="en-US" altLang="zh-CN"/>
              <a:pPr/>
              <a:t>2</a:t>
            </a:fld>
            <a:endParaRPr lang="en-US" altLang="zh-CN"/>
          </a:p>
        </p:txBody>
      </p:sp>
      <p:sp>
        <p:nvSpPr>
          <p:cNvPr id="2488322"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章 运行时的存储组织 </a:t>
            </a:r>
          </a:p>
        </p:txBody>
      </p:sp>
      <p:sp>
        <p:nvSpPr>
          <p:cNvPr id="2488323" name="Rectangle 3"/>
          <p:cNvSpPr>
            <a:spLocks noGrp="1" noChangeArrowheads="1"/>
          </p:cNvSpPr>
          <p:nvPr>
            <p:ph type="body" idx="1"/>
          </p:nvPr>
        </p:nvSpPr>
        <p:spPr>
          <a:xfrm>
            <a:off x="373063" y="2132855"/>
            <a:ext cx="8520112" cy="3993307"/>
          </a:xfrm>
        </p:spPr>
        <p:txBody>
          <a:bodyPr/>
          <a:lstStyle/>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与存储组织有关的源语言概念与特征</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存储组织</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静态存储分配</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栈式存储分配</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栈中非局部数据的访问</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9.6 </a:t>
            </a:r>
            <a: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t>本章</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小结</a:t>
            </a:r>
          </a:p>
        </p:txBody>
      </p:sp>
    </p:spTree>
    <p:extLst>
      <p:ext uri="{BB962C8B-B14F-4D97-AF65-F5344CB8AC3E}">
        <p14:creationId xmlns:p14="http://schemas.microsoft.com/office/powerpoint/2010/main" val="2521502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88323">
                                            <p:txEl>
                                              <p:pRg st="0" end="0"/>
                                            </p:txEl>
                                          </p:spTgt>
                                        </p:tgtEl>
                                        <p:attrNameLst>
                                          <p:attrName>style.visibility</p:attrName>
                                        </p:attrNameLst>
                                      </p:cBhvr>
                                      <p:to>
                                        <p:strVal val="visible"/>
                                      </p:to>
                                    </p:set>
                                    <p:animEffect transition="in" filter="blinds(horizontal)">
                                      <p:cBhvr>
                                        <p:cTn id="7" dur="500"/>
                                        <p:tgtEl>
                                          <p:spTgt spid="2488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88323">
                                            <p:txEl>
                                              <p:pRg st="1" end="1"/>
                                            </p:txEl>
                                          </p:spTgt>
                                        </p:tgtEl>
                                        <p:attrNameLst>
                                          <p:attrName>style.visibility</p:attrName>
                                        </p:attrNameLst>
                                      </p:cBhvr>
                                      <p:to>
                                        <p:strVal val="visible"/>
                                      </p:to>
                                    </p:set>
                                    <p:animEffect transition="in" filter="blinds(horizontal)">
                                      <p:cBhvr>
                                        <p:cTn id="12" dur="500"/>
                                        <p:tgtEl>
                                          <p:spTgt spid="2488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88323">
                                            <p:txEl>
                                              <p:pRg st="2" end="2"/>
                                            </p:txEl>
                                          </p:spTgt>
                                        </p:tgtEl>
                                        <p:attrNameLst>
                                          <p:attrName>style.visibility</p:attrName>
                                        </p:attrNameLst>
                                      </p:cBhvr>
                                      <p:to>
                                        <p:strVal val="visible"/>
                                      </p:to>
                                    </p:set>
                                    <p:animEffect transition="in" filter="blinds(horizontal)">
                                      <p:cBhvr>
                                        <p:cTn id="17" dur="500"/>
                                        <p:tgtEl>
                                          <p:spTgt spid="24883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88323">
                                            <p:txEl>
                                              <p:pRg st="3" end="3"/>
                                            </p:txEl>
                                          </p:spTgt>
                                        </p:tgtEl>
                                        <p:attrNameLst>
                                          <p:attrName>style.visibility</p:attrName>
                                        </p:attrNameLst>
                                      </p:cBhvr>
                                      <p:to>
                                        <p:strVal val="visible"/>
                                      </p:to>
                                    </p:set>
                                    <p:animEffect transition="in" filter="blinds(horizontal)">
                                      <p:cBhvr>
                                        <p:cTn id="22" dur="500"/>
                                        <p:tgtEl>
                                          <p:spTgt spid="24883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88323">
                                            <p:txEl>
                                              <p:pRg st="4" end="4"/>
                                            </p:txEl>
                                          </p:spTgt>
                                        </p:tgtEl>
                                        <p:attrNameLst>
                                          <p:attrName>style.visibility</p:attrName>
                                        </p:attrNameLst>
                                      </p:cBhvr>
                                      <p:to>
                                        <p:strVal val="visible"/>
                                      </p:to>
                                    </p:set>
                                    <p:animEffect transition="in" filter="blinds(horizontal)">
                                      <p:cBhvr>
                                        <p:cTn id="27" dur="500"/>
                                        <p:tgtEl>
                                          <p:spTgt spid="248832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88323">
                                            <p:txEl>
                                              <p:pRg st="5" end="5"/>
                                            </p:txEl>
                                          </p:spTgt>
                                        </p:tgtEl>
                                        <p:attrNameLst>
                                          <p:attrName>style.visibility</p:attrName>
                                        </p:attrNameLst>
                                      </p:cBhvr>
                                      <p:to>
                                        <p:strVal val="visible"/>
                                      </p:to>
                                    </p:set>
                                    <p:animEffect transition="in" filter="blinds(horizontal)">
                                      <p:cBhvr>
                                        <p:cTn id="32" dur="500"/>
                                        <p:tgtEl>
                                          <p:spTgt spid="24883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BD15EC-A503-4712-BB49-BE6EFADAEF0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57F2A69-0FCF-41B4-ABDC-F6E3F2AC5F1A}" type="slidenum">
              <a:rPr lang="en-US" altLang="zh-CN"/>
              <a:pPr/>
              <a:t>3</a:t>
            </a:fld>
            <a:endParaRPr lang="en-US" altLang="zh-CN"/>
          </a:p>
        </p:txBody>
      </p:sp>
      <p:sp>
        <p:nvSpPr>
          <p:cNvPr id="2489346" name="Rectangle 2"/>
          <p:cNvSpPr>
            <a:spLocks noGrp="1" noChangeArrowheads="1"/>
          </p:cNvSpPr>
          <p:nvPr>
            <p:ph type="title"/>
          </p:nvPr>
        </p:nvSpPr>
        <p:spPr>
          <a:xfrm>
            <a:off x="179388" y="115888"/>
            <a:ext cx="8856662" cy="1295400"/>
          </a:xfrm>
        </p:spPr>
        <p:txBody>
          <a:bodyPr/>
          <a:lstStyle/>
          <a:p>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9.1 </a:t>
            </a:r>
            <a:r>
              <a:rPr lang="zh-CN" altLang="en-US"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与存储组织有关的源语言</a:t>
            </a:r>
            <a:br>
              <a:rPr lang="zh-CN" altLang="en-US"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br>
            <a:r>
              <a:rPr lang="zh-CN" altLang="en-US"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概念与特征</a:t>
            </a:r>
          </a:p>
        </p:txBody>
      </p:sp>
      <p:sp>
        <p:nvSpPr>
          <p:cNvPr id="2489347" name="Rectangle 3"/>
          <p:cNvSpPr>
            <a:spLocks noGrp="1" noChangeArrowheads="1"/>
          </p:cNvSpPr>
          <p:nvPr>
            <p:ph type="body" idx="1"/>
          </p:nvPr>
        </p:nvSpPr>
        <p:spPr>
          <a:xfrm>
            <a:off x="323850" y="1484313"/>
            <a:ext cx="8640763" cy="4895850"/>
          </a:xfrm>
        </p:spPr>
        <p:txBody>
          <a:bodyPr/>
          <a:lstStyle/>
          <a:p>
            <a:pPr>
              <a:lnSpc>
                <a:spcPct val="90000"/>
              </a:lnSpc>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编译程序必须准确地实现包含在源程序中的各种抽象概念，如</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名字</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作用域</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数据类型</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操作符</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参数</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控制流结构</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等，这些概念反映了源语言所具有的一些特征，对它们的支持往往会影响运行时的存储组织和分配策略 </a:t>
            </a:r>
          </a:p>
          <a:p>
            <a:pPr>
              <a:lnSpc>
                <a:spcPct val="90000"/>
              </a:lnSpc>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给定一个源程序，编译程序必须根据源语言的特征</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规定</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为源程序中的许多问题做出决策，包括何时、怎样为名字分配内存地址。</a:t>
            </a:r>
          </a:p>
          <a:p>
            <a:pPr lvl="1">
              <a:lnSpc>
                <a:spcPct val="90000"/>
              </a:lnSpc>
              <a:spcBef>
                <a:spcPct val="0"/>
              </a:spcBef>
            </a:pP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静态策略</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：在编译时即可做出决定的策略</a:t>
            </a:r>
          </a:p>
          <a:p>
            <a:pPr lvl="1">
              <a:lnSpc>
                <a:spcPct val="90000"/>
              </a:lnSpc>
              <a:spcBef>
                <a:spcPct val="0"/>
              </a:spcBef>
            </a:pP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动态策略</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：直到程序执行时才能做出决定的策略</a:t>
            </a:r>
          </a:p>
        </p:txBody>
      </p:sp>
    </p:spTree>
    <p:extLst>
      <p:ext uri="{BB962C8B-B14F-4D97-AF65-F5344CB8AC3E}">
        <p14:creationId xmlns:p14="http://schemas.microsoft.com/office/powerpoint/2010/main" val="30762955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89347">
                                            <p:txEl>
                                              <p:pRg st="0" end="0"/>
                                            </p:txEl>
                                          </p:spTgt>
                                        </p:tgtEl>
                                        <p:attrNameLst>
                                          <p:attrName>style.visibility</p:attrName>
                                        </p:attrNameLst>
                                      </p:cBhvr>
                                      <p:to>
                                        <p:strVal val="visible"/>
                                      </p:to>
                                    </p:set>
                                    <p:animEffect transition="in" filter="blinds(horizontal)">
                                      <p:cBhvr>
                                        <p:cTn id="7" dur="500"/>
                                        <p:tgtEl>
                                          <p:spTgt spid="2489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89347">
                                            <p:txEl>
                                              <p:pRg st="1" end="1"/>
                                            </p:txEl>
                                          </p:spTgt>
                                        </p:tgtEl>
                                        <p:attrNameLst>
                                          <p:attrName>style.visibility</p:attrName>
                                        </p:attrNameLst>
                                      </p:cBhvr>
                                      <p:to>
                                        <p:strVal val="visible"/>
                                      </p:to>
                                    </p:set>
                                    <p:animEffect transition="in" filter="blinds(horizontal)">
                                      <p:cBhvr>
                                        <p:cTn id="12" dur="500"/>
                                        <p:tgtEl>
                                          <p:spTgt spid="248934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489347">
                                            <p:txEl>
                                              <p:pRg st="2" end="2"/>
                                            </p:txEl>
                                          </p:spTgt>
                                        </p:tgtEl>
                                        <p:attrNameLst>
                                          <p:attrName>style.visibility</p:attrName>
                                        </p:attrNameLst>
                                      </p:cBhvr>
                                      <p:to>
                                        <p:strVal val="visible"/>
                                      </p:to>
                                    </p:set>
                                    <p:animEffect transition="in" filter="blinds(horizontal)">
                                      <p:cBhvr>
                                        <p:cTn id="15" dur="500"/>
                                        <p:tgtEl>
                                          <p:spTgt spid="248934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89347">
                                            <p:txEl>
                                              <p:pRg st="3" end="3"/>
                                            </p:txEl>
                                          </p:spTgt>
                                        </p:tgtEl>
                                        <p:attrNameLst>
                                          <p:attrName>style.visibility</p:attrName>
                                        </p:attrNameLst>
                                      </p:cBhvr>
                                      <p:to>
                                        <p:strVal val="visible"/>
                                      </p:to>
                                    </p:set>
                                    <p:animEffect transition="in" filter="blinds(horizontal)">
                                      <p:cBhvr>
                                        <p:cTn id="18" dur="500"/>
                                        <p:tgtEl>
                                          <p:spTgt spid="2489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93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D3CA921-0F3F-460A-B707-6318CE9ED62E}"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DC60ECA-4648-4A66-80D1-88BFF30B1CAF}" type="slidenum">
              <a:rPr lang="en-US" altLang="zh-CN"/>
              <a:pPr/>
              <a:t>4</a:t>
            </a:fld>
            <a:endParaRPr lang="en-US" altLang="zh-CN"/>
          </a:p>
        </p:txBody>
      </p:sp>
      <p:sp>
        <p:nvSpPr>
          <p:cNvPr id="2491394"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9.1.1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名字及其绑定 </a:t>
            </a:r>
          </a:p>
        </p:txBody>
      </p:sp>
      <p:sp>
        <p:nvSpPr>
          <p:cNvPr id="2491395" name="Rectangle 3"/>
          <p:cNvSpPr>
            <a:spLocks noGrp="1" noChangeArrowheads="1"/>
          </p:cNvSpPr>
          <p:nvPr>
            <p:ph type="body" idx="1"/>
          </p:nvPr>
        </p:nvSpPr>
        <p:spPr>
          <a:xfrm>
            <a:off x="323850" y="1052513"/>
            <a:ext cx="8640763" cy="5472112"/>
          </a:xfrm>
        </p:spPr>
        <p:txBody>
          <a:bodyPr/>
          <a:lstStyle/>
          <a:p>
            <a:pPr>
              <a:lnSpc>
                <a:spcPct val="90000"/>
              </a:lnSpc>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名字”、“变量”和“标识符” 的区别与联系</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名字和变量分别表示编译时的名字和运行时该名字所代表的内存位置。 </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标识符则是一个字符串，用于指示数据对象、过程、类或对象的入口。 </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所有标识符都是名字，但并不是所有的名字都是标识符，名字还可以是表达式。例如，名字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可能表示</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所代表结构的域</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 </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同一标识符可以被声明多次，但每个声明都引入一个新的变量。即使每个标识符只被声明一次，局部于某个递归过程的标识符在不同的运行时刻也将指向不同的内存位置。 </a:t>
            </a:r>
          </a:p>
        </p:txBody>
      </p:sp>
    </p:spTree>
    <p:extLst>
      <p:ext uri="{BB962C8B-B14F-4D97-AF65-F5344CB8AC3E}">
        <p14:creationId xmlns:p14="http://schemas.microsoft.com/office/powerpoint/2010/main" val="942697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1395">
                                            <p:txEl>
                                              <p:pRg st="0" end="0"/>
                                            </p:txEl>
                                          </p:spTgt>
                                        </p:tgtEl>
                                        <p:attrNameLst>
                                          <p:attrName>style.visibility</p:attrName>
                                        </p:attrNameLst>
                                      </p:cBhvr>
                                      <p:to>
                                        <p:strVal val="visible"/>
                                      </p:to>
                                    </p:set>
                                    <p:animEffect transition="in" filter="blinds(horizontal)">
                                      <p:cBhvr>
                                        <p:cTn id="7" dur="500"/>
                                        <p:tgtEl>
                                          <p:spTgt spid="2491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91395">
                                            <p:txEl>
                                              <p:pRg st="1" end="1"/>
                                            </p:txEl>
                                          </p:spTgt>
                                        </p:tgtEl>
                                        <p:attrNameLst>
                                          <p:attrName>style.visibility</p:attrName>
                                        </p:attrNameLst>
                                      </p:cBhvr>
                                      <p:to>
                                        <p:strVal val="visible"/>
                                      </p:to>
                                    </p:set>
                                    <p:animEffect transition="in" filter="blinds(horizontal)">
                                      <p:cBhvr>
                                        <p:cTn id="12" dur="500"/>
                                        <p:tgtEl>
                                          <p:spTgt spid="24913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91395">
                                            <p:txEl>
                                              <p:pRg st="2" end="2"/>
                                            </p:txEl>
                                          </p:spTgt>
                                        </p:tgtEl>
                                        <p:attrNameLst>
                                          <p:attrName>style.visibility</p:attrName>
                                        </p:attrNameLst>
                                      </p:cBhvr>
                                      <p:to>
                                        <p:strVal val="visible"/>
                                      </p:to>
                                    </p:set>
                                    <p:animEffect transition="in" filter="blinds(horizontal)">
                                      <p:cBhvr>
                                        <p:cTn id="17" dur="500"/>
                                        <p:tgtEl>
                                          <p:spTgt spid="24913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91395">
                                            <p:txEl>
                                              <p:pRg st="3" end="3"/>
                                            </p:txEl>
                                          </p:spTgt>
                                        </p:tgtEl>
                                        <p:attrNameLst>
                                          <p:attrName>style.visibility</p:attrName>
                                        </p:attrNameLst>
                                      </p:cBhvr>
                                      <p:to>
                                        <p:strVal val="visible"/>
                                      </p:to>
                                    </p:set>
                                    <p:animEffect transition="in" filter="blinds(horizontal)">
                                      <p:cBhvr>
                                        <p:cTn id="22" dur="500"/>
                                        <p:tgtEl>
                                          <p:spTgt spid="24913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91395">
                                            <p:txEl>
                                              <p:pRg st="4" end="4"/>
                                            </p:txEl>
                                          </p:spTgt>
                                        </p:tgtEl>
                                        <p:attrNameLst>
                                          <p:attrName>style.visibility</p:attrName>
                                        </p:attrNameLst>
                                      </p:cBhvr>
                                      <p:to>
                                        <p:strVal val="visible"/>
                                      </p:to>
                                    </p:set>
                                    <p:animEffect transition="in" filter="blinds(horizontal)">
                                      <p:cBhvr>
                                        <p:cTn id="27" dur="500"/>
                                        <p:tgtEl>
                                          <p:spTgt spid="2491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1395"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half" idx="10"/>
          </p:nvPr>
        </p:nvSpPr>
        <p:spPr/>
        <p:txBody>
          <a:bodyPr/>
          <a:lstStyle/>
          <a:p>
            <a:fld id="{E63B1500-71B7-4A6F-8583-05115772412D}" type="datetime1">
              <a:rPr lang="zh-CN" altLang="en-US"/>
              <a:pPr/>
              <a:t>2017/2/24</a:t>
            </a:fld>
            <a:endParaRPr lang="en-US" altLang="zh-CN"/>
          </a:p>
        </p:txBody>
      </p:sp>
      <p:sp>
        <p:nvSpPr>
          <p:cNvPr id="13" name="灯片编号占位符 5"/>
          <p:cNvSpPr>
            <a:spLocks noGrp="1"/>
          </p:cNvSpPr>
          <p:nvPr>
            <p:ph type="sldNum" sz="quarter" idx="12"/>
          </p:nvPr>
        </p:nvSpPr>
        <p:spPr/>
        <p:txBody>
          <a:bodyPr/>
          <a:lstStyle/>
          <a:p>
            <a:fld id="{EA3E3208-2009-405B-8385-14B963189F01}" type="slidenum">
              <a:rPr lang="en-US" altLang="zh-CN"/>
              <a:pPr/>
              <a:t>5</a:t>
            </a:fld>
            <a:endParaRPr lang="en-US" altLang="zh-CN"/>
          </a:p>
        </p:txBody>
      </p:sp>
      <p:sp>
        <p:nvSpPr>
          <p:cNvPr id="2493442" name="Rectangle 2"/>
          <p:cNvSpPr>
            <a:spLocks noGrp="1" noChangeArrowheads="1"/>
          </p:cNvSpPr>
          <p:nvPr>
            <p:ph type="title"/>
          </p:nvPr>
        </p:nvSpPr>
        <p:spPr>
          <a:xfrm>
            <a:off x="944563" y="188913"/>
            <a:ext cx="6435725" cy="86360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名字的绑定</a:t>
            </a:r>
          </a:p>
        </p:txBody>
      </p:sp>
      <p:sp>
        <p:nvSpPr>
          <p:cNvPr id="2493443" name="Rectangle 3"/>
          <p:cNvSpPr>
            <a:spLocks noGrp="1" noChangeArrowheads="1"/>
          </p:cNvSpPr>
          <p:nvPr>
            <p:ph type="body" idx="1"/>
          </p:nvPr>
        </p:nvSpPr>
        <p:spPr>
          <a:xfrm>
            <a:off x="144463" y="1089025"/>
            <a:ext cx="8964612" cy="277177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从名字到值的两步映射</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环境把名字映射到左值，而状态把左值映射到右值</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赋值改变状态，但不改变环境。</a:t>
            </a: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 </a:t>
            </a:r>
          </a:p>
          <a:p>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如果环境将名字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映射到存储单元</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，我们就说</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被</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绑定</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到</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493445" name="Rectangle 5"/>
          <p:cNvSpPr>
            <a:spLocks noChangeArrowheads="1"/>
          </p:cNvSpPr>
          <p:nvPr/>
        </p:nvSpPr>
        <p:spPr bwMode="auto">
          <a:xfrm>
            <a:off x="938213" y="4778375"/>
            <a:ext cx="11858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3200" b="1">
                <a:ea typeface="楷体_GB2312" pitchFamily="49" charset="-122"/>
              </a:rPr>
              <a:t>名字</a:t>
            </a:r>
          </a:p>
        </p:txBody>
      </p:sp>
      <p:sp>
        <p:nvSpPr>
          <p:cNvPr id="2493446" name="Rectangle 6"/>
          <p:cNvSpPr>
            <a:spLocks noChangeArrowheads="1"/>
          </p:cNvSpPr>
          <p:nvPr/>
        </p:nvSpPr>
        <p:spPr bwMode="auto">
          <a:xfrm>
            <a:off x="3743325" y="4778375"/>
            <a:ext cx="190817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3200" b="1">
                <a:ea typeface="楷体_GB2312" pitchFamily="49" charset="-122"/>
              </a:rPr>
              <a:t>内存位置</a:t>
            </a:r>
          </a:p>
          <a:p>
            <a:pPr algn="ctr" eaLnBrk="0" hangingPunct="0"/>
            <a:r>
              <a:rPr lang="en-US" altLang="zh-CN" sz="3200" b="1">
                <a:ea typeface="楷体_GB2312" pitchFamily="49" charset="-122"/>
              </a:rPr>
              <a:t>(</a:t>
            </a:r>
            <a:r>
              <a:rPr lang="zh-CN" altLang="en-US" sz="3200" b="1">
                <a:ea typeface="楷体_GB2312" pitchFamily="49" charset="-122"/>
              </a:rPr>
              <a:t>变量</a:t>
            </a:r>
            <a:r>
              <a:rPr lang="en-US" altLang="zh-CN" sz="3200" b="1">
                <a:ea typeface="楷体_GB2312" pitchFamily="49" charset="-122"/>
              </a:rPr>
              <a:t>)</a:t>
            </a:r>
          </a:p>
        </p:txBody>
      </p:sp>
      <p:sp>
        <p:nvSpPr>
          <p:cNvPr id="2493447" name="Rectangle 7"/>
          <p:cNvSpPr>
            <a:spLocks noChangeArrowheads="1"/>
          </p:cNvSpPr>
          <p:nvPr/>
        </p:nvSpPr>
        <p:spPr bwMode="auto">
          <a:xfrm>
            <a:off x="5586413" y="4010025"/>
            <a:ext cx="1143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3200" b="1">
                <a:ea typeface="楷体_GB2312" pitchFamily="49" charset="-122"/>
              </a:rPr>
              <a:t>状态</a:t>
            </a:r>
          </a:p>
        </p:txBody>
      </p:sp>
      <p:sp>
        <p:nvSpPr>
          <p:cNvPr id="2493448" name="Rectangle 8"/>
          <p:cNvSpPr>
            <a:spLocks noChangeArrowheads="1"/>
          </p:cNvSpPr>
          <p:nvPr/>
        </p:nvSpPr>
        <p:spPr bwMode="auto">
          <a:xfrm>
            <a:off x="7389813" y="4778375"/>
            <a:ext cx="1143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3200" b="1">
                <a:ea typeface="楷体_GB2312" pitchFamily="49" charset="-122"/>
              </a:rPr>
              <a:t>值</a:t>
            </a:r>
          </a:p>
        </p:txBody>
      </p:sp>
      <p:sp>
        <p:nvSpPr>
          <p:cNvPr id="2493449" name="Rectangle 9"/>
          <p:cNvSpPr>
            <a:spLocks noChangeArrowheads="1"/>
          </p:cNvSpPr>
          <p:nvPr/>
        </p:nvSpPr>
        <p:spPr bwMode="auto">
          <a:xfrm>
            <a:off x="2538413" y="4010025"/>
            <a:ext cx="1143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3200" b="1">
                <a:ea typeface="楷体_GB2312" pitchFamily="49" charset="-122"/>
              </a:rPr>
              <a:t>环境</a:t>
            </a:r>
          </a:p>
        </p:txBody>
      </p:sp>
      <p:sp>
        <p:nvSpPr>
          <p:cNvPr id="2493450" name="Freeform 10"/>
          <p:cNvSpPr>
            <a:spLocks/>
          </p:cNvSpPr>
          <p:nvPr/>
        </p:nvSpPr>
        <p:spPr bwMode="auto">
          <a:xfrm>
            <a:off x="1639888" y="4521200"/>
            <a:ext cx="2905125" cy="323850"/>
          </a:xfrm>
          <a:custGeom>
            <a:avLst/>
            <a:gdLst>
              <a:gd name="T0" fmla="*/ 0 w 1830"/>
              <a:gd name="T1" fmla="*/ 290 h 290"/>
              <a:gd name="T2" fmla="*/ 420 w 1830"/>
              <a:gd name="T3" fmla="*/ 92 h 290"/>
              <a:gd name="T4" fmla="*/ 900 w 1830"/>
              <a:gd name="T5" fmla="*/ 2 h 290"/>
              <a:gd name="T6" fmla="*/ 1395 w 1830"/>
              <a:gd name="T7" fmla="*/ 107 h 290"/>
              <a:gd name="T8" fmla="*/ 1830 w 1830"/>
              <a:gd name="T9" fmla="*/ 287 h 290"/>
            </a:gdLst>
            <a:ahLst/>
            <a:cxnLst>
              <a:cxn ang="0">
                <a:pos x="T0" y="T1"/>
              </a:cxn>
              <a:cxn ang="0">
                <a:pos x="T2" y="T3"/>
              </a:cxn>
              <a:cxn ang="0">
                <a:pos x="T4" y="T5"/>
              </a:cxn>
              <a:cxn ang="0">
                <a:pos x="T6" y="T7"/>
              </a:cxn>
              <a:cxn ang="0">
                <a:pos x="T8" y="T9"/>
              </a:cxn>
            </a:cxnLst>
            <a:rect l="0" t="0" r="r" b="b"/>
            <a:pathLst>
              <a:path w="1830" h="290">
                <a:moveTo>
                  <a:pt x="0" y="290"/>
                </a:moveTo>
                <a:cubicBezTo>
                  <a:pt x="70" y="257"/>
                  <a:pt x="270" y="140"/>
                  <a:pt x="420" y="92"/>
                </a:cubicBezTo>
                <a:cubicBezTo>
                  <a:pt x="570" y="44"/>
                  <a:pt x="738" y="0"/>
                  <a:pt x="900" y="2"/>
                </a:cubicBezTo>
                <a:cubicBezTo>
                  <a:pt x="1062" y="4"/>
                  <a:pt x="1240" y="60"/>
                  <a:pt x="1395" y="107"/>
                </a:cubicBezTo>
                <a:cubicBezTo>
                  <a:pt x="1550" y="154"/>
                  <a:pt x="1740" y="250"/>
                  <a:pt x="1830" y="287"/>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93451" name="Freeform 11"/>
          <p:cNvSpPr>
            <a:spLocks/>
          </p:cNvSpPr>
          <p:nvPr/>
        </p:nvSpPr>
        <p:spPr bwMode="auto">
          <a:xfrm>
            <a:off x="4703763" y="4521200"/>
            <a:ext cx="2903537" cy="323850"/>
          </a:xfrm>
          <a:custGeom>
            <a:avLst/>
            <a:gdLst>
              <a:gd name="T0" fmla="*/ 0 w 1830"/>
              <a:gd name="T1" fmla="*/ 290 h 290"/>
              <a:gd name="T2" fmla="*/ 420 w 1830"/>
              <a:gd name="T3" fmla="*/ 92 h 290"/>
              <a:gd name="T4" fmla="*/ 900 w 1830"/>
              <a:gd name="T5" fmla="*/ 2 h 290"/>
              <a:gd name="T6" fmla="*/ 1395 w 1830"/>
              <a:gd name="T7" fmla="*/ 107 h 290"/>
              <a:gd name="T8" fmla="*/ 1830 w 1830"/>
              <a:gd name="T9" fmla="*/ 287 h 290"/>
            </a:gdLst>
            <a:ahLst/>
            <a:cxnLst>
              <a:cxn ang="0">
                <a:pos x="T0" y="T1"/>
              </a:cxn>
              <a:cxn ang="0">
                <a:pos x="T2" y="T3"/>
              </a:cxn>
              <a:cxn ang="0">
                <a:pos x="T4" y="T5"/>
              </a:cxn>
              <a:cxn ang="0">
                <a:pos x="T6" y="T7"/>
              </a:cxn>
              <a:cxn ang="0">
                <a:pos x="T8" y="T9"/>
              </a:cxn>
            </a:cxnLst>
            <a:rect l="0" t="0" r="r" b="b"/>
            <a:pathLst>
              <a:path w="1830" h="290">
                <a:moveTo>
                  <a:pt x="0" y="290"/>
                </a:moveTo>
                <a:cubicBezTo>
                  <a:pt x="70" y="257"/>
                  <a:pt x="270" y="140"/>
                  <a:pt x="420" y="92"/>
                </a:cubicBezTo>
                <a:cubicBezTo>
                  <a:pt x="570" y="44"/>
                  <a:pt x="738" y="0"/>
                  <a:pt x="900" y="2"/>
                </a:cubicBezTo>
                <a:cubicBezTo>
                  <a:pt x="1062" y="4"/>
                  <a:pt x="1240" y="60"/>
                  <a:pt x="1395" y="107"/>
                </a:cubicBezTo>
                <a:cubicBezTo>
                  <a:pt x="1550" y="154"/>
                  <a:pt x="1740" y="250"/>
                  <a:pt x="1830" y="287"/>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extLst>
      <p:ext uri="{BB962C8B-B14F-4D97-AF65-F5344CB8AC3E}">
        <p14:creationId xmlns:p14="http://schemas.microsoft.com/office/powerpoint/2010/main" val="3918622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3443">
                                            <p:txEl>
                                              <p:pRg st="0" end="0"/>
                                            </p:txEl>
                                          </p:spTgt>
                                        </p:tgtEl>
                                        <p:attrNameLst>
                                          <p:attrName>style.visibility</p:attrName>
                                        </p:attrNameLst>
                                      </p:cBhvr>
                                      <p:to>
                                        <p:strVal val="visible"/>
                                      </p:to>
                                    </p:set>
                                    <p:animEffect transition="in" filter="blinds(horizontal)">
                                      <p:cBhvr>
                                        <p:cTn id="7" dur="500"/>
                                        <p:tgtEl>
                                          <p:spTgt spid="249344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93443">
                                            <p:txEl>
                                              <p:pRg st="1" end="1"/>
                                            </p:txEl>
                                          </p:spTgt>
                                        </p:tgtEl>
                                        <p:attrNameLst>
                                          <p:attrName>style.visibility</p:attrName>
                                        </p:attrNameLst>
                                      </p:cBhvr>
                                      <p:to>
                                        <p:strVal val="visible"/>
                                      </p:to>
                                    </p:set>
                                    <p:animEffect transition="in" filter="blinds(horizontal)">
                                      <p:cBhvr>
                                        <p:cTn id="10" dur="500"/>
                                        <p:tgtEl>
                                          <p:spTgt spid="249344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93445"/>
                                        </p:tgtEl>
                                        <p:attrNameLst>
                                          <p:attrName>style.visibility</p:attrName>
                                        </p:attrNameLst>
                                      </p:cBhvr>
                                      <p:to>
                                        <p:strVal val="visible"/>
                                      </p:to>
                                    </p:set>
                                    <p:animEffect transition="in" filter="wipe(left)">
                                      <p:cBhvr>
                                        <p:cTn id="15" dur="500"/>
                                        <p:tgtEl>
                                          <p:spTgt spid="249344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493450"/>
                                        </p:tgtEl>
                                        <p:attrNameLst>
                                          <p:attrName>style.visibility</p:attrName>
                                        </p:attrNameLst>
                                      </p:cBhvr>
                                      <p:to>
                                        <p:strVal val="visible"/>
                                      </p:to>
                                    </p:set>
                                    <p:animEffect transition="in" filter="wipe(left)">
                                      <p:cBhvr>
                                        <p:cTn id="20" dur="500"/>
                                        <p:tgtEl>
                                          <p:spTgt spid="249345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493449"/>
                                        </p:tgtEl>
                                        <p:attrNameLst>
                                          <p:attrName>style.visibility</p:attrName>
                                        </p:attrNameLst>
                                      </p:cBhvr>
                                      <p:to>
                                        <p:strVal val="visible"/>
                                      </p:to>
                                    </p:set>
                                    <p:animEffect transition="in" filter="wipe(left)">
                                      <p:cBhvr>
                                        <p:cTn id="23" dur="500"/>
                                        <p:tgtEl>
                                          <p:spTgt spid="2493449"/>
                                        </p:tgtEl>
                                      </p:cBhvr>
                                    </p:animEffect>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493446"/>
                                        </p:tgtEl>
                                        <p:attrNameLst>
                                          <p:attrName>style.visibility</p:attrName>
                                        </p:attrNameLst>
                                      </p:cBhvr>
                                      <p:to>
                                        <p:strVal val="visible"/>
                                      </p:to>
                                    </p:set>
                                    <p:animEffect transition="in" filter="wipe(left)">
                                      <p:cBhvr>
                                        <p:cTn id="27" dur="500"/>
                                        <p:tgtEl>
                                          <p:spTgt spid="24934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93451"/>
                                        </p:tgtEl>
                                        <p:attrNameLst>
                                          <p:attrName>style.visibility</p:attrName>
                                        </p:attrNameLst>
                                      </p:cBhvr>
                                      <p:to>
                                        <p:strVal val="visible"/>
                                      </p:to>
                                    </p:set>
                                    <p:animEffect transition="in" filter="wipe(left)">
                                      <p:cBhvr>
                                        <p:cTn id="32" dur="500"/>
                                        <p:tgtEl>
                                          <p:spTgt spid="249345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493447"/>
                                        </p:tgtEl>
                                        <p:attrNameLst>
                                          <p:attrName>style.visibility</p:attrName>
                                        </p:attrNameLst>
                                      </p:cBhvr>
                                      <p:to>
                                        <p:strVal val="visible"/>
                                      </p:to>
                                    </p:set>
                                    <p:animEffect transition="in" filter="wipe(left)">
                                      <p:cBhvr>
                                        <p:cTn id="35" dur="500"/>
                                        <p:tgtEl>
                                          <p:spTgt spid="2493447"/>
                                        </p:tgtEl>
                                      </p:cBhvr>
                                    </p:animEffect>
                                  </p:childTnLst>
                                </p:cTn>
                              </p:par>
                            </p:childTnLst>
                          </p:cTn>
                        </p:par>
                        <p:par>
                          <p:cTn id="36" fill="hold" nodeType="afterGroup">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493448"/>
                                        </p:tgtEl>
                                        <p:attrNameLst>
                                          <p:attrName>style.visibility</p:attrName>
                                        </p:attrNameLst>
                                      </p:cBhvr>
                                      <p:to>
                                        <p:strVal val="visible"/>
                                      </p:to>
                                    </p:set>
                                    <p:animEffect transition="in" filter="wipe(left)">
                                      <p:cBhvr>
                                        <p:cTn id="39" dur="500"/>
                                        <p:tgtEl>
                                          <p:spTgt spid="249344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493443">
                                            <p:txEl>
                                              <p:pRg st="2" end="2"/>
                                            </p:txEl>
                                          </p:spTgt>
                                        </p:tgtEl>
                                        <p:attrNameLst>
                                          <p:attrName>style.visibility</p:attrName>
                                        </p:attrNameLst>
                                      </p:cBhvr>
                                      <p:to>
                                        <p:strVal val="visible"/>
                                      </p:to>
                                    </p:set>
                                    <p:animEffect transition="in" filter="blinds(horizontal)">
                                      <p:cBhvr>
                                        <p:cTn id="44" dur="500"/>
                                        <p:tgtEl>
                                          <p:spTgt spid="2493443">
                                            <p:txEl>
                                              <p:pRg st="2" end="2"/>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493443">
                                            <p:txEl>
                                              <p:pRg st="3" end="3"/>
                                            </p:txEl>
                                          </p:spTgt>
                                        </p:tgtEl>
                                        <p:attrNameLst>
                                          <p:attrName>style.visibility</p:attrName>
                                        </p:attrNameLst>
                                      </p:cBhvr>
                                      <p:to>
                                        <p:strVal val="visible"/>
                                      </p:to>
                                    </p:set>
                                    <p:animEffect transition="in" filter="blinds(horizontal)">
                                      <p:cBhvr>
                                        <p:cTn id="49" dur="500"/>
                                        <p:tgtEl>
                                          <p:spTgt spid="24934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3443" grpId="0" uiExpand="1" build="p"/>
      <p:bldP spid="2493445" grpId="0"/>
      <p:bldP spid="2493446" grpId="0"/>
      <p:bldP spid="2493447" grpId="0"/>
      <p:bldP spid="2493448" grpId="0"/>
      <p:bldP spid="249344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00CCEDD-CEAD-4E5E-AEE4-CF6BD0C73BE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BDBDE65-3E58-440A-9160-C08E24C4370D}" type="slidenum">
              <a:rPr lang="en-US" altLang="zh-CN"/>
              <a:pPr/>
              <a:t>6</a:t>
            </a:fld>
            <a:endParaRPr lang="en-US" altLang="zh-CN"/>
          </a:p>
        </p:txBody>
      </p:sp>
      <p:sp>
        <p:nvSpPr>
          <p:cNvPr id="2495490"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9.1.2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声明的作用域</a:t>
            </a:r>
          </a:p>
        </p:txBody>
      </p:sp>
      <p:sp>
        <p:nvSpPr>
          <p:cNvPr id="2495491" name="Rectangle 3"/>
          <p:cNvSpPr>
            <a:spLocks noGrp="1" noChangeArrowheads="1"/>
          </p:cNvSpPr>
          <p:nvPr>
            <p:ph type="body" idx="1"/>
          </p:nvPr>
        </p:nvSpPr>
        <p:spPr>
          <a:xfrm>
            <a:off x="323850" y="981075"/>
            <a:ext cx="8640763" cy="5256213"/>
          </a:xfrm>
        </p:spPr>
        <p:txBody>
          <a:bodyPr/>
          <a:lstStyle/>
          <a:p>
            <a:pPr>
              <a:lnSpc>
                <a:spcPct val="90000"/>
              </a:lnSpc>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的声明的作用域是程序中的这样一段区域，在该区域中，</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的引用均指向</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的这一声明。对于某种程序设计语言，如果只通过考察其程序就可以确定某个声明的作用域，则称该语言使用</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静态作用域</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；否则称该语言使用</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动态作用域</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Java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等还提供了对</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作用域的显式控制</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，其方法是使用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public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private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protected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这样的关键字。</a:t>
            </a:r>
          </a:p>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声明的作用域是通过符号表进行管理的，详见</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8.4</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节的讨论。</a:t>
            </a:r>
          </a:p>
        </p:txBody>
      </p:sp>
    </p:spTree>
    <p:extLst>
      <p:ext uri="{BB962C8B-B14F-4D97-AF65-F5344CB8AC3E}">
        <p14:creationId xmlns:p14="http://schemas.microsoft.com/office/powerpoint/2010/main" val="3364472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5491">
                                            <p:txEl>
                                              <p:pRg st="0" end="0"/>
                                            </p:txEl>
                                          </p:spTgt>
                                        </p:tgtEl>
                                        <p:attrNameLst>
                                          <p:attrName>style.visibility</p:attrName>
                                        </p:attrNameLst>
                                      </p:cBhvr>
                                      <p:to>
                                        <p:strVal val="visible"/>
                                      </p:to>
                                    </p:set>
                                    <p:animEffect transition="in" filter="blinds(horizontal)">
                                      <p:cBhvr>
                                        <p:cTn id="7" dur="500"/>
                                        <p:tgtEl>
                                          <p:spTgt spid="2495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95491">
                                            <p:txEl>
                                              <p:pRg st="1" end="1"/>
                                            </p:txEl>
                                          </p:spTgt>
                                        </p:tgtEl>
                                        <p:attrNameLst>
                                          <p:attrName>style.visibility</p:attrName>
                                        </p:attrNameLst>
                                      </p:cBhvr>
                                      <p:to>
                                        <p:strVal val="visible"/>
                                      </p:to>
                                    </p:set>
                                    <p:animEffect transition="in" filter="blinds(horizontal)">
                                      <p:cBhvr>
                                        <p:cTn id="12" dur="500"/>
                                        <p:tgtEl>
                                          <p:spTgt spid="24954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95491">
                                            <p:txEl>
                                              <p:pRg st="2" end="2"/>
                                            </p:txEl>
                                          </p:spTgt>
                                        </p:tgtEl>
                                        <p:attrNameLst>
                                          <p:attrName>style.visibility</p:attrName>
                                        </p:attrNameLst>
                                      </p:cBhvr>
                                      <p:to>
                                        <p:strVal val="visible"/>
                                      </p:to>
                                    </p:set>
                                    <p:animEffect transition="in" filter="blinds(horizontal)">
                                      <p:cBhvr>
                                        <p:cTn id="17" dur="500"/>
                                        <p:tgtEl>
                                          <p:spTgt spid="24954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549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03CF056-B3BB-4D80-B160-F406C0E52AA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B80640A-CA0F-472C-BBD4-41BD6B7223EF}" type="slidenum">
              <a:rPr lang="en-US" altLang="zh-CN"/>
              <a:pPr/>
              <a:t>7</a:t>
            </a:fld>
            <a:endParaRPr lang="en-US" altLang="zh-CN"/>
          </a:p>
        </p:txBody>
      </p:sp>
      <p:sp>
        <p:nvSpPr>
          <p:cNvPr id="2497538"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静态作用域</a:t>
            </a:r>
          </a:p>
        </p:txBody>
      </p:sp>
      <p:sp>
        <p:nvSpPr>
          <p:cNvPr id="2497539" name="Rectangle 3"/>
          <p:cNvSpPr>
            <a:spLocks noGrp="1" noChangeArrowheads="1"/>
          </p:cNvSpPr>
          <p:nvPr>
            <p:ph type="body" idx="1"/>
          </p:nvPr>
        </p:nvSpPr>
        <p:spPr>
          <a:xfrm>
            <a:off x="323850" y="981075"/>
            <a:ext cx="8640763" cy="5256213"/>
          </a:xfrm>
        </p:spPr>
        <p:txBody>
          <a:bodyPr/>
          <a:lstStyle/>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在具有程序块结构的语言中，变量声明的静态作用域规则如下 ：</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如果名字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的声明</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属于程序块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，则</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的作用域是</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的所有语句，只有满足如下条件的程序块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除外：</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嵌套在</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可以是任意的嵌套深度</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，且</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中具有同一名字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的一个新的声明。</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令</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是包围</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的本次引用的所有程序块，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k</a:t>
            </a:r>
            <a:r>
              <a:rPr lang="en-US" altLang="zh-CN" b="1" baseline="-2500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的直接外层程序块，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k</a:t>
            </a:r>
            <a:r>
              <a:rPr lang="en-US" altLang="zh-CN" b="1" baseline="-2500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k</a:t>
            </a:r>
            <a:r>
              <a:rPr lang="en-US" altLang="zh-CN" b="1" baseline="-2500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的直接外层程序块，如此类推。找到使</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的某个声明属于</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的最大</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，则</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的本次引用指向</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中的这个声明。换句话说，</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的本次引用处在</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i="1" baseline="-25000">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中的这个声明的作用域中。  </a:t>
            </a:r>
          </a:p>
        </p:txBody>
      </p:sp>
    </p:spTree>
    <p:extLst>
      <p:ext uri="{BB962C8B-B14F-4D97-AF65-F5344CB8AC3E}">
        <p14:creationId xmlns:p14="http://schemas.microsoft.com/office/powerpoint/2010/main" val="818830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7539">
                                            <p:txEl>
                                              <p:pRg st="0" end="0"/>
                                            </p:txEl>
                                          </p:spTgt>
                                        </p:tgtEl>
                                        <p:attrNameLst>
                                          <p:attrName>style.visibility</p:attrName>
                                        </p:attrNameLst>
                                      </p:cBhvr>
                                      <p:to>
                                        <p:strVal val="visible"/>
                                      </p:to>
                                    </p:set>
                                    <p:animEffect transition="in" filter="blinds(horizontal)">
                                      <p:cBhvr>
                                        <p:cTn id="7" dur="500"/>
                                        <p:tgtEl>
                                          <p:spTgt spid="2497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97539">
                                            <p:txEl>
                                              <p:pRg st="1" end="1"/>
                                            </p:txEl>
                                          </p:spTgt>
                                        </p:tgtEl>
                                        <p:attrNameLst>
                                          <p:attrName>style.visibility</p:attrName>
                                        </p:attrNameLst>
                                      </p:cBhvr>
                                      <p:to>
                                        <p:strVal val="visible"/>
                                      </p:to>
                                    </p:set>
                                    <p:animEffect transition="in" filter="blinds(horizontal)">
                                      <p:cBhvr>
                                        <p:cTn id="12" dur="500"/>
                                        <p:tgtEl>
                                          <p:spTgt spid="2497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97539">
                                            <p:txEl>
                                              <p:pRg st="2" end="2"/>
                                            </p:txEl>
                                          </p:spTgt>
                                        </p:tgtEl>
                                        <p:attrNameLst>
                                          <p:attrName>style.visibility</p:attrName>
                                        </p:attrNameLst>
                                      </p:cBhvr>
                                      <p:to>
                                        <p:strVal val="visible"/>
                                      </p:to>
                                    </p:set>
                                    <p:animEffect transition="in" filter="blinds(horizontal)">
                                      <p:cBhvr>
                                        <p:cTn id="17" dur="500"/>
                                        <p:tgtEl>
                                          <p:spTgt spid="2497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7539"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3DC34FA2-7042-4707-8E6F-3BE91A314C58}"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D3BDB206-2C36-40E6-9E6B-A2C386D3EE19}" type="slidenum">
              <a:rPr lang="en-US" altLang="zh-CN"/>
              <a:pPr/>
              <a:t>8</a:t>
            </a:fld>
            <a:endParaRPr lang="en-US" altLang="zh-CN"/>
          </a:p>
        </p:txBody>
      </p:sp>
      <p:sp>
        <p:nvSpPr>
          <p:cNvPr id="2499586"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静态作用域</a:t>
            </a:r>
          </a:p>
        </p:txBody>
      </p:sp>
      <p:sp>
        <p:nvSpPr>
          <p:cNvPr id="2499587" name="Rectangle 3"/>
          <p:cNvSpPr>
            <a:spLocks noChangeArrowheads="1"/>
          </p:cNvSpPr>
          <p:nvPr/>
        </p:nvSpPr>
        <p:spPr bwMode="auto">
          <a:xfrm>
            <a:off x="0" y="2740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499588" name="Object 4"/>
          <p:cNvGraphicFramePr>
            <a:graphicFrameLocks noChangeAspect="1"/>
          </p:cNvGraphicFramePr>
          <p:nvPr/>
        </p:nvGraphicFramePr>
        <p:xfrm>
          <a:off x="1331913" y="1266825"/>
          <a:ext cx="6499225" cy="3675063"/>
        </p:xfrm>
        <a:graphic>
          <a:graphicData uri="http://schemas.openxmlformats.org/presentationml/2006/ole">
            <mc:AlternateContent xmlns:mc="http://schemas.openxmlformats.org/markup-compatibility/2006">
              <mc:Choice xmlns:v="urn:schemas-microsoft-com:vml" Requires="v">
                <p:oleObj spid="_x0000_s99331" name="Visio" r:id="rId4" imgW="2035026" imgH="1149104" progId="Visio.Drawing.11">
                  <p:embed/>
                </p:oleObj>
              </mc:Choice>
              <mc:Fallback>
                <p:oleObj name="Visio" r:id="rId4" imgW="2035026" imgH="1149104" progId="Visio.Drawing.11">
                  <p:embed/>
                  <p:pic>
                    <p:nvPicPr>
                      <p:cNvPr id="24995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1266825"/>
                        <a:ext cx="6499225" cy="3675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9589" name="Rectangle 5"/>
          <p:cNvSpPr>
            <a:spLocks noChangeArrowheads="1"/>
          </p:cNvSpPr>
          <p:nvPr/>
        </p:nvSpPr>
        <p:spPr bwMode="auto">
          <a:xfrm>
            <a:off x="2003425" y="5173663"/>
            <a:ext cx="5157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ea typeface="楷体_GB2312" pitchFamily="49" charset="-122"/>
              </a:rPr>
              <a:t>表</a:t>
            </a:r>
            <a:r>
              <a:rPr kumimoji="1" lang="en-US" altLang="zh-CN" b="1">
                <a:ea typeface="楷体_GB2312" pitchFamily="49" charset="-122"/>
              </a:rPr>
              <a:t>9.1 </a:t>
            </a:r>
            <a:r>
              <a:rPr kumimoji="1" lang="zh-CN" altLang="en-US" b="1">
                <a:ea typeface="楷体_GB2312" pitchFamily="49" charset="-122"/>
              </a:rPr>
              <a:t>图</a:t>
            </a:r>
            <a:r>
              <a:rPr kumimoji="1" lang="en-US" altLang="zh-CN" b="1">
                <a:ea typeface="楷体_GB2312" pitchFamily="49" charset="-122"/>
              </a:rPr>
              <a:t>8.10</a:t>
            </a:r>
            <a:r>
              <a:rPr kumimoji="1" lang="zh-CN" altLang="en-US" b="1">
                <a:ea typeface="楷体_GB2312" pitchFamily="49" charset="-122"/>
              </a:rPr>
              <a:t>所示程序中声明的作用域</a:t>
            </a:r>
          </a:p>
        </p:txBody>
      </p:sp>
    </p:spTree>
    <p:extLst>
      <p:ext uri="{BB962C8B-B14F-4D97-AF65-F5344CB8AC3E}">
        <p14:creationId xmlns:p14="http://schemas.microsoft.com/office/powerpoint/2010/main" val="24598791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4D367A8-3EA5-4522-BE47-C964270FE20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F892BD9-B869-45BA-8843-AACDCCA9C0FC}" type="slidenum">
              <a:rPr lang="en-US" altLang="zh-CN"/>
              <a:pPr/>
              <a:t>9</a:t>
            </a:fld>
            <a:endParaRPr lang="en-US" altLang="zh-CN"/>
          </a:p>
        </p:txBody>
      </p:sp>
      <p:sp>
        <p:nvSpPr>
          <p:cNvPr id="2501634"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显式访问控制 </a:t>
            </a:r>
          </a:p>
        </p:txBody>
      </p:sp>
      <p:sp>
        <p:nvSpPr>
          <p:cNvPr id="2501635" name="Rectangle 3"/>
          <p:cNvSpPr>
            <a:spLocks noGrp="1" noChangeArrowheads="1"/>
          </p:cNvSpPr>
          <p:nvPr>
            <p:ph type="body" idx="1"/>
          </p:nvPr>
        </p:nvSpPr>
        <p:spPr>
          <a:xfrm>
            <a:off x="179388" y="1700213"/>
            <a:ext cx="8820150" cy="475297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类和结构为其成员引入了一种新的作用域</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是某个带有域</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成员</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的类的对象，则</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的引用将指向该类定义中的域</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。与程序块结构类似的是，类</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中成员</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的声明的作用域将会扩展到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的任何子类</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，除非</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中具有同一名字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的一个局部声明。</a:t>
            </a:r>
          </a:p>
        </p:txBody>
      </p:sp>
    </p:spTree>
    <p:extLst>
      <p:ext uri="{BB962C8B-B14F-4D97-AF65-F5344CB8AC3E}">
        <p14:creationId xmlns:p14="http://schemas.microsoft.com/office/powerpoint/2010/main" val="38405651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1635">
                                            <p:txEl>
                                              <p:pRg st="0" end="0"/>
                                            </p:txEl>
                                          </p:spTgt>
                                        </p:tgtEl>
                                        <p:attrNameLst>
                                          <p:attrName>style.visibility</p:attrName>
                                        </p:attrNameLst>
                                      </p:cBhvr>
                                      <p:to>
                                        <p:strVal val="visible"/>
                                      </p:to>
                                    </p:set>
                                    <p:animEffect transition="in" filter="blinds(horizontal)">
                                      <p:cBhvr>
                                        <p:cTn id="7" dur="500"/>
                                        <p:tgtEl>
                                          <p:spTgt spid="2501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01635">
                                            <p:txEl>
                                              <p:pRg st="1" end="1"/>
                                            </p:txEl>
                                          </p:spTgt>
                                        </p:tgtEl>
                                        <p:attrNameLst>
                                          <p:attrName>style.visibility</p:attrName>
                                        </p:attrNameLst>
                                      </p:cBhvr>
                                      <p:to>
                                        <p:strVal val="visible"/>
                                      </p:to>
                                    </p:set>
                                    <p:animEffect transition="in" filter="blinds(horizontal)">
                                      <p:cBhvr>
                                        <p:cTn id="12" dur="500"/>
                                        <p:tgtEl>
                                          <p:spTgt spid="25016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163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E5012E4-DF24-49D2-B966-E4F4555067F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F3C86094-9746-4ED3-8F66-885661286138}" type="slidenum">
              <a:rPr lang="en-US" altLang="zh-CN"/>
              <a:pPr/>
              <a:t>10</a:t>
            </a:fld>
            <a:endParaRPr lang="en-US" altLang="zh-CN"/>
          </a:p>
        </p:txBody>
      </p:sp>
      <p:sp>
        <p:nvSpPr>
          <p:cNvPr id="2954242"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显式访问控制 </a:t>
            </a:r>
          </a:p>
        </p:txBody>
      </p:sp>
      <p:sp>
        <p:nvSpPr>
          <p:cNvPr id="2954243" name="Rectangle 3"/>
          <p:cNvSpPr>
            <a:spLocks noGrp="1" noChangeArrowheads="1"/>
          </p:cNvSpPr>
          <p:nvPr>
            <p:ph type="body" idx="1"/>
          </p:nvPr>
        </p:nvSpPr>
        <p:spPr>
          <a:xfrm>
            <a:off x="179388" y="1484313"/>
            <a:ext cx="8820150" cy="4968875"/>
          </a:xfrm>
        </p:spPr>
        <p:txBody>
          <a:bodyPr/>
          <a:lstStyle/>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通过使用像</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public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private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protected</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这样的关键字，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Java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类的面向对象语言提供了一种对超类中成员名字的显式访问控制。这些关键字通过限制访问来支持封装。因此，私有名的作用域只包含与该类及其友类相关联的方法声明和定义，保护名只对其子类是可访问的，而公用名从类的外部也是可以访问的。 </a:t>
            </a:r>
          </a:p>
        </p:txBody>
      </p:sp>
    </p:spTree>
    <p:extLst>
      <p:ext uri="{BB962C8B-B14F-4D97-AF65-F5344CB8AC3E}">
        <p14:creationId xmlns:p14="http://schemas.microsoft.com/office/powerpoint/2010/main" val="31878111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54243">
                                            <p:txEl>
                                              <p:pRg st="0" end="0"/>
                                            </p:txEl>
                                          </p:spTgt>
                                        </p:tgtEl>
                                        <p:attrNameLst>
                                          <p:attrName>style.visibility</p:attrName>
                                        </p:attrNameLst>
                                      </p:cBhvr>
                                      <p:to>
                                        <p:strVal val="visible"/>
                                      </p:to>
                                    </p:set>
                                    <p:animEffect transition="in" filter="blinds(horizontal)">
                                      <p:cBhvr>
                                        <p:cTn id="7" dur="500"/>
                                        <p:tgtEl>
                                          <p:spTgt spid="29542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4243"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D408C15-DE22-4562-99FD-12A40E6E6F7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FAF9AD48-934C-4451-8254-72FC501BF277}" type="slidenum">
              <a:rPr lang="en-US" altLang="zh-CN"/>
              <a:pPr/>
              <a:t>11</a:t>
            </a:fld>
            <a:endParaRPr lang="en-US" altLang="zh-CN"/>
          </a:p>
        </p:txBody>
      </p:sp>
      <p:sp>
        <p:nvSpPr>
          <p:cNvPr id="2503682"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 </a:t>
            </a:r>
          </a:p>
        </p:txBody>
      </p:sp>
      <p:sp>
        <p:nvSpPr>
          <p:cNvPr id="2503683" name="Rectangle 3"/>
          <p:cNvSpPr>
            <a:spLocks noGrp="1" noChangeArrowheads="1"/>
          </p:cNvSpPr>
          <p:nvPr>
            <p:ph type="body" idx="1"/>
          </p:nvPr>
        </p:nvSpPr>
        <p:spPr>
          <a:xfrm>
            <a:off x="323850" y="1557338"/>
            <a:ext cx="8640763" cy="4751387"/>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动态作用域规则相对于时间而静态作用域规则相对于空间</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静态作用域规则要求我们找出某个引用所指向的声明，条件是该声明处在包围该引用的“空间上最近的”单元</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程序块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动态作用域也是要求我们找出某个引用所指向的声明，但条件是该声明处在包围该引用的“时间上最近的”单元</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过程活动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a:t>
            </a:r>
          </a:p>
        </p:txBody>
      </p:sp>
    </p:spTree>
    <p:extLst>
      <p:ext uri="{BB962C8B-B14F-4D97-AF65-F5344CB8AC3E}">
        <p14:creationId xmlns:p14="http://schemas.microsoft.com/office/powerpoint/2010/main" val="2244455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3683">
                                            <p:txEl>
                                              <p:pRg st="0" end="0"/>
                                            </p:txEl>
                                          </p:spTgt>
                                        </p:tgtEl>
                                        <p:attrNameLst>
                                          <p:attrName>style.visibility</p:attrName>
                                        </p:attrNameLst>
                                      </p:cBhvr>
                                      <p:to>
                                        <p:strVal val="visible"/>
                                      </p:to>
                                    </p:set>
                                    <p:animEffect transition="in" filter="blinds(horizontal)">
                                      <p:cBhvr>
                                        <p:cTn id="7" dur="500"/>
                                        <p:tgtEl>
                                          <p:spTgt spid="2503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03683">
                                            <p:txEl>
                                              <p:pRg st="1" end="1"/>
                                            </p:txEl>
                                          </p:spTgt>
                                        </p:tgtEl>
                                        <p:attrNameLst>
                                          <p:attrName>style.visibility</p:attrName>
                                        </p:attrNameLst>
                                      </p:cBhvr>
                                      <p:to>
                                        <p:strVal val="visible"/>
                                      </p:to>
                                    </p:set>
                                    <p:animEffect transition="in" filter="blinds(horizontal)">
                                      <p:cBhvr>
                                        <p:cTn id="12" dur="500"/>
                                        <p:tgtEl>
                                          <p:spTgt spid="25036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03683">
                                            <p:txEl>
                                              <p:pRg st="2" end="2"/>
                                            </p:txEl>
                                          </p:spTgt>
                                        </p:tgtEl>
                                        <p:attrNameLst>
                                          <p:attrName>style.visibility</p:attrName>
                                        </p:attrNameLst>
                                      </p:cBhvr>
                                      <p:to>
                                        <p:strVal val="visible"/>
                                      </p:to>
                                    </p:set>
                                    <p:animEffect transition="in" filter="blinds(horizontal)">
                                      <p:cBhvr>
                                        <p:cTn id="17" dur="500"/>
                                        <p:tgtEl>
                                          <p:spTgt spid="25036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3683"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E3BD2E-6ED7-441A-B39D-E36317FEEC4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8DFD3D9-AFB6-4A63-AC29-1B8683DB13D8}" type="slidenum">
              <a:rPr lang="en-US" altLang="zh-CN"/>
              <a:pPr/>
              <a:t>12</a:t>
            </a:fld>
            <a:endParaRPr lang="en-US" altLang="zh-CN"/>
          </a:p>
        </p:txBody>
      </p:sp>
      <p:sp>
        <p:nvSpPr>
          <p:cNvPr id="2956290"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 </a:t>
            </a:r>
          </a:p>
        </p:txBody>
      </p:sp>
      <p:sp>
        <p:nvSpPr>
          <p:cNvPr id="2956291" name="Rectangle 3"/>
          <p:cNvSpPr>
            <a:spLocks noGrp="1" noChangeArrowheads="1"/>
          </p:cNvSpPr>
          <p:nvPr>
            <p:ph type="body" idx="1"/>
          </p:nvPr>
        </p:nvSpPr>
        <p:spPr>
          <a:xfrm>
            <a:off x="323850" y="1844675"/>
            <a:ext cx="8640763" cy="446405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动态作用域”通常是指下面的策略</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的引用指向带有</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声明的最近被调用的过程中</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的这个声明。</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例如，过程被当做参数进行传递时  </a:t>
            </a:r>
          </a:p>
        </p:txBody>
      </p:sp>
    </p:spTree>
    <p:extLst>
      <p:ext uri="{BB962C8B-B14F-4D97-AF65-F5344CB8AC3E}">
        <p14:creationId xmlns:p14="http://schemas.microsoft.com/office/powerpoint/2010/main" val="559835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56291">
                                            <p:txEl>
                                              <p:pRg st="0" end="0"/>
                                            </p:txEl>
                                          </p:spTgt>
                                        </p:tgtEl>
                                        <p:attrNameLst>
                                          <p:attrName>style.visibility</p:attrName>
                                        </p:attrNameLst>
                                      </p:cBhvr>
                                      <p:to>
                                        <p:strVal val="visible"/>
                                      </p:to>
                                    </p:set>
                                    <p:animEffect transition="in" filter="blinds(horizontal)">
                                      <p:cBhvr>
                                        <p:cTn id="7" dur="500"/>
                                        <p:tgtEl>
                                          <p:spTgt spid="2956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56291">
                                            <p:txEl>
                                              <p:pRg st="1" end="1"/>
                                            </p:txEl>
                                          </p:spTgt>
                                        </p:tgtEl>
                                        <p:attrNameLst>
                                          <p:attrName>style.visibility</p:attrName>
                                        </p:attrNameLst>
                                      </p:cBhvr>
                                      <p:to>
                                        <p:strVal val="visible"/>
                                      </p:to>
                                    </p:set>
                                    <p:animEffect transition="in" filter="blinds(horizontal)">
                                      <p:cBhvr>
                                        <p:cTn id="12" dur="500"/>
                                        <p:tgtEl>
                                          <p:spTgt spid="2956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56291">
                                            <p:txEl>
                                              <p:pRg st="2" end="2"/>
                                            </p:txEl>
                                          </p:spTgt>
                                        </p:tgtEl>
                                        <p:attrNameLst>
                                          <p:attrName>style.visibility</p:attrName>
                                        </p:attrNameLst>
                                      </p:cBhvr>
                                      <p:to>
                                        <p:strVal val="visible"/>
                                      </p:to>
                                    </p:set>
                                    <p:animEffect transition="in" filter="blinds(horizontal)">
                                      <p:cBhvr>
                                        <p:cTn id="17" dur="500"/>
                                        <p:tgtEl>
                                          <p:spTgt spid="29562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6291"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06EFE41-1182-4D3B-9A64-A2A9887698C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E57111B-7B3D-4444-9070-37EB959A273C}" type="slidenum">
              <a:rPr lang="en-US" altLang="zh-CN"/>
              <a:pPr/>
              <a:t>13</a:t>
            </a:fld>
            <a:endParaRPr lang="en-US" altLang="zh-CN"/>
          </a:p>
        </p:txBody>
      </p:sp>
      <p:sp>
        <p:nvSpPr>
          <p:cNvPr id="2505730"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9.1.3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过程及其活动 </a:t>
            </a:r>
          </a:p>
        </p:txBody>
      </p:sp>
      <p:sp>
        <p:nvSpPr>
          <p:cNvPr id="2505731" name="Rectangle 3"/>
          <p:cNvSpPr>
            <a:spLocks noGrp="1" noChangeArrowheads="1"/>
          </p:cNvSpPr>
          <p:nvPr>
            <p:ph type="body" idx="1"/>
          </p:nvPr>
        </p:nvSpPr>
        <p:spPr>
          <a:xfrm>
            <a:off x="323850" y="981075"/>
            <a:ext cx="8640763" cy="5399088"/>
          </a:xfrm>
        </p:spPr>
        <p:txBody>
          <a:bodyPr/>
          <a:lstStyle/>
          <a:p>
            <a:pPr>
              <a:spcBef>
                <a:spcPct val="25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将“过程、函数和方法”统称为“过程” </a:t>
            </a:r>
          </a:p>
          <a:p>
            <a:pPr>
              <a:spcBef>
                <a:spcPct val="25000"/>
              </a:spcBef>
            </a:pP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过程定义</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是一个声明，它的最简单形式是把一个标识符和一个语句联系起来。该标识符是</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过程名</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，而这个语句是</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过程体</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 </a:t>
            </a:r>
          </a:p>
          <a:p>
            <a:pPr>
              <a:spcBef>
                <a:spcPct val="25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当过程名出现在可执行语句中时，称相应的过程在该点被调用。</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过程调用</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就是执行被调用过程的过程体。注意，过程调用也可以出现在表达式中。</a:t>
            </a:r>
          </a:p>
        </p:txBody>
      </p:sp>
    </p:spTree>
    <p:extLst>
      <p:ext uri="{BB962C8B-B14F-4D97-AF65-F5344CB8AC3E}">
        <p14:creationId xmlns:p14="http://schemas.microsoft.com/office/powerpoint/2010/main" val="682094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5731">
                                            <p:txEl>
                                              <p:pRg st="0" end="0"/>
                                            </p:txEl>
                                          </p:spTgt>
                                        </p:tgtEl>
                                        <p:attrNameLst>
                                          <p:attrName>style.visibility</p:attrName>
                                        </p:attrNameLst>
                                      </p:cBhvr>
                                      <p:to>
                                        <p:strVal val="visible"/>
                                      </p:to>
                                    </p:set>
                                    <p:animEffect transition="in" filter="blinds(horizontal)">
                                      <p:cBhvr>
                                        <p:cTn id="7" dur="500"/>
                                        <p:tgtEl>
                                          <p:spTgt spid="2505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05731">
                                            <p:txEl>
                                              <p:pRg st="1" end="1"/>
                                            </p:txEl>
                                          </p:spTgt>
                                        </p:tgtEl>
                                        <p:attrNameLst>
                                          <p:attrName>style.visibility</p:attrName>
                                        </p:attrNameLst>
                                      </p:cBhvr>
                                      <p:to>
                                        <p:strVal val="visible"/>
                                      </p:to>
                                    </p:set>
                                    <p:animEffect transition="in" filter="blinds(horizontal)">
                                      <p:cBhvr>
                                        <p:cTn id="12" dur="500"/>
                                        <p:tgtEl>
                                          <p:spTgt spid="25057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05731">
                                            <p:txEl>
                                              <p:pRg st="2" end="2"/>
                                            </p:txEl>
                                          </p:spTgt>
                                        </p:tgtEl>
                                        <p:attrNameLst>
                                          <p:attrName>style.visibility</p:attrName>
                                        </p:attrNameLst>
                                      </p:cBhvr>
                                      <p:to>
                                        <p:strVal val="visible"/>
                                      </p:to>
                                    </p:set>
                                    <p:animEffect transition="in" filter="blinds(horizontal)">
                                      <p:cBhvr>
                                        <p:cTn id="17" dur="500"/>
                                        <p:tgtEl>
                                          <p:spTgt spid="25057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573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DB1ECC-AEB7-4625-8169-3ACE7D223DF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2414F4D-B07B-46FD-BB57-2F66499D719C}" type="slidenum">
              <a:rPr lang="en-US" altLang="zh-CN"/>
              <a:pPr/>
              <a:t>14</a:t>
            </a:fld>
            <a:endParaRPr lang="en-US" altLang="zh-CN"/>
          </a:p>
        </p:txBody>
      </p:sp>
      <p:sp>
        <p:nvSpPr>
          <p:cNvPr id="2878466"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9.1.3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过程及其活动 </a:t>
            </a:r>
          </a:p>
        </p:txBody>
      </p:sp>
      <p:sp>
        <p:nvSpPr>
          <p:cNvPr id="2878467" name="Rectangle 3"/>
          <p:cNvSpPr>
            <a:spLocks noGrp="1" noChangeArrowheads="1"/>
          </p:cNvSpPr>
          <p:nvPr>
            <p:ph type="body" idx="1"/>
          </p:nvPr>
        </p:nvSpPr>
        <p:spPr>
          <a:xfrm>
            <a:off x="323850" y="981075"/>
            <a:ext cx="8640763" cy="5399088"/>
          </a:xfrm>
        </p:spPr>
        <p:txBody>
          <a:bodyPr/>
          <a:lstStyle/>
          <a:p>
            <a:pPr>
              <a:lnSpc>
                <a:spcPct val="90000"/>
              </a:lnSpc>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出现在过程定义中的某些标识符具有特殊的意义，称为该过程的形式参数，简称为</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形参</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。调用过程时，表达式作为实在参数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或</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实参</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传递给被调用的过程，以替换出现在过程体中的对应形式参数。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9.1.4</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节将讨论实参和形参的结合方法。</a:t>
            </a:r>
          </a:p>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过程体的每次执行叫做该过程的一个</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活动</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的一个活动的生存期是从过程体执行的第一步到最后一步，包括执行被</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调用的过程的时间，以及再由这样的过程调用其它过程所花的时间，等等。  </a:t>
            </a:r>
          </a:p>
        </p:txBody>
      </p:sp>
    </p:spTree>
    <p:extLst>
      <p:ext uri="{BB962C8B-B14F-4D97-AF65-F5344CB8AC3E}">
        <p14:creationId xmlns:p14="http://schemas.microsoft.com/office/powerpoint/2010/main" val="912067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78467">
                                            <p:txEl>
                                              <p:pRg st="0" end="0"/>
                                            </p:txEl>
                                          </p:spTgt>
                                        </p:tgtEl>
                                        <p:attrNameLst>
                                          <p:attrName>style.visibility</p:attrName>
                                        </p:attrNameLst>
                                      </p:cBhvr>
                                      <p:to>
                                        <p:strVal val="visible"/>
                                      </p:to>
                                    </p:set>
                                    <p:animEffect transition="in" filter="blinds(horizontal)">
                                      <p:cBhvr>
                                        <p:cTn id="7" dur="500"/>
                                        <p:tgtEl>
                                          <p:spTgt spid="2878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78467">
                                            <p:txEl>
                                              <p:pRg st="1" end="1"/>
                                            </p:txEl>
                                          </p:spTgt>
                                        </p:tgtEl>
                                        <p:attrNameLst>
                                          <p:attrName>style.visibility</p:attrName>
                                        </p:attrNameLst>
                                      </p:cBhvr>
                                      <p:to>
                                        <p:strVal val="visible"/>
                                      </p:to>
                                    </p:set>
                                    <p:animEffect transition="in" filter="blinds(horizontal)">
                                      <p:cBhvr>
                                        <p:cTn id="12" dur="500"/>
                                        <p:tgtEl>
                                          <p:spTgt spid="28784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846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0061475-F589-4CC7-9C4B-FE731B710D4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AE74B15-7ED5-473A-8774-CF4FA072F908}" type="slidenum">
              <a:rPr lang="en-US" altLang="zh-CN"/>
              <a:pPr/>
              <a:t>15</a:t>
            </a:fld>
            <a:endParaRPr lang="en-US" altLang="zh-CN"/>
          </a:p>
        </p:txBody>
      </p:sp>
      <p:sp>
        <p:nvSpPr>
          <p:cNvPr id="2507778"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9.1.3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过程及其活动 </a:t>
            </a:r>
          </a:p>
        </p:txBody>
      </p:sp>
      <p:sp>
        <p:nvSpPr>
          <p:cNvPr id="2507779" name="Rectangle 3"/>
          <p:cNvSpPr>
            <a:spLocks noGrp="1" noChangeArrowheads="1"/>
          </p:cNvSpPr>
          <p:nvPr>
            <p:ph type="body" idx="1"/>
          </p:nvPr>
        </p:nvSpPr>
        <p:spPr>
          <a:xfrm>
            <a:off x="323850" y="981075"/>
            <a:ext cx="8640763" cy="5399088"/>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是过程的活动，那么它们的生存期或者不交迭，或者嵌套。也就是说，如果在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结束之前</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就开始了，那么</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必须在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结束之前结束。</a:t>
            </a:r>
          </a:p>
          <a:p>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如果同一个过程的一次新的活动可以在前一次活动结束前开始，则称这样的过程是</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递归的</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。递归过程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也可以间接地调用自己。</a:t>
            </a:r>
          </a:p>
          <a:p>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如果某个过程是递归的，则在某一时刻可能有它的几个活动同时活跃，这时必须合理组织这些同时活跃着的活动的内存空间。 </a:t>
            </a:r>
          </a:p>
        </p:txBody>
      </p:sp>
    </p:spTree>
    <p:extLst>
      <p:ext uri="{BB962C8B-B14F-4D97-AF65-F5344CB8AC3E}">
        <p14:creationId xmlns:p14="http://schemas.microsoft.com/office/powerpoint/2010/main" val="1380089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7779">
                                            <p:txEl>
                                              <p:pRg st="0" end="0"/>
                                            </p:txEl>
                                          </p:spTgt>
                                        </p:tgtEl>
                                        <p:attrNameLst>
                                          <p:attrName>style.visibility</p:attrName>
                                        </p:attrNameLst>
                                      </p:cBhvr>
                                      <p:to>
                                        <p:strVal val="visible"/>
                                      </p:to>
                                    </p:set>
                                    <p:animEffect transition="in" filter="blinds(horizontal)">
                                      <p:cBhvr>
                                        <p:cTn id="7" dur="500"/>
                                        <p:tgtEl>
                                          <p:spTgt spid="2507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07779">
                                            <p:txEl>
                                              <p:pRg st="1" end="1"/>
                                            </p:txEl>
                                          </p:spTgt>
                                        </p:tgtEl>
                                        <p:attrNameLst>
                                          <p:attrName>style.visibility</p:attrName>
                                        </p:attrNameLst>
                                      </p:cBhvr>
                                      <p:to>
                                        <p:strVal val="visible"/>
                                      </p:to>
                                    </p:set>
                                    <p:animEffect transition="in" filter="blinds(horizontal)">
                                      <p:cBhvr>
                                        <p:cTn id="12" dur="500"/>
                                        <p:tgtEl>
                                          <p:spTgt spid="2507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07779">
                                            <p:txEl>
                                              <p:pRg st="2" end="2"/>
                                            </p:txEl>
                                          </p:spTgt>
                                        </p:tgtEl>
                                        <p:attrNameLst>
                                          <p:attrName>style.visibility</p:attrName>
                                        </p:attrNameLst>
                                      </p:cBhvr>
                                      <p:to>
                                        <p:strVal val="visible"/>
                                      </p:to>
                                    </p:set>
                                    <p:animEffect transition="in" filter="blinds(horizontal)">
                                      <p:cBhvr>
                                        <p:cTn id="17" dur="500"/>
                                        <p:tgtEl>
                                          <p:spTgt spid="25077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77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B6ABE50-8C5B-4A10-8EEE-1ECA10C965A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80B4315-EEB9-46F4-BFDE-2DE9F213CCEF}" type="slidenum">
              <a:rPr lang="en-US" altLang="zh-CN"/>
              <a:pPr/>
              <a:t>16</a:t>
            </a:fld>
            <a:endParaRPr lang="en-US" altLang="zh-CN"/>
          </a:p>
        </p:txBody>
      </p:sp>
      <p:sp>
        <p:nvSpPr>
          <p:cNvPr id="2509826" name="Rectangle 2"/>
          <p:cNvSpPr>
            <a:spLocks noGrp="1" noChangeArrowheads="1"/>
          </p:cNvSpPr>
          <p:nvPr>
            <p:ph type="title"/>
          </p:nvPr>
        </p:nvSpPr>
        <p:spPr>
          <a:xfrm>
            <a:off x="179388" y="115888"/>
            <a:ext cx="8856662"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9.1.4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参数传递方式 </a:t>
            </a:r>
          </a:p>
        </p:txBody>
      </p:sp>
      <p:sp>
        <p:nvSpPr>
          <p:cNvPr id="2509827" name="Rectangle 3"/>
          <p:cNvSpPr>
            <a:spLocks noGrp="1" noChangeArrowheads="1"/>
          </p:cNvSpPr>
          <p:nvPr>
            <p:ph type="body" idx="1"/>
          </p:nvPr>
        </p:nvSpPr>
        <p:spPr>
          <a:xfrm>
            <a:off x="323850" y="981075"/>
            <a:ext cx="8640763" cy="5111750"/>
          </a:xfrm>
        </p:spPr>
        <p:txBody>
          <a:bodyPr/>
          <a:lstStyle/>
          <a:p>
            <a:pPr>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当一个过程调用另一个过程时，它们之间交换信息的方法通常是通过非局部名字和被调用过程的参数来实现的。 </a:t>
            </a:r>
          </a:p>
          <a:p>
            <a:pPr lvl="1" algn="just">
              <a:spcBef>
                <a:spcPct val="10000"/>
              </a:spcBef>
            </a:pPr>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传值</a:t>
            </a:r>
          </a:p>
          <a:p>
            <a:pPr lvl="1" algn="just">
              <a:spcBef>
                <a:spcPct val="10000"/>
              </a:spcBef>
            </a:pPr>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传地址</a:t>
            </a:r>
          </a:p>
          <a:p>
            <a:pPr lvl="1" algn="just">
              <a:spcBef>
                <a:spcPct val="10000"/>
              </a:spcBef>
            </a:pPr>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传值结果</a:t>
            </a:r>
          </a:p>
          <a:p>
            <a:pPr lvl="1" algn="just">
              <a:spcBef>
                <a:spcPct val="10000"/>
              </a:spcBef>
            </a:pPr>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传名</a:t>
            </a:r>
          </a:p>
          <a:p>
            <a:pPr>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其主要区别在于实参所代表的究竟是左值、右值还是实参的正文本身 </a:t>
            </a:r>
          </a:p>
        </p:txBody>
      </p:sp>
    </p:spTree>
    <p:extLst>
      <p:ext uri="{BB962C8B-B14F-4D97-AF65-F5344CB8AC3E}">
        <p14:creationId xmlns:p14="http://schemas.microsoft.com/office/powerpoint/2010/main" val="3354102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9827">
                                            <p:txEl>
                                              <p:pRg st="0" end="0"/>
                                            </p:txEl>
                                          </p:spTgt>
                                        </p:tgtEl>
                                        <p:attrNameLst>
                                          <p:attrName>style.visibility</p:attrName>
                                        </p:attrNameLst>
                                      </p:cBhvr>
                                      <p:to>
                                        <p:strVal val="visible"/>
                                      </p:to>
                                    </p:set>
                                    <p:animEffect transition="in" filter="blinds(horizontal)">
                                      <p:cBhvr>
                                        <p:cTn id="7" dur="500"/>
                                        <p:tgtEl>
                                          <p:spTgt spid="250982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09827">
                                            <p:txEl>
                                              <p:pRg st="1" end="1"/>
                                            </p:txEl>
                                          </p:spTgt>
                                        </p:tgtEl>
                                        <p:attrNameLst>
                                          <p:attrName>style.visibility</p:attrName>
                                        </p:attrNameLst>
                                      </p:cBhvr>
                                      <p:to>
                                        <p:strVal val="visible"/>
                                      </p:to>
                                    </p:set>
                                    <p:animEffect transition="in" filter="blinds(horizontal)">
                                      <p:cBhvr>
                                        <p:cTn id="10" dur="500"/>
                                        <p:tgtEl>
                                          <p:spTgt spid="250982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509827">
                                            <p:txEl>
                                              <p:pRg st="2" end="2"/>
                                            </p:txEl>
                                          </p:spTgt>
                                        </p:tgtEl>
                                        <p:attrNameLst>
                                          <p:attrName>style.visibility</p:attrName>
                                        </p:attrNameLst>
                                      </p:cBhvr>
                                      <p:to>
                                        <p:strVal val="visible"/>
                                      </p:to>
                                    </p:set>
                                    <p:animEffect transition="in" filter="blinds(horizontal)">
                                      <p:cBhvr>
                                        <p:cTn id="13" dur="500"/>
                                        <p:tgtEl>
                                          <p:spTgt spid="250982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509827">
                                            <p:txEl>
                                              <p:pRg st="3" end="3"/>
                                            </p:txEl>
                                          </p:spTgt>
                                        </p:tgtEl>
                                        <p:attrNameLst>
                                          <p:attrName>style.visibility</p:attrName>
                                        </p:attrNameLst>
                                      </p:cBhvr>
                                      <p:to>
                                        <p:strVal val="visible"/>
                                      </p:to>
                                    </p:set>
                                    <p:animEffect transition="in" filter="blinds(horizontal)">
                                      <p:cBhvr>
                                        <p:cTn id="16" dur="500"/>
                                        <p:tgtEl>
                                          <p:spTgt spid="250982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509827">
                                            <p:txEl>
                                              <p:pRg st="4" end="4"/>
                                            </p:txEl>
                                          </p:spTgt>
                                        </p:tgtEl>
                                        <p:attrNameLst>
                                          <p:attrName>style.visibility</p:attrName>
                                        </p:attrNameLst>
                                      </p:cBhvr>
                                      <p:to>
                                        <p:strVal val="visible"/>
                                      </p:to>
                                    </p:set>
                                    <p:animEffect transition="in" filter="blinds(horizontal)">
                                      <p:cBhvr>
                                        <p:cTn id="19" dur="500"/>
                                        <p:tgtEl>
                                          <p:spTgt spid="2509827">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509827">
                                            <p:txEl>
                                              <p:pRg st="5" end="5"/>
                                            </p:txEl>
                                          </p:spTgt>
                                        </p:tgtEl>
                                        <p:attrNameLst>
                                          <p:attrName>style.visibility</p:attrName>
                                        </p:attrNameLst>
                                      </p:cBhvr>
                                      <p:to>
                                        <p:strVal val="visible"/>
                                      </p:to>
                                    </p:set>
                                    <p:animEffect transition="in" filter="blinds(horizontal)">
                                      <p:cBhvr>
                                        <p:cTn id="24" dur="500"/>
                                        <p:tgtEl>
                                          <p:spTgt spid="25098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98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3"/>
          <p:cNvSpPr>
            <a:spLocks noGrp="1"/>
          </p:cNvSpPr>
          <p:nvPr>
            <p:ph type="dt" sz="half" idx="10"/>
          </p:nvPr>
        </p:nvSpPr>
        <p:spPr/>
        <p:txBody>
          <a:bodyPr/>
          <a:lstStyle/>
          <a:p>
            <a:fld id="{E654771C-7AE1-4F5A-8F68-BB19334BFDE9}" type="datetime1">
              <a:rPr lang="zh-CN" altLang="en-US"/>
              <a:pPr/>
              <a:t>2017/2/24</a:t>
            </a:fld>
            <a:endParaRPr lang="en-US" altLang="zh-CN"/>
          </a:p>
        </p:txBody>
      </p:sp>
      <p:sp>
        <p:nvSpPr>
          <p:cNvPr id="14" name="灯片编号占位符 5"/>
          <p:cNvSpPr>
            <a:spLocks noGrp="1"/>
          </p:cNvSpPr>
          <p:nvPr>
            <p:ph type="sldNum" sz="quarter" idx="12"/>
          </p:nvPr>
        </p:nvSpPr>
        <p:spPr/>
        <p:txBody>
          <a:bodyPr/>
          <a:lstStyle/>
          <a:p>
            <a:fld id="{F91FE4BD-DCA7-40ED-ADC4-A6581514DD6D}" type="slidenum">
              <a:rPr lang="en-US" altLang="zh-CN"/>
              <a:pPr/>
              <a:t>17</a:t>
            </a:fld>
            <a:endParaRPr lang="en-US" altLang="zh-CN"/>
          </a:p>
        </p:txBody>
      </p:sp>
      <p:sp>
        <p:nvSpPr>
          <p:cNvPr id="2511874" name="Rectangle 2"/>
          <p:cNvSpPr>
            <a:spLocks noGrp="1" noChangeArrowheads="1"/>
          </p:cNvSpPr>
          <p:nvPr>
            <p:ph type="title"/>
          </p:nvPr>
        </p:nvSpPr>
        <p:spPr>
          <a:xfrm>
            <a:off x="800100" y="115888"/>
            <a:ext cx="7011988" cy="936625"/>
          </a:xfrm>
        </p:spPr>
        <p:txBody>
          <a:bodyPr/>
          <a:lstStyle/>
          <a:p>
            <a:r>
              <a:rPr lang="en-US" altLang="zh-CN"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传值</a:t>
            </a:r>
          </a:p>
        </p:txBody>
      </p:sp>
      <p:sp>
        <p:nvSpPr>
          <p:cNvPr id="2511875" name="Rectangle 3"/>
          <p:cNvSpPr>
            <a:spLocks noGrp="1" noChangeArrowheads="1"/>
          </p:cNvSpPr>
          <p:nvPr>
            <p:ph type="body" idx="1"/>
          </p:nvPr>
        </p:nvSpPr>
        <p:spPr>
          <a:xfrm>
            <a:off x="304800" y="1125538"/>
            <a:ext cx="8534400" cy="5013325"/>
          </a:xfrm>
        </p:spPr>
        <p:txBody>
          <a:bodyPr/>
          <a:lstStyle/>
          <a:p>
            <a:pPr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计算实参并将其右值传递给被调用过程 </a:t>
            </a:r>
          </a:p>
          <a:p>
            <a:pPr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传值方式可以如下实现：</a:t>
            </a:r>
          </a:p>
          <a:p>
            <a:pPr lvl="1"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被调用过程为每个形参开辟一个称为形式单元的存储单元，用于存放相应实参的值。 </a:t>
            </a:r>
          </a:p>
          <a:p>
            <a:pPr lvl="1"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调用过程计算实参，并把右值放入相应的形式单元中。 </a:t>
            </a:r>
          </a:p>
        </p:txBody>
      </p:sp>
      <p:sp>
        <p:nvSpPr>
          <p:cNvPr id="2511876" name="Text Box 4"/>
          <p:cNvSpPr txBox="1">
            <a:spLocks noChangeArrowheads="1"/>
          </p:cNvSpPr>
          <p:nvPr/>
        </p:nvSpPr>
        <p:spPr bwMode="auto">
          <a:xfrm>
            <a:off x="1809750" y="5487988"/>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latin typeface="楷体_GB2312" pitchFamily="49" charset="-122"/>
                <a:ea typeface="楷体_GB2312" pitchFamily="49" charset="-122"/>
              </a:rPr>
              <a:t>调用者</a:t>
            </a:r>
          </a:p>
        </p:txBody>
      </p:sp>
      <p:sp>
        <p:nvSpPr>
          <p:cNvPr id="2511877" name="Text Box 5"/>
          <p:cNvSpPr txBox="1">
            <a:spLocks noChangeArrowheads="1"/>
          </p:cNvSpPr>
          <p:nvPr/>
        </p:nvSpPr>
        <p:spPr bwMode="auto">
          <a:xfrm>
            <a:off x="5940425" y="5343525"/>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latin typeface="楷体_GB2312" pitchFamily="49" charset="-122"/>
                <a:ea typeface="楷体_GB2312" pitchFamily="49" charset="-122"/>
              </a:rPr>
              <a:t>被调用者直接使用</a:t>
            </a:r>
          </a:p>
        </p:txBody>
      </p:sp>
      <p:sp>
        <p:nvSpPr>
          <p:cNvPr id="2511878" name="Text Box 6"/>
          <p:cNvSpPr txBox="1">
            <a:spLocks noChangeArrowheads="1"/>
          </p:cNvSpPr>
          <p:nvPr/>
        </p:nvSpPr>
        <p:spPr bwMode="auto">
          <a:xfrm>
            <a:off x="1962150" y="4748213"/>
            <a:ext cx="68580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b="1">
                <a:solidFill>
                  <a:srgbClr val="0000FF"/>
                </a:solidFill>
                <a:ea typeface="楷体_GB2312" pitchFamily="49" charset="-122"/>
              </a:rPr>
              <a:t>A</a:t>
            </a:r>
          </a:p>
        </p:txBody>
      </p:sp>
      <p:sp>
        <p:nvSpPr>
          <p:cNvPr id="2511879" name="Text Box 7"/>
          <p:cNvSpPr txBox="1">
            <a:spLocks noChangeArrowheads="1"/>
          </p:cNvSpPr>
          <p:nvPr/>
        </p:nvSpPr>
        <p:spPr bwMode="auto">
          <a:xfrm>
            <a:off x="1504950" y="4094163"/>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实际参数</a:t>
            </a:r>
            <a:r>
              <a:rPr kumimoji="1" lang="en-US" altLang="zh-CN" b="1">
                <a:solidFill>
                  <a:srgbClr val="0000FF"/>
                </a:solidFill>
                <a:ea typeface="楷体_GB2312" pitchFamily="49" charset="-122"/>
              </a:rPr>
              <a:t>A</a:t>
            </a:r>
          </a:p>
        </p:txBody>
      </p:sp>
      <p:sp>
        <p:nvSpPr>
          <p:cNvPr id="2511880" name="Text Box 8"/>
          <p:cNvSpPr txBox="1">
            <a:spLocks noChangeArrowheads="1"/>
          </p:cNvSpPr>
          <p:nvPr/>
        </p:nvSpPr>
        <p:spPr bwMode="auto">
          <a:xfrm>
            <a:off x="5772150" y="4094163"/>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latin typeface="楷体_GB2312" pitchFamily="49" charset="-122"/>
                <a:ea typeface="楷体_GB2312" pitchFamily="49" charset="-122"/>
              </a:rPr>
              <a:t>形式参数</a:t>
            </a:r>
            <a:r>
              <a:rPr kumimoji="1" lang="en-US" altLang="zh-CN" b="1">
                <a:solidFill>
                  <a:srgbClr val="0000FF"/>
                </a:solidFill>
                <a:ea typeface="楷体_GB2312" pitchFamily="49" charset="-122"/>
              </a:rPr>
              <a:t>X</a:t>
            </a:r>
          </a:p>
        </p:txBody>
      </p:sp>
      <p:sp>
        <p:nvSpPr>
          <p:cNvPr id="2511881" name="Text Box 9"/>
          <p:cNvSpPr txBox="1">
            <a:spLocks noChangeArrowheads="1"/>
          </p:cNvSpPr>
          <p:nvPr/>
        </p:nvSpPr>
        <p:spPr bwMode="auto">
          <a:xfrm>
            <a:off x="6076950" y="4729163"/>
            <a:ext cx="114300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solidFill>
                  <a:srgbClr val="0000FF"/>
                </a:solidFill>
                <a:ea typeface="楷体_GB2312" pitchFamily="49" charset="-122"/>
              </a:rPr>
              <a:t>A</a:t>
            </a:r>
            <a:r>
              <a:rPr kumimoji="1" lang="zh-CN" altLang="en-US" b="1">
                <a:solidFill>
                  <a:srgbClr val="0000FF"/>
                </a:solidFill>
                <a:latin typeface="楷体_GB2312" pitchFamily="49" charset="-122"/>
                <a:ea typeface="楷体_GB2312" pitchFamily="49" charset="-122"/>
              </a:rPr>
              <a:t>的值</a:t>
            </a:r>
          </a:p>
        </p:txBody>
      </p:sp>
      <p:sp>
        <p:nvSpPr>
          <p:cNvPr id="2511882" name="Line 10"/>
          <p:cNvSpPr>
            <a:spLocks noChangeShapeType="1"/>
          </p:cNvSpPr>
          <p:nvPr/>
        </p:nvSpPr>
        <p:spPr bwMode="auto">
          <a:xfrm>
            <a:off x="2647950" y="4978400"/>
            <a:ext cx="34290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11883" name="Text Box 11"/>
          <p:cNvSpPr txBox="1">
            <a:spLocks noChangeArrowheads="1"/>
          </p:cNvSpPr>
          <p:nvPr/>
        </p:nvSpPr>
        <p:spPr bwMode="auto">
          <a:xfrm>
            <a:off x="3565525" y="4478338"/>
            <a:ext cx="1519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zh-CN" altLang="en-US" b="1">
                <a:solidFill>
                  <a:srgbClr val="0000FF"/>
                </a:solidFill>
                <a:latin typeface="楷体_GB2312" pitchFamily="49" charset="-122"/>
                <a:ea typeface="楷体_GB2312" pitchFamily="49" charset="-122"/>
              </a:rPr>
              <a:t>单向传值</a:t>
            </a:r>
          </a:p>
        </p:txBody>
      </p:sp>
    </p:spTree>
    <p:extLst>
      <p:ext uri="{BB962C8B-B14F-4D97-AF65-F5344CB8AC3E}">
        <p14:creationId xmlns:p14="http://schemas.microsoft.com/office/powerpoint/2010/main" val="13956724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half" idx="10"/>
          </p:nvPr>
        </p:nvSpPr>
        <p:spPr/>
        <p:txBody>
          <a:bodyPr/>
          <a:lstStyle/>
          <a:p>
            <a:fld id="{F7473148-6E02-4FB8-BFD8-39B40E7B89E7}" type="datetime1">
              <a:rPr lang="zh-CN" altLang="en-US"/>
              <a:pPr/>
              <a:t>2017/2/24</a:t>
            </a:fld>
            <a:endParaRPr lang="en-US" altLang="zh-CN"/>
          </a:p>
        </p:txBody>
      </p:sp>
      <p:sp>
        <p:nvSpPr>
          <p:cNvPr id="15" name="灯片编号占位符 5"/>
          <p:cNvSpPr>
            <a:spLocks noGrp="1"/>
          </p:cNvSpPr>
          <p:nvPr>
            <p:ph type="sldNum" sz="quarter" idx="12"/>
          </p:nvPr>
        </p:nvSpPr>
        <p:spPr/>
        <p:txBody>
          <a:bodyPr/>
          <a:lstStyle/>
          <a:p>
            <a:fld id="{F91FBEE1-FA78-4AA7-8351-E32ECB35FF1F}" type="slidenum">
              <a:rPr lang="en-US" altLang="zh-CN"/>
              <a:pPr/>
              <a:t>18</a:t>
            </a:fld>
            <a:endParaRPr lang="en-US" altLang="zh-CN"/>
          </a:p>
        </p:txBody>
      </p:sp>
      <p:sp>
        <p:nvSpPr>
          <p:cNvPr id="2513922" name="Rectangle 2"/>
          <p:cNvSpPr>
            <a:spLocks noGrp="1" noChangeArrowheads="1"/>
          </p:cNvSpPr>
          <p:nvPr>
            <p:ph type="title"/>
          </p:nvPr>
        </p:nvSpPr>
        <p:spPr>
          <a:xfrm>
            <a:off x="944563" y="115888"/>
            <a:ext cx="7372350" cy="792162"/>
          </a:xfrm>
        </p:spPr>
        <p:txBody>
          <a:bodyPr/>
          <a:lstStyle/>
          <a:p>
            <a:r>
              <a:rPr lang="en-US" altLang="zh-CN"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2. </a:t>
            </a:r>
            <a:r>
              <a:rPr lang="zh-CN" altLang="en-US"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传地址</a:t>
            </a:r>
          </a:p>
        </p:txBody>
      </p:sp>
      <p:sp>
        <p:nvSpPr>
          <p:cNvPr id="2513923" name="Rectangle 3"/>
          <p:cNvSpPr>
            <a:spLocks noGrp="1" noChangeArrowheads="1"/>
          </p:cNvSpPr>
          <p:nvPr>
            <p:ph type="body" idx="1"/>
          </p:nvPr>
        </p:nvSpPr>
        <p:spPr>
          <a:xfrm>
            <a:off x="285750" y="836613"/>
            <a:ext cx="8534400" cy="5437187"/>
          </a:xfrm>
        </p:spPr>
        <p:txBody>
          <a:bodyPr/>
          <a:lstStyle/>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调用过程将实参的地址传递给被调用过程 </a:t>
            </a:r>
          </a:p>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传地址方式可以如下实现：</a:t>
            </a:r>
          </a:p>
          <a:p>
            <a:pPr lvl="1" algn="just">
              <a:spcBef>
                <a:spcPct val="1000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如果实参是一个具有左值的名字或表达式，则传递该左值本身 </a:t>
            </a:r>
          </a:p>
          <a:p>
            <a:pPr lvl="1" algn="just">
              <a:spcBef>
                <a:spcPct val="1000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如果实参是</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a+b</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这样的没有左值的表达式，则调用过程首先计算实参的值并将其存入一个新的存储单元，然后将这个新单元的地址传递给被调用过程 </a:t>
            </a:r>
          </a:p>
        </p:txBody>
      </p:sp>
      <p:sp>
        <p:nvSpPr>
          <p:cNvPr id="2513924" name="Text Box 4"/>
          <p:cNvSpPr txBox="1">
            <a:spLocks noChangeArrowheads="1"/>
          </p:cNvSpPr>
          <p:nvPr/>
        </p:nvSpPr>
        <p:spPr bwMode="auto">
          <a:xfrm>
            <a:off x="1668463" y="5703888"/>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调用者</a:t>
            </a:r>
          </a:p>
        </p:txBody>
      </p:sp>
      <p:sp>
        <p:nvSpPr>
          <p:cNvPr id="2513925" name="Text Box 5"/>
          <p:cNvSpPr txBox="1">
            <a:spLocks noChangeArrowheads="1"/>
          </p:cNvSpPr>
          <p:nvPr/>
        </p:nvSpPr>
        <p:spPr bwMode="auto">
          <a:xfrm>
            <a:off x="4989513" y="57340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被调用者间址访问</a:t>
            </a:r>
          </a:p>
        </p:txBody>
      </p:sp>
      <p:sp>
        <p:nvSpPr>
          <p:cNvPr id="2513926" name="Text Box 6"/>
          <p:cNvSpPr txBox="1">
            <a:spLocks noChangeArrowheads="1"/>
          </p:cNvSpPr>
          <p:nvPr/>
        </p:nvSpPr>
        <p:spPr bwMode="auto">
          <a:xfrm>
            <a:off x="1820863" y="4637088"/>
            <a:ext cx="68580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solidFill>
                  <a:srgbClr val="0000FF"/>
                </a:solidFill>
                <a:ea typeface="楷体_GB2312" pitchFamily="49" charset="-122"/>
              </a:rPr>
              <a:t>A</a:t>
            </a:r>
          </a:p>
        </p:txBody>
      </p:sp>
      <p:sp>
        <p:nvSpPr>
          <p:cNvPr id="2513927" name="Text Box 7"/>
          <p:cNvSpPr txBox="1">
            <a:spLocks noChangeArrowheads="1"/>
          </p:cNvSpPr>
          <p:nvPr/>
        </p:nvSpPr>
        <p:spPr bwMode="auto">
          <a:xfrm>
            <a:off x="1363663" y="40767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实际参数</a:t>
            </a:r>
            <a:r>
              <a:rPr kumimoji="1" lang="en-US" altLang="zh-CN" b="1">
                <a:solidFill>
                  <a:srgbClr val="0000FF"/>
                </a:solidFill>
                <a:ea typeface="楷体_GB2312" pitchFamily="49" charset="-122"/>
              </a:rPr>
              <a:t>A</a:t>
            </a:r>
          </a:p>
        </p:txBody>
      </p:sp>
      <p:sp>
        <p:nvSpPr>
          <p:cNvPr id="2513928" name="Text Box 8"/>
          <p:cNvSpPr txBox="1">
            <a:spLocks noChangeArrowheads="1"/>
          </p:cNvSpPr>
          <p:nvPr/>
        </p:nvSpPr>
        <p:spPr bwMode="auto">
          <a:xfrm>
            <a:off x="5630863" y="4149725"/>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形式参数</a:t>
            </a:r>
            <a:r>
              <a:rPr kumimoji="1" lang="en-US" altLang="zh-CN" b="1">
                <a:solidFill>
                  <a:srgbClr val="0000FF"/>
                </a:solidFill>
                <a:ea typeface="楷体_GB2312" pitchFamily="49" charset="-122"/>
              </a:rPr>
              <a:t>X</a:t>
            </a:r>
          </a:p>
        </p:txBody>
      </p:sp>
      <p:sp>
        <p:nvSpPr>
          <p:cNvPr id="2513929" name="Text Box 9"/>
          <p:cNvSpPr txBox="1">
            <a:spLocks noChangeArrowheads="1"/>
          </p:cNvSpPr>
          <p:nvPr/>
        </p:nvSpPr>
        <p:spPr bwMode="auto">
          <a:xfrm>
            <a:off x="5935663" y="4713288"/>
            <a:ext cx="144780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solidFill>
                  <a:srgbClr val="0000FF"/>
                </a:solidFill>
                <a:ea typeface="楷体_GB2312" pitchFamily="49" charset="-122"/>
              </a:rPr>
              <a:t>A</a:t>
            </a:r>
            <a:r>
              <a:rPr kumimoji="1" lang="zh-CN" altLang="en-US" b="1">
                <a:solidFill>
                  <a:srgbClr val="0000FF"/>
                </a:solidFill>
                <a:ea typeface="楷体_GB2312" pitchFamily="49" charset="-122"/>
              </a:rPr>
              <a:t>的地址</a:t>
            </a:r>
          </a:p>
        </p:txBody>
      </p:sp>
      <p:sp>
        <p:nvSpPr>
          <p:cNvPr id="2513930" name="Line 10"/>
          <p:cNvSpPr>
            <a:spLocks noChangeShapeType="1"/>
          </p:cNvSpPr>
          <p:nvPr/>
        </p:nvSpPr>
        <p:spPr bwMode="auto">
          <a:xfrm>
            <a:off x="2506663" y="4941888"/>
            <a:ext cx="34290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13931" name="Text Box 11"/>
          <p:cNvSpPr txBox="1">
            <a:spLocks noChangeArrowheads="1"/>
          </p:cNvSpPr>
          <p:nvPr/>
        </p:nvSpPr>
        <p:spPr bwMode="auto">
          <a:xfrm>
            <a:off x="3632200" y="4560888"/>
            <a:ext cx="1227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传地址</a:t>
            </a:r>
          </a:p>
        </p:txBody>
      </p:sp>
      <p:sp>
        <p:nvSpPr>
          <p:cNvPr id="2513932" name="Freeform 12"/>
          <p:cNvSpPr>
            <a:spLocks/>
          </p:cNvSpPr>
          <p:nvPr/>
        </p:nvSpPr>
        <p:spPr bwMode="auto">
          <a:xfrm>
            <a:off x="2506663" y="5094288"/>
            <a:ext cx="4203700" cy="1003300"/>
          </a:xfrm>
          <a:custGeom>
            <a:avLst/>
            <a:gdLst>
              <a:gd name="T0" fmla="*/ 2352 w 2648"/>
              <a:gd name="T1" fmla="*/ 48 h 632"/>
              <a:gd name="T2" fmla="*/ 2256 w 2648"/>
              <a:gd name="T3" fmla="*/ 624 h 632"/>
              <a:gd name="T4" fmla="*/ 0 w 2648"/>
              <a:gd name="T5" fmla="*/ 0 h 632"/>
            </a:gdLst>
            <a:ahLst/>
            <a:cxnLst>
              <a:cxn ang="0">
                <a:pos x="T0" y="T1"/>
              </a:cxn>
              <a:cxn ang="0">
                <a:pos x="T2" y="T3"/>
              </a:cxn>
              <a:cxn ang="0">
                <a:pos x="T4" y="T5"/>
              </a:cxn>
            </a:cxnLst>
            <a:rect l="0" t="0" r="r" b="b"/>
            <a:pathLst>
              <a:path w="2648" h="632">
                <a:moveTo>
                  <a:pt x="2352" y="48"/>
                </a:moveTo>
                <a:cubicBezTo>
                  <a:pt x="2500" y="340"/>
                  <a:pt x="2648" y="632"/>
                  <a:pt x="2256" y="624"/>
                </a:cubicBezTo>
                <a:cubicBezTo>
                  <a:pt x="1864" y="616"/>
                  <a:pt x="368" y="104"/>
                  <a:pt x="0" y="0"/>
                </a:cubicBezTo>
              </a:path>
            </a:pathLst>
          </a:custGeom>
          <a:noFill/>
          <a:ln w="127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5855738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half" idx="10"/>
          </p:nvPr>
        </p:nvSpPr>
        <p:spPr/>
        <p:txBody>
          <a:bodyPr/>
          <a:lstStyle/>
          <a:p>
            <a:fld id="{79EC6B98-EBF6-4298-A5EB-C75AE3F13180}" type="datetime1">
              <a:rPr lang="zh-CN" altLang="en-US"/>
              <a:pPr/>
              <a:t>2017/2/24</a:t>
            </a:fld>
            <a:endParaRPr lang="en-US" altLang="zh-CN"/>
          </a:p>
        </p:txBody>
      </p:sp>
      <p:sp>
        <p:nvSpPr>
          <p:cNvPr id="17" name="灯片编号占位符 5"/>
          <p:cNvSpPr>
            <a:spLocks noGrp="1"/>
          </p:cNvSpPr>
          <p:nvPr>
            <p:ph type="sldNum" sz="quarter" idx="12"/>
          </p:nvPr>
        </p:nvSpPr>
        <p:spPr/>
        <p:txBody>
          <a:bodyPr/>
          <a:lstStyle/>
          <a:p>
            <a:fld id="{76DBE52B-E145-45AE-A658-747941D3F18A}" type="slidenum">
              <a:rPr lang="en-US" altLang="zh-CN"/>
              <a:pPr/>
              <a:t>19</a:t>
            </a:fld>
            <a:endParaRPr lang="en-US" altLang="zh-CN"/>
          </a:p>
        </p:txBody>
      </p:sp>
      <p:sp>
        <p:nvSpPr>
          <p:cNvPr id="2515970" name="Rectangle 2"/>
          <p:cNvSpPr>
            <a:spLocks noGrp="1" noChangeArrowheads="1"/>
          </p:cNvSpPr>
          <p:nvPr>
            <p:ph type="title"/>
          </p:nvPr>
        </p:nvSpPr>
        <p:spPr>
          <a:xfrm>
            <a:off x="944563" y="115888"/>
            <a:ext cx="6580187" cy="819150"/>
          </a:xfrm>
        </p:spPr>
        <p:txBody>
          <a:bodyPr/>
          <a:lstStyle/>
          <a:p>
            <a:r>
              <a:rPr lang="en-US" altLang="zh-CN"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3. </a:t>
            </a:r>
            <a:r>
              <a:rPr lang="zh-CN" altLang="en-US"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传值结果</a:t>
            </a:r>
          </a:p>
        </p:txBody>
      </p:sp>
      <p:sp>
        <p:nvSpPr>
          <p:cNvPr id="2515971" name="Rectangle 3"/>
          <p:cNvSpPr>
            <a:spLocks noGrp="1" noChangeArrowheads="1"/>
          </p:cNvSpPr>
          <p:nvPr>
            <p:ph type="body" idx="1"/>
          </p:nvPr>
        </p:nvSpPr>
        <p:spPr>
          <a:xfrm>
            <a:off x="179388" y="981075"/>
            <a:ext cx="8839200" cy="2952750"/>
          </a:xfrm>
        </p:spPr>
        <p:txBody>
          <a:bodyPr/>
          <a:lstStyle/>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传值结果就是将传值和传地址这两种方式结合起来</a:t>
            </a:r>
          </a:p>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传值结果方式可以如下实现：</a:t>
            </a:r>
          </a:p>
          <a:p>
            <a:pPr lvl="1" algn="just">
              <a:spcBef>
                <a:spcPct val="10000"/>
              </a:spcBef>
            </a:pP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实参的右值和左值同时传给被调用过程。</a:t>
            </a:r>
          </a:p>
          <a:p>
            <a:pPr lvl="1" algn="just">
              <a:spcBef>
                <a:spcPct val="1000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在被调用过程中，像传值方式那样使用实参的右值。</a:t>
            </a:r>
          </a:p>
          <a:p>
            <a:pPr lvl="1" algn="just">
              <a:spcBef>
                <a:spcPct val="1000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当控制返回调用过程时，根据传递来的实参的左值，将形参当前的值复制到实参存储单元。 </a:t>
            </a:r>
          </a:p>
        </p:txBody>
      </p:sp>
      <p:sp>
        <p:nvSpPr>
          <p:cNvPr id="2515972" name="Text Box 4"/>
          <p:cNvSpPr txBox="1">
            <a:spLocks noChangeArrowheads="1"/>
          </p:cNvSpPr>
          <p:nvPr/>
        </p:nvSpPr>
        <p:spPr bwMode="auto">
          <a:xfrm>
            <a:off x="1406525" y="5518150"/>
            <a:ext cx="1492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调用者</a:t>
            </a:r>
          </a:p>
        </p:txBody>
      </p:sp>
      <p:sp>
        <p:nvSpPr>
          <p:cNvPr id="2515973" name="Text Box 5"/>
          <p:cNvSpPr txBox="1">
            <a:spLocks noChangeArrowheads="1"/>
          </p:cNvSpPr>
          <p:nvPr/>
        </p:nvSpPr>
        <p:spPr bwMode="auto">
          <a:xfrm>
            <a:off x="6234113" y="5614988"/>
            <a:ext cx="1755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被调用者</a:t>
            </a:r>
          </a:p>
        </p:txBody>
      </p:sp>
      <p:sp>
        <p:nvSpPr>
          <p:cNvPr id="2515974" name="Text Box 6"/>
          <p:cNvSpPr txBox="1">
            <a:spLocks noChangeArrowheads="1"/>
          </p:cNvSpPr>
          <p:nvPr/>
        </p:nvSpPr>
        <p:spPr bwMode="auto">
          <a:xfrm>
            <a:off x="1512888" y="4594225"/>
            <a:ext cx="788987" cy="592138"/>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sz="3200" b="1">
                <a:solidFill>
                  <a:srgbClr val="0000FF"/>
                </a:solidFill>
                <a:ea typeface="楷体_GB2312" pitchFamily="49" charset="-122"/>
              </a:rPr>
              <a:t>A</a:t>
            </a:r>
          </a:p>
        </p:txBody>
      </p:sp>
      <p:sp>
        <p:nvSpPr>
          <p:cNvPr id="2515975" name="Text Box 7"/>
          <p:cNvSpPr txBox="1">
            <a:spLocks noChangeArrowheads="1"/>
          </p:cNvSpPr>
          <p:nvPr/>
        </p:nvSpPr>
        <p:spPr bwMode="auto">
          <a:xfrm>
            <a:off x="1055688" y="4032250"/>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实际参数</a:t>
            </a:r>
            <a:r>
              <a:rPr kumimoji="1" lang="en-US" altLang="zh-CN" b="1">
                <a:solidFill>
                  <a:srgbClr val="0000FF"/>
                </a:solidFill>
                <a:ea typeface="楷体_GB2312" pitchFamily="49" charset="-122"/>
              </a:rPr>
              <a:t>A</a:t>
            </a:r>
          </a:p>
        </p:txBody>
      </p:sp>
      <p:sp>
        <p:nvSpPr>
          <p:cNvPr id="2515976" name="Text Box 8"/>
          <p:cNvSpPr txBox="1">
            <a:spLocks noChangeArrowheads="1"/>
          </p:cNvSpPr>
          <p:nvPr/>
        </p:nvSpPr>
        <p:spPr bwMode="auto">
          <a:xfrm>
            <a:off x="6008688" y="3933825"/>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形式参数</a:t>
            </a:r>
            <a:r>
              <a:rPr kumimoji="1" lang="en-US" altLang="zh-CN" b="1">
                <a:solidFill>
                  <a:srgbClr val="0000FF"/>
                </a:solidFill>
                <a:ea typeface="楷体_GB2312" pitchFamily="49" charset="-122"/>
              </a:rPr>
              <a:t>X</a:t>
            </a:r>
          </a:p>
        </p:txBody>
      </p:sp>
      <p:sp>
        <p:nvSpPr>
          <p:cNvPr id="2515977" name="Text Box 9"/>
          <p:cNvSpPr txBox="1">
            <a:spLocks noChangeArrowheads="1"/>
          </p:cNvSpPr>
          <p:nvPr/>
        </p:nvSpPr>
        <p:spPr bwMode="auto">
          <a:xfrm>
            <a:off x="6389688" y="5051425"/>
            <a:ext cx="114300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solidFill>
                  <a:srgbClr val="0000FF"/>
                </a:solidFill>
                <a:ea typeface="楷体_GB2312" pitchFamily="49" charset="-122"/>
              </a:rPr>
              <a:t>A</a:t>
            </a:r>
            <a:r>
              <a:rPr kumimoji="1" lang="zh-CN" altLang="en-US" b="1">
                <a:solidFill>
                  <a:srgbClr val="0000FF"/>
                </a:solidFill>
                <a:ea typeface="楷体_GB2312" pitchFamily="49" charset="-122"/>
              </a:rPr>
              <a:t>的值</a:t>
            </a:r>
          </a:p>
        </p:txBody>
      </p:sp>
      <p:sp>
        <p:nvSpPr>
          <p:cNvPr id="2515978" name="Line 10"/>
          <p:cNvSpPr>
            <a:spLocks noChangeShapeType="1"/>
          </p:cNvSpPr>
          <p:nvPr/>
        </p:nvSpPr>
        <p:spPr bwMode="auto">
          <a:xfrm>
            <a:off x="2351088" y="5127625"/>
            <a:ext cx="40386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15979" name="Text Box 11"/>
          <p:cNvSpPr txBox="1">
            <a:spLocks noChangeArrowheads="1"/>
          </p:cNvSpPr>
          <p:nvPr/>
        </p:nvSpPr>
        <p:spPr bwMode="auto">
          <a:xfrm>
            <a:off x="3482975" y="4594225"/>
            <a:ext cx="188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solidFill>
                  <a:srgbClr val="0000FF"/>
                </a:solidFill>
                <a:ea typeface="楷体_GB2312" pitchFamily="49" charset="-122"/>
              </a:rPr>
              <a:t>传值</a:t>
            </a:r>
            <a:r>
              <a:rPr kumimoji="1" lang="en-US" altLang="zh-CN" b="1">
                <a:solidFill>
                  <a:srgbClr val="0000FF"/>
                </a:solidFill>
                <a:ea typeface="楷体_GB2312" pitchFamily="49" charset="-122"/>
              </a:rPr>
              <a:t>/</a:t>
            </a:r>
            <a:r>
              <a:rPr kumimoji="1" lang="zh-CN" altLang="en-US" b="1">
                <a:solidFill>
                  <a:srgbClr val="0000FF"/>
                </a:solidFill>
                <a:ea typeface="楷体_GB2312" pitchFamily="49" charset="-122"/>
              </a:rPr>
              <a:t>传地址</a:t>
            </a:r>
          </a:p>
        </p:txBody>
      </p:sp>
      <p:sp>
        <p:nvSpPr>
          <p:cNvPr id="2515980" name="Text Box 12"/>
          <p:cNvSpPr txBox="1">
            <a:spLocks noChangeArrowheads="1"/>
          </p:cNvSpPr>
          <p:nvPr/>
        </p:nvSpPr>
        <p:spPr bwMode="auto">
          <a:xfrm>
            <a:off x="6389688" y="4441825"/>
            <a:ext cx="1447800" cy="4699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solidFill>
                  <a:srgbClr val="0000FF"/>
                </a:solidFill>
                <a:ea typeface="楷体_GB2312" pitchFamily="49" charset="-122"/>
              </a:rPr>
              <a:t>A</a:t>
            </a:r>
            <a:r>
              <a:rPr kumimoji="1" lang="zh-CN" altLang="en-US" b="1">
                <a:solidFill>
                  <a:srgbClr val="0000FF"/>
                </a:solidFill>
                <a:ea typeface="楷体_GB2312" pitchFamily="49" charset="-122"/>
              </a:rPr>
              <a:t>的地址</a:t>
            </a:r>
          </a:p>
        </p:txBody>
      </p:sp>
      <p:sp>
        <p:nvSpPr>
          <p:cNvPr id="2515981" name="Line 13"/>
          <p:cNvSpPr>
            <a:spLocks noChangeShapeType="1"/>
          </p:cNvSpPr>
          <p:nvPr/>
        </p:nvSpPr>
        <p:spPr bwMode="auto">
          <a:xfrm flipV="1">
            <a:off x="2351088" y="4594225"/>
            <a:ext cx="39624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15982" name="Freeform 14"/>
          <p:cNvSpPr>
            <a:spLocks/>
          </p:cNvSpPr>
          <p:nvPr/>
        </p:nvSpPr>
        <p:spPr bwMode="auto">
          <a:xfrm>
            <a:off x="1970088" y="4098925"/>
            <a:ext cx="5994400" cy="2070100"/>
          </a:xfrm>
          <a:custGeom>
            <a:avLst/>
            <a:gdLst>
              <a:gd name="T0" fmla="*/ 3168 w 3776"/>
              <a:gd name="T1" fmla="*/ 888 h 1304"/>
              <a:gd name="T2" fmla="*/ 3216 w 3776"/>
              <a:gd name="T3" fmla="*/ 1224 h 1304"/>
              <a:gd name="T4" fmla="*/ 3552 w 3776"/>
              <a:gd name="T5" fmla="*/ 408 h 1304"/>
              <a:gd name="T6" fmla="*/ 1872 w 3776"/>
              <a:gd name="T7" fmla="*/ 24 h 1304"/>
              <a:gd name="T8" fmla="*/ 0 w 3776"/>
              <a:gd name="T9" fmla="*/ 264 h 1304"/>
            </a:gdLst>
            <a:ahLst/>
            <a:cxnLst>
              <a:cxn ang="0">
                <a:pos x="T0" y="T1"/>
              </a:cxn>
              <a:cxn ang="0">
                <a:pos x="T2" y="T3"/>
              </a:cxn>
              <a:cxn ang="0">
                <a:pos x="T4" y="T5"/>
              </a:cxn>
              <a:cxn ang="0">
                <a:pos x="T6" y="T7"/>
              </a:cxn>
              <a:cxn ang="0">
                <a:pos x="T8" y="T9"/>
              </a:cxn>
            </a:cxnLst>
            <a:rect l="0" t="0" r="r" b="b"/>
            <a:pathLst>
              <a:path w="3776" h="1304">
                <a:moveTo>
                  <a:pt x="3168" y="888"/>
                </a:moveTo>
                <a:cubicBezTo>
                  <a:pt x="3160" y="1096"/>
                  <a:pt x="3152" y="1304"/>
                  <a:pt x="3216" y="1224"/>
                </a:cubicBezTo>
                <a:cubicBezTo>
                  <a:pt x="3280" y="1144"/>
                  <a:pt x="3776" y="608"/>
                  <a:pt x="3552" y="408"/>
                </a:cubicBezTo>
                <a:cubicBezTo>
                  <a:pt x="3328" y="208"/>
                  <a:pt x="2464" y="48"/>
                  <a:pt x="1872" y="24"/>
                </a:cubicBezTo>
                <a:cubicBezTo>
                  <a:pt x="1280" y="0"/>
                  <a:pt x="640" y="132"/>
                  <a:pt x="0" y="264"/>
                </a:cubicBezTo>
              </a:path>
            </a:pathLst>
          </a:custGeom>
          <a:noFill/>
          <a:ln w="12700" cap="flat" cmpd="sng">
            <a:solidFill>
              <a:srgbClr val="FF0000"/>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7248689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B075A4-42F6-416A-A859-517FC49B741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B034ABB-0E81-48BE-B848-FEE415EF1F9F}" type="slidenum">
              <a:rPr lang="en-US" altLang="zh-CN"/>
              <a:pPr/>
              <a:t>20</a:t>
            </a:fld>
            <a:endParaRPr lang="en-US" altLang="zh-CN"/>
          </a:p>
        </p:txBody>
      </p:sp>
      <p:sp>
        <p:nvSpPr>
          <p:cNvPr id="2518018" name="Rectangle 2"/>
          <p:cNvSpPr>
            <a:spLocks noGrp="1" noChangeArrowheads="1"/>
          </p:cNvSpPr>
          <p:nvPr>
            <p:ph type="title"/>
          </p:nvPr>
        </p:nvSpPr>
        <p:spPr>
          <a:xfrm>
            <a:off x="944563" y="115888"/>
            <a:ext cx="6435725"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传名</a:t>
            </a:r>
          </a:p>
        </p:txBody>
      </p:sp>
      <p:sp>
        <p:nvSpPr>
          <p:cNvPr id="2518019" name="Rectangle 3"/>
          <p:cNvSpPr>
            <a:spLocks noGrp="1" noChangeArrowheads="1"/>
          </p:cNvSpPr>
          <p:nvPr>
            <p:ph type="body" idx="1"/>
          </p:nvPr>
        </p:nvSpPr>
        <p:spPr>
          <a:xfrm>
            <a:off x="304800" y="1125538"/>
            <a:ext cx="8534400" cy="4895850"/>
          </a:xfrm>
        </p:spPr>
        <p:txBody>
          <a:bodyPr/>
          <a:lstStyle/>
          <a:p>
            <a:pPr algn="just">
              <a:lnSpc>
                <a:spcPct val="90000"/>
              </a:lnSpc>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用实参表达式对形参进行文字替换。</a:t>
            </a:r>
          </a:p>
          <a:p>
            <a:pPr algn="just">
              <a:lnSpc>
                <a:spcPct val="90000"/>
              </a:lnSpc>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传名方式可以如下实现：</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在调用过程中设置计算实参左值或右值的形实转换子程序。</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过程为每个形参开辟一个存储单元，用于存放该实参的形实转换子程序的入口地址。被调过程执行时，每当要向形参赋值或取该形参的值时，就调用相应于该形参的形实转换子程序，以获得相应的实参地址或值。注意，形实转换子程序的运行环境是调用程序。形实转换子程序又称为换名子程序</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thunk</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449117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505E898-DA3E-41C6-8122-EA4612238EC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F1F1B4CF-FCD0-4FD9-8D01-0D014C1FB56A}" type="slidenum">
              <a:rPr lang="en-US" altLang="zh-CN"/>
              <a:pPr/>
              <a:t>21</a:t>
            </a:fld>
            <a:endParaRPr lang="en-US" altLang="zh-CN"/>
          </a:p>
        </p:txBody>
      </p:sp>
      <p:sp>
        <p:nvSpPr>
          <p:cNvPr id="2520066" name="Rectangle 2"/>
          <p:cNvSpPr>
            <a:spLocks noGrp="1" noChangeArrowheads="1"/>
          </p:cNvSpPr>
          <p:nvPr>
            <p:ph type="title"/>
          </p:nvPr>
        </p:nvSpPr>
        <p:spPr>
          <a:xfrm>
            <a:off x="944563" y="115888"/>
            <a:ext cx="6435725" cy="792162"/>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例</a:t>
            </a:r>
          </a:p>
        </p:txBody>
      </p:sp>
      <p:sp>
        <p:nvSpPr>
          <p:cNvPr id="2520067" name="Rectangle 3"/>
          <p:cNvSpPr>
            <a:spLocks noGrp="1" noChangeArrowheads="1"/>
          </p:cNvSpPr>
          <p:nvPr>
            <p:ph type="body" idx="1"/>
          </p:nvPr>
        </p:nvSpPr>
        <p:spPr>
          <a:xfrm>
            <a:off x="304800" y="1125538"/>
            <a:ext cx="8534400" cy="4895850"/>
          </a:xfrm>
        </p:spPr>
        <p:txBody>
          <a:bodyPr/>
          <a:lstStyle/>
          <a:p>
            <a:pPr algn="just">
              <a:spcBef>
                <a:spcPct val="1000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procedure swap(var x, y: integer);</a:t>
            </a:r>
          </a:p>
          <a:p>
            <a:pPr algn="just">
              <a:spcBef>
                <a:spcPct val="1000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var temp: integer;	</a:t>
            </a:r>
          </a:p>
          <a:p>
            <a:pPr algn="just">
              <a:spcBef>
                <a:spcPct val="1000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begin 			</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调用</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swap(i, a[i])</a:t>
            </a: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a:p>
            <a:pPr algn="just">
              <a:spcBef>
                <a:spcPct val="10000"/>
              </a:spcBef>
              <a:buFontTx/>
              <a:buNone/>
            </a:pP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temp := x;	</a:t>
            </a: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temp := i;</a:t>
            </a: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a:p>
            <a:pPr algn="just">
              <a:spcBef>
                <a:spcPct val="10000"/>
              </a:spcBef>
              <a:buFontTx/>
              <a:buNone/>
            </a:pP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 := y;</a:t>
            </a: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i := a[i];</a:t>
            </a: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a:p>
            <a:pPr algn="just">
              <a:spcBef>
                <a:spcPct val="10000"/>
              </a:spcBef>
              <a:buFontTx/>
              <a:buNone/>
            </a:pP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y := temp	</a:t>
            </a:r>
            <a:r>
              <a:rPr lang="en-US" altLang="zh-CN"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a[i] := temp</a:t>
            </a:r>
          </a:p>
          <a:p>
            <a:pPr algn="just">
              <a:spcBef>
                <a:spcPct val="1000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end</a:t>
            </a:r>
          </a:p>
        </p:txBody>
      </p:sp>
    </p:spTree>
    <p:extLst>
      <p:ext uri="{BB962C8B-B14F-4D97-AF65-F5344CB8AC3E}">
        <p14:creationId xmlns:p14="http://schemas.microsoft.com/office/powerpoint/2010/main" val="13196304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1"/>
          <p:cNvSpPr>
            <a:spLocks noGrp="1"/>
          </p:cNvSpPr>
          <p:nvPr>
            <p:ph type="dt" sz="half" idx="10"/>
          </p:nvPr>
        </p:nvSpPr>
        <p:spPr/>
        <p:txBody>
          <a:bodyPr/>
          <a:lstStyle/>
          <a:p>
            <a:fld id="{010D5FBE-9C53-4312-8D21-7860EF9ED991}" type="datetime1">
              <a:rPr lang="zh-CN" altLang="en-US"/>
              <a:pPr/>
              <a:t>2017/2/24</a:t>
            </a:fld>
            <a:endParaRPr lang="en-US" altLang="zh-CN"/>
          </a:p>
        </p:txBody>
      </p:sp>
      <p:sp>
        <p:nvSpPr>
          <p:cNvPr id="14" name="灯片编号占位符 3"/>
          <p:cNvSpPr>
            <a:spLocks noGrp="1"/>
          </p:cNvSpPr>
          <p:nvPr>
            <p:ph type="sldNum" sz="quarter" idx="12"/>
          </p:nvPr>
        </p:nvSpPr>
        <p:spPr/>
        <p:txBody>
          <a:bodyPr/>
          <a:lstStyle/>
          <a:p>
            <a:fld id="{131641E6-9F68-4D30-8925-4E57DA0A34CC}" type="slidenum">
              <a:rPr lang="en-US" altLang="zh-CN"/>
              <a:pPr/>
              <a:t>22</a:t>
            </a:fld>
            <a:endParaRPr lang="en-US" altLang="zh-CN"/>
          </a:p>
        </p:txBody>
      </p:sp>
      <p:sp>
        <p:nvSpPr>
          <p:cNvPr id="2522114" name="Text Box 2"/>
          <p:cNvSpPr txBox="1">
            <a:spLocks noChangeArrowheads="1"/>
          </p:cNvSpPr>
          <p:nvPr/>
        </p:nvSpPr>
        <p:spPr bwMode="auto">
          <a:xfrm>
            <a:off x="3429000" y="304800"/>
            <a:ext cx="1752600" cy="211296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子程序</a:t>
            </a:r>
          </a:p>
          <a:p>
            <a:pPr eaLnBrk="0" hangingPunct="0">
              <a:spcBef>
                <a:spcPct val="50000"/>
              </a:spcBef>
            </a:pPr>
            <a:r>
              <a:rPr kumimoji="1" lang="en-US" altLang="zh-CN" b="1"/>
              <a:t>P(X,Y,Z);</a:t>
            </a:r>
          </a:p>
          <a:p>
            <a:pPr eaLnBrk="0" hangingPunct="0">
              <a:spcBef>
                <a:spcPct val="50000"/>
              </a:spcBef>
            </a:pPr>
            <a:r>
              <a:rPr kumimoji="1" lang="en-US" altLang="zh-CN" b="1"/>
              <a:t>{Y:=Y+1;</a:t>
            </a:r>
          </a:p>
          <a:p>
            <a:pPr eaLnBrk="0" hangingPunct="0">
              <a:spcBef>
                <a:spcPct val="50000"/>
              </a:spcBef>
            </a:pPr>
            <a:r>
              <a:rPr kumimoji="1" lang="en-US" altLang="zh-CN" b="1"/>
              <a:t> Z:=Z+X}</a:t>
            </a:r>
          </a:p>
        </p:txBody>
      </p:sp>
      <p:sp>
        <p:nvSpPr>
          <p:cNvPr id="2522115" name="Text Box 3"/>
          <p:cNvSpPr txBox="1">
            <a:spLocks noChangeArrowheads="1"/>
          </p:cNvSpPr>
          <p:nvPr/>
        </p:nvSpPr>
        <p:spPr bwMode="auto">
          <a:xfrm>
            <a:off x="323850" y="5029200"/>
            <a:ext cx="1752600" cy="1017588"/>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传值：</a:t>
            </a:r>
          </a:p>
          <a:p>
            <a:pPr eaLnBrk="0" hangingPunct="0">
              <a:spcBef>
                <a:spcPct val="50000"/>
              </a:spcBef>
            </a:pPr>
            <a:r>
              <a:rPr kumimoji="1" lang="en-US" altLang="zh-CN" b="1">
                <a:solidFill>
                  <a:srgbClr val="FF0000"/>
                </a:solidFill>
              </a:rPr>
              <a:t>2</a:t>
            </a:r>
          </a:p>
        </p:txBody>
      </p:sp>
      <p:sp>
        <p:nvSpPr>
          <p:cNvPr id="2522116" name="Text Box 4"/>
          <p:cNvSpPr txBox="1">
            <a:spLocks noChangeArrowheads="1"/>
          </p:cNvSpPr>
          <p:nvPr/>
        </p:nvSpPr>
        <p:spPr bwMode="auto">
          <a:xfrm>
            <a:off x="5867400" y="3124200"/>
            <a:ext cx="2514600" cy="266065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传地址：</a:t>
            </a:r>
          </a:p>
          <a:p>
            <a:pPr eaLnBrk="0" hangingPunct="0">
              <a:spcBef>
                <a:spcPct val="50000"/>
              </a:spcBef>
            </a:pPr>
            <a:r>
              <a:rPr kumimoji="1" lang="en-US" altLang="zh-CN" b="1"/>
              <a:t>X=T=5,Y=Z=A=2</a:t>
            </a:r>
          </a:p>
          <a:p>
            <a:pPr eaLnBrk="0" hangingPunct="0">
              <a:spcBef>
                <a:spcPct val="50000"/>
              </a:spcBef>
            </a:pPr>
            <a:r>
              <a:rPr kumimoji="1" lang="en-US" altLang="zh-CN" b="1"/>
              <a:t>A:=A+1=2+1</a:t>
            </a:r>
          </a:p>
          <a:p>
            <a:pPr eaLnBrk="0" hangingPunct="0">
              <a:spcBef>
                <a:spcPct val="50000"/>
              </a:spcBef>
            </a:pPr>
            <a:r>
              <a:rPr kumimoji="1" lang="en-US" altLang="zh-CN" b="1"/>
              <a:t>A:=A+T=3+5</a:t>
            </a:r>
          </a:p>
          <a:p>
            <a:pPr eaLnBrk="0" hangingPunct="0">
              <a:spcBef>
                <a:spcPct val="50000"/>
              </a:spcBef>
            </a:pPr>
            <a:r>
              <a:rPr kumimoji="1" lang="en-US" altLang="zh-CN" b="1">
                <a:solidFill>
                  <a:srgbClr val="FF0000"/>
                </a:solidFill>
              </a:rPr>
              <a:t>8</a:t>
            </a:r>
          </a:p>
        </p:txBody>
      </p:sp>
      <p:grpSp>
        <p:nvGrpSpPr>
          <p:cNvPr id="2522117" name="Group 5"/>
          <p:cNvGrpSpPr>
            <a:grpSpLocks/>
          </p:cNvGrpSpPr>
          <p:nvPr/>
        </p:nvGrpSpPr>
        <p:grpSpPr bwMode="auto">
          <a:xfrm>
            <a:off x="2743200" y="2590800"/>
            <a:ext cx="2590800" cy="3756025"/>
            <a:chOff x="1728" y="1632"/>
            <a:chExt cx="1632" cy="2366"/>
          </a:xfrm>
        </p:grpSpPr>
        <p:sp>
          <p:nvSpPr>
            <p:cNvPr id="2522118" name="Text Box 6"/>
            <p:cNvSpPr txBox="1">
              <a:spLocks noChangeArrowheads="1"/>
            </p:cNvSpPr>
            <p:nvPr/>
          </p:nvSpPr>
          <p:spPr bwMode="auto">
            <a:xfrm>
              <a:off x="1728" y="1632"/>
              <a:ext cx="1632" cy="2366"/>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传值结果：</a:t>
              </a:r>
            </a:p>
            <a:p>
              <a:pPr eaLnBrk="0" hangingPunct="0">
                <a:spcBef>
                  <a:spcPct val="50000"/>
                </a:spcBef>
              </a:pPr>
              <a:r>
                <a:rPr kumimoji="1" lang="en-US" altLang="zh-CN" b="1"/>
                <a:t>X=T=5,Y=Z=A=2</a:t>
              </a:r>
            </a:p>
            <a:p>
              <a:pPr eaLnBrk="0" hangingPunct="0">
                <a:spcBef>
                  <a:spcPct val="50000"/>
                </a:spcBef>
              </a:pPr>
              <a:r>
                <a:rPr kumimoji="1" lang="en-US" altLang="zh-CN" b="1"/>
                <a:t>Y:=Y+1=3</a:t>
              </a:r>
            </a:p>
            <a:p>
              <a:pPr eaLnBrk="0" hangingPunct="0">
                <a:spcBef>
                  <a:spcPct val="50000"/>
                </a:spcBef>
              </a:pPr>
              <a:r>
                <a:rPr kumimoji="1" lang="en-US" altLang="zh-CN" b="1"/>
                <a:t>Z:=Z+X=5+2=7</a:t>
              </a:r>
            </a:p>
            <a:p>
              <a:pPr eaLnBrk="0" hangingPunct="0">
                <a:spcBef>
                  <a:spcPct val="50000"/>
                </a:spcBef>
              </a:pPr>
              <a:r>
                <a:rPr kumimoji="1" lang="en-US" altLang="zh-CN" b="1"/>
                <a:t>Y	     A=3</a:t>
              </a:r>
            </a:p>
            <a:p>
              <a:pPr eaLnBrk="0" hangingPunct="0">
                <a:spcBef>
                  <a:spcPct val="50000"/>
                </a:spcBef>
              </a:pPr>
              <a:r>
                <a:rPr kumimoji="1" lang="en-US" altLang="zh-CN" b="1"/>
                <a:t>Z	     A=7</a:t>
              </a:r>
            </a:p>
            <a:p>
              <a:pPr eaLnBrk="0" hangingPunct="0">
                <a:spcBef>
                  <a:spcPct val="50000"/>
                </a:spcBef>
              </a:pPr>
              <a:r>
                <a:rPr kumimoji="1" lang="en-US" altLang="zh-CN" b="1">
                  <a:solidFill>
                    <a:srgbClr val="FF0000"/>
                  </a:solidFill>
                </a:rPr>
                <a:t>7</a:t>
              </a:r>
            </a:p>
          </p:txBody>
        </p:sp>
        <p:sp>
          <p:nvSpPr>
            <p:cNvPr id="2522119" name="AutoShape 7"/>
            <p:cNvSpPr>
              <a:spLocks noChangeArrowheads="1"/>
            </p:cNvSpPr>
            <p:nvPr/>
          </p:nvSpPr>
          <p:spPr bwMode="auto">
            <a:xfrm>
              <a:off x="1968" y="3456"/>
              <a:ext cx="576" cy="48"/>
            </a:xfrm>
            <a:prstGeom prst="rightArrow">
              <a:avLst>
                <a:gd name="adj1" fmla="val 50000"/>
                <a:gd name="adj2" fmla="val 300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22120" name="AutoShape 8"/>
            <p:cNvSpPr>
              <a:spLocks noChangeArrowheads="1"/>
            </p:cNvSpPr>
            <p:nvPr/>
          </p:nvSpPr>
          <p:spPr bwMode="auto">
            <a:xfrm>
              <a:off x="1968" y="3120"/>
              <a:ext cx="576" cy="48"/>
            </a:xfrm>
            <a:prstGeom prst="rightArrow">
              <a:avLst>
                <a:gd name="adj1" fmla="val 50000"/>
                <a:gd name="adj2" fmla="val 3000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22121" name="Text Box 9"/>
          <p:cNvSpPr txBox="1">
            <a:spLocks noChangeArrowheads="1"/>
          </p:cNvSpPr>
          <p:nvPr/>
        </p:nvSpPr>
        <p:spPr bwMode="auto">
          <a:xfrm>
            <a:off x="5791200" y="304800"/>
            <a:ext cx="2667000" cy="211296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传名</a:t>
            </a:r>
          </a:p>
          <a:p>
            <a:pPr eaLnBrk="0" hangingPunct="0">
              <a:spcBef>
                <a:spcPct val="50000"/>
              </a:spcBef>
            </a:pPr>
            <a:r>
              <a:rPr kumimoji="1" lang="en-US" altLang="zh-CN" b="1"/>
              <a:t>A:=A+1=3</a:t>
            </a:r>
          </a:p>
          <a:p>
            <a:pPr eaLnBrk="0" hangingPunct="0">
              <a:spcBef>
                <a:spcPct val="50000"/>
              </a:spcBef>
            </a:pPr>
            <a:r>
              <a:rPr kumimoji="1" lang="en-US" altLang="zh-CN" b="1"/>
              <a:t>A:=A+A+B=3+3+3</a:t>
            </a:r>
          </a:p>
          <a:p>
            <a:pPr eaLnBrk="0" hangingPunct="0">
              <a:spcBef>
                <a:spcPct val="50000"/>
              </a:spcBef>
            </a:pPr>
            <a:r>
              <a:rPr kumimoji="1" lang="en-US" altLang="zh-CN" b="1">
                <a:solidFill>
                  <a:srgbClr val="FF0000"/>
                </a:solidFill>
              </a:rPr>
              <a:t>9</a:t>
            </a:r>
          </a:p>
        </p:txBody>
      </p:sp>
      <p:sp>
        <p:nvSpPr>
          <p:cNvPr id="2522122" name="Text Box 10"/>
          <p:cNvSpPr txBox="1">
            <a:spLocks noChangeArrowheads="1"/>
          </p:cNvSpPr>
          <p:nvPr/>
        </p:nvSpPr>
        <p:spPr bwMode="auto">
          <a:xfrm>
            <a:off x="457200" y="304800"/>
            <a:ext cx="2438400" cy="2112963"/>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主程序</a:t>
            </a:r>
          </a:p>
          <a:p>
            <a:pPr eaLnBrk="0" hangingPunct="0">
              <a:spcBef>
                <a:spcPct val="50000"/>
              </a:spcBef>
            </a:pPr>
            <a:r>
              <a:rPr kumimoji="1" lang="en-US" altLang="zh-CN" b="1"/>
              <a:t>A:=2; B:=3;</a:t>
            </a:r>
          </a:p>
          <a:p>
            <a:pPr eaLnBrk="0" hangingPunct="0">
              <a:spcBef>
                <a:spcPct val="50000"/>
              </a:spcBef>
            </a:pPr>
            <a:r>
              <a:rPr kumimoji="1" lang="en-US" altLang="zh-CN" b="1"/>
              <a:t>P(A+B, A, A);</a:t>
            </a:r>
          </a:p>
          <a:p>
            <a:pPr eaLnBrk="0" hangingPunct="0">
              <a:spcBef>
                <a:spcPct val="50000"/>
              </a:spcBef>
            </a:pPr>
            <a:r>
              <a:rPr kumimoji="1" lang="en-US" altLang="zh-CN" b="1"/>
              <a:t>print A</a:t>
            </a:r>
          </a:p>
        </p:txBody>
      </p:sp>
      <p:sp>
        <p:nvSpPr>
          <p:cNvPr id="2522123" name="Text Box 11"/>
          <p:cNvSpPr txBox="1">
            <a:spLocks noChangeArrowheads="1"/>
          </p:cNvSpPr>
          <p:nvPr/>
        </p:nvSpPr>
        <p:spPr bwMode="auto">
          <a:xfrm>
            <a:off x="323850" y="3124200"/>
            <a:ext cx="1733550" cy="835025"/>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临时单元</a:t>
            </a:r>
            <a:r>
              <a:rPr kumimoji="1" lang="en-US" altLang="zh-CN" b="1"/>
              <a:t>: T:A+B=5</a:t>
            </a:r>
          </a:p>
        </p:txBody>
      </p:sp>
    </p:spTree>
    <p:extLst>
      <p:ext uri="{BB962C8B-B14F-4D97-AF65-F5344CB8AC3E}">
        <p14:creationId xmlns:p14="http://schemas.microsoft.com/office/powerpoint/2010/main" val="1444727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22122"/>
                                        </p:tgtEl>
                                        <p:attrNameLst>
                                          <p:attrName>style.visibility</p:attrName>
                                        </p:attrNameLst>
                                      </p:cBhvr>
                                      <p:to>
                                        <p:strVal val="visible"/>
                                      </p:to>
                                    </p:set>
                                    <p:anim calcmode="lin" valueType="num">
                                      <p:cBhvr additive="base">
                                        <p:cTn id="7" dur="500" fill="hold"/>
                                        <p:tgtEl>
                                          <p:spTgt spid="2522122"/>
                                        </p:tgtEl>
                                        <p:attrNameLst>
                                          <p:attrName>ppt_x</p:attrName>
                                        </p:attrNameLst>
                                      </p:cBhvr>
                                      <p:tavLst>
                                        <p:tav tm="0">
                                          <p:val>
                                            <p:strVal val="0-#ppt_w/2"/>
                                          </p:val>
                                        </p:tav>
                                        <p:tav tm="100000">
                                          <p:val>
                                            <p:strVal val="#ppt_x"/>
                                          </p:val>
                                        </p:tav>
                                      </p:tavLst>
                                    </p:anim>
                                    <p:anim calcmode="lin" valueType="num">
                                      <p:cBhvr additive="base">
                                        <p:cTn id="8" dur="500" fill="hold"/>
                                        <p:tgtEl>
                                          <p:spTgt spid="25221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22114"/>
                                        </p:tgtEl>
                                        <p:attrNameLst>
                                          <p:attrName>style.visibility</p:attrName>
                                        </p:attrNameLst>
                                      </p:cBhvr>
                                      <p:to>
                                        <p:strVal val="visible"/>
                                      </p:to>
                                    </p:set>
                                    <p:anim calcmode="lin" valueType="num">
                                      <p:cBhvr additive="base">
                                        <p:cTn id="13" dur="500" fill="hold"/>
                                        <p:tgtEl>
                                          <p:spTgt spid="2522114"/>
                                        </p:tgtEl>
                                        <p:attrNameLst>
                                          <p:attrName>ppt_x</p:attrName>
                                        </p:attrNameLst>
                                      </p:cBhvr>
                                      <p:tavLst>
                                        <p:tav tm="0">
                                          <p:val>
                                            <p:strVal val="0-#ppt_w/2"/>
                                          </p:val>
                                        </p:tav>
                                        <p:tav tm="100000">
                                          <p:val>
                                            <p:strVal val="#ppt_x"/>
                                          </p:val>
                                        </p:tav>
                                      </p:tavLst>
                                    </p:anim>
                                    <p:anim calcmode="lin" valueType="num">
                                      <p:cBhvr additive="base">
                                        <p:cTn id="14" dur="500" fill="hold"/>
                                        <p:tgtEl>
                                          <p:spTgt spid="252211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22123"/>
                                        </p:tgtEl>
                                        <p:attrNameLst>
                                          <p:attrName>style.visibility</p:attrName>
                                        </p:attrNameLst>
                                      </p:cBhvr>
                                      <p:to>
                                        <p:strVal val="visible"/>
                                      </p:to>
                                    </p:set>
                                    <p:anim calcmode="lin" valueType="num">
                                      <p:cBhvr additive="base">
                                        <p:cTn id="19" dur="500" fill="hold"/>
                                        <p:tgtEl>
                                          <p:spTgt spid="2522123"/>
                                        </p:tgtEl>
                                        <p:attrNameLst>
                                          <p:attrName>ppt_x</p:attrName>
                                        </p:attrNameLst>
                                      </p:cBhvr>
                                      <p:tavLst>
                                        <p:tav tm="0">
                                          <p:val>
                                            <p:strVal val="0-#ppt_w/2"/>
                                          </p:val>
                                        </p:tav>
                                        <p:tav tm="100000">
                                          <p:val>
                                            <p:strVal val="#ppt_x"/>
                                          </p:val>
                                        </p:tav>
                                      </p:tavLst>
                                    </p:anim>
                                    <p:anim calcmode="lin" valueType="num">
                                      <p:cBhvr additive="base">
                                        <p:cTn id="20" dur="500" fill="hold"/>
                                        <p:tgtEl>
                                          <p:spTgt spid="252212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22115"/>
                                        </p:tgtEl>
                                        <p:attrNameLst>
                                          <p:attrName>style.visibility</p:attrName>
                                        </p:attrNameLst>
                                      </p:cBhvr>
                                      <p:to>
                                        <p:strVal val="visible"/>
                                      </p:to>
                                    </p:set>
                                    <p:anim calcmode="lin" valueType="num">
                                      <p:cBhvr additive="base">
                                        <p:cTn id="25" dur="500" fill="hold"/>
                                        <p:tgtEl>
                                          <p:spTgt spid="2522115"/>
                                        </p:tgtEl>
                                        <p:attrNameLst>
                                          <p:attrName>ppt_x</p:attrName>
                                        </p:attrNameLst>
                                      </p:cBhvr>
                                      <p:tavLst>
                                        <p:tav tm="0">
                                          <p:val>
                                            <p:strVal val="0-#ppt_w/2"/>
                                          </p:val>
                                        </p:tav>
                                        <p:tav tm="100000">
                                          <p:val>
                                            <p:strVal val="#ppt_x"/>
                                          </p:val>
                                        </p:tav>
                                      </p:tavLst>
                                    </p:anim>
                                    <p:anim calcmode="lin" valueType="num">
                                      <p:cBhvr additive="base">
                                        <p:cTn id="26" dur="500" fill="hold"/>
                                        <p:tgtEl>
                                          <p:spTgt spid="252211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22116"/>
                                        </p:tgtEl>
                                        <p:attrNameLst>
                                          <p:attrName>style.visibility</p:attrName>
                                        </p:attrNameLst>
                                      </p:cBhvr>
                                      <p:to>
                                        <p:strVal val="visible"/>
                                      </p:to>
                                    </p:set>
                                    <p:anim calcmode="lin" valueType="num">
                                      <p:cBhvr additive="base">
                                        <p:cTn id="31" dur="500" fill="hold"/>
                                        <p:tgtEl>
                                          <p:spTgt spid="2522116"/>
                                        </p:tgtEl>
                                        <p:attrNameLst>
                                          <p:attrName>ppt_x</p:attrName>
                                        </p:attrNameLst>
                                      </p:cBhvr>
                                      <p:tavLst>
                                        <p:tav tm="0">
                                          <p:val>
                                            <p:strVal val="0-#ppt_w/2"/>
                                          </p:val>
                                        </p:tav>
                                        <p:tav tm="100000">
                                          <p:val>
                                            <p:strVal val="#ppt_x"/>
                                          </p:val>
                                        </p:tav>
                                      </p:tavLst>
                                    </p:anim>
                                    <p:anim calcmode="lin" valueType="num">
                                      <p:cBhvr additive="base">
                                        <p:cTn id="32" dur="500" fill="hold"/>
                                        <p:tgtEl>
                                          <p:spTgt spid="252211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522117"/>
                                        </p:tgtEl>
                                        <p:attrNameLst>
                                          <p:attrName>style.visibility</p:attrName>
                                        </p:attrNameLst>
                                      </p:cBhvr>
                                      <p:to>
                                        <p:strVal val="visible"/>
                                      </p:to>
                                    </p:set>
                                    <p:anim calcmode="lin" valueType="num">
                                      <p:cBhvr additive="base">
                                        <p:cTn id="37" dur="500" fill="hold"/>
                                        <p:tgtEl>
                                          <p:spTgt spid="2522117"/>
                                        </p:tgtEl>
                                        <p:attrNameLst>
                                          <p:attrName>ppt_x</p:attrName>
                                        </p:attrNameLst>
                                      </p:cBhvr>
                                      <p:tavLst>
                                        <p:tav tm="0">
                                          <p:val>
                                            <p:strVal val="0-#ppt_w/2"/>
                                          </p:val>
                                        </p:tav>
                                        <p:tav tm="100000">
                                          <p:val>
                                            <p:strVal val="#ppt_x"/>
                                          </p:val>
                                        </p:tav>
                                      </p:tavLst>
                                    </p:anim>
                                    <p:anim calcmode="lin" valueType="num">
                                      <p:cBhvr additive="base">
                                        <p:cTn id="38" dur="500" fill="hold"/>
                                        <p:tgtEl>
                                          <p:spTgt spid="252211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22121"/>
                                        </p:tgtEl>
                                        <p:attrNameLst>
                                          <p:attrName>style.visibility</p:attrName>
                                        </p:attrNameLst>
                                      </p:cBhvr>
                                      <p:to>
                                        <p:strVal val="visible"/>
                                      </p:to>
                                    </p:set>
                                    <p:anim calcmode="lin" valueType="num">
                                      <p:cBhvr additive="base">
                                        <p:cTn id="43" dur="500" fill="hold"/>
                                        <p:tgtEl>
                                          <p:spTgt spid="2522121"/>
                                        </p:tgtEl>
                                        <p:attrNameLst>
                                          <p:attrName>ppt_x</p:attrName>
                                        </p:attrNameLst>
                                      </p:cBhvr>
                                      <p:tavLst>
                                        <p:tav tm="0">
                                          <p:val>
                                            <p:strVal val="0-#ppt_w/2"/>
                                          </p:val>
                                        </p:tav>
                                        <p:tav tm="100000">
                                          <p:val>
                                            <p:strVal val="#ppt_x"/>
                                          </p:val>
                                        </p:tav>
                                      </p:tavLst>
                                    </p:anim>
                                    <p:anim calcmode="lin" valueType="num">
                                      <p:cBhvr additive="base">
                                        <p:cTn id="44" dur="500" fill="hold"/>
                                        <p:tgtEl>
                                          <p:spTgt spid="25221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2114" grpId="0" animBg="1" autoUpdateAnimBg="0"/>
      <p:bldP spid="2522115" grpId="0" animBg="1" autoUpdateAnimBg="0"/>
      <p:bldP spid="2522116" grpId="0" animBg="1" autoUpdateAnimBg="0"/>
      <p:bldP spid="2522121" grpId="0" animBg="1" autoUpdateAnimBg="0"/>
      <p:bldP spid="2522122" grpId="0" animBg="1" autoUpdateAnimBg="0"/>
      <p:bldP spid="2522123"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71CC3E6-77DC-49F8-B88E-D12AFF255E7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8EDC95E-7A52-4043-A4DC-460D5B77B7E5}" type="slidenum">
              <a:rPr lang="en-US" altLang="zh-CN"/>
              <a:pPr/>
              <a:t>23</a:t>
            </a:fld>
            <a:endParaRPr lang="en-US" altLang="zh-CN"/>
          </a:p>
        </p:txBody>
      </p:sp>
      <p:sp>
        <p:nvSpPr>
          <p:cNvPr id="2523138" name="Rectangle 2"/>
          <p:cNvSpPr>
            <a:spLocks noGrp="1" noChangeArrowheads="1"/>
          </p:cNvSpPr>
          <p:nvPr>
            <p:ph type="title"/>
          </p:nvPr>
        </p:nvSpPr>
        <p:spPr>
          <a:xfrm>
            <a:off x="395288" y="115888"/>
            <a:ext cx="8640762" cy="129540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编译程序组织存储空间时必须考虑的问题</a:t>
            </a:r>
          </a:p>
        </p:txBody>
      </p:sp>
      <p:sp>
        <p:nvSpPr>
          <p:cNvPr id="2523139" name="Rectangle 3"/>
          <p:cNvSpPr>
            <a:spLocks noGrp="1" noChangeArrowheads="1"/>
          </p:cNvSpPr>
          <p:nvPr>
            <p:ph type="body" idx="1"/>
          </p:nvPr>
        </p:nvSpPr>
        <p:spPr>
          <a:xfrm>
            <a:off x="430213" y="1555750"/>
            <a:ext cx="8534400" cy="4681538"/>
          </a:xfrm>
        </p:spPr>
        <p:txBody>
          <a:bodyPr/>
          <a:lstStyle/>
          <a:p>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过程能否递归？</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当控制从过程的活动返回时，局部变量的值是否要保留？</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过程能否访问非局部变量？</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过程调用的参数传递方式？</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过程能否作为参数被传递？</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过程能否作为结果值传递？</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存储块能否在程序控制下动态地分配？</a:t>
            </a:r>
          </a:p>
          <a:p>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存储块是否必须显式地释放？</a:t>
            </a:r>
          </a:p>
        </p:txBody>
      </p:sp>
    </p:spTree>
    <p:extLst>
      <p:ext uri="{BB962C8B-B14F-4D97-AF65-F5344CB8AC3E}">
        <p14:creationId xmlns:p14="http://schemas.microsoft.com/office/powerpoint/2010/main" val="3411827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23139">
                                            <p:txEl>
                                              <p:pRg st="0" end="0"/>
                                            </p:txEl>
                                          </p:spTgt>
                                        </p:tgtEl>
                                        <p:attrNameLst>
                                          <p:attrName>style.visibility</p:attrName>
                                        </p:attrNameLst>
                                      </p:cBhvr>
                                      <p:to>
                                        <p:strVal val="visible"/>
                                      </p:to>
                                    </p:set>
                                    <p:animEffect transition="in" filter="blinds(horizontal)">
                                      <p:cBhvr>
                                        <p:cTn id="7" dur="500"/>
                                        <p:tgtEl>
                                          <p:spTgt spid="2523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23139">
                                            <p:txEl>
                                              <p:pRg st="1" end="1"/>
                                            </p:txEl>
                                          </p:spTgt>
                                        </p:tgtEl>
                                        <p:attrNameLst>
                                          <p:attrName>style.visibility</p:attrName>
                                        </p:attrNameLst>
                                      </p:cBhvr>
                                      <p:to>
                                        <p:strVal val="visible"/>
                                      </p:to>
                                    </p:set>
                                    <p:animEffect transition="in" filter="blinds(horizontal)">
                                      <p:cBhvr>
                                        <p:cTn id="12" dur="500"/>
                                        <p:tgtEl>
                                          <p:spTgt spid="25231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23139">
                                            <p:txEl>
                                              <p:pRg st="2" end="2"/>
                                            </p:txEl>
                                          </p:spTgt>
                                        </p:tgtEl>
                                        <p:attrNameLst>
                                          <p:attrName>style.visibility</p:attrName>
                                        </p:attrNameLst>
                                      </p:cBhvr>
                                      <p:to>
                                        <p:strVal val="visible"/>
                                      </p:to>
                                    </p:set>
                                    <p:animEffect transition="in" filter="blinds(horizontal)">
                                      <p:cBhvr>
                                        <p:cTn id="17" dur="500"/>
                                        <p:tgtEl>
                                          <p:spTgt spid="25231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23139">
                                            <p:txEl>
                                              <p:pRg st="3" end="3"/>
                                            </p:txEl>
                                          </p:spTgt>
                                        </p:tgtEl>
                                        <p:attrNameLst>
                                          <p:attrName>style.visibility</p:attrName>
                                        </p:attrNameLst>
                                      </p:cBhvr>
                                      <p:to>
                                        <p:strVal val="visible"/>
                                      </p:to>
                                    </p:set>
                                    <p:animEffect transition="in" filter="blinds(horizontal)">
                                      <p:cBhvr>
                                        <p:cTn id="22" dur="500"/>
                                        <p:tgtEl>
                                          <p:spTgt spid="25231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23139">
                                            <p:txEl>
                                              <p:pRg st="4" end="4"/>
                                            </p:txEl>
                                          </p:spTgt>
                                        </p:tgtEl>
                                        <p:attrNameLst>
                                          <p:attrName>style.visibility</p:attrName>
                                        </p:attrNameLst>
                                      </p:cBhvr>
                                      <p:to>
                                        <p:strVal val="visible"/>
                                      </p:to>
                                    </p:set>
                                    <p:animEffect transition="in" filter="blinds(horizontal)">
                                      <p:cBhvr>
                                        <p:cTn id="27" dur="500"/>
                                        <p:tgtEl>
                                          <p:spTgt spid="25231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23139">
                                            <p:txEl>
                                              <p:pRg st="5" end="5"/>
                                            </p:txEl>
                                          </p:spTgt>
                                        </p:tgtEl>
                                        <p:attrNameLst>
                                          <p:attrName>style.visibility</p:attrName>
                                        </p:attrNameLst>
                                      </p:cBhvr>
                                      <p:to>
                                        <p:strVal val="visible"/>
                                      </p:to>
                                    </p:set>
                                    <p:animEffect transition="in" filter="blinds(horizontal)">
                                      <p:cBhvr>
                                        <p:cTn id="32" dur="500"/>
                                        <p:tgtEl>
                                          <p:spTgt spid="25231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23139">
                                            <p:txEl>
                                              <p:pRg st="6" end="6"/>
                                            </p:txEl>
                                          </p:spTgt>
                                        </p:tgtEl>
                                        <p:attrNameLst>
                                          <p:attrName>style.visibility</p:attrName>
                                        </p:attrNameLst>
                                      </p:cBhvr>
                                      <p:to>
                                        <p:strVal val="visible"/>
                                      </p:to>
                                    </p:set>
                                    <p:animEffect transition="in" filter="blinds(horizontal)">
                                      <p:cBhvr>
                                        <p:cTn id="37" dur="500"/>
                                        <p:tgtEl>
                                          <p:spTgt spid="25231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23139">
                                            <p:txEl>
                                              <p:pRg st="7" end="7"/>
                                            </p:txEl>
                                          </p:spTgt>
                                        </p:tgtEl>
                                        <p:attrNameLst>
                                          <p:attrName>style.visibility</p:attrName>
                                        </p:attrNameLst>
                                      </p:cBhvr>
                                      <p:to>
                                        <p:strVal val="visible"/>
                                      </p:to>
                                    </p:set>
                                    <p:animEffect transition="in" filter="blinds(horizontal)">
                                      <p:cBhvr>
                                        <p:cTn id="42" dur="500"/>
                                        <p:tgtEl>
                                          <p:spTgt spid="25231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313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7C4B186-E5A6-48F2-912C-D918B76EC8F3}"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98418F9-7CA2-432D-A544-39E372DEB06B}" type="slidenum">
              <a:rPr lang="en-US" altLang="zh-CN"/>
              <a:pPr/>
              <a:t>24</a:t>
            </a:fld>
            <a:endParaRPr lang="en-US" altLang="zh-CN"/>
          </a:p>
        </p:txBody>
      </p:sp>
      <p:sp>
        <p:nvSpPr>
          <p:cNvPr id="2525186" name="Rectangle 2"/>
          <p:cNvSpPr>
            <a:spLocks noGrp="1" noChangeArrowheads="1"/>
          </p:cNvSpPr>
          <p:nvPr>
            <p:ph type="title"/>
          </p:nvPr>
        </p:nvSpPr>
        <p:spPr>
          <a:xfrm>
            <a:off x="900113" y="557213"/>
            <a:ext cx="780415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存储组织</a:t>
            </a:r>
          </a:p>
        </p:txBody>
      </p:sp>
      <p:sp>
        <p:nvSpPr>
          <p:cNvPr id="2525187" name="Rectangle 3"/>
          <p:cNvSpPr>
            <a:spLocks noGrp="1" noChangeArrowheads="1"/>
          </p:cNvSpPr>
          <p:nvPr>
            <p:ph type="body" idx="1"/>
          </p:nvPr>
        </p:nvSpPr>
        <p:spPr>
          <a:xfrm>
            <a:off x="449263" y="1989138"/>
            <a:ext cx="7651750" cy="3816350"/>
          </a:xfrm>
        </p:spPr>
        <p:txBody>
          <a:bodyPr/>
          <a:lstStyle/>
          <a:p>
            <a:pPr algn="just"/>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9.2.1 </a:t>
            </a:r>
            <a:r>
              <a:rPr lang="zh-CN" altLang="en-US" sz="3600" b="1">
                <a:latin typeface="Times New Roman" panose="02020603050405020304" pitchFamily="18" charset="0"/>
                <a:ea typeface="华文新魏" panose="02010800040101010101" pitchFamily="2" charset="-122"/>
                <a:cs typeface="Times New Roman" panose="02020603050405020304" pitchFamily="18" charset="0"/>
              </a:rPr>
              <a:t>运行时内存的划分</a:t>
            </a:r>
          </a:p>
          <a:p>
            <a:pPr algn="just"/>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9.2.2 </a:t>
            </a:r>
            <a:r>
              <a:rPr lang="zh-CN" altLang="en-US" sz="3600" b="1">
                <a:latin typeface="Times New Roman" panose="02020603050405020304" pitchFamily="18" charset="0"/>
                <a:ea typeface="华文新魏" panose="02010800040101010101" pitchFamily="2" charset="-122"/>
                <a:cs typeface="Times New Roman" panose="02020603050405020304" pitchFamily="18" charset="0"/>
              </a:rPr>
              <a:t>活动记录</a:t>
            </a:r>
          </a:p>
          <a:p>
            <a:pPr algn="just"/>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9.2.3 </a:t>
            </a:r>
            <a:r>
              <a:rPr lang="zh-CN" altLang="en-US" sz="3600" b="1">
                <a:latin typeface="Times New Roman" panose="02020603050405020304" pitchFamily="18" charset="0"/>
                <a:ea typeface="华文新魏" panose="02010800040101010101" pitchFamily="2" charset="-122"/>
                <a:cs typeface="Times New Roman" panose="02020603050405020304" pitchFamily="18" charset="0"/>
              </a:rPr>
              <a:t>局部数据的组织</a:t>
            </a:r>
          </a:p>
          <a:p>
            <a:pPr algn="just"/>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9.2.4 </a:t>
            </a:r>
            <a:r>
              <a:rPr lang="zh-CN" altLang="en-US" sz="3600" b="1">
                <a:latin typeface="Times New Roman" panose="02020603050405020304" pitchFamily="18" charset="0"/>
                <a:ea typeface="华文新魏" panose="02010800040101010101" pitchFamily="2" charset="-122"/>
                <a:cs typeface="Times New Roman" panose="02020603050405020304" pitchFamily="18" charset="0"/>
              </a:rPr>
              <a:t>全局存储分配策略</a:t>
            </a:r>
          </a:p>
        </p:txBody>
      </p:sp>
    </p:spTree>
    <p:extLst>
      <p:ext uri="{BB962C8B-B14F-4D97-AF65-F5344CB8AC3E}">
        <p14:creationId xmlns:p14="http://schemas.microsoft.com/office/powerpoint/2010/main" val="2395516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25187">
                                            <p:txEl>
                                              <p:pRg st="0" end="0"/>
                                            </p:txEl>
                                          </p:spTgt>
                                        </p:tgtEl>
                                        <p:attrNameLst>
                                          <p:attrName>style.visibility</p:attrName>
                                        </p:attrNameLst>
                                      </p:cBhvr>
                                      <p:to>
                                        <p:strVal val="visible"/>
                                      </p:to>
                                    </p:set>
                                    <p:animEffect transition="in" filter="blinds(horizontal)">
                                      <p:cBhvr>
                                        <p:cTn id="7" dur="500"/>
                                        <p:tgtEl>
                                          <p:spTgt spid="2525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25187">
                                            <p:txEl>
                                              <p:pRg st="1" end="1"/>
                                            </p:txEl>
                                          </p:spTgt>
                                        </p:tgtEl>
                                        <p:attrNameLst>
                                          <p:attrName>style.visibility</p:attrName>
                                        </p:attrNameLst>
                                      </p:cBhvr>
                                      <p:to>
                                        <p:strVal val="visible"/>
                                      </p:to>
                                    </p:set>
                                    <p:animEffect transition="in" filter="blinds(horizontal)">
                                      <p:cBhvr>
                                        <p:cTn id="12" dur="500"/>
                                        <p:tgtEl>
                                          <p:spTgt spid="25251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25187">
                                            <p:txEl>
                                              <p:pRg st="2" end="2"/>
                                            </p:txEl>
                                          </p:spTgt>
                                        </p:tgtEl>
                                        <p:attrNameLst>
                                          <p:attrName>style.visibility</p:attrName>
                                        </p:attrNameLst>
                                      </p:cBhvr>
                                      <p:to>
                                        <p:strVal val="visible"/>
                                      </p:to>
                                    </p:set>
                                    <p:animEffect transition="in" filter="blinds(horizontal)">
                                      <p:cBhvr>
                                        <p:cTn id="17" dur="500"/>
                                        <p:tgtEl>
                                          <p:spTgt spid="25251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25187">
                                            <p:txEl>
                                              <p:pRg st="3" end="3"/>
                                            </p:txEl>
                                          </p:spTgt>
                                        </p:tgtEl>
                                        <p:attrNameLst>
                                          <p:attrName>style.visibility</p:attrName>
                                        </p:attrNameLst>
                                      </p:cBhvr>
                                      <p:to>
                                        <p:strVal val="visible"/>
                                      </p:to>
                                    </p:set>
                                    <p:animEffect transition="in" filter="blinds(horizontal)">
                                      <p:cBhvr>
                                        <p:cTn id="22" dur="500"/>
                                        <p:tgtEl>
                                          <p:spTgt spid="25251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518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3"/>
          <p:cNvSpPr>
            <a:spLocks noGrp="1"/>
          </p:cNvSpPr>
          <p:nvPr>
            <p:ph type="dt" sz="half" idx="10"/>
          </p:nvPr>
        </p:nvSpPr>
        <p:spPr/>
        <p:txBody>
          <a:bodyPr/>
          <a:lstStyle/>
          <a:p>
            <a:fld id="{72D4CCF5-1FFA-490C-A75C-2D474E1C2DF8}" type="datetime1">
              <a:rPr lang="zh-CN" altLang="en-US"/>
              <a:pPr/>
              <a:t>2017/2/24</a:t>
            </a:fld>
            <a:endParaRPr lang="en-US" altLang="zh-CN"/>
          </a:p>
        </p:txBody>
      </p:sp>
      <p:sp>
        <p:nvSpPr>
          <p:cNvPr id="18" name="灯片编号占位符 5"/>
          <p:cNvSpPr>
            <a:spLocks noGrp="1"/>
          </p:cNvSpPr>
          <p:nvPr>
            <p:ph type="sldNum" sz="quarter" idx="12"/>
          </p:nvPr>
        </p:nvSpPr>
        <p:spPr/>
        <p:txBody>
          <a:bodyPr/>
          <a:lstStyle/>
          <a:p>
            <a:fld id="{B8271CEB-3FA1-4B08-AFE5-B443E421B7EB}" type="slidenum">
              <a:rPr lang="en-US" altLang="zh-CN"/>
              <a:pPr/>
              <a:t>25</a:t>
            </a:fld>
            <a:endParaRPr lang="en-US" altLang="zh-CN"/>
          </a:p>
        </p:txBody>
      </p:sp>
      <p:sp>
        <p:nvSpPr>
          <p:cNvPr id="2527234" name="Rectangle 2"/>
          <p:cNvSpPr>
            <a:spLocks noGrp="1" noChangeArrowheads="1"/>
          </p:cNvSpPr>
          <p:nvPr>
            <p:ph type="title"/>
          </p:nvPr>
        </p:nvSpPr>
        <p:spPr>
          <a:xfrm>
            <a:off x="755650" y="404813"/>
            <a:ext cx="780415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7.2.1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运行时内存的划分</a:t>
            </a:r>
          </a:p>
        </p:txBody>
      </p:sp>
      <p:sp>
        <p:nvSpPr>
          <p:cNvPr id="2527235" name="Rectangle 3"/>
          <p:cNvSpPr>
            <a:spLocks noChangeArrowheads="1"/>
          </p:cNvSpPr>
          <p:nvPr/>
        </p:nvSpPr>
        <p:spPr bwMode="auto">
          <a:xfrm>
            <a:off x="2762250" y="1916113"/>
            <a:ext cx="3246438" cy="37655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27236" name="Rectangle 4"/>
          <p:cNvSpPr>
            <a:spLocks noChangeArrowheads="1"/>
          </p:cNvSpPr>
          <p:nvPr/>
        </p:nvSpPr>
        <p:spPr bwMode="auto">
          <a:xfrm>
            <a:off x="2828925" y="1939925"/>
            <a:ext cx="30924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tIns="82800"/>
          <a:lstStyle/>
          <a:p>
            <a:pPr algn="ctr" eaLnBrk="0" hangingPunct="0"/>
            <a:r>
              <a:rPr lang="zh-CN" altLang="en-US" sz="3200" b="1">
                <a:ea typeface="楷体_GB2312" pitchFamily="49" charset="-122"/>
              </a:rPr>
              <a:t>目标代码</a:t>
            </a:r>
          </a:p>
        </p:txBody>
      </p:sp>
      <p:sp>
        <p:nvSpPr>
          <p:cNvPr id="2527237" name="Line 5"/>
          <p:cNvSpPr>
            <a:spLocks noChangeShapeType="1"/>
          </p:cNvSpPr>
          <p:nvPr/>
        </p:nvSpPr>
        <p:spPr bwMode="auto">
          <a:xfrm>
            <a:off x="2782888" y="2608263"/>
            <a:ext cx="32051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7238" name="Rectangle 6"/>
          <p:cNvSpPr>
            <a:spLocks noChangeArrowheads="1"/>
          </p:cNvSpPr>
          <p:nvPr/>
        </p:nvSpPr>
        <p:spPr bwMode="auto">
          <a:xfrm>
            <a:off x="2832100" y="2630488"/>
            <a:ext cx="309245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tIns="82800"/>
          <a:lstStyle/>
          <a:p>
            <a:pPr algn="ctr" eaLnBrk="0" hangingPunct="0"/>
            <a:r>
              <a:rPr lang="zh-CN" altLang="en-US" sz="3200" b="1">
                <a:ea typeface="楷体_GB2312" pitchFamily="49" charset="-122"/>
              </a:rPr>
              <a:t>静态数据</a:t>
            </a:r>
          </a:p>
        </p:txBody>
      </p:sp>
      <p:sp>
        <p:nvSpPr>
          <p:cNvPr id="2527239" name="Line 7"/>
          <p:cNvSpPr>
            <a:spLocks noChangeShapeType="1"/>
          </p:cNvSpPr>
          <p:nvPr/>
        </p:nvSpPr>
        <p:spPr bwMode="auto">
          <a:xfrm>
            <a:off x="2743200" y="3300413"/>
            <a:ext cx="322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7240" name="Rectangle 8"/>
          <p:cNvSpPr>
            <a:spLocks noChangeArrowheads="1"/>
          </p:cNvSpPr>
          <p:nvPr/>
        </p:nvSpPr>
        <p:spPr bwMode="auto">
          <a:xfrm>
            <a:off x="2852738" y="3284538"/>
            <a:ext cx="30924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tIns="82800"/>
          <a:lstStyle/>
          <a:p>
            <a:pPr algn="ctr" eaLnBrk="0" hangingPunct="0"/>
            <a:r>
              <a:rPr lang="zh-CN" altLang="en-US" sz="3200" b="1">
                <a:ea typeface="楷体_GB2312" pitchFamily="49" charset="-122"/>
              </a:rPr>
              <a:t>栈</a:t>
            </a:r>
          </a:p>
        </p:txBody>
      </p:sp>
      <p:sp>
        <p:nvSpPr>
          <p:cNvPr id="2527241" name="Line 9"/>
          <p:cNvSpPr>
            <a:spLocks noChangeShapeType="1"/>
          </p:cNvSpPr>
          <p:nvPr/>
        </p:nvSpPr>
        <p:spPr bwMode="auto">
          <a:xfrm>
            <a:off x="2786063" y="5029200"/>
            <a:ext cx="322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7242" name="Line 10"/>
          <p:cNvSpPr>
            <a:spLocks noChangeShapeType="1"/>
          </p:cNvSpPr>
          <p:nvPr/>
        </p:nvSpPr>
        <p:spPr bwMode="auto">
          <a:xfrm>
            <a:off x="2786063" y="3971925"/>
            <a:ext cx="322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7243" name="Rectangle 11"/>
          <p:cNvSpPr>
            <a:spLocks noChangeArrowheads="1"/>
          </p:cNvSpPr>
          <p:nvPr/>
        </p:nvSpPr>
        <p:spPr bwMode="auto">
          <a:xfrm>
            <a:off x="2852738" y="3995738"/>
            <a:ext cx="30924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tIns="82800"/>
          <a:lstStyle/>
          <a:p>
            <a:pPr algn="ctr" eaLnBrk="0" hangingPunct="0"/>
            <a:endParaRPr lang="zh-CN" altLang="zh-CN" sz="1000">
              <a:ea typeface="楷体_GB2312" pitchFamily="49" charset="-122"/>
            </a:endParaRPr>
          </a:p>
        </p:txBody>
      </p:sp>
      <p:sp>
        <p:nvSpPr>
          <p:cNvPr id="2527244" name="Rectangle 12"/>
          <p:cNvSpPr>
            <a:spLocks noChangeArrowheads="1"/>
          </p:cNvSpPr>
          <p:nvPr/>
        </p:nvSpPr>
        <p:spPr bwMode="auto">
          <a:xfrm>
            <a:off x="2811463" y="5072063"/>
            <a:ext cx="30924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tIns="82800"/>
          <a:lstStyle/>
          <a:p>
            <a:pPr algn="ctr" eaLnBrk="0" hangingPunct="0"/>
            <a:r>
              <a:rPr lang="zh-CN" altLang="en-US" sz="3200" b="1">
                <a:ea typeface="楷体_GB2312" pitchFamily="49" charset="-122"/>
              </a:rPr>
              <a:t>堆</a:t>
            </a:r>
          </a:p>
        </p:txBody>
      </p:sp>
      <p:sp>
        <p:nvSpPr>
          <p:cNvPr id="2527245" name="Line 13"/>
          <p:cNvSpPr>
            <a:spLocks noChangeShapeType="1"/>
          </p:cNvSpPr>
          <p:nvPr/>
        </p:nvSpPr>
        <p:spPr bwMode="auto">
          <a:xfrm>
            <a:off x="4333875" y="3990975"/>
            <a:ext cx="4763" cy="423863"/>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527246" name="Line 14"/>
          <p:cNvSpPr>
            <a:spLocks noChangeShapeType="1"/>
          </p:cNvSpPr>
          <p:nvPr/>
        </p:nvSpPr>
        <p:spPr bwMode="auto">
          <a:xfrm flipV="1">
            <a:off x="4356100" y="4587875"/>
            <a:ext cx="3175" cy="422275"/>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527247" name="Rectangle 15"/>
          <p:cNvSpPr>
            <a:spLocks noChangeArrowheads="1"/>
          </p:cNvSpPr>
          <p:nvPr/>
        </p:nvSpPr>
        <p:spPr bwMode="auto">
          <a:xfrm>
            <a:off x="2814638" y="4129088"/>
            <a:ext cx="30924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tIns="82800"/>
          <a:lstStyle/>
          <a:p>
            <a:pPr algn="ctr" eaLnBrk="0" hangingPunct="0"/>
            <a:r>
              <a:rPr lang="zh-CN" altLang="en-US" sz="3200" b="1">
                <a:ea typeface="楷体_GB2312" pitchFamily="49" charset="-122"/>
              </a:rPr>
              <a:t>空闲  空间</a:t>
            </a:r>
          </a:p>
        </p:txBody>
      </p:sp>
    </p:spTree>
    <p:extLst>
      <p:ext uri="{BB962C8B-B14F-4D97-AF65-F5344CB8AC3E}">
        <p14:creationId xmlns:p14="http://schemas.microsoft.com/office/powerpoint/2010/main" val="5087665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8FC2E7F-2BB2-4E68-B912-6DE9C9A93AB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D9EF9C9-663C-45CB-A106-3EC98821B6E6}" type="slidenum">
              <a:rPr lang="en-US" altLang="zh-CN"/>
              <a:pPr/>
              <a:t>26</a:t>
            </a:fld>
            <a:endParaRPr lang="en-US" altLang="zh-CN"/>
          </a:p>
        </p:txBody>
      </p:sp>
      <p:sp>
        <p:nvSpPr>
          <p:cNvPr id="2529282" name="Rectangle 2"/>
          <p:cNvSpPr>
            <a:spLocks noGrp="1" noChangeArrowheads="1"/>
          </p:cNvSpPr>
          <p:nvPr>
            <p:ph type="body" idx="1"/>
          </p:nvPr>
        </p:nvSpPr>
        <p:spPr>
          <a:xfrm>
            <a:off x="446088" y="1268413"/>
            <a:ext cx="8229600" cy="4654550"/>
          </a:xfrm>
        </p:spPr>
        <p:txBody>
          <a:bodyPr/>
          <a:lstStyle/>
          <a:p>
            <a:r>
              <a:rPr lang="zh-CN" altLang="en-US" sz="2800" b="1">
                <a:latin typeface="Times New Roman" panose="02020603050405020304" pitchFamily="18" charset="0"/>
                <a:ea typeface="楷体_GB2312" pitchFamily="49" charset="-122"/>
              </a:rPr>
              <a:t>过程的每个活动所需要的信息用一块连续的存储区来管理，这块存储区叫做</a:t>
            </a:r>
            <a:r>
              <a:rPr lang="zh-CN" altLang="en-US" sz="2800" b="1">
                <a:solidFill>
                  <a:srgbClr val="FF0000"/>
                </a:solidFill>
                <a:latin typeface="Times New Roman" panose="02020603050405020304" pitchFamily="18" charset="0"/>
                <a:ea typeface="楷体_GB2312" pitchFamily="49" charset="-122"/>
              </a:rPr>
              <a:t>活动记录</a:t>
            </a:r>
            <a:r>
              <a:rPr lang="zh-CN" altLang="en-US" sz="2800" b="1">
                <a:latin typeface="Times New Roman" panose="02020603050405020304" pitchFamily="18" charset="0"/>
                <a:ea typeface="楷体_GB2312" pitchFamily="49" charset="-122"/>
              </a:rPr>
              <a:t> </a:t>
            </a:r>
          </a:p>
          <a:p>
            <a:r>
              <a:rPr lang="zh-CN" altLang="en-US" sz="2800" b="1" noProof="1">
                <a:latin typeface="Times New Roman" panose="02020603050405020304" pitchFamily="18" charset="0"/>
                <a:ea typeface="楷体_GB2312" pitchFamily="49" charset="-122"/>
              </a:rPr>
              <a:t>假定语言的特点为:允许过程递归调用、允许过程含有可变数组，</a:t>
            </a:r>
            <a:r>
              <a:rPr lang="zh-CN" altLang="zh-CN" sz="2800" b="1" noProof="1">
                <a:latin typeface="Times New Roman" panose="02020603050405020304" pitchFamily="18" charset="0"/>
                <a:ea typeface="楷体_GB2312" pitchFamily="49" charset="-122"/>
              </a:rPr>
              <a:t>过程定义</a:t>
            </a:r>
            <a:r>
              <a:rPr lang="zh-CN" altLang="zh-CN" sz="2800" b="1">
                <a:latin typeface="Times New Roman" panose="02020603050405020304" pitchFamily="18" charset="0"/>
                <a:ea typeface="楷体_GB2312" pitchFamily="49" charset="-122"/>
              </a:rPr>
              <a:t>允许</a:t>
            </a:r>
            <a:r>
              <a:rPr lang="en-US" altLang="zh-CN" sz="2800" b="1">
                <a:latin typeface="Times New Roman" panose="02020603050405020304" pitchFamily="18" charset="0"/>
                <a:ea typeface="楷体_GB2312" pitchFamily="49" charset="-122"/>
              </a:rPr>
              <a:t>/</a:t>
            </a:r>
            <a:r>
              <a:rPr lang="zh-CN" altLang="zh-CN" sz="2800" b="1">
                <a:latin typeface="Times New Roman" panose="02020603050405020304" pitchFamily="18" charset="0"/>
                <a:ea typeface="楷体_GB2312" pitchFamily="49" charset="-122"/>
              </a:rPr>
              <a:t>不允许嵌套。</a:t>
            </a:r>
            <a:endParaRPr lang="zh-CN" altLang="en-US" sz="2800" b="1" noProof="1">
              <a:latin typeface="Times New Roman" panose="02020603050405020304" pitchFamily="18" charset="0"/>
              <a:ea typeface="楷体_GB2312" pitchFamily="49" charset="-122"/>
            </a:endParaRPr>
          </a:p>
          <a:p>
            <a:pPr>
              <a:spcBef>
                <a:spcPct val="50000"/>
              </a:spcBef>
            </a:pPr>
            <a:r>
              <a:rPr lang="zh-CN" altLang="en-US" sz="2800" b="1" noProof="1">
                <a:latin typeface="Times New Roman" panose="02020603050405020304" pitchFamily="18" charset="0"/>
                <a:ea typeface="楷体_GB2312" pitchFamily="49" charset="-122"/>
              </a:rPr>
              <a:t>采用栈式存储分配机制</a:t>
            </a:r>
          </a:p>
          <a:p>
            <a:r>
              <a:rPr lang="zh-CN" altLang="en-US" sz="2800" b="1" noProof="1">
                <a:latin typeface="Times New Roman" panose="02020603050405020304" pitchFamily="18" charset="0"/>
                <a:ea typeface="楷体_GB2312" pitchFamily="49" charset="-122"/>
              </a:rPr>
              <a:t>活动记录：运行时，每当进入一个过程就有一个相应的活动记录</a:t>
            </a:r>
            <a:r>
              <a:rPr lang="zh-CN" altLang="zh-CN" sz="2800" b="1">
                <a:latin typeface="Times New Roman" panose="02020603050405020304" pitchFamily="18" charset="0"/>
                <a:ea typeface="楷体_GB2312" pitchFamily="49" charset="-122"/>
              </a:rPr>
              <a:t>压入</a:t>
            </a:r>
            <a:r>
              <a:rPr lang="en-US" altLang="zh-CN" sz="2800" b="1">
                <a:latin typeface="Times New Roman" panose="02020603050405020304" pitchFamily="18" charset="0"/>
                <a:ea typeface="楷体_GB2312" pitchFamily="49" charset="-122"/>
              </a:rPr>
              <a:t>栈顶。</a:t>
            </a:r>
            <a:r>
              <a:rPr lang="zh-CN" altLang="en-US" sz="2800" b="1">
                <a:latin typeface="Times New Roman" panose="02020603050405020304" pitchFamily="18" charset="0"/>
                <a:ea typeface="楷体_GB2312" pitchFamily="49" charset="-122"/>
              </a:rPr>
              <a:t>活动</a:t>
            </a:r>
            <a:r>
              <a:rPr lang="zh-CN" altLang="zh-CN" sz="2800" b="1" noProof="1">
                <a:latin typeface="Times New Roman" panose="02020603050405020304" pitchFamily="18" charset="0"/>
                <a:ea typeface="楷体_GB2312" pitchFamily="49" charset="-122"/>
              </a:rPr>
              <a:t>记录</a:t>
            </a:r>
            <a:r>
              <a:rPr lang="zh-CN" altLang="zh-CN" sz="2800" b="1">
                <a:latin typeface="Times New Roman" panose="02020603050405020304" pitchFamily="18" charset="0"/>
                <a:ea typeface="楷体_GB2312" pitchFamily="49" charset="-122"/>
              </a:rPr>
              <a:t>一般含有连接数据</a:t>
            </a:r>
            <a:r>
              <a:rPr lang="en-US" altLang="zh-CN" sz="2800" b="1">
                <a:latin typeface="Times New Roman" panose="02020603050405020304" pitchFamily="18" charset="0"/>
                <a:ea typeface="楷体_GB2312" pitchFamily="49" charset="-122"/>
              </a:rPr>
              <a:t>、形式单元、局部变量、局部数组的内情向量和临时工作单元等。</a:t>
            </a:r>
            <a:endParaRPr lang="zh-CN" altLang="en-US" sz="2800" b="1">
              <a:latin typeface="Times New Roman" panose="02020603050405020304" pitchFamily="18" charset="0"/>
              <a:ea typeface="楷体_GB2312" pitchFamily="49" charset="-122"/>
            </a:endParaRPr>
          </a:p>
        </p:txBody>
      </p:sp>
      <p:sp>
        <p:nvSpPr>
          <p:cNvPr id="2529283" name="Rectangle 3"/>
          <p:cNvSpPr>
            <a:spLocks noGrp="1" noChangeArrowheads="1"/>
          </p:cNvSpPr>
          <p:nvPr>
            <p:ph type="title"/>
          </p:nvPr>
        </p:nvSpPr>
        <p:spPr>
          <a:xfrm>
            <a:off x="871538" y="115888"/>
            <a:ext cx="7793037" cy="100965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活动记录</a:t>
            </a:r>
          </a:p>
        </p:txBody>
      </p:sp>
    </p:spTree>
    <p:extLst>
      <p:ext uri="{BB962C8B-B14F-4D97-AF65-F5344CB8AC3E}">
        <p14:creationId xmlns:p14="http://schemas.microsoft.com/office/powerpoint/2010/main" val="1278698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282">
                                            <p:txEl>
                                              <p:pRg st="0" end="0"/>
                                            </p:txEl>
                                          </p:spTgt>
                                        </p:tgtEl>
                                        <p:attrNameLst>
                                          <p:attrName>style.visibility</p:attrName>
                                        </p:attrNameLst>
                                      </p:cBhvr>
                                      <p:to>
                                        <p:strVal val="visible"/>
                                      </p:to>
                                    </p:set>
                                    <p:animEffect transition="in" filter="wipe(left)">
                                      <p:cBhvr>
                                        <p:cTn id="7" dur="500"/>
                                        <p:tgtEl>
                                          <p:spTgt spid="25292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29282">
                                            <p:txEl>
                                              <p:pRg st="1" end="1"/>
                                            </p:txEl>
                                          </p:spTgt>
                                        </p:tgtEl>
                                        <p:attrNameLst>
                                          <p:attrName>style.visibility</p:attrName>
                                        </p:attrNameLst>
                                      </p:cBhvr>
                                      <p:to>
                                        <p:strVal val="visible"/>
                                      </p:to>
                                    </p:set>
                                    <p:animEffect transition="in" filter="wipe(left)">
                                      <p:cBhvr>
                                        <p:cTn id="12" dur="500"/>
                                        <p:tgtEl>
                                          <p:spTgt spid="25292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29282">
                                            <p:txEl>
                                              <p:pRg st="2" end="2"/>
                                            </p:txEl>
                                          </p:spTgt>
                                        </p:tgtEl>
                                        <p:attrNameLst>
                                          <p:attrName>style.visibility</p:attrName>
                                        </p:attrNameLst>
                                      </p:cBhvr>
                                      <p:to>
                                        <p:strVal val="visible"/>
                                      </p:to>
                                    </p:set>
                                    <p:animEffect transition="in" filter="wipe(left)">
                                      <p:cBhvr>
                                        <p:cTn id="17" dur="500"/>
                                        <p:tgtEl>
                                          <p:spTgt spid="252928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29282">
                                            <p:txEl>
                                              <p:pRg st="3" end="3"/>
                                            </p:txEl>
                                          </p:spTgt>
                                        </p:tgtEl>
                                        <p:attrNameLst>
                                          <p:attrName>style.visibility</p:attrName>
                                        </p:attrNameLst>
                                      </p:cBhvr>
                                      <p:to>
                                        <p:strVal val="visible"/>
                                      </p:to>
                                    </p:set>
                                    <p:animEffect transition="in" filter="wipe(left)">
                                      <p:cBhvr>
                                        <p:cTn id="22" dur="500"/>
                                        <p:tgtEl>
                                          <p:spTgt spid="25292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282"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日期占位符 3"/>
          <p:cNvSpPr>
            <a:spLocks noGrp="1"/>
          </p:cNvSpPr>
          <p:nvPr>
            <p:ph type="dt" sz="half" idx="10"/>
          </p:nvPr>
        </p:nvSpPr>
        <p:spPr/>
        <p:txBody>
          <a:bodyPr/>
          <a:lstStyle/>
          <a:p>
            <a:fld id="{6147C4C3-CFBF-4B64-B323-D261A0901416}" type="datetime1">
              <a:rPr lang="zh-CN" altLang="en-US"/>
              <a:pPr/>
              <a:t>2017/2/24</a:t>
            </a:fld>
            <a:endParaRPr lang="en-US" altLang="zh-CN"/>
          </a:p>
        </p:txBody>
      </p:sp>
      <p:sp>
        <p:nvSpPr>
          <p:cNvPr id="19" name="灯片编号占位符 5"/>
          <p:cNvSpPr>
            <a:spLocks noGrp="1"/>
          </p:cNvSpPr>
          <p:nvPr>
            <p:ph type="sldNum" sz="quarter" idx="12"/>
          </p:nvPr>
        </p:nvSpPr>
        <p:spPr/>
        <p:txBody>
          <a:bodyPr/>
          <a:lstStyle/>
          <a:p>
            <a:fld id="{369E1F76-938D-4783-8CB6-F0807462D83F}" type="slidenum">
              <a:rPr lang="en-US" altLang="zh-CN"/>
              <a:pPr/>
              <a:t>27</a:t>
            </a:fld>
            <a:endParaRPr lang="en-US" altLang="zh-CN"/>
          </a:p>
        </p:txBody>
      </p:sp>
      <p:sp>
        <p:nvSpPr>
          <p:cNvPr id="2530306" name="Rectangle 2"/>
          <p:cNvSpPr>
            <a:spLocks noChangeArrowheads="1"/>
          </p:cNvSpPr>
          <p:nvPr/>
        </p:nvSpPr>
        <p:spPr bwMode="auto">
          <a:xfrm>
            <a:off x="4427538" y="1916113"/>
            <a:ext cx="4500562"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hangingPunct="0"/>
            <a:r>
              <a:rPr lang="zh-CN" altLang="en-US" sz="3200" b="1" noProof="1">
                <a:ea typeface="楷体_GB2312" pitchFamily="49" charset="-122"/>
              </a:rPr>
              <a:t>对任何局部变量</a:t>
            </a:r>
            <a:r>
              <a:rPr lang="en-US" altLang="zh-CN" sz="3200" b="1" noProof="1">
                <a:ea typeface="楷体_GB2312" pitchFamily="49" charset="-122"/>
              </a:rPr>
              <a:t>X</a:t>
            </a:r>
            <a:r>
              <a:rPr lang="zh-CN" altLang="en-US" sz="3200" b="1" noProof="1">
                <a:ea typeface="楷体_GB2312" pitchFamily="49" charset="-122"/>
              </a:rPr>
              <a:t>的引用可表示为变址访问:</a:t>
            </a:r>
          </a:p>
          <a:p>
            <a:pPr eaLnBrk="0" hangingPunct="0"/>
            <a:r>
              <a:rPr lang="en-US" altLang="zh-CN" sz="3200" b="1" noProof="1">
                <a:ea typeface="楷体_GB2312" pitchFamily="49" charset="-122"/>
              </a:rPr>
              <a:t>    dx[SP]</a:t>
            </a:r>
          </a:p>
          <a:p>
            <a:pPr eaLnBrk="0" hangingPunct="0"/>
            <a:r>
              <a:rPr lang="en-US" altLang="zh-CN" sz="3200" b="1" noProof="1">
                <a:ea typeface="楷体_GB2312" pitchFamily="49" charset="-122"/>
              </a:rPr>
              <a:t>dx</a:t>
            </a:r>
            <a:r>
              <a:rPr lang="en-US" altLang="zh-CN" sz="3200" b="1">
                <a:ea typeface="楷体_GB2312" pitchFamily="49" charset="-122"/>
              </a:rPr>
              <a:t>:</a:t>
            </a:r>
            <a:r>
              <a:rPr lang="zh-CN" altLang="en-US" sz="3200" b="1" noProof="1">
                <a:ea typeface="楷体_GB2312" pitchFamily="49" charset="-122"/>
              </a:rPr>
              <a:t>变量</a:t>
            </a:r>
            <a:r>
              <a:rPr lang="en-US" altLang="zh-CN" sz="3200" b="1" noProof="1">
                <a:ea typeface="楷体_GB2312" pitchFamily="49" charset="-122"/>
              </a:rPr>
              <a:t>X</a:t>
            </a:r>
            <a:r>
              <a:rPr lang="zh-CN" altLang="en-US" sz="3200" b="1" noProof="1">
                <a:ea typeface="楷体_GB2312" pitchFamily="49" charset="-122"/>
              </a:rPr>
              <a:t>相对于活动记录起点的地址，在编译时可确定。</a:t>
            </a:r>
          </a:p>
        </p:txBody>
      </p:sp>
      <p:sp>
        <p:nvSpPr>
          <p:cNvPr id="2530307" name="Rectangle 3"/>
          <p:cNvSpPr>
            <a:spLocks noChangeArrowheads="1"/>
          </p:cNvSpPr>
          <p:nvPr/>
        </p:nvSpPr>
        <p:spPr bwMode="auto">
          <a:xfrm>
            <a:off x="1717675" y="4092575"/>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530308" name="Rectangle 4"/>
          <p:cNvSpPr>
            <a:spLocks noChangeArrowheads="1"/>
          </p:cNvSpPr>
          <p:nvPr/>
        </p:nvSpPr>
        <p:spPr bwMode="auto">
          <a:xfrm>
            <a:off x="1717675" y="4637088"/>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30309" name="Rectangle 5"/>
          <p:cNvSpPr>
            <a:spLocks noChangeArrowheads="1"/>
          </p:cNvSpPr>
          <p:nvPr/>
        </p:nvSpPr>
        <p:spPr bwMode="auto">
          <a:xfrm>
            <a:off x="1717675" y="1916113"/>
            <a:ext cx="2187575" cy="3810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0310" name="Rectangle 6"/>
          <p:cNvSpPr>
            <a:spLocks noChangeArrowheads="1"/>
          </p:cNvSpPr>
          <p:nvPr/>
        </p:nvSpPr>
        <p:spPr bwMode="auto">
          <a:xfrm>
            <a:off x="1717675" y="3549650"/>
            <a:ext cx="2198688"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530311" name="Rectangle 7"/>
          <p:cNvSpPr>
            <a:spLocks noChangeArrowheads="1"/>
          </p:cNvSpPr>
          <p:nvPr/>
        </p:nvSpPr>
        <p:spPr bwMode="auto">
          <a:xfrm>
            <a:off x="1717675" y="1916113"/>
            <a:ext cx="220662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临时变量</a:t>
            </a:r>
          </a:p>
        </p:txBody>
      </p:sp>
      <p:sp>
        <p:nvSpPr>
          <p:cNvPr id="2530312" name="Rectangle 8"/>
          <p:cNvSpPr>
            <a:spLocks noChangeArrowheads="1"/>
          </p:cNvSpPr>
          <p:nvPr/>
        </p:nvSpPr>
        <p:spPr bwMode="auto">
          <a:xfrm>
            <a:off x="1717675" y="2460625"/>
            <a:ext cx="2133600"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数组内情向量</a:t>
            </a:r>
          </a:p>
        </p:txBody>
      </p:sp>
      <p:sp>
        <p:nvSpPr>
          <p:cNvPr id="2530313" name="Rectangle 9"/>
          <p:cNvSpPr>
            <a:spLocks noChangeArrowheads="1"/>
          </p:cNvSpPr>
          <p:nvPr/>
        </p:nvSpPr>
        <p:spPr bwMode="auto">
          <a:xfrm>
            <a:off x="1717675" y="3005138"/>
            <a:ext cx="2133600"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简单变量</a:t>
            </a:r>
          </a:p>
        </p:txBody>
      </p:sp>
      <p:sp>
        <p:nvSpPr>
          <p:cNvPr id="2530314" name="Rectangle 10"/>
          <p:cNvSpPr>
            <a:spLocks noChangeArrowheads="1"/>
          </p:cNvSpPr>
          <p:nvPr/>
        </p:nvSpPr>
        <p:spPr bwMode="auto">
          <a:xfrm>
            <a:off x="600075" y="5181600"/>
            <a:ext cx="101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SP</a:t>
            </a:r>
            <a:r>
              <a:rPr kumimoji="1" lang="en-US" altLang="zh-CN" sz="2800" b="1">
                <a:ea typeface="楷体_GB2312" pitchFamily="49" charset="-122"/>
                <a:sym typeface="Symbol" panose="05050102010706020507" pitchFamily="18" charset="2"/>
              </a:rPr>
              <a:t> </a:t>
            </a:r>
            <a:r>
              <a:rPr kumimoji="1" lang="en-US" altLang="zh-CN" sz="2800" b="1">
                <a:ea typeface="楷体_GB2312" pitchFamily="49" charset="-122"/>
              </a:rPr>
              <a:t>0</a:t>
            </a:r>
          </a:p>
        </p:txBody>
      </p:sp>
      <p:sp>
        <p:nvSpPr>
          <p:cNvPr id="2530315" name="Rectangle 11"/>
          <p:cNvSpPr>
            <a:spLocks noChangeArrowheads="1"/>
          </p:cNvSpPr>
          <p:nvPr/>
        </p:nvSpPr>
        <p:spPr bwMode="auto">
          <a:xfrm>
            <a:off x="1143000" y="4637088"/>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en-US" altLang="zh-CN" sz="2800" b="1">
                <a:ea typeface="楷体_GB2312" pitchFamily="49" charset="-122"/>
              </a:rPr>
              <a:t>1</a:t>
            </a:r>
          </a:p>
        </p:txBody>
      </p:sp>
      <p:sp>
        <p:nvSpPr>
          <p:cNvPr id="2530316" name="Rectangle 12"/>
          <p:cNvSpPr>
            <a:spLocks noChangeArrowheads="1"/>
          </p:cNvSpPr>
          <p:nvPr/>
        </p:nvSpPr>
        <p:spPr bwMode="auto">
          <a:xfrm>
            <a:off x="1143000" y="4160838"/>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2</a:t>
            </a:r>
          </a:p>
        </p:txBody>
      </p:sp>
      <p:sp>
        <p:nvSpPr>
          <p:cNvPr id="2530317" name="Line 13"/>
          <p:cNvSpPr>
            <a:spLocks noChangeShapeType="1"/>
          </p:cNvSpPr>
          <p:nvPr/>
        </p:nvSpPr>
        <p:spPr bwMode="auto">
          <a:xfrm flipV="1">
            <a:off x="4114800" y="2052638"/>
            <a:ext cx="0" cy="3605212"/>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0318" name="Rectangle 14"/>
          <p:cNvSpPr>
            <a:spLocks noChangeArrowheads="1"/>
          </p:cNvSpPr>
          <p:nvPr/>
        </p:nvSpPr>
        <p:spPr bwMode="auto">
          <a:xfrm>
            <a:off x="1717675" y="5181600"/>
            <a:ext cx="22066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旧</a:t>
            </a:r>
            <a:r>
              <a:rPr kumimoji="1" lang="en-US" altLang="en-US" sz="2800" b="1">
                <a:ea typeface="楷体_GB2312" pitchFamily="49" charset="-122"/>
              </a:rPr>
              <a:t>SP</a:t>
            </a:r>
            <a:endParaRPr kumimoji="1" lang="en-US" altLang="zh-CN" sz="2800" b="1">
              <a:ea typeface="楷体_GB2312" pitchFamily="49" charset="-122"/>
            </a:endParaRPr>
          </a:p>
        </p:txBody>
      </p:sp>
      <p:sp>
        <p:nvSpPr>
          <p:cNvPr id="2530319" name="Rectangle 15"/>
          <p:cNvSpPr>
            <a:spLocks noChangeArrowheads="1"/>
          </p:cNvSpPr>
          <p:nvPr/>
        </p:nvSpPr>
        <p:spPr bwMode="auto">
          <a:xfrm>
            <a:off x="611188" y="1916113"/>
            <a:ext cx="100171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TOP</a:t>
            </a:r>
            <a:r>
              <a:rPr kumimoji="1" lang="en-US" altLang="zh-CN" sz="2800" b="1">
                <a:ea typeface="楷体_GB2312" pitchFamily="49" charset="-122"/>
                <a:sym typeface="Symbol" panose="05050102010706020507" pitchFamily="18" charset="2"/>
              </a:rPr>
              <a:t> </a:t>
            </a:r>
            <a:endParaRPr kumimoji="1" lang="en-US" altLang="zh-CN" sz="2800" b="1">
              <a:ea typeface="楷体_GB2312" pitchFamily="49" charset="-122"/>
            </a:endParaRPr>
          </a:p>
        </p:txBody>
      </p:sp>
      <p:sp>
        <p:nvSpPr>
          <p:cNvPr id="2530320" name="Rectangle 16"/>
          <p:cNvSpPr>
            <a:spLocks noGrp="1" noChangeArrowheads="1"/>
          </p:cNvSpPr>
          <p:nvPr>
            <p:ph type="title"/>
          </p:nvPr>
        </p:nvSpPr>
        <p:spPr>
          <a:xfrm>
            <a:off x="179388" y="115888"/>
            <a:ext cx="8764587" cy="14620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每个过程的活动记录内容</a:t>
            </a:r>
            <a:r>
              <a:rPr lang="zh-CN" altLang="en-US"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r>
            <a:br>
              <a:rPr lang="zh-CN" altLang="en-US"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br>
            <a:r>
              <a:rPr lang="zh-CN" altLang="en-US"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非嵌套语言</a:t>
            </a:r>
            <a:r>
              <a:rPr lang="en-US" altLang="zh-CN"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如</a:t>
            </a:r>
            <a:r>
              <a:rPr lang="en-US" altLang="zh-CN"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a:t>
            </a:r>
          </a:p>
        </p:txBody>
      </p:sp>
    </p:spTree>
    <p:extLst>
      <p:ext uri="{BB962C8B-B14F-4D97-AF65-F5344CB8AC3E}">
        <p14:creationId xmlns:p14="http://schemas.microsoft.com/office/powerpoint/2010/main" val="21013347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2530309"/>
                                        </p:tgtEl>
                                        <p:attrNameLst>
                                          <p:attrName>style.visibility</p:attrName>
                                        </p:attrNameLst>
                                      </p:cBhvr>
                                      <p:to>
                                        <p:strVal val="visible"/>
                                      </p:to>
                                    </p:set>
                                    <p:anim calcmode="lin" valueType="num">
                                      <p:cBhvr>
                                        <p:cTn id="7" dur="500" fill="hold"/>
                                        <p:tgtEl>
                                          <p:spTgt spid="2530309"/>
                                        </p:tgtEl>
                                        <p:attrNameLst>
                                          <p:attrName>ppt_w</p:attrName>
                                        </p:attrNameLst>
                                      </p:cBhvr>
                                      <p:tavLst>
                                        <p:tav tm="0">
                                          <p:val>
                                            <p:strVal val="2/3*#ppt_w"/>
                                          </p:val>
                                        </p:tav>
                                        <p:tav tm="100000">
                                          <p:val>
                                            <p:strVal val="#ppt_w"/>
                                          </p:val>
                                        </p:tav>
                                      </p:tavLst>
                                    </p:anim>
                                    <p:anim calcmode="lin" valueType="num">
                                      <p:cBhvr>
                                        <p:cTn id="8" dur="500" fill="hold"/>
                                        <p:tgtEl>
                                          <p:spTgt spid="2530309"/>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530314"/>
                                        </p:tgtEl>
                                        <p:attrNameLst>
                                          <p:attrName>style.visibility</p:attrName>
                                        </p:attrNameLst>
                                      </p:cBhvr>
                                      <p:to>
                                        <p:strVal val="visible"/>
                                      </p:to>
                                    </p:set>
                                    <p:animEffect transition="in" filter="wipe(down)">
                                      <p:cBhvr>
                                        <p:cTn id="13" dur="500"/>
                                        <p:tgtEl>
                                          <p:spTgt spid="25303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530318"/>
                                        </p:tgtEl>
                                        <p:attrNameLst>
                                          <p:attrName>style.visibility</p:attrName>
                                        </p:attrNameLst>
                                      </p:cBhvr>
                                      <p:to>
                                        <p:strVal val="visible"/>
                                      </p:to>
                                    </p:set>
                                    <p:animEffect transition="in" filter="wipe(down)">
                                      <p:cBhvr>
                                        <p:cTn id="18" dur="500"/>
                                        <p:tgtEl>
                                          <p:spTgt spid="253031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530315"/>
                                        </p:tgtEl>
                                        <p:attrNameLst>
                                          <p:attrName>style.visibility</p:attrName>
                                        </p:attrNameLst>
                                      </p:cBhvr>
                                      <p:to>
                                        <p:strVal val="visible"/>
                                      </p:to>
                                    </p:set>
                                    <p:animEffect transition="in" filter="wipe(down)">
                                      <p:cBhvr>
                                        <p:cTn id="23" dur="500"/>
                                        <p:tgtEl>
                                          <p:spTgt spid="25303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530308"/>
                                        </p:tgtEl>
                                        <p:attrNameLst>
                                          <p:attrName>style.visibility</p:attrName>
                                        </p:attrNameLst>
                                      </p:cBhvr>
                                      <p:to>
                                        <p:strVal val="visible"/>
                                      </p:to>
                                    </p:set>
                                    <p:animEffect transition="in" filter="wipe(down)">
                                      <p:cBhvr>
                                        <p:cTn id="28" dur="500"/>
                                        <p:tgtEl>
                                          <p:spTgt spid="253030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530316"/>
                                        </p:tgtEl>
                                        <p:attrNameLst>
                                          <p:attrName>style.visibility</p:attrName>
                                        </p:attrNameLst>
                                      </p:cBhvr>
                                      <p:to>
                                        <p:strVal val="visible"/>
                                      </p:to>
                                    </p:set>
                                    <p:animEffect transition="in" filter="wipe(down)">
                                      <p:cBhvr>
                                        <p:cTn id="33" dur="500"/>
                                        <p:tgtEl>
                                          <p:spTgt spid="253031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530307"/>
                                        </p:tgtEl>
                                        <p:attrNameLst>
                                          <p:attrName>style.visibility</p:attrName>
                                        </p:attrNameLst>
                                      </p:cBhvr>
                                      <p:to>
                                        <p:strVal val="visible"/>
                                      </p:to>
                                    </p:set>
                                    <p:animEffect transition="in" filter="wipe(down)">
                                      <p:cBhvr>
                                        <p:cTn id="38" dur="500"/>
                                        <p:tgtEl>
                                          <p:spTgt spid="253030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530310"/>
                                        </p:tgtEl>
                                        <p:attrNameLst>
                                          <p:attrName>style.visibility</p:attrName>
                                        </p:attrNameLst>
                                      </p:cBhvr>
                                      <p:to>
                                        <p:strVal val="visible"/>
                                      </p:to>
                                    </p:set>
                                    <p:animEffect transition="in" filter="wipe(down)">
                                      <p:cBhvr>
                                        <p:cTn id="43" dur="500"/>
                                        <p:tgtEl>
                                          <p:spTgt spid="253031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530313"/>
                                        </p:tgtEl>
                                        <p:attrNameLst>
                                          <p:attrName>style.visibility</p:attrName>
                                        </p:attrNameLst>
                                      </p:cBhvr>
                                      <p:to>
                                        <p:strVal val="visible"/>
                                      </p:to>
                                    </p:set>
                                    <p:animEffect transition="in" filter="wipe(down)">
                                      <p:cBhvr>
                                        <p:cTn id="48" dur="500"/>
                                        <p:tgtEl>
                                          <p:spTgt spid="25303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530312"/>
                                        </p:tgtEl>
                                        <p:attrNameLst>
                                          <p:attrName>style.visibility</p:attrName>
                                        </p:attrNameLst>
                                      </p:cBhvr>
                                      <p:to>
                                        <p:strVal val="visible"/>
                                      </p:to>
                                    </p:set>
                                    <p:animEffect transition="in" filter="wipe(down)">
                                      <p:cBhvr>
                                        <p:cTn id="53" dur="500"/>
                                        <p:tgtEl>
                                          <p:spTgt spid="253031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530311"/>
                                        </p:tgtEl>
                                        <p:attrNameLst>
                                          <p:attrName>style.visibility</p:attrName>
                                        </p:attrNameLst>
                                      </p:cBhvr>
                                      <p:to>
                                        <p:strVal val="visible"/>
                                      </p:to>
                                    </p:set>
                                    <p:animEffect transition="in" filter="wipe(down)">
                                      <p:cBhvr>
                                        <p:cTn id="58" dur="500"/>
                                        <p:tgtEl>
                                          <p:spTgt spid="253031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530319"/>
                                        </p:tgtEl>
                                        <p:attrNameLst>
                                          <p:attrName>style.visibility</p:attrName>
                                        </p:attrNameLst>
                                      </p:cBhvr>
                                      <p:to>
                                        <p:strVal val="visible"/>
                                      </p:to>
                                    </p:set>
                                    <p:animEffect transition="in" filter="wipe(down)">
                                      <p:cBhvr>
                                        <p:cTn id="63" dur="500"/>
                                        <p:tgtEl>
                                          <p:spTgt spid="253031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2530317"/>
                                        </p:tgtEl>
                                        <p:attrNameLst>
                                          <p:attrName>style.visibility</p:attrName>
                                        </p:attrNameLst>
                                      </p:cBhvr>
                                      <p:to>
                                        <p:strVal val="visible"/>
                                      </p:to>
                                    </p:set>
                                    <p:animEffect transition="in" filter="wipe(down)">
                                      <p:cBhvr>
                                        <p:cTn id="68" dur="500"/>
                                        <p:tgtEl>
                                          <p:spTgt spid="253031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2530306"/>
                                        </p:tgtEl>
                                        <p:attrNameLst>
                                          <p:attrName>style.visibility</p:attrName>
                                        </p:attrNameLst>
                                      </p:cBhvr>
                                      <p:to>
                                        <p:strVal val="visible"/>
                                      </p:to>
                                    </p:set>
                                    <p:anim calcmode="lin" valueType="num">
                                      <p:cBhvr additive="base">
                                        <p:cTn id="73" dur="500" fill="hold"/>
                                        <p:tgtEl>
                                          <p:spTgt spid="2530306"/>
                                        </p:tgtEl>
                                        <p:attrNameLst>
                                          <p:attrName>ppt_x</p:attrName>
                                        </p:attrNameLst>
                                      </p:cBhvr>
                                      <p:tavLst>
                                        <p:tav tm="0">
                                          <p:val>
                                            <p:strVal val="1+#ppt_w/2"/>
                                          </p:val>
                                        </p:tav>
                                        <p:tav tm="100000">
                                          <p:val>
                                            <p:strVal val="#ppt_x"/>
                                          </p:val>
                                        </p:tav>
                                      </p:tavLst>
                                    </p:anim>
                                    <p:anim calcmode="lin" valueType="num">
                                      <p:cBhvr additive="base">
                                        <p:cTn id="74" dur="500" fill="hold"/>
                                        <p:tgtEl>
                                          <p:spTgt spid="25303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0306" grpId="0" autoUpdateAnimBg="0"/>
      <p:bldP spid="2530307" grpId="0" animBg="1"/>
      <p:bldP spid="2530308" grpId="0" animBg="1"/>
      <p:bldP spid="2530310" grpId="0" animBg="1"/>
      <p:bldP spid="2530311" grpId="0" autoUpdateAnimBg="0"/>
      <p:bldP spid="2530312" grpId="0" autoUpdateAnimBg="0"/>
      <p:bldP spid="2530313" grpId="0" autoUpdateAnimBg="0"/>
      <p:bldP spid="2530314" grpId="0" autoUpdateAnimBg="0"/>
      <p:bldP spid="2530315" grpId="0" autoUpdateAnimBg="0"/>
      <p:bldP spid="2530316" grpId="0" autoUpdateAnimBg="0"/>
      <p:bldP spid="2530318" grpId="0"/>
      <p:bldP spid="253031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日期占位符 3"/>
          <p:cNvSpPr>
            <a:spLocks noGrp="1"/>
          </p:cNvSpPr>
          <p:nvPr>
            <p:ph type="dt" sz="half" idx="10"/>
          </p:nvPr>
        </p:nvSpPr>
        <p:spPr/>
        <p:txBody>
          <a:bodyPr/>
          <a:lstStyle/>
          <a:p>
            <a:fld id="{0B8F1175-9A02-447F-B194-81C91E56E19A}" type="datetime1">
              <a:rPr lang="zh-CN" altLang="en-US"/>
              <a:pPr/>
              <a:t>2017/2/24</a:t>
            </a:fld>
            <a:endParaRPr lang="en-US" altLang="zh-CN"/>
          </a:p>
        </p:txBody>
      </p:sp>
      <p:sp>
        <p:nvSpPr>
          <p:cNvPr id="19" name="灯片编号占位符 5"/>
          <p:cNvSpPr>
            <a:spLocks noGrp="1"/>
          </p:cNvSpPr>
          <p:nvPr>
            <p:ph type="sldNum" sz="quarter" idx="12"/>
          </p:nvPr>
        </p:nvSpPr>
        <p:spPr/>
        <p:txBody>
          <a:bodyPr/>
          <a:lstStyle/>
          <a:p>
            <a:fld id="{F609B087-4676-4353-925E-895DAB48CDD5}" type="slidenum">
              <a:rPr lang="en-US" altLang="zh-CN"/>
              <a:pPr/>
              <a:t>28</a:t>
            </a:fld>
            <a:endParaRPr lang="en-US" altLang="zh-CN"/>
          </a:p>
        </p:txBody>
      </p:sp>
      <p:sp>
        <p:nvSpPr>
          <p:cNvPr id="2531330" name="Rectangle 2"/>
          <p:cNvSpPr>
            <a:spLocks noChangeArrowheads="1"/>
          </p:cNvSpPr>
          <p:nvPr/>
        </p:nvSpPr>
        <p:spPr bwMode="auto">
          <a:xfrm>
            <a:off x="4572000" y="1773238"/>
            <a:ext cx="41910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eaLnBrk="0" hangingPunct="0">
              <a:buClr>
                <a:schemeClr val="tx1"/>
              </a:buClr>
              <a:buSzPct val="75000"/>
              <a:buFont typeface="Wingdings" panose="05000000000000000000" pitchFamily="2" charset="2"/>
              <a:buChar char="l"/>
            </a:pPr>
            <a:r>
              <a:rPr lang="en-US" altLang="zh-CN" sz="3200" b="1">
                <a:ea typeface="楷体_GB2312" pitchFamily="49" charset="-122"/>
              </a:rPr>
              <a:t> </a:t>
            </a:r>
            <a:r>
              <a:rPr lang="zh-CN" altLang="en-US" sz="3200" b="1">
                <a:ea typeface="楷体_GB2312" pitchFamily="49" charset="-122"/>
              </a:rPr>
              <a:t>连接数据</a:t>
            </a:r>
          </a:p>
          <a:p>
            <a:pPr lvl="1" algn="just" eaLnBrk="0" hangingPunct="0">
              <a:buClr>
                <a:schemeClr val="tx1"/>
              </a:buClr>
              <a:buSzPct val="75000"/>
              <a:buFont typeface="Wingdings" panose="05000000000000000000" pitchFamily="2" charset="2"/>
              <a:buChar char="l"/>
            </a:pPr>
            <a:r>
              <a:rPr lang="zh-CN" altLang="en-US" sz="2800" b="1">
                <a:ea typeface="楷体_GB2312" pitchFamily="49" charset="-122"/>
              </a:rPr>
              <a:t> 返回地址</a:t>
            </a:r>
          </a:p>
          <a:p>
            <a:pPr lvl="1" algn="just" eaLnBrk="0" hangingPunct="0">
              <a:buClr>
                <a:schemeClr val="tx1"/>
              </a:buClr>
              <a:buSzPct val="75000"/>
              <a:buFont typeface="Wingdings" panose="05000000000000000000" pitchFamily="2" charset="2"/>
              <a:buChar char="l"/>
            </a:pPr>
            <a:r>
              <a:rPr lang="zh-CN" altLang="en-US" sz="2800" b="1">
                <a:ea typeface="楷体_GB2312" pitchFamily="49" charset="-122"/>
              </a:rPr>
              <a:t> 动态链：指向调用该过程前的最新活动记录地址的指针。</a:t>
            </a:r>
          </a:p>
          <a:p>
            <a:pPr algn="just" eaLnBrk="0" hangingPunct="0">
              <a:buClr>
                <a:schemeClr val="tx1"/>
              </a:buClr>
              <a:buSzPct val="75000"/>
              <a:buFont typeface="Wingdings" panose="05000000000000000000" pitchFamily="2" charset="2"/>
              <a:buChar char="l"/>
            </a:pPr>
            <a:r>
              <a:rPr lang="zh-CN" altLang="en-US" sz="2800" b="1">
                <a:ea typeface="楷体_GB2312" pitchFamily="49" charset="-122"/>
              </a:rPr>
              <a:t> 静态链：指向静态直接外层最新活动记录地址的指针，用来访问非局部数据。</a:t>
            </a:r>
          </a:p>
        </p:txBody>
      </p:sp>
      <p:sp>
        <p:nvSpPr>
          <p:cNvPr id="2531331" name="Rectangle 3"/>
          <p:cNvSpPr>
            <a:spLocks noChangeArrowheads="1"/>
          </p:cNvSpPr>
          <p:nvPr/>
        </p:nvSpPr>
        <p:spPr bwMode="auto">
          <a:xfrm>
            <a:off x="1717675" y="4171950"/>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静态链</a:t>
            </a:r>
          </a:p>
        </p:txBody>
      </p:sp>
      <p:sp>
        <p:nvSpPr>
          <p:cNvPr id="2531332" name="Rectangle 4"/>
          <p:cNvSpPr>
            <a:spLocks noChangeArrowheads="1"/>
          </p:cNvSpPr>
          <p:nvPr/>
        </p:nvSpPr>
        <p:spPr bwMode="auto">
          <a:xfrm>
            <a:off x="1717675" y="4716463"/>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动态链</a:t>
            </a:r>
          </a:p>
        </p:txBody>
      </p:sp>
      <p:sp>
        <p:nvSpPr>
          <p:cNvPr id="2531333" name="Rectangle 5"/>
          <p:cNvSpPr>
            <a:spLocks noChangeArrowheads="1"/>
          </p:cNvSpPr>
          <p:nvPr/>
        </p:nvSpPr>
        <p:spPr bwMode="auto">
          <a:xfrm>
            <a:off x="1717675" y="1995488"/>
            <a:ext cx="2187575" cy="3810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1334" name="Rectangle 6"/>
          <p:cNvSpPr>
            <a:spLocks noChangeArrowheads="1"/>
          </p:cNvSpPr>
          <p:nvPr/>
        </p:nvSpPr>
        <p:spPr bwMode="auto">
          <a:xfrm>
            <a:off x="1717675" y="3629025"/>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531335" name="Rectangle 7"/>
          <p:cNvSpPr>
            <a:spLocks noChangeArrowheads="1"/>
          </p:cNvSpPr>
          <p:nvPr/>
        </p:nvSpPr>
        <p:spPr bwMode="auto">
          <a:xfrm>
            <a:off x="1717675" y="1995488"/>
            <a:ext cx="2278063"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临时变量</a:t>
            </a:r>
          </a:p>
        </p:txBody>
      </p:sp>
      <p:sp>
        <p:nvSpPr>
          <p:cNvPr id="2531336" name="Rectangle 8"/>
          <p:cNvSpPr>
            <a:spLocks noChangeArrowheads="1"/>
          </p:cNvSpPr>
          <p:nvPr/>
        </p:nvSpPr>
        <p:spPr bwMode="auto">
          <a:xfrm>
            <a:off x="1717675" y="2540000"/>
            <a:ext cx="2278063"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数组内情向量</a:t>
            </a:r>
          </a:p>
        </p:txBody>
      </p:sp>
      <p:sp>
        <p:nvSpPr>
          <p:cNvPr id="2531337" name="Rectangle 9"/>
          <p:cNvSpPr>
            <a:spLocks noChangeArrowheads="1"/>
          </p:cNvSpPr>
          <p:nvPr/>
        </p:nvSpPr>
        <p:spPr bwMode="auto">
          <a:xfrm>
            <a:off x="1717675" y="3084513"/>
            <a:ext cx="2278063"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531338" name="Rectangle 10"/>
          <p:cNvSpPr>
            <a:spLocks noChangeArrowheads="1"/>
          </p:cNvSpPr>
          <p:nvPr/>
        </p:nvSpPr>
        <p:spPr bwMode="auto">
          <a:xfrm>
            <a:off x="669925" y="5260975"/>
            <a:ext cx="9366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SP</a:t>
            </a:r>
            <a:r>
              <a:rPr kumimoji="1" lang="en-US" altLang="zh-CN" sz="2800" b="1">
                <a:ea typeface="楷体_GB2312" pitchFamily="49" charset="-122"/>
                <a:sym typeface="Symbol" panose="05050102010706020507" pitchFamily="18" charset="2"/>
              </a:rPr>
              <a:t></a:t>
            </a:r>
            <a:r>
              <a:rPr kumimoji="1" lang="en-US" altLang="zh-CN" sz="2800" b="1">
                <a:ea typeface="楷体_GB2312" pitchFamily="49" charset="-122"/>
              </a:rPr>
              <a:t>0</a:t>
            </a:r>
          </a:p>
        </p:txBody>
      </p:sp>
      <p:sp>
        <p:nvSpPr>
          <p:cNvPr id="2531339" name="Rectangle 11"/>
          <p:cNvSpPr>
            <a:spLocks noChangeArrowheads="1"/>
          </p:cNvSpPr>
          <p:nvPr/>
        </p:nvSpPr>
        <p:spPr bwMode="auto">
          <a:xfrm>
            <a:off x="1143000" y="4716463"/>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en-US" altLang="zh-CN" sz="2800" b="1">
                <a:ea typeface="楷体_GB2312" pitchFamily="49" charset="-122"/>
              </a:rPr>
              <a:t>1</a:t>
            </a:r>
          </a:p>
        </p:txBody>
      </p:sp>
      <p:sp>
        <p:nvSpPr>
          <p:cNvPr id="2531340" name="Rectangle 12"/>
          <p:cNvSpPr>
            <a:spLocks noChangeArrowheads="1"/>
          </p:cNvSpPr>
          <p:nvPr/>
        </p:nvSpPr>
        <p:spPr bwMode="auto">
          <a:xfrm>
            <a:off x="1143000" y="4240213"/>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2</a:t>
            </a:r>
          </a:p>
        </p:txBody>
      </p:sp>
      <p:sp>
        <p:nvSpPr>
          <p:cNvPr id="2531341" name="Line 13"/>
          <p:cNvSpPr>
            <a:spLocks noChangeShapeType="1"/>
          </p:cNvSpPr>
          <p:nvPr/>
        </p:nvSpPr>
        <p:spPr bwMode="auto">
          <a:xfrm flipV="1">
            <a:off x="4114800" y="2132013"/>
            <a:ext cx="0" cy="3605212"/>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1342" name="Rectangle 14"/>
          <p:cNvSpPr>
            <a:spLocks noChangeArrowheads="1"/>
          </p:cNvSpPr>
          <p:nvPr/>
        </p:nvSpPr>
        <p:spPr bwMode="auto">
          <a:xfrm>
            <a:off x="1717675" y="5260975"/>
            <a:ext cx="22066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31343" name="Rectangle 15"/>
          <p:cNvSpPr>
            <a:spLocks noChangeArrowheads="1"/>
          </p:cNvSpPr>
          <p:nvPr/>
        </p:nvSpPr>
        <p:spPr bwMode="auto">
          <a:xfrm>
            <a:off x="684213" y="1995488"/>
            <a:ext cx="928687"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TOP</a:t>
            </a:r>
            <a:r>
              <a:rPr kumimoji="1" lang="en-US" altLang="zh-CN" sz="2800" b="1">
                <a:ea typeface="楷体_GB2312" pitchFamily="49" charset="-122"/>
                <a:sym typeface="Symbol" panose="05050102010706020507" pitchFamily="18" charset="2"/>
              </a:rPr>
              <a:t> </a:t>
            </a:r>
            <a:endParaRPr kumimoji="1" lang="en-US" altLang="zh-CN" sz="2800" b="1">
              <a:ea typeface="楷体_GB2312" pitchFamily="49" charset="-122"/>
            </a:endParaRPr>
          </a:p>
        </p:txBody>
      </p:sp>
      <p:sp>
        <p:nvSpPr>
          <p:cNvPr id="2531344" name="Rectangle 16"/>
          <p:cNvSpPr>
            <a:spLocks noGrp="1" noChangeArrowheads="1"/>
          </p:cNvSpPr>
          <p:nvPr>
            <p:ph type="title"/>
          </p:nvPr>
        </p:nvSpPr>
        <p:spPr>
          <a:xfrm>
            <a:off x="900113" y="115888"/>
            <a:ext cx="8101012" cy="14620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每个过程的活动记录内容</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
            </a:r>
            <a:br>
              <a:rPr lang="zh-CN" altLang="en-US" b="1">
                <a:latin typeface="Times New Roman" panose="02020603050405020304" pitchFamily="18" charset="0"/>
                <a:ea typeface="华文新魏" panose="02010800040101010101" pitchFamily="2" charset="-122"/>
                <a:cs typeface="Times New Roman" panose="02020603050405020304" pitchFamily="18" charset="0"/>
              </a:rPr>
            </a:br>
            <a:r>
              <a:rPr lang="zh-CN" altLang="en-US"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嵌套语言</a:t>
            </a:r>
            <a:r>
              <a:rPr lang="en-US" altLang="zh-CN"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如</a:t>
            </a:r>
            <a:r>
              <a:rPr lang="en-US" altLang="zh-CN"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Pascal)</a:t>
            </a:r>
          </a:p>
        </p:txBody>
      </p:sp>
    </p:spTree>
    <p:extLst>
      <p:ext uri="{BB962C8B-B14F-4D97-AF65-F5344CB8AC3E}">
        <p14:creationId xmlns:p14="http://schemas.microsoft.com/office/powerpoint/2010/main" val="2529690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2531333"/>
                                        </p:tgtEl>
                                        <p:attrNameLst>
                                          <p:attrName>style.visibility</p:attrName>
                                        </p:attrNameLst>
                                      </p:cBhvr>
                                      <p:to>
                                        <p:strVal val="visible"/>
                                      </p:to>
                                    </p:set>
                                    <p:anim calcmode="lin" valueType="num">
                                      <p:cBhvr>
                                        <p:cTn id="7" dur="500" fill="hold"/>
                                        <p:tgtEl>
                                          <p:spTgt spid="2531333"/>
                                        </p:tgtEl>
                                        <p:attrNameLst>
                                          <p:attrName>ppt_w</p:attrName>
                                        </p:attrNameLst>
                                      </p:cBhvr>
                                      <p:tavLst>
                                        <p:tav tm="0">
                                          <p:val>
                                            <p:strVal val="2/3*#ppt_w"/>
                                          </p:val>
                                        </p:tav>
                                        <p:tav tm="100000">
                                          <p:val>
                                            <p:strVal val="#ppt_w"/>
                                          </p:val>
                                        </p:tav>
                                      </p:tavLst>
                                    </p:anim>
                                    <p:anim calcmode="lin" valueType="num">
                                      <p:cBhvr>
                                        <p:cTn id="8" dur="500" fill="hold"/>
                                        <p:tgtEl>
                                          <p:spTgt spid="2531333"/>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531338"/>
                                        </p:tgtEl>
                                        <p:attrNameLst>
                                          <p:attrName>style.visibility</p:attrName>
                                        </p:attrNameLst>
                                      </p:cBhvr>
                                      <p:to>
                                        <p:strVal val="visible"/>
                                      </p:to>
                                    </p:set>
                                    <p:animEffect transition="in" filter="wipe(down)">
                                      <p:cBhvr>
                                        <p:cTn id="13" dur="500"/>
                                        <p:tgtEl>
                                          <p:spTgt spid="25313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531342"/>
                                        </p:tgtEl>
                                        <p:attrNameLst>
                                          <p:attrName>style.visibility</p:attrName>
                                        </p:attrNameLst>
                                      </p:cBhvr>
                                      <p:to>
                                        <p:strVal val="visible"/>
                                      </p:to>
                                    </p:set>
                                    <p:animEffect transition="in" filter="wipe(down)">
                                      <p:cBhvr>
                                        <p:cTn id="18" dur="500"/>
                                        <p:tgtEl>
                                          <p:spTgt spid="25313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531339"/>
                                        </p:tgtEl>
                                        <p:attrNameLst>
                                          <p:attrName>style.visibility</p:attrName>
                                        </p:attrNameLst>
                                      </p:cBhvr>
                                      <p:to>
                                        <p:strVal val="visible"/>
                                      </p:to>
                                    </p:set>
                                    <p:animEffect transition="in" filter="wipe(down)">
                                      <p:cBhvr>
                                        <p:cTn id="23" dur="500"/>
                                        <p:tgtEl>
                                          <p:spTgt spid="25313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531332"/>
                                        </p:tgtEl>
                                        <p:attrNameLst>
                                          <p:attrName>style.visibility</p:attrName>
                                        </p:attrNameLst>
                                      </p:cBhvr>
                                      <p:to>
                                        <p:strVal val="visible"/>
                                      </p:to>
                                    </p:set>
                                    <p:animEffect transition="in" filter="wipe(down)">
                                      <p:cBhvr>
                                        <p:cTn id="28" dur="500"/>
                                        <p:tgtEl>
                                          <p:spTgt spid="253133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531340"/>
                                        </p:tgtEl>
                                        <p:attrNameLst>
                                          <p:attrName>style.visibility</p:attrName>
                                        </p:attrNameLst>
                                      </p:cBhvr>
                                      <p:to>
                                        <p:strVal val="visible"/>
                                      </p:to>
                                    </p:set>
                                    <p:animEffect transition="in" filter="wipe(down)">
                                      <p:cBhvr>
                                        <p:cTn id="33" dur="500"/>
                                        <p:tgtEl>
                                          <p:spTgt spid="25313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531331"/>
                                        </p:tgtEl>
                                        <p:attrNameLst>
                                          <p:attrName>style.visibility</p:attrName>
                                        </p:attrNameLst>
                                      </p:cBhvr>
                                      <p:to>
                                        <p:strVal val="visible"/>
                                      </p:to>
                                    </p:set>
                                    <p:animEffect transition="in" filter="wipe(down)">
                                      <p:cBhvr>
                                        <p:cTn id="38" dur="500"/>
                                        <p:tgtEl>
                                          <p:spTgt spid="253133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531334"/>
                                        </p:tgtEl>
                                        <p:attrNameLst>
                                          <p:attrName>style.visibility</p:attrName>
                                        </p:attrNameLst>
                                      </p:cBhvr>
                                      <p:to>
                                        <p:strVal val="visible"/>
                                      </p:to>
                                    </p:set>
                                    <p:animEffect transition="in" filter="wipe(down)">
                                      <p:cBhvr>
                                        <p:cTn id="43" dur="500"/>
                                        <p:tgtEl>
                                          <p:spTgt spid="253133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531337"/>
                                        </p:tgtEl>
                                        <p:attrNameLst>
                                          <p:attrName>style.visibility</p:attrName>
                                        </p:attrNameLst>
                                      </p:cBhvr>
                                      <p:to>
                                        <p:strVal val="visible"/>
                                      </p:to>
                                    </p:set>
                                    <p:animEffect transition="in" filter="wipe(down)">
                                      <p:cBhvr>
                                        <p:cTn id="48" dur="500"/>
                                        <p:tgtEl>
                                          <p:spTgt spid="253133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531336"/>
                                        </p:tgtEl>
                                        <p:attrNameLst>
                                          <p:attrName>style.visibility</p:attrName>
                                        </p:attrNameLst>
                                      </p:cBhvr>
                                      <p:to>
                                        <p:strVal val="visible"/>
                                      </p:to>
                                    </p:set>
                                    <p:animEffect transition="in" filter="wipe(down)">
                                      <p:cBhvr>
                                        <p:cTn id="53" dur="500"/>
                                        <p:tgtEl>
                                          <p:spTgt spid="253133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531335"/>
                                        </p:tgtEl>
                                        <p:attrNameLst>
                                          <p:attrName>style.visibility</p:attrName>
                                        </p:attrNameLst>
                                      </p:cBhvr>
                                      <p:to>
                                        <p:strVal val="visible"/>
                                      </p:to>
                                    </p:set>
                                    <p:animEffect transition="in" filter="wipe(down)">
                                      <p:cBhvr>
                                        <p:cTn id="58" dur="500"/>
                                        <p:tgtEl>
                                          <p:spTgt spid="253133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531343"/>
                                        </p:tgtEl>
                                        <p:attrNameLst>
                                          <p:attrName>style.visibility</p:attrName>
                                        </p:attrNameLst>
                                      </p:cBhvr>
                                      <p:to>
                                        <p:strVal val="visible"/>
                                      </p:to>
                                    </p:set>
                                    <p:animEffect transition="in" filter="wipe(down)">
                                      <p:cBhvr>
                                        <p:cTn id="63" dur="500"/>
                                        <p:tgtEl>
                                          <p:spTgt spid="253134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2531341"/>
                                        </p:tgtEl>
                                        <p:attrNameLst>
                                          <p:attrName>style.visibility</p:attrName>
                                        </p:attrNameLst>
                                      </p:cBhvr>
                                      <p:to>
                                        <p:strVal val="visible"/>
                                      </p:to>
                                    </p:set>
                                    <p:animEffect transition="in" filter="wipe(down)">
                                      <p:cBhvr>
                                        <p:cTn id="68" dur="500"/>
                                        <p:tgtEl>
                                          <p:spTgt spid="253134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2531330"/>
                                        </p:tgtEl>
                                        <p:attrNameLst>
                                          <p:attrName>style.visibility</p:attrName>
                                        </p:attrNameLst>
                                      </p:cBhvr>
                                      <p:to>
                                        <p:strVal val="visible"/>
                                      </p:to>
                                    </p:set>
                                    <p:animEffect transition="in" filter="wipe(up)">
                                      <p:cBhvr>
                                        <p:cTn id="73" dur="500"/>
                                        <p:tgtEl>
                                          <p:spTgt spid="2531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1330" grpId="0" autoUpdateAnimBg="0"/>
      <p:bldP spid="2531331" grpId="0" animBg="1"/>
      <p:bldP spid="2531332" grpId="0" animBg="1"/>
      <p:bldP spid="2531334" grpId="0" animBg="1"/>
      <p:bldP spid="2531335" grpId="0" autoUpdateAnimBg="0"/>
      <p:bldP spid="2531336" grpId="0" autoUpdateAnimBg="0"/>
      <p:bldP spid="2531337" grpId="0" autoUpdateAnimBg="0"/>
      <p:bldP spid="2531338" grpId="0" autoUpdateAnimBg="0"/>
      <p:bldP spid="2531339" grpId="0" autoUpdateAnimBg="0"/>
      <p:bldP spid="2531340" grpId="0" autoUpdateAnimBg="0"/>
      <p:bldP spid="2531342" grpId="0"/>
      <p:bldP spid="253134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日期占位符 3"/>
          <p:cNvSpPr>
            <a:spLocks noGrp="1"/>
          </p:cNvSpPr>
          <p:nvPr>
            <p:ph type="dt" sz="half" idx="10"/>
          </p:nvPr>
        </p:nvSpPr>
        <p:spPr/>
        <p:txBody>
          <a:bodyPr/>
          <a:lstStyle/>
          <a:p>
            <a:fld id="{A1726BB3-397F-40EE-B03A-B75AAEB94424}" type="datetime1">
              <a:rPr lang="zh-CN" altLang="en-US"/>
              <a:pPr/>
              <a:t>2017/2/24</a:t>
            </a:fld>
            <a:endParaRPr lang="en-US" altLang="zh-CN"/>
          </a:p>
        </p:txBody>
      </p:sp>
      <p:sp>
        <p:nvSpPr>
          <p:cNvPr id="19" name="灯片编号占位符 5"/>
          <p:cNvSpPr>
            <a:spLocks noGrp="1"/>
          </p:cNvSpPr>
          <p:nvPr>
            <p:ph type="sldNum" sz="quarter" idx="12"/>
          </p:nvPr>
        </p:nvSpPr>
        <p:spPr/>
        <p:txBody>
          <a:bodyPr/>
          <a:lstStyle/>
          <a:p>
            <a:fld id="{F45509BD-2BBC-41E9-8F57-0839A5F0C908}" type="slidenum">
              <a:rPr lang="en-US" altLang="zh-CN"/>
              <a:pPr/>
              <a:t>29</a:t>
            </a:fld>
            <a:endParaRPr lang="en-US" altLang="zh-CN"/>
          </a:p>
        </p:txBody>
      </p:sp>
      <p:sp>
        <p:nvSpPr>
          <p:cNvPr id="2532354" name="Rectangle 2"/>
          <p:cNvSpPr>
            <a:spLocks noChangeArrowheads="1"/>
          </p:cNvSpPr>
          <p:nvPr/>
        </p:nvSpPr>
        <p:spPr bwMode="auto">
          <a:xfrm>
            <a:off x="4572000" y="1557338"/>
            <a:ext cx="4191000" cy="428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87350" indent="-387350">
              <a:defRPr kumimoji="1" sz="2400">
                <a:solidFill>
                  <a:schemeClr val="tx1"/>
                </a:solidFill>
                <a:latin typeface="Times New Roman" panose="02020603050405020304" pitchFamily="18" charset="0"/>
                <a:ea typeface="宋体" panose="02010600030101010101" pitchFamily="2" charset="-122"/>
              </a:defRPr>
            </a:lvl1pPr>
            <a:lvl2pPr marL="5778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0" hangingPunct="0">
              <a:buClr>
                <a:schemeClr val="tx1"/>
              </a:buClr>
              <a:buSzPct val="75000"/>
              <a:buFont typeface="Wingdings" panose="05000000000000000000" pitchFamily="2" charset="2"/>
              <a:buChar char="l"/>
            </a:pPr>
            <a:r>
              <a:rPr kumimoji="0" lang="zh-CN" altLang="en-US" sz="3200" b="1">
                <a:ea typeface="楷体_GB2312" pitchFamily="49" charset="-122"/>
              </a:rPr>
              <a:t>形式单元：存放相应的实在参数的地址或值。</a:t>
            </a:r>
          </a:p>
          <a:p>
            <a:pPr algn="just" eaLnBrk="0" hangingPunct="0">
              <a:buClr>
                <a:schemeClr val="tx1"/>
              </a:buClr>
              <a:buSzPct val="75000"/>
              <a:buFont typeface="Wingdings" panose="05000000000000000000" pitchFamily="2" charset="2"/>
              <a:buChar char="l"/>
            </a:pPr>
            <a:r>
              <a:rPr kumimoji="0" lang="zh-CN" altLang="en-US" sz="3200" b="1">
                <a:ea typeface="楷体_GB2312" pitchFamily="49" charset="-122"/>
              </a:rPr>
              <a:t>局部数据区：局部变量、内情向量、临时工作单元</a:t>
            </a:r>
            <a:r>
              <a:rPr kumimoji="0" lang="en-US" altLang="zh-CN" sz="3200" b="1">
                <a:ea typeface="楷体_GB2312" pitchFamily="49" charset="-122"/>
              </a:rPr>
              <a:t>(</a:t>
            </a:r>
            <a:r>
              <a:rPr kumimoji="0" lang="zh-CN" altLang="en-US" sz="3200" b="1">
                <a:ea typeface="楷体_GB2312" pitchFamily="49" charset="-122"/>
              </a:rPr>
              <a:t>如存放对表达式求值的结果</a:t>
            </a:r>
            <a:r>
              <a:rPr kumimoji="0" lang="en-US" altLang="zh-CN" sz="3200" b="1">
                <a:ea typeface="楷体_GB2312" pitchFamily="49" charset="-122"/>
              </a:rPr>
              <a:t>)</a:t>
            </a:r>
            <a:r>
              <a:rPr kumimoji="0" lang="zh-CN" altLang="en-US" sz="3200" b="1">
                <a:ea typeface="楷体_GB2312" pitchFamily="49" charset="-122"/>
              </a:rPr>
              <a:t>。</a:t>
            </a:r>
          </a:p>
        </p:txBody>
      </p:sp>
      <p:sp>
        <p:nvSpPr>
          <p:cNvPr id="2532355" name="Rectangle 3"/>
          <p:cNvSpPr>
            <a:spLocks noChangeArrowheads="1"/>
          </p:cNvSpPr>
          <p:nvPr/>
        </p:nvSpPr>
        <p:spPr bwMode="auto">
          <a:xfrm>
            <a:off x="1717675" y="3865563"/>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静态链</a:t>
            </a:r>
          </a:p>
        </p:txBody>
      </p:sp>
      <p:sp>
        <p:nvSpPr>
          <p:cNvPr id="2532356" name="Rectangle 4"/>
          <p:cNvSpPr>
            <a:spLocks noChangeArrowheads="1"/>
          </p:cNvSpPr>
          <p:nvPr/>
        </p:nvSpPr>
        <p:spPr bwMode="auto">
          <a:xfrm>
            <a:off x="1717675" y="4410075"/>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动态链</a:t>
            </a:r>
          </a:p>
        </p:txBody>
      </p:sp>
      <p:sp>
        <p:nvSpPr>
          <p:cNvPr id="2532357" name="Rectangle 5"/>
          <p:cNvSpPr>
            <a:spLocks noChangeArrowheads="1"/>
          </p:cNvSpPr>
          <p:nvPr/>
        </p:nvSpPr>
        <p:spPr bwMode="auto">
          <a:xfrm>
            <a:off x="1717675" y="1689100"/>
            <a:ext cx="2187575" cy="3810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2358" name="Rectangle 6"/>
          <p:cNvSpPr>
            <a:spLocks noChangeArrowheads="1"/>
          </p:cNvSpPr>
          <p:nvPr/>
        </p:nvSpPr>
        <p:spPr bwMode="auto">
          <a:xfrm>
            <a:off x="1717675" y="3322638"/>
            <a:ext cx="2187575"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532359" name="Rectangle 7"/>
          <p:cNvSpPr>
            <a:spLocks noChangeArrowheads="1"/>
          </p:cNvSpPr>
          <p:nvPr/>
        </p:nvSpPr>
        <p:spPr bwMode="auto">
          <a:xfrm>
            <a:off x="1717675" y="1689100"/>
            <a:ext cx="21875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临时变量</a:t>
            </a:r>
          </a:p>
        </p:txBody>
      </p:sp>
      <p:sp>
        <p:nvSpPr>
          <p:cNvPr id="2532360" name="Rectangle 8"/>
          <p:cNvSpPr>
            <a:spLocks noChangeArrowheads="1"/>
          </p:cNvSpPr>
          <p:nvPr/>
        </p:nvSpPr>
        <p:spPr bwMode="auto">
          <a:xfrm>
            <a:off x="1717675" y="2233613"/>
            <a:ext cx="218757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数组内情向量</a:t>
            </a:r>
          </a:p>
        </p:txBody>
      </p:sp>
      <p:sp>
        <p:nvSpPr>
          <p:cNvPr id="2532361" name="Rectangle 9"/>
          <p:cNvSpPr>
            <a:spLocks noChangeArrowheads="1"/>
          </p:cNvSpPr>
          <p:nvPr/>
        </p:nvSpPr>
        <p:spPr bwMode="auto">
          <a:xfrm>
            <a:off x="1717675" y="2778125"/>
            <a:ext cx="21875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532362" name="Rectangle 10"/>
          <p:cNvSpPr>
            <a:spLocks noChangeArrowheads="1"/>
          </p:cNvSpPr>
          <p:nvPr/>
        </p:nvSpPr>
        <p:spPr bwMode="auto">
          <a:xfrm>
            <a:off x="600075" y="4954588"/>
            <a:ext cx="101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SP</a:t>
            </a:r>
            <a:r>
              <a:rPr kumimoji="1" lang="en-US" altLang="zh-CN" sz="2800" b="1">
                <a:ea typeface="楷体_GB2312" pitchFamily="49" charset="-122"/>
                <a:sym typeface="Symbol" panose="05050102010706020507" pitchFamily="18" charset="2"/>
              </a:rPr>
              <a:t> </a:t>
            </a:r>
            <a:r>
              <a:rPr kumimoji="1" lang="en-US" altLang="zh-CN" sz="2800" b="1">
                <a:ea typeface="楷体_GB2312" pitchFamily="49" charset="-122"/>
              </a:rPr>
              <a:t>0</a:t>
            </a:r>
          </a:p>
        </p:txBody>
      </p:sp>
      <p:sp>
        <p:nvSpPr>
          <p:cNvPr id="2532363" name="Rectangle 11"/>
          <p:cNvSpPr>
            <a:spLocks noChangeArrowheads="1"/>
          </p:cNvSpPr>
          <p:nvPr/>
        </p:nvSpPr>
        <p:spPr bwMode="auto">
          <a:xfrm>
            <a:off x="1143000" y="4410075"/>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en-US" altLang="zh-CN" sz="2800" b="1">
                <a:ea typeface="楷体_GB2312" pitchFamily="49" charset="-122"/>
              </a:rPr>
              <a:t>1</a:t>
            </a:r>
          </a:p>
        </p:txBody>
      </p:sp>
      <p:sp>
        <p:nvSpPr>
          <p:cNvPr id="2532364" name="Rectangle 12"/>
          <p:cNvSpPr>
            <a:spLocks noChangeArrowheads="1"/>
          </p:cNvSpPr>
          <p:nvPr/>
        </p:nvSpPr>
        <p:spPr bwMode="auto">
          <a:xfrm>
            <a:off x="1143000" y="3933825"/>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2</a:t>
            </a:r>
          </a:p>
        </p:txBody>
      </p:sp>
      <p:sp>
        <p:nvSpPr>
          <p:cNvPr id="2532365" name="Line 13"/>
          <p:cNvSpPr>
            <a:spLocks noChangeShapeType="1"/>
          </p:cNvSpPr>
          <p:nvPr/>
        </p:nvSpPr>
        <p:spPr bwMode="auto">
          <a:xfrm flipV="1">
            <a:off x="4114800" y="1825625"/>
            <a:ext cx="0" cy="360521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2366" name="Rectangle 14"/>
          <p:cNvSpPr>
            <a:spLocks noChangeArrowheads="1"/>
          </p:cNvSpPr>
          <p:nvPr/>
        </p:nvSpPr>
        <p:spPr bwMode="auto">
          <a:xfrm>
            <a:off x="1717675" y="4954588"/>
            <a:ext cx="218757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32367" name="Rectangle 15"/>
          <p:cNvSpPr>
            <a:spLocks noChangeArrowheads="1"/>
          </p:cNvSpPr>
          <p:nvPr/>
        </p:nvSpPr>
        <p:spPr bwMode="auto">
          <a:xfrm>
            <a:off x="611188" y="1689100"/>
            <a:ext cx="100171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TOP</a:t>
            </a:r>
            <a:r>
              <a:rPr kumimoji="1" lang="en-US" altLang="zh-CN" sz="2800" b="1">
                <a:ea typeface="楷体_GB2312" pitchFamily="49" charset="-122"/>
                <a:sym typeface="Symbol" panose="05050102010706020507" pitchFamily="18" charset="2"/>
              </a:rPr>
              <a:t> </a:t>
            </a:r>
            <a:endParaRPr kumimoji="1" lang="en-US" altLang="zh-CN" sz="2800" b="1">
              <a:ea typeface="楷体_GB2312" pitchFamily="49" charset="-122"/>
            </a:endParaRPr>
          </a:p>
        </p:txBody>
      </p:sp>
      <p:sp>
        <p:nvSpPr>
          <p:cNvPr id="2532368" name="Rectangle 16"/>
          <p:cNvSpPr>
            <a:spLocks noGrp="1" noChangeArrowheads="1"/>
          </p:cNvSpPr>
          <p:nvPr>
            <p:ph type="title"/>
          </p:nvPr>
        </p:nvSpPr>
        <p:spPr>
          <a:xfrm>
            <a:off x="457200" y="115888"/>
            <a:ext cx="8229600" cy="1143000"/>
          </a:xfrm>
        </p:spPr>
        <p:txBody>
          <a:bodyPr/>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每个过程的活动记录内容</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2195596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32354"/>
                                        </p:tgtEl>
                                        <p:attrNameLst>
                                          <p:attrName>style.visibility</p:attrName>
                                        </p:attrNameLst>
                                      </p:cBhvr>
                                      <p:to>
                                        <p:strVal val="visible"/>
                                      </p:to>
                                    </p:set>
                                    <p:animEffect transition="in" filter="wipe(up)">
                                      <p:cBhvr>
                                        <p:cTn id="7" dur="500"/>
                                        <p:tgtEl>
                                          <p:spTgt spid="2532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2354"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A69CDB6-5CFB-4ACE-BC9B-C3F0894ED52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2CD855C-E91E-4F06-9099-A3619EC14B32}" type="slidenum">
              <a:rPr lang="en-US" altLang="zh-CN"/>
              <a:pPr/>
              <a:t>30</a:t>
            </a:fld>
            <a:endParaRPr lang="en-US" altLang="zh-CN"/>
          </a:p>
        </p:txBody>
      </p:sp>
      <p:sp>
        <p:nvSpPr>
          <p:cNvPr id="2533378" name="Rectangle 2"/>
          <p:cNvSpPr>
            <a:spLocks noGrp="1" noChangeArrowheads="1"/>
          </p:cNvSpPr>
          <p:nvPr>
            <p:ph type="title"/>
          </p:nvPr>
        </p:nvSpPr>
        <p:spPr>
          <a:xfrm>
            <a:off x="1331913" y="198438"/>
            <a:ext cx="6435725"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局部数据的组织</a:t>
            </a:r>
          </a:p>
        </p:txBody>
      </p:sp>
      <p:sp>
        <p:nvSpPr>
          <p:cNvPr id="2533379" name="Rectangle 3"/>
          <p:cNvSpPr>
            <a:spLocks noGrp="1" noChangeArrowheads="1"/>
          </p:cNvSpPr>
          <p:nvPr>
            <p:ph type="body" idx="1"/>
          </p:nvPr>
        </p:nvSpPr>
        <p:spPr>
          <a:xfrm>
            <a:off x="304800" y="1412875"/>
            <a:ext cx="8659813" cy="4679950"/>
          </a:xfrm>
        </p:spPr>
        <p:txBody>
          <a:bodyPr/>
          <a:lstStyle/>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字节是可编址内存的最小单位。</a:t>
            </a:r>
          </a:p>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变量所需的存储空间可以根据其类型而静态确定。</a:t>
            </a:r>
          </a:p>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一个过程所声明的局部变量，按这些变量声明时出现的次序，在局部数据域中依次分配空间。 </a:t>
            </a:r>
          </a:p>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局部数据的地址可以用相对于某个位置的地址来表示。</a:t>
            </a:r>
          </a:p>
          <a:p>
            <a:pPr algn="just">
              <a:spcBef>
                <a:spcPct val="1000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数据对象的存储安排还有对齐的问题。</a:t>
            </a:r>
          </a:p>
          <a:p>
            <a:pPr lvl="1" algn="just">
              <a:spcBef>
                <a:spcPct val="10000"/>
              </a:spcBef>
            </a:pP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整数必须放在内存中特定的位置，如被</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4</a:t>
            </a: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8</a:t>
            </a: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整除</a:t>
            </a:r>
          </a:p>
          <a:p>
            <a:pPr lvl="1" algn="just">
              <a:spcBef>
                <a:spcPct val="10000"/>
              </a:spcBef>
              <a:buFontTx/>
              <a:buNone/>
            </a:pP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	的地址</a:t>
            </a:r>
          </a:p>
        </p:txBody>
      </p:sp>
    </p:spTree>
    <p:extLst>
      <p:ext uri="{BB962C8B-B14F-4D97-AF65-F5344CB8AC3E}">
        <p14:creationId xmlns:p14="http://schemas.microsoft.com/office/powerpoint/2010/main" val="37797015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33379">
                                            <p:txEl>
                                              <p:pRg st="0" end="0"/>
                                            </p:txEl>
                                          </p:spTgt>
                                        </p:tgtEl>
                                        <p:attrNameLst>
                                          <p:attrName>style.visibility</p:attrName>
                                        </p:attrNameLst>
                                      </p:cBhvr>
                                      <p:to>
                                        <p:strVal val="visible"/>
                                      </p:to>
                                    </p:set>
                                    <p:animEffect transition="in" filter="blinds(horizontal)">
                                      <p:cBhvr>
                                        <p:cTn id="7" dur="500"/>
                                        <p:tgtEl>
                                          <p:spTgt spid="2533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33379">
                                            <p:txEl>
                                              <p:pRg st="1" end="1"/>
                                            </p:txEl>
                                          </p:spTgt>
                                        </p:tgtEl>
                                        <p:attrNameLst>
                                          <p:attrName>style.visibility</p:attrName>
                                        </p:attrNameLst>
                                      </p:cBhvr>
                                      <p:to>
                                        <p:strVal val="visible"/>
                                      </p:to>
                                    </p:set>
                                    <p:animEffect transition="in" filter="blinds(horizontal)">
                                      <p:cBhvr>
                                        <p:cTn id="12" dur="500"/>
                                        <p:tgtEl>
                                          <p:spTgt spid="2533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33379">
                                            <p:txEl>
                                              <p:pRg st="2" end="2"/>
                                            </p:txEl>
                                          </p:spTgt>
                                        </p:tgtEl>
                                        <p:attrNameLst>
                                          <p:attrName>style.visibility</p:attrName>
                                        </p:attrNameLst>
                                      </p:cBhvr>
                                      <p:to>
                                        <p:strVal val="visible"/>
                                      </p:to>
                                    </p:set>
                                    <p:animEffect transition="in" filter="blinds(horizontal)">
                                      <p:cBhvr>
                                        <p:cTn id="17" dur="500"/>
                                        <p:tgtEl>
                                          <p:spTgt spid="25333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33379">
                                            <p:txEl>
                                              <p:pRg st="3" end="3"/>
                                            </p:txEl>
                                          </p:spTgt>
                                        </p:tgtEl>
                                        <p:attrNameLst>
                                          <p:attrName>style.visibility</p:attrName>
                                        </p:attrNameLst>
                                      </p:cBhvr>
                                      <p:to>
                                        <p:strVal val="visible"/>
                                      </p:to>
                                    </p:set>
                                    <p:animEffect transition="in" filter="blinds(horizontal)">
                                      <p:cBhvr>
                                        <p:cTn id="22" dur="500"/>
                                        <p:tgtEl>
                                          <p:spTgt spid="25333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33379">
                                            <p:txEl>
                                              <p:pRg st="4" end="4"/>
                                            </p:txEl>
                                          </p:spTgt>
                                        </p:tgtEl>
                                        <p:attrNameLst>
                                          <p:attrName>style.visibility</p:attrName>
                                        </p:attrNameLst>
                                      </p:cBhvr>
                                      <p:to>
                                        <p:strVal val="visible"/>
                                      </p:to>
                                    </p:set>
                                    <p:animEffect transition="in" filter="blinds(horizontal)">
                                      <p:cBhvr>
                                        <p:cTn id="27" dur="500"/>
                                        <p:tgtEl>
                                          <p:spTgt spid="2533379">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533379">
                                            <p:txEl>
                                              <p:pRg st="5" end="5"/>
                                            </p:txEl>
                                          </p:spTgt>
                                        </p:tgtEl>
                                        <p:attrNameLst>
                                          <p:attrName>style.visibility</p:attrName>
                                        </p:attrNameLst>
                                      </p:cBhvr>
                                      <p:to>
                                        <p:strVal val="visible"/>
                                      </p:to>
                                    </p:set>
                                    <p:animEffect transition="in" filter="blinds(horizontal)">
                                      <p:cBhvr>
                                        <p:cTn id="30" dur="500"/>
                                        <p:tgtEl>
                                          <p:spTgt spid="2533379">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533379">
                                            <p:txEl>
                                              <p:pRg st="6" end="6"/>
                                            </p:txEl>
                                          </p:spTgt>
                                        </p:tgtEl>
                                        <p:attrNameLst>
                                          <p:attrName>style.visibility</p:attrName>
                                        </p:attrNameLst>
                                      </p:cBhvr>
                                      <p:to>
                                        <p:strVal val="visible"/>
                                      </p:to>
                                    </p:set>
                                    <p:animEffect transition="in" filter="blinds(horizontal)">
                                      <p:cBhvr>
                                        <p:cTn id="33" dur="500"/>
                                        <p:tgtEl>
                                          <p:spTgt spid="25333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337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5445C80-2DB3-4C0B-A911-4074633C3BE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92EC2BB-87E1-4130-A12B-D2DC402EE5EA}" type="slidenum">
              <a:rPr lang="en-US" altLang="zh-CN"/>
              <a:pPr/>
              <a:t>31</a:t>
            </a:fld>
            <a:endParaRPr lang="en-US" altLang="zh-CN"/>
          </a:p>
        </p:txBody>
      </p:sp>
      <p:sp>
        <p:nvSpPr>
          <p:cNvPr id="2535426" name="Rectangle 2"/>
          <p:cNvSpPr>
            <a:spLocks noGrp="1" noChangeArrowheads="1"/>
          </p:cNvSpPr>
          <p:nvPr>
            <p:ph type="title"/>
          </p:nvPr>
        </p:nvSpPr>
        <p:spPr>
          <a:xfrm>
            <a:off x="1590675" y="188913"/>
            <a:ext cx="5861050" cy="10080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局部数据的组织</a:t>
            </a:r>
          </a:p>
        </p:txBody>
      </p:sp>
      <p:sp>
        <p:nvSpPr>
          <p:cNvPr id="2535427" name="Rectangle 3"/>
          <p:cNvSpPr>
            <a:spLocks noGrp="1" noChangeArrowheads="1"/>
          </p:cNvSpPr>
          <p:nvPr>
            <p:ph type="body" idx="1"/>
          </p:nvPr>
        </p:nvSpPr>
        <p:spPr>
          <a:xfrm>
            <a:off x="304800" y="1196975"/>
            <a:ext cx="8534400" cy="4752975"/>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SPARC/Solaris</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工作站上下面两个结构的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size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分别是</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24</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16</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，为什么不一样？</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typedef struct  _a{		typedef struct  _b{</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c1;				 char c1;</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long 	i;				 char	 c2;</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c2;				 long i;</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double f;				 double f;</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}a;					 }b;</a:t>
            </a:r>
          </a:p>
          <a:p>
            <a:pPr algn="just">
              <a:buFontTx/>
              <a:buNone/>
            </a:pPr>
            <a:endParaRPr lang="en-US" altLang="zh-CN" b="1">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5728228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ACE31A5-5BBD-4BB1-AE8C-B1F428CC652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6BE94A1-4E44-43AE-A264-74840050A131}" type="slidenum">
              <a:rPr lang="en-US" altLang="zh-CN"/>
              <a:pPr/>
              <a:t>32</a:t>
            </a:fld>
            <a:endParaRPr lang="en-US" altLang="zh-CN"/>
          </a:p>
        </p:txBody>
      </p:sp>
      <p:sp>
        <p:nvSpPr>
          <p:cNvPr id="2537474" name="Rectangle 2"/>
          <p:cNvSpPr>
            <a:spLocks noGrp="1" noChangeArrowheads="1"/>
          </p:cNvSpPr>
          <p:nvPr>
            <p:ph type="title"/>
          </p:nvPr>
        </p:nvSpPr>
        <p:spPr>
          <a:xfrm>
            <a:off x="1331913" y="188913"/>
            <a:ext cx="6364287" cy="1000125"/>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局部数据的组织</a:t>
            </a:r>
          </a:p>
        </p:txBody>
      </p:sp>
      <p:sp>
        <p:nvSpPr>
          <p:cNvPr id="2537475" name="Rectangle 3"/>
          <p:cNvSpPr>
            <a:spLocks noGrp="1" noChangeArrowheads="1"/>
          </p:cNvSpPr>
          <p:nvPr>
            <p:ph type="body" idx="1"/>
          </p:nvPr>
        </p:nvSpPr>
        <p:spPr>
          <a:xfrm>
            <a:off x="304800" y="1196975"/>
            <a:ext cx="8534400" cy="4897438"/>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SPARC/Solaris</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工作站上下面两个结构的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size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分别是</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24</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16</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，为什么不一样？</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typedef struct  _a{		typedef struct  _b{</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c1;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0</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c1;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0</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long 	i;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c2;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1</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c2;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8</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long i;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4</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double f;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16</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double f;</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8</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}a;					 }b;</a:t>
            </a:r>
          </a:p>
        </p:txBody>
      </p:sp>
    </p:spTree>
    <p:extLst>
      <p:ext uri="{BB962C8B-B14F-4D97-AF65-F5344CB8AC3E}">
        <p14:creationId xmlns:p14="http://schemas.microsoft.com/office/powerpoint/2010/main" val="41460208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040522-B6B1-4FAA-BDC0-3B342A91A29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825967A-761B-4E5A-97A1-941DBC6DA0E8}" type="slidenum">
              <a:rPr lang="en-US" altLang="zh-CN"/>
              <a:pPr/>
              <a:t>33</a:t>
            </a:fld>
            <a:endParaRPr lang="en-US" altLang="zh-CN"/>
          </a:p>
        </p:txBody>
      </p:sp>
      <p:sp>
        <p:nvSpPr>
          <p:cNvPr id="2539522" name="Rectangle 2"/>
          <p:cNvSpPr>
            <a:spLocks noGrp="1" noChangeArrowheads="1"/>
          </p:cNvSpPr>
          <p:nvPr>
            <p:ph type="title"/>
          </p:nvPr>
        </p:nvSpPr>
        <p:spPr>
          <a:xfrm>
            <a:off x="1547813" y="196850"/>
            <a:ext cx="5859462" cy="1000125"/>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局部数据的组织</a:t>
            </a:r>
          </a:p>
        </p:txBody>
      </p:sp>
      <p:sp>
        <p:nvSpPr>
          <p:cNvPr id="2539523" name="Rectangle 3"/>
          <p:cNvSpPr>
            <a:spLocks noGrp="1" noChangeArrowheads="1"/>
          </p:cNvSpPr>
          <p:nvPr>
            <p:ph type="body" idx="1"/>
          </p:nvPr>
        </p:nvSpPr>
        <p:spPr>
          <a:xfrm>
            <a:off x="304800" y="1196975"/>
            <a:ext cx="8534400" cy="5040313"/>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X86/Linux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机器的结果和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SPARC/Solaris</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工作站不一样，是</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20</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16</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typedef struct  _a{		typedef struct  _b{</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c1;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0</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c1;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0</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long 	i;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c2;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1</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char	c2;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8</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long i;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4</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double f;	</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12</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double f;</a:t>
            </a:r>
            <a:r>
              <a:rPr lang="en-US" altLang="zh-CN"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8</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}a;					 }b;</a:t>
            </a:r>
          </a:p>
          <a:p>
            <a:pPr algn="just">
              <a:buFontTx/>
              <a:buNone/>
            </a:pPr>
            <a:endParaRPr lang="en-US" altLang="zh-CN" b="1">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10451244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553AF97-AA86-4C13-905A-7FF6B035EEA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DCD4450-F053-40EC-A4C7-5DD221A17E68}" type="slidenum">
              <a:rPr lang="en-US" altLang="zh-CN"/>
              <a:pPr/>
              <a:t>34</a:t>
            </a:fld>
            <a:endParaRPr lang="en-US" altLang="zh-CN"/>
          </a:p>
        </p:txBody>
      </p:sp>
      <p:sp>
        <p:nvSpPr>
          <p:cNvPr id="2541570" name="Rectangle 2"/>
          <p:cNvSpPr>
            <a:spLocks noGrp="1" noChangeArrowheads="1"/>
          </p:cNvSpPr>
          <p:nvPr>
            <p:ph type="body" idx="1"/>
          </p:nvPr>
        </p:nvSpPr>
        <p:spPr>
          <a:xfrm>
            <a:off x="395288" y="1403350"/>
            <a:ext cx="8382000" cy="4724400"/>
          </a:xfrm>
        </p:spPr>
        <p:txBody>
          <a:bodyPr/>
          <a:lstStyle/>
          <a:p>
            <a:pPr>
              <a:lnSpc>
                <a:spcPct val="90000"/>
              </a:lnSpc>
            </a:pPr>
            <a:r>
              <a:rPr lang="zh-CN" altLang="en-US" sz="3600" b="1">
                <a:latin typeface="Times New Roman" panose="02020603050405020304" pitchFamily="18" charset="0"/>
                <a:ea typeface="楷体_GB2312" pitchFamily="49" charset="-122"/>
              </a:rPr>
              <a:t>静态存储分配策略</a:t>
            </a:r>
            <a:r>
              <a:rPr lang="en-US" altLang="zh-CN" sz="3600" b="1">
                <a:latin typeface="Times New Roman" panose="02020603050405020304" pitchFamily="18" charset="0"/>
                <a:ea typeface="楷体_GB2312" pitchFamily="49" charset="-122"/>
              </a:rPr>
              <a:t>(FORTRAN)</a:t>
            </a:r>
          </a:p>
          <a:p>
            <a:pPr>
              <a:lnSpc>
                <a:spcPct val="90000"/>
              </a:lnSpc>
              <a:buFontTx/>
              <a:buNone/>
            </a:pPr>
            <a:r>
              <a:rPr lang="en-US" altLang="zh-CN" sz="2800" b="1">
                <a:latin typeface="Times New Roman" panose="02020603050405020304" pitchFamily="18" charset="0"/>
                <a:ea typeface="楷体_GB2312" pitchFamily="49" charset="-122"/>
              </a:rPr>
              <a:t>    </a:t>
            </a:r>
            <a:r>
              <a:rPr lang="zh-CN" altLang="en-US" sz="2800" b="1">
                <a:solidFill>
                  <a:srgbClr val="0000FF"/>
                </a:solidFill>
                <a:latin typeface="Times New Roman" panose="02020603050405020304" pitchFamily="18" charset="0"/>
                <a:ea typeface="楷体_GB2312" pitchFamily="49" charset="-122"/>
              </a:rPr>
              <a:t>如果在编译时能确定数据空间的大小，则可采用静态分配方法：在编译时刻为每个数据项目确定出在运行时刻的存储空间中的位置。</a:t>
            </a:r>
            <a:endParaRPr lang="zh-CN" altLang="zh-CN" sz="2800" b="1">
              <a:solidFill>
                <a:srgbClr val="0000FF"/>
              </a:solidFill>
              <a:latin typeface="Times New Roman" panose="02020603050405020304" pitchFamily="18" charset="0"/>
              <a:ea typeface="楷体_GB2312" pitchFamily="49" charset="-122"/>
            </a:endParaRPr>
          </a:p>
          <a:p>
            <a:pPr>
              <a:lnSpc>
                <a:spcPct val="90000"/>
              </a:lnSpc>
              <a:spcBef>
                <a:spcPct val="0"/>
              </a:spcBef>
            </a:pPr>
            <a:r>
              <a:rPr lang="zh-CN" altLang="en-US" sz="3600" b="1">
                <a:latin typeface="Times New Roman" panose="02020603050405020304" pitchFamily="18" charset="0"/>
                <a:ea typeface="楷体_GB2312" pitchFamily="49" charset="-122"/>
              </a:rPr>
              <a:t>动态存储分配策略</a:t>
            </a:r>
            <a:r>
              <a:rPr lang="en-US" altLang="zh-CN" sz="3600" b="1">
                <a:latin typeface="Times New Roman" panose="02020603050405020304" pitchFamily="18" charset="0"/>
                <a:ea typeface="楷体_GB2312" pitchFamily="49" charset="-122"/>
              </a:rPr>
              <a:t>(PASCAL)</a:t>
            </a:r>
          </a:p>
          <a:p>
            <a:pPr>
              <a:lnSpc>
                <a:spcPct val="90000"/>
              </a:lnSpc>
              <a:buFontTx/>
              <a:buNone/>
            </a:pPr>
            <a:r>
              <a:rPr lang="en-US" altLang="zh-CN" sz="2800" b="1">
                <a:latin typeface="Times New Roman" panose="02020603050405020304" pitchFamily="18" charset="0"/>
                <a:ea typeface="楷体_GB2312" pitchFamily="49" charset="-122"/>
              </a:rPr>
              <a:t>    </a:t>
            </a:r>
            <a:r>
              <a:rPr lang="zh-CN" altLang="en-US" sz="2800" b="1">
                <a:solidFill>
                  <a:srgbClr val="0000FF"/>
                </a:solidFill>
                <a:latin typeface="Times New Roman" panose="02020603050405020304" pitchFamily="18" charset="0"/>
                <a:ea typeface="楷体_GB2312" pitchFamily="49" charset="-122"/>
              </a:rPr>
              <a:t>如果在编译时不能确定运行时数据空间的大小，则必须采用动态分配方法。允许递归过程及动态申请、释放内存。</a:t>
            </a:r>
          </a:p>
          <a:p>
            <a:pPr lvl="1">
              <a:lnSpc>
                <a:spcPct val="90000"/>
              </a:lnSpc>
            </a:pPr>
            <a:r>
              <a:rPr lang="zh-CN" altLang="en-US" b="1">
                <a:latin typeface="Times New Roman" panose="02020603050405020304" pitchFamily="18" charset="0"/>
                <a:ea typeface="楷体_GB2312" pitchFamily="49" charset="-122"/>
              </a:rPr>
              <a:t>栈式动态存储分配</a:t>
            </a:r>
          </a:p>
          <a:p>
            <a:pPr lvl="1">
              <a:lnSpc>
                <a:spcPct val="90000"/>
              </a:lnSpc>
            </a:pPr>
            <a:r>
              <a:rPr lang="zh-CN" altLang="en-US" b="1">
                <a:latin typeface="Times New Roman" panose="02020603050405020304" pitchFamily="18" charset="0"/>
                <a:ea typeface="楷体_GB2312" pitchFamily="49" charset="-122"/>
              </a:rPr>
              <a:t>堆式动态存储分配</a:t>
            </a:r>
          </a:p>
        </p:txBody>
      </p:sp>
      <p:sp>
        <p:nvSpPr>
          <p:cNvPr id="2541571" name="Rectangle 3"/>
          <p:cNvSpPr>
            <a:spLocks noGrp="1" noChangeArrowheads="1"/>
          </p:cNvSpPr>
          <p:nvPr>
            <p:ph type="title"/>
          </p:nvPr>
        </p:nvSpPr>
        <p:spPr>
          <a:xfrm>
            <a:off x="1044575" y="260350"/>
            <a:ext cx="7056438" cy="927100"/>
          </a:xfrm>
          <a:noFill/>
          <a:ln/>
        </p:spPr>
        <p:txBody>
          <a:bodyPr lIns="92075" tIns="46038" rIns="92075" bIns="46038"/>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9.2.4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全局存储分配策略</a:t>
            </a:r>
            <a:r>
              <a:rPr lang="zh-CN" altLang="en-US"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Tree>
    <p:extLst>
      <p:ext uri="{BB962C8B-B14F-4D97-AF65-F5344CB8AC3E}">
        <p14:creationId xmlns:p14="http://schemas.microsoft.com/office/powerpoint/2010/main" val="1522024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41570">
                                            <p:txEl>
                                              <p:pRg st="0" end="0"/>
                                            </p:txEl>
                                          </p:spTgt>
                                        </p:tgtEl>
                                        <p:attrNameLst>
                                          <p:attrName>style.visibility</p:attrName>
                                        </p:attrNameLst>
                                      </p:cBhvr>
                                      <p:to>
                                        <p:strVal val="visible"/>
                                      </p:to>
                                    </p:set>
                                    <p:animEffect transition="in" filter="wipe(left)">
                                      <p:cBhvr>
                                        <p:cTn id="7" dur="500"/>
                                        <p:tgtEl>
                                          <p:spTgt spid="25415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41570">
                                            <p:txEl>
                                              <p:pRg st="1" end="1"/>
                                            </p:txEl>
                                          </p:spTgt>
                                        </p:tgtEl>
                                        <p:attrNameLst>
                                          <p:attrName>style.visibility</p:attrName>
                                        </p:attrNameLst>
                                      </p:cBhvr>
                                      <p:to>
                                        <p:strVal val="visible"/>
                                      </p:to>
                                    </p:set>
                                    <p:animEffect transition="in" filter="wipe(left)">
                                      <p:cBhvr>
                                        <p:cTn id="12" dur="500"/>
                                        <p:tgtEl>
                                          <p:spTgt spid="25415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41570">
                                            <p:txEl>
                                              <p:pRg st="2" end="2"/>
                                            </p:txEl>
                                          </p:spTgt>
                                        </p:tgtEl>
                                        <p:attrNameLst>
                                          <p:attrName>style.visibility</p:attrName>
                                        </p:attrNameLst>
                                      </p:cBhvr>
                                      <p:to>
                                        <p:strVal val="visible"/>
                                      </p:to>
                                    </p:set>
                                    <p:animEffect transition="in" filter="wipe(left)">
                                      <p:cBhvr>
                                        <p:cTn id="17" dur="500"/>
                                        <p:tgtEl>
                                          <p:spTgt spid="25415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41570">
                                            <p:txEl>
                                              <p:pRg st="3" end="3"/>
                                            </p:txEl>
                                          </p:spTgt>
                                        </p:tgtEl>
                                        <p:attrNameLst>
                                          <p:attrName>style.visibility</p:attrName>
                                        </p:attrNameLst>
                                      </p:cBhvr>
                                      <p:to>
                                        <p:strVal val="visible"/>
                                      </p:to>
                                    </p:set>
                                    <p:animEffect transition="in" filter="wipe(left)">
                                      <p:cBhvr>
                                        <p:cTn id="22" dur="500"/>
                                        <p:tgtEl>
                                          <p:spTgt spid="2541570">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541570">
                                            <p:txEl>
                                              <p:pRg st="4" end="4"/>
                                            </p:txEl>
                                          </p:spTgt>
                                        </p:tgtEl>
                                        <p:attrNameLst>
                                          <p:attrName>style.visibility</p:attrName>
                                        </p:attrNameLst>
                                      </p:cBhvr>
                                      <p:to>
                                        <p:strVal val="visible"/>
                                      </p:to>
                                    </p:set>
                                    <p:animEffect transition="in" filter="wipe(left)">
                                      <p:cBhvr>
                                        <p:cTn id="25" dur="500"/>
                                        <p:tgtEl>
                                          <p:spTgt spid="2541570">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541570">
                                            <p:txEl>
                                              <p:pRg st="5" end="5"/>
                                            </p:txEl>
                                          </p:spTgt>
                                        </p:tgtEl>
                                        <p:attrNameLst>
                                          <p:attrName>style.visibility</p:attrName>
                                        </p:attrNameLst>
                                      </p:cBhvr>
                                      <p:to>
                                        <p:strVal val="visible"/>
                                      </p:to>
                                    </p:set>
                                    <p:animEffect transition="in" filter="wipe(left)">
                                      <p:cBhvr>
                                        <p:cTn id="28" dur="500"/>
                                        <p:tgtEl>
                                          <p:spTgt spid="25415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1570"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8561AE2-B7DA-4627-B5C0-1075BD76D64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5DC62E5-FFA9-4B56-8FDF-43646EAF7953}" type="slidenum">
              <a:rPr lang="en-US" altLang="zh-CN"/>
              <a:pPr/>
              <a:t>35</a:t>
            </a:fld>
            <a:endParaRPr lang="en-US" altLang="zh-CN"/>
          </a:p>
        </p:txBody>
      </p:sp>
      <p:sp>
        <p:nvSpPr>
          <p:cNvPr id="2542594" name="Rectangle 2"/>
          <p:cNvSpPr>
            <a:spLocks noGrp="1" noChangeArrowheads="1"/>
          </p:cNvSpPr>
          <p:nvPr>
            <p:ph type="title"/>
          </p:nvPr>
        </p:nvSpPr>
        <p:spPr>
          <a:xfrm>
            <a:off x="827088" y="188913"/>
            <a:ext cx="7875587"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静态存储分配策略</a:t>
            </a:r>
          </a:p>
        </p:txBody>
      </p:sp>
      <p:sp>
        <p:nvSpPr>
          <p:cNvPr id="2542595" name="Rectangle 3"/>
          <p:cNvSpPr>
            <a:spLocks noGrp="1" noChangeArrowheads="1"/>
          </p:cNvSpPr>
          <p:nvPr>
            <p:ph type="body" idx="1"/>
          </p:nvPr>
        </p:nvSpPr>
        <p:spPr>
          <a:xfrm>
            <a:off x="179388" y="981075"/>
            <a:ext cx="8839200" cy="5437188"/>
          </a:xfrm>
        </p:spPr>
        <p:txBody>
          <a:bodyPr/>
          <a:lstStyle/>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在编译时就能确定一个程序在运行时所需要的存储空间的大小，则在编译时就能安排好目标程序运行时的全部数据空间，并能确定每个数据项的地址，存储空间的这种分配方法称为静态存储分配。必须满足如下条件：</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数据对象的长度和它在内存中的位置在编译时必须是已知的；</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不允许过程的递归调用，因为一个过程的所有活动都是用同样的局部名字绑定的；</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数据结构不能动态建立，因为没有运行时的存储分配机制。</a:t>
            </a:r>
          </a:p>
        </p:txBody>
      </p:sp>
    </p:spTree>
    <p:extLst>
      <p:ext uri="{BB962C8B-B14F-4D97-AF65-F5344CB8AC3E}">
        <p14:creationId xmlns:p14="http://schemas.microsoft.com/office/powerpoint/2010/main" val="1434183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42595">
                                            <p:txEl>
                                              <p:pRg st="0" end="0"/>
                                            </p:txEl>
                                          </p:spTgt>
                                        </p:tgtEl>
                                        <p:attrNameLst>
                                          <p:attrName>style.visibility</p:attrName>
                                        </p:attrNameLst>
                                      </p:cBhvr>
                                      <p:to>
                                        <p:strVal val="visible"/>
                                      </p:to>
                                    </p:set>
                                    <p:animEffect transition="in" filter="blinds(horizontal)">
                                      <p:cBhvr>
                                        <p:cTn id="7" dur="500"/>
                                        <p:tgtEl>
                                          <p:spTgt spid="2542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42595">
                                            <p:txEl>
                                              <p:pRg st="1" end="1"/>
                                            </p:txEl>
                                          </p:spTgt>
                                        </p:tgtEl>
                                        <p:attrNameLst>
                                          <p:attrName>style.visibility</p:attrName>
                                        </p:attrNameLst>
                                      </p:cBhvr>
                                      <p:to>
                                        <p:strVal val="visible"/>
                                      </p:to>
                                    </p:set>
                                    <p:animEffect transition="in" filter="blinds(horizontal)">
                                      <p:cBhvr>
                                        <p:cTn id="12" dur="500"/>
                                        <p:tgtEl>
                                          <p:spTgt spid="25425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42595">
                                            <p:txEl>
                                              <p:pRg st="2" end="2"/>
                                            </p:txEl>
                                          </p:spTgt>
                                        </p:tgtEl>
                                        <p:attrNameLst>
                                          <p:attrName>style.visibility</p:attrName>
                                        </p:attrNameLst>
                                      </p:cBhvr>
                                      <p:to>
                                        <p:strVal val="visible"/>
                                      </p:to>
                                    </p:set>
                                    <p:animEffect transition="in" filter="blinds(horizontal)">
                                      <p:cBhvr>
                                        <p:cTn id="17" dur="500"/>
                                        <p:tgtEl>
                                          <p:spTgt spid="25425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42595">
                                            <p:txEl>
                                              <p:pRg st="3" end="3"/>
                                            </p:txEl>
                                          </p:spTgt>
                                        </p:tgtEl>
                                        <p:attrNameLst>
                                          <p:attrName>style.visibility</p:attrName>
                                        </p:attrNameLst>
                                      </p:cBhvr>
                                      <p:to>
                                        <p:strVal val="visible"/>
                                      </p:to>
                                    </p:set>
                                    <p:animEffect transition="in" filter="blinds(horizontal)">
                                      <p:cBhvr>
                                        <p:cTn id="22" dur="500"/>
                                        <p:tgtEl>
                                          <p:spTgt spid="2542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2595"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D4D7CAC0-4F53-4E38-AB37-91F0B2687BA8}"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16CFEC88-0DCC-4E53-99BF-78536D47187D}" type="slidenum">
              <a:rPr lang="en-US" altLang="zh-CN"/>
              <a:pPr/>
              <a:t>36</a:t>
            </a:fld>
            <a:endParaRPr lang="en-US" altLang="zh-CN"/>
          </a:p>
        </p:txBody>
      </p:sp>
      <p:sp>
        <p:nvSpPr>
          <p:cNvPr id="2544642" name="Rectangle 2"/>
          <p:cNvSpPr>
            <a:spLocks noGrp="1" noChangeArrowheads="1"/>
          </p:cNvSpPr>
          <p:nvPr>
            <p:ph type="title"/>
          </p:nvPr>
        </p:nvSpPr>
        <p:spPr>
          <a:xfrm>
            <a:off x="539750" y="188913"/>
            <a:ext cx="8208963" cy="960437"/>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某分段式程序运行时的内存划分</a:t>
            </a:r>
          </a:p>
        </p:txBody>
      </p:sp>
      <p:sp>
        <p:nvSpPr>
          <p:cNvPr id="2544643" name="Line 3"/>
          <p:cNvSpPr>
            <a:spLocks noChangeShapeType="1"/>
          </p:cNvSpPr>
          <p:nvPr/>
        </p:nvSpPr>
        <p:spPr bwMode="auto">
          <a:xfrm>
            <a:off x="6800850" y="3186113"/>
            <a:ext cx="2667000" cy="269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prstDash val="dash"/>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4644" name="Rectangle 4"/>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544645" name="Object 5"/>
          <p:cNvGraphicFramePr>
            <a:graphicFrameLocks noChangeAspect="1"/>
          </p:cNvGraphicFramePr>
          <p:nvPr/>
        </p:nvGraphicFramePr>
        <p:xfrm>
          <a:off x="684213" y="1216025"/>
          <a:ext cx="7850187" cy="4373563"/>
        </p:xfrm>
        <a:graphic>
          <a:graphicData uri="http://schemas.openxmlformats.org/presentationml/2006/ole">
            <mc:AlternateContent xmlns:mc="http://schemas.openxmlformats.org/markup-compatibility/2006">
              <mc:Choice xmlns:v="urn:schemas-microsoft-com:vml" Requires="v">
                <p:oleObj spid="_x0000_s100355" name="Visio" r:id="rId3" imgW="2855263" imgH="1589967" progId="Visio.Drawing.11">
                  <p:embed/>
                </p:oleObj>
              </mc:Choice>
              <mc:Fallback>
                <p:oleObj name="Visio" r:id="rId3" imgW="2855263" imgH="1589967" progId="Visio.Drawing.11">
                  <p:embed/>
                  <p:pic>
                    <p:nvPicPr>
                      <p:cNvPr id="254464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216025"/>
                        <a:ext cx="7850187" cy="437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829130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日期占位符 3"/>
          <p:cNvSpPr>
            <a:spLocks noGrp="1"/>
          </p:cNvSpPr>
          <p:nvPr>
            <p:ph type="dt" sz="half" idx="10"/>
          </p:nvPr>
        </p:nvSpPr>
        <p:spPr/>
        <p:txBody>
          <a:bodyPr/>
          <a:lstStyle/>
          <a:p>
            <a:fld id="{3B26C624-508A-42C8-B5EF-CC68A9E8B823}" type="datetime1">
              <a:rPr lang="zh-CN" altLang="en-US"/>
              <a:pPr/>
              <a:t>2017/2/24</a:t>
            </a:fld>
            <a:endParaRPr lang="en-US" altLang="zh-CN"/>
          </a:p>
        </p:txBody>
      </p:sp>
      <p:sp>
        <p:nvSpPr>
          <p:cNvPr id="16" name="灯片编号占位符 5"/>
          <p:cNvSpPr>
            <a:spLocks noGrp="1"/>
          </p:cNvSpPr>
          <p:nvPr>
            <p:ph type="sldNum" sz="quarter" idx="12"/>
          </p:nvPr>
        </p:nvSpPr>
        <p:spPr/>
        <p:txBody>
          <a:bodyPr/>
          <a:lstStyle/>
          <a:p>
            <a:fld id="{A2361C44-1FC8-402C-9EDE-99756E224E39}" type="slidenum">
              <a:rPr lang="en-US" altLang="zh-CN"/>
              <a:pPr/>
              <a:t>37</a:t>
            </a:fld>
            <a:endParaRPr lang="en-US" altLang="zh-CN"/>
          </a:p>
        </p:txBody>
      </p:sp>
      <p:sp>
        <p:nvSpPr>
          <p:cNvPr id="2545666" name="Rectangle 2"/>
          <p:cNvSpPr>
            <a:spLocks noGrp="1" noChangeArrowheads="1"/>
          </p:cNvSpPr>
          <p:nvPr>
            <p:ph type="body" idx="1"/>
          </p:nvPr>
        </p:nvSpPr>
        <p:spPr>
          <a:xfrm>
            <a:off x="250825" y="260350"/>
            <a:ext cx="8532813" cy="3313113"/>
          </a:xfrm>
        </p:spPr>
        <p:txBody>
          <a:bodyPr/>
          <a:lstStyle/>
          <a:p>
            <a:pPr>
              <a:lnSpc>
                <a:spcPct val="80000"/>
              </a:lnSpc>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每个数据区有一个编号，地址分配时，在符号表中，对每个数据名登记其所属数据区编号及在该区中的相对位置。</a:t>
            </a:r>
          </a:p>
          <a:p>
            <a:pPr>
              <a:lnSpc>
                <a:spcPct val="80000"/>
              </a:lnSpc>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考虑子程序段：</a:t>
            </a:r>
          </a:p>
          <a:p>
            <a:pPr lvl="1">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SUBROUTINE SWAP(A,B)</a:t>
            </a:r>
          </a:p>
          <a:p>
            <a:pPr lvl="1">
              <a:lnSpc>
                <a:spcPct val="80000"/>
              </a:lnSpc>
              <a:spcBef>
                <a:spcPct val="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T=A</a:t>
            </a:r>
          </a:p>
          <a:p>
            <a:pPr lvl="1">
              <a:lnSpc>
                <a:spcPct val="80000"/>
              </a:lnSpc>
              <a:spcBef>
                <a:spcPct val="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A=B</a:t>
            </a:r>
          </a:p>
          <a:p>
            <a:pPr lvl="1">
              <a:lnSpc>
                <a:spcPct val="80000"/>
              </a:lnSpc>
              <a:spcBef>
                <a:spcPct val="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B=T</a:t>
            </a:r>
          </a:p>
          <a:p>
            <a:pPr lvl="1">
              <a:lnSpc>
                <a:spcPct val="80000"/>
              </a:lnSpc>
              <a:spcBef>
                <a:spcPct val="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RETURN</a:t>
            </a:r>
          </a:p>
          <a:p>
            <a:pPr lvl="1">
              <a:lnSpc>
                <a:spcPct val="80000"/>
              </a:lnSpc>
              <a:spcBef>
                <a:spcPct val="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END</a:t>
            </a:r>
          </a:p>
        </p:txBody>
      </p:sp>
      <p:graphicFrame>
        <p:nvGraphicFramePr>
          <p:cNvPr id="2545667" name="Object 3"/>
          <p:cNvGraphicFramePr>
            <a:graphicFrameLocks noChangeAspect="1"/>
          </p:cNvGraphicFramePr>
          <p:nvPr/>
        </p:nvGraphicFramePr>
        <p:xfrm>
          <a:off x="468313" y="3973513"/>
          <a:ext cx="5105400" cy="2840037"/>
        </p:xfrm>
        <a:graphic>
          <a:graphicData uri="http://schemas.openxmlformats.org/presentationml/2006/ole">
            <mc:AlternateContent xmlns:mc="http://schemas.openxmlformats.org/markup-compatibility/2006">
              <mc:Choice xmlns:v="urn:schemas-microsoft-com:vml" Requires="v">
                <p:oleObj spid="_x0000_s101379" name="文档" r:id="rId3" imgW="3887409" imgH="2043641" progId="Word.Document.8">
                  <p:embed/>
                </p:oleObj>
              </mc:Choice>
              <mc:Fallback>
                <p:oleObj name="文档" r:id="rId3" imgW="3887409" imgH="2043641" progId="Word.Document.8">
                  <p:embed/>
                  <p:pic>
                    <p:nvPicPr>
                      <p:cNvPr id="25456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973513"/>
                        <a:ext cx="5105400" cy="284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45668" name="Rectangle 4"/>
          <p:cNvSpPr>
            <a:spLocks noChangeArrowheads="1"/>
          </p:cNvSpPr>
          <p:nvPr/>
        </p:nvSpPr>
        <p:spPr bwMode="auto">
          <a:xfrm>
            <a:off x="6419850" y="4827588"/>
            <a:ext cx="2354263" cy="547687"/>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寄存器保护区</a:t>
            </a:r>
            <a:endParaRPr kumimoji="1" lang="zh-CN" altLang="zh-CN" sz="2800" b="1">
              <a:ea typeface="楷体_GB2312" pitchFamily="49" charset="-122"/>
            </a:endParaRPr>
          </a:p>
        </p:txBody>
      </p:sp>
      <p:sp>
        <p:nvSpPr>
          <p:cNvPr id="2545669" name="Rectangle 5"/>
          <p:cNvSpPr>
            <a:spLocks noChangeArrowheads="1"/>
          </p:cNvSpPr>
          <p:nvPr/>
        </p:nvSpPr>
        <p:spPr bwMode="auto">
          <a:xfrm>
            <a:off x="6419850" y="5375275"/>
            <a:ext cx="2354263" cy="5476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45670" name="Rectangle 6"/>
          <p:cNvSpPr>
            <a:spLocks noChangeArrowheads="1"/>
          </p:cNvSpPr>
          <p:nvPr/>
        </p:nvSpPr>
        <p:spPr bwMode="auto">
          <a:xfrm>
            <a:off x="6419850" y="3181350"/>
            <a:ext cx="2354263" cy="27432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45671" name="Rectangle 7"/>
          <p:cNvSpPr>
            <a:spLocks noChangeArrowheads="1"/>
          </p:cNvSpPr>
          <p:nvPr/>
        </p:nvSpPr>
        <p:spPr bwMode="auto">
          <a:xfrm>
            <a:off x="6419850" y="4278313"/>
            <a:ext cx="2354263" cy="547687"/>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t>A</a:t>
            </a:r>
          </a:p>
        </p:txBody>
      </p:sp>
      <p:sp>
        <p:nvSpPr>
          <p:cNvPr id="2545672" name="Rectangle 8"/>
          <p:cNvSpPr>
            <a:spLocks noChangeArrowheads="1"/>
          </p:cNvSpPr>
          <p:nvPr/>
        </p:nvSpPr>
        <p:spPr bwMode="auto">
          <a:xfrm>
            <a:off x="6419850" y="3181350"/>
            <a:ext cx="2354263" cy="54927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t>T</a:t>
            </a:r>
          </a:p>
        </p:txBody>
      </p:sp>
      <p:sp>
        <p:nvSpPr>
          <p:cNvPr id="2545673" name="Rectangle 9"/>
          <p:cNvSpPr>
            <a:spLocks noChangeArrowheads="1"/>
          </p:cNvSpPr>
          <p:nvPr/>
        </p:nvSpPr>
        <p:spPr bwMode="auto">
          <a:xfrm>
            <a:off x="6419850" y="3730625"/>
            <a:ext cx="2354263" cy="5476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t>B</a:t>
            </a:r>
          </a:p>
        </p:txBody>
      </p:sp>
      <p:sp>
        <p:nvSpPr>
          <p:cNvPr id="2545674" name="Rectangle 10"/>
          <p:cNvSpPr>
            <a:spLocks noChangeArrowheads="1"/>
          </p:cNvSpPr>
          <p:nvPr/>
        </p:nvSpPr>
        <p:spPr bwMode="auto">
          <a:xfrm>
            <a:off x="5802313" y="5375275"/>
            <a:ext cx="617537"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t>0</a:t>
            </a:r>
          </a:p>
        </p:txBody>
      </p:sp>
      <p:sp>
        <p:nvSpPr>
          <p:cNvPr id="2545675" name="Rectangle 11"/>
          <p:cNvSpPr>
            <a:spLocks noChangeArrowheads="1"/>
          </p:cNvSpPr>
          <p:nvPr/>
        </p:nvSpPr>
        <p:spPr bwMode="auto">
          <a:xfrm>
            <a:off x="5802313" y="4895850"/>
            <a:ext cx="6175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t>1</a:t>
            </a:r>
          </a:p>
        </p:txBody>
      </p:sp>
      <p:sp>
        <p:nvSpPr>
          <p:cNvPr id="2545676" name="Rectangle 12"/>
          <p:cNvSpPr>
            <a:spLocks noChangeArrowheads="1"/>
          </p:cNvSpPr>
          <p:nvPr/>
        </p:nvSpPr>
        <p:spPr bwMode="auto">
          <a:xfrm>
            <a:off x="5802313" y="4346575"/>
            <a:ext cx="617537"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t>a</a:t>
            </a:r>
          </a:p>
        </p:txBody>
      </p:sp>
      <p:sp>
        <p:nvSpPr>
          <p:cNvPr id="2545677" name="Line 13"/>
          <p:cNvSpPr>
            <a:spLocks noChangeShapeType="1"/>
          </p:cNvSpPr>
          <p:nvPr/>
        </p:nvSpPr>
        <p:spPr bwMode="auto">
          <a:xfrm flipV="1">
            <a:off x="9002713" y="3181350"/>
            <a:ext cx="0" cy="266700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44885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45666">
                                            <p:txEl>
                                              <p:pRg st="0" end="0"/>
                                            </p:txEl>
                                          </p:spTgt>
                                        </p:tgtEl>
                                        <p:attrNameLst>
                                          <p:attrName>style.visibility</p:attrName>
                                        </p:attrNameLst>
                                      </p:cBhvr>
                                      <p:to>
                                        <p:strVal val="visible"/>
                                      </p:to>
                                    </p:set>
                                    <p:anim calcmode="lin" valueType="num">
                                      <p:cBhvr additive="base">
                                        <p:cTn id="7" dur="500" fill="hold"/>
                                        <p:tgtEl>
                                          <p:spTgt spid="25456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456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45667"/>
                                        </p:tgtEl>
                                        <p:attrNameLst>
                                          <p:attrName>style.visibility</p:attrName>
                                        </p:attrNameLst>
                                      </p:cBhvr>
                                      <p:to>
                                        <p:strVal val="visible"/>
                                      </p:to>
                                    </p:set>
                                    <p:anim calcmode="lin" valueType="num">
                                      <p:cBhvr additive="base">
                                        <p:cTn id="13" dur="500" fill="hold"/>
                                        <p:tgtEl>
                                          <p:spTgt spid="2545667"/>
                                        </p:tgtEl>
                                        <p:attrNameLst>
                                          <p:attrName>ppt_x</p:attrName>
                                        </p:attrNameLst>
                                      </p:cBhvr>
                                      <p:tavLst>
                                        <p:tav tm="0">
                                          <p:val>
                                            <p:strVal val="0-#ppt_w/2"/>
                                          </p:val>
                                        </p:tav>
                                        <p:tav tm="100000">
                                          <p:val>
                                            <p:strVal val="#ppt_x"/>
                                          </p:val>
                                        </p:tav>
                                      </p:tavLst>
                                    </p:anim>
                                    <p:anim calcmode="lin" valueType="num">
                                      <p:cBhvr additive="base">
                                        <p:cTn id="14" dur="500" fill="hold"/>
                                        <p:tgtEl>
                                          <p:spTgt spid="25456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2545670"/>
                                        </p:tgtEl>
                                        <p:attrNameLst>
                                          <p:attrName>style.visibility</p:attrName>
                                        </p:attrNameLst>
                                      </p:cBhvr>
                                      <p:to>
                                        <p:strVal val="visible"/>
                                      </p:to>
                                    </p:set>
                                    <p:anim calcmode="lin" valueType="num">
                                      <p:cBhvr>
                                        <p:cTn id="19" dur="500" fill="hold"/>
                                        <p:tgtEl>
                                          <p:spTgt spid="2545670"/>
                                        </p:tgtEl>
                                        <p:attrNameLst>
                                          <p:attrName>ppt_w</p:attrName>
                                        </p:attrNameLst>
                                      </p:cBhvr>
                                      <p:tavLst>
                                        <p:tav tm="0">
                                          <p:val>
                                            <p:strVal val="2/3*#ppt_w"/>
                                          </p:val>
                                        </p:tav>
                                        <p:tav tm="100000">
                                          <p:val>
                                            <p:strVal val="#ppt_w"/>
                                          </p:val>
                                        </p:tav>
                                      </p:tavLst>
                                    </p:anim>
                                    <p:anim calcmode="lin" valueType="num">
                                      <p:cBhvr>
                                        <p:cTn id="20" dur="500" fill="hold"/>
                                        <p:tgtEl>
                                          <p:spTgt spid="2545670"/>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545674"/>
                                        </p:tgtEl>
                                        <p:attrNameLst>
                                          <p:attrName>style.visibility</p:attrName>
                                        </p:attrNameLst>
                                      </p:cBhvr>
                                      <p:to>
                                        <p:strVal val="visible"/>
                                      </p:to>
                                    </p:set>
                                    <p:animEffect transition="in" filter="wipe(down)">
                                      <p:cBhvr>
                                        <p:cTn id="25" dur="500"/>
                                        <p:tgtEl>
                                          <p:spTgt spid="254567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545669"/>
                                        </p:tgtEl>
                                        <p:attrNameLst>
                                          <p:attrName>style.visibility</p:attrName>
                                        </p:attrNameLst>
                                      </p:cBhvr>
                                      <p:to>
                                        <p:strVal val="visible"/>
                                      </p:to>
                                    </p:set>
                                    <p:animEffect transition="in" filter="wipe(down)">
                                      <p:cBhvr>
                                        <p:cTn id="30" dur="500"/>
                                        <p:tgtEl>
                                          <p:spTgt spid="254566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545675"/>
                                        </p:tgtEl>
                                        <p:attrNameLst>
                                          <p:attrName>style.visibility</p:attrName>
                                        </p:attrNameLst>
                                      </p:cBhvr>
                                      <p:to>
                                        <p:strVal val="visible"/>
                                      </p:to>
                                    </p:set>
                                    <p:animEffect transition="in" filter="wipe(down)">
                                      <p:cBhvr>
                                        <p:cTn id="35" dur="500"/>
                                        <p:tgtEl>
                                          <p:spTgt spid="254567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545668"/>
                                        </p:tgtEl>
                                        <p:attrNameLst>
                                          <p:attrName>style.visibility</p:attrName>
                                        </p:attrNameLst>
                                      </p:cBhvr>
                                      <p:to>
                                        <p:strVal val="visible"/>
                                      </p:to>
                                    </p:set>
                                    <p:animEffect transition="in" filter="wipe(down)">
                                      <p:cBhvr>
                                        <p:cTn id="40" dur="500"/>
                                        <p:tgtEl>
                                          <p:spTgt spid="254566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2545676"/>
                                        </p:tgtEl>
                                        <p:attrNameLst>
                                          <p:attrName>style.visibility</p:attrName>
                                        </p:attrNameLst>
                                      </p:cBhvr>
                                      <p:to>
                                        <p:strVal val="visible"/>
                                      </p:to>
                                    </p:set>
                                    <p:animEffect transition="in" filter="wipe(down)">
                                      <p:cBhvr>
                                        <p:cTn id="45" dur="500"/>
                                        <p:tgtEl>
                                          <p:spTgt spid="254567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545671"/>
                                        </p:tgtEl>
                                        <p:attrNameLst>
                                          <p:attrName>style.visibility</p:attrName>
                                        </p:attrNameLst>
                                      </p:cBhvr>
                                      <p:to>
                                        <p:strVal val="visible"/>
                                      </p:to>
                                    </p:set>
                                    <p:animEffect transition="in" filter="wipe(down)">
                                      <p:cBhvr>
                                        <p:cTn id="50" dur="500"/>
                                        <p:tgtEl>
                                          <p:spTgt spid="254567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545673"/>
                                        </p:tgtEl>
                                        <p:attrNameLst>
                                          <p:attrName>style.visibility</p:attrName>
                                        </p:attrNameLst>
                                      </p:cBhvr>
                                      <p:to>
                                        <p:strVal val="visible"/>
                                      </p:to>
                                    </p:set>
                                    <p:animEffect transition="in" filter="wipe(down)">
                                      <p:cBhvr>
                                        <p:cTn id="55" dur="500"/>
                                        <p:tgtEl>
                                          <p:spTgt spid="254567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545672"/>
                                        </p:tgtEl>
                                        <p:attrNameLst>
                                          <p:attrName>style.visibility</p:attrName>
                                        </p:attrNameLst>
                                      </p:cBhvr>
                                      <p:to>
                                        <p:strVal val="visible"/>
                                      </p:to>
                                    </p:set>
                                    <p:animEffect transition="in" filter="wipe(down)">
                                      <p:cBhvr>
                                        <p:cTn id="60" dur="500"/>
                                        <p:tgtEl>
                                          <p:spTgt spid="254567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nodeType="clickEffect">
                                  <p:stCondLst>
                                    <p:cond delay="0"/>
                                  </p:stCondLst>
                                  <p:childTnLst>
                                    <p:set>
                                      <p:cBhvr>
                                        <p:cTn id="64" dur="1" fill="hold">
                                          <p:stCondLst>
                                            <p:cond delay="0"/>
                                          </p:stCondLst>
                                        </p:cTn>
                                        <p:tgtEl>
                                          <p:spTgt spid="2545677"/>
                                        </p:tgtEl>
                                        <p:attrNameLst>
                                          <p:attrName>style.visibility</p:attrName>
                                        </p:attrNameLst>
                                      </p:cBhvr>
                                      <p:to>
                                        <p:strVal val="visible"/>
                                      </p:to>
                                    </p:set>
                                    <p:animEffect transition="in" filter="wipe(down)">
                                      <p:cBhvr>
                                        <p:cTn id="65" dur="500"/>
                                        <p:tgtEl>
                                          <p:spTgt spid="2545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5666" grpId="0" build="p" autoUpdateAnimBg="0"/>
      <p:bldP spid="2545668" grpId="0" animBg="1" autoUpdateAnimBg="0"/>
      <p:bldP spid="2545669" grpId="0" animBg="1" autoUpdateAnimBg="0"/>
      <p:bldP spid="2545671" grpId="0" animBg="1" autoUpdateAnimBg="0"/>
      <p:bldP spid="2545672" grpId="0" animBg="1" autoUpdateAnimBg="0"/>
      <p:bldP spid="2545673" grpId="0" animBg="1" autoUpdateAnimBg="0"/>
      <p:bldP spid="2545674" grpId="0" autoUpdateAnimBg="0"/>
      <p:bldP spid="2545675" grpId="0" autoUpdateAnimBg="0"/>
      <p:bldP spid="254567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half" idx="10"/>
          </p:nvPr>
        </p:nvSpPr>
        <p:spPr/>
        <p:txBody>
          <a:bodyPr/>
          <a:lstStyle/>
          <a:p>
            <a:fld id="{AE11CADE-325F-4F09-A665-170E263A08E5}" type="datetime1">
              <a:rPr lang="zh-CN" altLang="en-US"/>
              <a:pPr/>
              <a:t>2017/2/24</a:t>
            </a:fld>
            <a:endParaRPr lang="en-US" altLang="zh-CN"/>
          </a:p>
        </p:txBody>
      </p:sp>
      <p:sp>
        <p:nvSpPr>
          <p:cNvPr id="22" name="灯片编号占位符 5"/>
          <p:cNvSpPr>
            <a:spLocks noGrp="1"/>
          </p:cNvSpPr>
          <p:nvPr>
            <p:ph type="sldNum" sz="quarter" idx="12"/>
          </p:nvPr>
        </p:nvSpPr>
        <p:spPr/>
        <p:txBody>
          <a:bodyPr/>
          <a:lstStyle/>
          <a:p>
            <a:fld id="{C7456907-ECAC-4D29-94AB-9827E576A5AF}" type="slidenum">
              <a:rPr lang="en-US" altLang="zh-CN"/>
              <a:pPr/>
              <a:t>38</a:t>
            </a:fld>
            <a:endParaRPr lang="en-US" altLang="zh-CN"/>
          </a:p>
        </p:txBody>
      </p:sp>
      <p:sp>
        <p:nvSpPr>
          <p:cNvPr id="2546690" name="Rectangle 2"/>
          <p:cNvSpPr>
            <a:spLocks noGrp="1" noChangeArrowheads="1"/>
          </p:cNvSpPr>
          <p:nvPr>
            <p:ph type="title"/>
          </p:nvPr>
        </p:nvSpPr>
        <p:spPr>
          <a:xfrm>
            <a:off x="827088" y="260350"/>
            <a:ext cx="7772400" cy="76200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静态存储分配策略</a:t>
            </a:r>
          </a:p>
        </p:txBody>
      </p:sp>
      <p:sp>
        <p:nvSpPr>
          <p:cNvPr id="2546691" name="Rectangle 3"/>
          <p:cNvSpPr>
            <a:spLocks noGrp="1" noChangeArrowheads="1"/>
          </p:cNvSpPr>
          <p:nvPr>
            <p:ph type="body" idx="1"/>
          </p:nvPr>
        </p:nvSpPr>
        <p:spPr>
          <a:xfrm>
            <a:off x="611188" y="1150938"/>
            <a:ext cx="8151812" cy="1066800"/>
          </a:xfrm>
        </p:spPr>
        <p:txBody>
          <a:bodyPr/>
          <a:lstStyle/>
          <a:p>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顺序分配算法（基于调用图）</a:t>
            </a:r>
          </a:p>
          <a:p>
            <a:pPr lvl="1"/>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按照程序段出现的先后顺序逐段分配</a:t>
            </a:r>
          </a:p>
        </p:txBody>
      </p:sp>
      <p:grpSp>
        <p:nvGrpSpPr>
          <p:cNvPr id="2546692" name="Group 4"/>
          <p:cNvGrpSpPr>
            <a:grpSpLocks/>
          </p:cNvGrpSpPr>
          <p:nvPr/>
        </p:nvGrpSpPr>
        <p:grpSpPr bwMode="auto">
          <a:xfrm>
            <a:off x="685800" y="2141538"/>
            <a:ext cx="3810000" cy="2743200"/>
            <a:chOff x="192" y="2016"/>
            <a:chExt cx="2400" cy="1728"/>
          </a:xfrm>
        </p:grpSpPr>
        <p:sp>
          <p:nvSpPr>
            <p:cNvPr id="2546693" name="Text Box 5"/>
            <p:cNvSpPr txBox="1">
              <a:spLocks noChangeArrowheads="1"/>
            </p:cNvSpPr>
            <p:nvPr/>
          </p:nvSpPr>
          <p:spPr bwMode="auto">
            <a:xfrm>
              <a:off x="960" y="201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1/22</a:t>
              </a:r>
            </a:p>
          </p:txBody>
        </p:sp>
        <p:sp>
          <p:nvSpPr>
            <p:cNvPr id="2546694" name="Text Box 6"/>
            <p:cNvSpPr txBox="1">
              <a:spLocks noChangeArrowheads="1"/>
            </p:cNvSpPr>
            <p:nvPr/>
          </p:nvSpPr>
          <p:spPr bwMode="auto">
            <a:xfrm>
              <a:off x="624" y="2688"/>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2/15</a:t>
              </a:r>
            </a:p>
          </p:txBody>
        </p:sp>
        <p:sp>
          <p:nvSpPr>
            <p:cNvPr id="2546695" name="Text Box 7"/>
            <p:cNvSpPr txBox="1">
              <a:spLocks noChangeArrowheads="1"/>
            </p:cNvSpPr>
            <p:nvPr/>
          </p:nvSpPr>
          <p:spPr bwMode="auto">
            <a:xfrm>
              <a:off x="1488" y="268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3/18</a:t>
              </a:r>
            </a:p>
          </p:txBody>
        </p:sp>
        <p:sp>
          <p:nvSpPr>
            <p:cNvPr id="2546696" name="Text Box 8"/>
            <p:cNvSpPr txBox="1">
              <a:spLocks noChangeArrowheads="1"/>
            </p:cNvSpPr>
            <p:nvPr/>
          </p:nvSpPr>
          <p:spPr bwMode="auto">
            <a:xfrm>
              <a:off x="192" y="345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4/17</a:t>
              </a:r>
            </a:p>
          </p:txBody>
        </p:sp>
        <p:sp>
          <p:nvSpPr>
            <p:cNvPr id="2546697" name="Text Box 9"/>
            <p:cNvSpPr txBox="1">
              <a:spLocks noChangeArrowheads="1"/>
            </p:cNvSpPr>
            <p:nvPr/>
          </p:nvSpPr>
          <p:spPr bwMode="auto">
            <a:xfrm>
              <a:off x="1104" y="340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6/10</a:t>
              </a:r>
            </a:p>
          </p:txBody>
        </p:sp>
        <p:sp>
          <p:nvSpPr>
            <p:cNvPr id="2546698" name="Text Box 10"/>
            <p:cNvSpPr txBox="1">
              <a:spLocks noChangeArrowheads="1"/>
            </p:cNvSpPr>
            <p:nvPr/>
          </p:nvSpPr>
          <p:spPr bwMode="auto">
            <a:xfrm>
              <a:off x="2064" y="345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5/23</a:t>
              </a:r>
            </a:p>
          </p:txBody>
        </p:sp>
        <p:sp>
          <p:nvSpPr>
            <p:cNvPr id="2546699" name="Line 11"/>
            <p:cNvSpPr>
              <a:spLocks noChangeShapeType="1"/>
            </p:cNvSpPr>
            <p:nvPr/>
          </p:nvSpPr>
          <p:spPr bwMode="auto">
            <a:xfrm flipH="1">
              <a:off x="816" y="2256"/>
              <a:ext cx="28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6700" name="Line 12"/>
            <p:cNvSpPr>
              <a:spLocks noChangeShapeType="1"/>
            </p:cNvSpPr>
            <p:nvPr/>
          </p:nvSpPr>
          <p:spPr bwMode="auto">
            <a:xfrm flipH="1">
              <a:off x="1296" y="2928"/>
              <a:ext cx="336"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6701" name="Line 13"/>
            <p:cNvSpPr>
              <a:spLocks noChangeShapeType="1"/>
            </p:cNvSpPr>
            <p:nvPr/>
          </p:nvSpPr>
          <p:spPr bwMode="auto">
            <a:xfrm>
              <a:off x="1680" y="2928"/>
              <a:ext cx="576"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6702" name="Line 14"/>
            <p:cNvSpPr>
              <a:spLocks noChangeShapeType="1"/>
            </p:cNvSpPr>
            <p:nvPr/>
          </p:nvSpPr>
          <p:spPr bwMode="auto">
            <a:xfrm>
              <a:off x="1152" y="2256"/>
              <a:ext cx="52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6703" name="Line 15"/>
            <p:cNvSpPr>
              <a:spLocks noChangeShapeType="1"/>
            </p:cNvSpPr>
            <p:nvPr/>
          </p:nvSpPr>
          <p:spPr bwMode="auto">
            <a:xfrm flipH="1">
              <a:off x="384" y="2928"/>
              <a:ext cx="384"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6704" name="Line 16"/>
            <p:cNvSpPr>
              <a:spLocks noChangeShapeType="1"/>
            </p:cNvSpPr>
            <p:nvPr/>
          </p:nvSpPr>
          <p:spPr bwMode="auto">
            <a:xfrm>
              <a:off x="768" y="2880"/>
              <a:ext cx="528"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46705" name="Text Box 17"/>
          <p:cNvSpPr txBox="1">
            <a:spLocks noChangeArrowheads="1"/>
          </p:cNvSpPr>
          <p:nvPr/>
        </p:nvSpPr>
        <p:spPr bwMode="auto">
          <a:xfrm>
            <a:off x="5334000" y="2217738"/>
            <a:ext cx="32766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b="1">
                <a:ea typeface="楷体_GB2312" pitchFamily="49" charset="-122"/>
              </a:rPr>
              <a:t>程序段  区域</a:t>
            </a:r>
          </a:p>
          <a:p>
            <a:pPr eaLnBrk="0" hangingPunct="0">
              <a:buFontTx/>
              <a:buAutoNum type="arabicPlain"/>
            </a:pPr>
            <a:r>
              <a:rPr lang="zh-CN" altLang="en-US" b="1">
                <a:ea typeface="楷体_GB2312" pitchFamily="49" charset="-122"/>
              </a:rPr>
              <a:t>     </a:t>
            </a:r>
            <a:r>
              <a:rPr lang="en-US" altLang="zh-CN" b="1">
                <a:ea typeface="楷体_GB2312" pitchFamily="49" charset="-122"/>
              </a:rPr>
              <a:t>0~21</a:t>
            </a:r>
          </a:p>
          <a:p>
            <a:pPr eaLnBrk="0" hangingPunct="0">
              <a:buFontTx/>
              <a:buAutoNum type="arabicPlain"/>
            </a:pPr>
            <a:r>
              <a:rPr lang="en-US" altLang="zh-CN" b="1">
                <a:ea typeface="楷体_GB2312" pitchFamily="49" charset="-122"/>
              </a:rPr>
              <a:t>    22~36</a:t>
            </a:r>
          </a:p>
          <a:p>
            <a:pPr eaLnBrk="0" hangingPunct="0">
              <a:buFontTx/>
              <a:buAutoNum type="arabicPlain"/>
            </a:pPr>
            <a:r>
              <a:rPr lang="en-US" altLang="zh-CN" b="1">
                <a:ea typeface="楷体_GB2312" pitchFamily="49" charset="-122"/>
              </a:rPr>
              <a:t>    37~54</a:t>
            </a:r>
          </a:p>
          <a:p>
            <a:pPr eaLnBrk="0" hangingPunct="0">
              <a:buFontTx/>
              <a:buAutoNum type="arabicPlain"/>
            </a:pPr>
            <a:r>
              <a:rPr lang="en-US" altLang="zh-CN" b="1">
                <a:ea typeface="楷体_GB2312" pitchFamily="49" charset="-122"/>
              </a:rPr>
              <a:t>    55~71</a:t>
            </a:r>
          </a:p>
          <a:p>
            <a:pPr eaLnBrk="0" hangingPunct="0">
              <a:buFontTx/>
              <a:buAutoNum type="arabicPlain"/>
            </a:pPr>
            <a:r>
              <a:rPr lang="en-US" altLang="zh-CN" b="1">
                <a:ea typeface="楷体_GB2312" pitchFamily="49" charset="-122"/>
              </a:rPr>
              <a:t>    72~94</a:t>
            </a:r>
          </a:p>
          <a:p>
            <a:pPr eaLnBrk="0" hangingPunct="0">
              <a:buFontTx/>
              <a:buAutoNum type="arabicPlain"/>
            </a:pPr>
            <a:r>
              <a:rPr lang="en-US" altLang="zh-CN" b="1">
                <a:ea typeface="楷体_GB2312" pitchFamily="49" charset="-122"/>
              </a:rPr>
              <a:t>    95~104</a:t>
            </a:r>
          </a:p>
          <a:p>
            <a:pPr eaLnBrk="0" hangingPunct="0"/>
            <a:r>
              <a:rPr lang="zh-CN" altLang="en-US" b="1">
                <a:ea typeface="楷体_GB2312" pitchFamily="49" charset="-122"/>
              </a:rPr>
              <a:t>共需要</a:t>
            </a:r>
            <a:r>
              <a:rPr lang="en-US" altLang="zh-CN" b="1">
                <a:ea typeface="楷体_GB2312" pitchFamily="49" charset="-122"/>
              </a:rPr>
              <a:t>105</a:t>
            </a:r>
            <a:r>
              <a:rPr lang="zh-CN" altLang="en-US" b="1">
                <a:ea typeface="楷体_GB2312" pitchFamily="49" charset="-122"/>
              </a:rPr>
              <a:t>个存储单元</a:t>
            </a:r>
          </a:p>
        </p:txBody>
      </p:sp>
      <p:sp>
        <p:nvSpPr>
          <p:cNvPr id="2546706" name="Text Box 18"/>
          <p:cNvSpPr txBox="1">
            <a:spLocks noChangeArrowheads="1"/>
          </p:cNvSpPr>
          <p:nvPr/>
        </p:nvSpPr>
        <p:spPr bwMode="auto">
          <a:xfrm>
            <a:off x="914400" y="4808538"/>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ea typeface="楷体_GB2312" pitchFamily="49" charset="-122"/>
              </a:rPr>
              <a:t>程序段号</a:t>
            </a:r>
            <a:r>
              <a:rPr kumimoji="1" lang="en-US" altLang="zh-CN" b="1">
                <a:ea typeface="楷体_GB2312" pitchFamily="49" charset="-122"/>
              </a:rPr>
              <a:t>/</a:t>
            </a:r>
            <a:r>
              <a:rPr kumimoji="1" lang="zh-CN" altLang="en-US" b="1">
                <a:ea typeface="楷体_GB2312" pitchFamily="49" charset="-122"/>
              </a:rPr>
              <a:t>所需数据空间</a:t>
            </a:r>
          </a:p>
        </p:txBody>
      </p:sp>
      <p:sp>
        <p:nvSpPr>
          <p:cNvPr id="2546707" name="Text Box 19"/>
          <p:cNvSpPr txBox="1">
            <a:spLocks noChangeArrowheads="1"/>
          </p:cNvSpPr>
          <p:nvPr/>
        </p:nvSpPr>
        <p:spPr bwMode="auto">
          <a:xfrm>
            <a:off x="900113" y="5418138"/>
            <a:ext cx="4619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3200" b="1">
                <a:solidFill>
                  <a:srgbClr val="FF0000"/>
                </a:solidFill>
                <a:ea typeface="楷体_GB2312" pitchFamily="49" charset="-122"/>
              </a:rPr>
              <a:t>能用更少的空间么？</a:t>
            </a:r>
          </a:p>
        </p:txBody>
      </p:sp>
    </p:spTree>
    <p:extLst>
      <p:ext uri="{BB962C8B-B14F-4D97-AF65-F5344CB8AC3E}">
        <p14:creationId xmlns:p14="http://schemas.microsoft.com/office/powerpoint/2010/main" val="603559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46691">
                                            <p:txEl>
                                              <p:pRg st="0" end="0"/>
                                            </p:txEl>
                                          </p:spTgt>
                                        </p:tgtEl>
                                        <p:attrNameLst>
                                          <p:attrName>style.visibility</p:attrName>
                                        </p:attrNameLst>
                                      </p:cBhvr>
                                      <p:to>
                                        <p:strVal val="visible"/>
                                      </p:to>
                                    </p:set>
                                    <p:anim calcmode="lin" valueType="num">
                                      <p:cBhvr additive="base">
                                        <p:cTn id="7" dur="500" fill="hold"/>
                                        <p:tgtEl>
                                          <p:spTgt spid="2546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4669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546691">
                                            <p:txEl>
                                              <p:pRg st="1" end="1"/>
                                            </p:txEl>
                                          </p:spTgt>
                                        </p:tgtEl>
                                        <p:attrNameLst>
                                          <p:attrName>style.visibility</p:attrName>
                                        </p:attrNameLst>
                                      </p:cBhvr>
                                      <p:to>
                                        <p:strVal val="visible"/>
                                      </p:to>
                                    </p:set>
                                    <p:anim calcmode="lin" valueType="num">
                                      <p:cBhvr additive="base">
                                        <p:cTn id="11" dur="500" fill="hold"/>
                                        <p:tgtEl>
                                          <p:spTgt spid="254669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546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546706"/>
                                        </p:tgtEl>
                                        <p:attrNameLst>
                                          <p:attrName>style.visibility</p:attrName>
                                        </p:attrNameLst>
                                      </p:cBhvr>
                                      <p:to>
                                        <p:strVal val="visible"/>
                                      </p:to>
                                    </p:set>
                                    <p:anim calcmode="lin" valueType="num">
                                      <p:cBhvr additive="base">
                                        <p:cTn id="17" dur="500" fill="hold"/>
                                        <p:tgtEl>
                                          <p:spTgt spid="2546706"/>
                                        </p:tgtEl>
                                        <p:attrNameLst>
                                          <p:attrName>ppt_x</p:attrName>
                                        </p:attrNameLst>
                                      </p:cBhvr>
                                      <p:tavLst>
                                        <p:tav tm="0">
                                          <p:val>
                                            <p:strVal val="0-#ppt_w/2"/>
                                          </p:val>
                                        </p:tav>
                                        <p:tav tm="100000">
                                          <p:val>
                                            <p:strVal val="#ppt_x"/>
                                          </p:val>
                                        </p:tav>
                                      </p:tavLst>
                                    </p:anim>
                                    <p:anim calcmode="lin" valueType="num">
                                      <p:cBhvr additive="base">
                                        <p:cTn id="18" dur="500" fill="hold"/>
                                        <p:tgtEl>
                                          <p:spTgt spid="254670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546692"/>
                                        </p:tgtEl>
                                        <p:attrNameLst>
                                          <p:attrName>style.visibility</p:attrName>
                                        </p:attrNameLst>
                                      </p:cBhvr>
                                      <p:to>
                                        <p:strVal val="visible"/>
                                      </p:to>
                                    </p:set>
                                    <p:anim calcmode="lin" valueType="num">
                                      <p:cBhvr additive="base">
                                        <p:cTn id="23" dur="500" fill="hold"/>
                                        <p:tgtEl>
                                          <p:spTgt spid="2546692"/>
                                        </p:tgtEl>
                                        <p:attrNameLst>
                                          <p:attrName>ppt_x</p:attrName>
                                        </p:attrNameLst>
                                      </p:cBhvr>
                                      <p:tavLst>
                                        <p:tav tm="0">
                                          <p:val>
                                            <p:strVal val="0-#ppt_w/2"/>
                                          </p:val>
                                        </p:tav>
                                        <p:tav tm="100000">
                                          <p:val>
                                            <p:strVal val="#ppt_x"/>
                                          </p:val>
                                        </p:tav>
                                      </p:tavLst>
                                    </p:anim>
                                    <p:anim calcmode="lin" valueType="num">
                                      <p:cBhvr additive="base">
                                        <p:cTn id="24" dur="500" fill="hold"/>
                                        <p:tgtEl>
                                          <p:spTgt spid="254669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546705">
                                            <p:txEl>
                                              <p:pRg st="0" end="0"/>
                                            </p:txEl>
                                          </p:spTgt>
                                        </p:tgtEl>
                                        <p:attrNameLst>
                                          <p:attrName>style.visibility</p:attrName>
                                        </p:attrNameLst>
                                      </p:cBhvr>
                                      <p:to>
                                        <p:strVal val="visible"/>
                                      </p:to>
                                    </p:set>
                                    <p:anim calcmode="lin" valueType="num">
                                      <p:cBhvr additive="base">
                                        <p:cTn id="29" dur="500" fill="hold"/>
                                        <p:tgtEl>
                                          <p:spTgt spid="2546705">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54670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546705">
                                            <p:txEl>
                                              <p:pRg st="1" end="1"/>
                                            </p:txEl>
                                          </p:spTgt>
                                        </p:tgtEl>
                                        <p:attrNameLst>
                                          <p:attrName>style.visibility</p:attrName>
                                        </p:attrNameLst>
                                      </p:cBhvr>
                                      <p:to>
                                        <p:strVal val="visible"/>
                                      </p:to>
                                    </p:set>
                                    <p:anim calcmode="lin" valueType="num">
                                      <p:cBhvr additive="base">
                                        <p:cTn id="35" dur="500" fill="hold"/>
                                        <p:tgtEl>
                                          <p:spTgt spid="2546705">
                                            <p:txEl>
                                              <p:pRg st="1" end="1"/>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54670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546705">
                                            <p:txEl>
                                              <p:pRg st="2" end="2"/>
                                            </p:txEl>
                                          </p:spTgt>
                                        </p:tgtEl>
                                        <p:attrNameLst>
                                          <p:attrName>style.visibility</p:attrName>
                                        </p:attrNameLst>
                                      </p:cBhvr>
                                      <p:to>
                                        <p:strVal val="visible"/>
                                      </p:to>
                                    </p:set>
                                    <p:anim calcmode="lin" valueType="num">
                                      <p:cBhvr additive="base">
                                        <p:cTn id="41" dur="500" fill="hold"/>
                                        <p:tgtEl>
                                          <p:spTgt spid="2546705">
                                            <p:txEl>
                                              <p:pRg st="2" end="2"/>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54670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2546705">
                                            <p:txEl>
                                              <p:pRg st="3" end="3"/>
                                            </p:txEl>
                                          </p:spTgt>
                                        </p:tgtEl>
                                        <p:attrNameLst>
                                          <p:attrName>style.visibility</p:attrName>
                                        </p:attrNameLst>
                                      </p:cBhvr>
                                      <p:to>
                                        <p:strVal val="visible"/>
                                      </p:to>
                                    </p:set>
                                    <p:anim calcmode="lin" valueType="num">
                                      <p:cBhvr additive="base">
                                        <p:cTn id="47" dur="500" fill="hold"/>
                                        <p:tgtEl>
                                          <p:spTgt spid="2546705">
                                            <p:txEl>
                                              <p:pRg st="3" end="3"/>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254670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546705">
                                            <p:txEl>
                                              <p:pRg st="4" end="4"/>
                                            </p:txEl>
                                          </p:spTgt>
                                        </p:tgtEl>
                                        <p:attrNameLst>
                                          <p:attrName>style.visibility</p:attrName>
                                        </p:attrNameLst>
                                      </p:cBhvr>
                                      <p:to>
                                        <p:strVal val="visible"/>
                                      </p:to>
                                    </p:set>
                                    <p:anim calcmode="lin" valueType="num">
                                      <p:cBhvr additive="base">
                                        <p:cTn id="53" dur="500" fill="hold"/>
                                        <p:tgtEl>
                                          <p:spTgt spid="2546705">
                                            <p:txEl>
                                              <p:pRg st="4" end="4"/>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254670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2546705">
                                            <p:txEl>
                                              <p:pRg st="5" end="5"/>
                                            </p:txEl>
                                          </p:spTgt>
                                        </p:tgtEl>
                                        <p:attrNameLst>
                                          <p:attrName>style.visibility</p:attrName>
                                        </p:attrNameLst>
                                      </p:cBhvr>
                                      <p:to>
                                        <p:strVal val="visible"/>
                                      </p:to>
                                    </p:set>
                                    <p:anim calcmode="lin" valueType="num">
                                      <p:cBhvr additive="base">
                                        <p:cTn id="59" dur="500" fill="hold"/>
                                        <p:tgtEl>
                                          <p:spTgt spid="2546705">
                                            <p:txEl>
                                              <p:pRg st="5" end="5"/>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254670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546705">
                                            <p:txEl>
                                              <p:pRg st="6" end="6"/>
                                            </p:txEl>
                                          </p:spTgt>
                                        </p:tgtEl>
                                        <p:attrNameLst>
                                          <p:attrName>style.visibility</p:attrName>
                                        </p:attrNameLst>
                                      </p:cBhvr>
                                      <p:to>
                                        <p:strVal val="visible"/>
                                      </p:to>
                                    </p:set>
                                    <p:anim calcmode="lin" valueType="num">
                                      <p:cBhvr additive="base">
                                        <p:cTn id="65" dur="500" fill="hold"/>
                                        <p:tgtEl>
                                          <p:spTgt spid="2546705">
                                            <p:txEl>
                                              <p:pRg st="6" end="6"/>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254670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2546705">
                                            <p:txEl>
                                              <p:pRg st="7" end="7"/>
                                            </p:txEl>
                                          </p:spTgt>
                                        </p:tgtEl>
                                        <p:attrNameLst>
                                          <p:attrName>style.visibility</p:attrName>
                                        </p:attrNameLst>
                                      </p:cBhvr>
                                      <p:to>
                                        <p:strVal val="visible"/>
                                      </p:to>
                                    </p:set>
                                    <p:anim calcmode="lin" valueType="num">
                                      <p:cBhvr additive="base">
                                        <p:cTn id="71" dur="500" fill="hold"/>
                                        <p:tgtEl>
                                          <p:spTgt spid="2546705">
                                            <p:txEl>
                                              <p:pRg st="7" end="7"/>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254670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546707"/>
                                        </p:tgtEl>
                                        <p:attrNameLst>
                                          <p:attrName>style.visibility</p:attrName>
                                        </p:attrNameLst>
                                      </p:cBhvr>
                                      <p:to>
                                        <p:strVal val="visible"/>
                                      </p:to>
                                    </p:set>
                                    <p:anim calcmode="lin" valueType="num">
                                      <p:cBhvr additive="base">
                                        <p:cTn id="77" dur="500" fill="hold"/>
                                        <p:tgtEl>
                                          <p:spTgt spid="2546707"/>
                                        </p:tgtEl>
                                        <p:attrNameLst>
                                          <p:attrName>ppt_x</p:attrName>
                                        </p:attrNameLst>
                                      </p:cBhvr>
                                      <p:tavLst>
                                        <p:tav tm="0">
                                          <p:val>
                                            <p:strVal val="#ppt_x"/>
                                          </p:val>
                                        </p:tav>
                                        <p:tav tm="100000">
                                          <p:val>
                                            <p:strVal val="#ppt_x"/>
                                          </p:val>
                                        </p:tav>
                                      </p:tavLst>
                                    </p:anim>
                                    <p:anim calcmode="lin" valueType="num">
                                      <p:cBhvr additive="base">
                                        <p:cTn id="78" dur="500" fill="hold"/>
                                        <p:tgtEl>
                                          <p:spTgt spid="25467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6691" grpId="0" build="p" autoUpdateAnimBg="0"/>
      <p:bldP spid="2546705" grpId="0" build="p" autoUpdateAnimBg="0"/>
      <p:bldP spid="2546706" grpId="0" autoUpdateAnimBg="0"/>
      <p:bldP spid="254670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3"/>
          <p:cNvSpPr>
            <a:spLocks noGrp="1"/>
          </p:cNvSpPr>
          <p:nvPr>
            <p:ph type="dt" sz="half" idx="10"/>
          </p:nvPr>
        </p:nvSpPr>
        <p:spPr/>
        <p:txBody>
          <a:bodyPr/>
          <a:lstStyle/>
          <a:p>
            <a:fld id="{19DC43AA-D5AE-4C3A-8FA1-4DFD4A77D477}" type="datetime1">
              <a:rPr lang="zh-CN" altLang="en-US"/>
              <a:pPr/>
              <a:t>2017/2/24</a:t>
            </a:fld>
            <a:endParaRPr lang="en-US" altLang="zh-CN"/>
          </a:p>
        </p:txBody>
      </p:sp>
      <p:sp>
        <p:nvSpPr>
          <p:cNvPr id="24" name="灯片编号占位符 5"/>
          <p:cNvSpPr>
            <a:spLocks noGrp="1"/>
          </p:cNvSpPr>
          <p:nvPr>
            <p:ph type="sldNum" sz="quarter" idx="12"/>
          </p:nvPr>
        </p:nvSpPr>
        <p:spPr/>
        <p:txBody>
          <a:bodyPr/>
          <a:lstStyle/>
          <a:p>
            <a:fld id="{6DBC1C01-1531-40C1-BD3F-06450CC79205}" type="slidenum">
              <a:rPr lang="en-US" altLang="zh-CN"/>
              <a:pPr/>
              <a:t>39</a:t>
            </a:fld>
            <a:endParaRPr lang="en-US" altLang="zh-CN"/>
          </a:p>
        </p:txBody>
      </p:sp>
      <p:sp>
        <p:nvSpPr>
          <p:cNvPr id="2547714" name="Rectangle 2"/>
          <p:cNvSpPr>
            <a:spLocks noGrp="1" noChangeArrowheads="1"/>
          </p:cNvSpPr>
          <p:nvPr>
            <p:ph type="title"/>
          </p:nvPr>
        </p:nvSpPr>
        <p:spPr>
          <a:xfrm>
            <a:off x="304800" y="115888"/>
            <a:ext cx="7772400" cy="76200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分层分配算法</a:t>
            </a:r>
          </a:p>
        </p:txBody>
      </p:sp>
      <p:sp>
        <p:nvSpPr>
          <p:cNvPr id="2547715" name="Rectangle 3"/>
          <p:cNvSpPr>
            <a:spLocks noGrp="1" noChangeArrowheads="1"/>
          </p:cNvSpPr>
          <p:nvPr>
            <p:ph type="body" idx="1"/>
          </p:nvPr>
        </p:nvSpPr>
        <p:spPr>
          <a:xfrm>
            <a:off x="609600" y="1030288"/>
            <a:ext cx="7772400" cy="609600"/>
          </a:xfrm>
        </p:spPr>
        <p:txBody>
          <a:bodyPr/>
          <a:lstStyle/>
          <a:p>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允许程序段之间的覆盖（覆盖可能性分析）</a:t>
            </a:r>
          </a:p>
        </p:txBody>
      </p:sp>
      <p:sp>
        <p:nvSpPr>
          <p:cNvPr id="2547716" name="Text Box 4"/>
          <p:cNvSpPr txBox="1">
            <a:spLocks noChangeArrowheads="1"/>
          </p:cNvSpPr>
          <p:nvPr/>
        </p:nvSpPr>
        <p:spPr bwMode="auto">
          <a:xfrm>
            <a:off x="5486400" y="1639888"/>
            <a:ext cx="3200400" cy="429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a:ea typeface="楷体_GB2312" pitchFamily="49" charset="-122"/>
              </a:rPr>
              <a:t>程序段  	区域</a:t>
            </a:r>
          </a:p>
          <a:p>
            <a:pPr eaLnBrk="0" hangingPunct="0">
              <a:spcBef>
                <a:spcPct val="50000"/>
              </a:spcBef>
            </a:pPr>
            <a:r>
              <a:rPr lang="en-US" altLang="zh-CN" b="1"/>
              <a:t>6			0~9</a:t>
            </a:r>
          </a:p>
          <a:p>
            <a:pPr eaLnBrk="0" hangingPunct="0">
              <a:spcBef>
                <a:spcPct val="50000"/>
              </a:spcBef>
            </a:pPr>
            <a:r>
              <a:rPr lang="en-US" altLang="zh-CN" b="1"/>
              <a:t>5			0~22 </a:t>
            </a:r>
          </a:p>
          <a:p>
            <a:pPr eaLnBrk="0" hangingPunct="0">
              <a:spcBef>
                <a:spcPct val="50000"/>
              </a:spcBef>
            </a:pPr>
            <a:r>
              <a:rPr lang="en-US" altLang="zh-CN" b="1"/>
              <a:t>4			0~16</a:t>
            </a:r>
          </a:p>
          <a:p>
            <a:pPr eaLnBrk="0" hangingPunct="0">
              <a:spcBef>
                <a:spcPct val="50000"/>
              </a:spcBef>
            </a:pPr>
            <a:r>
              <a:rPr lang="en-US" altLang="zh-CN" b="1"/>
              <a:t>3			23~40</a:t>
            </a:r>
          </a:p>
          <a:p>
            <a:pPr eaLnBrk="0" hangingPunct="0">
              <a:spcBef>
                <a:spcPct val="50000"/>
              </a:spcBef>
            </a:pPr>
            <a:r>
              <a:rPr lang="en-US" altLang="zh-CN" b="1"/>
              <a:t>2			17~31</a:t>
            </a:r>
          </a:p>
          <a:p>
            <a:pPr eaLnBrk="0" hangingPunct="0">
              <a:spcBef>
                <a:spcPct val="50000"/>
              </a:spcBef>
            </a:pPr>
            <a:r>
              <a:rPr lang="en-US" altLang="zh-CN" b="1"/>
              <a:t>1			41~62</a:t>
            </a:r>
          </a:p>
          <a:p>
            <a:pPr eaLnBrk="0" hangingPunct="0">
              <a:spcBef>
                <a:spcPct val="50000"/>
              </a:spcBef>
            </a:pPr>
            <a:r>
              <a:rPr lang="zh-CN" altLang="en-US" b="1">
                <a:ea typeface="楷体_GB2312" pitchFamily="49" charset="-122"/>
              </a:rPr>
              <a:t>共需要</a:t>
            </a:r>
            <a:r>
              <a:rPr lang="en-US" altLang="zh-CN" b="1">
                <a:ea typeface="楷体_GB2312" pitchFamily="49" charset="-122"/>
              </a:rPr>
              <a:t>63</a:t>
            </a:r>
            <a:r>
              <a:rPr lang="zh-CN" altLang="en-US" b="1">
                <a:ea typeface="楷体_GB2312" pitchFamily="49" charset="-122"/>
              </a:rPr>
              <a:t>个存储单元</a:t>
            </a:r>
          </a:p>
        </p:txBody>
      </p:sp>
      <p:grpSp>
        <p:nvGrpSpPr>
          <p:cNvPr id="2547717" name="Group 5"/>
          <p:cNvGrpSpPr>
            <a:grpSpLocks/>
          </p:cNvGrpSpPr>
          <p:nvPr/>
        </p:nvGrpSpPr>
        <p:grpSpPr bwMode="auto">
          <a:xfrm>
            <a:off x="914400" y="2325688"/>
            <a:ext cx="3810000" cy="2743200"/>
            <a:chOff x="192" y="2016"/>
            <a:chExt cx="2400" cy="1728"/>
          </a:xfrm>
        </p:grpSpPr>
        <p:sp>
          <p:nvSpPr>
            <p:cNvPr id="2547718" name="Text Box 6"/>
            <p:cNvSpPr txBox="1">
              <a:spLocks noChangeArrowheads="1"/>
            </p:cNvSpPr>
            <p:nvPr/>
          </p:nvSpPr>
          <p:spPr bwMode="auto">
            <a:xfrm>
              <a:off x="960" y="201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1/22</a:t>
              </a:r>
            </a:p>
          </p:txBody>
        </p:sp>
        <p:sp>
          <p:nvSpPr>
            <p:cNvPr id="2547719" name="Text Box 7"/>
            <p:cNvSpPr txBox="1">
              <a:spLocks noChangeArrowheads="1"/>
            </p:cNvSpPr>
            <p:nvPr/>
          </p:nvSpPr>
          <p:spPr bwMode="auto">
            <a:xfrm>
              <a:off x="624" y="2688"/>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2/15</a:t>
              </a:r>
            </a:p>
          </p:txBody>
        </p:sp>
        <p:sp>
          <p:nvSpPr>
            <p:cNvPr id="2547720" name="Text Box 8"/>
            <p:cNvSpPr txBox="1">
              <a:spLocks noChangeArrowheads="1"/>
            </p:cNvSpPr>
            <p:nvPr/>
          </p:nvSpPr>
          <p:spPr bwMode="auto">
            <a:xfrm>
              <a:off x="1488" y="268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3/18</a:t>
              </a:r>
            </a:p>
          </p:txBody>
        </p:sp>
        <p:sp>
          <p:nvSpPr>
            <p:cNvPr id="2547721" name="Text Box 9"/>
            <p:cNvSpPr txBox="1">
              <a:spLocks noChangeArrowheads="1"/>
            </p:cNvSpPr>
            <p:nvPr/>
          </p:nvSpPr>
          <p:spPr bwMode="auto">
            <a:xfrm>
              <a:off x="192" y="345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4/17</a:t>
              </a:r>
            </a:p>
          </p:txBody>
        </p:sp>
        <p:sp>
          <p:nvSpPr>
            <p:cNvPr id="2547722" name="Text Box 10"/>
            <p:cNvSpPr txBox="1">
              <a:spLocks noChangeArrowheads="1"/>
            </p:cNvSpPr>
            <p:nvPr/>
          </p:nvSpPr>
          <p:spPr bwMode="auto">
            <a:xfrm>
              <a:off x="1104" y="340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6/10</a:t>
              </a:r>
            </a:p>
          </p:txBody>
        </p:sp>
        <p:sp>
          <p:nvSpPr>
            <p:cNvPr id="2547723" name="Text Box 11"/>
            <p:cNvSpPr txBox="1">
              <a:spLocks noChangeArrowheads="1"/>
            </p:cNvSpPr>
            <p:nvPr/>
          </p:nvSpPr>
          <p:spPr bwMode="auto">
            <a:xfrm>
              <a:off x="2064" y="3456"/>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t>5/23</a:t>
              </a:r>
            </a:p>
          </p:txBody>
        </p:sp>
        <p:sp>
          <p:nvSpPr>
            <p:cNvPr id="2547724" name="Line 12"/>
            <p:cNvSpPr>
              <a:spLocks noChangeShapeType="1"/>
            </p:cNvSpPr>
            <p:nvPr/>
          </p:nvSpPr>
          <p:spPr bwMode="auto">
            <a:xfrm flipH="1">
              <a:off x="816" y="2256"/>
              <a:ext cx="28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7725" name="Line 13"/>
            <p:cNvSpPr>
              <a:spLocks noChangeShapeType="1"/>
            </p:cNvSpPr>
            <p:nvPr/>
          </p:nvSpPr>
          <p:spPr bwMode="auto">
            <a:xfrm flipH="1">
              <a:off x="1296" y="2928"/>
              <a:ext cx="336"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7726" name="Line 14"/>
            <p:cNvSpPr>
              <a:spLocks noChangeShapeType="1"/>
            </p:cNvSpPr>
            <p:nvPr/>
          </p:nvSpPr>
          <p:spPr bwMode="auto">
            <a:xfrm>
              <a:off x="1680" y="2928"/>
              <a:ext cx="576"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7727" name="Line 15"/>
            <p:cNvSpPr>
              <a:spLocks noChangeShapeType="1"/>
            </p:cNvSpPr>
            <p:nvPr/>
          </p:nvSpPr>
          <p:spPr bwMode="auto">
            <a:xfrm>
              <a:off x="1152" y="2256"/>
              <a:ext cx="528" cy="4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7728" name="Line 16"/>
            <p:cNvSpPr>
              <a:spLocks noChangeShapeType="1"/>
            </p:cNvSpPr>
            <p:nvPr/>
          </p:nvSpPr>
          <p:spPr bwMode="auto">
            <a:xfrm flipH="1">
              <a:off x="384" y="2928"/>
              <a:ext cx="384"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7729" name="Line 17"/>
            <p:cNvSpPr>
              <a:spLocks noChangeShapeType="1"/>
            </p:cNvSpPr>
            <p:nvPr/>
          </p:nvSpPr>
          <p:spPr bwMode="auto">
            <a:xfrm>
              <a:off x="768" y="2880"/>
              <a:ext cx="528"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47730" name="Text Box 18"/>
          <p:cNvSpPr txBox="1">
            <a:spLocks noChangeArrowheads="1"/>
          </p:cNvSpPr>
          <p:nvPr/>
        </p:nvSpPr>
        <p:spPr bwMode="auto">
          <a:xfrm>
            <a:off x="250825" y="5526088"/>
            <a:ext cx="53292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3200" b="1">
                <a:solidFill>
                  <a:srgbClr val="FF0000"/>
                </a:solidFill>
                <a:ea typeface="楷体_GB2312" pitchFamily="49" charset="-122"/>
              </a:rPr>
              <a:t>思考：如何设计分配算法？</a:t>
            </a:r>
          </a:p>
        </p:txBody>
      </p:sp>
      <p:sp>
        <p:nvSpPr>
          <p:cNvPr id="2547731" name="Line 19"/>
          <p:cNvSpPr>
            <a:spLocks noChangeShapeType="1"/>
          </p:cNvSpPr>
          <p:nvPr/>
        </p:nvSpPr>
        <p:spPr bwMode="auto">
          <a:xfrm>
            <a:off x="2590800" y="2706688"/>
            <a:ext cx="1676400" cy="762000"/>
          </a:xfrm>
          <a:prstGeom prst="line">
            <a:avLst/>
          </a:prstGeom>
          <a:noFill/>
          <a:ln w="28575">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7732" name="Text Box 20"/>
          <p:cNvSpPr txBox="1">
            <a:spLocks noChangeArrowheads="1"/>
          </p:cNvSpPr>
          <p:nvPr/>
        </p:nvSpPr>
        <p:spPr bwMode="auto">
          <a:xfrm>
            <a:off x="3962400" y="339248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solidFill>
                  <a:srgbClr val="FF0000"/>
                </a:solidFill>
                <a:effectLst>
                  <a:outerShdw blurRad="38100" dist="38100" dir="2700000" algn="tl">
                    <a:srgbClr val="000000"/>
                  </a:outerShdw>
                </a:effectLst>
              </a:rPr>
              <a:t>7/80</a:t>
            </a:r>
          </a:p>
        </p:txBody>
      </p:sp>
      <p:sp>
        <p:nvSpPr>
          <p:cNvPr id="2547733" name="Line 21"/>
          <p:cNvSpPr>
            <a:spLocks noChangeShapeType="1"/>
          </p:cNvSpPr>
          <p:nvPr/>
        </p:nvSpPr>
        <p:spPr bwMode="auto">
          <a:xfrm>
            <a:off x="4343400" y="3697288"/>
            <a:ext cx="0" cy="990600"/>
          </a:xfrm>
          <a:prstGeom prst="line">
            <a:avLst/>
          </a:prstGeom>
          <a:noFill/>
          <a:ln w="381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2920513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547717"/>
                                        </p:tgtEl>
                                        <p:attrNameLst>
                                          <p:attrName>style.visibility</p:attrName>
                                        </p:attrNameLst>
                                      </p:cBhvr>
                                      <p:to>
                                        <p:strVal val="visible"/>
                                      </p:to>
                                    </p:set>
                                    <p:anim calcmode="lin" valueType="num">
                                      <p:cBhvr additive="base">
                                        <p:cTn id="7" dur="500" fill="hold"/>
                                        <p:tgtEl>
                                          <p:spTgt spid="2547717"/>
                                        </p:tgtEl>
                                        <p:attrNameLst>
                                          <p:attrName>ppt_x</p:attrName>
                                        </p:attrNameLst>
                                      </p:cBhvr>
                                      <p:tavLst>
                                        <p:tav tm="0">
                                          <p:val>
                                            <p:strVal val="0-#ppt_w/2"/>
                                          </p:val>
                                        </p:tav>
                                        <p:tav tm="100000">
                                          <p:val>
                                            <p:strVal val="#ppt_x"/>
                                          </p:val>
                                        </p:tav>
                                      </p:tavLst>
                                    </p:anim>
                                    <p:anim calcmode="lin" valueType="num">
                                      <p:cBhvr additive="base">
                                        <p:cTn id="8" dur="500" fill="hold"/>
                                        <p:tgtEl>
                                          <p:spTgt spid="254771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47716">
                                            <p:txEl>
                                              <p:pRg st="0" end="0"/>
                                            </p:txEl>
                                          </p:spTgt>
                                        </p:tgtEl>
                                        <p:attrNameLst>
                                          <p:attrName>style.visibility</p:attrName>
                                        </p:attrNameLst>
                                      </p:cBhvr>
                                      <p:to>
                                        <p:strVal val="visible"/>
                                      </p:to>
                                    </p:set>
                                    <p:anim calcmode="lin" valueType="num">
                                      <p:cBhvr additive="base">
                                        <p:cTn id="13" dur="500" fill="hold"/>
                                        <p:tgtEl>
                                          <p:spTgt spid="254771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477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47716">
                                            <p:txEl>
                                              <p:pRg st="1" end="1"/>
                                            </p:txEl>
                                          </p:spTgt>
                                        </p:tgtEl>
                                        <p:attrNameLst>
                                          <p:attrName>style.visibility</p:attrName>
                                        </p:attrNameLst>
                                      </p:cBhvr>
                                      <p:to>
                                        <p:strVal val="visible"/>
                                      </p:to>
                                    </p:set>
                                    <p:anim calcmode="lin" valueType="num">
                                      <p:cBhvr additive="base">
                                        <p:cTn id="19" dur="500" fill="hold"/>
                                        <p:tgtEl>
                                          <p:spTgt spid="2547716">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477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47716">
                                            <p:txEl>
                                              <p:pRg st="2" end="2"/>
                                            </p:txEl>
                                          </p:spTgt>
                                        </p:tgtEl>
                                        <p:attrNameLst>
                                          <p:attrName>style.visibility</p:attrName>
                                        </p:attrNameLst>
                                      </p:cBhvr>
                                      <p:to>
                                        <p:strVal val="visible"/>
                                      </p:to>
                                    </p:set>
                                    <p:anim calcmode="lin" valueType="num">
                                      <p:cBhvr additive="base">
                                        <p:cTn id="25" dur="500" fill="hold"/>
                                        <p:tgtEl>
                                          <p:spTgt spid="2547716">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4771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47716">
                                            <p:txEl>
                                              <p:pRg st="3" end="3"/>
                                            </p:txEl>
                                          </p:spTgt>
                                        </p:tgtEl>
                                        <p:attrNameLst>
                                          <p:attrName>style.visibility</p:attrName>
                                        </p:attrNameLst>
                                      </p:cBhvr>
                                      <p:to>
                                        <p:strVal val="visible"/>
                                      </p:to>
                                    </p:set>
                                    <p:anim calcmode="lin" valueType="num">
                                      <p:cBhvr additive="base">
                                        <p:cTn id="31" dur="500" fill="hold"/>
                                        <p:tgtEl>
                                          <p:spTgt spid="2547716">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4771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47716">
                                            <p:txEl>
                                              <p:pRg st="4" end="4"/>
                                            </p:txEl>
                                          </p:spTgt>
                                        </p:tgtEl>
                                        <p:attrNameLst>
                                          <p:attrName>style.visibility</p:attrName>
                                        </p:attrNameLst>
                                      </p:cBhvr>
                                      <p:to>
                                        <p:strVal val="visible"/>
                                      </p:to>
                                    </p:set>
                                    <p:anim calcmode="lin" valueType="num">
                                      <p:cBhvr additive="base">
                                        <p:cTn id="37" dur="500" fill="hold"/>
                                        <p:tgtEl>
                                          <p:spTgt spid="2547716">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4771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47716">
                                            <p:txEl>
                                              <p:pRg st="5" end="5"/>
                                            </p:txEl>
                                          </p:spTgt>
                                        </p:tgtEl>
                                        <p:attrNameLst>
                                          <p:attrName>style.visibility</p:attrName>
                                        </p:attrNameLst>
                                      </p:cBhvr>
                                      <p:to>
                                        <p:strVal val="visible"/>
                                      </p:to>
                                    </p:set>
                                    <p:anim calcmode="lin" valueType="num">
                                      <p:cBhvr additive="base">
                                        <p:cTn id="43" dur="500" fill="hold"/>
                                        <p:tgtEl>
                                          <p:spTgt spid="2547716">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4771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47716">
                                            <p:txEl>
                                              <p:pRg st="6" end="6"/>
                                            </p:txEl>
                                          </p:spTgt>
                                        </p:tgtEl>
                                        <p:attrNameLst>
                                          <p:attrName>style.visibility</p:attrName>
                                        </p:attrNameLst>
                                      </p:cBhvr>
                                      <p:to>
                                        <p:strVal val="visible"/>
                                      </p:to>
                                    </p:set>
                                    <p:anim calcmode="lin" valueType="num">
                                      <p:cBhvr additive="base">
                                        <p:cTn id="49" dur="500" fill="hold"/>
                                        <p:tgtEl>
                                          <p:spTgt spid="2547716">
                                            <p:txEl>
                                              <p:pRg st="6" end="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4771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47716">
                                            <p:txEl>
                                              <p:pRg st="7" end="7"/>
                                            </p:txEl>
                                          </p:spTgt>
                                        </p:tgtEl>
                                        <p:attrNameLst>
                                          <p:attrName>style.visibility</p:attrName>
                                        </p:attrNameLst>
                                      </p:cBhvr>
                                      <p:to>
                                        <p:strVal val="visible"/>
                                      </p:to>
                                    </p:set>
                                    <p:anim calcmode="lin" valueType="num">
                                      <p:cBhvr additive="base">
                                        <p:cTn id="55" dur="500" fill="hold"/>
                                        <p:tgtEl>
                                          <p:spTgt spid="2547716">
                                            <p:txEl>
                                              <p:pRg st="7" end="7"/>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4771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2547731"/>
                                        </p:tgtEl>
                                        <p:attrNameLst>
                                          <p:attrName>style.visibility</p:attrName>
                                        </p:attrNameLst>
                                      </p:cBhvr>
                                      <p:to>
                                        <p:strVal val="visible"/>
                                      </p:to>
                                    </p:set>
                                    <p:anim calcmode="lin" valueType="num">
                                      <p:cBhvr additive="base">
                                        <p:cTn id="61" dur="500" fill="hold"/>
                                        <p:tgtEl>
                                          <p:spTgt spid="2547731"/>
                                        </p:tgtEl>
                                        <p:attrNameLst>
                                          <p:attrName>ppt_x</p:attrName>
                                        </p:attrNameLst>
                                      </p:cBhvr>
                                      <p:tavLst>
                                        <p:tav tm="0">
                                          <p:val>
                                            <p:strVal val="0-#ppt_w/2"/>
                                          </p:val>
                                        </p:tav>
                                        <p:tav tm="100000">
                                          <p:val>
                                            <p:strVal val="#ppt_x"/>
                                          </p:val>
                                        </p:tav>
                                      </p:tavLst>
                                    </p:anim>
                                    <p:anim calcmode="lin" valueType="num">
                                      <p:cBhvr additive="base">
                                        <p:cTn id="62" dur="500" fill="hold"/>
                                        <p:tgtEl>
                                          <p:spTgt spid="2547731"/>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47732"/>
                                        </p:tgtEl>
                                        <p:attrNameLst>
                                          <p:attrName>style.visibility</p:attrName>
                                        </p:attrNameLst>
                                      </p:cBhvr>
                                      <p:to>
                                        <p:strVal val="visible"/>
                                      </p:to>
                                    </p:set>
                                    <p:anim calcmode="lin" valueType="num">
                                      <p:cBhvr additive="base">
                                        <p:cTn id="67" dur="500" fill="hold"/>
                                        <p:tgtEl>
                                          <p:spTgt spid="2547732"/>
                                        </p:tgtEl>
                                        <p:attrNameLst>
                                          <p:attrName>ppt_x</p:attrName>
                                        </p:attrNameLst>
                                      </p:cBhvr>
                                      <p:tavLst>
                                        <p:tav tm="0">
                                          <p:val>
                                            <p:strVal val="0-#ppt_w/2"/>
                                          </p:val>
                                        </p:tav>
                                        <p:tav tm="100000">
                                          <p:val>
                                            <p:strVal val="#ppt_x"/>
                                          </p:val>
                                        </p:tav>
                                      </p:tavLst>
                                    </p:anim>
                                    <p:anim calcmode="lin" valueType="num">
                                      <p:cBhvr additive="base">
                                        <p:cTn id="68" dur="500" fill="hold"/>
                                        <p:tgtEl>
                                          <p:spTgt spid="2547732"/>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2547733"/>
                                        </p:tgtEl>
                                        <p:attrNameLst>
                                          <p:attrName>style.visibility</p:attrName>
                                        </p:attrNameLst>
                                      </p:cBhvr>
                                      <p:to>
                                        <p:strVal val="visible"/>
                                      </p:to>
                                    </p:set>
                                    <p:anim calcmode="lin" valueType="num">
                                      <p:cBhvr additive="base">
                                        <p:cTn id="73" dur="500" fill="hold"/>
                                        <p:tgtEl>
                                          <p:spTgt spid="2547733"/>
                                        </p:tgtEl>
                                        <p:attrNameLst>
                                          <p:attrName>ppt_x</p:attrName>
                                        </p:attrNameLst>
                                      </p:cBhvr>
                                      <p:tavLst>
                                        <p:tav tm="0">
                                          <p:val>
                                            <p:strVal val="0-#ppt_w/2"/>
                                          </p:val>
                                        </p:tav>
                                        <p:tav tm="100000">
                                          <p:val>
                                            <p:strVal val="#ppt_x"/>
                                          </p:val>
                                        </p:tav>
                                      </p:tavLst>
                                    </p:anim>
                                    <p:anim calcmode="lin" valueType="num">
                                      <p:cBhvr additive="base">
                                        <p:cTn id="74" dur="500" fill="hold"/>
                                        <p:tgtEl>
                                          <p:spTgt spid="2547733"/>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547730"/>
                                        </p:tgtEl>
                                        <p:attrNameLst>
                                          <p:attrName>style.visibility</p:attrName>
                                        </p:attrNameLst>
                                      </p:cBhvr>
                                      <p:to>
                                        <p:strVal val="visible"/>
                                      </p:to>
                                    </p:set>
                                    <p:anim calcmode="lin" valueType="num">
                                      <p:cBhvr additive="base">
                                        <p:cTn id="79" dur="500" fill="hold"/>
                                        <p:tgtEl>
                                          <p:spTgt spid="2547730"/>
                                        </p:tgtEl>
                                        <p:attrNameLst>
                                          <p:attrName>ppt_x</p:attrName>
                                        </p:attrNameLst>
                                      </p:cBhvr>
                                      <p:tavLst>
                                        <p:tav tm="0">
                                          <p:val>
                                            <p:strVal val="0-#ppt_w/2"/>
                                          </p:val>
                                        </p:tav>
                                        <p:tav tm="100000">
                                          <p:val>
                                            <p:strVal val="#ppt_x"/>
                                          </p:val>
                                        </p:tav>
                                      </p:tavLst>
                                    </p:anim>
                                    <p:anim calcmode="lin" valueType="num">
                                      <p:cBhvr additive="base">
                                        <p:cTn id="80" dur="500" fill="hold"/>
                                        <p:tgtEl>
                                          <p:spTgt spid="25477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7716" grpId="0" build="p" autoUpdateAnimBg="0"/>
      <p:bldP spid="2547730" grpId="0" autoUpdateAnimBg="0"/>
      <p:bldP spid="254773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8280739-D62A-4F27-8205-99AD5AE34E1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58561F4-52C8-4122-BAAE-1FBD510FA8AD}" type="slidenum">
              <a:rPr lang="en-US" altLang="zh-CN"/>
              <a:pPr/>
              <a:t>40</a:t>
            </a:fld>
            <a:endParaRPr lang="en-US" altLang="zh-CN"/>
          </a:p>
        </p:txBody>
      </p:sp>
      <p:sp>
        <p:nvSpPr>
          <p:cNvPr id="2548738" name="Rectangle 2"/>
          <p:cNvSpPr>
            <a:spLocks noGrp="1" noChangeArrowheads="1"/>
          </p:cNvSpPr>
          <p:nvPr>
            <p:ph type="title"/>
          </p:nvPr>
        </p:nvSpPr>
        <p:spPr>
          <a:xfrm>
            <a:off x="827088" y="115888"/>
            <a:ext cx="7588250" cy="9286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栈式存储分配策略</a:t>
            </a:r>
          </a:p>
        </p:txBody>
      </p:sp>
      <p:sp>
        <p:nvSpPr>
          <p:cNvPr id="2548739" name="Rectangle 3"/>
          <p:cNvSpPr>
            <a:spLocks noGrp="1" noChangeArrowheads="1"/>
          </p:cNvSpPr>
          <p:nvPr>
            <p:ph type="body" idx="1"/>
          </p:nvPr>
        </p:nvSpPr>
        <p:spPr>
          <a:xfrm>
            <a:off x="196850" y="1052513"/>
            <a:ext cx="8839200" cy="5184775"/>
          </a:xfrm>
        </p:spPr>
        <p:txBody>
          <a:bodyPr/>
          <a:lstStyle/>
          <a:p>
            <a:pPr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如果过程允许递归</a:t>
            </a:r>
          </a:p>
          <a:p>
            <a:pPr lvl="1"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某一时刻过程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可能已被自己调用了若干次，但只有最近一次处于执行状态。其余各次等待返回被中断的那次调用</a:t>
            </a:r>
          </a:p>
          <a:p>
            <a:pPr lvl="1"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必须保存每次调用相应的数据区内容（活动记录）</a:t>
            </a:r>
          </a:p>
          <a:p>
            <a:pPr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引入一个运行栈</a:t>
            </a:r>
          </a:p>
          <a:p>
            <a:pPr lvl="1"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让过程的每次执行和过程的活动记录相对应。</a:t>
            </a:r>
          </a:p>
          <a:p>
            <a:pPr lvl="1"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每调用一次过程，就把该过程的活动记录压入栈中，返回时弹出。</a:t>
            </a:r>
          </a:p>
          <a:p>
            <a:pPr lvl="1" algn="just">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假设寄存器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top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标记栈顶，局部名字</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的相对地址为</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，则</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的地址为</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top+dx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或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dx[top]</a:t>
            </a:r>
          </a:p>
        </p:txBody>
      </p:sp>
    </p:spTree>
    <p:extLst>
      <p:ext uri="{BB962C8B-B14F-4D97-AF65-F5344CB8AC3E}">
        <p14:creationId xmlns:p14="http://schemas.microsoft.com/office/powerpoint/2010/main" val="4276462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48739">
                                            <p:txEl>
                                              <p:pRg st="0" end="0"/>
                                            </p:txEl>
                                          </p:spTgt>
                                        </p:tgtEl>
                                        <p:attrNameLst>
                                          <p:attrName>style.visibility</p:attrName>
                                        </p:attrNameLst>
                                      </p:cBhvr>
                                      <p:to>
                                        <p:strVal val="visible"/>
                                      </p:to>
                                    </p:set>
                                    <p:animEffect transition="in" filter="blinds(horizontal)">
                                      <p:cBhvr>
                                        <p:cTn id="7" dur="500"/>
                                        <p:tgtEl>
                                          <p:spTgt spid="254873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48739">
                                            <p:txEl>
                                              <p:pRg st="1" end="1"/>
                                            </p:txEl>
                                          </p:spTgt>
                                        </p:tgtEl>
                                        <p:attrNameLst>
                                          <p:attrName>style.visibility</p:attrName>
                                        </p:attrNameLst>
                                      </p:cBhvr>
                                      <p:to>
                                        <p:strVal val="visible"/>
                                      </p:to>
                                    </p:set>
                                    <p:animEffect transition="in" filter="blinds(horizontal)">
                                      <p:cBhvr>
                                        <p:cTn id="10" dur="500"/>
                                        <p:tgtEl>
                                          <p:spTgt spid="254873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548739">
                                            <p:txEl>
                                              <p:pRg st="2" end="2"/>
                                            </p:txEl>
                                          </p:spTgt>
                                        </p:tgtEl>
                                        <p:attrNameLst>
                                          <p:attrName>style.visibility</p:attrName>
                                        </p:attrNameLst>
                                      </p:cBhvr>
                                      <p:to>
                                        <p:strVal val="visible"/>
                                      </p:to>
                                    </p:set>
                                    <p:animEffect transition="in" filter="blinds(horizontal)">
                                      <p:cBhvr>
                                        <p:cTn id="13" dur="500"/>
                                        <p:tgtEl>
                                          <p:spTgt spid="254873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548739">
                                            <p:txEl>
                                              <p:pRg st="3" end="3"/>
                                            </p:txEl>
                                          </p:spTgt>
                                        </p:tgtEl>
                                        <p:attrNameLst>
                                          <p:attrName>style.visibility</p:attrName>
                                        </p:attrNameLst>
                                      </p:cBhvr>
                                      <p:to>
                                        <p:strVal val="visible"/>
                                      </p:to>
                                    </p:set>
                                    <p:animEffect transition="in" filter="blinds(horizontal)">
                                      <p:cBhvr>
                                        <p:cTn id="18" dur="500"/>
                                        <p:tgtEl>
                                          <p:spTgt spid="254873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548739">
                                            <p:txEl>
                                              <p:pRg st="4" end="4"/>
                                            </p:txEl>
                                          </p:spTgt>
                                        </p:tgtEl>
                                        <p:attrNameLst>
                                          <p:attrName>style.visibility</p:attrName>
                                        </p:attrNameLst>
                                      </p:cBhvr>
                                      <p:to>
                                        <p:strVal val="visible"/>
                                      </p:to>
                                    </p:set>
                                    <p:animEffect transition="in" filter="blinds(horizontal)">
                                      <p:cBhvr>
                                        <p:cTn id="21" dur="500"/>
                                        <p:tgtEl>
                                          <p:spTgt spid="254873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548739">
                                            <p:txEl>
                                              <p:pRg st="5" end="5"/>
                                            </p:txEl>
                                          </p:spTgt>
                                        </p:tgtEl>
                                        <p:attrNameLst>
                                          <p:attrName>style.visibility</p:attrName>
                                        </p:attrNameLst>
                                      </p:cBhvr>
                                      <p:to>
                                        <p:strVal val="visible"/>
                                      </p:to>
                                    </p:set>
                                    <p:animEffect transition="in" filter="blinds(horizontal)">
                                      <p:cBhvr>
                                        <p:cTn id="24" dur="500"/>
                                        <p:tgtEl>
                                          <p:spTgt spid="2548739">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548739">
                                            <p:txEl>
                                              <p:pRg st="6" end="6"/>
                                            </p:txEl>
                                          </p:spTgt>
                                        </p:tgtEl>
                                        <p:attrNameLst>
                                          <p:attrName>style.visibility</p:attrName>
                                        </p:attrNameLst>
                                      </p:cBhvr>
                                      <p:to>
                                        <p:strVal val="visible"/>
                                      </p:to>
                                    </p:set>
                                    <p:animEffect transition="in" filter="blinds(horizontal)">
                                      <p:cBhvr>
                                        <p:cTn id="27" dur="500"/>
                                        <p:tgtEl>
                                          <p:spTgt spid="25487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873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0566918-C409-4091-8B9C-9FABD8A8A69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F83BB7F1-D89B-4E38-8EE9-9E076478A761}" type="slidenum">
              <a:rPr lang="en-US" altLang="zh-CN"/>
              <a:pPr/>
              <a:t>41</a:t>
            </a:fld>
            <a:endParaRPr lang="en-US" altLang="zh-CN"/>
          </a:p>
        </p:txBody>
      </p:sp>
      <p:sp>
        <p:nvSpPr>
          <p:cNvPr id="2550786" name="Rectangle 2"/>
          <p:cNvSpPr>
            <a:spLocks noGrp="1" noChangeArrowheads="1"/>
          </p:cNvSpPr>
          <p:nvPr>
            <p:ph type="title"/>
          </p:nvPr>
        </p:nvSpPr>
        <p:spPr>
          <a:xfrm>
            <a:off x="152400" y="188913"/>
            <a:ext cx="8839200" cy="8556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 </a:t>
            </a:r>
          </a:p>
        </p:txBody>
      </p:sp>
      <p:sp>
        <p:nvSpPr>
          <p:cNvPr id="2550787" name="Rectangle 3"/>
          <p:cNvSpPr>
            <a:spLocks noGrp="1" noChangeArrowheads="1"/>
          </p:cNvSpPr>
          <p:nvPr>
            <p:ph type="body" idx="1"/>
          </p:nvPr>
        </p:nvSpPr>
        <p:spPr>
          <a:xfrm>
            <a:off x="304800" y="1125538"/>
            <a:ext cx="8534400" cy="5183187"/>
          </a:xfrm>
        </p:spPr>
        <p:txBody>
          <a:bodyPr/>
          <a:lstStyle/>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过程调用和过程返回都需要执行一些代码来管理活动记录栈，保存或恢复机器状态等</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过程调用和返回是通过在目标代码中生成调用序列和返回序列来实现的 </a:t>
            </a:r>
          </a:p>
          <a:p>
            <a:pPr lvl="1"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调用序列负责分配活动记录，并将相关信息填入活动记录中 </a:t>
            </a:r>
            <a:endParaRPr lang="zh-CN" altLang="en-US" sz="2400" b="1">
              <a:latin typeface="Times New Roman" panose="02020603050405020304" pitchFamily="18" charset="0"/>
              <a:ea typeface="华文新魏" panose="02010800040101010101" pitchFamily="2" charset="-122"/>
              <a:cs typeface="Times New Roman" panose="02020603050405020304" pitchFamily="18" charset="0"/>
            </a:endParaRPr>
          </a:p>
          <a:p>
            <a:pPr lvl="1"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返回序列负责恢复机器状态，使调用过程能够继续执行 </a:t>
            </a:r>
            <a:endParaRPr lang="zh-CN" altLang="en-US" sz="2400" b="1">
              <a:latin typeface="Times New Roman" panose="02020603050405020304" pitchFamily="18" charset="0"/>
              <a:ea typeface="华文新魏" panose="02010800040101010101" pitchFamily="2" charset="-122"/>
              <a:cs typeface="Times New Roman" panose="02020603050405020304" pitchFamily="18" charset="0"/>
            </a:endParaRP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调用序列和返回序列常常都分成两部分，分处于调用过程和被调用过程中</a:t>
            </a:r>
          </a:p>
        </p:txBody>
      </p:sp>
    </p:spTree>
    <p:extLst>
      <p:ext uri="{BB962C8B-B14F-4D97-AF65-F5344CB8AC3E}">
        <p14:creationId xmlns:p14="http://schemas.microsoft.com/office/powerpoint/2010/main" val="20379972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50787">
                                            <p:txEl>
                                              <p:pRg st="0" end="0"/>
                                            </p:txEl>
                                          </p:spTgt>
                                        </p:tgtEl>
                                        <p:attrNameLst>
                                          <p:attrName>style.visibility</p:attrName>
                                        </p:attrNameLst>
                                      </p:cBhvr>
                                      <p:to>
                                        <p:strVal val="visible"/>
                                      </p:to>
                                    </p:set>
                                    <p:animEffect transition="in" filter="blinds(horizontal)">
                                      <p:cBhvr>
                                        <p:cTn id="7" dur="500"/>
                                        <p:tgtEl>
                                          <p:spTgt spid="25507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50787">
                                            <p:txEl>
                                              <p:pRg st="1" end="1"/>
                                            </p:txEl>
                                          </p:spTgt>
                                        </p:tgtEl>
                                        <p:attrNameLst>
                                          <p:attrName>style.visibility</p:attrName>
                                        </p:attrNameLst>
                                      </p:cBhvr>
                                      <p:to>
                                        <p:strVal val="visible"/>
                                      </p:to>
                                    </p:set>
                                    <p:animEffect transition="in" filter="blinds(horizontal)">
                                      <p:cBhvr>
                                        <p:cTn id="12" dur="500"/>
                                        <p:tgtEl>
                                          <p:spTgt spid="255078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550787">
                                            <p:txEl>
                                              <p:pRg st="2" end="2"/>
                                            </p:txEl>
                                          </p:spTgt>
                                        </p:tgtEl>
                                        <p:attrNameLst>
                                          <p:attrName>style.visibility</p:attrName>
                                        </p:attrNameLst>
                                      </p:cBhvr>
                                      <p:to>
                                        <p:strVal val="visible"/>
                                      </p:to>
                                    </p:set>
                                    <p:animEffect transition="in" filter="blinds(horizontal)">
                                      <p:cBhvr>
                                        <p:cTn id="15" dur="500"/>
                                        <p:tgtEl>
                                          <p:spTgt spid="255078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50787">
                                            <p:txEl>
                                              <p:pRg st="3" end="3"/>
                                            </p:txEl>
                                          </p:spTgt>
                                        </p:tgtEl>
                                        <p:attrNameLst>
                                          <p:attrName>style.visibility</p:attrName>
                                        </p:attrNameLst>
                                      </p:cBhvr>
                                      <p:to>
                                        <p:strVal val="visible"/>
                                      </p:to>
                                    </p:set>
                                    <p:animEffect transition="in" filter="blinds(horizontal)">
                                      <p:cBhvr>
                                        <p:cTn id="18" dur="500"/>
                                        <p:tgtEl>
                                          <p:spTgt spid="255078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550787">
                                            <p:txEl>
                                              <p:pRg st="4" end="4"/>
                                            </p:txEl>
                                          </p:spTgt>
                                        </p:tgtEl>
                                        <p:attrNameLst>
                                          <p:attrName>style.visibility</p:attrName>
                                        </p:attrNameLst>
                                      </p:cBhvr>
                                      <p:to>
                                        <p:strVal val="visible"/>
                                      </p:to>
                                    </p:set>
                                    <p:animEffect transition="in" filter="blinds(horizontal)">
                                      <p:cBhvr>
                                        <p:cTn id="23" dur="500"/>
                                        <p:tgtEl>
                                          <p:spTgt spid="2550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78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3EFA6DF-B07B-49FB-8961-E060AECD4E5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23AC627-D2BB-423A-BFFE-0B03C0B5B257}" type="slidenum">
              <a:rPr lang="en-US" altLang="zh-CN"/>
              <a:pPr/>
              <a:t>42</a:t>
            </a:fld>
            <a:endParaRPr lang="en-US" altLang="zh-CN"/>
          </a:p>
        </p:txBody>
      </p:sp>
      <p:sp>
        <p:nvSpPr>
          <p:cNvPr id="2552834" name="Rectangle 2"/>
          <p:cNvSpPr>
            <a:spLocks noGrp="1" noChangeArrowheads="1"/>
          </p:cNvSpPr>
          <p:nvPr>
            <p:ph type="title"/>
          </p:nvPr>
        </p:nvSpPr>
        <p:spPr>
          <a:xfrm>
            <a:off x="1017588" y="196850"/>
            <a:ext cx="7083425" cy="855663"/>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a:t>
            </a:r>
          </a:p>
        </p:txBody>
      </p:sp>
      <p:sp>
        <p:nvSpPr>
          <p:cNvPr id="2552835" name="Rectangle 3"/>
          <p:cNvSpPr>
            <a:spLocks noGrp="1" noChangeArrowheads="1"/>
          </p:cNvSpPr>
          <p:nvPr>
            <p:ph type="body" idx="1"/>
          </p:nvPr>
        </p:nvSpPr>
        <p:spPr>
          <a:xfrm>
            <a:off x="304800" y="1125538"/>
            <a:ext cx="8534400" cy="5111750"/>
          </a:xfrm>
        </p:spPr>
        <p:txBody>
          <a:bodyPr/>
          <a:lstStyle/>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即使是同一种语言，过程调用序列、返回序列和活动记录中各域的排放次序，也会因实现而异</a:t>
            </a:r>
          </a:p>
          <a:p>
            <a:pPr algn="just"/>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设计这些序列和活动记录的一些原则：</a:t>
            </a:r>
          </a:p>
          <a:p>
            <a:pPr lvl="1"/>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以活动记录中间的某个位置作为基地址；</a:t>
            </a:r>
          </a:p>
          <a:p>
            <a:pPr lvl="1"/>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长度能较早确定的域放在活动记录的中间；</a:t>
            </a:r>
          </a:p>
          <a:p>
            <a:pPr lvl="1"/>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一般把临时数据域放在局部数据域的后面，以便其长度的改变不会影响数据对象相对于中间那些域的位置；</a:t>
            </a:r>
          </a:p>
          <a:p>
            <a:pPr lvl="1"/>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用同样的代码来执行各个活动的状态保存和恢复；</a:t>
            </a:r>
          </a:p>
          <a:p>
            <a:pPr lvl="1"/>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把参数域和可能有的返回值域放在紧靠调用者活动记录的地方。</a:t>
            </a:r>
          </a:p>
        </p:txBody>
      </p:sp>
    </p:spTree>
    <p:extLst>
      <p:ext uri="{BB962C8B-B14F-4D97-AF65-F5344CB8AC3E}">
        <p14:creationId xmlns:p14="http://schemas.microsoft.com/office/powerpoint/2010/main" val="1725655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52835">
                                            <p:txEl>
                                              <p:pRg st="0" end="0"/>
                                            </p:txEl>
                                          </p:spTgt>
                                        </p:tgtEl>
                                        <p:attrNameLst>
                                          <p:attrName>style.visibility</p:attrName>
                                        </p:attrNameLst>
                                      </p:cBhvr>
                                      <p:to>
                                        <p:strVal val="visible"/>
                                      </p:to>
                                    </p:set>
                                    <p:animEffect transition="in" filter="blinds(horizontal)">
                                      <p:cBhvr>
                                        <p:cTn id="7" dur="500"/>
                                        <p:tgtEl>
                                          <p:spTgt spid="2552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52835">
                                            <p:txEl>
                                              <p:pRg st="1" end="1"/>
                                            </p:txEl>
                                          </p:spTgt>
                                        </p:tgtEl>
                                        <p:attrNameLst>
                                          <p:attrName>style.visibility</p:attrName>
                                        </p:attrNameLst>
                                      </p:cBhvr>
                                      <p:to>
                                        <p:strVal val="visible"/>
                                      </p:to>
                                    </p:set>
                                    <p:animEffect transition="in" filter="blinds(horizontal)">
                                      <p:cBhvr>
                                        <p:cTn id="12" dur="500"/>
                                        <p:tgtEl>
                                          <p:spTgt spid="25528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52835">
                                            <p:txEl>
                                              <p:pRg st="2" end="2"/>
                                            </p:txEl>
                                          </p:spTgt>
                                        </p:tgtEl>
                                        <p:attrNameLst>
                                          <p:attrName>style.visibility</p:attrName>
                                        </p:attrNameLst>
                                      </p:cBhvr>
                                      <p:to>
                                        <p:strVal val="visible"/>
                                      </p:to>
                                    </p:set>
                                    <p:animEffect transition="in" filter="blinds(horizontal)">
                                      <p:cBhvr>
                                        <p:cTn id="17" dur="500"/>
                                        <p:tgtEl>
                                          <p:spTgt spid="25528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52835">
                                            <p:txEl>
                                              <p:pRg st="3" end="3"/>
                                            </p:txEl>
                                          </p:spTgt>
                                        </p:tgtEl>
                                        <p:attrNameLst>
                                          <p:attrName>style.visibility</p:attrName>
                                        </p:attrNameLst>
                                      </p:cBhvr>
                                      <p:to>
                                        <p:strVal val="visible"/>
                                      </p:to>
                                    </p:set>
                                    <p:animEffect transition="in" filter="blinds(horizontal)">
                                      <p:cBhvr>
                                        <p:cTn id="22" dur="500"/>
                                        <p:tgtEl>
                                          <p:spTgt spid="25528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52835">
                                            <p:txEl>
                                              <p:pRg st="4" end="4"/>
                                            </p:txEl>
                                          </p:spTgt>
                                        </p:tgtEl>
                                        <p:attrNameLst>
                                          <p:attrName>style.visibility</p:attrName>
                                        </p:attrNameLst>
                                      </p:cBhvr>
                                      <p:to>
                                        <p:strVal val="visible"/>
                                      </p:to>
                                    </p:set>
                                    <p:animEffect transition="in" filter="blinds(horizontal)">
                                      <p:cBhvr>
                                        <p:cTn id="27" dur="500"/>
                                        <p:tgtEl>
                                          <p:spTgt spid="25528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52835">
                                            <p:txEl>
                                              <p:pRg st="5" end="5"/>
                                            </p:txEl>
                                          </p:spTgt>
                                        </p:tgtEl>
                                        <p:attrNameLst>
                                          <p:attrName>style.visibility</p:attrName>
                                        </p:attrNameLst>
                                      </p:cBhvr>
                                      <p:to>
                                        <p:strVal val="visible"/>
                                      </p:to>
                                    </p:set>
                                    <p:animEffect transition="in" filter="blinds(horizontal)">
                                      <p:cBhvr>
                                        <p:cTn id="32" dur="500"/>
                                        <p:tgtEl>
                                          <p:spTgt spid="25528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52835">
                                            <p:txEl>
                                              <p:pRg st="6" end="6"/>
                                            </p:txEl>
                                          </p:spTgt>
                                        </p:tgtEl>
                                        <p:attrNameLst>
                                          <p:attrName>style.visibility</p:attrName>
                                        </p:attrNameLst>
                                      </p:cBhvr>
                                      <p:to>
                                        <p:strVal val="visible"/>
                                      </p:to>
                                    </p:set>
                                    <p:animEffect transition="in" filter="blinds(horizontal)">
                                      <p:cBhvr>
                                        <p:cTn id="37" dur="500"/>
                                        <p:tgtEl>
                                          <p:spTgt spid="25528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2835"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0671D9C4-76DE-418C-820C-50994DC29253}"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A4B30241-3639-4442-814B-7A45454565EE}" type="slidenum">
              <a:rPr lang="en-US" altLang="zh-CN"/>
              <a:pPr/>
              <a:t>43</a:t>
            </a:fld>
            <a:endParaRPr lang="en-US" altLang="zh-CN"/>
          </a:p>
        </p:txBody>
      </p:sp>
      <p:sp>
        <p:nvSpPr>
          <p:cNvPr id="2554882" name="Rectangle 2"/>
          <p:cNvSpPr>
            <a:spLocks noGrp="1" noChangeArrowheads="1"/>
          </p:cNvSpPr>
          <p:nvPr>
            <p:ph type="title"/>
          </p:nvPr>
        </p:nvSpPr>
        <p:spPr>
          <a:xfrm>
            <a:off x="755650" y="115888"/>
            <a:ext cx="7515225" cy="82391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a:t>
            </a:r>
          </a:p>
        </p:txBody>
      </p:sp>
      <p:sp>
        <p:nvSpPr>
          <p:cNvPr id="2554883" name="Rectangle 3"/>
          <p:cNvSpPr>
            <a:spLocks noChangeArrowheads="1"/>
          </p:cNvSpPr>
          <p:nvPr/>
        </p:nvSpPr>
        <p:spPr bwMode="auto">
          <a:xfrm>
            <a:off x="304800" y="981075"/>
            <a:ext cx="64008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p>
            <a:pPr algn="ctr" eaLnBrk="0" hangingPunct="0"/>
            <a:r>
              <a:rPr lang="zh-CN" altLang="en-US" sz="3200" b="1">
                <a:ea typeface="楷体_GB2312" pitchFamily="49" charset="-122"/>
              </a:rPr>
              <a:t>调用者和被调用者之间的任务划分</a:t>
            </a:r>
          </a:p>
        </p:txBody>
      </p:sp>
      <p:sp>
        <p:nvSpPr>
          <p:cNvPr id="2554884" name="Rectangle 4"/>
          <p:cNvSpPr>
            <a:spLocks noChangeArrowheads="1"/>
          </p:cNvSpPr>
          <p:nvPr/>
        </p:nvSpPr>
        <p:spPr bwMode="auto">
          <a:xfrm>
            <a:off x="0" y="2354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554885" name="Object 5"/>
          <p:cNvGraphicFramePr>
            <a:graphicFrameLocks noChangeAspect="1"/>
          </p:cNvGraphicFramePr>
          <p:nvPr/>
        </p:nvGraphicFramePr>
        <p:xfrm>
          <a:off x="396875" y="1557338"/>
          <a:ext cx="8207375" cy="4540250"/>
        </p:xfrm>
        <a:graphic>
          <a:graphicData uri="http://schemas.openxmlformats.org/presentationml/2006/ole">
            <mc:AlternateContent xmlns:mc="http://schemas.openxmlformats.org/markup-compatibility/2006">
              <mc:Choice xmlns:v="urn:schemas-microsoft-com:vml" Requires="v">
                <p:oleObj spid="_x0000_s102403" name="Visio" r:id="rId4" imgW="3886135" imgH="2152294" progId="Visio.Drawing.11">
                  <p:embed/>
                </p:oleObj>
              </mc:Choice>
              <mc:Fallback>
                <p:oleObj name="Visio" r:id="rId4" imgW="3886135" imgH="2152294" progId="Visio.Drawing.11">
                  <p:embed/>
                  <p:pic>
                    <p:nvPicPr>
                      <p:cNvPr id="255488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875" y="1557338"/>
                        <a:ext cx="8207375" cy="454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71457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C0F2498-F0DE-4B0F-9AA4-F534B707534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1B586CB-290F-4DF1-A895-E0F5B4BEBC1D}" type="slidenum">
              <a:rPr lang="en-US" altLang="zh-CN"/>
              <a:pPr/>
              <a:t>44</a:t>
            </a:fld>
            <a:endParaRPr lang="en-US" altLang="zh-CN"/>
          </a:p>
        </p:txBody>
      </p:sp>
      <p:sp>
        <p:nvSpPr>
          <p:cNvPr id="2556930" name="Rectangle 2"/>
          <p:cNvSpPr>
            <a:spLocks noGrp="1" noChangeArrowheads="1"/>
          </p:cNvSpPr>
          <p:nvPr>
            <p:ph type="title"/>
          </p:nvPr>
        </p:nvSpPr>
        <p:spPr>
          <a:xfrm>
            <a:off x="152400" y="188913"/>
            <a:ext cx="8839200" cy="8556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a:t>
            </a:r>
          </a:p>
        </p:txBody>
      </p:sp>
      <p:sp>
        <p:nvSpPr>
          <p:cNvPr id="2556931" name="Rectangle 3"/>
          <p:cNvSpPr>
            <a:spLocks noGrp="1" noChangeArrowheads="1"/>
          </p:cNvSpPr>
          <p:nvPr>
            <p:ph type="body" idx="1"/>
          </p:nvPr>
        </p:nvSpPr>
        <p:spPr>
          <a:xfrm>
            <a:off x="304800" y="1125538"/>
            <a:ext cx="8731250" cy="4895850"/>
          </a:xfrm>
        </p:spPr>
        <p:txBody>
          <a:bodyPr/>
          <a:lstStyle/>
          <a:p>
            <a:pPr marL="609600" indent="-609600" algn="just">
              <a:buFontTx/>
              <a:buNone/>
            </a:pPr>
            <a:r>
              <a:rPr lang="zh-CN" altLang="en-US" sz="36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一种可能的调用序列：</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调用者计算实参</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调用者把返回地址和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的旧值存入被调用者的活动记录中，然后将</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移过调用者的局部数据域和临时变量域，以及被调用者的参数域和状态域</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被调用者保存寄存器值和其它机器状态信息</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被调用者初始化其局部数据，并开始执行。</a:t>
            </a:r>
          </a:p>
        </p:txBody>
      </p:sp>
    </p:spTree>
    <p:extLst>
      <p:ext uri="{BB962C8B-B14F-4D97-AF65-F5344CB8AC3E}">
        <p14:creationId xmlns:p14="http://schemas.microsoft.com/office/powerpoint/2010/main" val="3111911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56931">
                                            <p:txEl>
                                              <p:pRg st="0" end="0"/>
                                            </p:txEl>
                                          </p:spTgt>
                                        </p:tgtEl>
                                        <p:attrNameLst>
                                          <p:attrName>style.visibility</p:attrName>
                                        </p:attrNameLst>
                                      </p:cBhvr>
                                      <p:to>
                                        <p:strVal val="visible"/>
                                      </p:to>
                                    </p:set>
                                    <p:animEffect transition="in" filter="blinds(horizontal)">
                                      <p:cBhvr>
                                        <p:cTn id="7" dur="500"/>
                                        <p:tgtEl>
                                          <p:spTgt spid="25569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56931">
                                            <p:txEl>
                                              <p:pRg st="1" end="1"/>
                                            </p:txEl>
                                          </p:spTgt>
                                        </p:tgtEl>
                                        <p:attrNameLst>
                                          <p:attrName>style.visibility</p:attrName>
                                        </p:attrNameLst>
                                      </p:cBhvr>
                                      <p:to>
                                        <p:strVal val="visible"/>
                                      </p:to>
                                    </p:set>
                                    <p:animEffect transition="in" filter="blinds(horizontal)">
                                      <p:cBhvr>
                                        <p:cTn id="12" dur="500"/>
                                        <p:tgtEl>
                                          <p:spTgt spid="25569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56931">
                                            <p:txEl>
                                              <p:pRg st="2" end="2"/>
                                            </p:txEl>
                                          </p:spTgt>
                                        </p:tgtEl>
                                        <p:attrNameLst>
                                          <p:attrName>style.visibility</p:attrName>
                                        </p:attrNameLst>
                                      </p:cBhvr>
                                      <p:to>
                                        <p:strVal val="visible"/>
                                      </p:to>
                                    </p:set>
                                    <p:animEffect transition="in" filter="blinds(horizontal)">
                                      <p:cBhvr>
                                        <p:cTn id="17" dur="500"/>
                                        <p:tgtEl>
                                          <p:spTgt spid="25569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56931">
                                            <p:txEl>
                                              <p:pRg st="3" end="3"/>
                                            </p:txEl>
                                          </p:spTgt>
                                        </p:tgtEl>
                                        <p:attrNameLst>
                                          <p:attrName>style.visibility</p:attrName>
                                        </p:attrNameLst>
                                      </p:cBhvr>
                                      <p:to>
                                        <p:strVal val="visible"/>
                                      </p:to>
                                    </p:set>
                                    <p:animEffect transition="in" filter="blinds(horizontal)">
                                      <p:cBhvr>
                                        <p:cTn id="22" dur="500"/>
                                        <p:tgtEl>
                                          <p:spTgt spid="25569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56931">
                                            <p:txEl>
                                              <p:pRg st="4" end="4"/>
                                            </p:txEl>
                                          </p:spTgt>
                                        </p:tgtEl>
                                        <p:attrNameLst>
                                          <p:attrName>style.visibility</p:attrName>
                                        </p:attrNameLst>
                                      </p:cBhvr>
                                      <p:to>
                                        <p:strVal val="visible"/>
                                      </p:to>
                                    </p:set>
                                    <p:animEffect transition="in" filter="blinds(horizontal)">
                                      <p:cBhvr>
                                        <p:cTn id="27" dur="500"/>
                                        <p:tgtEl>
                                          <p:spTgt spid="25569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693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BFA1FF7-9E4D-4474-AC67-59AB3C8A722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3864D63-D3C8-4ABD-8CA9-B8A06B2FE4C8}" type="slidenum">
              <a:rPr lang="en-US" altLang="zh-CN"/>
              <a:pPr/>
              <a:t>45</a:t>
            </a:fld>
            <a:endParaRPr lang="en-US" altLang="zh-CN"/>
          </a:p>
        </p:txBody>
      </p:sp>
      <p:sp>
        <p:nvSpPr>
          <p:cNvPr id="2558978" name="Rectangle 2"/>
          <p:cNvSpPr>
            <a:spLocks noGrp="1" noChangeArrowheads="1"/>
          </p:cNvSpPr>
          <p:nvPr>
            <p:ph type="title"/>
          </p:nvPr>
        </p:nvSpPr>
        <p:spPr>
          <a:xfrm>
            <a:off x="827088" y="188913"/>
            <a:ext cx="7299325" cy="9271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a:t>
            </a:r>
          </a:p>
        </p:txBody>
      </p:sp>
      <p:sp>
        <p:nvSpPr>
          <p:cNvPr id="2558979" name="Rectangle 3"/>
          <p:cNvSpPr>
            <a:spLocks noGrp="1" noChangeArrowheads="1"/>
          </p:cNvSpPr>
          <p:nvPr>
            <p:ph type="body" idx="1"/>
          </p:nvPr>
        </p:nvSpPr>
        <p:spPr>
          <a:xfrm>
            <a:off x="107950" y="1125538"/>
            <a:ext cx="8839200" cy="5040312"/>
          </a:xfrm>
        </p:spPr>
        <p:txBody>
          <a:bodyPr/>
          <a:lstStyle/>
          <a:p>
            <a:pPr marL="609600" indent="-609600">
              <a:spcBef>
                <a:spcPct val="0"/>
              </a:spcBef>
              <a:buFontTx/>
              <a:buNone/>
            </a:pPr>
            <a:r>
              <a:rPr lang="zh-CN" altLang="en-US" sz="36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一种可能的返回序列：</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 </a:t>
            </a:r>
          </a:p>
          <a:p>
            <a:pPr marL="990600" lvl="1" indent="-533400"/>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被调用者将返回值放入临近调用者的活动记录的地方。</a:t>
            </a:r>
          </a:p>
          <a:p>
            <a:pPr marL="990600" lvl="1" indent="-533400"/>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利用状态域中的信息，被调用者恢复</a:t>
            </a:r>
            <a:r>
              <a:rPr lang="en-US" altLang="zh-CN" sz="3200" b="1" i="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和其它寄存器，并且按调用者代码中的返回地址返回。</a:t>
            </a:r>
          </a:p>
          <a:p>
            <a:pPr marL="990600" lvl="1" indent="-533400"/>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尽管</a:t>
            </a:r>
            <a:r>
              <a:rPr lang="en-US" altLang="zh-CN" sz="3200" b="1" i="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sz="3200" b="1">
                <a:latin typeface="Times New Roman" panose="02020603050405020304" pitchFamily="18" charset="0"/>
                <a:ea typeface="华文新魏" panose="02010800040101010101" pitchFamily="2" charset="-122"/>
                <a:cs typeface="Times New Roman" panose="02020603050405020304" pitchFamily="18" charset="0"/>
              </a:rPr>
              <a:t>的值减小了，调用者仍然可以将返回值复制到自己的活动记录中，并用它来计算一个表达式。</a:t>
            </a:r>
          </a:p>
        </p:txBody>
      </p:sp>
    </p:spTree>
    <p:extLst>
      <p:ext uri="{BB962C8B-B14F-4D97-AF65-F5344CB8AC3E}">
        <p14:creationId xmlns:p14="http://schemas.microsoft.com/office/powerpoint/2010/main" val="392371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58979">
                                            <p:txEl>
                                              <p:pRg st="0" end="0"/>
                                            </p:txEl>
                                          </p:spTgt>
                                        </p:tgtEl>
                                        <p:attrNameLst>
                                          <p:attrName>style.visibility</p:attrName>
                                        </p:attrNameLst>
                                      </p:cBhvr>
                                      <p:to>
                                        <p:strVal val="visible"/>
                                      </p:to>
                                    </p:set>
                                    <p:animEffect transition="in" filter="blinds(horizontal)">
                                      <p:cBhvr>
                                        <p:cTn id="7" dur="500"/>
                                        <p:tgtEl>
                                          <p:spTgt spid="2558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58979">
                                            <p:txEl>
                                              <p:pRg st="1" end="1"/>
                                            </p:txEl>
                                          </p:spTgt>
                                        </p:tgtEl>
                                        <p:attrNameLst>
                                          <p:attrName>style.visibility</p:attrName>
                                        </p:attrNameLst>
                                      </p:cBhvr>
                                      <p:to>
                                        <p:strVal val="visible"/>
                                      </p:to>
                                    </p:set>
                                    <p:animEffect transition="in" filter="blinds(horizontal)">
                                      <p:cBhvr>
                                        <p:cTn id="12" dur="500"/>
                                        <p:tgtEl>
                                          <p:spTgt spid="2558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58979">
                                            <p:txEl>
                                              <p:pRg st="2" end="2"/>
                                            </p:txEl>
                                          </p:spTgt>
                                        </p:tgtEl>
                                        <p:attrNameLst>
                                          <p:attrName>style.visibility</p:attrName>
                                        </p:attrNameLst>
                                      </p:cBhvr>
                                      <p:to>
                                        <p:strVal val="visible"/>
                                      </p:to>
                                    </p:set>
                                    <p:animEffect transition="in" filter="blinds(horizontal)">
                                      <p:cBhvr>
                                        <p:cTn id="17" dur="500"/>
                                        <p:tgtEl>
                                          <p:spTgt spid="25589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58979">
                                            <p:txEl>
                                              <p:pRg st="3" end="3"/>
                                            </p:txEl>
                                          </p:spTgt>
                                        </p:tgtEl>
                                        <p:attrNameLst>
                                          <p:attrName>style.visibility</p:attrName>
                                        </p:attrNameLst>
                                      </p:cBhvr>
                                      <p:to>
                                        <p:strVal val="visible"/>
                                      </p:to>
                                    </p:set>
                                    <p:animEffect transition="in" filter="blinds(horizontal)">
                                      <p:cBhvr>
                                        <p:cTn id="22" dur="500"/>
                                        <p:tgtEl>
                                          <p:spTgt spid="2558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8979" grpId="0" build="p" bldLvl="2"/>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87D9341-D16F-47E3-8E42-4E1420BAB22F}"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8A4AB68-4687-48C7-A0A1-D602CEA24B49}" type="slidenum">
              <a:rPr lang="en-US" altLang="zh-CN"/>
              <a:pPr/>
              <a:t>46</a:t>
            </a:fld>
            <a:endParaRPr lang="en-US" altLang="zh-CN"/>
          </a:p>
        </p:txBody>
      </p:sp>
      <p:sp>
        <p:nvSpPr>
          <p:cNvPr id="2561026" name="Rectangle 2"/>
          <p:cNvSpPr>
            <a:spLocks noGrp="1" noChangeArrowheads="1"/>
          </p:cNvSpPr>
          <p:nvPr>
            <p:ph type="title"/>
          </p:nvPr>
        </p:nvSpPr>
        <p:spPr>
          <a:xfrm>
            <a:off x="827088" y="260350"/>
            <a:ext cx="7372350" cy="9271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调用序列和返回序列</a:t>
            </a:r>
          </a:p>
        </p:txBody>
      </p:sp>
      <p:sp>
        <p:nvSpPr>
          <p:cNvPr id="2561027" name="Rectangle 3"/>
          <p:cNvSpPr>
            <a:spLocks noGrp="1" noChangeArrowheads="1"/>
          </p:cNvSpPr>
          <p:nvPr>
            <p:ph type="body" idx="1"/>
          </p:nvPr>
        </p:nvSpPr>
        <p:spPr>
          <a:xfrm>
            <a:off x="304800" y="1295400"/>
            <a:ext cx="8534400" cy="4438650"/>
          </a:xfrm>
        </p:spPr>
        <p:txBody>
          <a:bodyPr/>
          <a:lstStyle/>
          <a:p>
            <a:pPr algn="just">
              <a:buFontTx/>
              <a:buNone/>
            </a:pPr>
            <a:r>
              <a:rPr lang="zh-CN" altLang="en-US" sz="36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过程的参数个数可变的情况</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函数返回值改成用寄存器传递</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编译器产生将这些参数逆序进栈的代码</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被调用函数能准确地知道第一个参数的位置</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被调用函数根据第一个参数到栈中取第二、第三个参数等等</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如</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printf</a:t>
            </a:r>
          </a:p>
        </p:txBody>
      </p:sp>
    </p:spTree>
    <p:extLst>
      <p:ext uri="{BB962C8B-B14F-4D97-AF65-F5344CB8AC3E}">
        <p14:creationId xmlns:p14="http://schemas.microsoft.com/office/powerpoint/2010/main" val="1632881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1027">
                                            <p:txEl>
                                              <p:pRg st="0" end="0"/>
                                            </p:txEl>
                                          </p:spTgt>
                                        </p:tgtEl>
                                        <p:attrNameLst>
                                          <p:attrName>style.visibility</p:attrName>
                                        </p:attrNameLst>
                                      </p:cBhvr>
                                      <p:to>
                                        <p:strVal val="visible"/>
                                      </p:to>
                                    </p:set>
                                    <p:animEffect transition="in" filter="blinds(horizontal)">
                                      <p:cBhvr>
                                        <p:cTn id="7" dur="500"/>
                                        <p:tgtEl>
                                          <p:spTgt spid="256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1027">
                                            <p:txEl>
                                              <p:pRg st="1" end="1"/>
                                            </p:txEl>
                                          </p:spTgt>
                                        </p:tgtEl>
                                        <p:attrNameLst>
                                          <p:attrName>style.visibility</p:attrName>
                                        </p:attrNameLst>
                                      </p:cBhvr>
                                      <p:to>
                                        <p:strVal val="visible"/>
                                      </p:to>
                                    </p:set>
                                    <p:animEffect transition="in" filter="blinds(horizontal)">
                                      <p:cBhvr>
                                        <p:cTn id="12" dur="500"/>
                                        <p:tgtEl>
                                          <p:spTgt spid="256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1027">
                                            <p:txEl>
                                              <p:pRg st="2" end="2"/>
                                            </p:txEl>
                                          </p:spTgt>
                                        </p:tgtEl>
                                        <p:attrNameLst>
                                          <p:attrName>style.visibility</p:attrName>
                                        </p:attrNameLst>
                                      </p:cBhvr>
                                      <p:to>
                                        <p:strVal val="visible"/>
                                      </p:to>
                                    </p:set>
                                    <p:animEffect transition="in" filter="blinds(horizontal)">
                                      <p:cBhvr>
                                        <p:cTn id="17" dur="500"/>
                                        <p:tgtEl>
                                          <p:spTgt spid="256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1027">
                                            <p:txEl>
                                              <p:pRg st="3" end="3"/>
                                            </p:txEl>
                                          </p:spTgt>
                                        </p:tgtEl>
                                        <p:attrNameLst>
                                          <p:attrName>style.visibility</p:attrName>
                                        </p:attrNameLst>
                                      </p:cBhvr>
                                      <p:to>
                                        <p:strVal val="visible"/>
                                      </p:to>
                                    </p:set>
                                    <p:animEffect transition="in" filter="blinds(horizontal)">
                                      <p:cBhvr>
                                        <p:cTn id="22" dur="500"/>
                                        <p:tgtEl>
                                          <p:spTgt spid="25610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1027">
                                            <p:txEl>
                                              <p:pRg st="4" end="4"/>
                                            </p:txEl>
                                          </p:spTgt>
                                        </p:tgtEl>
                                        <p:attrNameLst>
                                          <p:attrName>style.visibility</p:attrName>
                                        </p:attrNameLst>
                                      </p:cBhvr>
                                      <p:to>
                                        <p:strVal val="visible"/>
                                      </p:to>
                                    </p:set>
                                    <p:animEffect transition="in" filter="blinds(horizontal)">
                                      <p:cBhvr>
                                        <p:cTn id="27" dur="500"/>
                                        <p:tgtEl>
                                          <p:spTgt spid="25610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1027">
                                            <p:txEl>
                                              <p:pRg st="5" end="5"/>
                                            </p:txEl>
                                          </p:spTgt>
                                        </p:tgtEl>
                                        <p:attrNameLst>
                                          <p:attrName>style.visibility</p:attrName>
                                        </p:attrNameLst>
                                      </p:cBhvr>
                                      <p:to>
                                        <p:strVal val="visible"/>
                                      </p:to>
                                    </p:set>
                                    <p:animEffect transition="in" filter="blinds(horizontal)">
                                      <p:cBhvr>
                                        <p:cTn id="32" dur="500"/>
                                        <p:tgtEl>
                                          <p:spTgt spid="25610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27"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8875B67-932C-4808-940B-367045270D5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6572208-F810-4DD4-B874-27997086D15A}" type="slidenum">
              <a:rPr lang="en-US" altLang="zh-CN"/>
              <a:pPr/>
              <a:t>47</a:t>
            </a:fld>
            <a:endParaRPr lang="en-US" altLang="zh-CN"/>
          </a:p>
        </p:txBody>
      </p:sp>
      <p:sp>
        <p:nvSpPr>
          <p:cNvPr id="2563074" name="Rectangle 2"/>
          <p:cNvSpPr>
            <a:spLocks noGrp="1" noChangeArrowheads="1"/>
          </p:cNvSpPr>
          <p:nvPr>
            <p:ph type="body" idx="1"/>
          </p:nvPr>
        </p:nvSpPr>
        <p:spPr>
          <a:xfrm>
            <a:off x="468313" y="1412875"/>
            <a:ext cx="8197850" cy="3873500"/>
          </a:xfrm>
        </p:spPr>
        <p:txBody>
          <a:bodyPr/>
          <a:lstStyle/>
          <a:p>
            <a:pPr>
              <a:spcAft>
                <a:spcPts val="1200"/>
              </a:spcAft>
            </a:pPr>
            <a:r>
              <a:rPr lang="zh-CN" altLang="en-US" sz="3600" b="1" noProof="1">
                <a:latin typeface="Times New Roman" panose="02020603050405020304" pitchFamily="18" charset="0"/>
                <a:ea typeface="楷体_GB2312" pitchFamily="49" charset="-122"/>
              </a:rPr>
              <a:t>过程调用的</a:t>
            </a:r>
            <a:r>
              <a:rPr lang="zh-CN" altLang="zh-CN" sz="3600" b="1">
                <a:latin typeface="Times New Roman" panose="02020603050405020304" pitchFamily="18" charset="0"/>
                <a:ea typeface="楷体_GB2312" pitchFamily="49" charset="-122"/>
              </a:rPr>
              <a:t>三地址码</a:t>
            </a:r>
            <a:r>
              <a:rPr lang="zh-CN" altLang="en-US" sz="3600" b="1" noProof="1">
                <a:latin typeface="Times New Roman" panose="02020603050405020304" pitchFamily="18" charset="0"/>
                <a:ea typeface="楷体_GB2312" pitchFamily="49" charset="-122"/>
              </a:rPr>
              <a:t>:</a:t>
            </a:r>
          </a:p>
          <a:p>
            <a:pPr>
              <a:buFontTx/>
              <a:buNone/>
            </a:pPr>
            <a:r>
              <a:rPr lang="en-US" altLang="zh-CN" sz="2800" b="1" noProof="1">
                <a:latin typeface="Times New Roman" panose="02020603050405020304" pitchFamily="18" charset="0"/>
                <a:ea typeface="楷体_GB2312" pitchFamily="49" charset="-122"/>
              </a:rPr>
              <a:t>	par</a:t>
            </a:r>
            <a:r>
              <a:rPr lang="en-US" altLang="zh-CN" sz="2800" b="1">
                <a:latin typeface="Times New Roman" panose="02020603050405020304" pitchFamily="18" charset="0"/>
                <a:ea typeface="楷体_GB2312" pitchFamily="49" charset="-122"/>
              </a:rPr>
              <a:t>am</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x</a:t>
            </a:r>
            <a:r>
              <a:rPr lang="en-US" altLang="zh-CN" sz="2800" b="1" baseline="-25000" noProof="1">
                <a:latin typeface="Times New Roman" panose="02020603050405020304" pitchFamily="18" charset="0"/>
                <a:ea typeface="楷体_GB2312" pitchFamily="49" charset="-122"/>
              </a:rPr>
              <a:t>1</a:t>
            </a:r>
            <a:endParaRPr lang="en-US" altLang="zh-CN" sz="2800" b="1" noProof="1">
              <a:latin typeface="Times New Roman" panose="02020603050405020304" pitchFamily="18" charset="0"/>
              <a:ea typeface="楷体_GB2312" pitchFamily="49" charset="-122"/>
            </a:endParaRPr>
          </a:p>
          <a:p>
            <a:pPr>
              <a:buFontTx/>
              <a:buNone/>
            </a:pPr>
            <a:r>
              <a:rPr lang="en-US" altLang="zh-CN" sz="2800" b="1" noProof="1">
                <a:latin typeface="Times New Roman" panose="02020603050405020304" pitchFamily="18" charset="0"/>
                <a:ea typeface="楷体_GB2312" pitchFamily="49" charset="-122"/>
              </a:rPr>
              <a:t>	par</a:t>
            </a:r>
            <a:r>
              <a:rPr lang="en-US" altLang="zh-CN" sz="2800" b="1">
                <a:latin typeface="Times New Roman" panose="02020603050405020304" pitchFamily="18" charset="0"/>
                <a:ea typeface="楷体_GB2312" pitchFamily="49" charset="-122"/>
              </a:rPr>
              <a:t>am</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x</a:t>
            </a:r>
            <a:r>
              <a:rPr lang="en-US" altLang="zh-CN" sz="2800" b="1" baseline="-25000" noProof="1">
                <a:latin typeface="Times New Roman" panose="02020603050405020304" pitchFamily="18" charset="0"/>
                <a:ea typeface="楷体_GB2312" pitchFamily="49" charset="-122"/>
              </a:rPr>
              <a:t>2</a:t>
            </a:r>
            <a:endParaRPr lang="en-US" altLang="zh-CN" sz="2800" b="1" noProof="1">
              <a:latin typeface="Times New Roman" panose="02020603050405020304" pitchFamily="18" charset="0"/>
              <a:ea typeface="楷体_GB2312" pitchFamily="49" charset="-122"/>
            </a:endParaRPr>
          </a:p>
          <a:p>
            <a:pPr>
              <a:buFontTx/>
              <a:buNone/>
            </a:pPr>
            <a:r>
              <a:rPr lang="en-US" altLang="zh-CN" sz="2800" b="1" noProof="1">
                <a:latin typeface="Times New Roman" panose="02020603050405020304" pitchFamily="18" charset="0"/>
                <a:ea typeface="楷体_GB2312" pitchFamily="49" charset="-122"/>
              </a:rPr>
              <a:t> 	 …</a:t>
            </a:r>
          </a:p>
          <a:p>
            <a:pPr>
              <a:buFontTx/>
              <a:buNone/>
            </a:pPr>
            <a:r>
              <a:rPr lang="en-US" altLang="zh-CN" sz="2800" b="1" noProof="1">
                <a:latin typeface="Times New Roman" panose="02020603050405020304" pitchFamily="18" charset="0"/>
                <a:ea typeface="楷体_GB2312" pitchFamily="49" charset="-122"/>
              </a:rPr>
              <a:t>	par</a:t>
            </a:r>
            <a:r>
              <a:rPr lang="en-US" altLang="zh-CN" sz="2800" b="1">
                <a:latin typeface="Times New Roman" panose="02020603050405020304" pitchFamily="18" charset="0"/>
                <a:ea typeface="楷体_GB2312" pitchFamily="49" charset="-122"/>
              </a:rPr>
              <a:t>am</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x</a:t>
            </a:r>
            <a:r>
              <a:rPr lang="en-US" altLang="zh-CN" sz="2800" b="1" baseline="-25000" noProof="1">
                <a:latin typeface="Times New Roman" panose="02020603050405020304" pitchFamily="18" charset="0"/>
                <a:ea typeface="楷体_GB2312" pitchFamily="49" charset="-122"/>
              </a:rPr>
              <a:t>n</a:t>
            </a:r>
            <a:endParaRPr lang="en-US" altLang="zh-CN" sz="2800" b="1" noProof="1">
              <a:latin typeface="Times New Roman" panose="02020603050405020304" pitchFamily="18" charset="0"/>
              <a:ea typeface="楷体_GB2312" pitchFamily="49" charset="-122"/>
            </a:endParaRPr>
          </a:p>
          <a:p>
            <a:pPr>
              <a:buFontTx/>
              <a:buNone/>
            </a:pPr>
            <a:r>
              <a:rPr lang="en-US" altLang="zh-CN" sz="2800" b="1" noProof="1">
                <a:latin typeface="Times New Roman" panose="02020603050405020304" pitchFamily="18" charset="0"/>
                <a:ea typeface="楷体_GB2312" pitchFamily="49" charset="-122"/>
              </a:rPr>
              <a:t>	call  </a:t>
            </a:r>
            <a:r>
              <a:rPr lang="en-US" altLang="zh-CN" sz="2800" b="1">
                <a:latin typeface="Times New Roman" panose="02020603050405020304" pitchFamily="18" charset="0"/>
                <a:ea typeface="楷体_GB2312" pitchFamily="49" charset="-122"/>
              </a:rPr>
              <a:t>p</a:t>
            </a:r>
            <a:r>
              <a:rPr lang="en-US" altLang="zh-CN" sz="2800" b="1" noProof="1">
                <a:latin typeface="Times New Roman" panose="02020603050405020304" pitchFamily="18" charset="0"/>
                <a:ea typeface="楷体_GB2312" pitchFamily="49" charset="-122"/>
              </a:rPr>
              <a:t>，n</a:t>
            </a:r>
          </a:p>
        </p:txBody>
      </p:sp>
      <p:sp>
        <p:nvSpPr>
          <p:cNvPr id="2563075" name="Rectangle 3"/>
          <p:cNvSpPr>
            <a:spLocks noGrp="1" noChangeArrowheads="1"/>
          </p:cNvSpPr>
          <p:nvPr>
            <p:ph type="title"/>
          </p:nvPr>
        </p:nvSpPr>
        <p:spPr>
          <a:xfrm>
            <a:off x="468313" y="312738"/>
            <a:ext cx="8324850" cy="1028700"/>
          </a:xfrm>
          <a:noFill/>
          <a:ln/>
        </p:spPr>
        <p:txBody>
          <a:bodyPr lIns="92075" tIns="46038" rIns="92075" bIns="46038"/>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9.4.2 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语言的过程调用和返回</a:t>
            </a:r>
            <a:r>
              <a:rPr lang="zh-CN" altLang="en-US" b="1">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Tree>
    <p:extLst>
      <p:ext uri="{BB962C8B-B14F-4D97-AF65-F5344CB8AC3E}">
        <p14:creationId xmlns:p14="http://schemas.microsoft.com/office/powerpoint/2010/main" val="2850651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3074">
                                            <p:txEl>
                                              <p:pRg st="0" end="0"/>
                                            </p:txEl>
                                          </p:spTgt>
                                        </p:tgtEl>
                                        <p:attrNameLst>
                                          <p:attrName>style.visibility</p:attrName>
                                        </p:attrNameLst>
                                      </p:cBhvr>
                                      <p:to>
                                        <p:strVal val="visible"/>
                                      </p:to>
                                    </p:set>
                                    <p:animEffect transition="in" filter="wipe(left)">
                                      <p:cBhvr>
                                        <p:cTn id="7" dur="500"/>
                                        <p:tgtEl>
                                          <p:spTgt spid="25630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3074">
                                            <p:txEl>
                                              <p:pRg st="1" end="1"/>
                                            </p:txEl>
                                          </p:spTgt>
                                        </p:tgtEl>
                                        <p:attrNameLst>
                                          <p:attrName>style.visibility</p:attrName>
                                        </p:attrNameLst>
                                      </p:cBhvr>
                                      <p:to>
                                        <p:strVal val="visible"/>
                                      </p:to>
                                    </p:set>
                                    <p:animEffect transition="in" filter="wipe(left)">
                                      <p:cBhvr>
                                        <p:cTn id="12" dur="500"/>
                                        <p:tgtEl>
                                          <p:spTgt spid="256307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3074">
                                            <p:txEl>
                                              <p:pRg st="2" end="2"/>
                                            </p:txEl>
                                          </p:spTgt>
                                        </p:tgtEl>
                                        <p:attrNameLst>
                                          <p:attrName>style.visibility</p:attrName>
                                        </p:attrNameLst>
                                      </p:cBhvr>
                                      <p:to>
                                        <p:strVal val="visible"/>
                                      </p:to>
                                    </p:set>
                                    <p:animEffect transition="in" filter="wipe(left)">
                                      <p:cBhvr>
                                        <p:cTn id="17" dur="500"/>
                                        <p:tgtEl>
                                          <p:spTgt spid="256307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3074">
                                            <p:txEl>
                                              <p:pRg st="3" end="3"/>
                                            </p:txEl>
                                          </p:spTgt>
                                        </p:tgtEl>
                                        <p:attrNameLst>
                                          <p:attrName>style.visibility</p:attrName>
                                        </p:attrNameLst>
                                      </p:cBhvr>
                                      <p:to>
                                        <p:strVal val="visible"/>
                                      </p:to>
                                    </p:set>
                                    <p:animEffect transition="in" filter="wipe(left)">
                                      <p:cBhvr>
                                        <p:cTn id="22" dur="500"/>
                                        <p:tgtEl>
                                          <p:spTgt spid="256307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3074">
                                            <p:txEl>
                                              <p:pRg st="4" end="4"/>
                                            </p:txEl>
                                          </p:spTgt>
                                        </p:tgtEl>
                                        <p:attrNameLst>
                                          <p:attrName>style.visibility</p:attrName>
                                        </p:attrNameLst>
                                      </p:cBhvr>
                                      <p:to>
                                        <p:strVal val="visible"/>
                                      </p:to>
                                    </p:set>
                                    <p:animEffect transition="in" filter="wipe(left)">
                                      <p:cBhvr>
                                        <p:cTn id="27" dur="500"/>
                                        <p:tgtEl>
                                          <p:spTgt spid="256307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63074">
                                            <p:txEl>
                                              <p:pRg st="5" end="5"/>
                                            </p:txEl>
                                          </p:spTgt>
                                        </p:tgtEl>
                                        <p:attrNameLst>
                                          <p:attrName>style.visibility</p:attrName>
                                        </p:attrNameLst>
                                      </p:cBhvr>
                                      <p:to>
                                        <p:strVal val="visible"/>
                                      </p:to>
                                    </p:set>
                                    <p:animEffect transition="in" filter="wipe(left)">
                                      <p:cBhvr>
                                        <p:cTn id="32" dur="500"/>
                                        <p:tgtEl>
                                          <p:spTgt spid="256307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3074"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日期占位符 3"/>
          <p:cNvSpPr>
            <a:spLocks noGrp="1"/>
          </p:cNvSpPr>
          <p:nvPr>
            <p:ph type="dt" sz="half" idx="10"/>
          </p:nvPr>
        </p:nvSpPr>
        <p:spPr/>
        <p:txBody>
          <a:bodyPr/>
          <a:lstStyle/>
          <a:p>
            <a:fld id="{6E63079C-0B23-4691-9B16-884609565437}" type="datetime1">
              <a:rPr lang="zh-CN" altLang="en-US"/>
              <a:pPr/>
              <a:t>2017/2/24</a:t>
            </a:fld>
            <a:endParaRPr lang="en-US" altLang="zh-CN"/>
          </a:p>
        </p:txBody>
      </p:sp>
      <p:sp>
        <p:nvSpPr>
          <p:cNvPr id="19" name="灯片编号占位符 5"/>
          <p:cNvSpPr>
            <a:spLocks noGrp="1"/>
          </p:cNvSpPr>
          <p:nvPr>
            <p:ph type="sldNum" sz="quarter" idx="12"/>
          </p:nvPr>
        </p:nvSpPr>
        <p:spPr/>
        <p:txBody>
          <a:bodyPr/>
          <a:lstStyle/>
          <a:p>
            <a:fld id="{93658198-6447-4B69-AF8F-804BEE2B92F8}" type="slidenum">
              <a:rPr lang="en-US" altLang="zh-CN"/>
              <a:pPr/>
              <a:t>48</a:t>
            </a:fld>
            <a:endParaRPr lang="en-US" altLang="zh-CN"/>
          </a:p>
        </p:txBody>
      </p:sp>
      <p:sp>
        <p:nvSpPr>
          <p:cNvPr id="2564098" name="Rectangle 2"/>
          <p:cNvSpPr>
            <a:spLocks noGrp="1" noChangeArrowheads="1"/>
          </p:cNvSpPr>
          <p:nvPr>
            <p:ph type="body" idx="1"/>
          </p:nvPr>
        </p:nvSpPr>
        <p:spPr>
          <a:xfrm>
            <a:off x="250825" y="981075"/>
            <a:ext cx="8353425" cy="3743325"/>
          </a:xfrm>
          <a:noFill/>
        </p:spPr>
        <p:txBody>
          <a:bodyPr/>
          <a:lstStyle/>
          <a:p>
            <a:pPr>
              <a:lnSpc>
                <a:spcPct val="90000"/>
              </a:lnSpc>
              <a:buFontTx/>
              <a:buNone/>
            </a:pPr>
            <a:r>
              <a:rPr lang="zh-CN" altLang="en-US" sz="2800" b="1" noProof="1">
                <a:latin typeface="Times New Roman" panose="02020603050405020304" pitchFamily="18" charset="0"/>
                <a:ea typeface="楷体_GB2312" pitchFamily="49" charset="-122"/>
              </a:rPr>
              <a:t>1) 每个</a:t>
            </a:r>
            <a:r>
              <a:rPr lang="en-US" altLang="zh-CN" sz="2800" b="1" noProof="1">
                <a:latin typeface="Times New Roman" panose="02020603050405020304" pitchFamily="18" charset="0"/>
                <a:ea typeface="楷体_GB2312" pitchFamily="49" charset="-122"/>
              </a:rPr>
              <a:t>par</a:t>
            </a:r>
            <a:r>
              <a:rPr lang="en-US" altLang="zh-CN" sz="2800" b="1">
                <a:latin typeface="Times New Roman" panose="02020603050405020304" pitchFamily="18" charset="0"/>
                <a:ea typeface="楷体_GB2312" pitchFamily="49" charset="-122"/>
              </a:rPr>
              <a:t>am</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x</a:t>
            </a:r>
            <a:r>
              <a:rPr lang="en-US" altLang="zh-CN" sz="2800" b="1" baseline="-25000" noProof="1">
                <a:latin typeface="Times New Roman" panose="02020603050405020304" pitchFamily="18" charset="0"/>
                <a:ea typeface="楷体_GB2312" pitchFamily="49" charset="-122"/>
              </a:rPr>
              <a:t>i</a:t>
            </a:r>
            <a:r>
              <a:rPr lang="en-US" altLang="zh-CN" sz="2800" b="1" noProof="1">
                <a:latin typeface="Times New Roman" panose="02020603050405020304" pitchFamily="18" charset="0"/>
                <a:ea typeface="楷体_GB2312" pitchFamily="49" charset="-122"/>
              </a:rPr>
              <a:t>(i=1,2,…n)</a:t>
            </a:r>
            <a:r>
              <a:rPr lang="zh-CN" altLang="en-US" sz="2800" b="1" noProof="1">
                <a:latin typeface="Times New Roman" panose="02020603050405020304" pitchFamily="18" charset="0"/>
                <a:ea typeface="楷体_GB2312" pitchFamily="49" charset="-122"/>
              </a:rPr>
              <a:t>可直接翻译成如下指令:</a:t>
            </a:r>
          </a:p>
          <a:p>
            <a:pPr>
              <a:lnSpc>
                <a:spcPct val="90000"/>
              </a:lnSpc>
              <a:spcBef>
                <a:spcPct val="0"/>
              </a:spcBef>
              <a:buFontTx/>
              <a:buNone/>
            </a:pPr>
            <a:r>
              <a:rPr lang="zh-CN" altLang="en-US" sz="2800" b="1" noProof="1">
                <a:latin typeface="Times New Roman" panose="02020603050405020304" pitchFamily="18" charset="0"/>
                <a:ea typeface="楷体_GB2312" pitchFamily="49" charset="-122"/>
              </a:rPr>
              <a:t>	(</a:t>
            </a:r>
            <a:r>
              <a:rPr lang="en-US" altLang="zh-CN" sz="2800" b="1" noProof="1">
                <a:latin typeface="Times New Roman" panose="02020603050405020304" pitchFamily="18" charset="0"/>
                <a:ea typeface="楷体_GB2312" pitchFamily="49" charset="-122"/>
              </a:rPr>
              <a:t>i+3)[</a:t>
            </a:r>
            <a:r>
              <a:rPr lang="en-US" altLang="zh-CN" sz="2800" b="1">
                <a:latin typeface="Times New Roman" panose="02020603050405020304" pitchFamily="18" charset="0"/>
                <a:ea typeface="楷体_GB2312" pitchFamily="49" charset="-122"/>
              </a:rPr>
              <a:t>top</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x</a:t>
            </a:r>
            <a:r>
              <a:rPr lang="en-US" altLang="zh-CN" sz="2800" b="1" baseline="-25000" noProof="1">
                <a:latin typeface="Times New Roman" panose="02020603050405020304" pitchFamily="18" charset="0"/>
                <a:ea typeface="楷体_GB2312" pitchFamily="49" charset="-122"/>
              </a:rPr>
              <a:t>i</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          </a:t>
            </a:r>
            <a:r>
              <a:rPr lang="en-US" altLang="zh-CN" sz="2800" b="1" noProof="1">
                <a:latin typeface="Times New Roman" panose="02020603050405020304" pitchFamily="18" charset="0"/>
                <a:ea typeface="楷体_GB2312" pitchFamily="49" charset="-122"/>
              </a:rPr>
              <a:t>(</a:t>
            </a:r>
            <a:r>
              <a:rPr lang="zh-CN" altLang="en-US" sz="2800" b="1" noProof="1">
                <a:latin typeface="Times New Roman" panose="02020603050405020304" pitchFamily="18" charset="0"/>
                <a:ea typeface="楷体_GB2312" pitchFamily="49" charset="-122"/>
              </a:rPr>
              <a:t>传值)</a:t>
            </a:r>
          </a:p>
          <a:p>
            <a:pPr>
              <a:lnSpc>
                <a:spcPct val="90000"/>
              </a:lnSpc>
              <a:spcBef>
                <a:spcPct val="0"/>
              </a:spcBef>
              <a:buFontTx/>
              <a:buNone/>
            </a:pPr>
            <a:r>
              <a:rPr lang="zh-CN" altLang="en-US" sz="2800" b="1" noProof="1">
                <a:latin typeface="Times New Roman" panose="02020603050405020304" pitchFamily="18" charset="0"/>
                <a:ea typeface="楷体_GB2312" pitchFamily="49" charset="-122"/>
              </a:rPr>
              <a:t>	(</a:t>
            </a:r>
            <a:r>
              <a:rPr lang="en-US" altLang="zh-CN" sz="2800" b="1" noProof="1">
                <a:latin typeface="Times New Roman" panose="02020603050405020304" pitchFamily="18" charset="0"/>
                <a:ea typeface="楷体_GB2312" pitchFamily="49" charset="-122"/>
              </a:rPr>
              <a:t>i+3)[</a:t>
            </a:r>
            <a:r>
              <a:rPr lang="en-US" altLang="zh-CN" sz="2800" b="1">
                <a:latin typeface="Times New Roman" panose="02020603050405020304" pitchFamily="18" charset="0"/>
                <a:ea typeface="楷体_GB2312" pitchFamily="49" charset="-122"/>
              </a:rPr>
              <a:t>top</a:t>
            </a:r>
            <a:r>
              <a:rPr lang="en-US" altLang="zh-CN" sz="2800" b="1" noProof="1">
                <a:latin typeface="Times New Roman" panose="02020603050405020304" pitchFamily="18" charset="0"/>
                <a:ea typeface="楷体_GB2312" pitchFamily="49" charset="-122"/>
              </a:rPr>
              <a:t>]:=addr(</a:t>
            </a:r>
            <a:r>
              <a:rPr lang="en-US" altLang="zh-CN" sz="2800" b="1">
                <a:latin typeface="Times New Roman" panose="02020603050405020304" pitchFamily="18" charset="0"/>
                <a:ea typeface="楷体_GB2312" pitchFamily="49" charset="-122"/>
              </a:rPr>
              <a:t>x</a:t>
            </a:r>
            <a:r>
              <a:rPr lang="en-US" altLang="zh-CN" sz="2800" b="1" baseline="-25000" noProof="1">
                <a:latin typeface="Times New Roman" panose="02020603050405020304" pitchFamily="18" charset="0"/>
                <a:ea typeface="楷体_GB2312" pitchFamily="49" charset="-122"/>
              </a:rPr>
              <a:t>i</a:t>
            </a:r>
            <a:r>
              <a:rPr lang="en-US" altLang="zh-CN" sz="2800" b="1" noProof="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  </a:t>
            </a:r>
            <a:r>
              <a:rPr lang="en-US" altLang="zh-CN" sz="2800" b="1" noProof="1">
                <a:latin typeface="Times New Roman" panose="02020603050405020304" pitchFamily="18" charset="0"/>
                <a:ea typeface="楷体_GB2312" pitchFamily="49" charset="-122"/>
              </a:rPr>
              <a:t>(</a:t>
            </a:r>
            <a:r>
              <a:rPr lang="zh-CN" altLang="en-US" sz="2800" b="1" noProof="1">
                <a:latin typeface="Times New Roman" panose="02020603050405020304" pitchFamily="18" charset="0"/>
                <a:ea typeface="楷体_GB2312" pitchFamily="49" charset="-122"/>
              </a:rPr>
              <a:t>传地址)</a:t>
            </a:r>
          </a:p>
          <a:p>
            <a:pPr>
              <a:lnSpc>
                <a:spcPct val="90000"/>
              </a:lnSpc>
              <a:buFontTx/>
              <a:buNone/>
            </a:pPr>
            <a:endParaRPr lang="zh-CN" altLang="en-US" sz="2800" b="1" noProof="1">
              <a:latin typeface="Times New Roman" panose="02020603050405020304" pitchFamily="18" charset="0"/>
              <a:ea typeface="楷体_GB2312" pitchFamily="49" charset="-122"/>
            </a:endParaRPr>
          </a:p>
          <a:p>
            <a:pPr>
              <a:lnSpc>
                <a:spcPct val="90000"/>
              </a:lnSpc>
              <a:buFontTx/>
              <a:buNone/>
            </a:pPr>
            <a:r>
              <a:rPr lang="zh-CN" altLang="en-US" sz="2800" b="1" noProof="1">
                <a:latin typeface="Times New Roman" panose="02020603050405020304" pitchFamily="18" charset="0"/>
                <a:ea typeface="楷体_GB2312" pitchFamily="49" charset="-122"/>
              </a:rPr>
              <a:t>2) </a:t>
            </a:r>
            <a:r>
              <a:rPr lang="en-US" altLang="zh-CN" sz="2800" b="1" noProof="1">
                <a:latin typeface="Times New Roman" panose="02020603050405020304" pitchFamily="18" charset="0"/>
                <a:ea typeface="楷体_GB2312" pitchFamily="49" charset="-122"/>
              </a:rPr>
              <a:t>call </a:t>
            </a:r>
            <a:r>
              <a:rPr lang="en-US" altLang="zh-CN" sz="2800" b="1">
                <a:latin typeface="Times New Roman" panose="02020603050405020304" pitchFamily="18" charset="0"/>
                <a:ea typeface="楷体_GB2312" pitchFamily="49" charset="-122"/>
              </a:rPr>
              <a:t>p</a:t>
            </a:r>
            <a:r>
              <a:rPr lang="en-US" altLang="zh-CN" sz="2800" b="1" noProof="1">
                <a:latin typeface="Times New Roman" panose="02020603050405020304" pitchFamily="18" charset="0"/>
                <a:ea typeface="楷体_GB2312" pitchFamily="49" charset="-122"/>
              </a:rPr>
              <a:t>，n </a:t>
            </a:r>
            <a:r>
              <a:rPr lang="zh-CN" altLang="en-US" sz="2800" b="1" noProof="1">
                <a:latin typeface="Times New Roman" panose="02020603050405020304" pitchFamily="18" charset="0"/>
                <a:ea typeface="楷体_GB2312" pitchFamily="49" charset="-122"/>
              </a:rPr>
              <a:t>被翻译成</a:t>
            </a:r>
            <a:r>
              <a:rPr lang="zh-CN" altLang="zh-CN" sz="2800" b="1">
                <a:latin typeface="Times New Roman" panose="02020603050405020304" pitchFamily="18" charset="0"/>
                <a:ea typeface="楷体_GB2312" pitchFamily="49" charset="-122"/>
              </a:rPr>
              <a:t>如下指令</a:t>
            </a:r>
            <a:r>
              <a:rPr lang="zh-CN" altLang="en-US" sz="2800" b="1" noProof="1">
                <a:latin typeface="Times New Roman" panose="02020603050405020304" pitchFamily="18" charset="0"/>
                <a:ea typeface="楷体_GB2312" pitchFamily="49" charset="-122"/>
              </a:rPr>
              <a:t>:</a:t>
            </a:r>
          </a:p>
          <a:p>
            <a:pPr>
              <a:lnSpc>
                <a:spcPct val="90000"/>
              </a:lnSpc>
              <a:buFontTx/>
              <a:buNone/>
            </a:pPr>
            <a:r>
              <a:rPr lang="zh-CN" altLang="en-US" sz="2800" b="1" noProof="1">
                <a:latin typeface="Times New Roman" panose="02020603050405020304" pitchFamily="18" charset="0"/>
                <a:ea typeface="楷体_GB2312" pitchFamily="49" charset="-122"/>
              </a:rPr>
              <a:t>1[</a:t>
            </a:r>
            <a:r>
              <a:rPr lang="en-US" altLang="zh-CN" sz="2800" b="1">
                <a:latin typeface="Times New Roman" panose="02020603050405020304" pitchFamily="18" charset="0"/>
                <a:ea typeface="楷体_GB2312" pitchFamily="49" charset="-122"/>
              </a:rPr>
              <a:t>top</a:t>
            </a:r>
            <a:r>
              <a:rPr lang="en-US" altLang="zh-CN" sz="2800" b="1" noProof="1">
                <a:latin typeface="Times New Roman" panose="02020603050405020304" pitchFamily="18" charset="0"/>
                <a:ea typeface="楷体_GB2312" pitchFamily="49" charset="-122"/>
              </a:rPr>
              <a:t>]:=</a:t>
            </a:r>
            <a:r>
              <a:rPr lang="en-US" altLang="zh-CN" sz="2800" b="1">
                <a:latin typeface="Times New Roman" panose="02020603050405020304" pitchFamily="18" charset="0"/>
                <a:ea typeface="楷体_GB2312" pitchFamily="49" charset="-122"/>
              </a:rPr>
              <a:t>sp</a:t>
            </a:r>
            <a:r>
              <a:rPr lang="en-US" altLang="zh-CN" sz="2800" b="1" noProof="1">
                <a:latin typeface="Times New Roman" panose="02020603050405020304" pitchFamily="18" charset="0"/>
                <a:ea typeface="楷体_GB2312" pitchFamily="49" charset="-122"/>
              </a:rPr>
              <a:t>  (</a:t>
            </a:r>
            <a:r>
              <a:rPr lang="zh-CN" altLang="en-US" sz="2800" b="1" noProof="1">
                <a:latin typeface="Times New Roman" panose="02020603050405020304" pitchFamily="18" charset="0"/>
                <a:ea typeface="楷体_GB2312" pitchFamily="49" charset="-122"/>
              </a:rPr>
              <a:t>保护现行</a:t>
            </a:r>
            <a:r>
              <a:rPr lang="en-US" altLang="zh-CN" sz="2800" b="1">
                <a:latin typeface="Times New Roman" panose="02020603050405020304" pitchFamily="18" charset="0"/>
                <a:ea typeface="楷体_GB2312" pitchFamily="49" charset="-122"/>
              </a:rPr>
              <a:t>sp</a:t>
            </a:r>
            <a:r>
              <a:rPr lang="en-US" altLang="zh-CN" sz="2800" b="1" noProof="1">
                <a:latin typeface="Times New Roman" panose="02020603050405020304" pitchFamily="18" charset="0"/>
                <a:ea typeface="楷体_GB2312" pitchFamily="49" charset="-122"/>
              </a:rPr>
              <a:t>)</a:t>
            </a:r>
          </a:p>
          <a:p>
            <a:pPr>
              <a:lnSpc>
                <a:spcPct val="90000"/>
              </a:lnSpc>
              <a:buFontTx/>
              <a:buNone/>
            </a:pPr>
            <a:r>
              <a:rPr lang="en-US" altLang="zh-CN" sz="2800" b="1" noProof="1">
                <a:latin typeface="Times New Roman" panose="02020603050405020304" pitchFamily="18" charset="0"/>
                <a:ea typeface="楷体_GB2312" pitchFamily="49" charset="-122"/>
              </a:rPr>
              <a:t>3[</a:t>
            </a:r>
            <a:r>
              <a:rPr lang="en-US" altLang="zh-CN" sz="2800" b="1">
                <a:latin typeface="Times New Roman" panose="02020603050405020304" pitchFamily="18" charset="0"/>
                <a:ea typeface="楷体_GB2312" pitchFamily="49" charset="-122"/>
              </a:rPr>
              <a:t>top</a:t>
            </a:r>
            <a:r>
              <a:rPr lang="en-US" altLang="zh-CN" sz="2800" b="1" noProof="1">
                <a:latin typeface="Times New Roman" panose="02020603050405020304" pitchFamily="18" charset="0"/>
                <a:ea typeface="楷体_GB2312" pitchFamily="49" charset="-122"/>
              </a:rPr>
              <a:t>]:=n   (</a:t>
            </a:r>
            <a:r>
              <a:rPr lang="zh-CN" altLang="en-US" sz="2800" b="1" noProof="1">
                <a:latin typeface="Times New Roman" panose="02020603050405020304" pitchFamily="18" charset="0"/>
                <a:ea typeface="楷体_GB2312" pitchFamily="49" charset="-122"/>
              </a:rPr>
              <a:t>传递参数个数)</a:t>
            </a:r>
          </a:p>
          <a:p>
            <a:pPr>
              <a:lnSpc>
                <a:spcPct val="90000"/>
              </a:lnSpc>
              <a:buFontTx/>
              <a:buNone/>
            </a:pPr>
            <a:r>
              <a:rPr lang="en-US" altLang="zh-CN" sz="2800" b="1" noProof="1">
                <a:latin typeface="Times New Roman" panose="02020603050405020304" pitchFamily="18" charset="0"/>
                <a:ea typeface="楷体_GB2312" pitchFamily="49" charset="-122"/>
              </a:rPr>
              <a:t>JSR </a:t>
            </a:r>
            <a:r>
              <a:rPr lang="en-US" altLang="zh-CN" sz="2800" b="1">
                <a:latin typeface="Times New Roman" panose="02020603050405020304" pitchFamily="18" charset="0"/>
                <a:ea typeface="楷体_GB2312" pitchFamily="49" charset="-122"/>
              </a:rPr>
              <a:t>p</a:t>
            </a:r>
            <a:r>
              <a:rPr lang="en-US" altLang="zh-CN" sz="2800" b="1" noProof="1">
                <a:latin typeface="Times New Roman" panose="02020603050405020304" pitchFamily="18" charset="0"/>
                <a:ea typeface="楷体_GB2312" pitchFamily="49" charset="-122"/>
              </a:rPr>
              <a:t>       (</a:t>
            </a:r>
            <a:r>
              <a:rPr lang="zh-CN" altLang="en-US" sz="2800" b="1" noProof="1">
                <a:latin typeface="Times New Roman" panose="02020603050405020304" pitchFamily="18" charset="0"/>
                <a:ea typeface="楷体_GB2312" pitchFamily="49" charset="-122"/>
              </a:rPr>
              <a:t>转子指令)</a:t>
            </a:r>
          </a:p>
        </p:txBody>
      </p:sp>
      <p:sp>
        <p:nvSpPr>
          <p:cNvPr id="2564099" name="Rectangle 3"/>
          <p:cNvSpPr>
            <a:spLocks noChangeArrowheads="1"/>
          </p:cNvSpPr>
          <p:nvPr/>
        </p:nvSpPr>
        <p:spPr bwMode="auto">
          <a:xfrm>
            <a:off x="6804025" y="1989138"/>
            <a:ext cx="2232025" cy="38100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100" name="Rectangle 4"/>
          <p:cNvSpPr>
            <a:spLocks noChangeArrowheads="1"/>
          </p:cNvSpPr>
          <p:nvPr/>
        </p:nvSpPr>
        <p:spPr bwMode="auto">
          <a:xfrm>
            <a:off x="6804025" y="4181475"/>
            <a:ext cx="2232025"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564101" name="Rectangle 5"/>
          <p:cNvSpPr>
            <a:spLocks noChangeArrowheads="1"/>
          </p:cNvSpPr>
          <p:nvPr/>
        </p:nvSpPr>
        <p:spPr bwMode="auto">
          <a:xfrm>
            <a:off x="6804025" y="4724400"/>
            <a:ext cx="2232025"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64102" name="Rectangle 6"/>
          <p:cNvSpPr>
            <a:spLocks noChangeArrowheads="1"/>
          </p:cNvSpPr>
          <p:nvPr/>
        </p:nvSpPr>
        <p:spPr bwMode="auto">
          <a:xfrm>
            <a:off x="6804025" y="2533650"/>
            <a:ext cx="2232025"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564103" name="Rectangle 7"/>
          <p:cNvSpPr>
            <a:spLocks noChangeArrowheads="1"/>
          </p:cNvSpPr>
          <p:nvPr/>
        </p:nvSpPr>
        <p:spPr bwMode="auto">
          <a:xfrm>
            <a:off x="6804025" y="3078163"/>
            <a:ext cx="2232025"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564104" name="Rectangle 8"/>
          <p:cNvSpPr>
            <a:spLocks noChangeArrowheads="1"/>
          </p:cNvSpPr>
          <p:nvPr/>
        </p:nvSpPr>
        <p:spPr bwMode="auto">
          <a:xfrm>
            <a:off x="6804025" y="5254625"/>
            <a:ext cx="2232025"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老</a:t>
            </a:r>
            <a:r>
              <a:rPr kumimoji="1" lang="en-US" altLang="zh-CN" sz="2800" b="1">
                <a:ea typeface="楷体_GB2312" pitchFamily="49" charset="-122"/>
              </a:rPr>
              <a:t>sp</a:t>
            </a:r>
          </a:p>
        </p:txBody>
      </p:sp>
      <p:sp>
        <p:nvSpPr>
          <p:cNvPr id="2564105" name="Rectangle 9"/>
          <p:cNvSpPr>
            <a:spLocks noChangeArrowheads="1"/>
          </p:cNvSpPr>
          <p:nvPr/>
        </p:nvSpPr>
        <p:spPr bwMode="auto">
          <a:xfrm>
            <a:off x="6804025" y="1989138"/>
            <a:ext cx="2232025"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564106" name="Rectangle 10"/>
          <p:cNvSpPr>
            <a:spLocks noGrp="1" noChangeArrowheads="1"/>
          </p:cNvSpPr>
          <p:nvPr>
            <p:ph type="title"/>
          </p:nvPr>
        </p:nvSpPr>
        <p:spPr>
          <a:xfrm>
            <a:off x="973138" y="115888"/>
            <a:ext cx="7486650" cy="863600"/>
          </a:xfrm>
          <a:noFill/>
          <a:ln/>
        </p:spPr>
        <p:txBody>
          <a:bodyPr lIns="92075" tIns="46038" rIns="92075" bIns="46038"/>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对于</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par</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call</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产生的目标代码</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564107" name="Rectangle 11"/>
          <p:cNvSpPr>
            <a:spLocks noChangeArrowheads="1"/>
          </p:cNvSpPr>
          <p:nvPr/>
        </p:nvSpPr>
        <p:spPr bwMode="auto">
          <a:xfrm>
            <a:off x="6011863" y="5732463"/>
            <a:ext cx="7334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ea typeface="楷体_GB2312" pitchFamily="49" charset="-122"/>
              </a:rPr>
              <a:t>top</a:t>
            </a:r>
            <a:r>
              <a:rPr kumimoji="1" lang="en-US" altLang="zh-CN" sz="2000" b="1">
                <a:ea typeface="楷体_GB2312" pitchFamily="49" charset="-122"/>
                <a:sym typeface="Symbol" panose="05050102010706020507" pitchFamily="18" charset="2"/>
              </a:rPr>
              <a:t></a:t>
            </a:r>
          </a:p>
          <a:p>
            <a:pPr algn="ctr"/>
            <a:r>
              <a:rPr kumimoji="1" lang="en-US" altLang="zh-CN" sz="2800" b="1">
                <a:ea typeface="楷体_GB2312" pitchFamily="49" charset="-122"/>
                <a:sym typeface="Symbol" panose="05050102010706020507" pitchFamily="18" charset="2"/>
              </a:rPr>
              <a:t> </a:t>
            </a:r>
          </a:p>
          <a:p>
            <a:pPr algn="ctr"/>
            <a:r>
              <a:rPr kumimoji="1" lang="en-US" altLang="zh-CN" sz="2000" b="1">
                <a:ea typeface="楷体_GB2312" pitchFamily="49" charset="-122"/>
              </a:rPr>
              <a:t>sp </a:t>
            </a:r>
            <a:r>
              <a:rPr kumimoji="1" lang="en-US" altLang="zh-CN" sz="2000" b="1">
                <a:ea typeface="楷体_GB2312" pitchFamily="49" charset="-122"/>
                <a:sym typeface="Symbol" panose="05050102010706020507" pitchFamily="18" charset="2"/>
              </a:rPr>
              <a:t></a:t>
            </a:r>
          </a:p>
        </p:txBody>
      </p:sp>
      <p:sp>
        <p:nvSpPr>
          <p:cNvPr id="2564108" name="Rectangle 12"/>
          <p:cNvSpPr>
            <a:spLocks noChangeArrowheads="1"/>
          </p:cNvSpPr>
          <p:nvPr/>
        </p:nvSpPr>
        <p:spPr bwMode="auto">
          <a:xfrm>
            <a:off x="6797675" y="5780088"/>
            <a:ext cx="2232025" cy="933450"/>
          </a:xfrm>
          <a:prstGeom prst="rect">
            <a:avLst/>
          </a:prstGeom>
          <a:solidFill>
            <a:schemeClr val="accent1"/>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800" b="1">
                <a:ea typeface="楷体_GB2312" pitchFamily="49" charset="-122"/>
              </a:rPr>
              <a:t>调用过程的活动记录</a:t>
            </a:r>
            <a:endParaRPr kumimoji="1" lang="en-GB" altLang="zh-CN" sz="1800" b="1">
              <a:ea typeface="楷体_GB2312" pitchFamily="49" charset="-122"/>
            </a:endParaRPr>
          </a:p>
        </p:txBody>
      </p:sp>
      <p:sp>
        <p:nvSpPr>
          <p:cNvPr id="2564109" name="Rectangle 13"/>
          <p:cNvSpPr>
            <a:spLocks noChangeArrowheads="1"/>
          </p:cNvSpPr>
          <p:nvPr/>
        </p:nvSpPr>
        <p:spPr bwMode="auto">
          <a:xfrm>
            <a:off x="6919913" y="5210175"/>
            <a:ext cx="19970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FF0000"/>
                </a:solidFill>
                <a:ea typeface="楷体_GB2312" pitchFamily="49" charset="-122"/>
              </a:rPr>
              <a:t>老</a:t>
            </a:r>
            <a:r>
              <a:rPr kumimoji="1" lang="en-US" altLang="zh-CN" sz="2800" b="1">
                <a:solidFill>
                  <a:srgbClr val="FF0000"/>
                </a:solidFill>
                <a:ea typeface="楷体_GB2312" pitchFamily="49" charset="-122"/>
              </a:rPr>
              <a:t>sp</a:t>
            </a:r>
          </a:p>
        </p:txBody>
      </p:sp>
      <p:sp>
        <p:nvSpPr>
          <p:cNvPr id="2564110" name="Rectangle 14"/>
          <p:cNvSpPr>
            <a:spLocks noChangeArrowheads="1"/>
          </p:cNvSpPr>
          <p:nvPr/>
        </p:nvSpPr>
        <p:spPr bwMode="auto">
          <a:xfrm>
            <a:off x="6937375" y="4129088"/>
            <a:ext cx="19843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FF0000"/>
                </a:solidFill>
                <a:ea typeface="楷体_GB2312" pitchFamily="49" charset="-122"/>
              </a:rPr>
              <a:t>参数个数</a:t>
            </a:r>
          </a:p>
        </p:txBody>
      </p:sp>
      <p:sp>
        <p:nvSpPr>
          <p:cNvPr id="2564111" name="Rectangle 15"/>
          <p:cNvSpPr>
            <a:spLocks noChangeArrowheads="1"/>
          </p:cNvSpPr>
          <p:nvPr/>
        </p:nvSpPr>
        <p:spPr bwMode="auto">
          <a:xfrm>
            <a:off x="6804025" y="3622675"/>
            <a:ext cx="2232025"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564112" name="Rectangle 16"/>
          <p:cNvSpPr>
            <a:spLocks noChangeArrowheads="1"/>
          </p:cNvSpPr>
          <p:nvPr/>
        </p:nvSpPr>
        <p:spPr bwMode="auto">
          <a:xfrm>
            <a:off x="6884988" y="3567113"/>
            <a:ext cx="206851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FF0000"/>
                </a:solidFill>
                <a:ea typeface="楷体_GB2312" pitchFamily="49" charset="-122"/>
              </a:rPr>
              <a:t>形式单元</a:t>
            </a:r>
          </a:p>
        </p:txBody>
      </p:sp>
    </p:spTree>
    <p:extLst>
      <p:ext uri="{BB962C8B-B14F-4D97-AF65-F5344CB8AC3E}">
        <p14:creationId xmlns:p14="http://schemas.microsoft.com/office/powerpoint/2010/main" val="2142905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4098">
                                            <p:txEl>
                                              <p:pRg st="0" end="0"/>
                                            </p:txEl>
                                          </p:spTgt>
                                        </p:tgtEl>
                                        <p:attrNameLst>
                                          <p:attrName>style.visibility</p:attrName>
                                        </p:attrNameLst>
                                      </p:cBhvr>
                                      <p:to>
                                        <p:strVal val="visible"/>
                                      </p:to>
                                    </p:set>
                                    <p:animEffect transition="in" filter="wipe(left)">
                                      <p:cBhvr>
                                        <p:cTn id="7" dur="500"/>
                                        <p:tgtEl>
                                          <p:spTgt spid="25640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4098">
                                            <p:txEl>
                                              <p:pRg st="1" end="1"/>
                                            </p:txEl>
                                          </p:spTgt>
                                        </p:tgtEl>
                                        <p:attrNameLst>
                                          <p:attrName>style.visibility</p:attrName>
                                        </p:attrNameLst>
                                      </p:cBhvr>
                                      <p:to>
                                        <p:strVal val="visible"/>
                                      </p:to>
                                    </p:set>
                                    <p:animEffect transition="in" filter="wipe(left)">
                                      <p:cBhvr>
                                        <p:cTn id="12" dur="500"/>
                                        <p:tgtEl>
                                          <p:spTgt spid="25640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4098">
                                            <p:txEl>
                                              <p:pRg st="2" end="2"/>
                                            </p:txEl>
                                          </p:spTgt>
                                        </p:tgtEl>
                                        <p:attrNameLst>
                                          <p:attrName>style.visibility</p:attrName>
                                        </p:attrNameLst>
                                      </p:cBhvr>
                                      <p:to>
                                        <p:strVal val="visible"/>
                                      </p:to>
                                    </p:set>
                                    <p:animEffect transition="in" filter="wipe(left)">
                                      <p:cBhvr>
                                        <p:cTn id="17" dur="500"/>
                                        <p:tgtEl>
                                          <p:spTgt spid="256409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256411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5" presetClass="emph" presetSubtype="0" repeatCount="indefinite" fill="hold" grpId="0" nodeType="clickEffect">
                                  <p:stCondLst>
                                    <p:cond delay="0"/>
                                  </p:stCondLst>
                                  <p:endCondLst>
                                    <p:cond evt="onNext" delay="0">
                                      <p:tgtEl>
                                        <p:sldTgt/>
                                      </p:tgtEl>
                                    </p:cond>
                                  </p:endCondLst>
                                  <p:childTnLst>
                                    <p:anim calcmode="discrete" valueType="str">
                                      <p:cBhvr>
                                        <p:cTn id="25" dur="1000" fill="hold"/>
                                        <p:tgtEl>
                                          <p:spTgt spid="2564112"/>
                                        </p:tgtEl>
                                        <p:attrNameLst>
                                          <p:attrName>style.visibility</p:attrName>
                                        </p:attrNameLst>
                                      </p:cBhvr>
                                      <p:tavLst>
                                        <p:tav tm="0">
                                          <p:val>
                                            <p:strVal val="hidden"/>
                                          </p:val>
                                        </p:tav>
                                        <p:tav tm="50000">
                                          <p:val>
                                            <p:strVal val="visible"/>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64098">
                                            <p:txEl>
                                              <p:pRg st="4" end="4"/>
                                            </p:txEl>
                                          </p:spTgt>
                                        </p:tgtEl>
                                        <p:attrNameLst>
                                          <p:attrName>style.visibility</p:attrName>
                                        </p:attrNameLst>
                                      </p:cBhvr>
                                      <p:to>
                                        <p:strVal val="visible"/>
                                      </p:to>
                                    </p:set>
                                    <p:animEffect transition="in" filter="wipe(left)">
                                      <p:cBhvr>
                                        <p:cTn id="30" dur="500"/>
                                        <p:tgtEl>
                                          <p:spTgt spid="2564098">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564098">
                                            <p:txEl>
                                              <p:pRg st="5" end="5"/>
                                            </p:txEl>
                                          </p:spTgt>
                                        </p:tgtEl>
                                        <p:attrNameLst>
                                          <p:attrName>style.visibility</p:attrName>
                                        </p:attrNameLst>
                                      </p:cBhvr>
                                      <p:to>
                                        <p:strVal val="visible"/>
                                      </p:to>
                                    </p:set>
                                    <p:animEffect transition="in" filter="wipe(left)">
                                      <p:cBhvr>
                                        <p:cTn id="35" dur="500"/>
                                        <p:tgtEl>
                                          <p:spTgt spid="2564098">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564109"/>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3" nodeType="clickEffect">
                                  <p:stCondLst>
                                    <p:cond delay="0"/>
                                  </p:stCondLst>
                                  <p:childTnLst>
                                    <p:set>
                                      <p:cBhvr>
                                        <p:cTn id="43" dur="1" fill="hold">
                                          <p:stCondLst>
                                            <p:cond delay="0"/>
                                          </p:stCondLst>
                                        </p:cTn>
                                        <p:tgtEl>
                                          <p:spTgt spid="2564110"/>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35" presetClass="emph" presetSubtype="0" repeatCount="indefinite" fill="hold" grpId="1" nodeType="clickEffect">
                                  <p:stCondLst>
                                    <p:cond delay="0"/>
                                  </p:stCondLst>
                                  <p:endCondLst>
                                    <p:cond evt="onNext" delay="0">
                                      <p:tgtEl>
                                        <p:sldTgt/>
                                      </p:tgtEl>
                                    </p:cond>
                                  </p:endCondLst>
                                  <p:childTnLst>
                                    <p:anim calcmode="discrete" valueType="str">
                                      <p:cBhvr>
                                        <p:cTn id="47" dur="1000" fill="hold"/>
                                        <p:tgtEl>
                                          <p:spTgt spid="2564110"/>
                                        </p:tgtEl>
                                        <p:attrNameLst>
                                          <p:attrName>style.visibility</p:attrName>
                                        </p:attrNameLst>
                                      </p:cBhvr>
                                      <p:tavLst>
                                        <p:tav tm="0">
                                          <p:val>
                                            <p:strVal val="hidden"/>
                                          </p:val>
                                        </p:tav>
                                        <p:tav tm="50000">
                                          <p:val>
                                            <p:strVal val="visible"/>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64098">
                                            <p:txEl>
                                              <p:pRg st="6" end="6"/>
                                            </p:txEl>
                                          </p:spTgt>
                                        </p:tgtEl>
                                        <p:attrNameLst>
                                          <p:attrName>style.visibility</p:attrName>
                                        </p:attrNameLst>
                                      </p:cBhvr>
                                      <p:to>
                                        <p:strVal val="visible"/>
                                      </p:to>
                                    </p:set>
                                    <p:animEffect transition="in" filter="wipe(left)">
                                      <p:cBhvr>
                                        <p:cTn id="52" dur="500"/>
                                        <p:tgtEl>
                                          <p:spTgt spid="2564098">
                                            <p:txEl>
                                              <p:pRg st="6" end="6"/>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6411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35" presetClass="emph" presetSubtype="0" repeatCount="indefinite" fill="hold" grpId="2" nodeType="clickEffect">
                                  <p:stCondLst>
                                    <p:cond delay="0"/>
                                  </p:stCondLst>
                                  <p:endCondLst>
                                    <p:cond evt="onNext" delay="0">
                                      <p:tgtEl>
                                        <p:sldTgt/>
                                      </p:tgtEl>
                                    </p:cond>
                                  </p:endCondLst>
                                  <p:childTnLst>
                                    <p:anim calcmode="discrete" valueType="str">
                                      <p:cBhvr>
                                        <p:cTn id="60" dur="1000" fill="hold"/>
                                        <p:tgtEl>
                                          <p:spTgt spid="2564110"/>
                                        </p:tgtEl>
                                        <p:attrNameLst>
                                          <p:attrName>style.visibility</p:attrName>
                                        </p:attrNameLst>
                                      </p:cBhvr>
                                      <p:tavLst>
                                        <p:tav tm="0">
                                          <p:val>
                                            <p:strVal val="hidden"/>
                                          </p:val>
                                        </p:tav>
                                        <p:tav tm="50000">
                                          <p:val>
                                            <p:strVal val="visible"/>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564098">
                                            <p:txEl>
                                              <p:pRg st="7" end="7"/>
                                            </p:txEl>
                                          </p:spTgt>
                                        </p:tgtEl>
                                        <p:attrNameLst>
                                          <p:attrName>style.visibility</p:attrName>
                                        </p:attrNameLst>
                                      </p:cBhvr>
                                      <p:to>
                                        <p:strVal val="visible"/>
                                      </p:to>
                                    </p:set>
                                    <p:animEffect transition="in" filter="wipe(left)">
                                      <p:cBhvr>
                                        <p:cTn id="65" dur="500"/>
                                        <p:tgtEl>
                                          <p:spTgt spid="256409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4098" grpId="0" build="p"/>
      <p:bldP spid="2564109" grpId="0"/>
      <p:bldP spid="2564110" grpId="0"/>
      <p:bldP spid="2564110" grpId="1"/>
      <p:bldP spid="2564110" grpId="2"/>
      <p:bldP spid="2564110" grpId="3"/>
      <p:bldP spid="2564112" grpId="0"/>
      <p:bldP spid="2564112" grpId="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日期占位符 3"/>
          <p:cNvSpPr>
            <a:spLocks noGrp="1"/>
          </p:cNvSpPr>
          <p:nvPr>
            <p:ph type="dt" sz="half" idx="10"/>
          </p:nvPr>
        </p:nvSpPr>
        <p:spPr/>
        <p:txBody>
          <a:bodyPr/>
          <a:lstStyle/>
          <a:p>
            <a:fld id="{E5851545-2996-41D0-91CE-367CCE5D42F6}" type="datetime1">
              <a:rPr lang="zh-CN" altLang="en-US"/>
              <a:pPr/>
              <a:t>2017/2/24</a:t>
            </a:fld>
            <a:endParaRPr lang="en-US" altLang="zh-CN"/>
          </a:p>
        </p:txBody>
      </p:sp>
      <p:sp>
        <p:nvSpPr>
          <p:cNvPr id="20" name="灯片编号占位符 5"/>
          <p:cNvSpPr>
            <a:spLocks noGrp="1"/>
          </p:cNvSpPr>
          <p:nvPr>
            <p:ph type="sldNum" sz="quarter" idx="12"/>
          </p:nvPr>
        </p:nvSpPr>
        <p:spPr/>
        <p:txBody>
          <a:bodyPr/>
          <a:lstStyle/>
          <a:p>
            <a:fld id="{9CA1CD74-B52F-4D5D-B083-A9D2E5328F2B}" type="slidenum">
              <a:rPr lang="en-US" altLang="zh-CN"/>
              <a:pPr/>
              <a:t>49</a:t>
            </a:fld>
            <a:endParaRPr lang="en-US" altLang="zh-CN"/>
          </a:p>
        </p:txBody>
      </p:sp>
      <p:sp>
        <p:nvSpPr>
          <p:cNvPr id="2565122" name="Rectangle 2"/>
          <p:cNvSpPr>
            <a:spLocks noGrp="1" noChangeArrowheads="1"/>
          </p:cNvSpPr>
          <p:nvPr>
            <p:ph type="body" idx="1"/>
          </p:nvPr>
        </p:nvSpPr>
        <p:spPr>
          <a:xfrm>
            <a:off x="107950" y="404813"/>
            <a:ext cx="8001000" cy="4032250"/>
          </a:xfrm>
          <a:noFill/>
        </p:spPr>
        <p:txBody>
          <a:bodyPr/>
          <a:lstStyle/>
          <a:p>
            <a:pPr>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3) </a:t>
            </a:r>
            <a:r>
              <a:rPr lang="zh-CN" altLang="zh-CN" b="1" noProof="1">
                <a:latin typeface="Times New Roman" panose="02020603050405020304" pitchFamily="18" charset="0"/>
                <a:ea typeface="华文新魏" panose="02010800040101010101" pitchFamily="2" charset="-122"/>
                <a:cs typeface="Times New Roman" panose="02020603050405020304" pitchFamily="18" charset="0"/>
              </a:rPr>
              <a:t>进</a:t>
            </a:r>
            <a:r>
              <a:rPr lang="zh-CN" altLang="zh-CN" b="1">
                <a:latin typeface="Times New Roman" panose="02020603050405020304" pitchFamily="18" charset="0"/>
                <a:ea typeface="华文新魏" panose="02010800040101010101" pitchFamily="2" charset="-122"/>
                <a:cs typeface="Times New Roman" panose="02020603050405020304" pitchFamily="18" charset="0"/>
              </a:rPr>
              <a:t>入过程</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后，首先应执行下述指令:</a:t>
            </a:r>
          </a:p>
          <a:p>
            <a:pPr>
              <a:spcBef>
                <a:spcPct val="0"/>
              </a:spcBef>
              <a:buFontTx/>
              <a:buNone/>
            </a:pPr>
            <a:r>
              <a:rPr lang="zh-CN" altLang="zh-CN" sz="2800"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sp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定义新的</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sp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p>
          <a:p>
            <a:pPr>
              <a:spcBef>
                <a:spcPct val="0"/>
              </a:spcBef>
              <a:buFontTx/>
              <a:buNone/>
            </a:pP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	1[</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sp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返回地址 	 (保护返回地址)</a:t>
            </a:r>
          </a:p>
          <a:p>
            <a:pPr>
              <a:spcBef>
                <a:spcPct val="0"/>
              </a:spcBef>
              <a:buFontTx/>
              <a:buNone/>
            </a:pPr>
            <a:r>
              <a:rPr lang="zh-CN" altLang="zh-CN" sz="2800"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+L       	(</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新</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    </a:t>
            </a:r>
            <a:endParaRPr lang="en-US" altLang="zh-CN" sz="2800" b="1">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     L：</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的活动记录所需单元数，</a:t>
            </a:r>
            <a:endParaRPr lang="en-US" altLang="en-US" sz="2800" b="1">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en-US" altLang="en-US" sz="2800" b="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在编译时可确定。</a:t>
            </a:r>
          </a:p>
          <a:p>
            <a:pPr>
              <a:spcBef>
                <a:spcPct val="40000"/>
              </a:spcBef>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   </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2565123" name="Group 3"/>
          <p:cNvGrpSpPr>
            <a:grpSpLocks/>
          </p:cNvGrpSpPr>
          <p:nvPr/>
        </p:nvGrpSpPr>
        <p:grpSpPr bwMode="auto">
          <a:xfrm>
            <a:off x="6805613" y="2349500"/>
            <a:ext cx="2266950" cy="3810000"/>
            <a:chOff x="-1776" y="1200"/>
            <a:chExt cx="1378" cy="2400"/>
          </a:xfrm>
        </p:grpSpPr>
        <p:sp>
          <p:nvSpPr>
            <p:cNvPr id="2565124" name="Rectangle 4"/>
            <p:cNvSpPr>
              <a:spLocks noChangeArrowheads="1"/>
            </p:cNvSpPr>
            <p:nvPr/>
          </p:nvSpPr>
          <p:spPr bwMode="auto">
            <a:xfrm>
              <a:off x="-1776" y="1200"/>
              <a:ext cx="1378" cy="2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125" name="Rectangle 5"/>
            <p:cNvSpPr>
              <a:spLocks noChangeArrowheads="1"/>
            </p:cNvSpPr>
            <p:nvPr/>
          </p:nvSpPr>
          <p:spPr bwMode="auto">
            <a:xfrm>
              <a:off x="-1776" y="2571"/>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参数个数</a:t>
              </a:r>
            </a:p>
          </p:txBody>
        </p:sp>
        <p:sp>
          <p:nvSpPr>
            <p:cNvPr id="2565126" name="Rectangle 6"/>
            <p:cNvSpPr>
              <a:spLocks noChangeArrowheads="1"/>
            </p:cNvSpPr>
            <p:nvPr/>
          </p:nvSpPr>
          <p:spPr bwMode="auto">
            <a:xfrm>
              <a:off x="-1776" y="2914"/>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65127" name="Rectangle 7"/>
            <p:cNvSpPr>
              <a:spLocks noChangeArrowheads="1"/>
            </p:cNvSpPr>
            <p:nvPr/>
          </p:nvSpPr>
          <p:spPr bwMode="auto">
            <a:xfrm>
              <a:off x="-1776" y="2229"/>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形式单元</a:t>
              </a:r>
              <a:endParaRPr kumimoji="1" lang="zh-CN" altLang="zh-CN" sz="2800" b="1">
                <a:solidFill>
                  <a:srgbClr val="6600CC"/>
                </a:solidFill>
                <a:ea typeface="楷体_GB2312" pitchFamily="49" charset="-122"/>
              </a:endParaRPr>
            </a:p>
          </p:txBody>
        </p:sp>
        <p:sp>
          <p:nvSpPr>
            <p:cNvPr id="2565128" name="Rectangle 8"/>
            <p:cNvSpPr>
              <a:spLocks noChangeArrowheads="1"/>
            </p:cNvSpPr>
            <p:nvPr/>
          </p:nvSpPr>
          <p:spPr bwMode="auto">
            <a:xfrm>
              <a:off x="-1776" y="1543"/>
              <a:ext cx="1378" cy="34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565129" name="Rectangle 9"/>
            <p:cNvSpPr>
              <a:spLocks noChangeArrowheads="1"/>
            </p:cNvSpPr>
            <p:nvPr/>
          </p:nvSpPr>
          <p:spPr bwMode="auto">
            <a:xfrm>
              <a:off x="-1776" y="1886"/>
              <a:ext cx="1378" cy="34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565130" name="Rectangle 10"/>
            <p:cNvSpPr>
              <a:spLocks noChangeArrowheads="1"/>
            </p:cNvSpPr>
            <p:nvPr/>
          </p:nvSpPr>
          <p:spPr bwMode="auto">
            <a:xfrm>
              <a:off x="-1776" y="3257"/>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老</a:t>
              </a:r>
              <a:r>
                <a:rPr kumimoji="1" lang="en-US" altLang="zh-CN" sz="2800" b="1">
                  <a:solidFill>
                    <a:srgbClr val="6600CC"/>
                  </a:solidFill>
                  <a:ea typeface="楷体_GB2312" pitchFamily="49" charset="-122"/>
                </a:rPr>
                <a:t>sp</a:t>
              </a:r>
            </a:p>
          </p:txBody>
        </p:sp>
        <p:sp>
          <p:nvSpPr>
            <p:cNvPr id="2565131" name="Rectangle 11"/>
            <p:cNvSpPr>
              <a:spLocks noChangeArrowheads="1"/>
            </p:cNvSpPr>
            <p:nvPr/>
          </p:nvSpPr>
          <p:spPr bwMode="auto">
            <a:xfrm>
              <a:off x="-1776" y="1200"/>
              <a:ext cx="1378" cy="34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grpSp>
      <p:sp>
        <p:nvSpPr>
          <p:cNvPr id="2565132" name="Rectangle 12"/>
          <p:cNvSpPr>
            <a:spLocks noChangeArrowheads="1"/>
          </p:cNvSpPr>
          <p:nvPr/>
        </p:nvSpPr>
        <p:spPr bwMode="auto">
          <a:xfrm>
            <a:off x="6013450" y="6122988"/>
            <a:ext cx="733425"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ea typeface="楷体_GB2312" pitchFamily="49" charset="-122"/>
              </a:rPr>
              <a:t>TOP</a:t>
            </a:r>
            <a:r>
              <a:rPr kumimoji="1" lang="en-US" altLang="zh-CN" sz="2000" b="1">
                <a:ea typeface="楷体_GB2312" pitchFamily="49" charset="-122"/>
                <a:sym typeface="Symbol" panose="05050102010706020507" pitchFamily="18" charset="2"/>
              </a:rPr>
              <a:t> </a:t>
            </a:r>
            <a:endParaRPr kumimoji="1" lang="en-US" altLang="zh-CN" sz="2000" b="1">
              <a:ea typeface="楷体_GB2312" pitchFamily="49" charset="-122"/>
            </a:endParaRPr>
          </a:p>
        </p:txBody>
      </p:sp>
      <p:sp>
        <p:nvSpPr>
          <p:cNvPr id="2565133" name="Rectangle 13"/>
          <p:cNvSpPr>
            <a:spLocks noChangeArrowheads="1"/>
          </p:cNvSpPr>
          <p:nvPr/>
        </p:nvSpPr>
        <p:spPr bwMode="auto">
          <a:xfrm>
            <a:off x="6799263" y="6122988"/>
            <a:ext cx="2266950" cy="592137"/>
          </a:xfrm>
          <a:prstGeom prst="rect">
            <a:avLst/>
          </a:prstGeom>
          <a:solidFill>
            <a:schemeClr val="accent1"/>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800" b="1">
                <a:ea typeface="楷体_GB2312" pitchFamily="49" charset="-122"/>
              </a:rPr>
              <a:t>调用过程的活动记录</a:t>
            </a:r>
            <a:endParaRPr kumimoji="1" lang="en-GB" altLang="zh-CN" sz="1800" b="1">
              <a:ea typeface="楷体_GB2312" pitchFamily="49" charset="-122"/>
            </a:endParaRPr>
          </a:p>
        </p:txBody>
      </p:sp>
      <p:sp>
        <p:nvSpPr>
          <p:cNvPr id="2565134" name="Rectangle 14"/>
          <p:cNvSpPr>
            <a:spLocks noChangeArrowheads="1"/>
          </p:cNvSpPr>
          <p:nvPr/>
        </p:nvSpPr>
        <p:spPr bwMode="auto">
          <a:xfrm>
            <a:off x="6948488" y="5013325"/>
            <a:ext cx="20097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FF0000"/>
                </a:solidFill>
                <a:ea typeface="楷体_GB2312" pitchFamily="49" charset="-122"/>
              </a:rPr>
              <a:t>返回地址</a:t>
            </a:r>
          </a:p>
        </p:txBody>
      </p:sp>
      <p:sp>
        <p:nvSpPr>
          <p:cNvPr id="2565135" name="Rectangle 15"/>
          <p:cNvSpPr>
            <a:spLocks noChangeArrowheads="1"/>
          </p:cNvSpPr>
          <p:nvPr/>
        </p:nvSpPr>
        <p:spPr bwMode="auto">
          <a:xfrm>
            <a:off x="5437188" y="2349500"/>
            <a:ext cx="151288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top</a:t>
            </a:r>
            <a:r>
              <a:rPr kumimoji="1" lang="en-US" altLang="zh-CN" sz="2800" b="1">
                <a:solidFill>
                  <a:srgbClr val="6600CC"/>
                </a:solidFill>
                <a:ea typeface="楷体_GB2312" pitchFamily="49" charset="-122"/>
                <a:sym typeface="Symbol" panose="05050102010706020507" pitchFamily="18" charset="2"/>
              </a:rPr>
              <a:t></a:t>
            </a:r>
          </a:p>
        </p:txBody>
      </p:sp>
      <p:sp>
        <p:nvSpPr>
          <p:cNvPr id="2565136" name="Rectangle 16"/>
          <p:cNvSpPr>
            <a:spLocks noChangeArrowheads="1"/>
          </p:cNvSpPr>
          <p:nvPr/>
        </p:nvSpPr>
        <p:spPr bwMode="auto">
          <a:xfrm>
            <a:off x="5364163" y="5572125"/>
            <a:ext cx="151288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sp</a:t>
            </a:r>
            <a:r>
              <a:rPr kumimoji="1" lang="en-US" altLang="zh-CN" sz="2800" b="1">
                <a:solidFill>
                  <a:srgbClr val="6600CC"/>
                </a:solidFill>
                <a:ea typeface="楷体_GB2312" pitchFamily="49" charset="-122"/>
                <a:sym typeface="Symbol" panose="05050102010706020507" pitchFamily="18" charset="2"/>
              </a:rPr>
              <a:t></a:t>
            </a:r>
          </a:p>
        </p:txBody>
      </p:sp>
      <p:sp>
        <p:nvSpPr>
          <p:cNvPr id="2565137" name="Rectangle 17"/>
          <p:cNvSpPr>
            <a:spLocks noChangeArrowheads="1"/>
          </p:cNvSpPr>
          <p:nvPr/>
        </p:nvSpPr>
        <p:spPr bwMode="auto">
          <a:xfrm>
            <a:off x="5437188" y="6075363"/>
            <a:ext cx="1295400" cy="5032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zh-CN" sz="1800">
              <a:ea typeface="楷体_GB2312" pitchFamily="49" charset="-122"/>
            </a:endParaRPr>
          </a:p>
        </p:txBody>
      </p:sp>
    </p:spTree>
    <p:extLst>
      <p:ext uri="{BB962C8B-B14F-4D97-AF65-F5344CB8AC3E}">
        <p14:creationId xmlns:p14="http://schemas.microsoft.com/office/powerpoint/2010/main" val="39879132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5122">
                                            <p:txEl>
                                              <p:pRg st="0" end="0"/>
                                            </p:txEl>
                                          </p:spTgt>
                                        </p:tgtEl>
                                        <p:attrNameLst>
                                          <p:attrName>style.visibility</p:attrName>
                                        </p:attrNameLst>
                                      </p:cBhvr>
                                      <p:to>
                                        <p:strVal val="visible"/>
                                      </p:to>
                                    </p:set>
                                    <p:animEffect transition="in" filter="wipe(left)">
                                      <p:cBhvr>
                                        <p:cTn id="7" dur="500"/>
                                        <p:tgtEl>
                                          <p:spTgt spid="25651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5122">
                                            <p:txEl>
                                              <p:pRg st="1" end="1"/>
                                            </p:txEl>
                                          </p:spTgt>
                                        </p:tgtEl>
                                        <p:attrNameLst>
                                          <p:attrName>style.visibility</p:attrName>
                                        </p:attrNameLst>
                                      </p:cBhvr>
                                      <p:to>
                                        <p:strVal val="visible"/>
                                      </p:to>
                                    </p:set>
                                    <p:animEffect transition="in" filter="wipe(left)">
                                      <p:cBhvr>
                                        <p:cTn id="12" dur="500"/>
                                        <p:tgtEl>
                                          <p:spTgt spid="256512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6513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65122">
                                            <p:txEl>
                                              <p:pRg st="2" end="2"/>
                                            </p:txEl>
                                          </p:spTgt>
                                        </p:tgtEl>
                                        <p:attrNameLst>
                                          <p:attrName>style.visibility</p:attrName>
                                        </p:attrNameLst>
                                      </p:cBhvr>
                                      <p:to>
                                        <p:strVal val="visible"/>
                                      </p:to>
                                    </p:set>
                                    <p:animEffect transition="in" filter="wipe(left)">
                                      <p:cBhvr>
                                        <p:cTn id="21" dur="500"/>
                                        <p:tgtEl>
                                          <p:spTgt spid="2565122">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6513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65122">
                                            <p:txEl>
                                              <p:pRg st="3" end="3"/>
                                            </p:txEl>
                                          </p:spTgt>
                                        </p:tgtEl>
                                        <p:attrNameLst>
                                          <p:attrName>style.visibility</p:attrName>
                                        </p:attrNameLst>
                                      </p:cBhvr>
                                      <p:to>
                                        <p:strVal val="visible"/>
                                      </p:to>
                                    </p:set>
                                    <p:animEffect transition="in" filter="wipe(left)">
                                      <p:cBhvr>
                                        <p:cTn id="30" dur="500"/>
                                        <p:tgtEl>
                                          <p:spTgt spid="2565122">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6513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6513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65122">
                                            <p:txEl>
                                              <p:pRg st="4" end="4"/>
                                            </p:txEl>
                                          </p:spTgt>
                                        </p:tgtEl>
                                        <p:attrNameLst>
                                          <p:attrName>style.visibility</p:attrName>
                                        </p:attrNameLst>
                                      </p:cBhvr>
                                      <p:to>
                                        <p:strVal val="visible"/>
                                      </p:to>
                                    </p:set>
                                    <p:animEffect transition="in" filter="wipe(left)">
                                      <p:cBhvr>
                                        <p:cTn id="43" dur="500"/>
                                        <p:tgtEl>
                                          <p:spTgt spid="2565122">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565122">
                                            <p:txEl>
                                              <p:pRg st="5" end="5"/>
                                            </p:txEl>
                                          </p:spTgt>
                                        </p:tgtEl>
                                        <p:attrNameLst>
                                          <p:attrName>style.visibility</p:attrName>
                                        </p:attrNameLst>
                                      </p:cBhvr>
                                      <p:to>
                                        <p:strVal val="visible"/>
                                      </p:to>
                                    </p:set>
                                    <p:animEffect transition="in" filter="wipe(left)">
                                      <p:cBhvr>
                                        <p:cTn id="48" dur="500"/>
                                        <p:tgtEl>
                                          <p:spTgt spid="2565122">
                                            <p:txEl>
                                              <p:pRg st="5" end="5"/>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565122">
                                            <p:txEl>
                                              <p:pRg st="6" end="6"/>
                                            </p:txEl>
                                          </p:spTgt>
                                        </p:tgtEl>
                                        <p:attrNameLst>
                                          <p:attrName>style.visibility</p:attrName>
                                        </p:attrNameLst>
                                      </p:cBhvr>
                                      <p:to>
                                        <p:strVal val="visible"/>
                                      </p:to>
                                    </p:set>
                                    <p:animEffect transition="in" filter="wipe(left)">
                                      <p:cBhvr>
                                        <p:cTn id="53" dur="500"/>
                                        <p:tgtEl>
                                          <p:spTgt spid="2565122">
                                            <p:txEl>
                                              <p:pRg st="6" end="6"/>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565122">
                                            <p:txEl>
                                              <p:pRg st="7" end="7"/>
                                            </p:txEl>
                                          </p:spTgt>
                                        </p:tgtEl>
                                        <p:attrNameLst>
                                          <p:attrName>style.visibility</p:attrName>
                                        </p:attrNameLst>
                                      </p:cBhvr>
                                      <p:to>
                                        <p:strVal val="visible"/>
                                      </p:to>
                                    </p:set>
                                    <p:animEffect transition="in" filter="wipe(left)">
                                      <p:cBhvr>
                                        <p:cTn id="58" dur="500"/>
                                        <p:tgtEl>
                                          <p:spTgt spid="256512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122" grpId="0" build="p"/>
      <p:bldP spid="2565134" grpId="0"/>
      <p:bldP spid="2565135" grpId="0"/>
      <p:bldP spid="2565136" grpId="0"/>
      <p:bldP spid="2565137"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日期占位符 3"/>
          <p:cNvSpPr>
            <a:spLocks noGrp="1"/>
          </p:cNvSpPr>
          <p:nvPr>
            <p:ph type="dt" sz="half" idx="10"/>
          </p:nvPr>
        </p:nvSpPr>
        <p:spPr/>
        <p:txBody>
          <a:bodyPr/>
          <a:lstStyle/>
          <a:p>
            <a:fld id="{2A9462CD-8031-43A3-9A88-43C5A7B12395}" type="datetime1">
              <a:rPr lang="zh-CN" altLang="en-US"/>
              <a:pPr/>
              <a:t>2017/2/24</a:t>
            </a:fld>
            <a:endParaRPr lang="en-US" altLang="zh-CN"/>
          </a:p>
        </p:txBody>
      </p:sp>
      <p:sp>
        <p:nvSpPr>
          <p:cNvPr id="20" name="灯片编号占位符 5"/>
          <p:cNvSpPr>
            <a:spLocks noGrp="1"/>
          </p:cNvSpPr>
          <p:nvPr>
            <p:ph type="sldNum" sz="quarter" idx="12"/>
          </p:nvPr>
        </p:nvSpPr>
        <p:spPr/>
        <p:txBody>
          <a:bodyPr/>
          <a:lstStyle/>
          <a:p>
            <a:fld id="{DC530D45-1173-4DFC-A0EF-EA732EB58D8A}" type="slidenum">
              <a:rPr lang="en-US" altLang="zh-CN"/>
              <a:pPr/>
              <a:t>50</a:t>
            </a:fld>
            <a:endParaRPr lang="en-US" altLang="zh-CN"/>
          </a:p>
        </p:txBody>
      </p:sp>
      <p:sp>
        <p:nvSpPr>
          <p:cNvPr id="2566146" name="Rectangle 2"/>
          <p:cNvSpPr>
            <a:spLocks noGrp="1" noChangeArrowheads="1"/>
          </p:cNvSpPr>
          <p:nvPr>
            <p:ph type="body" idx="1"/>
          </p:nvPr>
        </p:nvSpPr>
        <p:spPr>
          <a:xfrm>
            <a:off x="323850" y="188913"/>
            <a:ext cx="8458200" cy="4103687"/>
          </a:xfrm>
        </p:spPr>
        <p:txBody>
          <a:bodyPr/>
          <a:lstStyle/>
          <a:p>
            <a:pPr>
              <a:spcBef>
                <a:spcPct val="40000"/>
              </a:spcBef>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4) 过程返回时，应执行下列指令:</a:t>
            </a:r>
          </a:p>
          <a:p>
            <a:pPr>
              <a:buFontTx/>
              <a:buNone/>
            </a:pPr>
            <a:r>
              <a:rPr lang="zh-CN" altLang="zh-CN"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恢复调用前</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:=0[</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恢复调用前</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SP)</a:t>
            </a:r>
          </a:p>
          <a:p>
            <a:pPr>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X:=2[</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top</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把返回地址</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取到</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中)</a:t>
            </a:r>
          </a:p>
          <a:p>
            <a:pPr>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UJ 0[X]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按</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返回)</a:t>
            </a:r>
            <a:endParaRPr lang="en-US" altLang="zh-CN" b="1">
              <a:latin typeface="Times New Roman" panose="02020603050405020304" pitchFamily="18" charset="0"/>
              <a:ea typeface="华文新魏" panose="02010800040101010101" pitchFamily="2" charset="-122"/>
              <a:cs typeface="Times New Roman" panose="02020603050405020304" pitchFamily="18" charset="0"/>
            </a:endParaRPr>
          </a:p>
          <a:p>
            <a:pPr>
              <a:spcBef>
                <a:spcPct val="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UJ</a:t>
            </a:r>
            <a:r>
              <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为无条件转移指令，</a:t>
            </a:r>
          </a:p>
          <a:p>
            <a:pPr>
              <a:spcBef>
                <a:spcPct val="0"/>
              </a:spcBef>
              <a:buFontTx/>
              <a:buNone/>
            </a:pPr>
            <a:r>
              <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      即按</a:t>
            </a:r>
            <a:r>
              <a:rPr lang="en-US" altLang="zh-CN"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4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中的返回地址实行变址转移</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2566147" name="Group 3"/>
          <p:cNvGrpSpPr>
            <a:grpSpLocks/>
          </p:cNvGrpSpPr>
          <p:nvPr/>
        </p:nvGrpSpPr>
        <p:grpSpPr bwMode="auto">
          <a:xfrm>
            <a:off x="6877050" y="2474913"/>
            <a:ext cx="2266950" cy="3810000"/>
            <a:chOff x="-1776" y="1200"/>
            <a:chExt cx="1378" cy="2400"/>
          </a:xfrm>
        </p:grpSpPr>
        <p:sp>
          <p:nvSpPr>
            <p:cNvPr id="2566148" name="Rectangle 4"/>
            <p:cNvSpPr>
              <a:spLocks noChangeArrowheads="1"/>
            </p:cNvSpPr>
            <p:nvPr/>
          </p:nvSpPr>
          <p:spPr bwMode="auto">
            <a:xfrm>
              <a:off x="-1776" y="1200"/>
              <a:ext cx="1378" cy="2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149" name="Rectangle 5"/>
            <p:cNvSpPr>
              <a:spLocks noChangeArrowheads="1"/>
            </p:cNvSpPr>
            <p:nvPr/>
          </p:nvSpPr>
          <p:spPr bwMode="auto">
            <a:xfrm>
              <a:off x="-1776" y="2571"/>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参数个数</a:t>
              </a:r>
            </a:p>
          </p:txBody>
        </p:sp>
        <p:sp>
          <p:nvSpPr>
            <p:cNvPr id="2566150" name="Rectangle 6"/>
            <p:cNvSpPr>
              <a:spLocks noChangeArrowheads="1"/>
            </p:cNvSpPr>
            <p:nvPr/>
          </p:nvSpPr>
          <p:spPr bwMode="auto">
            <a:xfrm>
              <a:off x="-1776" y="2914"/>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返回地址</a:t>
              </a:r>
            </a:p>
          </p:txBody>
        </p:sp>
        <p:sp>
          <p:nvSpPr>
            <p:cNvPr id="2566151" name="Rectangle 7"/>
            <p:cNvSpPr>
              <a:spLocks noChangeArrowheads="1"/>
            </p:cNvSpPr>
            <p:nvPr/>
          </p:nvSpPr>
          <p:spPr bwMode="auto">
            <a:xfrm>
              <a:off x="-1776" y="2229"/>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形式单元</a:t>
              </a:r>
              <a:endParaRPr kumimoji="1" lang="zh-CN" altLang="zh-CN" sz="2800" b="1">
                <a:solidFill>
                  <a:srgbClr val="6600CC"/>
                </a:solidFill>
                <a:ea typeface="楷体_GB2312" pitchFamily="49" charset="-122"/>
              </a:endParaRPr>
            </a:p>
          </p:txBody>
        </p:sp>
        <p:sp>
          <p:nvSpPr>
            <p:cNvPr id="2566152" name="Rectangle 8"/>
            <p:cNvSpPr>
              <a:spLocks noChangeArrowheads="1"/>
            </p:cNvSpPr>
            <p:nvPr/>
          </p:nvSpPr>
          <p:spPr bwMode="auto">
            <a:xfrm>
              <a:off x="-1776" y="1543"/>
              <a:ext cx="1378" cy="34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566153" name="Rectangle 9"/>
            <p:cNvSpPr>
              <a:spLocks noChangeArrowheads="1"/>
            </p:cNvSpPr>
            <p:nvPr/>
          </p:nvSpPr>
          <p:spPr bwMode="auto">
            <a:xfrm>
              <a:off x="-1776" y="1886"/>
              <a:ext cx="1378" cy="34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566154" name="Rectangle 10"/>
            <p:cNvSpPr>
              <a:spLocks noChangeArrowheads="1"/>
            </p:cNvSpPr>
            <p:nvPr/>
          </p:nvSpPr>
          <p:spPr bwMode="auto">
            <a:xfrm>
              <a:off x="-1776" y="3257"/>
              <a:ext cx="1378" cy="342"/>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老</a:t>
              </a:r>
              <a:r>
                <a:rPr kumimoji="1" lang="en-US" altLang="zh-CN" sz="2800" b="1">
                  <a:solidFill>
                    <a:srgbClr val="6600CC"/>
                  </a:solidFill>
                  <a:ea typeface="楷体_GB2312" pitchFamily="49" charset="-122"/>
                </a:rPr>
                <a:t>sp</a:t>
              </a:r>
            </a:p>
          </p:txBody>
        </p:sp>
        <p:sp>
          <p:nvSpPr>
            <p:cNvPr id="2566155" name="Rectangle 11"/>
            <p:cNvSpPr>
              <a:spLocks noChangeArrowheads="1"/>
            </p:cNvSpPr>
            <p:nvPr/>
          </p:nvSpPr>
          <p:spPr bwMode="auto">
            <a:xfrm>
              <a:off x="-1776" y="1200"/>
              <a:ext cx="1378" cy="34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grpSp>
      <p:sp>
        <p:nvSpPr>
          <p:cNvPr id="2566156" name="Rectangle 12"/>
          <p:cNvSpPr>
            <a:spLocks noChangeArrowheads="1"/>
          </p:cNvSpPr>
          <p:nvPr/>
        </p:nvSpPr>
        <p:spPr bwMode="auto">
          <a:xfrm>
            <a:off x="6227763" y="6265863"/>
            <a:ext cx="698500"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200" b="1">
              <a:ea typeface="楷体_GB2312" pitchFamily="49" charset="-122"/>
              <a:sym typeface="Symbol" panose="05050102010706020507" pitchFamily="18" charset="2"/>
            </a:endParaRPr>
          </a:p>
        </p:txBody>
      </p:sp>
      <p:sp>
        <p:nvSpPr>
          <p:cNvPr id="2566157" name="Rectangle 13"/>
          <p:cNvSpPr>
            <a:spLocks noChangeArrowheads="1"/>
          </p:cNvSpPr>
          <p:nvPr/>
        </p:nvSpPr>
        <p:spPr bwMode="auto">
          <a:xfrm>
            <a:off x="6877050" y="6265863"/>
            <a:ext cx="2266950" cy="592137"/>
          </a:xfrm>
          <a:prstGeom prst="rect">
            <a:avLst/>
          </a:prstGeom>
          <a:solidFill>
            <a:schemeClr val="accent1"/>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800" b="1">
                <a:ea typeface="楷体_GB2312" pitchFamily="49" charset="-122"/>
              </a:rPr>
              <a:t>调用过程的活动记录</a:t>
            </a:r>
            <a:endParaRPr kumimoji="1" lang="en-GB" altLang="zh-CN" sz="1800" b="1">
              <a:ea typeface="楷体_GB2312" pitchFamily="49" charset="-122"/>
            </a:endParaRPr>
          </a:p>
        </p:txBody>
      </p:sp>
      <p:sp>
        <p:nvSpPr>
          <p:cNvPr id="2566158" name="Rectangle 14"/>
          <p:cNvSpPr>
            <a:spLocks noChangeArrowheads="1"/>
          </p:cNvSpPr>
          <p:nvPr/>
        </p:nvSpPr>
        <p:spPr bwMode="auto">
          <a:xfrm>
            <a:off x="5435600" y="2520950"/>
            <a:ext cx="1512888"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top</a:t>
            </a:r>
            <a:r>
              <a:rPr kumimoji="1" lang="en-US" altLang="zh-CN" sz="2800" b="1">
                <a:solidFill>
                  <a:srgbClr val="6600CC"/>
                </a:solidFill>
                <a:ea typeface="楷体_GB2312" pitchFamily="49" charset="-122"/>
                <a:sym typeface="Symbol" panose="05050102010706020507" pitchFamily="18" charset="2"/>
              </a:rPr>
              <a:t></a:t>
            </a:r>
          </a:p>
        </p:txBody>
      </p:sp>
      <p:sp>
        <p:nvSpPr>
          <p:cNvPr id="2566159" name="Rectangle 15"/>
          <p:cNvSpPr>
            <a:spLocks noChangeArrowheads="1"/>
          </p:cNvSpPr>
          <p:nvPr/>
        </p:nvSpPr>
        <p:spPr bwMode="auto">
          <a:xfrm>
            <a:off x="5435600" y="5689600"/>
            <a:ext cx="1512888"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sp</a:t>
            </a:r>
            <a:r>
              <a:rPr kumimoji="1" lang="en-US" altLang="zh-CN" sz="2800" b="1">
                <a:solidFill>
                  <a:srgbClr val="6600CC"/>
                </a:solidFill>
                <a:ea typeface="楷体_GB2312" pitchFamily="49" charset="-122"/>
                <a:sym typeface="Symbol" panose="05050102010706020507" pitchFamily="18" charset="2"/>
              </a:rPr>
              <a:t></a:t>
            </a:r>
          </a:p>
        </p:txBody>
      </p:sp>
      <p:sp>
        <p:nvSpPr>
          <p:cNvPr id="2566160" name="Rectangle 16"/>
          <p:cNvSpPr>
            <a:spLocks noChangeArrowheads="1"/>
          </p:cNvSpPr>
          <p:nvPr/>
        </p:nvSpPr>
        <p:spPr bwMode="auto">
          <a:xfrm>
            <a:off x="5451475" y="6376988"/>
            <a:ext cx="1512888"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sp</a:t>
            </a:r>
            <a:r>
              <a:rPr kumimoji="1" lang="en-US" altLang="zh-CN" sz="2800" b="1">
                <a:solidFill>
                  <a:srgbClr val="6600CC"/>
                </a:solidFill>
                <a:ea typeface="楷体_GB2312" pitchFamily="49" charset="-122"/>
                <a:sym typeface="Symbol" panose="05050102010706020507" pitchFamily="18" charset="2"/>
              </a:rPr>
              <a:t></a:t>
            </a:r>
          </a:p>
        </p:txBody>
      </p:sp>
      <p:sp>
        <p:nvSpPr>
          <p:cNvPr id="2566161" name="Rectangle 17"/>
          <p:cNvSpPr>
            <a:spLocks noChangeArrowheads="1"/>
          </p:cNvSpPr>
          <p:nvPr/>
        </p:nvSpPr>
        <p:spPr bwMode="auto">
          <a:xfrm>
            <a:off x="5508625" y="6021388"/>
            <a:ext cx="1512888"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top</a:t>
            </a:r>
            <a:r>
              <a:rPr kumimoji="1" lang="en-US" altLang="zh-CN" sz="2800" b="1">
                <a:solidFill>
                  <a:srgbClr val="6600CC"/>
                </a:solidFill>
                <a:ea typeface="楷体_GB2312" pitchFamily="49" charset="-122"/>
                <a:sym typeface="Symbol" panose="05050102010706020507" pitchFamily="18" charset="2"/>
              </a:rPr>
              <a:t></a:t>
            </a:r>
          </a:p>
        </p:txBody>
      </p:sp>
    </p:spTree>
    <p:extLst>
      <p:ext uri="{BB962C8B-B14F-4D97-AF65-F5344CB8AC3E}">
        <p14:creationId xmlns:p14="http://schemas.microsoft.com/office/powerpoint/2010/main" val="12225291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6146">
                                            <p:txEl>
                                              <p:pRg st="0" end="0"/>
                                            </p:txEl>
                                          </p:spTgt>
                                        </p:tgtEl>
                                        <p:attrNameLst>
                                          <p:attrName>style.visibility</p:attrName>
                                        </p:attrNameLst>
                                      </p:cBhvr>
                                      <p:to>
                                        <p:strVal val="visible"/>
                                      </p:to>
                                    </p:set>
                                    <p:animEffect transition="in" filter="wipe(left)">
                                      <p:cBhvr>
                                        <p:cTn id="7" dur="500"/>
                                        <p:tgtEl>
                                          <p:spTgt spid="25661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6146">
                                            <p:txEl>
                                              <p:pRg st="1" end="1"/>
                                            </p:txEl>
                                          </p:spTgt>
                                        </p:tgtEl>
                                        <p:attrNameLst>
                                          <p:attrName>style.visibility</p:attrName>
                                        </p:attrNameLst>
                                      </p:cBhvr>
                                      <p:to>
                                        <p:strVal val="visible"/>
                                      </p:to>
                                    </p:set>
                                    <p:animEffect transition="in" filter="wipe(left)">
                                      <p:cBhvr>
                                        <p:cTn id="12" dur="500"/>
                                        <p:tgtEl>
                                          <p:spTgt spid="25661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1" fill="hold" grpId="0" nodeType="clickEffect">
                                  <p:stCondLst>
                                    <p:cond delay="0"/>
                                  </p:stCondLst>
                                  <p:childTnLst>
                                    <p:animEffect transition="out" filter="wipe(up)">
                                      <p:cBhvr>
                                        <p:cTn id="16" dur="500"/>
                                        <p:tgtEl>
                                          <p:spTgt spid="2566158"/>
                                        </p:tgtEl>
                                      </p:cBhvr>
                                    </p:animEffect>
                                    <p:set>
                                      <p:cBhvr>
                                        <p:cTn id="17" dur="1" fill="hold">
                                          <p:stCondLst>
                                            <p:cond delay="499"/>
                                          </p:stCondLst>
                                        </p:cTn>
                                        <p:tgtEl>
                                          <p:spTgt spid="2566158"/>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6161"/>
                                        </p:tgtEl>
                                        <p:attrNameLst>
                                          <p:attrName>style.visibility</p:attrName>
                                        </p:attrNameLst>
                                      </p:cBhvr>
                                      <p:to>
                                        <p:strVal val="visible"/>
                                      </p:to>
                                    </p:set>
                                    <p:animEffect transition="in" filter="wipe(left)">
                                      <p:cBhvr>
                                        <p:cTn id="22" dur="500"/>
                                        <p:tgtEl>
                                          <p:spTgt spid="25661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6146">
                                            <p:txEl>
                                              <p:pRg st="2" end="2"/>
                                            </p:txEl>
                                          </p:spTgt>
                                        </p:tgtEl>
                                        <p:attrNameLst>
                                          <p:attrName>style.visibility</p:attrName>
                                        </p:attrNameLst>
                                      </p:cBhvr>
                                      <p:to>
                                        <p:strVal val="visible"/>
                                      </p:to>
                                    </p:set>
                                    <p:animEffect transition="in" filter="wipe(left)">
                                      <p:cBhvr>
                                        <p:cTn id="27" dur="500"/>
                                        <p:tgtEl>
                                          <p:spTgt spid="2566146">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xit" presetSubtype="1" fill="hold" grpId="0" nodeType="clickEffect">
                                  <p:stCondLst>
                                    <p:cond delay="0"/>
                                  </p:stCondLst>
                                  <p:childTnLst>
                                    <p:animEffect transition="out" filter="wipe(up)">
                                      <p:cBhvr>
                                        <p:cTn id="31" dur="500"/>
                                        <p:tgtEl>
                                          <p:spTgt spid="2566159"/>
                                        </p:tgtEl>
                                      </p:cBhvr>
                                    </p:animEffect>
                                    <p:set>
                                      <p:cBhvr>
                                        <p:cTn id="32" dur="1" fill="hold">
                                          <p:stCondLst>
                                            <p:cond delay="499"/>
                                          </p:stCondLst>
                                        </p:cTn>
                                        <p:tgtEl>
                                          <p:spTgt spid="2566159"/>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66160"/>
                                        </p:tgtEl>
                                        <p:attrNameLst>
                                          <p:attrName>style.visibility</p:attrName>
                                        </p:attrNameLst>
                                      </p:cBhvr>
                                      <p:to>
                                        <p:strVal val="visible"/>
                                      </p:to>
                                    </p:set>
                                    <p:animEffect transition="in" filter="wipe(left)">
                                      <p:cBhvr>
                                        <p:cTn id="37" dur="500"/>
                                        <p:tgtEl>
                                          <p:spTgt spid="25661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66146">
                                            <p:txEl>
                                              <p:pRg st="3" end="3"/>
                                            </p:txEl>
                                          </p:spTgt>
                                        </p:tgtEl>
                                        <p:attrNameLst>
                                          <p:attrName>style.visibility</p:attrName>
                                        </p:attrNameLst>
                                      </p:cBhvr>
                                      <p:to>
                                        <p:strVal val="visible"/>
                                      </p:to>
                                    </p:set>
                                    <p:animEffect transition="in" filter="wipe(left)">
                                      <p:cBhvr>
                                        <p:cTn id="42" dur="500"/>
                                        <p:tgtEl>
                                          <p:spTgt spid="2566146">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66146">
                                            <p:txEl>
                                              <p:pRg st="4" end="4"/>
                                            </p:txEl>
                                          </p:spTgt>
                                        </p:tgtEl>
                                        <p:attrNameLst>
                                          <p:attrName>style.visibility</p:attrName>
                                        </p:attrNameLst>
                                      </p:cBhvr>
                                      <p:to>
                                        <p:strVal val="visible"/>
                                      </p:to>
                                    </p:set>
                                    <p:animEffect transition="in" filter="wipe(left)">
                                      <p:cBhvr>
                                        <p:cTn id="47" dur="500"/>
                                        <p:tgtEl>
                                          <p:spTgt spid="2566146">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66146">
                                            <p:txEl>
                                              <p:pRg st="5" end="5"/>
                                            </p:txEl>
                                          </p:spTgt>
                                        </p:tgtEl>
                                        <p:attrNameLst>
                                          <p:attrName>style.visibility</p:attrName>
                                        </p:attrNameLst>
                                      </p:cBhvr>
                                      <p:to>
                                        <p:strVal val="visible"/>
                                      </p:to>
                                    </p:set>
                                    <p:animEffect transition="in" filter="wipe(left)">
                                      <p:cBhvr>
                                        <p:cTn id="52" dur="500"/>
                                        <p:tgtEl>
                                          <p:spTgt spid="2566146">
                                            <p:txEl>
                                              <p:pRg st="5" end="5"/>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66146">
                                            <p:txEl>
                                              <p:pRg st="6" end="6"/>
                                            </p:txEl>
                                          </p:spTgt>
                                        </p:tgtEl>
                                        <p:attrNameLst>
                                          <p:attrName>style.visibility</p:attrName>
                                        </p:attrNameLst>
                                      </p:cBhvr>
                                      <p:to>
                                        <p:strVal val="visible"/>
                                      </p:to>
                                    </p:set>
                                    <p:animEffect transition="in" filter="wipe(left)">
                                      <p:cBhvr>
                                        <p:cTn id="57" dur="500"/>
                                        <p:tgtEl>
                                          <p:spTgt spid="25661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6146" grpId="0" build="p"/>
      <p:bldP spid="2566158" grpId="0"/>
      <p:bldP spid="2566159" grpId="0"/>
      <p:bldP spid="2566160" grpId="0"/>
      <p:bldP spid="256616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FCE54DE-4119-4AAD-AEC6-FA3DAEF5F29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FB3AEB4-942D-4AC9-A293-80194D10436B}" type="slidenum">
              <a:rPr lang="en-US" altLang="zh-CN"/>
              <a:pPr/>
              <a:t>51</a:t>
            </a:fld>
            <a:endParaRPr lang="en-US" altLang="zh-CN"/>
          </a:p>
        </p:txBody>
      </p:sp>
      <p:sp>
        <p:nvSpPr>
          <p:cNvPr id="2567170" name="Rectangle 2"/>
          <p:cNvSpPr>
            <a:spLocks noGrp="1" noChangeArrowheads="1"/>
          </p:cNvSpPr>
          <p:nvPr>
            <p:ph type="title"/>
          </p:nvPr>
        </p:nvSpPr>
        <p:spPr>
          <a:xfrm>
            <a:off x="827088" y="188913"/>
            <a:ext cx="737235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栈中的可变长数据</a:t>
            </a:r>
          </a:p>
        </p:txBody>
      </p:sp>
      <p:sp>
        <p:nvSpPr>
          <p:cNvPr id="2567171" name="Rectangle 3"/>
          <p:cNvSpPr>
            <a:spLocks noGrp="1" noChangeArrowheads="1"/>
          </p:cNvSpPr>
          <p:nvPr>
            <p:ph type="body" idx="1"/>
          </p:nvPr>
        </p:nvSpPr>
        <p:spPr>
          <a:xfrm>
            <a:off x="304800" y="1404938"/>
            <a:ext cx="8534400" cy="5084762"/>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活动记录的长度在编译时不能确定的情况</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局部数组的大小要等到过程激活时才能确定</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在活动记录中为这样的数组分别存放数组指针的单元</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运行时，这些指针指向分配在栈顶的存储空间</a:t>
            </a:r>
          </a:p>
        </p:txBody>
      </p:sp>
    </p:spTree>
    <p:extLst>
      <p:ext uri="{BB962C8B-B14F-4D97-AF65-F5344CB8AC3E}">
        <p14:creationId xmlns:p14="http://schemas.microsoft.com/office/powerpoint/2010/main" val="39833540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7171">
                                            <p:txEl>
                                              <p:pRg st="0" end="0"/>
                                            </p:txEl>
                                          </p:spTgt>
                                        </p:tgtEl>
                                        <p:attrNameLst>
                                          <p:attrName>style.visibility</p:attrName>
                                        </p:attrNameLst>
                                      </p:cBhvr>
                                      <p:to>
                                        <p:strVal val="visible"/>
                                      </p:to>
                                    </p:set>
                                    <p:animEffect transition="in" filter="blinds(horizontal)">
                                      <p:cBhvr>
                                        <p:cTn id="7" dur="500"/>
                                        <p:tgtEl>
                                          <p:spTgt spid="256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7171">
                                            <p:txEl>
                                              <p:pRg st="1" end="1"/>
                                            </p:txEl>
                                          </p:spTgt>
                                        </p:tgtEl>
                                        <p:attrNameLst>
                                          <p:attrName>style.visibility</p:attrName>
                                        </p:attrNameLst>
                                      </p:cBhvr>
                                      <p:to>
                                        <p:strVal val="visible"/>
                                      </p:to>
                                    </p:set>
                                    <p:animEffect transition="in" filter="blinds(horizontal)">
                                      <p:cBhvr>
                                        <p:cTn id="12" dur="500"/>
                                        <p:tgtEl>
                                          <p:spTgt spid="256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7171">
                                            <p:txEl>
                                              <p:pRg st="2" end="2"/>
                                            </p:txEl>
                                          </p:spTgt>
                                        </p:tgtEl>
                                        <p:attrNameLst>
                                          <p:attrName>style.visibility</p:attrName>
                                        </p:attrNameLst>
                                      </p:cBhvr>
                                      <p:to>
                                        <p:strVal val="visible"/>
                                      </p:to>
                                    </p:set>
                                    <p:animEffect transition="in" filter="blinds(horizontal)">
                                      <p:cBhvr>
                                        <p:cTn id="17" dur="500"/>
                                        <p:tgtEl>
                                          <p:spTgt spid="25671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7171">
                                            <p:txEl>
                                              <p:pRg st="3" end="3"/>
                                            </p:txEl>
                                          </p:spTgt>
                                        </p:tgtEl>
                                        <p:attrNameLst>
                                          <p:attrName>style.visibility</p:attrName>
                                        </p:attrNameLst>
                                      </p:cBhvr>
                                      <p:to>
                                        <p:strVal val="visible"/>
                                      </p:to>
                                    </p:set>
                                    <p:animEffect transition="in" filter="blinds(horizontal)">
                                      <p:cBhvr>
                                        <p:cTn id="22" dur="500"/>
                                        <p:tgtEl>
                                          <p:spTgt spid="256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717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2ADBBE6E-F84F-4221-B244-4D379FC2E9B2}"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C33D977A-E8EE-4142-84E8-7D9FF134CF7A}" type="slidenum">
              <a:rPr lang="en-US" altLang="zh-CN"/>
              <a:pPr/>
              <a:t>52</a:t>
            </a:fld>
            <a:endParaRPr lang="en-US" altLang="zh-CN"/>
          </a:p>
        </p:txBody>
      </p:sp>
      <p:sp>
        <p:nvSpPr>
          <p:cNvPr id="2569218" name="Rectangle 2"/>
          <p:cNvSpPr>
            <a:spLocks noGrp="1" noChangeArrowheads="1"/>
          </p:cNvSpPr>
          <p:nvPr>
            <p:ph type="title"/>
          </p:nvPr>
        </p:nvSpPr>
        <p:spPr>
          <a:xfrm>
            <a:off x="152400" y="44450"/>
            <a:ext cx="883920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9.4.3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栈中的可变长数据</a:t>
            </a:r>
          </a:p>
        </p:txBody>
      </p:sp>
      <p:sp>
        <p:nvSpPr>
          <p:cNvPr id="2569219" name="Rectangle 3"/>
          <p:cNvSpPr>
            <a:spLocks noChangeArrowheads="1"/>
          </p:cNvSpPr>
          <p:nvPr/>
        </p:nvSpPr>
        <p:spPr bwMode="auto">
          <a:xfrm>
            <a:off x="0" y="2076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569220" name="Object 4"/>
          <p:cNvGraphicFramePr>
            <a:graphicFrameLocks noChangeAspect="1"/>
          </p:cNvGraphicFramePr>
          <p:nvPr/>
        </p:nvGraphicFramePr>
        <p:xfrm>
          <a:off x="1042988" y="1052513"/>
          <a:ext cx="7016750" cy="4979987"/>
        </p:xfrm>
        <a:graphic>
          <a:graphicData uri="http://schemas.openxmlformats.org/presentationml/2006/ole">
            <mc:AlternateContent xmlns:mc="http://schemas.openxmlformats.org/markup-compatibility/2006">
              <mc:Choice xmlns:v="urn:schemas-microsoft-com:vml" Requires="v">
                <p:oleObj spid="_x0000_s103427" name="Visio" r:id="rId4" imgW="3486134" imgH="2477154" progId="Visio.Drawing.11">
                  <p:embed/>
                </p:oleObj>
              </mc:Choice>
              <mc:Fallback>
                <p:oleObj name="Visio" r:id="rId4" imgW="3486134" imgH="2477154" progId="Visio.Drawing.11">
                  <p:embed/>
                  <p:pic>
                    <p:nvPicPr>
                      <p:cNvPr id="256922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052513"/>
                        <a:ext cx="7016750" cy="4979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9221" name="Rectangle 5"/>
          <p:cNvSpPr>
            <a:spLocks noChangeArrowheads="1"/>
          </p:cNvSpPr>
          <p:nvPr/>
        </p:nvSpPr>
        <p:spPr bwMode="auto">
          <a:xfrm>
            <a:off x="2509838" y="6092825"/>
            <a:ext cx="412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a:ea typeface="楷体_GB2312" pitchFamily="49" charset="-122"/>
              </a:rPr>
              <a:t>图</a:t>
            </a:r>
            <a:r>
              <a:rPr lang="en-US" altLang="zh-CN" b="1">
                <a:ea typeface="楷体_GB2312" pitchFamily="49" charset="-122"/>
              </a:rPr>
              <a:t>9.13 </a:t>
            </a:r>
            <a:r>
              <a:rPr lang="zh-CN" altLang="en-US" b="1">
                <a:ea typeface="楷体_GB2312" pitchFamily="49" charset="-122"/>
              </a:rPr>
              <a:t>访问动态分配的数组</a:t>
            </a:r>
          </a:p>
        </p:txBody>
      </p:sp>
    </p:spTree>
    <p:extLst>
      <p:ext uri="{BB962C8B-B14F-4D97-AF65-F5344CB8AC3E}">
        <p14:creationId xmlns:p14="http://schemas.microsoft.com/office/powerpoint/2010/main" val="37695695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C751992-F6E5-4CE2-BD67-AE3FA800A0D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025EC50-B2E9-4F61-80A3-7C362EE2391C}" type="slidenum">
              <a:rPr lang="en-US" altLang="zh-CN"/>
              <a:pPr/>
              <a:t>53</a:t>
            </a:fld>
            <a:endParaRPr lang="en-US" altLang="zh-CN"/>
          </a:p>
        </p:txBody>
      </p:sp>
      <p:sp>
        <p:nvSpPr>
          <p:cNvPr id="2571266" name="Rectangle 2"/>
          <p:cNvSpPr>
            <a:spLocks noGrp="1" noChangeArrowheads="1"/>
          </p:cNvSpPr>
          <p:nvPr>
            <p:ph type="title"/>
          </p:nvPr>
        </p:nvSpPr>
        <p:spPr>
          <a:xfrm>
            <a:off x="728663" y="188913"/>
            <a:ext cx="7659687" cy="93662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栈式存储分配策略的局限</a:t>
            </a:r>
          </a:p>
        </p:txBody>
      </p:sp>
      <p:sp>
        <p:nvSpPr>
          <p:cNvPr id="2571267" name="Rectangle 3"/>
          <p:cNvSpPr>
            <a:spLocks noGrp="1" noChangeArrowheads="1"/>
          </p:cNvSpPr>
          <p:nvPr>
            <p:ph type="body" idx="1"/>
          </p:nvPr>
        </p:nvSpPr>
        <p:spPr>
          <a:xfrm>
            <a:off x="304800" y="1268413"/>
            <a:ext cx="8534400" cy="4824412"/>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栈式分配策略在下列情况下行不通：</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过程活动停止后，局部名字的值还必须维持</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被调用者的活动比调用者的活动的生存期更长，此时活动树不能正确描绘程序的控制流</a:t>
            </a:r>
          </a:p>
          <a:p>
            <a:pPr algn="just">
              <a:buFontTx/>
              <a:buNone/>
            </a:pP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不遵守栈式规则的有</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Pascal</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语言和</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语言的动态变量</a:t>
            </a:r>
          </a:p>
          <a:p>
            <a:pPr algn="just"/>
            <a:r>
              <a:rPr lang="en-US" altLang="zh-CN" b="1">
                <a:latin typeface="Times New Roman" panose="02020603050405020304" pitchFamily="18" charset="0"/>
                <a:ea typeface="华文新魏" panose="02010800040101010101" pitchFamily="2" charset="-122"/>
                <a:cs typeface="Times New Roman" panose="02020603050405020304" pitchFamily="18" charset="0"/>
              </a:rPr>
              <a:t>Java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禁止程序员自己释放空间 </a:t>
            </a:r>
          </a:p>
        </p:txBody>
      </p:sp>
    </p:spTree>
    <p:extLst>
      <p:ext uri="{BB962C8B-B14F-4D97-AF65-F5344CB8AC3E}">
        <p14:creationId xmlns:p14="http://schemas.microsoft.com/office/powerpoint/2010/main" val="13708930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71267">
                                            <p:txEl>
                                              <p:pRg st="0" end="0"/>
                                            </p:txEl>
                                          </p:spTgt>
                                        </p:tgtEl>
                                        <p:attrNameLst>
                                          <p:attrName>style.visibility</p:attrName>
                                        </p:attrNameLst>
                                      </p:cBhvr>
                                      <p:to>
                                        <p:strVal val="visible"/>
                                      </p:to>
                                    </p:set>
                                    <p:animEffect transition="in" filter="blinds(horizontal)">
                                      <p:cBhvr>
                                        <p:cTn id="7" dur="500"/>
                                        <p:tgtEl>
                                          <p:spTgt spid="257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71267">
                                            <p:txEl>
                                              <p:pRg st="1" end="1"/>
                                            </p:txEl>
                                          </p:spTgt>
                                        </p:tgtEl>
                                        <p:attrNameLst>
                                          <p:attrName>style.visibility</p:attrName>
                                        </p:attrNameLst>
                                      </p:cBhvr>
                                      <p:to>
                                        <p:strVal val="visible"/>
                                      </p:to>
                                    </p:set>
                                    <p:animEffect transition="in" filter="blinds(horizontal)">
                                      <p:cBhvr>
                                        <p:cTn id="12" dur="500"/>
                                        <p:tgtEl>
                                          <p:spTgt spid="257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71267">
                                            <p:txEl>
                                              <p:pRg st="2" end="2"/>
                                            </p:txEl>
                                          </p:spTgt>
                                        </p:tgtEl>
                                        <p:attrNameLst>
                                          <p:attrName>style.visibility</p:attrName>
                                        </p:attrNameLst>
                                      </p:cBhvr>
                                      <p:to>
                                        <p:strVal val="visible"/>
                                      </p:to>
                                    </p:set>
                                    <p:animEffect transition="in" filter="blinds(horizontal)">
                                      <p:cBhvr>
                                        <p:cTn id="17" dur="500"/>
                                        <p:tgtEl>
                                          <p:spTgt spid="25712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71267">
                                            <p:txEl>
                                              <p:pRg st="4" end="4"/>
                                            </p:txEl>
                                          </p:spTgt>
                                        </p:tgtEl>
                                        <p:attrNameLst>
                                          <p:attrName>style.visibility</p:attrName>
                                        </p:attrNameLst>
                                      </p:cBhvr>
                                      <p:to>
                                        <p:strVal val="visible"/>
                                      </p:to>
                                    </p:set>
                                    <p:animEffect transition="in" filter="blinds(horizontal)">
                                      <p:cBhvr>
                                        <p:cTn id="22" dur="500"/>
                                        <p:tgtEl>
                                          <p:spTgt spid="257126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71267">
                                            <p:txEl>
                                              <p:pRg st="5" end="5"/>
                                            </p:txEl>
                                          </p:spTgt>
                                        </p:tgtEl>
                                        <p:attrNameLst>
                                          <p:attrName>style.visibility</p:attrName>
                                        </p:attrNameLst>
                                      </p:cBhvr>
                                      <p:to>
                                        <p:strVal val="visible"/>
                                      </p:to>
                                    </p:set>
                                    <p:animEffect transition="in" filter="blinds(horizontal)">
                                      <p:cBhvr>
                                        <p:cTn id="27" dur="500"/>
                                        <p:tgtEl>
                                          <p:spTgt spid="2571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126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7F58A3A-8A1E-49BB-B749-684887B95BE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13DE7F5-EED4-483B-9875-8A296ED7E21C}" type="slidenum">
              <a:rPr lang="en-US" altLang="zh-CN"/>
              <a:pPr/>
              <a:t>54</a:t>
            </a:fld>
            <a:endParaRPr lang="en-US" altLang="zh-CN"/>
          </a:p>
        </p:txBody>
      </p:sp>
      <p:sp>
        <p:nvSpPr>
          <p:cNvPr id="2573314" name="Rectangle 2"/>
          <p:cNvSpPr>
            <a:spLocks noGrp="1" noChangeArrowheads="1"/>
          </p:cNvSpPr>
          <p:nvPr>
            <p:ph type="title"/>
          </p:nvPr>
        </p:nvSpPr>
        <p:spPr>
          <a:xfrm>
            <a:off x="827088" y="557213"/>
            <a:ext cx="7299325"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栈中非局部数据的访问</a:t>
            </a:r>
          </a:p>
        </p:txBody>
      </p:sp>
      <p:sp>
        <p:nvSpPr>
          <p:cNvPr id="2573315" name="Rectangle 3"/>
          <p:cNvSpPr>
            <a:spLocks noGrp="1" noChangeArrowheads="1"/>
          </p:cNvSpPr>
          <p:nvPr>
            <p:ph type="body" idx="1"/>
          </p:nvPr>
        </p:nvSpPr>
        <p:spPr>
          <a:xfrm>
            <a:off x="304800" y="1800225"/>
            <a:ext cx="8534400" cy="4652963"/>
          </a:xfrm>
        </p:spPr>
        <p:txBody>
          <a:bodyPr/>
          <a:lstStyle/>
          <a:p>
            <a:pPr algn="just">
              <a:buFontTx/>
              <a:buNone/>
            </a:pP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本节内容</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无嵌套过程的静态作用域的实现（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包含嵌套过程的静态作用域的实现（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Pascal</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动态作用域的实现（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Lisp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a:t>
            </a:r>
          </a:p>
        </p:txBody>
      </p:sp>
    </p:spTree>
    <p:extLst>
      <p:ext uri="{BB962C8B-B14F-4D97-AF65-F5344CB8AC3E}">
        <p14:creationId xmlns:p14="http://schemas.microsoft.com/office/powerpoint/2010/main" val="31534088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73315">
                                            <p:txEl>
                                              <p:pRg st="0" end="0"/>
                                            </p:txEl>
                                          </p:spTgt>
                                        </p:tgtEl>
                                        <p:attrNameLst>
                                          <p:attrName>style.visibility</p:attrName>
                                        </p:attrNameLst>
                                      </p:cBhvr>
                                      <p:to>
                                        <p:strVal val="visible"/>
                                      </p:to>
                                    </p:set>
                                    <p:animEffect transition="in" filter="blinds(horizontal)">
                                      <p:cBhvr>
                                        <p:cTn id="7" dur="500"/>
                                        <p:tgtEl>
                                          <p:spTgt spid="257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73315">
                                            <p:txEl>
                                              <p:pRg st="1" end="1"/>
                                            </p:txEl>
                                          </p:spTgt>
                                        </p:tgtEl>
                                        <p:attrNameLst>
                                          <p:attrName>style.visibility</p:attrName>
                                        </p:attrNameLst>
                                      </p:cBhvr>
                                      <p:to>
                                        <p:strVal val="visible"/>
                                      </p:to>
                                    </p:set>
                                    <p:animEffect transition="in" filter="blinds(horizontal)">
                                      <p:cBhvr>
                                        <p:cTn id="12" dur="500"/>
                                        <p:tgtEl>
                                          <p:spTgt spid="2573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73315">
                                            <p:txEl>
                                              <p:pRg st="2" end="2"/>
                                            </p:txEl>
                                          </p:spTgt>
                                        </p:tgtEl>
                                        <p:attrNameLst>
                                          <p:attrName>style.visibility</p:attrName>
                                        </p:attrNameLst>
                                      </p:cBhvr>
                                      <p:to>
                                        <p:strVal val="visible"/>
                                      </p:to>
                                    </p:set>
                                    <p:animEffect transition="in" filter="blinds(horizontal)">
                                      <p:cBhvr>
                                        <p:cTn id="17" dur="500"/>
                                        <p:tgtEl>
                                          <p:spTgt spid="25733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73315">
                                            <p:txEl>
                                              <p:pRg st="3" end="3"/>
                                            </p:txEl>
                                          </p:spTgt>
                                        </p:tgtEl>
                                        <p:attrNameLst>
                                          <p:attrName>style.visibility</p:attrName>
                                        </p:attrNameLst>
                                      </p:cBhvr>
                                      <p:to>
                                        <p:strVal val="visible"/>
                                      </p:to>
                                    </p:set>
                                    <p:animEffect transition="in" filter="blinds(horizontal)">
                                      <p:cBhvr>
                                        <p:cTn id="22" dur="500"/>
                                        <p:tgtEl>
                                          <p:spTgt spid="257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331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44E2197-DD9B-4D3F-AB22-01165BC4374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8664EFA-D5C7-47EC-8F4C-BA950B57DFF8}" type="slidenum">
              <a:rPr lang="en-US" altLang="zh-CN"/>
              <a:pPr/>
              <a:t>55</a:t>
            </a:fld>
            <a:endParaRPr lang="en-US" altLang="zh-CN"/>
          </a:p>
        </p:txBody>
      </p:sp>
      <p:sp>
        <p:nvSpPr>
          <p:cNvPr id="2575362" name="Rectangle 2"/>
          <p:cNvSpPr>
            <a:spLocks noGrp="1" noChangeArrowheads="1"/>
          </p:cNvSpPr>
          <p:nvPr>
            <p:ph type="title"/>
          </p:nvPr>
        </p:nvSpPr>
        <p:spPr>
          <a:xfrm>
            <a:off x="827088" y="476250"/>
            <a:ext cx="7948612" cy="900113"/>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无过程嵌套的静态作用域</a:t>
            </a:r>
          </a:p>
        </p:txBody>
      </p:sp>
      <p:sp>
        <p:nvSpPr>
          <p:cNvPr id="2575363" name="Rectangle 3"/>
          <p:cNvSpPr>
            <a:spLocks noGrp="1" noChangeArrowheads="1"/>
          </p:cNvSpPr>
          <p:nvPr>
            <p:ph type="body" idx="1"/>
          </p:nvPr>
        </p:nvSpPr>
        <p:spPr>
          <a:xfrm>
            <a:off x="179388" y="1773238"/>
            <a:ext cx="8839200" cy="4248150"/>
          </a:xfrm>
        </p:spPr>
        <p:txBody>
          <a:bodyPr/>
          <a:lstStyle/>
          <a:p>
            <a:pPr algn="just"/>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假定:允许过程递归调用、允许过程含有可变数组，但过程定义不允许嵌套，如</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语言</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过程体中的非局部引用可以静态确定的地址</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局部变量在栈顶的活动记录中，可以通过</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指针来访问</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无须深入栈中取数据，无须访问链</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过程可以作为参数传递，也可以作为结果返回</a:t>
            </a:r>
          </a:p>
        </p:txBody>
      </p:sp>
    </p:spTree>
    <p:extLst>
      <p:ext uri="{BB962C8B-B14F-4D97-AF65-F5344CB8AC3E}">
        <p14:creationId xmlns:p14="http://schemas.microsoft.com/office/powerpoint/2010/main" val="3900599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75363">
                                            <p:txEl>
                                              <p:pRg st="0" end="0"/>
                                            </p:txEl>
                                          </p:spTgt>
                                        </p:tgtEl>
                                        <p:attrNameLst>
                                          <p:attrName>style.visibility</p:attrName>
                                        </p:attrNameLst>
                                      </p:cBhvr>
                                      <p:to>
                                        <p:strVal val="visible"/>
                                      </p:to>
                                    </p:set>
                                    <p:animEffect transition="in" filter="blinds(horizontal)">
                                      <p:cBhvr>
                                        <p:cTn id="7" dur="500"/>
                                        <p:tgtEl>
                                          <p:spTgt spid="257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75363">
                                            <p:txEl>
                                              <p:pRg st="1" end="1"/>
                                            </p:txEl>
                                          </p:spTgt>
                                        </p:tgtEl>
                                        <p:attrNameLst>
                                          <p:attrName>style.visibility</p:attrName>
                                        </p:attrNameLst>
                                      </p:cBhvr>
                                      <p:to>
                                        <p:strVal val="visible"/>
                                      </p:to>
                                    </p:set>
                                    <p:animEffect transition="in" filter="blinds(horizontal)">
                                      <p:cBhvr>
                                        <p:cTn id="12" dur="500"/>
                                        <p:tgtEl>
                                          <p:spTgt spid="257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75363">
                                            <p:txEl>
                                              <p:pRg st="2" end="2"/>
                                            </p:txEl>
                                          </p:spTgt>
                                        </p:tgtEl>
                                        <p:attrNameLst>
                                          <p:attrName>style.visibility</p:attrName>
                                        </p:attrNameLst>
                                      </p:cBhvr>
                                      <p:to>
                                        <p:strVal val="visible"/>
                                      </p:to>
                                    </p:set>
                                    <p:animEffect transition="in" filter="blinds(horizontal)">
                                      <p:cBhvr>
                                        <p:cTn id="17" dur="500"/>
                                        <p:tgtEl>
                                          <p:spTgt spid="2575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75363">
                                            <p:txEl>
                                              <p:pRg st="3" end="3"/>
                                            </p:txEl>
                                          </p:spTgt>
                                        </p:tgtEl>
                                        <p:attrNameLst>
                                          <p:attrName>style.visibility</p:attrName>
                                        </p:attrNameLst>
                                      </p:cBhvr>
                                      <p:to>
                                        <p:strVal val="visible"/>
                                      </p:to>
                                    </p:set>
                                    <p:animEffect transition="in" filter="blinds(horizontal)">
                                      <p:cBhvr>
                                        <p:cTn id="22" dur="500"/>
                                        <p:tgtEl>
                                          <p:spTgt spid="25753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75363">
                                            <p:txEl>
                                              <p:pRg st="4" end="4"/>
                                            </p:txEl>
                                          </p:spTgt>
                                        </p:tgtEl>
                                        <p:attrNameLst>
                                          <p:attrName>style.visibility</p:attrName>
                                        </p:attrNameLst>
                                      </p:cBhvr>
                                      <p:to>
                                        <p:strVal val="visible"/>
                                      </p:to>
                                    </p:set>
                                    <p:animEffect transition="in" filter="blinds(horizontal)">
                                      <p:cBhvr>
                                        <p:cTn id="27" dur="500"/>
                                        <p:tgtEl>
                                          <p:spTgt spid="257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536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6B862FB-1083-4270-9D9F-632A0805E4B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0A86092-2292-4FB6-8087-76255E418241}" type="slidenum">
              <a:rPr lang="en-US" altLang="zh-CN"/>
              <a:pPr/>
              <a:t>56</a:t>
            </a:fld>
            <a:endParaRPr lang="en-US" altLang="zh-CN"/>
          </a:p>
        </p:txBody>
      </p:sp>
      <p:sp>
        <p:nvSpPr>
          <p:cNvPr id="2963459" name="Rectangle 3"/>
          <p:cNvSpPr>
            <a:spLocks noGrp="1" noChangeArrowheads="1"/>
          </p:cNvSpPr>
          <p:nvPr>
            <p:ph type="body" idx="1"/>
          </p:nvPr>
        </p:nvSpPr>
        <p:spPr>
          <a:xfrm>
            <a:off x="304800" y="1620838"/>
            <a:ext cx="8534400" cy="4471987"/>
          </a:xfrm>
        </p:spPr>
        <p:txBody>
          <a:bodyPr/>
          <a:lstStyle/>
          <a:p>
            <a:pPr algn="just">
              <a:spcBef>
                <a:spcPct val="1000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语言的函数声明不能嵌套，函数不论在什么情况下激活，要访问的数据分成两种情况</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p>
          <a:p>
            <a:pPr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非静态局部变量（包括形式参数），它们分配在活动记录栈顶的那个活动记录中</a:t>
            </a:r>
          </a:p>
          <a:p>
            <a:pPr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外部变量（包括定义在其它源文件中的外部变量）和静态的局部变量，它们都分配在静态数据区 </a:t>
            </a:r>
          </a:p>
        </p:txBody>
      </p:sp>
      <p:sp>
        <p:nvSpPr>
          <p:cNvPr id="2963461" name="Rectangle 5"/>
          <p:cNvSpPr>
            <a:spLocks noGrp="1" noChangeArrowheads="1"/>
          </p:cNvSpPr>
          <p:nvPr>
            <p:ph type="title"/>
          </p:nvPr>
        </p:nvSpPr>
        <p:spPr>
          <a:xfrm>
            <a:off x="827088" y="476250"/>
            <a:ext cx="7948612" cy="900113"/>
          </a:xfrm>
          <a:noFill/>
          <a:ln/>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9.5.1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无过程嵌套的静态作用域</a:t>
            </a:r>
          </a:p>
        </p:txBody>
      </p:sp>
    </p:spTree>
    <p:extLst>
      <p:ext uri="{BB962C8B-B14F-4D97-AF65-F5344CB8AC3E}">
        <p14:creationId xmlns:p14="http://schemas.microsoft.com/office/powerpoint/2010/main" val="155973165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日期占位符 4"/>
          <p:cNvSpPr>
            <a:spLocks noGrp="1"/>
          </p:cNvSpPr>
          <p:nvPr>
            <p:ph type="dt" sz="half" idx="10"/>
          </p:nvPr>
        </p:nvSpPr>
        <p:spPr/>
        <p:txBody>
          <a:bodyPr/>
          <a:lstStyle/>
          <a:p>
            <a:fld id="{A05ECA11-8D4A-4343-8EDD-C032771CFF99}" type="datetime1">
              <a:rPr lang="zh-CN" altLang="en-US"/>
              <a:pPr/>
              <a:t>2017/2/24</a:t>
            </a:fld>
            <a:endParaRPr lang="en-US" altLang="zh-CN"/>
          </a:p>
        </p:txBody>
      </p:sp>
      <p:sp>
        <p:nvSpPr>
          <p:cNvPr id="24" name="灯片编号占位符 6"/>
          <p:cNvSpPr>
            <a:spLocks noGrp="1"/>
          </p:cNvSpPr>
          <p:nvPr>
            <p:ph type="sldNum" sz="quarter" idx="12"/>
          </p:nvPr>
        </p:nvSpPr>
        <p:spPr/>
        <p:txBody>
          <a:bodyPr/>
          <a:lstStyle/>
          <a:p>
            <a:fld id="{574EAFB7-71DE-4841-A6D5-7C42FFB48E7F}" type="slidenum">
              <a:rPr lang="en-US" altLang="zh-CN"/>
              <a:pPr/>
              <a:t>57</a:t>
            </a:fld>
            <a:endParaRPr lang="en-US" altLang="zh-CN"/>
          </a:p>
        </p:txBody>
      </p:sp>
      <p:sp>
        <p:nvSpPr>
          <p:cNvPr id="2577410" name="Rectangle 2"/>
          <p:cNvSpPr>
            <a:spLocks noGrp="1" noChangeArrowheads="1"/>
          </p:cNvSpPr>
          <p:nvPr>
            <p:ph type="body" sz="half" idx="1"/>
          </p:nvPr>
        </p:nvSpPr>
        <p:spPr>
          <a:xfrm>
            <a:off x="381000" y="228600"/>
            <a:ext cx="4114800" cy="6629400"/>
          </a:xfrm>
          <a:noFill/>
        </p:spPr>
        <p:txBody>
          <a:bodyPr/>
          <a:lstStyle/>
          <a:p>
            <a:pPr algn="just">
              <a:lnSpc>
                <a:spcPct val="90000"/>
              </a:lnSpc>
              <a:buFontTx/>
              <a:buNone/>
            </a:pPr>
            <a:r>
              <a:rPr lang="en-US" altLang="zh-CN" sz="2800" b="1">
                <a:solidFill>
                  <a:srgbClr val="FF3300"/>
                </a:solidFill>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a:solidFill>
                  <a:srgbClr val="FF3300"/>
                </a:solidFill>
                <a:latin typeface="Times New Roman" panose="02020603050405020304" pitchFamily="18" charset="0"/>
                <a:ea typeface="华文新魏" panose="02010800040101010101" pitchFamily="2" charset="-122"/>
                <a:cs typeface="Times New Roman" panose="02020603050405020304" pitchFamily="18" charset="0"/>
              </a:rPr>
              <a:t>全局数据说明</a:t>
            </a:r>
          </a:p>
          <a:p>
            <a:pPr algn="just">
              <a:lnSpc>
                <a:spcPct val="90000"/>
              </a:lnSpc>
              <a:buFontTx/>
              <a:buNone/>
            </a:pP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main( )</a:t>
            </a:r>
          </a:p>
          <a:p>
            <a:pPr algn="just">
              <a:lnSpc>
                <a:spcPct val="90000"/>
              </a:lnSpc>
              <a:buFontTx/>
              <a:buNone/>
            </a:pP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   </a:t>
            </a:r>
          </a:p>
          <a:p>
            <a:pPr algn="just">
              <a:lnSpc>
                <a:spcPct val="90000"/>
              </a:lnSpc>
              <a:buFontTx/>
              <a:buNone/>
            </a:pP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	   main</a:t>
            </a:r>
            <a:r>
              <a:rPr lang="zh-CN" altLang="en-US"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中的数据说明</a:t>
            </a:r>
          </a:p>
          <a:p>
            <a:pPr algn="just">
              <a:lnSpc>
                <a:spcPct val="90000"/>
              </a:lnSpc>
              <a:buFontTx/>
              <a:buNone/>
            </a:pP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a:t>
            </a:r>
          </a:p>
          <a:p>
            <a:pPr algn="just">
              <a:lnSpc>
                <a:spcPct val="90000"/>
              </a:lnSpc>
              <a:buFontTx/>
              <a:buNone/>
            </a:pPr>
            <a:r>
              <a:rPr lang="en-US" altLang="zh-CN" sz="28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void R( )</a:t>
            </a:r>
          </a:p>
          <a:p>
            <a:pPr algn="just">
              <a:lnSpc>
                <a:spcPct val="90000"/>
              </a:lnSpc>
              <a:buFontTx/>
              <a:buNone/>
            </a:pPr>
            <a:r>
              <a:rPr lang="en-US" altLang="zh-CN" sz="28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a:t>
            </a:r>
          </a:p>
          <a:p>
            <a:pPr algn="just">
              <a:lnSpc>
                <a:spcPct val="90000"/>
              </a:lnSpc>
              <a:buFontTx/>
              <a:buNone/>
            </a:pPr>
            <a:r>
              <a:rPr lang="en-US" altLang="zh-CN" sz="28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R</a:t>
            </a:r>
            <a:r>
              <a:rPr lang="zh-CN" altLang="en-US" sz="28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中的数据说明</a:t>
            </a:r>
          </a:p>
          <a:p>
            <a:pPr algn="just">
              <a:lnSpc>
                <a:spcPct val="90000"/>
              </a:lnSpc>
              <a:buFontTx/>
              <a:buNone/>
            </a:pPr>
            <a:r>
              <a:rPr lang="en-US" altLang="zh-CN" sz="28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a:t>
            </a:r>
          </a:p>
          <a:p>
            <a:pPr algn="just">
              <a:lnSpc>
                <a:spcPct val="90000"/>
              </a:lnSpc>
              <a:buFontTx/>
              <a:buNone/>
            </a:pPr>
            <a:r>
              <a:rPr lang="en-US" altLang="zh-CN" sz="28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void Q( )</a:t>
            </a:r>
          </a:p>
          <a:p>
            <a:pPr algn="just">
              <a:lnSpc>
                <a:spcPct val="90000"/>
              </a:lnSpc>
              <a:buFontTx/>
              <a:buNone/>
            </a:pPr>
            <a:r>
              <a:rPr lang="en-US" altLang="zh-CN" sz="28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   </a:t>
            </a:r>
          </a:p>
          <a:p>
            <a:pPr algn="just">
              <a:lnSpc>
                <a:spcPct val="90000"/>
              </a:lnSpc>
              <a:buFontTx/>
              <a:buNone/>
            </a:pPr>
            <a:r>
              <a:rPr lang="en-US" altLang="zh-CN" sz="28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      Q</a:t>
            </a:r>
            <a:r>
              <a:rPr lang="zh-CN" altLang="en-US" sz="28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中的数据说明</a:t>
            </a:r>
          </a:p>
          <a:p>
            <a:pPr algn="just">
              <a:lnSpc>
                <a:spcPct val="90000"/>
              </a:lnSpc>
              <a:buFontTx/>
              <a:buNone/>
            </a:pPr>
            <a:r>
              <a:rPr lang="en-US" altLang="zh-CN" sz="28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a:t>
            </a:r>
          </a:p>
        </p:txBody>
      </p:sp>
      <p:sp>
        <p:nvSpPr>
          <p:cNvPr id="2577411" name="Rectangle 3"/>
          <p:cNvSpPr>
            <a:spLocks noGrp="1" noChangeArrowheads="1"/>
          </p:cNvSpPr>
          <p:nvPr>
            <p:ph type="body" sz="half" idx="2"/>
          </p:nvPr>
        </p:nvSpPr>
        <p:spPr>
          <a:xfrm>
            <a:off x="4800600" y="457200"/>
            <a:ext cx="4038600" cy="1295400"/>
          </a:xfrm>
          <a:noFill/>
        </p:spPr>
        <p:txBody>
          <a:bodyPr/>
          <a:lstStyle/>
          <a:p>
            <a:r>
              <a:rPr lang="zh-CN" altLang="en-US" b="1" noProof="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主程序</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noProof="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Q</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noProof="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R</a:t>
            </a:r>
          </a:p>
        </p:txBody>
      </p:sp>
      <p:sp>
        <p:nvSpPr>
          <p:cNvPr id="2577412" name="Rectangle 4"/>
          <p:cNvSpPr>
            <a:spLocks noChangeArrowheads="1"/>
          </p:cNvSpPr>
          <p:nvPr/>
        </p:nvSpPr>
        <p:spPr bwMode="auto">
          <a:xfrm>
            <a:off x="5638800" y="2895600"/>
            <a:ext cx="2749550" cy="700088"/>
          </a:xfrm>
          <a:prstGeom prst="rect">
            <a:avLst/>
          </a:prstGeom>
          <a:solidFill>
            <a:srgbClr val="CC66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chemeClr val="bg1"/>
                </a:solidFill>
                <a:ea typeface="楷体_GB2312" pitchFamily="49" charset="-122"/>
              </a:rPr>
              <a:t>Q</a:t>
            </a:r>
            <a:r>
              <a:rPr kumimoji="1" lang="zh-CN" altLang="zh-CN" sz="2800" b="1">
                <a:solidFill>
                  <a:schemeClr val="bg1"/>
                </a:solidFill>
                <a:ea typeface="楷体_GB2312" pitchFamily="49" charset="-122"/>
              </a:rPr>
              <a:t>的活动记录</a:t>
            </a:r>
            <a:endParaRPr kumimoji="1" lang="zh-CN" altLang="en-US" sz="2800" b="1">
              <a:solidFill>
                <a:schemeClr val="bg1"/>
              </a:solidFill>
              <a:ea typeface="楷体_GB2312" pitchFamily="49" charset="-122"/>
            </a:endParaRPr>
          </a:p>
        </p:txBody>
      </p:sp>
      <p:sp>
        <p:nvSpPr>
          <p:cNvPr id="2577413" name="Rectangle 5"/>
          <p:cNvSpPr>
            <a:spLocks noChangeArrowheads="1"/>
          </p:cNvSpPr>
          <p:nvPr/>
        </p:nvSpPr>
        <p:spPr bwMode="auto">
          <a:xfrm>
            <a:off x="5638800" y="3581400"/>
            <a:ext cx="2749550" cy="685800"/>
          </a:xfrm>
          <a:prstGeom prst="rect">
            <a:avLst/>
          </a:prstGeom>
          <a:solidFill>
            <a:srgbClr val="00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chemeClr val="bg1"/>
                </a:solidFill>
                <a:ea typeface="楷体_GB2312" pitchFamily="49" charset="-122"/>
              </a:rPr>
              <a:t>主程序</a:t>
            </a:r>
            <a:r>
              <a:rPr kumimoji="1" lang="zh-CN" altLang="zh-CN" sz="2800" b="1">
                <a:solidFill>
                  <a:schemeClr val="bg1"/>
                </a:solidFill>
                <a:ea typeface="楷体_GB2312" pitchFamily="49" charset="-122"/>
              </a:rPr>
              <a:t>活动记录</a:t>
            </a:r>
            <a:endParaRPr kumimoji="1" lang="zh-CN" altLang="en-US" sz="2800" b="1">
              <a:solidFill>
                <a:schemeClr val="bg1"/>
              </a:solidFill>
              <a:ea typeface="楷体_GB2312" pitchFamily="49" charset="-122"/>
            </a:endParaRPr>
          </a:p>
        </p:txBody>
      </p:sp>
      <p:sp>
        <p:nvSpPr>
          <p:cNvPr id="2577414" name="Rectangle 6"/>
          <p:cNvSpPr>
            <a:spLocks noChangeArrowheads="1"/>
          </p:cNvSpPr>
          <p:nvPr/>
        </p:nvSpPr>
        <p:spPr bwMode="auto">
          <a:xfrm>
            <a:off x="5638800" y="2133600"/>
            <a:ext cx="2749550" cy="3048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7415" name="Rectangle 7"/>
          <p:cNvSpPr>
            <a:spLocks noChangeArrowheads="1"/>
          </p:cNvSpPr>
          <p:nvPr/>
        </p:nvSpPr>
        <p:spPr bwMode="auto">
          <a:xfrm>
            <a:off x="4724400" y="1981200"/>
            <a:ext cx="739775"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TOP</a:t>
            </a:r>
            <a:r>
              <a:rPr kumimoji="1" lang="en-US" altLang="zh-CN" sz="2800" b="1">
                <a:ea typeface="楷体_GB2312" pitchFamily="49" charset="-122"/>
                <a:sym typeface="Symbol" panose="05050102010706020507" pitchFamily="18" charset="2"/>
              </a:rPr>
              <a:t></a:t>
            </a:r>
            <a:endParaRPr kumimoji="1" lang="en-US" altLang="zh-CN" sz="2800" b="1">
              <a:ea typeface="楷体_GB2312" pitchFamily="49" charset="-122"/>
            </a:endParaRPr>
          </a:p>
        </p:txBody>
      </p:sp>
      <p:sp>
        <p:nvSpPr>
          <p:cNvPr id="2577416" name="Rectangle 8"/>
          <p:cNvSpPr>
            <a:spLocks noChangeArrowheads="1"/>
          </p:cNvSpPr>
          <p:nvPr/>
        </p:nvSpPr>
        <p:spPr bwMode="auto">
          <a:xfrm>
            <a:off x="5638800" y="2133600"/>
            <a:ext cx="2749550" cy="762000"/>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chemeClr val="bg1"/>
                </a:solidFill>
                <a:ea typeface="楷体_GB2312" pitchFamily="49" charset="-122"/>
              </a:rPr>
              <a:t>R</a:t>
            </a:r>
            <a:r>
              <a:rPr kumimoji="1" lang="zh-CN" altLang="zh-CN" sz="2800" b="1">
                <a:solidFill>
                  <a:schemeClr val="bg1"/>
                </a:solidFill>
                <a:ea typeface="楷体_GB2312" pitchFamily="49" charset="-122"/>
              </a:rPr>
              <a:t>的活动记录</a:t>
            </a:r>
            <a:endParaRPr kumimoji="1" lang="zh-CN" altLang="en-US" sz="2800" b="1">
              <a:solidFill>
                <a:schemeClr val="bg1"/>
              </a:solidFill>
              <a:ea typeface="楷体_GB2312" pitchFamily="49" charset="-122"/>
            </a:endParaRPr>
          </a:p>
        </p:txBody>
      </p:sp>
      <p:sp>
        <p:nvSpPr>
          <p:cNvPr id="2577417" name="Rectangle 9"/>
          <p:cNvSpPr>
            <a:spLocks noChangeArrowheads="1"/>
          </p:cNvSpPr>
          <p:nvPr/>
        </p:nvSpPr>
        <p:spPr bwMode="auto">
          <a:xfrm>
            <a:off x="4800600" y="2514600"/>
            <a:ext cx="739775"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SP</a:t>
            </a:r>
            <a:r>
              <a:rPr kumimoji="1" lang="en-US" altLang="zh-CN" sz="2800" b="1">
                <a:ea typeface="楷体_GB2312" pitchFamily="49" charset="-122"/>
                <a:sym typeface="Symbol" panose="05050102010706020507" pitchFamily="18" charset="2"/>
              </a:rPr>
              <a:t></a:t>
            </a:r>
            <a:endParaRPr kumimoji="1" lang="en-US" altLang="zh-CN" sz="2800" b="1">
              <a:ea typeface="楷体_GB2312" pitchFamily="49" charset="-122"/>
            </a:endParaRPr>
          </a:p>
        </p:txBody>
      </p:sp>
      <p:sp>
        <p:nvSpPr>
          <p:cNvPr id="2577418" name="Line 10"/>
          <p:cNvSpPr>
            <a:spLocks noChangeShapeType="1"/>
          </p:cNvSpPr>
          <p:nvPr/>
        </p:nvSpPr>
        <p:spPr bwMode="auto">
          <a:xfrm flipV="1">
            <a:off x="8686800" y="2133600"/>
            <a:ext cx="0" cy="312420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7419" name="Rectangle 11"/>
          <p:cNvSpPr>
            <a:spLocks noChangeArrowheads="1"/>
          </p:cNvSpPr>
          <p:nvPr/>
        </p:nvSpPr>
        <p:spPr bwMode="auto">
          <a:xfrm>
            <a:off x="2895600" y="2057400"/>
            <a:ext cx="2252663" cy="38100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7420" name="Rectangle 12"/>
          <p:cNvSpPr>
            <a:spLocks noChangeArrowheads="1"/>
          </p:cNvSpPr>
          <p:nvPr/>
        </p:nvSpPr>
        <p:spPr bwMode="auto">
          <a:xfrm>
            <a:off x="2895600" y="4233863"/>
            <a:ext cx="2252663"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577421" name="Rectangle 13"/>
          <p:cNvSpPr>
            <a:spLocks noChangeArrowheads="1"/>
          </p:cNvSpPr>
          <p:nvPr/>
        </p:nvSpPr>
        <p:spPr bwMode="auto">
          <a:xfrm>
            <a:off x="2895600" y="4778375"/>
            <a:ext cx="2252663"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577422" name="Rectangle 14"/>
          <p:cNvSpPr>
            <a:spLocks noChangeArrowheads="1"/>
          </p:cNvSpPr>
          <p:nvPr/>
        </p:nvSpPr>
        <p:spPr bwMode="auto">
          <a:xfrm>
            <a:off x="2895600" y="3690938"/>
            <a:ext cx="2252663"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577423" name="Rectangle 15"/>
          <p:cNvSpPr>
            <a:spLocks noChangeArrowheads="1"/>
          </p:cNvSpPr>
          <p:nvPr/>
        </p:nvSpPr>
        <p:spPr bwMode="auto">
          <a:xfrm>
            <a:off x="2895600" y="2601913"/>
            <a:ext cx="2252663"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577424" name="Rectangle 16"/>
          <p:cNvSpPr>
            <a:spLocks noChangeArrowheads="1"/>
          </p:cNvSpPr>
          <p:nvPr/>
        </p:nvSpPr>
        <p:spPr bwMode="auto">
          <a:xfrm>
            <a:off x="2895600" y="3146425"/>
            <a:ext cx="2252663"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577425" name="Rectangle 17"/>
          <p:cNvSpPr>
            <a:spLocks noChangeArrowheads="1"/>
          </p:cNvSpPr>
          <p:nvPr/>
        </p:nvSpPr>
        <p:spPr bwMode="auto">
          <a:xfrm>
            <a:off x="2895600" y="5322888"/>
            <a:ext cx="2252663"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老</a:t>
            </a:r>
            <a:r>
              <a:rPr kumimoji="1" lang="en-US" altLang="en-US" sz="2800" b="1">
                <a:ea typeface="楷体_GB2312" pitchFamily="49" charset="-122"/>
              </a:rPr>
              <a:t>SP</a:t>
            </a:r>
            <a:endParaRPr kumimoji="1" lang="en-US" altLang="zh-CN" sz="2800" b="1">
              <a:ea typeface="楷体_GB2312" pitchFamily="49" charset="-122"/>
            </a:endParaRPr>
          </a:p>
        </p:txBody>
      </p:sp>
      <p:sp>
        <p:nvSpPr>
          <p:cNvPr id="2577426" name="Rectangle 18"/>
          <p:cNvSpPr>
            <a:spLocks noChangeArrowheads="1"/>
          </p:cNvSpPr>
          <p:nvPr/>
        </p:nvSpPr>
        <p:spPr bwMode="auto">
          <a:xfrm>
            <a:off x="2895600" y="2057400"/>
            <a:ext cx="2252663"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577427" name="Line 19"/>
          <p:cNvSpPr>
            <a:spLocks noChangeShapeType="1"/>
          </p:cNvSpPr>
          <p:nvPr/>
        </p:nvSpPr>
        <p:spPr bwMode="auto">
          <a:xfrm flipH="1" flipV="1">
            <a:off x="5105400" y="2057400"/>
            <a:ext cx="474663" cy="795338"/>
          </a:xfrm>
          <a:prstGeom prst="line">
            <a:avLst/>
          </a:prstGeom>
          <a:noFill/>
          <a:ln w="28575">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7428" name="Line 20"/>
          <p:cNvSpPr>
            <a:spLocks noChangeShapeType="1"/>
          </p:cNvSpPr>
          <p:nvPr/>
        </p:nvSpPr>
        <p:spPr bwMode="auto">
          <a:xfrm flipH="1">
            <a:off x="5105400" y="3573463"/>
            <a:ext cx="474663" cy="2293937"/>
          </a:xfrm>
          <a:prstGeom prst="line">
            <a:avLst/>
          </a:prstGeom>
          <a:noFill/>
          <a:ln w="28575">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7429" name="Rectangle 21"/>
          <p:cNvSpPr>
            <a:spLocks noChangeArrowheads="1"/>
          </p:cNvSpPr>
          <p:nvPr/>
        </p:nvSpPr>
        <p:spPr bwMode="auto">
          <a:xfrm>
            <a:off x="5638800" y="4267200"/>
            <a:ext cx="2749550" cy="912813"/>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chemeClr val="bg1"/>
                </a:solidFill>
                <a:ea typeface="楷体_GB2312" pitchFamily="49" charset="-122"/>
              </a:rPr>
              <a:t>全局数据区</a:t>
            </a:r>
          </a:p>
        </p:txBody>
      </p:sp>
    </p:spTree>
    <p:extLst>
      <p:ext uri="{BB962C8B-B14F-4D97-AF65-F5344CB8AC3E}">
        <p14:creationId xmlns:p14="http://schemas.microsoft.com/office/powerpoint/2010/main" val="28375984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7411">
                                            <p:txEl>
                                              <p:pRg st="0" end="0"/>
                                            </p:txEl>
                                          </p:spTgt>
                                        </p:tgtEl>
                                        <p:attrNameLst>
                                          <p:attrName>style.visibility</p:attrName>
                                        </p:attrNameLst>
                                      </p:cBhvr>
                                      <p:to>
                                        <p:strVal val="visible"/>
                                      </p:to>
                                    </p:set>
                                    <p:animEffect transition="in" filter="wipe(left)">
                                      <p:cBhvr>
                                        <p:cTn id="7" dur="500"/>
                                        <p:tgtEl>
                                          <p:spTgt spid="257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577414"/>
                                        </p:tgtEl>
                                        <p:attrNameLst>
                                          <p:attrName>style.visibility</p:attrName>
                                        </p:attrNameLst>
                                      </p:cBhvr>
                                      <p:to>
                                        <p:strVal val="visible"/>
                                      </p:to>
                                    </p:set>
                                    <p:animEffect transition="in" filter="wipe(down)">
                                      <p:cBhvr>
                                        <p:cTn id="12" dur="500"/>
                                        <p:tgtEl>
                                          <p:spTgt spid="25774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577429"/>
                                        </p:tgtEl>
                                        <p:attrNameLst>
                                          <p:attrName>style.visibility</p:attrName>
                                        </p:attrNameLst>
                                      </p:cBhvr>
                                      <p:to>
                                        <p:strVal val="visible"/>
                                      </p:to>
                                    </p:set>
                                    <p:animEffect transition="in" filter="wipe(down)">
                                      <p:cBhvr>
                                        <p:cTn id="17" dur="500"/>
                                        <p:tgtEl>
                                          <p:spTgt spid="25774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577413"/>
                                        </p:tgtEl>
                                        <p:attrNameLst>
                                          <p:attrName>style.visibility</p:attrName>
                                        </p:attrNameLst>
                                      </p:cBhvr>
                                      <p:to>
                                        <p:strVal val="visible"/>
                                      </p:to>
                                    </p:set>
                                    <p:animEffect transition="in" filter="wipe(down)">
                                      <p:cBhvr>
                                        <p:cTn id="22" dur="500"/>
                                        <p:tgtEl>
                                          <p:spTgt spid="25774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577412"/>
                                        </p:tgtEl>
                                        <p:attrNameLst>
                                          <p:attrName>style.visibility</p:attrName>
                                        </p:attrNameLst>
                                      </p:cBhvr>
                                      <p:to>
                                        <p:strVal val="visible"/>
                                      </p:to>
                                    </p:set>
                                    <p:animEffect transition="in" filter="wipe(down)">
                                      <p:cBhvr>
                                        <p:cTn id="27" dur="500"/>
                                        <p:tgtEl>
                                          <p:spTgt spid="25774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577416"/>
                                        </p:tgtEl>
                                        <p:attrNameLst>
                                          <p:attrName>style.visibility</p:attrName>
                                        </p:attrNameLst>
                                      </p:cBhvr>
                                      <p:to>
                                        <p:strVal val="visible"/>
                                      </p:to>
                                    </p:set>
                                    <p:animEffect transition="in" filter="wipe(down)">
                                      <p:cBhvr>
                                        <p:cTn id="32" dur="500"/>
                                        <p:tgtEl>
                                          <p:spTgt spid="25774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577417"/>
                                        </p:tgtEl>
                                        <p:attrNameLst>
                                          <p:attrName>style.visibility</p:attrName>
                                        </p:attrNameLst>
                                      </p:cBhvr>
                                      <p:to>
                                        <p:strVal val="visible"/>
                                      </p:to>
                                    </p:set>
                                    <p:animEffect transition="in" filter="wipe(down)">
                                      <p:cBhvr>
                                        <p:cTn id="37" dur="500"/>
                                        <p:tgtEl>
                                          <p:spTgt spid="25774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577415"/>
                                        </p:tgtEl>
                                        <p:attrNameLst>
                                          <p:attrName>style.visibility</p:attrName>
                                        </p:attrNameLst>
                                      </p:cBhvr>
                                      <p:to>
                                        <p:strVal val="visible"/>
                                      </p:to>
                                    </p:set>
                                    <p:animEffect transition="in" filter="wipe(down)">
                                      <p:cBhvr>
                                        <p:cTn id="42" dur="500"/>
                                        <p:tgtEl>
                                          <p:spTgt spid="25774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577418"/>
                                        </p:tgtEl>
                                        <p:attrNameLst>
                                          <p:attrName>style.visibility</p:attrName>
                                        </p:attrNameLst>
                                      </p:cBhvr>
                                      <p:to>
                                        <p:strVal val="visible"/>
                                      </p:to>
                                    </p:set>
                                    <p:animEffect transition="in" filter="wipe(down)">
                                      <p:cBhvr>
                                        <p:cTn id="47" dur="500"/>
                                        <p:tgtEl>
                                          <p:spTgt spid="25774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577419"/>
                                        </p:tgtEl>
                                        <p:attrNameLst>
                                          <p:attrName>style.visibility</p:attrName>
                                        </p:attrNameLst>
                                      </p:cBhvr>
                                      <p:to>
                                        <p:strVal val="visible"/>
                                      </p:to>
                                    </p:set>
                                    <p:animEffect transition="in" filter="blinds(horizontal)">
                                      <p:cBhvr>
                                        <p:cTn id="52" dur="500"/>
                                        <p:tgtEl>
                                          <p:spTgt spid="2577419"/>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577425"/>
                                        </p:tgtEl>
                                        <p:attrNameLst>
                                          <p:attrName>style.visibility</p:attrName>
                                        </p:attrNameLst>
                                      </p:cBhvr>
                                      <p:to>
                                        <p:strVal val="visible"/>
                                      </p:to>
                                    </p:set>
                                    <p:animEffect transition="in" filter="blinds(horizontal)">
                                      <p:cBhvr>
                                        <p:cTn id="55" dur="500"/>
                                        <p:tgtEl>
                                          <p:spTgt spid="2577425"/>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577421"/>
                                        </p:tgtEl>
                                        <p:attrNameLst>
                                          <p:attrName>style.visibility</p:attrName>
                                        </p:attrNameLst>
                                      </p:cBhvr>
                                      <p:to>
                                        <p:strVal val="visible"/>
                                      </p:to>
                                    </p:set>
                                    <p:animEffect transition="in" filter="blinds(horizontal)">
                                      <p:cBhvr>
                                        <p:cTn id="58" dur="500"/>
                                        <p:tgtEl>
                                          <p:spTgt spid="2577421"/>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577420"/>
                                        </p:tgtEl>
                                        <p:attrNameLst>
                                          <p:attrName>style.visibility</p:attrName>
                                        </p:attrNameLst>
                                      </p:cBhvr>
                                      <p:to>
                                        <p:strVal val="visible"/>
                                      </p:to>
                                    </p:set>
                                    <p:animEffect transition="in" filter="blinds(horizontal)">
                                      <p:cBhvr>
                                        <p:cTn id="61" dur="500"/>
                                        <p:tgtEl>
                                          <p:spTgt spid="2577420"/>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2577422"/>
                                        </p:tgtEl>
                                        <p:attrNameLst>
                                          <p:attrName>style.visibility</p:attrName>
                                        </p:attrNameLst>
                                      </p:cBhvr>
                                      <p:to>
                                        <p:strVal val="visible"/>
                                      </p:to>
                                    </p:set>
                                    <p:animEffect transition="in" filter="blinds(horizontal)">
                                      <p:cBhvr>
                                        <p:cTn id="64" dur="500"/>
                                        <p:tgtEl>
                                          <p:spTgt spid="257742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577424"/>
                                        </p:tgtEl>
                                        <p:attrNameLst>
                                          <p:attrName>style.visibility</p:attrName>
                                        </p:attrNameLst>
                                      </p:cBhvr>
                                      <p:to>
                                        <p:strVal val="visible"/>
                                      </p:to>
                                    </p:set>
                                    <p:animEffect transition="in" filter="blinds(horizontal)">
                                      <p:cBhvr>
                                        <p:cTn id="67" dur="500"/>
                                        <p:tgtEl>
                                          <p:spTgt spid="257742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577423"/>
                                        </p:tgtEl>
                                        <p:attrNameLst>
                                          <p:attrName>style.visibility</p:attrName>
                                        </p:attrNameLst>
                                      </p:cBhvr>
                                      <p:to>
                                        <p:strVal val="visible"/>
                                      </p:to>
                                    </p:set>
                                    <p:animEffect transition="in" filter="blinds(horizontal)">
                                      <p:cBhvr>
                                        <p:cTn id="70" dur="500"/>
                                        <p:tgtEl>
                                          <p:spTgt spid="2577423"/>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2577426"/>
                                        </p:tgtEl>
                                        <p:attrNameLst>
                                          <p:attrName>style.visibility</p:attrName>
                                        </p:attrNameLst>
                                      </p:cBhvr>
                                      <p:to>
                                        <p:strVal val="visible"/>
                                      </p:to>
                                    </p:set>
                                    <p:animEffect transition="in" filter="blinds(horizontal)">
                                      <p:cBhvr>
                                        <p:cTn id="73" dur="500"/>
                                        <p:tgtEl>
                                          <p:spTgt spid="2577426"/>
                                        </p:tgtEl>
                                      </p:cBhvr>
                                    </p:animEffect>
                                  </p:childTnLst>
                                </p:cTn>
                              </p:par>
                              <p:par>
                                <p:cTn id="74" presetID="3" presetClass="entr" presetSubtype="10" fill="hold" nodeType="withEffect">
                                  <p:stCondLst>
                                    <p:cond delay="0"/>
                                  </p:stCondLst>
                                  <p:childTnLst>
                                    <p:set>
                                      <p:cBhvr>
                                        <p:cTn id="75" dur="1" fill="hold">
                                          <p:stCondLst>
                                            <p:cond delay="0"/>
                                          </p:stCondLst>
                                        </p:cTn>
                                        <p:tgtEl>
                                          <p:spTgt spid="2577427"/>
                                        </p:tgtEl>
                                        <p:attrNameLst>
                                          <p:attrName>style.visibility</p:attrName>
                                        </p:attrNameLst>
                                      </p:cBhvr>
                                      <p:to>
                                        <p:strVal val="visible"/>
                                      </p:to>
                                    </p:set>
                                    <p:animEffect transition="in" filter="blinds(horizontal)">
                                      <p:cBhvr>
                                        <p:cTn id="76" dur="500"/>
                                        <p:tgtEl>
                                          <p:spTgt spid="2577427"/>
                                        </p:tgtEl>
                                      </p:cBhvr>
                                    </p:animEffect>
                                  </p:childTnLst>
                                </p:cTn>
                              </p:par>
                              <p:par>
                                <p:cTn id="77" presetID="3" presetClass="entr" presetSubtype="10" fill="hold" nodeType="withEffect">
                                  <p:stCondLst>
                                    <p:cond delay="0"/>
                                  </p:stCondLst>
                                  <p:childTnLst>
                                    <p:set>
                                      <p:cBhvr>
                                        <p:cTn id="78" dur="1" fill="hold">
                                          <p:stCondLst>
                                            <p:cond delay="0"/>
                                          </p:stCondLst>
                                        </p:cTn>
                                        <p:tgtEl>
                                          <p:spTgt spid="2577428"/>
                                        </p:tgtEl>
                                        <p:attrNameLst>
                                          <p:attrName>style.visibility</p:attrName>
                                        </p:attrNameLst>
                                      </p:cBhvr>
                                      <p:to>
                                        <p:strVal val="visible"/>
                                      </p:to>
                                    </p:set>
                                    <p:animEffect transition="in" filter="blinds(horizontal)">
                                      <p:cBhvr>
                                        <p:cTn id="79" dur="500"/>
                                        <p:tgtEl>
                                          <p:spTgt spid="2577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7411" grpId="0" build="p"/>
      <p:bldP spid="2577412" grpId="0" animBg="1" autoUpdateAnimBg="0"/>
      <p:bldP spid="2577413" grpId="0" animBg="1" autoUpdateAnimBg="0"/>
      <p:bldP spid="2577415" grpId="0" autoUpdateAnimBg="0"/>
      <p:bldP spid="2577416" grpId="0" animBg="1" autoUpdateAnimBg="0"/>
      <p:bldP spid="2577417" grpId="0" autoUpdateAnimBg="0"/>
      <p:bldP spid="2577420" grpId="0" animBg="1"/>
      <p:bldP spid="2577421" grpId="0" animBg="1"/>
      <p:bldP spid="2577422" grpId="0" animBg="1"/>
      <p:bldP spid="2577423" grpId="0" animBg="1"/>
      <p:bldP spid="2577424" grpId="0" animBg="1"/>
      <p:bldP spid="2577425" grpId="0" animBg="1"/>
      <p:bldP spid="2577426" grpId="0" animBg="1"/>
      <p:bldP spid="2577429"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44E3BC1-B748-42B1-9950-0C5E9127EB5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2CF5602-B42E-4D97-8373-D93E1FF29FE8}" type="slidenum">
              <a:rPr lang="en-US" altLang="zh-CN"/>
              <a:pPr/>
              <a:t>58</a:t>
            </a:fld>
            <a:endParaRPr lang="en-US" altLang="zh-CN"/>
          </a:p>
        </p:txBody>
      </p:sp>
      <p:sp>
        <p:nvSpPr>
          <p:cNvPr id="2578434" name="Rectangle 2"/>
          <p:cNvSpPr>
            <a:spLocks noGrp="1" noChangeArrowheads="1"/>
          </p:cNvSpPr>
          <p:nvPr>
            <p:ph type="title"/>
          </p:nvPr>
        </p:nvSpPr>
        <p:spPr>
          <a:xfrm>
            <a:off x="684213" y="223838"/>
            <a:ext cx="780415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78435" name="Rectangle 3"/>
          <p:cNvSpPr>
            <a:spLocks noGrp="1" noChangeArrowheads="1"/>
          </p:cNvSpPr>
          <p:nvPr>
            <p:ph type="body" idx="1"/>
          </p:nvPr>
        </p:nvSpPr>
        <p:spPr>
          <a:xfrm>
            <a:off x="304800" y="1439863"/>
            <a:ext cx="8534400" cy="5084762"/>
          </a:xfrm>
        </p:spPr>
        <p:txBody>
          <a:bodyPr/>
          <a:lstStyle/>
          <a:p>
            <a:pPr algn="just">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假定语言不仅允许过程的递归调用</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(和可变数组)，而且允许过程定义的嵌套，如</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PASCAL</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PL</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sort				</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readarray		</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exchange		</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quicksort		</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partition		</a:t>
            </a:r>
          </a:p>
        </p:txBody>
      </p:sp>
    </p:spTree>
    <p:extLst>
      <p:ext uri="{BB962C8B-B14F-4D97-AF65-F5344CB8AC3E}">
        <p14:creationId xmlns:p14="http://schemas.microsoft.com/office/powerpoint/2010/main" val="22550486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04DD10D-9EE0-4919-A7AA-AFD0C7464A3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D7F542F-FA4C-4838-8F98-198CB1E6A54A}" type="slidenum">
              <a:rPr lang="en-US" altLang="zh-CN"/>
              <a:pPr/>
              <a:t>59</a:t>
            </a:fld>
            <a:endParaRPr lang="en-US" altLang="zh-CN"/>
          </a:p>
        </p:txBody>
      </p:sp>
      <p:sp>
        <p:nvSpPr>
          <p:cNvPr id="2580482" name="Rectangle 2"/>
          <p:cNvSpPr>
            <a:spLocks noGrp="1" noChangeArrowheads="1"/>
          </p:cNvSpPr>
          <p:nvPr>
            <p:ph type="body" idx="1"/>
          </p:nvPr>
        </p:nvSpPr>
        <p:spPr>
          <a:xfrm>
            <a:off x="82550" y="333375"/>
            <a:ext cx="8305800" cy="5791200"/>
          </a:xfrm>
        </p:spPr>
        <p:txBody>
          <a:bodyPr/>
          <a:lstStyle/>
          <a:p>
            <a:pPr algn="just">
              <a:buFontTx/>
              <a:buNone/>
            </a:pP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1</a:t>
            </a:r>
            <a:r>
              <a:rPr lang="zh-CN" altLang="en-US" sz="2800" b="1">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program sort(input, output)</a:t>
            </a:r>
          </a:p>
          <a:p>
            <a:pPr algn="just">
              <a:buFontTx/>
              <a:buNone/>
            </a:pP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2</a:t>
            </a:r>
            <a:r>
              <a:rPr lang="zh-CN" altLang="en-US" sz="2800" b="1">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var a: array[0..10] of integer;</a:t>
            </a:r>
          </a:p>
          <a:p>
            <a:pPr algn="just">
              <a:buFontTx/>
              <a:buNone/>
            </a:pPr>
            <a:r>
              <a:rPr lang="zh-CN" altLang="en-US" sz="2800" b="1">
                <a:solidFill>
                  <a:srgbClr val="FF3300"/>
                </a:solidFill>
                <a:latin typeface="Times New Roman" panose="02020603050405020304" pitchFamily="18" charset="0"/>
                <a:ea typeface="宋体" panose="02010600030101010101" pitchFamily="2" charset="-122"/>
              </a:rPr>
              <a:t>（</a:t>
            </a:r>
            <a:r>
              <a:rPr lang="en-US" altLang="zh-CN" sz="2800" b="1">
                <a:solidFill>
                  <a:srgbClr val="FF3300"/>
                </a:solidFill>
                <a:latin typeface="Times New Roman" panose="02020603050405020304" pitchFamily="18" charset="0"/>
                <a:ea typeface="宋体" panose="02010600030101010101" pitchFamily="2" charset="-122"/>
              </a:rPr>
              <a:t>3</a:t>
            </a:r>
            <a:r>
              <a:rPr lang="zh-CN" altLang="en-US" sz="2800" b="1">
                <a:solidFill>
                  <a:srgbClr val="FF3300"/>
                </a:solidFill>
                <a:latin typeface="Times New Roman" panose="02020603050405020304" pitchFamily="18" charset="0"/>
                <a:ea typeface="宋体" panose="02010600030101010101" pitchFamily="2" charset="-122"/>
              </a:rPr>
              <a:t>）  </a:t>
            </a:r>
            <a:r>
              <a:rPr lang="en-US" altLang="zh-CN" sz="2800" b="1">
                <a:solidFill>
                  <a:srgbClr val="FF3300"/>
                </a:solidFill>
                <a:latin typeface="Times New Roman" panose="02020603050405020304" pitchFamily="18" charset="0"/>
                <a:ea typeface="宋体" panose="02010600030101010101" pitchFamily="2" charset="-122"/>
              </a:rPr>
              <a:t>procedure readarray;</a:t>
            </a:r>
          </a:p>
          <a:p>
            <a:pPr algn="just">
              <a:buFontTx/>
              <a:buNone/>
            </a:pPr>
            <a:r>
              <a:rPr lang="zh-CN" altLang="en-US" sz="2800" b="1">
                <a:solidFill>
                  <a:srgbClr val="FF3300"/>
                </a:solidFill>
                <a:latin typeface="Times New Roman" panose="02020603050405020304" pitchFamily="18" charset="0"/>
                <a:ea typeface="宋体" panose="02010600030101010101" pitchFamily="2" charset="-122"/>
              </a:rPr>
              <a:t>（</a:t>
            </a:r>
            <a:r>
              <a:rPr lang="en-US" altLang="zh-CN" sz="2800" b="1">
                <a:solidFill>
                  <a:srgbClr val="FF3300"/>
                </a:solidFill>
                <a:latin typeface="Times New Roman" panose="02020603050405020304" pitchFamily="18" charset="0"/>
                <a:ea typeface="宋体" panose="02010600030101010101" pitchFamily="2" charset="-122"/>
              </a:rPr>
              <a:t>4</a:t>
            </a:r>
            <a:r>
              <a:rPr lang="zh-CN" altLang="en-US" sz="2800" b="1">
                <a:solidFill>
                  <a:srgbClr val="FF3300"/>
                </a:solidFill>
                <a:latin typeface="Times New Roman" panose="02020603050405020304" pitchFamily="18" charset="0"/>
                <a:ea typeface="宋体" panose="02010600030101010101" pitchFamily="2" charset="-122"/>
              </a:rPr>
              <a:t>）     </a:t>
            </a:r>
            <a:r>
              <a:rPr lang="en-US" altLang="zh-CN" sz="2800" b="1">
                <a:solidFill>
                  <a:srgbClr val="FF3300"/>
                </a:solidFill>
                <a:latin typeface="Times New Roman" panose="02020603050405020304" pitchFamily="18" charset="0"/>
                <a:ea typeface="宋体" panose="02010600030101010101" pitchFamily="2" charset="-122"/>
              </a:rPr>
              <a:t>var i: integer;</a:t>
            </a:r>
          </a:p>
          <a:p>
            <a:pPr algn="just">
              <a:buFontTx/>
              <a:buNone/>
            </a:pPr>
            <a:r>
              <a:rPr lang="zh-CN" altLang="en-US" sz="2800" b="1">
                <a:solidFill>
                  <a:srgbClr val="FF3300"/>
                </a:solidFill>
                <a:latin typeface="Times New Roman" panose="02020603050405020304" pitchFamily="18" charset="0"/>
                <a:ea typeface="宋体" panose="02010600030101010101" pitchFamily="2" charset="-122"/>
              </a:rPr>
              <a:t>（</a:t>
            </a:r>
            <a:r>
              <a:rPr lang="en-US" altLang="zh-CN" sz="2800" b="1">
                <a:solidFill>
                  <a:srgbClr val="FF3300"/>
                </a:solidFill>
                <a:latin typeface="Times New Roman" panose="02020603050405020304" pitchFamily="18" charset="0"/>
                <a:ea typeface="宋体" panose="02010600030101010101" pitchFamily="2" charset="-122"/>
              </a:rPr>
              <a:t>5</a:t>
            </a:r>
            <a:r>
              <a:rPr lang="zh-CN" altLang="en-US" sz="2800" b="1">
                <a:solidFill>
                  <a:srgbClr val="FF3300"/>
                </a:solidFill>
                <a:latin typeface="Times New Roman" panose="02020603050405020304" pitchFamily="18" charset="0"/>
                <a:ea typeface="宋体" panose="02010600030101010101" pitchFamily="2" charset="-122"/>
              </a:rPr>
              <a:t>）  </a:t>
            </a:r>
            <a:r>
              <a:rPr lang="en-US" altLang="zh-CN" sz="2800" b="1">
                <a:solidFill>
                  <a:srgbClr val="FF3300"/>
                </a:solidFill>
                <a:latin typeface="Times New Roman" panose="02020603050405020304" pitchFamily="18" charset="0"/>
                <a:ea typeface="宋体" panose="02010600030101010101" pitchFamily="2" charset="-122"/>
              </a:rPr>
              <a:t>begin</a:t>
            </a:r>
          </a:p>
          <a:p>
            <a:pPr algn="just">
              <a:buFontTx/>
              <a:buNone/>
            </a:pPr>
            <a:r>
              <a:rPr lang="zh-CN" altLang="en-US" sz="2800" b="1">
                <a:solidFill>
                  <a:srgbClr val="FF3300"/>
                </a:solidFill>
                <a:latin typeface="Times New Roman" panose="02020603050405020304" pitchFamily="18" charset="0"/>
                <a:ea typeface="宋体" panose="02010600030101010101" pitchFamily="2" charset="-122"/>
              </a:rPr>
              <a:t>（</a:t>
            </a:r>
            <a:r>
              <a:rPr lang="en-US" altLang="zh-CN" sz="2800" b="1">
                <a:solidFill>
                  <a:srgbClr val="FF3300"/>
                </a:solidFill>
                <a:latin typeface="Times New Roman" panose="02020603050405020304" pitchFamily="18" charset="0"/>
                <a:ea typeface="宋体" panose="02010600030101010101" pitchFamily="2" charset="-122"/>
              </a:rPr>
              <a:t>6</a:t>
            </a:r>
            <a:r>
              <a:rPr lang="zh-CN" altLang="en-US" sz="2800" b="1">
                <a:solidFill>
                  <a:srgbClr val="FF3300"/>
                </a:solidFill>
                <a:latin typeface="Times New Roman" panose="02020603050405020304" pitchFamily="18" charset="0"/>
                <a:ea typeface="宋体" panose="02010600030101010101" pitchFamily="2" charset="-122"/>
              </a:rPr>
              <a:t>）       </a:t>
            </a:r>
            <a:r>
              <a:rPr lang="en-US" altLang="zh-CN" sz="2800" b="1">
                <a:solidFill>
                  <a:srgbClr val="FF3300"/>
                </a:solidFill>
                <a:latin typeface="Times New Roman" panose="02020603050405020304" pitchFamily="18" charset="0"/>
                <a:ea typeface="宋体" panose="02010600030101010101" pitchFamily="2" charset="-122"/>
              </a:rPr>
              <a:t>for i:=1 to 9 do read(a[i])</a:t>
            </a:r>
          </a:p>
          <a:p>
            <a:pPr algn="just">
              <a:buFontTx/>
              <a:buNone/>
            </a:pPr>
            <a:r>
              <a:rPr lang="zh-CN" altLang="en-US" sz="2800" b="1">
                <a:solidFill>
                  <a:srgbClr val="FF3300"/>
                </a:solidFill>
                <a:latin typeface="Times New Roman" panose="02020603050405020304" pitchFamily="18" charset="0"/>
                <a:ea typeface="宋体" panose="02010600030101010101" pitchFamily="2" charset="-122"/>
              </a:rPr>
              <a:t>（</a:t>
            </a:r>
            <a:r>
              <a:rPr lang="en-US" altLang="zh-CN" sz="2800" b="1">
                <a:solidFill>
                  <a:srgbClr val="FF3300"/>
                </a:solidFill>
                <a:latin typeface="Times New Roman" panose="02020603050405020304" pitchFamily="18" charset="0"/>
                <a:ea typeface="宋体" panose="02010600030101010101" pitchFamily="2" charset="-122"/>
              </a:rPr>
              <a:t>7</a:t>
            </a:r>
            <a:r>
              <a:rPr lang="zh-CN" altLang="en-US" sz="2800" b="1">
                <a:solidFill>
                  <a:srgbClr val="FF3300"/>
                </a:solidFill>
                <a:latin typeface="Times New Roman" panose="02020603050405020304" pitchFamily="18" charset="0"/>
                <a:ea typeface="宋体" panose="02010600030101010101" pitchFamily="2" charset="-122"/>
              </a:rPr>
              <a:t>）  </a:t>
            </a:r>
            <a:r>
              <a:rPr lang="en-US" altLang="zh-CN" sz="2800" b="1">
                <a:solidFill>
                  <a:srgbClr val="FF3300"/>
                </a:solidFill>
                <a:latin typeface="Times New Roman" panose="02020603050405020304" pitchFamily="18" charset="0"/>
                <a:ea typeface="宋体" panose="02010600030101010101" pitchFamily="2" charset="-122"/>
              </a:rPr>
              <a:t>end;</a:t>
            </a:r>
          </a:p>
          <a:p>
            <a:pPr algn="just">
              <a:buFontTx/>
              <a:buNone/>
            </a:pPr>
            <a:r>
              <a:rPr lang="zh-CN" altLang="en-US" sz="2800" b="1">
                <a:solidFill>
                  <a:srgbClr val="FF00FF"/>
                </a:solidFill>
                <a:latin typeface="Times New Roman" panose="02020603050405020304" pitchFamily="18" charset="0"/>
                <a:ea typeface="宋体" panose="02010600030101010101" pitchFamily="2" charset="-122"/>
              </a:rPr>
              <a:t>（</a:t>
            </a:r>
            <a:r>
              <a:rPr lang="en-US" altLang="zh-CN" sz="2800" b="1">
                <a:solidFill>
                  <a:srgbClr val="FF00FF"/>
                </a:solidFill>
                <a:latin typeface="Times New Roman" panose="02020603050405020304" pitchFamily="18" charset="0"/>
                <a:ea typeface="宋体" panose="02010600030101010101" pitchFamily="2" charset="-122"/>
              </a:rPr>
              <a:t>8</a:t>
            </a:r>
            <a:r>
              <a:rPr lang="zh-CN" altLang="en-US" sz="2800" b="1">
                <a:solidFill>
                  <a:srgbClr val="FF00FF"/>
                </a:solidFill>
                <a:latin typeface="Times New Roman" panose="02020603050405020304" pitchFamily="18" charset="0"/>
                <a:ea typeface="宋体" panose="02010600030101010101" pitchFamily="2" charset="-122"/>
              </a:rPr>
              <a:t>）  </a:t>
            </a:r>
            <a:r>
              <a:rPr lang="en-US" altLang="zh-CN" sz="2800" b="1">
                <a:solidFill>
                  <a:srgbClr val="FF00FF"/>
                </a:solidFill>
                <a:latin typeface="Times New Roman" panose="02020603050405020304" pitchFamily="18" charset="0"/>
                <a:ea typeface="宋体" panose="02010600030101010101" pitchFamily="2" charset="-122"/>
              </a:rPr>
              <a:t>function partition(y, z:integer):integer;</a:t>
            </a:r>
          </a:p>
          <a:p>
            <a:pPr algn="just">
              <a:buFontTx/>
              <a:buNone/>
            </a:pPr>
            <a:r>
              <a:rPr lang="zh-CN" altLang="en-US" sz="2800" b="1">
                <a:solidFill>
                  <a:srgbClr val="FF00FF"/>
                </a:solidFill>
                <a:latin typeface="Times New Roman" panose="02020603050405020304" pitchFamily="18" charset="0"/>
                <a:ea typeface="宋体" panose="02010600030101010101" pitchFamily="2" charset="-122"/>
              </a:rPr>
              <a:t>（</a:t>
            </a:r>
            <a:r>
              <a:rPr lang="en-US" altLang="zh-CN" sz="2800" b="1">
                <a:solidFill>
                  <a:srgbClr val="FF00FF"/>
                </a:solidFill>
                <a:latin typeface="Times New Roman" panose="02020603050405020304" pitchFamily="18" charset="0"/>
                <a:ea typeface="宋体" panose="02010600030101010101" pitchFamily="2" charset="-122"/>
              </a:rPr>
              <a:t>9</a:t>
            </a:r>
            <a:r>
              <a:rPr lang="zh-CN" altLang="en-US" sz="2800" b="1">
                <a:solidFill>
                  <a:srgbClr val="FF00FF"/>
                </a:solidFill>
                <a:latin typeface="Times New Roman" panose="02020603050405020304" pitchFamily="18" charset="0"/>
                <a:ea typeface="宋体" panose="02010600030101010101" pitchFamily="2" charset="-122"/>
              </a:rPr>
              <a:t>）      </a:t>
            </a:r>
            <a:r>
              <a:rPr lang="en-US" altLang="zh-CN" sz="2800" b="1">
                <a:solidFill>
                  <a:srgbClr val="FF00FF"/>
                </a:solidFill>
                <a:latin typeface="Times New Roman" panose="02020603050405020304" pitchFamily="18" charset="0"/>
                <a:ea typeface="宋体" panose="02010600030101010101" pitchFamily="2" charset="-122"/>
              </a:rPr>
              <a:t>var i:integer;</a:t>
            </a:r>
          </a:p>
          <a:p>
            <a:pPr algn="just">
              <a:buFontTx/>
              <a:buNone/>
            </a:pPr>
            <a:r>
              <a:rPr lang="zh-CN" altLang="en-US" sz="2800" b="1">
                <a:solidFill>
                  <a:srgbClr val="FF00FF"/>
                </a:solidFill>
                <a:latin typeface="Times New Roman" panose="02020603050405020304" pitchFamily="18" charset="0"/>
                <a:ea typeface="宋体" panose="02010600030101010101" pitchFamily="2" charset="-122"/>
              </a:rPr>
              <a:t>（</a:t>
            </a:r>
            <a:r>
              <a:rPr lang="en-US" altLang="zh-CN" sz="2800" b="1">
                <a:solidFill>
                  <a:srgbClr val="FF00FF"/>
                </a:solidFill>
                <a:latin typeface="Times New Roman" panose="02020603050405020304" pitchFamily="18" charset="0"/>
                <a:ea typeface="宋体" panose="02010600030101010101" pitchFamily="2" charset="-122"/>
              </a:rPr>
              <a:t>10</a:t>
            </a:r>
            <a:r>
              <a:rPr lang="zh-CN" altLang="en-US" sz="2800" b="1">
                <a:solidFill>
                  <a:srgbClr val="FF00FF"/>
                </a:solidFill>
                <a:latin typeface="Times New Roman" panose="02020603050405020304" pitchFamily="18" charset="0"/>
                <a:ea typeface="宋体" panose="02010600030101010101" pitchFamily="2" charset="-122"/>
              </a:rPr>
              <a:t>） </a:t>
            </a:r>
            <a:r>
              <a:rPr lang="en-US" altLang="zh-CN" sz="2800" b="1">
                <a:solidFill>
                  <a:srgbClr val="FF00FF"/>
                </a:solidFill>
                <a:latin typeface="Times New Roman" panose="02020603050405020304" pitchFamily="18" charset="0"/>
                <a:ea typeface="宋体" panose="02010600030101010101" pitchFamily="2" charset="-122"/>
              </a:rPr>
              <a:t>begin ......</a:t>
            </a:r>
          </a:p>
          <a:p>
            <a:pPr algn="just">
              <a:buFontTx/>
              <a:buNone/>
            </a:pPr>
            <a:r>
              <a:rPr lang="zh-CN" altLang="en-US" sz="2800" b="1">
                <a:solidFill>
                  <a:srgbClr val="FF00FF"/>
                </a:solidFill>
                <a:latin typeface="Times New Roman" panose="02020603050405020304" pitchFamily="18" charset="0"/>
                <a:ea typeface="宋体" panose="02010600030101010101" pitchFamily="2" charset="-122"/>
              </a:rPr>
              <a:t>（</a:t>
            </a:r>
            <a:r>
              <a:rPr lang="en-US" altLang="zh-CN" sz="2800" b="1">
                <a:solidFill>
                  <a:srgbClr val="FF00FF"/>
                </a:solidFill>
                <a:latin typeface="Times New Roman" panose="02020603050405020304" pitchFamily="18" charset="0"/>
                <a:ea typeface="宋体" panose="02010600030101010101" pitchFamily="2" charset="-122"/>
              </a:rPr>
              <a:t>11</a:t>
            </a:r>
            <a:r>
              <a:rPr lang="zh-CN" altLang="en-US" sz="2800" b="1">
                <a:solidFill>
                  <a:srgbClr val="FF00FF"/>
                </a:solidFill>
                <a:latin typeface="Times New Roman" panose="02020603050405020304" pitchFamily="18" charset="0"/>
                <a:ea typeface="宋体" panose="02010600030101010101" pitchFamily="2" charset="-122"/>
              </a:rPr>
              <a:t>） </a:t>
            </a:r>
            <a:r>
              <a:rPr lang="en-US" altLang="zh-CN" sz="2800" b="1">
                <a:solidFill>
                  <a:srgbClr val="FF00FF"/>
                </a:solidFill>
                <a:latin typeface="Times New Roman" panose="02020603050405020304" pitchFamily="18" charset="0"/>
                <a:ea typeface="宋体" panose="02010600030101010101" pitchFamily="2" charset="-122"/>
              </a:rPr>
              <a:t>end;</a:t>
            </a:r>
          </a:p>
        </p:txBody>
      </p:sp>
      <p:sp>
        <p:nvSpPr>
          <p:cNvPr id="2580483" name="Text Box 3"/>
          <p:cNvSpPr txBox="1">
            <a:spLocks noChangeArrowheads="1"/>
          </p:cNvSpPr>
          <p:nvPr/>
        </p:nvSpPr>
        <p:spPr bwMode="auto">
          <a:xfrm>
            <a:off x="4932363" y="4684713"/>
            <a:ext cx="4140200" cy="1552575"/>
          </a:xfrm>
          <a:prstGeom prst="rect">
            <a:avLst/>
          </a:prstGeom>
          <a:solidFill>
            <a:srgbClr val="CCFFCC"/>
          </a:solidFill>
          <a:ln>
            <a:noFill/>
          </a:ln>
          <a:effectLst/>
          <a:extLst>
            <a:ext uri="{91240B29-F687-4F45-9708-019B960494DF}">
              <a14:hiddenLine xmlns:a14="http://schemas.microsoft.com/office/drawing/2010/main" w="127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t>program sort</a:t>
            </a:r>
          </a:p>
          <a:p>
            <a:r>
              <a:rPr lang="en-US" altLang="zh-CN" b="1">
                <a:solidFill>
                  <a:srgbClr val="FF3300"/>
                </a:solidFill>
              </a:rPr>
              <a:t>        procedure readarray</a:t>
            </a:r>
            <a:endParaRPr lang="en-US" altLang="zh-CN" b="1"/>
          </a:p>
          <a:p>
            <a:r>
              <a:rPr lang="en-US" altLang="zh-CN"/>
              <a:t>        </a:t>
            </a:r>
            <a:r>
              <a:rPr lang="en-US" altLang="zh-CN" b="1">
                <a:solidFill>
                  <a:srgbClr val="FF00FF"/>
                </a:solidFill>
              </a:rPr>
              <a:t>function partition(y</a:t>
            </a:r>
          </a:p>
          <a:p>
            <a:r>
              <a:rPr lang="en-US" altLang="zh-CN" b="1">
                <a:solidFill>
                  <a:srgbClr val="6600CC"/>
                </a:solidFill>
              </a:rPr>
              <a:t>        procedure  quicksort</a:t>
            </a:r>
            <a:endParaRPr lang="en-GB" altLang="zh-CN" b="1">
              <a:solidFill>
                <a:srgbClr val="6600CC"/>
              </a:solidFill>
            </a:endParaRPr>
          </a:p>
        </p:txBody>
      </p:sp>
    </p:spTree>
    <p:extLst>
      <p:ext uri="{BB962C8B-B14F-4D97-AF65-F5344CB8AC3E}">
        <p14:creationId xmlns:p14="http://schemas.microsoft.com/office/powerpoint/2010/main" val="115042419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6E6CAEA-6012-4394-9F6E-F02EAAD78E1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2134FA4-CF0F-46C9-A591-5349B78ECFBE}" type="slidenum">
              <a:rPr lang="en-US" altLang="zh-CN"/>
              <a:pPr/>
              <a:t>60</a:t>
            </a:fld>
            <a:endParaRPr lang="en-US" altLang="zh-CN"/>
          </a:p>
        </p:txBody>
      </p:sp>
      <p:sp>
        <p:nvSpPr>
          <p:cNvPr id="2581506" name="Rectangle 2"/>
          <p:cNvSpPr>
            <a:spLocks noGrp="1" noChangeArrowheads="1"/>
          </p:cNvSpPr>
          <p:nvPr>
            <p:ph type="body" idx="1"/>
          </p:nvPr>
        </p:nvSpPr>
        <p:spPr>
          <a:xfrm>
            <a:off x="82550" y="260350"/>
            <a:ext cx="8305800" cy="6192838"/>
          </a:xfrm>
        </p:spPr>
        <p:txBody>
          <a:bodyPr/>
          <a:lstStyle/>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12</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procedure quicksort(m, n:integer);</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13</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var i:integer;</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14</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begin</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15</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if (n&gt;m) then begin</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16</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i:=partition(m, n );</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17</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600" b="1" i="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i="1">
                <a:solidFill>
                  <a:srgbClr val="008000"/>
                </a:solidFill>
                <a:latin typeface="Times New Roman" panose="02020603050405020304" pitchFamily="18" charset="0"/>
                <a:ea typeface="华文新魏" panose="02010800040101010101" pitchFamily="2" charset="-122"/>
                <a:cs typeface="Times New Roman" panose="02020603050405020304" pitchFamily="18" charset="0"/>
              </a:rPr>
              <a:t>quicksort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(m, i-1 );</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18</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i="1">
                <a:solidFill>
                  <a:srgbClr val="008000"/>
                </a:solidFill>
                <a:latin typeface="Times New Roman" panose="02020603050405020304" pitchFamily="18" charset="0"/>
                <a:ea typeface="华文新魏" panose="02010800040101010101" pitchFamily="2" charset="-122"/>
                <a:cs typeface="Times New Roman" panose="02020603050405020304" pitchFamily="18" charset="0"/>
              </a:rPr>
              <a:t>quicksort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(i+1, n )</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19</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end;</a:t>
            </a:r>
          </a:p>
          <a:p>
            <a:pPr algn="just">
              <a:lnSpc>
                <a:spcPct val="90000"/>
              </a:lnSpc>
              <a:buFontTx/>
              <a:buNone/>
            </a:pP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20</a:t>
            </a:r>
            <a:r>
              <a:rPr lang="zh-CN" altLang="en-US"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end;</a:t>
            </a:r>
          </a:p>
          <a:p>
            <a:pPr algn="just">
              <a:lnSpc>
                <a:spcPct val="90000"/>
              </a:lnSpc>
              <a:buFontTx/>
              <a:buNone/>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21</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begin</a:t>
            </a:r>
          </a:p>
          <a:p>
            <a:pPr algn="just">
              <a:lnSpc>
                <a:spcPct val="90000"/>
              </a:lnSpc>
              <a:buFontTx/>
              <a:buNone/>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22</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a[0]:=-9999; a[10]:=9999;</a:t>
            </a:r>
          </a:p>
          <a:p>
            <a:pPr algn="just">
              <a:lnSpc>
                <a:spcPct val="90000"/>
              </a:lnSpc>
              <a:buFontTx/>
              <a:buNone/>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23</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readarray;</a:t>
            </a:r>
          </a:p>
          <a:p>
            <a:pPr algn="just">
              <a:lnSpc>
                <a:spcPct val="90000"/>
              </a:lnSpc>
              <a:buFontTx/>
              <a:buNone/>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24</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quicksort(1, 9 )</a:t>
            </a:r>
          </a:p>
          <a:p>
            <a:pPr algn="just">
              <a:lnSpc>
                <a:spcPct val="90000"/>
              </a:lnSpc>
              <a:buFontTx/>
              <a:buNone/>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25</a:t>
            </a: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600" b="1">
                <a:latin typeface="Times New Roman" panose="02020603050405020304" pitchFamily="18" charset="0"/>
                <a:ea typeface="华文新魏" panose="02010800040101010101" pitchFamily="2" charset="-122"/>
                <a:cs typeface="Times New Roman" panose="02020603050405020304" pitchFamily="18" charset="0"/>
              </a:rPr>
              <a:t>end.</a:t>
            </a:r>
          </a:p>
        </p:txBody>
      </p:sp>
      <p:sp>
        <p:nvSpPr>
          <p:cNvPr id="2581507" name="Text Box 3"/>
          <p:cNvSpPr txBox="1">
            <a:spLocks noChangeArrowheads="1"/>
          </p:cNvSpPr>
          <p:nvPr/>
        </p:nvSpPr>
        <p:spPr bwMode="auto">
          <a:xfrm>
            <a:off x="4932363" y="2925763"/>
            <a:ext cx="4140200" cy="1552575"/>
          </a:xfrm>
          <a:prstGeom prst="rect">
            <a:avLst/>
          </a:prstGeom>
          <a:solidFill>
            <a:srgbClr val="CCFFFF"/>
          </a:solidFill>
          <a:ln>
            <a:noFill/>
          </a:ln>
          <a:effectLst/>
          <a:extLst>
            <a:ext uri="{91240B29-F687-4F45-9708-019B960494DF}">
              <a14:hiddenLine xmlns:a14="http://schemas.microsoft.com/office/drawing/2010/main" w="12700">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t>program sort</a:t>
            </a:r>
          </a:p>
          <a:p>
            <a:r>
              <a:rPr lang="en-US" altLang="zh-CN" b="1">
                <a:solidFill>
                  <a:srgbClr val="FF3300"/>
                </a:solidFill>
              </a:rPr>
              <a:t>        procedure readarray</a:t>
            </a:r>
            <a:endParaRPr lang="en-US" altLang="zh-CN" b="1"/>
          </a:p>
          <a:p>
            <a:r>
              <a:rPr lang="en-US" altLang="zh-CN" b="1"/>
              <a:t>        </a:t>
            </a:r>
            <a:r>
              <a:rPr lang="en-US" altLang="zh-CN" b="1">
                <a:solidFill>
                  <a:srgbClr val="FF00FF"/>
                </a:solidFill>
              </a:rPr>
              <a:t>function partition(y</a:t>
            </a:r>
          </a:p>
          <a:p>
            <a:r>
              <a:rPr lang="en-US" altLang="zh-CN" b="1">
                <a:solidFill>
                  <a:srgbClr val="6600CC"/>
                </a:solidFill>
              </a:rPr>
              <a:t>        procedure  quicksort</a:t>
            </a:r>
            <a:endParaRPr lang="en-GB" altLang="zh-CN" b="1">
              <a:solidFill>
                <a:srgbClr val="6600CC"/>
              </a:solidFill>
            </a:endParaRPr>
          </a:p>
        </p:txBody>
      </p:sp>
    </p:spTree>
    <p:extLst>
      <p:ext uri="{BB962C8B-B14F-4D97-AF65-F5344CB8AC3E}">
        <p14:creationId xmlns:p14="http://schemas.microsoft.com/office/powerpoint/2010/main" val="129624058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CB58C6F-C982-4B08-A3A6-C31C0C9A2EB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432E308-AE11-4331-91D2-C946E4546EA4}" type="slidenum">
              <a:rPr lang="en-US" altLang="zh-CN"/>
              <a:pPr/>
              <a:t>61</a:t>
            </a:fld>
            <a:endParaRPr lang="en-US" altLang="zh-CN"/>
          </a:p>
        </p:txBody>
      </p:sp>
      <p:sp>
        <p:nvSpPr>
          <p:cNvPr id="2582530" name="Rectangle 2"/>
          <p:cNvSpPr>
            <a:spLocks noGrp="1" noChangeArrowheads="1"/>
          </p:cNvSpPr>
          <p:nvPr>
            <p:ph type="title"/>
          </p:nvPr>
        </p:nvSpPr>
        <p:spPr>
          <a:xfrm>
            <a:off x="611188" y="115888"/>
            <a:ext cx="7875587" cy="100965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82531" name="Rectangle 3"/>
          <p:cNvSpPr>
            <a:spLocks noGrp="1" noChangeArrowheads="1"/>
          </p:cNvSpPr>
          <p:nvPr>
            <p:ph type="body" idx="1"/>
          </p:nvPr>
        </p:nvSpPr>
        <p:spPr>
          <a:xfrm>
            <a:off x="304800" y="1268413"/>
            <a:ext cx="8534400" cy="4895850"/>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引入概念：</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过程嵌套深度</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sort				1</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readarray		2</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exchange		2</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quicksort		2</a:t>
            </a:r>
          </a:p>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partition		3</a:t>
            </a:r>
          </a:p>
          <a:p>
            <a:pPr algn="just"/>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变量的嵌套深度</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：它的声明所在过程的嵌套深度作为该名字的嵌套深度</a:t>
            </a:r>
          </a:p>
        </p:txBody>
      </p:sp>
    </p:spTree>
    <p:extLst>
      <p:ext uri="{BB962C8B-B14F-4D97-AF65-F5344CB8AC3E}">
        <p14:creationId xmlns:p14="http://schemas.microsoft.com/office/powerpoint/2010/main" val="367650378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A4940C08-02FB-4A51-A934-11BC56445A23}"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0BCEC8AF-2BEC-4DF8-873B-D52DE7DCA6DA}" type="slidenum">
              <a:rPr lang="en-US" altLang="zh-CN"/>
              <a:pPr/>
              <a:t>62</a:t>
            </a:fld>
            <a:endParaRPr lang="en-US" altLang="zh-CN"/>
          </a:p>
        </p:txBody>
      </p:sp>
      <p:sp>
        <p:nvSpPr>
          <p:cNvPr id="2584578" name="Rectangle 2"/>
          <p:cNvSpPr>
            <a:spLocks noGrp="1" noChangeArrowheads="1"/>
          </p:cNvSpPr>
          <p:nvPr>
            <p:ph type="title"/>
          </p:nvPr>
        </p:nvSpPr>
        <p:spPr>
          <a:xfrm>
            <a:off x="152400" y="115888"/>
            <a:ext cx="8839200" cy="6858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84579" name="Rectangle 3"/>
          <p:cNvSpPr>
            <a:spLocks noGrp="1" noChangeArrowheads="1"/>
          </p:cNvSpPr>
          <p:nvPr>
            <p:ph type="body" idx="1"/>
          </p:nvPr>
        </p:nvSpPr>
        <p:spPr>
          <a:xfrm>
            <a:off x="304800" y="725488"/>
            <a:ext cx="8534400" cy="6019800"/>
          </a:xfrm>
        </p:spPr>
        <p:txBody>
          <a:bodyPr/>
          <a:lstStyle/>
          <a:p>
            <a:pPr algn="just">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访问链 </a:t>
            </a:r>
          </a:p>
        </p:txBody>
      </p:sp>
      <p:sp>
        <p:nvSpPr>
          <p:cNvPr id="2584580" name="Rectangle 4"/>
          <p:cNvSpPr>
            <a:spLocks noChangeArrowheads="1"/>
          </p:cNvSpPr>
          <p:nvPr/>
        </p:nvSpPr>
        <p:spPr bwMode="auto">
          <a:xfrm>
            <a:off x="0" y="2016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584581" name="Object 5"/>
          <p:cNvGraphicFramePr>
            <a:graphicFrameLocks noChangeAspect="1"/>
          </p:cNvGraphicFramePr>
          <p:nvPr/>
        </p:nvGraphicFramePr>
        <p:xfrm>
          <a:off x="71438" y="1249363"/>
          <a:ext cx="8964612" cy="5056187"/>
        </p:xfrm>
        <a:graphic>
          <a:graphicData uri="http://schemas.openxmlformats.org/presentationml/2006/ole">
            <mc:AlternateContent xmlns:mc="http://schemas.openxmlformats.org/markup-compatibility/2006">
              <mc:Choice xmlns:v="urn:schemas-microsoft-com:vml" Requires="v">
                <p:oleObj spid="_x0000_s104451" name="Visio" r:id="rId4" imgW="5015062" imgH="2827764" progId="Visio.Drawing.11">
                  <p:embed/>
                </p:oleObj>
              </mc:Choice>
              <mc:Fallback>
                <p:oleObj name="Visio" r:id="rId4" imgW="5015062" imgH="2827764" progId="Visio.Drawing.11">
                  <p:embed/>
                  <p:pic>
                    <p:nvPicPr>
                      <p:cNvPr id="258458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8" y="1249363"/>
                        <a:ext cx="8964612" cy="5056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028243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D910C40-8829-4AF5-A095-054E1ACD272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1FDC392-10DA-48E3-BFD7-A2D3C4A45640}" type="slidenum">
              <a:rPr lang="en-US" altLang="zh-CN"/>
              <a:pPr/>
              <a:t>63</a:t>
            </a:fld>
            <a:endParaRPr lang="en-US" altLang="zh-CN"/>
          </a:p>
        </p:txBody>
      </p:sp>
      <p:sp>
        <p:nvSpPr>
          <p:cNvPr id="2586626" name="Rectangle 2"/>
          <p:cNvSpPr>
            <a:spLocks noGrp="1" noChangeArrowheads="1"/>
          </p:cNvSpPr>
          <p:nvPr>
            <p:ph type="title"/>
          </p:nvPr>
        </p:nvSpPr>
        <p:spPr>
          <a:xfrm>
            <a:off x="827088" y="333375"/>
            <a:ext cx="7732712"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86627" name="Rectangle 3"/>
          <p:cNvSpPr>
            <a:spLocks noGrp="1" noChangeArrowheads="1"/>
          </p:cNvSpPr>
          <p:nvPr>
            <p:ph type="body" idx="1"/>
          </p:nvPr>
        </p:nvSpPr>
        <p:spPr>
          <a:xfrm>
            <a:off x="304800" y="1620838"/>
            <a:ext cx="8659813" cy="4824412"/>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假定过程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的嵌套深度为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，它引用嵌套深度为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的变量</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a</a:t>
            </a:r>
            <a:r>
              <a:rPr lang="en-US" altLang="zh-CN" b="1" baseline="-3000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。如何访问</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的存储单元？</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从栈顶的活动记录开始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追踪访问链</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次。</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的声明所在过程的活动记录。</a:t>
            </a:r>
          </a:p>
          <a:p>
            <a:pPr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访问链的追踪用间接操作就可完成。</a:t>
            </a:r>
          </a:p>
        </p:txBody>
      </p:sp>
    </p:spTree>
    <p:extLst>
      <p:ext uri="{BB962C8B-B14F-4D97-AF65-F5344CB8AC3E}">
        <p14:creationId xmlns:p14="http://schemas.microsoft.com/office/powerpoint/2010/main" val="270482867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4DA1372-475D-46C0-A818-EA302C6C70B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4773285-F708-4012-B42E-5B6E18444BBE}" type="slidenum">
              <a:rPr lang="en-US" altLang="zh-CN"/>
              <a:pPr/>
              <a:t>64</a:t>
            </a:fld>
            <a:endParaRPr lang="en-US" altLang="zh-CN"/>
          </a:p>
        </p:txBody>
      </p:sp>
      <p:sp>
        <p:nvSpPr>
          <p:cNvPr id="2588674" name="Rectangle 2"/>
          <p:cNvSpPr>
            <a:spLocks noGrp="1" noChangeArrowheads="1"/>
          </p:cNvSpPr>
          <p:nvPr>
            <p:ph type="title"/>
          </p:nvPr>
        </p:nvSpPr>
        <p:spPr>
          <a:xfrm>
            <a:off x="684213" y="296863"/>
            <a:ext cx="780415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88675" name="Rectangle 3"/>
          <p:cNvSpPr>
            <a:spLocks noGrp="1" noChangeArrowheads="1"/>
          </p:cNvSpPr>
          <p:nvPr>
            <p:ph type="body" idx="1"/>
          </p:nvPr>
        </p:nvSpPr>
        <p:spPr>
          <a:xfrm>
            <a:off x="304800" y="1655763"/>
            <a:ext cx="8659813" cy="4941887"/>
          </a:xfrm>
        </p:spPr>
        <p:txBody>
          <a:bodyPr/>
          <a:lstStyle/>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对变量</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访问时，</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的地址由下面的二元组表示：</a:t>
            </a:r>
          </a:p>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 </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在活动记录中的偏移）</a:t>
            </a:r>
          </a:p>
        </p:txBody>
      </p:sp>
    </p:spTree>
    <p:extLst>
      <p:ext uri="{BB962C8B-B14F-4D97-AF65-F5344CB8AC3E}">
        <p14:creationId xmlns:p14="http://schemas.microsoft.com/office/powerpoint/2010/main" val="290289809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8B96434-B476-416C-B94F-30A2C99E577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CE96F15-1D92-4B6D-A4A6-791C44CC0B0A}" type="slidenum">
              <a:rPr lang="en-US" altLang="zh-CN"/>
              <a:pPr/>
              <a:t>65</a:t>
            </a:fld>
            <a:endParaRPr lang="en-US" altLang="zh-CN"/>
          </a:p>
        </p:txBody>
      </p:sp>
      <p:sp>
        <p:nvSpPr>
          <p:cNvPr id="2590722" name="Rectangle 2"/>
          <p:cNvSpPr>
            <a:spLocks noGrp="1" noChangeArrowheads="1"/>
          </p:cNvSpPr>
          <p:nvPr>
            <p:ph type="title"/>
          </p:nvPr>
        </p:nvSpPr>
        <p:spPr>
          <a:xfrm>
            <a:off x="611188" y="260350"/>
            <a:ext cx="7875587"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90723" name="Rectangle 3"/>
          <p:cNvSpPr>
            <a:spLocks noGrp="1" noChangeArrowheads="1"/>
          </p:cNvSpPr>
          <p:nvPr>
            <p:ph type="body" idx="1"/>
          </p:nvPr>
        </p:nvSpPr>
        <p:spPr>
          <a:xfrm>
            <a:off x="304800" y="1412875"/>
            <a:ext cx="8534400" cy="4959350"/>
          </a:xfrm>
        </p:spPr>
        <p:txBody>
          <a:bodyPr/>
          <a:lstStyle/>
          <a:p>
            <a:pPr algn="just">
              <a:buFontTx/>
              <a:buNone/>
            </a:pP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如何建立访问链</a:t>
            </a:r>
          </a:p>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假定嵌套深度为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调用嵌套深度为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a:t>
            </a:r>
          </a:p>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p>
          <a:p>
            <a:pPr algn="just"/>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&lt;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的情况</a:t>
            </a:r>
          </a:p>
          <a:p>
            <a:pPr lvl="1" algn="just"/>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必须在</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中进行定义，否则它对于</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来说就是不可访问的</a:t>
            </a:r>
          </a:p>
          <a:p>
            <a:pPr lvl="1"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被调用过程的访问链必须指向调用过程的活动记录的访问链</a:t>
            </a:r>
          </a:p>
        </p:txBody>
      </p:sp>
    </p:spTree>
    <p:extLst>
      <p:ext uri="{BB962C8B-B14F-4D97-AF65-F5344CB8AC3E}">
        <p14:creationId xmlns:p14="http://schemas.microsoft.com/office/powerpoint/2010/main" val="379278196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05ECEBA-BE74-42F4-BBFD-EAEE46F92BE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562C80B-FE38-4BE0-9153-914EC71518E5}" type="slidenum">
              <a:rPr lang="en-US" altLang="zh-CN"/>
              <a:pPr/>
              <a:t>66</a:t>
            </a:fld>
            <a:endParaRPr lang="en-US" altLang="zh-CN"/>
          </a:p>
        </p:txBody>
      </p:sp>
      <p:sp>
        <p:nvSpPr>
          <p:cNvPr id="2592770" name="Rectangle 2"/>
          <p:cNvSpPr>
            <a:spLocks noGrp="1" noChangeArrowheads="1"/>
          </p:cNvSpPr>
          <p:nvPr>
            <p:ph type="title"/>
          </p:nvPr>
        </p:nvSpPr>
        <p:spPr>
          <a:xfrm>
            <a:off x="827088" y="115888"/>
            <a:ext cx="7659687" cy="936625"/>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92771" name="Rectangle 3"/>
          <p:cNvSpPr>
            <a:spLocks noGrp="1" noChangeArrowheads="1"/>
          </p:cNvSpPr>
          <p:nvPr>
            <p:ph type="body" idx="1"/>
          </p:nvPr>
        </p:nvSpPr>
        <p:spPr>
          <a:xfrm>
            <a:off x="179388" y="1125538"/>
            <a:ext cx="8659812" cy="5121275"/>
          </a:xfrm>
        </p:spPr>
        <p:txBody>
          <a:bodyPr/>
          <a:lstStyle/>
          <a:p>
            <a:pPr algn="just">
              <a:buFontTx/>
              <a:buNone/>
            </a:pP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如何建立访问链</a:t>
            </a:r>
          </a:p>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假定嵌套深度为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调用嵌套深度为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a:t>
            </a:r>
          </a:p>
          <a:p>
            <a:pPr algn="jus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p>
          <a:p>
            <a:pPr algn="just"/>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 </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的情况</a:t>
            </a:r>
          </a:p>
          <a:p>
            <a:pPr lvl="1" algn="just"/>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的嵌套深度分别为</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的外围过程肯定相同</a:t>
            </a:r>
          </a:p>
          <a:p>
            <a:pPr lvl="1"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追踪访问链</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p </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i="1" baseline="-30000">
                <a:latin typeface="Times New Roman" panose="02020603050405020304" pitchFamily="18" charset="0"/>
                <a:ea typeface="华文新魏" panose="02010800040101010101" pitchFamily="2" charset="-122"/>
                <a:cs typeface="Times New Roman" panose="02020603050405020304" pitchFamily="18" charset="0"/>
              </a:rPr>
              <a:t>x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次，到达了静态包围</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的且离它们最近的那个过程的最新活动记录</a:t>
            </a:r>
          </a:p>
          <a:p>
            <a:pPr lvl="1" algn="just"/>
            <a:r>
              <a:rPr lang="zh-CN" altLang="en-US" b="1">
                <a:latin typeface="Times New Roman" panose="02020603050405020304" pitchFamily="18" charset="0"/>
                <a:ea typeface="华文新魏" panose="02010800040101010101" pitchFamily="2" charset="-122"/>
                <a:cs typeface="Times New Roman" panose="02020603050405020304" pitchFamily="18" charset="0"/>
              </a:rPr>
              <a:t>所到达的访问链就是</a:t>
            </a:r>
            <a:r>
              <a:rPr lang="en-US" altLang="zh-CN" b="1" i="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的活动记录中的访问链</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应该指向的那个访问链</a:t>
            </a:r>
          </a:p>
        </p:txBody>
      </p:sp>
    </p:spTree>
    <p:extLst>
      <p:ext uri="{BB962C8B-B14F-4D97-AF65-F5344CB8AC3E}">
        <p14:creationId xmlns:p14="http://schemas.microsoft.com/office/powerpoint/2010/main" val="20532917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FCD5D7C0-7164-441F-8D00-648C43800D63}"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E89FA46D-EC1E-4C2E-A6DE-8B6F5BF8FD48}" type="slidenum">
              <a:rPr lang="en-US" altLang="zh-CN"/>
              <a:pPr/>
              <a:t>67</a:t>
            </a:fld>
            <a:endParaRPr lang="en-US" altLang="zh-CN"/>
          </a:p>
        </p:txBody>
      </p:sp>
      <p:sp>
        <p:nvSpPr>
          <p:cNvPr id="2594818" name="Rectangle 2"/>
          <p:cNvSpPr>
            <a:spLocks noGrp="1" noChangeArrowheads="1"/>
          </p:cNvSpPr>
          <p:nvPr>
            <p:ph type="title"/>
          </p:nvPr>
        </p:nvSpPr>
        <p:spPr>
          <a:xfrm>
            <a:off x="827088" y="53975"/>
            <a:ext cx="7732712" cy="9271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94819" name="Rectangle 3"/>
          <p:cNvSpPr>
            <a:spLocks noGrp="1" noChangeArrowheads="1"/>
          </p:cNvSpPr>
          <p:nvPr>
            <p:ph type="body" idx="1"/>
          </p:nvPr>
        </p:nvSpPr>
        <p:spPr>
          <a:xfrm>
            <a:off x="107950" y="908050"/>
            <a:ext cx="8964613" cy="5329238"/>
          </a:xfrm>
        </p:spPr>
        <p:txBody>
          <a:bodyPr/>
          <a:lstStyle/>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过程型参数的访问链</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program param(input, output); </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procedure b(function h(n: integer): integer);</a:t>
            </a:r>
          </a:p>
          <a:p>
            <a:pPr algn="just">
              <a:lnSpc>
                <a:spcPct val="80000"/>
              </a:lnSpc>
              <a:buFontTx/>
              <a:buNone/>
            </a:pPr>
            <a:r>
              <a:rPr lang="en-US" altLang="zh-CN"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	    begin writeln(h(2)) end {b};</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procedure c;</a:t>
            </a:r>
          </a:p>
          <a:p>
            <a:pPr algn="just">
              <a:lnSpc>
                <a:spcPct val="80000"/>
              </a:lnSpc>
              <a:buFontTx/>
              <a:buNone/>
            </a:pP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	    var m: integer;</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function f(n: integer): integer;</a:t>
            </a:r>
          </a:p>
          <a:p>
            <a:pPr algn="just">
              <a:lnSpc>
                <a:spcPct val="80000"/>
              </a:lnSpc>
              <a:buFontTx/>
              <a:buNone/>
            </a:pPr>
            <a:r>
              <a:rPr lang="en-US" altLang="zh-CN" sz="2800"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		 begin f := m+n end {f};</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begin m := 0; b(f) end {c};</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begin</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c</a:t>
            </a:r>
          </a:p>
          <a:p>
            <a:pPr algn="just">
              <a:lnSpc>
                <a:spcPct val="8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end.</a:t>
            </a:r>
          </a:p>
        </p:txBody>
      </p:sp>
      <p:sp>
        <p:nvSpPr>
          <p:cNvPr id="2594820" name="Rectangle 4"/>
          <p:cNvSpPr>
            <a:spLocks noChangeArrowheads="1"/>
          </p:cNvSpPr>
          <p:nvPr/>
        </p:nvSpPr>
        <p:spPr bwMode="auto">
          <a:xfrm>
            <a:off x="1692275" y="4892675"/>
            <a:ext cx="4535488" cy="127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r>
              <a:rPr lang="zh-CN" altLang="en-US" b="1">
                <a:ea typeface="楷体_GB2312" pitchFamily="49" charset="-122"/>
              </a:rPr>
              <a:t>过程作为参数传递时，怎样在该过程被激活时建立它的访问链</a:t>
            </a:r>
          </a:p>
          <a:p>
            <a:pPr eaLnBrk="0" hangingPunct="0"/>
            <a:r>
              <a:rPr lang="zh-CN" altLang="en-US" b="1">
                <a:solidFill>
                  <a:srgbClr val="FF0000"/>
                </a:solidFill>
                <a:ea typeface="楷体_GB2312" pitchFamily="49" charset="-122"/>
              </a:rPr>
              <a:t>从</a:t>
            </a:r>
            <a:r>
              <a:rPr lang="en-US" altLang="zh-CN" b="1">
                <a:solidFill>
                  <a:srgbClr val="FF0000"/>
                </a:solidFill>
                <a:ea typeface="楷体_GB2312" pitchFamily="49" charset="-122"/>
              </a:rPr>
              <a:t>b</a:t>
            </a:r>
            <a:r>
              <a:rPr lang="zh-CN" altLang="en-US" b="1">
                <a:solidFill>
                  <a:srgbClr val="FF0000"/>
                </a:solidFill>
                <a:ea typeface="楷体_GB2312" pitchFamily="49" charset="-122"/>
              </a:rPr>
              <a:t>的访问链难以建立</a:t>
            </a:r>
            <a:r>
              <a:rPr lang="en-US" altLang="zh-CN" b="1">
                <a:solidFill>
                  <a:srgbClr val="FF0000"/>
                </a:solidFill>
                <a:ea typeface="楷体_GB2312" pitchFamily="49" charset="-122"/>
              </a:rPr>
              <a:t>f</a:t>
            </a:r>
            <a:r>
              <a:rPr lang="zh-CN" altLang="en-US" b="1">
                <a:solidFill>
                  <a:srgbClr val="FF0000"/>
                </a:solidFill>
                <a:ea typeface="楷体_GB2312" pitchFamily="49" charset="-122"/>
              </a:rPr>
              <a:t>的访问链</a:t>
            </a:r>
          </a:p>
        </p:txBody>
      </p:sp>
      <p:sp>
        <p:nvSpPr>
          <p:cNvPr id="2594821" name="AutoShape 5"/>
          <p:cNvSpPr>
            <a:spLocks/>
          </p:cNvSpPr>
          <p:nvPr/>
        </p:nvSpPr>
        <p:spPr bwMode="auto">
          <a:xfrm>
            <a:off x="5437188" y="2689225"/>
            <a:ext cx="2087562" cy="574675"/>
          </a:xfrm>
          <a:prstGeom prst="borderCallout1">
            <a:avLst>
              <a:gd name="adj1" fmla="val -13259"/>
              <a:gd name="adj2" fmla="val 94523"/>
              <a:gd name="adj3" fmla="val -13259"/>
              <a:gd name="adj4" fmla="val -144412"/>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ea typeface="楷体_GB2312" pitchFamily="49" charset="-122"/>
              </a:rPr>
              <a:t>激活</a:t>
            </a:r>
            <a:r>
              <a:rPr lang="en-US" altLang="zh-CN" sz="2800" b="1">
                <a:ea typeface="楷体_GB2312" pitchFamily="49" charset="-122"/>
              </a:rPr>
              <a:t>f</a:t>
            </a:r>
          </a:p>
        </p:txBody>
      </p:sp>
      <p:sp>
        <p:nvSpPr>
          <p:cNvPr id="2594822" name="AutoShape 6"/>
          <p:cNvSpPr>
            <a:spLocks noChangeArrowheads="1"/>
          </p:cNvSpPr>
          <p:nvPr/>
        </p:nvSpPr>
        <p:spPr bwMode="auto">
          <a:xfrm>
            <a:off x="6265863" y="3068638"/>
            <a:ext cx="2770187" cy="2735262"/>
          </a:xfrm>
          <a:prstGeom prst="wedgeRectCallout">
            <a:avLst>
              <a:gd name="adj1" fmla="val -150287"/>
              <a:gd name="adj2" fmla="val -426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ea typeface="楷体_GB2312" pitchFamily="49" charset="-122"/>
              </a:rPr>
              <a:t>c</a:t>
            </a:r>
            <a:r>
              <a:rPr lang="zh-CN" altLang="en-US" b="1">
                <a:ea typeface="楷体_GB2312" pitchFamily="49" charset="-122"/>
              </a:rPr>
              <a:t>传递参数</a:t>
            </a:r>
            <a:r>
              <a:rPr lang="en-US" altLang="zh-CN" b="1">
                <a:ea typeface="楷体_GB2312" pitchFamily="49" charset="-122"/>
              </a:rPr>
              <a:t>f</a:t>
            </a:r>
            <a:r>
              <a:rPr lang="zh-CN" altLang="en-US" b="1">
                <a:ea typeface="楷体_GB2312" pitchFamily="49" charset="-122"/>
              </a:rPr>
              <a:t>时，像调用</a:t>
            </a:r>
            <a:r>
              <a:rPr lang="en-US" altLang="zh-CN" b="1">
                <a:ea typeface="楷体_GB2312" pitchFamily="49" charset="-122"/>
              </a:rPr>
              <a:t>f</a:t>
            </a:r>
            <a:r>
              <a:rPr lang="zh-CN" altLang="en-US" b="1">
                <a:ea typeface="楷体_GB2312" pitchFamily="49" charset="-122"/>
              </a:rPr>
              <a:t>一样为</a:t>
            </a:r>
            <a:r>
              <a:rPr lang="en-US" altLang="zh-CN" b="1">
                <a:ea typeface="楷体_GB2312" pitchFamily="49" charset="-122"/>
              </a:rPr>
              <a:t>f</a:t>
            </a:r>
            <a:r>
              <a:rPr lang="zh-CN" altLang="en-US" b="1">
                <a:ea typeface="楷体_GB2312" pitchFamily="49" charset="-122"/>
              </a:rPr>
              <a:t>建立一个访问链，该访问链同</a:t>
            </a:r>
            <a:r>
              <a:rPr lang="en-US" altLang="zh-CN" b="1">
                <a:ea typeface="楷体_GB2312" pitchFamily="49" charset="-122"/>
              </a:rPr>
              <a:t>f</a:t>
            </a:r>
            <a:r>
              <a:rPr lang="zh-CN" altLang="en-US" b="1">
                <a:ea typeface="楷体_GB2312" pitchFamily="49" charset="-122"/>
              </a:rPr>
              <a:t>一起传递给</a:t>
            </a:r>
            <a:r>
              <a:rPr lang="en-US" altLang="zh-CN" b="1">
                <a:ea typeface="楷体_GB2312" pitchFamily="49" charset="-122"/>
              </a:rPr>
              <a:t>b</a:t>
            </a:r>
            <a:r>
              <a:rPr lang="zh-CN" altLang="en-US" b="1">
                <a:ea typeface="楷体_GB2312" pitchFamily="49" charset="-122"/>
              </a:rPr>
              <a:t>。</a:t>
            </a:r>
            <a:r>
              <a:rPr lang="en-US" altLang="zh-CN" b="1">
                <a:ea typeface="楷体_GB2312" pitchFamily="49" charset="-122"/>
              </a:rPr>
              <a:t>f</a:t>
            </a:r>
            <a:r>
              <a:rPr lang="zh-CN" altLang="en-US" b="1">
                <a:ea typeface="楷体_GB2312" pitchFamily="49" charset="-122"/>
              </a:rPr>
              <a:t>被激活时用这个访问链建立</a:t>
            </a:r>
            <a:r>
              <a:rPr lang="en-US" altLang="zh-CN" b="1">
                <a:ea typeface="楷体_GB2312" pitchFamily="49" charset="-122"/>
              </a:rPr>
              <a:t>f</a:t>
            </a:r>
            <a:r>
              <a:rPr lang="zh-CN" altLang="en-US" b="1">
                <a:ea typeface="楷体_GB2312" pitchFamily="49" charset="-122"/>
              </a:rPr>
              <a:t>的活动记录的访问链</a:t>
            </a:r>
          </a:p>
        </p:txBody>
      </p:sp>
    </p:spTree>
    <p:extLst>
      <p:ext uri="{BB962C8B-B14F-4D97-AF65-F5344CB8AC3E}">
        <p14:creationId xmlns:p14="http://schemas.microsoft.com/office/powerpoint/2010/main" val="25517484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94821"/>
                                        </p:tgtEl>
                                        <p:attrNameLst>
                                          <p:attrName>style.visibility</p:attrName>
                                        </p:attrNameLst>
                                      </p:cBhvr>
                                      <p:to>
                                        <p:strVal val="visible"/>
                                      </p:to>
                                    </p:set>
                                    <p:anim calcmode="lin" valueType="num">
                                      <p:cBhvr additive="base">
                                        <p:cTn id="7" dur="500" fill="hold"/>
                                        <p:tgtEl>
                                          <p:spTgt spid="2594821"/>
                                        </p:tgtEl>
                                        <p:attrNameLst>
                                          <p:attrName>ppt_x</p:attrName>
                                        </p:attrNameLst>
                                      </p:cBhvr>
                                      <p:tavLst>
                                        <p:tav tm="0">
                                          <p:val>
                                            <p:strVal val="#ppt_x"/>
                                          </p:val>
                                        </p:tav>
                                        <p:tav tm="100000">
                                          <p:val>
                                            <p:strVal val="#ppt_x"/>
                                          </p:val>
                                        </p:tav>
                                      </p:tavLst>
                                    </p:anim>
                                    <p:anim calcmode="lin" valueType="num">
                                      <p:cBhvr additive="base">
                                        <p:cTn id="8" dur="500" fill="hold"/>
                                        <p:tgtEl>
                                          <p:spTgt spid="25948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94822"/>
                                        </p:tgtEl>
                                        <p:attrNameLst>
                                          <p:attrName>style.visibility</p:attrName>
                                        </p:attrNameLst>
                                      </p:cBhvr>
                                      <p:to>
                                        <p:strVal val="visible"/>
                                      </p:to>
                                    </p:set>
                                    <p:animEffect transition="in" filter="blinds(horizontal)">
                                      <p:cBhvr>
                                        <p:cTn id="13" dur="500"/>
                                        <p:tgtEl>
                                          <p:spTgt spid="259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4821" grpId="0" animBg="1"/>
      <p:bldP spid="259482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half" idx="10"/>
          </p:nvPr>
        </p:nvSpPr>
        <p:spPr/>
        <p:txBody>
          <a:bodyPr/>
          <a:lstStyle/>
          <a:p>
            <a:fld id="{67454D2A-EB40-4076-A762-57F3E7541132}" type="datetime1">
              <a:rPr lang="zh-CN" altLang="en-US"/>
              <a:pPr/>
              <a:t>2017/2/24</a:t>
            </a:fld>
            <a:endParaRPr lang="en-US" altLang="zh-CN"/>
          </a:p>
        </p:txBody>
      </p:sp>
      <p:sp>
        <p:nvSpPr>
          <p:cNvPr id="8" name="灯片编号占位符 6"/>
          <p:cNvSpPr>
            <a:spLocks noGrp="1"/>
          </p:cNvSpPr>
          <p:nvPr>
            <p:ph type="sldNum" sz="quarter" idx="12"/>
          </p:nvPr>
        </p:nvSpPr>
        <p:spPr/>
        <p:txBody>
          <a:bodyPr/>
          <a:lstStyle/>
          <a:p>
            <a:fld id="{284B2CA4-5E96-49ED-8B8A-F9531BDB11E6}" type="slidenum">
              <a:rPr lang="en-US" altLang="zh-CN"/>
              <a:pPr/>
              <a:t>68</a:t>
            </a:fld>
            <a:endParaRPr lang="en-US" altLang="zh-CN"/>
          </a:p>
        </p:txBody>
      </p:sp>
      <p:sp>
        <p:nvSpPr>
          <p:cNvPr id="2596866" name="Rectangle 2"/>
          <p:cNvSpPr>
            <a:spLocks noGrp="1" noChangeArrowheads="1"/>
          </p:cNvSpPr>
          <p:nvPr>
            <p:ph type="title"/>
          </p:nvPr>
        </p:nvSpPr>
        <p:spPr>
          <a:xfrm>
            <a:off x="457200" y="115888"/>
            <a:ext cx="8229600" cy="936625"/>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96867" name="Rectangle 3"/>
          <p:cNvSpPr>
            <a:spLocks noGrp="1" noChangeArrowheads="1"/>
          </p:cNvSpPr>
          <p:nvPr>
            <p:ph type="body" sz="half" idx="1"/>
          </p:nvPr>
        </p:nvSpPr>
        <p:spPr>
          <a:xfrm>
            <a:off x="107950" y="1052513"/>
            <a:ext cx="8280400" cy="5472112"/>
          </a:xfrm>
        </p:spPr>
        <p:txBody>
          <a:bodyPr/>
          <a:lstStyle/>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program param(input, output);</a:t>
            </a: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过程作为参数</a:t>
            </a: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a:t>
            </a:r>
          </a:p>
          <a:p>
            <a:pPr algn="just">
              <a:lnSpc>
                <a:spcPct val="90000"/>
              </a:lnSpc>
              <a:buFontTx/>
              <a:buNone/>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procedure b(function h(…</a:t>
            </a:r>
          </a:p>
          <a:p>
            <a:pPr algn="just">
              <a:lnSpc>
                <a:spcPct val="90000"/>
              </a:lnSpc>
              <a:buFontTx/>
              <a:buNone/>
            </a:pPr>
            <a:r>
              <a:rPr lang="en-US" altLang="zh-CN"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	    begin writeln(h(2)) end ;</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procedure c;</a:t>
            </a:r>
          </a:p>
          <a:p>
            <a:pPr algn="just">
              <a:lnSpc>
                <a:spcPct val="90000"/>
              </a:lnSpc>
              <a:buFontTx/>
              <a:buNone/>
            </a:pP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	    var m: integer;</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function f(n: integer)…</a:t>
            </a:r>
          </a:p>
          <a:p>
            <a:pPr algn="just">
              <a:lnSpc>
                <a:spcPct val="90000"/>
              </a:lnSpc>
              <a:buFontTx/>
              <a:buNone/>
            </a:pPr>
            <a:r>
              <a:rPr lang="en-US" altLang="zh-CN" sz="2800" b="1">
                <a:solidFill>
                  <a:srgbClr val="FF00FF"/>
                </a:solidFill>
                <a:latin typeface="Times New Roman" panose="02020603050405020304" pitchFamily="18" charset="0"/>
                <a:ea typeface="华文新魏" panose="02010800040101010101" pitchFamily="2" charset="-122"/>
                <a:cs typeface="Times New Roman" panose="02020603050405020304" pitchFamily="18" charset="0"/>
              </a:rPr>
              <a:t>		 begin f := m+n end {f};</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begin m := 0; b(f) end {c};</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begin</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c</a:t>
            </a:r>
          </a:p>
          <a:p>
            <a:pPr algn="just">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end.</a:t>
            </a:r>
          </a:p>
        </p:txBody>
      </p:sp>
      <p:sp>
        <p:nvSpPr>
          <p:cNvPr id="2596868" name="Rectangle 4"/>
          <p:cNvSpPr>
            <a:spLocks noChangeArrowheads="1"/>
          </p:cNvSpPr>
          <p:nvPr/>
        </p:nvSpPr>
        <p:spPr bwMode="auto">
          <a:xfrm>
            <a:off x="0" y="2259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596869" name="Object 5"/>
          <p:cNvGraphicFramePr>
            <a:graphicFrameLocks noGrp="1" noChangeAspect="1"/>
          </p:cNvGraphicFramePr>
          <p:nvPr>
            <p:ph sz="half" idx="2"/>
          </p:nvPr>
        </p:nvGraphicFramePr>
        <p:xfrm>
          <a:off x="4733925" y="1946275"/>
          <a:ext cx="4375150" cy="3917950"/>
        </p:xfrm>
        <a:graphic>
          <a:graphicData uri="http://schemas.openxmlformats.org/presentationml/2006/ole">
            <mc:AlternateContent xmlns:mc="http://schemas.openxmlformats.org/markup-compatibility/2006">
              <mc:Choice xmlns:v="urn:schemas-microsoft-com:vml" Requires="v">
                <p:oleObj spid="_x0000_s105475" name="Visio" r:id="rId4" imgW="2614795" imgH="2341904" progId="Visio.Drawing.11">
                  <p:embed/>
                </p:oleObj>
              </mc:Choice>
              <mc:Fallback>
                <p:oleObj name="Visio" r:id="rId4" imgW="2614795" imgH="2341904" progId="Visio.Drawing.11">
                  <p:embed/>
                  <p:pic>
                    <p:nvPicPr>
                      <p:cNvPr id="25968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3925" y="1946275"/>
                        <a:ext cx="4375150" cy="391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6458635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3"/>
          <p:cNvSpPr>
            <a:spLocks noGrp="1"/>
          </p:cNvSpPr>
          <p:nvPr>
            <p:ph type="dt" sz="half" idx="10"/>
          </p:nvPr>
        </p:nvSpPr>
        <p:spPr/>
        <p:txBody>
          <a:bodyPr/>
          <a:lstStyle/>
          <a:p>
            <a:fld id="{83A5F386-4D36-44F8-AAAC-ACC3D623E696}" type="datetime1">
              <a:rPr lang="zh-CN" altLang="en-US"/>
              <a:pPr/>
              <a:t>2017/2/24</a:t>
            </a:fld>
            <a:endParaRPr lang="en-US" altLang="zh-CN"/>
          </a:p>
        </p:txBody>
      </p:sp>
      <p:sp>
        <p:nvSpPr>
          <p:cNvPr id="16" name="灯片编号占位符 5"/>
          <p:cNvSpPr>
            <a:spLocks noGrp="1"/>
          </p:cNvSpPr>
          <p:nvPr>
            <p:ph type="sldNum" sz="quarter" idx="12"/>
          </p:nvPr>
        </p:nvSpPr>
        <p:spPr/>
        <p:txBody>
          <a:bodyPr/>
          <a:lstStyle/>
          <a:p>
            <a:fld id="{5C3AD222-B29F-4C65-A514-BF25292AEC32}" type="slidenum">
              <a:rPr lang="en-US" altLang="zh-CN"/>
              <a:pPr/>
              <a:t>69</a:t>
            </a:fld>
            <a:endParaRPr lang="en-US" altLang="zh-CN"/>
          </a:p>
        </p:txBody>
      </p:sp>
      <p:sp>
        <p:nvSpPr>
          <p:cNvPr id="2598914" name="Rectangle 2"/>
          <p:cNvSpPr>
            <a:spLocks noGrp="1" noChangeArrowheads="1"/>
          </p:cNvSpPr>
          <p:nvPr>
            <p:ph type="title"/>
          </p:nvPr>
        </p:nvSpPr>
        <p:spPr>
          <a:xfrm>
            <a:off x="827088" y="115888"/>
            <a:ext cx="7659687"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9.5.2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有过程嵌套的静态作用域</a:t>
            </a:r>
          </a:p>
        </p:txBody>
      </p:sp>
      <p:sp>
        <p:nvSpPr>
          <p:cNvPr id="2598915" name="Rectangle 3"/>
          <p:cNvSpPr>
            <a:spLocks noGrp="1" noChangeArrowheads="1"/>
          </p:cNvSpPr>
          <p:nvPr>
            <p:ph type="body" idx="1"/>
          </p:nvPr>
        </p:nvSpPr>
        <p:spPr>
          <a:xfrm>
            <a:off x="304800" y="1196975"/>
            <a:ext cx="8534400" cy="5219700"/>
          </a:xfrm>
        </p:spPr>
        <p:txBody>
          <a:bodyPr/>
          <a:lstStyle/>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program ret (input, output);</a:t>
            </a: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过程作为返回值</a:t>
            </a: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a:t>
            </a:r>
          </a:p>
          <a:p>
            <a:pPr algn="just">
              <a:lnSpc>
                <a:spcPct val="90000"/>
              </a:lnSpc>
              <a:spcBef>
                <a:spcPct val="10000"/>
              </a:spcBef>
              <a:buFontTx/>
              <a:buNone/>
            </a:pP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var f: function (integer): integer;</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function a: function (integer): integer;</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a:t>
            </a:r>
            <a:r>
              <a:rPr lang="en-US" altLang="zh-CN"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m</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integer;</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function addm (n: integer): integer;</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return m+n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m:= 0; </a:t>
            </a:r>
            <a:r>
              <a:rPr lang="en-US" altLang="zh-CN"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return addm</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b (g: function (integer): integer);</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writeln ( g(2))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f := a; b(f)</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end.</a:t>
            </a:r>
          </a:p>
        </p:txBody>
      </p:sp>
      <p:sp>
        <p:nvSpPr>
          <p:cNvPr id="2598916" name="Rectangle 4"/>
          <p:cNvSpPr>
            <a:spLocks noChangeArrowheads="1"/>
          </p:cNvSpPr>
          <p:nvPr/>
        </p:nvSpPr>
        <p:spPr bwMode="auto">
          <a:xfrm>
            <a:off x="7240588" y="4244975"/>
            <a:ext cx="89852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zh-CN" sz="2800" b="1">
                <a:solidFill>
                  <a:srgbClr val="0000FF"/>
                </a:solidFill>
              </a:rPr>
              <a:t>ret</a:t>
            </a:r>
          </a:p>
        </p:txBody>
      </p:sp>
      <p:sp>
        <p:nvSpPr>
          <p:cNvPr id="2598917" name="Rectangle 5"/>
          <p:cNvSpPr>
            <a:spLocks noChangeArrowheads="1"/>
          </p:cNvSpPr>
          <p:nvPr/>
        </p:nvSpPr>
        <p:spPr bwMode="auto">
          <a:xfrm>
            <a:off x="6629400" y="5043488"/>
            <a:ext cx="900113"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zh-CN" sz="2800" b="1">
                <a:solidFill>
                  <a:srgbClr val="0000FF"/>
                </a:solidFill>
              </a:rPr>
              <a:t>a</a:t>
            </a:r>
          </a:p>
        </p:txBody>
      </p:sp>
      <p:sp>
        <p:nvSpPr>
          <p:cNvPr id="2598918" name="Rectangle 6"/>
          <p:cNvSpPr>
            <a:spLocks noChangeArrowheads="1"/>
          </p:cNvSpPr>
          <p:nvPr/>
        </p:nvSpPr>
        <p:spPr bwMode="auto">
          <a:xfrm>
            <a:off x="7804150" y="5086350"/>
            <a:ext cx="900113"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zh-CN" sz="2800" b="1">
                <a:solidFill>
                  <a:srgbClr val="0000FF"/>
                </a:solidFill>
              </a:rPr>
              <a:t>b</a:t>
            </a:r>
          </a:p>
        </p:txBody>
      </p:sp>
      <p:sp>
        <p:nvSpPr>
          <p:cNvPr id="2598919" name="Rectangle 7"/>
          <p:cNvSpPr>
            <a:spLocks noChangeArrowheads="1"/>
          </p:cNvSpPr>
          <p:nvPr/>
        </p:nvSpPr>
        <p:spPr bwMode="auto">
          <a:xfrm>
            <a:off x="7696200" y="5986463"/>
            <a:ext cx="1065213"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0" hangingPunct="0"/>
            <a:r>
              <a:rPr lang="en-US" altLang="zh-CN" sz="2800" b="1">
                <a:solidFill>
                  <a:srgbClr val="0000FF"/>
                </a:solidFill>
                <a:ea typeface="楷体_GB2312" pitchFamily="49" charset="-122"/>
              </a:rPr>
              <a:t>addm</a:t>
            </a:r>
          </a:p>
        </p:txBody>
      </p:sp>
      <p:sp>
        <p:nvSpPr>
          <p:cNvPr id="2598920" name="Line 8"/>
          <p:cNvSpPr>
            <a:spLocks noChangeShapeType="1"/>
          </p:cNvSpPr>
          <p:nvPr/>
        </p:nvSpPr>
        <p:spPr bwMode="auto">
          <a:xfrm flipH="1">
            <a:off x="7138988" y="4602163"/>
            <a:ext cx="479425" cy="612775"/>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98921" name="Line 9"/>
          <p:cNvSpPr>
            <a:spLocks noChangeShapeType="1"/>
          </p:cNvSpPr>
          <p:nvPr/>
        </p:nvSpPr>
        <p:spPr bwMode="auto">
          <a:xfrm>
            <a:off x="7716838" y="4602163"/>
            <a:ext cx="477837" cy="612775"/>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98922" name="Line 10"/>
          <p:cNvSpPr>
            <a:spLocks noChangeShapeType="1"/>
          </p:cNvSpPr>
          <p:nvPr/>
        </p:nvSpPr>
        <p:spPr bwMode="auto">
          <a:xfrm>
            <a:off x="8250238" y="5414963"/>
            <a:ext cx="0" cy="671512"/>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98923" name="AutoShape 11"/>
          <p:cNvSpPr>
            <a:spLocks noChangeArrowheads="1"/>
          </p:cNvSpPr>
          <p:nvPr/>
        </p:nvSpPr>
        <p:spPr bwMode="auto">
          <a:xfrm>
            <a:off x="4284663" y="4570413"/>
            <a:ext cx="2447925" cy="1657350"/>
          </a:xfrm>
          <a:prstGeom prst="wedgeRectCallout">
            <a:avLst>
              <a:gd name="adj1" fmla="val 98315"/>
              <a:gd name="adj2" fmla="val 4051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ea typeface="楷体_GB2312" pitchFamily="49" charset="-122"/>
              </a:rPr>
              <a:t>被调过程</a:t>
            </a:r>
            <a:r>
              <a:rPr lang="en-US" altLang="zh-CN" b="1">
                <a:ea typeface="楷体_GB2312" pitchFamily="49" charset="-122"/>
              </a:rPr>
              <a:t>addm</a:t>
            </a:r>
            <a:r>
              <a:rPr lang="zh-CN" altLang="en-US" b="1">
                <a:ea typeface="楷体_GB2312" pitchFamily="49" charset="-122"/>
              </a:rPr>
              <a:t>活动的生存期超出了调用过程</a:t>
            </a:r>
            <a:r>
              <a:rPr lang="en-US" altLang="zh-CN" b="1">
                <a:ea typeface="楷体_GB2312" pitchFamily="49" charset="-122"/>
              </a:rPr>
              <a:t>a</a:t>
            </a:r>
            <a:r>
              <a:rPr lang="zh-CN" altLang="en-US" b="1">
                <a:ea typeface="楷体_GB2312" pitchFamily="49" charset="-122"/>
              </a:rPr>
              <a:t>活动的生存期</a:t>
            </a:r>
          </a:p>
        </p:txBody>
      </p:sp>
      <p:sp>
        <p:nvSpPr>
          <p:cNvPr id="2598924" name="Text Box 12"/>
          <p:cNvSpPr txBox="1">
            <a:spLocks noChangeArrowheads="1"/>
          </p:cNvSpPr>
          <p:nvPr/>
        </p:nvSpPr>
        <p:spPr bwMode="auto">
          <a:xfrm>
            <a:off x="6156325" y="2339975"/>
            <a:ext cx="26638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FF0000"/>
                </a:solidFill>
                <a:latin typeface="Tahoma" panose="020B0604030504040204" pitchFamily="34" charset="0"/>
                <a:ea typeface="楷体_GB2312" pitchFamily="49" charset="-122"/>
              </a:rPr>
              <a:t>栈式存储分配策略失效！！</a:t>
            </a:r>
          </a:p>
        </p:txBody>
      </p:sp>
      <p:sp>
        <p:nvSpPr>
          <p:cNvPr id="2598925" name="Text Box 13"/>
          <p:cNvSpPr txBox="1">
            <a:spLocks noChangeArrowheads="1"/>
          </p:cNvSpPr>
          <p:nvPr/>
        </p:nvSpPr>
        <p:spPr bwMode="auto">
          <a:xfrm>
            <a:off x="7164388" y="3779838"/>
            <a:ext cx="1150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0000FF"/>
                </a:solidFill>
                <a:latin typeface="Tahoma" panose="020B0604030504040204" pitchFamily="34" charset="0"/>
                <a:ea typeface="楷体_GB2312" pitchFamily="49" charset="-122"/>
              </a:rPr>
              <a:t>活动树</a:t>
            </a:r>
          </a:p>
        </p:txBody>
      </p:sp>
    </p:spTree>
    <p:extLst>
      <p:ext uri="{BB962C8B-B14F-4D97-AF65-F5344CB8AC3E}">
        <p14:creationId xmlns:p14="http://schemas.microsoft.com/office/powerpoint/2010/main" val="313505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2598925"/>
                                        </p:tgtEl>
                                        <p:attrNameLst>
                                          <p:attrName>style.visibility</p:attrName>
                                        </p:attrNameLst>
                                      </p:cBhvr>
                                      <p:to>
                                        <p:strVal val="visible"/>
                                      </p:to>
                                    </p:set>
                                    <p:anim calcmode="lin" valueType="num">
                                      <p:cBhvr additive="base">
                                        <p:cTn id="7" dur="500" fill="hold"/>
                                        <p:tgtEl>
                                          <p:spTgt spid="2598925"/>
                                        </p:tgtEl>
                                        <p:attrNameLst>
                                          <p:attrName>ppt_x</p:attrName>
                                        </p:attrNameLst>
                                      </p:cBhvr>
                                      <p:tavLst>
                                        <p:tav tm="0">
                                          <p:val>
                                            <p:strVal val="#ppt_x"/>
                                          </p:val>
                                        </p:tav>
                                        <p:tav tm="100000">
                                          <p:val>
                                            <p:strVal val="#ppt_x"/>
                                          </p:val>
                                        </p:tav>
                                      </p:tavLst>
                                    </p:anim>
                                    <p:anim calcmode="lin" valueType="num">
                                      <p:cBhvr additive="base">
                                        <p:cTn id="8" dur="500" fill="hold"/>
                                        <p:tgtEl>
                                          <p:spTgt spid="259892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98923"/>
                                        </p:tgtEl>
                                        <p:attrNameLst>
                                          <p:attrName>style.visibility</p:attrName>
                                        </p:attrNameLst>
                                      </p:cBhvr>
                                      <p:to>
                                        <p:strVal val="visible"/>
                                      </p:to>
                                    </p:set>
                                    <p:anim calcmode="lin" valueType="num">
                                      <p:cBhvr additive="base">
                                        <p:cTn id="13" dur="500" fill="hold"/>
                                        <p:tgtEl>
                                          <p:spTgt spid="2598923"/>
                                        </p:tgtEl>
                                        <p:attrNameLst>
                                          <p:attrName>ppt_x</p:attrName>
                                        </p:attrNameLst>
                                      </p:cBhvr>
                                      <p:tavLst>
                                        <p:tav tm="0">
                                          <p:val>
                                            <p:strVal val="#ppt_x"/>
                                          </p:val>
                                        </p:tav>
                                        <p:tav tm="100000">
                                          <p:val>
                                            <p:strVal val="#ppt_x"/>
                                          </p:val>
                                        </p:tav>
                                      </p:tavLst>
                                    </p:anim>
                                    <p:anim calcmode="lin" valueType="num">
                                      <p:cBhvr additive="base">
                                        <p:cTn id="14" dur="500" fill="hold"/>
                                        <p:tgtEl>
                                          <p:spTgt spid="259892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98924"/>
                                        </p:tgtEl>
                                        <p:attrNameLst>
                                          <p:attrName>style.visibility</p:attrName>
                                        </p:attrNameLst>
                                      </p:cBhvr>
                                      <p:to>
                                        <p:strVal val="visible"/>
                                      </p:to>
                                    </p:set>
                                    <p:anim calcmode="lin" valueType="num">
                                      <p:cBhvr additive="base">
                                        <p:cTn id="19" dur="500" fill="hold"/>
                                        <p:tgtEl>
                                          <p:spTgt spid="2598924"/>
                                        </p:tgtEl>
                                        <p:attrNameLst>
                                          <p:attrName>ppt_x</p:attrName>
                                        </p:attrNameLst>
                                      </p:cBhvr>
                                      <p:tavLst>
                                        <p:tav tm="0">
                                          <p:val>
                                            <p:strVal val="#ppt_x"/>
                                          </p:val>
                                        </p:tav>
                                        <p:tav tm="100000">
                                          <p:val>
                                            <p:strVal val="#ppt_x"/>
                                          </p:val>
                                        </p:tav>
                                      </p:tavLst>
                                    </p:anim>
                                    <p:anim calcmode="lin" valueType="num">
                                      <p:cBhvr additive="base">
                                        <p:cTn id="20" dur="500" fill="hold"/>
                                        <p:tgtEl>
                                          <p:spTgt spid="2598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8923" grpId="0" animBg="1"/>
      <p:bldP spid="2598924" grpId="0"/>
      <p:bldP spid="259892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1"/>
          <p:cNvSpPr>
            <a:spLocks noGrp="1"/>
          </p:cNvSpPr>
          <p:nvPr>
            <p:ph type="dt" sz="half" idx="10"/>
          </p:nvPr>
        </p:nvSpPr>
        <p:spPr/>
        <p:txBody>
          <a:bodyPr/>
          <a:lstStyle/>
          <a:p>
            <a:fld id="{7F993561-AE32-41E2-AA6B-FB4C2A7632AC}" type="datetime1">
              <a:rPr lang="zh-CN" altLang="en-US"/>
              <a:pPr/>
              <a:t>2017/2/24</a:t>
            </a:fld>
            <a:endParaRPr lang="en-US" altLang="zh-CN"/>
          </a:p>
        </p:txBody>
      </p:sp>
      <p:sp>
        <p:nvSpPr>
          <p:cNvPr id="6" name="灯片编号占位符 3"/>
          <p:cNvSpPr>
            <a:spLocks noGrp="1"/>
          </p:cNvSpPr>
          <p:nvPr>
            <p:ph type="sldNum" sz="quarter" idx="12"/>
          </p:nvPr>
        </p:nvSpPr>
        <p:spPr/>
        <p:txBody>
          <a:bodyPr/>
          <a:lstStyle/>
          <a:p>
            <a:fld id="{2C1AEB60-1513-4E34-A757-E7BD57E74681}" type="slidenum">
              <a:rPr lang="en-US" altLang="zh-CN"/>
              <a:pPr/>
              <a:t>70</a:t>
            </a:fld>
            <a:endParaRPr lang="en-US" altLang="zh-CN"/>
          </a:p>
        </p:txBody>
      </p:sp>
      <p:sp>
        <p:nvSpPr>
          <p:cNvPr id="2600962" name="Rectangle 2"/>
          <p:cNvSpPr>
            <a:spLocks noChangeArrowheads="1"/>
          </p:cNvSpPr>
          <p:nvPr/>
        </p:nvSpPr>
        <p:spPr bwMode="auto">
          <a:xfrm>
            <a:off x="250825" y="1196975"/>
            <a:ext cx="8642350" cy="45450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a:ea typeface="黑体" panose="02010609060101010101" pitchFamily="49" charset="-122"/>
              </a:rPr>
              <a:t>3. Display</a:t>
            </a:r>
            <a:r>
              <a:rPr lang="zh-CN" altLang="en-US" sz="3600">
                <a:ea typeface="黑体" panose="02010609060101010101" pitchFamily="49" charset="-122"/>
              </a:rPr>
              <a:t>表</a:t>
            </a:r>
          </a:p>
          <a:p>
            <a:r>
              <a:rPr lang="zh-CN" altLang="en-US" sz="3200" b="1">
                <a:ea typeface="楷体_GB2312" pitchFamily="49" charset="-122"/>
              </a:rPr>
              <a:t>	</a:t>
            </a:r>
            <a:r>
              <a:rPr lang="en-US" altLang="zh-CN" sz="2800" b="1">
                <a:ea typeface="楷体_GB2312" pitchFamily="49" charset="-122"/>
              </a:rPr>
              <a:t>Display</a:t>
            </a:r>
            <a:r>
              <a:rPr lang="zh-CN" altLang="en-US" sz="2800" b="1">
                <a:ea typeface="楷体_GB2312" pitchFamily="49" charset="-122"/>
              </a:rPr>
              <a:t>表是一个指针数组</a:t>
            </a:r>
            <a:r>
              <a:rPr lang="en-US" altLang="en-US" sz="2800" b="1">
                <a:ea typeface="楷体_GB2312" pitchFamily="49" charset="-122"/>
              </a:rPr>
              <a:t>d</a:t>
            </a:r>
            <a:r>
              <a:rPr lang="zh-CN" altLang="en-US" sz="2800" b="1">
                <a:ea typeface="楷体_GB2312" pitchFamily="49" charset="-122"/>
              </a:rPr>
              <a:t>，在运行过程中，若当前活动的过程的嵌套深度为</a:t>
            </a:r>
            <a:r>
              <a:rPr lang="en-US" altLang="zh-CN" sz="2800" b="1">
                <a:ea typeface="楷体_GB2312" pitchFamily="49" charset="-122"/>
              </a:rPr>
              <a:t>i</a:t>
            </a:r>
            <a:r>
              <a:rPr lang="zh-CN" altLang="en-US" sz="2800" b="1">
                <a:ea typeface="楷体_GB2312" pitchFamily="49" charset="-122"/>
              </a:rPr>
              <a:t>，</a:t>
            </a:r>
            <a:r>
              <a:rPr lang="zh-CN" altLang="zh-CN" sz="2800" b="1">
                <a:ea typeface="楷体_GB2312" pitchFamily="49" charset="-122"/>
              </a:rPr>
              <a:t>则</a:t>
            </a:r>
            <a:r>
              <a:rPr lang="en-US" altLang="zh-CN" sz="2800" b="1">
                <a:ea typeface="楷体_GB2312" pitchFamily="49" charset="-122"/>
              </a:rPr>
              <a:t>d[i]</a:t>
            </a:r>
            <a:r>
              <a:rPr lang="zh-CN" altLang="en-US" sz="2800" b="1">
                <a:ea typeface="楷体_GB2312" pitchFamily="49" charset="-122"/>
              </a:rPr>
              <a:t>中存放当前的活动记录地址，</a:t>
            </a:r>
            <a:r>
              <a:rPr lang="en-US" altLang="en-US" sz="2800" b="1">
                <a:ea typeface="楷体_GB2312" pitchFamily="49" charset="-122"/>
              </a:rPr>
              <a:t>d[i-1],d[i-2],… ,d[1] </a:t>
            </a:r>
            <a:r>
              <a:rPr lang="zh-CN" altLang="zh-CN" sz="2800" b="1">
                <a:ea typeface="楷体_GB2312" pitchFamily="49" charset="-122"/>
              </a:rPr>
              <a:t>中依次存放着</a:t>
            </a:r>
            <a:r>
              <a:rPr lang="zh-CN" altLang="en-US" sz="2800" b="1">
                <a:ea typeface="楷体_GB2312" pitchFamily="49" charset="-122"/>
              </a:rPr>
              <a:t>当前活动的过程的直接外层， </a:t>
            </a:r>
            <a:r>
              <a:rPr lang="en-US" altLang="zh-CN" sz="2800" b="1">
                <a:ea typeface="楷体_GB2312" pitchFamily="49" charset="-122"/>
              </a:rPr>
              <a:t>… ,</a:t>
            </a:r>
            <a:r>
              <a:rPr lang="zh-CN" altLang="zh-CN" sz="2800" b="1">
                <a:ea typeface="楷体_GB2312" pitchFamily="49" charset="-122"/>
              </a:rPr>
              <a:t> </a:t>
            </a:r>
            <a:r>
              <a:rPr lang="zh-CN" altLang="en-US" sz="2800" b="1">
                <a:ea typeface="楷体_GB2312" pitchFamily="49" charset="-122"/>
              </a:rPr>
              <a:t>直至最外层（主程序）等每一层过程的最新活动地址。</a:t>
            </a:r>
            <a:endParaRPr lang="zh-CN" altLang="zh-CN" sz="2800" b="1">
              <a:ea typeface="楷体_GB2312" pitchFamily="49" charset="-122"/>
            </a:endParaRPr>
          </a:p>
          <a:p>
            <a:r>
              <a:rPr lang="zh-CN" altLang="en-US" sz="2800" b="1">
                <a:ea typeface="楷体_GB2312" pitchFamily="49" charset="-122"/>
              </a:rPr>
              <a:t> 	这样，嵌套深度为</a:t>
            </a:r>
            <a:r>
              <a:rPr lang="en-US" altLang="zh-CN" sz="2800" b="1">
                <a:ea typeface="楷体_GB2312" pitchFamily="49" charset="-122"/>
              </a:rPr>
              <a:t>j</a:t>
            </a:r>
            <a:r>
              <a:rPr lang="zh-CN" altLang="en-US" sz="2800" b="1">
                <a:ea typeface="楷体_GB2312" pitchFamily="49" charset="-122"/>
              </a:rPr>
              <a:t>的变量</a:t>
            </a:r>
            <a:r>
              <a:rPr lang="en-US" altLang="zh-CN" sz="2800" b="1">
                <a:ea typeface="楷体_GB2312" pitchFamily="49" charset="-122"/>
              </a:rPr>
              <a:t>a</a:t>
            </a:r>
            <a:r>
              <a:rPr lang="zh-CN" altLang="zh-CN" sz="2800" b="1">
                <a:ea typeface="楷体_GB2312" pitchFamily="49" charset="-122"/>
              </a:rPr>
              <a:t>存放在由d[j]所指出的</a:t>
            </a:r>
            <a:r>
              <a:rPr lang="zh-CN" altLang="en-US" sz="2800" b="1">
                <a:ea typeface="楷体_GB2312" pitchFamily="49" charset="-122"/>
              </a:rPr>
              <a:t>活动记录中。</a:t>
            </a:r>
          </a:p>
          <a:p>
            <a:r>
              <a:rPr lang="zh-CN" altLang="en-US" sz="2800" b="1">
                <a:ea typeface="楷体_GB2312" pitchFamily="49" charset="-122"/>
              </a:rPr>
              <a:t>	在运行过程中维持一个</a:t>
            </a:r>
            <a:r>
              <a:rPr lang="en-US" altLang="zh-CN" sz="2800" b="1">
                <a:ea typeface="楷体_GB2312" pitchFamily="49" charset="-122"/>
              </a:rPr>
              <a:t>Display</a:t>
            </a:r>
            <a:r>
              <a:rPr lang="zh-CN" altLang="en-US" sz="2800" b="1">
                <a:ea typeface="楷体_GB2312" pitchFamily="49" charset="-122"/>
              </a:rPr>
              <a:t>表实现非局部访问比存取链效率要高。</a:t>
            </a:r>
          </a:p>
        </p:txBody>
      </p:sp>
      <p:sp>
        <p:nvSpPr>
          <p:cNvPr id="2600963" name="Rectangle 3"/>
          <p:cNvSpPr>
            <a:spLocks noChangeArrowheads="1"/>
          </p:cNvSpPr>
          <p:nvPr/>
        </p:nvSpPr>
        <p:spPr bwMode="auto">
          <a:xfrm>
            <a:off x="827088" y="115888"/>
            <a:ext cx="765968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b="1">
                <a:solidFill>
                  <a:schemeClr val="tx2"/>
                </a:solidFill>
                <a:latin typeface="黑体" panose="02010609060101010101" pitchFamily="49" charset="-122"/>
                <a:ea typeface="黑体" panose="02010609060101010101" pitchFamily="49" charset="-122"/>
              </a:defRPr>
            </a:lvl1pPr>
            <a:lvl2pPr algn="ctr">
              <a:defRPr sz="4400" b="1">
                <a:solidFill>
                  <a:schemeClr val="tx2"/>
                </a:solidFill>
                <a:latin typeface="黑体" panose="02010609060101010101" pitchFamily="49" charset="-122"/>
                <a:ea typeface="黑体" panose="02010609060101010101" pitchFamily="49" charset="-122"/>
              </a:defRPr>
            </a:lvl2pPr>
            <a:lvl3pPr algn="ctr">
              <a:defRPr sz="4400" b="1">
                <a:solidFill>
                  <a:schemeClr val="tx2"/>
                </a:solidFill>
                <a:latin typeface="黑体" panose="02010609060101010101" pitchFamily="49" charset="-122"/>
                <a:ea typeface="黑体" panose="02010609060101010101" pitchFamily="49" charset="-122"/>
              </a:defRPr>
            </a:lvl3pPr>
            <a:lvl4pPr algn="ctr">
              <a:defRPr sz="4400" b="1">
                <a:solidFill>
                  <a:schemeClr val="tx2"/>
                </a:solidFill>
                <a:latin typeface="黑体" panose="02010609060101010101" pitchFamily="49" charset="-122"/>
                <a:ea typeface="黑体" panose="02010609060101010101" pitchFamily="49" charset="-122"/>
              </a:defRPr>
            </a:lvl4pPr>
            <a:lvl5pPr algn="ctr">
              <a:defRPr sz="4400" b="1">
                <a:solidFill>
                  <a:schemeClr val="tx2"/>
                </a:solidFill>
                <a:latin typeface="黑体" panose="02010609060101010101" pitchFamily="49" charset="-122"/>
                <a:ea typeface="黑体" panose="02010609060101010101" pitchFamily="49" charset="-122"/>
              </a:defRPr>
            </a:lvl5pPr>
            <a:lvl6pPr marL="4572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6pPr>
            <a:lvl7pPr marL="9144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7pPr>
            <a:lvl8pPr marL="13716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8pPr>
            <a:lvl9pPr marL="18288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9pPr>
          </a:lstStyle>
          <a:p>
            <a:r>
              <a:rPr lang="en-US" altLang="zh-CN" b="0">
                <a:latin typeface="Times New Roman" panose="02020603050405020304" pitchFamily="18" charset="0"/>
              </a:rPr>
              <a:t>9.5.2 </a:t>
            </a:r>
            <a:r>
              <a:rPr lang="zh-CN" altLang="en-US" b="0">
                <a:latin typeface="Times New Roman" panose="02020603050405020304" pitchFamily="18" charset="0"/>
              </a:rPr>
              <a:t>有过程嵌套的静态作用域</a:t>
            </a:r>
          </a:p>
        </p:txBody>
      </p:sp>
    </p:spTree>
    <p:extLst>
      <p:ext uri="{BB962C8B-B14F-4D97-AF65-F5344CB8AC3E}">
        <p14:creationId xmlns:p14="http://schemas.microsoft.com/office/powerpoint/2010/main" val="17453120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1"/>
          <p:cNvSpPr>
            <a:spLocks noGrp="1"/>
          </p:cNvSpPr>
          <p:nvPr>
            <p:ph type="dt" sz="half" idx="10"/>
          </p:nvPr>
        </p:nvSpPr>
        <p:spPr/>
        <p:txBody>
          <a:bodyPr/>
          <a:lstStyle/>
          <a:p>
            <a:fld id="{CD95057C-A416-4C28-A13F-94CD515A6287}" type="datetime1">
              <a:rPr lang="zh-CN" altLang="en-US"/>
              <a:pPr/>
              <a:t>2017/2/24</a:t>
            </a:fld>
            <a:endParaRPr lang="en-US" altLang="zh-CN"/>
          </a:p>
        </p:txBody>
      </p:sp>
      <p:sp>
        <p:nvSpPr>
          <p:cNvPr id="6" name="灯片编号占位符 3"/>
          <p:cNvSpPr>
            <a:spLocks noGrp="1"/>
          </p:cNvSpPr>
          <p:nvPr>
            <p:ph type="sldNum" sz="quarter" idx="12"/>
          </p:nvPr>
        </p:nvSpPr>
        <p:spPr/>
        <p:txBody>
          <a:bodyPr/>
          <a:lstStyle/>
          <a:p>
            <a:fld id="{433CC9A4-6D83-4DAA-9FAB-04F11C414EFD}" type="slidenum">
              <a:rPr lang="en-US" altLang="zh-CN"/>
              <a:pPr/>
              <a:t>71</a:t>
            </a:fld>
            <a:endParaRPr lang="en-US" altLang="zh-CN"/>
          </a:p>
        </p:txBody>
      </p:sp>
      <p:sp>
        <p:nvSpPr>
          <p:cNvPr id="2601986" name="Rectangle 2"/>
          <p:cNvSpPr>
            <a:spLocks noChangeArrowheads="1"/>
          </p:cNvSpPr>
          <p:nvPr/>
        </p:nvSpPr>
        <p:spPr bwMode="auto">
          <a:xfrm>
            <a:off x="250825" y="1219200"/>
            <a:ext cx="8686800" cy="4792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ea typeface="楷体_GB2312" pitchFamily="49" charset="-122"/>
              </a:rPr>
              <a:t>Display</a:t>
            </a:r>
            <a:r>
              <a:rPr lang="zh-CN" altLang="en-US" sz="2800" b="1">
                <a:ea typeface="楷体_GB2312" pitchFamily="49" charset="-122"/>
              </a:rPr>
              <a:t>表的维护（过程不作为参数传递）</a:t>
            </a:r>
          </a:p>
          <a:p>
            <a:pPr>
              <a:spcBef>
                <a:spcPct val="50000"/>
              </a:spcBef>
            </a:pPr>
            <a:r>
              <a:rPr lang="zh-CN" altLang="en-US" sz="2800" b="1">
                <a:ea typeface="楷体_GB2312" pitchFamily="49" charset="-122"/>
              </a:rPr>
              <a:t>当嵌套深度为</a:t>
            </a:r>
            <a:r>
              <a:rPr lang="en-US" altLang="zh-CN" sz="2800" b="1">
                <a:ea typeface="楷体_GB2312" pitchFamily="49" charset="-122"/>
              </a:rPr>
              <a:t>i</a:t>
            </a:r>
            <a:r>
              <a:rPr lang="zh-CN" altLang="en-US" sz="2800" b="1">
                <a:ea typeface="楷体_GB2312" pitchFamily="49" charset="-122"/>
              </a:rPr>
              <a:t>的过程的活动记录压在栈顶时：</a:t>
            </a:r>
          </a:p>
          <a:p>
            <a:r>
              <a:rPr lang="zh-CN" altLang="en-US" sz="2800" b="1">
                <a:ea typeface="楷体_GB2312" pitchFamily="49" charset="-122"/>
              </a:rPr>
              <a:t>    </a:t>
            </a:r>
            <a:r>
              <a:rPr lang="en-US" altLang="zh-CN" sz="2800" b="1">
                <a:ea typeface="楷体_GB2312" pitchFamily="49" charset="-122"/>
              </a:rPr>
              <a:t>(1)</a:t>
            </a:r>
            <a:r>
              <a:rPr lang="zh-CN" altLang="en-US" sz="2800" b="1">
                <a:ea typeface="楷体_GB2312" pitchFamily="49" charset="-122"/>
              </a:rPr>
              <a:t>在新的活动记录中保存</a:t>
            </a:r>
            <a:r>
              <a:rPr lang="en-US" altLang="zh-CN" sz="2800" b="1">
                <a:ea typeface="楷体_GB2312" pitchFamily="49" charset="-122"/>
              </a:rPr>
              <a:t>d[i]</a:t>
            </a:r>
            <a:r>
              <a:rPr lang="zh-CN" altLang="en-US" sz="2800" b="1">
                <a:ea typeface="楷体_GB2312" pitchFamily="49" charset="-122"/>
              </a:rPr>
              <a:t>的值；</a:t>
            </a:r>
          </a:p>
          <a:p>
            <a:r>
              <a:rPr lang="zh-CN" altLang="en-US" sz="2800" b="1">
                <a:ea typeface="楷体_GB2312" pitchFamily="49" charset="-122"/>
              </a:rPr>
              <a:t>    </a:t>
            </a:r>
            <a:r>
              <a:rPr lang="en-US" altLang="zh-CN" sz="2800" b="1">
                <a:ea typeface="楷体_GB2312" pitchFamily="49" charset="-122"/>
              </a:rPr>
              <a:t>(2)</a:t>
            </a:r>
            <a:r>
              <a:rPr lang="zh-CN" altLang="en-US" sz="2800" b="1">
                <a:ea typeface="楷体_GB2312" pitchFamily="49" charset="-122"/>
              </a:rPr>
              <a:t>置</a:t>
            </a:r>
            <a:r>
              <a:rPr lang="en-US" altLang="zh-CN" sz="2800" b="1">
                <a:ea typeface="楷体_GB2312" pitchFamily="49" charset="-122"/>
              </a:rPr>
              <a:t>d[i]</a:t>
            </a:r>
            <a:r>
              <a:rPr lang="zh-CN" altLang="en-US" sz="2800" b="1">
                <a:ea typeface="楷体_GB2312" pitchFamily="49" charset="-122"/>
              </a:rPr>
              <a:t>指向新的活动记录。</a:t>
            </a:r>
          </a:p>
          <a:p>
            <a:pPr>
              <a:spcBef>
                <a:spcPct val="30000"/>
              </a:spcBef>
            </a:pPr>
            <a:r>
              <a:rPr lang="zh-CN" altLang="en-US" sz="2800" b="1">
                <a:ea typeface="楷体_GB2312" pitchFamily="49" charset="-122"/>
              </a:rPr>
              <a:t>    在一个活动结束前， </a:t>
            </a:r>
            <a:r>
              <a:rPr lang="en-US" altLang="zh-CN" sz="2800" b="1">
                <a:ea typeface="楷体_GB2312" pitchFamily="49" charset="-122"/>
              </a:rPr>
              <a:t>d[i]</a:t>
            </a:r>
            <a:r>
              <a:rPr lang="zh-CN" altLang="en-US" sz="2800" b="1">
                <a:ea typeface="楷体_GB2312" pitchFamily="49" charset="-122"/>
              </a:rPr>
              <a:t>置成保存的旧值。</a:t>
            </a:r>
          </a:p>
          <a:p>
            <a:pPr>
              <a:spcBef>
                <a:spcPct val="30000"/>
              </a:spcBef>
            </a:pPr>
            <a:r>
              <a:rPr lang="zh-CN" altLang="en-US" sz="2800" b="1">
                <a:solidFill>
                  <a:srgbClr val="FF0000"/>
                </a:solidFill>
                <a:ea typeface="楷体_GB2312" pitchFamily="49" charset="-122"/>
              </a:rPr>
              <a:t>用</a:t>
            </a:r>
            <a:r>
              <a:rPr lang="en-US" altLang="zh-CN" sz="2800" b="1">
                <a:solidFill>
                  <a:srgbClr val="FF0000"/>
                </a:solidFill>
                <a:ea typeface="楷体_GB2312" pitchFamily="49" charset="-122"/>
              </a:rPr>
              <a:t>Display</a:t>
            </a:r>
            <a:r>
              <a:rPr lang="zh-CN" altLang="en-US" sz="2800" b="1">
                <a:solidFill>
                  <a:srgbClr val="FF0000"/>
                </a:solidFill>
                <a:ea typeface="楷体_GB2312" pitchFamily="49" charset="-122"/>
              </a:rPr>
              <a:t>表如何访问非局部量？</a:t>
            </a:r>
          </a:p>
          <a:p>
            <a:pPr>
              <a:spcBef>
                <a:spcPct val="30000"/>
              </a:spcBef>
            </a:pPr>
            <a:r>
              <a:rPr lang="zh-CN" altLang="en-US" sz="2800" b="1">
                <a:ea typeface="楷体_GB2312" pitchFamily="49" charset="-122"/>
              </a:rPr>
              <a:t>    </a:t>
            </a:r>
            <a:r>
              <a:rPr lang="en-US" altLang="zh-CN" sz="2800" b="1">
                <a:ea typeface="楷体_GB2312" pitchFamily="49" charset="-122"/>
              </a:rPr>
              <a:t>1.  Display</a:t>
            </a:r>
            <a:r>
              <a:rPr lang="zh-CN" altLang="en-US" sz="2800" b="1">
                <a:ea typeface="楷体_GB2312" pitchFamily="49" charset="-122"/>
              </a:rPr>
              <a:t>表是一个数组，开始地址用通用</a:t>
            </a:r>
          </a:p>
          <a:p>
            <a:pPr>
              <a:spcBef>
                <a:spcPct val="30000"/>
              </a:spcBef>
            </a:pPr>
            <a:r>
              <a:rPr lang="zh-CN" altLang="en-US" sz="2800" b="1">
                <a:ea typeface="楷体_GB2312" pitchFamily="49" charset="-122"/>
              </a:rPr>
              <a:t>          寄存器指出；</a:t>
            </a:r>
          </a:p>
          <a:p>
            <a:pPr>
              <a:spcBef>
                <a:spcPct val="30000"/>
              </a:spcBef>
            </a:pPr>
            <a:r>
              <a:rPr lang="zh-CN" altLang="en-US" sz="2800" b="1">
                <a:ea typeface="楷体_GB2312" pitchFamily="49" charset="-122"/>
              </a:rPr>
              <a:t>    </a:t>
            </a:r>
            <a:r>
              <a:rPr lang="en-US" altLang="zh-CN" sz="2800" b="1">
                <a:ea typeface="楷体_GB2312" pitchFamily="49" charset="-122"/>
              </a:rPr>
              <a:t>2.  Display</a:t>
            </a:r>
            <a:r>
              <a:rPr lang="zh-CN" altLang="en-US" sz="2800" b="1">
                <a:ea typeface="楷体_GB2312" pitchFamily="49" charset="-122"/>
              </a:rPr>
              <a:t>表由一组寄存器实现。</a:t>
            </a:r>
            <a:endParaRPr lang="zh-CN" altLang="en-US" sz="2800" b="1">
              <a:solidFill>
                <a:schemeClr val="hlink"/>
              </a:solidFill>
              <a:ea typeface="楷体_GB2312" pitchFamily="49" charset="-122"/>
            </a:endParaRPr>
          </a:p>
        </p:txBody>
      </p:sp>
      <p:sp>
        <p:nvSpPr>
          <p:cNvPr id="2601987" name="Rectangle 3"/>
          <p:cNvSpPr>
            <a:spLocks noChangeArrowheads="1"/>
          </p:cNvSpPr>
          <p:nvPr/>
        </p:nvSpPr>
        <p:spPr bwMode="auto">
          <a:xfrm>
            <a:off x="827088" y="115888"/>
            <a:ext cx="765968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b="1">
                <a:solidFill>
                  <a:schemeClr val="tx2"/>
                </a:solidFill>
                <a:latin typeface="黑体" panose="02010609060101010101" pitchFamily="49" charset="-122"/>
                <a:ea typeface="黑体" panose="02010609060101010101" pitchFamily="49" charset="-122"/>
              </a:defRPr>
            </a:lvl1pPr>
            <a:lvl2pPr algn="ctr">
              <a:defRPr sz="4400" b="1">
                <a:solidFill>
                  <a:schemeClr val="tx2"/>
                </a:solidFill>
                <a:latin typeface="黑体" panose="02010609060101010101" pitchFamily="49" charset="-122"/>
                <a:ea typeface="黑体" panose="02010609060101010101" pitchFamily="49" charset="-122"/>
              </a:defRPr>
            </a:lvl2pPr>
            <a:lvl3pPr algn="ctr">
              <a:defRPr sz="4400" b="1">
                <a:solidFill>
                  <a:schemeClr val="tx2"/>
                </a:solidFill>
                <a:latin typeface="黑体" panose="02010609060101010101" pitchFamily="49" charset="-122"/>
                <a:ea typeface="黑体" panose="02010609060101010101" pitchFamily="49" charset="-122"/>
              </a:defRPr>
            </a:lvl3pPr>
            <a:lvl4pPr algn="ctr">
              <a:defRPr sz="4400" b="1">
                <a:solidFill>
                  <a:schemeClr val="tx2"/>
                </a:solidFill>
                <a:latin typeface="黑体" panose="02010609060101010101" pitchFamily="49" charset="-122"/>
                <a:ea typeface="黑体" panose="02010609060101010101" pitchFamily="49" charset="-122"/>
              </a:defRPr>
            </a:lvl4pPr>
            <a:lvl5pPr algn="ctr">
              <a:defRPr sz="4400" b="1">
                <a:solidFill>
                  <a:schemeClr val="tx2"/>
                </a:solidFill>
                <a:latin typeface="黑体" panose="02010609060101010101" pitchFamily="49" charset="-122"/>
                <a:ea typeface="黑体" panose="02010609060101010101" pitchFamily="49" charset="-122"/>
              </a:defRPr>
            </a:lvl5pPr>
            <a:lvl6pPr marL="4572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6pPr>
            <a:lvl7pPr marL="9144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7pPr>
            <a:lvl8pPr marL="13716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8pPr>
            <a:lvl9pPr marL="18288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9pPr>
          </a:lstStyle>
          <a:p>
            <a:r>
              <a:rPr lang="en-US" altLang="zh-CN" b="0">
                <a:latin typeface="Times New Roman" panose="02020603050405020304" pitchFamily="18" charset="0"/>
              </a:rPr>
              <a:t>9.5.2 </a:t>
            </a:r>
            <a:r>
              <a:rPr lang="zh-CN" altLang="en-US" b="0">
                <a:latin typeface="Times New Roman" panose="02020603050405020304" pitchFamily="18" charset="0"/>
              </a:rPr>
              <a:t>有过程嵌套的静态作用域</a:t>
            </a:r>
          </a:p>
        </p:txBody>
      </p:sp>
    </p:spTree>
    <p:extLst>
      <p:ext uri="{BB962C8B-B14F-4D97-AF65-F5344CB8AC3E}">
        <p14:creationId xmlns:p14="http://schemas.microsoft.com/office/powerpoint/2010/main" val="32613018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4B08F2F6-2362-464B-BC58-2C7B386E487C}"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CDA22249-D810-4B88-9A85-61675C165E1A}" type="slidenum">
              <a:rPr lang="en-US" altLang="zh-CN"/>
              <a:pPr/>
              <a:t>72</a:t>
            </a:fld>
            <a:endParaRPr lang="en-US" altLang="zh-CN"/>
          </a:p>
        </p:txBody>
      </p:sp>
      <p:sp>
        <p:nvSpPr>
          <p:cNvPr id="2605058" name="Rectangle 2"/>
          <p:cNvSpPr>
            <a:spLocks noGrp="1" noChangeArrowheads="1"/>
          </p:cNvSpPr>
          <p:nvPr>
            <p:ph type="title"/>
          </p:nvPr>
        </p:nvSpPr>
        <p:spPr>
          <a:xfrm>
            <a:off x="5580063" y="0"/>
            <a:ext cx="3563937" cy="549275"/>
          </a:xfrm>
        </p:spPr>
        <p:txBody>
          <a:bodyPr/>
          <a:lstStyle/>
          <a:p>
            <a:r>
              <a:rPr lang="zh-CN" altLang="en-US"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一个例子</a:t>
            </a:r>
            <a:endParaRPr lang="zh-CN" altLang="en-US"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05059" name="Rectangle 3"/>
          <p:cNvSpPr>
            <a:spLocks noGrp="1" noChangeArrowheads="1"/>
          </p:cNvSpPr>
          <p:nvPr>
            <p:ph type="body" idx="1"/>
          </p:nvPr>
        </p:nvSpPr>
        <p:spPr>
          <a:xfrm>
            <a:off x="250825" y="0"/>
            <a:ext cx="5184775" cy="6597650"/>
          </a:xfrm>
          <a:noFill/>
          <a:ln w="28575" cap="flat" algn="ctr">
            <a:solidFill>
              <a:srgbClr val="FF0000"/>
            </a:solidFill>
            <a:miter lim="800000"/>
            <a:headEnd/>
            <a:tailEnd/>
          </a:ln>
        </p:spPr>
        <p:txBody>
          <a:bodyPr lIns="92075" tIns="46038" rIns="92075" bIns="46038"/>
          <a:lstStyle/>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program P;</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var a, x :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procedure Q(b: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i: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R(u: integer; var v: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c, d: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if u=1 then R(u+1, v)</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v:=(a+c)*(b-d);</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end {R}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begin</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R(1,x);</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end {Q}</a:t>
            </a:r>
          </a:p>
        </p:txBody>
      </p:sp>
      <p:sp>
        <p:nvSpPr>
          <p:cNvPr id="2605060" name="Rectangle 4"/>
          <p:cNvSpPr>
            <a:spLocks noChangeArrowheads="1"/>
          </p:cNvSpPr>
          <p:nvPr/>
        </p:nvSpPr>
        <p:spPr bwMode="auto">
          <a:xfrm>
            <a:off x="5651500" y="2060575"/>
            <a:ext cx="3492500" cy="45085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lnSpc>
                <a:spcPct val="80000"/>
              </a:lnSpc>
              <a:buFontTx/>
              <a:buNone/>
            </a:pPr>
            <a:r>
              <a:rPr lang="en-US" altLang="zh-CN" sz="2400" b="1">
                <a:latin typeface="Times New Roman" panose="02020603050405020304" pitchFamily="18" charset="0"/>
              </a:rPr>
              <a:t>procedure S;</a:t>
            </a:r>
          </a:p>
          <a:p>
            <a:pPr>
              <a:lnSpc>
                <a:spcPct val="80000"/>
              </a:lnSpc>
              <a:buFontTx/>
              <a:buNone/>
            </a:pPr>
            <a:r>
              <a:rPr lang="en-US" altLang="zh-CN" sz="2400" b="1">
                <a:latin typeface="Times New Roman" panose="02020603050405020304" pitchFamily="18" charset="0"/>
              </a:rPr>
              <a:t>	var c, i:integer;</a:t>
            </a:r>
          </a:p>
          <a:p>
            <a:pPr>
              <a:lnSpc>
                <a:spcPct val="80000"/>
              </a:lnSpc>
              <a:buFontTx/>
              <a:buNone/>
            </a:pPr>
            <a:r>
              <a:rPr lang="en-US" altLang="zh-CN" sz="2400" b="1">
                <a:latin typeface="Times New Roman" panose="02020603050405020304" pitchFamily="18" charset="0"/>
              </a:rPr>
              <a:t>	begin</a:t>
            </a:r>
          </a:p>
          <a:p>
            <a:pPr>
              <a:lnSpc>
                <a:spcPct val="80000"/>
              </a:lnSpc>
              <a:buFontTx/>
              <a:buNone/>
            </a:pPr>
            <a:r>
              <a:rPr lang="en-US" altLang="zh-CN" sz="2400" b="1">
                <a:latin typeface="Times New Roman" panose="02020603050405020304" pitchFamily="18" charset="0"/>
              </a:rPr>
              <a:t>		a:=1;</a:t>
            </a:r>
          </a:p>
          <a:p>
            <a:pPr>
              <a:lnSpc>
                <a:spcPct val="80000"/>
              </a:lnSpc>
              <a:buFontTx/>
              <a:buNone/>
            </a:pPr>
            <a:r>
              <a:rPr lang="en-US" altLang="zh-CN" sz="2400" b="1">
                <a:latin typeface="Times New Roman" panose="02020603050405020304" pitchFamily="18" charset="0"/>
              </a:rPr>
              <a:t>		Q(c);</a:t>
            </a:r>
          </a:p>
          <a:p>
            <a:pPr>
              <a:lnSpc>
                <a:spcPct val="80000"/>
              </a:lnSpc>
              <a:buFontTx/>
              <a:buNone/>
            </a:pPr>
            <a:r>
              <a:rPr lang="en-US" altLang="zh-CN" sz="2400" b="1">
                <a:latin typeface="Times New Roman" panose="02020603050405020304" pitchFamily="18" charset="0"/>
              </a:rPr>
              <a:t>		......</a:t>
            </a:r>
          </a:p>
          <a:p>
            <a:pPr>
              <a:lnSpc>
                <a:spcPct val="80000"/>
              </a:lnSpc>
              <a:buFontTx/>
              <a:buNone/>
            </a:pPr>
            <a:r>
              <a:rPr lang="en-US" altLang="zh-CN" sz="2400" b="1">
                <a:latin typeface="Times New Roman" panose="02020603050405020304" pitchFamily="18" charset="0"/>
              </a:rPr>
              <a:t>	end {S}</a:t>
            </a:r>
          </a:p>
          <a:p>
            <a:pPr>
              <a:lnSpc>
                <a:spcPct val="80000"/>
              </a:lnSpc>
              <a:buFontTx/>
              <a:buNone/>
            </a:pPr>
            <a:r>
              <a:rPr lang="en-US" altLang="zh-CN" sz="2400" b="1">
                <a:latin typeface="Times New Roman" panose="02020603050405020304" pitchFamily="18" charset="0"/>
              </a:rPr>
              <a:t>begin</a:t>
            </a:r>
          </a:p>
          <a:p>
            <a:pPr>
              <a:lnSpc>
                <a:spcPct val="80000"/>
              </a:lnSpc>
              <a:buFontTx/>
              <a:buNone/>
            </a:pPr>
            <a:r>
              <a:rPr lang="en-US" altLang="zh-CN" sz="2400" b="1">
                <a:latin typeface="Times New Roman" panose="02020603050405020304" pitchFamily="18" charset="0"/>
              </a:rPr>
              <a:t>	a:=0;</a:t>
            </a:r>
          </a:p>
          <a:p>
            <a:pPr>
              <a:lnSpc>
                <a:spcPct val="80000"/>
              </a:lnSpc>
              <a:buFontTx/>
              <a:buNone/>
            </a:pPr>
            <a:r>
              <a:rPr lang="en-US" altLang="zh-CN" sz="2400" b="1">
                <a:latin typeface="Times New Roman" panose="02020603050405020304" pitchFamily="18" charset="0"/>
              </a:rPr>
              <a:t>	S;</a:t>
            </a:r>
          </a:p>
          <a:p>
            <a:pPr>
              <a:lnSpc>
                <a:spcPct val="80000"/>
              </a:lnSpc>
              <a:buFontTx/>
              <a:buNone/>
            </a:pPr>
            <a:r>
              <a:rPr lang="en-US" altLang="zh-CN" sz="2400" b="1">
                <a:latin typeface="Times New Roman" panose="02020603050405020304" pitchFamily="18" charset="0"/>
              </a:rPr>
              <a:t>	......</a:t>
            </a:r>
          </a:p>
          <a:p>
            <a:pPr>
              <a:lnSpc>
                <a:spcPct val="80000"/>
              </a:lnSpc>
              <a:buFontTx/>
              <a:buNone/>
            </a:pPr>
            <a:r>
              <a:rPr lang="en-US" altLang="zh-CN" sz="2400" b="1">
                <a:latin typeface="Times New Roman" panose="02020603050405020304" pitchFamily="18" charset="0"/>
              </a:rPr>
              <a:t>end. {P}</a:t>
            </a:r>
          </a:p>
        </p:txBody>
      </p:sp>
      <p:sp>
        <p:nvSpPr>
          <p:cNvPr id="2605061" name="Rectangle 5"/>
          <p:cNvSpPr>
            <a:spLocks noChangeArrowheads="1"/>
          </p:cNvSpPr>
          <p:nvPr/>
        </p:nvSpPr>
        <p:spPr bwMode="auto">
          <a:xfrm>
            <a:off x="5580063" y="620713"/>
            <a:ext cx="3419475"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a:defRPr sz="4400" b="1">
                <a:solidFill>
                  <a:schemeClr val="tx2"/>
                </a:solidFill>
                <a:latin typeface="黑体" panose="02010609060101010101" pitchFamily="49" charset="-122"/>
                <a:ea typeface="黑体" panose="02010609060101010101" pitchFamily="49" charset="-122"/>
              </a:defRPr>
            </a:lvl1pPr>
            <a:lvl2pPr algn="ctr">
              <a:defRPr sz="4400" b="1">
                <a:solidFill>
                  <a:schemeClr val="tx2"/>
                </a:solidFill>
                <a:latin typeface="黑体" panose="02010609060101010101" pitchFamily="49" charset="-122"/>
                <a:ea typeface="黑体" panose="02010609060101010101" pitchFamily="49" charset="-122"/>
              </a:defRPr>
            </a:lvl2pPr>
            <a:lvl3pPr algn="ctr">
              <a:defRPr sz="4400" b="1">
                <a:solidFill>
                  <a:schemeClr val="tx2"/>
                </a:solidFill>
                <a:latin typeface="黑体" panose="02010609060101010101" pitchFamily="49" charset="-122"/>
                <a:ea typeface="黑体" panose="02010609060101010101" pitchFamily="49" charset="-122"/>
              </a:defRPr>
            </a:lvl3pPr>
            <a:lvl4pPr algn="ctr">
              <a:defRPr sz="4400" b="1">
                <a:solidFill>
                  <a:schemeClr val="tx2"/>
                </a:solidFill>
                <a:latin typeface="黑体" panose="02010609060101010101" pitchFamily="49" charset="-122"/>
                <a:ea typeface="黑体" panose="02010609060101010101" pitchFamily="49" charset="-122"/>
              </a:defRPr>
            </a:lvl4pPr>
            <a:lvl5pPr algn="ctr">
              <a:defRPr sz="4400" b="1">
                <a:solidFill>
                  <a:schemeClr val="tx2"/>
                </a:solidFill>
                <a:latin typeface="黑体" panose="02010609060101010101" pitchFamily="49" charset="-122"/>
                <a:ea typeface="黑体" panose="02010609060101010101" pitchFamily="49" charset="-122"/>
              </a:defRPr>
            </a:lvl5pPr>
            <a:lvl6pPr marL="4572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6pPr>
            <a:lvl7pPr marL="9144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7pPr>
            <a:lvl8pPr marL="13716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8pPr>
            <a:lvl9pPr marL="18288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9pPr>
          </a:lstStyle>
          <a:p>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主程序</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P </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S </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Q </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R </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R</a:t>
            </a:r>
          </a:p>
        </p:txBody>
      </p:sp>
    </p:spTree>
    <p:extLst>
      <p:ext uri="{BB962C8B-B14F-4D97-AF65-F5344CB8AC3E}">
        <p14:creationId xmlns:p14="http://schemas.microsoft.com/office/powerpoint/2010/main" val="129444010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日期占位符 3"/>
          <p:cNvSpPr>
            <a:spLocks noGrp="1"/>
          </p:cNvSpPr>
          <p:nvPr>
            <p:ph type="dt" sz="half" idx="10"/>
          </p:nvPr>
        </p:nvSpPr>
        <p:spPr/>
        <p:txBody>
          <a:bodyPr/>
          <a:lstStyle/>
          <a:p>
            <a:fld id="{2A3EFF0E-0DCE-4C59-A051-CF1718A59134}" type="datetime1">
              <a:rPr lang="zh-CN" altLang="en-US"/>
              <a:pPr/>
              <a:t>2017/2/24</a:t>
            </a:fld>
            <a:endParaRPr lang="en-US" altLang="zh-CN"/>
          </a:p>
        </p:txBody>
      </p:sp>
      <p:sp>
        <p:nvSpPr>
          <p:cNvPr id="19" name="灯片编号占位符 5"/>
          <p:cNvSpPr>
            <a:spLocks noGrp="1"/>
          </p:cNvSpPr>
          <p:nvPr>
            <p:ph type="sldNum" sz="quarter" idx="12"/>
          </p:nvPr>
        </p:nvSpPr>
        <p:spPr/>
        <p:txBody>
          <a:bodyPr/>
          <a:lstStyle/>
          <a:p>
            <a:fld id="{5768042A-6248-4B47-98A2-C3FC41045986}" type="slidenum">
              <a:rPr lang="en-US" altLang="zh-CN"/>
              <a:pPr/>
              <a:t>73</a:t>
            </a:fld>
            <a:endParaRPr lang="en-US" altLang="zh-CN"/>
          </a:p>
        </p:txBody>
      </p:sp>
      <p:sp>
        <p:nvSpPr>
          <p:cNvPr id="2606082" name="Rectangle 2"/>
          <p:cNvSpPr>
            <a:spLocks noGrp="1" noChangeArrowheads="1"/>
          </p:cNvSpPr>
          <p:nvPr>
            <p:ph type="body" idx="1"/>
          </p:nvPr>
        </p:nvSpPr>
        <p:spPr>
          <a:xfrm>
            <a:off x="684213" y="765175"/>
            <a:ext cx="4321175" cy="5867400"/>
          </a:xfrm>
        </p:spPr>
        <p:txBody>
          <a:bodyPr/>
          <a:lstStyle/>
          <a:p>
            <a:pPr>
              <a:spcAft>
                <a:spcPts val="1200"/>
              </a:spcAft>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一、通过静态链访问非局部数据 </a:t>
            </a:r>
          </a:p>
          <a:p>
            <a:pPr>
              <a:spcAft>
                <a:spcPts val="1200"/>
              </a:spcAft>
            </a:pPr>
            <a:r>
              <a:rPr lang="zh-CN" altLang="en-US" b="1" noProof="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静态链</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：指向本过程的直接外层过程的活动记录的起始地址，也称</a:t>
            </a:r>
            <a:r>
              <a:rPr lang="zh-CN" altLang="zh-CN" b="1">
                <a:latin typeface="Times New Roman" panose="02020603050405020304" pitchFamily="18" charset="0"/>
                <a:ea typeface="华文新魏" panose="02010800040101010101" pitchFamily="2" charset="-122"/>
                <a:cs typeface="Times New Roman" panose="02020603050405020304" pitchFamily="18" charset="0"/>
              </a:rPr>
              <a:t>访问</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链。</a:t>
            </a:r>
          </a:p>
          <a:p>
            <a:pPr>
              <a:spcAft>
                <a:spcPts val="1200"/>
              </a:spcAft>
            </a:pPr>
            <a:r>
              <a:rPr lang="zh-CN" altLang="en-US" b="1" noProof="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动态链</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：指向本过程的调用过程的活动记录的起始地址，也称控制链。</a:t>
            </a:r>
            <a:endParaRPr lang="en-US" altLang="en-US" b="1">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06083" name="Rectangle 3"/>
          <p:cNvSpPr>
            <a:spLocks noChangeArrowheads="1"/>
          </p:cNvSpPr>
          <p:nvPr/>
        </p:nvSpPr>
        <p:spPr bwMode="auto">
          <a:xfrm>
            <a:off x="5943600" y="3863975"/>
            <a:ext cx="2157413"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606084" name="Rectangle 4"/>
          <p:cNvSpPr>
            <a:spLocks noChangeArrowheads="1"/>
          </p:cNvSpPr>
          <p:nvPr/>
        </p:nvSpPr>
        <p:spPr bwMode="auto">
          <a:xfrm>
            <a:off x="5943600" y="5018088"/>
            <a:ext cx="222885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606085" name="Rectangle 5"/>
          <p:cNvSpPr>
            <a:spLocks noChangeArrowheads="1"/>
          </p:cNvSpPr>
          <p:nvPr/>
        </p:nvSpPr>
        <p:spPr bwMode="auto">
          <a:xfrm>
            <a:off x="5943600" y="1676400"/>
            <a:ext cx="2228850" cy="44196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6086" name="Rectangle 6"/>
          <p:cNvSpPr>
            <a:spLocks noChangeArrowheads="1"/>
          </p:cNvSpPr>
          <p:nvPr/>
        </p:nvSpPr>
        <p:spPr bwMode="auto">
          <a:xfrm>
            <a:off x="5943600" y="3321050"/>
            <a:ext cx="2157413"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606087" name="Rectangle 7"/>
          <p:cNvSpPr>
            <a:spLocks noChangeArrowheads="1"/>
          </p:cNvSpPr>
          <p:nvPr/>
        </p:nvSpPr>
        <p:spPr bwMode="auto">
          <a:xfrm>
            <a:off x="5984875" y="1676400"/>
            <a:ext cx="19716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606088" name="Rectangle 8"/>
          <p:cNvSpPr>
            <a:spLocks noChangeArrowheads="1"/>
          </p:cNvSpPr>
          <p:nvPr/>
        </p:nvSpPr>
        <p:spPr bwMode="auto">
          <a:xfrm>
            <a:off x="5984875" y="2220913"/>
            <a:ext cx="197167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606089" name="Rectangle 9"/>
          <p:cNvSpPr>
            <a:spLocks noChangeArrowheads="1"/>
          </p:cNvSpPr>
          <p:nvPr/>
        </p:nvSpPr>
        <p:spPr bwMode="auto">
          <a:xfrm>
            <a:off x="5984875" y="2765425"/>
            <a:ext cx="2043113"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606090" name="Rectangle 10"/>
          <p:cNvSpPr>
            <a:spLocks noChangeArrowheads="1"/>
          </p:cNvSpPr>
          <p:nvPr/>
        </p:nvSpPr>
        <p:spPr bwMode="auto">
          <a:xfrm>
            <a:off x="4989513" y="5551488"/>
            <a:ext cx="8223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SP</a:t>
            </a:r>
            <a:r>
              <a:rPr kumimoji="1" lang="en-US" altLang="zh-CN" sz="2800" b="1">
                <a:ea typeface="楷体_GB2312" pitchFamily="49" charset="-122"/>
                <a:sym typeface="Symbol" panose="05050102010706020507" pitchFamily="18" charset="2"/>
              </a:rPr>
              <a:t></a:t>
            </a:r>
            <a:r>
              <a:rPr kumimoji="1" lang="en-US" altLang="zh-CN" sz="2800" b="1">
                <a:ea typeface="楷体_GB2312" pitchFamily="49" charset="-122"/>
              </a:rPr>
              <a:t>0</a:t>
            </a:r>
          </a:p>
        </p:txBody>
      </p:sp>
      <p:sp>
        <p:nvSpPr>
          <p:cNvPr id="2606091" name="Rectangle 11"/>
          <p:cNvSpPr>
            <a:spLocks noChangeArrowheads="1"/>
          </p:cNvSpPr>
          <p:nvPr/>
        </p:nvSpPr>
        <p:spPr bwMode="auto">
          <a:xfrm>
            <a:off x="5410200" y="5006975"/>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en-US" altLang="zh-CN" sz="2800" b="1">
                <a:ea typeface="楷体_GB2312" pitchFamily="49" charset="-122"/>
              </a:rPr>
              <a:t>1</a:t>
            </a:r>
          </a:p>
        </p:txBody>
      </p:sp>
      <p:sp>
        <p:nvSpPr>
          <p:cNvPr id="2606092" name="Rectangle 12"/>
          <p:cNvSpPr>
            <a:spLocks noChangeArrowheads="1"/>
          </p:cNvSpPr>
          <p:nvPr/>
        </p:nvSpPr>
        <p:spPr bwMode="auto">
          <a:xfrm>
            <a:off x="5410200" y="4495800"/>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2</a:t>
            </a:r>
          </a:p>
        </p:txBody>
      </p:sp>
      <p:sp>
        <p:nvSpPr>
          <p:cNvPr id="2606093" name="Line 13"/>
          <p:cNvSpPr>
            <a:spLocks noChangeShapeType="1"/>
          </p:cNvSpPr>
          <p:nvPr/>
        </p:nvSpPr>
        <p:spPr bwMode="auto">
          <a:xfrm flipV="1">
            <a:off x="8382000" y="2422525"/>
            <a:ext cx="0" cy="3605213"/>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6094" name="Rectangle 14"/>
          <p:cNvSpPr>
            <a:spLocks noChangeArrowheads="1"/>
          </p:cNvSpPr>
          <p:nvPr/>
        </p:nvSpPr>
        <p:spPr bwMode="auto">
          <a:xfrm>
            <a:off x="5943600" y="5562600"/>
            <a:ext cx="2228850" cy="542925"/>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FF0000"/>
                </a:solidFill>
                <a:ea typeface="楷体_GB2312" pitchFamily="49" charset="-122"/>
              </a:rPr>
              <a:t>动态链</a:t>
            </a:r>
            <a:r>
              <a:rPr kumimoji="1" lang="en-US" altLang="zh-CN" sz="2800" b="1">
                <a:solidFill>
                  <a:srgbClr val="FF0000"/>
                </a:solidFill>
                <a:ea typeface="楷体_GB2312" pitchFamily="49" charset="-122"/>
              </a:rPr>
              <a:t>(</a:t>
            </a:r>
            <a:r>
              <a:rPr kumimoji="1" lang="zh-CN" altLang="en-US" sz="2800" b="1">
                <a:solidFill>
                  <a:srgbClr val="FF0000"/>
                </a:solidFill>
                <a:ea typeface="楷体_GB2312" pitchFamily="49" charset="-122"/>
              </a:rPr>
              <a:t>老</a:t>
            </a:r>
            <a:r>
              <a:rPr kumimoji="1" lang="en-US" altLang="en-US" sz="2800" b="1">
                <a:solidFill>
                  <a:srgbClr val="FF0000"/>
                </a:solidFill>
                <a:ea typeface="楷体_GB2312" pitchFamily="49" charset="-122"/>
              </a:rPr>
              <a:t>SP)</a:t>
            </a:r>
            <a:endParaRPr kumimoji="1" lang="en-US" altLang="zh-CN" sz="2800" b="1">
              <a:solidFill>
                <a:srgbClr val="FF0000"/>
              </a:solidFill>
              <a:ea typeface="楷体_GB2312" pitchFamily="49" charset="-122"/>
            </a:endParaRPr>
          </a:p>
        </p:txBody>
      </p:sp>
      <p:sp>
        <p:nvSpPr>
          <p:cNvPr id="2606095" name="Rectangle 15"/>
          <p:cNvSpPr>
            <a:spLocks noChangeArrowheads="1"/>
          </p:cNvSpPr>
          <p:nvPr/>
        </p:nvSpPr>
        <p:spPr bwMode="auto">
          <a:xfrm>
            <a:off x="4859338" y="1676400"/>
            <a:ext cx="10207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TOP</a:t>
            </a:r>
            <a:r>
              <a:rPr kumimoji="1" lang="en-US" altLang="zh-CN" sz="2800" b="1">
                <a:ea typeface="楷体_GB2312" pitchFamily="49" charset="-122"/>
                <a:sym typeface="Symbol" panose="05050102010706020507" pitchFamily="18" charset="2"/>
              </a:rPr>
              <a:t> </a:t>
            </a:r>
            <a:endParaRPr kumimoji="1" lang="en-US" altLang="zh-CN" sz="2800" b="1">
              <a:ea typeface="楷体_GB2312" pitchFamily="49" charset="-122"/>
            </a:endParaRPr>
          </a:p>
        </p:txBody>
      </p:sp>
      <p:sp>
        <p:nvSpPr>
          <p:cNvPr id="2606096" name="Rectangle 16"/>
          <p:cNvSpPr>
            <a:spLocks noChangeArrowheads="1"/>
          </p:cNvSpPr>
          <p:nvPr/>
        </p:nvSpPr>
        <p:spPr bwMode="auto">
          <a:xfrm>
            <a:off x="5943600" y="4403725"/>
            <a:ext cx="2228850" cy="609600"/>
          </a:xfrm>
          <a:prstGeom prst="rect">
            <a:avLst/>
          </a:prstGeom>
          <a:solidFill>
            <a:schemeClr val="accent2"/>
          </a:solidFill>
          <a:ln>
            <a:noFill/>
          </a:ln>
          <a:effectLst/>
          <a:extLs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FF0000"/>
                </a:solidFill>
                <a:ea typeface="楷体_GB2312" pitchFamily="49" charset="-122"/>
              </a:rPr>
              <a:t>静态链</a:t>
            </a:r>
          </a:p>
        </p:txBody>
      </p:sp>
    </p:spTree>
    <p:extLst>
      <p:ext uri="{BB962C8B-B14F-4D97-AF65-F5344CB8AC3E}">
        <p14:creationId xmlns:p14="http://schemas.microsoft.com/office/powerpoint/2010/main" val="23395862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06082">
                                            <p:txEl>
                                              <p:pRg st="0" end="0"/>
                                            </p:txEl>
                                          </p:spTgt>
                                        </p:tgtEl>
                                        <p:attrNameLst>
                                          <p:attrName>style.visibility</p:attrName>
                                        </p:attrNameLst>
                                      </p:cBhvr>
                                      <p:to>
                                        <p:strVal val="visible"/>
                                      </p:to>
                                    </p:set>
                                    <p:animEffect transition="in" filter="wipe(left)">
                                      <p:cBhvr>
                                        <p:cTn id="7" dur="500"/>
                                        <p:tgtEl>
                                          <p:spTgt spid="26060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06082">
                                            <p:txEl>
                                              <p:pRg st="1" end="1"/>
                                            </p:txEl>
                                          </p:spTgt>
                                        </p:tgtEl>
                                        <p:attrNameLst>
                                          <p:attrName>style.visibility</p:attrName>
                                        </p:attrNameLst>
                                      </p:cBhvr>
                                      <p:to>
                                        <p:strVal val="visible"/>
                                      </p:to>
                                    </p:set>
                                    <p:animEffect transition="in" filter="wipe(left)">
                                      <p:cBhvr>
                                        <p:cTn id="12" dur="500"/>
                                        <p:tgtEl>
                                          <p:spTgt spid="26060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06082">
                                            <p:txEl>
                                              <p:pRg st="2" end="2"/>
                                            </p:txEl>
                                          </p:spTgt>
                                        </p:tgtEl>
                                        <p:attrNameLst>
                                          <p:attrName>style.visibility</p:attrName>
                                        </p:attrNameLst>
                                      </p:cBhvr>
                                      <p:to>
                                        <p:strVal val="visible"/>
                                      </p:to>
                                    </p:set>
                                    <p:animEffect transition="in" filter="wipe(left)">
                                      <p:cBhvr>
                                        <p:cTn id="17" dur="500"/>
                                        <p:tgtEl>
                                          <p:spTgt spid="260608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272" fill="hold" nodeType="clickEffect">
                                  <p:stCondLst>
                                    <p:cond delay="0"/>
                                  </p:stCondLst>
                                  <p:childTnLst>
                                    <p:set>
                                      <p:cBhvr>
                                        <p:cTn id="21" dur="1" fill="hold">
                                          <p:stCondLst>
                                            <p:cond delay="0"/>
                                          </p:stCondLst>
                                        </p:cTn>
                                        <p:tgtEl>
                                          <p:spTgt spid="2606085"/>
                                        </p:tgtEl>
                                        <p:attrNameLst>
                                          <p:attrName>style.visibility</p:attrName>
                                        </p:attrNameLst>
                                      </p:cBhvr>
                                      <p:to>
                                        <p:strVal val="visible"/>
                                      </p:to>
                                    </p:set>
                                    <p:anim calcmode="lin" valueType="num">
                                      <p:cBhvr>
                                        <p:cTn id="22" dur="500" fill="hold"/>
                                        <p:tgtEl>
                                          <p:spTgt spid="2606085"/>
                                        </p:tgtEl>
                                        <p:attrNameLst>
                                          <p:attrName>ppt_w</p:attrName>
                                        </p:attrNameLst>
                                      </p:cBhvr>
                                      <p:tavLst>
                                        <p:tav tm="0">
                                          <p:val>
                                            <p:strVal val="2/3*#ppt_w"/>
                                          </p:val>
                                        </p:tav>
                                        <p:tav tm="100000">
                                          <p:val>
                                            <p:strVal val="#ppt_w"/>
                                          </p:val>
                                        </p:tav>
                                      </p:tavLst>
                                    </p:anim>
                                    <p:anim calcmode="lin" valueType="num">
                                      <p:cBhvr>
                                        <p:cTn id="23" dur="500" fill="hold"/>
                                        <p:tgtEl>
                                          <p:spTgt spid="2606085"/>
                                        </p:tgtEl>
                                        <p:attrNameLst>
                                          <p:attrName>ppt_h</p:attrName>
                                        </p:attrNameLst>
                                      </p:cBhvr>
                                      <p:tavLst>
                                        <p:tav tm="0">
                                          <p:val>
                                            <p:strVal val="2/3*#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606090"/>
                                        </p:tgtEl>
                                        <p:attrNameLst>
                                          <p:attrName>style.visibility</p:attrName>
                                        </p:attrNameLst>
                                      </p:cBhvr>
                                      <p:to>
                                        <p:strVal val="visible"/>
                                      </p:to>
                                    </p:set>
                                    <p:animEffect transition="in" filter="wipe(down)">
                                      <p:cBhvr>
                                        <p:cTn id="28" dur="500"/>
                                        <p:tgtEl>
                                          <p:spTgt spid="260609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606094"/>
                                        </p:tgtEl>
                                        <p:attrNameLst>
                                          <p:attrName>style.visibility</p:attrName>
                                        </p:attrNameLst>
                                      </p:cBhvr>
                                      <p:to>
                                        <p:strVal val="visible"/>
                                      </p:to>
                                    </p:set>
                                    <p:animEffect transition="in" filter="wipe(down)">
                                      <p:cBhvr>
                                        <p:cTn id="33" dur="500"/>
                                        <p:tgtEl>
                                          <p:spTgt spid="260609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606091"/>
                                        </p:tgtEl>
                                        <p:attrNameLst>
                                          <p:attrName>style.visibility</p:attrName>
                                        </p:attrNameLst>
                                      </p:cBhvr>
                                      <p:to>
                                        <p:strVal val="visible"/>
                                      </p:to>
                                    </p:set>
                                    <p:animEffect transition="in" filter="wipe(down)">
                                      <p:cBhvr>
                                        <p:cTn id="38" dur="500"/>
                                        <p:tgtEl>
                                          <p:spTgt spid="260609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606084"/>
                                        </p:tgtEl>
                                        <p:attrNameLst>
                                          <p:attrName>style.visibility</p:attrName>
                                        </p:attrNameLst>
                                      </p:cBhvr>
                                      <p:to>
                                        <p:strVal val="visible"/>
                                      </p:to>
                                    </p:set>
                                    <p:animEffect transition="in" filter="wipe(down)">
                                      <p:cBhvr>
                                        <p:cTn id="43" dur="500"/>
                                        <p:tgtEl>
                                          <p:spTgt spid="260608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606092"/>
                                        </p:tgtEl>
                                        <p:attrNameLst>
                                          <p:attrName>style.visibility</p:attrName>
                                        </p:attrNameLst>
                                      </p:cBhvr>
                                      <p:to>
                                        <p:strVal val="visible"/>
                                      </p:to>
                                    </p:set>
                                    <p:animEffect transition="in" filter="wipe(down)">
                                      <p:cBhvr>
                                        <p:cTn id="48" dur="500"/>
                                        <p:tgtEl>
                                          <p:spTgt spid="260609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606096"/>
                                        </p:tgtEl>
                                        <p:attrNameLst>
                                          <p:attrName>style.visibility</p:attrName>
                                        </p:attrNameLst>
                                      </p:cBhvr>
                                      <p:to>
                                        <p:strVal val="visible"/>
                                      </p:to>
                                    </p:set>
                                    <p:animEffect transition="in" filter="wipe(down)">
                                      <p:cBhvr>
                                        <p:cTn id="53" dur="500"/>
                                        <p:tgtEl>
                                          <p:spTgt spid="260609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606083"/>
                                        </p:tgtEl>
                                        <p:attrNameLst>
                                          <p:attrName>style.visibility</p:attrName>
                                        </p:attrNameLst>
                                      </p:cBhvr>
                                      <p:to>
                                        <p:strVal val="visible"/>
                                      </p:to>
                                    </p:set>
                                    <p:animEffect transition="in" filter="wipe(down)">
                                      <p:cBhvr>
                                        <p:cTn id="58" dur="500"/>
                                        <p:tgtEl>
                                          <p:spTgt spid="260608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606086"/>
                                        </p:tgtEl>
                                        <p:attrNameLst>
                                          <p:attrName>style.visibility</p:attrName>
                                        </p:attrNameLst>
                                      </p:cBhvr>
                                      <p:to>
                                        <p:strVal val="visible"/>
                                      </p:to>
                                    </p:set>
                                    <p:animEffect transition="in" filter="wipe(down)">
                                      <p:cBhvr>
                                        <p:cTn id="63" dur="500"/>
                                        <p:tgtEl>
                                          <p:spTgt spid="260608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606089"/>
                                        </p:tgtEl>
                                        <p:attrNameLst>
                                          <p:attrName>style.visibility</p:attrName>
                                        </p:attrNameLst>
                                      </p:cBhvr>
                                      <p:to>
                                        <p:strVal val="visible"/>
                                      </p:to>
                                    </p:set>
                                    <p:animEffect transition="in" filter="wipe(down)">
                                      <p:cBhvr>
                                        <p:cTn id="68" dur="500"/>
                                        <p:tgtEl>
                                          <p:spTgt spid="260608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2606088"/>
                                        </p:tgtEl>
                                        <p:attrNameLst>
                                          <p:attrName>style.visibility</p:attrName>
                                        </p:attrNameLst>
                                      </p:cBhvr>
                                      <p:to>
                                        <p:strVal val="visible"/>
                                      </p:to>
                                    </p:set>
                                    <p:animEffect transition="in" filter="wipe(down)">
                                      <p:cBhvr>
                                        <p:cTn id="73" dur="500"/>
                                        <p:tgtEl>
                                          <p:spTgt spid="2606088"/>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2606087"/>
                                        </p:tgtEl>
                                        <p:attrNameLst>
                                          <p:attrName>style.visibility</p:attrName>
                                        </p:attrNameLst>
                                      </p:cBhvr>
                                      <p:to>
                                        <p:strVal val="visible"/>
                                      </p:to>
                                    </p:set>
                                    <p:animEffect transition="in" filter="wipe(down)">
                                      <p:cBhvr>
                                        <p:cTn id="78" dur="500"/>
                                        <p:tgtEl>
                                          <p:spTgt spid="260608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2606095"/>
                                        </p:tgtEl>
                                        <p:attrNameLst>
                                          <p:attrName>style.visibility</p:attrName>
                                        </p:attrNameLst>
                                      </p:cBhvr>
                                      <p:to>
                                        <p:strVal val="visible"/>
                                      </p:to>
                                    </p:set>
                                    <p:animEffect transition="in" filter="wipe(down)">
                                      <p:cBhvr>
                                        <p:cTn id="83" dur="500"/>
                                        <p:tgtEl>
                                          <p:spTgt spid="260609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2606093"/>
                                        </p:tgtEl>
                                        <p:attrNameLst>
                                          <p:attrName>style.visibility</p:attrName>
                                        </p:attrNameLst>
                                      </p:cBhvr>
                                      <p:to>
                                        <p:strVal val="visible"/>
                                      </p:to>
                                    </p:set>
                                    <p:animEffect transition="in" filter="wipe(down)">
                                      <p:cBhvr>
                                        <p:cTn id="88" dur="500"/>
                                        <p:tgtEl>
                                          <p:spTgt spid="2606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6082" grpId="0" build="p"/>
      <p:bldP spid="2606083" grpId="0"/>
      <p:bldP spid="2606084" grpId="0"/>
      <p:bldP spid="2606086" grpId="0"/>
      <p:bldP spid="2606087" grpId="0" autoUpdateAnimBg="0"/>
      <p:bldP spid="2606088" grpId="0" autoUpdateAnimBg="0"/>
      <p:bldP spid="2606089" grpId="0" autoUpdateAnimBg="0"/>
      <p:bldP spid="2606090" grpId="0" autoUpdateAnimBg="0"/>
      <p:bldP spid="2606091" grpId="0" autoUpdateAnimBg="0"/>
      <p:bldP spid="2606092" grpId="0" autoUpdateAnimBg="0"/>
      <p:bldP spid="2606094" grpId="0" animBg="1" autoUpdateAnimBg="0"/>
      <p:bldP spid="2606095" grpId="0" autoUpdateAnimBg="0"/>
      <p:bldP spid="2606096"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half" idx="10"/>
          </p:nvPr>
        </p:nvSpPr>
        <p:spPr/>
        <p:txBody>
          <a:bodyPr/>
          <a:lstStyle/>
          <a:p>
            <a:fld id="{F8B0B622-14F4-495D-A0A6-B38204F59B17}" type="datetime1">
              <a:rPr lang="zh-CN" altLang="en-US"/>
              <a:pPr/>
              <a:t>2017/2/24</a:t>
            </a:fld>
            <a:endParaRPr lang="en-US" altLang="zh-CN"/>
          </a:p>
        </p:txBody>
      </p:sp>
      <p:sp>
        <p:nvSpPr>
          <p:cNvPr id="22" name="灯片编号占位符 5"/>
          <p:cNvSpPr>
            <a:spLocks noGrp="1"/>
          </p:cNvSpPr>
          <p:nvPr>
            <p:ph type="sldNum" sz="quarter" idx="12"/>
          </p:nvPr>
        </p:nvSpPr>
        <p:spPr/>
        <p:txBody>
          <a:bodyPr/>
          <a:lstStyle/>
          <a:p>
            <a:fld id="{4330C187-4F87-4EB6-A072-90F6D741569D}" type="slidenum">
              <a:rPr lang="en-US" altLang="zh-CN"/>
              <a:pPr/>
              <a:t>74</a:t>
            </a:fld>
            <a:endParaRPr lang="en-US" altLang="zh-CN"/>
          </a:p>
        </p:txBody>
      </p:sp>
      <p:grpSp>
        <p:nvGrpSpPr>
          <p:cNvPr id="2607106" name="Group 2"/>
          <p:cNvGrpSpPr>
            <a:grpSpLocks/>
          </p:cNvGrpSpPr>
          <p:nvPr/>
        </p:nvGrpSpPr>
        <p:grpSpPr bwMode="auto">
          <a:xfrm>
            <a:off x="1752600" y="5638800"/>
            <a:ext cx="2590800" cy="304800"/>
            <a:chOff x="2256" y="2640"/>
            <a:chExt cx="1632" cy="192"/>
          </a:xfrm>
        </p:grpSpPr>
        <p:sp>
          <p:nvSpPr>
            <p:cNvPr id="2607107"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07108" name="Rectangle 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grpSp>
        <p:nvGrpSpPr>
          <p:cNvPr id="2607109" name="Group 5"/>
          <p:cNvGrpSpPr>
            <a:grpSpLocks/>
          </p:cNvGrpSpPr>
          <p:nvPr/>
        </p:nvGrpSpPr>
        <p:grpSpPr bwMode="auto">
          <a:xfrm>
            <a:off x="1752600" y="5029200"/>
            <a:ext cx="2590800" cy="304800"/>
            <a:chOff x="1104" y="3168"/>
            <a:chExt cx="1632" cy="192"/>
          </a:xfrm>
        </p:grpSpPr>
        <p:sp>
          <p:nvSpPr>
            <p:cNvPr id="2607110" name="Rectangle 6"/>
            <p:cNvSpPr>
              <a:spLocks noChangeArrowheads="1"/>
            </p:cNvSpPr>
            <p:nvPr/>
          </p:nvSpPr>
          <p:spPr bwMode="auto">
            <a:xfrm>
              <a:off x="1440" y="3168"/>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07111" name="Rectangle 7"/>
            <p:cNvSpPr>
              <a:spLocks noChangeArrowheads="1"/>
            </p:cNvSpPr>
            <p:nvPr/>
          </p:nvSpPr>
          <p:spPr bwMode="auto">
            <a:xfrm>
              <a:off x="1104" y="3168"/>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07112" name="Group 8"/>
          <p:cNvGrpSpPr>
            <a:grpSpLocks/>
          </p:cNvGrpSpPr>
          <p:nvPr/>
        </p:nvGrpSpPr>
        <p:grpSpPr bwMode="auto">
          <a:xfrm>
            <a:off x="1752600" y="4724400"/>
            <a:ext cx="2590800" cy="304800"/>
            <a:chOff x="2256" y="2640"/>
            <a:chExt cx="1632" cy="192"/>
          </a:xfrm>
        </p:grpSpPr>
        <p:sp>
          <p:nvSpPr>
            <p:cNvPr id="2607113"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07114" name="Rectangle 10"/>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07115" name="Group 11"/>
          <p:cNvGrpSpPr>
            <a:grpSpLocks/>
          </p:cNvGrpSpPr>
          <p:nvPr/>
        </p:nvGrpSpPr>
        <p:grpSpPr bwMode="auto">
          <a:xfrm>
            <a:off x="1752600" y="4419600"/>
            <a:ext cx="2590800" cy="304800"/>
            <a:chOff x="2256" y="2640"/>
            <a:chExt cx="1632" cy="192"/>
          </a:xfrm>
        </p:grpSpPr>
        <p:sp>
          <p:nvSpPr>
            <p:cNvPr id="2607116"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07117" name="Rectangle 1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sp>
        <p:nvSpPr>
          <p:cNvPr id="2607118" name="Rectangle 14"/>
          <p:cNvSpPr>
            <a:spLocks noChangeArrowheads="1"/>
          </p:cNvSpPr>
          <p:nvPr/>
        </p:nvSpPr>
        <p:spPr bwMode="auto">
          <a:xfrm>
            <a:off x="539750" y="558958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07119" name="Rectangle 15"/>
          <p:cNvSpPr>
            <a:spLocks noChangeArrowheads="1"/>
          </p:cNvSpPr>
          <p:nvPr/>
        </p:nvSpPr>
        <p:spPr bwMode="auto">
          <a:xfrm>
            <a:off x="323850" y="44370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07120" name="Rectangle 16"/>
          <p:cNvSpPr>
            <a:spLocks noGrp="1" noChangeArrowheads="1"/>
          </p:cNvSpPr>
          <p:nvPr>
            <p:ph type="title"/>
          </p:nvPr>
        </p:nvSpPr>
        <p:spPr>
          <a:noFill/>
          <a:ln/>
        </p:spPr>
        <p:txBody>
          <a:bodyPr lIns="92075" tIns="46038" rIns="92075" bIns="46038"/>
          <a:lstStyle/>
          <a:p>
            <a:pPr>
              <a:buClr>
                <a:schemeClr val="tx1"/>
              </a:buClr>
              <a:buSzPct val="75000"/>
              <a:buFont typeface="Wingdings" panose="05000000000000000000" pitchFamily="2" charset="2"/>
              <a:buChar char="l"/>
            </a:pP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p>
        </p:txBody>
      </p:sp>
      <p:grpSp>
        <p:nvGrpSpPr>
          <p:cNvPr id="2607121" name="Group 17"/>
          <p:cNvGrpSpPr>
            <a:grpSpLocks/>
          </p:cNvGrpSpPr>
          <p:nvPr/>
        </p:nvGrpSpPr>
        <p:grpSpPr bwMode="auto">
          <a:xfrm>
            <a:off x="1749425" y="5300663"/>
            <a:ext cx="2597150" cy="360362"/>
            <a:chOff x="1102" y="3339"/>
            <a:chExt cx="1636" cy="227"/>
          </a:xfrm>
        </p:grpSpPr>
        <p:sp>
          <p:nvSpPr>
            <p:cNvPr id="2607122" name="Rectangle 18"/>
            <p:cNvSpPr>
              <a:spLocks noChangeArrowheads="1"/>
            </p:cNvSpPr>
            <p:nvPr/>
          </p:nvSpPr>
          <p:spPr bwMode="auto">
            <a:xfrm>
              <a:off x="1102" y="3339"/>
              <a:ext cx="336" cy="227"/>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sp>
          <p:nvSpPr>
            <p:cNvPr id="2607123" name="Rectangle 19"/>
            <p:cNvSpPr>
              <a:spLocks noChangeArrowheads="1"/>
            </p:cNvSpPr>
            <p:nvPr/>
          </p:nvSpPr>
          <p:spPr bwMode="auto">
            <a:xfrm>
              <a:off x="1441" y="3339"/>
              <a:ext cx="1297" cy="227"/>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grpSp>
    </p:spTree>
    <p:extLst>
      <p:ext uri="{BB962C8B-B14F-4D97-AF65-F5344CB8AC3E}">
        <p14:creationId xmlns:p14="http://schemas.microsoft.com/office/powerpoint/2010/main" val="1412460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07120"/>
                                        </p:tgtEl>
                                        <p:attrNameLst>
                                          <p:attrName>style.visibility</p:attrName>
                                        </p:attrNameLst>
                                      </p:cBhvr>
                                      <p:to>
                                        <p:strVal val="visible"/>
                                      </p:to>
                                    </p:set>
                                    <p:animEffect transition="in" filter="fade">
                                      <p:cBhvr>
                                        <p:cTn id="7" dur="2000"/>
                                        <p:tgtEl>
                                          <p:spTgt spid="26071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607106"/>
                                        </p:tgtEl>
                                        <p:attrNameLst>
                                          <p:attrName>style.visibility</p:attrName>
                                        </p:attrNameLst>
                                      </p:cBhvr>
                                      <p:to>
                                        <p:strVal val="visible"/>
                                      </p:to>
                                    </p:set>
                                    <p:anim calcmode="lin" valueType="num">
                                      <p:cBhvr additive="base">
                                        <p:cTn id="12" dur="500" fill="hold"/>
                                        <p:tgtEl>
                                          <p:spTgt spid="2607106"/>
                                        </p:tgtEl>
                                        <p:attrNameLst>
                                          <p:attrName>ppt_x</p:attrName>
                                        </p:attrNameLst>
                                      </p:cBhvr>
                                      <p:tavLst>
                                        <p:tav tm="0">
                                          <p:val>
                                            <p:strVal val="#ppt_x"/>
                                          </p:val>
                                        </p:tav>
                                        <p:tav tm="100000">
                                          <p:val>
                                            <p:strVal val="#ppt_x"/>
                                          </p:val>
                                        </p:tav>
                                      </p:tavLst>
                                    </p:anim>
                                    <p:anim calcmode="lin" valueType="num">
                                      <p:cBhvr additive="base">
                                        <p:cTn id="13" dur="500" fill="hold"/>
                                        <p:tgtEl>
                                          <p:spTgt spid="260710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2607121"/>
                                        </p:tgtEl>
                                        <p:attrNameLst>
                                          <p:attrName>style.visibility</p:attrName>
                                        </p:attrNameLst>
                                      </p:cBhvr>
                                      <p:to>
                                        <p:strVal val="visible"/>
                                      </p:to>
                                    </p:set>
                                    <p:animEffect transition="in" filter="wipe(down)">
                                      <p:cBhvr>
                                        <p:cTn id="18" dur="500"/>
                                        <p:tgtEl>
                                          <p:spTgt spid="26071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2607109"/>
                                        </p:tgtEl>
                                        <p:attrNameLst>
                                          <p:attrName>style.visibility</p:attrName>
                                        </p:attrNameLst>
                                      </p:cBhvr>
                                      <p:to>
                                        <p:strVal val="visible"/>
                                      </p:to>
                                    </p:set>
                                    <p:animEffect transition="in" filter="wipe(down)">
                                      <p:cBhvr>
                                        <p:cTn id="23" dur="500"/>
                                        <p:tgtEl>
                                          <p:spTgt spid="260710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2607112"/>
                                        </p:tgtEl>
                                        <p:attrNameLst>
                                          <p:attrName>style.visibility</p:attrName>
                                        </p:attrNameLst>
                                      </p:cBhvr>
                                      <p:to>
                                        <p:strVal val="visible"/>
                                      </p:to>
                                    </p:set>
                                    <p:animEffect transition="in" filter="wipe(down)">
                                      <p:cBhvr>
                                        <p:cTn id="28" dur="500"/>
                                        <p:tgtEl>
                                          <p:spTgt spid="26071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2607115"/>
                                        </p:tgtEl>
                                        <p:attrNameLst>
                                          <p:attrName>style.visibility</p:attrName>
                                        </p:attrNameLst>
                                      </p:cBhvr>
                                      <p:to>
                                        <p:strVal val="visible"/>
                                      </p:to>
                                    </p:set>
                                    <p:animEffect transition="in" filter="wipe(down)">
                                      <p:cBhvr>
                                        <p:cTn id="33" dur="500"/>
                                        <p:tgtEl>
                                          <p:spTgt spid="260711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607118"/>
                                        </p:tgtEl>
                                        <p:attrNameLst>
                                          <p:attrName>style.visibility</p:attrName>
                                        </p:attrNameLst>
                                      </p:cBhvr>
                                      <p:to>
                                        <p:strVal val="visible"/>
                                      </p:to>
                                    </p:set>
                                    <p:animEffect transition="in" filter="wipe(down)">
                                      <p:cBhvr>
                                        <p:cTn id="38" dur="500"/>
                                        <p:tgtEl>
                                          <p:spTgt spid="260711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607119"/>
                                        </p:tgtEl>
                                        <p:attrNameLst>
                                          <p:attrName>style.visibility</p:attrName>
                                        </p:attrNameLst>
                                      </p:cBhvr>
                                      <p:to>
                                        <p:strVal val="visible"/>
                                      </p:to>
                                    </p:set>
                                    <p:animEffect transition="in" filter="wipe(down)">
                                      <p:cBhvr>
                                        <p:cTn id="43" dur="500"/>
                                        <p:tgtEl>
                                          <p:spTgt spid="2607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7118" grpId="0" autoUpdateAnimBg="0"/>
      <p:bldP spid="2607119" grpId="0" autoUpdateAnimBg="0"/>
      <p:bldP spid="2607120" grpId="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 name="日期占位符 3"/>
          <p:cNvSpPr>
            <a:spLocks noGrp="1"/>
          </p:cNvSpPr>
          <p:nvPr>
            <p:ph type="dt" sz="half" idx="10"/>
          </p:nvPr>
        </p:nvSpPr>
        <p:spPr/>
        <p:txBody>
          <a:bodyPr/>
          <a:lstStyle/>
          <a:p>
            <a:fld id="{8C295E02-F67E-4984-AA6B-D85962FD3F09}" type="datetime1">
              <a:rPr lang="zh-CN" altLang="en-US"/>
              <a:pPr/>
              <a:t>2017/2/24</a:t>
            </a:fld>
            <a:endParaRPr lang="en-US" altLang="zh-CN"/>
          </a:p>
        </p:txBody>
      </p:sp>
      <p:sp>
        <p:nvSpPr>
          <p:cNvPr id="44" name="灯片编号占位符 5"/>
          <p:cNvSpPr>
            <a:spLocks noGrp="1"/>
          </p:cNvSpPr>
          <p:nvPr>
            <p:ph type="sldNum" sz="quarter" idx="12"/>
          </p:nvPr>
        </p:nvSpPr>
        <p:spPr/>
        <p:txBody>
          <a:bodyPr/>
          <a:lstStyle/>
          <a:p>
            <a:fld id="{F8ABC058-893E-40F7-BB2B-FF51E9C15C02}" type="slidenum">
              <a:rPr lang="en-US" altLang="zh-CN"/>
              <a:pPr/>
              <a:t>75</a:t>
            </a:fld>
            <a:endParaRPr lang="en-US" altLang="zh-CN"/>
          </a:p>
        </p:txBody>
      </p:sp>
      <p:grpSp>
        <p:nvGrpSpPr>
          <p:cNvPr id="2608130" name="Group 2"/>
          <p:cNvGrpSpPr>
            <a:grpSpLocks/>
          </p:cNvGrpSpPr>
          <p:nvPr/>
        </p:nvGrpSpPr>
        <p:grpSpPr bwMode="auto">
          <a:xfrm>
            <a:off x="1752600" y="5638800"/>
            <a:ext cx="2590800" cy="304800"/>
            <a:chOff x="2256" y="2640"/>
            <a:chExt cx="1632" cy="192"/>
          </a:xfrm>
        </p:grpSpPr>
        <p:sp>
          <p:nvSpPr>
            <p:cNvPr id="2608131"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08132" name="Rectangle 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08133" name="Rectangle 5"/>
          <p:cNvSpPr>
            <a:spLocks noChangeArrowheads="1"/>
          </p:cNvSpPr>
          <p:nvPr/>
        </p:nvSpPr>
        <p:spPr bwMode="auto">
          <a:xfrm>
            <a:off x="1749425" y="5013325"/>
            <a:ext cx="590550" cy="360363"/>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sp>
        <p:nvSpPr>
          <p:cNvPr id="2608134" name="Rectangle 6"/>
          <p:cNvSpPr>
            <a:spLocks noChangeArrowheads="1"/>
          </p:cNvSpPr>
          <p:nvPr/>
        </p:nvSpPr>
        <p:spPr bwMode="auto">
          <a:xfrm>
            <a:off x="2286000" y="47244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08135" name="Rectangle 7"/>
          <p:cNvSpPr>
            <a:spLocks noChangeArrowheads="1"/>
          </p:cNvSpPr>
          <p:nvPr/>
        </p:nvSpPr>
        <p:spPr bwMode="auto">
          <a:xfrm>
            <a:off x="1752600" y="47244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nvGrpSpPr>
          <p:cNvPr id="2608136" name="Group 8"/>
          <p:cNvGrpSpPr>
            <a:grpSpLocks/>
          </p:cNvGrpSpPr>
          <p:nvPr/>
        </p:nvGrpSpPr>
        <p:grpSpPr bwMode="auto">
          <a:xfrm>
            <a:off x="1752600" y="4419600"/>
            <a:ext cx="2590800" cy="304800"/>
            <a:chOff x="2256" y="2640"/>
            <a:chExt cx="1632" cy="192"/>
          </a:xfrm>
        </p:grpSpPr>
        <p:sp>
          <p:nvSpPr>
            <p:cNvPr id="2608137"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08138" name="Rectangle 10"/>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08139" name="Group 11"/>
          <p:cNvGrpSpPr>
            <a:grpSpLocks/>
          </p:cNvGrpSpPr>
          <p:nvPr/>
        </p:nvGrpSpPr>
        <p:grpSpPr bwMode="auto">
          <a:xfrm>
            <a:off x="1752600" y="4114800"/>
            <a:ext cx="2590800" cy="304800"/>
            <a:chOff x="2256" y="2640"/>
            <a:chExt cx="1632" cy="192"/>
          </a:xfrm>
        </p:grpSpPr>
        <p:sp>
          <p:nvSpPr>
            <p:cNvPr id="2608140" name="Rectangle 12"/>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08141" name="Rectangle 13"/>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grpSp>
        <p:nvGrpSpPr>
          <p:cNvPr id="2608142" name="Group 14"/>
          <p:cNvGrpSpPr>
            <a:grpSpLocks/>
          </p:cNvGrpSpPr>
          <p:nvPr/>
        </p:nvGrpSpPr>
        <p:grpSpPr bwMode="auto">
          <a:xfrm>
            <a:off x="1752600" y="3500438"/>
            <a:ext cx="2590800" cy="309562"/>
            <a:chOff x="1104" y="2205"/>
            <a:chExt cx="1632" cy="195"/>
          </a:xfrm>
        </p:grpSpPr>
        <p:sp>
          <p:nvSpPr>
            <p:cNvPr id="2608143" name="Rectangle 15"/>
            <p:cNvSpPr>
              <a:spLocks noChangeArrowheads="1"/>
            </p:cNvSpPr>
            <p:nvPr/>
          </p:nvSpPr>
          <p:spPr bwMode="auto">
            <a:xfrm>
              <a:off x="1440" y="2208"/>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08144" name="Rectangle 16"/>
            <p:cNvSpPr>
              <a:spLocks noChangeArrowheads="1"/>
            </p:cNvSpPr>
            <p:nvPr/>
          </p:nvSpPr>
          <p:spPr bwMode="auto">
            <a:xfrm>
              <a:off x="1104" y="2205"/>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08145" name="Group 17"/>
          <p:cNvGrpSpPr>
            <a:grpSpLocks/>
          </p:cNvGrpSpPr>
          <p:nvPr/>
        </p:nvGrpSpPr>
        <p:grpSpPr bwMode="auto">
          <a:xfrm>
            <a:off x="1752600" y="3200400"/>
            <a:ext cx="2590800" cy="304800"/>
            <a:chOff x="2256" y="2640"/>
            <a:chExt cx="1632" cy="192"/>
          </a:xfrm>
        </p:grpSpPr>
        <p:sp>
          <p:nvSpPr>
            <p:cNvPr id="2608146" name="Rectangle 1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08147" name="Rectangle 19"/>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08148" name="Group 20"/>
          <p:cNvGrpSpPr>
            <a:grpSpLocks/>
          </p:cNvGrpSpPr>
          <p:nvPr/>
        </p:nvGrpSpPr>
        <p:grpSpPr bwMode="auto">
          <a:xfrm>
            <a:off x="1752600" y="2895600"/>
            <a:ext cx="2590800" cy="304800"/>
            <a:chOff x="2256" y="2640"/>
            <a:chExt cx="1632" cy="192"/>
          </a:xfrm>
        </p:grpSpPr>
        <p:sp>
          <p:nvSpPr>
            <p:cNvPr id="2608149" name="Rectangle 21"/>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08150" name="Rectangle 22"/>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9</a:t>
              </a:r>
            </a:p>
          </p:txBody>
        </p:sp>
      </p:grpSp>
      <p:grpSp>
        <p:nvGrpSpPr>
          <p:cNvPr id="2608151" name="Group 23"/>
          <p:cNvGrpSpPr>
            <a:grpSpLocks/>
          </p:cNvGrpSpPr>
          <p:nvPr/>
        </p:nvGrpSpPr>
        <p:grpSpPr bwMode="auto">
          <a:xfrm>
            <a:off x="1752600" y="2590800"/>
            <a:ext cx="2590800" cy="304800"/>
            <a:chOff x="2256" y="2640"/>
            <a:chExt cx="1632" cy="192"/>
          </a:xfrm>
        </p:grpSpPr>
        <p:sp>
          <p:nvSpPr>
            <p:cNvPr id="2608152" name="Rectangle 24"/>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08153" name="Rectangle 25"/>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10</a:t>
              </a:r>
            </a:p>
          </p:txBody>
        </p:sp>
      </p:grpSp>
      <p:sp>
        <p:nvSpPr>
          <p:cNvPr id="2608154" name="Rectangle 26"/>
          <p:cNvSpPr>
            <a:spLocks noChangeArrowheads="1"/>
          </p:cNvSpPr>
          <p:nvPr/>
        </p:nvSpPr>
        <p:spPr bwMode="auto">
          <a:xfrm>
            <a:off x="609600" y="4114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08155" name="Rectangle 27"/>
          <p:cNvSpPr>
            <a:spLocks noChangeArrowheads="1"/>
          </p:cNvSpPr>
          <p:nvPr/>
        </p:nvSpPr>
        <p:spPr bwMode="auto">
          <a:xfrm>
            <a:off x="533400" y="2590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08156" name="Rectangle 28"/>
          <p:cNvSpPr>
            <a:spLocks noChangeArrowheads="1"/>
          </p:cNvSpPr>
          <p:nvPr/>
        </p:nvSpPr>
        <p:spPr bwMode="auto">
          <a:xfrm>
            <a:off x="900113" y="5943600"/>
            <a:ext cx="1309687"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08157" name="Freeform 29"/>
          <p:cNvSpPr>
            <a:spLocks/>
          </p:cNvSpPr>
          <p:nvPr/>
        </p:nvSpPr>
        <p:spPr bwMode="auto">
          <a:xfrm>
            <a:off x="1600200" y="42672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8158" name="Rectangle 30"/>
          <p:cNvSpPr>
            <a:spLocks noChangeArrowheads="1"/>
          </p:cNvSpPr>
          <p:nvPr/>
        </p:nvSpPr>
        <p:spPr bwMode="auto">
          <a:xfrm>
            <a:off x="4211638" y="594995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静态链</a:t>
            </a:r>
          </a:p>
        </p:txBody>
      </p:sp>
      <p:sp>
        <p:nvSpPr>
          <p:cNvPr id="2608159" name="Freeform 31"/>
          <p:cNvSpPr>
            <a:spLocks/>
          </p:cNvSpPr>
          <p:nvPr/>
        </p:nvSpPr>
        <p:spPr bwMode="auto">
          <a:xfrm>
            <a:off x="4343400" y="3657600"/>
            <a:ext cx="457200" cy="21336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8160" name="Rectangle 32"/>
          <p:cNvSpPr>
            <a:spLocks noGrp="1" noChangeArrowheads="1"/>
          </p:cNvSpPr>
          <p:nvPr>
            <p:ph type="title"/>
          </p:nvPr>
        </p:nvSpPr>
        <p:spPr>
          <a:noFill/>
          <a:ln/>
        </p:spPr>
        <p:txBody>
          <a:bodyPr lIns="92075" tIns="46038" rIns="92075" bIns="46038"/>
          <a:lstStyle/>
          <a:p>
            <a:pPr>
              <a:buClr>
                <a:schemeClr val="tx1"/>
              </a:buClr>
              <a:buSzPct val="75000"/>
              <a:buFont typeface="Wingdings" panose="05000000000000000000" pitchFamily="2" charset="2"/>
              <a:buChar char="l"/>
            </a:pP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S</a:t>
            </a:r>
            <a:endParaRPr lang="en-US" altLang="zh-CN"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endParaRPr>
          </a:p>
        </p:txBody>
      </p:sp>
      <p:sp>
        <p:nvSpPr>
          <p:cNvPr id="2608161" name="Text Box 33"/>
          <p:cNvSpPr txBox="1">
            <a:spLocks noChangeArrowheads="1"/>
          </p:cNvSpPr>
          <p:nvPr/>
        </p:nvSpPr>
        <p:spPr bwMode="auto">
          <a:xfrm>
            <a:off x="5219700" y="1916113"/>
            <a:ext cx="3673475" cy="198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b="1">
                <a:solidFill>
                  <a:schemeClr val="hlink"/>
                </a:solidFill>
                <a:ea typeface="楷体_GB2312" pitchFamily="49" charset="-122"/>
              </a:rPr>
              <a:t>问：</a:t>
            </a:r>
            <a:r>
              <a:rPr lang="zh-CN" altLang="en-US" sz="2800" b="1">
                <a:ea typeface="楷体_GB2312" pitchFamily="49" charset="-122"/>
              </a:rPr>
              <a:t>第</a:t>
            </a:r>
            <a:r>
              <a:rPr kumimoji="1" lang="en-US" altLang="zh-CN" sz="2800" b="1">
                <a:ea typeface="楷体_GB2312" pitchFamily="49" charset="-122"/>
              </a:rPr>
              <a:t>N</a:t>
            </a:r>
            <a:r>
              <a:rPr kumimoji="1" lang="zh-CN" altLang="en-US" sz="2800" b="1">
                <a:ea typeface="楷体_GB2312" pitchFamily="49" charset="-122"/>
              </a:rPr>
              <a:t>层过程调用第 </a:t>
            </a:r>
            <a:r>
              <a:rPr kumimoji="1" lang="en-US" altLang="zh-CN" sz="2800" b="1">
                <a:ea typeface="楷体_GB2312" pitchFamily="49" charset="-122"/>
              </a:rPr>
              <a:t>N+1</a:t>
            </a:r>
            <a:r>
              <a:rPr kumimoji="1" lang="zh-CN" altLang="en-US" sz="2800" b="1">
                <a:ea typeface="楷体_GB2312" pitchFamily="49" charset="-122"/>
              </a:rPr>
              <a:t>层过程，如何确定被调用过程</a:t>
            </a:r>
            <a:r>
              <a:rPr kumimoji="1" lang="en-US" altLang="zh-CN" sz="2800" b="1">
                <a:ea typeface="楷体_GB2312" pitchFamily="49" charset="-122"/>
              </a:rPr>
              <a:t>(</a:t>
            </a:r>
            <a:r>
              <a:rPr kumimoji="1" lang="zh-CN" altLang="en-US" sz="2800" b="1">
                <a:ea typeface="楷体_GB2312" pitchFamily="49" charset="-122"/>
              </a:rPr>
              <a:t>第 </a:t>
            </a:r>
            <a:r>
              <a:rPr kumimoji="1" lang="en-US" altLang="zh-CN" sz="2800" b="1">
                <a:ea typeface="楷体_GB2312" pitchFamily="49" charset="-122"/>
              </a:rPr>
              <a:t>N+1</a:t>
            </a:r>
            <a:r>
              <a:rPr kumimoji="1" lang="zh-CN" altLang="en-US" sz="2800" b="1">
                <a:ea typeface="楷体_GB2312" pitchFamily="49" charset="-122"/>
              </a:rPr>
              <a:t>层</a:t>
            </a:r>
            <a:r>
              <a:rPr kumimoji="1" lang="en-US" altLang="zh-CN" sz="2800" b="1">
                <a:ea typeface="楷体_GB2312" pitchFamily="49" charset="-122"/>
              </a:rPr>
              <a:t>) </a:t>
            </a:r>
            <a:r>
              <a:rPr kumimoji="1" lang="zh-CN" altLang="en-US" sz="2800" b="1">
                <a:ea typeface="楷体_GB2312" pitchFamily="49" charset="-122"/>
              </a:rPr>
              <a:t>的静态链？</a:t>
            </a:r>
          </a:p>
        </p:txBody>
      </p:sp>
      <p:sp>
        <p:nvSpPr>
          <p:cNvPr id="2608162" name="Text Box 34"/>
          <p:cNvSpPr txBox="1">
            <a:spLocks noChangeArrowheads="1"/>
          </p:cNvSpPr>
          <p:nvPr/>
        </p:nvSpPr>
        <p:spPr bwMode="auto">
          <a:xfrm>
            <a:off x="5364163" y="4365625"/>
            <a:ext cx="352742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b="1">
                <a:solidFill>
                  <a:srgbClr val="FF3300"/>
                </a:solidFill>
                <a:ea typeface="楷体_GB2312" pitchFamily="49" charset="-122"/>
              </a:rPr>
              <a:t>答：</a:t>
            </a:r>
            <a:r>
              <a:rPr lang="zh-CN" altLang="en-US" sz="2800" b="1">
                <a:ea typeface="楷体_GB2312" pitchFamily="49" charset="-122"/>
              </a:rPr>
              <a:t>调用过程</a:t>
            </a:r>
            <a:r>
              <a:rPr lang="en-US" altLang="zh-CN" sz="2800" b="1">
                <a:ea typeface="楷体_GB2312" pitchFamily="49" charset="-122"/>
              </a:rPr>
              <a:t>(</a:t>
            </a:r>
            <a:r>
              <a:rPr lang="zh-CN" altLang="en-US" sz="2800" b="1">
                <a:ea typeface="楷体_GB2312" pitchFamily="49" charset="-122"/>
              </a:rPr>
              <a:t>第</a:t>
            </a:r>
            <a:r>
              <a:rPr lang="en-US" altLang="zh-CN" sz="2800" b="1">
                <a:ea typeface="楷体_GB2312" pitchFamily="49" charset="-122"/>
              </a:rPr>
              <a:t>N</a:t>
            </a:r>
            <a:r>
              <a:rPr lang="zh-CN" altLang="en-US" sz="2800" b="1">
                <a:ea typeface="楷体_GB2312" pitchFamily="49" charset="-122"/>
              </a:rPr>
              <a:t>层过程</a:t>
            </a:r>
            <a:r>
              <a:rPr lang="en-US" altLang="zh-CN" sz="2800" b="1">
                <a:ea typeface="楷体_GB2312" pitchFamily="49" charset="-122"/>
              </a:rPr>
              <a:t>)</a:t>
            </a:r>
            <a:r>
              <a:rPr lang="zh-CN" altLang="en-US" sz="2800" b="1">
                <a:ea typeface="楷体_GB2312" pitchFamily="49" charset="-122"/>
              </a:rPr>
              <a:t>的最新活动记录的起始地址</a:t>
            </a:r>
            <a:r>
              <a:rPr lang="en-US" altLang="zh-CN" sz="2800" b="1">
                <a:ea typeface="楷体_GB2312" pitchFamily="49" charset="-122"/>
              </a:rPr>
              <a:t>.</a:t>
            </a:r>
            <a:endParaRPr kumimoji="1" lang="en-US" altLang="zh-CN" sz="2800" b="1">
              <a:ea typeface="楷体_GB2312" pitchFamily="49" charset="-122"/>
            </a:endParaRPr>
          </a:p>
        </p:txBody>
      </p:sp>
      <p:sp>
        <p:nvSpPr>
          <p:cNvPr id="2608163" name="Rectangle 35"/>
          <p:cNvSpPr>
            <a:spLocks noChangeArrowheads="1"/>
          </p:cNvSpPr>
          <p:nvPr/>
        </p:nvSpPr>
        <p:spPr bwMode="auto">
          <a:xfrm>
            <a:off x="2287588" y="5013325"/>
            <a:ext cx="2058987" cy="360363"/>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nvGrpSpPr>
          <p:cNvPr id="2608164" name="Group 36"/>
          <p:cNvGrpSpPr>
            <a:grpSpLocks/>
          </p:cNvGrpSpPr>
          <p:nvPr/>
        </p:nvGrpSpPr>
        <p:grpSpPr bwMode="auto">
          <a:xfrm>
            <a:off x="1749425" y="5343525"/>
            <a:ext cx="2597150" cy="317500"/>
            <a:chOff x="1102" y="3366"/>
            <a:chExt cx="1636" cy="200"/>
          </a:xfrm>
        </p:grpSpPr>
        <p:sp>
          <p:nvSpPr>
            <p:cNvPr id="2608165" name="Rectangle 37"/>
            <p:cNvSpPr>
              <a:spLocks noChangeArrowheads="1"/>
            </p:cNvSpPr>
            <p:nvPr/>
          </p:nvSpPr>
          <p:spPr bwMode="auto">
            <a:xfrm>
              <a:off x="1102" y="3366"/>
              <a:ext cx="372" cy="2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sp>
          <p:nvSpPr>
            <p:cNvPr id="2608166" name="Rectangle 38"/>
            <p:cNvSpPr>
              <a:spLocks noChangeArrowheads="1"/>
            </p:cNvSpPr>
            <p:nvPr/>
          </p:nvSpPr>
          <p:spPr bwMode="auto">
            <a:xfrm>
              <a:off x="1441" y="3366"/>
              <a:ext cx="1297" cy="2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grpSp>
      <p:grpSp>
        <p:nvGrpSpPr>
          <p:cNvPr id="2608167" name="Group 39"/>
          <p:cNvGrpSpPr>
            <a:grpSpLocks/>
          </p:cNvGrpSpPr>
          <p:nvPr/>
        </p:nvGrpSpPr>
        <p:grpSpPr bwMode="auto">
          <a:xfrm>
            <a:off x="1752600" y="3803650"/>
            <a:ext cx="2593975" cy="346075"/>
            <a:chOff x="1104" y="2396"/>
            <a:chExt cx="1634" cy="218"/>
          </a:xfrm>
        </p:grpSpPr>
        <p:sp>
          <p:nvSpPr>
            <p:cNvPr id="2608168" name="Rectangle 40"/>
            <p:cNvSpPr>
              <a:spLocks noChangeArrowheads="1"/>
            </p:cNvSpPr>
            <p:nvPr/>
          </p:nvSpPr>
          <p:spPr bwMode="auto">
            <a:xfrm>
              <a:off x="1104" y="2396"/>
              <a:ext cx="372" cy="218"/>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sp>
          <p:nvSpPr>
            <p:cNvPr id="2608169" name="Rectangle 41"/>
            <p:cNvSpPr>
              <a:spLocks noChangeArrowheads="1"/>
            </p:cNvSpPr>
            <p:nvPr/>
          </p:nvSpPr>
          <p:spPr bwMode="auto">
            <a:xfrm>
              <a:off x="1441" y="2396"/>
              <a:ext cx="1297" cy="218"/>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grpSp>
    </p:spTree>
    <p:extLst>
      <p:ext uri="{BB962C8B-B14F-4D97-AF65-F5344CB8AC3E}">
        <p14:creationId xmlns:p14="http://schemas.microsoft.com/office/powerpoint/2010/main" val="34699552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08160"/>
                                        </p:tgtEl>
                                        <p:attrNameLst>
                                          <p:attrName>style.visibility</p:attrName>
                                        </p:attrNameLst>
                                      </p:cBhvr>
                                      <p:to>
                                        <p:strVal val="visible"/>
                                      </p:to>
                                    </p:set>
                                    <p:animEffect transition="in" filter="fade">
                                      <p:cBhvr>
                                        <p:cTn id="7" dur="2000"/>
                                        <p:tgtEl>
                                          <p:spTgt spid="26081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08139"/>
                                        </p:tgtEl>
                                        <p:attrNameLst>
                                          <p:attrName>style.visibility</p:attrName>
                                        </p:attrNameLst>
                                      </p:cBhvr>
                                      <p:to>
                                        <p:strVal val="visible"/>
                                      </p:to>
                                    </p:set>
                                    <p:animEffect transition="in" filter="wipe(down)">
                                      <p:cBhvr>
                                        <p:cTn id="12" dur="500"/>
                                        <p:tgtEl>
                                          <p:spTgt spid="26081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08167"/>
                                        </p:tgtEl>
                                        <p:attrNameLst>
                                          <p:attrName>style.visibility</p:attrName>
                                        </p:attrNameLst>
                                      </p:cBhvr>
                                      <p:to>
                                        <p:strVal val="visible"/>
                                      </p:to>
                                    </p:set>
                                    <p:animEffect transition="in" filter="wipe(down)">
                                      <p:cBhvr>
                                        <p:cTn id="17" dur="500"/>
                                        <p:tgtEl>
                                          <p:spTgt spid="26081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08142"/>
                                        </p:tgtEl>
                                        <p:attrNameLst>
                                          <p:attrName>style.visibility</p:attrName>
                                        </p:attrNameLst>
                                      </p:cBhvr>
                                      <p:to>
                                        <p:strVal val="visible"/>
                                      </p:to>
                                    </p:set>
                                    <p:animEffect transition="in" filter="wipe(down)">
                                      <p:cBhvr>
                                        <p:cTn id="22" dur="500"/>
                                        <p:tgtEl>
                                          <p:spTgt spid="26081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08145"/>
                                        </p:tgtEl>
                                        <p:attrNameLst>
                                          <p:attrName>style.visibility</p:attrName>
                                        </p:attrNameLst>
                                      </p:cBhvr>
                                      <p:to>
                                        <p:strVal val="visible"/>
                                      </p:to>
                                    </p:set>
                                    <p:animEffect transition="in" filter="wipe(down)">
                                      <p:cBhvr>
                                        <p:cTn id="27" dur="500"/>
                                        <p:tgtEl>
                                          <p:spTgt spid="26081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08148"/>
                                        </p:tgtEl>
                                        <p:attrNameLst>
                                          <p:attrName>style.visibility</p:attrName>
                                        </p:attrNameLst>
                                      </p:cBhvr>
                                      <p:to>
                                        <p:strVal val="visible"/>
                                      </p:to>
                                    </p:set>
                                    <p:animEffect transition="in" filter="wipe(down)">
                                      <p:cBhvr>
                                        <p:cTn id="32" dur="500"/>
                                        <p:tgtEl>
                                          <p:spTgt spid="26081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08151"/>
                                        </p:tgtEl>
                                        <p:attrNameLst>
                                          <p:attrName>style.visibility</p:attrName>
                                        </p:attrNameLst>
                                      </p:cBhvr>
                                      <p:to>
                                        <p:strVal val="visible"/>
                                      </p:to>
                                    </p:set>
                                    <p:animEffect transition="in" filter="wipe(down)">
                                      <p:cBhvr>
                                        <p:cTn id="37" dur="500"/>
                                        <p:tgtEl>
                                          <p:spTgt spid="260815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608154"/>
                                        </p:tgtEl>
                                        <p:attrNameLst>
                                          <p:attrName>style.visibility</p:attrName>
                                        </p:attrNameLst>
                                      </p:cBhvr>
                                      <p:to>
                                        <p:strVal val="visible"/>
                                      </p:to>
                                    </p:set>
                                    <p:animEffect transition="in" filter="wipe(down)">
                                      <p:cBhvr>
                                        <p:cTn id="42" dur="500"/>
                                        <p:tgtEl>
                                          <p:spTgt spid="260815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608155"/>
                                        </p:tgtEl>
                                        <p:attrNameLst>
                                          <p:attrName>style.visibility</p:attrName>
                                        </p:attrNameLst>
                                      </p:cBhvr>
                                      <p:to>
                                        <p:strVal val="visible"/>
                                      </p:to>
                                    </p:set>
                                    <p:animEffect transition="in" filter="wipe(down)">
                                      <p:cBhvr>
                                        <p:cTn id="47" dur="500"/>
                                        <p:tgtEl>
                                          <p:spTgt spid="260815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608156"/>
                                        </p:tgtEl>
                                        <p:attrNameLst>
                                          <p:attrName>style.visibility</p:attrName>
                                        </p:attrNameLst>
                                      </p:cBhvr>
                                      <p:to>
                                        <p:strVal val="visible"/>
                                      </p:to>
                                    </p:set>
                                    <p:animEffect transition="in" filter="wipe(down)">
                                      <p:cBhvr>
                                        <p:cTn id="52" dur="500"/>
                                        <p:tgtEl>
                                          <p:spTgt spid="26081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2608157"/>
                                        </p:tgtEl>
                                        <p:attrNameLst>
                                          <p:attrName>style.visibility</p:attrName>
                                        </p:attrNameLst>
                                      </p:cBhvr>
                                      <p:to>
                                        <p:strVal val="visible"/>
                                      </p:to>
                                    </p:set>
                                    <p:animEffect transition="in" filter="wipe(up)">
                                      <p:cBhvr>
                                        <p:cTn id="57" dur="500"/>
                                        <p:tgtEl>
                                          <p:spTgt spid="260815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608158"/>
                                        </p:tgtEl>
                                        <p:attrNameLst>
                                          <p:attrName>style.visibility</p:attrName>
                                        </p:attrNameLst>
                                      </p:cBhvr>
                                      <p:to>
                                        <p:strVal val="visible"/>
                                      </p:to>
                                    </p:set>
                                    <p:animEffect transition="in" filter="wipe(down)">
                                      <p:cBhvr>
                                        <p:cTn id="62" dur="500"/>
                                        <p:tgtEl>
                                          <p:spTgt spid="26081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2608159"/>
                                        </p:tgtEl>
                                        <p:attrNameLst>
                                          <p:attrName>style.visibility</p:attrName>
                                        </p:attrNameLst>
                                      </p:cBhvr>
                                      <p:to>
                                        <p:strVal val="visible"/>
                                      </p:to>
                                    </p:set>
                                    <p:animEffect transition="in" filter="wipe(up)">
                                      <p:cBhvr>
                                        <p:cTn id="67" dur="500"/>
                                        <p:tgtEl>
                                          <p:spTgt spid="260815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608161"/>
                                        </p:tgtEl>
                                        <p:attrNameLst>
                                          <p:attrName>style.visibility</p:attrName>
                                        </p:attrNameLst>
                                      </p:cBhvr>
                                      <p:to>
                                        <p:strVal val="visible"/>
                                      </p:to>
                                    </p:set>
                                    <p:animEffect transition="in" filter="blinds(horizontal)">
                                      <p:cBhvr>
                                        <p:cTn id="72" dur="500"/>
                                        <p:tgtEl>
                                          <p:spTgt spid="260816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608162"/>
                                        </p:tgtEl>
                                        <p:attrNameLst>
                                          <p:attrName>style.visibility</p:attrName>
                                        </p:attrNameLst>
                                      </p:cBhvr>
                                      <p:to>
                                        <p:strVal val="visible"/>
                                      </p:to>
                                    </p:set>
                                    <p:animEffect transition="in" filter="blinds(horizontal)">
                                      <p:cBhvr>
                                        <p:cTn id="77" dur="500"/>
                                        <p:tgtEl>
                                          <p:spTgt spid="2608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8154" grpId="0" autoUpdateAnimBg="0"/>
      <p:bldP spid="2608155" grpId="0" autoUpdateAnimBg="0"/>
      <p:bldP spid="2608156" grpId="0" autoUpdateAnimBg="0"/>
      <p:bldP spid="2608158" grpId="0" autoUpdateAnimBg="0"/>
      <p:bldP spid="2608160" grpId="0"/>
      <p:bldP spid="2608161" grpId="0"/>
      <p:bldP spid="2608162" grpId="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 name="日期占位符 3"/>
          <p:cNvSpPr>
            <a:spLocks noGrp="1"/>
          </p:cNvSpPr>
          <p:nvPr>
            <p:ph type="dt" sz="half" idx="10"/>
          </p:nvPr>
        </p:nvSpPr>
        <p:spPr/>
        <p:txBody>
          <a:bodyPr/>
          <a:lstStyle/>
          <a:p>
            <a:fld id="{49C92257-0472-4217-AFDB-F29B1C579650}" type="datetime1">
              <a:rPr lang="zh-CN" altLang="en-US"/>
              <a:pPr/>
              <a:t>2017/2/24</a:t>
            </a:fld>
            <a:endParaRPr lang="en-US" altLang="zh-CN"/>
          </a:p>
        </p:txBody>
      </p:sp>
      <p:sp>
        <p:nvSpPr>
          <p:cNvPr id="65" name="灯片编号占位符 5"/>
          <p:cNvSpPr>
            <a:spLocks noGrp="1"/>
          </p:cNvSpPr>
          <p:nvPr>
            <p:ph type="sldNum" sz="quarter" idx="12"/>
          </p:nvPr>
        </p:nvSpPr>
        <p:spPr/>
        <p:txBody>
          <a:bodyPr/>
          <a:lstStyle/>
          <a:p>
            <a:fld id="{0AD08882-9773-4578-9B40-6F6B9969ACA3}" type="slidenum">
              <a:rPr lang="en-US" altLang="zh-CN"/>
              <a:pPr/>
              <a:t>76</a:t>
            </a:fld>
            <a:endParaRPr lang="en-US" altLang="zh-CN"/>
          </a:p>
        </p:txBody>
      </p:sp>
      <p:grpSp>
        <p:nvGrpSpPr>
          <p:cNvPr id="2610178" name="Group 2"/>
          <p:cNvGrpSpPr>
            <a:grpSpLocks/>
          </p:cNvGrpSpPr>
          <p:nvPr/>
        </p:nvGrpSpPr>
        <p:grpSpPr bwMode="auto">
          <a:xfrm>
            <a:off x="1752600" y="6172200"/>
            <a:ext cx="2590800" cy="304800"/>
            <a:chOff x="2256" y="2640"/>
            <a:chExt cx="1632" cy="192"/>
          </a:xfrm>
        </p:grpSpPr>
        <p:sp>
          <p:nvSpPr>
            <p:cNvPr id="2610179"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0180" name="Rectangle 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grpSp>
        <p:nvGrpSpPr>
          <p:cNvPr id="2610181" name="Group 5"/>
          <p:cNvGrpSpPr>
            <a:grpSpLocks/>
          </p:cNvGrpSpPr>
          <p:nvPr/>
        </p:nvGrpSpPr>
        <p:grpSpPr bwMode="auto">
          <a:xfrm>
            <a:off x="1752600" y="5562600"/>
            <a:ext cx="2590800" cy="304800"/>
            <a:chOff x="2256" y="2640"/>
            <a:chExt cx="1632" cy="192"/>
          </a:xfrm>
        </p:grpSpPr>
        <p:sp>
          <p:nvSpPr>
            <p:cNvPr id="2610182" name="Rectangle 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0183" name="Rectangle 7"/>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10184" name="Group 8"/>
          <p:cNvGrpSpPr>
            <a:grpSpLocks/>
          </p:cNvGrpSpPr>
          <p:nvPr/>
        </p:nvGrpSpPr>
        <p:grpSpPr bwMode="auto">
          <a:xfrm>
            <a:off x="1752600" y="5257800"/>
            <a:ext cx="2590800" cy="304800"/>
            <a:chOff x="2256" y="2640"/>
            <a:chExt cx="1632" cy="192"/>
          </a:xfrm>
        </p:grpSpPr>
        <p:sp>
          <p:nvSpPr>
            <p:cNvPr id="2610185"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10186" name="Rectangle 10"/>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10187" name="Group 11"/>
          <p:cNvGrpSpPr>
            <a:grpSpLocks/>
          </p:cNvGrpSpPr>
          <p:nvPr/>
        </p:nvGrpSpPr>
        <p:grpSpPr bwMode="auto">
          <a:xfrm>
            <a:off x="1752600" y="4953000"/>
            <a:ext cx="2590800" cy="304800"/>
            <a:chOff x="2256" y="2640"/>
            <a:chExt cx="1632" cy="192"/>
          </a:xfrm>
        </p:grpSpPr>
        <p:sp>
          <p:nvSpPr>
            <p:cNvPr id="2610188"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10189" name="Rectangle 1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10190" name="Group 14"/>
          <p:cNvGrpSpPr>
            <a:grpSpLocks/>
          </p:cNvGrpSpPr>
          <p:nvPr/>
        </p:nvGrpSpPr>
        <p:grpSpPr bwMode="auto">
          <a:xfrm>
            <a:off x="1752600" y="4648200"/>
            <a:ext cx="2590800" cy="304800"/>
            <a:chOff x="2256" y="2640"/>
            <a:chExt cx="1632" cy="192"/>
          </a:xfrm>
        </p:grpSpPr>
        <p:sp>
          <p:nvSpPr>
            <p:cNvPr id="2610191" name="Rectangle 1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0192" name="Rectangle 1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10193" name="Rectangle 17"/>
          <p:cNvSpPr>
            <a:spLocks noChangeArrowheads="1"/>
          </p:cNvSpPr>
          <p:nvPr/>
        </p:nvSpPr>
        <p:spPr bwMode="auto">
          <a:xfrm>
            <a:off x="1747838" y="4343400"/>
            <a:ext cx="536575" cy="309563"/>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10194" name="Group 18"/>
          <p:cNvGrpSpPr>
            <a:grpSpLocks/>
          </p:cNvGrpSpPr>
          <p:nvPr/>
        </p:nvGrpSpPr>
        <p:grpSpPr bwMode="auto">
          <a:xfrm>
            <a:off x="1752600" y="4038600"/>
            <a:ext cx="2590800" cy="304800"/>
            <a:chOff x="2256" y="2640"/>
            <a:chExt cx="1632" cy="192"/>
          </a:xfrm>
        </p:grpSpPr>
        <p:sp>
          <p:nvSpPr>
            <p:cNvPr id="2610195" name="Rectangle 19"/>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0196" name="Rectangle 20"/>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10197" name="Group 21"/>
          <p:cNvGrpSpPr>
            <a:grpSpLocks/>
          </p:cNvGrpSpPr>
          <p:nvPr/>
        </p:nvGrpSpPr>
        <p:grpSpPr bwMode="auto">
          <a:xfrm>
            <a:off x="1752600" y="3733800"/>
            <a:ext cx="2590800" cy="304800"/>
            <a:chOff x="2256" y="2640"/>
            <a:chExt cx="1632" cy="192"/>
          </a:xfrm>
        </p:grpSpPr>
        <p:sp>
          <p:nvSpPr>
            <p:cNvPr id="2610198" name="Rectangle 22"/>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0199" name="Rectangle 23"/>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10200" name="Group 24"/>
          <p:cNvGrpSpPr>
            <a:grpSpLocks/>
          </p:cNvGrpSpPr>
          <p:nvPr/>
        </p:nvGrpSpPr>
        <p:grpSpPr bwMode="auto">
          <a:xfrm>
            <a:off x="1752600" y="3429000"/>
            <a:ext cx="2590800" cy="304800"/>
            <a:chOff x="2256" y="2640"/>
            <a:chExt cx="1632" cy="192"/>
          </a:xfrm>
        </p:grpSpPr>
        <p:sp>
          <p:nvSpPr>
            <p:cNvPr id="2610201" name="Rectangle 2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0202" name="Rectangle 2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9</a:t>
              </a:r>
            </a:p>
          </p:txBody>
        </p:sp>
      </p:grpSp>
      <p:grpSp>
        <p:nvGrpSpPr>
          <p:cNvPr id="2610203" name="Group 27"/>
          <p:cNvGrpSpPr>
            <a:grpSpLocks/>
          </p:cNvGrpSpPr>
          <p:nvPr/>
        </p:nvGrpSpPr>
        <p:grpSpPr bwMode="auto">
          <a:xfrm>
            <a:off x="1752600" y="3124200"/>
            <a:ext cx="2590800" cy="304800"/>
            <a:chOff x="2256" y="2640"/>
            <a:chExt cx="1632" cy="192"/>
          </a:xfrm>
        </p:grpSpPr>
        <p:sp>
          <p:nvSpPr>
            <p:cNvPr id="2610204" name="Rectangle 2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0205" name="Rectangle 29"/>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10</a:t>
              </a:r>
            </a:p>
          </p:txBody>
        </p:sp>
      </p:grpSp>
      <p:sp>
        <p:nvSpPr>
          <p:cNvPr id="2610206" name="Rectangle 30"/>
          <p:cNvSpPr>
            <a:spLocks noChangeArrowheads="1"/>
          </p:cNvSpPr>
          <p:nvPr/>
        </p:nvSpPr>
        <p:spPr bwMode="auto">
          <a:xfrm>
            <a:off x="609600" y="2819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10207" name="Rectangle 31"/>
          <p:cNvSpPr>
            <a:spLocks noChangeArrowheads="1"/>
          </p:cNvSpPr>
          <p:nvPr/>
        </p:nvSpPr>
        <p:spPr bwMode="auto">
          <a:xfrm>
            <a:off x="533400" y="1295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10208" name="Rectangle 32"/>
          <p:cNvSpPr>
            <a:spLocks noChangeArrowheads="1"/>
          </p:cNvSpPr>
          <p:nvPr/>
        </p:nvSpPr>
        <p:spPr bwMode="auto">
          <a:xfrm>
            <a:off x="914400" y="6477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10209" name="Freeform 33"/>
          <p:cNvSpPr>
            <a:spLocks/>
          </p:cNvSpPr>
          <p:nvPr/>
        </p:nvSpPr>
        <p:spPr bwMode="auto">
          <a:xfrm>
            <a:off x="1676400" y="48006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0210" name="Rectangle 34"/>
          <p:cNvSpPr>
            <a:spLocks noChangeArrowheads="1"/>
          </p:cNvSpPr>
          <p:nvPr/>
        </p:nvSpPr>
        <p:spPr bwMode="auto">
          <a:xfrm>
            <a:off x="4191000" y="6477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静态链</a:t>
            </a:r>
          </a:p>
        </p:txBody>
      </p:sp>
      <p:sp>
        <p:nvSpPr>
          <p:cNvPr id="2610211" name="Freeform 35"/>
          <p:cNvSpPr>
            <a:spLocks/>
          </p:cNvSpPr>
          <p:nvPr/>
        </p:nvSpPr>
        <p:spPr bwMode="auto">
          <a:xfrm>
            <a:off x="4343400" y="4191000"/>
            <a:ext cx="457200" cy="21336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0212" name="Rectangle 36"/>
          <p:cNvSpPr>
            <a:spLocks noGrp="1" noChangeArrowheads="1"/>
          </p:cNvSpPr>
          <p:nvPr>
            <p:ph type="title"/>
          </p:nvPr>
        </p:nvSpPr>
        <p:spPr>
          <a:xfrm>
            <a:off x="457200" y="274638"/>
            <a:ext cx="8229600" cy="827087"/>
          </a:xfrm>
          <a:noFill/>
          <a:ln/>
        </p:spPr>
        <p:txBody>
          <a:bodyPr lIns="92075" tIns="46038" rIns="92075" bIns="46038"/>
          <a:lstStyle/>
          <a:p>
            <a:pPr>
              <a:buClr>
                <a:schemeClr val="tx1"/>
              </a:buClr>
              <a:buSzPct val="75000"/>
              <a:buFont typeface="Wingdings" panose="05000000000000000000" pitchFamily="2" charset="2"/>
              <a:buChar char="l"/>
            </a:pP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p>
        </p:txBody>
      </p:sp>
      <p:grpSp>
        <p:nvGrpSpPr>
          <p:cNvPr id="2610213" name="Group 37"/>
          <p:cNvGrpSpPr>
            <a:grpSpLocks/>
          </p:cNvGrpSpPr>
          <p:nvPr/>
        </p:nvGrpSpPr>
        <p:grpSpPr bwMode="auto">
          <a:xfrm>
            <a:off x="1752600" y="2819400"/>
            <a:ext cx="2590800" cy="304800"/>
            <a:chOff x="2256" y="2640"/>
            <a:chExt cx="1632" cy="192"/>
          </a:xfrm>
        </p:grpSpPr>
        <p:sp>
          <p:nvSpPr>
            <p:cNvPr id="2610214" name="Rectangle 38"/>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10215" name="Rectangle 39"/>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grpSp>
        <p:nvGrpSpPr>
          <p:cNvPr id="2610216" name="Group 40"/>
          <p:cNvGrpSpPr>
            <a:grpSpLocks/>
          </p:cNvGrpSpPr>
          <p:nvPr/>
        </p:nvGrpSpPr>
        <p:grpSpPr bwMode="auto">
          <a:xfrm>
            <a:off x="1752600" y="2209800"/>
            <a:ext cx="2590800" cy="304800"/>
            <a:chOff x="2256" y="2640"/>
            <a:chExt cx="1632" cy="192"/>
          </a:xfrm>
        </p:grpSpPr>
        <p:sp>
          <p:nvSpPr>
            <p:cNvPr id="2610217" name="Rectangle 41"/>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0218" name="Rectangle 42"/>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grpSp>
        <p:nvGrpSpPr>
          <p:cNvPr id="2610219" name="Group 43"/>
          <p:cNvGrpSpPr>
            <a:grpSpLocks/>
          </p:cNvGrpSpPr>
          <p:nvPr/>
        </p:nvGrpSpPr>
        <p:grpSpPr bwMode="auto">
          <a:xfrm>
            <a:off x="1752600" y="1905000"/>
            <a:ext cx="2590800" cy="304800"/>
            <a:chOff x="2256" y="2640"/>
            <a:chExt cx="1632" cy="192"/>
          </a:xfrm>
        </p:grpSpPr>
        <p:sp>
          <p:nvSpPr>
            <p:cNvPr id="2610220" name="Rectangle 44"/>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0221" name="Rectangle 45"/>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grpSp>
        <p:nvGrpSpPr>
          <p:cNvPr id="2610222" name="Group 46"/>
          <p:cNvGrpSpPr>
            <a:grpSpLocks/>
          </p:cNvGrpSpPr>
          <p:nvPr/>
        </p:nvGrpSpPr>
        <p:grpSpPr bwMode="auto">
          <a:xfrm>
            <a:off x="1752600" y="1600200"/>
            <a:ext cx="2590800" cy="304800"/>
            <a:chOff x="2256" y="2640"/>
            <a:chExt cx="1632" cy="192"/>
          </a:xfrm>
        </p:grpSpPr>
        <p:sp>
          <p:nvSpPr>
            <p:cNvPr id="2610223" name="Rectangle 47"/>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10224" name="Rectangle 48"/>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10225" name="Group 49"/>
          <p:cNvGrpSpPr>
            <a:grpSpLocks/>
          </p:cNvGrpSpPr>
          <p:nvPr/>
        </p:nvGrpSpPr>
        <p:grpSpPr bwMode="auto">
          <a:xfrm>
            <a:off x="1752600" y="1295400"/>
            <a:ext cx="2590800" cy="304800"/>
            <a:chOff x="2256" y="2640"/>
            <a:chExt cx="1632" cy="192"/>
          </a:xfrm>
        </p:grpSpPr>
        <p:sp>
          <p:nvSpPr>
            <p:cNvPr id="2610226" name="Rectangle 50"/>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0227" name="Rectangle 51"/>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sp>
        <p:nvSpPr>
          <p:cNvPr id="2610228" name="Freeform 52"/>
          <p:cNvSpPr>
            <a:spLocks/>
          </p:cNvSpPr>
          <p:nvPr/>
        </p:nvSpPr>
        <p:spPr bwMode="auto">
          <a:xfrm>
            <a:off x="1676400" y="26670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0229" name="Freeform 53"/>
          <p:cNvSpPr>
            <a:spLocks/>
          </p:cNvSpPr>
          <p:nvPr/>
        </p:nvSpPr>
        <p:spPr bwMode="auto">
          <a:xfrm>
            <a:off x="4343400" y="2362200"/>
            <a:ext cx="457200" cy="39624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0230" name="Text Box 54"/>
          <p:cNvSpPr txBox="1">
            <a:spLocks noChangeArrowheads="1"/>
          </p:cNvSpPr>
          <p:nvPr/>
        </p:nvSpPr>
        <p:spPr bwMode="auto">
          <a:xfrm>
            <a:off x="5219700" y="1951038"/>
            <a:ext cx="3673475" cy="198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4000" b="1">
                <a:solidFill>
                  <a:srgbClr val="FF3300"/>
                </a:solidFill>
                <a:ea typeface="楷体_GB2312" pitchFamily="49" charset="-122"/>
              </a:rPr>
              <a:t>问：</a:t>
            </a:r>
            <a:r>
              <a:rPr kumimoji="1" lang="zh-CN" altLang="en-US" sz="2800" b="1">
                <a:ea typeface="楷体_GB2312" pitchFamily="49" charset="-122"/>
              </a:rPr>
              <a:t>第</a:t>
            </a:r>
            <a:r>
              <a:rPr kumimoji="1" lang="en-US" altLang="zh-CN" sz="2800" b="1">
                <a:ea typeface="楷体_GB2312" pitchFamily="49" charset="-122"/>
              </a:rPr>
              <a:t>N</a:t>
            </a:r>
            <a:r>
              <a:rPr kumimoji="1" lang="zh-CN" altLang="en-US" sz="2800" b="1">
                <a:ea typeface="楷体_GB2312" pitchFamily="49" charset="-122"/>
              </a:rPr>
              <a:t>层过程调用第 </a:t>
            </a:r>
            <a:r>
              <a:rPr kumimoji="1" lang="en-US" altLang="zh-CN" sz="2800" b="1">
                <a:ea typeface="楷体_GB2312" pitchFamily="49" charset="-122"/>
              </a:rPr>
              <a:t>N</a:t>
            </a:r>
            <a:r>
              <a:rPr kumimoji="1" lang="zh-CN" altLang="en-US" sz="2800" b="1">
                <a:ea typeface="楷体_GB2312" pitchFamily="49" charset="-122"/>
              </a:rPr>
              <a:t>层过程，如何确定被调用过程</a:t>
            </a:r>
            <a:r>
              <a:rPr kumimoji="1" lang="en-US" altLang="zh-CN" sz="2800" b="1">
                <a:ea typeface="楷体_GB2312" pitchFamily="49" charset="-122"/>
              </a:rPr>
              <a:t>(</a:t>
            </a:r>
            <a:r>
              <a:rPr kumimoji="1" lang="zh-CN" altLang="en-US" sz="2800" b="1">
                <a:ea typeface="楷体_GB2312" pitchFamily="49" charset="-122"/>
              </a:rPr>
              <a:t>第 </a:t>
            </a:r>
            <a:r>
              <a:rPr kumimoji="1" lang="en-US" altLang="zh-CN" sz="2800" b="1">
                <a:ea typeface="楷体_GB2312" pitchFamily="49" charset="-122"/>
              </a:rPr>
              <a:t>N</a:t>
            </a:r>
            <a:r>
              <a:rPr kumimoji="1" lang="zh-CN" altLang="en-US" sz="2800" b="1">
                <a:ea typeface="楷体_GB2312" pitchFamily="49" charset="-122"/>
              </a:rPr>
              <a:t>层</a:t>
            </a:r>
            <a:r>
              <a:rPr kumimoji="1" lang="en-US" altLang="zh-CN" sz="2800" b="1">
                <a:ea typeface="楷体_GB2312" pitchFamily="49" charset="-122"/>
              </a:rPr>
              <a:t>) </a:t>
            </a:r>
            <a:r>
              <a:rPr kumimoji="1" lang="zh-CN" altLang="en-US" sz="2800" b="1">
                <a:ea typeface="楷体_GB2312" pitchFamily="49" charset="-122"/>
              </a:rPr>
              <a:t>的静态链？</a:t>
            </a:r>
          </a:p>
        </p:txBody>
      </p:sp>
      <p:sp>
        <p:nvSpPr>
          <p:cNvPr id="2610231" name="Text Box 55"/>
          <p:cNvSpPr txBox="1">
            <a:spLocks noChangeArrowheads="1"/>
          </p:cNvSpPr>
          <p:nvPr/>
        </p:nvSpPr>
        <p:spPr bwMode="auto">
          <a:xfrm>
            <a:off x="5364163" y="4365625"/>
            <a:ext cx="352742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b="1">
                <a:solidFill>
                  <a:srgbClr val="FF3300"/>
                </a:solidFill>
                <a:ea typeface="楷体_GB2312" pitchFamily="49" charset="-122"/>
              </a:rPr>
              <a:t>答：</a:t>
            </a:r>
            <a:r>
              <a:rPr lang="zh-CN" altLang="en-US" sz="2800" b="1">
                <a:ea typeface="楷体_GB2312" pitchFamily="49" charset="-122"/>
              </a:rPr>
              <a:t>调用过程</a:t>
            </a:r>
            <a:r>
              <a:rPr lang="en-US" altLang="zh-CN" sz="2800" b="1">
                <a:ea typeface="楷体_GB2312" pitchFamily="49" charset="-122"/>
              </a:rPr>
              <a:t>(</a:t>
            </a:r>
            <a:r>
              <a:rPr lang="zh-CN" altLang="en-US" sz="2800" b="1">
                <a:ea typeface="楷体_GB2312" pitchFamily="49" charset="-122"/>
              </a:rPr>
              <a:t>第</a:t>
            </a:r>
            <a:r>
              <a:rPr lang="en-US" altLang="zh-CN" sz="2800" b="1">
                <a:ea typeface="楷体_GB2312" pitchFamily="49" charset="-122"/>
              </a:rPr>
              <a:t>N</a:t>
            </a:r>
            <a:r>
              <a:rPr lang="zh-CN" altLang="en-US" sz="2800" b="1">
                <a:ea typeface="楷体_GB2312" pitchFamily="49" charset="-122"/>
              </a:rPr>
              <a:t>层过程</a:t>
            </a:r>
            <a:r>
              <a:rPr lang="en-US" altLang="zh-CN" sz="2800" b="1">
                <a:ea typeface="楷体_GB2312" pitchFamily="49" charset="-122"/>
              </a:rPr>
              <a:t>)</a:t>
            </a:r>
            <a:r>
              <a:rPr lang="zh-CN" altLang="en-US" sz="2800" b="1">
                <a:ea typeface="楷体_GB2312" pitchFamily="49" charset="-122"/>
              </a:rPr>
              <a:t>的静态链的值。</a:t>
            </a:r>
          </a:p>
        </p:txBody>
      </p:sp>
      <p:sp>
        <p:nvSpPr>
          <p:cNvPr id="2610232" name="Rectangle 56"/>
          <p:cNvSpPr>
            <a:spLocks noChangeArrowheads="1"/>
          </p:cNvSpPr>
          <p:nvPr/>
        </p:nvSpPr>
        <p:spPr bwMode="auto">
          <a:xfrm>
            <a:off x="2292350" y="4343400"/>
            <a:ext cx="2054225" cy="309563"/>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grpSp>
        <p:nvGrpSpPr>
          <p:cNvPr id="2610233" name="Group 57"/>
          <p:cNvGrpSpPr>
            <a:grpSpLocks/>
          </p:cNvGrpSpPr>
          <p:nvPr/>
        </p:nvGrpSpPr>
        <p:grpSpPr bwMode="auto">
          <a:xfrm>
            <a:off x="1749425" y="2492375"/>
            <a:ext cx="2597150" cy="360363"/>
            <a:chOff x="1102" y="1570"/>
            <a:chExt cx="1636" cy="227"/>
          </a:xfrm>
        </p:grpSpPr>
        <p:sp>
          <p:nvSpPr>
            <p:cNvPr id="2610234" name="Rectangle 58"/>
            <p:cNvSpPr>
              <a:spLocks noChangeArrowheads="1"/>
            </p:cNvSpPr>
            <p:nvPr/>
          </p:nvSpPr>
          <p:spPr bwMode="auto">
            <a:xfrm>
              <a:off x="1102" y="1570"/>
              <a:ext cx="372" cy="227"/>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sp>
          <p:nvSpPr>
            <p:cNvPr id="2610235" name="Rectangle 59"/>
            <p:cNvSpPr>
              <a:spLocks noChangeArrowheads="1"/>
            </p:cNvSpPr>
            <p:nvPr/>
          </p:nvSpPr>
          <p:spPr bwMode="auto">
            <a:xfrm>
              <a:off x="1444" y="1570"/>
              <a:ext cx="1294" cy="227"/>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grpSp>
      <p:grpSp>
        <p:nvGrpSpPr>
          <p:cNvPr id="2610236" name="Group 60"/>
          <p:cNvGrpSpPr>
            <a:grpSpLocks/>
          </p:cNvGrpSpPr>
          <p:nvPr/>
        </p:nvGrpSpPr>
        <p:grpSpPr bwMode="auto">
          <a:xfrm>
            <a:off x="1749425" y="5862638"/>
            <a:ext cx="2597150" cy="374650"/>
            <a:chOff x="1102" y="3693"/>
            <a:chExt cx="1636" cy="236"/>
          </a:xfrm>
        </p:grpSpPr>
        <p:sp>
          <p:nvSpPr>
            <p:cNvPr id="2610237" name="Rectangle 61"/>
            <p:cNvSpPr>
              <a:spLocks noChangeArrowheads="1"/>
            </p:cNvSpPr>
            <p:nvPr/>
          </p:nvSpPr>
          <p:spPr bwMode="auto">
            <a:xfrm>
              <a:off x="1102" y="3693"/>
              <a:ext cx="372" cy="236"/>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sp>
          <p:nvSpPr>
            <p:cNvPr id="2610238" name="Rectangle 62"/>
            <p:cNvSpPr>
              <a:spLocks noChangeArrowheads="1"/>
            </p:cNvSpPr>
            <p:nvPr/>
          </p:nvSpPr>
          <p:spPr bwMode="auto">
            <a:xfrm>
              <a:off x="1444" y="3693"/>
              <a:ext cx="1294" cy="199"/>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grpSp>
    </p:spTree>
    <p:extLst>
      <p:ext uri="{BB962C8B-B14F-4D97-AF65-F5344CB8AC3E}">
        <p14:creationId xmlns:p14="http://schemas.microsoft.com/office/powerpoint/2010/main" val="29308163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10212"/>
                                        </p:tgtEl>
                                        <p:attrNameLst>
                                          <p:attrName>style.visibility</p:attrName>
                                        </p:attrNameLst>
                                      </p:cBhvr>
                                      <p:to>
                                        <p:strVal val="visible"/>
                                      </p:to>
                                    </p:set>
                                    <p:animEffect transition="in" filter="fade">
                                      <p:cBhvr>
                                        <p:cTn id="7" dur="2000"/>
                                        <p:tgtEl>
                                          <p:spTgt spid="26102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10213"/>
                                        </p:tgtEl>
                                        <p:attrNameLst>
                                          <p:attrName>style.visibility</p:attrName>
                                        </p:attrNameLst>
                                      </p:cBhvr>
                                      <p:to>
                                        <p:strVal val="visible"/>
                                      </p:to>
                                    </p:set>
                                    <p:animEffect transition="in" filter="wipe(down)">
                                      <p:cBhvr>
                                        <p:cTn id="12" dur="500"/>
                                        <p:tgtEl>
                                          <p:spTgt spid="26102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10233"/>
                                        </p:tgtEl>
                                        <p:attrNameLst>
                                          <p:attrName>style.visibility</p:attrName>
                                        </p:attrNameLst>
                                      </p:cBhvr>
                                      <p:to>
                                        <p:strVal val="visible"/>
                                      </p:to>
                                    </p:set>
                                    <p:animEffect transition="in" filter="wipe(down)">
                                      <p:cBhvr>
                                        <p:cTn id="17" dur="500"/>
                                        <p:tgtEl>
                                          <p:spTgt spid="26102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10216"/>
                                        </p:tgtEl>
                                        <p:attrNameLst>
                                          <p:attrName>style.visibility</p:attrName>
                                        </p:attrNameLst>
                                      </p:cBhvr>
                                      <p:to>
                                        <p:strVal val="visible"/>
                                      </p:to>
                                    </p:set>
                                    <p:animEffect transition="in" filter="wipe(down)">
                                      <p:cBhvr>
                                        <p:cTn id="22" dur="500"/>
                                        <p:tgtEl>
                                          <p:spTgt spid="26102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10219"/>
                                        </p:tgtEl>
                                        <p:attrNameLst>
                                          <p:attrName>style.visibility</p:attrName>
                                        </p:attrNameLst>
                                      </p:cBhvr>
                                      <p:to>
                                        <p:strVal val="visible"/>
                                      </p:to>
                                    </p:set>
                                    <p:animEffect transition="in" filter="wipe(down)">
                                      <p:cBhvr>
                                        <p:cTn id="27" dur="500"/>
                                        <p:tgtEl>
                                          <p:spTgt spid="26102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10222"/>
                                        </p:tgtEl>
                                        <p:attrNameLst>
                                          <p:attrName>style.visibility</p:attrName>
                                        </p:attrNameLst>
                                      </p:cBhvr>
                                      <p:to>
                                        <p:strVal val="visible"/>
                                      </p:to>
                                    </p:set>
                                    <p:animEffect transition="in" filter="wipe(down)">
                                      <p:cBhvr>
                                        <p:cTn id="32" dur="500"/>
                                        <p:tgtEl>
                                          <p:spTgt spid="26102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10225"/>
                                        </p:tgtEl>
                                        <p:attrNameLst>
                                          <p:attrName>style.visibility</p:attrName>
                                        </p:attrNameLst>
                                      </p:cBhvr>
                                      <p:to>
                                        <p:strVal val="visible"/>
                                      </p:to>
                                    </p:set>
                                    <p:animEffect transition="in" filter="wipe(down)">
                                      <p:cBhvr>
                                        <p:cTn id="37" dur="500"/>
                                        <p:tgtEl>
                                          <p:spTgt spid="26102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610207"/>
                                        </p:tgtEl>
                                        <p:attrNameLst>
                                          <p:attrName>style.visibility</p:attrName>
                                        </p:attrNameLst>
                                      </p:cBhvr>
                                      <p:to>
                                        <p:strVal val="visible"/>
                                      </p:to>
                                    </p:set>
                                    <p:animEffect transition="in" filter="wipe(down)">
                                      <p:cBhvr>
                                        <p:cTn id="42" dur="500"/>
                                        <p:tgtEl>
                                          <p:spTgt spid="26102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610206"/>
                                        </p:tgtEl>
                                        <p:attrNameLst>
                                          <p:attrName>style.visibility</p:attrName>
                                        </p:attrNameLst>
                                      </p:cBhvr>
                                      <p:to>
                                        <p:strVal val="visible"/>
                                      </p:to>
                                    </p:set>
                                    <p:animEffect transition="in" filter="wipe(up)">
                                      <p:cBhvr>
                                        <p:cTn id="47" dur="500"/>
                                        <p:tgtEl>
                                          <p:spTgt spid="26102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610228"/>
                                        </p:tgtEl>
                                        <p:attrNameLst>
                                          <p:attrName>style.visibility</p:attrName>
                                        </p:attrNameLst>
                                      </p:cBhvr>
                                      <p:to>
                                        <p:strVal val="visible"/>
                                      </p:to>
                                    </p:set>
                                    <p:animEffect transition="in" filter="wipe(up)">
                                      <p:cBhvr>
                                        <p:cTn id="52" dur="500"/>
                                        <p:tgtEl>
                                          <p:spTgt spid="261022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2610229"/>
                                        </p:tgtEl>
                                        <p:attrNameLst>
                                          <p:attrName>style.visibility</p:attrName>
                                        </p:attrNameLst>
                                      </p:cBhvr>
                                      <p:to>
                                        <p:strVal val="visible"/>
                                      </p:to>
                                    </p:set>
                                    <p:animEffect transition="in" filter="wipe(up)">
                                      <p:cBhvr>
                                        <p:cTn id="57" dur="500"/>
                                        <p:tgtEl>
                                          <p:spTgt spid="261022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10230"/>
                                        </p:tgtEl>
                                        <p:attrNameLst>
                                          <p:attrName>style.visibility</p:attrName>
                                        </p:attrNameLst>
                                      </p:cBhvr>
                                      <p:to>
                                        <p:strVal val="visible"/>
                                      </p:to>
                                    </p:set>
                                    <p:animEffect transition="in" filter="blinds(horizontal)">
                                      <p:cBhvr>
                                        <p:cTn id="62" dur="500"/>
                                        <p:tgtEl>
                                          <p:spTgt spid="26102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610231"/>
                                        </p:tgtEl>
                                        <p:attrNameLst>
                                          <p:attrName>style.visibility</p:attrName>
                                        </p:attrNameLst>
                                      </p:cBhvr>
                                      <p:to>
                                        <p:strVal val="visible"/>
                                      </p:to>
                                    </p:set>
                                    <p:animEffect transition="in" filter="blinds(horizontal)">
                                      <p:cBhvr>
                                        <p:cTn id="67" dur="500"/>
                                        <p:tgtEl>
                                          <p:spTgt spid="2610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0206" grpId="0" autoUpdateAnimBg="0"/>
      <p:bldP spid="2610207" grpId="0" autoUpdateAnimBg="0"/>
      <p:bldP spid="2610212" grpId="0"/>
      <p:bldP spid="2610230" grpId="0"/>
      <p:bldP spid="2610231" grpId="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 name="日期占位符 3"/>
          <p:cNvSpPr>
            <a:spLocks noGrp="1"/>
          </p:cNvSpPr>
          <p:nvPr>
            <p:ph type="dt" sz="half" idx="10"/>
          </p:nvPr>
        </p:nvSpPr>
        <p:spPr/>
        <p:txBody>
          <a:bodyPr/>
          <a:lstStyle/>
          <a:p>
            <a:fld id="{DEF12D6F-C73E-4683-9311-CCB77D3D1A54}" type="datetime1">
              <a:rPr lang="zh-CN" altLang="en-US"/>
              <a:pPr/>
              <a:t>2017/2/24</a:t>
            </a:fld>
            <a:endParaRPr lang="en-US" altLang="zh-CN"/>
          </a:p>
        </p:txBody>
      </p:sp>
      <p:sp>
        <p:nvSpPr>
          <p:cNvPr id="86" name="灯片编号占位符 5"/>
          <p:cNvSpPr>
            <a:spLocks noGrp="1"/>
          </p:cNvSpPr>
          <p:nvPr>
            <p:ph type="sldNum" sz="quarter" idx="12"/>
          </p:nvPr>
        </p:nvSpPr>
        <p:spPr/>
        <p:txBody>
          <a:bodyPr/>
          <a:lstStyle/>
          <a:p>
            <a:fld id="{75AB4B3A-03DD-4564-B994-BAE9FD1A8E55}" type="slidenum">
              <a:rPr lang="en-US" altLang="zh-CN"/>
              <a:pPr/>
              <a:t>77</a:t>
            </a:fld>
            <a:endParaRPr lang="en-US" altLang="zh-CN"/>
          </a:p>
        </p:txBody>
      </p:sp>
      <p:grpSp>
        <p:nvGrpSpPr>
          <p:cNvPr id="2612226" name="Group 2"/>
          <p:cNvGrpSpPr>
            <a:grpSpLocks/>
          </p:cNvGrpSpPr>
          <p:nvPr/>
        </p:nvGrpSpPr>
        <p:grpSpPr bwMode="auto">
          <a:xfrm>
            <a:off x="1219200" y="6172200"/>
            <a:ext cx="2590800" cy="304800"/>
            <a:chOff x="2256" y="2640"/>
            <a:chExt cx="1632" cy="192"/>
          </a:xfrm>
        </p:grpSpPr>
        <p:sp>
          <p:nvSpPr>
            <p:cNvPr id="2612227"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2228" name="Rectangle 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12229" name="Rectangle 5"/>
          <p:cNvSpPr>
            <a:spLocks noChangeArrowheads="1"/>
          </p:cNvSpPr>
          <p:nvPr/>
        </p:nvSpPr>
        <p:spPr bwMode="auto">
          <a:xfrm>
            <a:off x="1216025" y="5867400"/>
            <a:ext cx="533400" cy="369888"/>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sp>
        <p:nvSpPr>
          <p:cNvPr id="2612230" name="Rectangle 6"/>
          <p:cNvSpPr>
            <a:spLocks noChangeArrowheads="1"/>
          </p:cNvSpPr>
          <p:nvPr/>
        </p:nvSpPr>
        <p:spPr bwMode="auto">
          <a:xfrm>
            <a:off x="1752600" y="55626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2231" name="Rectangle 7"/>
          <p:cNvSpPr>
            <a:spLocks noChangeArrowheads="1"/>
          </p:cNvSpPr>
          <p:nvPr/>
        </p:nvSpPr>
        <p:spPr bwMode="auto">
          <a:xfrm>
            <a:off x="1219200" y="55626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nvGrpSpPr>
          <p:cNvPr id="2612232" name="Group 8"/>
          <p:cNvGrpSpPr>
            <a:grpSpLocks/>
          </p:cNvGrpSpPr>
          <p:nvPr/>
        </p:nvGrpSpPr>
        <p:grpSpPr bwMode="auto">
          <a:xfrm>
            <a:off x="1219200" y="5257800"/>
            <a:ext cx="2590800" cy="304800"/>
            <a:chOff x="2256" y="2640"/>
            <a:chExt cx="1632" cy="192"/>
          </a:xfrm>
        </p:grpSpPr>
        <p:sp>
          <p:nvSpPr>
            <p:cNvPr id="2612233"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12234" name="Rectangle 10"/>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12235" name="Group 11"/>
          <p:cNvGrpSpPr>
            <a:grpSpLocks/>
          </p:cNvGrpSpPr>
          <p:nvPr/>
        </p:nvGrpSpPr>
        <p:grpSpPr bwMode="auto">
          <a:xfrm>
            <a:off x="1219200" y="4953000"/>
            <a:ext cx="2590800" cy="304800"/>
            <a:chOff x="2256" y="2640"/>
            <a:chExt cx="1632" cy="192"/>
          </a:xfrm>
        </p:grpSpPr>
        <p:sp>
          <p:nvSpPr>
            <p:cNvPr id="2612236"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12237" name="Rectangle 1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12238" name="Group 14"/>
          <p:cNvGrpSpPr>
            <a:grpSpLocks/>
          </p:cNvGrpSpPr>
          <p:nvPr/>
        </p:nvGrpSpPr>
        <p:grpSpPr bwMode="auto">
          <a:xfrm>
            <a:off x="1219200" y="4648200"/>
            <a:ext cx="2590800" cy="304800"/>
            <a:chOff x="2256" y="2640"/>
            <a:chExt cx="1632" cy="192"/>
          </a:xfrm>
        </p:grpSpPr>
        <p:sp>
          <p:nvSpPr>
            <p:cNvPr id="2612239" name="Rectangle 1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2240" name="Rectangle 1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12241" name="Rectangle 17"/>
          <p:cNvSpPr>
            <a:spLocks noChangeArrowheads="1"/>
          </p:cNvSpPr>
          <p:nvPr/>
        </p:nvSpPr>
        <p:spPr bwMode="auto">
          <a:xfrm>
            <a:off x="1216025" y="4337050"/>
            <a:ext cx="533400" cy="315913"/>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12242" name="Group 18"/>
          <p:cNvGrpSpPr>
            <a:grpSpLocks/>
          </p:cNvGrpSpPr>
          <p:nvPr/>
        </p:nvGrpSpPr>
        <p:grpSpPr bwMode="auto">
          <a:xfrm>
            <a:off x="1219200" y="4038600"/>
            <a:ext cx="2590800" cy="304800"/>
            <a:chOff x="2256" y="2640"/>
            <a:chExt cx="1632" cy="192"/>
          </a:xfrm>
        </p:grpSpPr>
        <p:sp>
          <p:nvSpPr>
            <p:cNvPr id="2612243" name="Rectangle 19"/>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2244" name="Rectangle 20"/>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12245" name="Group 21"/>
          <p:cNvGrpSpPr>
            <a:grpSpLocks/>
          </p:cNvGrpSpPr>
          <p:nvPr/>
        </p:nvGrpSpPr>
        <p:grpSpPr bwMode="auto">
          <a:xfrm>
            <a:off x="1219200" y="3733800"/>
            <a:ext cx="2590800" cy="304800"/>
            <a:chOff x="2256" y="2640"/>
            <a:chExt cx="1632" cy="192"/>
          </a:xfrm>
        </p:grpSpPr>
        <p:sp>
          <p:nvSpPr>
            <p:cNvPr id="2612246" name="Rectangle 22"/>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2247" name="Rectangle 23"/>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12248" name="Group 24"/>
          <p:cNvGrpSpPr>
            <a:grpSpLocks/>
          </p:cNvGrpSpPr>
          <p:nvPr/>
        </p:nvGrpSpPr>
        <p:grpSpPr bwMode="auto">
          <a:xfrm>
            <a:off x="1219200" y="3429000"/>
            <a:ext cx="2590800" cy="304800"/>
            <a:chOff x="2256" y="2640"/>
            <a:chExt cx="1632" cy="192"/>
          </a:xfrm>
        </p:grpSpPr>
        <p:sp>
          <p:nvSpPr>
            <p:cNvPr id="2612249" name="Rectangle 2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2250" name="Rectangle 2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9</a:t>
              </a:r>
            </a:p>
          </p:txBody>
        </p:sp>
      </p:grpSp>
      <p:grpSp>
        <p:nvGrpSpPr>
          <p:cNvPr id="2612251" name="Group 27"/>
          <p:cNvGrpSpPr>
            <a:grpSpLocks/>
          </p:cNvGrpSpPr>
          <p:nvPr/>
        </p:nvGrpSpPr>
        <p:grpSpPr bwMode="auto">
          <a:xfrm>
            <a:off x="1219200" y="3124200"/>
            <a:ext cx="2590800" cy="304800"/>
            <a:chOff x="2256" y="2640"/>
            <a:chExt cx="1632" cy="192"/>
          </a:xfrm>
        </p:grpSpPr>
        <p:sp>
          <p:nvSpPr>
            <p:cNvPr id="2612252" name="Rectangle 2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2253" name="Rectangle 29"/>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10</a:t>
              </a:r>
            </a:p>
          </p:txBody>
        </p:sp>
      </p:grpSp>
      <p:sp>
        <p:nvSpPr>
          <p:cNvPr id="2612254" name="Rectangle 30"/>
          <p:cNvSpPr>
            <a:spLocks noChangeArrowheads="1"/>
          </p:cNvSpPr>
          <p:nvPr/>
        </p:nvSpPr>
        <p:spPr bwMode="auto">
          <a:xfrm>
            <a:off x="381000" y="6477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12255" name="Freeform 31"/>
          <p:cNvSpPr>
            <a:spLocks/>
          </p:cNvSpPr>
          <p:nvPr/>
        </p:nvSpPr>
        <p:spPr bwMode="auto">
          <a:xfrm>
            <a:off x="1143000" y="48006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2256" name="Rectangle 32"/>
          <p:cNvSpPr>
            <a:spLocks noChangeArrowheads="1"/>
          </p:cNvSpPr>
          <p:nvPr/>
        </p:nvSpPr>
        <p:spPr bwMode="auto">
          <a:xfrm>
            <a:off x="3657600" y="6477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静态链</a:t>
            </a:r>
          </a:p>
        </p:txBody>
      </p:sp>
      <p:sp>
        <p:nvSpPr>
          <p:cNvPr id="2612257" name="Freeform 33"/>
          <p:cNvSpPr>
            <a:spLocks/>
          </p:cNvSpPr>
          <p:nvPr/>
        </p:nvSpPr>
        <p:spPr bwMode="auto">
          <a:xfrm>
            <a:off x="3810000" y="4191000"/>
            <a:ext cx="457200" cy="21336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2258" name="Rectangle 34"/>
          <p:cNvSpPr>
            <a:spLocks noGrp="1" noChangeArrowheads="1"/>
          </p:cNvSpPr>
          <p:nvPr>
            <p:ph type="title"/>
          </p:nvPr>
        </p:nvSpPr>
        <p:spPr>
          <a:xfrm>
            <a:off x="762000" y="304800"/>
            <a:ext cx="8382000" cy="800100"/>
          </a:xfrm>
          <a:noFill/>
          <a:ln/>
        </p:spPr>
        <p:txBody>
          <a:bodyPr lIns="92075" tIns="46038" rIns="92075" bIns="46038"/>
          <a:lstStyle/>
          <a:p>
            <a:pPr>
              <a:buClr>
                <a:schemeClr val="tx1"/>
              </a:buClr>
              <a:buSzPct val="75000"/>
              <a:buFont typeface="Wingdings" panose="05000000000000000000" pitchFamily="2" charset="2"/>
              <a:buChar char="l"/>
            </a:pP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R</a:t>
            </a:r>
          </a:p>
        </p:txBody>
      </p:sp>
      <p:grpSp>
        <p:nvGrpSpPr>
          <p:cNvPr id="2612259" name="Group 35"/>
          <p:cNvGrpSpPr>
            <a:grpSpLocks/>
          </p:cNvGrpSpPr>
          <p:nvPr/>
        </p:nvGrpSpPr>
        <p:grpSpPr bwMode="auto">
          <a:xfrm>
            <a:off x="1219200" y="2819400"/>
            <a:ext cx="2590800" cy="304800"/>
            <a:chOff x="2256" y="2640"/>
            <a:chExt cx="1632" cy="192"/>
          </a:xfrm>
        </p:grpSpPr>
        <p:sp>
          <p:nvSpPr>
            <p:cNvPr id="2612260" name="Rectangle 3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12261" name="Rectangle 37"/>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sp>
        <p:nvSpPr>
          <p:cNvPr id="2612262" name="Rectangle 38"/>
          <p:cNvSpPr>
            <a:spLocks noChangeArrowheads="1"/>
          </p:cNvSpPr>
          <p:nvPr/>
        </p:nvSpPr>
        <p:spPr bwMode="auto">
          <a:xfrm>
            <a:off x="1216025" y="2506663"/>
            <a:ext cx="533400" cy="346075"/>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nvGrpSpPr>
          <p:cNvPr id="2612263" name="Group 39"/>
          <p:cNvGrpSpPr>
            <a:grpSpLocks/>
          </p:cNvGrpSpPr>
          <p:nvPr/>
        </p:nvGrpSpPr>
        <p:grpSpPr bwMode="auto">
          <a:xfrm>
            <a:off x="1219200" y="2209800"/>
            <a:ext cx="2590800" cy="304800"/>
            <a:chOff x="2256" y="2640"/>
            <a:chExt cx="1632" cy="192"/>
          </a:xfrm>
        </p:grpSpPr>
        <p:sp>
          <p:nvSpPr>
            <p:cNvPr id="2612264" name="Rectangle 40"/>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2265" name="Rectangle 41"/>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grpSp>
        <p:nvGrpSpPr>
          <p:cNvPr id="2612266" name="Group 42"/>
          <p:cNvGrpSpPr>
            <a:grpSpLocks/>
          </p:cNvGrpSpPr>
          <p:nvPr/>
        </p:nvGrpSpPr>
        <p:grpSpPr bwMode="auto">
          <a:xfrm>
            <a:off x="1219200" y="1905000"/>
            <a:ext cx="2590800" cy="304800"/>
            <a:chOff x="2256" y="2640"/>
            <a:chExt cx="1632" cy="192"/>
          </a:xfrm>
        </p:grpSpPr>
        <p:sp>
          <p:nvSpPr>
            <p:cNvPr id="2612267" name="Rectangle 43"/>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2268" name="Rectangle 44"/>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grpSp>
        <p:nvGrpSpPr>
          <p:cNvPr id="2612269" name="Group 45"/>
          <p:cNvGrpSpPr>
            <a:grpSpLocks/>
          </p:cNvGrpSpPr>
          <p:nvPr/>
        </p:nvGrpSpPr>
        <p:grpSpPr bwMode="auto">
          <a:xfrm>
            <a:off x="1219200" y="1600200"/>
            <a:ext cx="2590800" cy="304800"/>
            <a:chOff x="2256" y="2640"/>
            <a:chExt cx="1632" cy="192"/>
          </a:xfrm>
        </p:grpSpPr>
        <p:sp>
          <p:nvSpPr>
            <p:cNvPr id="2612270" name="Rectangle 4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12271" name="Rectangle 47"/>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12272" name="Group 48"/>
          <p:cNvGrpSpPr>
            <a:grpSpLocks/>
          </p:cNvGrpSpPr>
          <p:nvPr/>
        </p:nvGrpSpPr>
        <p:grpSpPr bwMode="auto">
          <a:xfrm>
            <a:off x="1219200" y="1295400"/>
            <a:ext cx="2590800" cy="304800"/>
            <a:chOff x="2256" y="2640"/>
            <a:chExt cx="1632" cy="192"/>
          </a:xfrm>
        </p:grpSpPr>
        <p:sp>
          <p:nvSpPr>
            <p:cNvPr id="2612273" name="Rectangle 49"/>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2274" name="Rectangle 50"/>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sp>
        <p:nvSpPr>
          <p:cNvPr id="2612275" name="Freeform 51"/>
          <p:cNvSpPr>
            <a:spLocks/>
          </p:cNvSpPr>
          <p:nvPr/>
        </p:nvSpPr>
        <p:spPr bwMode="auto">
          <a:xfrm>
            <a:off x="1143000" y="26670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2276" name="Freeform 52"/>
          <p:cNvSpPr>
            <a:spLocks/>
          </p:cNvSpPr>
          <p:nvPr/>
        </p:nvSpPr>
        <p:spPr bwMode="auto">
          <a:xfrm>
            <a:off x="3810000" y="2362200"/>
            <a:ext cx="457200" cy="39624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12277" name="Group 53"/>
          <p:cNvGrpSpPr>
            <a:grpSpLocks/>
          </p:cNvGrpSpPr>
          <p:nvPr/>
        </p:nvGrpSpPr>
        <p:grpSpPr bwMode="auto">
          <a:xfrm>
            <a:off x="5867400" y="6172200"/>
            <a:ext cx="2590800" cy="304800"/>
            <a:chOff x="3696" y="3888"/>
            <a:chExt cx="1632" cy="192"/>
          </a:xfrm>
        </p:grpSpPr>
        <p:sp>
          <p:nvSpPr>
            <p:cNvPr id="2612278" name="Rectangle 54"/>
            <p:cNvSpPr>
              <a:spLocks noChangeArrowheads="1"/>
            </p:cNvSpPr>
            <p:nvPr/>
          </p:nvSpPr>
          <p:spPr bwMode="auto">
            <a:xfrm>
              <a:off x="4032" y="3888"/>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2279" name="Rectangle 55"/>
            <p:cNvSpPr>
              <a:spLocks noChangeArrowheads="1"/>
            </p:cNvSpPr>
            <p:nvPr/>
          </p:nvSpPr>
          <p:spPr bwMode="auto">
            <a:xfrm>
              <a:off x="3696" y="3888"/>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grpSp>
      <p:grpSp>
        <p:nvGrpSpPr>
          <p:cNvPr id="2612280" name="Group 56"/>
          <p:cNvGrpSpPr>
            <a:grpSpLocks/>
          </p:cNvGrpSpPr>
          <p:nvPr/>
        </p:nvGrpSpPr>
        <p:grpSpPr bwMode="auto">
          <a:xfrm>
            <a:off x="5867400" y="5862638"/>
            <a:ext cx="2592388" cy="374650"/>
            <a:chOff x="3696" y="3693"/>
            <a:chExt cx="1633" cy="236"/>
          </a:xfrm>
        </p:grpSpPr>
        <p:sp>
          <p:nvSpPr>
            <p:cNvPr id="2612281" name="Rectangle 57"/>
            <p:cNvSpPr>
              <a:spLocks noChangeArrowheads="1"/>
            </p:cNvSpPr>
            <p:nvPr/>
          </p:nvSpPr>
          <p:spPr bwMode="auto">
            <a:xfrm>
              <a:off x="4032" y="3693"/>
              <a:ext cx="1297" cy="199"/>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2282" name="Rectangle 58"/>
            <p:cNvSpPr>
              <a:spLocks noChangeArrowheads="1"/>
            </p:cNvSpPr>
            <p:nvPr/>
          </p:nvSpPr>
          <p:spPr bwMode="auto">
            <a:xfrm>
              <a:off x="3696" y="3693"/>
              <a:ext cx="336" cy="236"/>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18</a:t>
              </a:r>
            </a:p>
          </p:txBody>
        </p:sp>
      </p:grpSp>
      <p:grpSp>
        <p:nvGrpSpPr>
          <p:cNvPr id="2612283" name="Group 59"/>
          <p:cNvGrpSpPr>
            <a:grpSpLocks/>
          </p:cNvGrpSpPr>
          <p:nvPr/>
        </p:nvGrpSpPr>
        <p:grpSpPr bwMode="auto">
          <a:xfrm>
            <a:off x="5867400" y="5562600"/>
            <a:ext cx="2590800" cy="304800"/>
            <a:chOff x="2256" y="2640"/>
            <a:chExt cx="1632" cy="192"/>
          </a:xfrm>
        </p:grpSpPr>
        <p:sp>
          <p:nvSpPr>
            <p:cNvPr id="2612284" name="Rectangle 60"/>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2285" name="Rectangle 61"/>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19</a:t>
              </a:r>
            </a:p>
          </p:txBody>
        </p:sp>
      </p:grpSp>
      <p:grpSp>
        <p:nvGrpSpPr>
          <p:cNvPr id="2612286" name="Group 62"/>
          <p:cNvGrpSpPr>
            <a:grpSpLocks/>
          </p:cNvGrpSpPr>
          <p:nvPr/>
        </p:nvGrpSpPr>
        <p:grpSpPr bwMode="auto">
          <a:xfrm>
            <a:off x="5867400" y="5257800"/>
            <a:ext cx="2590800" cy="304800"/>
            <a:chOff x="2256" y="2640"/>
            <a:chExt cx="1632" cy="192"/>
          </a:xfrm>
        </p:grpSpPr>
        <p:sp>
          <p:nvSpPr>
            <p:cNvPr id="2612287" name="Rectangle 63"/>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2288" name="Rectangle 64"/>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20</a:t>
              </a:r>
            </a:p>
          </p:txBody>
        </p:sp>
      </p:grpSp>
      <p:grpSp>
        <p:nvGrpSpPr>
          <p:cNvPr id="2612289" name="Group 65"/>
          <p:cNvGrpSpPr>
            <a:grpSpLocks/>
          </p:cNvGrpSpPr>
          <p:nvPr/>
        </p:nvGrpSpPr>
        <p:grpSpPr bwMode="auto">
          <a:xfrm>
            <a:off x="5867400" y="4953000"/>
            <a:ext cx="2590800" cy="304800"/>
            <a:chOff x="2256" y="2640"/>
            <a:chExt cx="1632" cy="192"/>
          </a:xfrm>
        </p:grpSpPr>
        <p:sp>
          <p:nvSpPr>
            <p:cNvPr id="2612290" name="Rectangle 6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12291" name="Rectangle 67"/>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21</a:t>
              </a:r>
            </a:p>
          </p:txBody>
        </p:sp>
      </p:grpSp>
      <p:grpSp>
        <p:nvGrpSpPr>
          <p:cNvPr id="2612292" name="Group 68"/>
          <p:cNvGrpSpPr>
            <a:grpSpLocks/>
          </p:cNvGrpSpPr>
          <p:nvPr/>
        </p:nvGrpSpPr>
        <p:grpSpPr bwMode="auto">
          <a:xfrm>
            <a:off x="5867400" y="4648200"/>
            <a:ext cx="2590800" cy="304800"/>
            <a:chOff x="2256" y="2640"/>
            <a:chExt cx="1632" cy="192"/>
          </a:xfrm>
        </p:grpSpPr>
        <p:sp>
          <p:nvSpPr>
            <p:cNvPr id="2612293" name="Rectangle 6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12294" name="Rectangle 70"/>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22</a:t>
              </a:r>
            </a:p>
          </p:txBody>
        </p:sp>
      </p:grpSp>
      <p:grpSp>
        <p:nvGrpSpPr>
          <p:cNvPr id="2612295" name="Group 71"/>
          <p:cNvGrpSpPr>
            <a:grpSpLocks/>
          </p:cNvGrpSpPr>
          <p:nvPr/>
        </p:nvGrpSpPr>
        <p:grpSpPr bwMode="auto">
          <a:xfrm>
            <a:off x="5867400" y="4343400"/>
            <a:ext cx="2590800" cy="304800"/>
            <a:chOff x="2256" y="2640"/>
            <a:chExt cx="1632" cy="192"/>
          </a:xfrm>
        </p:grpSpPr>
        <p:sp>
          <p:nvSpPr>
            <p:cNvPr id="2612296" name="Rectangle 7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2297" name="Rectangle 73"/>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23</a:t>
              </a:r>
            </a:p>
          </p:txBody>
        </p:sp>
      </p:grpSp>
      <p:grpSp>
        <p:nvGrpSpPr>
          <p:cNvPr id="2612298" name="Group 74"/>
          <p:cNvGrpSpPr>
            <a:grpSpLocks/>
          </p:cNvGrpSpPr>
          <p:nvPr/>
        </p:nvGrpSpPr>
        <p:grpSpPr bwMode="auto">
          <a:xfrm>
            <a:off x="5867400" y="4038600"/>
            <a:ext cx="2590800" cy="304800"/>
            <a:chOff x="2256" y="2640"/>
            <a:chExt cx="1632" cy="192"/>
          </a:xfrm>
        </p:grpSpPr>
        <p:sp>
          <p:nvSpPr>
            <p:cNvPr id="2612299" name="Rectangle 75"/>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12300" name="Rectangle 76"/>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24</a:t>
              </a:r>
            </a:p>
          </p:txBody>
        </p:sp>
      </p:grpSp>
      <p:sp>
        <p:nvSpPr>
          <p:cNvPr id="2612301" name="Rectangle 77"/>
          <p:cNvSpPr>
            <a:spLocks noChangeArrowheads="1"/>
          </p:cNvSpPr>
          <p:nvPr/>
        </p:nvSpPr>
        <p:spPr bwMode="auto">
          <a:xfrm>
            <a:off x="4953000" y="6172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12302" name="Rectangle 78"/>
          <p:cNvSpPr>
            <a:spLocks noChangeArrowheads="1"/>
          </p:cNvSpPr>
          <p:nvPr/>
        </p:nvSpPr>
        <p:spPr bwMode="auto">
          <a:xfrm>
            <a:off x="4876800" y="40386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12303" name="Freeform 79"/>
          <p:cNvSpPr>
            <a:spLocks/>
          </p:cNvSpPr>
          <p:nvPr/>
        </p:nvSpPr>
        <p:spPr bwMode="auto">
          <a:xfrm>
            <a:off x="3810000" y="2971800"/>
            <a:ext cx="2590800" cy="2743200"/>
          </a:xfrm>
          <a:custGeom>
            <a:avLst/>
            <a:gdLst>
              <a:gd name="T0" fmla="*/ 1632 w 1632"/>
              <a:gd name="T1" fmla="*/ 1728 h 1728"/>
              <a:gd name="T2" fmla="*/ 432 w 1632"/>
              <a:gd name="T3" fmla="*/ 1728 h 1728"/>
              <a:gd name="T4" fmla="*/ 432 w 1632"/>
              <a:gd name="T5" fmla="*/ 0 h 1728"/>
              <a:gd name="T6" fmla="*/ 0 w 1632"/>
              <a:gd name="T7" fmla="*/ 0 h 1728"/>
            </a:gdLst>
            <a:ahLst/>
            <a:cxnLst>
              <a:cxn ang="0">
                <a:pos x="T0" y="T1"/>
              </a:cxn>
              <a:cxn ang="0">
                <a:pos x="T2" y="T3"/>
              </a:cxn>
              <a:cxn ang="0">
                <a:pos x="T4" y="T5"/>
              </a:cxn>
              <a:cxn ang="0">
                <a:pos x="T6" y="T7"/>
              </a:cxn>
            </a:cxnLst>
            <a:rect l="0" t="0" r="r" b="b"/>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2304" name="Freeform 80"/>
          <p:cNvSpPr>
            <a:spLocks/>
          </p:cNvSpPr>
          <p:nvPr/>
        </p:nvSpPr>
        <p:spPr bwMode="auto">
          <a:xfrm>
            <a:off x="3886200" y="2895600"/>
            <a:ext cx="2133600" cy="3733800"/>
          </a:xfrm>
          <a:custGeom>
            <a:avLst/>
            <a:gdLst>
              <a:gd name="T0" fmla="*/ 1344 w 1344"/>
              <a:gd name="T1" fmla="*/ 2208 h 2352"/>
              <a:gd name="T2" fmla="*/ 1248 w 1344"/>
              <a:gd name="T3" fmla="*/ 2352 h 2352"/>
              <a:gd name="T4" fmla="*/ 672 w 1344"/>
              <a:gd name="T5" fmla="*/ 2352 h 2352"/>
              <a:gd name="T6" fmla="*/ 672 w 1344"/>
              <a:gd name="T7" fmla="*/ 0 h 2352"/>
              <a:gd name="T8" fmla="*/ 0 w 1344"/>
              <a:gd name="T9" fmla="*/ 0 h 2352"/>
            </a:gdLst>
            <a:ahLst/>
            <a:cxnLst>
              <a:cxn ang="0">
                <a:pos x="T0" y="T1"/>
              </a:cxn>
              <a:cxn ang="0">
                <a:pos x="T2" y="T3"/>
              </a:cxn>
              <a:cxn ang="0">
                <a:pos x="T4" y="T5"/>
              </a:cxn>
              <a:cxn ang="0">
                <a:pos x="T6" y="T7"/>
              </a:cxn>
              <a:cxn ang="0">
                <a:pos x="T8" y="T9"/>
              </a:cxn>
            </a:cxnLst>
            <a:rect l="0" t="0" r="r" b="b"/>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2305" name="Rectangle 81"/>
          <p:cNvSpPr>
            <a:spLocks noChangeArrowheads="1"/>
          </p:cNvSpPr>
          <p:nvPr/>
        </p:nvSpPr>
        <p:spPr bwMode="auto">
          <a:xfrm>
            <a:off x="1752600" y="5867400"/>
            <a:ext cx="2058988" cy="369888"/>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2306" name="Rectangle 82"/>
          <p:cNvSpPr>
            <a:spLocks noChangeArrowheads="1"/>
          </p:cNvSpPr>
          <p:nvPr/>
        </p:nvSpPr>
        <p:spPr bwMode="auto">
          <a:xfrm>
            <a:off x="1752600" y="2506663"/>
            <a:ext cx="2058988" cy="346075"/>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2307" name="Rectangle 83"/>
          <p:cNvSpPr>
            <a:spLocks noChangeArrowheads="1"/>
          </p:cNvSpPr>
          <p:nvPr/>
        </p:nvSpPr>
        <p:spPr bwMode="auto">
          <a:xfrm>
            <a:off x="1752600" y="4337050"/>
            <a:ext cx="2058988" cy="315913"/>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Tree>
    <p:extLst>
      <p:ext uri="{BB962C8B-B14F-4D97-AF65-F5344CB8AC3E}">
        <p14:creationId xmlns:p14="http://schemas.microsoft.com/office/powerpoint/2010/main" val="31177308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12258"/>
                                        </p:tgtEl>
                                        <p:attrNameLst>
                                          <p:attrName>style.visibility</p:attrName>
                                        </p:attrNameLst>
                                      </p:cBhvr>
                                      <p:to>
                                        <p:strVal val="visible"/>
                                      </p:to>
                                    </p:set>
                                    <p:animEffect transition="in" filter="fade">
                                      <p:cBhvr>
                                        <p:cTn id="7" dur="2000"/>
                                        <p:tgtEl>
                                          <p:spTgt spid="26122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12277"/>
                                        </p:tgtEl>
                                        <p:attrNameLst>
                                          <p:attrName>style.visibility</p:attrName>
                                        </p:attrNameLst>
                                      </p:cBhvr>
                                      <p:to>
                                        <p:strVal val="visible"/>
                                      </p:to>
                                    </p:set>
                                    <p:animEffect transition="in" filter="wipe(down)">
                                      <p:cBhvr>
                                        <p:cTn id="12" dur="500"/>
                                        <p:tgtEl>
                                          <p:spTgt spid="26122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12280"/>
                                        </p:tgtEl>
                                        <p:attrNameLst>
                                          <p:attrName>style.visibility</p:attrName>
                                        </p:attrNameLst>
                                      </p:cBhvr>
                                      <p:to>
                                        <p:strVal val="visible"/>
                                      </p:to>
                                    </p:set>
                                    <p:animEffect transition="in" filter="wipe(down)">
                                      <p:cBhvr>
                                        <p:cTn id="17" dur="500"/>
                                        <p:tgtEl>
                                          <p:spTgt spid="26122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12283"/>
                                        </p:tgtEl>
                                        <p:attrNameLst>
                                          <p:attrName>style.visibility</p:attrName>
                                        </p:attrNameLst>
                                      </p:cBhvr>
                                      <p:to>
                                        <p:strVal val="visible"/>
                                      </p:to>
                                    </p:set>
                                    <p:animEffect transition="in" filter="wipe(down)">
                                      <p:cBhvr>
                                        <p:cTn id="22" dur="500"/>
                                        <p:tgtEl>
                                          <p:spTgt spid="26122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12286"/>
                                        </p:tgtEl>
                                        <p:attrNameLst>
                                          <p:attrName>style.visibility</p:attrName>
                                        </p:attrNameLst>
                                      </p:cBhvr>
                                      <p:to>
                                        <p:strVal val="visible"/>
                                      </p:to>
                                    </p:set>
                                    <p:animEffect transition="in" filter="wipe(down)">
                                      <p:cBhvr>
                                        <p:cTn id="27" dur="500"/>
                                        <p:tgtEl>
                                          <p:spTgt spid="26122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12289"/>
                                        </p:tgtEl>
                                        <p:attrNameLst>
                                          <p:attrName>style.visibility</p:attrName>
                                        </p:attrNameLst>
                                      </p:cBhvr>
                                      <p:to>
                                        <p:strVal val="visible"/>
                                      </p:to>
                                    </p:set>
                                    <p:animEffect transition="in" filter="wipe(down)">
                                      <p:cBhvr>
                                        <p:cTn id="32" dur="500"/>
                                        <p:tgtEl>
                                          <p:spTgt spid="26122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12292"/>
                                        </p:tgtEl>
                                        <p:attrNameLst>
                                          <p:attrName>style.visibility</p:attrName>
                                        </p:attrNameLst>
                                      </p:cBhvr>
                                      <p:to>
                                        <p:strVal val="visible"/>
                                      </p:to>
                                    </p:set>
                                    <p:animEffect transition="in" filter="wipe(down)">
                                      <p:cBhvr>
                                        <p:cTn id="37" dur="500"/>
                                        <p:tgtEl>
                                          <p:spTgt spid="26122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612295"/>
                                        </p:tgtEl>
                                        <p:attrNameLst>
                                          <p:attrName>style.visibility</p:attrName>
                                        </p:attrNameLst>
                                      </p:cBhvr>
                                      <p:to>
                                        <p:strVal val="visible"/>
                                      </p:to>
                                    </p:set>
                                    <p:animEffect transition="in" filter="wipe(down)">
                                      <p:cBhvr>
                                        <p:cTn id="42" dur="500"/>
                                        <p:tgtEl>
                                          <p:spTgt spid="261229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12298"/>
                                        </p:tgtEl>
                                        <p:attrNameLst>
                                          <p:attrName>style.visibility</p:attrName>
                                        </p:attrNameLst>
                                      </p:cBhvr>
                                      <p:to>
                                        <p:strVal val="visible"/>
                                      </p:to>
                                    </p:set>
                                    <p:animEffect transition="in" filter="wipe(down)">
                                      <p:cBhvr>
                                        <p:cTn id="47" dur="500"/>
                                        <p:tgtEl>
                                          <p:spTgt spid="261229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612302"/>
                                        </p:tgtEl>
                                        <p:attrNameLst>
                                          <p:attrName>style.visibility</p:attrName>
                                        </p:attrNameLst>
                                      </p:cBhvr>
                                      <p:to>
                                        <p:strVal val="visible"/>
                                      </p:to>
                                    </p:set>
                                    <p:animEffect transition="in" filter="wipe(down)">
                                      <p:cBhvr>
                                        <p:cTn id="52" dur="500"/>
                                        <p:tgtEl>
                                          <p:spTgt spid="26123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612301"/>
                                        </p:tgtEl>
                                        <p:attrNameLst>
                                          <p:attrName>style.visibility</p:attrName>
                                        </p:attrNameLst>
                                      </p:cBhvr>
                                      <p:to>
                                        <p:strVal val="visible"/>
                                      </p:to>
                                    </p:set>
                                    <p:animEffect transition="in" filter="wipe(up)">
                                      <p:cBhvr>
                                        <p:cTn id="57" dur="500"/>
                                        <p:tgtEl>
                                          <p:spTgt spid="26123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nodeType="clickEffect">
                                  <p:stCondLst>
                                    <p:cond delay="0"/>
                                  </p:stCondLst>
                                  <p:childTnLst>
                                    <p:set>
                                      <p:cBhvr>
                                        <p:cTn id="61" dur="1" fill="hold">
                                          <p:stCondLst>
                                            <p:cond delay="0"/>
                                          </p:stCondLst>
                                        </p:cTn>
                                        <p:tgtEl>
                                          <p:spTgt spid="2612303"/>
                                        </p:tgtEl>
                                        <p:attrNameLst>
                                          <p:attrName>style.visibility</p:attrName>
                                        </p:attrNameLst>
                                      </p:cBhvr>
                                      <p:to>
                                        <p:strVal val="visible"/>
                                      </p:to>
                                    </p:set>
                                    <p:animEffect transition="in" filter="wipe(right)">
                                      <p:cBhvr>
                                        <p:cTn id="62" dur="500"/>
                                        <p:tgtEl>
                                          <p:spTgt spid="261230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2612304"/>
                                        </p:tgtEl>
                                        <p:attrNameLst>
                                          <p:attrName>style.visibility</p:attrName>
                                        </p:attrNameLst>
                                      </p:cBhvr>
                                      <p:to>
                                        <p:strVal val="visible"/>
                                      </p:to>
                                    </p:set>
                                    <p:animEffect transition="in" filter="wipe(right)">
                                      <p:cBhvr>
                                        <p:cTn id="67" dur="500"/>
                                        <p:tgtEl>
                                          <p:spTgt spid="2612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2258" grpId="0"/>
      <p:bldP spid="2612301" grpId="0" autoUpdateAnimBg="0"/>
      <p:bldP spid="2612302"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 name="日期占位符 3"/>
          <p:cNvSpPr>
            <a:spLocks noGrp="1"/>
          </p:cNvSpPr>
          <p:nvPr>
            <p:ph type="dt" sz="half" idx="10"/>
          </p:nvPr>
        </p:nvSpPr>
        <p:spPr/>
        <p:txBody>
          <a:bodyPr/>
          <a:lstStyle/>
          <a:p>
            <a:fld id="{8A79FBC2-F640-4F6D-BCE0-5D6993ED3D3E}" type="datetime1">
              <a:rPr lang="zh-CN" altLang="en-US"/>
              <a:pPr/>
              <a:t>2017/2/24</a:t>
            </a:fld>
            <a:endParaRPr lang="en-US" altLang="zh-CN"/>
          </a:p>
        </p:txBody>
      </p:sp>
      <p:sp>
        <p:nvSpPr>
          <p:cNvPr id="111" name="灯片编号占位符 5"/>
          <p:cNvSpPr>
            <a:spLocks noGrp="1"/>
          </p:cNvSpPr>
          <p:nvPr>
            <p:ph type="sldNum" sz="quarter" idx="12"/>
          </p:nvPr>
        </p:nvSpPr>
        <p:spPr/>
        <p:txBody>
          <a:bodyPr/>
          <a:lstStyle/>
          <a:p>
            <a:fld id="{CADCC4AA-52BA-48CA-9D8C-A71D27585F7F}" type="slidenum">
              <a:rPr lang="en-US" altLang="zh-CN"/>
              <a:pPr/>
              <a:t>78</a:t>
            </a:fld>
            <a:endParaRPr lang="en-US" altLang="zh-CN"/>
          </a:p>
        </p:txBody>
      </p:sp>
      <p:grpSp>
        <p:nvGrpSpPr>
          <p:cNvPr id="2613250" name="Group 2"/>
          <p:cNvGrpSpPr>
            <a:grpSpLocks/>
          </p:cNvGrpSpPr>
          <p:nvPr/>
        </p:nvGrpSpPr>
        <p:grpSpPr bwMode="auto">
          <a:xfrm>
            <a:off x="1219200" y="6248400"/>
            <a:ext cx="2590800" cy="304800"/>
            <a:chOff x="2256" y="2640"/>
            <a:chExt cx="1632" cy="192"/>
          </a:xfrm>
        </p:grpSpPr>
        <p:sp>
          <p:nvSpPr>
            <p:cNvPr id="2613251"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3252" name="Rectangle 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13253" name="Rectangle 5"/>
          <p:cNvSpPr>
            <a:spLocks noChangeArrowheads="1"/>
          </p:cNvSpPr>
          <p:nvPr/>
        </p:nvSpPr>
        <p:spPr bwMode="auto">
          <a:xfrm>
            <a:off x="1219200" y="59436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grpSp>
        <p:nvGrpSpPr>
          <p:cNvPr id="2613254" name="Group 6"/>
          <p:cNvGrpSpPr>
            <a:grpSpLocks/>
          </p:cNvGrpSpPr>
          <p:nvPr/>
        </p:nvGrpSpPr>
        <p:grpSpPr bwMode="auto">
          <a:xfrm>
            <a:off x="1219200" y="5638800"/>
            <a:ext cx="2590800" cy="304800"/>
            <a:chOff x="2256" y="2640"/>
            <a:chExt cx="1632" cy="192"/>
          </a:xfrm>
        </p:grpSpPr>
        <p:sp>
          <p:nvSpPr>
            <p:cNvPr id="2613255" name="Rectangle 7"/>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3256" name="Rectangle 8"/>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sp>
        <p:nvSpPr>
          <p:cNvPr id="2613257" name="Rectangle 9"/>
          <p:cNvSpPr>
            <a:spLocks noChangeArrowheads="1"/>
          </p:cNvSpPr>
          <p:nvPr/>
        </p:nvSpPr>
        <p:spPr bwMode="auto">
          <a:xfrm>
            <a:off x="1752600" y="53340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13258" name="Rectangle 10"/>
          <p:cNvSpPr>
            <a:spLocks noChangeArrowheads="1"/>
          </p:cNvSpPr>
          <p:nvPr/>
        </p:nvSpPr>
        <p:spPr bwMode="auto">
          <a:xfrm>
            <a:off x="1219200" y="53340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nvGrpSpPr>
          <p:cNvPr id="2613259" name="Group 11"/>
          <p:cNvGrpSpPr>
            <a:grpSpLocks/>
          </p:cNvGrpSpPr>
          <p:nvPr/>
        </p:nvGrpSpPr>
        <p:grpSpPr bwMode="auto">
          <a:xfrm>
            <a:off x="1219200" y="5029200"/>
            <a:ext cx="2590800" cy="304800"/>
            <a:chOff x="2256" y="2640"/>
            <a:chExt cx="1632" cy="192"/>
          </a:xfrm>
        </p:grpSpPr>
        <p:sp>
          <p:nvSpPr>
            <p:cNvPr id="2613260"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13261" name="Rectangle 1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13262" name="Group 14"/>
          <p:cNvGrpSpPr>
            <a:grpSpLocks/>
          </p:cNvGrpSpPr>
          <p:nvPr/>
        </p:nvGrpSpPr>
        <p:grpSpPr bwMode="auto">
          <a:xfrm>
            <a:off x="1219200" y="4724400"/>
            <a:ext cx="2590800" cy="304800"/>
            <a:chOff x="2256" y="2640"/>
            <a:chExt cx="1632" cy="192"/>
          </a:xfrm>
        </p:grpSpPr>
        <p:sp>
          <p:nvSpPr>
            <p:cNvPr id="2613263" name="Rectangle 1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3264" name="Rectangle 1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13265" name="Rectangle 17"/>
          <p:cNvSpPr>
            <a:spLocks noChangeArrowheads="1"/>
          </p:cNvSpPr>
          <p:nvPr/>
        </p:nvSpPr>
        <p:spPr bwMode="auto">
          <a:xfrm>
            <a:off x="1219200" y="4419600"/>
            <a:ext cx="533400" cy="3048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13266" name="Group 18"/>
          <p:cNvGrpSpPr>
            <a:grpSpLocks/>
          </p:cNvGrpSpPr>
          <p:nvPr/>
        </p:nvGrpSpPr>
        <p:grpSpPr bwMode="auto">
          <a:xfrm>
            <a:off x="1219200" y="4114800"/>
            <a:ext cx="2590800" cy="304800"/>
            <a:chOff x="2256" y="2640"/>
            <a:chExt cx="1632" cy="192"/>
          </a:xfrm>
        </p:grpSpPr>
        <p:sp>
          <p:nvSpPr>
            <p:cNvPr id="2613267" name="Rectangle 19"/>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3268" name="Rectangle 20"/>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13269" name="Group 21"/>
          <p:cNvGrpSpPr>
            <a:grpSpLocks/>
          </p:cNvGrpSpPr>
          <p:nvPr/>
        </p:nvGrpSpPr>
        <p:grpSpPr bwMode="auto">
          <a:xfrm>
            <a:off x="1219200" y="3810000"/>
            <a:ext cx="2590800" cy="304800"/>
            <a:chOff x="2256" y="2640"/>
            <a:chExt cx="1632" cy="192"/>
          </a:xfrm>
        </p:grpSpPr>
        <p:sp>
          <p:nvSpPr>
            <p:cNvPr id="2613270" name="Rectangle 22"/>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3271" name="Rectangle 23"/>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13272" name="Group 24"/>
          <p:cNvGrpSpPr>
            <a:grpSpLocks/>
          </p:cNvGrpSpPr>
          <p:nvPr/>
        </p:nvGrpSpPr>
        <p:grpSpPr bwMode="auto">
          <a:xfrm>
            <a:off x="1219200" y="3505200"/>
            <a:ext cx="2590800" cy="304800"/>
            <a:chOff x="2256" y="2640"/>
            <a:chExt cx="1632" cy="192"/>
          </a:xfrm>
        </p:grpSpPr>
        <p:sp>
          <p:nvSpPr>
            <p:cNvPr id="2613273" name="Rectangle 2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3274" name="Rectangle 2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9</a:t>
              </a:r>
            </a:p>
          </p:txBody>
        </p:sp>
      </p:grpSp>
      <p:grpSp>
        <p:nvGrpSpPr>
          <p:cNvPr id="2613275" name="Group 27"/>
          <p:cNvGrpSpPr>
            <a:grpSpLocks/>
          </p:cNvGrpSpPr>
          <p:nvPr/>
        </p:nvGrpSpPr>
        <p:grpSpPr bwMode="auto">
          <a:xfrm>
            <a:off x="1219200" y="3200400"/>
            <a:ext cx="2590800" cy="304800"/>
            <a:chOff x="2256" y="2640"/>
            <a:chExt cx="1632" cy="192"/>
          </a:xfrm>
        </p:grpSpPr>
        <p:sp>
          <p:nvSpPr>
            <p:cNvPr id="2613276" name="Rectangle 2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3277" name="Rectangle 29"/>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10</a:t>
              </a:r>
            </a:p>
          </p:txBody>
        </p:sp>
      </p:grpSp>
      <p:sp>
        <p:nvSpPr>
          <p:cNvPr id="2613278" name="Rectangle 30"/>
          <p:cNvSpPr>
            <a:spLocks noChangeArrowheads="1"/>
          </p:cNvSpPr>
          <p:nvPr/>
        </p:nvSpPr>
        <p:spPr bwMode="auto">
          <a:xfrm>
            <a:off x="381000" y="6553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13279" name="Freeform 31"/>
          <p:cNvSpPr>
            <a:spLocks/>
          </p:cNvSpPr>
          <p:nvPr/>
        </p:nvSpPr>
        <p:spPr bwMode="auto">
          <a:xfrm>
            <a:off x="1143000" y="48768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3280" name="Rectangle 32"/>
          <p:cNvSpPr>
            <a:spLocks noChangeArrowheads="1"/>
          </p:cNvSpPr>
          <p:nvPr/>
        </p:nvSpPr>
        <p:spPr bwMode="auto">
          <a:xfrm>
            <a:off x="3657600" y="6553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静态链</a:t>
            </a:r>
          </a:p>
        </p:txBody>
      </p:sp>
      <p:sp>
        <p:nvSpPr>
          <p:cNvPr id="2613281" name="Freeform 33"/>
          <p:cNvSpPr>
            <a:spLocks/>
          </p:cNvSpPr>
          <p:nvPr/>
        </p:nvSpPr>
        <p:spPr bwMode="auto">
          <a:xfrm>
            <a:off x="3810000" y="4267200"/>
            <a:ext cx="457200" cy="21336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3282" name="Rectangle 34"/>
          <p:cNvSpPr>
            <a:spLocks noGrp="1" noChangeArrowheads="1"/>
          </p:cNvSpPr>
          <p:nvPr>
            <p:ph type="title"/>
          </p:nvPr>
        </p:nvSpPr>
        <p:spPr>
          <a:xfrm>
            <a:off x="762000" y="381000"/>
            <a:ext cx="8382000" cy="800100"/>
          </a:xfrm>
          <a:noFill/>
          <a:ln/>
        </p:spPr>
        <p:txBody>
          <a:bodyPr lIns="92075" tIns="46038" rIns="92075" bIns="46038"/>
          <a:lstStyle/>
          <a:p>
            <a:pPr>
              <a:buClr>
                <a:schemeClr val="tx1"/>
              </a:buClr>
              <a:buSzPct val="75000"/>
              <a:buFont typeface="Wingdings" panose="05000000000000000000" pitchFamily="2" charset="2"/>
              <a:buChar char="l"/>
            </a:pP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33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336600"/>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336600"/>
                </a:solidFill>
                <a:latin typeface="Times New Roman" panose="02020603050405020304" pitchFamily="18" charset="0"/>
                <a:ea typeface="华文新魏" panose="02010800040101010101" pitchFamily="2" charset="-122"/>
                <a:cs typeface="Times New Roman" panose="02020603050405020304" pitchFamily="18" charset="0"/>
              </a:rPr>
              <a:t>R</a:t>
            </a:r>
          </a:p>
        </p:txBody>
      </p:sp>
      <p:grpSp>
        <p:nvGrpSpPr>
          <p:cNvPr id="2613283" name="Group 35"/>
          <p:cNvGrpSpPr>
            <a:grpSpLocks/>
          </p:cNvGrpSpPr>
          <p:nvPr/>
        </p:nvGrpSpPr>
        <p:grpSpPr bwMode="auto">
          <a:xfrm>
            <a:off x="1219200" y="2895600"/>
            <a:ext cx="2590800" cy="304800"/>
            <a:chOff x="2256" y="2640"/>
            <a:chExt cx="1632" cy="192"/>
          </a:xfrm>
        </p:grpSpPr>
        <p:sp>
          <p:nvSpPr>
            <p:cNvPr id="2613284" name="Rectangle 3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13285" name="Rectangle 37"/>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sp>
        <p:nvSpPr>
          <p:cNvPr id="2613286" name="Rectangle 38"/>
          <p:cNvSpPr>
            <a:spLocks noChangeArrowheads="1"/>
          </p:cNvSpPr>
          <p:nvPr/>
        </p:nvSpPr>
        <p:spPr bwMode="auto">
          <a:xfrm>
            <a:off x="1219200" y="2590800"/>
            <a:ext cx="533400" cy="304800"/>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nvGrpSpPr>
          <p:cNvPr id="2613287" name="Group 39"/>
          <p:cNvGrpSpPr>
            <a:grpSpLocks/>
          </p:cNvGrpSpPr>
          <p:nvPr/>
        </p:nvGrpSpPr>
        <p:grpSpPr bwMode="auto">
          <a:xfrm>
            <a:off x="1219200" y="2286000"/>
            <a:ext cx="2590800" cy="304800"/>
            <a:chOff x="2256" y="2640"/>
            <a:chExt cx="1632" cy="192"/>
          </a:xfrm>
        </p:grpSpPr>
        <p:sp>
          <p:nvSpPr>
            <p:cNvPr id="2613288" name="Rectangle 40"/>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3289" name="Rectangle 41"/>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grpSp>
        <p:nvGrpSpPr>
          <p:cNvPr id="2613290" name="Group 42"/>
          <p:cNvGrpSpPr>
            <a:grpSpLocks/>
          </p:cNvGrpSpPr>
          <p:nvPr/>
        </p:nvGrpSpPr>
        <p:grpSpPr bwMode="auto">
          <a:xfrm>
            <a:off x="1219200" y="1981200"/>
            <a:ext cx="2590800" cy="304800"/>
            <a:chOff x="2256" y="2640"/>
            <a:chExt cx="1632" cy="192"/>
          </a:xfrm>
        </p:grpSpPr>
        <p:sp>
          <p:nvSpPr>
            <p:cNvPr id="2613291" name="Rectangle 43"/>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3292" name="Rectangle 44"/>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grpSp>
        <p:nvGrpSpPr>
          <p:cNvPr id="2613293" name="Group 45"/>
          <p:cNvGrpSpPr>
            <a:grpSpLocks/>
          </p:cNvGrpSpPr>
          <p:nvPr/>
        </p:nvGrpSpPr>
        <p:grpSpPr bwMode="auto">
          <a:xfrm>
            <a:off x="1219200" y="1676400"/>
            <a:ext cx="2590800" cy="304800"/>
            <a:chOff x="2256" y="2640"/>
            <a:chExt cx="1632" cy="192"/>
          </a:xfrm>
        </p:grpSpPr>
        <p:sp>
          <p:nvSpPr>
            <p:cNvPr id="2613294" name="Rectangle 4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13295" name="Rectangle 47"/>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13296" name="Group 48"/>
          <p:cNvGrpSpPr>
            <a:grpSpLocks/>
          </p:cNvGrpSpPr>
          <p:nvPr/>
        </p:nvGrpSpPr>
        <p:grpSpPr bwMode="auto">
          <a:xfrm>
            <a:off x="1219200" y="1371600"/>
            <a:ext cx="2590800" cy="304800"/>
            <a:chOff x="2256" y="2640"/>
            <a:chExt cx="1632" cy="192"/>
          </a:xfrm>
        </p:grpSpPr>
        <p:sp>
          <p:nvSpPr>
            <p:cNvPr id="2613297" name="Rectangle 49"/>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3298" name="Rectangle 50"/>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sp>
        <p:nvSpPr>
          <p:cNvPr id="2613299" name="Freeform 51"/>
          <p:cNvSpPr>
            <a:spLocks/>
          </p:cNvSpPr>
          <p:nvPr/>
        </p:nvSpPr>
        <p:spPr bwMode="auto">
          <a:xfrm>
            <a:off x="1143000" y="27432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3300" name="Freeform 52"/>
          <p:cNvSpPr>
            <a:spLocks/>
          </p:cNvSpPr>
          <p:nvPr/>
        </p:nvSpPr>
        <p:spPr bwMode="auto">
          <a:xfrm>
            <a:off x="3810000" y="2438400"/>
            <a:ext cx="457200" cy="39624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13301" name="Group 53"/>
          <p:cNvGrpSpPr>
            <a:grpSpLocks/>
          </p:cNvGrpSpPr>
          <p:nvPr/>
        </p:nvGrpSpPr>
        <p:grpSpPr bwMode="auto">
          <a:xfrm>
            <a:off x="5867400" y="6248400"/>
            <a:ext cx="2590800" cy="304800"/>
            <a:chOff x="2256" y="2640"/>
            <a:chExt cx="1632" cy="192"/>
          </a:xfrm>
        </p:grpSpPr>
        <p:sp>
          <p:nvSpPr>
            <p:cNvPr id="2613302" name="Rectangle 54"/>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3303" name="Rectangle 55"/>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grpSp>
      <p:sp>
        <p:nvSpPr>
          <p:cNvPr id="2613304" name="Rectangle 56"/>
          <p:cNvSpPr>
            <a:spLocks noChangeArrowheads="1"/>
          </p:cNvSpPr>
          <p:nvPr/>
        </p:nvSpPr>
        <p:spPr bwMode="auto">
          <a:xfrm>
            <a:off x="6400800" y="5943600"/>
            <a:ext cx="2057400" cy="304800"/>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3305" name="Rectangle 57"/>
          <p:cNvSpPr>
            <a:spLocks noChangeArrowheads="1"/>
          </p:cNvSpPr>
          <p:nvPr/>
        </p:nvSpPr>
        <p:spPr bwMode="auto">
          <a:xfrm>
            <a:off x="5867400" y="5943600"/>
            <a:ext cx="533400" cy="304800"/>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18</a:t>
            </a:r>
          </a:p>
        </p:txBody>
      </p:sp>
      <p:grpSp>
        <p:nvGrpSpPr>
          <p:cNvPr id="2613306" name="Group 58"/>
          <p:cNvGrpSpPr>
            <a:grpSpLocks/>
          </p:cNvGrpSpPr>
          <p:nvPr/>
        </p:nvGrpSpPr>
        <p:grpSpPr bwMode="auto">
          <a:xfrm>
            <a:off x="5867400" y="5638800"/>
            <a:ext cx="2590800" cy="304800"/>
            <a:chOff x="2256" y="2640"/>
            <a:chExt cx="1632" cy="192"/>
          </a:xfrm>
        </p:grpSpPr>
        <p:sp>
          <p:nvSpPr>
            <p:cNvPr id="2613307" name="Rectangle 5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3308" name="Rectangle 60"/>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19</a:t>
              </a:r>
            </a:p>
          </p:txBody>
        </p:sp>
      </p:grpSp>
      <p:grpSp>
        <p:nvGrpSpPr>
          <p:cNvPr id="2613309" name="Group 61"/>
          <p:cNvGrpSpPr>
            <a:grpSpLocks/>
          </p:cNvGrpSpPr>
          <p:nvPr/>
        </p:nvGrpSpPr>
        <p:grpSpPr bwMode="auto">
          <a:xfrm>
            <a:off x="5867400" y="5334000"/>
            <a:ext cx="2590800" cy="304800"/>
            <a:chOff x="2256" y="2640"/>
            <a:chExt cx="1632" cy="192"/>
          </a:xfrm>
        </p:grpSpPr>
        <p:sp>
          <p:nvSpPr>
            <p:cNvPr id="2613310" name="Rectangle 6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3311" name="Rectangle 63"/>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20</a:t>
              </a:r>
            </a:p>
          </p:txBody>
        </p:sp>
      </p:grpSp>
      <p:grpSp>
        <p:nvGrpSpPr>
          <p:cNvPr id="2613312" name="Group 64"/>
          <p:cNvGrpSpPr>
            <a:grpSpLocks/>
          </p:cNvGrpSpPr>
          <p:nvPr/>
        </p:nvGrpSpPr>
        <p:grpSpPr bwMode="auto">
          <a:xfrm>
            <a:off x="5867400" y="5029200"/>
            <a:ext cx="2590800" cy="304800"/>
            <a:chOff x="2256" y="2640"/>
            <a:chExt cx="1632" cy="192"/>
          </a:xfrm>
        </p:grpSpPr>
        <p:sp>
          <p:nvSpPr>
            <p:cNvPr id="2613313" name="Rectangle 65"/>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13314" name="Rectangle 66"/>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21</a:t>
              </a:r>
            </a:p>
          </p:txBody>
        </p:sp>
      </p:grpSp>
      <p:grpSp>
        <p:nvGrpSpPr>
          <p:cNvPr id="2613315" name="Group 67"/>
          <p:cNvGrpSpPr>
            <a:grpSpLocks/>
          </p:cNvGrpSpPr>
          <p:nvPr/>
        </p:nvGrpSpPr>
        <p:grpSpPr bwMode="auto">
          <a:xfrm>
            <a:off x="5867400" y="4724400"/>
            <a:ext cx="2590800" cy="304800"/>
            <a:chOff x="2256" y="2640"/>
            <a:chExt cx="1632" cy="192"/>
          </a:xfrm>
        </p:grpSpPr>
        <p:sp>
          <p:nvSpPr>
            <p:cNvPr id="2613316" name="Rectangle 68"/>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13317" name="Rectangle 69"/>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22</a:t>
              </a:r>
            </a:p>
          </p:txBody>
        </p:sp>
      </p:grpSp>
      <p:grpSp>
        <p:nvGrpSpPr>
          <p:cNvPr id="2613318" name="Group 70"/>
          <p:cNvGrpSpPr>
            <a:grpSpLocks/>
          </p:cNvGrpSpPr>
          <p:nvPr/>
        </p:nvGrpSpPr>
        <p:grpSpPr bwMode="auto">
          <a:xfrm>
            <a:off x="5867400" y="4419600"/>
            <a:ext cx="2590800" cy="304800"/>
            <a:chOff x="2256" y="2640"/>
            <a:chExt cx="1632" cy="192"/>
          </a:xfrm>
        </p:grpSpPr>
        <p:sp>
          <p:nvSpPr>
            <p:cNvPr id="2613319" name="Rectangle 71"/>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3320" name="Rectangle 72"/>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23</a:t>
              </a:r>
            </a:p>
          </p:txBody>
        </p:sp>
      </p:grpSp>
      <p:grpSp>
        <p:nvGrpSpPr>
          <p:cNvPr id="2613321" name="Group 73"/>
          <p:cNvGrpSpPr>
            <a:grpSpLocks/>
          </p:cNvGrpSpPr>
          <p:nvPr/>
        </p:nvGrpSpPr>
        <p:grpSpPr bwMode="auto">
          <a:xfrm>
            <a:off x="5867400" y="4114800"/>
            <a:ext cx="2590800" cy="304800"/>
            <a:chOff x="2256" y="2640"/>
            <a:chExt cx="1632" cy="192"/>
          </a:xfrm>
        </p:grpSpPr>
        <p:sp>
          <p:nvSpPr>
            <p:cNvPr id="2613322" name="Rectangle 74"/>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13323" name="Rectangle 75"/>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24</a:t>
              </a:r>
            </a:p>
          </p:txBody>
        </p:sp>
      </p:grpSp>
      <p:sp>
        <p:nvSpPr>
          <p:cNvPr id="2613324" name="Freeform 76"/>
          <p:cNvSpPr>
            <a:spLocks/>
          </p:cNvSpPr>
          <p:nvPr/>
        </p:nvSpPr>
        <p:spPr bwMode="auto">
          <a:xfrm>
            <a:off x="3810000" y="3048000"/>
            <a:ext cx="2590800" cy="2743200"/>
          </a:xfrm>
          <a:custGeom>
            <a:avLst/>
            <a:gdLst>
              <a:gd name="T0" fmla="*/ 1632 w 1632"/>
              <a:gd name="T1" fmla="*/ 1728 h 1728"/>
              <a:gd name="T2" fmla="*/ 432 w 1632"/>
              <a:gd name="T3" fmla="*/ 1728 h 1728"/>
              <a:gd name="T4" fmla="*/ 432 w 1632"/>
              <a:gd name="T5" fmla="*/ 0 h 1728"/>
              <a:gd name="T6" fmla="*/ 0 w 1632"/>
              <a:gd name="T7" fmla="*/ 0 h 1728"/>
            </a:gdLst>
            <a:ahLst/>
            <a:cxnLst>
              <a:cxn ang="0">
                <a:pos x="T0" y="T1"/>
              </a:cxn>
              <a:cxn ang="0">
                <a:pos x="T2" y="T3"/>
              </a:cxn>
              <a:cxn ang="0">
                <a:pos x="T4" y="T5"/>
              </a:cxn>
              <a:cxn ang="0">
                <a:pos x="T6" y="T7"/>
              </a:cxn>
            </a:cxnLst>
            <a:rect l="0" t="0" r="r" b="b"/>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3325" name="Freeform 77"/>
          <p:cNvSpPr>
            <a:spLocks/>
          </p:cNvSpPr>
          <p:nvPr/>
        </p:nvSpPr>
        <p:spPr bwMode="auto">
          <a:xfrm>
            <a:off x="3886200" y="2971800"/>
            <a:ext cx="2133600" cy="3733800"/>
          </a:xfrm>
          <a:custGeom>
            <a:avLst/>
            <a:gdLst>
              <a:gd name="T0" fmla="*/ 1344 w 1344"/>
              <a:gd name="T1" fmla="*/ 2208 h 2352"/>
              <a:gd name="T2" fmla="*/ 1248 w 1344"/>
              <a:gd name="T3" fmla="*/ 2352 h 2352"/>
              <a:gd name="T4" fmla="*/ 672 w 1344"/>
              <a:gd name="T5" fmla="*/ 2352 h 2352"/>
              <a:gd name="T6" fmla="*/ 672 w 1344"/>
              <a:gd name="T7" fmla="*/ 0 h 2352"/>
              <a:gd name="T8" fmla="*/ 0 w 1344"/>
              <a:gd name="T9" fmla="*/ 0 h 2352"/>
            </a:gdLst>
            <a:ahLst/>
            <a:cxnLst>
              <a:cxn ang="0">
                <a:pos x="T0" y="T1"/>
              </a:cxn>
              <a:cxn ang="0">
                <a:pos x="T2" y="T3"/>
              </a:cxn>
              <a:cxn ang="0">
                <a:pos x="T4" y="T5"/>
              </a:cxn>
              <a:cxn ang="0">
                <a:pos x="T6" y="T7"/>
              </a:cxn>
              <a:cxn ang="0">
                <a:pos x="T8" y="T9"/>
              </a:cxn>
            </a:cxnLst>
            <a:rect l="0" t="0" r="r" b="b"/>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13326" name="Group 78"/>
          <p:cNvGrpSpPr>
            <a:grpSpLocks/>
          </p:cNvGrpSpPr>
          <p:nvPr/>
        </p:nvGrpSpPr>
        <p:grpSpPr bwMode="auto">
          <a:xfrm>
            <a:off x="5867400" y="3810000"/>
            <a:ext cx="2590800" cy="304800"/>
            <a:chOff x="2256" y="2640"/>
            <a:chExt cx="1632" cy="192"/>
          </a:xfrm>
        </p:grpSpPr>
        <p:sp>
          <p:nvSpPr>
            <p:cNvPr id="2613327" name="Rectangle 79"/>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sp>
          <p:nvSpPr>
            <p:cNvPr id="2613328" name="Rectangle 80"/>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25</a:t>
              </a:r>
            </a:p>
          </p:txBody>
        </p:sp>
      </p:grpSp>
      <p:grpSp>
        <p:nvGrpSpPr>
          <p:cNvPr id="2613329" name="Group 81"/>
          <p:cNvGrpSpPr>
            <a:grpSpLocks/>
          </p:cNvGrpSpPr>
          <p:nvPr/>
        </p:nvGrpSpPr>
        <p:grpSpPr bwMode="auto">
          <a:xfrm>
            <a:off x="5867400" y="3505200"/>
            <a:ext cx="2590800" cy="304800"/>
            <a:chOff x="3696" y="2208"/>
            <a:chExt cx="1632" cy="192"/>
          </a:xfrm>
        </p:grpSpPr>
        <p:sp>
          <p:nvSpPr>
            <p:cNvPr id="2613330" name="Rectangle 82"/>
            <p:cNvSpPr>
              <a:spLocks noChangeArrowheads="1"/>
            </p:cNvSpPr>
            <p:nvPr/>
          </p:nvSpPr>
          <p:spPr bwMode="auto">
            <a:xfrm>
              <a:off x="4032" y="2208"/>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3331" name="Rectangle 83"/>
            <p:cNvSpPr>
              <a:spLocks noChangeArrowheads="1"/>
            </p:cNvSpPr>
            <p:nvPr/>
          </p:nvSpPr>
          <p:spPr bwMode="auto">
            <a:xfrm>
              <a:off x="3696" y="2208"/>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26</a:t>
              </a:r>
            </a:p>
          </p:txBody>
        </p:sp>
      </p:grpSp>
      <p:grpSp>
        <p:nvGrpSpPr>
          <p:cNvPr id="2613332" name="Group 84"/>
          <p:cNvGrpSpPr>
            <a:grpSpLocks/>
          </p:cNvGrpSpPr>
          <p:nvPr/>
        </p:nvGrpSpPr>
        <p:grpSpPr bwMode="auto">
          <a:xfrm>
            <a:off x="5867400" y="3200400"/>
            <a:ext cx="2590800" cy="304800"/>
            <a:chOff x="2256" y="2640"/>
            <a:chExt cx="1632" cy="192"/>
          </a:xfrm>
        </p:grpSpPr>
        <p:sp>
          <p:nvSpPr>
            <p:cNvPr id="2613333" name="Rectangle 85"/>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3334" name="Rectangle 86"/>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27</a:t>
              </a:r>
            </a:p>
          </p:txBody>
        </p:sp>
      </p:grpSp>
      <p:grpSp>
        <p:nvGrpSpPr>
          <p:cNvPr id="2613335" name="Group 87"/>
          <p:cNvGrpSpPr>
            <a:grpSpLocks/>
          </p:cNvGrpSpPr>
          <p:nvPr/>
        </p:nvGrpSpPr>
        <p:grpSpPr bwMode="auto">
          <a:xfrm>
            <a:off x="5867400" y="2895600"/>
            <a:ext cx="2590800" cy="304800"/>
            <a:chOff x="2256" y="2640"/>
            <a:chExt cx="1632" cy="192"/>
          </a:xfrm>
        </p:grpSpPr>
        <p:sp>
          <p:nvSpPr>
            <p:cNvPr id="2613336" name="Rectangle 88"/>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3337" name="Rectangle 89"/>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28</a:t>
              </a:r>
            </a:p>
          </p:txBody>
        </p:sp>
      </p:grpSp>
      <p:grpSp>
        <p:nvGrpSpPr>
          <p:cNvPr id="2613338" name="Group 90"/>
          <p:cNvGrpSpPr>
            <a:grpSpLocks/>
          </p:cNvGrpSpPr>
          <p:nvPr/>
        </p:nvGrpSpPr>
        <p:grpSpPr bwMode="auto">
          <a:xfrm>
            <a:off x="5867400" y="2590800"/>
            <a:ext cx="2590800" cy="304800"/>
            <a:chOff x="2256" y="2640"/>
            <a:chExt cx="1632" cy="192"/>
          </a:xfrm>
        </p:grpSpPr>
        <p:sp>
          <p:nvSpPr>
            <p:cNvPr id="2613339" name="Rectangle 91"/>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13340" name="Rectangle 92"/>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29</a:t>
              </a:r>
            </a:p>
          </p:txBody>
        </p:sp>
      </p:grpSp>
      <p:grpSp>
        <p:nvGrpSpPr>
          <p:cNvPr id="2613341" name="Group 93"/>
          <p:cNvGrpSpPr>
            <a:grpSpLocks/>
          </p:cNvGrpSpPr>
          <p:nvPr/>
        </p:nvGrpSpPr>
        <p:grpSpPr bwMode="auto">
          <a:xfrm>
            <a:off x="5867400" y="2286000"/>
            <a:ext cx="2590800" cy="304800"/>
            <a:chOff x="2256" y="2640"/>
            <a:chExt cx="1632" cy="192"/>
          </a:xfrm>
        </p:grpSpPr>
        <p:sp>
          <p:nvSpPr>
            <p:cNvPr id="2613342" name="Rectangle 94"/>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13343" name="Rectangle 95"/>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30</a:t>
              </a:r>
            </a:p>
          </p:txBody>
        </p:sp>
      </p:grpSp>
      <p:grpSp>
        <p:nvGrpSpPr>
          <p:cNvPr id="2613344" name="Group 96"/>
          <p:cNvGrpSpPr>
            <a:grpSpLocks/>
          </p:cNvGrpSpPr>
          <p:nvPr/>
        </p:nvGrpSpPr>
        <p:grpSpPr bwMode="auto">
          <a:xfrm>
            <a:off x="5867400" y="1981200"/>
            <a:ext cx="2590800" cy="304800"/>
            <a:chOff x="2256" y="2640"/>
            <a:chExt cx="1632" cy="192"/>
          </a:xfrm>
        </p:grpSpPr>
        <p:sp>
          <p:nvSpPr>
            <p:cNvPr id="2613345" name="Rectangle 97"/>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3346" name="Rectangle 98"/>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31</a:t>
              </a:r>
            </a:p>
          </p:txBody>
        </p:sp>
      </p:grpSp>
      <p:grpSp>
        <p:nvGrpSpPr>
          <p:cNvPr id="2613347" name="Group 99"/>
          <p:cNvGrpSpPr>
            <a:grpSpLocks/>
          </p:cNvGrpSpPr>
          <p:nvPr/>
        </p:nvGrpSpPr>
        <p:grpSpPr bwMode="auto">
          <a:xfrm>
            <a:off x="5867400" y="1676400"/>
            <a:ext cx="2590800" cy="304800"/>
            <a:chOff x="2256" y="2640"/>
            <a:chExt cx="1632" cy="192"/>
          </a:xfrm>
        </p:grpSpPr>
        <p:sp>
          <p:nvSpPr>
            <p:cNvPr id="2613348" name="Rectangle 100"/>
            <p:cNvSpPr>
              <a:spLocks noChangeArrowheads="1"/>
            </p:cNvSpPr>
            <p:nvPr/>
          </p:nvSpPr>
          <p:spPr bwMode="auto">
            <a:xfrm>
              <a:off x="2592" y="2640"/>
              <a:ext cx="1296" cy="192"/>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13349" name="Rectangle 101"/>
            <p:cNvSpPr>
              <a:spLocks noChangeArrowheads="1"/>
            </p:cNvSpPr>
            <p:nvPr/>
          </p:nvSpPr>
          <p:spPr bwMode="auto">
            <a:xfrm>
              <a:off x="2256" y="2640"/>
              <a:ext cx="336" cy="192"/>
            </a:xfrm>
            <a:prstGeom prst="rect">
              <a:avLst/>
            </a:prstGeom>
            <a:solidFill>
              <a:srgbClr val="99CC00"/>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32</a:t>
              </a:r>
            </a:p>
          </p:txBody>
        </p:sp>
      </p:grpSp>
      <p:sp>
        <p:nvSpPr>
          <p:cNvPr id="2613350" name="Rectangle 102"/>
          <p:cNvSpPr>
            <a:spLocks noChangeArrowheads="1"/>
          </p:cNvSpPr>
          <p:nvPr/>
        </p:nvSpPr>
        <p:spPr bwMode="auto">
          <a:xfrm>
            <a:off x="4800600" y="1676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13351" name="Rectangle 103"/>
          <p:cNvSpPr>
            <a:spLocks noChangeArrowheads="1"/>
          </p:cNvSpPr>
          <p:nvPr/>
        </p:nvSpPr>
        <p:spPr bwMode="auto">
          <a:xfrm>
            <a:off x="4953000" y="3810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13352" name="Freeform 104"/>
          <p:cNvSpPr>
            <a:spLocks/>
          </p:cNvSpPr>
          <p:nvPr/>
        </p:nvSpPr>
        <p:spPr bwMode="auto">
          <a:xfrm>
            <a:off x="5715000" y="4038600"/>
            <a:ext cx="228600" cy="23622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3353" name="Freeform 105"/>
          <p:cNvSpPr>
            <a:spLocks/>
          </p:cNvSpPr>
          <p:nvPr/>
        </p:nvSpPr>
        <p:spPr bwMode="auto">
          <a:xfrm>
            <a:off x="3810000" y="3048000"/>
            <a:ext cx="2590800" cy="304800"/>
          </a:xfrm>
          <a:custGeom>
            <a:avLst/>
            <a:gdLst>
              <a:gd name="T0" fmla="*/ 1632 w 1632"/>
              <a:gd name="T1" fmla="*/ 1728 h 1728"/>
              <a:gd name="T2" fmla="*/ 432 w 1632"/>
              <a:gd name="T3" fmla="*/ 1728 h 1728"/>
              <a:gd name="T4" fmla="*/ 432 w 1632"/>
              <a:gd name="T5" fmla="*/ 0 h 1728"/>
              <a:gd name="T6" fmla="*/ 0 w 1632"/>
              <a:gd name="T7" fmla="*/ 0 h 1728"/>
            </a:gdLst>
            <a:ahLst/>
            <a:cxnLst>
              <a:cxn ang="0">
                <a:pos x="T0" y="T1"/>
              </a:cxn>
              <a:cxn ang="0">
                <a:pos x="T2" y="T3"/>
              </a:cxn>
              <a:cxn ang="0">
                <a:pos x="T4" y="T5"/>
              </a:cxn>
              <a:cxn ang="0">
                <a:pos x="T6" y="T7"/>
              </a:cxn>
            </a:cxnLst>
            <a:rect l="0" t="0" r="r" b="b"/>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3354" name="Rectangle 106"/>
          <p:cNvSpPr>
            <a:spLocks noChangeArrowheads="1"/>
          </p:cNvSpPr>
          <p:nvPr/>
        </p:nvSpPr>
        <p:spPr bwMode="auto">
          <a:xfrm>
            <a:off x="1752600" y="5935663"/>
            <a:ext cx="2058988" cy="30956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3355" name="Rectangle 107"/>
          <p:cNvSpPr>
            <a:spLocks noChangeArrowheads="1"/>
          </p:cNvSpPr>
          <p:nvPr/>
        </p:nvSpPr>
        <p:spPr bwMode="auto">
          <a:xfrm>
            <a:off x="1752600" y="4419600"/>
            <a:ext cx="2058988" cy="309563"/>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3356" name="Rectangle 108"/>
          <p:cNvSpPr>
            <a:spLocks noChangeArrowheads="1"/>
          </p:cNvSpPr>
          <p:nvPr/>
        </p:nvSpPr>
        <p:spPr bwMode="auto">
          <a:xfrm>
            <a:off x="1752600" y="2582863"/>
            <a:ext cx="2058988" cy="312737"/>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Tree>
    <p:extLst>
      <p:ext uri="{BB962C8B-B14F-4D97-AF65-F5344CB8AC3E}">
        <p14:creationId xmlns:p14="http://schemas.microsoft.com/office/powerpoint/2010/main" val="3241137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13282"/>
                                        </p:tgtEl>
                                        <p:attrNameLst>
                                          <p:attrName>style.visibility</p:attrName>
                                        </p:attrNameLst>
                                      </p:cBhvr>
                                      <p:to>
                                        <p:strVal val="visible"/>
                                      </p:to>
                                    </p:set>
                                    <p:animEffect transition="in" filter="fade">
                                      <p:cBhvr>
                                        <p:cTn id="7" dur="2000"/>
                                        <p:tgtEl>
                                          <p:spTgt spid="2613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13326"/>
                                        </p:tgtEl>
                                        <p:attrNameLst>
                                          <p:attrName>style.visibility</p:attrName>
                                        </p:attrNameLst>
                                      </p:cBhvr>
                                      <p:to>
                                        <p:strVal val="visible"/>
                                      </p:to>
                                    </p:set>
                                    <p:animEffect transition="in" filter="wipe(down)">
                                      <p:cBhvr>
                                        <p:cTn id="12" dur="500"/>
                                        <p:tgtEl>
                                          <p:spTgt spid="26133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13329"/>
                                        </p:tgtEl>
                                        <p:attrNameLst>
                                          <p:attrName>style.visibility</p:attrName>
                                        </p:attrNameLst>
                                      </p:cBhvr>
                                      <p:to>
                                        <p:strVal val="visible"/>
                                      </p:to>
                                    </p:set>
                                    <p:animEffect transition="in" filter="wipe(down)">
                                      <p:cBhvr>
                                        <p:cTn id="17" dur="500"/>
                                        <p:tgtEl>
                                          <p:spTgt spid="26133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13332"/>
                                        </p:tgtEl>
                                        <p:attrNameLst>
                                          <p:attrName>style.visibility</p:attrName>
                                        </p:attrNameLst>
                                      </p:cBhvr>
                                      <p:to>
                                        <p:strVal val="visible"/>
                                      </p:to>
                                    </p:set>
                                    <p:animEffect transition="in" filter="wipe(down)">
                                      <p:cBhvr>
                                        <p:cTn id="22" dur="500"/>
                                        <p:tgtEl>
                                          <p:spTgt spid="26133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13335"/>
                                        </p:tgtEl>
                                        <p:attrNameLst>
                                          <p:attrName>style.visibility</p:attrName>
                                        </p:attrNameLst>
                                      </p:cBhvr>
                                      <p:to>
                                        <p:strVal val="visible"/>
                                      </p:to>
                                    </p:set>
                                    <p:animEffect transition="in" filter="wipe(down)">
                                      <p:cBhvr>
                                        <p:cTn id="27" dur="500"/>
                                        <p:tgtEl>
                                          <p:spTgt spid="26133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13338"/>
                                        </p:tgtEl>
                                        <p:attrNameLst>
                                          <p:attrName>style.visibility</p:attrName>
                                        </p:attrNameLst>
                                      </p:cBhvr>
                                      <p:to>
                                        <p:strVal val="visible"/>
                                      </p:to>
                                    </p:set>
                                    <p:animEffect transition="in" filter="wipe(down)">
                                      <p:cBhvr>
                                        <p:cTn id="32" dur="500"/>
                                        <p:tgtEl>
                                          <p:spTgt spid="26133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13341"/>
                                        </p:tgtEl>
                                        <p:attrNameLst>
                                          <p:attrName>style.visibility</p:attrName>
                                        </p:attrNameLst>
                                      </p:cBhvr>
                                      <p:to>
                                        <p:strVal val="visible"/>
                                      </p:to>
                                    </p:set>
                                    <p:animEffect transition="in" filter="wipe(down)">
                                      <p:cBhvr>
                                        <p:cTn id="37" dur="500"/>
                                        <p:tgtEl>
                                          <p:spTgt spid="261334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613344"/>
                                        </p:tgtEl>
                                        <p:attrNameLst>
                                          <p:attrName>style.visibility</p:attrName>
                                        </p:attrNameLst>
                                      </p:cBhvr>
                                      <p:to>
                                        <p:strVal val="visible"/>
                                      </p:to>
                                    </p:set>
                                    <p:animEffect transition="in" filter="wipe(down)">
                                      <p:cBhvr>
                                        <p:cTn id="42" dur="500"/>
                                        <p:tgtEl>
                                          <p:spTgt spid="261334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13347"/>
                                        </p:tgtEl>
                                        <p:attrNameLst>
                                          <p:attrName>style.visibility</p:attrName>
                                        </p:attrNameLst>
                                      </p:cBhvr>
                                      <p:to>
                                        <p:strVal val="visible"/>
                                      </p:to>
                                    </p:set>
                                    <p:animEffect transition="in" filter="wipe(down)">
                                      <p:cBhvr>
                                        <p:cTn id="47" dur="500"/>
                                        <p:tgtEl>
                                          <p:spTgt spid="261334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613350"/>
                                        </p:tgtEl>
                                        <p:attrNameLst>
                                          <p:attrName>style.visibility</p:attrName>
                                        </p:attrNameLst>
                                      </p:cBhvr>
                                      <p:to>
                                        <p:strVal val="visible"/>
                                      </p:to>
                                    </p:set>
                                    <p:animEffect transition="in" filter="wipe(down)">
                                      <p:cBhvr>
                                        <p:cTn id="52" dur="500"/>
                                        <p:tgtEl>
                                          <p:spTgt spid="261335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613351"/>
                                        </p:tgtEl>
                                        <p:attrNameLst>
                                          <p:attrName>style.visibility</p:attrName>
                                        </p:attrNameLst>
                                      </p:cBhvr>
                                      <p:to>
                                        <p:strVal val="visible"/>
                                      </p:to>
                                    </p:set>
                                    <p:animEffect transition="in" filter="wipe(down)">
                                      <p:cBhvr>
                                        <p:cTn id="57" dur="500"/>
                                        <p:tgtEl>
                                          <p:spTgt spid="26133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2613352"/>
                                        </p:tgtEl>
                                        <p:attrNameLst>
                                          <p:attrName>style.visibility</p:attrName>
                                        </p:attrNameLst>
                                      </p:cBhvr>
                                      <p:to>
                                        <p:strVal val="visible"/>
                                      </p:to>
                                    </p:set>
                                    <p:animEffect transition="in" filter="wipe(up)">
                                      <p:cBhvr>
                                        <p:cTn id="62" dur="500"/>
                                        <p:tgtEl>
                                          <p:spTgt spid="261335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2613353"/>
                                        </p:tgtEl>
                                        <p:attrNameLst>
                                          <p:attrName>style.visibility</p:attrName>
                                        </p:attrNameLst>
                                      </p:cBhvr>
                                      <p:to>
                                        <p:strVal val="visible"/>
                                      </p:to>
                                    </p:set>
                                    <p:animEffect transition="in" filter="wipe(right)">
                                      <p:cBhvr>
                                        <p:cTn id="67" dur="500"/>
                                        <p:tgtEl>
                                          <p:spTgt spid="2613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3282" grpId="0"/>
      <p:bldP spid="2613350" grpId="0" autoUpdateAnimBg="0"/>
      <p:bldP spid="2613351"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 name="日期占位符 3"/>
          <p:cNvSpPr>
            <a:spLocks noGrp="1"/>
          </p:cNvSpPr>
          <p:nvPr>
            <p:ph type="dt" sz="half" idx="10"/>
          </p:nvPr>
        </p:nvSpPr>
        <p:spPr/>
        <p:txBody>
          <a:bodyPr/>
          <a:lstStyle/>
          <a:p>
            <a:fld id="{D963DCC4-9C3D-4CDE-B737-953BAC178F9B}" type="datetime1">
              <a:rPr lang="zh-CN" altLang="en-US"/>
              <a:pPr/>
              <a:t>2017/2/24</a:t>
            </a:fld>
            <a:endParaRPr lang="en-US" altLang="zh-CN"/>
          </a:p>
        </p:txBody>
      </p:sp>
      <p:sp>
        <p:nvSpPr>
          <p:cNvPr id="108" name="灯片编号占位符 5"/>
          <p:cNvSpPr>
            <a:spLocks noGrp="1"/>
          </p:cNvSpPr>
          <p:nvPr>
            <p:ph type="sldNum" sz="quarter" idx="12"/>
          </p:nvPr>
        </p:nvSpPr>
        <p:spPr/>
        <p:txBody>
          <a:bodyPr/>
          <a:lstStyle/>
          <a:p>
            <a:fld id="{483ABCAC-1A4F-4070-A401-65486EFCCA77}" type="slidenum">
              <a:rPr lang="en-US" altLang="zh-CN"/>
              <a:pPr/>
              <a:t>79</a:t>
            </a:fld>
            <a:endParaRPr lang="en-US" altLang="zh-CN"/>
          </a:p>
        </p:txBody>
      </p:sp>
      <p:grpSp>
        <p:nvGrpSpPr>
          <p:cNvPr id="2615298" name="Group 2"/>
          <p:cNvGrpSpPr>
            <a:grpSpLocks/>
          </p:cNvGrpSpPr>
          <p:nvPr/>
        </p:nvGrpSpPr>
        <p:grpSpPr bwMode="auto">
          <a:xfrm>
            <a:off x="1219200" y="6172200"/>
            <a:ext cx="2590800" cy="304800"/>
            <a:chOff x="2256" y="2640"/>
            <a:chExt cx="1632" cy="192"/>
          </a:xfrm>
        </p:grpSpPr>
        <p:sp>
          <p:nvSpPr>
            <p:cNvPr id="2615299"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5300" name="Rectangle 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15301" name="Rectangle 5"/>
          <p:cNvSpPr>
            <a:spLocks noChangeArrowheads="1"/>
          </p:cNvSpPr>
          <p:nvPr/>
        </p:nvSpPr>
        <p:spPr bwMode="auto">
          <a:xfrm>
            <a:off x="1752600" y="58674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5302" name="Rectangle 6"/>
          <p:cNvSpPr>
            <a:spLocks noChangeArrowheads="1"/>
          </p:cNvSpPr>
          <p:nvPr/>
        </p:nvSpPr>
        <p:spPr bwMode="auto">
          <a:xfrm>
            <a:off x="1219200" y="58674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grpSp>
        <p:nvGrpSpPr>
          <p:cNvPr id="2615303" name="Group 7"/>
          <p:cNvGrpSpPr>
            <a:grpSpLocks/>
          </p:cNvGrpSpPr>
          <p:nvPr/>
        </p:nvGrpSpPr>
        <p:grpSpPr bwMode="auto">
          <a:xfrm>
            <a:off x="1219200" y="5562600"/>
            <a:ext cx="2590800" cy="304800"/>
            <a:chOff x="2256" y="2640"/>
            <a:chExt cx="1632" cy="192"/>
          </a:xfrm>
        </p:grpSpPr>
        <p:sp>
          <p:nvSpPr>
            <p:cNvPr id="2615304" name="Rectangle 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5305" name="Rectangle 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15306" name="Group 10"/>
          <p:cNvGrpSpPr>
            <a:grpSpLocks/>
          </p:cNvGrpSpPr>
          <p:nvPr/>
        </p:nvGrpSpPr>
        <p:grpSpPr bwMode="auto">
          <a:xfrm>
            <a:off x="1219200" y="5257800"/>
            <a:ext cx="2590800" cy="304800"/>
            <a:chOff x="2256" y="2640"/>
            <a:chExt cx="1632" cy="192"/>
          </a:xfrm>
        </p:grpSpPr>
        <p:sp>
          <p:nvSpPr>
            <p:cNvPr id="2615307" name="Rectangle 11"/>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15308" name="Rectangle 12"/>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15309" name="Group 13"/>
          <p:cNvGrpSpPr>
            <a:grpSpLocks/>
          </p:cNvGrpSpPr>
          <p:nvPr/>
        </p:nvGrpSpPr>
        <p:grpSpPr bwMode="auto">
          <a:xfrm>
            <a:off x="1219200" y="4953000"/>
            <a:ext cx="2590800" cy="304800"/>
            <a:chOff x="2256" y="2640"/>
            <a:chExt cx="1632" cy="192"/>
          </a:xfrm>
        </p:grpSpPr>
        <p:sp>
          <p:nvSpPr>
            <p:cNvPr id="2615310" name="Rectangle 14"/>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15311" name="Rectangle 15"/>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15312" name="Group 16"/>
          <p:cNvGrpSpPr>
            <a:grpSpLocks/>
          </p:cNvGrpSpPr>
          <p:nvPr/>
        </p:nvGrpSpPr>
        <p:grpSpPr bwMode="auto">
          <a:xfrm>
            <a:off x="1219200" y="4648200"/>
            <a:ext cx="2590800" cy="304800"/>
            <a:chOff x="2256" y="2640"/>
            <a:chExt cx="1632" cy="192"/>
          </a:xfrm>
        </p:grpSpPr>
        <p:sp>
          <p:nvSpPr>
            <p:cNvPr id="2615313" name="Rectangle 17"/>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5314" name="Rectangle 18"/>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15315" name="Rectangle 19"/>
          <p:cNvSpPr>
            <a:spLocks noChangeArrowheads="1"/>
          </p:cNvSpPr>
          <p:nvPr/>
        </p:nvSpPr>
        <p:spPr bwMode="auto">
          <a:xfrm>
            <a:off x="1752600" y="4343400"/>
            <a:ext cx="2057400" cy="304800"/>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5316" name="Rectangle 20"/>
          <p:cNvSpPr>
            <a:spLocks noChangeArrowheads="1"/>
          </p:cNvSpPr>
          <p:nvPr/>
        </p:nvSpPr>
        <p:spPr bwMode="auto">
          <a:xfrm>
            <a:off x="1219200" y="4343400"/>
            <a:ext cx="533400" cy="3048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15317" name="Group 21"/>
          <p:cNvGrpSpPr>
            <a:grpSpLocks/>
          </p:cNvGrpSpPr>
          <p:nvPr/>
        </p:nvGrpSpPr>
        <p:grpSpPr bwMode="auto">
          <a:xfrm>
            <a:off x="1219200" y="4038600"/>
            <a:ext cx="2590800" cy="304800"/>
            <a:chOff x="2256" y="2640"/>
            <a:chExt cx="1632" cy="192"/>
          </a:xfrm>
        </p:grpSpPr>
        <p:sp>
          <p:nvSpPr>
            <p:cNvPr id="2615318" name="Rectangle 22"/>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5319" name="Rectangle 23"/>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15320" name="Group 24"/>
          <p:cNvGrpSpPr>
            <a:grpSpLocks/>
          </p:cNvGrpSpPr>
          <p:nvPr/>
        </p:nvGrpSpPr>
        <p:grpSpPr bwMode="auto">
          <a:xfrm>
            <a:off x="1219200" y="3733800"/>
            <a:ext cx="2590800" cy="304800"/>
            <a:chOff x="2256" y="2640"/>
            <a:chExt cx="1632" cy="192"/>
          </a:xfrm>
        </p:grpSpPr>
        <p:sp>
          <p:nvSpPr>
            <p:cNvPr id="2615321" name="Rectangle 25"/>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5322" name="Rectangle 26"/>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15323" name="Group 27"/>
          <p:cNvGrpSpPr>
            <a:grpSpLocks/>
          </p:cNvGrpSpPr>
          <p:nvPr/>
        </p:nvGrpSpPr>
        <p:grpSpPr bwMode="auto">
          <a:xfrm>
            <a:off x="1219200" y="3429000"/>
            <a:ext cx="2590800" cy="304800"/>
            <a:chOff x="2256" y="2640"/>
            <a:chExt cx="1632" cy="192"/>
          </a:xfrm>
        </p:grpSpPr>
        <p:sp>
          <p:nvSpPr>
            <p:cNvPr id="2615324" name="Rectangle 2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5325" name="Rectangle 29"/>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9</a:t>
              </a:r>
            </a:p>
          </p:txBody>
        </p:sp>
      </p:grpSp>
      <p:grpSp>
        <p:nvGrpSpPr>
          <p:cNvPr id="2615326" name="Group 30"/>
          <p:cNvGrpSpPr>
            <a:grpSpLocks/>
          </p:cNvGrpSpPr>
          <p:nvPr/>
        </p:nvGrpSpPr>
        <p:grpSpPr bwMode="auto">
          <a:xfrm>
            <a:off x="1219200" y="3124200"/>
            <a:ext cx="2590800" cy="304800"/>
            <a:chOff x="2256" y="2640"/>
            <a:chExt cx="1632" cy="192"/>
          </a:xfrm>
        </p:grpSpPr>
        <p:sp>
          <p:nvSpPr>
            <p:cNvPr id="2615327" name="Rectangle 31"/>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5328" name="Rectangle 32"/>
            <p:cNvSpPr>
              <a:spLocks noChangeArrowheads="1"/>
            </p:cNvSpPr>
            <p:nvPr/>
          </p:nvSpPr>
          <p:spPr bwMode="auto">
            <a:xfrm>
              <a:off x="2256" y="2640"/>
              <a:ext cx="336" cy="192"/>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10</a:t>
              </a:r>
            </a:p>
          </p:txBody>
        </p:sp>
      </p:grpSp>
      <p:sp>
        <p:nvSpPr>
          <p:cNvPr id="2615329" name="Rectangle 33"/>
          <p:cNvSpPr>
            <a:spLocks noChangeArrowheads="1"/>
          </p:cNvSpPr>
          <p:nvPr/>
        </p:nvSpPr>
        <p:spPr bwMode="auto">
          <a:xfrm>
            <a:off x="381000" y="6477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15330" name="Freeform 34"/>
          <p:cNvSpPr>
            <a:spLocks/>
          </p:cNvSpPr>
          <p:nvPr/>
        </p:nvSpPr>
        <p:spPr bwMode="auto">
          <a:xfrm>
            <a:off x="1143000" y="48006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5331" name="Rectangle 35"/>
          <p:cNvSpPr>
            <a:spLocks noChangeArrowheads="1"/>
          </p:cNvSpPr>
          <p:nvPr/>
        </p:nvSpPr>
        <p:spPr bwMode="auto">
          <a:xfrm>
            <a:off x="3657600" y="6477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静态链</a:t>
            </a:r>
          </a:p>
        </p:txBody>
      </p:sp>
      <p:sp>
        <p:nvSpPr>
          <p:cNvPr id="2615332" name="Freeform 36"/>
          <p:cNvSpPr>
            <a:spLocks/>
          </p:cNvSpPr>
          <p:nvPr/>
        </p:nvSpPr>
        <p:spPr bwMode="auto">
          <a:xfrm>
            <a:off x="3810000" y="4191000"/>
            <a:ext cx="457200" cy="21336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5333" name="Rectangle 37"/>
          <p:cNvSpPr>
            <a:spLocks noGrp="1" noChangeArrowheads="1"/>
          </p:cNvSpPr>
          <p:nvPr>
            <p:ph type="title"/>
          </p:nvPr>
        </p:nvSpPr>
        <p:spPr>
          <a:xfrm>
            <a:off x="762000" y="304800"/>
            <a:ext cx="8382000" cy="800100"/>
          </a:xfrm>
          <a:noFill/>
          <a:ln/>
        </p:spPr>
        <p:txBody>
          <a:bodyPr lIns="92075" tIns="46038" rIns="92075" bIns="46038"/>
          <a:lstStyle/>
          <a:p>
            <a:pPr>
              <a:buClr>
                <a:schemeClr val="tx1"/>
              </a:buClr>
              <a:buSzPct val="75000"/>
              <a:buFont typeface="Wingdings" panose="05000000000000000000" pitchFamily="2" charset="2"/>
              <a:buChar char="l"/>
            </a:pP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339933"/>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p>
        </p:txBody>
      </p:sp>
      <p:grpSp>
        <p:nvGrpSpPr>
          <p:cNvPr id="2615334" name="Group 38"/>
          <p:cNvGrpSpPr>
            <a:grpSpLocks/>
          </p:cNvGrpSpPr>
          <p:nvPr/>
        </p:nvGrpSpPr>
        <p:grpSpPr bwMode="auto">
          <a:xfrm>
            <a:off x="1219200" y="2819400"/>
            <a:ext cx="2590800" cy="304800"/>
            <a:chOff x="2256" y="2640"/>
            <a:chExt cx="1632" cy="192"/>
          </a:xfrm>
        </p:grpSpPr>
        <p:sp>
          <p:nvSpPr>
            <p:cNvPr id="2615335" name="Rectangle 39"/>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15336" name="Rectangle 40"/>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sp>
        <p:nvSpPr>
          <p:cNvPr id="2615337" name="Rectangle 41"/>
          <p:cNvSpPr>
            <a:spLocks noChangeArrowheads="1"/>
          </p:cNvSpPr>
          <p:nvPr/>
        </p:nvSpPr>
        <p:spPr bwMode="auto">
          <a:xfrm>
            <a:off x="1752600" y="2514600"/>
            <a:ext cx="2057400" cy="304800"/>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5338" name="Rectangle 42"/>
          <p:cNvSpPr>
            <a:spLocks noChangeArrowheads="1"/>
          </p:cNvSpPr>
          <p:nvPr/>
        </p:nvSpPr>
        <p:spPr bwMode="auto">
          <a:xfrm>
            <a:off x="1219200" y="2514600"/>
            <a:ext cx="533400" cy="304800"/>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nvGrpSpPr>
          <p:cNvPr id="2615339" name="Group 43"/>
          <p:cNvGrpSpPr>
            <a:grpSpLocks/>
          </p:cNvGrpSpPr>
          <p:nvPr/>
        </p:nvGrpSpPr>
        <p:grpSpPr bwMode="auto">
          <a:xfrm>
            <a:off x="1219200" y="2209800"/>
            <a:ext cx="2590800" cy="304800"/>
            <a:chOff x="2256" y="2640"/>
            <a:chExt cx="1632" cy="192"/>
          </a:xfrm>
        </p:grpSpPr>
        <p:sp>
          <p:nvSpPr>
            <p:cNvPr id="2615340" name="Rectangle 44"/>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5341" name="Rectangle 45"/>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grpSp>
        <p:nvGrpSpPr>
          <p:cNvPr id="2615342" name="Group 46"/>
          <p:cNvGrpSpPr>
            <a:grpSpLocks/>
          </p:cNvGrpSpPr>
          <p:nvPr/>
        </p:nvGrpSpPr>
        <p:grpSpPr bwMode="auto">
          <a:xfrm>
            <a:off x="1219200" y="1905000"/>
            <a:ext cx="2590800" cy="304800"/>
            <a:chOff x="2256" y="2640"/>
            <a:chExt cx="1632" cy="192"/>
          </a:xfrm>
        </p:grpSpPr>
        <p:sp>
          <p:nvSpPr>
            <p:cNvPr id="2615343" name="Rectangle 47"/>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5344" name="Rectangle 48"/>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grpSp>
        <p:nvGrpSpPr>
          <p:cNvPr id="2615345" name="Group 49"/>
          <p:cNvGrpSpPr>
            <a:grpSpLocks/>
          </p:cNvGrpSpPr>
          <p:nvPr/>
        </p:nvGrpSpPr>
        <p:grpSpPr bwMode="auto">
          <a:xfrm>
            <a:off x="1219200" y="1600200"/>
            <a:ext cx="2590800" cy="304800"/>
            <a:chOff x="2256" y="2640"/>
            <a:chExt cx="1632" cy="192"/>
          </a:xfrm>
        </p:grpSpPr>
        <p:sp>
          <p:nvSpPr>
            <p:cNvPr id="2615346" name="Rectangle 50"/>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15347" name="Rectangle 51"/>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15348" name="Group 52"/>
          <p:cNvGrpSpPr>
            <a:grpSpLocks/>
          </p:cNvGrpSpPr>
          <p:nvPr/>
        </p:nvGrpSpPr>
        <p:grpSpPr bwMode="auto">
          <a:xfrm>
            <a:off x="1219200" y="1295400"/>
            <a:ext cx="2590800" cy="304800"/>
            <a:chOff x="2256" y="2640"/>
            <a:chExt cx="1632" cy="192"/>
          </a:xfrm>
        </p:grpSpPr>
        <p:sp>
          <p:nvSpPr>
            <p:cNvPr id="2615349" name="Rectangle 53"/>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5350" name="Rectangle 54"/>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sp>
        <p:nvSpPr>
          <p:cNvPr id="2615351" name="Freeform 55"/>
          <p:cNvSpPr>
            <a:spLocks/>
          </p:cNvSpPr>
          <p:nvPr/>
        </p:nvSpPr>
        <p:spPr bwMode="auto">
          <a:xfrm>
            <a:off x="1143000" y="26670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5352" name="Freeform 56"/>
          <p:cNvSpPr>
            <a:spLocks/>
          </p:cNvSpPr>
          <p:nvPr/>
        </p:nvSpPr>
        <p:spPr bwMode="auto">
          <a:xfrm>
            <a:off x="3810000" y="2362200"/>
            <a:ext cx="457200" cy="3962400"/>
          </a:xfrm>
          <a:custGeom>
            <a:avLst/>
            <a:gdLst>
              <a:gd name="T0" fmla="*/ 0 w 288"/>
              <a:gd name="T1" fmla="*/ 0 h 1344"/>
              <a:gd name="T2" fmla="*/ 288 w 288"/>
              <a:gd name="T3" fmla="*/ 0 h 1344"/>
              <a:gd name="T4" fmla="*/ 288 w 288"/>
              <a:gd name="T5" fmla="*/ 1344 h 1344"/>
              <a:gd name="T6" fmla="*/ 0 w 288"/>
              <a:gd name="T7" fmla="*/ 1344 h 1344"/>
            </a:gdLst>
            <a:ahLst/>
            <a:cxnLst>
              <a:cxn ang="0">
                <a:pos x="T0" y="T1"/>
              </a:cxn>
              <a:cxn ang="0">
                <a:pos x="T2" y="T3"/>
              </a:cxn>
              <a:cxn ang="0">
                <a:pos x="T4" y="T5"/>
              </a:cxn>
              <a:cxn ang="0">
                <a:pos x="T6" y="T7"/>
              </a:cxn>
            </a:cxnLst>
            <a:rect l="0" t="0" r="r" b="b"/>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15353" name="Group 57"/>
          <p:cNvGrpSpPr>
            <a:grpSpLocks/>
          </p:cNvGrpSpPr>
          <p:nvPr/>
        </p:nvGrpSpPr>
        <p:grpSpPr bwMode="auto">
          <a:xfrm>
            <a:off x="5867400" y="6172200"/>
            <a:ext cx="2590800" cy="304800"/>
            <a:chOff x="2256" y="2640"/>
            <a:chExt cx="1632" cy="192"/>
          </a:xfrm>
        </p:grpSpPr>
        <p:sp>
          <p:nvSpPr>
            <p:cNvPr id="2615354" name="Rectangle 58"/>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5355" name="Rectangle 59"/>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grpSp>
      <p:sp>
        <p:nvSpPr>
          <p:cNvPr id="2615356" name="Rectangle 60"/>
          <p:cNvSpPr>
            <a:spLocks noChangeArrowheads="1"/>
          </p:cNvSpPr>
          <p:nvPr/>
        </p:nvSpPr>
        <p:spPr bwMode="auto">
          <a:xfrm>
            <a:off x="6400800" y="5867400"/>
            <a:ext cx="2057400" cy="304800"/>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5357" name="Rectangle 61"/>
          <p:cNvSpPr>
            <a:spLocks noChangeArrowheads="1"/>
          </p:cNvSpPr>
          <p:nvPr/>
        </p:nvSpPr>
        <p:spPr bwMode="auto">
          <a:xfrm>
            <a:off x="5867400" y="5867400"/>
            <a:ext cx="533400" cy="304800"/>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18</a:t>
            </a:r>
          </a:p>
        </p:txBody>
      </p:sp>
      <p:grpSp>
        <p:nvGrpSpPr>
          <p:cNvPr id="2615358" name="Group 62"/>
          <p:cNvGrpSpPr>
            <a:grpSpLocks/>
          </p:cNvGrpSpPr>
          <p:nvPr/>
        </p:nvGrpSpPr>
        <p:grpSpPr bwMode="auto">
          <a:xfrm>
            <a:off x="5867400" y="5562600"/>
            <a:ext cx="2590800" cy="304800"/>
            <a:chOff x="2256" y="2640"/>
            <a:chExt cx="1632" cy="192"/>
          </a:xfrm>
        </p:grpSpPr>
        <p:sp>
          <p:nvSpPr>
            <p:cNvPr id="2615359" name="Rectangle 63"/>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sp>
          <p:nvSpPr>
            <p:cNvPr id="2615360" name="Rectangle 64"/>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19</a:t>
              </a:r>
            </a:p>
          </p:txBody>
        </p:sp>
      </p:grpSp>
      <p:grpSp>
        <p:nvGrpSpPr>
          <p:cNvPr id="2615361" name="Group 65"/>
          <p:cNvGrpSpPr>
            <a:grpSpLocks/>
          </p:cNvGrpSpPr>
          <p:nvPr/>
        </p:nvGrpSpPr>
        <p:grpSpPr bwMode="auto">
          <a:xfrm>
            <a:off x="5867400" y="5257800"/>
            <a:ext cx="2590800" cy="304800"/>
            <a:chOff x="2256" y="2640"/>
            <a:chExt cx="1632" cy="192"/>
          </a:xfrm>
        </p:grpSpPr>
        <p:sp>
          <p:nvSpPr>
            <p:cNvPr id="2615362" name="Rectangle 6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5363" name="Rectangle 67"/>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20</a:t>
              </a:r>
            </a:p>
          </p:txBody>
        </p:sp>
      </p:grpSp>
      <p:grpSp>
        <p:nvGrpSpPr>
          <p:cNvPr id="2615364" name="Group 68"/>
          <p:cNvGrpSpPr>
            <a:grpSpLocks/>
          </p:cNvGrpSpPr>
          <p:nvPr/>
        </p:nvGrpSpPr>
        <p:grpSpPr bwMode="auto">
          <a:xfrm>
            <a:off x="5867400" y="4953000"/>
            <a:ext cx="2590800" cy="304800"/>
            <a:chOff x="2256" y="2640"/>
            <a:chExt cx="1632" cy="192"/>
          </a:xfrm>
        </p:grpSpPr>
        <p:sp>
          <p:nvSpPr>
            <p:cNvPr id="2615365" name="Rectangle 6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15366" name="Rectangle 70"/>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21</a:t>
              </a:r>
            </a:p>
          </p:txBody>
        </p:sp>
      </p:grpSp>
      <p:grpSp>
        <p:nvGrpSpPr>
          <p:cNvPr id="2615367" name="Group 71"/>
          <p:cNvGrpSpPr>
            <a:grpSpLocks/>
          </p:cNvGrpSpPr>
          <p:nvPr/>
        </p:nvGrpSpPr>
        <p:grpSpPr bwMode="auto">
          <a:xfrm>
            <a:off x="5867400" y="4648200"/>
            <a:ext cx="2590800" cy="304800"/>
            <a:chOff x="2256" y="2640"/>
            <a:chExt cx="1632" cy="192"/>
          </a:xfrm>
        </p:grpSpPr>
        <p:sp>
          <p:nvSpPr>
            <p:cNvPr id="2615368" name="Rectangle 7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15369" name="Rectangle 73"/>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22</a:t>
              </a:r>
            </a:p>
          </p:txBody>
        </p:sp>
      </p:grpSp>
      <p:grpSp>
        <p:nvGrpSpPr>
          <p:cNvPr id="2615370" name="Group 74"/>
          <p:cNvGrpSpPr>
            <a:grpSpLocks/>
          </p:cNvGrpSpPr>
          <p:nvPr/>
        </p:nvGrpSpPr>
        <p:grpSpPr bwMode="auto">
          <a:xfrm>
            <a:off x="5867400" y="4343400"/>
            <a:ext cx="2590800" cy="304800"/>
            <a:chOff x="2256" y="2640"/>
            <a:chExt cx="1632" cy="192"/>
          </a:xfrm>
        </p:grpSpPr>
        <p:sp>
          <p:nvSpPr>
            <p:cNvPr id="2615371" name="Rectangle 75"/>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15372" name="Rectangle 76"/>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23</a:t>
              </a:r>
            </a:p>
          </p:txBody>
        </p:sp>
      </p:grpSp>
      <p:grpSp>
        <p:nvGrpSpPr>
          <p:cNvPr id="2615373" name="Group 77"/>
          <p:cNvGrpSpPr>
            <a:grpSpLocks/>
          </p:cNvGrpSpPr>
          <p:nvPr/>
        </p:nvGrpSpPr>
        <p:grpSpPr bwMode="auto">
          <a:xfrm>
            <a:off x="5867400" y="4038600"/>
            <a:ext cx="2590800" cy="304800"/>
            <a:chOff x="2256" y="2640"/>
            <a:chExt cx="1632" cy="192"/>
          </a:xfrm>
        </p:grpSpPr>
        <p:sp>
          <p:nvSpPr>
            <p:cNvPr id="2615374" name="Rectangle 78"/>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15375" name="Rectangle 79"/>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24</a:t>
              </a:r>
            </a:p>
          </p:txBody>
        </p:sp>
      </p:grpSp>
      <p:sp>
        <p:nvSpPr>
          <p:cNvPr id="2615376" name="Freeform 80"/>
          <p:cNvSpPr>
            <a:spLocks/>
          </p:cNvSpPr>
          <p:nvPr/>
        </p:nvSpPr>
        <p:spPr bwMode="auto">
          <a:xfrm>
            <a:off x="3810000" y="2971800"/>
            <a:ext cx="2590800" cy="2743200"/>
          </a:xfrm>
          <a:custGeom>
            <a:avLst/>
            <a:gdLst>
              <a:gd name="T0" fmla="*/ 1632 w 1632"/>
              <a:gd name="T1" fmla="*/ 1728 h 1728"/>
              <a:gd name="T2" fmla="*/ 432 w 1632"/>
              <a:gd name="T3" fmla="*/ 1728 h 1728"/>
              <a:gd name="T4" fmla="*/ 432 w 1632"/>
              <a:gd name="T5" fmla="*/ 0 h 1728"/>
              <a:gd name="T6" fmla="*/ 0 w 1632"/>
              <a:gd name="T7" fmla="*/ 0 h 1728"/>
            </a:gdLst>
            <a:ahLst/>
            <a:cxnLst>
              <a:cxn ang="0">
                <a:pos x="T0" y="T1"/>
              </a:cxn>
              <a:cxn ang="0">
                <a:pos x="T2" y="T3"/>
              </a:cxn>
              <a:cxn ang="0">
                <a:pos x="T4" y="T5"/>
              </a:cxn>
              <a:cxn ang="0">
                <a:pos x="T6" y="T7"/>
              </a:cxn>
            </a:cxnLst>
            <a:rect l="0" t="0" r="r" b="b"/>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5377" name="Freeform 81"/>
          <p:cNvSpPr>
            <a:spLocks/>
          </p:cNvSpPr>
          <p:nvPr/>
        </p:nvSpPr>
        <p:spPr bwMode="auto">
          <a:xfrm>
            <a:off x="3886200" y="2895600"/>
            <a:ext cx="2133600" cy="3733800"/>
          </a:xfrm>
          <a:custGeom>
            <a:avLst/>
            <a:gdLst>
              <a:gd name="T0" fmla="*/ 1344 w 1344"/>
              <a:gd name="T1" fmla="*/ 2208 h 2352"/>
              <a:gd name="T2" fmla="*/ 1248 w 1344"/>
              <a:gd name="T3" fmla="*/ 2352 h 2352"/>
              <a:gd name="T4" fmla="*/ 672 w 1344"/>
              <a:gd name="T5" fmla="*/ 2352 h 2352"/>
              <a:gd name="T6" fmla="*/ 672 w 1344"/>
              <a:gd name="T7" fmla="*/ 0 h 2352"/>
              <a:gd name="T8" fmla="*/ 0 w 1344"/>
              <a:gd name="T9" fmla="*/ 0 h 2352"/>
            </a:gdLst>
            <a:ahLst/>
            <a:cxnLst>
              <a:cxn ang="0">
                <a:pos x="T0" y="T1"/>
              </a:cxn>
              <a:cxn ang="0">
                <a:pos x="T2" y="T3"/>
              </a:cxn>
              <a:cxn ang="0">
                <a:pos x="T4" y="T5"/>
              </a:cxn>
              <a:cxn ang="0">
                <a:pos x="T6" y="T7"/>
              </a:cxn>
              <a:cxn ang="0">
                <a:pos x="T8" y="T9"/>
              </a:cxn>
            </a:cxnLst>
            <a:rect l="0" t="0" r="r" b="b"/>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5378" name="Rectangle 82"/>
          <p:cNvSpPr>
            <a:spLocks noChangeArrowheads="1"/>
          </p:cNvSpPr>
          <p:nvPr/>
        </p:nvSpPr>
        <p:spPr bwMode="auto">
          <a:xfrm>
            <a:off x="4572000" y="220503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15379" name="Rectangle 83"/>
          <p:cNvSpPr>
            <a:spLocks noChangeArrowheads="1"/>
          </p:cNvSpPr>
          <p:nvPr/>
        </p:nvSpPr>
        <p:spPr bwMode="auto">
          <a:xfrm>
            <a:off x="4643438" y="37338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15380" name="Freeform 84"/>
          <p:cNvSpPr>
            <a:spLocks/>
          </p:cNvSpPr>
          <p:nvPr/>
        </p:nvSpPr>
        <p:spPr bwMode="auto">
          <a:xfrm>
            <a:off x="5715000" y="3962400"/>
            <a:ext cx="228600" cy="23622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15381" name="Group 85"/>
          <p:cNvGrpSpPr>
            <a:grpSpLocks/>
          </p:cNvGrpSpPr>
          <p:nvPr/>
        </p:nvGrpSpPr>
        <p:grpSpPr bwMode="auto">
          <a:xfrm>
            <a:off x="5867400" y="3729038"/>
            <a:ext cx="2590800" cy="304800"/>
            <a:chOff x="2256" y="2640"/>
            <a:chExt cx="1632" cy="192"/>
          </a:xfrm>
        </p:grpSpPr>
        <p:sp>
          <p:nvSpPr>
            <p:cNvPr id="2615382" name="Rectangle 8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sp>
          <p:nvSpPr>
            <p:cNvPr id="2615383" name="Rectangle 87"/>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25</a:t>
              </a:r>
            </a:p>
          </p:txBody>
        </p:sp>
      </p:grpSp>
      <p:grpSp>
        <p:nvGrpSpPr>
          <p:cNvPr id="2615384" name="Group 88"/>
          <p:cNvGrpSpPr>
            <a:grpSpLocks/>
          </p:cNvGrpSpPr>
          <p:nvPr/>
        </p:nvGrpSpPr>
        <p:grpSpPr bwMode="auto">
          <a:xfrm>
            <a:off x="5867400" y="3424238"/>
            <a:ext cx="2590800" cy="304800"/>
            <a:chOff x="3696" y="2157"/>
            <a:chExt cx="1632" cy="192"/>
          </a:xfrm>
        </p:grpSpPr>
        <p:sp>
          <p:nvSpPr>
            <p:cNvPr id="2615385" name="Rectangle 89"/>
            <p:cNvSpPr>
              <a:spLocks noChangeArrowheads="1"/>
            </p:cNvSpPr>
            <p:nvPr/>
          </p:nvSpPr>
          <p:spPr bwMode="auto">
            <a:xfrm>
              <a:off x="4032" y="2157"/>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15386" name="Rectangle 90"/>
            <p:cNvSpPr>
              <a:spLocks noChangeArrowheads="1"/>
            </p:cNvSpPr>
            <p:nvPr/>
          </p:nvSpPr>
          <p:spPr bwMode="auto">
            <a:xfrm>
              <a:off x="3696" y="2157"/>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26</a:t>
              </a:r>
            </a:p>
          </p:txBody>
        </p:sp>
      </p:grpSp>
      <p:grpSp>
        <p:nvGrpSpPr>
          <p:cNvPr id="2615387" name="Group 91"/>
          <p:cNvGrpSpPr>
            <a:grpSpLocks/>
          </p:cNvGrpSpPr>
          <p:nvPr/>
        </p:nvGrpSpPr>
        <p:grpSpPr bwMode="auto">
          <a:xfrm>
            <a:off x="5867400" y="3119438"/>
            <a:ext cx="2590800" cy="304800"/>
            <a:chOff x="2256" y="2640"/>
            <a:chExt cx="1632" cy="192"/>
          </a:xfrm>
        </p:grpSpPr>
        <p:sp>
          <p:nvSpPr>
            <p:cNvPr id="2615388" name="Rectangle 92"/>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15389" name="Rectangle 93"/>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27</a:t>
              </a:r>
            </a:p>
          </p:txBody>
        </p:sp>
      </p:grpSp>
      <p:grpSp>
        <p:nvGrpSpPr>
          <p:cNvPr id="2615390" name="Group 94"/>
          <p:cNvGrpSpPr>
            <a:grpSpLocks/>
          </p:cNvGrpSpPr>
          <p:nvPr/>
        </p:nvGrpSpPr>
        <p:grpSpPr bwMode="auto">
          <a:xfrm>
            <a:off x="5867400" y="2814638"/>
            <a:ext cx="2590800" cy="304800"/>
            <a:chOff x="2256" y="2640"/>
            <a:chExt cx="1632" cy="192"/>
          </a:xfrm>
        </p:grpSpPr>
        <p:sp>
          <p:nvSpPr>
            <p:cNvPr id="2615391" name="Rectangle 95"/>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15392" name="Rectangle 96"/>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28</a:t>
              </a:r>
            </a:p>
          </p:txBody>
        </p:sp>
      </p:grpSp>
      <p:grpSp>
        <p:nvGrpSpPr>
          <p:cNvPr id="2615393" name="Group 97"/>
          <p:cNvGrpSpPr>
            <a:grpSpLocks/>
          </p:cNvGrpSpPr>
          <p:nvPr/>
        </p:nvGrpSpPr>
        <p:grpSpPr bwMode="auto">
          <a:xfrm>
            <a:off x="5867400" y="2509838"/>
            <a:ext cx="2590800" cy="304800"/>
            <a:chOff x="2256" y="2640"/>
            <a:chExt cx="1632" cy="192"/>
          </a:xfrm>
        </p:grpSpPr>
        <p:sp>
          <p:nvSpPr>
            <p:cNvPr id="2615394" name="Rectangle 98"/>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15395" name="Rectangle 99"/>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29</a:t>
              </a:r>
            </a:p>
          </p:txBody>
        </p:sp>
      </p:grpSp>
      <p:grpSp>
        <p:nvGrpSpPr>
          <p:cNvPr id="2615396" name="Group 100"/>
          <p:cNvGrpSpPr>
            <a:grpSpLocks/>
          </p:cNvGrpSpPr>
          <p:nvPr/>
        </p:nvGrpSpPr>
        <p:grpSpPr bwMode="auto">
          <a:xfrm>
            <a:off x="5867400" y="2205038"/>
            <a:ext cx="2590800" cy="304800"/>
            <a:chOff x="2256" y="2640"/>
            <a:chExt cx="1632" cy="192"/>
          </a:xfrm>
        </p:grpSpPr>
        <p:sp>
          <p:nvSpPr>
            <p:cNvPr id="2615397" name="Rectangle 101"/>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15398" name="Rectangle 102"/>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30</a:t>
              </a:r>
            </a:p>
          </p:txBody>
        </p:sp>
      </p:grpSp>
      <p:sp>
        <p:nvSpPr>
          <p:cNvPr id="2615399" name="Line 103"/>
          <p:cNvSpPr>
            <a:spLocks noChangeShapeType="1"/>
          </p:cNvSpPr>
          <p:nvPr/>
        </p:nvSpPr>
        <p:spPr bwMode="auto">
          <a:xfrm flipH="1">
            <a:off x="4284663" y="3284538"/>
            <a:ext cx="2087562" cy="1587"/>
          </a:xfrm>
          <a:prstGeom prst="line">
            <a:avLst/>
          </a:prstGeom>
          <a:noFill/>
          <a:ln w="19050">
            <a:solidFill>
              <a:srgbClr val="0000FF"/>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5400" name="Text Box 104"/>
          <p:cNvSpPr txBox="1">
            <a:spLocks noChangeArrowheads="1"/>
          </p:cNvSpPr>
          <p:nvPr/>
        </p:nvSpPr>
        <p:spPr bwMode="auto">
          <a:xfrm>
            <a:off x="5076825" y="928688"/>
            <a:ext cx="3673475" cy="1995487"/>
          </a:xfrm>
          <a:prstGeom prst="rect">
            <a:avLst/>
          </a:prstGeom>
          <a:solidFill>
            <a:srgbClr val="FFFF00"/>
          </a:solidFill>
          <a:ln w="12700">
            <a:solidFill>
              <a:srgbClr val="FF0000"/>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4000" b="1">
                <a:solidFill>
                  <a:srgbClr val="FF3300"/>
                </a:solidFill>
                <a:ea typeface="楷体_GB2312" pitchFamily="49" charset="-122"/>
              </a:rPr>
              <a:t>问：</a:t>
            </a:r>
            <a:r>
              <a:rPr kumimoji="1" lang="zh-CN" altLang="en-US" sz="2800" b="1">
                <a:ea typeface="楷体_GB2312" pitchFamily="49" charset="-122"/>
              </a:rPr>
              <a:t>第</a:t>
            </a:r>
            <a:r>
              <a:rPr kumimoji="1" lang="en-US" altLang="zh-CN" sz="2800" b="1">
                <a:ea typeface="楷体_GB2312" pitchFamily="49" charset="-122"/>
              </a:rPr>
              <a:t>N</a:t>
            </a:r>
            <a:r>
              <a:rPr kumimoji="1" lang="zh-CN" altLang="en-US" sz="2800" b="1">
                <a:ea typeface="楷体_GB2312" pitchFamily="49" charset="-122"/>
              </a:rPr>
              <a:t>层过程调用第 </a:t>
            </a:r>
            <a:r>
              <a:rPr kumimoji="1" lang="en-US" altLang="zh-CN" sz="2800" b="1">
                <a:ea typeface="楷体_GB2312" pitchFamily="49" charset="-122"/>
              </a:rPr>
              <a:t>N-x</a:t>
            </a:r>
            <a:r>
              <a:rPr kumimoji="1" lang="zh-CN" altLang="en-US" sz="2800" b="1">
                <a:ea typeface="楷体_GB2312" pitchFamily="49" charset="-122"/>
              </a:rPr>
              <a:t>层过程，如何确定被调用过程</a:t>
            </a:r>
            <a:r>
              <a:rPr kumimoji="1" lang="en-US" altLang="zh-CN" sz="2800" b="1">
                <a:ea typeface="楷体_GB2312" pitchFamily="49" charset="-122"/>
              </a:rPr>
              <a:t>(</a:t>
            </a:r>
            <a:r>
              <a:rPr kumimoji="1" lang="zh-CN" altLang="en-US" sz="2800" b="1">
                <a:ea typeface="楷体_GB2312" pitchFamily="49" charset="-122"/>
              </a:rPr>
              <a:t>第 </a:t>
            </a:r>
            <a:r>
              <a:rPr kumimoji="1" lang="en-US" altLang="zh-CN" sz="2800" b="1">
                <a:ea typeface="楷体_GB2312" pitchFamily="49" charset="-122"/>
              </a:rPr>
              <a:t>N-x</a:t>
            </a:r>
            <a:r>
              <a:rPr kumimoji="1" lang="zh-CN" altLang="en-US" sz="2800" b="1">
                <a:ea typeface="楷体_GB2312" pitchFamily="49" charset="-122"/>
              </a:rPr>
              <a:t>层</a:t>
            </a:r>
            <a:r>
              <a:rPr kumimoji="1" lang="en-US" altLang="zh-CN" sz="2800" b="1">
                <a:ea typeface="楷体_GB2312" pitchFamily="49" charset="-122"/>
              </a:rPr>
              <a:t>)</a:t>
            </a:r>
            <a:r>
              <a:rPr kumimoji="1" lang="zh-CN" altLang="en-US" sz="2800" b="1">
                <a:ea typeface="楷体_GB2312" pitchFamily="49" charset="-122"/>
              </a:rPr>
              <a:t>过程的静态链？</a:t>
            </a:r>
          </a:p>
        </p:txBody>
      </p:sp>
      <p:sp>
        <p:nvSpPr>
          <p:cNvPr id="2615401" name="Text Box 105"/>
          <p:cNvSpPr txBox="1">
            <a:spLocks noChangeArrowheads="1"/>
          </p:cNvSpPr>
          <p:nvPr/>
        </p:nvSpPr>
        <p:spPr bwMode="auto">
          <a:xfrm>
            <a:off x="4932363" y="928688"/>
            <a:ext cx="3743325" cy="1995487"/>
          </a:xfrm>
          <a:prstGeom prst="rect">
            <a:avLst/>
          </a:prstGeom>
          <a:solidFill>
            <a:srgbClr val="FFFF00"/>
          </a:solidFill>
          <a:ln w="12700">
            <a:solidFill>
              <a:srgbClr val="FF0000"/>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b="1">
                <a:solidFill>
                  <a:srgbClr val="FF3300"/>
                </a:solidFill>
                <a:ea typeface="楷体_GB2312" pitchFamily="49" charset="-122"/>
              </a:rPr>
              <a:t>答</a:t>
            </a:r>
            <a:r>
              <a:rPr lang="en-US" altLang="zh-CN" sz="4000" b="1">
                <a:solidFill>
                  <a:srgbClr val="FF3300"/>
                </a:solidFill>
                <a:ea typeface="楷体_GB2312" pitchFamily="49" charset="-122"/>
              </a:rPr>
              <a:t>:</a:t>
            </a:r>
            <a:r>
              <a:rPr lang="zh-CN" altLang="en-US" sz="2800" b="1">
                <a:ea typeface="楷体_GB2312" pitchFamily="49" charset="-122"/>
              </a:rPr>
              <a:t>沿着调用过程</a:t>
            </a:r>
            <a:r>
              <a:rPr lang="en-US" altLang="zh-CN" sz="2800" b="1">
                <a:ea typeface="楷体_GB2312" pitchFamily="49" charset="-122"/>
              </a:rPr>
              <a:t>(</a:t>
            </a:r>
            <a:r>
              <a:rPr lang="zh-CN" altLang="en-US" sz="2800" b="1">
                <a:ea typeface="楷体_GB2312" pitchFamily="49" charset="-122"/>
              </a:rPr>
              <a:t>第</a:t>
            </a:r>
            <a:r>
              <a:rPr lang="en-US" altLang="zh-CN" sz="2800" b="1">
                <a:ea typeface="楷体_GB2312" pitchFamily="49" charset="-122"/>
              </a:rPr>
              <a:t>N</a:t>
            </a:r>
            <a:r>
              <a:rPr lang="zh-CN" altLang="en-US" sz="2800" b="1">
                <a:ea typeface="楷体_GB2312" pitchFamily="49" charset="-122"/>
              </a:rPr>
              <a:t>层过程</a:t>
            </a:r>
            <a:r>
              <a:rPr lang="en-US" altLang="zh-CN" sz="2800" b="1">
                <a:ea typeface="楷体_GB2312" pitchFamily="49" charset="-122"/>
              </a:rPr>
              <a:t>)</a:t>
            </a:r>
            <a:r>
              <a:rPr lang="zh-CN" altLang="en-US" sz="2800" b="1">
                <a:ea typeface="楷体_GB2312" pitchFamily="49" charset="-122"/>
              </a:rPr>
              <a:t>的静态链向前走</a:t>
            </a:r>
            <a:r>
              <a:rPr lang="en-US" altLang="zh-CN" sz="2800" b="1">
                <a:ea typeface="楷体_GB2312" pitchFamily="49" charset="-122"/>
              </a:rPr>
              <a:t>x</a:t>
            </a:r>
            <a:r>
              <a:rPr lang="zh-CN" altLang="en-US" sz="2800" b="1">
                <a:ea typeface="楷体_GB2312" pitchFamily="49" charset="-122"/>
              </a:rPr>
              <a:t>步到达的活动记录的静态链的值。</a:t>
            </a:r>
          </a:p>
        </p:txBody>
      </p:sp>
    </p:spTree>
    <p:extLst>
      <p:ext uri="{BB962C8B-B14F-4D97-AF65-F5344CB8AC3E}">
        <p14:creationId xmlns:p14="http://schemas.microsoft.com/office/powerpoint/2010/main" val="3444829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15333"/>
                                        </p:tgtEl>
                                        <p:attrNameLst>
                                          <p:attrName>style.visibility</p:attrName>
                                        </p:attrNameLst>
                                      </p:cBhvr>
                                      <p:to>
                                        <p:strVal val="visible"/>
                                      </p:to>
                                    </p:set>
                                    <p:animEffect transition="in" filter="fade">
                                      <p:cBhvr>
                                        <p:cTn id="7" dur="2000"/>
                                        <p:tgtEl>
                                          <p:spTgt spid="2615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615381"/>
                                        </p:tgtEl>
                                        <p:attrNameLst>
                                          <p:attrName>style.visibility</p:attrName>
                                        </p:attrNameLst>
                                      </p:cBhvr>
                                      <p:to>
                                        <p:strVal val="visible"/>
                                      </p:to>
                                    </p:set>
                                    <p:animEffect transition="in" filter="fade">
                                      <p:cBhvr>
                                        <p:cTn id="12" dur="1000"/>
                                        <p:tgtEl>
                                          <p:spTgt spid="2615381"/>
                                        </p:tgtEl>
                                      </p:cBhvr>
                                    </p:animEffect>
                                    <p:anim calcmode="lin" valueType="num">
                                      <p:cBhvr>
                                        <p:cTn id="13" dur="1000" fill="hold"/>
                                        <p:tgtEl>
                                          <p:spTgt spid="2615381"/>
                                        </p:tgtEl>
                                        <p:attrNameLst>
                                          <p:attrName>ppt_x</p:attrName>
                                        </p:attrNameLst>
                                      </p:cBhvr>
                                      <p:tavLst>
                                        <p:tav tm="0">
                                          <p:val>
                                            <p:strVal val="#ppt_x"/>
                                          </p:val>
                                        </p:tav>
                                        <p:tav tm="100000">
                                          <p:val>
                                            <p:strVal val="#ppt_x"/>
                                          </p:val>
                                        </p:tav>
                                      </p:tavLst>
                                    </p:anim>
                                    <p:anim calcmode="lin" valueType="num">
                                      <p:cBhvr>
                                        <p:cTn id="14" dur="1000" fill="hold"/>
                                        <p:tgtEl>
                                          <p:spTgt spid="2615381"/>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nodeType="clickEffect">
                                  <p:stCondLst>
                                    <p:cond delay="0"/>
                                  </p:stCondLst>
                                  <p:childTnLst>
                                    <p:set>
                                      <p:cBhvr>
                                        <p:cTn id="18" dur="1" fill="hold">
                                          <p:stCondLst>
                                            <p:cond delay="0"/>
                                          </p:stCondLst>
                                        </p:cTn>
                                        <p:tgtEl>
                                          <p:spTgt spid="2615384"/>
                                        </p:tgtEl>
                                        <p:attrNameLst>
                                          <p:attrName>style.visibility</p:attrName>
                                        </p:attrNameLst>
                                      </p:cBhvr>
                                      <p:to>
                                        <p:strVal val="visible"/>
                                      </p:to>
                                    </p:set>
                                    <p:animEffect transition="in" filter="wipe(down)">
                                      <p:cBhvr>
                                        <p:cTn id="19" dur="500"/>
                                        <p:tgtEl>
                                          <p:spTgt spid="261538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2615387"/>
                                        </p:tgtEl>
                                        <p:attrNameLst>
                                          <p:attrName>style.visibility</p:attrName>
                                        </p:attrNameLst>
                                      </p:cBhvr>
                                      <p:to>
                                        <p:strVal val="visible"/>
                                      </p:to>
                                    </p:set>
                                    <p:animEffect transition="in" filter="fade">
                                      <p:cBhvr>
                                        <p:cTn id="24" dur="1000"/>
                                        <p:tgtEl>
                                          <p:spTgt spid="2615387"/>
                                        </p:tgtEl>
                                      </p:cBhvr>
                                    </p:animEffect>
                                    <p:anim calcmode="lin" valueType="num">
                                      <p:cBhvr>
                                        <p:cTn id="25" dur="1000" fill="hold"/>
                                        <p:tgtEl>
                                          <p:spTgt spid="2615387"/>
                                        </p:tgtEl>
                                        <p:attrNameLst>
                                          <p:attrName>ppt_x</p:attrName>
                                        </p:attrNameLst>
                                      </p:cBhvr>
                                      <p:tavLst>
                                        <p:tav tm="0">
                                          <p:val>
                                            <p:strVal val="#ppt_x"/>
                                          </p:val>
                                        </p:tav>
                                        <p:tav tm="100000">
                                          <p:val>
                                            <p:strVal val="#ppt_x"/>
                                          </p:val>
                                        </p:tav>
                                      </p:tavLst>
                                    </p:anim>
                                    <p:anim calcmode="lin" valueType="num">
                                      <p:cBhvr>
                                        <p:cTn id="26" dur="1000" fill="hold"/>
                                        <p:tgtEl>
                                          <p:spTgt spid="2615387"/>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2615390"/>
                                        </p:tgtEl>
                                        <p:attrNameLst>
                                          <p:attrName>style.visibility</p:attrName>
                                        </p:attrNameLst>
                                      </p:cBhvr>
                                      <p:to>
                                        <p:strVal val="visible"/>
                                      </p:to>
                                    </p:set>
                                    <p:animEffect transition="in" filter="fade">
                                      <p:cBhvr>
                                        <p:cTn id="31" dur="1000"/>
                                        <p:tgtEl>
                                          <p:spTgt spid="2615390"/>
                                        </p:tgtEl>
                                      </p:cBhvr>
                                    </p:animEffect>
                                    <p:anim calcmode="lin" valueType="num">
                                      <p:cBhvr>
                                        <p:cTn id="32" dur="1000" fill="hold"/>
                                        <p:tgtEl>
                                          <p:spTgt spid="2615390"/>
                                        </p:tgtEl>
                                        <p:attrNameLst>
                                          <p:attrName>ppt_x</p:attrName>
                                        </p:attrNameLst>
                                      </p:cBhvr>
                                      <p:tavLst>
                                        <p:tav tm="0">
                                          <p:val>
                                            <p:strVal val="#ppt_x"/>
                                          </p:val>
                                        </p:tav>
                                        <p:tav tm="100000">
                                          <p:val>
                                            <p:strVal val="#ppt_x"/>
                                          </p:val>
                                        </p:tav>
                                      </p:tavLst>
                                    </p:anim>
                                    <p:anim calcmode="lin" valueType="num">
                                      <p:cBhvr>
                                        <p:cTn id="33" dur="1000" fill="hold"/>
                                        <p:tgtEl>
                                          <p:spTgt spid="2615390"/>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2615393"/>
                                        </p:tgtEl>
                                        <p:attrNameLst>
                                          <p:attrName>style.visibility</p:attrName>
                                        </p:attrNameLst>
                                      </p:cBhvr>
                                      <p:to>
                                        <p:strVal val="visible"/>
                                      </p:to>
                                    </p:set>
                                    <p:animEffect transition="in" filter="fade">
                                      <p:cBhvr>
                                        <p:cTn id="38" dur="1000"/>
                                        <p:tgtEl>
                                          <p:spTgt spid="2615393"/>
                                        </p:tgtEl>
                                      </p:cBhvr>
                                    </p:animEffect>
                                    <p:anim calcmode="lin" valueType="num">
                                      <p:cBhvr>
                                        <p:cTn id="39" dur="1000" fill="hold"/>
                                        <p:tgtEl>
                                          <p:spTgt spid="2615393"/>
                                        </p:tgtEl>
                                        <p:attrNameLst>
                                          <p:attrName>ppt_x</p:attrName>
                                        </p:attrNameLst>
                                      </p:cBhvr>
                                      <p:tavLst>
                                        <p:tav tm="0">
                                          <p:val>
                                            <p:strVal val="#ppt_x"/>
                                          </p:val>
                                        </p:tav>
                                        <p:tav tm="100000">
                                          <p:val>
                                            <p:strVal val="#ppt_x"/>
                                          </p:val>
                                        </p:tav>
                                      </p:tavLst>
                                    </p:anim>
                                    <p:anim calcmode="lin" valueType="num">
                                      <p:cBhvr>
                                        <p:cTn id="40" dur="1000" fill="hold"/>
                                        <p:tgtEl>
                                          <p:spTgt spid="2615393"/>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42" presetClass="entr" presetSubtype="0" fill="hold" nodeType="clickEffect">
                                  <p:stCondLst>
                                    <p:cond delay="0"/>
                                  </p:stCondLst>
                                  <p:childTnLst>
                                    <p:set>
                                      <p:cBhvr>
                                        <p:cTn id="44" dur="1" fill="hold">
                                          <p:stCondLst>
                                            <p:cond delay="0"/>
                                          </p:stCondLst>
                                        </p:cTn>
                                        <p:tgtEl>
                                          <p:spTgt spid="2615396"/>
                                        </p:tgtEl>
                                        <p:attrNameLst>
                                          <p:attrName>style.visibility</p:attrName>
                                        </p:attrNameLst>
                                      </p:cBhvr>
                                      <p:to>
                                        <p:strVal val="visible"/>
                                      </p:to>
                                    </p:set>
                                    <p:animEffect transition="in" filter="fade">
                                      <p:cBhvr>
                                        <p:cTn id="45" dur="1000"/>
                                        <p:tgtEl>
                                          <p:spTgt spid="2615396"/>
                                        </p:tgtEl>
                                      </p:cBhvr>
                                    </p:animEffect>
                                    <p:anim calcmode="lin" valueType="num">
                                      <p:cBhvr>
                                        <p:cTn id="46" dur="1000" fill="hold"/>
                                        <p:tgtEl>
                                          <p:spTgt spid="2615396"/>
                                        </p:tgtEl>
                                        <p:attrNameLst>
                                          <p:attrName>ppt_x</p:attrName>
                                        </p:attrNameLst>
                                      </p:cBhvr>
                                      <p:tavLst>
                                        <p:tav tm="0">
                                          <p:val>
                                            <p:strVal val="#ppt_x"/>
                                          </p:val>
                                        </p:tav>
                                        <p:tav tm="100000">
                                          <p:val>
                                            <p:strVal val="#ppt_x"/>
                                          </p:val>
                                        </p:tav>
                                      </p:tavLst>
                                    </p:anim>
                                    <p:anim calcmode="lin" valueType="num">
                                      <p:cBhvr>
                                        <p:cTn id="47" dur="1000" fill="hold"/>
                                        <p:tgtEl>
                                          <p:spTgt spid="2615396"/>
                                        </p:tgtEl>
                                        <p:attrNameLst>
                                          <p:attrName>ppt_y</p:attrName>
                                        </p:attrNameLst>
                                      </p:cBhvr>
                                      <p:tavLst>
                                        <p:tav tm="0">
                                          <p:val>
                                            <p:strVal val="#ppt_y+.1"/>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615380"/>
                                        </p:tgtEl>
                                        <p:attrNameLst>
                                          <p:attrName>style.visibility</p:attrName>
                                        </p:attrNameLst>
                                      </p:cBhvr>
                                      <p:to>
                                        <p:strVal val="visible"/>
                                      </p:to>
                                    </p:set>
                                    <p:animEffect transition="in" filter="wipe(up)">
                                      <p:cBhvr>
                                        <p:cTn id="52" dur="500"/>
                                        <p:tgtEl>
                                          <p:spTgt spid="261538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2615399"/>
                                        </p:tgtEl>
                                        <p:attrNameLst>
                                          <p:attrName>style.visibility</p:attrName>
                                        </p:attrNameLst>
                                      </p:cBhvr>
                                      <p:to>
                                        <p:strVal val="visible"/>
                                      </p:to>
                                    </p:set>
                                    <p:animEffect transition="in" filter="wipe(right)">
                                      <p:cBhvr>
                                        <p:cTn id="57" dur="500"/>
                                        <p:tgtEl>
                                          <p:spTgt spid="261539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615378"/>
                                        </p:tgtEl>
                                        <p:attrNameLst>
                                          <p:attrName>style.visibility</p:attrName>
                                        </p:attrNameLst>
                                      </p:cBhvr>
                                      <p:to>
                                        <p:strVal val="visible"/>
                                      </p:to>
                                    </p:set>
                                    <p:animEffect transition="in" filter="wipe(down)">
                                      <p:cBhvr>
                                        <p:cTn id="62" dur="500"/>
                                        <p:tgtEl>
                                          <p:spTgt spid="261537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615379"/>
                                        </p:tgtEl>
                                        <p:attrNameLst>
                                          <p:attrName>style.visibility</p:attrName>
                                        </p:attrNameLst>
                                      </p:cBhvr>
                                      <p:to>
                                        <p:strVal val="visible"/>
                                      </p:to>
                                    </p:set>
                                    <p:animEffect transition="in" filter="wipe(down)">
                                      <p:cBhvr>
                                        <p:cTn id="67" dur="500"/>
                                        <p:tgtEl>
                                          <p:spTgt spid="261537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1" nodeType="clickEffect">
                                  <p:stCondLst>
                                    <p:cond delay="0"/>
                                  </p:stCondLst>
                                  <p:childTnLst>
                                    <p:set>
                                      <p:cBhvr>
                                        <p:cTn id="71" dur="1" fill="hold">
                                          <p:stCondLst>
                                            <p:cond delay="0"/>
                                          </p:stCondLst>
                                        </p:cTn>
                                        <p:tgtEl>
                                          <p:spTgt spid="2615400"/>
                                        </p:tgtEl>
                                        <p:attrNameLst>
                                          <p:attrName>style.visibility</p:attrName>
                                        </p:attrNameLst>
                                      </p:cBhvr>
                                      <p:to>
                                        <p:strVal val="visible"/>
                                      </p:to>
                                    </p:set>
                                    <p:animEffect transition="in" filter="blinds(horizontal)">
                                      <p:cBhvr>
                                        <p:cTn id="72" dur="500"/>
                                        <p:tgtEl>
                                          <p:spTgt spid="261540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xit" presetSubtype="4" fill="hold" grpId="0" nodeType="clickEffect">
                                  <p:stCondLst>
                                    <p:cond delay="0"/>
                                  </p:stCondLst>
                                  <p:childTnLst>
                                    <p:animEffect transition="out" filter="wipe(down)">
                                      <p:cBhvr>
                                        <p:cTn id="76" dur="500"/>
                                        <p:tgtEl>
                                          <p:spTgt spid="2615400"/>
                                        </p:tgtEl>
                                      </p:cBhvr>
                                    </p:animEffect>
                                    <p:set>
                                      <p:cBhvr>
                                        <p:cTn id="77" dur="1" fill="hold">
                                          <p:stCondLst>
                                            <p:cond delay="499"/>
                                          </p:stCondLst>
                                        </p:cTn>
                                        <p:tgtEl>
                                          <p:spTgt spid="2615400"/>
                                        </p:tgtEl>
                                        <p:attrNameLst>
                                          <p:attrName>style.visibility</p:attrName>
                                        </p:attrNameLst>
                                      </p:cBhvr>
                                      <p:to>
                                        <p:strVal val="hidden"/>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2615401"/>
                                        </p:tgtEl>
                                        <p:attrNameLst>
                                          <p:attrName>style.visibility</p:attrName>
                                        </p:attrNameLst>
                                      </p:cBhvr>
                                      <p:to>
                                        <p:strVal val="visible"/>
                                      </p:to>
                                    </p:set>
                                    <p:animEffect transition="in" filter="box(in)">
                                      <p:cBhvr>
                                        <p:cTn id="82" dur="500"/>
                                        <p:tgtEl>
                                          <p:spTgt spid="261540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xit" presetSubtype="4" fill="hold" grpId="1" nodeType="clickEffect">
                                  <p:stCondLst>
                                    <p:cond delay="0"/>
                                  </p:stCondLst>
                                  <p:childTnLst>
                                    <p:animEffect transition="out" filter="wipe(down)">
                                      <p:cBhvr>
                                        <p:cTn id="86" dur="500"/>
                                        <p:tgtEl>
                                          <p:spTgt spid="2615401"/>
                                        </p:tgtEl>
                                      </p:cBhvr>
                                    </p:animEffect>
                                    <p:set>
                                      <p:cBhvr>
                                        <p:cTn id="87" dur="1" fill="hold">
                                          <p:stCondLst>
                                            <p:cond delay="499"/>
                                          </p:stCondLst>
                                        </p:cTn>
                                        <p:tgtEl>
                                          <p:spTgt spid="26154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5333" grpId="0"/>
      <p:bldP spid="2615378" grpId="0" autoUpdateAnimBg="0"/>
      <p:bldP spid="2615379" grpId="0" autoUpdateAnimBg="0"/>
      <p:bldP spid="2615400" grpId="0" animBg="1"/>
      <p:bldP spid="2615400" grpId="1" animBg="1"/>
      <p:bldP spid="2615401" grpId="0" animBg="1"/>
      <p:bldP spid="2615401"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日期占位符 3"/>
          <p:cNvSpPr>
            <a:spLocks noGrp="1"/>
          </p:cNvSpPr>
          <p:nvPr>
            <p:ph type="dt" sz="half" idx="10"/>
          </p:nvPr>
        </p:nvSpPr>
        <p:spPr/>
        <p:txBody>
          <a:bodyPr/>
          <a:lstStyle/>
          <a:p>
            <a:fld id="{739E11CE-67DA-4C76-87EB-AC592F117450}" type="datetime1">
              <a:rPr lang="zh-CN" altLang="en-US"/>
              <a:pPr/>
              <a:t>2017/2/24</a:t>
            </a:fld>
            <a:endParaRPr lang="en-US" altLang="zh-CN"/>
          </a:p>
        </p:txBody>
      </p:sp>
      <p:sp>
        <p:nvSpPr>
          <p:cNvPr id="38" name="灯片编号占位符 5"/>
          <p:cNvSpPr>
            <a:spLocks noGrp="1"/>
          </p:cNvSpPr>
          <p:nvPr>
            <p:ph type="sldNum" sz="quarter" idx="12"/>
          </p:nvPr>
        </p:nvSpPr>
        <p:spPr/>
        <p:txBody>
          <a:bodyPr/>
          <a:lstStyle/>
          <a:p>
            <a:fld id="{5277CDE4-7F22-4984-A218-AC21B5D838DE}" type="slidenum">
              <a:rPr lang="en-US" altLang="zh-CN"/>
              <a:pPr/>
              <a:t>80</a:t>
            </a:fld>
            <a:endParaRPr lang="en-US" altLang="zh-CN"/>
          </a:p>
        </p:txBody>
      </p:sp>
      <p:sp>
        <p:nvSpPr>
          <p:cNvPr id="2617346" name="Rectangle 2"/>
          <p:cNvSpPr>
            <a:spLocks noGrp="1" noChangeArrowheads="1"/>
          </p:cNvSpPr>
          <p:nvPr>
            <p:ph type="title"/>
          </p:nvPr>
        </p:nvSpPr>
        <p:spPr>
          <a:xfrm>
            <a:off x="0" y="1125538"/>
            <a:ext cx="3635375" cy="1296987"/>
          </a:xfrm>
        </p:spPr>
        <p:txBody>
          <a:bodyPr/>
          <a:lstStyle/>
          <a:p>
            <a:r>
              <a:rPr lang="zh-CN" altLang="en-US" sz="32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二、通过</a:t>
            </a:r>
            <a:r>
              <a:rPr lang="en-US" altLang="zh-CN" sz="32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sz="32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表</a:t>
            </a:r>
            <a:br>
              <a:rPr lang="zh-CN" altLang="en-US" sz="32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br>
            <a:r>
              <a:rPr lang="zh-CN" altLang="en-US" sz="32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访问非局部数据</a:t>
            </a:r>
          </a:p>
        </p:txBody>
      </p:sp>
      <p:sp>
        <p:nvSpPr>
          <p:cNvPr id="2617347" name="Text Box 3"/>
          <p:cNvSpPr txBox="1">
            <a:spLocks noChangeArrowheads="1"/>
          </p:cNvSpPr>
          <p:nvPr/>
        </p:nvSpPr>
        <p:spPr bwMode="auto">
          <a:xfrm>
            <a:off x="762000" y="4724400"/>
            <a:ext cx="1676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sz="2800" b="1">
                <a:solidFill>
                  <a:srgbClr val="FF0000"/>
                </a:solidFill>
                <a:ea typeface="楷体_GB2312" pitchFamily="49" charset="-122"/>
              </a:rPr>
              <a:t>SP</a:t>
            </a:r>
            <a:r>
              <a:rPr kumimoji="1" lang="en-US" altLang="zh-CN" sz="2800" b="1" baseline="-25000">
                <a:solidFill>
                  <a:srgbClr val="FF0000"/>
                </a:solidFill>
                <a:ea typeface="楷体_GB2312" pitchFamily="49" charset="-122"/>
              </a:rPr>
              <a:t>n</a:t>
            </a:r>
            <a:r>
              <a:rPr kumimoji="1" lang="zh-CN" altLang="en-US" sz="2800" b="1">
                <a:solidFill>
                  <a:srgbClr val="FF0000"/>
                </a:solidFill>
                <a:ea typeface="楷体_GB2312" pitchFamily="49" charset="-122"/>
              </a:rPr>
              <a:t>为第</a:t>
            </a:r>
            <a:r>
              <a:rPr kumimoji="1" lang="en-US" altLang="zh-CN" sz="2800" b="1">
                <a:solidFill>
                  <a:srgbClr val="FF0000"/>
                </a:solidFill>
                <a:ea typeface="楷体_GB2312" pitchFamily="49" charset="-122"/>
              </a:rPr>
              <a:t>n</a:t>
            </a:r>
            <a:r>
              <a:rPr kumimoji="1" lang="zh-CN" altLang="en-US" sz="2800" b="1">
                <a:solidFill>
                  <a:srgbClr val="FF0000"/>
                </a:solidFill>
                <a:ea typeface="楷体_GB2312" pitchFamily="49" charset="-122"/>
              </a:rPr>
              <a:t>层过程数据区首址</a:t>
            </a:r>
          </a:p>
        </p:txBody>
      </p:sp>
      <p:sp>
        <p:nvSpPr>
          <p:cNvPr id="2617348" name="Rectangle 4"/>
          <p:cNvSpPr>
            <a:spLocks noChangeArrowheads="1"/>
          </p:cNvSpPr>
          <p:nvPr/>
        </p:nvSpPr>
        <p:spPr bwMode="auto">
          <a:xfrm>
            <a:off x="125413" y="44450"/>
            <a:ext cx="88392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b="1">
                <a:solidFill>
                  <a:schemeClr val="tx2"/>
                </a:solidFill>
                <a:latin typeface="黑体" panose="02010609060101010101" pitchFamily="49" charset="-122"/>
                <a:ea typeface="黑体" panose="02010609060101010101" pitchFamily="49" charset="-122"/>
              </a:defRPr>
            </a:lvl1pPr>
            <a:lvl2pPr algn="ctr">
              <a:defRPr sz="4400" b="1">
                <a:solidFill>
                  <a:schemeClr val="tx2"/>
                </a:solidFill>
                <a:latin typeface="黑体" panose="02010609060101010101" pitchFamily="49" charset="-122"/>
                <a:ea typeface="黑体" panose="02010609060101010101" pitchFamily="49" charset="-122"/>
              </a:defRPr>
            </a:lvl2pPr>
            <a:lvl3pPr algn="ctr">
              <a:defRPr sz="4400" b="1">
                <a:solidFill>
                  <a:schemeClr val="tx2"/>
                </a:solidFill>
                <a:latin typeface="黑体" panose="02010609060101010101" pitchFamily="49" charset="-122"/>
                <a:ea typeface="黑体" panose="02010609060101010101" pitchFamily="49" charset="-122"/>
              </a:defRPr>
            </a:lvl3pPr>
            <a:lvl4pPr algn="ctr">
              <a:defRPr sz="4400" b="1">
                <a:solidFill>
                  <a:schemeClr val="tx2"/>
                </a:solidFill>
                <a:latin typeface="黑体" panose="02010609060101010101" pitchFamily="49" charset="-122"/>
                <a:ea typeface="黑体" panose="02010609060101010101" pitchFamily="49" charset="-122"/>
              </a:defRPr>
            </a:lvl4pPr>
            <a:lvl5pPr algn="ctr">
              <a:defRPr sz="4400" b="1">
                <a:solidFill>
                  <a:schemeClr val="tx2"/>
                </a:solidFill>
                <a:latin typeface="黑体" panose="02010609060101010101" pitchFamily="49" charset="-122"/>
                <a:ea typeface="黑体" panose="02010609060101010101" pitchFamily="49" charset="-122"/>
              </a:defRPr>
            </a:lvl5pPr>
            <a:lvl6pPr marL="4572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6pPr>
            <a:lvl7pPr marL="9144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7pPr>
            <a:lvl8pPr marL="13716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8pPr>
            <a:lvl9pPr marL="18288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9pPr>
          </a:lstStyle>
          <a:p>
            <a:r>
              <a:rPr lang="en-US" altLang="zh-CN" b="0">
                <a:latin typeface="Times New Roman" panose="02020603050405020304" pitchFamily="18" charset="0"/>
              </a:rPr>
              <a:t>9.5.2 </a:t>
            </a:r>
            <a:r>
              <a:rPr lang="zh-CN" altLang="en-US" b="0">
                <a:latin typeface="Times New Roman" panose="02020603050405020304" pitchFamily="18" charset="0"/>
              </a:rPr>
              <a:t>有过程嵌套的静态作用域</a:t>
            </a:r>
          </a:p>
        </p:txBody>
      </p:sp>
      <p:sp>
        <p:nvSpPr>
          <p:cNvPr id="2617349" name="Rectangle 5"/>
          <p:cNvSpPr>
            <a:spLocks noGrp="1" noChangeArrowheads="1"/>
          </p:cNvSpPr>
          <p:nvPr>
            <p:ph type="body" idx="1"/>
          </p:nvPr>
        </p:nvSpPr>
        <p:spPr>
          <a:xfrm>
            <a:off x="7092950" y="1752600"/>
            <a:ext cx="1366838" cy="3200400"/>
          </a:xfrm>
          <a:noFill/>
          <a:ln w="12700">
            <a:solidFill>
              <a:schemeClr val="tx1"/>
            </a:solidFill>
            <a:miter lim="800000"/>
            <a:headEnd/>
            <a:tailEnd/>
          </a:ln>
        </p:spPr>
        <p:txBody>
          <a:bodyPr/>
          <a:lstStyle/>
          <a:p>
            <a:pPr>
              <a:buFontTx/>
              <a:buNone/>
            </a:pP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SPn</a:t>
            </a:r>
          </a:p>
          <a:p>
            <a:pPr>
              <a:buFontTx/>
              <a:buNone/>
            </a:pP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SPn-1</a:t>
            </a:r>
          </a:p>
          <a:p>
            <a:pPr>
              <a:buFontTx/>
              <a:buNone/>
            </a:pP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SP1</a:t>
            </a:r>
          </a:p>
          <a:p>
            <a:pPr>
              <a:buFontTx/>
              <a:buNone/>
            </a:pP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SP0</a:t>
            </a:r>
          </a:p>
        </p:txBody>
      </p:sp>
      <p:grpSp>
        <p:nvGrpSpPr>
          <p:cNvPr id="2617350" name="Group 6"/>
          <p:cNvGrpSpPr>
            <a:grpSpLocks/>
          </p:cNvGrpSpPr>
          <p:nvPr/>
        </p:nvGrpSpPr>
        <p:grpSpPr bwMode="auto">
          <a:xfrm>
            <a:off x="3581400" y="685800"/>
            <a:ext cx="2438400" cy="5848350"/>
            <a:chOff x="2256" y="432"/>
            <a:chExt cx="1536" cy="3684"/>
          </a:xfrm>
        </p:grpSpPr>
        <p:sp>
          <p:nvSpPr>
            <p:cNvPr id="2617351" name="Text Box 7"/>
            <p:cNvSpPr txBox="1">
              <a:spLocks noChangeArrowheads="1"/>
            </p:cNvSpPr>
            <p:nvPr/>
          </p:nvSpPr>
          <p:spPr bwMode="auto">
            <a:xfrm>
              <a:off x="2256" y="432"/>
              <a:ext cx="1536" cy="368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b="1"/>
                <a:t>数组存储区</a:t>
              </a:r>
            </a:p>
            <a:p>
              <a:pPr eaLnBrk="0" hangingPunct="0">
                <a:spcBef>
                  <a:spcPct val="50000"/>
                </a:spcBef>
              </a:pPr>
              <a:endParaRPr kumimoji="1" lang="zh-CN" altLang="en-US" sz="1800" b="1"/>
            </a:p>
            <a:p>
              <a:pPr eaLnBrk="0" hangingPunct="0">
                <a:lnSpc>
                  <a:spcPct val="80000"/>
                </a:lnSpc>
              </a:pPr>
              <a:r>
                <a:rPr kumimoji="1" lang="zh-CN" altLang="en-US" sz="1800" b="1"/>
                <a:t>本</a:t>
              </a:r>
            </a:p>
            <a:p>
              <a:pPr eaLnBrk="0" hangingPunct="0">
                <a:lnSpc>
                  <a:spcPct val="80000"/>
                </a:lnSpc>
              </a:pPr>
              <a:r>
                <a:rPr kumimoji="1" lang="zh-CN" altLang="en-US" sz="1800" b="1"/>
                <a:t>过</a:t>
              </a:r>
            </a:p>
            <a:p>
              <a:pPr eaLnBrk="0" hangingPunct="0">
                <a:lnSpc>
                  <a:spcPct val="80000"/>
                </a:lnSpc>
              </a:pPr>
              <a:r>
                <a:rPr kumimoji="1" lang="zh-CN" altLang="en-US" sz="1800" b="1"/>
                <a:t>程        </a:t>
              </a:r>
              <a:r>
                <a:rPr kumimoji="1" lang="en-US" altLang="zh-CN" sz="1800" b="1"/>
                <a:t>……</a:t>
              </a:r>
            </a:p>
            <a:p>
              <a:pPr eaLnBrk="0" hangingPunct="0">
                <a:lnSpc>
                  <a:spcPct val="80000"/>
                </a:lnSpc>
              </a:pPr>
              <a:r>
                <a:rPr kumimoji="1" lang="zh-CN" altLang="en-US" sz="1800" b="1"/>
                <a:t>所</a:t>
              </a:r>
            </a:p>
            <a:p>
              <a:pPr eaLnBrk="0" hangingPunct="0">
                <a:lnSpc>
                  <a:spcPct val="80000"/>
                </a:lnSpc>
              </a:pPr>
              <a:r>
                <a:rPr kumimoji="1" lang="zh-CN" altLang="en-US" sz="1800" b="1"/>
                <a:t>辖</a:t>
              </a:r>
            </a:p>
            <a:p>
              <a:pPr eaLnBrk="0" hangingPunct="0">
                <a:lnSpc>
                  <a:spcPct val="80000"/>
                </a:lnSpc>
              </a:pPr>
              <a:r>
                <a:rPr kumimoji="1" lang="zh-CN" altLang="en-US" sz="1800" b="1"/>
                <a:t>分  第  临时工作单元</a:t>
              </a:r>
            </a:p>
            <a:p>
              <a:pPr eaLnBrk="0" hangingPunct="0">
                <a:lnSpc>
                  <a:spcPct val="80000"/>
                </a:lnSpc>
              </a:pPr>
              <a:r>
                <a:rPr kumimoji="1" lang="zh-CN" altLang="en-US" sz="1800" b="1"/>
                <a:t>程  一</a:t>
              </a:r>
            </a:p>
            <a:p>
              <a:pPr eaLnBrk="0" hangingPunct="0">
                <a:lnSpc>
                  <a:spcPct val="80000"/>
                </a:lnSpc>
              </a:pPr>
              <a:r>
                <a:rPr kumimoji="1" lang="zh-CN" altLang="en-US" sz="1800" b="1"/>
                <a:t>序  层  局部数组说明</a:t>
              </a:r>
            </a:p>
            <a:p>
              <a:pPr eaLnBrk="0" hangingPunct="0">
                <a:lnSpc>
                  <a:spcPct val="80000"/>
                </a:lnSpc>
              </a:pPr>
              <a:r>
                <a:rPr kumimoji="1" lang="zh-CN" altLang="en-US" sz="1800" b="1"/>
                <a:t>存  分</a:t>
              </a:r>
            </a:p>
            <a:p>
              <a:pPr eaLnBrk="0" hangingPunct="0">
                <a:lnSpc>
                  <a:spcPct val="80000"/>
                </a:lnSpc>
              </a:pPr>
              <a:r>
                <a:rPr kumimoji="1" lang="zh-CN" altLang="en-US" sz="1800" b="1"/>
                <a:t>储  程   局部变量</a:t>
              </a:r>
            </a:p>
            <a:p>
              <a:pPr eaLnBrk="0" hangingPunct="0">
                <a:lnSpc>
                  <a:spcPct val="80000"/>
                </a:lnSpc>
              </a:pPr>
              <a:r>
                <a:rPr kumimoji="1" lang="zh-CN" altLang="en-US" sz="1800" b="1"/>
                <a:t>区  序   分程序</a:t>
              </a:r>
              <a:r>
                <a:rPr kumimoji="1" lang="en-US" altLang="zh-CN" sz="1800" b="1"/>
                <a:t>TOP</a:t>
              </a:r>
            </a:p>
            <a:p>
              <a:pPr eaLnBrk="0" hangingPunct="0">
                <a:lnSpc>
                  <a:spcPct val="80000"/>
                </a:lnSpc>
              </a:pPr>
              <a:endParaRPr kumimoji="1" lang="en-US" altLang="zh-CN" sz="1800" b="1"/>
            </a:p>
            <a:p>
              <a:pPr eaLnBrk="0" hangingPunct="0">
                <a:lnSpc>
                  <a:spcPct val="80000"/>
                </a:lnSpc>
              </a:pPr>
              <a:r>
                <a:rPr kumimoji="1" lang="zh-CN" altLang="en-US" sz="1800" b="1"/>
                <a:t>本过程</a:t>
              </a:r>
              <a:r>
                <a:rPr kumimoji="1" lang="en-US" altLang="zh-CN" sz="1800" b="1"/>
                <a:t>Display</a:t>
              </a:r>
            </a:p>
            <a:p>
              <a:pPr eaLnBrk="0" hangingPunct="0">
                <a:lnSpc>
                  <a:spcPct val="80000"/>
                </a:lnSpc>
              </a:pPr>
              <a:endParaRPr kumimoji="1" lang="en-US" altLang="zh-CN" sz="1800" b="1"/>
            </a:p>
            <a:p>
              <a:pPr eaLnBrk="0" hangingPunct="0">
                <a:lnSpc>
                  <a:spcPct val="80000"/>
                </a:lnSpc>
              </a:pPr>
              <a:r>
                <a:rPr kumimoji="1" lang="zh-CN" altLang="en-US" sz="1800" b="1"/>
                <a:t>形式单元（</a:t>
              </a:r>
              <a:r>
                <a:rPr kumimoji="1" lang="en-US" altLang="zh-CN" sz="1800" b="1"/>
                <a:t>m+1</a:t>
              </a:r>
              <a:r>
                <a:rPr kumimoji="1" lang="zh-CN" altLang="en-US" sz="1800" b="1"/>
                <a:t>个）</a:t>
              </a:r>
            </a:p>
            <a:p>
              <a:pPr eaLnBrk="0" hangingPunct="0">
                <a:lnSpc>
                  <a:spcPct val="80000"/>
                </a:lnSpc>
              </a:pPr>
              <a:endParaRPr kumimoji="1" lang="zh-CN" altLang="en-US" sz="1800" b="1"/>
            </a:p>
            <a:p>
              <a:pPr eaLnBrk="0" hangingPunct="0">
                <a:lnSpc>
                  <a:spcPct val="80000"/>
                </a:lnSpc>
              </a:pPr>
              <a:r>
                <a:rPr kumimoji="1" lang="zh-CN" altLang="en-US" sz="1800" b="1"/>
                <a:t>连  主调分程序</a:t>
              </a:r>
              <a:r>
                <a:rPr kumimoji="1" lang="en-US" altLang="zh-CN" sz="1800" b="1"/>
                <a:t>TOP</a:t>
              </a:r>
            </a:p>
            <a:p>
              <a:pPr eaLnBrk="0" hangingPunct="0">
                <a:lnSpc>
                  <a:spcPct val="80000"/>
                </a:lnSpc>
              </a:pPr>
              <a:r>
                <a:rPr kumimoji="1" lang="zh-CN" altLang="en-US" sz="1800" b="1"/>
                <a:t>接  全局</a:t>
              </a:r>
              <a:r>
                <a:rPr kumimoji="1" lang="en-US" altLang="zh-CN" sz="1800" b="1"/>
                <a:t>Display</a:t>
              </a:r>
              <a:r>
                <a:rPr kumimoji="1" lang="zh-CN" altLang="en-US" sz="1800" b="1"/>
                <a:t>地址</a:t>
              </a:r>
            </a:p>
            <a:p>
              <a:pPr eaLnBrk="0" hangingPunct="0">
                <a:lnSpc>
                  <a:spcPct val="80000"/>
                </a:lnSpc>
              </a:pPr>
              <a:r>
                <a:rPr kumimoji="1" lang="zh-CN" altLang="en-US" sz="1800" b="1"/>
                <a:t>数  返回地址</a:t>
              </a:r>
            </a:p>
            <a:p>
              <a:pPr eaLnBrk="0" hangingPunct="0">
                <a:lnSpc>
                  <a:spcPct val="80000"/>
                </a:lnSpc>
              </a:pPr>
              <a:r>
                <a:rPr kumimoji="1" lang="zh-CN" altLang="en-US" sz="1800" b="1"/>
                <a:t>据  主调过程</a:t>
              </a:r>
              <a:r>
                <a:rPr kumimoji="1" lang="en-US" altLang="zh-CN" sz="1800" b="1"/>
                <a:t>SP</a:t>
              </a:r>
            </a:p>
            <a:p>
              <a:pPr eaLnBrk="0" hangingPunct="0">
                <a:lnSpc>
                  <a:spcPct val="80000"/>
                </a:lnSpc>
              </a:pPr>
              <a:endParaRPr kumimoji="1" lang="en-US" altLang="zh-CN" b="1"/>
            </a:p>
            <a:p>
              <a:pPr eaLnBrk="0" hangingPunct="0">
                <a:lnSpc>
                  <a:spcPct val="80000"/>
                </a:lnSpc>
              </a:pPr>
              <a:r>
                <a:rPr kumimoji="1" lang="zh-CN" altLang="en-US" b="1"/>
                <a:t>本过程</a:t>
              </a:r>
              <a:r>
                <a:rPr kumimoji="1" lang="en-US" altLang="zh-CN" b="1"/>
                <a:t>TOP</a:t>
              </a:r>
            </a:p>
          </p:txBody>
        </p:sp>
        <p:sp>
          <p:nvSpPr>
            <p:cNvPr id="2617352" name="Line 8"/>
            <p:cNvSpPr>
              <a:spLocks noChangeShapeType="1"/>
            </p:cNvSpPr>
            <p:nvPr/>
          </p:nvSpPr>
          <p:spPr bwMode="auto">
            <a:xfrm>
              <a:off x="2256" y="816"/>
              <a:ext cx="15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3" name="Line 9"/>
            <p:cNvSpPr>
              <a:spLocks noChangeShapeType="1"/>
            </p:cNvSpPr>
            <p:nvPr/>
          </p:nvSpPr>
          <p:spPr bwMode="auto">
            <a:xfrm>
              <a:off x="2256" y="2496"/>
              <a:ext cx="15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4" name="Line 10"/>
            <p:cNvSpPr>
              <a:spLocks noChangeShapeType="1"/>
            </p:cNvSpPr>
            <p:nvPr/>
          </p:nvSpPr>
          <p:spPr bwMode="auto">
            <a:xfrm>
              <a:off x="2256" y="2832"/>
              <a:ext cx="15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5" name="Line 11"/>
            <p:cNvSpPr>
              <a:spLocks noChangeShapeType="1"/>
            </p:cNvSpPr>
            <p:nvPr/>
          </p:nvSpPr>
          <p:spPr bwMode="auto">
            <a:xfrm>
              <a:off x="2256" y="3120"/>
              <a:ext cx="15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6" name="Line 12"/>
            <p:cNvSpPr>
              <a:spLocks noChangeShapeType="1"/>
            </p:cNvSpPr>
            <p:nvPr/>
          </p:nvSpPr>
          <p:spPr bwMode="auto">
            <a:xfrm>
              <a:off x="2256" y="3792"/>
              <a:ext cx="15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7" name="Line 13"/>
            <p:cNvSpPr>
              <a:spLocks noChangeShapeType="1"/>
            </p:cNvSpPr>
            <p:nvPr/>
          </p:nvSpPr>
          <p:spPr bwMode="auto">
            <a:xfrm>
              <a:off x="2496" y="816"/>
              <a:ext cx="0" cy="168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8" name="Line 14"/>
            <p:cNvSpPr>
              <a:spLocks noChangeShapeType="1"/>
            </p:cNvSpPr>
            <p:nvPr/>
          </p:nvSpPr>
          <p:spPr bwMode="auto">
            <a:xfrm>
              <a:off x="2496" y="3120"/>
              <a:ext cx="0" cy="67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59" name="Line 15"/>
            <p:cNvSpPr>
              <a:spLocks noChangeShapeType="1"/>
            </p:cNvSpPr>
            <p:nvPr/>
          </p:nvSpPr>
          <p:spPr bwMode="auto">
            <a:xfrm>
              <a:off x="2496" y="1632"/>
              <a:ext cx="12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0" name="Line 16"/>
            <p:cNvSpPr>
              <a:spLocks noChangeShapeType="1"/>
            </p:cNvSpPr>
            <p:nvPr/>
          </p:nvSpPr>
          <p:spPr bwMode="auto">
            <a:xfrm>
              <a:off x="2736" y="1632"/>
              <a:ext cx="0" cy="86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1" name="Line 17"/>
            <p:cNvSpPr>
              <a:spLocks noChangeShapeType="1"/>
            </p:cNvSpPr>
            <p:nvPr/>
          </p:nvSpPr>
          <p:spPr bwMode="auto">
            <a:xfrm>
              <a:off x="2736" y="1824"/>
              <a:ext cx="105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2" name="Line 18"/>
            <p:cNvSpPr>
              <a:spLocks noChangeShapeType="1"/>
            </p:cNvSpPr>
            <p:nvPr/>
          </p:nvSpPr>
          <p:spPr bwMode="auto">
            <a:xfrm>
              <a:off x="2736" y="2112"/>
              <a:ext cx="105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3" name="Line 19"/>
            <p:cNvSpPr>
              <a:spLocks noChangeShapeType="1"/>
            </p:cNvSpPr>
            <p:nvPr/>
          </p:nvSpPr>
          <p:spPr bwMode="auto">
            <a:xfrm>
              <a:off x="2736" y="2304"/>
              <a:ext cx="105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17364" name="Line 20"/>
          <p:cNvSpPr>
            <a:spLocks noChangeShapeType="1"/>
          </p:cNvSpPr>
          <p:nvPr/>
        </p:nvSpPr>
        <p:spPr bwMode="auto">
          <a:xfrm flipV="1">
            <a:off x="6019800" y="1773238"/>
            <a:ext cx="1073150" cy="218916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5" name="Line 21"/>
          <p:cNvSpPr>
            <a:spLocks noChangeShapeType="1"/>
          </p:cNvSpPr>
          <p:nvPr/>
        </p:nvSpPr>
        <p:spPr bwMode="auto">
          <a:xfrm>
            <a:off x="6019800" y="4495800"/>
            <a:ext cx="1073150" cy="4460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6" name="Line 22"/>
          <p:cNvSpPr>
            <a:spLocks noChangeShapeType="1"/>
          </p:cNvSpPr>
          <p:nvPr/>
        </p:nvSpPr>
        <p:spPr bwMode="auto">
          <a:xfrm>
            <a:off x="2971800" y="6324600"/>
            <a:ext cx="6096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7" name="Text Box 23"/>
          <p:cNvSpPr txBox="1">
            <a:spLocks noChangeArrowheads="1"/>
          </p:cNvSpPr>
          <p:nvPr/>
        </p:nvSpPr>
        <p:spPr bwMode="auto">
          <a:xfrm>
            <a:off x="2514600" y="6096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a:t>SP</a:t>
            </a:r>
          </a:p>
        </p:txBody>
      </p:sp>
      <p:sp>
        <p:nvSpPr>
          <p:cNvPr id="2617368" name="Line 24"/>
          <p:cNvSpPr>
            <a:spLocks noChangeShapeType="1"/>
          </p:cNvSpPr>
          <p:nvPr/>
        </p:nvSpPr>
        <p:spPr bwMode="auto">
          <a:xfrm>
            <a:off x="5486400" y="6324600"/>
            <a:ext cx="3276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69" name="Line 25"/>
          <p:cNvSpPr>
            <a:spLocks noChangeShapeType="1"/>
          </p:cNvSpPr>
          <p:nvPr/>
        </p:nvSpPr>
        <p:spPr bwMode="auto">
          <a:xfrm flipV="1">
            <a:off x="8763000" y="1447800"/>
            <a:ext cx="0" cy="487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0" name="Line 26"/>
          <p:cNvSpPr>
            <a:spLocks noChangeShapeType="1"/>
          </p:cNvSpPr>
          <p:nvPr/>
        </p:nvSpPr>
        <p:spPr bwMode="auto">
          <a:xfrm flipH="1">
            <a:off x="6019800" y="1447800"/>
            <a:ext cx="27432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1" name="Line 27"/>
          <p:cNvSpPr>
            <a:spLocks noChangeShapeType="1"/>
          </p:cNvSpPr>
          <p:nvPr/>
        </p:nvSpPr>
        <p:spPr bwMode="auto">
          <a:xfrm flipV="1">
            <a:off x="8763000" y="762000"/>
            <a:ext cx="0" cy="68580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2" name="Line 28"/>
          <p:cNvSpPr>
            <a:spLocks noChangeShapeType="1"/>
          </p:cNvSpPr>
          <p:nvPr/>
        </p:nvSpPr>
        <p:spPr bwMode="auto">
          <a:xfrm flipH="1">
            <a:off x="6019800" y="762000"/>
            <a:ext cx="2743200" cy="0"/>
          </a:xfrm>
          <a:prstGeom prst="line">
            <a:avLst/>
          </a:prstGeom>
          <a:noFill/>
          <a:ln w="12700">
            <a:solidFill>
              <a:schemeClr val="tx1"/>
            </a:solidFill>
            <a:prstDash val="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3" name="Line 29"/>
          <p:cNvSpPr>
            <a:spLocks noChangeShapeType="1"/>
          </p:cNvSpPr>
          <p:nvPr/>
        </p:nvSpPr>
        <p:spPr bwMode="auto">
          <a:xfrm>
            <a:off x="3962400" y="5257800"/>
            <a:ext cx="2057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4" name="Line 30"/>
          <p:cNvSpPr>
            <a:spLocks noChangeShapeType="1"/>
          </p:cNvSpPr>
          <p:nvPr/>
        </p:nvSpPr>
        <p:spPr bwMode="auto">
          <a:xfrm>
            <a:off x="3962400" y="5448300"/>
            <a:ext cx="2057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5" name="Line 31"/>
          <p:cNvSpPr>
            <a:spLocks noChangeShapeType="1"/>
          </p:cNvSpPr>
          <p:nvPr/>
        </p:nvSpPr>
        <p:spPr bwMode="auto">
          <a:xfrm>
            <a:off x="3962400" y="5651500"/>
            <a:ext cx="2057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6" name="Line 32"/>
          <p:cNvSpPr>
            <a:spLocks noChangeShapeType="1"/>
          </p:cNvSpPr>
          <p:nvPr/>
        </p:nvSpPr>
        <p:spPr bwMode="auto">
          <a:xfrm>
            <a:off x="7092950" y="2420938"/>
            <a:ext cx="13668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7" name="Line 33"/>
          <p:cNvSpPr>
            <a:spLocks noChangeShapeType="1"/>
          </p:cNvSpPr>
          <p:nvPr/>
        </p:nvSpPr>
        <p:spPr bwMode="auto">
          <a:xfrm>
            <a:off x="7092950" y="3141663"/>
            <a:ext cx="13668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8" name="Line 34"/>
          <p:cNvSpPr>
            <a:spLocks noChangeShapeType="1"/>
          </p:cNvSpPr>
          <p:nvPr/>
        </p:nvSpPr>
        <p:spPr bwMode="auto">
          <a:xfrm>
            <a:off x="7092950" y="3716338"/>
            <a:ext cx="13668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17379" name="Line 35"/>
          <p:cNvSpPr>
            <a:spLocks noChangeShapeType="1"/>
          </p:cNvSpPr>
          <p:nvPr/>
        </p:nvSpPr>
        <p:spPr bwMode="auto">
          <a:xfrm>
            <a:off x="7092950" y="4365625"/>
            <a:ext cx="13668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97539482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9FBC19B-BFFB-4854-A86D-D956D8D6DE0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B163CAD1-A0E3-4E42-A0D4-D1A0BB520AA5}" type="slidenum">
              <a:rPr lang="en-US" altLang="zh-CN"/>
              <a:pPr/>
              <a:t>81</a:t>
            </a:fld>
            <a:endParaRPr lang="en-US" altLang="zh-CN"/>
          </a:p>
        </p:txBody>
      </p:sp>
      <p:sp>
        <p:nvSpPr>
          <p:cNvPr id="2618370" name="Rectangle 2"/>
          <p:cNvSpPr>
            <a:spLocks noGrp="1" noChangeArrowheads="1"/>
          </p:cNvSpPr>
          <p:nvPr>
            <p:ph type="body" idx="1"/>
          </p:nvPr>
        </p:nvSpPr>
        <p:spPr>
          <a:xfrm>
            <a:off x="684213" y="188913"/>
            <a:ext cx="8388350" cy="115252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令过程</a:t>
            </a:r>
            <a:r>
              <a:rPr lang="en-US" altLang="en-US" b="1">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的外层为</a:t>
            </a:r>
            <a:r>
              <a:rPr lang="en-US" altLang="en-US" b="1">
                <a:latin typeface="Times New Roman" panose="02020603050405020304" pitchFamily="18" charset="0"/>
                <a:ea typeface="华文新魏" panose="02010800040101010101" pitchFamily="2" charset="-122"/>
                <a:cs typeface="Times New Roman" panose="02020603050405020304" pitchFamily="18" charset="0"/>
              </a:rPr>
              <a:t>Q</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Q</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的外层为主程序</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，则过程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运行时的</a:t>
            </a:r>
            <a:r>
              <a:rPr lang="en-US" altLang="en-US" b="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表内容为：</a:t>
            </a:r>
          </a:p>
        </p:txBody>
      </p:sp>
      <p:graphicFrame>
        <p:nvGraphicFramePr>
          <p:cNvPr id="2618371" name="Object 3"/>
          <p:cNvGraphicFramePr>
            <a:graphicFrameLocks noChangeAspect="1"/>
          </p:cNvGraphicFramePr>
          <p:nvPr/>
        </p:nvGraphicFramePr>
        <p:xfrm>
          <a:off x="1741488" y="2136775"/>
          <a:ext cx="5254625" cy="3598863"/>
        </p:xfrm>
        <a:graphic>
          <a:graphicData uri="http://schemas.openxmlformats.org/presentationml/2006/ole">
            <mc:AlternateContent xmlns:mc="http://schemas.openxmlformats.org/markup-compatibility/2006">
              <mc:Choice xmlns:v="urn:schemas-microsoft-com:vml" Requires="v">
                <p:oleObj spid="_x0000_s106499" name="文档" r:id="rId3" imgW="4328160" imgH="2955794" progId="Word.Document.8">
                  <p:embed/>
                </p:oleObj>
              </mc:Choice>
              <mc:Fallback>
                <p:oleObj name="文档" r:id="rId3" imgW="4328160" imgH="2955794" progId="Word.Document.8">
                  <p:embed/>
                  <p:pic>
                    <p:nvPicPr>
                      <p:cNvPr id="26183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1488" y="2136775"/>
                        <a:ext cx="5254625"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761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18370">
                                            <p:txEl>
                                              <p:pRg st="0" end="0"/>
                                            </p:txEl>
                                          </p:spTgt>
                                        </p:tgtEl>
                                        <p:attrNameLst>
                                          <p:attrName>style.visibility</p:attrName>
                                        </p:attrNameLst>
                                      </p:cBhvr>
                                      <p:to>
                                        <p:strVal val="visible"/>
                                      </p:to>
                                    </p:set>
                                    <p:animEffect transition="in" filter="wipe(left)">
                                      <p:cBhvr>
                                        <p:cTn id="7" dur="500"/>
                                        <p:tgtEl>
                                          <p:spTgt spid="26183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18371"/>
                                        </p:tgtEl>
                                        <p:attrNameLst>
                                          <p:attrName>style.visibility</p:attrName>
                                        </p:attrNameLst>
                                      </p:cBhvr>
                                      <p:to>
                                        <p:strVal val="visible"/>
                                      </p:to>
                                    </p:set>
                                    <p:animEffect transition="in" filter="wipe(down)">
                                      <p:cBhvr>
                                        <p:cTn id="12" dur="500"/>
                                        <p:tgtEl>
                                          <p:spTgt spid="2618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8370"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 name="日期占位符 3"/>
          <p:cNvSpPr>
            <a:spLocks noGrp="1"/>
          </p:cNvSpPr>
          <p:nvPr>
            <p:ph type="dt" sz="half" idx="10"/>
          </p:nvPr>
        </p:nvSpPr>
        <p:spPr/>
        <p:txBody>
          <a:bodyPr/>
          <a:lstStyle/>
          <a:p>
            <a:fld id="{0993CB2A-187C-42CB-BB99-1E3B844AC079}" type="datetime1">
              <a:rPr lang="zh-CN" altLang="en-US"/>
              <a:pPr/>
              <a:t>2017/2/24</a:t>
            </a:fld>
            <a:endParaRPr lang="en-US" altLang="zh-CN"/>
          </a:p>
        </p:txBody>
      </p:sp>
      <p:sp>
        <p:nvSpPr>
          <p:cNvPr id="26" name="灯片编号占位符 5"/>
          <p:cNvSpPr>
            <a:spLocks noGrp="1"/>
          </p:cNvSpPr>
          <p:nvPr>
            <p:ph type="sldNum" sz="quarter" idx="12"/>
          </p:nvPr>
        </p:nvSpPr>
        <p:spPr/>
        <p:txBody>
          <a:bodyPr/>
          <a:lstStyle/>
          <a:p>
            <a:fld id="{2E19C1D7-2AD5-4001-BFA3-D3E220F48A58}" type="slidenum">
              <a:rPr lang="en-US" altLang="zh-CN"/>
              <a:pPr/>
              <a:t>82</a:t>
            </a:fld>
            <a:endParaRPr lang="en-US" altLang="zh-CN"/>
          </a:p>
        </p:txBody>
      </p:sp>
      <p:sp>
        <p:nvSpPr>
          <p:cNvPr id="2619394" name="Rectangle 2"/>
          <p:cNvSpPr>
            <a:spLocks noGrp="1" noChangeArrowheads="1"/>
          </p:cNvSpPr>
          <p:nvPr>
            <p:ph type="body" idx="1"/>
          </p:nvPr>
        </p:nvSpPr>
        <p:spPr>
          <a:xfrm>
            <a:off x="1039813" y="188913"/>
            <a:ext cx="7924800" cy="1143000"/>
          </a:xfrm>
        </p:spPr>
        <p:txBody>
          <a:bodyPr/>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问题：</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而进入</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后，</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应如何建立起自己的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a:t>
            </a:r>
          </a:p>
        </p:txBody>
      </p:sp>
      <p:grpSp>
        <p:nvGrpSpPr>
          <p:cNvPr id="2619395" name="Group 3"/>
          <p:cNvGrpSpPr>
            <a:grpSpLocks/>
          </p:cNvGrpSpPr>
          <p:nvPr/>
        </p:nvGrpSpPr>
        <p:grpSpPr bwMode="auto">
          <a:xfrm>
            <a:off x="1219200" y="2287588"/>
            <a:ext cx="1524000" cy="2209800"/>
            <a:chOff x="1440" y="1056"/>
            <a:chExt cx="1248" cy="1872"/>
          </a:xfrm>
        </p:grpSpPr>
        <p:sp>
          <p:nvSpPr>
            <p:cNvPr id="2619396" name="Freeform 4"/>
            <p:cNvSpPr>
              <a:spLocks/>
            </p:cNvSpPr>
            <p:nvPr/>
          </p:nvSpPr>
          <p:spPr bwMode="auto">
            <a:xfrm>
              <a:off x="1440" y="1248"/>
              <a:ext cx="576" cy="168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397" name="Freeform 5"/>
            <p:cNvSpPr>
              <a:spLocks/>
            </p:cNvSpPr>
            <p:nvPr/>
          </p:nvSpPr>
          <p:spPr bwMode="auto">
            <a:xfrm>
              <a:off x="1584" y="1488"/>
              <a:ext cx="144" cy="62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398" name="Freeform 6"/>
            <p:cNvSpPr>
              <a:spLocks/>
            </p:cNvSpPr>
            <p:nvPr/>
          </p:nvSpPr>
          <p:spPr bwMode="auto">
            <a:xfrm>
              <a:off x="1584" y="2304"/>
              <a:ext cx="144" cy="576"/>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399" name="Rectangle 7"/>
            <p:cNvSpPr>
              <a:spLocks noChangeArrowheads="1"/>
            </p:cNvSpPr>
            <p:nvPr/>
          </p:nvSpPr>
          <p:spPr bwMode="auto">
            <a:xfrm>
              <a:off x="2016" y="1056"/>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19400" name="Rectangle 8"/>
            <p:cNvSpPr>
              <a:spLocks noChangeArrowheads="1"/>
            </p:cNvSpPr>
            <p:nvPr/>
          </p:nvSpPr>
          <p:spPr bwMode="auto">
            <a:xfrm>
              <a:off x="1728" y="2112"/>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sp>
          <p:nvSpPr>
            <p:cNvPr id="2619401" name="Rectangle 9"/>
            <p:cNvSpPr>
              <a:spLocks noChangeArrowheads="1"/>
            </p:cNvSpPr>
            <p:nvPr/>
          </p:nvSpPr>
          <p:spPr bwMode="auto">
            <a:xfrm>
              <a:off x="1728" y="1344"/>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grpSp>
      <p:grpSp>
        <p:nvGrpSpPr>
          <p:cNvPr id="2619402" name="Group 10"/>
          <p:cNvGrpSpPr>
            <a:grpSpLocks/>
          </p:cNvGrpSpPr>
          <p:nvPr/>
        </p:nvGrpSpPr>
        <p:grpSpPr bwMode="auto">
          <a:xfrm>
            <a:off x="4038600" y="2211388"/>
            <a:ext cx="1676400" cy="2362200"/>
            <a:chOff x="2928" y="1344"/>
            <a:chExt cx="1145" cy="1632"/>
          </a:xfrm>
        </p:grpSpPr>
        <p:sp>
          <p:nvSpPr>
            <p:cNvPr id="2619403" name="Freeform 11"/>
            <p:cNvSpPr>
              <a:spLocks/>
            </p:cNvSpPr>
            <p:nvPr/>
          </p:nvSpPr>
          <p:spPr bwMode="auto">
            <a:xfrm>
              <a:off x="2928" y="1536"/>
              <a:ext cx="624" cy="144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404" name="Freeform 12"/>
            <p:cNvSpPr>
              <a:spLocks/>
            </p:cNvSpPr>
            <p:nvPr/>
          </p:nvSpPr>
          <p:spPr bwMode="auto">
            <a:xfrm>
              <a:off x="3050" y="1758"/>
              <a:ext cx="310" cy="107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405" name="Freeform 13"/>
            <p:cNvSpPr>
              <a:spLocks/>
            </p:cNvSpPr>
            <p:nvPr/>
          </p:nvSpPr>
          <p:spPr bwMode="auto">
            <a:xfrm>
              <a:off x="3120" y="2112"/>
              <a:ext cx="144" cy="631"/>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406" name="Rectangle 14"/>
            <p:cNvSpPr>
              <a:spLocks noChangeArrowheads="1"/>
            </p:cNvSpPr>
            <p:nvPr/>
          </p:nvSpPr>
          <p:spPr bwMode="auto">
            <a:xfrm>
              <a:off x="3504" y="1344"/>
              <a:ext cx="56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19407" name="Rectangle 15"/>
            <p:cNvSpPr>
              <a:spLocks noChangeArrowheads="1"/>
            </p:cNvSpPr>
            <p:nvPr/>
          </p:nvSpPr>
          <p:spPr bwMode="auto">
            <a:xfrm>
              <a:off x="3216" y="1968"/>
              <a:ext cx="5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sp>
          <p:nvSpPr>
            <p:cNvPr id="2619408" name="Rectangle 16"/>
            <p:cNvSpPr>
              <a:spLocks noChangeArrowheads="1"/>
            </p:cNvSpPr>
            <p:nvPr/>
          </p:nvSpPr>
          <p:spPr bwMode="auto">
            <a:xfrm>
              <a:off x="3312" y="1632"/>
              <a:ext cx="5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grpSp>
      <p:grpSp>
        <p:nvGrpSpPr>
          <p:cNvPr id="2619409" name="Group 17"/>
          <p:cNvGrpSpPr>
            <a:grpSpLocks/>
          </p:cNvGrpSpPr>
          <p:nvPr/>
        </p:nvGrpSpPr>
        <p:grpSpPr bwMode="auto">
          <a:xfrm>
            <a:off x="6781800" y="2211388"/>
            <a:ext cx="1676400" cy="2362200"/>
            <a:chOff x="2928" y="1344"/>
            <a:chExt cx="1145" cy="1632"/>
          </a:xfrm>
        </p:grpSpPr>
        <p:sp>
          <p:nvSpPr>
            <p:cNvPr id="2619410" name="Freeform 18"/>
            <p:cNvSpPr>
              <a:spLocks/>
            </p:cNvSpPr>
            <p:nvPr/>
          </p:nvSpPr>
          <p:spPr bwMode="auto">
            <a:xfrm>
              <a:off x="2928" y="1536"/>
              <a:ext cx="624" cy="144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411" name="Freeform 19"/>
            <p:cNvSpPr>
              <a:spLocks/>
            </p:cNvSpPr>
            <p:nvPr/>
          </p:nvSpPr>
          <p:spPr bwMode="auto">
            <a:xfrm>
              <a:off x="3050" y="1758"/>
              <a:ext cx="310" cy="107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412" name="Freeform 20"/>
            <p:cNvSpPr>
              <a:spLocks/>
            </p:cNvSpPr>
            <p:nvPr/>
          </p:nvSpPr>
          <p:spPr bwMode="auto">
            <a:xfrm>
              <a:off x="3120" y="2112"/>
              <a:ext cx="144" cy="631"/>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9413" name="Rectangle 21"/>
            <p:cNvSpPr>
              <a:spLocks noChangeArrowheads="1"/>
            </p:cNvSpPr>
            <p:nvPr/>
          </p:nvSpPr>
          <p:spPr bwMode="auto">
            <a:xfrm>
              <a:off x="3504" y="1344"/>
              <a:ext cx="56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19414" name="Rectangle 22"/>
            <p:cNvSpPr>
              <a:spLocks noChangeArrowheads="1"/>
            </p:cNvSpPr>
            <p:nvPr/>
          </p:nvSpPr>
          <p:spPr bwMode="auto">
            <a:xfrm>
              <a:off x="3216" y="1968"/>
              <a:ext cx="5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sp>
          <p:nvSpPr>
            <p:cNvPr id="2619415" name="Rectangle 23"/>
            <p:cNvSpPr>
              <a:spLocks noChangeArrowheads="1"/>
            </p:cNvSpPr>
            <p:nvPr/>
          </p:nvSpPr>
          <p:spPr bwMode="auto">
            <a:xfrm>
              <a:off x="3312" y="1632"/>
              <a:ext cx="5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grpSp>
    </p:spTree>
    <p:extLst>
      <p:ext uri="{BB962C8B-B14F-4D97-AF65-F5344CB8AC3E}">
        <p14:creationId xmlns:p14="http://schemas.microsoft.com/office/powerpoint/2010/main" val="3238877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19395"/>
                                        </p:tgtEl>
                                        <p:attrNameLst>
                                          <p:attrName>style.visibility</p:attrName>
                                        </p:attrNameLst>
                                      </p:cBhvr>
                                      <p:to>
                                        <p:strVal val="visible"/>
                                      </p:to>
                                    </p:set>
                                    <p:anim calcmode="lin" valueType="num">
                                      <p:cBhvr additive="base">
                                        <p:cTn id="7" dur="500" fill="hold"/>
                                        <p:tgtEl>
                                          <p:spTgt spid="2619395"/>
                                        </p:tgtEl>
                                        <p:attrNameLst>
                                          <p:attrName>ppt_x</p:attrName>
                                        </p:attrNameLst>
                                      </p:cBhvr>
                                      <p:tavLst>
                                        <p:tav tm="0">
                                          <p:val>
                                            <p:strVal val="0-#ppt_w/2"/>
                                          </p:val>
                                        </p:tav>
                                        <p:tav tm="100000">
                                          <p:val>
                                            <p:strVal val="#ppt_x"/>
                                          </p:val>
                                        </p:tav>
                                      </p:tavLst>
                                    </p:anim>
                                    <p:anim calcmode="lin" valueType="num">
                                      <p:cBhvr additive="base">
                                        <p:cTn id="8" dur="500" fill="hold"/>
                                        <p:tgtEl>
                                          <p:spTgt spid="26193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2619402"/>
                                        </p:tgtEl>
                                        <p:attrNameLst>
                                          <p:attrName>style.visibility</p:attrName>
                                        </p:attrNameLst>
                                      </p:cBhvr>
                                      <p:to>
                                        <p:strVal val="visible"/>
                                      </p:to>
                                    </p:set>
                                    <p:animEffect transition="in" filter="box(out)">
                                      <p:cBhvr>
                                        <p:cTn id="13" dur="500"/>
                                        <p:tgtEl>
                                          <p:spTgt spid="261940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2619409"/>
                                        </p:tgtEl>
                                        <p:attrNameLst>
                                          <p:attrName>style.visibility</p:attrName>
                                        </p:attrNameLst>
                                      </p:cBhvr>
                                      <p:to>
                                        <p:strVal val="visible"/>
                                      </p:to>
                                    </p:set>
                                    <p:anim calcmode="lin" valueType="num">
                                      <p:cBhvr additive="base">
                                        <p:cTn id="18" dur="500" fill="hold"/>
                                        <p:tgtEl>
                                          <p:spTgt spid="2619409"/>
                                        </p:tgtEl>
                                        <p:attrNameLst>
                                          <p:attrName>ppt_x</p:attrName>
                                        </p:attrNameLst>
                                      </p:cBhvr>
                                      <p:tavLst>
                                        <p:tav tm="0">
                                          <p:val>
                                            <p:strVal val="1+#ppt_w/2"/>
                                          </p:val>
                                        </p:tav>
                                        <p:tav tm="100000">
                                          <p:val>
                                            <p:strVal val="#ppt_x"/>
                                          </p:val>
                                        </p:tav>
                                      </p:tavLst>
                                    </p:anim>
                                    <p:anim calcmode="lin" valueType="num">
                                      <p:cBhvr additive="base">
                                        <p:cTn id="19" dur="500" fill="hold"/>
                                        <p:tgtEl>
                                          <p:spTgt spid="26194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日期占位符 3"/>
          <p:cNvSpPr>
            <a:spLocks noGrp="1"/>
          </p:cNvSpPr>
          <p:nvPr>
            <p:ph type="dt" sz="half" idx="10"/>
          </p:nvPr>
        </p:nvSpPr>
        <p:spPr/>
        <p:txBody>
          <a:bodyPr/>
          <a:lstStyle/>
          <a:p>
            <a:fld id="{886C7CF6-BED8-4956-98A2-088600F3CE85}" type="datetime1">
              <a:rPr lang="zh-CN" altLang="en-US"/>
              <a:pPr/>
              <a:t>2017/2/24</a:t>
            </a:fld>
            <a:endParaRPr lang="en-US" altLang="zh-CN"/>
          </a:p>
        </p:txBody>
      </p:sp>
      <p:sp>
        <p:nvSpPr>
          <p:cNvPr id="21" name="灯片编号占位符 5"/>
          <p:cNvSpPr>
            <a:spLocks noGrp="1"/>
          </p:cNvSpPr>
          <p:nvPr>
            <p:ph type="sldNum" sz="quarter" idx="12"/>
          </p:nvPr>
        </p:nvSpPr>
        <p:spPr/>
        <p:txBody>
          <a:bodyPr/>
          <a:lstStyle/>
          <a:p>
            <a:fld id="{7F198576-E155-4806-A00F-93B515DFD10F}" type="slidenum">
              <a:rPr lang="en-US" altLang="zh-CN"/>
              <a:pPr/>
              <a:t>83</a:t>
            </a:fld>
            <a:endParaRPr lang="en-US" altLang="zh-CN"/>
          </a:p>
        </p:txBody>
      </p:sp>
      <p:sp>
        <p:nvSpPr>
          <p:cNvPr id="2620418" name="Rectangle 2"/>
          <p:cNvSpPr>
            <a:spLocks noGrp="1" noChangeArrowheads="1"/>
          </p:cNvSpPr>
          <p:nvPr>
            <p:ph type="body" idx="1"/>
          </p:nvPr>
        </p:nvSpPr>
        <p:spPr>
          <a:xfrm>
            <a:off x="1039813" y="188913"/>
            <a:ext cx="7924800" cy="1143000"/>
          </a:xfrm>
        </p:spPr>
        <p:txBody>
          <a:bodyPr/>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问题：</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而进入</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后，</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应如何建立起自己的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a:t>
            </a:r>
          </a:p>
        </p:txBody>
      </p:sp>
      <p:grpSp>
        <p:nvGrpSpPr>
          <p:cNvPr id="2620419" name="Group 3"/>
          <p:cNvGrpSpPr>
            <a:grpSpLocks/>
          </p:cNvGrpSpPr>
          <p:nvPr/>
        </p:nvGrpSpPr>
        <p:grpSpPr bwMode="auto">
          <a:xfrm>
            <a:off x="827088" y="1476375"/>
            <a:ext cx="1524000" cy="2209800"/>
            <a:chOff x="1440" y="1056"/>
            <a:chExt cx="1248" cy="1872"/>
          </a:xfrm>
        </p:grpSpPr>
        <p:sp>
          <p:nvSpPr>
            <p:cNvPr id="2620420" name="Freeform 4"/>
            <p:cNvSpPr>
              <a:spLocks/>
            </p:cNvSpPr>
            <p:nvPr/>
          </p:nvSpPr>
          <p:spPr bwMode="auto">
            <a:xfrm>
              <a:off x="1440" y="1248"/>
              <a:ext cx="576" cy="168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0421" name="Freeform 5"/>
            <p:cNvSpPr>
              <a:spLocks/>
            </p:cNvSpPr>
            <p:nvPr/>
          </p:nvSpPr>
          <p:spPr bwMode="auto">
            <a:xfrm>
              <a:off x="1584" y="1488"/>
              <a:ext cx="144" cy="62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0422" name="Freeform 6"/>
            <p:cNvSpPr>
              <a:spLocks/>
            </p:cNvSpPr>
            <p:nvPr/>
          </p:nvSpPr>
          <p:spPr bwMode="auto">
            <a:xfrm>
              <a:off x="1584" y="2304"/>
              <a:ext cx="144" cy="576"/>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0423" name="Rectangle 7"/>
            <p:cNvSpPr>
              <a:spLocks noChangeArrowheads="1"/>
            </p:cNvSpPr>
            <p:nvPr/>
          </p:nvSpPr>
          <p:spPr bwMode="auto">
            <a:xfrm>
              <a:off x="2016" y="1056"/>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20424" name="Rectangle 8"/>
            <p:cNvSpPr>
              <a:spLocks noChangeArrowheads="1"/>
            </p:cNvSpPr>
            <p:nvPr/>
          </p:nvSpPr>
          <p:spPr bwMode="auto">
            <a:xfrm>
              <a:off x="1728" y="2112"/>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sp>
          <p:nvSpPr>
            <p:cNvPr id="2620425" name="Rectangle 9"/>
            <p:cNvSpPr>
              <a:spLocks noChangeArrowheads="1"/>
            </p:cNvSpPr>
            <p:nvPr/>
          </p:nvSpPr>
          <p:spPr bwMode="auto">
            <a:xfrm>
              <a:off x="1728" y="1344"/>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grpSp>
      <p:sp>
        <p:nvSpPr>
          <p:cNvPr id="2620426" name="Rectangle 10"/>
          <p:cNvSpPr>
            <a:spLocks noChangeArrowheads="1"/>
          </p:cNvSpPr>
          <p:nvPr/>
        </p:nvSpPr>
        <p:spPr bwMode="auto">
          <a:xfrm>
            <a:off x="2557463" y="3492500"/>
            <a:ext cx="2735262" cy="719138"/>
          </a:xfrm>
          <a:prstGeom prst="rect">
            <a:avLst/>
          </a:prstGeom>
          <a:solidFill>
            <a:srgbClr val="FF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i="1">
                <a:solidFill>
                  <a:schemeClr val="bg1"/>
                </a:solidFill>
                <a:ea typeface="楷体_GB2312" pitchFamily="49" charset="-122"/>
              </a:rPr>
              <a:t>l2</a:t>
            </a:r>
            <a:r>
              <a:rPr lang="en-US" altLang="zh-CN" b="1">
                <a:solidFill>
                  <a:schemeClr val="bg1"/>
                </a:solidFill>
                <a:ea typeface="楷体_GB2312" pitchFamily="49" charset="-122"/>
              </a:rPr>
              <a:t>: </a:t>
            </a:r>
            <a:r>
              <a:rPr kumimoji="1" lang="en-US" altLang="zh-CN" b="1">
                <a:solidFill>
                  <a:schemeClr val="bg1"/>
                </a:solidFill>
                <a:ea typeface="楷体_GB2312" pitchFamily="49" charset="-122"/>
              </a:rPr>
              <a:t>P1</a:t>
            </a:r>
            <a:r>
              <a:rPr kumimoji="1" lang="zh-CN" altLang="en-US" b="1">
                <a:solidFill>
                  <a:schemeClr val="bg1"/>
                </a:solidFill>
                <a:ea typeface="楷体_GB2312" pitchFamily="49" charset="-122"/>
              </a:rPr>
              <a:t>的最新活动记</a:t>
            </a:r>
          </a:p>
          <a:p>
            <a:pPr algn="ctr"/>
            <a:r>
              <a:rPr kumimoji="1" lang="zh-CN" altLang="en-US" b="1">
                <a:solidFill>
                  <a:schemeClr val="bg1"/>
                </a:solidFill>
                <a:ea typeface="楷体_GB2312" pitchFamily="49" charset="-122"/>
              </a:rPr>
              <a:t>录的起始地址</a:t>
            </a:r>
          </a:p>
        </p:txBody>
      </p:sp>
      <p:sp>
        <p:nvSpPr>
          <p:cNvPr id="2620427" name="Rectangle 11"/>
          <p:cNvSpPr>
            <a:spLocks noChangeArrowheads="1"/>
          </p:cNvSpPr>
          <p:nvPr/>
        </p:nvSpPr>
        <p:spPr bwMode="auto">
          <a:xfrm>
            <a:off x="2557463" y="4211638"/>
            <a:ext cx="2735262" cy="792162"/>
          </a:xfrm>
          <a:prstGeom prst="rect">
            <a:avLst/>
          </a:prstGeom>
          <a:solidFill>
            <a:srgbClr val="FF00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bg1"/>
                </a:solidFill>
                <a:ea typeface="楷体_GB2312" pitchFamily="49" charset="-122"/>
              </a:rPr>
              <a:t>P</a:t>
            </a:r>
            <a:r>
              <a:rPr kumimoji="1" lang="en-US" altLang="zh-CN" b="1">
                <a:solidFill>
                  <a:schemeClr val="bg1"/>
                </a:solidFill>
                <a:ea typeface="楷体_GB2312" pitchFamily="49" charset="-122"/>
              </a:rPr>
              <a:t>0</a:t>
            </a:r>
            <a:r>
              <a:rPr kumimoji="1" lang="zh-CN" altLang="en-US" b="1">
                <a:solidFill>
                  <a:schemeClr val="bg1"/>
                </a:solidFill>
                <a:ea typeface="楷体_GB2312" pitchFamily="49" charset="-122"/>
              </a:rPr>
              <a:t>的最新活动记</a:t>
            </a:r>
          </a:p>
          <a:p>
            <a:pPr algn="ctr"/>
            <a:r>
              <a:rPr kumimoji="1" lang="zh-CN" altLang="en-US" b="1">
                <a:solidFill>
                  <a:schemeClr val="bg1"/>
                </a:solidFill>
                <a:ea typeface="楷体_GB2312" pitchFamily="49" charset="-122"/>
              </a:rPr>
              <a:t>录的起始地址</a:t>
            </a:r>
          </a:p>
        </p:txBody>
      </p:sp>
      <p:sp>
        <p:nvSpPr>
          <p:cNvPr id="2620428" name="Text Box 12"/>
          <p:cNvSpPr txBox="1">
            <a:spLocks noChangeArrowheads="1"/>
          </p:cNvSpPr>
          <p:nvPr/>
        </p:nvSpPr>
        <p:spPr bwMode="auto">
          <a:xfrm>
            <a:off x="2952750" y="5940425"/>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a:ea typeface="楷体_GB2312" pitchFamily="49" charset="-122"/>
              </a:rPr>
              <a:t>P1</a:t>
            </a:r>
            <a:r>
              <a:rPr kumimoji="1" lang="zh-CN" altLang="en-US" b="1">
                <a:ea typeface="楷体_GB2312" pitchFamily="49" charset="-122"/>
              </a:rPr>
              <a:t>的</a:t>
            </a:r>
            <a:r>
              <a:rPr kumimoji="1" lang="en-US" altLang="zh-CN" b="1">
                <a:ea typeface="楷体_GB2312" pitchFamily="49" charset="-122"/>
              </a:rPr>
              <a:t>display</a:t>
            </a:r>
            <a:r>
              <a:rPr kumimoji="1" lang="zh-CN" altLang="en-US" b="1">
                <a:ea typeface="楷体_GB2312" pitchFamily="49" charset="-122"/>
              </a:rPr>
              <a:t>表</a:t>
            </a:r>
          </a:p>
        </p:txBody>
      </p:sp>
      <p:sp>
        <p:nvSpPr>
          <p:cNvPr id="2620429" name="Rectangle 13"/>
          <p:cNvSpPr>
            <a:spLocks noChangeArrowheads="1"/>
          </p:cNvSpPr>
          <p:nvPr/>
        </p:nvSpPr>
        <p:spPr bwMode="auto">
          <a:xfrm>
            <a:off x="5868988" y="4211638"/>
            <a:ext cx="2735262" cy="792162"/>
          </a:xfrm>
          <a:prstGeom prst="rect">
            <a:avLst/>
          </a:prstGeom>
          <a:solidFill>
            <a:srgbClr val="FF00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P0</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0430" name="Rectangle 14"/>
          <p:cNvSpPr>
            <a:spLocks noChangeArrowheads="1"/>
          </p:cNvSpPr>
          <p:nvPr/>
        </p:nvSpPr>
        <p:spPr bwMode="auto">
          <a:xfrm>
            <a:off x="5868988" y="3492500"/>
            <a:ext cx="2735262" cy="719138"/>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i="1">
                <a:solidFill>
                  <a:schemeClr val="bg1"/>
                </a:solidFill>
                <a:ea typeface="楷体_GB2312" pitchFamily="49" charset="-122"/>
              </a:rPr>
              <a:t>l2</a:t>
            </a:r>
            <a:r>
              <a:rPr lang="en-US" altLang="zh-CN" b="1">
                <a:solidFill>
                  <a:schemeClr val="bg1"/>
                </a:solidFill>
                <a:ea typeface="楷体_GB2312" pitchFamily="49" charset="-122"/>
              </a:rPr>
              <a:t>:</a:t>
            </a:r>
            <a:r>
              <a:rPr lang="en-US" altLang="zh-CN">
                <a:ea typeface="楷体_GB2312" pitchFamily="49" charset="-122"/>
              </a:rPr>
              <a:t> </a:t>
            </a:r>
            <a:r>
              <a:rPr kumimoji="1" lang="en-US" altLang="zh-CN" b="1">
                <a:solidFill>
                  <a:schemeClr val="bg1"/>
                </a:solidFill>
                <a:ea typeface="楷体_GB2312" pitchFamily="49" charset="-122"/>
              </a:rPr>
              <a:t>P2</a:t>
            </a:r>
            <a:r>
              <a:rPr kumimoji="1" lang="zh-CN" altLang="en-US" b="1">
                <a:solidFill>
                  <a:schemeClr val="bg1"/>
                </a:solidFill>
                <a:ea typeface="楷体_GB2312" pitchFamily="49" charset="-122"/>
              </a:rPr>
              <a:t>的最新活动记</a:t>
            </a:r>
          </a:p>
          <a:p>
            <a:pPr algn="ctr"/>
            <a:r>
              <a:rPr kumimoji="1" lang="zh-CN" altLang="en-US" b="1">
                <a:solidFill>
                  <a:schemeClr val="bg1"/>
                </a:solidFill>
                <a:ea typeface="楷体_GB2312" pitchFamily="49" charset="-122"/>
              </a:rPr>
              <a:t>录的起始地址</a:t>
            </a:r>
          </a:p>
        </p:txBody>
      </p:sp>
      <p:sp>
        <p:nvSpPr>
          <p:cNvPr id="2620431" name="Rectangle 15"/>
          <p:cNvSpPr>
            <a:spLocks noChangeArrowheads="1"/>
          </p:cNvSpPr>
          <p:nvPr/>
        </p:nvSpPr>
        <p:spPr bwMode="auto">
          <a:xfrm>
            <a:off x="2557463" y="5003800"/>
            <a:ext cx="2735262" cy="792163"/>
          </a:xfrm>
          <a:prstGeom prst="rect">
            <a:avLst/>
          </a:prstGeom>
          <a:solidFill>
            <a:srgbClr val="FF00FF"/>
          </a:solidFill>
          <a:ln w="12700">
            <a:solidFill>
              <a:srgbClr val="FF00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a:t>
            </a:r>
          </a:p>
        </p:txBody>
      </p:sp>
      <p:sp>
        <p:nvSpPr>
          <p:cNvPr id="2620432" name="Rectangle 16"/>
          <p:cNvSpPr>
            <a:spLocks noChangeArrowheads="1"/>
          </p:cNvSpPr>
          <p:nvPr/>
        </p:nvSpPr>
        <p:spPr bwMode="auto">
          <a:xfrm>
            <a:off x="5868988" y="5003800"/>
            <a:ext cx="2735262" cy="792163"/>
          </a:xfrm>
          <a:prstGeom prst="rect">
            <a:avLst/>
          </a:prstGeom>
          <a:solidFill>
            <a:srgbClr val="FF00FF"/>
          </a:solidFill>
          <a:ln w="12700">
            <a:solidFill>
              <a:srgbClr val="FF00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a:t>
            </a:r>
          </a:p>
        </p:txBody>
      </p:sp>
      <p:sp>
        <p:nvSpPr>
          <p:cNvPr id="2620433" name="Text Box 17"/>
          <p:cNvSpPr txBox="1">
            <a:spLocks noChangeArrowheads="1"/>
          </p:cNvSpPr>
          <p:nvPr/>
        </p:nvSpPr>
        <p:spPr bwMode="auto">
          <a:xfrm>
            <a:off x="6192838" y="5916613"/>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a:ea typeface="楷体_GB2312" pitchFamily="49" charset="-122"/>
              </a:rPr>
              <a:t>P2</a:t>
            </a:r>
            <a:r>
              <a:rPr kumimoji="1" lang="zh-CN" altLang="en-US" b="1">
                <a:ea typeface="楷体_GB2312" pitchFamily="49" charset="-122"/>
              </a:rPr>
              <a:t>的</a:t>
            </a:r>
            <a:r>
              <a:rPr kumimoji="1" lang="en-US" altLang="zh-CN" b="1">
                <a:ea typeface="楷体_GB2312" pitchFamily="49" charset="-122"/>
              </a:rPr>
              <a:t>display</a:t>
            </a:r>
            <a:r>
              <a:rPr kumimoji="1" lang="zh-CN" altLang="en-US" b="1">
                <a:ea typeface="楷体_GB2312" pitchFamily="49" charset="-122"/>
              </a:rPr>
              <a:t>表</a:t>
            </a:r>
          </a:p>
        </p:txBody>
      </p:sp>
      <p:sp>
        <p:nvSpPr>
          <p:cNvPr id="2620434" name="Text Box 18"/>
          <p:cNvSpPr txBox="1">
            <a:spLocks noChangeArrowheads="1"/>
          </p:cNvSpPr>
          <p:nvPr/>
        </p:nvSpPr>
        <p:spPr bwMode="auto">
          <a:xfrm>
            <a:off x="2484438" y="1620838"/>
            <a:ext cx="64801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CC"/>
                </a:solidFill>
                <a:ea typeface="楷体_GB2312" pitchFamily="49" charset="-122"/>
              </a:rPr>
              <a:t>从</a:t>
            </a:r>
            <a:r>
              <a:rPr lang="en-US" altLang="zh-CN" sz="2800" b="1">
                <a:solidFill>
                  <a:srgbClr val="6600CC"/>
                </a:solidFill>
                <a:ea typeface="楷体_GB2312" pitchFamily="49" charset="-122"/>
              </a:rPr>
              <a:t>P1</a:t>
            </a:r>
            <a:r>
              <a:rPr lang="zh-CN" altLang="en-US" sz="2800" b="1">
                <a:solidFill>
                  <a:srgbClr val="6600CC"/>
                </a:solidFill>
                <a:ea typeface="楷体_GB2312" pitchFamily="49" charset="-122"/>
              </a:rPr>
              <a:t>的</a:t>
            </a:r>
            <a:r>
              <a:rPr lang="en-US" altLang="zh-CN" sz="2800" b="1">
                <a:solidFill>
                  <a:srgbClr val="6600CC"/>
                </a:solidFill>
                <a:ea typeface="楷体_GB2312" pitchFamily="49" charset="-122"/>
              </a:rPr>
              <a:t>display</a:t>
            </a:r>
            <a:r>
              <a:rPr lang="zh-CN" altLang="en-US" sz="2800" b="1">
                <a:solidFill>
                  <a:srgbClr val="6600CC"/>
                </a:solidFill>
                <a:ea typeface="楷体_GB2312" pitchFamily="49" charset="-122"/>
              </a:rPr>
              <a:t>表中自底而上地取过</a:t>
            </a:r>
            <a:r>
              <a:rPr lang="en-US" altLang="zh-CN" sz="2800" b="1" i="1">
                <a:solidFill>
                  <a:srgbClr val="6600CC"/>
                </a:solidFill>
                <a:ea typeface="楷体_GB2312" pitchFamily="49" charset="-122"/>
              </a:rPr>
              <a:t>l2</a:t>
            </a:r>
            <a:r>
              <a:rPr lang="zh-CN" altLang="en-US" sz="2800" b="1">
                <a:solidFill>
                  <a:srgbClr val="6600CC"/>
                </a:solidFill>
                <a:ea typeface="楷体_GB2312" pitchFamily="49" charset="-122"/>
              </a:rPr>
              <a:t>个单元（</a:t>
            </a:r>
            <a:r>
              <a:rPr lang="en-US" altLang="zh-CN" sz="2800" b="1" i="1">
                <a:solidFill>
                  <a:srgbClr val="6600CC"/>
                </a:solidFill>
                <a:ea typeface="楷体_GB2312" pitchFamily="49" charset="-122"/>
              </a:rPr>
              <a:t>l2</a:t>
            </a:r>
            <a:r>
              <a:rPr lang="zh-CN" altLang="en-US" sz="2800" b="1">
                <a:solidFill>
                  <a:srgbClr val="6600CC"/>
                </a:solidFill>
                <a:ea typeface="楷体_GB2312" pitchFamily="49" charset="-122"/>
              </a:rPr>
              <a:t>为</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的层数）再添上进入</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后新建立的</a:t>
            </a:r>
            <a:r>
              <a:rPr lang="en-US" altLang="zh-CN" sz="2800" b="1">
                <a:solidFill>
                  <a:srgbClr val="6600CC"/>
                </a:solidFill>
                <a:ea typeface="楷体_GB2312" pitchFamily="49" charset="-122"/>
              </a:rPr>
              <a:t>SP</a:t>
            </a:r>
            <a:r>
              <a:rPr lang="zh-CN" altLang="en-US" sz="2800" b="1">
                <a:solidFill>
                  <a:srgbClr val="6600CC"/>
                </a:solidFill>
                <a:ea typeface="楷体_GB2312" pitchFamily="49" charset="-122"/>
              </a:rPr>
              <a:t>值就构成了</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的</a:t>
            </a:r>
            <a:r>
              <a:rPr lang="en-US" altLang="zh-CN" sz="2800" b="1">
                <a:solidFill>
                  <a:srgbClr val="6600CC"/>
                </a:solidFill>
                <a:ea typeface="楷体_GB2312" pitchFamily="49" charset="-122"/>
              </a:rPr>
              <a:t>display</a:t>
            </a:r>
            <a:r>
              <a:rPr lang="zh-CN" altLang="en-US" sz="2800" b="1">
                <a:solidFill>
                  <a:srgbClr val="6600CC"/>
                </a:solidFill>
                <a:ea typeface="楷体_GB2312" pitchFamily="49" charset="-122"/>
              </a:rPr>
              <a:t>表。</a:t>
            </a:r>
          </a:p>
        </p:txBody>
      </p:sp>
    </p:spTree>
    <p:extLst>
      <p:ext uri="{BB962C8B-B14F-4D97-AF65-F5344CB8AC3E}">
        <p14:creationId xmlns:p14="http://schemas.microsoft.com/office/powerpoint/2010/main" val="30827649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20419"/>
                                        </p:tgtEl>
                                        <p:attrNameLst>
                                          <p:attrName>style.visibility</p:attrName>
                                        </p:attrNameLst>
                                      </p:cBhvr>
                                      <p:to>
                                        <p:strVal val="visible"/>
                                      </p:to>
                                    </p:set>
                                    <p:anim calcmode="lin" valueType="num">
                                      <p:cBhvr additive="base">
                                        <p:cTn id="7" dur="500" fill="hold"/>
                                        <p:tgtEl>
                                          <p:spTgt spid="2620419"/>
                                        </p:tgtEl>
                                        <p:attrNameLst>
                                          <p:attrName>ppt_x</p:attrName>
                                        </p:attrNameLst>
                                      </p:cBhvr>
                                      <p:tavLst>
                                        <p:tav tm="0">
                                          <p:val>
                                            <p:strVal val="0-#ppt_w/2"/>
                                          </p:val>
                                        </p:tav>
                                        <p:tav tm="100000">
                                          <p:val>
                                            <p:strVal val="#ppt_x"/>
                                          </p:val>
                                        </p:tav>
                                      </p:tavLst>
                                    </p:anim>
                                    <p:anim calcmode="lin" valueType="num">
                                      <p:cBhvr additive="base">
                                        <p:cTn id="8" dur="500" fill="hold"/>
                                        <p:tgtEl>
                                          <p:spTgt spid="26204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620428"/>
                                        </p:tgtEl>
                                        <p:attrNameLst>
                                          <p:attrName>style.visibility</p:attrName>
                                        </p:attrNameLst>
                                      </p:cBhvr>
                                      <p:to>
                                        <p:strVal val="visible"/>
                                      </p:to>
                                    </p:set>
                                    <p:animEffect transition="in" filter="fade">
                                      <p:cBhvr>
                                        <p:cTn id="13" dur="1000"/>
                                        <p:tgtEl>
                                          <p:spTgt spid="2620428"/>
                                        </p:tgtEl>
                                      </p:cBhvr>
                                    </p:animEffect>
                                    <p:anim calcmode="lin" valueType="num">
                                      <p:cBhvr>
                                        <p:cTn id="14" dur="1000" fill="hold"/>
                                        <p:tgtEl>
                                          <p:spTgt spid="2620428"/>
                                        </p:tgtEl>
                                        <p:attrNameLst>
                                          <p:attrName>ppt_x</p:attrName>
                                        </p:attrNameLst>
                                      </p:cBhvr>
                                      <p:tavLst>
                                        <p:tav tm="0">
                                          <p:val>
                                            <p:strVal val="#ppt_x"/>
                                          </p:val>
                                        </p:tav>
                                        <p:tav tm="100000">
                                          <p:val>
                                            <p:strVal val="#ppt_x"/>
                                          </p:val>
                                        </p:tav>
                                      </p:tavLst>
                                    </p:anim>
                                    <p:anim calcmode="lin" valueType="num">
                                      <p:cBhvr>
                                        <p:cTn id="15" dur="1000" fill="hold"/>
                                        <p:tgtEl>
                                          <p:spTgt spid="2620428"/>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620431"/>
                                        </p:tgtEl>
                                        <p:attrNameLst>
                                          <p:attrName>style.visibility</p:attrName>
                                        </p:attrNameLst>
                                      </p:cBhvr>
                                      <p:to>
                                        <p:strVal val="visible"/>
                                      </p:to>
                                    </p:set>
                                    <p:animEffect transition="in" filter="fade">
                                      <p:cBhvr>
                                        <p:cTn id="20" dur="1000"/>
                                        <p:tgtEl>
                                          <p:spTgt spid="2620431"/>
                                        </p:tgtEl>
                                      </p:cBhvr>
                                    </p:animEffect>
                                    <p:anim calcmode="lin" valueType="num">
                                      <p:cBhvr>
                                        <p:cTn id="21" dur="1000" fill="hold"/>
                                        <p:tgtEl>
                                          <p:spTgt spid="2620431"/>
                                        </p:tgtEl>
                                        <p:attrNameLst>
                                          <p:attrName>ppt_x</p:attrName>
                                        </p:attrNameLst>
                                      </p:cBhvr>
                                      <p:tavLst>
                                        <p:tav tm="0">
                                          <p:val>
                                            <p:strVal val="#ppt_x"/>
                                          </p:val>
                                        </p:tav>
                                        <p:tav tm="100000">
                                          <p:val>
                                            <p:strVal val="#ppt_x"/>
                                          </p:val>
                                        </p:tav>
                                      </p:tavLst>
                                    </p:anim>
                                    <p:anim calcmode="lin" valueType="num">
                                      <p:cBhvr>
                                        <p:cTn id="22" dur="1000" fill="hold"/>
                                        <p:tgtEl>
                                          <p:spTgt spid="2620431"/>
                                        </p:tgtEl>
                                        <p:attrNameLst>
                                          <p:attrName>ppt_y</p:attrName>
                                        </p:attrNameLst>
                                      </p:cBhvr>
                                      <p:tavLst>
                                        <p:tav tm="0">
                                          <p:val>
                                            <p:strVal val="#ppt_y+.1"/>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620427"/>
                                        </p:tgtEl>
                                        <p:attrNameLst>
                                          <p:attrName>style.visibility</p:attrName>
                                        </p:attrNameLst>
                                      </p:cBhvr>
                                      <p:to>
                                        <p:strVal val="visible"/>
                                      </p:to>
                                    </p:set>
                                    <p:animEffect transition="in" filter="fade">
                                      <p:cBhvr>
                                        <p:cTn id="27" dur="1000"/>
                                        <p:tgtEl>
                                          <p:spTgt spid="2620427"/>
                                        </p:tgtEl>
                                      </p:cBhvr>
                                    </p:animEffect>
                                    <p:anim calcmode="lin" valueType="num">
                                      <p:cBhvr>
                                        <p:cTn id="28" dur="1000" fill="hold"/>
                                        <p:tgtEl>
                                          <p:spTgt spid="2620427"/>
                                        </p:tgtEl>
                                        <p:attrNameLst>
                                          <p:attrName>ppt_x</p:attrName>
                                        </p:attrNameLst>
                                      </p:cBhvr>
                                      <p:tavLst>
                                        <p:tav tm="0">
                                          <p:val>
                                            <p:strVal val="#ppt_x"/>
                                          </p:val>
                                        </p:tav>
                                        <p:tav tm="100000">
                                          <p:val>
                                            <p:strVal val="#ppt_x"/>
                                          </p:val>
                                        </p:tav>
                                      </p:tavLst>
                                    </p:anim>
                                    <p:anim calcmode="lin" valueType="num">
                                      <p:cBhvr>
                                        <p:cTn id="29" dur="1000" fill="hold"/>
                                        <p:tgtEl>
                                          <p:spTgt spid="2620427"/>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620426"/>
                                        </p:tgtEl>
                                        <p:attrNameLst>
                                          <p:attrName>style.visibility</p:attrName>
                                        </p:attrNameLst>
                                      </p:cBhvr>
                                      <p:to>
                                        <p:strVal val="visible"/>
                                      </p:to>
                                    </p:set>
                                    <p:animEffect transition="in" filter="fade">
                                      <p:cBhvr>
                                        <p:cTn id="34" dur="1000"/>
                                        <p:tgtEl>
                                          <p:spTgt spid="2620426"/>
                                        </p:tgtEl>
                                      </p:cBhvr>
                                    </p:animEffect>
                                    <p:anim calcmode="lin" valueType="num">
                                      <p:cBhvr>
                                        <p:cTn id="35" dur="1000" fill="hold"/>
                                        <p:tgtEl>
                                          <p:spTgt spid="2620426"/>
                                        </p:tgtEl>
                                        <p:attrNameLst>
                                          <p:attrName>ppt_x</p:attrName>
                                        </p:attrNameLst>
                                      </p:cBhvr>
                                      <p:tavLst>
                                        <p:tav tm="0">
                                          <p:val>
                                            <p:strVal val="#ppt_x"/>
                                          </p:val>
                                        </p:tav>
                                        <p:tav tm="100000">
                                          <p:val>
                                            <p:strVal val="#ppt_x"/>
                                          </p:val>
                                        </p:tav>
                                      </p:tavLst>
                                    </p:anim>
                                    <p:anim calcmode="lin" valueType="num">
                                      <p:cBhvr>
                                        <p:cTn id="36" dur="1000" fill="hold"/>
                                        <p:tgtEl>
                                          <p:spTgt spid="2620426"/>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620433"/>
                                        </p:tgtEl>
                                        <p:attrNameLst>
                                          <p:attrName>style.visibility</p:attrName>
                                        </p:attrNameLst>
                                      </p:cBhvr>
                                      <p:to>
                                        <p:strVal val="visible"/>
                                      </p:to>
                                    </p:set>
                                    <p:animEffect transition="in" filter="fade">
                                      <p:cBhvr>
                                        <p:cTn id="41" dur="1000"/>
                                        <p:tgtEl>
                                          <p:spTgt spid="2620433"/>
                                        </p:tgtEl>
                                      </p:cBhvr>
                                    </p:animEffect>
                                    <p:anim calcmode="lin" valueType="num">
                                      <p:cBhvr>
                                        <p:cTn id="42" dur="1000" fill="hold"/>
                                        <p:tgtEl>
                                          <p:spTgt spid="2620433"/>
                                        </p:tgtEl>
                                        <p:attrNameLst>
                                          <p:attrName>ppt_x</p:attrName>
                                        </p:attrNameLst>
                                      </p:cBhvr>
                                      <p:tavLst>
                                        <p:tav tm="0">
                                          <p:val>
                                            <p:strVal val="#ppt_x"/>
                                          </p:val>
                                        </p:tav>
                                        <p:tav tm="100000">
                                          <p:val>
                                            <p:strVal val="#ppt_x"/>
                                          </p:val>
                                        </p:tav>
                                      </p:tavLst>
                                    </p:anim>
                                    <p:anim calcmode="lin" valueType="num">
                                      <p:cBhvr>
                                        <p:cTn id="43" dur="1000" fill="hold"/>
                                        <p:tgtEl>
                                          <p:spTgt spid="2620433"/>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620432"/>
                                        </p:tgtEl>
                                        <p:attrNameLst>
                                          <p:attrName>style.visibility</p:attrName>
                                        </p:attrNameLst>
                                      </p:cBhvr>
                                      <p:to>
                                        <p:strVal val="visible"/>
                                      </p:to>
                                    </p:set>
                                    <p:animEffect transition="in" filter="fade">
                                      <p:cBhvr>
                                        <p:cTn id="48" dur="1000"/>
                                        <p:tgtEl>
                                          <p:spTgt spid="2620432"/>
                                        </p:tgtEl>
                                      </p:cBhvr>
                                    </p:animEffect>
                                    <p:anim calcmode="lin" valueType="num">
                                      <p:cBhvr>
                                        <p:cTn id="49" dur="1000" fill="hold"/>
                                        <p:tgtEl>
                                          <p:spTgt spid="2620432"/>
                                        </p:tgtEl>
                                        <p:attrNameLst>
                                          <p:attrName>ppt_x</p:attrName>
                                        </p:attrNameLst>
                                      </p:cBhvr>
                                      <p:tavLst>
                                        <p:tav tm="0">
                                          <p:val>
                                            <p:strVal val="#ppt_x"/>
                                          </p:val>
                                        </p:tav>
                                        <p:tav tm="100000">
                                          <p:val>
                                            <p:strVal val="#ppt_x"/>
                                          </p:val>
                                        </p:tav>
                                      </p:tavLst>
                                    </p:anim>
                                    <p:anim calcmode="lin" valueType="num">
                                      <p:cBhvr>
                                        <p:cTn id="50" dur="1000" fill="hold"/>
                                        <p:tgtEl>
                                          <p:spTgt spid="2620432"/>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620429"/>
                                        </p:tgtEl>
                                        <p:attrNameLst>
                                          <p:attrName>style.visibility</p:attrName>
                                        </p:attrNameLst>
                                      </p:cBhvr>
                                      <p:to>
                                        <p:strVal val="visible"/>
                                      </p:to>
                                    </p:set>
                                    <p:animEffect transition="in" filter="fade">
                                      <p:cBhvr>
                                        <p:cTn id="55" dur="1000"/>
                                        <p:tgtEl>
                                          <p:spTgt spid="2620429"/>
                                        </p:tgtEl>
                                      </p:cBhvr>
                                    </p:animEffect>
                                    <p:anim calcmode="lin" valueType="num">
                                      <p:cBhvr>
                                        <p:cTn id="56" dur="1000" fill="hold"/>
                                        <p:tgtEl>
                                          <p:spTgt spid="2620429"/>
                                        </p:tgtEl>
                                        <p:attrNameLst>
                                          <p:attrName>ppt_x</p:attrName>
                                        </p:attrNameLst>
                                      </p:cBhvr>
                                      <p:tavLst>
                                        <p:tav tm="0">
                                          <p:val>
                                            <p:strVal val="#ppt_x"/>
                                          </p:val>
                                        </p:tav>
                                        <p:tav tm="100000">
                                          <p:val>
                                            <p:strVal val="#ppt_x"/>
                                          </p:val>
                                        </p:tav>
                                      </p:tavLst>
                                    </p:anim>
                                    <p:anim calcmode="lin" valueType="num">
                                      <p:cBhvr>
                                        <p:cTn id="57" dur="1000" fill="hold"/>
                                        <p:tgtEl>
                                          <p:spTgt spid="2620429"/>
                                        </p:tgtEl>
                                        <p:attrNameLst>
                                          <p:attrName>ppt_y</p:attrName>
                                        </p:attrNameLst>
                                      </p:cBhvr>
                                      <p:tavLst>
                                        <p:tav tm="0">
                                          <p:val>
                                            <p:strVal val="#ppt_y+.1"/>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620430"/>
                                        </p:tgtEl>
                                        <p:attrNameLst>
                                          <p:attrName>style.visibility</p:attrName>
                                        </p:attrNameLst>
                                      </p:cBhvr>
                                      <p:to>
                                        <p:strVal val="visible"/>
                                      </p:to>
                                    </p:set>
                                    <p:animEffect transition="in" filter="fade">
                                      <p:cBhvr>
                                        <p:cTn id="62" dur="1000"/>
                                        <p:tgtEl>
                                          <p:spTgt spid="2620430"/>
                                        </p:tgtEl>
                                      </p:cBhvr>
                                    </p:animEffect>
                                    <p:anim calcmode="lin" valueType="num">
                                      <p:cBhvr>
                                        <p:cTn id="63" dur="1000" fill="hold"/>
                                        <p:tgtEl>
                                          <p:spTgt spid="2620430"/>
                                        </p:tgtEl>
                                        <p:attrNameLst>
                                          <p:attrName>ppt_x</p:attrName>
                                        </p:attrNameLst>
                                      </p:cBhvr>
                                      <p:tavLst>
                                        <p:tav tm="0">
                                          <p:val>
                                            <p:strVal val="#ppt_x"/>
                                          </p:val>
                                        </p:tav>
                                        <p:tav tm="100000">
                                          <p:val>
                                            <p:strVal val="#ppt_x"/>
                                          </p:val>
                                        </p:tav>
                                      </p:tavLst>
                                    </p:anim>
                                    <p:anim calcmode="lin" valueType="num">
                                      <p:cBhvr>
                                        <p:cTn id="64" dur="1000" fill="hold"/>
                                        <p:tgtEl>
                                          <p:spTgt spid="2620430"/>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620434"/>
                                        </p:tgtEl>
                                        <p:attrNameLst>
                                          <p:attrName>style.visibility</p:attrName>
                                        </p:attrNameLst>
                                      </p:cBhvr>
                                      <p:to>
                                        <p:strVal val="visible"/>
                                      </p:to>
                                    </p:set>
                                    <p:animEffect transition="in" filter="blinds(horizontal)">
                                      <p:cBhvr>
                                        <p:cTn id="69" dur="500"/>
                                        <p:tgtEl>
                                          <p:spTgt spid="2620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0426" grpId="0" animBg="1"/>
      <p:bldP spid="2620427" grpId="0" animBg="1"/>
      <p:bldP spid="2620428" grpId="0"/>
      <p:bldP spid="2620429" grpId="0" animBg="1"/>
      <p:bldP spid="2620430" grpId="0" animBg="1"/>
      <p:bldP spid="2620431" grpId="0" animBg="1"/>
      <p:bldP spid="2620432" grpId="0" animBg="1"/>
      <p:bldP spid="2620433" grpId="0"/>
      <p:bldP spid="2620434" grpId="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half" idx="10"/>
          </p:nvPr>
        </p:nvSpPr>
        <p:spPr/>
        <p:txBody>
          <a:bodyPr/>
          <a:lstStyle/>
          <a:p>
            <a:fld id="{B9E71410-F4D4-445A-86AD-5B833F967F10}" type="datetime1">
              <a:rPr lang="zh-CN" altLang="en-US"/>
              <a:pPr/>
              <a:t>2017/2/24</a:t>
            </a:fld>
            <a:endParaRPr lang="en-US" altLang="zh-CN"/>
          </a:p>
        </p:txBody>
      </p:sp>
      <p:sp>
        <p:nvSpPr>
          <p:cNvPr id="22" name="灯片编号占位符 5"/>
          <p:cNvSpPr>
            <a:spLocks noGrp="1"/>
          </p:cNvSpPr>
          <p:nvPr>
            <p:ph type="sldNum" sz="quarter" idx="12"/>
          </p:nvPr>
        </p:nvSpPr>
        <p:spPr/>
        <p:txBody>
          <a:bodyPr/>
          <a:lstStyle/>
          <a:p>
            <a:fld id="{561764DB-E897-458E-8024-546A8BC271BC}" type="slidenum">
              <a:rPr lang="en-US" altLang="zh-CN"/>
              <a:pPr/>
              <a:t>84</a:t>
            </a:fld>
            <a:endParaRPr lang="en-US" altLang="zh-CN"/>
          </a:p>
        </p:txBody>
      </p:sp>
      <p:sp>
        <p:nvSpPr>
          <p:cNvPr id="2621442" name="Rectangle 2"/>
          <p:cNvSpPr>
            <a:spLocks noGrp="1" noChangeArrowheads="1"/>
          </p:cNvSpPr>
          <p:nvPr>
            <p:ph type="body" idx="1"/>
          </p:nvPr>
        </p:nvSpPr>
        <p:spPr>
          <a:xfrm>
            <a:off x="1039813" y="188913"/>
            <a:ext cx="7924800" cy="1143000"/>
          </a:xfrm>
        </p:spPr>
        <p:txBody>
          <a:bodyPr/>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问题：</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而进入</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后，</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应如何建立起自己的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a:t>
            </a:r>
          </a:p>
        </p:txBody>
      </p:sp>
      <p:grpSp>
        <p:nvGrpSpPr>
          <p:cNvPr id="2621443" name="Group 3"/>
          <p:cNvGrpSpPr>
            <a:grpSpLocks/>
          </p:cNvGrpSpPr>
          <p:nvPr/>
        </p:nvGrpSpPr>
        <p:grpSpPr bwMode="auto">
          <a:xfrm>
            <a:off x="827088" y="1417638"/>
            <a:ext cx="1676400" cy="2362200"/>
            <a:chOff x="2928" y="1344"/>
            <a:chExt cx="1145" cy="1632"/>
          </a:xfrm>
        </p:grpSpPr>
        <p:sp>
          <p:nvSpPr>
            <p:cNvPr id="2621444" name="Freeform 4"/>
            <p:cNvSpPr>
              <a:spLocks/>
            </p:cNvSpPr>
            <p:nvPr/>
          </p:nvSpPr>
          <p:spPr bwMode="auto">
            <a:xfrm>
              <a:off x="2928" y="1536"/>
              <a:ext cx="624" cy="144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1445" name="Freeform 5"/>
            <p:cNvSpPr>
              <a:spLocks/>
            </p:cNvSpPr>
            <p:nvPr/>
          </p:nvSpPr>
          <p:spPr bwMode="auto">
            <a:xfrm>
              <a:off x="3050" y="1758"/>
              <a:ext cx="310" cy="107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1446" name="Freeform 6"/>
            <p:cNvSpPr>
              <a:spLocks/>
            </p:cNvSpPr>
            <p:nvPr/>
          </p:nvSpPr>
          <p:spPr bwMode="auto">
            <a:xfrm>
              <a:off x="3120" y="2112"/>
              <a:ext cx="144" cy="631"/>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1447" name="Rectangle 7"/>
            <p:cNvSpPr>
              <a:spLocks noChangeArrowheads="1"/>
            </p:cNvSpPr>
            <p:nvPr/>
          </p:nvSpPr>
          <p:spPr bwMode="auto">
            <a:xfrm>
              <a:off x="3504" y="1344"/>
              <a:ext cx="56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ea typeface="楷体_GB2312" pitchFamily="49" charset="-122"/>
                </a:rPr>
                <a:t>P0</a:t>
              </a:r>
              <a:endParaRPr kumimoji="1" lang="en-US" altLang="zh-CN" b="1">
                <a:ea typeface="楷体_GB2312" pitchFamily="49" charset="-122"/>
              </a:endParaRPr>
            </a:p>
          </p:txBody>
        </p:sp>
        <p:sp>
          <p:nvSpPr>
            <p:cNvPr id="2621448" name="Rectangle 8"/>
            <p:cNvSpPr>
              <a:spLocks noChangeArrowheads="1"/>
            </p:cNvSpPr>
            <p:nvPr/>
          </p:nvSpPr>
          <p:spPr bwMode="auto">
            <a:xfrm>
              <a:off x="3216" y="1968"/>
              <a:ext cx="5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ea typeface="楷体_GB2312" pitchFamily="49" charset="-122"/>
                </a:rPr>
                <a:t>P2</a:t>
              </a:r>
              <a:endParaRPr kumimoji="1" lang="en-US" altLang="zh-CN" b="1">
                <a:ea typeface="楷体_GB2312" pitchFamily="49" charset="-122"/>
              </a:endParaRPr>
            </a:p>
          </p:txBody>
        </p:sp>
        <p:sp>
          <p:nvSpPr>
            <p:cNvPr id="2621449" name="Rectangle 9"/>
            <p:cNvSpPr>
              <a:spLocks noChangeArrowheads="1"/>
            </p:cNvSpPr>
            <p:nvPr/>
          </p:nvSpPr>
          <p:spPr bwMode="auto">
            <a:xfrm>
              <a:off x="3312" y="1632"/>
              <a:ext cx="5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ea typeface="楷体_GB2312" pitchFamily="49" charset="-122"/>
                </a:rPr>
                <a:t>P1</a:t>
              </a:r>
              <a:endParaRPr kumimoji="1" lang="en-US" altLang="zh-CN" b="1">
                <a:ea typeface="楷体_GB2312" pitchFamily="49" charset="-122"/>
              </a:endParaRPr>
            </a:p>
          </p:txBody>
        </p:sp>
      </p:grpSp>
      <p:sp>
        <p:nvSpPr>
          <p:cNvPr id="2621450" name="Rectangle 10"/>
          <p:cNvSpPr>
            <a:spLocks noChangeArrowheads="1"/>
          </p:cNvSpPr>
          <p:nvPr/>
        </p:nvSpPr>
        <p:spPr bwMode="auto">
          <a:xfrm>
            <a:off x="2557463" y="3538538"/>
            <a:ext cx="2735262" cy="719137"/>
          </a:xfrm>
          <a:prstGeom prst="rect">
            <a:avLst/>
          </a:prstGeom>
          <a:solidFill>
            <a:srgbClr val="FF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i="1">
                <a:solidFill>
                  <a:schemeClr val="bg1"/>
                </a:solidFill>
                <a:ea typeface="楷体_GB2312" pitchFamily="49" charset="-122"/>
              </a:rPr>
              <a:t>l2-1</a:t>
            </a:r>
            <a:r>
              <a:rPr lang="en-US" altLang="zh-CN" b="1">
                <a:solidFill>
                  <a:schemeClr val="bg1"/>
                </a:solidFill>
                <a:ea typeface="楷体_GB2312" pitchFamily="49" charset="-122"/>
              </a:rPr>
              <a:t>:</a:t>
            </a:r>
            <a:r>
              <a:rPr lang="en-US" altLang="zh-CN">
                <a:ea typeface="楷体_GB2312" pitchFamily="49" charset="-122"/>
              </a:rPr>
              <a:t>  </a:t>
            </a:r>
            <a:r>
              <a:rPr kumimoji="1" lang="en-US" altLang="zh-CN" b="1">
                <a:solidFill>
                  <a:schemeClr val="bg1"/>
                </a:solidFill>
                <a:ea typeface="楷体_GB2312" pitchFamily="49" charset="-122"/>
              </a:rPr>
              <a:t>P1</a:t>
            </a:r>
            <a:r>
              <a:rPr kumimoji="1" lang="zh-CN" altLang="en-US" b="1">
                <a:solidFill>
                  <a:schemeClr val="bg1"/>
                </a:solidFill>
                <a:ea typeface="楷体_GB2312" pitchFamily="49" charset="-122"/>
              </a:rPr>
              <a:t>的最新活动</a:t>
            </a:r>
          </a:p>
          <a:p>
            <a:pPr algn="ctr"/>
            <a:r>
              <a:rPr kumimoji="1" lang="zh-CN" altLang="en-US" b="1">
                <a:solidFill>
                  <a:schemeClr val="bg1"/>
                </a:solidFill>
                <a:ea typeface="楷体_GB2312" pitchFamily="49" charset="-122"/>
              </a:rPr>
              <a:t>记录的起始地址</a:t>
            </a:r>
          </a:p>
        </p:txBody>
      </p:sp>
      <p:sp>
        <p:nvSpPr>
          <p:cNvPr id="2621451" name="Rectangle 11"/>
          <p:cNvSpPr>
            <a:spLocks noChangeArrowheads="1"/>
          </p:cNvSpPr>
          <p:nvPr/>
        </p:nvSpPr>
        <p:spPr bwMode="auto">
          <a:xfrm>
            <a:off x="2557463" y="4257675"/>
            <a:ext cx="2735262" cy="792163"/>
          </a:xfrm>
          <a:prstGeom prst="rect">
            <a:avLst/>
          </a:prstGeom>
          <a:solidFill>
            <a:srgbClr val="FF00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P0</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1452" name="Text Box 12"/>
          <p:cNvSpPr txBox="1">
            <a:spLocks noChangeArrowheads="1"/>
          </p:cNvSpPr>
          <p:nvPr/>
        </p:nvSpPr>
        <p:spPr bwMode="auto">
          <a:xfrm>
            <a:off x="2952750" y="5940425"/>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a:ea typeface="楷体_GB2312" pitchFamily="49" charset="-122"/>
              </a:rPr>
              <a:t>P1</a:t>
            </a:r>
            <a:r>
              <a:rPr kumimoji="1" lang="zh-CN" altLang="en-US" b="1">
                <a:ea typeface="楷体_GB2312" pitchFamily="49" charset="-122"/>
              </a:rPr>
              <a:t>的</a:t>
            </a:r>
            <a:r>
              <a:rPr kumimoji="1" lang="en-US" altLang="zh-CN" b="1">
                <a:ea typeface="楷体_GB2312" pitchFamily="49" charset="-122"/>
              </a:rPr>
              <a:t>display</a:t>
            </a:r>
            <a:r>
              <a:rPr kumimoji="1" lang="zh-CN" altLang="en-US" b="1">
                <a:ea typeface="楷体_GB2312" pitchFamily="49" charset="-122"/>
              </a:rPr>
              <a:t>表</a:t>
            </a:r>
          </a:p>
        </p:txBody>
      </p:sp>
      <p:sp>
        <p:nvSpPr>
          <p:cNvPr id="2621453" name="Rectangle 13"/>
          <p:cNvSpPr>
            <a:spLocks noChangeArrowheads="1"/>
          </p:cNvSpPr>
          <p:nvPr/>
        </p:nvSpPr>
        <p:spPr bwMode="auto">
          <a:xfrm>
            <a:off x="5868988" y="4257675"/>
            <a:ext cx="2735262" cy="792163"/>
          </a:xfrm>
          <a:prstGeom prst="rect">
            <a:avLst/>
          </a:prstGeom>
          <a:solidFill>
            <a:srgbClr val="FF00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P0</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1454" name="Rectangle 14"/>
          <p:cNvSpPr>
            <a:spLocks noChangeArrowheads="1"/>
          </p:cNvSpPr>
          <p:nvPr/>
        </p:nvSpPr>
        <p:spPr bwMode="auto">
          <a:xfrm>
            <a:off x="5868988" y="3538538"/>
            <a:ext cx="2735262" cy="719137"/>
          </a:xfrm>
          <a:prstGeom prst="rect">
            <a:avLst/>
          </a:prstGeom>
          <a:solidFill>
            <a:srgbClr val="FF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P1</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1455" name="Rectangle 15"/>
          <p:cNvSpPr>
            <a:spLocks noChangeArrowheads="1"/>
          </p:cNvSpPr>
          <p:nvPr/>
        </p:nvSpPr>
        <p:spPr bwMode="auto">
          <a:xfrm>
            <a:off x="2557463" y="5049838"/>
            <a:ext cx="2735262" cy="792162"/>
          </a:xfrm>
          <a:prstGeom prst="rect">
            <a:avLst/>
          </a:prstGeom>
          <a:solidFill>
            <a:srgbClr val="FF00FF"/>
          </a:solidFill>
          <a:ln w="12700">
            <a:solidFill>
              <a:srgbClr val="FF00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a:t>
            </a:r>
          </a:p>
        </p:txBody>
      </p:sp>
      <p:sp>
        <p:nvSpPr>
          <p:cNvPr id="2621456" name="Rectangle 16"/>
          <p:cNvSpPr>
            <a:spLocks noChangeArrowheads="1"/>
          </p:cNvSpPr>
          <p:nvPr/>
        </p:nvSpPr>
        <p:spPr bwMode="auto">
          <a:xfrm>
            <a:off x="5868988" y="5049838"/>
            <a:ext cx="2735262" cy="792162"/>
          </a:xfrm>
          <a:prstGeom prst="rect">
            <a:avLst/>
          </a:prstGeom>
          <a:solidFill>
            <a:srgbClr val="FF00FF"/>
          </a:solidFill>
          <a:ln w="12700">
            <a:solidFill>
              <a:srgbClr val="FF00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a:t>
            </a:r>
          </a:p>
        </p:txBody>
      </p:sp>
      <p:sp>
        <p:nvSpPr>
          <p:cNvPr id="2621457" name="Text Box 17"/>
          <p:cNvSpPr txBox="1">
            <a:spLocks noChangeArrowheads="1"/>
          </p:cNvSpPr>
          <p:nvPr/>
        </p:nvSpPr>
        <p:spPr bwMode="auto">
          <a:xfrm>
            <a:off x="6192838" y="5940425"/>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a:ea typeface="楷体_GB2312" pitchFamily="49" charset="-122"/>
              </a:rPr>
              <a:t>P2</a:t>
            </a:r>
            <a:r>
              <a:rPr kumimoji="1" lang="zh-CN" altLang="en-US" b="1">
                <a:ea typeface="楷体_GB2312" pitchFamily="49" charset="-122"/>
              </a:rPr>
              <a:t>的</a:t>
            </a:r>
            <a:r>
              <a:rPr kumimoji="1" lang="en-US" altLang="zh-CN" b="1">
                <a:ea typeface="楷体_GB2312" pitchFamily="49" charset="-122"/>
              </a:rPr>
              <a:t>display</a:t>
            </a:r>
            <a:r>
              <a:rPr kumimoji="1" lang="zh-CN" altLang="en-US" b="1">
                <a:ea typeface="楷体_GB2312" pitchFamily="49" charset="-122"/>
              </a:rPr>
              <a:t>表</a:t>
            </a:r>
          </a:p>
        </p:txBody>
      </p:sp>
      <p:sp>
        <p:nvSpPr>
          <p:cNvPr id="2621458" name="Text Box 18"/>
          <p:cNvSpPr txBox="1">
            <a:spLocks noChangeArrowheads="1"/>
          </p:cNvSpPr>
          <p:nvPr/>
        </p:nvSpPr>
        <p:spPr bwMode="auto">
          <a:xfrm>
            <a:off x="2555875" y="1450975"/>
            <a:ext cx="640873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CC"/>
                </a:solidFill>
                <a:ea typeface="楷体_GB2312" pitchFamily="49" charset="-122"/>
              </a:rPr>
              <a:t>从</a:t>
            </a:r>
            <a:r>
              <a:rPr lang="en-US" altLang="zh-CN" sz="2800" b="1">
                <a:solidFill>
                  <a:srgbClr val="6600CC"/>
                </a:solidFill>
                <a:ea typeface="楷体_GB2312" pitchFamily="49" charset="-122"/>
              </a:rPr>
              <a:t>P1</a:t>
            </a:r>
            <a:r>
              <a:rPr lang="zh-CN" altLang="en-US" sz="2800" b="1">
                <a:solidFill>
                  <a:srgbClr val="6600CC"/>
                </a:solidFill>
                <a:ea typeface="楷体_GB2312" pitchFamily="49" charset="-122"/>
              </a:rPr>
              <a:t>的</a:t>
            </a:r>
            <a:r>
              <a:rPr lang="en-US" altLang="zh-CN" sz="2800" b="1">
                <a:solidFill>
                  <a:srgbClr val="6600CC"/>
                </a:solidFill>
                <a:ea typeface="楷体_GB2312" pitchFamily="49" charset="-122"/>
              </a:rPr>
              <a:t>display</a:t>
            </a:r>
            <a:r>
              <a:rPr lang="zh-CN" altLang="en-US" sz="2800" b="1">
                <a:solidFill>
                  <a:srgbClr val="6600CC"/>
                </a:solidFill>
                <a:ea typeface="楷体_GB2312" pitchFamily="49" charset="-122"/>
              </a:rPr>
              <a:t>表中自底而上地取过</a:t>
            </a:r>
            <a:r>
              <a:rPr lang="en-US" altLang="zh-CN" sz="2800" b="1" i="1">
                <a:solidFill>
                  <a:srgbClr val="6600CC"/>
                </a:solidFill>
                <a:ea typeface="楷体_GB2312" pitchFamily="49" charset="-122"/>
              </a:rPr>
              <a:t>l2</a:t>
            </a:r>
            <a:r>
              <a:rPr lang="zh-CN" altLang="en-US" sz="2800" b="1">
                <a:solidFill>
                  <a:srgbClr val="6600CC"/>
                </a:solidFill>
                <a:ea typeface="楷体_GB2312" pitchFamily="49" charset="-122"/>
              </a:rPr>
              <a:t>个单元（</a:t>
            </a:r>
            <a:r>
              <a:rPr lang="en-US" altLang="zh-CN" sz="2800" b="1" i="1">
                <a:solidFill>
                  <a:srgbClr val="6600CC"/>
                </a:solidFill>
                <a:ea typeface="楷体_GB2312" pitchFamily="49" charset="-122"/>
              </a:rPr>
              <a:t>l2</a:t>
            </a:r>
            <a:r>
              <a:rPr lang="zh-CN" altLang="en-US" sz="2800" b="1">
                <a:solidFill>
                  <a:srgbClr val="6600CC"/>
                </a:solidFill>
                <a:ea typeface="楷体_GB2312" pitchFamily="49" charset="-122"/>
              </a:rPr>
              <a:t>为</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的层数）再添上进入</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后新建立的</a:t>
            </a:r>
            <a:r>
              <a:rPr lang="en-US" altLang="zh-CN" sz="2800" b="1">
                <a:solidFill>
                  <a:srgbClr val="6600CC"/>
                </a:solidFill>
                <a:ea typeface="楷体_GB2312" pitchFamily="49" charset="-122"/>
              </a:rPr>
              <a:t>SP</a:t>
            </a:r>
            <a:r>
              <a:rPr lang="zh-CN" altLang="en-US" sz="2800" b="1">
                <a:solidFill>
                  <a:srgbClr val="6600CC"/>
                </a:solidFill>
                <a:ea typeface="楷体_GB2312" pitchFamily="49" charset="-122"/>
              </a:rPr>
              <a:t>值就构成了</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的</a:t>
            </a:r>
            <a:r>
              <a:rPr lang="en-US" altLang="zh-CN" sz="2800" b="1">
                <a:solidFill>
                  <a:srgbClr val="6600CC"/>
                </a:solidFill>
                <a:ea typeface="楷体_GB2312" pitchFamily="49" charset="-122"/>
              </a:rPr>
              <a:t>display</a:t>
            </a:r>
            <a:r>
              <a:rPr lang="zh-CN" altLang="en-US" sz="2800" b="1">
                <a:solidFill>
                  <a:srgbClr val="6600CC"/>
                </a:solidFill>
                <a:ea typeface="楷体_GB2312" pitchFamily="49" charset="-122"/>
              </a:rPr>
              <a:t>表。</a:t>
            </a:r>
          </a:p>
        </p:txBody>
      </p:sp>
      <p:sp>
        <p:nvSpPr>
          <p:cNvPr id="2621459" name="Rectangle 19"/>
          <p:cNvSpPr>
            <a:spLocks noChangeArrowheads="1"/>
          </p:cNvSpPr>
          <p:nvPr/>
        </p:nvSpPr>
        <p:spPr bwMode="auto">
          <a:xfrm>
            <a:off x="5867400" y="2817813"/>
            <a:ext cx="2735263" cy="719137"/>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i="1">
                <a:solidFill>
                  <a:schemeClr val="bg1"/>
                </a:solidFill>
                <a:ea typeface="楷体_GB2312" pitchFamily="49" charset="-122"/>
              </a:rPr>
              <a:t>l2</a:t>
            </a:r>
            <a:r>
              <a:rPr lang="en-US" altLang="zh-CN" b="1">
                <a:solidFill>
                  <a:schemeClr val="bg1"/>
                </a:solidFill>
                <a:ea typeface="楷体_GB2312" pitchFamily="49" charset="-122"/>
              </a:rPr>
              <a:t>:</a:t>
            </a:r>
            <a:r>
              <a:rPr lang="en-US" altLang="zh-CN">
                <a:ea typeface="楷体_GB2312" pitchFamily="49" charset="-122"/>
              </a:rPr>
              <a:t> </a:t>
            </a:r>
            <a:r>
              <a:rPr kumimoji="1" lang="en-US" altLang="zh-CN" b="1">
                <a:solidFill>
                  <a:schemeClr val="bg1"/>
                </a:solidFill>
                <a:ea typeface="楷体_GB2312" pitchFamily="49" charset="-122"/>
              </a:rPr>
              <a:t>P2</a:t>
            </a:r>
            <a:r>
              <a:rPr kumimoji="1" lang="zh-CN" altLang="en-US" b="1">
                <a:solidFill>
                  <a:schemeClr val="bg1"/>
                </a:solidFill>
                <a:ea typeface="楷体_GB2312" pitchFamily="49" charset="-122"/>
              </a:rPr>
              <a:t>的最新活动记</a:t>
            </a:r>
          </a:p>
          <a:p>
            <a:pPr algn="ctr"/>
            <a:r>
              <a:rPr kumimoji="1" lang="zh-CN" altLang="en-US" b="1">
                <a:solidFill>
                  <a:schemeClr val="bg1"/>
                </a:solidFill>
                <a:ea typeface="楷体_GB2312" pitchFamily="49" charset="-122"/>
              </a:rPr>
              <a:t>录的起始地址</a:t>
            </a:r>
          </a:p>
        </p:txBody>
      </p:sp>
    </p:spTree>
    <p:extLst>
      <p:ext uri="{BB962C8B-B14F-4D97-AF65-F5344CB8AC3E}">
        <p14:creationId xmlns:p14="http://schemas.microsoft.com/office/powerpoint/2010/main" val="2637756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621443"/>
                                        </p:tgtEl>
                                        <p:attrNameLst>
                                          <p:attrName>style.visibility</p:attrName>
                                        </p:attrNameLst>
                                      </p:cBhvr>
                                      <p:to>
                                        <p:strVal val="visible"/>
                                      </p:to>
                                    </p:set>
                                    <p:animEffect transition="in" filter="box(out)">
                                      <p:cBhvr>
                                        <p:cTn id="7" dur="500"/>
                                        <p:tgtEl>
                                          <p:spTgt spid="26214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621452"/>
                                        </p:tgtEl>
                                        <p:attrNameLst>
                                          <p:attrName>style.visibility</p:attrName>
                                        </p:attrNameLst>
                                      </p:cBhvr>
                                      <p:to>
                                        <p:strVal val="visible"/>
                                      </p:to>
                                    </p:set>
                                    <p:animEffect transition="in" filter="fade">
                                      <p:cBhvr>
                                        <p:cTn id="12" dur="1000"/>
                                        <p:tgtEl>
                                          <p:spTgt spid="2621452"/>
                                        </p:tgtEl>
                                      </p:cBhvr>
                                    </p:animEffect>
                                    <p:anim calcmode="lin" valueType="num">
                                      <p:cBhvr>
                                        <p:cTn id="13" dur="1000" fill="hold"/>
                                        <p:tgtEl>
                                          <p:spTgt spid="2621452"/>
                                        </p:tgtEl>
                                        <p:attrNameLst>
                                          <p:attrName>ppt_x</p:attrName>
                                        </p:attrNameLst>
                                      </p:cBhvr>
                                      <p:tavLst>
                                        <p:tav tm="0">
                                          <p:val>
                                            <p:strVal val="#ppt_x"/>
                                          </p:val>
                                        </p:tav>
                                        <p:tav tm="100000">
                                          <p:val>
                                            <p:strVal val="#ppt_x"/>
                                          </p:val>
                                        </p:tav>
                                      </p:tavLst>
                                    </p:anim>
                                    <p:anim calcmode="lin" valueType="num">
                                      <p:cBhvr>
                                        <p:cTn id="14" dur="1000" fill="hold"/>
                                        <p:tgtEl>
                                          <p:spTgt spid="262145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621455"/>
                                        </p:tgtEl>
                                        <p:attrNameLst>
                                          <p:attrName>style.visibility</p:attrName>
                                        </p:attrNameLst>
                                      </p:cBhvr>
                                      <p:to>
                                        <p:strVal val="visible"/>
                                      </p:to>
                                    </p:set>
                                    <p:animEffect transition="in" filter="fade">
                                      <p:cBhvr>
                                        <p:cTn id="19" dur="1000"/>
                                        <p:tgtEl>
                                          <p:spTgt spid="2621455"/>
                                        </p:tgtEl>
                                      </p:cBhvr>
                                    </p:animEffect>
                                    <p:anim calcmode="lin" valueType="num">
                                      <p:cBhvr>
                                        <p:cTn id="20" dur="1000" fill="hold"/>
                                        <p:tgtEl>
                                          <p:spTgt spid="2621455"/>
                                        </p:tgtEl>
                                        <p:attrNameLst>
                                          <p:attrName>ppt_x</p:attrName>
                                        </p:attrNameLst>
                                      </p:cBhvr>
                                      <p:tavLst>
                                        <p:tav tm="0">
                                          <p:val>
                                            <p:strVal val="#ppt_x"/>
                                          </p:val>
                                        </p:tav>
                                        <p:tav tm="100000">
                                          <p:val>
                                            <p:strVal val="#ppt_x"/>
                                          </p:val>
                                        </p:tav>
                                      </p:tavLst>
                                    </p:anim>
                                    <p:anim calcmode="lin" valueType="num">
                                      <p:cBhvr>
                                        <p:cTn id="21" dur="1000" fill="hold"/>
                                        <p:tgtEl>
                                          <p:spTgt spid="2621455"/>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621451"/>
                                        </p:tgtEl>
                                        <p:attrNameLst>
                                          <p:attrName>style.visibility</p:attrName>
                                        </p:attrNameLst>
                                      </p:cBhvr>
                                      <p:to>
                                        <p:strVal val="visible"/>
                                      </p:to>
                                    </p:set>
                                    <p:animEffect transition="in" filter="fade">
                                      <p:cBhvr>
                                        <p:cTn id="26" dur="1000"/>
                                        <p:tgtEl>
                                          <p:spTgt spid="2621451"/>
                                        </p:tgtEl>
                                      </p:cBhvr>
                                    </p:animEffect>
                                    <p:anim calcmode="lin" valueType="num">
                                      <p:cBhvr>
                                        <p:cTn id="27" dur="1000" fill="hold"/>
                                        <p:tgtEl>
                                          <p:spTgt spid="2621451"/>
                                        </p:tgtEl>
                                        <p:attrNameLst>
                                          <p:attrName>ppt_x</p:attrName>
                                        </p:attrNameLst>
                                      </p:cBhvr>
                                      <p:tavLst>
                                        <p:tav tm="0">
                                          <p:val>
                                            <p:strVal val="#ppt_x"/>
                                          </p:val>
                                        </p:tav>
                                        <p:tav tm="100000">
                                          <p:val>
                                            <p:strVal val="#ppt_x"/>
                                          </p:val>
                                        </p:tav>
                                      </p:tavLst>
                                    </p:anim>
                                    <p:anim calcmode="lin" valueType="num">
                                      <p:cBhvr>
                                        <p:cTn id="28" dur="1000" fill="hold"/>
                                        <p:tgtEl>
                                          <p:spTgt spid="2621451"/>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621450"/>
                                        </p:tgtEl>
                                        <p:attrNameLst>
                                          <p:attrName>style.visibility</p:attrName>
                                        </p:attrNameLst>
                                      </p:cBhvr>
                                      <p:to>
                                        <p:strVal val="visible"/>
                                      </p:to>
                                    </p:set>
                                    <p:animEffect transition="in" filter="fade">
                                      <p:cBhvr>
                                        <p:cTn id="33" dur="1000"/>
                                        <p:tgtEl>
                                          <p:spTgt spid="2621450"/>
                                        </p:tgtEl>
                                      </p:cBhvr>
                                    </p:animEffect>
                                    <p:anim calcmode="lin" valueType="num">
                                      <p:cBhvr>
                                        <p:cTn id="34" dur="1000" fill="hold"/>
                                        <p:tgtEl>
                                          <p:spTgt spid="2621450"/>
                                        </p:tgtEl>
                                        <p:attrNameLst>
                                          <p:attrName>ppt_x</p:attrName>
                                        </p:attrNameLst>
                                      </p:cBhvr>
                                      <p:tavLst>
                                        <p:tav tm="0">
                                          <p:val>
                                            <p:strVal val="#ppt_x"/>
                                          </p:val>
                                        </p:tav>
                                        <p:tav tm="100000">
                                          <p:val>
                                            <p:strVal val="#ppt_x"/>
                                          </p:val>
                                        </p:tav>
                                      </p:tavLst>
                                    </p:anim>
                                    <p:anim calcmode="lin" valueType="num">
                                      <p:cBhvr>
                                        <p:cTn id="35" dur="1000" fill="hold"/>
                                        <p:tgtEl>
                                          <p:spTgt spid="2621450"/>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621457"/>
                                        </p:tgtEl>
                                        <p:attrNameLst>
                                          <p:attrName>style.visibility</p:attrName>
                                        </p:attrNameLst>
                                      </p:cBhvr>
                                      <p:to>
                                        <p:strVal val="visible"/>
                                      </p:to>
                                    </p:set>
                                    <p:animEffect transition="in" filter="fade">
                                      <p:cBhvr>
                                        <p:cTn id="40" dur="1000"/>
                                        <p:tgtEl>
                                          <p:spTgt spid="2621457"/>
                                        </p:tgtEl>
                                      </p:cBhvr>
                                    </p:animEffect>
                                    <p:anim calcmode="lin" valueType="num">
                                      <p:cBhvr>
                                        <p:cTn id="41" dur="1000" fill="hold"/>
                                        <p:tgtEl>
                                          <p:spTgt spid="2621457"/>
                                        </p:tgtEl>
                                        <p:attrNameLst>
                                          <p:attrName>ppt_x</p:attrName>
                                        </p:attrNameLst>
                                      </p:cBhvr>
                                      <p:tavLst>
                                        <p:tav tm="0">
                                          <p:val>
                                            <p:strVal val="#ppt_x"/>
                                          </p:val>
                                        </p:tav>
                                        <p:tav tm="100000">
                                          <p:val>
                                            <p:strVal val="#ppt_x"/>
                                          </p:val>
                                        </p:tav>
                                      </p:tavLst>
                                    </p:anim>
                                    <p:anim calcmode="lin" valueType="num">
                                      <p:cBhvr>
                                        <p:cTn id="42" dur="1000" fill="hold"/>
                                        <p:tgtEl>
                                          <p:spTgt spid="2621457"/>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621456"/>
                                        </p:tgtEl>
                                        <p:attrNameLst>
                                          <p:attrName>style.visibility</p:attrName>
                                        </p:attrNameLst>
                                      </p:cBhvr>
                                      <p:to>
                                        <p:strVal val="visible"/>
                                      </p:to>
                                    </p:set>
                                    <p:animEffect transition="in" filter="fade">
                                      <p:cBhvr>
                                        <p:cTn id="47" dur="1000"/>
                                        <p:tgtEl>
                                          <p:spTgt spid="2621456"/>
                                        </p:tgtEl>
                                      </p:cBhvr>
                                    </p:animEffect>
                                    <p:anim calcmode="lin" valueType="num">
                                      <p:cBhvr>
                                        <p:cTn id="48" dur="1000" fill="hold"/>
                                        <p:tgtEl>
                                          <p:spTgt spid="2621456"/>
                                        </p:tgtEl>
                                        <p:attrNameLst>
                                          <p:attrName>ppt_x</p:attrName>
                                        </p:attrNameLst>
                                      </p:cBhvr>
                                      <p:tavLst>
                                        <p:tav tm="0">
                                          <p:val>
                                            <p:strVal val="#ppt_x"/>
                                          </p:val>
                                        </p:tav>
                                        <p:tav tm="100000">
                                          <p:val>
                                            <p:strVal val="#ppt_x"/>
                                          </p:val>
                                        </p:tav>
                                      </p:tavLst>
                                    </p:anim>
                                    <p:anim calcmode="lin" valueType="num">
                                      <p:cBhvr>
                                        <p:cTn id="49" dur="1000" fill="hold"/>
                                        <p:tgtEl>
                                          <p:spTgt spid="2621456"/>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621453"/>
                                        </p:tgtEl>
                                        <p:attrNameLst>
                                          <p:attrName>style.visibility</p:attrName>
                                        </p:attrNameLst>
                                      </p:cBhvr>
                                      <p:to>
                                        <p:strVal val="visible"/>
                                      </p:to>
                                    </p:set>
                                    <p:animEffect transition="in" filter="fade">
                                      <p:cBhvr>
                                        <p:cTn id="54" dur="1000"/>
                                        <p:tgtEl>
                                          <p:spTgt spid="2621453"/>
                                        </p:tgtEl>
                                      </p:cBhvr>
                                    </p:animEffect>
                                    <p:anim calcmode="lin" valueType="num">
                                      <p:cBhvr>
                                        <p:cTn id="55" dur="1000" fill="hold"/>
                                        <p:tgtEl>
                                          <p:spTgt spid="2621453"/>
                                        </p:tgtEl>
                                        <p:attrNameLst>
                                          <p:attrName>ppt_x</p:attrName>
                                        </p:attrNameLst>
                                      </p:cBhvr>
                                      <p:tavLst>
                                        <p:tav tm="0">
                                          <p:val>
                                            <p:strVal val="#ppt_x"/>
                                          </p:val>
                                        </p:tav>
                                        <p:tav tm="100000">
                                          <p:val>
                                            <p:strVal val="#ppt_x"/>
                                          </p:val>
                                        </p:tav>
                                      </p:tavLst>
                                    </p:anim>
                                    <p:anim calcmode="lin" valueType="num">
                                      <p:cBhvr>
                                        <p:cTn id="56" dur="1000" fill="hold"/>
                                        <p:tgtEl>
                                          <p:spTgt spid="2621453"/>
                                        </p:tgtEl>
                                        <p:attrNameLst>
                                          <p:attrName>ppt_y</p:attrName>
                                        </p:attrNameLst>
                                      </p:cBhvr>
                                      <p:tavLst>
                                        <p:tav tm="0">
                                          <p:val>
                                            <p:strVal val="#ppt_y+.1"/>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621454"/>
                                        </p:tgtEl>
                                        <p:attrNameLst>
                                          <p:attrName>style.visibility</p:attrName>
                                        </p:attrNameLst>
                                      </p:cBhvr>
                                      <p:to>
                                        <p:strVal val="visible"/>
                                      </p:to>
                                    </p:set>
                                    <p:animEffect transition="in" filter="fade">
                                      <p:cBhvr>
                                        <p:cTn id="61" dur="1000"/>
                                        <p:tgtEl>
                                          <p:spTgt spid="2621454"/>
                                        </p:tgtEl>
                                      </p:cBhvr>
                                    </p:animEffect>
                                    <p:anim calcmode="lin" valueType="num">
                                      <p:cBhvr>
                                        <p:cTn id="62" dur="1000" fill="hold"/>
                                        <p:tgtEl>
                                          <p:spTgt spid="2621454"/>
                                        </p:tgtEl>
                                        <p:attrNameLst>
                                          <p:attrName>ppt_x</p:attrName>
                                        </p:attrNameLst>
                                      </p:cBhvr>
                                      <p:tavLst>
                                        <p:tav tm="0">
                                          <p:val>
                                            <p:strVal val="#ppt_x"/>
                                          </p:val>
                                        </p:tav>
                                        <p:tav tm="100000">
                                          <p:val>
                                            <p:strVal val="#ppt_x"/>
                                          </p:val>
                                        </p:tav>
                                      </p:tavLst>
                                    </p:anim>
                                    <p:anim calcmode="lin" valueType="num">
                                      <p:cBhvr>
                                        <p:cTn id="63" dur="1000" fill="hold"/>
                                        <p:tgtEl>
                                          <p:spTgt spid="2621454"/>
                                        </p:tgtEl>
                                        <p:attrNameLst>
                                          <p:attrName>ppt_y</p:attrName>
                                        </p:attrNameLst>
                                      </p:cBhvr>
                                      <p:tavLst>
                                        <p:tav tm="0">
                                          <p:val>
                                            <p:strVal val="#ppt_y+.1"/>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2621459"/>
                                        </p:tgtEl>
                                        <p:attrNameLst>
                                          <p:attrName>style.visibility</p:attrName>
                                        </p:attrNameLst>
                                      </p:cBhvr>
                                      <p:to>
                                        <p:strVal val="visible"/>
                                      </p:to>
                                    </p:set>
                                    <p:animEffect transition="in" filter="fade">
                                      <p:cBhvr>
                                        <p:cTn id="68" dur="1000"/>
                                        <p:tgtEl>
                                          <p:spTgt spid="2621459"/>
                                        </p:tgtEl>
                                      </p:cBhvr>
                                    </p:animEffect>
                                    <p:anim calcmode="lin" valueType="num">
                                      <p:cBhvr>
                                        <p:cTn id="69" dur="1000" fill="hold"/>
                                        <p:tgtEl>
                                          <p:spTgt spid="2621459"/>
                                        </p:tgtEl>
                                        <p:attrNameLst>
                                          <p:attrName>ppt_x</p:attrName>
                                        </p:attrNameLst>
                                      </p:cBhvr>
                                      <p:tavLst>
                                        <p:tav tm="0">
                                          <p:val>
                                            <p:strVal val="#ppt_x"/>
                                          </p:val>
                                        </p:tav>
                                        <p:tav tm="100000">
                                          <p:val>
                                            <p:strVal val="#ppt_x"/>
                                          </p:val>
                                        </p:tav>
                                      </p:tavLst>
                                    </p:anim>
                                    <p:anim calcmode="lin" valueType="num">
                                      <p:cBhvr>
                                        <p:cTn id="70" dur="1000" fill="hold"/>
                                        <p:tgtEl>
                                          <p:spTgt spid="2621459"/>
                                        </p:tgtEl>
                                        <p:attrNameLst>
                                          <p:attrName>ppt_y</p:attrName>
                                        </p:attrNameLst>
                                      </p:cBhvr>
                                      <p:tavLst>
                                        <p:tav tm="0">
                                          <p:val>
                                            <p:strVal val="#ppt_y+.1"/>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621458"/>
                                        </p:tgtEl>
                                        <p:attrNameLst>
                                          <p:attrName>style.visibility</p:attrName>
                                        </p:attrNameLst>
                                      </p:cBhvr>
                                      <p:to>
                                        <p:strVal val="visible"/>
                                      </p:to>
                                    </p:set>
                                    <p:animEffect transition="in" filter="blinds(horizontal)">
                                      <p:cBhvr>
                                        <p:cTn id="75" dur="500"/>
                                        <p:tgtEl>
                                          <p:spTgt spid="2621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50" grpId="0" animBg="1"/>
      <p:bldP spid="2621451" grpId="0" animBg="1"/>
      <p:bldP spid="2621452" grpId="0"/>
      <p:bldP spid="2621453" grpId="0" animBg="1"/>
      <p:bldP spid="2621454" grpId="0" animBg="1"/>
      <p:bldP spid="2621455" grpId="0" animBg="1"/>
      <p:bldP spid="2621456" grpId="0" animBg="1"/>
      <p:bldP spid="2621457" grpId="0"/>
      <p:bldP spid="2621458" grpId="0"/>
      <p:bldP spid="2621459"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half" idx="10"/>
          </p:nvPr>
        </p:nvSpPr>
        <p:spPr/>
        <p:txBody>
          <a:bodyPr/>
          <a:lstStyle/>
          <a:p>
            <a:fld id="{C6C16BF3-3131-407B-AC1C-6A4BB701A834}" type="datetime1">
              <a:rPr lang="zh-CN" altLang="en-US"/>
              <a:pPr/>
              <a:t>2017/2/24</a:t>
            </a:fld>
            <a:endParaRPr lang="en-US" altLang="zh-CN"/>
          </a:p>
        </p:txBody>
      </p:sp>
      <p:sp>
        <p:nvSpPr>
          <p:cNvPr id="22" name="灯片编号占位符 5"/>
          <p:cNvSpPr>
            <a:spLocks noGrp="1"/>
          </p:cNvSpPr>
          <p:nvPr>
            <p:ph type="sldNum" sz="quarter" idx="12"/>
          </p:nvPr>
        </p:nvSpPr>
        <p:spPr/>
        <p:txBody>
          <a:bodyPr/>
          <a:lstStyle/>
          <a:p>
            <a:fld id="{9ECC0BD4-EDE2-478B-9653-5689A1B65D66}" type="slidenum">
              <a:rPr lang="en-US" altLang="zh-CN"/>
              <a:pPr/>
              <a:t>85</a:t>
            </a:fld>
            <a:endParaRPr lang="en-US" altLang="zh-CN"/>
          </a:p>
        </p:txBody>
      </p:sp>
      <p:sp>
        <p:nvSpPr>
          <p:cNvPr id="2622466" name="Rectangle 2"/>
          <p:cNvSpPr>
            <a:spLocks noGrp="1" noChangeArrowheads="1"/>
          </p:cNvSpPr>
          <p:nvPr>
            <p:ph type="body" idx="1"/>
          </p:nvPr>
        </p:nvSpPr>
        <p:spPr>
          <a:xfrm>
            <a:off x="1039813" y="188913"/>
            <a:ext cx="7924800" cy="1143000"/>
          </a:xfrm>
        </p:spPr>
        <p:txBody>
          <a:bodyPr/>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问题：</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而进入</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后，</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应如何建立起自己的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a:t>
            </a:r>
          </a:p>
        </p:txBody>
      </p:sp>
      <p:grpSp>
        <p:nvGrpSpPr>
          <p:cNvPr id="2622467" name="Group 3"/>
          <p:cNvGrpSpPr>
            <a:grpSpLocks/>
          </p:cNvGrpSpPr>
          <p:nvPr/>
        </p:nvGrpSpPr>
        <p:grpSpPr bwMode="auto">
          <a:xfrm>
            <a:off x="755650" y="1417638"/>
            <a:ext cx="1676400" cy="2362200"/>
            <a:chOff x="2928" y="1344"/>
            <a:chExt cx="1145" cy="1632"/>
          </a:xfrm>
        </p:grpSpPr>
        <p:sp>
          <p:nvSpPr>
            <p:cNvPr id="2622468" name="Freeform 4"/>
            <p:cNvSpPr>
              <a:spLocks/>
            </p:cNvSpPr>
            <p:nvPr/>
          </p:nvSpPr>
          <p:spPr bwMode="auto">
            <a:xfrm>
              <a:off x="2928" y="1536"/>
              <a:ext cx="624" cy="144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2469" name="Freeform 5"/>
            <p:cNvSpPr>
              <a:spLocks/>
            </p:cNvSpPr>
            <p:nvPr/>
          </p:nvSpPr>
          <p:spPr bwMode="auto">
            <a:xfrm>
              <a:off x="3050" y="1758"/>
              <a:ext cx="310" cy="107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2470" name="Freeform 6"/>
            <p:cNvSpPr>
              <a:spLocks/>
            </p:cNvSpPr>
            <p:nvPr/>
          </p:nvSpPr>
          <p:spPr bwMode="auto">
            <a:xfrm>
              <a:off x="3120" y="2112"/>
              <a:ext cx="144" cy="631"/>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2471" name="Rectangle 7"/>
            <p:cNvSpPr>
              <a:spLocks noChangeArrowheads="1"/>
            </p:cNvSpPr>
            <p:nvPr/>
          </p:nvSpPr>
          <p:spPr bwMode="auto">
            <a:xfrm>
              <a:off x="3504" y="1344"/>
              <a:ext cx="56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ea typeface="楷体_GB2312" pitchFamily="49" charset="-122"/>
                </a:rPr>
                <a:t>P0</a:t>
              </a:r>
              <a:endParaRPr kumimoji="1" lang="en-US" altLang="zh-CN" b="1">
                <a:ea typeface="楷体_GB2312" pitchFamily="49" charset="-122"/>
              </a:endParaRPr>
            </a:p>
          </p:txBody>
        </p:sp>
        <p:sp>
          <p:nvSpPr>
            <p:cNvPr id="2622472" name="Rectangle 8"/>
            <p:cNvSpPr>
              <a:spLocks noChangeArrowheads="1"/>
            </p:cNvSpPr>
            <p:nvPr/>
          </p:nvSpPr>
          <p:spPr bwMode="auto">
            <a:xfrm>
              <a:off x="3216" y="1968"/>
              <a:ext cx="5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ea typeface="楷体_GB2312" pitchFamily="49" charset="-122"/>
                </a:rPr>
                <a:t>P1</a:t>
              </a:r>
              <a:endParaRPr kumimoji="1" lang="en-US" altLang="zh-CN" b="1">
                <a:ea typeface="楷体_GB2312" pitchFamily="49" charset="-122"/>
              </a:endParaRPr>
            </a:p>
          </p:txBody>
        </p:sp>
        <p:sp>
          <p:nvSpPr>
            <p:cNvPr id="2622473" name="Rectangle 9"/>
            <p:cNvSpPr>
              <a:spLocks noChangeArrowheads="1"/>
            </p:cNvSpPr>
            <p:nvPr/>
          </p:nvSpPr>
          <p:spPr bwMode="auto">
            <a:xfrm>
              <a:off x="3312" y="1632"/>
              <a:ext cx="5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ea typeface="楷体_GB2312" pitchFamily="49" charset="-122"/>
                </a:rPr>
                <a:t>P2</a:t>
              </a:r>
              <a:endParaRPr kumimoji="1" lang="en-US" altLang="zh-CN" b="1">
                <a:ea typeface="楷体_GB2312" pitchFamily="49" charset="-122"/>
              </a:endParaRPr>
            </a:p>
          </p:txBody>
        </p:sp>
      </p:grpSp>
      <p:sp>
        <p:nvSpPr>
          <p:cNvPr id="2622474" name="Rectangle 10"/>
          <p:cNvSpPr>
            <a:spLocks noChangeArrowheads="1"/>
          </p:cNvSpPr>
          <p:nvPr/>
        </p:nvSpPr>
        <p:spPr bwMode="auto">
          <a:xfrm>
            <a:off x="2555875" y="2817813"/>
            <a:ext cx="2735263" cy="719137"/>
          </a:xfrm>
          <a:prstGeom prst="rect">
            <a:avLst/>
          </a:prstGeom>
          <a:solidFill>
            <a:srgbClr val="FF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P1</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2475" name="Rectangle 11"/>
          <p:cNvSpPr>
            <a:spLocks noChangeArrowheads="1"/>
          </p:cNvSpPr>
          <p:nvPr/>
        </p:nvSpPr>
        <p:spPr bwMode="auto">
          <a:xfrm>
            <a:off x="2557463" y="4257675"/>
            <a:ext cx="2735262" cy="792163"/>
          </a:xfrm>
          <a:prstGeom prst="rect">
            <a:avLst/>
          </a:prstGeom>
          <a:solidFill>
            <a:srgbClr val="FF00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P0</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2476" name="Text Box 12"/>
          <p:cNvSpPr txBox="1">
            <a:spLocks noChangeArrowheads="1"/>
          </p:cNvSpPr>
          <p:nvPr/>
        </p:nvSpPr>
        <p:spPr bwMode="auto">
          <a:xfrm>
            <a:off x="2952750" y="5940425"/>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a:ea typeface="楷体_GB2312" pitchFamily="49" charset="-122"/>
              </a:rPr>
              <a:t>P1</a:t>
            </a:r>
            <a:r>
              <a:rPr kumimoji="1" lang="zh-CN" altLang="en-US" b="1">
                <a:ea typeface="楷体_GB2312" pitchFamily="49" charset="-122"/>
              </a:rPr>
              <a:t>的</a:t>
            </a:r>
            <a:r>
              <a:rPr kumimoji="1" lang="en-US" altLang="zh-CN" b="1">
                <a:ea typeface="楷体_GB2312" pitchFamily="49" charset="-122"/>
              </a:rPr>
              <a:t>display</a:t>
            </a:r>
            <a:r>
              <a:rPr kumimoji="1" lang="zh-CN" altLang="en-US" b="1">
                <a:ea typeface="楷体_GB2312" pitchFamily="49" charset="-122"/>
              </a:rPr>
              <a:t>表</a:t>
            </a:r>
          </a:p>
        </p:txBody>
      </p:sp>
      <p:sp>
        <p:nvSpPr>
          <p:cNvPr id="2622477" name="Rectangle 13"/>
          <p:cNvSpPr>
            <a:spLocks noChangeArrowheads="1"/>
          </p:cNvSpPr>
          <p:nvPr/>
        </p:nvSpPr>
        <p:spPr bwMode="auto">
          <a:xfrm>
            <a:off x="5868988" y="4257675"/>
            <a:ext cx="2735262" cy="792163"/>
          </a:xfrm>
          <a:prstGeom prst="rect">
            <a:avLst/>
          </a:prstGeom>
          <a:solidFill>
            <a:srgbClr val="FF00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P0</a:t>
            </a:r>
            <a:r>
              <a:rPr kumimoji="1" lang="zh-CN" altLang="en-US" b="1">
                <a:solidFill>
                  <a:schemeClr val="bg1"/>
                </a:solidFill>
                <a:ea typeface="楷体_GB2312" pitchFamily="49" charset="-122"/>
              </a:rPr>
              <a:t>的最新活动记录</a:t>
            </a:r>
          </a:p>
          <a:p>
            <a:pPr algn="ctr"/>
            <a:r>
              <a:rPr kumimoji="1" lang="zh-CN" altLang="en-US" b="1">
                <a:solidFill>
                  <a:schemeClr val="bg1"/>
                </a:solidFill>
                <a:ea typeface="楷体_GB2312" pitchFamily="49" charset="-122"/>
              </a:rPr>
              <a:t>的起始地址</a:t>
            </a:r>
          </a:p>
        </p:txBody>
      </p:sp>
      <p:sp>
        <p:nvSpPr>
          <p:cNvPr id="2622478" name="Rectangle 14"/>
          <p:cNvSpPr>
            <a:spLocks noChangeArrowheads="1"/>
          </p:cNvSpPr>
          <p:nvPr/>
        </p:nvSpPr>
        <p:spPr bwMode="auto">
          <a:xfrm>
            <a:off x="2557463" y="5049838"/>
            <a:ext cx="2735262" cy="792162"/>
          </a:xfrm>
          <a:prstGeom prst="rect">
            <a:avLst/>
          </a:prstGeom>
          <a:solidFill>
            <a:srgbClr val="FF00FF"/>
          </a:solidFill>
          <a:ln w="12700">
            <a:solidFill>
              <a:srgbClr val="FF00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a:t>
            </a:r>
          </a:p>
        </p:txBody>
      </p:sp>
      <p:sp>
        <p:nvSpPr>
          <p:cNvPr id="2622479" name="Rectangle 15"/>
          <p:cNvSpPr>
            <a:spLocks noChangeArrowheads="1"/>
          </p:cNvSpPr>
          <p:nvPr/>
        </p:nvSpPr>
        <p:spPr bwMode="auto">
          <a:xfrm>
            <a:off x="5868988" y="5049838"/>
            <a:ext cx="2735262" cy="792162"/>
          </a:xfrm>
          <a:prstGeom prst="rect">
            <a:avLst/>
          </a:prstGeom>
          <a:solidFill>
            <a:srgbClr val="FF00FF"/>
          </a:solidFill>
          <a:ln w="12700">
            <a:solidFill>
              <a:srgbClr val="FF00FF"/>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chemeClr val="bg1"/>
                </a:solidFill>
                <a:ea typeface="楷体_GB2312" pitchFamily="49" charset="-122"/>
              </a:rPr>
              <a:t>……</a:t>
            </a:r>
          </a:p>
        </p:txBody>
      </p:sp>
      <p:sp>
        <p:nvSpPr>
          <p:cNvPr id="2622480" name="Text Box 16"/>
          <p:cNvSpPr txBox="1">
            <a:spLocks noChangeArrowheads="1"/>
          </p:cNvSpPr>
          <p:nvPr/>
        </p:nvSpPr>
        <p:spPr bwMode="auto">
          <a:xfrm>
            <a:off x="6192838" y="5940425"/>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a:ea typeface="楷体_GB2312" pitchFamily="49" charset="-122"/>
              </a:rPr>
              <a:t>P2</a:t>
            </a:r>
            <a:r>
              <a:rPr kumimoji="1" lang="zh-CN" altLang="en-US" b="1">
                <a:ea typeface="楷体_GB2312" pitchFamily="49" charset="-122"/>
              </a:rPr>
              <a:t>的</a:t>
            </a:r>
            <a:r>
              <a:rPr kumimoji="1" lang="en-US" altLang="zh-CN" b="1">
                <a:ea typeface="楷体_GB2312" pitchFamily="49" charset="-122"/>
              </a:rPr>
              <a:t>display</a:t>
            </a:r>
            <a:r>
              <a:rPr kumimoji="1" lang="zh-CN" altLang="en-US" b="1">
                <a:ea typeface="楷体_GB2312" pitchFamily="49" charset="-122"/>
              </a:rPr>
              <a:t>表</a:t>
            </a:r>
          </a:p>
        </p:txBody>
      </p:sp>
      <p:sp>
        <p:nvSpPr>
          <p:cNvPr id="2622481" name="Text Box 17"/>
          <p:cNvSpPr txBox="1">
            <a:spLocks noChangeArrowheads="1"/>
          </p:cNvSpPr>
          <p:nvPr/>
        </p:nvSpPr>
        <p:spPr bwMode="auto">
          <a:xfrm>
            <a:off x="2555875" y="1450975"/>
            <a:ext cx="640873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6600CC"/>
                </a:solidFill>
                <a:ea typeface="楷体_GB2312" pitchFamily="49" charset="-122"/>
              </a:rPr>
              <a:t>从</a:t>
            </a:r>
            <a:r>
              <a:rPr lang="en-US" altLang="zh-CN" sz="2800" b="1">
                <a:solidFill>
                  <a:srgbClr val="6600CC"/>
                </a:solidFill>
                <a:ea typeface="楷体_GB2312" pitchFamily="49" charset="-122"/>
              </a:rPr>
              <a:t>P1</a:t>
            </a:r>
            <a:r>
              <a:rPr lang="zh-CN" altLang="en-US" sz="2800" b="1">
                <a:solidFill>
                  <a:srgbClr val="6600CC"/>
                </a:solidFill>
                <a:ea typeface="楷体_GB2312" pitchFamily="49" charset="-122"/>
              </a:rPr>
              <a:t>的</a:t>
            </a:r>
            <a:r>
              <a:rPr lang="en-US" altLang="zh-CN" sz="2800" b="1">
                <a:solidFill>
                  <a:srgbClr val="6600CC"/>
                </a:solidFill>
                <a:ea typeface="楷体_GB2312" pitchFamily="49" charset="-122"/>
              </a:rPr>
              <a:t>display</a:t>
            </a:r>
            <a:r>
              <a:rPr lang="zh-CN" altLang="en-US" sz="2800" b="1">
                <a:solidFill>
                  <a:srgbClr val="6600CC"/>
                </a:solidFill>
                <a:ea typeface="楷体_GB2312" pitchFamily="49" charset="-122"/>
              </a:rPr>
              <a:t>表中自底而上地取过</a:t>
            </a:r>
            <a:r>
              <a:rPr lang="en-US" altLang="zh-CN" sz="2800" b="1" i="1">
                <a:solidFill>
                  <a:srgbClr val="6600CC"/>
                </a:solidFill>
                <a:ea typeface="楷体_GB2312" pitchFamily="49" charset="-122"/>
              </a:rPr>
              <a:t>l2</a:t>
            </a:r>
            <a:r>
              <a:rPr lang="zh-CN" altLang="en-US" sz="2800" b="1">
                <a:solidFill>
                  <a:srgbClr val="6600CC"/>
                </a:solidFill>
                <a:ea typeface="楷体_GB2312" pitchFamily="49" charset="-122"/>
              </a:rPr>
              <a:t>个单元（</a:t>
            </a:r>
            <a:r>
              <a:rPr lang="en-US" altLang="zh-CN" sz="2800" b="1" i="1">
                <a:solidFill>
                  <a:srgbClr val="6600CC"/>
                </a:solidFill>
                <a:ea typeface="楷体_GB2312" pitchFamily="49" charset="-122"/>
              </a:rPr>
              <a:t>l2</a:t>
            </a:r>
            <a:r>
              <a:rPr lang="zh-CN" altLang="en-US" sz="2800" b="1">
                <a:solidFill>
                  <a:srgbClr val="6600CC"/>
                </a:solidFill>
                <a:ea typeface="楷体_GB2312" pitchFamily="49" charset="-122"/>
              </a:rPr>
              <a:t>为</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的层数）再添上进入</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后新建立的</a:t>
            </a:r>
            <a:r>
              <a:rPr lang="en-US" altLang="zh-CN" sz="2800" b="1">
                <a:solidFill>
                  <a:srgbClr val="6600CC"/>
                </a:solidFill>
                <a:ea typeface="楷体_GB2312" pitchFamily="49" charset="-122"/>
              </a:rPr>
              <a:t>SP</a:t>
            </a:r>
            <a:r>
              <a:rPr lang="zh-CN" altLang="en-US" sz="2800" b="1">
                <a:solidFill>
                  <a:srgbClr val="6600CC"/>
                </a:solidFill>
                <a:ea typeface="楷体_GB2312" pitchFamily="49" charset="-122"/>
              </a:rPr>
              <a:t>值就构成了</a:t>
            </a:r>
            <a:r>
              <a:rPr lang="en-US" altLang="zh-CN" sz="2800" b="1">
                <a:solidFill>
                  <a:srgbClr val="6600CC"/>
                </a:solidFill>
                <a:ea typeface="楷体_GB2312" pitchFamily="49" charset="-122"/>
              </a:rPr>
              <a:t>P2</a:t>
            </a:r>
            <a:r>
              <a:rPr lang="zh-CN" altLang="en-US" sz="2800" b="1">
                <a:solidFill>
                  <a:srgbClr val="6600CC"/>
                </a:solidFill>
                <a:ea typeface="楷体_GB2312" pitchFamily="49" charset="-122"/>
              </a:rPr>
              <a:t>的</a:t>
            </a:r>
            <a:r>
              <a:rPr lang="en-US" altLang="zh-CN" sz="2800" b="1">
                <a:solidFill>
                  <a:srgbClr val="6600CC"/>
                </a:solidFill>
                <a:ea typeface="楷体_GB2312" pitchFamily="49" charset="-122"/>
              </a:rPr>
              <a:t>display</a:t>
            </a:r>
            <a:r>
              <a:rPr lang="zh-CN" altLang="en-US" sz="2800" b="1">
                <a:solidFill>
                  <a:srgbClr val="6600CC"/>
                </a:solidFill>
                <a:ea typeface="楷体_GB2312" pitchFamily="49" charset="-122"/>
              </a:rPr>
              <a:t>表。</a:t>
            </a:r>
          </a:p>
        </p:txBody>
      </p:sp>
      <p:sp>
        <p:nvSpPr>
          <p:cNvPr id="2622482" name="Rectangle 18"/>
          <p:cNvSpPr>
            <a:spLocks noChangeArrowheads="1"/>
          </p:cNvSpPr>
          <p:nvPr/>
        </p:nvSpPr>
        <p:spPr bwMode="auto">
          <a:xfrm>
            <a:off x="5867400" y="3538538"/>
            <a:ext cx="2735263" cy="719137"/>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i="1">
                <a:solidFill>
                  <a:schemeClr val="bg1"/>
                </a:solidFill>
                <a:ea typeface="楷体_GB2312" pitchFamily="49" charset="-122"/>
              </a:rPr>
              <a:t>l2</a:t>
            </a:r>
            <a:r>
              <a:rPr kumimoji="1" lang="en-US" altLang="zh-CN" b="1">
                <a:solidFill>
                  <a:schemeClr val="bg1"/>
                </a:solidFill>
                <a:ea typeface="楷体_GB2312" pitchFamily="49" charset="-122"/>
              </a:rPr>
              <a:t>:</a:t>
            </a:r>
            <a:r>
              <a:rPr kumimoji="1" lang="en-US" altLang="zh-CN">
                <a:ea typeface="楷体_GB2312" pitchFamily="49" charset="-122"/>
              </a:rPr>
              <a:t> </a:t>
            </a:r>
            <a:r>
              <a:rPr kumimoji="1" lang="en-US" altLang="zh-CN" b="1">
                <a:solidFill>
                  <a:schemeClr val="bg1"/>
                </a:solidFill>
                <a:ea typeface="楷体_GB2312" pitchFamily="49" charset="-122"/>
              </a:rPr>
              <a:t>P2</a:t>
            </a:r>
            <a:r>
              <a:rPr kumimoji="1" lang="zh-CN" altLang="en-US" b="1">
                <a:solidFill>
                  <a:schemeClr val="bg1"/>
                </a:solidFill>
                <a:ea typeface="楷体_GB2312" pitchFamily="49" charset="-122"/>
              </a:rPr>
              <a:t>的最新活动</a:t>
            </a:r>
          </a:p>
          <a:p>
            <a:pPr algn="ctr"/>
            <a:r>
              <a:rPr kumimoji="1" lang="zh-CN" altLang="en-US" b="1">
                <a:solidFill>
                  <a:schemeClr val="bg1"/>
                </a:solidFill>
                <a:ea typeface="楷体_GB2312" pitchFamily="49" charset="-122"/>
              </a:rPr>
              <a:t>记录的起始地址</a:t>
            </a:r>
          </a:p>
        </p:txBody>
      </p:sp>
      <p:sp>
        <p:nvSpPr>
          <p:cNvPr id="2622483" name="Rectangle 19"/>
          <p:cNvSpPr>
            <a:spLocks noChangeArrowheads="1"/>
          </p:cNvSpPr>
          <p:nvPr/>
        </p:nvSpPr>
        <p:spPr bwMode="auto">
          <a:xfrm>
            <a:off x="2555875" y="3538538"/>
            <a:ext cx="2735263" cy="719137"/>
          </a:xfrm>
          <a:prstGeom prst="rect">
            <a:avLst/>
          </a:prstGeom>
          <a:solidFill>
            <a:srgbClr val="0000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i="1">
                <a:solidFill>
                  <a:schemeClr val="bg1"/>
                </a:solidFill>
                <a:ea typeface="楷体_GB2312" pitchFamily="49" charset="-122"/>
              </a:rPr>
              <a:t>l2</a:t>
            </a:r>
            <a:r>
              <a:rPr kumimoji="1" lang="en-US" altLang="zh-CN" b="1">
                <a:solidFill>
                  <a:schemeClr val="bg1"/>
                </a:solidFill>
                <a:ea typeface="楷体_GB2312" pitchFamily="49" charset="-122"/>
              </a:rPr>
              <a:t>:   P2</a:t>
            </a:r>
            <a:r>
              <a:rPr kumimoji="1" lang="zh-CN" altLang="en-US" b="1">
                <a:solidFill>
                  <a:schemeClr val="bg1"/>
                </a:solidFill>
                <a:ea typeface="楷体_GB2312" pitchFamily="49" charset="-122"/>
              </a:rPr>
              <a:t>的最新活动</a:t>
            </a:r>
          </a:p>
          <a:p>
            <a:pPr algn="ctr"/>
            <a:r>
              <a:rPr kumimoji="1" lang="zh-CN" altLang="en-US" b="1">
                <a:solidFill>
                  <a:schemeClr val="bg1"/>
                </a:solidFill>
                <a:ea typeface="楷体_GB2312" pitchFamily="49" charset="-122"/>
              </a:rPr>
              <a:t>记录的起始地址</a:t>
            </a:r>
          </a:p>
        </p:txBody>
      </p:sp>
    </p:spTree>
    <p:extLst>
      <p:ext uri="{BB962C8B-B14F-4D97-AF65-F5344CB8AC3E}">
        <p14:creationId xmlns:p14="http://schemas.microsoft.com/office/powerpoint/2010/main" val="4274563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622467"/>
                                        </p:tgtEl>
                                        <p:attrNameLst>
                                          <p:attrName>style.visibility</p:attrName>
                                        </p:attrNameLst>
                                      </p:cBhvr>
                                      <p:to>
                                        <p:strVal val="visible"/>
                                      </p:to>
                                    </p:set>
                                    <p:anim calcmode="lin" valueType="num">
                                      <p:cBhvr additive="base">
                                        <p:cTn id="7" dur="500" fill="hold"/>
                                        <p:tgtEl>
                                          <p:spTgt spid="2622467"/>
                                        </p:tgtEl>
                                        <p:attrNameLst>
                                          <p:attrName>ppt_x</p:attrName>
                                        </p:attrNameLst>
                                      </p:cBhvr>
                                      <p:tavLst>
                                        <p:tav tm="0">
                                          <p:val>
                                            <p:strVal val="1+#ppt_w/2"/>
                                          </p:val>
                                        </p:tav>
                                        <p:tav tm="100000">
                                          <p:val>
                                            <p:strVal val="#ppt_x"/>
                                          </p:val>
                                        </p:tav>
                                      </p:tavLst>
                                    </p:anim>
                                    <p:anim calcmode="lin" valueType="num">
                                      <p:cBhvr additive="base">
                                        <p:cTn id="8" dur="500" fill="hold"/>
                                        <p:tgtEl>
                                          <p:spTgt spid="26224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622476"/>
                                        </p:tgtEl>
                                        <p:attrNameLst>
                                          <p:attrName>style.visibility</p:attrName>
                                        </p:attrNameLst>
                                      </p:cBhvr>
                                      <p:to>
                                        <p:strVal val="visible"/>
                                      </p:to>
                                    </p:set>
                                    <p:animEffect transition="in" filter="fade">
                                      <p:cBhvr>
                                        <p:cTn id="13" dur="1000"/>
                                        <p:tgtEl>
                                          <p:spTgt spid="2622476"/>
                                        </p:tgtEl>
                                      </p:cBhvr>
                                    </p:animEffect>
                                    <p:anim calcmode="lin" valueType="num">
                                      <p:cBhvr>
                                        <p:cTn id="14" dur="1000" fill="hold"/>
                                        <p:tgtEl>
                                          <p:spTgt spid="2622476"/>
                                        </p:tgtEl>
                                        <p:attrNameLst>
                                          <p:attrName>ppt_x</p:attrName>
                                        </p:attrNameLst>
                                      </p:cBhvr>
                                      <p:tavLst>
                                        <p:tav tm="0">
                                          <p:val>
                                            <p:strVal val="#ppt_x"/>
                                          </p:val>
                                        </p:tav>
                                        <p:tav tm="100000">
                                          <p:val>
                                            <p:strVal val="#ppt_x"/>
                                          </p:val>
                                        </p:tav>
                                      </p:tavLst>
                                    </p:anim>
                                    <p:anim calcmode="lin" valueType="num">
                                      <p:cBhvr>
                                        <p:cTn id="15" dur="1000" fill="hold"/>
                                        <p:tgtEl>
                                          <p:spTgt spid="2622476"/>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622478"/>
                                        </p:tgtEl>
                                        <p:attrNameLst>
                                          <p:attrName>style.visibility</p:attrName>
                                        </p:attrNameLst>
                                      </p:cBhvr>
                                      <p:to>
                                        <p:strVal val="visible"/>
                                      </p:to>
                                    </p:set>
                                    <p:animEffect transition="in" filter="fade">
                                      <p:cBhvr>
                                        <p:cTn id="20" dur="1000"/>
                                        <p:tgtEl>
                                          <p:spTgt spid="2622478"/>
                                        </p:tgtEl>
                                      </p:cBhvr>
                                    </p:animEffect>
                                    <p:anim calcmode="lin" valueType="num">
                                      <p:cBhvr>
                                        <p:cTn id="21" dur="1000" fill="hold"/>
                                        <p:tgtEl>
                                          <p:spTgt spid="2622478"/>
                                        </p:tgtEl>
                                        <p:attrNameLst>
                                          <p:attrName>ppt_x</p:attrName>
                                        </p:attrNameLst>
                                      </p:cBhvr>
                                      <p:tavLst>
                                        <p:tav tm="0">
                                          <p:val>
                                            <p:strVal val="#ppt_x"/>
                                          </p:val>
                                        </p:tav>
                                        <p:tav tm="100000">
                                          <p:val>
                                            <p:strVal val="#ppt_x"/>
                                          </p:val>
                                        </p:tav>
                                      </p:tavLst>
                                    </p:anim>
                                    <p:anim calcmode="lin" valueType="num">
                                      <p:cBhvr>
                                        <p:cTn id="22" dur="1000" fill="hold"/>
                                        <p:tgtEl>
                                          <p:spTgt spid="2622478"/>
                                        </p:tgtEl>
                                        <p:attrNameLst>
                                          <p:attrName>ppt_y</p:attrName>
                                        </p:attrNameLst>
                                      </p:cBhvr>
                                      <p:tavLst>
                                        <p:tav tm="0">
                                          <p:val>
                                            <p:strVal val="#ppt_y+.1"/>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622475"/>
                                        </p:tgtEl>
                                        <p:attrNameLst>
                                          <p:attrName>style.visibility</p:attrName>
                                        </p:attrNameLst>
                                      </p:cBhvr>
                                      <p:to>
                                        <p:strVal val="visible"/>
                                      </p:to>
                                    </p:set>
                                    <p:animEffect transition="in" filter="fade">
                                      <p:cBhvr>
                                        <p:cTn id="27" dur="1000"/>
                                        <p:tgtEl>
                                          <p:spTgt spid="2622475"/>
                                        </p:tgtEl>
                                      </p:cBhvr>
                                    </p:animEffect>
                                    <p:anim calcmode="lin" valueType="num">
                                      <p:cBhvr>
                                        <p:cTn id="28" dur="1000" fill="hold"/>
                                        <p:tgtEl>
                                          <p:spTgt spid="2622475"/>
                                        </p:tgtEl>
                                        <p:attrNameLst>
                                          <p:attrName>ppt_x</p:attrName>
                                        </p:attrNameLst>
                                      </p:cBhvr>
                                      <p:tavLst>
                                        <p:tav tm="0">
                                          <p:val>
                                            <p:strVal val="#ppt_x"/>
                                          </p:val>
                                        </p:tav>
                                        <p:tav tm="100000">
                                          <p:val>
                                            <p:strVal val="#ppt_x"/>
                                          </p:val>
                                        </p:tav>
                                      </p:tavLst>
                                    </p:anim>
                                    <p:anim calcmode="lin" valueType="num">
                                      <p:cBhvr>
                                        <p:cTn id="29" dur="1000" fill="hold"/>
                                        <p:tgtEl>
                                          <p:spTgt spid="2622475"/>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622483"/>
                                        </p:tgtEl>
                                        <p:attrNameLst>
                                          <p:attrName>style.visibility</p:attrName>
                                        </p:attrNameLst>
                                      </p:cBhvr>
                                      <p:to>
                                        <p:strVal val="visible"/>
                                      </p:to>
                                    </p:set>
                                    <p:animEffect transition="in" filter="fade">
                                      <p:cBhvr>
                                        <p:cTn id="34" dur="1000"/>
                                        <p:tgtEl>
                                          <p:spTgt spid="2622483"/>
                                        </p:tgtEl>
                                      </p:cBhvr>
                                    </p:animEffect>
                                    <p:anim calcmode="lin" valueType="num">
                                      <p:cBhvr>
                                        <p:cTn id="35" dur="1000" fill="hold"/>
                                        <p:tgtEl>
                                          <p:spTgt spid="2622483"/>
                                        </p:tgtEl>
                                        <p:attrNameLst>
                                          <p:attrName>ppt_x</p:attrName>
                                        </p:attrNameLst>
                                      </p:cBhvr>
                                      <p:tavLst>
                                        <p:tav tm="0">
                                          <p:val>
                                            <p:strVal val="#ppt_x"/>
                                          </p:val>
                                        </p:tav>
                                        <p:tav tm="100000">
                                          <p:val>
                                            <p:strVal val="#ppt_x"/>
                                          </p:val>
                                        </p:tav>
                                      </p:tavLst>
                                    </p:anim>
                                    <p:anim calcmode="lin" valueType="num">
                                      <p:cBhvr>
                                        <p:cTn id="36" dur="1000" fill="hold"/>
                                        <p:tgtEl>
                                          <p:spTgt spid="2622483"/>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622474"/>
                                        </p:tgtEl>
                                        <p:attrNameLst>
                                          <p:attrName>style.visibility</p:attrName>
                                        </p:attrNameLst>
                                      </p:cBhvr>
                                      <p:to>
                                        <p:strVal val="visible"/>
                                      </p:to>
                                    </p:set>
                                    <p:animEffect transition="in" filter="fade">
                                      <p:cBhvr>
                                        <p:cTn id="41" dur="1000"/>
                                        <p:tgtEl>
                                          <p:spTgt spid="2622474"/>
                                        </p:tgtEl>
                                      </p:cBhvr>
                                    </p:animEffect>
                                    <p:anim calcmode="lin" valueType="num">
                                      <p:cBhvr>
                                        <p:cTn id="42" dur="1000" fill="hold"/>
                                        <p:tgtEl>
                                          <p:spTgt spid="2622474"/>
                                        </p:tgtEl>
                                        <p:attrNameLst>
                                          <p:attrName>ppt_x</p:attrName>
                                        </p:attrNameLst>
                                      </p:cBhvr>
                                      <p:tavLst>
                                        <p:tav tm="0">
                                          <p:val>
                                            <p:strVal val="#ppt_x"/>
                                          </p:val>
                                        </p:tav>
                                        <p:tav tm="100000">
                                          <p:val>
                                            <p:strVal val="#ppt_x"/>
                                          </p:val>
                                        </p:tav>
                                      </p:tavLst>
                                    </p:anim>
                                    <p:anim calcmode="lin" valueType="num">
                                      <p:cBhvr>
                                        <p:cTn id="43" dur="1000" fill="hold"/>
                                        <p:tgtEl>
                                          <p:spTgt spid="2622474"/>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622480"/>
                                        </p:tgtEl>
                                        <p:attrNameLst>
                                          <p:attrName>style.visibility</p:attrName>
                                        </p:attrNameLst>
                                      </p:cBhvr>
                                      <p:to>
                                        <p:strVal val="visible"/>
                                      </p:to>
                                    </p:set>
                                    <p:animEffect transition="in" filter="fade">
                                      <p:cBhvr>
                                        <p:cTn id="48" dur="1000"/>
                                        <p:tgtEl>
                                          <p:spTgt spid="2622480"/>
                                        </p:tgtEl>
                                      </p:cBhvr>
                                    </p:animEffect>
                                    <p:anim calcmode="lin" valueType="num">
                                      <p:cBhvr>
                                        <p:cTn id="49" dur="1000" fill="hold"/>
                                        <p:tgtEl>
                                          <p:spTgt spid="2622480"/>
                                        </p:tgtEl>
                                        <p:attrNameLst>
                                          <p:attrName>ppt_x</p:attrName>
                                        </p:attrNameLst>
                                      </p:cBhvr>
                                      <p:tavLst>
                                        <p:tav tm="0">
                                          <p:val>
                                            <p:strVal val="#ppt_x"/>
                                          </p:val>
                                        </p:tav>
                                        <p:tav tm="100000">
                                          <p:val>
                                            <p:strVal val="#ppt_x"/>
                                          </p:val>
                                        </p:tav>
                                      </p:tavLst>
                                    </p:anim>
                                    <p:anim calcmode="lin" valueType="num">
                                      <p:cBhvr>
                                        <p:cTn id="50" dur="1000" fill="hold"/>
                                        <p:tgtEl>
                                          <p:spTgt spid="2622480"/>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622479"/>
                                        </p:tgtEl>
                                        <p:attrNameLst>
                                          <p:attrName>style.visibility</p:attrName>
                                        </p:attrNameLst>
                                      </p:cBhvr>
                                      <p:to>
                                        <p:strVal val="visible"/>
                                      </p:to>
                                    </p:set>
                                    <p:animEffect transition="in" filter="fade">
                                      <p:cBhvr>
                                        <p:cTn id="55" dur="1000"/>
                                        <p:tgtEl>
                                          <p:spTgt spid="2622479"/>
                                        </p:tgtEl>
                                      </p:cBhvr>
                                    </p:animEffect>
                                    <p:anim calcmode="lin" valueType="num">
                                      <p:cBhvr>
                                        <p:cTn id="56" dur="1000" fill="hold"/>
                                        <p:tgtEl>
                                          <p:spTgt spid="2622479"/>
                                        </p:tgtEl>
                                        <p:attrNameLst>
                                          <p:attrName>ppt_x</p:attrName>
                                        </p:attrNameLst>
                                      </p:cBhvr>
                                      <p:tavLst>
                                        <p:tav tm="0">
                                          <p:val>
                                            <p:strVal val="#ppt_x"/>
                                          </p:val>
                                        </p:tav>
                                        <p:tav tm="100000">
                                          <p:val>
                                            <p:strVal val="#ppt_x"/>
                                          </p:val>
                                        </p:tav>
                                      </p:tavLst>
                                    </p:anim>
                                    <p:anim calcmode="lin" valueType="num">
                                      <p:cBhvr>
                                        <p:cTn id="57" dur="1000" fill="hold"/>
                                        <p:tgtEl>
                                          <p:spTgt spid="2622479"/>
                                        </p:tgtEl>
                                        <p:attrNameLst>
                                          <p:attrName>ppt_y</p:attrName>
                                        </p:attrNameLst>
                                      </p:cBhvr>
                                      <p:tavLst>
                                        <p:tav tm="0">
                                          <p:val>
                                            <p:strVal val="#ppt_y+.1"/>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622477"/>
                                        </p:tgtEl>
                                        <p:attrNameLst>
                                          <p:attrName>style.visibility</p:attrName>
                                        </p:attrNameLst>
                                      </p:cBhvr>
                                      <p:to>
                                        <p:strVal val="visible"/>
                                      </p:to>
                                    </p:set>
                                    <p:animEffect transition="in" filter="fade">
                                      <p:cBhvr>
                                        <p:cTn id="62" dur="1000"/>
                                        <p:tgtEl>
                                          <p:spTgt spid="2622477"/>
                                        </p:tgtEl>
                                      </p:cBhvr>
                                    </p:animEffect>
                                    <p:anim calcmode="lin" valueType="num">
                                      <p:cBhvr>
                                        <p:cTn id="63" dur="1000" fill="hold"/>
                                        <p:tgtEl>
                                          <p:spTgt spid="2622477"/>
                                        </p:tgtEl>
                                        <p:attrNameLst>
                                          <p:attrName>ppt_x</p:attrName>
                                        </p:attrNameLst>
                                      </p:cBhvr>
                                      <p:tavLst>
                                        <p:tav tm="0">
                                          <p:val>
                                            <p:strVal val="#ppt_x"/>
                                          </p:val>
                                        </p:tav>
                                        <p:tav tm="100000">
                                          <p:val>
                                            <p:strVal val="#ppt_x"/>
                                          </p:val>
                                        </p:tav>
                                      </p:tavLst>
                                    </p:anim>
                                    <p:anim calcmode="lin" valueType="num">
                                      <p:cBhvr>
                                        <p:cTn id="64" dur="1000" fill="hold"/>
                                        <p:tgtEl>
                                          <p:spTgt spid="2622477"/>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622482"/>
                                        </p:tgtEl>
                                        <p:attrNameLst>
                                          <p:attrName>style.visibility</p:attrName>
                                        </p:attrNameLst>
                                      </p:cBhvr>
                                      <p:to>
                                        <p:strVal val="visible"/>
                                      </p:to>
                                    </p:set>
                                    <p:animEffect transition="in" filter="fade">
                                      <p:cBhvr>
                                        <p:cTn id="69" dur="1000"/>
                                        <p:tgtEl>
                                          <p:spTgt spid="2622482"/>
                                        </p:tgtEl>
                                      </p:cBhvr>
                                    </p:animEffect>
                                    <p:anim calcmode="lin" valueType="num">
                                      <p:cBhvr>
                                        <p:cTn id="70" dur="1000" fill="hold"/>
                                        <p:tgtEl>
                                          <p:spTgt spid="2622482"/>
                                        </p:tgtEl>
                                        <p:attrNameLst>
                                          <p:attrName>ppt_x</p:attrName>
                                        </p:attrNameLst>
                                      </p:cBhvr>
                                      <p:tavLst>
                                        <p:tav tm="0">
                                          <p:val>
                                            <p:strVal val="#ppt_x"/>
                                          </p:val>
                                        </p:tav>
                                        <p:tav tm="100000">
                                          <p:val>
                                            <p:strVal val="#ppt_x"/>
                                          </p:val>
                                        </p:tav>
                                      </p:tavLst>
                                    </p:anim>
                                    <p:anim calcmode="lin" valueType="num">
                                      <p:cBhvr>
                                        <p:cTn id="71" dur="1000" fill="hold"/>
                                        <p:tgtEl>
                                          <p:spTgt spid="2622482"/>
                                        </p:tgtEl>
                                        <p:attrNameLst>
                                          <p:attrName>ppt_y</p:attrName>
                                        </p:attrNameLst>
                                      </p:cBhvr>
                                      <p:tavLst>
                                        <p:tav tm="0">
                                          <p:val>
                                            <p:strVal val="#ppt_y+.1"/>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622481"/>
                                        </p:tgtEl>
                                        <p:attrNameLst>
                                          <p:attrName>style.visibility</p:attrName>
                                        </p:attrNameLst>
                                      </p:cBhvr>
                                      <p:to>
                                        <p:strVal val="visible"/>
                                      </p:to>
                                    </p:set>
                                    <p:animEffect transition="in" filter="blinds(horizontal)">
                                      <p:cBhvr>
                                        <p:cTn id="76" dur="500"/>
                                        <p:tgtEl>
                                          <p:spTgt spid="2622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2474" grpId="0" animBg="1"/>
      <p:bldP spid="2622475" grpId="0" animBg="1"/>
      <p:bldP spid="2622476" grpId="0"/>
      <p:bldP spid="2622477" grpId="0" animBg="1"/>
      <p:bldP spid="2622478" grpId="0" animBg="1"/>
      <p:bldP spid="2622479" grpId="0" animBg="1"/>
      <p:bldP spid="2622480" grpId="0"/>
      <p:bldP spid="2622481" grpId="0"/>
      <p:bldP spid="2622482" grpId="0" animBg="1"/>
      <p:bldP spid="2622483"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 name="日期占位符 3"/>
          <p:cNvSpPr>
            <a:spLocks noGrp="1"/>
          </p:cNvSpPr>
          <p:nvPr>
            <p:ph type="dt" sz="half" idx="10"/>
          </p:nvPr>
        </p:nvSpPr>
        <p:spPr/>
        <p:txBody>
          <a:bodyPr/>
          <a:lstStyle/>
          <a:p>
            <a:fld id="{BD4A53FB-6783-494E-A906-E8932FBB90A2}" type="datetime1">
              <a:rPr lang="zh-CN" altLang="en-US"/>
              <a:pPr/>
              <a:t>2017/2/24</a:t>
            </a:fld>
            <a:endParaRPr lang="en-US" altLang="zh-CN"/>
          </a:p>
        </p:txBody>
      </p:sp>
      <p:sp>
        <p:nvSpPr>
          <p:cNvPr id="27" name="灯片编号占位符 5"/>
          <p:cNvSpPr>
            <a:spLocks noGrp="1"/>
          </p:cNvSpPr>
          <p:nvPr>
            <p:ph type="sldNum" sz="quarter" idx="12"/>
          </p:nvPr>
        </p:nvSpPr>
        <p:spPr/>
        <p:txBody>
          <a:bodyPr/>
          <a:lstStyle/>
          <a:p>
            <a:fld id="{F0DA87F7-82A0-479A-B64A-D5762C381987}" type="slidenum">
              <a:rPr lang="en-US" altLang="zh-CN"/>
              <a:pPr/>
              <a:t>86</a:t>
            </a:fld>
            <a:endParaRPr lang="en-US" altLang="zh-CN"/>
          </a:p>
        </p:txBody>
      </p:sp>
      <p:sp>
        <p:nvSpPr>
          <p:cNvPr id="2623490" name="Rectangle 2"/>
          <p:cNvSpPr>
            <a:spLocks noGrp="1" noChangeArrowheads="1"/>
          </p:cNvSpPr>
          <p:nvPr>
            <p:ph type="body" idx="1"/>
          </p:nvPr>
        </p:nvSpPr>
        <p:spPr>
          <a:xfrm>
            <a:off x="1039813" y="188913"/>
            <a:ext cx="7924800" cy="1143000"/>
          </a:xfrm>
        </p:spPr>
        <p:txBody>
          <a:bodyPr/>
          <a:lstStyle/>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问题：</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P1</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调用过程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而进入</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后，</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P2</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应如何建立起自己的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a:t>
            </a:r>
          </a:p>
        </p:txBody>
      </p:sp>
      <p:sp>
        <p:nvSpPr>
          <p:cNvPr id="2623491" name="Rectangle 3"/>
          <p:cNvSpPr>
            <a:spLocks noChangeArrowheads="1"/>
          </p:cNvSpPr>
          <p:nvPr/>
        </p:nvSpPr>
        <p:spPr bwMode="auto">
          <a:xfrm>
            <a:off x="179388" y="3833813"/>
            <a:ext cx="8964612"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81000" indent="-381000">
              <a:defRPr kumimoji="1" sz="2400">
                <a:solidFill>
                  <a:schemeClr val="tx1"/>
                </a:solidFill>
                <a:latin typeface="Times New Roman" panose="02020603050405020304" pitchFamily="18" charset="0"/>
                <a:ea typeface="宋体" panose="02010600030101010101" pitchFamily="2" charset="-122"/>
              </a:defRPr>
            </a:lvl1pPr>
            <a:lvl2pPr marL="57150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3000" b="1">
                <a:solidFill>
                  <a:srgbClr val="6600CC"/>
                </a:solidFill>
              </a:rPr>
              <a:t>答案：</a:t>
            </a:r>
            <a:r>
              <a:rPr kumimoji="0" lang="zh-CN" altLang="en-US" sz="3000" b="1"/>
              <a:t>从</a:t>
            </a:r>
            <a:r>
              <a:rPr kumimoji="0" lang="en-US" altLang="zh-CN" sz="3000" b="1"/>
              <a:t>P1</a:t>
            </a:r>
            <a:r>
              <a:rPr kumimoji="0" lang="zh-CN" altLang="en-US" sz="3000" b="1"/>
              <a:t>的</a:t>
            </a:r>
            <a:r>
              <a:rPr kumimoji="0" lang="en-US" altLang="zh-CN" sz="3000" b="1"/>
              <a:t>display</a:t>
            </a:r>
            <a:r>
              <a:rPr kumimoji="0" lang="zh-CN" altLang="en-US" sz="3000" b="1"/>
              <a:t>表中自底而上地取过</a:t>
            </a:r>
            <a:r>
              <a:rPr kumimoji="0" lang="en-US" altLang="zh-CN" sz="3000" b="1" i="1"/>
              <a:t>l2</a:t>
            </a:r>
            <a:r>
              <a:rPr kumimoji="0" lang="zh-CN" altLang="en-US" sz="3000" b="1"/>
              <a:t>个单元（</a:t>
            </a:r>
            <a:r>
              <a:rPr kumimoji="0" lang="en-US" altLang="zh-CN" sz="3000" b="1" i="1"/>
              <a:t>l2</a:t>
            </a:r>
            <a:r>
              <a:rPr kumimoji="0" lang="zh-CN" altLang="en-US" sz="3000" b="1"/>
              <a:t>为</a:t>
            </a:r>
            <a:r>
              <a:rPr kumimoji="0" lang="en-US" altLang="zh-CN" sz="3000" b="1"/>
              <a:t>P2</a:t>
            </a:r>
            <a:r>
              <a:rPr kumimoji="0" lang="zh-CN" altLang="en-US" sz="3000" b="1"/>
              <a:t>的层数）再添上进入</a:t>
            </a:r>
            <a:r>
              <a:rPr kumimoji="0" lang="en-US" altLang="zh-CN" sz="3000" b="1"/>
              <a:t>P2</a:t>
            </a:r>
            <a:r>
              <a:rPr kumimoji="0" lang="zh-CN" altLang="en-US" sz="3000" b="1"/>
              <a:t>后新建立的</a:t>
            </a:r>
            <a:r>
              <a:rPr kumimoji="0" lang="en-US" altLang="zh-CN" sz="3000" b="1"/>
              <a:t>SP</a:t>
            </a:r>
            <a:r>
              <a:rPr kumimoji="0" lang="zh-CN" altLang="en-US" sz="3000" b="1"/>
              <a:t>值就构成了</a:t>
            </a:r>
            <a:r>
              <a:rPr kumimoji="0" lang="en-US" altLang="zh-CN" sz="3000" b="1"/>
              <a:t>P2</a:t>
            </a:r>
            <a:r>
              <a:rPr kumimoji="0" lang="zh-CN" altLang="en-US" sz="3000" b="1"/>
              <a:t>的</a:t>
            </a:r>
            <a:r>
              <a:rPr kumimoji="0" lang="en-US" altLang="zh-CN" sz="3000" b="1"/>
              <a:t>display</a:t>
            </a:r>
            <a:r>
              <a:rPr kumimoji="0" lang="zh-CN" altLang="en-US" sz="3000" b="1"/>
              <a:t>表。</a:t>
            </a:r>
          </a:p>
          <a:p>
            <a:pPr eaLnBrk="0" hangingPunct="0">
              <a:spcBef>
                <a:spcPct val="20000"/>
              </a:spcBef>
              <a:buClr>
                <a:schemeClr val="accent2"/>
              </a:buClr>
              <a:buFont typeface="Wingdings" panose="05000000000000000000" pitchFamily="2" charset="2"/>
              <a:buChar char="F"/>
            </a:pPr>
            <a:r>
              <a:rPr kumimoji="0" lang="zh-CN" altLang="en-US" sz="3000" b="1"/>
              <a:t>把</a:t>
            </a:r>
            <a:r>
              <a:rPr kumimoji="0" lang="en-US" altLang="zh-CN" sz="3000" b="1"/>
              <a:t>P1</a:t>
            </a:r>
            <a:r>
              <a:rPr kumimoji="0" lang="zh-CN" altLang="en-US" sz="3000" b="1"/>
              <a:t>的</a:t>
            </a:r>
            <a:r>
              <a:rPr kumimoji="0" lang="en-US" altLang="zh-CN" sz="3000" b="1"/>
              <a:t>display</a:t>
            </a:r>
            <a:r>
              <a:rPr kumimoji="0" lang="zh-CN" altLang="en-US" sz="3000" b="1"/>
              <a:t>表地址作为连接数据之一</a:t>
            </a:r>
            <a:r>
              <a:rPr kumimoji="0" lang="en-US" altLang="zh-CN" sz="3000" b="1"/>
              <a:t>(</a:t>
            </a:r>
            <a:r>
              <a:rPr kumimoji="0" lang="zh-CN" altLang="en-US" sz="3000" b="1"/>
              <a:t>称为</a:t>
            </a:r>
            <a:r>
              <a:rPr kumimoji="0" lang="zh-CN" altLang="en-US" sz="3000" b="1">
                <a:solidFill>
                  <a:schemeClr val="hlink"/>
                </a:solidFill>
              </a:rPr>
              <a:t>全局</a:t>
            </a:r>
            <a:r>
              <a:rPr kumimoji="0" lang="en-US" altLang="zh-CN" sz="3000" b="1">
                <a:solidFill>
                  <a:schemeClr val="hlink"/>
                </a:solidFill>
              </a:rPr>
              <a:t>display</a:t>
            </a:r>
            <a:r>
              <a:rPr kumimoji="0" lang="zh-CN" altLang="en-US" sz="3000" b="1">
                <a:solidFill>
                  <a:schemeClr val="hlink"/>
                </a:solidFill>
              </a:rPr>
              <a:t>地址</a:t>
            </a:r>
            <a:r>
              <a:rPr kumimoji="0" lang="en-US" altLang="zh-CN" sz="3000" b="1"/>
              <a:t>)</a:t>
            </a:r>
            <a:r>
              <a:rPr kumimoji="0" lang="zh-CN" altLang="en-US" sz="3000" b="1"/>
              <a:t>传送给</a:t>
            </a:r>
            <a:r>
              <a:rPr kumimoji="0" lang="en-US" altLang="zh-CN" sz="3000" b="1"/>
              <a:t>P2</a:t>
            </a:r>
            <a:r>
              <a:rPr kumimoji="0" lang="zh-CN" altLang="en-US" sz="3000" b="1"/>
              <a:t>就能够建立</a:t>
            </a:r>
            <a:r>
              <a:rPr kumimoji="0" lang="en-US" altLang="zh-CN" sz="3000" b="1"/>
              <a:t>P2</a:t>
            </a:r>
            <a:r>
              <a:rPr kumimoji="0" lang="zh-CN" altLang="en-US" sz="3000" b="1"/>
              <a:t>的</a:t>
            </a:r>
            <a:r>
              <a:rPr kumimoji="0" lang="en-US" altLang="zh-CN" sz="3000" b="1"/>
              <a:t>display</a:t>
            </a:r>
            <a:r>
              <a:rPr kumimoji="0" lang="zh-CN" altLang="en-US" sz="3000" b="1"/>
              <a:t>表。</a:t>
            </a:r>
          </a:p>
        </p:txBody>
      </p:sp>
      <p:grpSp>
        <p:nvGrpSpPr>
          <p:cNvPr id="2623492" name="Group 4"/>
          <p:cNvGrpSpPr>
            <a:grpSpLocks/>
          </p:cNvGrpSpPr>
          <p:nvPr/>
        </p:nvGrpSpPr>
        <p:grpSpPr bwMode="auto">
          <a:xfrm>
            <a:off x="1219200" y="1573213"/>
            <a:ext cx="1524000" cy="2209800"/>
            <a:chOff x="1440" y="1056"/>
            <a:chExt cx="1248" cy="1872"/>
          </a:xfrm>
        </p:grpSpPr>
        <p:sp>
          <p:nvSpPr>
            <p:cNvPr id="2623493" name="Freeform 5"/>
            <p:cNvSpPr>
              <a:spLocks/>
            </p:cNvSpPr>
            <p:nvPr/>
          </p:nvSpPr>
          <p:spPr bwMode="auto">
            <a:xfrm>
              <a:off x="1440" y="1248"/>
              <a:ext cx="576" cy="168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494" name="Freeform 6"/>
            <p:cNvSpPr>
              <a:spLocks/>
            </p:cNvSpPr>
            <p:nvPr/>
          </p:nvSpPr>
          <p:spPr bwMode="auto">
            <a:xfrm>
              <a:off x="1584" y="1488"/>
              <a:ext cx="144" cy="62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495" name="Freeform 7"/>
            <p:cNvSpPr>
              <a:spLocks/>
            </p:cNvSpPr>
            <p:nvPr/>
          </p:nvSpPr>
          <p:spPr bwMode="auto">
            <a:xfrm>
              <a:off x="1584" y="2304"/>
              <a:ext cx="144" cy="576"/>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496" name="Rectangle 8"/>
            <p:cNvSpPr>
              <a:spLocks noChangeArrowheads="1"/>
            </p:cNvSpPr>
            <p:nvPr/>
          </p:nvSpPr>
          <p:spPr bwMode="auto">
            <a:xfrm>
              <a:off x="2016" y="1056"/>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23497" name="Rectangle 9"/>
            <p:cNvSpPr>
              <a:spLocks noChangeArrowheads="1"/>
            </p:cNvSpPr>
            <p:nvPr/>
          </p:nvSpPr>
          <p:spPr bwMode="auto">
            <a:xfrm>
              <a:off x="1728" y="2112"/>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sp>
          <p:nvSpPr>
            <p:cNvPr id="2623498" name="Rectangle 10"/>
            <p:cNvSpPr>
              <a:spLocks noChangeArrowheads="1"/>
            </p:cNvSpPr>
            <p:nvPr/>
          </p:nvSpPr>
          <p:spPr bwMode="auto">
            <a:xfrm>
              <a:off x="1728" y="1344"/>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grpSp>
      <p:grpSp>
        <p:nvGrpSpPr>
          <p:cNvPr id="2623499" name="Group 11"/>
          <p:cNvGrpSpPr>
            <a:grpSpLocks/>
          </p:cNvGrpSpPr>
          <p:nvPr/>
        </p:nvGrpSpPr>
        <p:grpSpPr bwMode="auto">
          <a:xfrm>
            <a:off x="4038600" y="1497013"/>
            <a:ext cx="1676400" cy="2362200"/>
            <a:chOff x="2928" y="1344"/>
            <a:chExt cx="1145" cy="1632"/>
          </a:xfrm>
        </p:grpSpPr>
        <p:sp>
          <p:nvSpPr>
            <p:cNvPr id="2623500" name="Freeform 12"/>
            <p:cNvSpPr>
              <a:spLocks/>
            </p:cNvSpPr>
            <p:nvPr/>
          </p:nvSpPr>
          <p:spPr bwMode="auto">
            <a:xfrm>
              <a:off x="2928" y="1536"/>
              <a:ext cx="624" cy="144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501" name="Freeform 13"/>
            <p:cNvSpPr>
              <a:spLocks/>
            </p:cNvSpPr>
            <p:nvPr/>
          </p:nvSpPr>
          <p:spPr bwMode="auto">
            <a:xfrm>
              <a:off x="3050" y="1758"/>
              <a:ext cx="310" cy="107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502" name="Freeform 14"/>
            <p:cNvSpPr>
              <a:spLocks/>
            </p:cNvSpPr>
            <p:nvPr/>
          </p:nvSpPr>
          <p:spPr bwMode="auto">
            <a:xfrm>
              <a:off x="3120" y="2112"/>
              <a:ext cx="144" cy="631"/>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503" name="Rectangle 15"/>
            <p:cNvSpPr>
              <a:spLocks noChangeArrowheads="1"/>
            </p:cNvSpPr>
            <p:nvPr/>
          </p:nvSpPr>
          <p:spPr bwMode="auto">
            <a:xfrm>
              <a:off x="3504" y="1344"/>
              <a:ext cx="56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23504" name="Rectangle 16"/>
            <p:cNvSpPr>
              <a:spLocks noChangeArrowheads="1"/>
            </p:cNvSpPr>
            <p:nvPr/>
          </p:nvSpPr>
          <p:spPr bwMode="auto">
            <a:xfrm>
              <a:off x="3216" y="1968"/>
              <a:ext cx="5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sp>
          <p:nvSpPr>
            <p:cNvPr id="2623505" name="Rectangle 17"/>
            <p:cNvSpPr>
              <a:spLocks noChangeArrowheads="1"/>
            </p:cNvSpPr>
            <p:nvPr/>
          </p:nvSpPr>
          <p:spPr bwMode="auto">
            <a:xfrm>
              <a:off x="3312" y="1632"/>
              <a:ext cx="5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grpSp>
      <p:grpSp>
        <p:nvGrpSpPr>
          <p:cNvPr id="2623506" name="Group 18"/>
          <p:cNvGrpSpPr>
            <a:grpSpLocks/>
          </p:cNvGrpSpPr>
          <p:nvPr/>
        </p:nvGrpSpPr>
        <p:grpSpPr bwMode="auto">
          <a:xfrm>
            <a:off x="6781800" y="1497013"/>
            <a:ext cx="1676400" cy="2362200"/>
            <a:chOff x="2928" y="1344"/>
            <a:chExt cx="1145" cy="1632"/>
          </a:xfrm>
        </p:grpSpPr>
        <p:sp>
          <p:nvSpPr>
            <p:cNvPr id="2623507" name="Freeform 19"/>
            <p:cNvSpPr>
              <a:spLocks/>
            </p:cNvSpPr>
            <p:nvPr/>
          </p:nvSpPr>
          <p:spPr bwMode="auto">
            <a:xfrm>
              <a:off x="2928" y="1536"/>
              <a:ext cx="624" cy="1440"/>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508" name="Freeform 20"/>
            <p:cNvSpPr>
              <a:spLocks/>
            </p:cNvSpPr>
            <p:nvPr/>
          </p:nvSpPr>
          <p:spPr bwMode="auto">
            <a:xfrm>
              <a:off x="3050" y="1758"/>
              <a:ext cx="310" cy="1074"/>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509" name="Freeform 21"/>
            <p:cNvSpPr>
              <a:spLocks/>
            </p:cNvSpPr>
            <p:nvPr/>
          </p:nvSpPr>
          <p:spPr bwMode="auto">
            <a:xfrm>
              <a:off x="3120" y="2112"/>
              <a:ext cx="144" cy="631"/>
            </a:xfrm>
            <a:custGeom>
              <a:avLst/>
              <a:gdLst>
                <a:gd name="T0" fmla="*/ 240 w 240"/>
                <a:gd name="T1" fmla="*/ 0 h 1632"/>
                <a:gd name="T2" fmla="*/ 0 w 240"/>
                <a:gd name="T3" fmla="*/ 0 h 1632"/>
                <a:gd name="T4" fmla="*/ 0 w 240"/>
                <a:gd name="T5" fmla="*/ 1632 h 1632"/>
                <a:gd name="T6" fmla="*/ 240 w 240"/>
                <a:gd name="T7" fmla="*/ 1632 h 1632"/>
              </a:gdLst>
              <a:ahLst/>
              <a:cxnLst>
                <a:cxn ang="0">
                  <a:pos x="T0" y="T1"/>
                </a:cxn>
                <a:cxn ang="0">
                  <a:pos x="T2" y="T3"/>
                </a:cxn>
                <a:cxn ang="0">
                  <a:pos x="T4" y="T5"/>
                </a:cxn>
                <a:cxn ang="0">
                  <a:pos x="T6" y="T7"/>
                </a:cxn>
              </a:cxnLst>
              <a:rect l="0" t="0" r="r" b="b"/>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3510" name="Rectangle 22"/>
            <p:cNvSpPr>
              <a:spLocks noChangeArrowheads="1"/>
            </p:cNvSpPr>
            <p:nvPr/>
          </p:nvSpPr>
          <p:spPr bwMode="auto">
            <a:xfrm>
              <a:off x="3504" y="1344"/>
              <a:ext cx="569"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P0</a:t>
              </a:r>
              <a:endParaRPr kumimoji="1" lang="en-US" altLang="zh-CN" b="1"/>
            </a:p>
          </p:txBody>
        </p:sp>
        <p:sp>
          <p:nvSpPr>
            <p:cNvPr id="2623511" name="Rectangle 23"/>
            <p:cNvSpPr>
              <a:spLocks noChangeArrowheads="1"/>
            </p:cNvSpPr>
            <p:nvPr/>
          </p:nvSpPr>
          <p:spPr bwMode="auto">
            <a:xfrm>
              <a:off x="3216" y="1968"/>
              <a:ext cx="568"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P1</a:t>
              </a:r>
              <a:endParaRPr kumimoji="1" lang="en-US" altLang="zh-CN" b="1"/>
            </a:p>
          </p:txBody>
        </p:sp>
        <p:sp>
          <p:nvSpPr>
            <p:cNvPr id="2623512" name="Rectangle 24"/>
            <p:cNvSpPr>
              <a:spLocks noChangeArrowheads="1"/>
            </p:cNvSpPr>
            <p:nvPr/>
          </p:nvSpPr>
          <p:spPr bwMode="auto">
            <a:xfrm>
              <a:off x="3312" y="1632"/>
              <a:ext cx="5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en-US" sz="2800" b="1"/>
                <a:t>P2</a:t>
              </a:r>
              <a:endParaRPr kumimoji="1" lang="en-US" altLang="zh-CN" b="1"/>
            </a:p>
          </p:txBody>
        </p:sp>
      </p:grpSp>
    </p:spTree>
    <p:extLst>
      <p:ext uri="{BB962C8B-B14F-4D97-AF65-F5344CB8AC3E}">
        <p14:creationId xmlns:p14="http://schemas.microsoft.com/office/powerpoint/2010/main" val="3287862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23492"/>
                                        </p:tgtEl>
                                        <p:attrNameLst>
                                          <p:attrName>style.visibility</p:attrName>
                                        </p:attrNameLst>
                                      </p:cBhvr>
                                      <p:to>
                                        <p:strVal val="visible"/>
                                      </p:to>
                                    </p:set>
                                    <p:anim calcmode="lin" valueType="num">
                                      <p:cBhvr additive="base">
                                        <p:cTn id="7" dur="500" fill="hold"/>
                                        <p:tgtEl>
                                          <p:spTgt spid="2623492"/>
                                        </p:tgtEl>
                                        <p:attrNameLst>
                                          <p:attrName>ppt_x</p:attrName>
                                        </p:attrNameLst>
                                      </p:cBhvr>
                                      <p:tavLst>
                                        <p:tav tm="0">
                                          <p:val>
                                            <p:strVal val="0-#ppt_w/2"/>
                                          </p:val>
                                        </p:tav>
                                        <p:tav tm="100000">
                                          <p:val>
                                            <p:strVal val="#ppt_x"/>
                                          </p:val>
                                        </p:tav>
                                      </p:tavLst>
                                    </p:anim>
                                    <p:anim calcmode="lin" valueType="num">
                                      <p:cBhvr additive="base">
                                        <p:cTn id="8" dur="500" fill="hold"/>
                                        <p:tgtEl>
                                          <p:spTgt spid="26234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2623499"/>
                                        </p:tgtEl>
                                        <p:attrNameLst>
                                          <p:attrName>style.visibility</p:attrName>
                                        </p:attrNameLst>
                                      </p:cBhvr>
                                      <p:to>
                                        <p:strVal val="visible"/>
                                      </p:to>
                                    </p:set>
                                    <p:animEffect transition="in" filter="box(out)">
                                      <p:cBhvr>
                                        <p:cTn id="13" dur="500"/>
                                        <p:tgtEl>
                                          <p:spTgt spid="262349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2623506"/>
                                        </p:tgtEl>
                                        <p:attrNameLst>
                                          <p:attrName>style.visibility</p:attrName>
                                        </p:attrNameLst>
                                      </p:cBhvr>
                                      <p:to>
                                        <p:strVal val="visible"/>
                                      </p:to>
                                    </p:set>
                                    <p:anim calcmode="lin" valueType="num">
                                      <p:cBhvr additive="base">
                                        <p:cTn id="18" dur="500" fill="hold"/>
                                        <p:tgtEl>
                                          <p:spTgt spid="2623506"/>
                                        </p:tgtEl>
                                        <p:attrNameLst>
                                          <p:attrName>ppt_x</p:attrName>
                                        </p:attrNameLst>
                                      </p:cBhvr>
                                      <p:tavLst>
                                        <p:tav tm="0">
                                          <p:val>
                                            <p:strVal val="1+#ppt_w/2"/>
                                          </p:val>
                                        </p:tav>
                                        <p:tav tm="100000">
                                          <p:val>
                                            <p:strVal val="#ppt_x"/>
                                          </p:val>
                                        </p:tav>
                                      </p:tavLst>
                                    </p:anim>
                                    <p:anim calcmode="lin" valueType="num">
                                      <p:cBhvr additive="base">
                                        <p:cTn id="19" dur="500" fill="hold"/>
                                        <p:tgtEl>
                                          <p:spTgt spid="262350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623491">
                                            <p:txEl>
                                              <p:pRg st="0" end="0"/>
                                            </p:txEl>
                                          </p:spTgt>
                                        </p:tgtEl>
                                        <p:attrNameLst>
                                          <p:attrName>style.visibility</p:attrName>
                                        </p:attrNameLst>
                                      </p:cBhvr>
                                      <p:to>
                                        <p:strVal val="visible"/>
                                      </p:to>
                                    </p:set>
                                    <p:anim calcmode="lin" valueType="num">
                                      <p:cBhvr additive="base">
                                        <p:cTn id="24" dur="500" fill="hold"/>
                                        <p:tgtEl>
                                          <p:spTgt spid="2623491">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623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623491">
                                            <p:txEl>
                                              <p:pRg st="1" end="1"/>
                                            </p:txEl>
                                          </p:spTgt>
                                        </p:tgtEl>
                                        <p:attrNameLst>
                                          <p:attrName>style.visibility</p:attrName>
                                        </p:attrNameLst>
                                      </p:cBhvr>
                                      <p:to>
                                        <p:strVal val="visible"/>
                                      </p:to>
                                    </p:set>
                                    <p:anim calcmode="lin" valueType="num">
                                      <p:cBhvr additive="base">
                                        <p:cTn id="30" dur="500" fill="hold"/>
                                        <p:tgtEl>
                                          <p:spTgt spid="2623491">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6234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3491"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日期占位符 4"/>
          <p:cNvSpPr>
            <a:spLocks noGrp="1"/>
          </p:cNvSpPr>
          <p:nvPr>
            <p:ph type="dt" sz="half" idx="10"/>
          </p:nvPr>
        </p:nvSpPr>
        <p:spPr/>
        <p:txBody>
          <a:bodyPr/>
          <a:lstStyle/>
          <a:p>
            <a:fld id="{E5C47DE7-7D8F-4FBC-84A3-033DC589D7C2}" type="datetime1">
              <a:rPr lang="zh-CN" altLang="en-US"/>
              <a:pPr/>
              <a:t>2017/2/24</a:t>
            </a:fld>
            <a:endParaRPr lang="en-US" altLang="zh-CN"/>
          </a:p>
        </p:txBody>
      </p:sp>
      <p:sp>
        <p:nvSpPr>
          <p:cNvPr id="24" name="灯片编号占位符 6"/>
          <p:cNvSpPr>
            <a:spLocks noGrp="1"/>
          </p:cNvSpPr>
          <p:nvPr>
            <p:ph type="sldNum" sz="quarter" idx="12"/>
          </p:nvPr>
        </p:nvSpPr>
        <p:spPr/>
        <p:txBody>
          <a:bodyPr/>
          <a:lstStyle/>
          <a:p>
            <a:fld id="{01573FC0-5912-4BA0-A7A4-6A991739D90B}" type="slidenum">
              <a:rPr lang="en-US" altLang="zh-CN"/>
              <a:pPr/>
              <a:t>87</a:t>
            </a:fld>
            <a:endParaRPr lang="en-US" altLang="zh-CN"/>
          </a:p>
        </p:txBody>
      </p:sp>
      <p:sp>
        <p:nvSpPr>
          <p:cNvPr id="2624514" name="Rectangle 2"/>
          <p:cNvSpPr>
            <a:spLocks noGrp="1" noChangeArrowheads="1"/>
          </p:cNvSpPr>
          <p:nvPr>
            <p:ph type="body" sz="half" idx="1"/>
          </p:nvPr>
        </p:nvSpPr>
        <p:spPr>
          <a:xfrm>
            <a:off x="4800600" y="457200"/>
            <a:ext cx="4343400" cy="6019800"/>
          </a:xfrm>
        </p:spPr>
        <p:txBody>
          <a:bodyPr/>
          <a:lstStyle/>
          <a:p>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diaplay</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表在活动记录</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中</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的相对地址</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在编译时能完全确定。</a:t>
            </a:r>
          </a:p>
          <a:p>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假定在现行过程中引用了某层过程(令其层次为</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k)</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变量，那么，可用下面两条指令获得</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的地址:</a:t>
            </a:r>
          </a:p>
          <a:p>
            <a:pPr>
              <a:spcBef>
                <a:spcPct val="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LD   R</a:t>
            </a:r>
            <a:r>
              <a:rPr lang="en-US" altLang="zh-CN" b="1" baseline="-25000" noProof="1">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(d+k)[SP]</a:t>
            </a:r>
          </a:p>
          <a:p>
            <a:pPr>
              <a:spcBef>
                <a:spcPct val="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LD   R</a:t>
            </a:r>
            <a:r>
              <a:rPr lang="en-US" altLang="zh-CN" b="1" baseline="-25000" noProof="1">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dx[R</a:t>
            </a:r>
            <a:r>
              <a:rPr lang="en-US" altLang="zh-CN" b="1" baseline="-25000" noProof="1">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a:t>
            </a:r>
            <a:endParaRPr lang="en-US" altLang="zh-CN" b="1">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24515" name="Rectangle 3"/>
          <p:cNvSpPr>
            <a:spLocks noChangeArrowheads="1"/>
          </p:cNvSpPr>
          <p:nvPr/>
        </p:nvSpPr>
        <p:spPr bwMode="auto">
          <a:xfrm>
            <a:off x="228600" y="457200"/>
            <a:ext cx="46482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hangingPunct="0"/>
            <a:r>
              <a:rPr lang="zh-CN" altLang="en-US" sz="3200" b="1" noProof="1">
                <a:ea typeface="楷体_GB2312" pitchFamily="49" charset="-122"/>
              </a:rPr>
              <a:t>嵌套过程语言活动记录</a:t>
            </a:r>
            <a:endParaRPr lang="zh-CN" altLang="en-US" b="1">
              <a:ea typeface="楷体_GB2312" pitchFamily="49" charset="-122"/>
            </a:endParaRPr>
          </a:p>
        </p:txBody>
      </p:sp>
      <p:sp>
        <p:nvSpPr>
          <p:cNvPr id="2624516" name="Rectangle 4"/>
          <p:cNvSpPr>
            <a:spLocks noChangeArrowheads="1"/>
          </p:cNvSpPr>
          <p:nvPr/>
        </p:nvSpPr>
        <p:spPr bwMode="auto">
          <a:xfrm>
            <a:off x="1676400" y="4114800"/>
            <a:ext cx="2133600"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624517" name="Rectangle 5"/>
          <p:cNvSpPr>
            <a:spLocks noChangeArrowheads="1"/>
          </p:cNvSpPr>
          <p:nvPr/>
        </p:nvSpPr>
        <p:spPr bwMode="auto">
          <a:xfrm>
            <a:off x="1676400" y="5181600"/>
            <a:ext cx="2133600" cy="5207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624518" name="Rectangle 6"/>
          <p:cNvSpPr>
            <a:spLocks noChangeArrowheads="1"/>
          </p:cNvSpPr>
          <p:nvPr/>
        </p:nvSpPr>
        <p:spPr bwMode="auto">
          <a:xfrm>
            <a:off x="1676400" y="1219200"/>
            <a:ext cx="2133600" cy="50292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4519" name="Rectangle 7"/>
          <p:cNvSpPr>
            <a:spLocks noChangeArrowheads="1"/>
          </p:cNvSpPr>
          <p:nvPr/>
        </p:nvSpPr>
        <p:spPr bwMode="auto">
          <a:xfrm>
            <a:off x="1676400" y="3581400"/>
            <a:ext cx="2133600" cy="5334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624520" name="Rectangle 8"/>
          <p:cNvSpPr>
            <a:spLocks noChangeArrowheads="1"/>
          </p:cNvSpPr>
          <p:nvPr/>
        </p:nvSpPr>
        <p:spPr bwMode="auto">
          <a:xfrm>
            <a:off x="1676400" y="1219200"/>
            <a:ext cx="21875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624521" name="Rectangle 9"/>
          <p:cNvSpPr>
            <a:spLocks noChangeArrowheads="1"/>
          </p:cNvSpPr>
          <p:nvPr/>
        </p:nvSpPr>
        <p:spPr bwMode="auto">
          <a:xfrm>
            <a:off x="1676400" y="1763713"/>
            <a:ext cx="218757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624522" name="Rectangle 10"/>
          <p:cNvSpPr>
            <a:spLocks noChangeArrowheads="1"/>
          </p:cNvSpPr>
          <p:nvPr/>
        </p:nvSpPr>
        <p:spPr bwMode="auto">
          <a:xfrm>
            <a:off x="1676400" y="2308225"/>
            <a:ext cx="21875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624523" name="Rectangle 11"/>
          <p:cNvSpPr>
            <a:spLocks noChangeArrowheads="1"/>
          </p:cNvSpPr>
          <p:nvPr/>
        </p:nvSpPr>
        <p:spPr bwMode="auto">
          <a:xfrm>
            <a:off x="838200" y="5703888"/>
            <a:ext cx="5730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SP</a:t>
            </a:r>
            <a:r>
              <a:rPr kumimoji="1" lang="en-US" altLang="zh-CN" sz="2800" b="1">
                <a:ea typeface="楷体_GB2312" pitchFamily="49" charset="-122"/>
                <a:sym typeface="Symbol" panose="05050102010706020507" pitchFamily="18" charset="2"/>
              </a:rPr>
              <a:t> </a:t>
            </a:r>
            <a:r>
              <a:rPr kumimoji="1" lang="en-US" altLang="zh-CN" sz="2800" b="1">
                <a:ea typeface="楷体_GB2312" pitchFamily="49" charset="-122"/>
              </a:rPr>
              <a:t>0</a:t>
            </a:r>
          </a:p>
        </p:txBody>
      </p:sp>
      <p:sp>
        <p:nvSpPr>
          <p:cNvPr id="2624524" name="Rectangle 12"/>
          <p:cNvSpPr>
            <a:spLocks noChangeArrowheads="1"/>
          </p:cNvSpPr>
          <p:nvPr/>
        </p:nvSpPr>
        <p:spPr bwMode="auto">
          <a:xfrm>
            <a:off x="1066800" y="5159375"/>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en-US" altLang="zh-CN" sz="2800" b="1">
                <a:ea typeface="楷体_GB2312" pitchFamily="49" charset="-122"/>
              </a:rPr>
              <a:t>1</a:t>
            </a:r>
          </a:p>
        </p:txBody>
      </p:sp>
      <p:sp>
        <p:nvSpPr>
          <p:cNvPr id="2624525" name="Rectangle 13"/>
          <p:cNvSpPr>
            <a:spLocks noChangeArrowheads="1"/>
          </p:cNvSpPr>
          <p:nvPr/>
        </p:nvSpPr>
        <p:spPr bwMode="auto">
          <a:xfrm>
            <a:off x="1066800" y="4683125"/>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2</a:t>
            </a:r>
          </a:p>
        </p:txBody>
      </p:sp>
      <p:sp>
        <p:nvSpPr>
          <p:cNvPr id="2624526" name="Line 14"/>
          <p:cNvSpPr>
            <a:spLocks noChangeShapeType="1"/>
          </p:cNvSpPr>
          <p:nvPr/>
        </p:nvSpPr>
        <p:spPr bwMode="auto">
          <a:xfrm flipV="1">
            <a:off x="4038600" y="1295400"/>
            <a:ext cx="0" cy="4884738"/>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4527" name="Rectangle 15"/>
          <p:cNvSpPr>
            <a:spLocks noChangeArrowheads="1"/>
          </p:cNvSpPr>
          <p:nvPr/>
        </p:nvSpPr>
        <p:spPr bwMode="auto">
          <a:xfrm>
            <a:off x="1676400" y="5703888"/>
            <a:ext cx="2133600" cy="5429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老</a:t>
            </a:r>
            <a:r>
              <a:rPr kumimoji="1" lang="en-US" altLang="en-US" sz="2800" b="1">
                <a:ea typeface="楷体_GB2312" pitchFamily="49" charset="-122"/>
              </a:rPr>
              <a:t>SP</a:t>
            </a:r>
            <a:endParaRPr kumimoji="1" lang="en-US" altLang="zh-CN" sz="2800" b="1">
              <a:ea typeface="楷体_GB2312" pitchFamily="49" charset="-122"/>
            </a:endParaRPr>
          </a:p>
        </p:txBody>
      </p:sp>
      <p:sp>
        <p:nvSpPr>
          <p:cNvPr id="2624528" name="Rectangle 16"/>
          <p:cNvSpPr>
            <a:spLocks noChangeArrowheads="1"/>
          </p:cNvSpPr>
          <p:nvPr/>
        </p:nvSpPr>
        <p:spPr bwMode="auto">
          <a:xfrm>
            <a:off x="762000" y="1219200"/>
            <a:ext cx="6985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TOP</a:t>
            </a:r>
            <a:r>
              <a:rPr kumimoji="1" lang="en-US" altLang="zh-CN" sz="2800" b="1">
                <a:ea typeface="楷体_GB2312" pitchFamily="49" charset="-122"/>
                <a:sym typeface="Symbol" panose="05050102010706020507" pitchFamily="18" charset="2"/>
              </a:rPr>
              <a:t> </a:t>
            </a:r>
            <a:endParaRPr kumimoji="1" lang="en-US" altLang="zh-CN" sz="2800" b="1">
              <a:ea typeface="楷体_GB2312" pitchFamily="49" charset="-122"/>
            </a:endParaRPr>
          </a:p>
        </p:txBody>
      </p:sp>
      <p:sp>
        <p:nvSpPr>
          <p:cNvPr id="2624529" name="Rectangle 17"/>
          <p:cNvSpPr>
            <a:spLocks noChangeArrowheads="1"/>
          </p:cNvSpPr>
          <p:nvPr/>
        </p:nvSpPr>
        <p:spPr bwMode="auto">
          <a:xfrm>
            <a:off x="1676400" y="3048000"/>
            <a:ext cx="2133600" cy="533400"/>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Display </a:t>
            </a:r>
            <a:r>
              <a:rPr kumimoji="1" lang="zh-CN" altLang="zh-CN" sz="2800" b="1">
                <a:ea typeface="楷体_GB2312" pitchFamily="49" charset="-122"/>
              </a:rPr>
              <a:t>表</a:t>
            </a:r>
            <a:endParaRPr kumimoji="1" lang="zh-CN" altLang="en-US" sz="2800" b="1">
              <a:ea typeface="楷体_GB2312" pitchFamily="49" charset="-122"/>
            </a:endParaRPr>
          </a:p>
        </p:txBody>
      </p:sp>
      <p:sp>
        <p:nvSpPr>
          <p:cNvPr id="2624530" name="Rectangle 18"/>
          <p:cNvSpPr>
            <a:spLocks noChangeArrowheads="1"/>
          </p:cNvSpPr>
          <p:nvPr/>
        </p:nvSpPr>
        <p:spPr bwMode="auto">
          <a:xfrm>
            <a:off x="1676400" y="4648200"/>
            <a:ext cx="2133600" cy="542925"/>
          </a:xfrm>
          <a:prstGeom prst="rect">
            <a:avLst/>
          </a:prstGeom>
          <a:solidFill>
            <a:srgbClr val="FF99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全局</a:t>
            </a:r>
            <a:r>
              <a:rPr kumimoji="1" lang="en-US" altLang="en-US" sz="2800" b="1">
                <a:ea typeface="楷体_GB2312" pitchFamily="49" charset="-122"/>
              </a:rPr>
              <a:t>Di</a:t>
            </a:r>
            <a:r>
              <a:rPr kumimoji="1" lang="en-US" altLang="zh-CN" sz="2800" b="1">
                <a:ea typeface="楷体_GB2312" pitchFamily="49" charset="-122"/>
              </a:rPr>
              <a:t>s</a:t>
            </a:r>
            <a:r>
              <a:rPr kumimoji="1" lang="en-US" altLang="en-US" sz="2800" b="1">
                <a:ea typeface="楷体_GB2312" pitchFamily="49" charset="-122"/>
              </a:rPr>
              <a:t>play</a:t>
            </a:r>
            <a:endParaRPr kumimoji="1" lang="en-US" altLang="zh-CN" sz="2800" b="1">
              <a:ea typeface="楷体_GB2312" pitchFamily="49" charset="-122"/>
            </a:endParaRPr>
          </a:p>
        </p:txBody>
      </p:sp>
      <p:sp>
        <p:nvSpPr>
          <p:cNvPr id="2624531" name="Rectangle 19"/>
          <p:cNvSpPr>
            <a:spLocks noChangeArrowheads="1"/>
          </p:cNvSpPr>
          <p:nvPr/>
        </p:nvSpPr>
        <p:spPr bwMode="auto">
          <a:xfrm>
            <a:off x="1066800" y="4114800"/>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3</a:t>
            </a:r>
          </a:p>
        </p:txBody>
      </p:sp>
      <p:sp>
        <p:nvSpPr>
          <p:cNvPr id="2624532" name="Rectangle 20"/>
          <p:cNvSpPr>
            <a:spLocks noChangeArrowheads="1"/>
          </p:cNvSpPr>
          <p:nvPr/>
        </p:nvSpPr>
        <p:spPr bwMode="auto">
          <a:xfrm>
            <a:off x="1066800" y="3048000"/>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en-US" altLang="zh-CN" sz="2800" b="1">
                <a:ea typeface="楷体_GB2312" pitchFamily="49" charset="-122"/>
              </a:rPr>
              <a:t>d</a:t>
            </a:r>
          </a:p>
        </p:txBody>
      </p:sp>
      <p:sp>
        <p:nvSpPr>
          <p:cNvPr id="2624533" name="Rectangle 21"/>
          <p:cNvSpPr>
            <a:spLocks noChangeArrowheads="1"/>
          </p:cNvSpPr>
          <p:nvPr/>
        </p:nvSpPr>
        <p:spPr bwMode="auto">
          <a:xfrm>
            <a:off x="1066800" y="3581400"/>
            <a:ext cx="5746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kumimoji="1" lang="zh-CN" altLang="zh-CN" sz="2800" b="1">
                <a:ea typeface="楷体_GB2312" pitchFamily="49" charset="-122"/>
              </a:rPr>
              <a:t>…</a:t>
            </a:r>
          </a:p>
        </p:txBody>
      </p:sp>
    </p:spTree>
    <p:extLst>
      <p:ext uri="{BB962C8B-B14F-4D97-AF65-F5344CB8AC3E}">
        <p14:creationId xmlns:p14="http://schemas.microsoft.com/office/powerpoint/2010/main" val="23205620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624515"/>
                                        </p:tgtEl>
                                        <p:attrNameLst>
                                          <p:attrName>style.visibility</p:attrName>
                                        </p:attrNameLst>
                                      </p:cBhvr>
                                      <p:to>
                                        <p:strVal val="visible"/>
                                      </p:to>
                                    </p:set>
                                    <p:anim calcmode="lin" valueType="num">
                                      <p:cBhvr additive="base">
                                        <p:cTn id="7" dur="500" fill="hold"/>
                                        <p:tgtEl>
                                          <p:spTgt spid="2624515"/>
                                        </p:tgtEl>
                                        <p:attrNameLst>
                                          <p:attrName>ppt_x</p:attrName>
                                        </p:attrNameLst>
                                      </p:cBhvr>
                                      <p:tavLst>
                                        <p:tav tm="0">
                                          <p:val>
                                            <p:strVal val="#ppt_x"/>
                                          </p:val>
                                        </p:tav>
                                        <p:tav tm="100000">
                                          <p:val>
                                            <p:strVal val="#ppt_x"/>
                                          </p:val>
                                        </p:tav>
                                      </p:tavLst>
                                    </p:anim>
                                    <p:anim calcmode="lin" valueType="num">
                                      <p:cBhvr additive="base">
                                        <p:cTn id="8" dur="500" fill="hold"/>
                                        <p:tgtEl>
                                          <p:spTgt spid="262451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2624518"/>
                                        </p:tgtEl>
                                        <p:attrNameLst>
                                          <p:attrName>style.visibility</p:attrName>
                                        </p:attrNameLst>
                                      </p:cBhvr>
                                      <p:to>
                                        <p:strVal val="visible"/>
                                      </p:to>
                                    </p:set>
                                    <p:anim calcmode="lin" valueType="num">
                                      <p:cBhvr>
                                        <p:cTn id="13" dur="500" fill="hold"/>
                                        <p:tgtEl>
                                          <p:spTgt spid="2624518"/>
                                        </p:tgtEl>
                                        <p:attrNameLst>
                                          <p:attrName>ppt_w</p:attrName>
                                        </p:attrNameLst>
                                      </p:cBhvr>
                                      <p:tavLst>
                                        <p:tav tm="0">
                                          <p:val>
                                            <p:strVal val="2/3*#ppt_w"/>
                                          </p:val>
                                        </p:tav>
                                        <p:tav tm="100000">
                                          <p:val>
                                            <p:strVal val="#ppt_w"/>
                                          </p:val>
                                        </p:tav>
                                      </p:tavLst>
                                    </p:anim>
                                    <p:anim calcmode="lin" valueType="num">
                                      <p:cBhvr>
                                        <p:cTn id="14" dur="500" fill="hold"/>
                                        <p:tgtEl>
                                          <p:spTgt spid="2624518"/>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624523"/>
                                        </p:tgtEl>
                                        <p:attrNameLst>
                                          <p:attrName>style.visibility</p:attrName>
                                        </p:attrNameLst>
                                      </p:cBhvr>
                                      <p:to>
                                        <p:strVal val="visible"/>
                                      </p:to>
                                    </p:set>
                                    <p:animEffect transition="in" filter="wipe(down)">
                                      <p:cBhvr>
                                        <p:cTn id="19" dur="500"/>
                                        <p:tgtEl>
                                          <p:spTgt spid="262452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624527"/>
                                        </p:tgtEl>
                                        <p:attrNameLst>
                                          <p:attrName>style.visibility</p:attrName>
                                        </p:attrNameLst>
                                      </p:cBhvr>
                                      <p:to>
                                        <p:strVal val="visible"/>
                                      </p:to>
                                    </p:set>
                                    <p:animEffect transition="in" filter="wipe(down)">
                                      <p:cBhvr>
                                        <p:cTn id="24" dur="500"/>
                                        <p:tgtEl>
                                          <p:spTgt spid="262452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624524"/>
                                        </p:tgtEl>
                                        <p:attrNameLst>
                                          <p:attrName>style.visibility</p:attrName>
                                        </p:attrNameLst>
                                      </p:cBhvr>
                                      <p:to>
                                        <p:strVal val="visible"/>
                                      </p:to>
                                    </p:set>
                                    <p:animEffect transition="in" filter="wipe(down)">
                                      <p:cBhvr>
                                        <p:cTn id="29" dur="500"/>
                                        <p:tgtEl>
                                          <p:spTgt spid="262452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624517"/>
                                        </p:tgtEl>
                                        <p:attrNameLst>
                                          <p:attrName>style.visibility</p:attrName>
                                        </p:attrNameLst>
                                      </p:cBhvr>
                                      <p:to>
                                        <p:strVal val="visible"/>
                                      </p:to>
                                    </p:set>
                                    <p:animEffect transition="in" filter="wipe(down)">
                                      <p:cBhvr>
                                        <p:cTn id="34" dur="500"/>
                                        <p:tgtEl>
                                          <p:spTgt spid="26245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624525"/>
                                        </p:tgtEl>
                                        <p:attrNameLst>
                                          <p:attrName>style.visibility</p:attrName>
                                        </p:attrNameLst>
                                      </p:cBhvr>
                                      <p:to>
                                        <p:strVal val="visible"/>
                                      </p:to>
                                    </p:set>
                                    <p:animEffect transition="in" filter="wipe(down)">
                                      <p:cBhvr>
                                        <p:cTn id="39" dur="500"/>
                                        <p:tgtEl>
                                          <p:spTgt spid="262452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624530"/>
                                        </p:tgtEl>
                                        <p:attrNameLst>
                                          <p:attrName>style.visibility</p:attrName>
                                        </p:attrNameLst>
                                      </p:cBhvr>
                                      <p:to>
                                        <p:strVal val="visible"/>
                                      </p:to>
                                    </p:set>
                                    <p:animEffect transition="in" filter="wipe(down)">
                                      <p:cBhvr>
                                        <p:cTn id="44" dur="500"/>
                                        <p:tgtEl>
                                          <p:spTgt spid="262453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624531"/>
                                        </p:tgtEl>
                                        <p:attrNameLst>
                                          <p:attrName>style.visibility</p:attrName>
                                        </p:attrNameLst>
                                      </p:cBhvr>
                                      <p:to>
                                        <p:strVal val="visible"/>
                                      </p:to>
                                    </p:set>
                                    <p:animEffect transition="in" filter="wipe(down)">
                                      <p:cBhvr>
                                        <p:cTn id="49" dur="500"/>
                                        <p:tgtEl>
                                          <p:spTgt spid="262453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624516"/>
                                        </p:tgtEl>
                                        <p:attrNameLst>
                                          <p:attrName>style.visibility</p:attrName>
                                        </p:attrNameLst>
                                      </p:cBhvr>
                                      <p:to>
                                        <p:strVal val="visible"/>
                                      </p:to>
                                    </p:set>
                                    <p:animEffect transition="in" filter="wipe(down)">
                                      <p:cBhvr>
                                        <p:cTn id="54" dur="500"/>
                                        <p:tgtEl>
                                          <p:spTgt spid="26245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624533"/>
                                        </p:tgtEl>
                                        <p:attrNameLst>
                                          <p:attrName>style.visibility</p:attrName>
                                        </p:attrNameLst>
                                      </p:cBhvr>
                                      <p:to>
                                        <p:strVal val="visible"/>
                                      </p:to>
                                    </p:set>
                                    <p:animEffect transition="in" filter="wipe(down)">
                                      <p:cBhvr>
                                        <p:cTn id="59" dur="500"/>
                                        <p:tgtEl>
                                          <p:spTgt spid="262453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2624519"/>
                                        </p:tgtEl>
                                        <p:attrNameLst>
                                          <p:attrName>style.visibility</p:attrName>
                                        </p:attrNameLst>
                                      </p:cBhvr>
                                      <p:to>
                                        <p:strVal val="visible"/>
                                      </p:to>
                                    </p:set>
                                    <p:animEffect transition="in" filter="wipe(down)">
                                      <p:cBhvr>
                                        <p:cTn id="64" dur="500"/>
                                        <p:tgtEl>
                                          <p:spTgt spid="262451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624532"/>
                                        </p:tgtEl>
                                        <p:attrNameLst>
                                          <p:attrName>style.visibility</p:attrName>
                                        </p:attrNameLst>
                                      </p:cBhvr>
                                      <p:to>
                                        <p:strVal val="visible"/>
                                      </p:to>
                                    </p:set>
                                    <p:animEffect transition="in" filter="wipe(down)">
                                      <p:cBhvr>
                                        <p:cTn id="69" dur="500"/>
                                        <p:tgtEl>
                                          <p:spTgt spid="262453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2624529"/>
                                        </p:tgtEl>
                                        <p:attrNameLst>
                                          <p:attrName>style.visibility</p:attrName>
                                        </p:attrNameLst>
                                      </p:cBhvr>
                                      <p:to>
                                        <p:strVal val="visible"/>
                                      </p:to>
                                    </p:set>
                                    <p:animEffect transition="in" filter="wipe(down)">
                                      <p:cBhvr>
                                        <p:cTn id="74" dur="500"/>
                                        <p:tgtEl>
                                          <p:spTgt spid="262452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2624522"/>
                                        </p:tgtEl>
                                        <p:attrNameLst>
                                          <p:attrName>style.visibility</p:attrName>
                                        </p:attrNameLst>
                                      </p:cBhvr>
                                      <p:to>
                                        <p:strVal val="visible"/>
                                      </p:to>
                                    </p:set>
                                    <p:animEffect transition="in" filter="wipe(down)">
                                      <p:cBhvr>
                                        <p:cTn id="79" dur="500"/>
                                        <p:tgtEl>
                                          <p:spTgt spid="2624522"/>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2624521"/>
                                        </p:tgtEl>
                                        <p:attrNameLst>
                                          <p:attrName>style.visibility</p:attrName>
                                        </p:attrNameLst>
                                      </p:cBhvr>
                                      <p:to>
                                        <p:strVal val="visible"/>
                                      </p:to>
                                    </p:set>
                                    <p:animEffect transition="in" filter="wipe(down)">
                                      <p:cBhvr>
                                        <p:cTn id="84" dur="500"/>
                                        <p:tgtEl>
                                          <p:spTgt spid="262452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2624520"/>
                                        </p:tgtEl>
                                        <p:attrNameLst>
                                          <p:attrName>style.visibility</p:attrName>
                                        </p:attrNameLst>
                                      </p:cBhvr>
                                      <p:to>
                                        <p:strVal val="visible"/>
                                      </p:to>
                                    </p:set>
                                    <p:animEffect transition="in" filter="wipe(down)">
                                      <p:cBhvr>
                                        <p:cTn id="89" dur="500"/>
                                        <p:tgtEl>
                                          <p:spTgt spid="262452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2624528"/>
                                        </p:tgtEl>
                                        <p:attrNameLst>
                                          <p:attrName>style.visibility</p:attrName>
                                        </p:attrNameLst>
                                      </p:cBhvr>
                                      <p:to>
                                        <p:strVal val="visible"/>
                                      </p:to>
                                    </p:set>
                                    <p:animEffect transition="in" filter="wipe(down)">
                                      <p:cBhvr>
                                        <p:cTn id="94" dur="500"/>
                                        <p:tgtEl>
                                          <p:spTgt spid="2624528"/>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4" fill="hold" nodeType="clickEffect">
                                  <p:stCondLst>
                                    <p:cond delay="0"/>
                                  </p:stCondLst>
                                  <p:childTnLst>
                                    <p:set>
                                      <p:cBhvr>
                                        <p:cTn id="98" dur="1" fill="hold">
                                          <p:stCondLst>
                                            <p:cond delay="0"/>
                                          </p:stCondLst>
                                        </p:cTn>
                                        <p:tgtEl>
                                          <p:spTgt spid="2624526"/>
                                        </p:tgtEl>
                                        <p:attrNameLst>
                                          <p:attrName>style.visibility</p:attrName>
                                        </p:attrNameLst>
                                      </p:cBhvr>
                                      <p:to>
                                        <p:strVal val="visible"/>
                                      </p:to>
                                    </p:set>
                                    <p:animEffect transition="in" filter="wipe(down)">
                                      <p:cBhvr>
                                        <p:cTn id="99" dur="500"/>
                                        <p:tgtEl>
                                          <p:spTgt spid="2624526"/>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624514">
                                            <p:txEl>
                                              <p:pRg st="0" end="0"/>
                                            </p:txEl>
                                          </p:spTgt>
                                        </p:tgtEl>
                                        <p:attrNameLst>
                                          <p:attrName>style.visibility</p:attrName>
                                        </p:attrNameLst>
                                      </p:cBhvr>
                                      <p:to>
                                        <p:strVal val="visible"/>
                                      </p:to>
                                    </p:set>
                                    <p:animEffect transition="in" filter="wipe(left)">
                                      <p:cBhvr>
                                        <p:cTn id="104" dur="500"/>
                                        <p:tgtEl>
                                          <p:spTgt spid="2624514">
                                            <p:txEl>
                                              <p:pRg st="0" end="0"/>
                                            </p:txEl>
                                          </p:spTgt>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624514">
                                            <p:txEl>
                                              <p:pRg st="1" end="1"/>
                                            </p:txEl>
                                          </p:spTgt>
                                        </p:tgtEl>
                                        <p:attrNameLst>
                                          <p:attrName>style.visibility</p:attrName>
                                        </p:attrNameLst>
                                      </p:cBhvr>
                                      <p:to>
                                        <p:strVal val="visible"/>
                                      </p:to>
                                    </p:set>
                                    <p:animEffect transition="in" filter="wipe(left)">
                                      <p:cBhvr>
                                        <p:cTn id="109" dur="500"/>
                                        <p:tgtEl>
                                          <p:spTgt spid="2624514">
                                            <p:txEl>
                                              <p:pRg st="1" end="1"/>
                                            </p:txEl>
                                          </p:spTgt>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624514">
                                            <p:txEl>
                                              <p:pRg st="2" end="2"/>
                                            </p:txEl>
                                          </p:spTgt>
                                        </p:tgtEl>
                                        <p:attrNameLst>
                                          <p:attrName>style.visibility</p:attrName>
                                        </p:attrNameLst>
                                      </p:cBhvr>
                                      <p:to>
                                        <p:strVal val="visible"/>
                                      </p:to>
                                    </p:set>
                                    <p:animEffect transition="in" filter="wipe(left)">
                                      <p:cBhvr>
                                        <p:cTn id="114" dur="500"/>
                                        <p:tgtEl>
                                          <p:spTgt spid="2624514">
                                            <p:txEl>
                                              <p:pRg st="2" end="2"/>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624514">
                                            <p:txEl>
                                              <p:pRg st="3" end="3"/>
                                            </p:txEl>
                                          </p:spTgt>
                                        </p:tgtEl>
                                        <p:attrNameLst>
                                          <p:attrName>style.visibility</p:attrName>
                                        </p:attrNameLst>
                                      </p:cBhvr>
                                      <p:to>
                                        <p:strVal val="visible"/>
                                      </p:to>
                                    </p:set>
                                    <p:animEffect transition="in" filter="wipe(left)">
                                      <p:cBhvr>
                                        <p:cTn id="119" dur="500"/>
                                        <p:tgtEl>
                                          <p:spTgt spid="26245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4514" grpId="0" build="p"/>
      <p:bldP spid="2624515" grpId="0" autoUpdateAnimBg="0"/>
      <p:bldP spid="2624516" grpId="0" animBg="1" autoUpdateAnimBg="0"/>
      <p:bldP spid="2624517" grpId="0" animBg="1" autoUpdateAnimBg="0"/>
      <p:bldP spid="2624519" grpId="0" animBg="1" autoUpdateAnimBg="0"/>
      <p:bldP spid="2624520" grpId="0" autoUpdateAnimBg="0"/>
      <p:bldP spid="2624521" grpId="0" autoUpdateAnimBg="0"/>
      <p:bldP spid="2624522" grpId="0" autoUpdateAnimBg="0"/>
      <p:bldP spid="2624523" grpId="0" autoUpdateAnimBg="0"/>
      <p:bldP spid="2624524" grpId="0" autoUpdateAnimBg="0"/>
      <p:bldP spid="2624525" grpId="0" autoUpdateAnimBg="0"/>
      <p:bldP spid="2624527" grpId="0" animBg="1" autoUpdateAnimBg="0"/>
      <p:bldP spid="2624528" grpId="0" autoUpdateAnimBg="0"/>
      <p:bldP spid="2624529" grpId="0" animBg="1" autoUpdateAnimBg="0"/>
      <p:bldP spid="2624530" grpId="0" animBg="1" autoUpdateAnimBg="0"/>
      <p:bldP spid="2624531" grpId="0" autoUpdateAnimBg="0"/>
      <p:bldP spid="2624532" grpId="0" autoUpdateAnimBg="0"/>
      <p:bldP spid="2624533"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D420A8C4-A1DE-42C8-B275-48DFFA10D9DF}"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5A7EF7A8-5FCF-4003-9F15-429F29FF98AF}" type="slidenum">
              <a:rPr lang="en-US" altLang="zh-CN"/>
              <a:pPr/>
              <a:t>88</a:t>
            </a:fld>
            <a:endParaRPr lang="en-US" altLang="zh-CN"/>
          </a:p>
        </p:txBody>
      </p:sp>
      <p:sp>
        <p:nvSpPr>
          <p:cNvPr id="2625538" name="Rectangle 2"/>
          <p:cNvSpPr>
            <a:spLocks noGrp="1" noChangeArrowheads="1"/>
          </p:cNvSpPr>
          <p:nvPr>
            <p:ph type="title"/>
          </p:nvPr>
        </p:nvSpPr>
        <p:spPr>
          <a:xfrm>
            <a:off x="5580063" y="0"/>
            <a:ext cx="3563937" cy="549275"/>
          </a:xfrm>
        </p:spPr>
        <p:txBody>
          <a:bodyPr/>
          <a:lstStyle/>
          <a:p>
            <a:r>
              <a:rPr lang="zh-CN" altLang="en-US" sz="32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一个例子</a:t>
            </a:r>
            <a:endParaRPr lang="zh-CN" altLang="en-US" sz="28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25539" name="Rectangle 3"/>
          <p:cNvSpPr>
            <a:spLocks noGrp="1" noChangeArrowheads="1"/>
          </p:cNvSpPr>
          <p:nvPr>
            <p:ph type="body" idx="1"/>
          </p:nvPr>
        </p:nvSpPr>
        <p:spPr>
          <a:xfrm>
            <a:off x="250825" y="0"/>
            <a:ext cx="5184775" cy="6597650"/>
          </a:xfrm>
          <a:noFill/>
          <a:ln w="28575" cap="flat" algn="ctr">
            <a:solidFill>
              <a:srgbClr val="FF0000"/>
            </a:solidFill>
            <a:miter lim="800000"/>
            <a:headEnd/>
            <a:tailEnd/>
          </a:ln>
        </p:spPr>
        <p:txBody>
          <a:bodyPr lIns="92075" tIns="46038" rIns="92075" bIns="46038"/>
          <a:lstStyle/>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program P;</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var a, x :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procedure Q(b: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i: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R(u: integer; var v: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c, d: integer;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if u=1 then R(u+1, v)</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v:=(a+c)*(b-d);</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end {R}</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begin</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R(1,x);</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a:t>
            </a:r>
          </a:p>
          <a:p>
            <a:pPr>
              <a:lnSpc>
                <a:spcPct val="80000"/>
              </a:lnSpc>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end {Q}</a:t>
            </a:r>
          </a:p>
        </p:txBody>
      </p:sp>
      <p:sp>
        <p:nvSpPr>
          <p:cNvPr id="2625540" name="Rectangle 4"/>
          <p:cNvSpPr>
            <a:spLocks noChangeArrowheads="1"/>
          </p:cNvSpPr>
          <p:nvPr/>
        </p:nvSpPr>
        <p:spPr bwMode="auto">
          <a:xfrm>
            <a:off x="5508625" y="2060575"/>
            <a:ext cx="3492500" cy="45085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lnSpc>
                <a:spcPct val="80000"/>
              </a:lnSpc>
              <a:buFontTx/>
              <a:buNone/>
            </a:pPr>
            <a:r>
              <a:rPr lang="en-US" altLang="zh-CN" sz="2400" b="1">
                <a:latin typeface="Times New Roman" panose="02020603050405020304" pitchFamily="18" charset="0"/>
              </a:rPr>
              <a:t>procedure S;</a:t>
            </a:r>
          </a:p>
          <a:p>
            <a:pPr>
              <a:lnSpc>
                <a:spcPct val="80000"/>
              </a:lnSpc>
              <a:buFontTx/>
              <a:buNone/>
            </a:pPr>
            <a:r>
              <a:rPr lang="en-US" altLang="zh-CN" sz="2400" b="1">
                <a:latin typeface="Times New Roman" panose="02020603050405020304" pitchFamily="18" charset="0"/>
              </a:rPr>
              <a:t>	var c, i:integer;</a:t>
            </a:r>
          </a:p>
          <a:p>
            <a:pPr>
              <a:lnSpc>
                <a:spcPct val="80000"/>
              </a:lnSpc>
              <a:buFontTx/>
              <a:buNone/>
            </a:pPr>
            <a:r>
              <a:rPr lang="en-US" altLang="zh-CN" sz="2400" b="1">
                <a:latin typeface="Times New Roman" panose="02020603050405020304" pitchFamily="18" charset="0"/>
              </a:rPr>
              <a:t>	begin</a:t>
            </a:r>
          </a:p>
          <a:p>
            <a:pPr>
              <a:lnSpc>
                <a:spcPct val="80000"/>
              </a:lnSpc>
              <a:buFontTx/>
              <a:buNone/>
            </a:pPr>
            <a:r>
              <a:rPr lang="en-US" altLang="zh-CN" sz="2400" b="1">
                <a:latin typeface="Times New Roman" panose="02020603050405020304" pitchFamily="18" charset="0"/>
              </a:rPr>
              <a:t>		a:=1;</a:t>
            </a:r>
          </a:p>
          <a:p>
            <a:pPr>
              <a:lnSpc>
                <a:spcPct val="80000"/>
              </a:lnSpc>
              <a:buFontTx/>
              <a:buNone/>
            </a:pPr>
            <a:r>
              <a:rPr lang="en-US" altLang="zh-CN" sz="2400" b="1">
                <a:latin typeface="Times New Roman" panose="02020603050405020304" pitchFamily="18" charset="0"/>
              </a:rPr>
              <a:t>		Q(c);</a:t>
            </a:r>
          </a:p>
          <a:p>
            <a:pPr>
              <a:lnSpc>
                <a:spcPct val="80000"/>
              </a:lnSpc>
              <a:buFontTx/>
              <a:buNone/>
            </a:pPr>
            <a:r>
              <a:rPr lang="en-US" altLang="zh-CN" sz="2400" b="1">
                <a:latin typeface="Times New Roman" panose="02020603050405020304" pitchFamily="18" charset="0"/>
              </a:rPr>
              <a:t>		......</a:t>
            </a:r>
          </a:p>
          <a:p>
            <a:pPr>
              <a:lnSpc>
                <a:spcPct val="80000"/>
              </a:lnSpc>
              <a:buFontTx/>
              <a:buNone/>
            </a:pPr>
            <a:r>
              <a:rPr lang="en-US" altLang="zh-CN" sz="2400" b="1">
                <a:latin typeface="Times New Roman" panose="02020603050405020304" pitchFamily="18" charset="0"/>
              </a:rPr>
              <a:t>	end {S}</a:t>
            </a:r>
          </a:p>
          <a:p>
            <a:pPr>
              <a:lnSpc>
                <a:spcPct val="80000"/>
              </a:lnSpc>
              <a:buFontTx/>
              <a:buNone/>
            </a:pPr>
            <a:r>
              <a:rPr lang="en-US" altLang="zh-CN" sz="2400" b="1">
                <a:latin typeface="Times New Roman" panose="02020603050405020304" pitchFamily="18" charset="0"/>
              </a:rPr>
              <a:t>begin</a:t>
            </a:r>
          </a:p>
          <a:p>
            <a:pPr>
              <a:lnSpc>
                <a:spcPct val="80000"/>
              </a:lnSpc>
              <a:buFontTx/>
              <a:buNone/>
            </a:pPr>
            <a:r>
              <a:rPr lang="en-US" altLang="zh-CN" sz="2400" b="1">
                <a:latin typeface="Times New Roman" panose="02020603050405020304" pitchFamily="18" charset="0"/>
              </a:rPr>
              <a:t>	a:=0;</a:t>
            </a:r>
          </a:p>
          <a:p>
            <a:pPr>
              <a:lnSpc>
                <a:spcPct val="80000"/>
              </a:lnSpc>
              <a:buFontTx/>
              <a:buNone/>
            </a:pPr>
            <a:r>
              <a:rPr lang="en-US" altLang="zh-CN" sz="2400" b="1">
                <a:latin typeface="Times New Roman" panose="02020603050405020304" pitchFamily="18" charset="0"/>
              </a:rPr>
              <a:t>	S;</a:t>
            </a:r>
          </a:p>
          <a:p>
            <a:pPr>
              <a:lnSpc>
                <a:spcPct val="80000"/>
              </a:lnSpc>
              <a:buFontTx/>
              <a:buNone/>
            </a:pPr>
            <a:r>
              <a:rPr lang="en-US" altLang="zh-CN" sz="2400" b="1">
                <a:latin typeface="Times New Roman" panose="02020603050405020304" pitchFamily="18" charset="0"/>
              </a:rPr>
              <a:t>	......</a:t>
            </a:r>
          </a:p>
          <a:p>
            <a:pPr>
              <a:lnSpc>
                <a:spcPct val="80000"/>
              </a:lnSpc>
              <a:buFontTx/>
              <a:buNone/>
            </a:pPr>
            <a:r>
              <a:rPr lang="en-US" altLang="zh-CN" sz="2400" b="1">
                <a:latin typeface="Times New Roman" panose="02020603050405020304" pitchFamily="18" charset="0"/>
              </a:rPr>
              <a:t>end. {P}</a:t>
            </a:r>
          </a:p>
        </p:txBody>
      </p:sp>
      <p:sp>
        <p:nvSpPr>
          <p:cNvPr id="2625541" name="Rectangle 5"/>
          <p:cNvSpPr>
            <a:spLocks noChangeArrowheads="1"/>
          </p:cNvSpPr>
          <p:nvPr/>
        </p:nvSpPr>
        <p:spPr bwMode="auto">
          <a:xfrm>
            <a:off x="5580063" y="620713"/>
            <a:ext cx="3419475"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a:defRPr sz="4400" b="1">
                <a:solidFill>
                  <a:schemeClr val="tx2"/>
                </a:solidFill>
                <a:latin typeface="黑体" panose="02010609060101010101" pitchFamily="49" charset="-122"/>
                <a:ea typeface="黑体" panose="02010609060101010101" pitchFamily="49" charset="-122"/>
              </a:defRPr>
            </a:lvl1pPr>
            <a:lvl2pPr algn="ctr">
              <a:defRPr sz="4400" b="1">
                <a:solidFill>
                  <a:schemeClr val="tx2"/>
                </a:solidFill>
                <a:latin typeface="黑体" panose="02010609060101010101" pitchFamily="49" charset="-122"/>
                <a:ea typeface="黑体" panose="02010609060101010101" pitchFamily="49" charset="-122"/>
              </a:defRPr>
            </a:lvl2pPr>
            <a:lvl3pPr algn="ctr">
              <a:defRPr sz="4400" b="1">
                <a:solidFill>
                  <a:schemeClr val="tx2"/>
                </a:solidFill>
                <a:latin typeface="黑体" panose="02010609060101010101" pitchFamily="49" charset="-122"/>
                <a:ea typeface="黑体" panose="02010609060101010101" pitchFamily="49" charset="-122"/>
              </a:defRPr>
            </a:lvl3pPr>
            <a:lvl4pPr algn="ctr">
              <a:defRPr sz="4400" b="1">
                <a:solidFill>
                  <a:schemeClr val="tx2"/>
                </a:solidFill>
                <a:latin typeface="黑体" panose="02010609060101010101" pitchFamily="49" charset="-122"/>
                <a:ea typeface="黑体" panose="02010609060101010101" pitchFamily="49" charset="-122"/>
              </a:defRPr>
            </a:lvl4pPr>
            <a:lvl5pPr algn="ctr">
              <a:defRPr sz="4400" b="1">
                <a:solidFill>
                  <a:schemeClr val="tx2"/>
                </a:solidFill>
                <a:latin typeface="黑体" panose="02010609060101010101" pitchFamily="49" charset="-122"/>
                <a:ea typeface="黑体" panose="02010609060101010101" pitchFamily="49" charset="-122"/>
              </a:defRPr>
            </a:lvl5pPr>
            <a:lvl6pPr marL="4572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6pPr>
            <a:lvl7pPr marL="9144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7pPr>
            <a:lvl8pPr marL="13716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8pPr>
            <a:lvl9pPr marL="1828800" algn="ctr" fontAlgn="base">
              <a:spcBef>
                <a:spcPct val="0"/>
              </a:spcBef>
              <a:spcAft>
                <a:spcPct val="0"/>
              </a:spcAft>
              <a:defRPr sz="4400" b="1">
                <a:solidFill>
                  <a:schemeClr val="tx2"/>
                </a:solidFill>
                <a:latin typeface="黑体" panose="02010609060101010101" pitchFamily="49" charset="-122"/>
                <a:ea typeface="黑体" panose="02010609060101010101" pitchFamily="49" charset="-122"/>
              </a:defRPr>
            </a:lvl9pPr>
          </a:lstStyle>
          <a:p>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主程序</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P </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S </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Q </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R </a:t>
            </a:r>
            <a:r>
              <a:rPr lang="en-US" altLang="zh-CN" sz="2800" b="0">
                <a:solidFill>
                  <a:srgbClr val="FF0000"/>
                </a:solidFill>
                <a:latin typeface="Times New Roman" panose="02020603050405020304" pitchFamily="18" charset="0"/>
                <a:ea typeface="楷体_GB2312" pitchFamily="49" charset="-122"/>
                <a:sym typeface="Symbol" panose="05050102010706020507" pitchFamily="18" charset="2"/>
              </a:rPr>
              <a:t></a:t>
            </a:r>
            <a:r>
              <a:rPr lang="zh-CN" altLang="en-US" sz="2800" b="0">
                <a:solidFill>
                  <a:srgbClr val="FF0000"/>
                </a:solidFill>
                <a:latin typeface="Times New Roman" panose="02020603050405020304" pitchFamily="18" charset="0"/>
                <a:ea typeface="楷体_GB2312" pitchFamily="49" charset="-122"/>
                <a:sym typeface="Symbol" panose="05050102010706020507" pitchFamily="18" charset="2"/>
              </a:rPr>
              <a:t>过程</a:t>
            </a:r>
            <a:r>
              <a:rPr lang="zh-CN" altLang="en-US" sz="2800" b="0">
                <a:solidFill>
                  <a:srgbClr val="FF0000"/>
                </a:solidFill>
                <a:latin typeface="Times New Roman" panose="02020603050405020304" pitchFamily="18" charset="0"/>
                <a:ea typeface="楷体_GB2312" pitchFamily="49" charset="-122"/>
              </a:rPr>
              <a:t> </a:t>
            </a:r>
            <a:r>
              <a:rPr lang="en-US" altLang="zh-CN" sz="2800" b="0">
                <a:solidFill>
                  <a:srgbClr val="FF0000"/>
                </a:solidFill>
                <a:latin typeface="Times New Roman" panose="02020603050405020304" pitchFamily="18" charset="0"/>
                <a:ea typeface="楷体_GB2312" pitchFamily="49" charset="-122"/>
              </a:rPr>
              <a:t>R</a:t>
            </a:r>
          </a:p>
        </p:txBody>
      </p:sp>
    </p:spTree>
    <p:extLst>
      <p:ext uri="{BB962C8B-B14F-4D97-AF65-F5344CB8AC3E}">
        <p14:creationId xmlns:p14="http://schemas.microsoft.com/office/powerpoint/2010/main" val="896054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625541"/>
                                        </p:tgtEl>
                                        <p:attrNameLst>
                                          <p:attrName>style.visibility</p:attrName>
                                        </p:attrNameLst>
                                      </p:cBhvr>
                                      <p:to>
                                        <p:strVal val="visible"/>
                                      </p:to>
                                    </p:set>
                                    <p:animEffect transition="in" filter="fade">
                                      <p:cBhvr>
                                        <p:cTn id="7" dur="3000"/>
                                        <p:tgtEl>
                                          <p:spTgt spid="2625541"/>
                                        </p:tgtEl>
                                      </p:cBhvr>
                                    </p:animEffect>
                                    <p:anim calcmode="lin" valueType="num">
                                      <p:cBhvr>
                                        <p:cTn id="8" dur="3000" fill="hold"/>
                                        <p:tgtEl>
                                          <p:spTgt spid="2625541"/>
                                        </p:tgtEl>
                                        <p:attrNameLst>
                                          <p:attrName>ppt_x</p:attrName>
                                        </p:attrNameLst>
                                      </p:cBhvr>
                                      <p:tavLst>
                                        <p:tav tm="0">
                                          <p:val>
                                            <p:strVal val="#ppt_x-.1"/>
                                          </p:val>
                                        </p:tav>
                                        <p:tav tm="100000">
                                          <p:val>
                                            <p:strVal val="#ppt_x"/>
                                          </p:val>
                                        </p:tav>
                                      </p:tavLst>
                                    </p:anim>
                                    <p:anim calcmode="lin" valueType="num">
                                      <p:cBhvr>
                                        <p:cTn id="9" dur="3000" fill="hold"/>
                                        <p:tgtEl>
                                          <p:spTgt spid="26255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5541" grpId="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 name="日期占位符 3"/>
          <p:cNvSpPr>
            <a:spLocks noGrp="1"/>
          </p:cNvSpPr>
          <p:nvPr>
            <p:ph type="dt" sz="half" idx="10"/>
          </p:nvPr>
        </p:nvSpPr>
        <p:spPr/>
        <p:txBody>
          <a:bodyPr/>
          <a:lstStyle/>
          <a:p>
            <a:fld id="{9506ABAD-2DE6-40AA-BA75-DB1950DC4777}" type="datetime1">
              <a:rPr lang="zh-CN" altLang="en-US"/>
              <a:pPr/>
              <a:t>2017/2/24</a:t>
            </a:fld>
            <a:endParaRPr lang="en-US" altLang="zh-CN"/>
          </a:p>
        </p:txBody>
      </p:sp>
      <p:sp>
        <p:nvSpPr>
          <p:cNvPr id="48" name="灯片编号占位符 5"/>
          <p:cNvSpPr>
            <a:spLocks noGrp="1"/>
          </p:cNvSpPr>
          <p:nvPr>
            <p:ph type="sldNum" sz="quarter" idx="12"/>
          </p:nvPr>
        </p:nvSpPr>
        <p:spPr/>
        <p:txBody>
          <a:bodyPr/>
          <a:lstStyle/>
          <a:p>
            <a:fld id="{36FA334C-F6B1-4B4B-B368-567A313FF66E}" type="slidenum">
              <a:rPr lang="en-US" altLang="zh-CN"/>
              <a:pPr/>
              <a:t>89</a:t>
            </a:fld>
            <a:endParaRPr lang="en-US" altLang="zh-CN"/>
          </a:p>
        </p:txBody>
      </p:sp>
      <p:grpSp>
        <p:nvGrpSpPr>
          <p:cNvPr id="2626562" name="Group 2"/>
          <p:cNvGrpSpPr>
            <a:grpSpLocks/>
          </p:cNvGrpSpPr>
          <p:nvPr/>
        </p:nvGrpSpPr>
        <p:grpSpPr bwMode="auto">
          <a:xfrm>
            <a:off x="3276600" y="6096000"/>
            <a:ext cx="2590800" cy="304800"/>
            <a:chOff x="2256" y="2640"/>
            <a:chExt cx="1632" cy="192"/>
          </a:xfrm>
        </p:grpSpPr>
        <p:sp>
          <p:nvSpPr>
            <p:cNvPr id="2626563" name="Rectangle 3"/>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6564" name="Rectangle 4"/>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grpSp>
        <p:nvGrpSpPr>
          <p:cNvPr id="2626565" name="Group 5"/>
          <p:cNvGrpSpPr>
            <a:grpSpLocks/>
          </p:cNvGrpSpPr>
          <p:nvPr/>
        </p:nvGrpSpPr>
        <p:grpSpPr bwMode="auto">
          <a:xfrm>
            <a:off x="3276600" y="5791200"/>
            <a:ext cx="2590800" cy="304800"/>
            <a:chOff x="2064" y="3648"/>
            <a:chExt cx="1632" cy="192"/>
          </a:xfrm>
        </p:grpSpPr>
        <p:sp>
          <p:nvSpPr>
            <p:cNvPr id="2626566" name="Rectangle 6"/>
            <p:cNvSpPr>
              <a:spLocks noChangeArrowheads="1"/>
            </p:cNvSpPr>
            <p:nvPr/>
          </p:nvSpPr>
          <p:spPr bwMode="auto">
            <a:xfrm>
              <a:off x="2400" y="3648"/>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6567" name="Rectangle 7"/>
            <p:cNvSpPr>
              <a:spLocks noChangeArrowheads="1"/>
            </p:cNvSpPr>
            <p:nvPr/>
          </p:nvSpPr>
          <p:spPr bwMode="auto">
            <a:xfrm>
              <a:off x="2064" y="3648"/>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grpSp>
      <p:grpSp>
        <p:nvGrpSpPr>
          <p:cNvPr id="2626568" name="Group 8"/>
          <p:cNvGrpSpPr>
            <a:grpSpLocks/>
          </p:cNvGrpSpPr>
          <p:nvPr/>
        </p:nvGrpSpPr>
        <p:grpSpPr bwMode="auto">
          <a:xfrm>
            <a:off x="3276600" y="5486400"/>
            <a:ext cx="2590800" cy="304800"/>
            <a:chOff x="2256" y="2640"/>
            <a:chExt cx="1632" cy="192"/>
          </a:xfrm>
        </p:grpSpPr>
        <p:sp>
          <p:nvSpPr>
            <p:cNvPr id="2626569" name="Rectangle 9"/>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0(display)</a:t>
              </a:r>
            </a:p>
          </p:txBody>
        </p:sp>
        <p:sp>
          <p:nvSpPr>
            <p:cNvPr id="2626570" name="Rectangle 10"/>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26571" name="Group 11"/>
          <p:cNvGrpSpPr>
            <a:grpSpLocks/>
          </p:cNvGrpSpPr>
          <p:nvPr/>
        </p:nvGrpSpPr>
        <p:grpSpPr bwMode="auto">
          <a:xfrm>
            <a:off x="3276600" y="5181600"/>
            <a:ext cx="2590800" cy="304800"/>
            <a:chOff x="2256" y="2640"/>
            <a:chExt cx="1632" cy="192"/>
          </a:xfrm>
        </p:grpSpPr>
        <p:sp>
          <p:nvSpPr>
            <p:cNvPr id="2626572" name="Rectangle 12"/>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26573" name="Rectangle 13"/>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26574" name="Group 14"/>
          <p:cNvGrpSpPr>
            <a:grpSpLocks/>
          </p:cNvGrpSpPr>
          <p:nvPr/>
        </p:nvGrpSpPr>
        <p:grpSpPr bwMode="auto">
          <a:xfrm>
            <a:off x="3276600" y="4876800"/>
            <a:ext cx="2590800" cy="304800"/>
            <a:chOff x="2256" y="2640"/>
            <a:chExt cx="1632" cy="192"/>
          </a:xfrm>
        </p:grpSpPr>
        <p:sp>
          <p:nvSpPr>
            <p:cNvPr id="2626575" name="Rectangle 15"/>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26576" name="Rectangle 16"/>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26577" name="Group 17"/>
          <p:cNvGrpSpPr>
            <a:grpSpLocks/>
          </p:cNvGrpSpPr>
          <p:nvPr/>
        </p:nvGrpSpPr>
        <p:grpSpPr bwMode="auto">
          <a:xfrm>
            <a:off x="3276600" y="4572000"/>
            <a:ext cx="2590800" cy="304800"/>
            <a:chOff x="2256" y="2640"/>
            <a:chExt cx="1632" cy="192"/>
          </a:xfrm>
        </p:grpSpPr>
        <p:sp>
          <p:nvSpPr>
            <p:cNvPr id="2626578" name="Rectangle 1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6579" name="Rectangle 1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grpSp>
        <p:nvGrpSpPr>
          <p:cNvPr id="2626580" name="Group 20"/>
          <p:cNvGrpSpPr>
            <a:grpSpLocks/>
          </p:cNvGrpSpPr>
          <p:nvPr/>
        </p:nvGrpSpPr>
        <p:grpSpPr bwMode="auto">
          <a:xfrm>
            <a:off x="3276600" y="4267200"/>
            <a:ext cx="2590800" cy="304800"/>
            <a:chOff x="2064" y="2688"/>
            <a:chExt cx="1632" cy="192"/>
          </a:xfrm>
        </p:grpSpPr>
        <p:sp>
          <p:nvSpPr>
            <p:cNvPr id="2626581" name="Rectangle 21"/>
            <p:cNvSpPr>
              <a:spLocks noChangeArrowheads="1"/>
            </p:cNvSpPr>
            <p:nvPr/>
          </p:nvSpPr>
          <p:spPr bwMode="auto">
            <a:xfrm>
              <a:off x="2400" y="2688"/>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6582" name="Rectangle 22"/>
            <p:cNvSpPr>
              <a:spLocks noChangeArrowheads="1"/>
            </p:cNvSpPr>
            <p:nvPr/>
          </p:nvSpPr>
          <p:spPr bwMode="auto">
            <a:xfrm>
              <a:off x="2064" y="2688"/>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grpSp>
        <p:nvGrpSpPr>
          <p:cNvPr id="2626583" name="Group 23"/>
          <p:cNvGrpSpPr>
            <a:grpSpLocks/>
          </p:cNvGrpSpPr>
          <p:nvPr/>
        </p:nvGrpSpPr>
        <p:grpSpPr bwMode="auto">
          <a:xfrm>
            <a:off x="3276600" y="3962400"/>
            <a:ext cx="2590800" cy="304800"/>
            <a:chOff x="2256" y="2640"/>
            <a:chExt cx="1632" cy="192"/>
          </a:xfrm>
        </p:grpSpPr>
        <p:sp>
          <p:nvSpPr>
            <p:cNvPr id="2626584" name="Rectangle 24"/>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2(</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6585" name="Rectangle 25"/>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26586" name="Group 26"/>
          <p:cNvGrpSpPr>
            <a:grpSpLocks/>
          </p:cNvGrpSpPr>
          <p:nvPr/>
        </p:nvGrpSpPr>
        <p:grpSpPr bwMode="auto">
          <a:xfrm>
            <a:off x="3276600" y="3657600"/>
            <a:ext cx="2590800" cy="304800"/>
            <a:chOff x="2256" y="2640"/>
            <a:chExt cx="1632" cy="192"/>
          </a:xfrm>
        </p:grpSpPr>
        <p:sp>
          <p:nvSpPr>
            <p:cNvPr id="2626587" name="Rectangle 27"/>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6588" name="Rectangle 28"/>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26589" name="Group 29"/>
          <p:cNvGrpSpPr>
            <a:grpSpLocks/>
          </p:cNvGrpSpPr>
          <p:nvPr/>
        </p:nvGrpSpPr>
        <p:grpSpPr bwMode="auto">
          <a:xfrm>
            <a:off x="3276600" y="3352800"/>
            <a:ext cx="2590800" cy="304800"/>
            <a:chOff x="2256" y="2640"/>
            <a:chExt cx="1632" cy="192"/>
          </a:xfrm>
        </p:grpSpPr>
        <p:sp>
          <p:nvSpPr>
            <p:cNvPr id="2626590" name="Rectangle 30"/>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6591" name="Rectangle 31"/>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9</a:t>
              </a:r>
            </a:p>
          </p:txBody>
        </p:sp>
      </p:grpSp>
      <p:grpSp>
        <p:nvGrpSpPr>
          <p:cNvPr id="2626592" name="Group 32"/>
          <p:cNvGrpSpPr>
            <a:grpSpLocks/>
          </p:cNvGrpSpPr>
          <p:nvPr/>
        </p:nvGrpSpPr>
        <p:grpSpPr bwMode="auto">
          <a:xfrm>
            <a:off x="3276600" y="3048000"/>
            <a:ext cx="2590800" cy="304800"/>
            <a:chOff x="2256" y="2640"/>
            <a:chExt cx="1632" cy="192"/>
          </a:xfrm>
        </p:grpSpPr>
        <p:sp>
          <p:nvSpPr>
            <p:cNvPr id="2626593" name="Rectangle 3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5</a:t>
              </a:r>
            </a:p>
          </p:txBody>
        </p:sp>
        <p:sp>
          <p:nvSpPr>
            <p:cNvPr id="2626594" name="Rectangle 34"/>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10</a:t>
              </a:r>
            </a:p>
          </p:txBody>
        </p:sp>
      </p:grpSp>
      <p:sp>
        <p:nvSpPr>
          <p:cNvPr id="2626595" name="Rectangle 35"/>
          <p:cNvSpPr>
            <a:spLocks noGrp="1" noChangeArrowheads="1"/>
          </p:cNvSpPr>
          <p:nvPr>
            <p:ph type="title"/>
          </p:nvPr>
        </p:nvSpPr>
        <p:spPr>
          <a:xfrm>
            <a:off x="381000" y="228600"/>
            <a:ext cx="2057400" cy="1943100"/>
          </a:xfrm>
          <a:noFill/>
          <a:ln w="28575" cap="flat">
            <a:solidFill>
              <a:srgbClr val="00FF00"/>
            </a:solidFill>
            <a:miter lim="800000"/>
            <a:headEnd/>
            <a:tailEnd/>
          </a:ln>
        </p:spPr>
        <p:txBody>
          <a:bodyPr lIns="92075" tIns="46038" rIns="92075" bIns="46038"/>
          <a:lstStyle/>
          <a:p>
            <a:pPr>
              <a:buClr>
                <a:schemeClr val="accent2"/>
              </a:buClr>
              <a:buSzPct val="75000"/>
              <a:buFont typeface="Wingdings" panose="05000000000000000000" pitchFamily="2" charset="2"/>
              <a:buNone/>
            </a:pPr>
            <a:r>
              <a:rPr lang="zh-CN" altLang="en-US" sz="32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zh-CN" altLang="en-US" sz="32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S</a:t>
            </a:r>
            <a:endParaRPr lang="en-US" altLang="zh-CN"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endParaRPr>
          </a:p>
        </p:txBody>
      </p:sp>
      <p:grpSp>
        <p:nvGrpSpPr>
          <p:cNvPr id="2626596" name="Group 36"/>
          <p:cNvGrpSpPr>
            <a:grpSpLocks/>
          </p:cNvGrpSpPr>
          <p:nvPr/>
        </p:nvGrpSpPr>
        <p:grpSpPr bwMode="auto">
          <a:xfrm>
            <a:off x="3276600" y="2743200"/>
            <a:ext cx="2590800" cy="304800"/>
            <a:chOff x="2256" y="2640"/>
            <a:chExt cx="1632" cy="192"/>
          </a:xfrm>
        </p:grpSpPr>
        <p:sp>
          <p:nvSpPr>
            <p:cNvPr id="2626597" name="Rectangle 37"/>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6598" name="Rectangle 38"/>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grpSp>
        <p:nvGrpSpPr>
          <p:cNvPr id="2626599" name="Group 39"/>
          <p:cNvGrpSpPr>
            <a:grpSpLocks/>
          </p:cNvGrpSpPr>
          <p:nvPr/>
        </p:nvGrpSpPr>
        <p:grpSpPr bwMode="auto">
          <a:xfrm>
            <a:off x="3276600" y="2438400"/>
            <a:ext cx="2590800" cy="304800"/>
            <a:chOff x="2256" y="2640"/>
            <a:chExt cx="1632" cy="192"/>
          </a:xfrm>
        </p:grpSpPr>
        <p:sp>
          <p:nvSpPr>
            <p:cNvPr id="2626600" name="Rectangle 40"/>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6601" name="Rectangle 41"/>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sp>
        <p:nvSpPr>
          <p:cNvPr id="2626602" name="Rectangle 42"/>
          <p:cNvSpPr>
            <a:spLocks noChangeArrowheads="1"/>
          </p:cNvSpPr>
          <p:nvPr/>
        </p:nvSpPr>
        <p:spPr bwMode="auto">
          <a:xfrm>
            <a:off x="2057400" y="2438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26603" name="Rectangle 43"/>
          <p:cNvSpPr>
            <a:spLocks noChangeArrowheads="1"/>
          </p:cNvSpPr>
          <p:nvPr/>
        </p:nvSpPr>
        <p:spPr bwMode="auto">
          <a:xfrm>
            <a:off x="2133600" y="4572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26604" name="Rectangle 44"/>
          <p:cNvSpPr>
            <a:spLocks noChangeArrowheads="1"/>
          </p:cNvSpPr>
          <p:nvPr/>
        </p:nvSpPr>
        <p:spPr bwMode="auto">
          <a:xfrm>
            <a:off x="1905000" y="59436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26605" name="Freeform 45"/>
          <p:cNvSpPr>
            <a:spLocks/>
          </p:cNvSpPr>
          <p:nvPr/>
        </p:nvSpPr>
        <p:spPr bwMode="auto">
          <a:xfrm>
            <a:off x="3124200" y="47244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8315818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26595">
                                            <p:txEl>
                                              <p:charRg st="4294967295" end="4294967295"/>
                                            </p:txEl>
                                          </p:spTgt>
                                        </p:tgtEl>
                                        <p:attrNameLst>
                                          <p:attrName>style.visibility</p:attrName>
                                        </p:attrNameLst>
                                      </p:cBhvr>
                                      <p:to>
                                        <p:strVal val="visible"/>
                                      </p:to>
                                    </p:set>
                                    <p:animEffect transition="in" filter="fade">
                                      <p:cBhvr>
                                        <p:cTn id="7" dur="2000"/>
                                        <p:tgtEl>
                                          <p:spTgt spid="2626595">
                                            <p:txEl>
                                              <p:charRg st="4294967295" end="429496729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26562"/>
                                        </p:tgtEl>
                                        <p:attrNameLst>
                                          <p:attrName>style.visibility</p:attrName>
                                        </p:attrNameLst>
                                      </p:cBhvr>
                                      <p:to>
                                        <p:strVal val="visible"/>
                                      </p:to>
                                    </p:set>
                                    <p:animEffect transition="in" filter="wipe(down)">
                                      <p:cBhvr>
                                        <p:cTn id="12" dur="500"/>
                                        <p:tgtEl>
                                          <p:spTgt spid="26265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26565"/>
                                        </p:tgtEl>
                                        <p:attrNameLst>
                                          <p:attrName>style.visibility</p:attrName>
                                        </p:attrNameLst>
                                      </p:cBhvr>
                                      <p:to>
                                        <p:strVal val="visible"/>
                                      </p:to>
                                    </p:set>
                                    <p:animEffect transition="in" filter="wipe(down)">
                                      <p:cBhvr>
                                        <p:cTn id="17" dur="500"/>
                                        <p:tgtEl>
                                          <p:spTgt spid="26265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26568"/>
                                        </p:tgtEl>
                                        <p:attrNameLst>
                                          <p:attrName>style.visibility</p:attrName>
                                        </p:attrNameLst>
                                      </p:cBhvr>
                                      <p:to>
                                        <p:strVal val="visible"/>
                                      </p:to>
                                    </p:set>
                                    <p:animEffect transition="in" filter="wipe(down)">
                                      <p:cBhvr>
                                        <p:cTn id="22" dur="500"/>
                                        <p:tgtEl>
                                          <p:spTgt spid="26265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26571"/>
                                        </p:tgtEl>
                                        <p:attrNameLst>
                                          <p:attrName>style.visibility</p:attrName>
                                        </p:attrNameLst>
                                      </p:cBhvr>
                                      <p:to>
                                        <p:strVal val="visible"/>
                                      </p:to>
                                    </p:set>
                                    <p:animEffect transition="in" filter="wipe(down)">
                                      <p:cBhvr>
                                        <p:cTn id="27" dur="500"/>
                                        <p:tgtEl>
                                          <p:spTgt spid="26265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26574"/>
                                        </p:tgtEl>
                                        <p:attrNameLst>
                                          <p:attrName>style.visibility</p:attrName>
                                        </p:attrNameLst>
                                      </p:cBhvr>
                                      <p:to>
                                        <p:strVal val="visible"/>
                                      </p:to>
                                    </p:set>
                                    <p:animEffect transition="in" filter="wipe(down)">
                                      <p:cBhvr>
                                        <p:cTn id="32" dur="500"/>
                                        <p:tgtEl>
                                          <p:spTgt spid="26265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26577"/>
                                        </p:tgtEl>
                                        <p:attrNameLst>
                                          <p:attrName>style.visibility</p:attrName>
                                        </p:attrNameLst>
                                      </p:cBhvr>
                                      <p:to>
                                        <p:strVal val="visible"/>
                                      </p:to>
                                    </p:set>
                                    <p:animEffect transition="in" filter="wipe(down)">
                                      <p:cBhvr>
                                        <p:cTn id="37" dur="500"/>
                                        <p:tgtEl>
                                          <p:spTgt spid="26265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626580"/>
                                        </p:tgtEl>
                                        <p:attrNameLst>
                                          <p:attrName>style.visibility</p:attrName>
                                        </p:attrNameLst>
                                      </p:cBhvr>
                                      <p:to>
                                        <p:strVal val="visible"/>
                                      </p:to>
                                    </p:set>
                                    <p:animEffect transition="in" filter="wipe(down)">
                                      <p:cBhvr>
                                        <p:cTn id="42" dur="500"/>
                                        <p:tgtEl>
                                          <p:spTgt spid="26265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26583"/>
                                        </p:tgtEl>
                                        <p:attrNameLst>
                                          <p:attrName>style.visibility</p:attrName>
                                        </p:attrNameLst>
                                      </p:cBhvr>
                                      <p:to>
                                        <p:strVal val="visible"/>
                                      </p:to>
                                    </p:set>
                                    <p:animEffect transition="in" filter="wipe(down)">
                                      <p:cBhvr>
                                        <p:cTn id="47" dur="500"/>
                                        <p:tgtEl>
                                          <p:spTgt spid="262658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2626586"/>
                                        </p:tgtEl>
                                        <p:attrNameLst>
                                          <p:attrName>style.visibility</p:attrName>
                                        </p:attrNameLst>
                                      </p:cBhvr>
                                      <p:to>
                                        <p:strVal val="visible"/>
                                      </p:to>
                                    </p:set>
                                    <p:animEffect transition="in" filter="wipe(down)">
                                      <p:cBhvr>
                                        <p:cTn id="52" dur="500"/>
                                        <p:tgtEl>
                                          <p:spTgt spid="26265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2626589"/>
                                        </p:tgtEl>
                                        <p:attrNameLst>
                                          <p:attrName>style.visibility</p:attrName>
                                        </p:attrNameLst>
                                      </p:cBhvr>
                                      <p:to>
                                        <p:strVal val="visible"/>
                                      </p:to>
                                    </p:set>
                                    <p:animEffect transition="in" filter="wipe(down)">
                                      <p:cBhvr>
                                        <p:cTn id="57" dur="500"/>
                                        <p:tgtEl>
                                          <p:spTgt spid="262658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2626592"/>
                                        </p:tgtEl>
                                        <p:attrNameLst>
                                          <p:attrName>style.visibility</p:attrName>
                                        </p:attrNameLst>
                                      </p:cBhvr>
                                      <p:to>
                                        <p:strVal val="visible"/>
                                      </p:to>
                                    </p:set>
                                    <p:animEffect transition="in" filter="wipe(down)">
                                      <p:cBhvr>
                                        <p:cTn id="62" dur="500"/>
                                        <p:tgtEl>
                                          <p:spTgt spid="262659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2626596"/>
                                        </p:tgtEl>
                                        <p:attrNameLst>
                                          <p:attrName>style.visibility</p:attrName>
                                        </p:attrNameLst>
                                      </p:cBhvr>
                                      <p:to>
                                        <p:strVal val="visible"/>
                                      </p:to>
                                    </p:set>
                                    <p:animEffect transition="in" filter="wipe(down)">
                                      <p:cBhvr>
                                        <p:cTn id="67" dur="500"/>
                                        <p:tgtEl>
                                          <p:spTgt spid="262659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2626599"/>
                                        </p:tgtEl>
                                        <p:attrNameLst>
                                          <p:attrName>style.visibility</p:attrName>
                                        </p:attrNameLst>
                                      </p:cBhvr>
                                      <p:to>
                                        <p:strVal val="visible"/>
                                      </p:to>
                                    </p:set>
                                    <p:animEffect transition="in" filter="wipe(down)">
                                      <p:cBhvr>
                                        <p:cTn id="72" dur="500"/>
                                        <p:tgtEl>
                                          <p:spTgt spid="262659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2626602"/>
                                        </p:tgtEl>
                                        <p:attrNameLst>
                                          <p:attrName>style.visibility</p:attrName>
                                        </p:attrNameLst>
                                      </p:cBhvr>
                                      <p:to>
                                        <p:strVal val="visible"/>
                                      </p:to>
                                    </p:set>
                                    <p:animEffect transition="in" filter="wipe(down)">
                                      <p:cBhvr>
                                        <p:cTn id="77" dur="500"/>
                                        <p:tgtEl>
                                          <p:spTgt spid="262660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2626603"/>
                                        </p:tgtEl>
                                        <p:attrNameLst>
                                          <p:attrName>style.visibility</p:attrName>
                                        </p:attrNameLst>
                                      </p:cBhvr>
                                      <p:to>
                                        <p:strVal val="visible"/>
                                      </p:to>
                                    </p:set>
                                    <p:animEffect transition="in" filter="wipe(down)">
                                      <p:cBhvr>
                                        <p:cTn id="82" dur="500"/>
                                        <p:tgtEl>
                                          <p:spTgt spid="262660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626604"/>
                                        </p:tgtEl>
                                        <p:attrNameLst>
                                          <p:attrName>style.visibility</p:attrName>
                                        </p:attrNameLst>
                                      </p:cBhvr>
                                      <p:to>
                                        <p:strVal val="visible"/>
                                      </p:to>
                                    </p:set>
                                    <p:animEffect transition="in" filter="wipe(down)">
                                      <p:cBhvr>
                                        <p:cTn id="87" dur="500"/>
                                        <p:tgtEl>
                                          <p:spTgt spid="262660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nodeType="clickEffect">
                                  <p:stCondLst>
                                    <p:cond delay="0"/>
                                  </p:stCondLst>
                                  <p:childTnLst>
                                    <p:set>
                                      <p:cBhvr>
                                        <p:cTn id="91" dur="1" fill="hold">
                                          <p:stCondLst>
                                            <p:cond delay="0"/>
                                          </p:stCondLst>
                                        </p:cTn>
                                        <p:tgtEl>
                                          <p:spTgt spid="2626605"/>
                                        </p:tgtEl>
                                        <p:attrNameLst>
                                          <p:attrName>style.visibility</p:attrName>
                                        </p:attrNameLst>
                                      </p:cBhvr>
                                      <p:to>
                                        <p:strVal val="visible"/>
                                      </p:to>
                                    </p:set>
                                    <p:animEffect transition="in" filter="wipe(up)">
                                      <p:cBhvr>
                                        <p:cTn id="92" dur="500"/>
                                        <p:tgtEl>
                                          <p:spTgt spid="2626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6595" grpId="0"/>
      <p:bldP spid="2626602" grpId="0" autoUpdateAnimBg="0"/>
      <p:bldP spid="2626603" grpId="0" autoUpdateAnimBg="0"/>
      <p:bldP spid="2626604"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 name="日期占位符 3"/>
          <p:cNvSpPr>
            <a:spLocks noGrp="1"/>
          </p:cNvSpPr>
          <p:nvPr>
            <p:ph type="dt" sz="half" idx="10"/>
          </p:nvPr>
        </p:nvSpPr>
        <p:spPr/>
        <p:txBody>
          <a:bodyPr/>
          <a:lstStyle/>
          <a:p>
            <a:fld id="{3562F269-AF4B-4D34-93B7-B81920603E6D}" type="datetime1">
              <a:rPr lang="zh-CN" altLang="en-US"/>
              <a:pPr/>
              <a:t>2017/2/24</a:t>
            </a:fld>
            <a:endParaRPr lang="en-US" altLang="zh-CN"/>
          </a:p>
        </p:txBody>
      </p:sp>
      <p:sp>
        <p:nvSpPr>
          <p:cNvPr id="71" name="灯片编号占位符 5"/>
          <p:cNvSpPr>
            <a:spLocks noGrp="1"/>
          </p:cNvSpPr>
          <p:nvPr>
            <p:ph type="sldNum" sz="quarter" idx="12"/>
          </p:nvPr>
        </p:nvSpPr>
        <p:spPr/>
        <p:txBody>
          <a:bodyPr/>
          <a:lstStyle/>
          <a:p>
            <a:fld id="{ADB52535-2ABC-4133-A7E7-0B45E05A4DDA}" type="slidenum">
              <a:rPr lang="en-US" altLang="zh-CN"/>
              <a:pPr/>
              <a:t>90</a:t>
            </a:fld>
            <a:endParaRPr lang="en-US" altLang="zh-CN"/>
          </a:p>
        </p:txBody>
      </p:sp>
      <p:grpSp>
        <p:nvGrpSpPr>
          <p:cNvPr id="2627586" name="Group 2"/>
          <p:cNvGrpSpPr>
            <a:grpSpLocks/>
          </p:cNvGrpSpPr>
          <p:nvPr/>
        </p:nvGrpSpPr>
        <p:grpSpPr bwMode="auto">
          <a:xfrm>
            <a:off x="3048000" y="6477000"/>
            <a:ext cx="2590800" cy="304800"/>
            <a:chOff x="2256" y="2640"/>
            <a:chExt cx="1632" cy="192"/>
          </a:xfrm>
        </p:grpSpPr>
        <p:sp>
          <p:nvSpPr>
            <p:cNvPr id="2627587" name="Rectangle 3"/>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7588" name="Rectangle 4"/>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27589" name="Rectangle 5"/>
          <p:cNvSpPr>
            <a:spLocks noChangeArrowheads="1"/>
          </p:cNvSpPr>
          <p:nvPr/>
        </p:nvSpPr>
        <p:spPr bwMode="auto">
          <a:xfrm>
            <a:off x="3581400" y="6172200"/>
            <a:ext cx="2057400" cy="304800"/>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7590" name="Rectangle 6"/>
          <p:cNvSpPr>
            <a:spLocks noChangeArrowheads="1"/>
          </p:cNvSpPr>
          <p:nvPr/>
        </p:nvSpPr>
        <p:spPr bwMode="auto">
          <a:xfrm>
            <a:off x="3048000" y="6172200"/>
            <a:ext cx="533400" cy="304800"/>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grpSp>
        <p:nvGrpSpPr>
          <p:cNvPr id="2627591" name="Group 7"/>
          <p:cNvGrpSpPr>
            <a:grpSpLocks/>
          </p:cNvGrpSpPr>
          <p:nvPr/>
        </p:nvGrpSpPr>
        <p:grpSpPr bwMode="auto">
          <a:xfrm>
            <a:off x="3048000" y="5867400"/>
            <a:ext cx="2590800" cy="304800"/>
            <a:chOff x="2256" y="2640"/>
            <a:chExt cx="1632" cy="192"/>
          </a:xfrm>
        </p:grpSpPr>
        <p:sp>
          <p:nvSpPr>
            <p:cNvPr id="2627592" name="Rectangle 8"/>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0(display)</a:t>
              </a:r>
            </a:p>
          </p:txBody>
        </p:sp>
        <p:sp>
          <p:nvSpPr>
            <p:cNvPr id="2627593" name="Rectangle 9"/>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27594" name="Group 10"/>
          <p:cNvGrpSpPr>
            <a:grpSpLocks/>
          </p:cNvGrpSpPr>
          <p:nvPr/>
        </p:nvGrpSpPr>
        <p:grpSpPr bwMode="auto">
          <a:xfrm>
            <a:off x="3048000" y="5562600"/>
            <a:ext cx="2590800" cy="304800"/>
            <a:chOff x="2256" y="2640"/>
            <a:chExt cx="1632" cy="192"/>
          </a:xfrm>
        </p:grpSpPr>
        <p:sp>
          <p:nvSpPr>
            <p:cNvPr id="2627595" name="Rectangle 11"/>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27596" name="Rectangle 12"/>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27597" name="Group 13"/>
          <p:cNvGrpSpPr>
            <a:grpSpLocks/>
          </p:cNvGrpSpPr>
          <p:nvPr/>
        </p:nvGrpSpPr>
        <p:grpSpPr bwMode="auto">
          <a:xfrm>
            <a:off x="3048000" y="5257800"/>
            <a:ext cx="2590800" cy="304800"/>
            <a:chOff x="2256" y="2640"/>
            <a:chExt cx="1632" cy="192"/>
          </a:xfrm>
        </p:grpSpPr>
        <p:sp>
          <p:nvSpPr>
            <p:cNvPr id="2627598" name="Rectangle 14"/>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27599" name="Rectangle 15"/>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27600" name="Group 16"/>
          <p:cNvGrpSpPr>
            <a:grpSpLocks/>
          </p:cNvGrpSpPr>
          <p:nvPr/>
        </p:nvGrpSpPr>
        <p:grpSpPr bwMode="auto">
          <a:xfrm>
            <a:off x="3048000" y="4953000"/>
            <a:ext cx="2590800" cy="304800"/>
            <a:chOff x="2256" y="2640"/>
            <a:chExt cx="1632" cy="192"/>
          </a:xfrm>
        </p:grpSpPr>
        <p:sp>
          <p:nvSpPr>
            <p:cNvPr id="2627601" name="Rectangle 17"/>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7602" name="Rectangle 18"/>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27603" name="Rectangle 19"/>
          <p:cNvSpPr>
            <a:spLocks noChangeArrowheads="1"/>
          </p:cNvSpPr>
          <p:nvPr/>
        </p:nvSpPr>
        <p:spPr bwMode="auto">
          <a:xfrm>
            <a:off x="3581400" y="46482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7604" name="Rectangle 20"/>
          <p:cNvSpPr>
            <a:spLocks noChangeArrowheads="1"/>
          </p:cNvSpPr>
          <p:nvPr/>
        </p:nvSpPr>
        <p:spPr bwMode="auto">
          <a:xfrm>
            <a:off x="3048000" y="46482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27605" name="Group 21"/>
          <p:cNvGrpSpPr>
            <a:grpSpLocks/>
          </p:cNvGrpSpPr>
          <p:nvPr/>
        </p:nvGrpSpPr>
        <p:grpSpPr bwMode="auto">
          <a:xfrm>
            <a:off x="3048000" y="4343400"/>
            <a:ext cx="2590800" cy="304800"/>
            <a:chOff x="2256" y="2640"/>
            <a:chExt cx="1632" cy="192"/>
          </a:xfrm>
        </p:grpSpPr>
        <p:sp>
          <p:nvSpPr>
            <p:cNvPr id="2627606" name="Rectangle 2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2(</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7607" name="Rectangle 2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27608" name="Group 24"/>
          <p:cNvGrpSpPr>
            <a:grpSpLocks/>
          </p:cNvGrpSpPr>
          <p:nvPr/>
        </p:nvGrpSpPr>
        <p:grpSpPr bwMode="auto">
          <a:xfrm>
            <a:off x="3048000" y="4038600"/>
            <a:ext cx="2590800" cy="304800"/>
            <a:chOff x="2256" y="2640"/>
            <a:chExt cx="1632" cy="192"/>
          </a:xfrm>
        </p:grpSpPr>
        <p:sp>
          <p:nvSpPr>
            <p:cNvPr id="2627609" name="Rectangle 2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7610" name="Rectangle 26"/>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27611" name="Group 27"/>
          <p:cNvGrpSpPr>
            <a:grpSpLocks/>
          </p:cNvGrpSpPr>
          <p:nvPr/>
        </p:nvGrpSpPr>
        <p:grpSpPr bwMode="auto">
          <a:xfrm>
            <a:off x="3048000" y="3733800"/>
            <a:ext cx="2590800" cy="304800"/>
            <a:chOff x="2256" y="2640"/>
            <a:chExt cx="1632" cy="192"/>
          </a:xfrm>
        </p:grpSpPr>
        <p:sp>
          <p:nvSpPr>
            <p:cNvPr id="2627612" name="Rectangle 2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7613" name="Rectangle 2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9</a:t>
              </a:r>
            </a:p>
          </p:txBody>
        </p:sp>
      </p:grpSp>
      <p:grpSp>
        <p:nvGrpSpPr>
          <p:cNvPr id="2627614" name="Group 30"/>
          <p:cNvGrpSpPr>
            <a:grpSpLocks/>
          </p:cNvGrpSpPr>
          <p:nvPr/>
        </p:nvGrpSpPr>
        <p:grpSpPr bwMode="auto">
          <a:xfrm>
            <a:off x="3048000" y="3429000"/>
            <a:ext cx="2590800" cy="304800"/>
            <a:chOff x="2256" y="2640"/>
            <a:chExt cx="1632" cy="192"/>
          </a:xfrm>
        </p:grpSpPr>
        <p:sp>
          <p:nvSpPr>
            <p:cNvPr id="2627615" name="Rectangle 31"/>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5</a:t>
              </a:r>
            </a:p>
          </p:txBody>
        </p:sp>
        <p:sp>
          <p:nvSpPr>
            <p:cNvPr id="2627616" name="Rectangle 32"/>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10</a:t>
              </a:r>
            </a:p>
          </p:txBody>
        </p:sp>
      </p:grpSp>
      <p:sp>
        <p:nvSpPr>
          <p:cNvPr id="2627617" name="Rectangle 33"/>
          <p:cNvSpPr>
            <a:spLocks noGrp="1" noChangeArrowheads="1"/>
          </p:cNvSpPr>
          <p:nvPr>
            <p:ph type="title"/>
          </p:nvPr>
        </p:nvSpPr>
        <p:spPr>
          <a:xfrm>
            <a:off x="76200" y="838200"/>
            <a:ext cx="2119313" cy="1676400"/>
          </a:xfrm>
          <a:noFill/>
          <a:ln w="28575">
            <a:solidFill>
              <a:srgbClr val="00FF00"/>
            </a:solidFill>
            <a:miter lim="800000"/>
            <a:headEnd/>
            <a:tailEnd/>
          </a:ln>
        </p:spPr>
        <p:txBody>
          <a:bodyPr lIns="92075" tIns="46038" rIns="92075" bIns="46038"/>
          <a:lstStyle/>
          <a:p>
            <a:pPr>
              <a:buClr>
                <a:schemeClr val="accent2"/>
              </a:buClr>
              <a:buSzPct val="75000"/>
              <a:buFont typeface="Wingdings" panose="05000000000000000000" pitchFamily="2" charset="2"/>
              <a:buNone/>
            </a:pPr>
            <a:r>
              <a:rPr lang="zh-CN" altLang="en-US" sz="32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2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2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2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p>
        </p:txBody>
      </p:sp>
      <p:grpSp>
        <p:nvGrpSpPr>
          <p:cNvPr id="2627618" name="Group 34"/>
          <p:cNvGrpSpPr>
            <a:grpSpLocks/>
          </p:cNvGrpSpPr>
          <p:nvPr/>
        </p:nvGrpSpPr>
        <p:grpSpPr bwMode="auto">
          <a:xfrm>
            <a:off x="3048000" y="3124200"/>
            <a:ext cx="2590800" cy="304800"/>
            <a:chOff x="2256" y="2640"/>
            <a:chExt cx="1632" cy="192"/>
          </a:xfrm>
        </p:grpSpPr>
        <p:sp>
          <p:nvSpPr>
            <p:cNvPr id="2627619" name="Rectangle 3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7620" name="Rectangle 36"/>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grpSp>
        <p:nvGrpSpPr>
          <p:cNvPr id="2627621" name="Group 37"/>
          <p:cNvGrpSpPr>
            <a:grpSpLocks/>
          </p:cNvGrpSpPr>
          <p:nvPr/>
        </p:nvGrpSpPr>
        <p:grpSpPr bwMode="auto">
          <a:xfrm>
            <a:off x="3048000" y="2819400"/>
            <a:ext cx="2590800" cy="304800"/>
            <a:chOff x="2256" y="2640"/>
            <a:chExt cx="1632" cy="192"/>
          </a:xfrm>
        </p:grpSpPr>
        <p:sp>
          <p:nvSpPr>
            <p:cNvPr id="2627622" name="Rectangle 3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7623" name="Rectangle 3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sp>
        <p:nvSpPr>
          <p:cNvPr id="2627624" name="Rectangle 40"/>
          <p:cNvSpPr>
            <a:spLocks noChangeArrowheads="1"/>
          </p:cNvSpPr>
          <p:nvPr/>
        </p:nvSpPr>
        <p:spPr bwMode="auto">
          <a:xfrm>
            <a:off x="1676400" y="63246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27625" name="Freeform 41"/>
          <p:cNvSpPr>
            <a:spLocks/>
          </p:cNvSpPr>
          <p:nvPr/>
        </p:nvSpPr>
        <p:spPr bwMode="auto">
          <a:xfrm>
            <a:off x="2895600" y="51054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27626" name="Group 42"/>
          <p:cNvGrpSpPr>
            <a:grpSpLocks/>
          </p:cNvGrpSpPr>
          <p:nvPr/>
        </p:nvGrpSpPr>
        <p:grpSpPr bwMode="auto">
          <a:xfrm>
            <a:off x="3048000" y="2514600"/>
            <a:ext cx="2590800" cy="304800"/>
            <a:chOff x="2256" y="2640"/>
            <a:chExt cx="1632" cy="192"/>
          </a:xfrm>
        </p:grpSpPr>
        <p:sp>
          <p:nvSpPr>
            <p:cNvPr id="2627627" name="Rectangle 43"/>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27628" name="Rectangle 44"/>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grpSp>
        <p:nvGrpSpPr>
          <p:cNvPr id="2627629" name="Group 45"/>
          <p:cNvGrpSpPr>
            <a:grpSpLocks/>
          </p:cNvGrpSpPr>
          <p:nvPr/>
        </p:nvGrpSpPr>
        <p:grpSpPr bwMode="auto">
          <a:xfrm>
            <a:off x="3048000" y="2209800"/>
            <a:ext cx="2590800" cy="304800"/>
            <a:chOff x="1920" y="1392"/>
            <a:chExt cx="1632" cy="192"/>
          </a:xfrm>
        </p:grpSpPr>
        <p:sp>
          <p:nvSpPr>
            <p:cNvPr id="2627630" name="Rectangle 46"/>
            <p:cNvSpPr>
              <a:spLocks noChangeArrowheads="1"/>
            </p:cNvSpPr>
            <p:nvPr/>
          </p:nvSpPr>
          <p:spPr bwMode="auto">
            <a:xfrm>
              <a:off x="2256" y="1392"/>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7631" name="Rectangle 47"/>
            <p:cNvSpPr>
              <a:spLocks noChangeArrowheads="1"/>
            </p:cNvSpPr>
            <p:nvPr/>
          </p:nvSpPr>
          <p:spPr bwMode="auto">
            <a:xfrm>
              <a:off x="1920" y="1392"/>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grpSp>
        <p:nvGrpSpPr>
          <p:cNvPr id="2627632" name="Group 48"/>
          <p:cNvGrpSpPr>
            <a:grpSpLocks/>
          </p:cNvGrpSpPr>
          <p:nvPr/>
        </p:nvGrpSpPr>
        <p:grpSpPr bwMode="auto">
          <a:xfrm>
            <a:off x="3048000" y="1905000"/>
            <a:ext cx="2590800" cy="304800"/>
            <a:chOff x="2256" y="2640"/>
            <a:chExt cx="1632" cy="192"/>
          </a:xfrm>
        </p:grpSpPr>
        <p:sp>
          <p:nvSpPr>
            <p:cNvPr id="2627633" name="Rectangle 49"/>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9(</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endParaRPr kumimoji="1" lang="en-US" altLang="zh-CN" sz="2000" b="1">
                <a:ea typeface="楷体_GB2312" pitchFamily="49" charset="-122"/>
              </a:endParaRPr>
            </a:p>
          </p:txBody>
        </p:sp>
        <p:sp>
          <p:nvSpPr>
            <p:cNvPr id="2627634" name="Rectangle 50"/>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27635" name="Group 51"/>
          <p:cNvGrpSpPr>
            <a:grpSpLocks/>
          </p:cNvGrpSpPr>
          <p:nvPr/>
        </p:nvGrpSpPr>
        <p:grpSpPr bwMode="auto">
          <a:xfrm>
            <a:off x="3048000" y="1600200"/>
            <a:ext cx="2590800" cy="304800"/>
            <a:chOff x="2256" y="2640"/>
            <a:chExt cx="1632" cy="192"/>
          </a:xfrm>
        </p:grpSpPr>
        <p:sp>
          <p:nvSpPr>
            <p:cNvPr id="2627636" name="Rectangle 52"/>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7637" name="Rectangle 53"/>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grpSp>
        <p:nvGrpSpPr>
          <p:cNvPr id="2627638" name="Group 54"/>
          <p:cNvGrpSpPr>
            <a:grpSpLocks/>
          </p:cNvGrpSpPr>
          <p:nvPr/>
        </p:nvGrpSpPr>
        <p:grpSpPr bwMode="auto">
          <a:xfrm>
            <a:off x="3048000" y="1295400"/>
            <a:ext cx="2590800" cy="304800"/>
            <a:chOff x="2256" y="2640"/>
            <a:chExt cx="1632" cy="192"/>
          </a:xfrm>
        </p:grpSpPr>
        <p:sp>
          <p:nvSpPr>
            <p:cNvPr id="2627639" name="Rectangle 55"/>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27640" name="Rectangle 56"/>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grpSp>
      <p:grpSp>
        <p:nvGrpSpPr>
          <p:cNvPr id="2627641" name="Group 57"/>
          <p:cNvGrpSpPr>
            <a:grpSpLocks/>
          </p:cNvGrpSpPr>
          <p:nvPr/>
        </p:nvGrpSpPr>
        <p:grpSpPr bwMode="auto">
          <a:xfrm>
            <a:off x="3048000" y="990600"/>
            <a:ext cx="2590800" cy="304800"/>
            <a:chOff x="2256" y="2640"/>
            <a:chExt cx="1632" cy="192"/>
          </a:xfrm>
        </p:grpSpPr>
        <p:sp>
          <p:nvSpPr>
            <p:cNvPr id="2627642" name="Rectangle 58"/>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7643" name="Rectangle 59"/>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18</a:t>
              </a:r>
            </a:p>
          </p:txBody>
        </p:sp>
      </p:grpSp>
      <p:grpSp>
        <p:nvGrpSpPr>
          <p:cNvPr id="2627644" name="Group 60"/>
          <p:cNvGrpSpPr>
            <a:grpSpLocks/>
          </p:cNvGrpSpPr>
          <p:nvPr/>
        </p:nvGrpSpPr>
        <p:grpSpPr bwMode="auto">
          <a:xfrm>
            <a:off x="3048000" y="685800"/>
            <a:ext cx="2590800" cy="304800"/>
            <a:chOff x="2256" y="2640"/>
            <a:chExt cx="1632" cy="192"/>
          </a:xfrm>
        </p:grpSpPr>
        <p:sp>
          <p:nvSpPr>
            <p:cNvPr id="2627645" name="Rectangle 61"/>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13</a:t>
              </a:r>
            </a:p>
          </p:txBody>
        </p:sp>
        <p:sp>
          <p:nvSpPr>
            <p:cNvPr id="2627646" name="Rectangle 62"/>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19</a:t>
              </a:r>
            </a:p>
          </p:txBody>
        </p:sp>
      </p:grpSp>
      <p:grpSp>
        <p:nvGrpSpPr>
          <p:cNvPr id="2627647" name="Group 63"/>
          <p:cNvGrpSpPr>
            <a:grpSpLocks/>
          </p:cNvGrpSpPr>
          <p:nvPr/>
        </p:nvGrpSpPr>
        <p:grpSpPr bwMode="auto">
          <a:xfrm>
            <a:off x="3048000" y="381000"/>
            <a:ext cx="2590800" cy="304800"/>
            <a:chOff x="2256" y="2640"/>
            <a:chExt cx="1632" cy="192"/>
          </a:xfrm>
        </p:grpSpPr>
        <p:sp>
          <p:nvSpPr>
            <p:cNvPr id="2627648" name="Rectangle 64"/>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7649" name="Rectangle 65"/>
            <p:cNvSpPr>
              <a:spLocks noChangeArrowheads="1"/>
            </p:cNvSpPr>
            <p:nvPr/>
          </p:nvSpPr>
          <p:spPr bwMode="auto">
            <a:xfrm>
              <a:off x="2256" y="2640"/>
              <a:ext cx="33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20</a:t>
              </a:r>
            </a:p>
          </p:txBody>
        </p:sp>
      </p:grpSp>
      <p:sp>
        <p:nvSpPr>
          <p:cNvPr id="2627650" name="Rectangle 66"/>
          <p:cNvSpPr>
            <a:spLocks noChangeArrowheads="1"/>
          </p:cNvSpPr>
          <p:nvPr/>
        </p:nvSpPr>
        <p:spPr bwMode="auto">
          <a:xfrm>
            <a:off x="1752600" y="457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27651" name="Rectangle 67"/>
          <p:cNvSpPr>
            <a:spLocks noChangeArrowheads="1"/>
          </p:cNvSpPr>
          <p:nvPr/>
        </p:nvSpPr>
        <p:spPr bwMode="auto">
          <a:xfrm>
            <a:off x="1905000" y="24384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27652" name="Freeform 68"/>
          <p:cNvSpPr>
            <a:spLocks/>
          </p:cNvSpPr>
          <p:nvPr/>
        </p:nvSpPr>
        <p:spPr bwMode="auto">
          <a:xfrm>
            <a:off x="2895600" y="2743200"/>
            <a:ext cx="228600" cy="2286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970257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27617">
                                            <p:txEl>
                                              <p:charRg st="4294967295" end="4294967295"/>
                                            </p:txEl>
                                          </p:spTgt>
                                        </p:tgtEl>
                                        <p:attrNameLst>
                                          <p:attrName>style.visibility</p:attrName>
                                        </p:attrNameLst>
                                      </p:cBhvr>
                                      <p:to>
                                        <p:strVal val="visible"/>
                                      </p:to>
                                    </p:set>
                                    <p:animEffect transition="in" filter="fade">
                                      <p:cBhvr>
                                        <p:cTn id="7" dur="2000"/>
                                        <p:tgtEl>
                                          <p:spTgt spid="2627617">
                                            <p:txEl>
                                              <p:charRg st="4294967295" end="429496729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27626"/>
                                        </p:tgtEl>
                                        <p:attrNameLst>
                                          <p:attrName>style.visibility</p:attrName>
                                        </p:attrNameLst>
                                      </p:cBhvr>
                                      <p:to>
                                        <p:strVal val="visible"/>
                                      </p:to>
                                    </p:set>
                                    <p:animEffect transition="in" filter="wipe(down)">
                                      <p:cBhvr>
                                        <p:cTn id="12" dur="500"/>
                                        <p:tgtEl>
                                          <p:spTgt spid="26276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27629"/>
                                        </p:tgtEl>
                                        <p:attrNameLst>
                                          <p:attrName>style.visibility</p:attrName>
                                        </p:attrNameLst>
                                      </p:cBhvr>
                                      <p:to>
                                        <p:strVal val="visible"/>
                                      </p:to>
                                    </p:set>
                                    <p:animEffect transition="in" filter="wipe(down)">
                                      <p:cBhvr>
                                        <p:cTn id="17" dur="500"/>
                                        <p:tgtEl>
                                          <p:spTgt spid="26276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27632"/>
                                        </p:tgtEl>
                                        <p:attrNameLst>
                                          <p:attrName>style.visibility</p:attrName>
                                        </p:attrNameLst>
                                      </p:cBhvr>
                                      <p:to>
                                        <p:strVal val="visible"/>
                                      </p:to>
                                    </p:set>
                                    <p:animEffect transition="in" filter="wipe(down)">
                                      <p:cBhvr>
                                        <p:cTn id="22" dur="500"/>
                                        <p:tgtEl>
                                          <p:spTgt spid="26276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27635"/>
                                        </p:tgtEl>
                                        <p:attrNameLst>
                                          <p:attrName>style.visibility</p:attrName>
                                        </p:attrNameLst>
                                      </p:cBhvr>
                                      <p:to>
                                        <p:strVal val="visible"/>
                                      </p:to>
                                    </p:set>
                                    <p:animEffect transition="in" filter="wipe(down)">
                                      <p:cBhvr>
                                        <p:cTn id="27" dur="500"/>
                                        <p:tgtEl>
                                          <p:spTgt spid="26276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27638"/>
                                        </p:tgtEl>
                                        <p:attrNameLst>
                                          <p:attrName>style.visibility</p:attrName>
                                        </p:attrNameLst>
                                      </p:cBhvr>
                                      <p:to>
                                        <p:strVal val="visible"/>
                                      </p:to>
                                    </p:set>
                                    <p:animEffect transition="in" filter="wipe(down)">
                                      <p:cBhvr>
                                        <p:cTn id="32" dur="500"/>
                                        <p:tgtEl>
                                          <p:spTgt spid="26276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27641"/>
                                        </p:tgtEl>
                                        <p:attrNameLst>
                                          <p:attrName>style.visibility</p:attrName>
                                        </p:attrNameLst>
                                      </p:cBhvr>
                                      <p:to>
                                        <p:strVal val="visible"/>
                                      </p:to>
                                    </p:set>
                                    <p:animEffect transition="in" filter="wipe(down)">
                                      <p:cBhvr>
                                        <p:cTn id="37" dur="500"/>
                                        <p:tgtEl>
                                          <p:spTgt spid="262764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627644"/>
                                        </p:tgtEl>
                                        <p:attrNameLst>
                                          <p:attrName>style.visibility</p:attrName>
                                        </p:attrNameLst>
                                      </p:cBhvr>
                                      <p:to>
                                        <p:strVal val="visible"/>
                                      </p:to>
                                    </p:set>
                                    <p:animEffect transition="in" filter="wipe(down)">
                                      <p:cBhvr>
                                        <p:cTn id="42" dur="500"/>
                                        <p:tgtEl>
                                          <p:spTgt spid="262764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27647"/>
                                        </p:tgtEl>
                                        <p:attrNameLst>
                                          <p:attrName>style.visibility</p:attrName>
                                        </p:attrNameLst>
                                      </p:cBhvr>
                                      <p:to>
                                        <p:strVal val="visible"/>
                                      </p:to>
                                    </p:set>
                                    <p:animEffect transition="in" filter="wipe(down)">
                                      <p:cBhvr>
                                        <p:cTn id="47" dur="500"/>
                                        <p:tgtEl>
                                          <p:spTgt spid="262764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627650"/>
                                        </p:tgtEl>
                                        <p:attrNameLst>
                                          <p:attrName>style.visibility</p:attrName>
                                        </p:attrNameLst>
                                      </p:cBhvr>
                                      <p:to>
                                        <p:strVal val="visible"/>
                                      </p:to>
                                    </p:set>
                                    <p:animEffect transition="in" filter="dissolve">
                                      <p:cBhvr>
                                        <p:cTn id="52" dur="500"/>
                                        <p:tgtEl>
                                          <p:spTgt spid="262765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627651"/>
                                        </p:tgtEl>
                                        <p:attrNameLst>
                                          <p:attrName>style.visibility</p:attrName>
                                        </p:attrNameLst>
                                      </p:cBhvr>
                                      <p:to>
                                        <p:strVal val="visible"/>
                                      </p:to>
                                    </p:set>
                                    <p:animEffect transition="in" filter="dissolve">
                                      <p:cBhvr>
                                        <p:cTn id="57" dur="500"/>
                                        <p:tgtEl>
                                          <p:spTgt spid="26276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2627652"/>
                                        </p:tgtEl>
                                        <p:attrNameLst>
                                          <p:attrName>style.visibility</p:attrName>
                                        </p:attrNameLst>
                                      </p:cBhvr>
                                      <p:to>
                                        <p:strVal val="visible"/>
                                      </p:to>
                                    </p:set>
                                    <p:animEffect transition="in" filter="wipe(up)">
                                      <p:cBhvr>
                                        <p:cTn id="62" dur="500"/>
                                        <p:tgtEl>
                                          <p:spTgt spid="26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7617" grpId="0"/>
      <p:bldP spid="2627650" grpId="0" autoUpdateAnimBg="0"/>
      <p:bldP spid="2627651"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 name="日期占位符 3"/>
          <p:cNvSpPr>
            <a:spLocks noGrp="1"/>
          </p:cNvSpPr>
          <p:nvPr>
            <p:ph type="dt" sz="half" idx="10"/>
          </p:nvPr>
        </p:nvSpPr>
        <p:spPr/>
        <p:txBody>
          <a:bodyPr/>
          <a:lstStyle/>
          <a:p>
            <a:fld id="{51E82FBB-502E-48E6-BE59-EF187EECBC6E}" type="datetime1">
              <a:rPr lang="zh-CN" altLang="en-US"/>
              <a:pPr/>
              <a:t>2017/2/24</a:t>
            </a:fld>
            <a:endParaRPr lang="en-US" altLang="zh-CN"/>
          </a:p>
        </p:txBody>
      </p:sp>
      <p:sp>
        <p:nvSpPr>
          <p:cNvPr id="104" name="灯片编号占位符 5"/>
          <p:cNvSpPr>
            <a:spLocks noGrp="1"/>
          </p:cNvSpPr>
          <p:nvPr>
            <p:ph type="sldNum" sz="quarter" idx="12"/>
          </p:nvPr>
        </p:nvSpPr>
        <p:spPr/>
        <p:txBody>
          <a:bodyPr/>
          <a:lstStyle/>
          <a:p>
            <a:fld id="{BB0DE77B-1E0A-40F2-96F3-6381176FC2AC}" type="slidenum">
              <a:rPr lang="en-US" altLang="zh-CN"/>
              <a:pPr/>
              <a:t>91</a:t>
            </a:fld>
            <a:endParaRPr lang="en-US" altLang="zh-CN"/>
          </a:p>
        </p:txBody>
      </p:sp>
      <p:grpSp>
        <p:nvGrpSpPr>
          <p:cNvPr id="2628610" name="Group 2"/>
          <p:cNvGrpSpPr>
            <a:grpSpLocks/>
          </p:cNvGrpSpPr>
          <p:nvPr/>
        </p:nvGrpSpPr>
        <p:grpSpPr bwMode="auto">
          <a:xfrm>
            <a:off x="2286000" y="6477000"/>
            <a:ext cx="2590800" cy="304800"/>
            <a:chOff x="2256" y="2640"/>
            <a:chExt cx="1632" cy="192"/>
          </a:xfrm>
        </p:grpSpPr>
        <p:sp>
          <p:nvSpPr>
            <p:cNvPr id="2628611" name="Rectangle 3"/>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8612" name="Rectangle 4"/>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28613" name="Rectangle 5"/>
          <p:cNvSpPr>
            <a:spLocks noChangeArrowheads="1"/>
          </p:cNvSpPr>
          <p:nvPr/>
        </p:nvSpPr>
        <p:spPr bwMode="auto">
          <a:xfrm>
            <a:off x="2819400" y="6172200"/>
            <a:ext cx="2057400" cy="304800"/>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8614" name="Rectangle 6"/>
          <p:cNvSpPr>
            <a:spLocks noChangeArrowheads="1"/>
          </p:cNvSpPr>
          <p:nvPr/>
        </p:nvSpPr>
        <p:spPr bwMode="auto">
          <a:xfrm>
            <a:off x="2286000" y="6172200"/>
            <a:ext cx="533400" cy="304800"/>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grpSp>
        <p:nvGrpSpPr>
          <p:cNvPr id="2628615" name="Group 7"/>
          <p:cNvGrpSpPr>
            <a:grpSpLocks/>
          </p:cNvGrpSpPr>
          <p:nvPr/>
        </p:nvGrpSpPr>
        <p:grpSpPr bwMode="auto">
          <a:xfrm>
            <a:off x="2286000" y="5867400"/>
            <a:ext cx="2590800" cy="304800"/>
            <a:chOff x="2256" y="2640"/>
            <a:chExt cx="1632" cy="192"/>
          </a:xfrm>
        </p:grpSpPr>
        <p:sp>
          <p:nvSpPr>
            <p:cNvPr id="2628616" name="Rectangle 8"/>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0(display)</a:t>
              </a:r>
            </a:p>
          </p:txBody>
        </p:sp>
        <p:sp>
          <p:nvSpPr>
            <p:cNvPr id="2628617" name="Rectangle 9"/>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28618" name="Group 10"/>
          <p:cNvGrpSpPr>
            <a:grpSpLocks/>
          </p:cNvGrpSpPr>
          <p:nvPr/>
        </p:nvGrpSpPr>
        <p:grpSpPr bwMode="auto">
          <a:xfrm>
            <a:off x="2286000" y="5562600"/>
            <a:ext cx="2590800" cy="304800"/>
            <a:chOff x="2256" y="2640"/>
            <a:chExt cx="1632" cy="192"/>
          </a:xfrm>
        </p:grpSpPr>
        <p:sp>
          <p:nvSpPr>
            <p:cNvPr id="2628619" name="Rectangle 11"/>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28620" name="Rectangle 12"/>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28621" name="Group 13"/>
          <p:cNvGrpSpPr>
            <a:grpSpLocks/>
          </p:cNvGrpSpPr>
          <p:nvPr/>
        </p:nvGrpSpPr>
        <p:grpSpPr bwMode="auto">
          <a:xfrm>
            <a:off x="2286000" y="5257800"/>
            <a:ext cx="2590800" cy="304800"/>
            <a:chOff x="2256" y="2640"/>
            <a:chExt cx="1632" cy="192"/>
          </a:xfrm>
        </p:grpSpPr>
        <p:sp>
          <p:nvSpPr>
            <p:cNvPr id="2628622" name="Rectangle 14"/>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28623" name="Rectangle 15"/>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28624" name="Group 16"/>
          <p:cNvGrpSpPr>
            <a:grpSpLocks/>
          </p:cNvGrpSpPr>
          <p:nvPr/>
        </p:nvGrpSpPr>
        <p:grpSpPr bwMode="auto">
          <a:xfrm>
            <a:off x="2286000" y="4953000"/>
            <a:ext cx="2590800" cy="304800"/>
            <a:chOff x="2256" y="2640"/>
            <a:chExt cx="1632" cy="192"/>
          </a:xfrm>
        </p:grpSpPr>
        <p:sp>
          <p:nvSpPr>
            <p:cNvPr id="2628625" name="Rectangle 17"/>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8626" name="Rectangle 18"/>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28627" name="Rectangle 19"/>
          <p:cNvSpPr>
            <a:spLocks noChangeArrowheads="1"/>
          </p:cNvSpPr>
          <p:nvPr/>
        </p:nvSpPr>
        <p:spPr bwMode="auto">
          <a:xfrm>
            <a:off x="2819400" y="46482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8628" name="Rectangle 20"/>
          <p:cNvSpPr>
            <a:spLocks noChangeArrowheads="1"/>
          </p:cNvSpPr>
          <p:nvPr/>
        </p:nvSpPr>
        <p:spPr bwMode="auto">
          <a:xfrm>
            <a:off x="2286000" y="46482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28629" name="Group 21"/>
          <p:cNvGrpSpPr>
            <a:grpSpLocks/>
          </p:cNvGrpSpPr>
          <p:nvPr/>
        </p:nvGrpSpPr>
        <p:grpSpPr bwMode="auto">
          <a:xfrm>
            <a:off x="2286000" y="4343400"/>
            <a:ext cx="2590800" cy="304800"/>
            <a:chOff x="2256" y="2640"/>
            <a:chExt cx="1632" cy="192"/>
          </a:xfrm>
        </p:grpSpPr>
        <p:sp>
          <p:nvSpPr>
            <p:cNvPr id="2628630" name="Rectangle 2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2(</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8631" name="Rectangle 2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28632" name="Group 24"/>
          <p:cNvGrpSpPr>
            <a:grpSpLocks/>
          </p:cNvGrpSpPr>
          <p:nvPr/>
        </p:nvGrpSpPr>
        <p:grpSpPr bwMode="auto">
          <a:xfrm>
            <a:off x="2286000" y="4038600"/>
            <a:ext cx="2590800" cy="304800"/>
            <a:chOff x="2256" y="2640"/>
            <a:chExt cx="1632" cy="192"/>
          </a:xfrm>
        </p:grpSpPr>
        <p:sp>
          <p:nvSpPr>
            <p:cNvPr id="2628633" name="Rectangle 2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8634" name="Rectangle 26"/>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28635" name="Group 27"/>
          <p:cNvGrpSpPr>
            <a:grpSpLocks/>
          </p:cNvGrpSpPr>
          <p:nvPr/>
        </p:nvGrpSpPr>
        <p:grpSpPr bwMode="auto">
          <a:xfrm>
            <a:off x="2286000" y="3733800"/>
            <a:ext cx="2590800" cy="304800"/>
            <a:chOff x="2256" y="2640"/>
            <a:chExt cx="1632" cy="192"/>
          </a:xfrm>
        </p:grpSpPr>
        <p:sp>
          <p:nvSpPr>
            <p:cNvPr id="2628636" name="Rectangle 2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8637" name="Rectangle 2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9</a:t>
              </a:r>
            </a:p>
          </p:txBody>
        </p:sp>
      </p:grpSp>
      <p:grpSp>
        <p:nvGrpSpPr>
          <p:cNvPr id="2628638" name="Group 30"/>
          <p:cNvGrpSpPr>
            <a:grpSpLocks/>
          </p:cNvGrpSpPr>
          <p:nvPr/>
        </p:nvGrpSpPr>
        <p:grpSpPr bwMode="auto">
          <a:xfrm>
            <a:off x="2286000" y="3429000"/>
            <a:ext cx="2590800" cy="304800"/>
            <a:chOff x="2256" y="2640"/>
            <a:chExt cx="1632" cy="192"/>
          </a:xfrm>
        </p:grpSpPr>
        <p:sp>
          <p:nvSpPr>
            <p:cNvPr id="2628639" name="Rectangle 31"/>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5</a:t>
              </a:r>
            </a:p>
          </p:txBody>
        </p:sp>
        <p:sp>
          <p:nvSpPr>
            <p:cNvPr id="2628640" name="Rectangle 32"/>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10</a:t>
              </a:r>
            </a:p>
          </p:txBody>
        </p:sp>
      </p:grpSp>
      <p:sp>
        <p:nvSpPr>
          <p:cNvPr id="2628641" name="Rectangle 33"/>
          <p:cNvSpPr>
            <a:spLocks noGrp="1" noChangeArrowheads="1"/>
          </p:cNvSpPr>
          <p:nvPr>
            <p:ph type="title"/>
          </p:nvPr>
        </p:nvSpPr>
        <p:spPr>
          <a:xfrm>
            <a:off x="0" y="228600"/>
            <a:ext cx="2209800" cy="3048000"/>
          </a:xfrm>
          <a:noFill/>
          <a:ln w="28575" cap="flat">
            <a:solidFill>
              <a:srgbClr val="00FF00"/>
            </a:solidFill>
            <a:miter lim="800000"/>
            <a:headEnd/>
            <a:tailEnd/>
          </a:ln>
        </p:spPr>
        <p:txBody>
          <a:bodyPr lIns="92075" tIns="46038" rIns="92075" bIns="46038"/>
          <a:lstStyle/>
          <a:p>
            <a:pPr>
              <a:buClr>
                <a:schemeClr val="accent2"/>
              </a:buClr>
              <a:buSzPct val="75000"/>
              <a:buFont typeface="Wingdings" panose="05000000000000000000" pitchFamily="2" charset="2"/>
              <a:buNone/>
            </a:pPr>
            <a:r>
              <a:rPr lang="zh-CN" altLang="en-US" sz="32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2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2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2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200" b="1">
                <a:solidFill>
                  <a:schemeClr val="accent2"/>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200" b="1">
                <a:solidFill>
                  <a:schemeClr val="accent2"/>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a:solidFill>
                  <a:schemeClr val="accent2"/>
                </a:solidFill>
                <a:latin typeface="Times New Roman" panose="02020603050405020304" pitchFamily="18" charset="0"/>
                <a:ea typeface="华文新魏" panose="02010800040101010101" pitchFamily="2" charset="-122"/>
                <a:cs typeface="Times New Roman" panose="02020603050405020304" pitchFamily="18" charset="0"/>
              </a:rPr>
              <a:t>R</a:t>
            </a:r>
          </a:p>
        </p:txBody>
      </p:sp>
      <p:grpSp>
        <p:nvGrpSpPr>
          <p:cNvPr id="2628642" name="Group 34"/>
          <p:cNvGrpSpPr>
            <a:grpSpLocks/>
          </p:cNvGrpSpPr>
          <p:nvPr/>
        </p:nvGrpSpPr>
        <p:grpSpPr bwMode="auto">
          <a:xfrm>
            <a:off x="2286000" y="3124200"/>
            <a:ext cx="2590800" cy="304800"/>
            <a:chOff x="2256" y="2640"/>
            <a:chExt cx="1632" cy="192"/>
          </a:xfrm>
        </p:grpSpPr>
        <p:sp>
          <p:nvSpPr>
            <p:cNvPr id="2628643" name="Rectangle 3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8644" name="Rectangle 36"/>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grpSp>
        <p:nvGrpSpPr>
          <p:cNvPr id="2628645" name="Group 37"/>
          <p:cNvGrpSpPr>
            <a:grpSpLocks/>
          </p:cNvGrpSpPr>
          <p:nvPr/>
        </p:nvGrpSpPr>
        <p:grpSpPr bwMode="auto">
          <a:xfrm>
            <a:off x="2286000" y="2819400"/>
            <a:ext cx="2590800" cy="304800"/>
            <a:chOff x="2256" y="2640"/>
            <a:chExt cx="1632" cy="192"/>
          </a:xfrm>
        </p:grpSpPr>
        <p:sp>
          <p:nvSpPr>
            <p:cNvPr id="2628646" name="Rectangle 3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8647" name="Rectangle 3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sp>
        <p:nvSpPr>
          <p:cNvPr id="2628648" name="Rectangle 40"/>
          <p:cNvSpPr>
            <a:spLocks noChangeArrowheads="1"/>
          </p:cNvSpPr>
          <p:nvPr/>
        </p:nvSpPr>
        <p:spPr bwMode="auto">
          <a:xfrm>
            <a:off x="914400" y="63246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28649" name="Freeform 41"/>
          <p:cNvSpPr>
            <a:spLocks/>
          </p:cNvSpPr>
          <p:nvPr/>
        </p:nvSpPr>
        <p:spPr bwMode="auto">
          <a:xfrm>
            <a:off x="2133600" y="51054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28650" name="Group 42"/>
          <p:cNvGrpSpPr>
            <a:grpSpLocks/>
          </p:cNvGrpSpPr>
          <p:nvPr/>
        </p:nvGrpSpPr>
        <p:grpSpPr bwMode="auto">
          <a:xfrm>
            <a:off x="2286000" y="2514600"/>
            <a:ext cx="2590800" cy="304800"/>
            <a:chOff x="2256" y="2640"/>
            <a:chExt cx="1632" cy="192"/>
          </a:xfrm>
        </p:grpSpPr>
        <p:sp>
          <p:nvSpPr>
            <p:cNvPr id="2628651" name="Rectangle 43"/>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28652" name="Rectangle 44"/>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sp>
        <p:nvSpPr>
          <p:cNvPr id="2628653" name="Rectangle 45"/>
          <p:cNvSpPr>
            <a:spLocks noChangeArrowheads="1"/>
          </p:cNvSpPr>
          <p:nvPr/>
        </p:nvSpPr>
        <p:spPr bwMode="auto">
          <a:xfrm>
            <a:off x="2819400" y="2209800"/>
            <a:ext cx="2057400" cy="304800"/>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8654" name="Rectangle 46"/>
          <p:cNvSpPr>
            <a:spLocks noChangeArrowheads="1"/>
          </p:cNvSpPr>
          <p:nvPr/>
        </p:nvSpPr>
        <p:spPr bwMode="auto">
          <a:xfrm>
            <a:off x="2286000" y="2209800"/>
            <a:ext cx="533400" cy="3048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nvGrpSpPr>
          <p:cNvPr id="2628655" name="Group 47"/>
          <p:cNvGrpSpPr>
            <a:grpSpLocks/>
          </p:cNvGrpSpPr>
          <p:nvPr/>
        </p:nvGrpSpPr>
        <p:grpSpPr bwMode="auto">
          <a:xfrm>
            <a:off x="2286000" y="1905000"/>
            <a:ext cx="2590800" cy="304800"/>
            <a:chOff x="2256" y="2640"/>
            <a:chExt cx="1632" cy="192"/>
          </a:xfrm>
        </p:grpSpPr>
        <p:sp>
          <p:nvSpPr>
            <p:cNvPr id="2628656" name="Rectangle 48"/>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9(</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endParaRPr kumimoji="1" lang="en-US" altLang="zh-CN" sz="2000" b="1">
                <a:ea typeface="楷体_GB2312" pitchFamily="49" charset="-122"/>
              </a:endParaRPr>
            </a:p>
          </p:txBody>
        </p:sp>
        <p:sp>
          <p:nvSpPr>
            <p:cNvPr id="2628657" name="Rectangle 49"/>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28658" name="Group 50"/>
          <p:cNvGrpSpPr>
            <a:grpSpLocks/>
          </p:cNvGrpSpPr>
          <p:nvPr/>
        </p:nvGrpSpPr>
        <p:grpSpPr bwMode="auto">
          <a:xfrm>
            <a:off x="2286000" y="1600200"/>
            <a:ext cx="2590800" cy="304800"/>
            <a:chOff x="2256" y="2640"/>
            <a:chExt cx="1632" cy="192"/>
          </a:xfrm>
        </p:grpSpPr>
        <p:sp>
          <p:nvSpPr>
            <p:cNvPr id="2628659" name="Rectangle 51"/>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8660" name="Rectangle 52"/>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grpSp>
        <p:nvGrpSpPr>
          <p:cNvPr id="2628661" name="Group 53"/>
          <p:cNvGrpSpPr>
            <a:grpSpLocks/>
          </p:cNvGrpSpPr>
          <p:nvPr/>
        </p:nvGrpSpPr>
        <p:grpSpPr bwMode="auto">
          <a:xfrm>
            <a:off x="2286000" y="1295400"/>
            <a:ext cx="2590800" cy="304800"/>
            <a:chOff x="2256" y="2640"/>
            <a:chExt cx="1632" cy="192"/>
          </a:xfrm>
        </p:grpSpPr>
        <p:sp>
          <p:nvSpPr>
            <p:cNvPr id="2628662" name="Rectangle 54"/>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28663" name="Rectangle 55"/>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grpSp>
      <p:grpSp>
        <p:nvGrpSpPr>
          <p:cNvPr id="2628664" name="Group 56"/>
          <p:cNvGrpSpPr>
            <a:grpSpLocks/>
          </p:cNvGrpSpPr>
          <p:nvPr/>
        </p:nvGrpSpPr>
        <p:grpSpPr bwMode="auto">
          <a:xfrm>
            <a:off x="2286000" y="990600"/>
            <a:ext cx="2590800" cy="304800"/>
            <a:chOff x="2256" y="2640"/>
            <a:chExt cx="1632" cy="192"/>
          </a:xfrm>
        </p:grpSpPr>
        <p:sp>
          <p:nvSpPr>
            <p:cNvPr id="2628665" name="Rectangle 57"/>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8666" name="Rectangle 58"/>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18</a:t>
              </a:r>
            </a:p>
          </p:txBody>
        </p:sp>
      </p:grpSp>
      <p:grpSp>
        <p:nvGrpSpPr>
          <p:cNvPr id="2628667" name="Group 59"/>
          <p:cNvGrpSpPr>
            <a:grpSpLocks/>
          </p:cNvGrpSpPr>
          <p:nvPr/>
        </p:nvGrpSpPr>
        <p:grpSpPr bwMode="auto">
          <a:xfrm>
            <a:off x="2286000" y="685800"/>
            <a:ext cx="2590800" cy="304800"/>
            <a:chOff x="2256" y="2640"/>
            <a:chExt cx="1632" cy="192"/>
          </a:xfrm>
        </p:grpSpPr>
        <p:sp>
          <p:nvSpPr>
            <p:cNvPr id="2628668" name="Rectangle 60"/>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13</a:t>
              </a:r>
            </a:p>
          </p:txBody>
        </p:sp>
        <p:sp>
          <p:nvSpPr>
            <p:cNvPr id="2628669" name="Rectangle 61"/>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19</a:t>
              </a:r>
            </a:p>
          </p:txBody>
        </p:sp>
      </p:grpSp>
      <p:grpSp>
        <p:nvGrpSpPr>
          <p:cNvPr id="2628670" name="Group 62"/>
          <p:cNvGrpSpPr>
            <a:grpSpLocks/>
          </p:cNvGrpSpPr>
          <p:nvPr/>
        </p:nvGrpSpPr>
        <p:grpSpPr bwMode="auto">
          <a:xfrm>
            <a:off x="2286000" y="381000"/>
            <a:ext cx="2590800" cy="304800"/>
            <a:chOff x="2256" y="2640"/>
            <a:chExt cx="1632" cy="192"/>
          </a:xfrm>
        </p:grpSpPr>
        <p:sp>
          <p:nvSpPr>
            <p:cNvPr id="2628671" name="Rectangle 63"/>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8672" name="Rectangle 64"/>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20</a:t>
              </a:r>
            </a:p>
          </p:txBody>
        </p:sp>
      </p:grpSp>
      <p:sp>
        <p:nvSpPr>
          <p:cNvPr id="2628673" name="Freeform 65"/>
          <p:cNvSpPr>
            <a:spLocks/>
          </p:cNvSpPr>
          <p:nvPr/>
        </p:nvSpPr>
        <p:spPr bwMode="auto">
          <a:xfrm>
            <a:off x="2133600" y="2743200"/>
            <a:ext cx="228600" cy="2286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28674" name="Group 66"/>
          <p:cNvGrpSpPr>
            <a:grpSpLocks/>
          </p:cNvGrpSpPr>
          <p:nvPr/>
        </p:nvGrpSpPr>
        <p:grpSpPr bwMode="auto">
          <a:xfrm>
            <a:off x="6400800" y="6172200"/>
            <a:ext cx="2590800" cy="304800"/>
            <a:chOff x="2256" y="2640"/>
            <a:chExt cx="1632" cy="192"/>
          </a:xfrm>
        </p:grpSpPr>
        <p:sp>
          <p:nvSpPr>
            <p:cNvPr id="2628675" name="Rectangle 67"/>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sp>
          <p:nvSpPr>
            <p:cNvPr id="2628676" name="Rectangle 68"/>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21</a:t>
              </a:r>
            </a:p>
          </p:txBody>
        </p:sp>
      </p:grpSp>
      <p:grpSp>
        <p:nvGrpSpPr>
          <p:cNvPr id="2628677" name="Group 69"/>
          <p:cNvGrpSpPr>
            <a:grpSpLocks/>
          </p:cNvGrpSpPr>
          <p:nvPr/>
        </p:nvGrpSpPr>
        <p:grpSpPr bwMode="auto">
          <a:xfrm>
            <a:off x="6400800" y="5867400"/>
            <a:ext cx="2590800" cy="304800"/>
            <a:chOff x="4032" y="3696"/>
            <a:chExt cx="1632" cy="192"/>
          </a:xfrm>
        </p:grpSpPr>
        <p:sp>
          <p:nvSpPr>
            <p:cNvPr id="2628678" name="Rectangle 70"/>
            <p:cNvSpPr>
              <a:spLocks noChangeArrowheads="1"/>
            </p:cNvSpPr>
            <p:nvPr/>
          </p:nvSpPr>
          <p:spPr bwMode="auto">
            <a:xfrm>
              <a:off x="4368" y="3696"/>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8679" name="Rectangle 71"/>
            <p:cNvSpPr>
              <a:spLocks noChangeArrowheads="1"/>
            </p:cNvSpPr>
            <p:nvPr/>
          </p:nvSpPr>
          <p:spPr bwMode="auto">
            <a:xfrm>
              <a:off x="4032" y="3696"/>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22</a:t>
              </a:r>
            </a:p>
          </p:txBody>
        </p:sp>
      </p:grpSp>
      <p:grpSp>
        <p:nvGrpSpPr>
          <p:cNvPr id="2628680" name="Group 72"/>
          <p:cNvGrpSpPr>
            <a:grpSpLocks/>
          </p:cNvGrpSpPr>
          <p:nvPr/>
        </p:nvGrpSpPr>
        <p:grpSpPr bwMode="auto">
          <a:xfrm>
            <a:off x="6400800" y="5562600"/>
            <a:ext cx="2590800" cy="304800"/>
            <a:chOff x="2256" y="2640"/>
            <a:chExt cx="1632" cy="192"/>
          </a:xfrm>
        </p:grpSpPr>
        <p:sp>
          <p:nvSpPr>
            <p:cNvPr id="2628681" name="Rectangle 73"/>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18(</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8682" name="Rectangle 74"/>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23</a:t>
              </a:r>
            </a:p>
          </p:txBody>
        </p:sp>
      </p:grpSp>
      <p:grpSp>
        <p:nvGrpSpPr>
          <p:cNvPr id="2628683" name="Group 75"/>
          <p:cNvGrpSpPr>
            <a:grpSpLocks/>
          </p:cNvGrpSpPr>
          <p:nvPr/>
        </p:nvGrpSpPr>
        <p:grpSpPr bwMode="auto">
          <a:xfrm>
            <a:off x="6400800" y="5257800"/>
            <a:ext cx="2590800" cy="304800"/>
            <a:chOff x="2256" y="2640"/>
            <a:chExt cx="1632" cy="192"/>
          </a:xfrm>
        </p:grpSpPr>
        <p:sp>
          <p:nvSpPr>
            <p:cNvPr id="2628684" name="Rectangle 7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8685" name="Rectangle 77"/>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24</a:t>
              </a:r>
            </a:p>
          </p:txBody>
        </p:sp>
      </p:grpSp>
      <p:grpSp>
        <p:nvGrpSpPr>
          <p:cNvPr id="2628686" name="Group 78"/>
          <p:cNvGrpSpPr>
            <a:grpSpLocks/>
          </p:cNvGrpSpPr>
          <p:nvPr/>
        </p:nvGrpSpPr>
        <p:grpSpPr bwMode="auto">
          <a:xfrm>
            <a:off x="6400800" y="4953000"/>
            <a:ext cx="2590800" cy="304800"/>
            <a:chOff x="2256" y="2640"/>
            <a:chExt cx="1632" cy="192"/>
          </a:xfrm>
        </p:grpSpPr>
        <p:sp>
          <p:nvSpPr>
            <p:cNvPr id="2628687" name="Rectangle 79"/>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28688" name="Rectangle 80"/>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25</a:t>
              </a:r>
            </a:p>
          </p:txBody>
        </p:sp>
      </p:grpSp>
      <p:grpSp>
        <p:nvGrpSpPr>
          <p:cNvPr id="2628689" name="Group 81"/>
          <p:cNvGrpSpPr>
            <a:grpSpLocks/>
          </p:cNvGrpSpPr>
          <p:nvPr/>
        </p:nvGrpSpPr>
        <p:grpSpPr bwMode="auto">
          <a:xfrm>
            <a:off x="6400800" y="4648200"/>
            <a:ext cx="2590800" cy="304800"/>
            <a:chOff x="2256" y="2640"/>
            <a:chExt cx="1632" cy="192"/>
          </a:xfrm>
        </p:grpSpPr>
        <p:sp>
          <p:nvSpPr>
            <p:cNvPr id="2628690" name="Rectangle 82"/>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28691" name="Rectangle 83"/>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26</a:t>
              </a:r>
            </a:p>
          </p:txBody>
        </p:sp>
      </p:grpSp>
      <p:grpSp>
        <p:nvGrpSpPr>
          <p:cNvPr id="2628692" name="Group 84"/>
          <p:cNvGrpSpPr>
            <a:grpSpLocks/>
          </p:cNvGrpSpPr>
          <p:nvPr/>
        </p:nvGrpSpPr>
        <p:grpSpPr bwMode="auto">
          <a:xfrm>
            <a:off x="6400800" y="4343400"/>
            <a:ext cx="2590800" cy="304800"/>
            <a:chOff x="2256" y="2640"/>
            <a:chExt cx="1632" cy="192"/>
          </a:xfrm>
        </p:grpSpPr>
        <p:sp>
          <p:nvSpPr>
            <p:cNvPr id="2628693" name="Rectangle 85"/>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8694" name="Rectangle 86"/>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27</a:t>
              </a:r>
            </a:p>
          </p:txBody>
        </p:sp>
      </p:grpSp>
      <p:grpSp>
        <p:nvGrpSpPr>
          <p:cNvPr id="2628695" name="Group 87"/>
          <p:cNvGrpSpPr>
            <a:grpSpLocks/>
          </p:cNvGrpSpPr>
          <p:nvPr/>
        </p:nvGrpSpPr>
        <p:grpSpPr bwMode="auto">
          <a:xfrm>
            <a:off x="6400800" y="4038600"/>
            <a:ext cx="2590800" cy="304800"/>
            <a:chOff x="2256" y="2640"/>
            <a:chExt cx="1632" cy="192"/>
          </a:xfrm>
        </p:grpSpPr>
        <p:sp>
          <p:nvSpPr>
            <p:cNvPr id="2628696" name="Rectangle 88"/>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13</a:t>
              </a:r>
            </a:p>
          </p:txBody>
        </p:sp>
        <p:sp>
          <p:nvSpPr>
            <p:cNvPr id="2628697" name="Rectangle 89"/>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28</a:t>
              </a:r>
            </a:p>
          </p:txBody>
        </p:sp>
      </p:grpSp>
      <p:grpSp>
        <p:nvGrpSpPr>
          <p:cNvPr id="2628698" name="Group 90"/>
          <p:cNvGrpSpPr>
            <a:grpSpLocks/>
          </p:cNvGrpSpPr>
          <p:nvPr/>
        </p:nvGrpSpPr>
        <p:grpSpPr bwMode="auto">
          <a:xfrm>
            <a:off x="6400800" y="3733800"/>
            <a:ext cx="2590800" cy="304800"/>
            <a:chOff x="2256" y="2640"/>
            <a:chExt cx="1632" cy="192"/>
          </a:xfrm>
        </p:grpSpPr>
        <p:sp>
          <p:nvSpPr>
            <p:cNvPr id="2628699" name="Rectangle 91"/>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21</a:t>
              </a:r>
            </a:p>
          </p:txBody>
        </p:sp>
        <p:sp>
          <p:nvSpPr>
            <p:cNvPr id="2628700" name="Rectangle 92"/>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29</a:t>
              </a:r>
            </a:p>
          </p:txBody>
        </p:sp>
      </p:grpSp>
      <p:grpSp>
        <p:nvGrpSpPr>
          <p:cNvPr id="2628701" name="Group 93"/>
          <p:cNvGrpSpPr>
            <a:grpSpLocks/>
          </p:cNvGrpSpPr>
          <p:nvPr/>
        </p:nvGrpSpPr>
        <p:grpSpPr bwMode="auto">
          <a:xfrm>
            <a:off x="6400800" y="3429000"/>
            <a:ext cx="2590800" cy="304800"/>
            <a:chOff x="2256" y="2640"/>
            <a:chExt cx="1632" cy="192"/>
          </a:xfrm>
        </p:grpSpPr>
        <p:sp>
          <p:nvSpPr>
            <p:cNvPr id="2628702" name="Rectangle 94"/>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8703" name="Rectangle 95"/>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30</a:t>
              </a:r>
            </a:p>
          </p:txBody>
        </p:sp>
      </p:grpSp>
      <p:grpSp>
        <p:nvGrpSpPr>
          <p:cNvPr id="2628704" name="Group 96"/>
          <p:cNvGrpSpPr>
            <a:grpSpLocks/>
          </p:cNvGrpSpPr>
          <p:nvPr/>
        </p:nvGrpSpPr>
        <p:grpSpPr bwMode="auto">
          <a:xfrm>
            <a:off x="6400800" y="3124200"/>
            <a:ext cx="2590800" cy="304800"/>
            <a:chOff x="2256" y="2640"/>
            <a:chExt cx="1632" cy="192"/>
          </a:xfrm>
        </p:grpSpPr>
        <p:sp>
          <p:nvSpPr>
            <p:cNvPr id="2628705" name="Rectangle 97"/>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28706" name="Rectangle 98"/>
            <p:cNvSpPr>
              <a:spLocks noChangeArrowheads="1"/>
            </p:cNvSpPr>
            <p:nvPr/>
          </p:nvSpPr>
          <p:spPr bwMode="auto">
            <a:xfrm>
              <a:off x="2256" y="2640"/>
              <a:ext cx="33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31</a:t>
              </a:r>
            </a:p>
          </p:txBody>
        </p:sp>
      </p:grpSp>
      <p:sp>
        <p:nvSpPr>
          <p:cNvPr id="2628707" name="Rectangle 99"/>
          <p:cNvSpPr>
            <a:spLocks noChangeArrowheads="1"/>
          </p:cNvSpPr>
          <p:nvPr/>
        </p:nvSpPr>
        <p:spPr bwMode="auto">
          <a:xfrm>
            <a:off x="5334000" y="3124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28708" name="Rectangle 100"/>
          <p:cNvSpPr>
            <a:spLocks noChangeArrowheads="1"/>
          </p:cNvSpPr>
          <p:nvPr/>
        </p:nvSpPr>
        <p:spPr bwMode="auto">
          <a:xfrm>
            <a:off x="5410200" y="6096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28709" name="Freeform 101"/>
          <p:cNvSpPr>
            <a:spLocks/>
          </p:cNvSpPr>
          <p:nvPr/>
        </p:nvSpPr>
        <p:spPr bwMode="auto">
          <a:xfrm>
            <a:off x="4876800" y="2743200"/>
            <a:ext cx="1676400" cy="3886200"/>
          </a:xfrm>
          <a:custGeom>
            <a:avLst/>
            <a:gdLst>
              <a:gd name="T0" fmla="*/ 1344 w 1344"/>
              <a:gd name="T1" fmla="*/ 2208 h 2352"/>
              <a:gd name="T2" fmla="*/ 1248 w 1344"/>
              <a:gd name="T3" fmla="*/ 2352 h 2352"/>
              <a:gd name="T4" fmla="*/ 672 w 1344"/>
              <a:gd name="T5" fmla="*/ 2352 h 2352"/>
              <a:gd name="T6" fmla="*/ 672 w 1344"/>
              <a:gd name="T7" fmla="*/ 0 h 2352"/>
              <a:gd name="T8" fmla="*/ 0 w 1344"/>
              <a:gd name="T9" fmla="*/ 0 h 2352"/>
            </a:gdLst>
            <a:ahLst/>
            <a:cxnLst>
              <a:cxn ang="0">
                <a:pos x="T0" y="T1"/>
              </a:cxn>
              <a:cxn ang="0">
                <a:pos x="T2" y="T3"/>
              </a:cxn>
              <a:cxn ang="0">
                <a:pos x="T4" y="T5"/>
              </a:cxn>
              <a:cxn ang="0">
                <a:pos x="T6" y="T7"/>
              </a:cxn>
              <a:cxn ang="0">
                <a:pos x="T8" y="T9"/>
              </a:cxn>
            </a:cxnLst>
            <a:rect l="0" t="0" r="r" b="b"/>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481839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28641">
                                            <p:txEl>
                                              <p:charRg st="4294967295" end="4294967295"/>
                                            </p:txEl>
                                          </p:spTgt>
                                        </p:tgtEl>
                                        <p:attrNameLst>
                                          <p:attrName>style.visibility</p:attrName>
                                        </p:attrNameLst>
                                      </p:cBhvr>
                                      <p:to>
                                        <p:strVal val="visible"/>
                                      </p:to>
                                    </p:set>
                                    <p:animEffect transition="in" filter="fade">
                                      <p:cBhvr>
                                        <p:cTn id="7" dur="2000"/>
                                        <p:tgtEl>
                                          <p:spTgt spid="2628641">
                                            <p:txEl>
                                              <p:charRg st="4294967295" end="429496729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28674"/>
                                        </p:tgtEl>
                                        <p:attrNameLst>
                                          <p:attrName>style.visibility</p:attrName>
                                        </p:attrNameLst>
                                      </p:cBhvr>
                                      <p:to>
                                        <p:strVal val="visible"/>
                                      </p:to>
                                    </p:set>
                                    <p:animEffect transition="in" filter="wipe(down)">
                                      <p:cBhvr>
                                        <p:cTn id="12" dur="500"/>
                                        <p:tgtEl>
                                          <p:spTgt spid="26286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28677"/>
                                        </p:tgtEl>
                                        <p:attrNameLst>
                                          <p:attrName>style.visibility</p:attrName>
                                        </p:attrNameLst>
                                      </p:cBhvr>
                                      <p:to>
                                        <p:strVal val="visible"/>
                                      </p:to>
                                    </p:set>
                                    <p:animEffect transition="in" filter="wipe(down)">
                                      <p:cBhvr>
                                        <p:cTn id="17" dur="500"/>
                                        <p:tgtEl>
                                          <p:spTgt spid="26286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28680"/>
                                        </p:tgtEl>
                                        <p:attrNameLst>
                                          <p:attrName>style.visibility</p:attrName>
                                        </p:attrNameLst>
                                      </p:cBhvr>
                                      <p:to>
                                        <p:strVal val="visible"/>
                                      </p:to>
                                    </p:set>
                                    <p:animEffect transition="in" filter="wipe(down)">
                                      <p:cBhvr>
                                        <p:cTn id="22" dur="500"/>
                                        <p:tgtEl>
                                          <p:spTgt spid="26286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28683"/>
                                        </p:tgtEl>
                                        <p:attrNameLst>
                                          <p:attrName>style.visibility</p:attrName>
                                        </p:attrNameLst>
                                      </p:cBhvr>
                                      <p:to>
                                        <p:strVal val="visible"/>
                                      </p:to>
                                    </p:set>
                                    <p:animEffect transition="in" filter="wipe(down)">
                                      <p:cBhvr>
                                        <p:cTn id="27" dur="500"/>
                                        <p:tgtEl>
                                          <p:spTgt spid="26286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28686"/>
                                        </p:tgtEl>
                                        <p:attrNameLst>
                                          <p:attrName>style.visibility</p:attrName>
                                        </p:attrNameLst>
                                      </p:cBhvr>
                                      <p:to>
                                        <p:strVal val="visible"/>
                                      </p:to>
                                    </p:set>
                                    <p:animEffect transition="in" filter="wipe(down)">
                                      <p:cBhvr>
                                        <p:cTn id="32" dur="500"/>
                                        <p:tgtEl>
                                          <p:spTgt spid="26286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28689"/>
                                        </p:tgtEl>
                                        <p:attrNameLst>
                                          <p:attrName>style.visibility</p:attrName>
                                        </p:attrNameLst>
                                      </p:cBhvr>
                                      <p:to>
                                        <p:strVal val="visible"/>
                                      </p:to>
                                    </p:set>
                                    <p:animEffect transition="in" filter="wipe(down)">
                                      <p:cBhvr>
                                        <p:cTn id="37" dur="500"/>
                                        <p:tgtEl>
                                          <p:spTgt spid="26286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628692"/>
                                        </p:tgtEl>
                                        <p:attrNameLst>
                                          <p:attrName>style.visibility</p:attrName>
                                        </p:attrNameLst>
                                      </p:cBhvr>
                                      <p:to>
                                        <p:strVal val="visible"/>
                                      </p:to>
                                    </p:set>
                                    <p:animEffect transition="in" filter="wipe(down)">
                                      <p:cBhvr>
                                        <p:cTn id="42" dur="500"/>
                                        <p:tgtEl>
                                          <p:spTgt spid="26286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28695"/>
                                        </p:tgtEl>
                                        <p:attrNameLst>
                                          <p:attrName>style.visibility</p:attrName>
                                        </p:attrNameLst>
                                      </p:cBhvr>
                                      <p:to>
                                        <p:strVal val="visible"/>
                                      </p:to>
                                    </p:set>
                                    <p:animEffect transition="in" filter="wipe(down)">
                                      <p:cBhvr>
                                        <p:cTn id="47" dur="500"/>
                                        <p:tgtEl>
                                          <p:spTgt spid="26286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2628698"/>
                                        </p:tgtEl>
                                        <p:attrNameLst>
                                          <p:attrName>style.visibility</p:attrName>
                                        </p:attrNameLst>
                                      </p:cBhvr>
                                      <p:to>
                                        <p:strVal val="visible"/>
                                      </p:to>
                                    </p:set>
                                    <p:animEffect transition="in" filter="wipe(down)">
                                      <p:cBhvr>
                                        <p:cTn id="52" dur="500"/>
                                        <p:tgtEl>
                                          <p:spTgt spid="262869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2628701"/>
                                        </p:tgtEl>
                                        <p:attrNameLst>
                                          <p:attrName>style.visibility</p:attrName>
                                        </p:attrNameLst>
                                      </p:cBhvr>
                                      <p:to>
                                        <p:strVal val="visible"/>
                                      </p:to>
                                    </p:set>
                                    <p:animEffect transition="in" filter="wipe(down)">
                                      <p:cBhvr>
                                        <p:cTn id="57" dur="500"/>
                                        <p:tgtEl>
                                          <p:spTgt spid="26287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2628704"/>
                                        </p:tgtEl>
                                        <p:attrNameLst>
                                          <p:attrName>style.visibility</p:attrName>
                                        </p:attrNameLst>
                                      </p:cBhvr>
                                      <p:to>
                                        <p:strVal val="visible"/>
                                      </p:to>
                                    </p:set>
                                    <p:animEffect transition="in" filter="wipe(down)">
                                      <p:cBhvr>
                                        <p:cTn id="62" dur="500"/>
                                        <p:tgtEl>
                                          <p:spTgt spid="26287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628707"/>
                                        </p:tgtEl>
                                        <p:attrNameLst>
                                          <p:attrName>style.visibility</p:attrName>
                                        </p:attrNameLst>
                                      </p:cBhvr>
                                      <p:to>
                                        <p:strVal val="visible"/>
                                      </p:to>
                                    </p:set>
                                    <p:animEffect transition="in" filter="dissolve">
                                      <p:cBhvr>
                                        <p:cTn id="67" dur="500"/>
                                        <p:tgtEl>
                                          <p:spTgt spid="262870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628708"/>
                                        </p:tgtEl>
                                        <p:attrNameLst>
                                          <p:attrName>style.visibility</p:attrName>
                                        </p:attrNameLst>
                                      </p:cBhvr>
                                      <p:to>
                                        <p:strVal val="visible"/>
                                      </p:to>
                                    </p:set>
                                    <p:animEffect transition="in" filter="dissolve">
                                      <p:cBhvr>
                                        <p:cTn id="72" dur="500"/>
                                        <p:tgtEl>
                                          <p:spTgt spid="262870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2" fill="hold" nodeType="clickEffect">
                                  <p:stCondLst>
                                    <p:cond delay="0"/>
                                  </p:stCondLst>
                                  <p:childTnLst>
                                    <p:set>
                                      <p:cBhvr>
                                        <p:cTn id="76" dur="1" fill="hold">
                                          <p:stCondLst>
                                            <p:cond delay="0"/>
                                          </p:stCondLst>
                                        </p:cTn>
                                        <p:tgtEl>
                                          <p:spTgt spid="2628709"/>
                                        </p:tgtEl>
                                        <p:attrNameLst>
                                          <p:attrName>style.visibility</p:attrName>
                                        </p:attrNameLst>
                                      </p:cBhvr>
                                      <p:to>
                                        <p:strVal val="visible"/>
                                      </p:to>
                                    </p:set>
                                    <p:animEffect transition="in" filter="wipe(right)">
                                      <p:cBhvr>
                                        <p:cTn id="77" dur="500"/>
                                        <p:tgtEl>
                                          <p:spTgt spid="26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8641" grpId="0"/>
      <p:bldP spid="2628707" grpId="0" autoUpdateAnimBg="0"/>
      <p:bldP spid="2628708"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 name="日期占位符 3"/>
          <p:cNvSpPr>
            <a:spLocks noGrp="1"/>
          </p:cNvSpPr>
          <p:nvPr>
            <p:ph type="dt" sz="half" idx="10"/>
          </p:nvPr>
        </p:nvSpPr>
        <p:spPr/>
        <p:txBody>
          <a:bodyPr/>
          <a:lstStyle/>
          <a:p>
            <a:fld id="{C033711C-9E6A-4699-9975-5C04D8BBAB3B}" type="datetime1">
              <a:rPr lang="zh-CN" altLang="en-US"/>
              <a:pPr/>
              <a:t>2017/2/24</a:t>
            </a:fld>
            <a:endParaRPr lang="en-US" altLang="zh-CN"/>
          </a:p>
        </p:txBody>
      </p:sp>
      <p:sp>
        <p:nvSpPr>
          <p:cNvPr id="137" name="灯片编号占位符 5"/>
          <p:cNvSpPr>
            <a:spLocks noGrp="1"/>
          </p:cNvSpPr>
          <p:nvPr>
            <p:ph type="sldNum" sz="quarter" idx="12"/>
          </p:nvPr>
        </p:nvSpPr>
        <p:spPr/>
        <p:txBody>
          <a:bodyPr/>
          <a:lstStyle/>
          <a:p>
            <a:fld id="{DA7E415B-4C61-445F-86F3-D43828EC85B3}" type="slidenum">
              <a:rPr lang="en-US" altLang="zh-CN"/>
              <a:pPr/>
              <a:t>92</a:t>
            </a:fld>
            <a:endParaRPr lang="en-US" altLang="zh-CN"/>
          </a:p>
        </p:txBody>
      </p:sp>
      <p:grpSp>
        <p:nvGrpSpPr>
          <p:cNvPr id="2629634" name="Group 2"/>
          <p:cNvGrpSpPr>
            <a:grpSpLocks/>
          </p:cNvGrpSpPr>
          <p:nvPr/>
        </p:nvGrpSpPr>
        <p:grpSpPr bwMode="auto">
          <a:xfrm>
            <a:off x="2286000" y="6477000"/>
            <a:ext cx="2590800" cy="304800"/>
            <a:chOff x="2256" y="2640"/>
            <a:chExt cx="1632" cy="192"/>
          </a:xfrm>
        </p:grpSpPr>
        <p:sp>
          <p:nvSpPr>
            <p:cNvPr id="2629635" name="Rectangle 3"/>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9636" name="Rectangle 4"/>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grpSp>
      <p:sp>
        <p:nvSpPr>
          <p:cNvPr id="2629637" name="Rectangle 5"/>
          <p:cNvSpPr>
            <a:spLocks noChangeArrowheads="1"/>
          </p:cNvSpPr>
          <p:nvPr/>
        </p:nvSpPr>
        <p:spPr bwMode="auto">
          <a:xfrm>
            <a:off x="2819400" y="6172200"/>
            <a:ext cx="2057400" cy="304800"/>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9638" name="Rectangle 6"/>
          <p:cNvSpPr>
            <a:spLocks noChangeArrowheads="1"/>
          </p:cNvSpPr>
          <p:nvPr/>
        </p:nvSpPr>
        <p:spPr bwMode="auto">
          <a:xfrm>
            <a:off x="2286000" y="6172200"/>
            <a:ext cx="533400" cy="304800"/>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p>
        </p:txBody>
      </p:sp>
      <p:grpSp>
        <p:nvGrpSpPr>
          <p:cNvPr id="2629639" name="Group 7"/>
          <p:cNvGrpSpPr>
            <a:grpSpLocks/>
          </p:cNvGrpSpPr>
          <p:nvPr/>
        </p:nvGrpSpPr>
        <p:grpSpPr bwMode="auto">
          <a:xfrm>
            <a:off x="2286000" y="5867400"/>
            <a:ext cx="2590800" cy="304800"/>
            <a:chOff x="2256" y="2640"/>
            <a:chExt cx="1632" cy="192"/>
          </a:xfrm>
        </p:grpSpPr>
        <p:sp>
          <p:nvSpPr>
            <p:cNvPr id="2629640" name="Rectangle 8"/>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0(display)</a:t>
              </a:r>
            </a:p>
          </p:txBody>
        </p:sp>
        <p:sp>
          <p:nvSpPr>
            <p:cNvPr id="2629641" name="Rectangle 9"/>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p>
          </p:txBody>
        </p:sp>
      </p:grpSp>
      <p:grpSp>
        <p:nvGrpSpPr>
          <p:cNvPr id="2629642" name="Group 10"/>
          <p:cNvGrpSpPr>
            <a:grpSpLocks/>
          </p:cNvGrpSpPr>
          <p:nvPr/>
        </p:nvGrpSpPr>
        <p:grpSpPr bwMode="auto">
          <a:xfrm>
            <a:off x="2286000" y="5562600"/>
            <a:ext cx="2590800" cy="304800"/>
            <a:chOff x="2256" y="2640"/>
            <a:chExt cx="1632" cy="192"/>
          </a:xfrm>
        </p:grpSpPr>
        <p:sp>
          <p:nvSpPr>
            <p:cNvPr id="2629643" name="Rectangle 11"/>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a</a:t>
              </a:r>
            </a:p>
          </p:txBody>
        </p:sp>
        <p:sp>
          <p:nvSpPr>
            <p:cNvPr id="2629644" name="Rectangle 12"/>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a:t>
              </a:r>
            </a:p>
          </p:txBody>
        </p:sp>
      </p:grpSp>
      <p:grpSp>
        <p:nvGrpSpPr>
          <p:cNvPr id="2629645" name="Group 13"/>
          <p:cNvGrpSpPr>
            <a:grpSpLocks/>
          </p:cNvGrpSpPr>
          <p:nvPr/>
        </p:nvGrpSpPr>
        <p:grpSpPr bwMode="auto">
          <a:xfrm>
            <a:off x="2286000" y="5257800"/>
            <a:ext cx="2590800" cy="304800"/>
            <a:chOff x="2256" y="2640"/>
            <a:chExt cx="1632" cy="192"/>
          </a:xfrm>
        </p:grpSpPr>
        <p:sp>
          <p:nvSpPr>
            <p:cNvPr id="2629646" name="Rectangle 14"/>
            <p:cNvSpPr>
              <a:spLocks noChangeArrowheads="1"/>
            </p:cNvSpPr>
            <p:nvPr/>
          </p:nvSpPr>
          <p:spPr bwMode="auto">
            <a:xfrm>
              <a:off x="2592" y="2640"/>
              <a:ext cx="1296" cy="192"/>
            </a:xfrm>
            <a:prstGeom prst="rect">
              <a:avLst/>
            </a:prstGeom>
            <a:solidFill>
              <a:srgbClr val="CCFF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x</a:t>
              </a:r>
            </a:p>
          </p:txBody>
        </p:sp>
        <p:sp>
          <p:nvSpPr>
            <p:cNvPr id="2629647" name="Rectangle 15"/>
            <p:cNvSpPr>
              <a:spLocks noChangeArrowheads="1"/>
            </p:cNvSpPr>
            <p:nvPr/>
          </p:nvSpPr>
          <p:spPr bwMode="auto">
            <a:xfrm>
              <a:off x="2256" y="2640"/>
              <a:ext cx="336" cy="192"/>
            </a:xfrm>
            <a:prstGeom prst="rect">
              <a:avLst/>
            </a:prstGeom>
            <a:solidFill>
              <a:srgbClr val="CCFF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a:t>
              </a:r>
            </a:p>
          </p:txBody>
        </p:sp>
      </p:grpSp>
      <p:grpSp>
        <p:nvGrpSpPr>
          <p:cNvPr id="2629648" name="Group 16"/>
          <p:cNvGrpSpPr>
            <a:grpSpLocks/>
          </p:cNvGrpSpPr>
          <p:nvPr/>
        </p:nvGrpSpPr>
        <p:grpSpPr bwMode="auto">
          <a:xfrm>
            <a:off x="2286000" y="4953000"/>
            <a:ext cx="2590800" cy="304800"/>
            <a:chOff x="2256" y="2640"/>
            <a:chExt cx="1632" cy="192"/>
          </a:xfrm>
        </p:grpSpPr>
        <p:sp>
          <p:nvSpPr>
            <p:cNvPr id="2629649" name="Rectangle 17"/>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p>
          </p:txBody>
        </p:sp>
        <p:sp>
          <p:nvSpPr>
            <p:cNvPr id="2629650" name="Rectangle 18"/>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grpSp>
      <p:sp>
        <p:nvSpPr>
          <p:cNvPr id="2629651" name="Rectangle 19"/>
          <p:cNvSpPr>
            <a:spLocks noChangeArrowheads="1"/>
          </p:cNvSpPr>
          <p:nvPr/>
        </p:nvSpPr>
        <p:spPr bwMode="auto">
          <a:xfrm>
            <a:off x="2819400" y="4648200"/>
            <a:ext cx="2057400" cy="304800"/>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9652" name="Rectangle 20"/>
          <p:cNvSpPr>
            <a:spLocks noChangeArrowheads="1"/>
          </p:cNvSpPr>
          <p:nvPr/>
        </p:nvSpPr>
        <p:spPr bwMode="auto">
          <a:xfrm>
            <a:off x="2286000" y="4648200"/>
            <a:ext cx="533400" cy="3048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6</a:t>
            </a:r>
          </a:p>
        </p:txBody>
      </p:sp>
      <p:grpSp>
        <p:nvGrpSpPr>
          <p:cNvPr id="2629653" name="Group 21"/>
          <p:cNvGrpSpPr>
            <a:grpSpLocks/>
          </p:cNvGrpSpPr>
          <p:nvPr/>
        </p:nvGrpSpPr>
        <p:grpSpPr bwMode="auto">
          <a:xfrm>
            <a:off x="2286000" y="4343400"/>
            <a:ext cx="2590800" cy="304800"/>
            <a:chOff x="2256" y="2640"/>
            <a:chExt cx="1632" cy="192"/>
          </a:xfrm>
        </p:grpSpPr>
        <p:sp>
          <p:nvSpPr>
            <p:cNvPr id="2629654" name="Rectangle 2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2(</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9655" name="Rectangle 23"/>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7</a:t>
              </a:r>
            </a:p>
          </p:txBody>
        </p:sp>
      </p:grpSp>
      <p:grpSp>
        <p:nvGrpSpPr>
          <p:cNvPr id="2629656" name="Group 24"/>
          <p:cNvGrpSpPr>
            <a:grpSpLocks/>
          </p:cNvGrpSpPr>
          <p:nvPr/>
        </p:nvGrpSpPr>
        <p:grpSpPr bwMode="auto">
          <a:xfrm>
            <a:off x="2286000" y="4038600"/>
            <a:ext cx="2590800" cy="304800"/>
            <a:chOff x="2256" y="2640"/>
            <a:chExt cx="1632" cy="192"/>
          </a:xfrm>
        </p:grpSpPr>
        <p:sp>
          <p:nvSpPr>
            <p:cNvPr id="2629657" name="Rectangle 2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0(</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9658" name="Rectangle 26"/>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8</a:t>
              </a:r>
            </a:p>
          </p:txBody>
        </p:sp>
      </p:grpSp>
      <p:grpSp>
        <p:nvGrpSpPr>
          <p:cNvPr id="2629659" name="Group 27"/>
          <p:cNvGrpSpPr>
            <a:grpSpLocks/>
          </p:cNvGrpSpPr>
          <p:nvPr/>
        </p:nvGrpSpPr>
        <p:grpSpPr bwMode="auto">
          <a:xfrm>
            <a:off x="2286000" y="3733800"/>
            <a:ext cx="2590800" cy="304800"/>
            <a:chOff x="2256" y="2640"/>
            <a:chExt cx="1632" cy="192"/>
          </a:xfrm>
        </p:grpSpPr>
        <p:sp>
          <p:nvSpPr>
            <p:cNvPr id="2629660" name="Rectangle 2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9661" name="Rectangle 2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9</a:t>
              </a:r>
            </a:p>
          </p:txBody>
        </p:sp>
      </p:grpSp>
      <p:grpSp>
        <p:nvGrpSpPr>
          <p:cNvPr id="2629662" name="Group 30"/>
          <p:cNvGrpSpPr>
            <a:grpSpLocks/>
          </p:cNvGrpSpPr>
          <p:nvPr/>
        </p:nvGrpSpPr>
        <p:grpSpPr bwMode="auto">
          <a:xfrm>
            <a:off x="2286000" y="3429000"/>
            <a:ext cx="2590800" cy="304800"/>
            <a:chOff x="2256" y="2640"/>
            <a:chExt cx="1632" cy="192"/>
          </a:xfrm>
        </p:grpSpPr>
        <p:sp>
          <p:nvSpPr>
            <p:cNvPr id="2629663" name="Rectangle 31"/>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5</a:t>
              </a:r>
            </a:p>
          </p:txBody>
        </p:sp>
        <p:sp>
          <p:nvSpPr>
            <p:cNvPr id="2629664" name="Rectangle 32"/>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10</a:t>
              </a:r>
            </a:p>
          </p:txBody>
        </p:sp>
      </p:grpSp>
      <p:sp>
        <p:nvSpPr>
          <p:cNvPr id="2629665" name="Rectangle 33"/>
          <p:cNvSpPr>
            <a:spLocks noGrp="1" noChangeArrowheads="1"/>
          </p:cNvSpPr>
          <p:nvPr>
            <p:ph type="title"/>
          </p:nvPr>
        </p:nvSpPr>
        <p:spPr>
          <a:xfrm>
            <a:off x="76200" y="76200"/>
            <a:ext cx="2057400" cy="3276600"/>
          </a:xfrm>
          <a:noFill/>
          <a:ln w="28575" cap="flat">
            <a:solidFill>
              <a:srgbClr val="00FF00"/>
            </a:solidFill>
            <a:miter lim="800000"/>
            <a:headEnd/>
            <a:tailEnd/>
          </a:ln>
        </p:spPr>
        <p:txBody>
          <a:bodyPr lIns="92075" tIns="46038" rIns="92075" bIns="46038"/>
          <a:lstStyle/>
          <a:p>
            <a:pPr>
              <a:buClr>
                <a:schemeClr val="accent2"/>
              </a:buClr>
              <a:buSzPct val="75000"/>
              <a:buFont typeface="Wingdings" panose="05000000000000000000" pitchFamily="2" charset="2"/>
              <a:buNone/>
            </a:pPr>
            <a:r>
              <a:rPr lang="zh-CN" altLang="en-US" sz="36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主程序</a:t>
            </a:r>
            <a:r>
              <a:rPr lang="en-US" altLang="zh-CN" sz="3600" b="1">
                <a:solidFill>
                  <a:srgbClr val="00CC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P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CC6600"/>
                </a:solidFill>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6600CC"/>
                </a:solidFill>
                <a:latin typeface="Times New Roman" panose="02020603050405020304" pitchFamily="18" charset="0"/>
                <a:ea typeface="华文新魏" panose="02010800040101010101" pitchFamily="2" charset="-122"/>
                <a:cs typeface="Times New Roman" panose="02020603050405020304" pitchFamily="18" charset="0"/>
              </a:rPr>
              <a:t>Q</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chemeClr val="accent2"/>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chemeClr val="accent2"/>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chemeClr val="accent2"/>
                </a:solidFill>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过程</a:t>
            </a:r>
            <a:r>
              <a:rPr lang="zh-CN" altLang="en-US"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600" b="1">
                <a:solidFill>
                  <a:srgbClr val="009999"/>
                </a:solidFill>
                <a:latin typeface="Times New Roman" panose="02020603050405020304" pitchFamily="18" charset="0"/>
                <a:ea typeface="华文新魏" panose="02010800040101010101" pitchFamily="2" charset="-122"/>
                <a:cs typeface="Times New Roman" panose="02020603050405020304" pitchFamily="18" charset="0"/>
              </a:rPr>
              <a:t>R</a:t>
            </a:r>
          </a:p>
        </p:txBody>
      </p:sp>
      <p:grpSp>
        <p:nvGrpSpPr>
          <p:cNvPr id="2629666" name="Group 34"/>
          <p:cNvGrpSpPr>
            <a:grpSpLocks/>
          </p:cNvGrpSpPr>
          <p:nvPr/>
        </p:nvGrpSpPr>
        <p:grpSpPr bwMode="auto">
          <a:xfrm>
            <a:off x="2286000" y="3124200"/>
            <a:ext cx="2590800" cy="304800"/>
            <a:chOff x="2256" y="2640"/>
            <a:chExt cx="1632" cy="192"/>
          </a:xfrm>
        </p:grpSpPr>
        <p:sp>
          <p:nvSpPr>
            <p:cNvPr id="2629667" name="Rectangle 3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9668" name="Rectangle 36"/>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11</a:t>
              </a:r>
            </a:p>
          </p:txBody>
        </p:sp>
      </p:grpSp>
      <p:grpSp>
        <p:nvGrpSpPr>
          <p:cNvPr id="2629669" name="Group 37"/>
          <p:cNvGrpSpPr>
            <a:grpSpLocks/>
          </p:cNvGrpSpPr>
          <p:nvPr/>
        </p:nvGrpSpPr>
        <p:grpSpPr bwMode="auto">
          <a:xfrm>
            <a:off x="2286000" y="2819400"/>
            <a:ext cx="2590800" cy="304800"/>
            <a:chOff x="2256" y="2640"/>
            <a:chExt cx="1632" cy="192"/>
          </a:xfrm>
        </p:grpSpPr>
        <p:sp>
          <p:nvSpPr>
            <p:cNvPr id="2629670" name="Rectangle 38"/>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9671" name="Rectangle 39"/>
            <p:cNvSpPr>
              <a:spLocks noChangeArrowheads="1"/>
            </p:cNvSpPr>
            <p:nvPr/>
          </p:nvSpPr>
          <p:spPr bwMode="auto">
            <a:xfrm>
              <a:off x="2256" y="2640"/>
              <a:ext cx="336" cy="192"/>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12</a:t>
              </a:r>
            </a:p>
          </p:txBody>
        </p:sp>
      </p:grpSp>
      <p:sp>
        <p:nvSpPr>
          <p:cNvPr id="2629672" name="Rectangle 40"/>
          <p:cNvSpPr>
            <a:spLocks noChangeArrowheads="1"/>
          </p:cNvSpPr>
          <p:nvPr/>
        </p:nvSpPr>
        <p:spPr bwMode="auto">
          <a:xfrm>
            <a:off x="914400" y="63246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动态链</a:t>
            </a:r>
          </a:p>
        </p:txBody>
      </p:sp>
      <p:sp>
        <p:nvSpPr>
          <p:cNvPr id="2629673" name="Freeform 41"/>
          <p:cNvSpPr>
            <a:spLocks/>
          </p:cNvSpPr>
          <p:nvPr/>
        </p:nvSpPr>
        <p:spPr bwMode="auto">
          <a:xfrm>
            <a:off x="2133600" y="5105400"/>
            <a:ext cx="228600" cy="1524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29674" name="Group 42"/>
          <p:cNvGrpSpPr>
            <a:grpSpLocks/>
          </p:cNvGrpSpPr>
          <p:nvPr/>
        </p:nvGrpSpPr>
        <p:grpSpPr bwMode="auto">
          <a:xfrm>
            <a:off x="2286000" y="2514600"/>
            <a:ext cx="2590800" cy="304800"/>
            <a:chOff x="2256" y="2640"/>
            <a:chExt cx="1632" cy="192"/>
          </a:xfrm>
        </p:grpSpPr>
        <p:sp>
          <p:nvSpPr>
            <p:cNvPr id="2629675" name="Rectangle 43"/>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5</a:t>
              </a:r>
            </a:p>
          </p:txBody>
        </p:sp>
        <p:sp>
          <p:nvSpPr>
            <p:cNvPr id="2629676" name="Rectangle 44"/>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grpSp>
      <p:sp>
        <p:nvSpPr>
          <p:cNvPr id="2629677" name="Rectangle 45"/>
          <p:cNvSpPr>
            <a:spLocks noChangeArrowheads="1"/>
          </p:cNvSpPr>
          <p:nvPr/>
        </p:nvSpPr>
        <p:spPr bwMode="auto">
          <a:xfrm>
            <a:off x="2819400" y="2209800"/>
            <a:ext cx="2057400" cy="304800"/>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9678" name="Rectangle 46"/>
          <p:cNvSpPr>
            <a:spLocks noChangeArrowheads="1"/>
          </p:cNvSpPr>
          <p:nvPr/>
        </p:nvSpPr>
        <p:spPr bwMode="auto">
          <a:xfrm>
            <a:off x="2286000" y="2209800"/>
            <a:ext cx="533400" cy="3048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14</a:t>
            </a:r>
          </a:p>
        </p:txBody>
      </p:sp>
      <p:grpSp>
        <p:nvGrpSpPr>
          <p:cNvPr id="2629679" name="Group 47"/>
          <p:cNvGrpSpPr>
            <a:grpSpLocks/>
          </p:cNvGrpSpPr>
          <p:nvPr/>
        </p:nvGrpSpPr>
        <p:grpSpPr bwMode="auto">
          <a:xfrm>
            <a:off x="2286000" y="1905000"/>
            <a:ext cx="2590800" cy="304800"/>
            <a:chOff x="2256" y="2640"/>
            <a:chExt cx="1632" cy="192"/>
          </a:xfrm>
        </p:grpSpPr>
        <p:sp>
          <p:nvSpPr>
            <p:cNvPr id="2629680" name="Rectangle 48"/>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9(</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endParaRPr kumimoji="1" lang="en-US" altLang="zh-CN" sz="2000" b="1">
                <a:ea typeface="楷体_GB2312" pitchFamily="49" charset="-122"/>
              </a:endParaRPr>
            </a:p>
          </p:txBody>
        </p:sp>
        <p:sp>
          <p:nvSpPr>
            <p:cNvPr id="2629681" name="Rectangle 49"/>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15</a:t>
              </a:r>
            </a:p>
          </p:txBody>
        </p:sp>
      </p:grpSp>
      <p:grpSp>
        <p:nvGrpSpPr>
          <p:cNvPr id="2629682" name="Group 50"/>
          <p:cNvGrpSpPr>
            <a:grpSpLocks/>
          </p:cNvGrpSpPr>
          <p:nvPr/>
        </p:nvGrpSpPr>
        <p:grpSpPr bwMode="auto">
          <a:xfrm>
            <a:off x="2286000" y="1600200"/>
            <a:ext cx="2590800" cy="304800"/>
            <a:chOff x="2256" y="2640"/>
            <a:chExt cx="1632" cy="192"/>
          </a:xfrm>
        </p:grpSpPr>
        <p:sp>
          <p:nvSpPr>
            <p:cNvPr id="2629683" name="Rectangle 51"/>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9684" name="Rectangle 52"/>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16</a:t>
              </a:r>
            </a:p>
          </p:txBody>
        </p:sp>
      </p:grpSp>
      <p:grpSp>
        <p:nvGrpSpPr>
          <p:cNvPr id="2629685" name="Group 53"/>
          <p:cNvGrpSpPr>
            <a:grpSpLocks/>
          </p:cNvGrpSpPr>
          <p:nvPr/>
        </p:nvGrpSpPr>
        <p:grpSpPr bwMode="auto">
          <a:xfrm>
            <a:off x="2286000" y="1295400"/>
            <a:ext cx="2590800" cy="304800"/>
            <a:chOff x="2256" y="2640"/>
            <a:chExt cx="1632" cy="192"/>
          </a:xfrm>
        </p:grpSpPr>
        <p:sp>
          <p:nvSpPr>
            <p:cNvPr id="2629686" name="Rectangle 54"/>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b(</a:t>
              </a:r>
              <a:r>
                <a:rPr kumimoji="1" lang="zh-CN" altLang="en-US" sz="2000" b="1">
                  <a:ea typeface="楷体_GB2312" pitchFamily="49" charset="-122"/>
                </a:rPr>
                <a:t>形参</a:t>
              </a:r>
              <a:r>
                <a:rPr kumimoji="1" lang="en-US" altLang="zh-CN" sz="2000" b="1">
                  <a:ea typeface="楷体_GB2312" pitchFamily="49" charset="-122"/>
                </a:rPr>
                <a:t>)</a:t>
              </a:r>
            </a:p>
          </p:txBody>
        </p:sp>
        <p:sp>
          <p:nvSpPr>
            <p:cNvPr id="2629687" name="Rectangle 55"/>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17</a:t>
              </a:r>
            </a:p>
          </p:txBody>
        </p:sp>
      </p:grpSp>
      <p:grpSp>
        <p:nvGrpSpPr>
          <p:cNvPr id="2629688" name="Group 56"/>
          <p:cNvGrpSpPr>
            <a:grpSpLocks/>
          </p:cNvGrpSpPr>
          <p:nvPr/>
        </p:nvGrpSpPr>
        <p:grpSpPr bwMode="auto">
          <a:xfrm>
            <a:off x="2286000" y="990600"/>
            <a:ext cx="2590800" cy="304800"/>
            <a:chOff x="2256" y="2640"/>
            <a:chExt cx="1632" cy="192"/>
          </a:xfrm>
        </p:grpSpPr>
        <p:sp>
          <p:nvSpPr>
            <p:cNvPr id="2629689" name="Rectangle 57"/>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9690" name="Rectangle 58"/>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18</a:t>
              </a:r>
            </a:p>
          </p:txBody>
        </p:sp>
      </p:grpSp>
      <p:grpSp>
        <p:nvGrpSpPr>
          <p:cNvPr id="2629691" name="Group 59"/>
          <p:cNvGrpSpPr>
            <a:grpSpLocks/>
          </p:cNvGrpSpPr>
          <p:nvPr/>
        </p:nvGrpSpPr>
        <p:grpSpPr bwMode="auto">
          <a:xfrm>
            <a:off x="2286000" y="685800"/>
            <a:ext cx="2590800" cy="304800"/>
            <a:chOff x="2256" y="2640"/>
            <a:chExt cx="1632" cy="192"/>
          </a:xfrm>
        </p:grpSpPr>
        <p:sp>
          <p:nvSpPr>
            <p:cNvPr id="2629692" name="Rectangle 60"/>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13</a:t>
              </a:r>
            </a:p>
          </p:txBody>
        </p:sp>
        <p:sp>
          <p:nvSpPr>
            <p:cNvPr id="2629693" name="Rectangle 61"/>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19</a:t>
              </a:r>
            </a:p>
          </p:txBody>
        </p:sp>
      </p:grpSp>
      <p:grpSp>
        <p:nvGrpSpPr>
          <p:cNvPr id="2629694" name="Group 62"/>
          <p:cNvGrpSpPr>
            <a:grpSpLocks/>
          </p:cNvGrpSpPr>
          <p:nvPr/>
        </p:nvGrpSpPr>
        <p:grpSpPr bwMode="auto">
          <a:xfrm>
            <a:off x="2286000" y="381000"/>
            <a:ext cx="2590800" cy="304800"/>
            <a:chOff x="2256" y="2640"/>
            <a:chExt cx="1632" cy="192"/>
          </a:xfrm>
        </p:grpSpPr>
        <p:sp>
          <p:nvSpPr>
            <p:cNvPr id="2629695" name="Rectangle 63"/>
            <p:cNvSpPr>
              <a:spLocks noChangeArrowheads="1"/>
            </p:cNvSpPr>
            <p:nvPr/>
          </p:nvSpPr>
          <p:spPr bwMode="auto">
            <a:xfrm>
              <a:off x="2592" y="2640"/>
              <a:ext cx="1296" cy="192"/>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i</a:t>
              </a:r>
            </a:p>
          </p:txBody>
        </p:sp>
        <p:sp>
          <p:nvSpPr>
            <p:cNvPr id="2629696" name="Rectangle 64"/>
            <p:cNvSpPr>
              <a:spLocks noChangeArrowheads="1"/>
            </p:cNvSpPr>
            <p:nvPr/>
          </p:nvSpPr>
          <p:spPr bwMode="auto">
            <a:xfrm>
              <a:off x="2256" y="2640"/>
              <a:ext cx="336" cy="192"/>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20</a:t>
              </a:r>
            </a:p>
          </p:txBody>
        </p:sp>
      </p:grpSp>
      <p:sp>
        <p:nvSpPr>
          <p:cNvPr id="2629697" name="Freeform 65"/>
          <p:cNvSpPr>
            <a:spLocks/>
          </p:cNvSpPr>
          <p:nvPr/>
        </p:nvSpPr>
        <p:spPr bwMode="auto">
          <a:xfrm>
            <a:off x="2133600" y="2743200"/>
            <a:ext cx="228600" cy="22860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29698" name="Group 66"/>
          <p:cNvGrpSpPr>
            <a:grpSpLocks/>
          </p:cNvGrpSpPr>
          <p:nvPr/>
        </p:nvGrpSpPr>
        <p:grpSpPr bwMode="auto">
          <a:xfrm>
            <a:off x="6324600" y="6477000"/>
            <a:ext cx="2590800" cy="304800"/>
            <a:chOff x="2256" y="2640"/>
            <a:chExt cx="1632" cy="192"/>
          </a:xfrm>
        </p:grpSpPr>
        <p:sp>
          <p:nvSpPr>
            <p:cNvPr id="2629699" name="Rectangle 67"/>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13</a:t>
              </a:r>
            </a:p>
          </p:txBody>
        </p:sp>
        <p:sp>
          <p:nvSpPr>
            <p:cNvPr id="2629700" name="Rectangle 68"/>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21</a:t>
              </a:r>
            </a:p>
          </p:txBody>
        </p:sp>
      </p:grpSp>
      <p:sp>
        <p:nvSpPr>
          <p:cNvPr id="2629701" name="Rectangle 69"/>
          <p:cNvSpPr>
            <a:spLocks noChangeArrowheads="1"/>
          </p:cNvSpPr>
          <p:nvPr/>
        </p:nvSpPr>
        <p:spPr bwMode="auto">
          <a:xfrm>
            <a:off x="6858000" y="6172200"/>
            <a:ext cx="2057400" cy="304800"/>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9702" name="Rectangle 70"/>
          <p:cNvSpPr>
            <a:spLocks noChangeArrowheads="1"/>
          </p:cNvSpPr>
          <p:nvPr/>
        </p:nvSpPr>
        <p:spPr bwMode="auto">
          <a:xfrm>
            <a:off x="6324600" y="6172200"/>
            <a:ext cx="533400" cy="304800"/>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22</a:t>
            </a:r>
          </a:p>
        </p:txBody>
      </p:sp>
      <p:grpSp>
        <p:nvGrpSpPr>
          <p:cNvPr id="2629703" name="Group 71"/>
          <p:cNvGrpSpPr>
            <a:grpSpLocks/>
          </p:cNvGrpSpPr>
          <p:nvPr/>
        </p:nvGrpSpPr>
        <p:grpSpPr bwMode="auto">
          <a:xfrm>
            <a:off x="6324600" y="5867400"/>
            <a:ext cx="2590800" cy="304800"/>
            <a:chOff x="2256" y="2640"/>
            <a:chExt cx="1632" cy="192"/>
          </a:xfrm>
        </p:grpSpPr>
        <p:sp>
          <p:nvSpPr>
            <p:cNvPr id="2629704" name="Rectangle 72"/>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18(</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9705" name="Rectangle 73"/>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23</a:t>
              </a:r>
            </a:p>
          </p:txBody>
        </p:sp>
      </p:grpSp>
      <p:grpSp>
        <p:nvGrpSpPr>
          <p:cNvPr id="2629706" name="Group 74"/>
          <p:cNvGrpSpPr>
            <a:grpSpLocks/>
          </p:cNvGrpSpPr>
          <p:nvPr/>
        </p:nvGrpSpPr>
        <p:grpSpPr bwMode="auto">
          <a:xfrm>
            <a:off x="6324600" y="5562600"/>
            <a:ext cx="2590800" cy="304800"/>
            <a:chOff x="2256" y="2640"/>
            <a:chExt cx="1632" cy="192"/>
          </a:xfrm>
        </p:grpSpPr>
        <p:sp>
          <p:nvSpPr>
            <p:cNvPr id="2629707" name="Rectangle 75"/>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9708" name="Rectangle 76"/>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24</a:t>
              </a:r>
            </a:p>
          </p:txBody>
        </p:sp>
      </p:grpSp>
      <p:grpSp>
        <p:nvGrpSpPr>
          <p:cNvPr id="2629709" name="Group 77"/>
          <p:cNvGrpSpPr>
            <a:grpSpLocks/>
          </p:cNvGrpSpPr>
          <p:nvPr/>
        </p:nvGrpSpPr>
        <p:grpSpPr bwMode="auto">
          <a:xfrm>
            <a:off x="6324600" y="5257800"/>
            <a:ext cx="2590800" cy="304800"/>
            <a:chOff x="2256" y="2640"/>
            <a:chExt cx="1632" cy="192"/>
          </a:xfrm>
        </p:grpSpPr>
        <p:sp>
          <p:nvSpPr>
            <p:cNvPr id="2629710" name="Rectangle 78"/>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29711" name="Rectangle 79"/>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25</a:t>
              </a:r>
            </a:p>
          </p:txBody>
        </p:sp>
      </p:grpSp>
      <p:grpSp>
        <p:nvGrpSpPr>
          <p:cNvPr id="2629712" name="Group 80"/>
          <p:cNvGrpSpPr>
            <a:grpSpLocks/>
          </p:cNvGrpSpPr>
          <p:nvPr/>
        </p:nvGrpSpPr>
        <p:grpSpPr bwMode="auto">
          <a:xfrm>
            <a:off x="6324600" y="4953000"/>
            <a:ext cx="2590800" cy="304800"/>
            <a:chOff x="2256" y="2640"/>
            <a:chExt cx="1632" cy="192"/>
          </a:xfrm>
        </p:grpSpPr>
        <p:sp>
          <p:nvSpPr>
            <p:cNvPr id="2629713" name="Rectangle 81"/>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29714" name="Rectangle 82"/>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26</a:t>
              </a:r>
            </a:p>
          </p:txBody>
        </p:sp>
      </p:grpSp>
      <p:grpSp>
        <p:nvGrpSpPr>
          <p:cNvPr id="2629715" name="Group 83"/>
          <p:cNvGrpSpPr>
            <a:grpSpLocks/>
          </p:cNvGrpSpPr>
          <p:nvPr/>
        </p:nvGrpSpPr>
        <p:grpSpPr bwMode="auto">
          <a:xfrm>
            <a:off x="6324600" y="4648200"/>
            <a:ext cx="2590800" cy="304800"/>
            <a:chOff x="2256" y="2640"/>
            <a:chExt cx="1632" cy="192"/>
          </a:xfrm>
        </p:grpSpPr>
        <p:sp>
          <p:nvSpPr>
            <p:cNvPr id="2629716" name="Rectangle 84"/>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9717" name="Rectangle 85"/>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27</a:t>
              </a:r>
            </a:p>
          </p:txBody>
        </p:sp>
      </p:grpSp>
      <p:grpSp>
        <p:nvGrpSpPr>
          <p:cNvPr id="2629718" name="Group 86"/>
          <p:cNvGrpSpPr>
            <a:grpSpLocks/>
          </p:cNvGrpSpPr>
          <p:nvPr/>
        </p:nvGrpSpPr>
        <p:grpSpPr bwMode="auto">
          <a:xfrm>
            <a:off x="6324600" y="4343400"/>
            <a:ext cx="2590800" cy="304800"/>
            <a:chOff x="2256" y="2640"/>
            <a:chExt cx="1632" cy="192"/>
          </a:xfrm>
        </p:grpSpPr>
        <p:sp>
          <p:nvSpPr>
            <p:cNvPr id="2629719" name="Rectangle 87"/>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13</a:t>
              </a:r>
            </a:p>
          </p:txBody>
        </p:sp>
        <p:sp>
          <p:nvSpPr>
            <p:cNvPr id="2629720" name="Rectangle 88"/>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28</a:t>
              </a:r>
            </a:p>
          </p:txBody>
        </p:sp>
      </p:grpSp>
      <p:grpSp>
        <p:nvGrpSpPr>
          <p:cNvPr id="2629721" name="Group 89"/>
          <p:cNvGrpSpPr>
            <a:grpSpLocks/>
          </p:cNvGrpSpPr>
          <p:nvPr/>
        </p:nvGrpSpPr>
        <p:grpSpPr bwMode="auto">
          <a:xfrm>
            <a:off x="6324600" y="4038600"/>
            <a:ext cx="2590800" cy="304800"/>
            <a:chOff x="2256" y="2640"/>
            <a:chExt cx="1632" cy="192"/>
          </a:xfrm>
        </p:grpSpPr>
        <p:sp>
          <p:nvSpPr>
            <p:cNvPr id="2629722" name="Rectangle 90"/>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21</a:t>
              </a:r>
            </a:p>
          </p:txBody>
        </p:sp>
        <p:sp>
          <p:nvSpPr>
            <p:cNvPr id="2629723" name="Rectangle 91"/>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29</a:t>
              </a:r>
            </a:p>
          </p:txBody>
        </p:sp>
      </p:grpSp>
      <p:grpSp>
        <p:nvGrpSpPr>
          <p:cNvPr id="2629724" name="Group 92"/>
          <p:cNvGrpSpPr>
            <a:grpSpLocks/>
          </p:cNvGrpSpPr>
          <p:nvPr/>
        </p:nvGrpSpPr>
        <p:grpSpPr bwMode="auto">
          <a:xfrm>
            <a:off x="6324600" y="3733800"/>
            <a:ext cx="2590800" cy="304800"/>
            <a:chOff x="2256" y="2640"/>
            <a:chExt cx="1632" cy="192"/>
          </a:xfrm>
        </p:grpSpPr>
        <p:sp>
          <p:nvSpPr>
            <p:cNvPr id="2629725" name="Rectangle 93"/>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9726" name="Rectangle 94"/>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30</a:t>
              </a:r>
            </a:p>
          </p:txBody>
        </p:sp>
      </p:grpSp>
      <p:grpSp>
        <p:nvGrpSpPr>
          <p:cNvPr id="2629727" name="Group 95"/>
          <p:cNvGrpSpPr>
            <a:grpSpLocks/>
          </p:cNvGrpSpPr>
          <p:nvPr/>
        </p:nvGrpSpPr>
        <p:grpSpPr bwMode="auto">
          <a:xfrm>
            <a:off x="6324600" y="3429000"/>
            <a:ext cx="2590800" cy="304800"/>
            <a:chOff x="2256" y="2640"/>
            <a:chExt cx="1632" cy="192"/>
          </a:xfrm>
        </p:grpSpPr>
        <p:sp>
          <p:nvSpPr>
            <p:cNvPr id="2629728" name="Rectangle 96"/>
            <p:cNvSpPr>
              <a:spLocks noChangeArrowheads="1"/>
            </p:cNvSpPr>
            <p:nvPr/>
          </p:nvSpPr>
          <p:spPr bwMode="auto">
            <a:xfrm>
              <a:off x="2592" y="2640"/>
              <a:ext cx="1296" cy="192"/>
            </a:xfrm>
            <a:prstGeom prst="rect">
              <a:avLst/>
            </a:prstGeom>
            <a:solidFill>
              <a:srgbClr val="CC99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29729" name="Rectangle 97"/>
            <p:cNvSpPr>
              <a:spLocks noChangeArrowheads="1"/>
            </p:cNvSpPr>
            <p:nvPr/>
          </p:nvSpPr>
          <p:spPr bwMode="auto">
            <a:xfrm>
              <a:off x="2256" y="2640"/>
              <a:ext cx="336" cy="192"/>
            </a:xfrm>
            <a:prstGeom prst="rect">
              <a:avLst/>
            </a:prstGeom>
            <a:solidFill>
              <a:srgbClr val="CC99FF"/>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31</a:t>
              </a:r>
            </a:p>
          </p:txBody>
        </p:sp>
      </p:grpSp>
      <p:sp>
        <p:nvSpPr>
          <p:cNvPr id="2629730" name="Rectangle 98"/>
          <p:cNvSpPr>
            <a:spLocks noChangeArrowheads="1"/>
          </p:cNvSpPr>
          <p:nvPr/>
        </p:nvSpPr>
        <p:spPr bwMode="auto">
          <a:xfrm>
            <a:off x="5257800" y="762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29731" name="Rectangle 99"/>
          <p:cNvSpPr>
            <a:spLocks noChangeArrowheads="1"/>
          </p:cNvSpPr>
          <p:nvPr/>
        </p:nvSpPr>
        <p:spPr bwMode="auto">
          <a:xfrm>
            <a:off x="5334000" y="3048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29732" name="Freeform 100"/>
          <p:cNvSpPr>
            <a:spLocks/>
          </p:cNvSpPr>
          <p:nvPr/>
        </p:nvSpPr>
        <p:spPr bwMode="auto">
          <a:xfrm>
            <a:off x="4876800" y="2743200"/>
            <a:ext cx="1566863" cy="3886200"/>
          </a:xfrm>
          <a:custGeom>
            <a:avLst/>
            <a:gdLst>
              <a:gd name="T0" fmla="*/ 987 w 987"/>
              <a:gd name="T1" fmla="*/ 2430 h 2448"/>
              <a:gd name="T2" fmla="*/ 981 w 987"/>
              <a:gd name="T3" fmla="*/ 2448 h 2448"/>
              <a:gd name="T4" fmla="*/ 528 w 987"/>
              <a:gd name="T5" fmla="*/ 2448 h 2448"/>
              <a:gd name="T6" fmla="*/ 528 w 987"/>
              <a:gd name="T7" fmla="*/ 0 h 2448"/>
              <a:gd name="T8" fmla="*/ 0 w 987"/>
              <a:gd name="T9" fmla="*/ 0 h 2448"/>
            </a:gdLst>
            <a:ahLst/>
            <a:cxnLst>
              <a:cxn ang="0">
                <a:pos x="T0" y="T1"/>
              </a:cxn>
              <a:cxn ang="0">
                <a:pos x="T2" y="T3"/>
              </a:cxn>
              <a:cxn ang="0">
                <a:pos x="T4" y="T5"/>
              </a:cxn>
              <a:cxn ang="0">
                <a:pos x="T6" y="T7"/>
              </a:cxn>
              <a:cxn ang="0">
                <a:pos x="T8" y="T9"/>
              </a:cxn>
            </a:cxnLst>
            <a:rect l="0" t="0" r="r" b="b"/>
            <a:pathLst>
              <a:path w="987" h="2448">
                <a:moveTo>
                  <a:pt x="987" y="2430"/>
                </a:moveTo>
                <a:lnTo>
                  <a:pt x="981" y="2448"/>
                </a:lnTo>
                <a:lnTo>
                  <a:pt x="528" y="2448"/>
                </a:lnTo>
                <a:lnTo>
                  <a:pt x="528" y="0"/>
                </a:lnTo>
                <a:lnTo>
                  <a:pt x="0" y="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29733" name="Group 101"/>
          <p:cNvGrpSpPr>
            <a:grpSpLocks/>
          </p:cNvGrpSpPr>
          <p:nvPr/>
        </p:nvGrpSpPr>
        <p:grpSpPr bwMode="auto">
          <a:xfrm>
            <a:off x="6324600" y="3124200"/>
            <a:ext cx="2590800" cy="304800"/>
            <a:chOff x="2256" y="2640"/>
            <a:chExt cx="1632" cy="192"/>
          </a:xfrm>
        </p:grpSpPr>
        <p:sp>
          <p:nvSpPr>
            <p:cNvPr id="2629734" name="Rectangle 10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21</a:t>
              </a:r>
            </a:p>
          </p:txBody>
        </p:sp>
        <p:sp>
          <p:nvSpPr>
            <p:cNvPr id="2629735" name="Rectangle 103"/>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32</a:t>
              </a:r>
            </a:p>
          </p:txBody>
        </p:sp>
      </p:grpSp>
      <p:grpSp>
        <p:nvGrpSpPr>
          <p:cNvPr id="2629736" name="Group 104"/>
          <p:cNvGrpSpPr>
            <a:grpSpLocks/>
          </p:cNvGrpSpPr>
          <p:nvPr/>
        </p:nvGrpSpPr>
        <p:grpSpPr bwMode="auto">
          <a:xfrm>
            <a:off x="6324600" y="2819400"/>
            <a:ext cx="2590800" cy="304800"/>
            <a:chOff x="3984" y="1776"/>
            <a:chExt cx="1632" cy="192"/>
          </a:xfrm>
        </p:grpSpPr>
        <p:sp>
          <p:nvSpPr>
            <p:cNvPr id="2629737" name="Rectangle 105"/>
            <p:cNvSpPr>
              <a:spLocks noChangeArrowheads="1"/>
            </p:cNvSpPr>
            <p:nvPr/>
          </p:nvSpPr>
          <p:spPr bwMode="auto">
            <a:xfrm>
              <a:off x="4320" y="1776"/>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zh-CN" altLang="en-US" sz="2000" b="1">
                  <a:ea typeface="楷体_GB2312" pitchFamily="49" charset="-122"/>
                </a:rPr>
                <a:t>返回地址</a:t>
              </a:r>
            </a:p>
          </p:txBody>
        </p:sp>
        <p:sp>
          <p:nvSpPr>
            <p:cNvPr id="2629738" name="Rectangle 106"/>
            <p:cNvSpPr>
              <a:spLocks noChangeArrowheads="1"/>
            </p:cNvSpPr>
            <p:nvPr/>
          </p:nvSpPr>
          <p:spPr bwMode="auto">
            <a:xfrm>
              <a:off x="3984" y="1776"/>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33</a:t>
              </a:r>
            </a:p>
          </p:txBody>
        </p:sp>
      </p:grpSp>
      <p:grpSp>
        <p:nvGrpSpPr>
          <p:cNvPr id="2629739" name="Group 107"/>
          <p:cNvGrpSpPr>
            <a:grpSpLocks/>
          </p:cNvGrpSpPr>
          <p:nvPr/>
        </p:nvGrpSpPr>
        <p:grpSpPr bwMode="auto">
          <a:xfrm>
            <a:off x="6324600" y="2514600"/>
            <a:ext cx="2590800" cy="304800"/>
            <a:chOff x="2256" y="2640"/>
            <a:chExt cx="1632" cy="192"/>
          </a:xfrm>
        </p:grpSpPr>
        <p:sp>
          <p:nvSpPr>
            <p:cNvPr id="2629740" name="Rectangle 108"/>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0000FF"/>
                  </a:solidFill>
                  <a:ea typeface="楷体_GB2312" pitchFamily="49" charset="-122"/>
                </a:rPr>
                <a:t>27(</a:t>
              </a:r>
              <a:r>
                <a:rPr kumimoji="1" lang="zh-CN" altLang="en-US" sz="2000" b="1">
                  <a:solidFill>
                    <a:srgbClr val="0000FF"/>
                  </a:solidFill>
                  <a:ea typeface="楷体_GB2312" pitchFamily="49" charset="-122"/>
                </a:rPr>
                <a:t>全局</a:t>
              </a:r>
              <a:r>
                <a:rPr kumimoji="1" lang="en-US" altLang="zh-CN" sz="2000" b="1">
                  <a:solidFill>
                    <a:srgbClr val="0000FF"/>
                  </a:solidFill>
                  <a:ea typeface="楷体_GB2312" pitchFamily="49" charset="-122"/>
                </a:rPr>
                <a:t>display)</a:t>
              </a:r>
            </a:p>
          </p:txBody>
        </p:sp>
        <p:sp>
          <p:nvSpPr>
            <p:cNvPr id="2629741" name="Rectangle 109"/>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34</a:t>
              </a:r>
            </a:p>
          </p:txBody>
        </p:sp>
      </p:grpSp>
      <p:grpSp>
        <p:nvGrpSpPr>
          <p:cNvPr id="2629742" name="Group 110"/>
          <p:cNvGrpSpPr>
            <a:grpSpLocks/>
          </p:cNvGrpSpPr>
          <p:nvPr/>
        </p:nvGrpSpPr>
        <p:grpSpPr bwMode="auto">
          <a:xfrm>
            <a:off x="6324600" y="2209800"/>
            <a:ext cx="2590800" cy="304800"/>
            <a:chOff x="2256" y="2640"/>
            <a:chExt cx="1632" cy="192"/>
          </a:xfrm>
        </p:grpSpPr>
        <p:sp>
          <p:nvSpPr>
            <p:cNvPr id="2629743" name="Rectangle 111"/>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2(</a:t>
              </a:r>
              <a:r>
                <a:rPr kumimoji="1" lang="zh-CN" altLang="en-US" sz="2000" b="1">
                  <a:ea typeface="楷体_GB2312" pitchFamily="49" charset="-122"/>
                </a:rPr>
                <a:t>形参个数</a:t>
              </a:r>
              <a:r>
                <a:rPr kumimoji="1" lang="en-US" altLang="zh-CN" sz="2000" b="1">
                  <a:ea typeface="楷体_GB2312" pitchFamily="49" charset="-122"/>
                </a:rPr>
                <a:t>)</a:t>
              </a:r>
            </a:p>
          </p:txBody>
        </p:sp>
        <p:sp>
          <p:nvSpPr>
            <p:cNvPr id="2629744" name="Rectangle 112"/>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35</a:t>
              </a:r>
            </a:p>
          </p:txBody>
        </p:sp>
      </p:grpSp>
      <p:grpSp>
        <p:nvGrpSpPr>
          <p:cNvPr id="2629745" name="Group 113"/>
          <p:cNvGrpSpPr>
            <a:grpSpLocks/>
          </p:cNvGrpSpPr>
          <p:nvPr/>
        </p:nvGrpSpPr>
        <p:grpSpPr bwMode="auto">
          <a:xfrm>
            <a:off x="6324600" y="1905000"/>
            <a:ext cx="2590800" cy="304800"/>
            <a:chOff x="2256" y="2640"/>
            <a:chExt cx="1632" cy="192"/>
          </a:xfrm>
        </p:grpSpPr>
        <p:sp>
          <p:nvSpPr>
            <p:cNvPr id="2629746" name="Rectangle 114"/>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u(</a:t>
              </a:r>
              <a:r>
                <a:rPr kumimoji="1" lang="zh-CN" altLang="en-US" sz="2000" b="1">
                  <a:ea typeface="楷体_GB2312" pitchFamily="49" charset="-122"/>
                </a:rPr>
                <a:t>形参</a:t>
              </a:r>
              <a:r>
                <a:rPr kumimoji="1" lang="en-US" altLang="zh-CN" sz="2000" b="1">
                  <a:ea typeface="楷体_GB2312" pitchFamily="49" charset="-122"/>
                </a:rPr>
                <a:t>)</a:t>
              </a:r>
            </a:p>
          </p:txBody>
        </p:sp>
        <p:sp>
          <p:nvSpPr>
            <p:cNvPr id="2629747" name="Rectangle 115"/>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36</a:t>
              </a:r>
            </a:p>
          </p:txBody>
        </p:sp>
      </p:grpSp>
      <p:grpSp>
        <p:nvGrpSpPr>
          <p:cNvPr id="2629748" name="Group 116"/>
          <p:cNvGrpSpPr>
            <a:grpSpLocks/>
          </p:cNvGrpSpPr>
          <p:nvPr/>
        </p:nvGrpSpPr>
        <p:grpSpPr bwMode="auto">
          <a:xfrm>
            <a:off x="6324600" y="1600200"/>
            <a:ext cx="2590800" cy="304800"/>
            <a:chOff x="2256" y="2640"/>
            <a:chExt cx="1632" cy="192"/>
          </a:xfrm>
        </p:grpSpPr>
        <p:sp>
          <p:nvSpPr>
            <p:cNvPr id="2629749" name="Rectangle 117"/>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v(</a:t>
              </a:r>
              <a:r>
                <a:rPr kumimoji="1" lang="zh-CN" altLang="en-US" sz="2000" b="1">
                  <a:ea typeface="楷体_GB2312" pitchFamily="49" charset="-122"/>
                </a:rPr>
                <a:t>形参</a:t>
              </a:r>
              <a:r>
                <a:rPr kumimoji="1" lang="en-US" altLang="zh-CN" sz="2000" b="1">
                  <a:ea typeface="楷体_GB2312" pitchFamily="49" charset="-122"/>
                </a:rPr>
                <a:t>)</a:t>
              </a:r>
            </a:p>
          </p:txBody>
        </p:sp>
        <p:sp>
          <p:nvSpPr>
            <p:cNvPr id="2629750" name="Rectangle 118"/>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37</a:t>
              </a:r>
            </a:p>
          </p:txBody>
        </p:sp>
      </p:grpSp>
      <p:grpSp>
        <p:nvGrpSpPr>
          <p:cNvPr id="2629751" name="Group 119"/>
          <p:cNvGrpSpPr>
            <a:grpSpLocks/>
          </p:cNvGrpSpPr>
          <p:nvPr/>
        </p:nvGrpSpPr>
        <p:grpSpPr bwMode="auto">
          <a:xfrm>
            <a:off x="6324600" y="1295400"/>
            <a:ext cx="2590800" cy="304800"/>
            <a:chOff x="2256" y="2640"/>
            <a:chExt cx="1632" cy="192"/>
          </a:xfrm>
        </p:grpSpPr>
        <p:sp>
          <p:nvSpPr>
            <p:cNvPr id="2629752" name="Rectangle 120"/>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0</a:t>
              </a:r>
            </a:p>
          </p:txBody>
        </p:sp>
        <p:sp>
          <p:nvSpPr>
            <p:cNvPr id="2629753" name="Rectangle 121"/>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38</a:t>
              </a:r>
            </a:p>
          </p:txBody>
        </p:sp>
      </p:grpSp>
      <p:grpSp>
        <p:nvGrpSpPr>
          <p:cNvPr id="2629754" name="Group 122"/>
          <p:cNvGrpSpPr>
            <a:grpSpLocks/>
          </p:cNvGrpSpPr>
          <p:nvPr/>
        </p:nvGrpSpPr>
        <p:grpSpPr bwMode="auto">
          <a:xfrm>
            <a:off x="6324600" y="990600"/>
            <a:ext cx="2590800" cy="304800"/>
            <a:chOff x="2256" y="2640"/>
            <a:chExt cx="1632" cy="192"/>
          </a:xfrm>
        </p:grpSpPr>
        <p:sp>
          <p:nvSpPr>
            <p:cNvPr id="2629755" name="Rectangle 123"/>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13</a:t>
              </a:r>
            </a:p>
          </p:txBody>
        </p:sp>
        <p:sp>
          <p:nvSpPr>
            <p:cNvPr id="2629756" name="Rectangle 124"/>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39</a:t>
              </a:r>
            </a:p>
          </p:txBody>
        </p:sp>
      </p:grpSp>
      <p:grpSp>
        <p:nvGrpSpPr>
          <p:cNvPr id="2629757" name="Group 125"/>
          <p:cNvGrpSpPr>
            <a:grpSpLocks/>
          </p:cNvGrpSpPr>
          <p:nvPr/>
        </p:nvGrpSpPr>
        <p:grpSpPr bwMode="auto">
          <a:xfrm>
            <a:off x="6324600" y="685800"/>
            <a:ext cx="2590800" cy="304800"/>
            <a:chOff x="2256" y="2640"/>
            <a:chExt cx="1632" cy="192"/>
          </a:xfrm>
        </p:grpSpPr>
        <p:sp>
          <p:nvSpPr>
            <p:cNvPr id="2629758" name="Rectangle 12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32</a:t>
              </a:r>
            </a:p>
          </p:txBody>
        </p:sp>
        <p:sp>
          <p:nvSpPr>
            <p:cNvPr id="2629759" name="Rectangle 127"/>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solidFill>
                    <a:srgbClr val="FF3300"/>
                  </a:solidFill>
                  <a:ea typeface="楷体_GB2312" pitchFamily="49" charset="-122"/>
                </a:rPr>
                <a:t>40</a:t>
              </a:r>
            </a:p>
          </p:txBody>
        </p:sp>
      </p:grpSp>
      <p:grpSp>
        <p:nvGrpSpPr>
          <p:cNvPr id="2629760" name="Group 128"/>
          <p:cNvGrpSpPr>
            <a:grpSpLocks/>
          </p:cNvGrpSpPr>
          <p:nvPr/>
        </p:nvGrpSpPr>
        <p:grpSpPr bwMode="auto">
          <a:xfrm>
            <a:off x="6324600" y="381000"/>
            <a:ext cx="2590800" cy="304800"/>
            <a:chOff x="2256" y="2640"/>
            <a:chExt cx="1632" cy="192"/>
          </a:xfrm>
        </p:grpSpPr>
        <p:sp>
          <p:nvSpPr>
            <p:cNvPr id="2629761" name="Rectangle 12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c</a:t>
              </a:r>
            </a:p>
          </p:txBody>
        </p:sp>
        <p:sp>
          <p:nvSpPr>
            <p:cNvPr id="2629762" name="Rectangle 130"/>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41</a:t>
              </a:r>
            </a:p>
          </p:txBody>
        </p:sp>
      </p:grpSp>
      <p:grpSp>
        <p:nvGrpSpPr>
          <p:cNvPr id="2629763" name="Group 131"/>
          <p:cNvGrpSpPr>
            <a:grpSpLocks/>
          </p:cNvGrpSpPr>
          <p:nvPr/>
        </p:nvGrpSpPr>
        <p:grpSpPr bwMode="auto">
          <a:xfrm>
            <a:off x="6324600" y="76200"/>
            <a:ext cx="2590800" cy="304800"/>
            <a:chOff x="2256" y="2640"/>
            <a:chExt cx="1632" cy="192"/>
          </a:xfrm>
        </p:grpSpPr>
        <p:sp>
          <p:nvSpPr>
            <p:cNvPr id="2629764" name="Rectangle 13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d</a:t>
              </a:r>
            </a:p>
          </p:txBody>
        </p:sp>
        <p:sp>
          <p:nvSpPr>
            <p:cNvPr id="2629765" name="Rectangle 133"/>
            <p:cNvSpPr>
              <a:spLocks noChangeArrowheads="1"/>
            </p:cNvSpPr>
            <p:nvPr/>
          </p:nvSpPr>
          <p:spPr bwMode="auto">
            <a:xfrm>
              <a:off x="2256" y="2640"/>
              <a:ext cx="336" cy="192"/>
            </a:xfrm>
            <a:prstGeom prst="rect">
              <a:avLst/>
            </a:prstGeom>
            <a:solidFill>
              <a:srgbClr val="33CCCC"/>
            </a:solidFill>
            <a:ln>
              <a:noFill/>
            </a:ln>
            <a:effectLst/>
            <a:extLs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pPr algn="ctr"/>
              <a:r>
                <a:rPr kumimoji="1" lang="en-US" altLang="zh-CN" sz="2000" b="1">
                  <a:ea typeface="楷体_GB2312" pitchFamily="49" charset="-122"/>
                </a:rPr>
                <a:t>42</a:t>
              </a:r>
            </a:p>
          </p:txBody>
        </p:sp>
      </p:grpSp>
      <p:sp>
        <p:nvSpPr>
          <p:cNvPr id="2629766" name="Freeform 134"/>
          <p:cNvSpPr>
            <a:spLocks/>
          </p:cNvSpPr>
          <p:nvPr/>
        </p:nvSpPr>
        <p:spPr bwMode="auto">
          <a:xfrm>
            <a:off x="6096000" y="3352800"/>
            <a:ext cx="304800" cy="3200400"/>
          </a:xfrm>
          <a:custGeom>
            <a:avLst/>
            <a:gdLst>
              <a:gd name="T0" fmla="*/ 144 w 144"/>
              <a:gd name="T1" fmla="*/ 0 h 960"/>
              <a:gd name="T2" fmla="*/ 0 w 144"/>
              <a:gd name="T3" fmla="*/ 144 h 960"/>
              <a:gd name="T4" fmla="*/ 0 w 144"/>
              <a:gd name="T5" fmla="*/ 960 h 960"/>
              <a:gd name="T6" fmla="*/ 144 w 144"/>
              <a:gd name="T7" fmla="*/ 960 h 960"/>
            </a:gdLst>
            <a:ahLst/>
            <a:cxnLst>
              <a:cxn ang="0">
                <a:pos x="T0" y="T1"/>
              </a:cxn>
              <a:cxn ang="0">
                <a:pos x="T2" y="T3"/>
              </a:cxn>
              <a:cxn ang="0">
                <a:pos x="T4" y="T5"/>
              </a:cxn>
              <a:cxn ang="0">
                <a:pos x="T6" y="T7"/>
              </a:cxn>
            </a:cxnLst>
            <a:rect l="0" t="0" r="r" b="b"/>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14022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29665">
                                            <p:txEl>
                                              <p:charRg st="4294967295" end="4294967295"/>
                                            </p:txEl>
                                          </p:spTgt>
                                        </p:tgtEl>
                                        <p:attrNameLst>
                                          <p:attrName>style.visibility</p:attrName>
                                        </p:attrNameLst>
                                      </p:cBhvr>
                                      <p:to>
                                        <p:strVal val="visible"/>
                                      </p:to>
                                    </p:set>
                                    <p:animEffect transition="in" filter="fade">
                                      <p:cBhvr>
                                        <p:cTn id="7" dur="2000"/>
                                        <p:tgtEl>
                                          <p:spTgt spid="2629665">
                                            <p:txEl>
                                              <p:charRg st="4294967295" end="429496729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29733"/>
                                        </p:tgtEl>
                                        <p:attrNameLst>
                                          <p:attrName>style.visibility</p:attrName>
                                        </p:attrNameLst>
                                      </p:cBhvr>
                                      <p:to>
                                        <p:strVal val="visible"/>
                                      </p:to>
                                    </p:set>
                                    <p:animEffect transition="in" filter="wipe(down)">
                                      <p:cBhvr>
                                        <p:cTn id="12" dur="500"/>
                                        <p:tgtEl>
                                          <p:spTgt spid="2629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29736"/>
                                        </p:tgtEl>
                                        <p:attrNameLst>
                                          <p:attrName>style.visibility</p:attrName>
                                        </p:attrNameLst>
                                      </p:cBhvr>
                                      <p:to>
                                        <p:strVal val="visible"/>
                                      </p:to>
                                    </p:set>
                                    <p:animEffect transition="in" filter="wipe(down)">
                                      <p:cBhvr>
                                        <p:cTn id="17" dur="500"/>
                                        <p:tgtEl>
                                          <p:spTgt spid="26297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629739"/>
                                        </p:tgtEl>
                                        <p:attrNameLst>
                                          <p:attrName>style.visibility</p:attrName>
                                        </p:attrNameLst>
                                      </p:cBhvr>
                                      <p:to>
                                        <p:strVal val="visible"/>
                                      </p:to>
                                    </p:set>
                                    <p:animEffect transition="in" filter="wipe(down)">
                                      <p:cBhvr>
                                        <p:cTn id="22" dur="500"/>
                                        <p:tgtEl>
                                          <p:spTgt spid="26297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29742"/>
                                        </p:tgtEl>
                                        <p:attrNameLst>
                                          <p:attrName>style.visibility</p:attrName>
                                        </p:attrNameLst>
                                      </p:cBhvr>
                                      <p:to>
                                        <p:strVal val="visible"/>
                                      </p:to>
                                    </p:set>
                                    <p:animEffect transition="in" filter="wipe(down)">
                                      <p:cBhvr>
                                        <p:cTn id="27" dur="500"/>
                                        <p:tgtEl>
                                          <p:spTgt spid="26297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629745"/>
                                        </p:tgtEl>
                                        <p:attrNameLst>
                                          <p:attrName>style.visibility</p:attrName>
                                        </p:attrNameLst>
                                      </p:cBhvr>
                                      <p:to>
                                        <p:strVal val="visible"/>
                                      </p:to>
                                    </p:set>
                                    <p:animEffect transition="in" filter="wipe(down)">
                                      <p:cBhvr>
                                        <p:cTn id="32" dur="500"/>
                                        <p:tgtEl>
                                          <p:spTgt spid="26297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629748"/>
                                        </p:tgtEl>
                                        <p:attrNameLst>
                                          <p:attrName>style.visibility</p:attrName>
                                        </p:attrNameLst>
                                      </p:cBhvr>
                                      <p:to>
                                        <p:strVal val="visible"/>
                                      </p:to>
                                    </p:set>
                                    <p:animEffect transition="in" filter="wipe(down)">
                                      <p:cBhvr>
                                        <p:cTn id="37" dur="500"/>
                                        <p:tgtEl>
                                          <p:spTgt spid="26297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629751"/>
                                        </p:tgtEl>
                                        <p:attrNameLst>
                                          <p:attrName>style.visibility</p:attrName>
                                        </p:attrNameLst>
                                      </p:cBhvr>
                                      <p:to>
                                        <p:strVal val="visible"/>
                                      </p:to>
                                    </p:set>
                                    <p:animEffect transition="in" filter="wipe(down)">
                                      <p:cBhvr>
                                        <p:cTn id="42" dur="500"/>
                                        <p:tgtEl>
                                          <p:spTgt spid="26297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29754"/>
                                        </p:tgtEl>
                                        <p:attrNameLst>
                                          <p:attrName>style.visibility</p:attrName>
                                        </p:attrNameLst>
                                      </p:cBhvr>
                                      <p:to>
                                        <p:strVal val="visible"/>
                                      </p:to>
                                    </p:set>
                                    <p:animEffect transition="in" filter="wipe(down)">
                                      <p:cBhvr>
                                        <p:cTn id="47" dur="500"/>
                                        <p:tgtEl>
                                          <p:spTgt spid="262975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2629757"/>
                                        </p:tgtEl>
                                        <p:attrNameLst>
                                          <p:attrName>style.visibility</p:attrName>
                                        </p:attrNameLst>
                                      </p:cBhvr>
                                      <p:to>
                                        <p:strVal val="visible"/>
                                      </p:to>
                                    </p:set>
                                    <p:animEffect transition="in" filter="wipe(down)">
                                      <p:cBhvr>
                                        <p:cTn id="52" dur="500"/>
                                        <p:tgtEl>
                                          <p:spTgt spid="26297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2629760"/>
                                        </p:tgtEl>
                                        <p:attrNameLst>
                                          <p:attrName>style.visibility</p:attrName>
                                        </p:attrNameLst>
                                      </p:cBhvr>
                                      <p:to>
                                        <p:strVal val="visible"/>
                                      </p:to>
                                    </p:set>
                                    <p:animEffect transition="in" filter="wipe(down)">
                                      <p:cBhvr>
                                        <p:cTn id="57" dur="500"/>
                                        <p:tgtEl>
                                          <p:spTgt spid="262976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2629763"/>
                                        </p:tgtEl>
                                        <p:attrNameLst>
                                          <p:attrName>style.visibility</p:attrName>
                                        </p:attrNameLst>
                                      </p:cBhvr>
                                      <p:to>
                                        <p:strVal val="visible"/>
                                      </p:to>
                                    </p:set>
                                    <p:animEffect transition="in" filter="wipe(down)">
                                      <p:cBhvr>
                                        <p:cTn id="62" dur="500"/>
                                        <p:tgtEl>
                                          <p:spTgt spid="262976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629730"/>
                                        </p:tgtEl>
                                        <p:attrNameLst>
                                          <p:attrName>style.visibility</p:attrName>
                                        </p:attrNameLst>
                                      </p:cBhvr>
                                      <p:to>
                                        <p:strVal val="visible"/>
                                      </p:to>
                                    </p:set>
                                    <p:animEffect transition="in" filter="dissolve">
                                      <p:cBhvr>
                                        <p:cTn id="67" dur="500"/>
                                        <p:tgtEl>
                                          <p:spTgt spid="262973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629731"/>
                                        </p:tgtEl>
                                        <p:attrNameLst>
                                          <p:attrName>style.visibility</p:attrName>
                                        </p:attrNameLst>
                                      </p:cBhvr>
                                      <p:to>
                                        <p:strVal val="visible"/>
                                      </p:to>
                                    </p:set>
                                    <p:animEffect transition="in" filter="dissolve">
                                      <p:cBhvr>
                                        <p:cTn id="72" dur="500"/>
                                        <p:tgtEl>
                                          <p:spTgt spid="262973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2629766"/>
                                        </p:tgtEl>
                                        <p:attrNameLst>
                                          <p:attrName>style.visibility</p:attrName>
                                        </p:attrNameLst>
                                      </p:cBhvr>
                                      <p:to>
                                        <p:strVal val="visible"/>
                                      </p:to>
                                    </p:set>
                                    <p:animEffect transition="in" filter="wipe(up)">
                                      <p:cBhvr>
                                        <p:cTn id="77" dur="500"/>
                                        <p:tgtEl>
                                          <p:spTgt spid="2629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9665" grpId="0"/>
      <p:bldP spid="2629730" grpId="0" autoUpdateAnimBg="0"/>
      <p:bldP spid="2629731"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3"/>
          <p:cNvSpPr>
            <a:spLocks noGrp="1"/>
          </p:cNvSpPr>
          <p:nvPr>
            <p:ph type="dt" sz="half" idx="10"/>
          </p:nvPr>
        </p:nvSpPr>
        <p:spPr/>
        <p:txBody>
          <a:bodyPr/>
          <a:lstStyle/>
          <a:p>
            <a:fld id="{6360E215-2847-44D9-B81D-0B142C93A17D}" type="datetime1">
              <a:rPr lang="zh-CN" altLang="en-US"/>
              <a:pPr/>
              <a:t>2017/2/24</a:t>
            </a:fld>
            <a:endParaRPr lang="en-US" altLang="zh-CN"/>
          </a:p>
        </p:txBody>
      </p:sp>
      <p:sp>
        <p:nvSpPr>
          <p:cNvPr id="21" name="灯片编号占位符 5"/>
          <p:cNvSpPr>
            <a:spLocks noGrp="1"/>
          </p:cNvSpPr>
          <p:nvPr>
            <p:ph type="sldNum" sz="quarter" idx="12"/>
          </p:nvPr>
        </p:nvSpPr>
        <p:spPr/>
        <p:txBody>
          <a:bodyPr/>
          <a:lstStyle/>
          <a:p>
            <a:fld id="{A1F17CB1-0477-4A5C-A613-07461A8C4E7B}" type="slidenum">
              <a:rPr lang="en-US" altLang="zh-CN"/>
              <a:pPr/>
              <a:t>93</a:t>
            </a:fld>
            <a:endParaRPr lang="en-US" altLang="zh-CN"/>
          </a:p>
        </p:txBody>
      </p:sp>
      <p:sp>
        <p:nvSpPr>
          <p:cNvPr id="2630658" name="Rectangle 2"/>
          <p:cNvSpPr>
            <a:spLocks noGrp="1" noChangeArrowheads="1"/>
          </p:cNvSpPr>
          <p:nvPr>
            <p:ph type="title"/>
          </p:nvPr>
        </p:nvSpPr>
        <p:spPr>
          <a:xfrm>
            <a:off x="323850" y="357188"/>
            <a:ext cx="6696075" cy="768350"/>
          </a:xfrm>
        </p:spPr>
        <p:txBody>
          <a:bodyPr/>
          <a:lstStyle/>
          <a:p>
            <a:r>
              <a:rPr lang="zh-CN" altLang="en-US" sz="3600" b="1" noProof="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过程调用、</a:t>
            </a:r>
            <a:r>
              <a:rPr lang="zh-CN" altLang="zh-CN" sz="3600" b="1" noProof="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过程进入</a:t>
            </a:r>
            <a:r>
              <a:rPr lang="zh-CN" altLang="zh-CN" sz="36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、过程返回</a:t>
            </a:r>
            <a:endParaRPr lang="zh-CN" altLang="en-US" sz="36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30659" name="Rectangle 3"/>
          <p:cNvSpPr>
            <a:spLocks noGrp="1" noChangeArrowheads="1"/>
          </p:cNvSpPr>
          <p:nvPr>
            <p:ph type="body" idx="1"/>
          </p:nvPr>
        </p:nvSpPr>
        <p:spPr>
          <a:xfrm>
            <a:off x="107950" y="2017713"/>
            <a:ext cx="7772400" cy="4114800"/>
          </a:xfrm>
        </p:spPr>
        <p:txBody>
          <a:bodyPr/>
          <a:lstStyle/>
          <a:p>
            <a:pPr marL="609600" indent="-609600">
              <a:buFont typeface="Wingdings" panose="05000000000000000000" pitchFamily="2" charset="2"/>
              <a:buAutoNum type="arabicPeriod"/>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每个</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par T</a:t>
            </a:r>
            <a:r>
              <a:rPr lang="en-US" altLang="zh-CN" b="1" baseline="-25000" noProof="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(i=1,2,…n)</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可直接</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a:p>
            <a:pPr marL="609600" indent="-609600">
              <a:buFont typeface="Wingdings" panose="05000000000000000000" pitchFamily="2" charset="2"/>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翻译成如下指令:</a:t>
            </a:r>
          </a:p>
          <a:p>
            <a:pPr marL="609600" indent="-609600">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i+4)[TOP]:= T</a:t>
            </a:r>
            <a:r>
              <a:rPr lang="en-US" altLang="zh-CN" b="1" baseline="-25000" noProof="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传值)</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i+4)[TOP]:=addr(T</a:t>
            </a:r>
            <a:r>
              <a:rPr lang="en-US" altLang="zh-CN" b="1" baseline="-25000" noProof="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传地址)</a:t>
            </a:r>
            <a:endParaRPr lang="en-US" altLang="zh-CN" b="1">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30660" name="Rectangle 4"/>
          <p:cNvSpPr>
            <a:spLocks noChangeArrowheads="1"/>
          </p:cNvSpPr>
          <p:nvPr/>
        </p:nvSpPr>
        <p:spPr bwMode="auto">
          <a:xfrm>
            <a:off x="6956425" y="-26988"/>
            <a:ext cx="2133600" cy="5029201"/>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0661" name="Rectangle 5"/>
          <p:cNvSpPr>
            <a:spLocks noChangeArrowheads="1"/>
          </p:cNvSpPr>
          <p:nvPr/>
        </p:nvSpPr>
        <p:spPr bwMode="auto">
          <a:xfrm>
            <a:off x="6962775" y="2868613"/>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630662" name="Rectangle 6"/>
          <p:cNvSpPr>
            <a:spLocks noChangeArrowheads="1"/>
          </p:cNvSpPr>
          <p:nvPr/>
        </p:nvSpPr>
        <p:spPr bwMode="auto">
          <a:xfrm>
            <a:off x="6962775" y="3935413"/>
            <a:ext cx="2133600" cy="5207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630663" name="Rectangle 7"/>
          <p:cNvSpPr>
            <a:spLocks noChangeArrowheads="1"/>
          </p:cNvSpPr>
          <p:nvPr/>
        </p:nvSpPr>
        <p:spPr bwMode="auto">
          <a:xfrm>
            <a:off x="6956425" y="2335213"/>
            <a:ext cx="2133600"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形式单元</a:t>
            </a:r>
            <a:endParaRPr kumimoji="1" lang="zh-CN" altLang="zh-CN" sz="2800" b="1">
              <a:ea typeface="楷体_GB2312" pitchFamily="49" charset="-122"/>
            </a:endParaRPr>
          </a:p>
        </p:txBody>
      </p:sp>
      <p:sp>
        <p:nvSpPr>
          <p:cNvPr id="2630664" name="Rectangle 8"/>
          <p:cNvSpPr>
            <a:spLocks noChangeArrowheads="1"/>
          </p:cNvSpPr>
          <p:nvPr/>
        </p:nvSpPr>
        <p:spPr bwMode="auto">
          <a:xfrm>
            <a:off x="6956425" y="4763"/>
            <a:ext cx="2008188"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630665" name="Rectangle 9"/>
          <p:cNvSpPr>
            <a:spLocks noChangeArrowheads="1"/>
          </p:cNvSpPr>
          <p:nvPr/>
        </p:nvSpPr>
        <p:spPr bwMode="auto">
          <a:xfrm>
            <a:off x="6956425" y="517525"/>
            <a:ext cx="2008188"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630666" name="Rectangle 10"/>
          <p:cNvSpPr>
            <a:spLocks noChangeArrowheads="1"/>
          </p:cNvSpPr>
          <p:nvPr/>
        </p:nvSpPr>
        <p:spPr bwMode="auto">
          <a:xfrm>
            <a:off x="7019925" y="1062038"/>
            <a:ext cx="2008188"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630667" name="Rectangle 11"/>
          <p:cNvSpPr>
            <a:spLocks noChangeArrowheads="1"/>
          </p:cNvSpPr>
          <p:nvPr/>
        </p:nvSpPr>
        <p:spPr bwMode="auto">
          <a:xfrm>
            <a:off x="6962775" y="4457700"/>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老</a:t>
            </a:r>
            <a:r>
              <a:rPr kumimoji="1" lang="en-US" altLang="en-US" sz="2800" b="1">
                <a:ea typeface="楷体_GB2312" pitchFamily="49" charset="-122"/>
              </a:rPr>
              <a:t>SP</a:t>
            </a:r>
            <a:endParaRPr kumimoji="1" lang="en-US" altLang="zh-CN" sz="2800" b="1">
              <a:ea typeface="楷体_GB2312" pitchFamily="49" charset="-122"/>
            </a:endParaRPr>
          </a:p>
        </p:txBody>
      </p:sp>
      <p:sp>
        <p:nvSpPr>
          <p:cNvPr id="2630668" name="Rectangle 12"/>
          <p:cNvSpPr>
            <a:spLocks noChangeArrowheads="1"/>
          </p:cNvSpPr>
          <p:nvPr/>
        </p:nvSpPr>
        <p:spPr bwMode="auto">
          <a:xfrm>
            <a:off x="6956425" y="1801813"/>
            <a:ext cx="2133600"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Display </a:t>
            </a:r>
            <a:r>
              <a:rPr kumimoji="1" lang="zh-CN" altLang="zh-CN" sz="2800" b="1">
                <a:ea typeface="楷体_GB2312" pitchFamily="49" charset="-122"/>
              </a:rPr>
              <a:t>表</a:t>
            </a:r>
            <a:endParaRPr kumimoji="1" lang="zh-CN" altLang="en-US" sz="2800" b="1">
              <a:ea typeface="楷体_GB2312" pitchFamily="49" charset="-122"/>
            </a:endParaRPr>
          </a:p>
        </p:txBody>
      </p:sp>
      <p:sp>
        <p:nvSpPr>
          <p:cNvPr id="2630669" name="Rectangle 13"/>
          <p:cNvSpPr>
            <a:spLocks noChangeArrowheads="1"/>
          </p:cNvSpPr>
          <p:nvPr/>
        </p:nvSpPr>
        <p:spPr bwMode="auto">
          <a:xfrm>
            <a:off x="6962775" y="3402013"/>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全局</a:t>
            </a:r>
            <a:r>
              <a:rPr kumimoji="1" lang="en-US" altLang="en-US" sz="2800" b="1">
                <a:ea typeface="楷体_GB2312" pitchFamily="49" charset="-122"/>
              </a:rPr>
              <a:t>Di</a:t>
            </a:r>
            <a:r>
              <a:rPr kumimoji="1" lang="en-US" altLang="zh-CN" sz="2800" b="1">
                <a:ea typeface="楷体_GB2312" pitchFamily="49" charset="-122"/>
              </a:rPr>
              <a:t>s</a:t>
            </a:r>
            <a:r>
              <a:rPr kumimoji="1" lang="en-US" altLang="en-US" sz="2800" b="1">
                <a:ea typeface="楷体_GB2312" pitchFamily="49" charset="-122"/>
              </a:rPr>
              <a:t>play</a:t>
            </a:r>
            <a:endParaRPr kumimoji="1" lang="en-US" altLang="zh-CN" sz="2800" b="1">
              <a:ea typeface="楷体_GB2312" pitchFamily="49" charset="-122"/>
            </a:endParaRPr>
          </a:p>
        </p:txBody>
      </p:sp>
      <p:sp>
        <p:nvSpPr>
          <p:cNvPr id="2630670" name="Rectangle 14"/>
          <p:cNvSpPr>
            <a:spLocks noChangeArrowheads="1"/>
          </p:cNvSpPr>
          <p:nvPr/>
        </p:nvSpPr>
        <p:spPr bwMode="auto">
          <a:xfrm>
            <a:off x="5580063" y="494188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30671" name="Rectangle 15"/>
          <p:cNvSpPr>
            <a:spLocks noChangeArrowheads="1"/>
          </p:cNvSpPr>
          <p:nvPr/>
        </p:nvSpPr>
        <p:spPr bwMode="auto">
          <a:xfrm>
            <a:off x="5651500" y="558958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30672" name="Rectangle 16"/>
          <p:cNvSpPr>
            <a:spLocks noChangeArrowheads="1"/>
          </p:cNvSpPr>
          <p:nvPr/>
        </p:nvSpPr>
        <p:spPr bwMode="auto">
          <a:xfrm>
            <a:off x="6964363" y="4995863"/>
            <a:ext cx="2124075" cy="914400"/>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调用过程的</a:t>
            </a:r>
          </a:p>
          <a:p>
            <a:pPr algn="ctr"/>
            <a:r>
              <a:rPr kumimoji="1" lang="zh-CN" altLang="en-US" b="1">
                <a:ea typeface="楷体_GB2312" pitchFamily="49" charset="-122"/>
              </a:rPr>
              <a:t>活动记录</a:t>
            </a:r>
          </a:p>
        </p:txBody>
      </p:sp>
      <p:sp>
        <p:nvSpPr>
          <p:cNvPr id="2630673" name="Rectangle 17"/>
          <p:cNvSpPr>
            <a:spLocks noChangeArrowheads="1"/>
          </p:cNvSpPr>
          <p:nvPr/>
        </p:nvSpPr>
        <p:spPr bwMode="auto">
          <a:xfrm>
            <a:off x="6956425" y="5876925"/>
            <a:ext cx="2133600" cy="914400"/>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a:t>
            </a:r>
          </a:p>
        </p:txBody>
      </p:sp>
      <p:sp>
        <p:nvSpPr>
          <p:cNvPr id="2630674" name="Text Box 18"/>
          <p:cNvSpPr txBox="1">
            <a:spLocks noChangeArrowheads="1"/>
          </p:cNvSpPr>
          <p:nvPr/>
        </p:nvSpPr>
        <p:spPr bwMode="auto">
          <a:xfrm>
            <a:off x="7207250" y="2349500"/>
            <a:ext cx="1685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2800" b="1">
                <a:solidFill>
                  <a:schemeClr val="hlink"/>
                </a:solidFill>
                <a:ea typeface="楷体_GB2312" pitchFamily="49" charset="-122"/>
              </a:rPr>
              <a:t>形式单元</a:t>
            </a:r>
          </a:p>
        </p:txBody>
      </p:sp>
    </p:spTree>
    <p:extLst>
      <p:ext uri="{BB962C8B-B14F-4D97-AF65-F5344CB8AC3E}">
        <p14:creationId xmlns:p14="http://schemas.microsoft.com/office/powerpoint/2010/main" val="12685620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30670"/>
                                        </p:tgtEl>
                                        <p:attrNameLst>
                                          <p:attrName>style.visibility</p:attrName>
                                        </p:attrNameLst>
                                      </p:cBhvr>
                                      <p:to>
                                        <p:strVal val="visible"/>
                                      </p:to>
                                    </p:set>
                                    <p:animEffect transition="in" filter="dissolve">
                                      <p:cBhvr>
                                        <p:cTn id="7" dur="500"/>
                                        <p:tgtEl>
                                          <p:spTgt spid="26306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30671"/>
                                        </p:tgtEl>
                                        <p:attrNameLst>
                                          <p:attrName>style.visibility</p:attrName>
                                        </p:attrNameLst>
                                      </p:cBhvr>
                                      <p:to>
                                        <p:strVal val="visible"/>
                                      </p:to>
                                    </p:set>
                                    <p:animEffect transition="in" filter="dissolve">
                                      <p:cBhvr>
                                        <p:cTn id="12" dur="500"/>
                                        <p:tgtEl>
                                          <p:spTgt spid="26306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2630674"/>
                                        </p:tgtEl>
                                        <p:attrNameLst>
                                          <p:attrName>style.visibility</p:attrName>
                                        </p:attrNameLst>
                                      </p:cBhvr>
                                      <p:to>
                                        <p:strVal val="visible"/>
                                      </p:to>
                                    </p:set>
                                    <p:anim calcmode="lin" valueType="num">
                                      <p:cBhvr>
                                        <p:cTn id="17" dur="500" fill="hold"/>
                                        <p:tgtEl>
                                          <p:spTgt spid="2630674"/>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2630674"/>
                                        </p:tgtEl>
                                        <p:attrNameLst>
                                          <p:attrName>ppt_y</p:attrName>
                                        </p:attrNameLst>
                                      </p:cBhvr>
                                      <p:tavLst>
                                        <p:tav tm="0">
                                          <p:val>
                                            <p:strVal val="#ppt_y"/>
                                          </p:val>
                                        </p:tav>
                                        <p:tav tm="100000">
                                          <p:val>
                                            <p:strVal val="#ppt_y"/>
                                          </p:val>
                                        </p:tav>
                                      </p:tavLst>
                                    </p:anim>
                                    <p:anim calcmode="lin" valueType="num">
                                      <p:cBhvr>
                                        <p:cTn id="19" dur="500" fill="hold"/>
                                        <p:tgtEl>
                                          <p:spTgt spid="2630674"/>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2630674"/>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263067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25" dur="1000" fill="hold"/>
                                        <p:tgtEl>
                                          <p:spTgt spid="26306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0670" grpId="0" autoUpdateAnimBg="0"/>
      <p:bldP spid="2630671" grpId="0" autoUpdateAnimBg="0"/>
      <p:bldP spid="2630674" grpId="0"/>
      <p:bldP spid="2630674" grpId="1"/>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日期占位符 3"/>
          <p:cNvSpPr>
            <a:spLocks noGrp="1"/>
          </p:cNvSpPr>
          <p:nvPr>
            <p:ph type="dt" sz="half" idx="10"/>
          </p:nvPr>
        </p:nvSpPr>
        <p:spPr/>
        <p:txBody>
          <a:bodyPr/>
          <a:lstStyle/>
          <a:p>
            <a:fld id="{86DC5BCC-E720-4EB3-9815-37186B5BE3DE}" type="datetime1">
              <a:rPr lang="zh-CN" altLang="en-US"/>
              <a:pPr/>
              <a:t>2017/2/24</a:t>
            </a:fld>
            <a:endParaRPr lang="en-US" altLang="zh-CN"/>
          </a:p>
        </p:txBody>
      </p:sp>
      <p:sp>
        <p:nvSpPr>
          <p:cNvPr id="23" name="灯片编号占位符 5"/>
          <p:cNvSpPr>
            <a:spLocks noGrp="1"/>
          </p:cNvSpPr>
          <p:nvPr>
            <p:ph type="sldNum" sz="quarter" idx="12"/>
          </p:nvPr>
        </p:nvSpPr>
        <p:spPr/>
        <p:txBody>
          <a:bodyPr/>
          <a:lstStyle/>
          <a:p>
            <a:fld id="{0B23B56C-2ED0-4AEC-9404-AC7871F583EC}" type="slidenum">
              <a:rPr lang="en-US" altLang="zh-CN"/>
              <a:pPr/>
              <a:t>94</a:t>
            </a:fld>
            <a:endParaRPr lang="en-US" altLang="zh-CN"/>
          </a:p>
        </p:txBody>
      </p:sp>
      <p:sp>
        <p:nvSpPr>
          <p:cNvPr id="2631682" name="Rectangle 2"/>
          <p:cNvSpPr>
            <a:spLocks noChangeArrowheads="1"/>
          </p:cNvSpPr>
          <p:nvPr/>
        </p:nvSpPr>
        <p:spPr bwMode="auto">
          <a:xfrm>
            <a:off x="6956425" y="-26988"/>
            <a:ext cx="2133600" cy="5029201"/>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1683" name="Rectangle 3"/>
          <p:cNvSpPr>
            <a:spLocks noChangeArrowheads="1"/>
          </p:cNvSpPr>
          <p:nvPr/>
        </p:nvSpPr>
        <p:spPr bwMode="auto">
          <a:xfrm>
            <a:off x="6956425" y="2868613"/>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参数个数</a:t>
            </a:r>
          </a:p>
        </p:txBody>
      </p:sp>
      <p:sp>
        <p:nvSpPr>
          <p:cNvPr id="2631684" name="Rectangle 4"/>
          <p:cNvSpPr>
            <a:spLocks noChangeArrowheads="1"/>
          </p:cNvSpPr>
          <p:nvPr/>
        </p:nvSpPr>
        <p:spPr bwMode="auto">
          <a:xfrm>
            <a:off x="6956425" y="3935413"/>
            <a:ext cx="2133600" cy="5207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631685" name="Rectangle 5"/>
          <p:cNvSpPr>
            <a:spLocks noChangeArrowheads="1"/>
          </p:cNvSpPr>
          <p:nvPr/>
        </p:nvSpPr>
        <p:spPr bwMode="auto">
          <a:xfrm>
            <a:off x="6962775" y="2335213"/>
            <a:ext cx="2133600"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形式单元</a:t>
            </a:r>
            <a:endParaRPr kumimoji="1" lang="zh-CN" altLang="zh-CN" sz="2800" b="1">
              <a:solidFill>
                <a:srgbClr val="6600CC"/>
              </a:solidFill>
              <a:ea typeface="楷体_GB2312" pitchFamily="49" charset="-122"/>
            </a:endParaRPr>
          </a:p>
        </p:txBody>
      </p:sp>
      <p:sp>
        <p:nvSpPr>
          <p:cNvPr id="2631686" name="Rectangle 6"/>
          <p:cNvSpPr>
            <a:spLocks noChangeArrowheads="1"/>
          </p:cNvSpPr>
          <p:nvPr/>
        </p:nvSpPr>
        <p:spPr bwMode="auto">
          <a:xfrm>
            <a:off x="7019925" y="4763"/>
            <a:ext cx="2008188"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631687" name="Rectangle 7"/>
          <p:cNvSpPr>
            <a:spLocks noChangeArrowheads="1"/>
          </p:cNvSpPr>
          <p:nvPr/>
        </p:nvSpPr>
        <p:spPr bwMode="auto">
          <a:xfrm>
            <a:off x="6956425" y="517525"/>
            <a:ext cx="2008188"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631688" name="Rectangle 8"/>
          <p:cNvSpPr>
            <a:spLocks noChangeArrowheads="1"/>
          </p:cNvSpPr>
          <p:nvPr/>
        </p:nvSpPr>
        <p:spPr bwMode="auto">
          <a:xfrm>
            <a:off x="7019925" y="1062038"/>
            <a:ext cx="2008188"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631689" name="Rectangle 9"/>
          <p:cNvSpPr>
            <a:spLocks noChangeArrowheads="1"/>
          </p:cNvSpPr>
          <p:nvPr/>
        </p:nvSpPr>
        <p:spPr bwMode="auto">
          <a:xfrm>
            <a:off x="6956425" y="4457700"/>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老</a:t>
            </a:r>
            <a:r>
              <a:rPr kumimoji="1" lang="en-US" altLang="en-US" sz="2800" b="1">
                <a:ea typeface="楷体_GB2312" pitchFamily="49" charset="-122"/>
              </a:rPr>
              <a:t>SP</a:t>
            </a:r>
            <a:endParaRPr kumimoji="1" lang="en-US" altLang="zh-CN" sz="2800" b="1">
              <a:ea typeface="楷体_GB2312" pitchFamily="49" charset="-122"/>
            </a:endParaRPr>
          </a:p>
        </p:txBody>
      </p:sp>
      <p:sp>
        <p:nvSpPr>
          <p:cNvPr id="2631690" name="Rectangle 10"/>
          <p:cNvSpPr>
            <a:spLocks noChangeArrowheads="1"/>
          </p:cNvSpPr>
          <p:nvPr/>
        </p:nvSpPr>
        <p:spPr bwMode="auto">
          <a:xfrm>
            <a:off x="6961188" y="1801813"/>
            <a:ext cx="2133600"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Display </a:t>
            </a:r>
            <a:r>
              <a:rPr kumimoji="1" lang="zh-CN" altLang="zh-CN" sz="2800" b="1">
                <a:ea typeface="楷体_GB2312" pitchFamily="49" charset="-122"/>
              </a:rPr>
              <a:t>表</a:t>
            </a:r>
            <a:endParaRPr kumimoji="1" lang="zh-CN" altLang="en-US" sz="2800" b="1">
              <a:ea typeface="楷体_GB2312" pitchFamily="49" charset="-122"/>
            </a:endParaRPr>
          </a:p>
        </p:txBody>
      </p:sp>
      <p:sp>
        <p:nvSpPr>
          <p:cNvPr id="2631691" name="Rectangle 11"/>
          <p:cNvSpPr>
            <a:spLocks noChangeArrowheads="1"/>
          </p:cNvSpPr>
          <p:nvPr/>
        </p:nvSpPr>
        <p:spPr bwMode="auto">
          <a:xfrm>
            <a:off x="6956425" y="3402013"/>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全局</a:t>
            </a:r>
            <a:r>
              <a:rPr kumimoji="1" lang="en-US" altLang="en-US" sz="2800" b="1">
                <a:ea typeface="楷体_GB2312" pitchFamily="49" charset="-122"/>
              </a:rPr>
              <a:t>Di</a:t>
            </a:r>
            <a:r>
              <a:rPr kumimoji="1" lang="en-US" altLang="zh-CN" sz="2800" b="1">
                <a:ea typeface="楷体_GB2312" pitchFamily="49" charset="-122"/>
              </a:rPr>
              <a:t>s</a:t>
            </a:r>
            <a:r>
              <a:rPr kumimoji="1" lang="en-US" altLang="en-US" sz="2800" b="1">
                <a:ea typeface="楷体_GB2312" pitchFamily="49" charset="-122"/>
              </a:rPr>
              <a:t>play</a:t>
            </a:r>
            <a:endParaRPr kumimoji="1" lang="en-US" altLang="zh-CN" sz="2800" b="1">
              <a:ea typeface="楷体_GB2312" pitchFamily="49" charset="-122"/>
            </a:endParaRPr>
          </a:p>
        </p:txBody>
      </p:sp>
      <p:sp>
        <p:nvSpPr>
          <p:cNvPr id="2631692" name="Rectangle 12"/>
          <p:cNvSpPr>
            <a:spLocks noGrp="1" noChangeArrowheads="1"/>
          </p:cNvSpPr>
          <p:nvPr>
            <p:ph type="body" idx="1"/>
          </p:nvPr>
        </p:nvSpPr>
        <p:spPr>
          <a:xfrm>
            <a:off x="100013" y="1916113"/>
            <a:ext cx="6913562" cy="3997325"/>
          </a:xfrm>
        </p:spPr>
        <p:txBody>
          <a:bodyPr/>
          <a:lstStyle/>
          <a:p>
            <a:pPr>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2. </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call P，n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被翻译成:</a:t>
            </a:r>
          </a:p>
          <a:p>
            <a:pPr>
              <a:spcBef>
                <a:spcPct val="5000"/>
              </a:spcBef>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TOP]:=SP    </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保护现行</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SP)</a:t>
            </a:r>
          </a:p>
          <a:p>
            <a:pPr>
              <a:spcBef>
                <a:spcPct val="500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3[TOP]:=SP+d  </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传送现行</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地址)</a:t>
            </a:r>
          </a:p>
          <a:p>
            <a:pPr>
              <a:spcBef>
                <a:spcPct val="5000"/>
              </a:spcBef>
              <a:buFontTx/>
              <a:buNone/>
            </a:pP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TOP]:=n     </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传递参数个数)</a:t>
            </a:r>
          </a:p>
          <a:p>
            <a:pPr>
              <a:spcBef>
                <a:spcPct val="500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JSR           </a:t>
            </a:r>
            <a:r>
              <a:rPr lang="en-US" altLang="zh-CN" sz="2800"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noProof="1">
                <a:latin typeface="Times New Roman" panose="02020603050405020304" pitchFamily="18" charset="0"/>
                <a:ea typeface="华文新魏" panose="02010800040101010101" pitchFamily="2" charset="-122"/>
                <a:cs typeface="Times New Roman" panose="02020603050405020304" pitchFamily="18" charset="0"/>
              </a:rPr>
              <a:t>转子指令)</a:t>
            </a:r>
          </a:p>
        </p:txBody>
      </p:sp>
      <p:sp>
        <p:nvSpPr>
          <p:cNvPr id="2631693" name="Rectangle 13"/>
          <p:cNvSpPr>
            <a:spLocks noGrp="1" noChangeArrowheads="1"/>
          </p:cNvSpPr>
          <p:nvPr>
            <p:ph type="title"/>
          </p:nvPr>
        </p:nvSpPr>
        <p:spPr>
          <a:xfrm>
            <a:off x="323850" y="476250"/>
            <a:ext cx="6624638" cy="685800"/>
          </a:xfrm>
          <a:noFill/>
          <a:ln/>
        </p:spPr>
        <p:txBody>
          <a:bodyPr/>
          <a:lstStyle/>
          <a:p>
            <a:r>
              <a:rPr lang="zh-CN" altLang="en-US" sz="3600" b="1" noProof="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过程调用、过程进入、过程返回</a:t>
            </a:r>
            <a:endParaRPr lang="zh-CN" altLang="en-US" sz="36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31694" name="Rectangle 14"/>
          <p:cNvSpPr>
            <a:spLocks noChangeArrowheads="1"/>
          </p:cNvSpPr>
          <p:nvPr/>
        </p:nvSpPr>
        <p:spPr bwMode="auto">
          <a:xfrm>
            <a:off x="5553075" y="494188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31695" name="Rectangle 15"/>
          <p:cNvSpPr>
            <a:spLocks noChangeArrowheads="1"/>
          </p:cNvSpPr>
          <p:nvPr/>
        </p:nvSpPr>
        <p:spPr bwMode="auto">
          <a:xfrm>
            <a:off x="5651500" y="5589588"/>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31696" name="Rectangle 16"/>
          <p:cNvSpPr>
            <a:spLocks noChangeArrowheads="1"/>
          </p:cNvSpPr>
          <p:nvPr/>
        </p:nvSpPr>
        <p:spPr bwMode="auto">
          <a:xfrm>
            <a:off x="6962775" y="4995863"/>
            <a:ext cx="2124075" cy="914400"/>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调用过程的</a:t>
            </a:r>
          </a:p>
          <a:p>
            <a:pPr algn="ctr"/>
            <a:r>
              <a:rPr kumimoji="1" lang="zh-CN" altLang="en-US" b="1">
                <a:ea typeface="楷体_GB2312" pitchFamily="49" charset="-122"/>
              </a:rPr>
              <a:t>活动记录</a:t>
            </a:r>
          </a:p>
        </p:txBody>
      </p:sp>
      <p:sp>
        <p:nvSpPr>
          <p:cNvPr id="2631697" name="Rectangle 17"/>
          <p:cNvSpPr>
            <a:spLocks noChangeArrowheads="1"/>
          </p:cNvSpPr>
          <p:nvPr/>
        </p:nvSpPr>
        <p:spPr bwMode="auto">
          <a:xfrm>
            <a:off x="6962775" y="5876925"/>
            <a:ext cx="2124075" cy="914400"/>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a:t>
            </a:r>
          </a:p>
        </p:txBody>
      </p:sp>
      <p:sp>
        <p:nvSpPr>
          <p:cNvPr id="2631698" name="Text Box 18"/>
          <p:cNvSpPr txBox="1">
            <a:spLocks noChangeArrowheads="1"/>
          </p:cNvSpPr>
          <p:nvPr/>
        </p:nvSpPr>
        <p:spPr bwMode="auto">
          <a:xfrm>
            <a:off x="7545388" y="4465638"/>
            <a:ext cx="9572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2800" b="1">
                <a:solidFill>
                  <a:srgbClr val="6600CC"/>
                </a:solidFill>
                <a:ea typeface="楷体_GB2312" pitchFamily="49" charset="-122"/>
              </a:rPr>
              <a:t>老</a:t>
            </a:r>
            <a:r>
              <a:rPr kumimoji="1" lang="en-US" altLang="en-US" sz="2800" b="1">
                <a:solidFill>
                  <a:srgbClr val="6600CC"/>
                </a:solidFill>
                <a:ea typeface="楷体_GB2312" pitchFamily="49" charset="-122"/>
              </a:rPr>
              <a:t>SP</a:t>
            </a:r>
            <a:endParaRPr kumimoji="1" lang="en-US" altLang="zh-CN" sz="2800" b="1">
              <a:solidFill>
                <a:srgbClr val="6600CC"/>
              </a:solidFill>
              <a:ea typeface="楷体_GB2312" pitchFamily="49" charset="-122"/>
            </a:endParaRPr>
          </a:p>
        </p:txBody>
      </p:sp>
      <p:sp>
        <p:nvSpPr>
          <p:cNvPr id="2631699" name="Text Box 19"/>
          <p:cNvSpPr txBox="1">
            <a:spLocks noChangeArrowheads="1"/>
          </p:cNvSpPr>
          <p:nvPr/>
        </p:nvSpPr>
        <p:spPr bwMode="auto">
          <a:xfrm>
            <a:off x="6983413" y="3429000"/>
            <a:ext cx="204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solidFill>
                  <a:schemeClr val="hlink"/>
                </a:solidFill>
                <a:ea typeface="楷体_GB2312" pitchFamily="49" charset="-122"/>
              </a:rPr>
              <a:t>全局</a:t>
            </a:r>
            <a:r>
              <a:rPr kumimoji="1" lang="en-US" altLang="en-US" sz="2800" b="1">
                <a:solidFill>
                  <a:schemeClr val="hlink"/>
                </a:solidFill>
                <a:ea typeface="楷体_GB2312" pitchFamily="49" charset="-122"/>
              </a:rPr>
              <a:t>Di</a:t>
            </a:r>
            <a:r>
              <a:rPr kumimoji="1" lang="en-US" altLang="zh-CN" sz="2800" b="1">
                <a:solidFill>
                  <a:schemeClr val="hlink"/>
                </a:solidFill>
                <a:ea typeface="楷体_GB2312" pitchFamily="49" charset="-122"/>
              </a:rPr>
              <a:t>s</a:t>
            </a:r>
            <a:r>
              <a:rPr kumimoji="1" lang="en-US" altLang="en-US" sz="2800" b="1">
                <a:solidFill>
                  <a:schemeClr val="hlink"/>
                </a:solidFill>
                <a:ea typeface="楷体_GB2312" pitchFamily="49" charset="-122"/>
              </a:rPr>
              <a:t>play</a:t>
            </a:r>
            <a:endParaRPr kumimoji="1" lang="en-US" altLang="zh-CN" sz="2800" b="1">
              <a:solidFill>
                <a:schemeClr val="hlink"/>
              </a:solidFill>
              <a:ea typeface="楷体_GB2312" pitchFamily="49" charset="-122"/>
            </a:endParaRPr>
          </a:p>
        </p:txBody>
      </p:sp>
      <p:sp>
        <p:nvSpPr>
          <p:cNvPr id="2631700" name="Text Box 20"/>
          <p:cNvSpPr txBox="1">
            <a:spLocks noChangeArrowheads="1"/>
          </p:cNvSpPr>
          <p:nvPr/>
        </p:nvSpPr>
        <p:spPr bwMode="auto">
          <a:xfrm>
            <a:off x="7239000" y="2881313"/>
            <a:ext cx="1606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solidFill>
                  <a:schemeClr val="hlink"/>
                </a:solidFill>
                <a:ea typeface="楷体_GB2312" pitchFamily="49" charset="-122"/>
              </a:rPr>
              <a:t>参数个数</a:t>
            </a:r>
          </a:p>
        </p:txBody>
      </p:sp>
    </p:spTree>
    <p:extLst>
      <p:ext uri="{BB962C8B-B14F-4D97-AF65-F5344CB8AC3E}">
        <p14:creationId xmlns:p14="http://schemas.microsoft.com/office/powerpoint/2010/main" val="34982892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31693"/>
                                        </p:tgtEl>
                                        <p:attrNameLst>
                                          <p:attrName>style.visibility</p:attrName>
                                        </p:attrNameLst>
                                      </p:cBhvr>
                                      <p:to>
                                        <p:strVal val="visible"/>
                                      </p:to>
                                    </p:set>
                                    <p:animEffect transition="in" filter="fade">
                                      <p:cBhvr>
                                        <p:cTn id="7" dur="2000"/>
                                        <p:tgtEl>
                                          <p:spTgt spid="26316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31692">
                                            <p:txEl>
                                              <p:pRg st="0" end="0"/>
                                            </p:txEl>
                                          </p:spTgt>
                                        </p:tgtEl>
                                        <p:attrNameLst>
                                          <p:attrName>style.visibility</p:attrName>
                                        </p:attrNameLst>
                                      </p:cBhvr>
                                      <p:to>
                                        <p:strVal val="visible"/>
                                      </p:to>
                                    </p:set>
                                    <p:animEffect transition="in" filter="wipe(left)">
                                      <p:cBhvr>
                                        <p:cTn id="12" dur="500"/>
                                        <p:tgtEl>
                                          <p:spTgt spid="263169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31692">
                                            <p:txEl>
                                              <p:pRg st="1" end="1"/>
                                            </p:txEl>
                                          </p:spTgt>
                                        </p:tgtEl>
                                        <p:attrNameLst>
                                          <p:attrName>style.visibility</p:attrName>
                                        </p:attrNameLst>
                                      </p:cBhvr>
                                      <p:to>
                                        <p:strVal val="visible"/>
                                      </p:to>
                                    </p:set>
                                    <p:animEffect transition="in" filter="wipe(left)">
                                      <p:cBhvr>
                                        <p:cTn id="17" dur="500"/>
                                        <p:tgtEl>
                                          <p:spTgt spid="263169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1" presetClass="entr" presetSubtype="0" fill="hold" grpId="0" nodeType="clickEffect">
                                  <p:stCondLst>
                                    <p:cond delay="0"/>
                                  </p:stCondLst>
                                  <p:iterate type="lt">
                                    <p:tmPct val="10000"/>
                                  </p:iterate>
                                  <p:childTnLst>
                                    <p:set>
                                      <p:cBhvr>
                                        <p:cTn id="21" dur="1" fill="hold">
                                          <p:stCondLst>
                                            <p:cond delay="0"/>
                                          </p:stCondLst>
                                        </p:cTn>
                                        <p:tgtEl>
                                          <p:spTgt spid="2631698"/>
                                        </p:tgtEl>
                                        <p:attrNameLst>
                                          <p:attrName>style.visibility</p:attrName>
                                        </p:attrNameLst>
                                      </p:cBhvr>
                                      <p:to>
                                        <p:strVal val="visible"/>
                                      </p:to>
                                    </p:set>
                                    <p:anim calcmode="lin" valueType="num">
                                      <p:cBhvr>
                                        <p:cTn id="22" dur="500" fill="hold"/>
                                        <p:tgtEl>
                                          <p:spTgt spid="2631698"/>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2631698"/>
                                        </p:tgtEl>
                                        <p:attrNameLst>
                                          <p:attrName>ppt_y</p:attrName>
                                        </p:attrNameLst>
                                      </p:cBhvr>
                                      <p:tavLst>
                                        <p:tav tm="0">
                                          <p:val>
                                            <p:strVal val="#ppt_y"/>
                                          </p:val>
                                        </p:tav>
                                        <p:tav tm="100000">
                                          <p:val>
                                            <p:strVal val="#ppt_y"/>
                                          </p:val>
                                        </p:tav>
                                      </p:tavLst>
                                    </p:anim>
                                    <p:anim calcmode="lin" valueType="num">
                                      <p:cBhvr>
                                        <p:cTn id="24" dur="500" fill="hold"/>
                                        <p:tgtEl>
                                          <p:spTgt spid="2631698"/>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2631698"/>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26316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30" dur="1000" fill="hold"/>
                                        <p:tgtEl>
                                          <p:spTgt spid="2631698"/>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631692">
                                            <p:txEl>
                                              <p:pRg st="2" end="2"/>
                                            </p:txEl>
                                          </p:spTgt>
                                        </p:tgtEl>
                                        <p:attrNameLst>
                                          <p:attrName>style.visibility</p:attrName>
                                        </p:attrNameLst>
                                      </p:cBhvr>
                                      <p:to>
                                        <p:strVal val="visible"/>
                                      </p:to>
                                    </p:set>
                                    <p:animEffect transition="in" filter="wipe(left)">
                                      <p:cBhvr>
                                        <p:cTn id="35" dur="500"/>
                                        <p:tgtEl>
                                          <p:spTgt spid="2631692">
                                            <p:txEl>
                                              <p:pRg st="2" end="2"/>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1" presetClass="entr" presetSubtype="0" fill="hold" grpId="0" nodeType="clickEffect">
                                  <p:stCondLst>
                                    <p:cond delay="0"/>
                                  </p:stCondLst>
                                  <p:iterate type="lt">
                                    <p:tmPct val="10000"/>
                                  </p:iterate>
                                  <p:childTnLst>
                                    <p:set>
                                      <p:cBhvr>
                                        <p:cTn id="39" dur="1" fill="hold">
                                          <p:stCondLst>
                                            <p:cond delay="0"/>
                                          </p:stCondLst>
                                        </p:cTn>
                                        <p:tgtEl>
                                          <p:spTgt spid="2631699"/>
                                        </p:tgtEl>
                                        <p:attrNameLst>
                                          <p:attrName>style.visibility</p:attrName>
                                        </p:attrNameLst>
                                      </p:cBhvr>
                                      <p:to>
                                        <p:strVal val="visible"/>
                                      </p:to>
                                    </p:set>
                                    <p:anim calcmode="lin" valueType="num">
                                      <p:cBhvr>
                                        <p:cTn id="40" dur="500" fill="hold"/>
                                        <p:tgtEl>
                                          <p:spTgt spid="2631699"/>
                                        </p:tgtEl>
                                        <p:attrNameLst>
                                          <p:attrName>ppt_x</p:attrName>
                                        </p:attrNameLst>
                                      </p:cBhvr>
                                      <p:tavLst>
                                        <p:tav tm="0">
                                          <p:val>
                                            <p:strVal val="#ppt_x"/>
                                          </p:val>
                                        </p:tav>
                                        <p:tav tm="50000">
                                          <p:val>
                                            <p:strVal val="#ppt_x+.1"/>
                                          </p:val>
                                        </p:tav>
                                        <p:tav tm="100000">
                                          <p:val>
                                            <p:strVal val="#ppt_x"/>
                                          </p:val>
                                        </p:tav>
                                      </p:tavLst>
                                    </p:anim>
                                    <p:anim calcmode="lin" valueType="num">
                                      <p:cBhvr>
                                        <p:cTn id="41" dur="500" fill="hold"/>
                                        <p:tgtEl>
                                          <p:spTgt spid="2631699"/>
                                        </p:tgtEl>
                                        <p:attrNameLst>
                                          <p:attrName>ppt_y</p:attrName>
                                        </p:attrNameLst>
                                      </p:cBhvr>
                                      <p:tavLst>
                                        <p:tav tm="0">
                                          <p:val>
                                            <p:strVal val="#ppt_y"/>
                                          </p:val>
                                        </p:tav>
                                        <p:tav tm="100000">
                                          <p:val>
                                            <p:strVal val="#ppt_y"/>
                                          </p:val>
                                        </p:tav>
                                      </p:tavLst>
                                    </p:anim>
                                    <p:anim calcmode="lin" valueType="num">
                                      <p:cBhvr>
                                        <p:cTn id="42" dur="500" fill="hold"/>
                                        <p:tgtEl>
                                          <p:spTgt spid="2631699"/>
                                        </p:tgtEl>
                                        <p:attrNameLst>
                                          <p:attrName>ppt_h</p:attrName>
                                        </p:attrNameLst>
                                      </p:cBhvr>
                                      <p:tavLst>
                                        <p:tav tm="0">
                                          <p:val>
                                            <p:strVal val="#ppt_h/10"/>
                                          </p:val>
                                        </p:tav>
                                        <p:tav tm="50000">
                                          <p:val>
                                            <p:strVal val="#ppt_h+.01"/>
                                          </p:val>
                                        </p:tav>
                                        <p:tav tm="100000">
                                          <p:val>
                                            <p:strVal val="#ppt_h"/>
                                          </p:val>
                                        </p:tav>
                                      </p:tavLst>
                                    </p:anim>
                                    <p:anim calcmode="lin" valueType="num">
                                      <p:cBhvr>
                                        <p:cTn id="43" dur="500" fill="hold"/>
                                        <p:tgtEl>
                                          <p:spTgt spid="2631699"/>
                                        </p:tgtEl>
                                        <p:attrNameLst>
                                          <p:attrName>ppt_w</p:attrName>
                                        </p:attrNameLst>
                                      </p:cBhvr>
                                      <p:tavLst>
                                        <p:tav tm="0">
                                          <p:val>
                                            <p:strVal val="#ppt_w/10"/>
                                          </p:val>
                                        </p:tav>
                                        <p:tav tm="50000">
                                          <p:val>
                                            <p:strVal val="#ppt_w+.01"/>
                                          </p:val>
                                        </p:tav>
                                        <p:tav tm="100000">
                                          <p:val>
                                            <p:strVal val="#ppt_w"/>
                                          </p:val>
                                        </p:tav>
                                      </p:tavLst>
                                    </p:anim>
                                    <p:animEffect transition="in" filter="fade">
                                      <p:cBhvr>
                                        <p:cTn id="44" dur="500" tmFilter="0,0; .5, 1; 1, 1"/>
                                        <p:tgtEl>
                                          <p:spTgt spid="263169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48" dur="1000" fill="hold"/>
                                        <p:tgtEl>
                                          <p:spTgt spid="2631699"/>
                                        </p:tgtEl>
                                        <p:attrNameLst>
                                          <p:attrName>style.visibility</p:attrName>
                                        </p:attrNameLst>
                                      </p:cBhvr>
                                      <p:tavLst>
                                        <p:tav tm="0">
                                          <p:val>
                                            <p:strVal val="hidden"/>
                                          </p:val>
                                        </p:tav>
                                        <p:tav tm="50000">
                                          <p:val>
                                            <p:strVal val="visible"/>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631692">
                                            <p:txEl>
                                              <p:pRg st="3" end="3"/>
                                            </p:txEl>
                                          </p:spTgt>
                                        </p:tgtEl>
                                        <p:attrNameLst>
                                          <p:attrName>style.visibility</p:attrName>
                                        </p:attrNameLst>
                                      </p:cBhvr>
                                      <p:to>
                                        <p:strVal val="visible"/>
                                      </p:to>
                                    </p:set>
                                    <p:animEffect transition="in" filter="wipe(left)">
                                      <p:cBhvr>
                                        <p:cTn id="53" dur="500"/>
                                        <p:tgtEl>
                                          <p:spTgt spid="2631692">
                                            <p:txEl>
                                              <p:pRg st="3" end="3"/>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1" presetClass="entr" presetSubtype="0" fill="hold" grpId="0" nodeType="clickEffect">
                                  <p:stCondLst>
                                    <p:cond delay="0"/>
                                  </p:stCondLst>
                                  <p:iterate type="lt">
                                    <p:tmPct val="10000"/>
                                  </p:iterate>
                                  <p:childTnLst>
                                    <p:set>
                                      <p:cBhvr>
                                        <p:cTn id="57" dur="1" fill="hold">
                                          <p:stCondLst>
                                            <p:cond delay="0"/>
                                          </p:stCondLst>
                                        </p:cTn>
                                        <p:tgtEl>
                                          <p:spTgt spid="2631700"/>
                                        </p:tgtEl>
                                        <p:attrNameLst>
                                          <p:attrName>style.visibility</p:attrName>
                                        </p:attrNameLst>
                                      </p:cBhvr>
                                      <p:to>
                                        <p:strVal val="visible"/>
                                      </p:to>
                                    </p:set>
                                    <p:anim calcmode="lin" valueType="num">
                                      <p:cBhvr>
                                        <p:cTn id="58" dur="500" fill="hold"/>
                                        <p:tgtEl>
                                          <p:spTgt spid="2631700"/>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2631700"/>
                                        </p:tgtEl>
                                        <p:attrNameLst>
                                          <p:attrName>ppt_y</p:attrName>
                                        </p:attrNameLst>
                                      </p:cBhvr>
                                      <p:tavLst>
                                        <p:tav tm="0">
                                          <p:val>
                                            <p:strVal val="#ppt_y"/>
                                          </p:val>
                                        </p:tav>
                                        <p:tav tm="100000">
                                          <p:val>
                                            <p:strVal val="#ppt_y"/>
                                          </p:val>
                                        </p:tav>
                                      </p:tavLst>
                                    </p:anim>
                                    <p:anim calcmode="lin" valueType="num">
                                      <p:cBhvr>
                                        <p:cTn id="60" dur="500" fill="hold"/>
                                        <p:tgtEl>
                                          <p:spTgt spid="2631700"/>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2631700"/>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263170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66" dur="1000" fill="hold"/>
                                        <p:tgtEl>
                                          <p:spTgt spid="2631700"/>
                                        </p:tgtEl>
                                        <p:attrNameLst>
                                          <p:attrName>style.visibility</p:attrName>
                                        </p:attrNameLst>
                                      </p:cBhvr>
                                      <p:tavLst>
                                        <p:tav tm="0">
                                          <p:val>
                                            <p:strVal val="hidden"/>
                                          </p:val>
                                        </p:tav>
                                        <p:tav tm="50000">
                                          <p:val>
                                            <p:strVal val="visible"/>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631692">
                                            <p:txEl>
                                              <p:pRg st="4" end="4"/>
                                            </p:txEl>
                                          </p:spTgt>
                                        </p:tgtEl>
                                        <p:attrNameLst>
                                          <p:attrName>style.visibility</p:attrName>
                                        </p:attrNameLst>
                                      </p:cBhvr>
                                      <p:to>
                                        <p:strVal val="visible"/>
                                      </p:to>
                                    </p:set>
                                    <p:animEffect transition="in" filter="wipe(left)">
                                      <p:cBhvr>
                                        <p:cTn id="71" dur="500"/>
                                        <p:tgtEl>
                                          <p:spTgt spid="26316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692" grpId="0" build="p"/>
      <p:bldP spid="2631693" grpId="0"/>
      <p:bldP spid="2631698" grpId="0"/>
      <p:bldP spid="2631698" grpId="1"/>
      <p:bldP spid="2631699" grpId="0"/>
      <p:bldP spid="2631699" grpId="1"/>
      <p:bldP spid="2631700" grpId="0"/>
      <p:bldP spid="2631700" grpId="1"/>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half" idx="10"/>
          </p:nvPr>
        </p:nvSpPr>
        <p:spPr/>
        <p:txBody>
          <a:bodyPr/>
          <a:lstStyle/>
          <a:p>
            <a:fld id="{66C71949-013F-4B13-8CE2-A465DFB02181}" type="datetime1">
              <a:rPr lang="zh-CN" altLang="en-US"/>
              <a:pPr/>
              <a:t>2017/2/24</a:t>
            </a:fld>
            <a:endParaRPr lang="en-US" altLang="zh-CN"/>
          </a:p>
        </p:txBody>
      </p:sp>
      <p:sp>
        <p:nvSpPr>
          <p:cNvPr id="22" name="灯片编号占位符 5"/>
          <p:cNvSpPr>
            <a:spLocks noGrp="1"/>
          </p:cNvSpPr>
          <p:nvPr>
            <p:ph type="sldNum" sz="quarter" idx="12"/>
          </p:nvPr>
        </p:nvSpPr>
        <p:spPr/>
        <p:txBody>
          <a:bodyPr/>
          <a:lstStyle/>
          <a:p>
            <a:fld id="{56CFABBA-AC36-4E04-9974-174D17BD9341}" type="slidenum">
              <a:rPr lang="en-US" altLang="zh-CN"/>
              <a:pPr/>
              <a:t>95</a:t>
            </a:fld>
            <a:endParaRPr lang="en-US" altLang="zh-CN"/>
          </a:p>
        </p:txBody>
      </p:sp>
      <p:sp>
        <p:nvSpPr>
          <p:cNvPr id="2632706" name="Rectangle 2"/>
          <p:cNvSpPr>
            <a:spLocks noGrp="1" noChangeArrowheads="1"/>
          </p:cNvSpPr>
          <p:nvPr>
            <p:ph type="body" idx="1"/>
          </p:nvPr>
        </p:nvSpPr>
        <p:spPr>
          <a:xfrm>
            <a:off x="611188" y="1987550"/>
            <a:ext cx="5038725" cy="4321175"/>
          </a:xfrm>
        </p:spPr>
        <p:txBody>
          <a:bodyPr/>
          <a:lstStyle/>
          <a:p>
            <a:pPr>
              <a:lnSpc>
                <a:spcPct val="90000"/>
              </a:lnSpc>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3.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转进过程</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后，首先定义新的</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TOP，</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保存返回地址。</a:t>
            </a:r>
            <a:endParaRPr lang="zh-CN" altLang="en-US" b="1">
              <a:latin typeface="Times New Roman" panose="02020603050405020304" pitchFamily="18" charset="0"/>
              <a:ea typeface="华文新魏" panose="02010800040101010101" pitchFamily="2" charset="-122"/>
              <a:cs typeface="Times New Roman" panose="02020603050405020304" pitchFamily="18" charset="0"/>
            </a:endParaRPr>
          </a:p>
          <a:p>
            <a:pPr>
              <a:lnSpc>
                <a:spcPct val="90000"/>
              </a:lnSpc>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4. 根据</a:t>
            </a:r>
            <a:r>
              <a:rPr lang="en-US" altLang="en-US" b="1" noProof="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全局</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建立现行过程的</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从全局</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表中自底向上地取</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个单元，在添上进入</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后新建立的</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值就构成了</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p>
        </p:txBody>
      </p:sp>
      <p:sp>
        <p:nvSpPr>
          <p:cNvPr id="2632707" name="Rectangle 3"/>
          <p:cNvSpPr>
            <a:spLocks noChangeArrowheads="1"/>
          </p:cNvSpPr>
          <p:nvPr/>
        </p:nvSpPr>
        <p:spPr bwMode="auto">
          <a:xfrm>
            <a:off x="7019925" y="0"/>
            <a:ext cx="2071688" cy="50292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2708" name="Rectangle 4"/>
          <p:cNvSpPr>
            <a:spLocks noChangeArrowheads="1"/>
          </p:cNvSpPr>
          <p:nvPr/>
        </p:nvSpPr>
        <p:spPr bwMode="auto">
          <a:xfrm>
            <a:off x="7023100" y="2895600"/>
            <a:ext cx="2071688"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参数个数</a:t>
            </a:r>
          </a:p>
        </p:txBody>
      </p:sp>
      <p:sp>
        <p:nvSpPr>
          <p:cNvPr id="2632709" name="Rectangle 5"/>
          <p:cNvSpPr>
            <a:spLocks noChangeArrowheads="1"/>
          </p:cNvSpPr>
          <p:nvPr/>
        </p:nvSpPr>
        <p:spPr bwMode="auto">
          <a:xfrm>
            <a:off x="7019925" y="3962400"/>
            <a:ext cx="2071688" cy="5207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返回地址</a:t>
            </a:r>
          </a:p>
        </p:txBody>
      </p:sp>
      <p:sp>
        <p:nvSpPr>
          <p:cNvPr id="2632710" name="Rectangle 6"/>
          <p:cNvSpPr>
            <a:spLocks noChangeArrowheads="1"/>
          </p:cNvSpPr>
          <p:nvPr/>
        </p:nvSpPr>
        <p:spPr bwMode="auto">
          <a:xfrm>
            <a:off x="7023100" y="2362200"/>
            <a:ext cx="2071688"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形式单元</a:t>
            </a:r>
            <a:endParaRPr kumimoji="1" lang="zh-CN" altLang="zh-CN" sz="2800" b="1">
              <a:solidFill>
                <a:srgbClr val="6600CC"/>
              </a:solidFill>
              <a:ea typeface="楷体_GB2312" pitchFamily="49" charset="-122"/>
            </a:endParaRPr>
          </a:p>
        </p:txBody>
      </p:sp>
      <p:sp>
        <p:nvSpPr>
          <p:cNvPr id="2632711" name="Rectangle 7"/>
          <p:cNvSpPr>
            <a:spLocks noChangeArrowheads="1"/>
          </p:cNvSpPr>
          <p:nvPr/>
        </p:nvSpPr>
        <p:spPr bwMode="auto">
          <a:xfrm>
            <a:off x="6999288" y="76200"/>
            <a:ext cx="1979612"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632712" name="Rectangle 8"/>
          <p:cNvSpPr>
            <a:spLocks noChangeArrowheads="1"/>
          </p:cNvSpPr>
          <p:nvPr/>
        </p:nvSpPr>
        <p:spPr bwMode="auto">
          <a:xfrm>
            <a:off x="6999288" y="544513"/>
            <a:ext cx="1979612"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632713" name="Rectangle 9"/>
          <p:cNvSpPr>
            <a:spLocks noChangeArrowheads="1"/>
          </p:cNvSpPr>
          <p:nvPr/>
        </p:nvSpPr>
        <p:spPr bwMode="auto">
          <a:xfrm>
            <a:off x="6999288" y="1089025"/>
            <a:ext cx="1979612"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632714" name="Rectangle 10"/>
          <p:cNvSpPr>
            <a:spLocks noChangeArrowheads="1"/>
          </p:cNvSpPr>
          <p:nvPr/>
        </p:nvSpPr>
        <p:spPr bwMode="auto">
          <a:xfrm>
            <a:off x="7019925" y="4484688"/>
            <a:ext cx="2071688"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老</a:t>
            </a:r>
            <a:r>
              <a:rPr kumimoji="1" lang="en-US" altLang="en-US" sz="2800" b="1">
                <a:solidFill>
                  <a:srgbClr val="6600CC"/>
                </a:solidFill>
                <a:ea typeface="楷体_GB2312" pitchFamily="49" charset="-122"/>
              </a:rPr>
              <a:t>SP</a:t>
            </a:r>
            <a:endParaRPr kumimoji="1" lang="en-US" altLang="zh-CN" sz="2800" b="1">
              <a:solidFill>
                <a:srgbClr val="6600CC"/>
              </a:solidFill>
              <a:ea typeface="楷体_GB2312" pitchFamily="49" charset="-122"/>
            </a:endParaRPr>
          </a:p>
        </p:txBody>
      </p:sp>
      <p:sp>
        <p:nvSpPr>
          <p:cNvPr id="2632715" name="Rectangle 11"/>
          <p:cNvSpPr>
            <a:spLocks noChangeArrowheads="1"/>
          </p:cNvSpPr>
          <p:nvPr/>
        </p:nvSpPr>
        <p:spPr bwMode="auto">
          <a:xfrm>
            <a:off x="7019925" y="1828800"/>
            <a:ext cx="2071688"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ea typeface="楷体_GB2312" pitchFamily="49" charset="-122"/>
              </a:rPr>
              <a:t>Display </a:t>
            </a:r>
            <a:r>
              <a:rPr kumimoji="1" lang="zh-CN" altLang="zh-CN" sz="2800" b="1">
                <a:ea typeface="楷体_GB2312" pitchFamily="49" charset="-122"/>
              </a:rPr>
              <a:t>表</a:t>
            </a:r>
            <a:endParaRPr kumimoji="1" lang="zh-CN" altLang="en-US" sz="2800" b="1">
              <a:ea typeface="楷体_GB2312" pitchFamily="49" charset="-122"/>
            </a:endParaRPr>
          </a:p>
        </p:txBody>
      </p:sp>
      <p:sp>
        <p:nvSpPr>
          <p:cNvPr id="2632716" name="Rectangle 12"/>
          <p:cNvSpPr>
            <a:spLocks noChangeArrowheads="1"/>
          </p:cNvSpPr>
          <p:nvPr/>
        </p:nvSpPr>
        <p:spPr bwMode="auto">
          <a:xfrm>
            <a:off x="7019925" y="3429000"/>
            <a:ext cx="2071688"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全局</a:t>
            </a:r>
            <a:r>
              <a:rPr kumimoji="1" lang="en-US" altLang="en-US" sz="2800" b="1">
                <a:solidFill>
                  <a:srgbClr val="6600CC"/>
                </a:solidFill>
                <a:ea typeface="楷体_GB2312" pitchFamily="49" charset="-122"/>
              </a:rPr>
              <a:t>Di</a:t>
            </a:r>
            <a:r>
              <a:rPr kumimoji="1" lang="en-US" altLang="zh-CN" sz="2800" b="1">
                <a:solidFill>
                  <a:srgbClr val="6600CC"/>
                </a:solidFill>
                <a:ea typeface="楷体_GB2312" pitchFamily="49" charset="-122"/>
              </a:rPr>
              <a:t>s</a:t>
            </a:r>
            <a:r>
              <a:rPr kumimoji="1" lang="en-US" altLang="en-US" sz="2800" b="1">
                <a:solidFill>
                  <a:srgbClr val="6600CC"/>
                </a:solidFill>
                <a:ea typeface="楷体_GB2312" pitchFamily="49" charset="-122"/>
              </a:rPr>
              <a:t>play</a:t>
            </a:r>
            <a:endParaRPr kumimoji="1" lang="en-US" altLang="zh-CN" sz="2800" b="1">
              <a:solidFill>
                <a:srgbClr val="6600CC"/>
              </a:solidFill>
              <a:ea typeface="楷体_GB2312" pitchFamily="49" charset="-122"/>
            </a:endParaRPr>
          </a:p>
        </p:txBody>
      </p:sp>
      <p:sp>
        <p:nvSpPr>
          <p:cNvPr id="2632717" name="Rectangle 13"/>
          <p:cNvSpPr>
            <a:spLocks noChangeArrowheads="1"/>
          </p:cNvSpPr>
          <p:nvPr/>
        </p:nvSpPr>
        <p:spPr bwMode="auto">
          <a:xfrm>
            <a:off x="5867400" y="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32718" name="Rectangle 14"/>
          <p:cNvSpPr>
            <a:spLocks noChangeArrowheads="1"/>
          </p:cNvSpPr>
          <p:nvPr/>
        </p:nvSpPr>
        <p:spPr bwMode="auto">
          <a:xfrm>
            <a:off x="5867400" y="4797425"/>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32719" name="Rectangle 15"/>
          <p:cNvSpPr>
            <a:spLocks noChangeArrowheads="1"/>
          </p:cNvSpPr>
          <p:nvPr/>
        </p:nvSpPr>
        <p:spPr bwMode="auto">
          <a:xfrm>
            <a:off x="7019925" y="5067300"/>
            <a:ext cx="2124075" cy="914400"/>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调用过程的</a:t>
            </a:r>
          </a:p>
          <a:p>
            <a:pPr algn="ctr"/>
            <a:r>
              <a:rPr kumimoji="1" lang="zh-CN" altLang="en-US" b="1">
                <a:ea typeface="楷体_GB2312" pitchFamily="49" charset="-122"/>
              </a:rPr>
              <a:t>活动记录</a:t>
            </a:r>
          </a:p>
        </p:txBody>
      </p:sp>
      <p:sp>
        <p:nvSpPr>
          <p:cNvPr id="2632720" name="Rectangle 16"/>
          <p:cNvSpPr>
            <a:spLocks noChangeArrowheads="1"/>
          </p:cNvSpPr>
          <p:nvPr/>
        </p:nvSpPr>
        <p:spPr bwMode="auto">
          <a:xfrm>
            <a:off x="7019925" y="5948363"/>
            <a:ext cx="2124075" cy="914400"/>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a:t>
            </a:r>
          </a:p>
        </p:txBody>
      </p:sp>
      <p:sp>
        <p:nvSpPr>
          <p:cNvPr id="2632721" name="Text Box 17"/>
          <p:cNvSpPr txBox="1">
            <a:spLocks noChangeArrowheads="1"/>
          </p:cNvSpPr>
          <p:nvPr/>
        </p:nvSpPr>
        <p:spPr bwMode="auto">
          <a:xfrm>
            <a:off x="7289800" y="3962400"/>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solidFill>
                  <a:schemeClr val="hlink"/>
                </a:solidFill>
                <a:ea typeface="楷体_GB2312" pitchFamily="49" charset="-122"/>
              </a:rPr>
              <a:t>返回地址</a:t>
            </a:r>
          </a:p>
        </p:txBody>
      </p:sp>
      <p:sp>
        <p:nvSpPr>
          <p:cNvPr id="2632722" name="Text Box 18"/>
          <p:cNvSpPr txBox="1">
            <a:spLocks noChangeArrowheads="1"/>
          </p:cNvSpPr>
          <p:nvPr/>
        </p:nvSpPr>
        <p:spPr bwMode="auto">
          <a:xfrm>
            <a:off x="7188200" y="1830388"/>
            <a:ext cx="17764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800" b="1">
                <a:solidFill>
                  <a:schemeClr val="hlink"/>
                </a:solidFill>
                <a:ea typeface="楷体_GB2312" pitchFamily="49" charset="-122"/>
              </a:rPr>
              <a:t>Display </a:t>
            </a:r>
            <a:r>
              <a:rPr kumimoji="1" lang="zh-CN" altLang="zh-CN" sz="2800" b="1">
                <a:solidFill>
                  <a:schemeClr val="hlink"/>
                </a:solidFill>
                <a:ea typeface="楷体_GB2312" pitchFamily="49" charset="-122"/>
              </a:rPr>
              <a:t>表</a:t>
            </a:r>
            <a:endParaRPr kumimoji="1" lang="zh-CN" altLang="en-US" sz="2800" b="1">
              <a:solidFill>
                <a:schemeClr val="hlink"/>
              </a:solidFill>
              <a:ea typeface="楷体_GB2312" pitchFamily="49" charset="-122"/>
            </a:endParaRPr>
          </a:p>
        </p:txBody>
      </p:sp>
      <p:sp>
        <p:nvSpPr>
          <p:cNvPr id="2632723" name="Rectangle 19"/>
          <p:cNvSpPr>
            <a:spLocks noGrp="1" noChangeArrowheads="1"/>
          </p:cNvSpPr>
          <p:nvPr>
            <p:ph type="title"/>
          </p:nvPr>
        </p:nvSpPr>
        <p:spPr>
          <a:xfrm>
            <a:off x="323850" y="476250"/>
            <a:ext cx="6624638" cy="685800"/>
          </a:xfrm>
          <a:noFill/>
          <a:ln/>
        </p:spPr>
        <p:txBody>
          <a:bodyPr/>
          <a:lstStyle/>
          <a:p>
            <a:r>
              <a:rPr lang="zh-CN" altLang="en-US" sz="3600" b="1" noProof="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过程调用、过程进入、过程返回</a:t>
            </a:r>
            <a:endParaRPr lang="zh-CN" altLang="en-US" sz="36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1730911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2706">
                                            <p:txEl>
                                              <p:pRg st="0" end="0"/>
                                            </p:txEl>
                                          </p:spTgt>
                                        </p:tgtEl>
                                        <p:attrNameLst>
                                          <p:attrName>style.visibility</p:attrName>
                                        </p:attrNameLst>
                                      </p:cBhvr>
                                      <p:to>
                                        <p:strVal val="visible"/>
                                      </p:to>
                                    </p:set>
                                    <p:animEffect transition="in" filter="wipe(left)">
                                      <p:cBhvr>
                                        <p:cTn id="7" dur="500"/>
                                        <p:tgtEl>
                                          <p:spTgt spid="263270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32717"/>
                                        </p:tgtEl>
                                        <p:attrNameLst>
                                          <p:attrName>style.visibility</p:attrName>
                                        </p:attrNameLst>
                                      </p:cBhvr>
                                      <p:to>
                                        <p:strVal val="visible"/>
                                      </p:to>
                                    </p:set>
                                    <p:animEffect transition="in" filter="dissolve">
                                      <p:cBhvr>
                                        <p:cTn id="12" dur="500"/>
                                        <p:tgtEl>
                                          <p:spTgt spid="26327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32718"/>
                                        </p:tgtEl>
                                        <p:attrNameLst>
                                          <p:attrName>style.visibility</p:attrName>
                                        </p:attrNameLst>
                                      </p:cBhvr>
                                      <p:to>
                                        <p:strVal val="visible"/>
                                      </p:to>
                                    </p:set>
                                    <p:animEffect transition="in" filter="dissolve">
                                      <p:cBhvr>
                                        <p:cTn id="17" dur="500"/>
                                        <p:tgtEl>
                                          <p:spTgt spid="26327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1" presetClass="entr" presetSubtype="0" fill="hold" grpId="0" nodeType="clickEffect">
                                  <p:stCondLst>
                                    <p:cond delay="0"/>
                                  </p:stCondLst>
                                  <p:iterate type="lt">
                                    <p:tmPct val="10000"/>
                                  </p:iterate>
                                  <p:childTnLst>
                                    <p:set>
                                      <p:cBhvr>
                                        <p:cTn id="21" dur="1" fill="hold">
                                          <p:stCondLst>
                                            <p:cond delay="0"/>
                                          </p:stCondLst>
                                        </p:cTn>
                                        <p:tgtEl>
                                          <p:spTgt spid="2632721"/>
                                        </p:tgtEl>
                                        <p:attrNameLst>
                                          <p:attrName>style.visibility</p:attrName>
                                        </p:attrNameLst>
                                      </p:cBhvr>
                                      <p:to>
                                        <p:strVal val="visible"/>
                                      </p:to>
                                    </p:set>
                                    <p:anim calcmode="lin" valueType="num">
                                      <p:cBhvr>
                                        <p:cTn id="22" dur="500" fill="hold"/>
                                        <p:tgtEl>
                                          <p:spTgt spid="2632721"/>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2632721"/>
                                        </p:tgtEl>
                                        <p:attrNameLst>
                                          <p:attrName>ppt_y</p:attrName>
                                        </p:attrNameLst>
                                      </p:cBhvr>
                                      <p:tavLst>
                                        <p:tav tm="0">
                                          <p:val>
                                            <p:strVal val="#ppt_y"/>
                                          </p:val>
                                        </p:tav>
                                        <p:tav tm="100000">
                                          <p:val>
                                            <p:strVal val="#ppt_y"/>
                                          </p:val>
                                        </p:tav>
                                      </p:tavLst>
                                    </p:anim>
                                    <p:anim calcmode="lin" valueType="num">
                                      <p:cBhvr>
                                        <p:cTn id="24" dur="500" fill="hold"/>
                                        <p:tgtEl>
                                          <p:spTgt spid="2632721"/>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2632721"/>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263272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30" dur="1000" fill="hold"/>
                                        <p:tgtEl>
                                          <p:spTgt spid="2632721"/>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632706">
                                            <p:txEl>
                                              <p:pRg st="1" end="1"/>
                                            </p:txEl>
                                          </p:spTgt>
                                        </p:tgtEl>
                                        <p:attrNameLst>
                                          <p:attrName>style.visibility</p:attrName>
                                        </p:attrNameLst>
                                      </p:cBhvr>
                                      <p:to>
                                        <p:strVal val="visible"/>
                                      </p:to>
                                    </p:set>
                                    <p:animEffect transition="in" filter="wipe(left)">
                                      <p:cBhvr>
                                        <p:cTn id="35" dur="500"/>
                                        <p:tgtEl>
                                          <p:spTgt spid="2632706">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1" presetClass="entr" presetSubtype="0" fill="hold" grpId="0" nodeType="clickEffect">
                                  <p:stCondLst>
                                    <p:cond delay="0"/>
                                  </p:stCondLst>
                                  <p:iterate type="lt">
                                    <p:tmPct val="10000"/>
                                  </p:iterate>
                                  <p:childTnLst>
                                    <p:set>
                                      <p:cBhvr>
                                        <p:cTn id="39" dur="1" fill="hold">
                                          <p:stCondLst>
                                            <p:cond delay="0"/>
                                          </p:stCondLst>
                                        </p:cTn>
                                        <p:tgtEl>
                                          <p:spTgt spid="2632722"/>
                                        </p:tgtEl>
                                        <p:attrNameLst>
                                          <p:attrName>style.visibility</p:attrName>
                                        </p:attrNameLst>
                                      </p:cBhvr>
                                      <p:to>
                                        <p:strVal val="visible"/>
                                      </p:to>
                                    </p:set>
                                    <p:anim calcmode="lin" valueType="num">
                                      <p:cBhvr>
                                        <p:cTn id="40" dur="500" fill="hold"/>
                                        <p:tgtEl>
                                          <p:spTgt spid="2632722"/>
                                        </p:tgtEl>
                                        <p:attrNameLst>
                                          <p:attrName>ppt_x</p:attrName>
                                        </p:attrNameLst>
                                      </p:cBhvr>
                                      <p:tavLst>
                                        <p:tav tm="0">
                                          <p:val>
                                            <p:strVal val="#ppt_x"/>
                                          </p:val>
                                        </p:tav>
                                        <p:tav tm="50000">
                                          <p:val>
                                            <p:strVal val="#ppt_x+.1"/>
                                          </p:val>
                                        </p:tav>
                                        <p:tav tm="100000">
                                          <p:val>
                                            <p:strVal val="#ppt_x"/>
                                          </p:val>
                                        </p:tav>
                                      </p:tavLst>
                                    </p:anim>
                                    <p:anim calcmode="lin" valueType="num">
                                      <p:cBhvr>
                                        <p:cTn id="41" dur="500" fill="hold"/>
                                        <p:tgtEl>
                                          <p:spTgt spid="2632722"/>
                                        </p:tgtEl>
                                        <p:attrNameLst>
                                          <p:attrName>ppt_y</p:attrName>
                                        </p:attrNameLst>
                                      </p:cBhvr>
                                      <p:tavLst>
                                        <p:tav tm="0">
                                          <p:val>
                                            <p:strVal val="#ppt_y"/>
                                          </p:val>
                                        </p:tav>
                                        <p:tav tm="100000">
                                          <p:val>
                                            <p:strVal val="#ppt_y"/>
                                          </p:val>
                                        </p:tav>
                                      </p:tavLst>
                                    </p:anim>
                                    <p:anim calcmode="lin" valueType="num">
                                      <p:cBhvr>
                                        <p:cTn id="42" dur="500" fill="hold"/>
                                        <p:tgtEl>
                                          <p:spTgt spid="2632722"/>
                                        </p:tgtEl>
                                        <p:attrNameLst>
                                          <p:attrName>ppt_h</p:attrName>
                                        </p:attrNameLst>
                                      </p:cBhvr>
                                      <p:tavLst>
                                        <p:tav tm="0">
                                          <p:val>
                                            <p:strVal val="#ppt_h/10"/>
                                          </p:val>
                                        </p:tav>
                                        <p:tav tm="50000">
                                          <p:val>
                                            <p:strVal val="#ppt_h+.01"/>
                                          </p:val>
                                        </p:tav>
                                        <p:tav tm="100000">
                                          <p:val>
                                            <p:strVal val="#ppt_h"/>
                                          </p:val>
                                        </p:tav>
                                      </p:tavLst>
                                    </p:anim>
                                    <p:anim calcmode="lin" valueType="num">
                                      <p:cBhvr>
                                        <p:cTn id="43" dur="500" fill="hold"/>
                                        <p:tgtEl>
                                          <p:spTgt spid="2632722"/>
                                        </p:tgtEl>
                                        <p:attrNameLst>
                                          <p:attrName>ppt_w</p:attrName>
                                        </p:attrNameLst>
                                      </p:cBhvr>
                                      <p:tavLst>
                                        <p:tav tm="0">
                                          <p:val>
                                            <p:strVal val="#ppt_w/10"/>
                                          </p:val>
                                        </p:tav>
                                        <p:tav tm="50000">
                                          <p:val>
                                            <p:strVal val="#ppt_w+.01"/>
                                          </p:val>
                                        </p:tav>
                                        <p:tav tm="100000">
                                          <p:val>
                                            <p:strVal val="#ppt_w"/>
                                          </p:val>
                                        </p:tav>
                                      </p:tavLst>
                                    </p:anim>
                                    <p:animEffect transition="in" filter="fade">
                                      <p:cBhvr>
                                        <p:cTn id="44" dur="500" tmFilter="0,0; .5, 1; 1, 1"/>
                                        <p:tgtEl>
                                          <p:spTgt spid="263272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48" dur="1000" fill="hold"/>
                                        <p:tgtEl>
                                          <p:spTgt spid="2632722"/>
                                        </p:tgtEl>
                                        <p:attrNameLst>
                                          <p:attrName>style.visibility</p:attrName>
                                        </p:attrNameLst>
                                      </p:cBhvr>
                                      <p:tavLst>
                                        <p:tav tm="0">
                                          <p:val>
                                            <p:strVal val="hidden"/>
                                          </p:val>
                                        </p:tav>
                                        <p:tav tm="50000">
                                          <p:val>
                                            <p:strVal val="visible"/>
                                          </p:val>
                                        </p:tav>
                                      </p:tavLst>
                                    </p:anim>
                                  </p:childTnLst>
                                </p:cTn>
                              </p:par>
                              <p:par>
                                <p:cTn id="49" presetID="10" presetClass="entr" presetSubtype="0" fill="hold" grpId="0" nodeType="withEffect">
                                  <p:stCondLst>
                                    <p:cond delay="0"/>
                                  </p:stCondLst>
                                  <p:childTnLst>
                                    <p:set>
                                      <p:cBhvr>
                                        <p:cTn id="50" dur="1" fill="hold">
                                          <p:stCondLst>
                                            <p:cond delay="0"/>
                                          </p:stCondLst>
                                        </p:cTn>
                                        <p:tgtEl>
                                          <p:spTgt spid="2632723"/>
                                        </p:tgtEl>
                                        <p:attrNameLst>
                                          <p:attrName>style.visibility</p:attrName>
                                        </p:attrNameLst>
                                      </p:cBhvr>
                                      <p:to>
                                        <p:strVal val="visible"/>
                                      </p:to>
                                    </p:set>
                                    <p:animEffect transition="in" filter="fade">
                                      <p:cBhvr>
                                        <p:cTn id="51" dur="2000"/>
                                        <p:tgtEl>
                                          <p:spTgt spid="2632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2706" grpId="0" build="p"/>
      <p:bldP spid="2632717" grpId="0" autoUpdateAnimBg="0"/>
      <p:bldP spid="2632718" grpId="0" autoUpdateAnimBg="0"/>
      <p:bldP spid="2632721" grpId="0"/>
      <p:bldP spid="2632721" grpId="1"/>
      <p:bldP spid="2632722" grpId="0"/>
      <p:bldP spid="2632722" grpId="1"/>
      <p:bldP spid="2632723" grpId="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half" idx="10"/>
          </p:nvPr>
        </p:nvSpPr>
        <p:spPr/>
        <p:txBody>
          <a:bodyPr/>
          <a:lstStyle/>
          <a:p>
            <a:fld id="{B897339A-6623-441B-B504-9C87DA0471F6}" type="datetime1">
              <a:rPr lang="zh-CN" altLang="en-US"/>
              <a:pPr/>
              <a:t>2017/2/24</a:t>
            </a:fld>
            <a:endParaRPr lang="en-US" altLang="zh-CN"/>
          </a:p>
        </p:txBody>
      </p:sp>
      <p:sp>
        <p:nvSpPr>
          <p:cNvPr id="22" name="灯片编号占位符 5"/>
          <p:cNvSpPr>
            <a:spLocks noGrp="1"/>
          </p:cNvSpPr>
          <p:nvPr>
            <p:ph type="sldNum" sz="quarter" idx="12"/>
          </p:nvPr>
        </p:nvSpPr>
        <p:spPr/>
        <p:txBody>
          <a:bodyPr/>
          <a:lstStyle/>
          <a:p>
            <a:fld id="{DB8FD632-18BF-44E1-8076-1C25737BA394}" type="slidenum">
              <a:rPr lang="en-US" altLang="zh-CN"/>
              <a:pPr/>
              <a:t>96</a:t>
            </a:fld>
            <a:endParaRPr lang="en-US" altLang="zh-CN"/>
          </a:p>
        </p:txBody>
      </p:sp>
      <p:sp>
        <p:nvSpPr>
          <p:cNvPr id="2633730" name="Rectangle 2"/>
          <p:cNvSpPr>
            <a:spLocks noGrp="1" noChangeArrowheads="1"/>
          </p:cNvSpPr>
          <p:nvPr>
            <p:ph type="body" idx="1"/>
          </p:nvPr>
        </p:nvSpPr>
        <p:spPr>
          <a:xfrm>
            <a:off x="539750" y="2032000"/>
            <a:ext cx="6172200" cy="3052763"/>
          </a:xfrm>
        </p:spPr>
        <p:txBody>
          <a:bodyPr/>
          <a:lstStyle/>
          <a:p>
            <a:pPr>
              <a:lnSpc>
                <a:spcPct val="90000"/>
              </a:lnSpc>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5. </a:t>
            </a:r>
            <a:r>
              <a:rPr lang="zh-CN" altLang="en-US" b="1" noProof="1">
                <a:latin typeface="Times New Roman" panose="02020603050405020304" pitchFamily="18" charset="0"/>
                <a:ea typeface="华文新魏" panose="02010800040101010101" pitchFamily="2" charset="-122"/>
                <a:cs typeface="Times New Roman" panose="02020603050405020304" pitchFamily="18" charset="0"/>
              </a:rPr>
              <a:t>过程返回时，执行下述指令: </a:t>
            </a:r>
          </a:p>
          <a:p>
            <a:pPr>
              <a:lnSpc>
                <a:spcPct val="90000"/>
              </a:lnSpc>
              <a:spcBef>
                <a:spcPct val="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TOP:=SP-1</a:t>
            </a:r>
          </a:p>
          <a:p>
            <a:pPr>
              <a:lnSpc>
                <a:spcPct val="90000"/>
              </a:lnSpc>
              <a:spcBef>
                <a:spcPct val="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SP:=0[SP]</a:t>
            </a:r>
          </a:p>
          <a:p>
            <a:pPr>
              <a:lnSpc>
                <a:spcPct val="90000"/>
              </a:lnSpc>
              <a:spcBef>
                <a:spcPct val="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X:=2[TOP]</a:t>
            </a:r>
          </a:p>
          <a:p>
            <a:pPr>
              <a:lnSpc>
                <a:spcPct val="90000"/>
              </a:lnSpc>
              <a:spcBef>
                <a:spcPct val="0"/>
              </a:spcBef>
              <a:buFontTx/>
              <a:buNone/>
            </a:pPr>
            <a:r>
              <a:rPr lang="en-US" altLang="zh-CN" b="1" noProof="1">
                <a:latin typeface="Times New Roman" panose="02020603050405020304" pitchFamily="18" charset="0"/>
                <a:ea typeface="华文新魏" panose="02010800040101010101" pitchFamily="2" charset="-122"/>
                <a:cs typeface="Times New Roman" panose="02020603050405020304" pitchFamily="18" charset="0"/>
              </a:rPr>
              <a:t>	UJ 0[X]</a:t>
            </a:r>
            <a:endParaRPr lang="en-US" altLang="zh-CN" b="1">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33731" name="Rectangle 3"/>
          <p:cNvSpPr>
            <a:spLocks noChangeArrowheads="1"/>
          </p:cNvSpPr>
          <p:nvPr/>
        </p:nvSpPr>
        <p:spPr bwMode="auto">
          <a:xfrm>
            <a:off x="6961188" y="0"/>
            <a:ext cx="2133600" cy="50292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3732" name="Rectangle 4"/>
          <p:cNvSpPr>
            <a:spLocks noChangeArrowheads="1"/>
          </p:cNvSpPr>
          <p:nvPr/>
        </p:nvSpPr>
        <p:spPr bwMode="auto">
          <a:xfrm>
            <a:off x="6961188" y="2895600"/>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参数个数</a:t>
            </a:r>
          </a:p>
        </p:txBody>
      </p:sp>
      <p:sp>
        <p:nvSpPr>
          <p:cNvPr id="2633733" name="Rectangle 5"/>
          <p:cNvSpPr>
            <a:spLocks noChangeArrowheads="1"/>
          </p:cNvSpPr>
          <p:nvPr/>
        </p:nvSpPr>
        <p:spPr bwMode="auto">
          <a:xfrm>
            <a:off x="6961188" y="3962400"/>
            <a:ext cx="2133600" cy="5207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返回地址</a:t>
            </a:r>
          </a:p>
        </p:txBody>
      </p:sp>
      <p:sp>
        <p:nvSpPr>
          <p:cNvPr id="2633734" name="Rectangle 6"/>
          <p:cNvSpPr>
            <a:spLocks noChangeArrowheads="1"/>
          </p:cNvSpPr>
          <p:nvPr/>
        </p:nvSpPr>
        <p:spPr bwMode="auto">
          <a:xfrm>
            <a:off x="6961188" y="2362200"/>
            <a:ext cx="2133600"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形式单元</a:t>
            </a:r>
            <a:endParaRPr kumimoji="1" lang="zh-CN" altLang="zh-CN" sz="2800" b="1">
              <a:solidFill>
                <a:srgbClr val="6600CC"/>
              </a:solidFill>
              <a:ea typeface="楷体_GB2312" pitchFamily="49" charset="-122"/>
            </a:endParaRPr>
          </a:p>
        </p:txBody>
      </p:sp>
      <p:sp>
        <p:nvSpPr>
          <p:cNvPr id="2633735" name="Rectangle 7"/>
          <p:cNvSpPr>
            <a:spLocks noChangeArrowheads="1"/>
          </p:cNvSpPr>
          <p:nvPr/>
        </p:nvSpPr>
        <p:spPr bwMode="auto">
          <a:xfrm>
            <a:off x="6961188" y="76200"/>
            <a:ext cx="1979612"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临时单元</a:t>
            </a:r>
          </a:p>
        </p:txBody>
      </p:sp>
      <p:sp>
        <p:nvSpPr>
          <p:cNvPr id="2633736" name="Rectangle 8"/>
          <p:cNvSpPr>
            <a:spLocks noChangeArrowheads="1"/>
          </p:cNvSpPr>
          <p:nvPr/>
        </p:nvSpPr>
        <p:spPr bwMode="auto">
          <a:xfrm>
            <a:off x="6961188" y="544513"/>
            <a:ext cx="1979612" cy="544512"/>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内情向量</a:t>
            </a:r>
          </a:p>
        </p:txBody>
      </p:sp>
      <p:sp>
        <p:nvSpPr>
          <p:cNvPr id="2633737" name="Rectangle 9"/>
          <p:cNvSpPr>
            <a:spLocks noChangeArrowheads="1"/>
          </p:cNvSpPr>
          <p:nvPr/>
        </p:nvSpPr>
        <p:spPr bwMode="auto">
          <a:xfrm>
            <a:off x="6961188" y="1089025"/>
            <a:ext cx="1979612" cy="544513"/>
          </a:xfrm>
          <a:prstGeom prst="rect">
            <a:avLst/>
          </a:prstGeom>
          <a:solidFill>
            <a:srgbClr val="FFCC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ea typeface="楷体_GB2312" pitchFamily="49" charset="-122"/>
              </a:rPr>
              <a:t>局部变量</a:t>
            </a:r>
          </a:p>
        </p:txBody>
      </p:sp>
      <p:sp>
        <p:nvSpPr>
          <p:cNvPr id="2633738" name="Rectangle 10"/>
          <p:cNvSpPr>
            <a:spLocks noChangeArrowheads="1"/>
          </p:cNvSpPr>
          <p:nvPr/>
        </p:nvSpPr>
        <p:spPr bwMode="auto">
          <a:xfrm>
            <a:off x="6961188" y="4484688"/>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老</a:t>
            </a:r>
            <a:r>
              <a:rPr kumimoji="1" lang="en-US" altLang="en-US" sz="2800" b="1">
                <a:solidFill>
                  <a:srgbClr val="6600CC"/>
                </a:solidFill>
                <a:ea typeface="楷体_GB2312" pitchFamily="49" charset="-122"/>
              </a:rPr>
              <a:t>SP</a:t>
            </a:r>
            <a:endParaRPr kumimoji="1" lang="en-US" altLang="zh-CN" sz="2800" b="1">
              <a:solidFill>
                <a:srgbClr val="6600CC"/>
              </a:solidFill>
              <a:ea typeface="楷体_GB2312" pitchFamily="49" charset="-122"/>
            </a:endParaRPr>
          </a:p>
        </p:txBody>
      </p:sp>
      <p:sp>
        <p:nvSpPr>
          <p:cNvPr id="2633739" name="Rectangle 11"/>
          <p:cNvSpPr>
            <a:spLocks noChangeArrowheads="1"/>
          </p:cNvSpPr>
          <p:nvPr/>
        </p:nvSpPr>
        <p:spPr bwMode="auto">
          <a:xfrm>
            <a:off x="6961188" y="1828800"/>
            <a:ext cx="2133600" cy="533400"/>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b="1">
                <a:solidFill>
                  <a:srgbClr val="6600CC"/>
                </a:solidFill>
                <a:ea typeface="楷体_GB2312" pitchFamily="49" charset="-122"/>
              </a:rPr>
              <a:t>Display </a:t>
            </a:r>
            <a:r>
              <a:rPr kumimoji="1" lang="zh-CN" altLang="zh-CN" sz="2800" b="1">
                <a:solidFill>
                  <a:srgbClr val="6600CC"/>
                </a:solidFill>
                <a:ea typeface="楷体_GB2312" pitchFamily="49" charset="-122"/>
              </a:rPr>
              <a:t>表</a:t>
            </a:r>
            <a:endParaRPr kumimoji="1" lang="zh-CN" altLang="en-US" sz="2800" b="1">
              <a:solidFill>
                <a:srgbClr val="6600CC"/>
              </a:solidFill>
              <a:ea typeface="楷体_GB2312" pitchFamily="49" charset="-122"/>
            </a:endParaRPr>
          </a:p>
        </p:txBody>
      </p:sp>
      <p:sp>
        <p:nvSpPr>
          <p:cNvPr id="2633740" name="Rectangle 12"/>
          <p:cNvSpPr>
            <a:spLocks noChangeArrowheads="1"/>
          </p:cNvSpPr>
          <p:nvPr/>
        </p:nvSpPr>
        <p:spPr bwMode="auto">
          <a:xfrm>
            <a:off x="6961188" y="3429000"/>
            <a:ext cx="2133600" cy="542925"/>
          </a:xfrm>
          <a:prstGeom prst="rect">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solidFill>
                  <a:srgbClr val="6600CC"/>
                </a:solidFill>
                <a:ea typeface="楷体_GB2312" pitchFamily="49" charset="-122"/>
              </a:rPr>
              <a:t>全局</a:t>
            </a:r>
            <a:r>
              <a:rPr kumimoji="1" lang="en-US" altLang="en-US" sz="2800" b="1">
                <a:solidFill>
                  <a:srgbClr val="6600CC"/>
                </a:solidFill>
                <a:ea typeface="楷体_GB2312" pitchFamily="49" charset="-122"/>
              </a:rPr>
              <a:t>Di</a:t>
            </a:r>
            <a:r>
              <a:rPr kumimoji="1" lang="en-US" altLang="zh-CN" sz="2800" b="1">
                <a:solidFill>
                  <a:srgbClr val="6600CC"/>
                </a:solidFill>
                <a:ea typeface="楷体_GB2312" pitchFamily="49" charset="-122"/>
              </a:rPr>
              <a:t>s</a:t>
            </a:r>
            <a:r>
              <a:rPr kumimoji="1" lang="en-US" altLang="en-US" sz="2800" b="1">
                <a:solidFill>
                  <a:srgbClr val="6600CC"/>
                </a:solidFill>
                <a:ea typeface="楷体_GB2312" pitchFamily="49" charset="-122"/>
              </a:rPr>
              <a:t>play</a:t>
            </a:r>
            <a:endParaRPr kumimoji="1" lang="en-US" altLang="zh-CN" sz="2800" b="1">
              <a:solidFill>
                <a:srgbClr val="6600CC"/>
              </a:solidFill>
              <a:ea typeface="楷体_GB2312" pitchFamily="49" charset="-122"/>
            </a:endParaRPr>
          </a:p>
        </p:txBody>
      </p:sp>
      <p:sp>
        <p:nvSpPr>
          <p:cNvPr id="2633741" name="Rectangle 13"/>
          <p:cNvSpPr>
            <a:spLocks noChangeArrowheads="1"/>
          </p:cNvSpPr>
          <p:nvPr/>
        </p:nvSpPr>
        <p:spPr bwMode="auto">
          <a:xfrm>
            <a:off x="5867400" y="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33742" name="Rectangle 14"/>
          <p:cNvSpPr>
            <a:spLocks noChangeArrowheads="1"/>
          </p:cNvSpPr>
          <p:nvPr/>
        </p:nvSpPr>
        <p:spPr bwMode="auto">
          <a:xfrm>
            <a:off x="5867400" y="4797425"/>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33743" name="Rectangle 15"/>
          <p:cNvSpPr>
            <a:spLocks noChangeArrowheads="1"/>
          </p:cNvSpPr>
          <p:nvPr/>
        </p:nvSpPr>
        <p:spPr bwMode="auto">
          <a:xfrm>
            <a:off x="6961188" y="5067300"/>
            <a:ext cx="2124075" cy="914400"/>
          </a:xfrm>
          <a:prstGeom prst="rect">
            <a:avLst/>
          </a:prstGeom>
          <a:solidFill>
            <a:srgbClr val="99CC00"/>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b="1">
                <a:ea typeface="楷体_GB2312" pitchFamily="49" charset="-122"/>
              </a:rPr>
              <a:t>调用过程的</a:t>
            </a:r>
          </a:p>
          <a:p>
            <a:pPr algn="ctr"/>
            <a:r>
              <a:rPr kumimoji="1" lang="zh-CN" altLang="en-US" b="1">
                <a:ea typeface="楷体_GB2312" pitchFamily="49" charset="-122"/>
              </a:rPr>
              <a:t>活动记录</a:t>
            </a:r>
          </a:p>
        </p:txBody>
      </p:sp>
      <p:sp>
        <p:nvSpPr>
          <p:cNvPr id="2633744" name="Rectangle 16"/>
          <p:cNvSpPr>
            <a:spLocks noChangeArrowheads="1"/>
          </p:cNvSpPr>
          <p:nvPr/>
        </p:nvSpPr>
        <p:spPr bwMode="auto">
          <a:xfrm>
            <a:off x="6961188" y="5948363"/>
            <a:ext cx="2124075" cy="914400"/>
          </a:xfrm>
          <a:prstGeom prst="rect">
            <a:avLst/>
          </a:prstGeom>
          <a:solidFill>
            <a:srgbClr val="99CCFF"/>
          </a:solidFill>
          <a:ln w="12700">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a:t>
            </a:r>
          </a:p>
        </p:txBody>
      </p:sp>
      <p:sp>
        <p:nvSpPr>
          <p:cNvPr id="2633745" name="Rectangle 17"/>
          <p:cNvSpPr>
            <a:spLocks noChangeArrowheads="1"/>
          </p:cNvSpPr>
          <p:nvPr/>
        </p:nvSpPr>
        <p:spPr bwMode="auto">
          <a:xfrm>
            <a:off x="5867400" y="5084763"/>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TOP</a:t>
            </a:r>
            <a:r>
              <a:rPr kumimoji="1" lang="en-US" altLang="zh-CN" b="1">
                <a:ea typeface="楷体_GB2312" pitchFamily="49" charset="-122"/>
                <a:sym typeface="Symbol" panose="05050102010706020507" pitchFamily="18" charset="2"/>
              </a:rPr>
              <a:t></a:t>
            </a:r>
            <a:endParaRPr kumimoji="1" lang="en-US" altLang="zh-CN" b="1">
              <a:ea typeface="楷体_GB2312" pitchFamily="49" charset="-122"/>
            </a:endParaRPr>
          </a:p>
        </p:txBody>
      </p:sp>
      <p:sp>
        <p:nvSpPr>
          <p:cNvPr id="2633746" name="Rectangle 18"/>
          <p:cNvSpPr>
            <a:spLocks noChangeArrowheads="1"/>
          </p:cNvSpPr>
          <p:nvPr/>
        </p:nvSpPr>
        <p:spPr bwMode="auto">
          <a:xfrm>
            <a:off x="5795963" y="573405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ea typeface="楷体_GB2312" pitchFamily="49" charset="-122"/>
              </a:rPr>
              <a:t>SP </a:t>
            </a:r>
            <a:r>
              <a:rPr kumimoji="1" lang="en-US" altLang="zh-CN" b="1">
                <a:ea typeface="楷体_GB2312" pitchFamily="49" charset="-122"/>
                <a:sym typeface="Symbol" panose="05050102010706020507" pitchFamily="18" charset="2"/>
              </a:rPr>
              <a:t></a:t>
            </a:r>
          </a:p>
        </p:txBody>
      </p:sp>
      <p:sp>
        <p:nvSpPr>
          <p:cNvPr id="2633747" name="Rectangle 19"/>
          <p:cNvSpPr>
            <a:spLocks noGrp="1" noChangeArrowheads="1"/>
          </p:cNvSpPr>
          <p:nvPr>
            <p:ph type="title"/>
          </p:nvPr>
        </p:nvSpPr>
        <p:spPr>
          <a:xfrm>
            <a:off x="323850" y="476250"/>
            <a:ext cx="6624638" cy="685800"/>
          </a:xfrm>
          <a:noFill/>
          <a:ln/>
        </p:spPr>
        <p:txBody>
          <a:bodyPr/>
          <a:lstStyle/>
          <a:p>
            <a:r>
              <a:rPr lang="zh-CN" altLang="en-US" sz="3600" b="1" noProof="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过程调用、过程进入、过程返回</a:t>
            </a:r>
            <a:endParaRPr lang="zh-CN" altLang="en-US" sz="3600" b="1">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2645923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3730">
                                            <p:txEl>
                                              <p:pRg st="0" end="0"/>
                                            </p:txEl>
                                          </p:spTgt>
                                        </p:tgtEl>
                                        <p:attrNameLst>
                                          <p:attrName>style.visibility</p:attrName>
                                        </p:attrNameLst>
                                      </p:cBhvr>
                                      <p:to>
                                        <p:strVal val="visible"/>
                                      </p:to>
                                    </p:set>
                                    <p:animEffect transition="in" filter="wipe(left)">
                                      <p:cBhvr>
                                        <p:cTn id="7" dur="500"/>
                                        <p:tgtEl>
                                          <p:spTgt spid="26337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33730">
                                            <p:txEl>
                                              <p:pRg st="1" end="1"/>
                                            </p:txEl>
                                          </p:spTgt>
                                        </p:tgtEl>
                                        <p:attrNameLst>
                                          <p:attrName>style.visibility</p:attrName>
                                        </p:attrNameLst>
                                      </p:cBhvr>
                                      <p:to>
                                        <p:strVal val="visible"/>
                                      </p:to>
                                    </p:set>
                                    <p:animEffect transition="in" filter="wipe(left)">
                                      <p:cBhvr>
                                        <p:cTn id="12" dur="500"/>
                                        <p:tgtEl>
                                          <p:spTgt spid="26337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4" fill="hold" grpId="0" nodeType="clickEffect">
                                  <p:stCondLst>
                                    <p:cond delay="0"/>
                                  </p:stCondLst>
                                  <p:childTnLst>
                                    <p:animEffect transition="out" filter="wipe(down)">
                                      <p:cBhvr>
                                        <p:cTn id="16" dur="500"/>
                                        <p:tgtEl>
                                          <p:spTgt spid="2633741"/>
                                        </p:tgtEl>
                                      </p:cBhvr>
                                    </p:animEffect>
                                    <p:set>
                                      <p:cBhvr>
                                        <p:cTn id="17" dur="1" fill="hold">
                                          <p:stCondLst>
                                            <p:cond delay="499"/>
                                          </p:stCondLst>
                                        </p:cTn>
                                        <p:tgtEl>
                                          <p:spTgt spid="2633741"/>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0" presetClass="entr" presetSubtype="0" fill="hold" grpId="0" nodeType="clickEffect">
                                  <p:stCondLst>
                                    <p:cond delay="0"/>
                                  </p:stCondLst>
                                  <p:iterate type="lt">
                                    <p:tmPct val="10000"/>
                                  </p:iterate>
                                  <p:childTnLst>
                                    <p:set>
                                      <p:cBhvr>
                                        <p:cTn id="21" dur="1" fill="hold">
                                          <p:stCondLst>
                                            <p:cond delay="0"/>
                                          </p:stCondLst>
                                        </p:cTn>
                                        <p:tgtEl>
                                          <p:spTgt spid="2633745"/>
                                        </p:tgtEl>
                                        <p:attrNameLst>
                                          <p:attrName>style.visibility</p:attrName>
                                        </p:attrNameLst>
                                      </p:cBhvr>
                                      <p:to>
                                        <p:strVal val="visible"/>
                                      </p:to>
                                    </p:set>
                                    <p:animEffect transition="in" filter="fade">
                                      <p:cBhvr>
                                        <p:cTn id="22" dur="1000"/>
                                        <p:tgtEl>
                                          <p:spTgt spid="2633745"/>
                                        </p:tgtEl>
                                      </p:cBhvr>
                                    </p:animEffect>
                                    <p:anim calcmode="lin" valueType="num">
                                      <p:cBhvr>
                                        <p:cTn id="23" dur="1000" fill="hold"/>
                                        <p:tgtEl>
                                          <p:spTgt spid="2633745"/>
                                        </p:tgtEl>
                                        <p:attrNameLst>
                                          <p:attrName>ppt_x</p:attrName>
                                        </p:attrNameLst>
                                      </p:cBhvr>
                                      <p:tavLst>
                                        <p:tav tm="0">
                                          <p:val>
                                            <p:strVal val="#ppt_x-.1"/>
                                          </p:val>
                                        </p:tav>
                                        <p:tav tm="100000">
                                          <p:val>
                                            <p:strVal val="#ppt_x"/>
                                          </p:val>
                                        </p:tav>
                                      </p:tavLst>
                                    </p:anim>
                                    <p:anim calcmode="lin" valueType="num">
                                      <p:cBhvr>
                                        <p:cTn id="24" dur="1000" fill="hold"/>
                                        <p:tgtEl>
                                          <p:spTgt spid="263374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633730">
                                            <p:txEl>
                                              <p:pRg st="2" end="2"/>
                                            </p:txEl>
                                          </p:spTgt>
                                        </p:tgtEl>
                                        <p:attrNameLst>
                                          <p:attrName>style.visibility</p:attrName>
                                        </p:attrNameLst>
                                      </p:cBhvr>
                                      <p:to>
                                        <p:strVal val="visible"/>
                                      </p:to>
                                    </p:set>
                                    <p:animEffect transition="in" filter="wipe(left)">
                                      <p:cBhvr>
                                        <p:cTn id="29" dur="500"/>
                                        <p:tgtEl>
                                          <p:spTgt spid="2633730">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xit" presetSubtype="4" fill="hold" grpId="0" nodeType="clickEffect">
                                  <p:stCondLst>
                                    <p:cond delay="0"/>
                                  </p:stCondLst>
                                  <p:childTnLst>
                                    <p:animEffect transition="out" filter="wipe(down)">
                                      <p:cBhvr>
                                        <p:cTn id="33" dur="500"/>
                                        <p:tgtEl>
                                          <p:spTgt spid="2633742"/>
                                        </p:tgtEl>
                                      </p:cBhvr>
                                    </p:animEffect>
                                    <p:set>
                                      <p:cBhvr>
                                        <p:cTn id="34" dur="1" fill="hold">
                                          <p:stCondLst>
                                            <p:cond delay="499"/>
                                          </p:stCondLst>
                                        </p:cTn>
                                        <p:tgtEl>
                                          <p:spTgt spid="2633742"/>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40" presetClass="entr" presetSubtype="0" fill="hold" grpId="0" nodeType="clickEffect">
                                  <p:stCondLst>
                                    <p:cond delay="0"/>
                                  </p:stCondLst>
                                  <p:iterate type="lt">
                                    <p:tmPct val="10000"/>
                                  </p:iterate>
                                  <p:childTnLst>
                                    <p:set>
                                      <p:cBhvr>
                                        <p:cTn id="38" dur="1" fill="hold">
                                          <p:stCondLst>
                                            <p:cond delay="0"/>
                                          </p:stCondLst>
                                        </p:cTn>
                                        <p:tgtEl>
                                          <p:spTgt spid="2633746"/>
                                        </p:tgtEl>
                                        <p:attrNameLst>
                                          <p:attrName>style.visibility</p:attrName>
                                        </p:attrNameLst>
                                      </p:cBhvr>
                                      <p:to>
                                        <p:strVal val="visible"/>
                                      </p:to>
                                    </p:set>
                                    <p:animEffect transition="in" filter="fade">
                                      <p:cBhvr>
                                        <p:cTn id="39" dur="1000"/>
                                        <p:tgtEl>
                                          <p:spTgt spid="2633746"/>
                                        </p:tgtEl>
                                      </p:cBhvr>
                                    </p:animEffect>
                                    <p:anim calcmode="lin" valueType="num">
                                      <p:cBhvr>
                                        <p:cTn id="40" dur="1000" fill="hold"/>
                                        <p:tgtEl>
                                          <p:spTgt spid="2633746"/>
                                        </p:tgtEl>
                                        <p:attrNameLst>
                                          <p:attrName>ppt_x</p:attrName>
                                        </p:attrNameLst>
                                      </p:cBhvr>
                                      <p:tavLst>
                                        <p:tav tm="0">
                                          <p:val>
                                            <p:strVal val="#ppt_x-.1"/>
                                          </p:val>
                                        </p:tav>
                                        <p:tav tm="100000">
                                          <p:val>
                                            <p:strVal val="#ppt_x"/>
                                          </p:val>
                                        </p:tav>
                                      </p:tavLst>
                                    </p:anim>
                                    <p:anim calcmode="lin" valueType="num">
                                      <p:cBhvr>
                                        <p:cTn id="41" dur="1000" fill="hold"/>
                                        <p:tgtEl>
                                          <p:spTgt spid="2633746"/>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633730">
                                            <p:txEl>
                                              <p:pRg st="3" end="3"/>
                                            </p:txEl>
                                          </p:spTgt>
                                        </p:tgtEl>
                                        <p:attrNameLst>
                                          <p:attrName>style.visibility</p:attrName>
                                        </p:attrNameLst>
                                      </p:cBhvr>
                                      <p:to>
                                        <p:strVal val="visible"/>
                                      </p:to>
                                    </p:set>
                                    <p:animEffect transition="in" filter="wipe(left)">
                                      <p:cBhvr>
                                        <p:cTn id="46" dur="500"/>
                                        <p:tgtEl>
                                          <p:spTgt spid="2633730">
                                            <p:txEl>
                                              <p:pRg st="3" end="3"/>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633730">
                                            <p:txEl>
                                              <p:pRg st="4" end="4"/>
                                            </p:txEl>
                                          </p:spTgt>
                                        </p:tgtEl>
                                        <p:attrNameLst>
                                          <p:attrName>style.visibility</p:attrName>
                                        </p:attrNameLst>
                                      </p:cBhvr>
                                      <p:to>
                                        <p:strVal val="visible"/>
                                      </p:to>
                                    </p:set>
                                    <p:animEffect transition="in" filter="wipe(left)">
                                      <p:cBhvr>
                                        <p:cTn id="51" dur="500"/>
                                        <p:tgtEl>
                                          <p:spTgt spid="26337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3730" grpId="0" build="p"/>
      <p:bldP spid="2633741" grpId="0"/>
      <p:bldP spid="2633742" grpId="0"/>
      <p:bldP spid="2633745" grpId="0"/>
      <p:bldP spid="263374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ED7B3F4-F64B-4281-B159-D65FE31A2BE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7C19041-EDB8-47B4-ABC1-77456F7C6CA9}" type="slidenum">
              <a:rPr lang="en-US" altLang="zh-CN"/>
              <a:pPr/>
              <a:t>97</a:t>
            </a:fld>
            <a:endParaRPr lang="en-US" altLang="zh-CN"/>
          </a:p>
        </p:txBody>
      </p:sp>
      <p:sp>
        <p:nvSpPr>
          <p:cNvPr id="2634754" name="Rectangle 2"/>
          <p:cNvSpPr>
            <a:spLocks noGrp="1" noChangeArrowheads="1"/>
          </p:cNvSpPr>
          <p:nvPr>
            <p:ph type="title"/>
          </p:nvPr>
        </p:nvSpPr>
        <p:spPr>
          <a:xfrm>
            <a:off x="152400" y="165100"/>
            <a:ext cx="8839200" cy="9271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动态作用域的实现</a:t>
            </a:r>
          </a:p>
        </p:txBody>
      </p:sp>
      <p:sp>
        <p:nvSpPr>
          <p:cNvPr id="2634755" name="Rectangle 3"/>
          <p:cNvSpPr>
            <a:spLocks noChangeArrowheads="1"/>
          </p:cNvSpPr>
          <p:nvPr/>
        </p:nvSpPr>
        <p:spPr bwMode="auto">
          <a:xfrm>
            <a:off x="250825" y="1174750"/>
            <a:ext cx="8686800" cy="47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45000"/>
              </a:spcBef>
              <a:buClr>
                <a:schemeClr val="tx1"/>
              </a:buClr>
              <a:buSzPct val="65000"/>
              <a:buFont typeface="Wingdings" panose="05000000000000000000" pitchFamily="2" charset="2"/>
              <a:buChar char="l"/>
            </a:pPr>
            <a:r>
              <a:rPr lang="en-US" altLang="zh-CN" sz="3600" b="1">
                <a:ea typeface="楷体_GB2312" pitchFamily="49" charset="-122"/>
              </a:rPr>
              <a:t> </a:t>
            </a:r>
            <a:r>
              <a:rPr lang="zh-CN" altLang="en-US" sz="3600" b="1">
                <a:ea typeface="楷体_GB2312" pitchFamily="49" charset="-122"/>
              </a:rPr>
              <a:t>从技术上讲，如果作用域策略需要基于程序运行时才能知道的因素，则任何作用域策略都将是动态的。但“动态作用域”这个术语通常是指下面的策略：名字</a:t>
            </a:r>
            <a:r>
              <a:rPr lang="en-US" altLang="zh-CN" sz="3600" b="1" i="1">
                <a:ea typeface="楷体_GB2312" pitchFamily="49" charset="-122"/>
              </a:rPr>
              <a:t>x</a:t>
            </a:r>
            <a:r>
              <a:rPr lang="zh-CN" altLang="en-US" sz="3600" b="1">
                <a:ea typeface="楷体_GB2312" pitchFamily="49" charset="-122"/>
              </a:rPr>
              <a:t>的引用指向带有</a:t>
            </a:r>
            <a:r>
              <a:rPr lang="en-US" altLang="zh-CN" sz="3600" b="1" i="1">
                <a:ea typeface="楷体_GB2312" pitchFamily="49" charset="-122"/>
              </a:rPr>
              <a:t>x</a:t>
            </a:r>
            <a:r>
              <a:rPr lang="zh-CN" altLang="en-US" sz="3600" b="1">
                <a:ea typeface="楷体_GB2312" pitchFamily="49" charset="-122"/>
              </a:rPr>
              <a:t>声明的最近被调用的过程中</a:t>
            </a:r>
            <a:r>
              <a:rPr lang="en-US" altLang="zh-CN" sz="3600" b="1" i="1">
                <a:ea typeface="楷体_GB2312" pitchFamily="49" charset="-122"/>
              </a:rPr>
              <a:t>x</a:t>
            </a:r>
            <a:r>
              <a:rPr lang="zh-CN" altLang="en-US" sz="3600" b="1">
                <a:ea typeface="楷体_GB2312" pitchFamily="49" charset="-122"/>
              </a:rPr>
              <a:t>的这个声明。</a:t>
            </a:r>
          </a:p>
          <a:p>
            <a:pPr>
              <a:spcBef>
                <a:spcPct val="45000"/>
              </a:spcBef>
              <a:buClr>
                <a:schemeClr val="tx1"/>
              </a:buClr>
              <a:buSzPct val="65000"/>
              <a:buFont typeface="Wingdings" panose="05000000000000000000" pitchFamily="2" charset="2"/>
              <a:buChar char="l"/>
            </a:pPr>
            <a:r>
              <a:rPr lang="zh-CN" altLang="en-US" sz="3600" b="1">
                <a:ea typeface="楷体_GB2312" pitchFamily="49" charset="-122"/>
              </a:rPr>
              <a:t> 在某种意义上说，动态作用域规则相对于时间，而静态作用域规则相对于空间。</a:t>
            </a:r>
          </a:p>
        </p:txBody>
      </p:sp>
    </p:spTree>
    <p:extLst>
      <p:ext uri="{BB962C8B-B14F-4D97-AF65-F5344CB8AC3E}">
        <p14:creationId xmlns:p14="http://schemas.microsoft.com/office/powerpoint/2010/main" val="42327145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34755">
                                            <p:txEl>
                                              <p:pRg st="0" end="0"/>
                                            </p:txEl>
                                          </p:spTgt>
                                        </p:tgtEl>
                                        <p:attrNameLst>
                                          <p:attrName>style.visibility</p:attrName>
                                        </p:attrNameLst>
                                      </p:cBhvr>
                                      <p:to>
                                        <p:strVal val="visible"/>
                                      </p:to>
                                    </p:set>
                                    <p:animEffect transition="in" filter="blinds(horizontal)">
                                      <p:cBhvr>
                                        <p:cTn id="7" dur="500"/>
                                        <p:tgtEl>
                                          <p:spTgt spid="2634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34755">
                                            <p:txEl>
                                              <p:pRg st="1" end="1"/>
                                            </p:txEl>
                                          </p:spTgt>
                                        </p:tgtEl>
                                        <p:attrNameLst>
                                          <p:attrName>style.visibility</p:attrName>
                                        </p:attrNameLst>
                                      </p:cBhvr>
                                      <p:to>
                                        <p:strVal val="visible"/>
                                      </p:to>
                                    </p:set>
                                    <p:animEffect transition="in" filter="blinds(horizontal)">
                                      <p:cBhvr>
                                        <p:cTn id="12" dur="500"/>
                                        <p:tgtEl>
                                          <p:spTgt spid="26347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4755"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3A5E9CF3-A3B2-4BF9-8D5C-191FCD72FAA5}"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F009B674-712D-4A24-BC96-35B86A5CF22D}" type="slidenum">
              <a:rPr lang="en-US" altLang="zh-CN"/>
              <a:pPr/>
              <a:t>98</a:t>
            </a:fld>
            <a:endParaRPr lang="en-US" altLang="zh-CN"/>
          </a:p>
        </p:txBody>
      </p:sp>
      <p:sp>
        <p:nvSpPr>
          <p:cNvPr id="2636802" name="Rectangle 2"/>
          <p:cNvSpPr>
            <a:spLocks noGrp="1" noChangeArrowheads="1"/>
          </p:cNvSpPr>
          <p:nvPr>
            <p:ph type="title"/>
          </p:nvPr>
        </p:nvSpPr>
        <p:spPr>
          <a:xfrm>
            <a:off x="152400" y="188913"/>
            <a:ext cx="883920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a:t>
            </a:r>
          </a:p>
        </p:txBody>
      </p:sp>
      <p:sp>
        <p:nvSpPr>
          <p:cNvPr id="2636803" name="Rectangle 3"/>
          <p:cNvSpPr>
            <a:spLocks noChangeArrowheads="1"/>
          </p:cNvSpPr>
          <p:nvPr/>
        </p:nvSpPr>
        <p:spPr bwMode="auto">
          <a:xfrm>
            <a:off x="457200" y="1547813"/>
            <a:ext cx="8153400" cy="44878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a:ea typeface="华文新魏" panose="02010800040101010101" pitchFamily="2" charset="-122"/>
              </a:rPr>
              <a:t>	</a:t>
            </a:r>
            <a:r>
              <a:rPr lang="zh-CN" altLang="en-US" sz="3200">
                <a:ea typeface="华文新魏" panose="02010800040101010101" pitchFamily="2" charset="-122"/>
              </a:rPr>
              <a:t>程序运行时，一个名字</a:t>
            </a:r>
            <a:r>
              <a:rPr lang="en-US" altLang="zh-CN" sz="3200" i="1">
                <a:ea typeface="华文新魏" panose="02010800040101010101" pitchFamily="2" charset="-122"/>
              </a:rPr>
              <a:t>a</a:t>
            </a:r>
            <a:r>
              <a:rPr lang="zh-CN" altLang="en-US" sz="3200">
                <a:ea typeface="华文新魏" panose="02010800040101010101" pitchFamily="2" charset="-122"/>
              </a:rPr>
              <a:t>实施其影响，直到含</a:t>
            </a:r>
            <a:r>
              <a:rPr lang="en-US" altLang="zh-CN" sz="3200" i="1">
                <a:ea typeface="华文新魏" panose="02010800040101010101" pitchFamily="2" charset="-122"/>
              </a:rPr>
              <a:t>a</a:t>
            </a:r>
            <a:r>
              <a:rPr lang="zh-CN" altLang="en-US" sz="3200">
                <a:ea typeface="华文新魏" panose="02010800040101010101" pitchFamily="2" charset="-122"/>
              </a:rPr>
              <a:t>的声明的一个过程开始执行时暂停，此过程停止时，该影响恢复。</a:t>
            </a:r>
          </a:p>
          <a:p>
            <a:r>
              <a:rPr lang="zh-CN" altLang="en-US" sz="3200">
                <a:ea typeface="华文新魏" panose="02010800040101010101" pitchFamily="2" charset="-122"/>
              </a:rPr>
              <a:t>      设有下面的的调用序列：</a:t>
            </a:r>
          </a:p>
          <a:p>
            <a:endParaRPr lang="zh-CN" altLang="en-US" sz="3200">
              <a:ea typeface="华文新魏" panose="02010800040101010101" pitchFamily="2" charset="-122"/>
            </a:endParaRPr>
          </a:p>
          <a:p>
            <a:r>
              <a:rPr lang="zh-CN" altLang="en-US" sz="3200">
                <a:ea typeface="华文新魏" panose="02010800040101010101" pitchFamily="2" charset="-122"/>
              </a:rPr>
              <a:t>       </a:t>
            </a:r>
            <a:r>
              <a:rPr lang="en-US" altLang="en-US" sz="3200">
                <a:ea typeface="华文新魏" panose="02010800040101010101" pitchFamily="2" charset="-122"/>
              </a:rPr>
              <a:t>A </a:t>
            </a:r>
            <a:r>
              <a:rPr lang="en-US" altLang="en-US" sz="3200">
                <a:ea typeface="华文新魏" panose="02010800040101010101" pitchFamily="2" charset="-122"/>
                <a:sym typeface="Symbol" panose="05050102010706020507" pitchFamily="18" charset="2"/>
              </a:rPr>
              <a:t> B   C   P</a:t>
            </a:r>
          </a:p>
          <a:p>
            <a:endParaRPr lang="en-US" altLang="en-US" sz="3200">
              <a:ea typeface="华文新魏" panose="02010800040101010101" pitchFamily="2" charset="-122"/>
              <a:sym typeface="Symbol" panose="05050102010706020507" pitchFamily="18" charset="2"/>
            </a:endParaRPr>
          </a:p>
          <a:p>
            <a:r>
              <a:rPr lang="en-US" altLang="zh-CN" sz="3200">
                <a:ea typeface="华文新魏" panose="02010800040101010101" pitchFamily="2" charset="-122"/>
                <a:sym typeface="Symbol" panose="05050102010706020507" pitchFamily="18" charset="2"/>
              </a:rPr>
              <a:t>	</a:t>
            </a:r>
            <a:r>
              <a:rPr lang="zh-CN" altLang="zh-CN" sz="3200">
                <a:ea typeface="华文新魏" panose="02010800040101010101" pitchFamily="2" charset="-122"/>
                <a:sym typeface="Symbol" panose="05050102010706020507" pitchFamily="18" charset="2"/>
              </a:rPr>
              <a:t>过</a:t>
            </a:r>
            <a:r>
              <a:rPr lang="zh-CN" altLang="en-US" sz="3200">
                <a:ea typeface="华文新魏" panose="02010800040101010101" pitchFamily="2" charset="-122"/>
                <a:sym typeface="Symbol" panose="05050102010706020507" pitchFamily="18" charset="2"/>
              </a:rPr>
              <a:t>程</a:t>
            </a:r>
            <a:r>
              <a:rPr lang="en-US" altLang="en-US" sz="3200">
                <a:ea typeface="华文新魏" panose="02010800040101010101" pitchFamily="2" charset="-122"/>
                <a:sym typeface="Symbol" panose="05050102010706020507" pitchFamily="18" charset="2"/>
              </a:rPr>
              <a:t>P</a:t>
            </a:r>
            <a:r>
              <a:rPr lang="zh-CN" altLang="zh-CN" sz="3200">
                <a:ea typeface="华文新魏" panose="02010800040101010101" pitchFamily="2" charset="-122"/>
                <a:sym typeface="Symbol" panose="05050102010706020507" pitchFamily="18" charset="2"/>
              </a:rPr>
              <a:t>中</a:t>
            </a:r>
            <a:r>
              <a:rPr lang="zh-CN" altLang="en-US" sz="3200">
                <a:ea typeface="华文新魏" panose="02010800040101010101" pitchFamily="2" charset="-122"/>
                <a:sym typeface="Symbol" panose="05050102010706020507" pitchFamily="18" charset="2"/>
              </a:rPr>
              <a:t>有对</a:t>
            </a:r>
            <a:r>
              <a:rPr lang="en-US" altLang="zh-CN" sz="3200" i="1">
                <a:ea typeface="华文新魏" panose="02010800040101010101" pitchFamily="2" charset="-122"/>
                <a:sym typeface="Symbol" panose="05050102010706020507" pitchFamily="18" charset="2"/>
              </a:rPr>
              <a:t>x</a:t>
            </a:r>
            <a:r>
              <a:rPr lang="zh-CN" altLang="en-US" sz="3200">
                <a:ea typeface="华文新魏" panose="02010800040101010101" pitchFamily="2" charset="-122"/>
                <a:sym typeface="Symbol" panose="05050102010706020507" pitchFamily="18" charset="2"/>
              </a:rPr>
              <a:t>的非局部引用，沿动态链（红链）查找，最先找到的便是。</a:t>
            </a:r>
          </a:p>
        </p:txBody>
      </p:sp>
      <p:sp>
        <p:nvSpPr>
          <p:cNvPr id="2636804" name="Freeform 4"/>
          <p:cNvSpPr>
            <a:spLocks/>
          </p:cNvSpPr>
          <p:nvPr/>
        </p:nvSpPr>
        <p:spPr bwMode="auto">
          <a:xfrm>
            <a:off x="3324225" y="3894138"/>
            <a:ext cx="758825" cy="174625"/>
          </a:xfrm>
          <a:custGeom>
            <a:avLst/>
            <a:gdLst>
              <a:gd name="T0" fmla="*/ 478 w 478"/>
              <a:gd name="T1" fmla="*/ 86 h 110"/>
              <a:gd name="T2" fmla="*/ 270 w 478"/>
              <a:gd name="T3" fmla="*/ 0 h 110"/>
              <a:gd name="T4" fmla="*/ 86 w 478"/>
              <a:gd name="T5" fmla="*/ 37 h 110"/>
              <a:gd name="T6" fmla="*/ 61 w 478"/>
              <a:gd name="T7" fmla="*/ 61 h 110"/>
              <a:gd name="T8" fmla="*/ 0 w 478"/>
              <a:gd name="T9" fmla="*/ 110 h 110"/>
            </a:gdLst>
            <a:ahLst/>
            <a:cxnLst>
              <a:cxn ang="0">
                <a:pos x="T0" y="T1"/>
              </a:cxn>
              <a:cxn ang="0">
                <a:pos x="T2" y="T3"/>
              </a:cxn>
              <a:cxn ang="0">
                <a:pos x="T4" y="T5"/>
              </a:cxn>
              <a:cxn ang="0">
                <a:pos x="T6" y="T7"/>
              </a:cxn>
              <a:cxn ang="0">
                <a:pos x="T8" y="T9"/>
              </a:cxn>
            </a:cxnLst>
            <a:rect l="0" t="0" r="r" b="b"/>
            <a:pathLst>
              <a:path w="478" h="110">
                <a:moveTo>
                  <a:pt x="478" y="86"/>
                </a:moveTo>
                <a:cubicBezTo>
                  <a:pt x="418" y="26"/>
                  <a:pt x="350" y="13"/>
                  <a:pt x="270" y="0"/>
                </a:cubicBezTo>
                <a:cubicBezTo>
                  <a:pt x="191" y="9"/>
                  <a:pt x="154" y="15"/>
                  <a:pt x="86" y="37"/>
                </a:cubicBezTo>
                <a:cubicBezTo>
                  <a:pt x="78" y="45"/>
                  <a:pt x="71" y="55"/>
                  <a:pt x="61" y="61"/>
                </a:cubicBezTo>
                <a:cubicBezTo>
                  <a:pt x="38" y="75"/>
                  <a:pt x="0" y="73"/>
                  <a:pt x="0" y="110"/>
                </a:cubicBezTo>
              </a:path>
            </a:pathLst>
          </a:custGeom>
          <a:noFill/>
          <a:ln w="9525">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6805" name="Freeform 5"/>
          <p:cNvSpPr>
            <a:spLocks/>
          </p:cNvSpPr>
          <p:nvPr/>
        </p:nvSpPr>
        <p:spPr bwMode="auto">
          <a:xfrm>
            <a:off x="2373313" y="3886200"/>
            <a:ext cx="758825" cy="174625"/>
          </a:xfrm>
          <a:custGeom>
            <a:avLst/>
            <a:gdLst>
              <a:gd name="T0" fmla="*/ 478 w 478"/>
              <a:gd name="T1" fmla="*/ 86 h 110"/>
              <a:gd name="T2" fmla="*/ 270 w 478"/>
              <a:gd name="T3" fmla="*/ 0 h 110"/>
              <a:gd name="T4" fmla="*/ 86 w 478"/>
              <a:gd name="T5" fmla="*/ 37 h 110"/>
              <a:gd name="T6" fmla="*/ 61 w 478"/>
              <a:gd name="T7" fmla="*/ 61 h 110"/>
              <a:gd name="T8" fmla="*/ 0 w 478"/>
              <a:gd name="T9" fmla="*/ 110 h 110"/>
            </a:gdLst>
            <a:ahLst/>
            <a:cxnLst>
              <a:cxn ang="0">
                <a:pos x="T0" y="T1"/>
              </a:cxn>
              <a:cxn ang="0">
                <a:pos x="T2" y="T3"/>
              </a:cxn>
              <a:cxn ang="0">
                <a:pos x="T4" y="T5"/>
              </a:cxn>
              <a:cxn ang="0">
                <a:pos x="T6" y="T7"/>
              </a:cxn>
              <a:cxn ang="0">
                <a:pos x="T8" y="T9"/>
              </a:cxn>
            </a:cxnLst>
            <a:rect l="0" t="0" r="r" b="b"/>
            <a:pathLst>
              <a:path w="478" h="110">
                <a:moveTo>
                  <a:pt x="478" y="86"/>
                </a:moveTo>
                <a:cubicBezTo>
                  <a:pt x="418" y="26"/>
                  <a:pt x="350" y="13"/>
                  <a:pt x="270" y="0"/>
                </a:cubicBezTo>
                <a:cubicBezTo>
                  <a:pt x="191" y="9"/>
                  <a:pt x="154" y="15"/>
                  <a:pt x="86" y="37"/>
                </a:cubicBezTo>
                <a:cubicBezTo>
                  <a:pt x="78" y="45"/>
                  <a:pt x="71" y="55"/>
                  <a:pt x="61" y="61"/>
                </a:cubicBezTo>
                <a:cubicBezTo>
                  <a:pt x="38" y="75"/>
                  <a:pt x="0" y="73"/>
                  <a:pt x="0" y="110"/>
                </a:cubicBezTo>
              </a:path>
            </a:pathLst>
          </a:custGeom>
          <a:noFill/>
          <a:ln w="9525">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6806" name="Freeform 6"/>
          <p:cNvSpPr>
            <a:spLocks/>
          </p:cNvSpPr>
          <p:nvPr/>
        </p:nvSpPr>
        <p:spPr bwMode="auto">
          <a:xfrm>
            <a:off x="1447800" y="3886200"/>
            <a:ext cx="758825" cy="174625"/>
          </a:xfrm>
          <a:custGeom>
            <a:avLst/>
            <a:gdLst>
              <a:gd name="T0" fmla="*/ 478 w 478"/>
              <a:gd name="T1" fmla="*/ 86 h 110"/>
              <a:gd name="T2" fmla="*/ 270 w 478"/>
              <a:gd name="T3" fmla="*/ 0 h 110"/>
              <a:gd name="T4" fmla="*/ 86 w 478"/>
              <a:gd name="T5" fmla="*/ 37 h 110"/>
              <a:gd name="T6" fmla="*/ 61 w 478"/>
              <a:gd name="T7" fmla="*/ 61 h 110"/>
              <a:gd name="T8" fmla="*/ 0 w 478"/>
              <a:gd name="T9" fmla="*/ 110 h 110"/>
            </a:gdLst>
            <a:ahLst/>
            <a:cxnLst>
              <a:cxn ang="0">
                <a:pos x="T0" y="T1"/>
              </a:cxn>
              <a:cxn ang="0">
                <a:pos x="T2" y="T3"/>
              </a:cxn>
              <a:cxn ang="0">
                <a:pos x="T4" y="T5"/>
              </a:cxn>
              <a:cxn ang="0">
                <a:pos x="T6" y="T7"/>
              </a:cxn>
              <a:cxn ang="0">
                <a:pos x="T8" y="T9"/>
              </a:cxn>
            </a:cxnLst>
            <a:rect l="0" t="0" r="r" b="b"/>
            <a:pathLst>
              <a:path w="478" h="110">
                <a:moveTo>
                  <a:pt x="478" y="86"/>
                </a:moveTo>
                <a:cubicBezTo>
                  <a:pt x="418" y="26"/>
                  <a:pt x="350" y="13"/>
                  <a:pt x="270" y="0"/>
                </a:cubicBezTo>
                <a:cubicBezTo>
                  <a:pt x="191" y="9"/>
                  <a:pt x="154" y="15"/>
                  <a:pt x="86" y="37"/>
                </a:cubicBezTo>
                <a:cubicBezTo>
                  <a:pt x="78" y="45"/>
                  <a:pt x="71" y="55"/>
                  <a:pt x="61" y="61"/>
                </a:cubicBezTo>
                <a:cubicBezTo>
                  <a:pt x="38" y="75"/>
                  <a:pt x="0" y="73"/>
                  <a:pt x="0" y="110"/>
                </a:cubicBezTo>
              </a:path>
            </a:pathLst>
          </a:custGeom>
          <a:noFill/>
          <a:ln w="9525">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70496511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3"/>
          <p:cNvSpPr>
            <a:spLocks noGrp="1"/>
          </p:cNvSpPr>
          <p:nvPr>
            <p:ph type="dt" sz="half" idx="10"/>
          </p:nvPr>
        </p:nvSpPr>
        <p:spPr/>
        <p:txBody>
          <a:bodyPr/>
          <a:lstStyle/>
          <a:p>
            <a:fld id="{5852BD94-77D3-427D-9BEB-8A9606603B3C}" type="datetime1">
              <a:rPr lang="zh-CN" altLang="en-US"/>
              <a:pPr/>
              <a:t>2017/2/24</a:t>
            </a:fld>
            <a:endParaRPr lang="en-US" altLang="zh-CN"/>
          </a:p>
        </p:txBody>
      </p:sp>
      <p:sp>
        <p:nvSpPr>
          <p:cNvPr id="20" name="灯片编号占位符 5"/>
          <p:cNvSpPr>
            <a:spLocks noGrp="1"/>
          </p:cNvSpPr>
          <p:nvPr>
            <p:ph type="sldNum" sz="quarter" idx="12"/>
          </p:nvPr>
        </p:nvSpPr>
        <p:spPr/>
        <p:txBody>
          <a:bodyPr/>
          <a:lstStyle/>
          <a:p>
            <a:fld id="{61BF818F-4F65-408B-9589-4AD7C652C868}" type="slidenum">
              <a:rPr lang="en-US" altLang="zh-CN"/>
              <a:pPr/>
              <a:t>99</a:t>
            </a:fld>
            <a:endParaRPr lang="en-US" altLang="zh-CN"/>
          </a:p>
        </p:txBody>
      </p:sp>
      <p:sp>
        <p:nvSpPr>
          <p:cNvPr id="2638850" name="Rectangle 2"/>
          <p:cNvSpPr>
            <a:spLocks noGrp="1" noChangeArrowheads="1"/>
          </p:cNvSpPr>
          <p:nvPr>
            <p:ph type="title"/>
          </p:nvPr>
        </p:nvSpPr>
        <p:spPr>
          <a:xfrm>
            <a:off x="152400" y="188913"/>
            <a:ext cx="883920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a:t>
            </a:r>
          </a:p>
        </p:txBody>
      </p:sp>
      <p:sp>
        <p:nvSpPr>
          <p:cNvPr id="2638851" name="Rectangle 3"/>
          <p:cNvSpPr>
            <a:spLocks noGrp="1" noChangeArrowheads="1"/>
          </p:cNvSpPr>
          <p:nvPr>
            <p:ph type="body" idx="1"/>
          </p:nvPr>
        </p:nvSpPr>
        <p:spPr>
          <a:xfrm>
            <a:off x="304800" y="1431925"/>
            <a:ext cx="8534400" cy="5084763"/>
          </a:xfrm>
        </p:spPr>
        <p:txBody>
          <a:bodyPr/>
          <a:lstStyle/>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program dynamic(input, output);</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r: real;</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show;</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write(r: 5: 3)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small;</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r: real;</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r := 0.125; show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a:t>
            </a:r>
            <a:r>
              <a:rPr lang="zh-CN" altLang="en-US"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静态作用域</a:t>
            </a:r>
          </a:p>
          <a:p>
            <a:pPr algn="just">
              <a:lnSpc>
                <a:spcPct val="90000"/>
              </a:lnSpc>
              <a:spcBef>
                <a:spcPct val="10000"/>
              </a:spcBef>
              <a:buFontTx/>
              <a:buNone/>
            </a:pP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r := 0.25;			            0.250	0.250 </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show; small; writeln;		0.250	0.250 </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show; small; writeln</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end.</a:t>
            </a:r>
          </a:p>
        </p:txBody>
      </p:sp>
      <p:grpSp>
        <p:nvGrpSpPr>
          <p:cNvPr id="2638852" name="Group 4"/>
          <p:cNvGrpSpPr>
            <a:grpSpLocks/>
          </p:cNvGrpSpPr>
          <p:nvPr/>
        </p:nvGrpSpPr>
        <p:grpSpPr bwMode="auto">
          <a:xfrm>
            <a:off x="4387850" y="973138"/>
            <a:ext cx="4648200" cy="2209800"/>
            <a:chOff x="2832" y="2928"/>
            <a:chExt cx="2928" cy="1392"/>
          </a:xfrm>
        </p:grpSpPr>
        <p:sp>
          <p:nvSpPr>
            <p:cNvPr id="2638853" name="Rectangle 5"/>
            <p:cNvSpPr>
              <a:spLocks noChangeArrowheads="1"/>
            </p:cNvSpPr>
            <p:nvPr/>
          </p:nvSpPr>
          <p:spPr bwMode="auto">
            <a:xfrm>
              <a:off x="3792" y="2928"/>
              <a:ext cx="96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dynamic</a:t>
              </a:r>
            </a:p>
          </p:txBody>
        </p:sp>
        <p:sp>
          <p:nvSpPr>
            <p:cNvPr id="2638854" name="Rectangle 6"/>
            <p:cNvSpPr>
              <a:spLocks noChangeArrowheads="1"/>
            </p:cNvSpPr>
            <p:nvPr/>
          </p:nvSpPr>
          <p:spPr bwMode="auto">
            <a:xfrm>
              <a:off x="2832" y="3463"/>
              <a:ext cx="672"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38855" name="Rectangle 7"/>
            <p:cNvSpPr>
              <a:spLocks noChangeArrowheads="1"/>
            </p:cNvSpPr>
            <p:nvPr/>
          </p:nvSpPr>
          <p:spPr bwMode="auto">
            <a:xfrm>
              <a:off x="5040" y="3451"/>
              <a:ext cx="72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small</a:t>
              </a:r>
            </a:p>
          </p:txBody>
        </p:sp>
        <p:sp>
          <p:nvSpPr>
            <p:cNvPr id="2638856" name="Line 8"/>
            <p:cNvSpPr>
              <a:spLocks noChangeShapeType="1"/>
            </p:cNvSpPr>
            <p:nvPr/>
          </p:nvSpPr>
          <p:spPr bwMode="auto">
            <a:xfrm flipH="1">
              <a:off x="3290" y="3229"/>
              <a:ext cx="890" cy="31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38857" name="Line 9"/>
            <p:cNvSpPr>
              <a:spLocks noChangeShapeType="1"/>
            </p:cNvSpPr>
            <p:nvPr/>
          </p:nvSpPr>
          <p:spPr bwMode="auto">
            <a:xfrm>
              <a:off x="4461" y="3218"/>
              <a:ext cx="890" cy="31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38858" name="Rectangle 10"/>
            <p:cNvSpPr>
              <a:spLocks noChangeArrowheads="1"/>
            </p:cNvSpPr>
            <p:nvPr/>
          </p:nvSpPr>
          <p:spPr bwMode="auto">
            <a:xfrm>
              <a:off x="3504" y="3456"/>
              <a:ext cx="672"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small</a:t>
              </a:r>
            </a:p>
          </p:txBody>
        </p:sp>
        <p:sp>
          <p:nvSpPr>
            <p:cNvPr id="2638859" name="Rectangle 11"/>
            <p:cNvSpPr>
              <a:spLocks noChangeArrowheads="1"/>
            </p:cNvSpPr>
            <p:nvPr/>
          </p:nvSpPr>
          <p:spPr bwMode="auto">
            <a:xfrm>
              <a:off x="4368" y="3440"/>
              <a:ext cx="66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38860" name="Line 12"/>
            <p:cNvSpPr>
              <a:spLocks noChangeShapeType="1"/>
            </p:cNvSpPr>
            <p:nvPr/>
          </p:nvSpPr>
          <p:spPr bwMode="auto">
            <a:xfrm flipH="1">
              <a:off x="3889" y="3240"/>
              <a:ext cx="373" cy="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38861" name="Line 13"/>
            <p:cNvSpPr>
              <a:spLocks noChangeShapeType="1"/>
            </p:cNvSpPr>
            <p:nvPr/>
          </p:nvSpPr>
          <p:spPr bwMode="auto">
            <a:xfrm>
              <a:off x="4380" y="3240"/>
              <a:ext cx="372" cy="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38862" name="Rectangle 14"/>
            <p:cNvSpPr>
              <a:spLocks noChangeArrowheads="1"/>
            </p:cNvSpPr>
            <p:nvPr/>
          </p:nvSpPr>
          <p:spPr bwMode="auto">
            <a:xfrm>
              <a:off x="3552" y="4008"/>
              <a:ext cx="69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38863" name="Rectangle 15"/>
            <p:cNvSpPr>
              <a:spLocks noChangeArrowheads="1"/>
            </p:cNvSpPr>
            <p:nvPr/>
          </p:nvSpPr>
          <p:spPr bwMode="auto">
            <a:xfrm>
              <a:off x="5088" y="4008"/>
              <a:ext cx="655"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38864" name="Line 16"/>
            <p:cNvSpPr>
              <a:spLocks noChangeShapeType="1"/>
            </p:cNvSpPr>
            <p:nvPr/>
          </p:nvSpPr>
          <p:spPr bwMode="auto">
            <a:xfrm>
              <a:off x="3880" y="3719"/>
              <a:ext cx="0" cy="35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38865" name="Line 17"/>
            <p:cNvSpPr>
              <a:spLocks noChangeShapeType="1"/>
            </p:cNvSpPr>
            <p:nvPr/>
          </p:nvSpPr>
          <p:spPr bwMode="auto">
            <a:xfrm>
              <a:off x="5376" y="3744"/>
              <a:ext cx="0" cy="35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extLst>
      <p:ext uri="{BB962C8B-B14F-4D97-AF65-F5344CB8AC3E}">
        <p14:creationId xmlns:p14="http://schemas.microsoft.com/office/powerpoint/2010/main" val="288506672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3"/>
          <p:cNvSpPr>
            <a:spLocks noGrp="1"/>
          </p:cNvSpPr>
          <p:nvPr>
            <p:ph type="dt" sz="half" idx="10"/>
          </p:nvPr>
        </p:nvSpPr>
        <p:spPr/>
        <p:txBody>
          <a:bodyPr/>
          <a:lstStyle/>
          <a:p>
            <a:fld id="{6EA505B4-3EE1-41DE-B421-492CADBD193B}" type="datetime1">
              <a:rPr lang="zh-CN" altLang="en-US"/>
              <a:pPr/>
              <a:t>2017/2/24</a:t>
            </a:fld>
            <a:endParaRPr lang="en-US" altLang="zh-CN"/>
          </a:p>
        </p:txBody>
      </p:sp>
      <p:sp>
        <p:nvSpPr>
          <p:cNvPr id="20" name="灯片编号占位符 5"/>
          <p:cNvSpPr>
            <a:spLocks noGrp="1"/>
          </p:cNvSpPr>
          <p:nvPr>
            <p:ph type="sldNum" sz="quarter" idx="12"/>
          </p:nvPr>
        </p:nvSpPr>
        <p:spPr/>
        <p:txBody>
          <a:bodyPr/>
          <a:lstStyle/>
          <a:p>
            <a:fld id="{3F65F58D-3E5A-41E6-9F42-32C961E7AFA8}" type="slidenum">
              <a:rPr lang="en-US" altLang="zh-CN"/>
              <a:pPr/>
              <a:t>100</a:t>
            </a:fld>
            <a:endParaRPr lang="en-US" altLang="zh-CN"/>
          </a:p>
        </p:txBody>
      </p:sp>
      <p:sp>
        <p:nvSpPr>
          <p:cNvPr id="2640898" name="Rectangle 2"/>
          <p:cNvSpPr>
            <a:spLocks noGrp="1" noChangeArrowheads="1"/>
          </p:cNvSpPr>
          <p:nvPr>
            <p:ph type="title"/>
          </p:nvPr>
        </p:nvSpPr>
        <p:spPr>
          <a:xfrm>
            <a:off x="152400" y="188913"/>
            <a:ext cx="883920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a:t>
            </a:r>
          </a:p>
        </p:txBody>
      </p:sp>
      <p:sp>
        <p:nvSpPr>
          <p:cNvPr id="2640899" name="Rectangle 3"/>
          <p:cNvSpPr>
            <a:spLocks noGrp="1" noChangeArrowheads="1"/>
          </p:cNvSpPr>
          <p:nvPr>
            <p:ph type="body" idx="1"/>
          </p:nvPr>
        </p:nvSpPr>
        <p:spPr>
          <a:xfrm>
            <a:off x="304800" y="1476375"/>
            <a:ext cx="8534400" cy="5013325"/>
          </a:xfrm>
        </p:spPr>
        <p:txBody>
          <a:bodyPr/>
          <a:lstStyle/>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program dynamic(input, output);</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r: real;</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show;</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write(r: 5: 3)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procedure small;</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var r: real;</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r := 0.125; show end;</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begin					</a:t>
            </a:r>
            <a:r>
              <a:rPr lang="zh-CN" altLang="en-US" b="1">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动态作用域</a:t>
            </a:r>
          </a:p>
          <a:p>
            <a:pPr algn="just">
              <a:lnSpc>
                <a:spcPct val="90000"/>
              </a:lnSpc>
              <a:spcBef>
                <a:spcPct val="10000"/>
              </a:spcBef>
              <a:buFontTx/>
              <a:buNone/>
            </a:pPr>
            <a:r>
              <a:rPr lang="zh-CN" altLang="en-US" sz="2400"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r := 0.25;			            0.250	0.125 </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show; small; writeln;		0.250	0.125 </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show; small; writeln</a:t>
            </a:r>
          </a:p>
          <a:p>
            <a:pPr algn="just">
              <a:lnSpc>
                <a:spcPct val="90000"/>
              </a:lnSpc>
              <a:spcBef>
                <a:spcPct val="10000"/>
              </a:spcBef>
              <a:buFontTx/>
              <a:buNone/>
            </a:pPr>
            <a:r>
              <a:rPr lang="en-US" altLang="zh-CN" sz="2400" b="1">
                <a:latin typeface="Times New Roman" panose="02020603050405020304" pitchFamily="18" charset="0"/>
                <a:ea typeface="华文新魏" panose="02010800040101010101" pitchFamily="2" charset="-122"/>
                <a:cs typeface="Times New Roman" panose="02020603050405020304" pitchFamily="18" charset="0"/>
              </a:rPr>
              <a:t>    end.</a:t>
            </a:r>
          </a:p>
        </p:txBody>
      </p:sp>
      <p:grpSp>
        <p:nvGrpSpPr>
          <p:cNvPr id="2640900" name="Group 4"/>
          <p:cNvGrpSpPr>
            <a:grpSpLocks/>
          </p:cNvGrpSpPr>
          <p:nvPr/>
        </p:nvGrpSpPr>
        <p:grpSpPr bwMode="auto">
          <a:xfrm>
            <a:off x="4460875" y="973138"/>
            <a:ext cx="4648200" cy="2209800"/>
            <a:chOff x="2832" y="2928"/>
            <a:chExt cx="2928" cy="1392"/>
          </a:xfrm>
        </p:grpSpPr>
        <p:sp>
          <p:nvSpPr>
            <p:cNvPr id="2640901" name="Rectangle 5"/>
            <p:cNvSpPr>
              <a:spLocks noChangeArrowheads="1"/>
            </p:cNvSpPr>
            <p:nvPr/>
          </p:nvSpPr>
          <p:spPr bwMode="auto">
            <a:xfrm>
              <a:off x="3792" y="2928"/>
              <a:ext cx="96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dynamic</a:t>
              </a:r>
            </a:p>
          </p:txBody>
        </p:sp>
        <p:sp>
          <p:nvSpPr>
            <p:cNvPr id="2640902" name="Rectangle 6"/>
            <p:cNvSpPr>
              <a:spLocks noChangeArrowheads="1"/>
            </p:cNvSpPr>
            <p:nvPr/>
          </p:nvSpPr>
          <p:spPr bwMode="auto">
            <a:xfrm>
              <a:off x="2832" y="3463"/>
              <a:ext cx="672"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40903" name="Rectangle 7"/>
            <p:cNvSpPr>
              <a:spLocks noChangeArrowheads="1"/>
            </p:cNvSpPr>
            <p:nvPr/>
          </p:nvSpPr>
          <p:spPr bwMode="auto">
            <a:xfrm>
              <a:off x="5040" y="3451"/>
              <a:ext cx="72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small</a:t>
              </a:r>
            </a:p>
          </p:txBody>
        </p:sp>
        <p:sp>
          <p:nvSpPr>
            <p:cNvPr id="2640904" name="Line 8"/>
            <p:cNvSpPr>
              <a:spLocks noChangeShapeType="1"/>
            </p:cNvSpPr>
            <p:nvPr/>
          </p:nvSpPr>
          <p:spPr bwMode="auto">
            <a:xfrm flipH="1">
              <a:off x="3290" y="3229"/>
              <a:ext cx="890" cy="31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40905" name="Line 9"/>
            <p:cNvSpPr>
              <a:spLocks noChangeShapeType="1"/>
            </p:cNvSpPr>
            <p:nvPr/>
          </p:nvSpPr>
          <p:spPr bwMode="auto">
            <a:xfrm>
              <a:off x="4461" y="3218"/>
              <a:ext cx="890" cy="31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40906" name="Rectangle 10"/>
            <p:cNvSpPr>
              <a:spLocks noChangeArrowheads="1"/>
            </p:cNvSpPr>
            <p:nvPr/>
          </p:nvSpPr>
          <p:spPr bwMode="auto">
            <a:xfrm>
              <a:off x="3504" y="3456"/>
              <a:ext cx="672"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small</a:t>
              </a:r>
            </a:p>
          </p:txBody>
        </p:sp>
        <p:sp>
          <p:nvSpPr>
            <p:cNvPr id="2640907" name="Rectangle 11"/>
            <p:cNvSpPr>
              <a:spLocks noChangeArrowheads="1"/>
            </p:cNvSpPr>
            <p:nvPr/>
          </p:nvSpPr>
          <p:spPr bwMode="auto">
            <a:xfrm>
              <a:off x="4368" y="3440"/>
              <a:ext cx="66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40908" name="Line 12"/>
            <p:cNvSpPr>
              <a:spLocks noChangeShapeType="1"/>
            </p:cNvSpPr>
            <p:nvPr/>
          </p:nvSpPr>
          <p:spPr bwMode="auto">
            <a:xfrm flipH="1">
              <a:off x="3889" y="3240"/>
              <a:ext cx="373" cy="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40909" name="Line 13"/>
            <p:cNvSpPr>
              <a:spLocks noChangeShapeType="1"/>
            </p:cNvSpPr>
            <p:nvPr/>
          </p:nvSpPr>
          <p:spPr bwMode="auto">
            <a:xfrm>
              <a:off x="4380" y="3240"/>
              <a:ext cx="372" cy="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40910" name="Rectangle 14"/>
            <p:cNvSpPr>
              <a:spLocks noChangeArrowheads="1"/>
            </p:cNvSpPr>
            <p:nvPr/>
          </p:nvSpPr>
          <p:spPr bwMode="auto">
            <a:xfrm>
              <a:off x="3552" y="4008"/>
              <a:ext cx="69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40911" name="Rectangle 15"/>
            <p:cNvSpPr>
              <a:spLocks noChangeArrowheads="1"/>
            </p:cNvSpPr>
            <p:nvPr/>
          </p:nvSpPr>
          <p:spPr bwMode="auto">
            <a:xfrm>
              <a:off x="5088" y="4008"/>
              <a:ext cx="655"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800" b="1">
                  <a:solidFill>
                    <a:srgbClr val="0000FF"/>
                  </a:solidFill>
                </a:rPr>
                <a:t>show</a:t>
              </a:r>
            </a:p>
          </p:txBody>
        </p:sp>
        <p:sp>
          <p:nvSpPr>
            <p:cNvPr id="2640912" name="Line 16"/>
            <p:cNvSpPr>
              <a:spLocks noChangeShapeType="1"/>
            </p:cNvSpPr>
            <p:nvPr/>
          </p:nvSpPr>
          <p:spPr bwMode="auto">
            <a:xfrm>
              <a:off x="3880" y="3719"/>
              <a:ext cx="0" cy="35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40913" name="Line 17"/>
            <p:cNvSpPr>
              <a:spLocks noChangeShapeType="1"/>
            </p:cNvSpPr>
            <p:nvPr/>
          </p:nvSpPr>
          <p:spPr bwMode="auto">
            <a:xfrm>
              <a:off x="5376" y="3744"/>
              <a:ext cx="0" cy="35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extLst>
      <p:ext uri="{BB962C8B-B14F-4D97-AF65-F5344CB8AC3E}">
        <p14:creationId xmlns:p14="http://schemas.microsoft.com/office/powerpoint/2010/main" val="113512068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A5F9DB2-6AB9-421D-A46F-C18E421A987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9C6C9A9-CD1C-4B42-B3B2-0E31B2D33C4E}" type="slidenum">
              <a:rPr lang="en-US" altLang="zh-CN"/>
              <a:pPr/>
              <a:t>101</a:t>
            </a:fld>
            <a:endParaRPr lang="en-US" altLang="zh-CN"/>
          </a:p>
        </p:txBody>
      </p:sp>
      <p:sp>
        <p:nvSpPr>
          <p:cNvPr id="2642946" name="Rectangle 2"/>
          <p:cNvSpPr>
            <a:spLocks noGrp="1" noChangeArrowheads="1"/>
          </p:cNvSpPr>
          <p:nvPr>
            <p:ph type="title"/>
          </p:nvPr>
        </p:nvSpPr>
        <p:spPr>
          <a:xfrm>
            <a:off x="152400" y="115888"/>
            <a:ext cx="8839200" cy="114300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9.5.3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动态作用域</a:t>
            </a:r>
          </a:p>
        </p:txBody>
      </p:sp>
      <p:sp>
        <p:nvSpPr>
          <p:cNvPr id="2642947" name="Rectangle 3"/>
          <p:cNvSpPr>
            <a:spLocks noGrp="1" noChangeArrowheads="1"/>
          </p:cNvSpPr>
          <p:nvPr>
            <p:ph type="body" idx="1"/>
          </p:nvPr>
        </p:nvSpPr>
        <p:spPr>
          <a:xfrm>
            <a:off x="125413" y="1268413"/>
            <a:ext cx="8839200" cy="4824412"/>
          </a:xfrm>
        </p:spPr>
        <p:txBody>
          <a:bodyPr/>
          <a:lstStyle/>
          <a:p>
            <a:pPr algn="just">
              <a:spcBef>
                <a:spcPct val="10000"/>
              </a:spcBef>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实现动态作用域的方法</a:t>
            </a:r>
          </a:p>
          <a:p>
            <a:pPr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深访问</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访问非局部名字时的开销大</a:t>
            </a:r>
            <a:r>
              <a:rPr lang="en-US" altLang="zh-CN"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易于实现过程类参数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p>
          <a:p>
            <a:pPr algn="just">
              <a:spcBef>
                <a:spcPct val="10000"/>
              </a:spcBef>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用控制链搜索运行栈，寻找包含该非局部名字的第一个活动记录</a:t>
            </a:r>
          </a:p>
          <a:p>
            <a:pPr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浅访问</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活动开始和结束时的开销大</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p>
          <a:p>
            <a:pPr lvl="1"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将每个名字的当前值保存在静态分配的内存空间中</a:t>
            </a:r>
          </a:p>
          <a:p>
            <a:pPr lvl="1" algn="just">
              <a:spcBef>
                <a:spcPct val="1000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当过程</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开始一个新的活动时，</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的局部名字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使用在静态数据区分配给</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的内存单元。</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的先前值必须保存在</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的活动记录中，当</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的活动结束时再恢复</a:t>
            </a:r>
          </a:p>
        </p:txBody>
      </p:sp>
    </p:spTree>
    <p:extLst>
      <p:ext uri="{BB962C8B-B14F-4D97-AF65-F5344CB8AC3E}">
        <p14:creationId xmlns:p14="http://schemas.microsoft.com/office/powerpoint/2010/main" val="25171905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42947">
                                            <p:txEl>
                                              <p:pRg st="0" end="0"/>
                                            </p:txEl>
                                          </p:spTgt>
                                        </p:tgtEl>
                                        <p:attrNameLst>
                                          <p:attrName>style.visibility</p:attrName>
                                        </p:attrNameLst>
                                      </p:cBhvr>
                                      <p:to>
                                        <p:strVal val="visible"/>
                                      </p:to>
                                    </p:set>
                                    <p:animEffect transition="in" filter="blinds(horizontal)">
                                      <p:cBhvr>
                                        <p:cTn id="7" dur="500"/>
                                        <p:tgtEl>
                                          <p:spTgt spid="2642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42947">
                                            <p:txEl>
                                              <p:pRg st="1" end="1"/>
                                            </p:txEl>
                                          </p:spTgt>
                                        </p:tgtEl>
                                        <p:attrNameLst>
                                          <p:attrName>style.visibility</p:attrName>
                                        </p:attrNameLst>
                                      </p:cBhvr>
                                      <p:to>
                                        <p:strVal val="visible"/>
                                      </p:to>
                                    </p:set>
                                    <p:animEffect transition="in" filter="blinds(horizontal)">
                                      <p:cBhvr>
                                        <p:cTn id="12" dur="500"/>
                                        <p:tgtEl>
                                          <p:spTgt spid="26429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42947">
                                            <p:txEl>
                                              <p:pRg st="2" end="2"/>
                                            </p:txEl>
                                          </p:spTgt>
                                        </p:tgtEl>
                                        <p:attrNameLst>
                                          <p:attrName>style.visibility</p:attrName>
                                        </p:attrNameLst>
                                      </p:cBhvr>
                                      <p:to>
                                        <p:strVal val="visible"/>
                                      </p:to>
                                    </p:set>
                                    <p:animEffect transition="in" filter="blinds(horizontal)">
                                      <p:cBhvr>
                                        <p:cTn id="17" dur="500"/>
                                        <p:tgtEl>
                                          <p:spTgt spid="26429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42947">
                                            <p:txEl>
                                              <p:pRg st="3" end="3"/>
                                            </p:txEl>
                                          </p:spTgt>
                                        </p:tgtEl>
                                        <p:attrNameLst>
                                          <p:attrName>style.visibility</p:attrName>
                                        </p:attrNameLst>
                                      </p:cBhvr>
                                      <p:to>
                                        <p:strVal val="visible"/>
                                      </p:to>
                                    </p:set>
                                    <p:animEffect transition="in" filter="blinds(horizontal)">
                                      <p:cBhvr>
                                        <p:cTn id="22" dur="500"/>
                                        <p:tgtEl>
                                          <p:spTgt spid="2642947">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642947">
                                            <p:txEl>
                                              <p:pRg st="4" end="4"/>
                                            </p:txEl>
                                          </p:spTgt>
                                        </p:tgtEl>
                                        <p:attrNameLst>
                                          <p:attrName>style.visibility</p:attrName>
                                        </p:attrNameLst>
                                      </p:cBhvr>
                                      <p:to>
                                        <p:strVal val="visible"/>
                                      </p:to>
                                    </p:set>
                                    <p:animEffect transition="in" filter="blinds(horizontal)">
                                      <p:cBhvr>
                                        <p:cTn id="25" dur="500"/>
                                        <p:tgtEl>
                                          <p:spTgt spid="2642947">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642947">
                                            <p:txEl>
                                              <p:pRg st="5" end="5"/>
                                            </p:txEl>
                                          </p:spTgt>
                                        </p:tgtEl>
                                        <p:attrNameLst>
                                          <p:attrName>style.visibility</p:attrName>
                                        </p:attrNameLst>
                                      </p:cBhvr>
                                      <p:to>
                                        <p:strVal val="visible"/>
                                      </p:to>
                                    </p:set>
                                    <p:animEffect transition="in" filter="blinds(horizontal)">
                                      <p:cBhvr>
                                        <p:cTn id="28" dur="500"/>
                                        <p:tgtEl>
                                          <p:spTgt spid="26429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947"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84BB5B8-80B2-4410-B2DC-6A3592F2D54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BDAB710-BEA0-4F05-B9C8-7652FC7BA5CB}" type="slidenum">
              <a:rPr lang="en-US" altLang="zh-CN"/>
              <a:pPr/>
              <a:t>102</a:t>
            </a:fld>
            <a:endParaRPr lang="en-US" altLang="zh-CN"/>
          </a:p>
        </p:txBody>
      </p:sp>
      <p:sp>
        <p:nvSpPr>
          <p:cNvPr id="2661378" name="Rectangle 2"/>
          <p:cNvSpPr>
            <a:spLocks noGrp="1" noChangeArrowheads="1"/>
          </p:cNvSpPr>
          <p:nvPr>
            <p:ph type="title"/>
          </p:nvPr>
        </p:nvSpPr>
        <p:spPr>
          <a:xfrm>
            <a:off x="1116013" y="115888"/>
            <a:ext cx="7083425" cy="93662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661379" name="Rectangle 3"/>
          <p:cNvSpPr>
            <a:spLocks noGrp="1" noChangeArrowheads="1"/>
          </p:cNvSpPr>
          <p:nvPr>
            <p:ph type="body" idx="1"/>
          </p:nvPr>
        </p:nvSpPr>
        <p:spPr>
          <a:xfrm>
            <a:off x="179388" y="1052513"/>
            <a:ext cx="8839200" cy="5184775"/>
          </a:xfrm>
        </p:spPr>
        <p:txBody>
          <a:bodyPr/>
          <a:lstStyle/>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存储组织与管理是编译系统的重要组成部分，用来实现目标程序的存储组织与分配。根据程序设计语言的要求，有静态管理策略和动态管理策略</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名字的绑定要体现名字的声明和作用域约定</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过程调用中参数的传递方式分为传值、传地址、传值结果和传名</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种</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典型的运行时内存空间包括目标代码、静态数据区和动态数据区</a:t>
            </a:r>
          </a:p>
        </p:txBody>
      </p:sp>
    </p:spTree>
    <p:extLst>
      <p:ext uri="{BB962C8B-B14F-4D97-AF65-F5344CB8AC3E}">
        <p14:creationId xmlns:p14="http://schemas.microsoft.com/office/powerpoint/2010/main" val="10569894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1379">
                                            <p:txEl>
                                              <p:pRg st="0" end="0"/>
                                            </p:txEl>
                                          </p:spTgt>
                                        </p:tgtEl>
                                        <p:attrNameLst>
                                          <p:attrName>style.visibility</p:attrName>
                                        </p:attrNameLst>
                                      </p:cBhvr>
                                      <p:to>
                                        <p:strVal val="visible"/>
                                      </p:to>
                                    </p:set>
                                    <p:animEffect transition="in" filter="blinds(horizontal)">
                                      <p:cBhvr>
                                        <p:cTn id="7" dur="500"/>
                                        <p:tgtEl>
                                          <p:spTgt spid="2661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1379">
                                            <p:txEl>
                                              <p:pRg st="1" end="1"/>
                                            </p:txEl>
                                          </p:spTgt>
                                        </p:tgtEl>
                                        <p:attrNameLst>
                                          <p:attrName>style.visibility</p:attrName>
                                        </p:attrNameLst>
                                      </p:cBhvr>
                                      <p:to>
                                        <p:strVal val="visible"/>
                                      </p:to>
                                    </p:set>
                                    <p:animEffect transition="in" filter="blinds(horizontal)">
                                      <p:cBhvr>
                                        <p:cTn id="12" dur="500"/>
                                        <p:tgtEl>
                                          <p:spTgt spid="2661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1379">
                                            <p:txEl>
                                              <p:pRg st="2" end="2"/>
                                            </p:txEl>
                                          </p:spTgt>
                                        </p:tgtEl>
                                        <p:attrNameLst>
                                          <p:attrName>style.visibility</p:attrName>
                                        </p:attrNameLst>
                                      </p:cBhvr>
                                      <p:to>
                                        <p:strVal val="visible"/>
                                      </p:to>
                                    </p:set>
                                    <p:animEffect transition="in" filter="blinds(horizontal)">
                                      <p:cBhvr>
                                        <p:cTn id="17" dur="500"/>
                                        <p:tgtEl>
                                          <p:spTgt spid="26613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1379">
                                            <p:txEl>
                                              <p:pRg st="3" end="3"/>
                                            </p:txEl>
                                          </p:spTgt>
                                        </p:tgtEl>
                                        <p:attrNameLst>
                                          <p:attrName>style.visibility</p:attrName>
                                        </p:attrNameLst>
                                      </p:cBhvr>
                                      <p:to>
                                        <p:strVal val="visible"/>
                                      </p:to>
                                    </p:set>
                                    <p:animEffect transition="in" filter="blinds(horizontal)">
                                      <p:cBhvr>
                                        <p:cTn id="22" dur="500"/>
                                        <p:tgtEl>
                                          <p:spTgt spid="2661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1379"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4FDA2D0-76A4-46EE-800A-0FCA2D0F8C7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584B0DD-3369-47CE-A612-B1B1421EF31A}" type="slidenum">
              <a:rPr lang="en-US" altLang="zh-CN"/>
              <a:pPr/>
              <a:t>103</a:t>
            </a:fld>
            <a:endParaRPr lang="en-US" altLang="zh-CN"/>
          </a:p>
        </p:txBody>
      </p:sp>
      <p:sp>
        <p:nvSpPr>
          <p:cNvPr id="2882562" name="Rectangle 2"/>
          <p:cNvSpPr>
            <a:spLocks noGrp="1" noChangeArrowheads="1"/>
          </p:cNvSpPr>
          <p:nvPr>
            <p:ph type="title"/>
          </p:nvPr>
        </p:nvSpPr>
        <p:spPr>
          <a:xfrm>
            <a:off x="1116013" y="115888"/>
            <a:ext cx="7083425" cy="93662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882563" name="Rectangle 3"/>
          <p:cNvSpPr>
            <a:spLocks noGrp="1" noChangeArrowheads="1"/>
          </p:cNvSpPr>
          <p:nvPr>
            <p:ph type="body" idx="1"/>
          </p:nvPr>
        </p:nvSpPr>
        <p:spPr>
          <a:xfrm>
            <a:off x="179388" y="1052513"/>
            <a:ext cx="8839200" cy="5184775"/>
          </a:xfrm>
        </p:spPr>
        <p:txBody>
          <a:bodyPr/>
          <a:lstStyle/>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对编译时就能确定其运行时所需要的存储空间的对象实行静态存储分配，对编译时无法确定过程何时运行、运行时所需要存储空间的对象实行动态存储分配</a:t>
            </a:r>
          </a:p>
          <a:p>
            <a:pPr marL="609600" indent="-609600"/>
            <a:r>
              <a:rPr lang="zh-CN" altLang="en-US" b="1">
                <a:latin typeface="Times New Roman" panose="02020603050405020304" pitchFamily="18" charset="0"/>
                <a:ea typeface="华文新魏" panose="02010800040101010101" pitchFamily="2" charset="-122"/>
                <a:cs typeface="Times New Roman" panose="02020603050405020304" pitchFamily="18" charset="0"/>
              </a:rPr>
              <a:t>静态存储管理方式支持较高的运行效率，利用适当的策略可以提高内存的利用率，但是无法支持动态数据和“过程”的递归调用</a:t>
            </a:r>
          </a:p>
        </p:txBody>
      </p:sp>
    </p:spTree>
    <p:extLst>
      <p:ext uri="{BB962C8B-B14F-4D97-AF65-F5344CB8AC3E}">
        <p14:creationId xmlns:p14="http://schemas.microsoft.com/office/powerpoint/2010/main" val="2510526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82563">
                                            <p:txEl>
                                              <p:pRg st="0" end="0"/>
                                            </p:txEl>
                                          </p:spTgt>
                                        </p:tgtEl>
                                        <p:attrNameLst>
                                          <p:attrName>style.visibility</p:attrName>
                                        </p:attrNameLst>
                                      </p:cBhvr>
                                      <p:to>
                                        <p:strVal val="visible"/>
                                      </p:to>
                                    </p:set>
                                    <p:animEffect transition="in" filter="blinds(horizontal)">
                                      <p:cBhvr>
                                        <p:cTn id="7" dur="500"/>
                                        <p:tgtEl>
                                          <p:spTgt spid="2882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82563">
                                            <p:txEl>
                                              <p:pRg st="1" end="1"/>
                                            </p:txEl>
                                          </p:spTgt>
                                        </p:tgtEl>
                                        <p:attrNameLst>
                                          <p:attrName>style.visibility</p:attrName>
                                        </p:attrNameLst>
                                      </p:cBhvr>
                                      <p:to>
                                        <p:strVal val="visible"/>
                                      </p:to>
                                    </p:set>
                                    <p:animEffect transition="in" filter="blinds(horizontal)">
                                      <p:cBhvr>
                                        <p:cTn id="12" dur="500"/>
                                        <p:tgtEl>
                                          <p:spTgt spid="28825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256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DD58D55-5193-41EF-89A3-4A1222D2E6AB}"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A768CCD-C1AD-44F8-A970-71328B2EB630}" type="slidenum">
              <a:rPr lang="en-US" altLang="zh-CN"/>
              <a:pPr/>
              <a:t>104</a:t>
            </a:fld>
            <a:endParaRPr lang="en-US" altLang="zh-CN"/>
          </a:p>
        </p:txBody>
      </p:sp>
      <p:sp>
        <p:nvSpPr>
          <p:cNvPr id="2663426" name="Rectangle 2"/>
          <p:cNvSpPr>
            <a:spLocks noGrp="1" noChangeArrowheads="1"/>
          </p:cNvSpPr>
          <p:nvPr>
            <p:ph type="title"/>
          </p:nvPr>
        </p:nvSpPr>
        <p:spPr>
          <a:xfrm>
            <a:off x="1116013" y="115888"/>
            <a:ext cx="7083425" cy="93662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663427" name="Rectangle 3"/>
          <p:cNvSpPr>
            <a:spLocks noGrp="1" noChangeArrowheads="1"/>
          </p:cNvSpPr>
          <p:nvPr>
            <p:ph type="body" idx="1"/>
          </p:nvPr>
        </p:nvSpPr>
        <p:spPr>
          <a:xfrm>
            <a:off x="179388" y="1052513"/>
            <a:ext cx="8839200" cy="5184775"/>
          </a:xfrm>
        </p:spPr>
        <p:txBody>
          <a:bodyPr/>
          <a:lstStyle/>
          <a:p>
            <a:pPr marL="609600" indent="-609600"/>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栈式动态存储管理策略针对过程的每一次调用在栈顶创建一个栈单元用来存放这次过程调用产生的活动的数据区，访问链和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display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表可以用来实现相关数据的访问。这种方式支持过程的递归调用</a:t>
            </a:r>
          </a:p>
          <a:p>
            <a:pPr marL="609600" indent="-609600"/>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堆管理解决活动结束后数据仍需有效的问题，但需要使用内存管理器实现对孔洞的管理</a:t>
            </a:r>
          </a:p>
          <a:p>
            <a:pPr marL="609600" indent="-609600"/>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对内存的层次体系的有效利用有助于提高目标代码的运行效率</a:t>
            </a:r>
          </a:p>
        </p:txBody>
      </p:sp>
    </p:spTree>
    <p:extLst>
      <p:ext uri="{BB962C8B-B14F-4D97-AF65-F5344CB8AC3E}">
        <p14:creationId xmlns:p14="http://schemas.microsoft.com/office/powerpoint/2010/main" val="10251325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3427">
                                            <p:txEl>
                                              <p:pRg st="0" end="0"/>
                                            </p:txEl>
                                          </p:spTgt>
                                        </p:tgtEl>
                                        <p:attrNameLst>
                                          <p:attrName>style.visibility</p:attrName>
                                        </p:attrNameLst>
                                      </p:cBhvr>
                                      <p:to>
                                        <p:strVal val="visible"/>
                                      </p:to>
                                    </p:set>
                                    <p:animEffect transition="in" filter="blinds(horizontal)">
                                      <p:cBhvr>
                                        <p:cTn id="7" dur="500"/>
                                        <p:tgtEl>
                                          <p:spTgt spid="2663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3427">
                                            <p:txEl>
                                              <p:pRg st="1" end="1"/>
                                            </p:txEl>
                                          </p:spTgt>
                                        </p:tgtEl>
                                        <p:attrNameLst>
                                          <p:attrName>style.visibility</p:attrName>
                                        </p:attrNameLst>
                                      </p:cBhvr>
                                      <p:to>
                                        <p:strVal val="visible"/>
                                      </p:to>
                                    </p:set>
                                    <p:animEffect transition="in" filter="blinds(horizontal)">
                                      <p:cBhvr>
                                        <p:cTn id="12" dur="500"/>
                                        <p:tgtEl>
                                          <p:spTgt spid="2663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3427">
                                            <p:txEl>
                                              <p:pRg st="2" end="2"/>
                                            </p:txEl>
                                          </p:spTgt>
                                        </p:tgtEl>
                                        <p:attrNameLst>
                                          <p:attrName>style.visibility</p:attrName>
                                        </p:attrNameLst>
                                      </p:cBhvr>
                                      <p:to>
                                        <p:strVal val="visible"/>
                                      </p:to>
                                    </p:set>
                                    <p:animEffect transition="in" filter="blinds(horizontal)">
                                      <p:cBhvr>
                                        <p:cTn id="17" dur="500"/>
                                        <p:tgtEl>
                                          <p:spTgt spid="26634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427" grpId="0" build="p"/>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12编译原理-5</Template>
  <TotalTime>3785</TotalTime>
  <Words>7529</Words>
  <Application>Microsoft Office PowerPoint</Application>
  <PresentationFormat>全屏显示(4:3)</PresentationFormat>
  <Paragraphs>1830</Paragraphs>
  <Slides>104</Slides>
  <Notes>62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104</vt:i4>
      </vt:variant>
    </vt:vector>
  </HeadingPairs>
  <TitlesOfParts>
    <vt:vector size="117" baseType="lpstr">
      <vt:lpstr>黑体</vt:lpstr>
      <vt:lpstr>华文新魏</vt:lpstr>
      <vt:lpstr>楷体_GB2312</vt:lpstr>
      <vt:lpstr>宋体</vt:lpstr>
      <vt:lpstr>Arial</vt:lpstr>
      <vt:lpstr>Symbol</vt:lpstr>
      <vt:lpstr>Tahoma</vt:lpstr>
      <vt:lpstr>Times New Roman</vt:lpstr>
      <vt:lpstr>Wingdings</vt:lpstr>
      <vt:lpstr>诗情画意</vt:lpstr>
      <vt:lpstr>剪辑</vt:lpstr>
      <vt:lpstr>Visio</vt:lpstr>
      <vt:lpstr>文档</vt:lpstr>
      <vt:lpstr>编译原理 (Principles of Compiling)</vt:lpstr>
      <vt:lpstr>第9章 运行时的存储组织 </vt:lpstr>
      <vt:lpstr>9.1 与存储组织有关的源语言 概念与特征</vt:lpstr>
      <vt:lpstr>9.1.1 名字及其绑定 </vt:lpstr>
      <vt:lpstr>名字的绑定</vt:lpstr>
      <vt:lpstr>9.1.2 声明的作用域</vt:lpstr>
      <vt:lpstr>1. 静态作用域</vt:lpstr>
      <vt:lpstr>1. 静态作用域</vt:lpstr>
      <vt:lpstr>2. 显式访问控制 </vt:lpstr>
      <vt:lpstr>2. 显式访问控制 </vt:lpstr>
      <vt:lpstr>3. 动态作用域 </vt:lpstr>
      <vt:lpstr>3. 动态作用域 </vt:lpstr>
      <vt:lpstr>9.1.3 过程及其活动 </vt:lpstr>
      <vt:lpstr>9.1.3 过程及其活动 </vt:lpstr>
      <vt:lpstr>9.1.3 过程及其活动 </vt:lpstr>
      <vt:lpstr>9.1.4 参数传递方式 </vt:lpstr>
      <vt:lpstr>1. 传值</vt:lpstr>
      <vt:lpstr>2. 传地址</vt:lpstr>
      <vt:lpstr>3. 传值结果</vt:lpstr>
      <vt:lpstr>4. 传名</vt:lpstr>
      <vt:lpstr>例</vt:lpstr>
      <vt:lpstr>PowerPoint 演示文稿</vt:lpstr>
      <vt:lpstr>编译程序组织存储空间时必须考虑的问题</vt:lpstr>
      <vt:lpstr>9.2 存储组织</vt:lpstr>
      <vt:lpstr>7.2.1 运行时内存的划分</vt:lpstr>
      <vt:lpstr>9.2.2 活动记录</vt:lpstr>
      <vt:lpstr>每个过程的活动记录内容                                 ——非嵌套语言(如C)</vt:lpstr>
      <vt:lpstr>每个过程的活动记录内容                           ——嵌套语言(如Pascal)</vt:lpstr>
      <vt:lpstr>每个过程的活动记录内容</vt:lpstr>
      <vt:lpstr>9.2.3 局部数据的组织</vt:lpstr>
      <vt:lpstr>9.2.3 局部数据的组织</vt:lpstr>
      <vt:lpstr>9.2.3 局部数据的组织</vt:lpstr>
      <vt:lpstr>9.2.3 局部数据的组织</vt:lpstr>
      <vt:lpstr>9.2.4 全局存储分配策略 </vt:lpstr>
      <vt:lpstr>9.3 静态存储分配策略</vt:lpstr>
      <vt:lpstr>某分段式程序运行时的内存划分</vt:lpstr>
      <vt:lpstr>PowerPoint 演示文稿</vt:lpstr>
      <vt:lpstr>静态存储分配策略</vt:lpstr>
      <vt:lpstr>分层分配算法</vt:lpstr>
      <vt:lpstr>9.4 栈式存储分配策略</vt:lpstr>
      <vt:lpstr>9.4.1 调用序列和返回序列 </vt:lpstr>
      <vt:lpstr>9.4.1 调用序列和返回序列</vt:lpstr>
      <vt:lpstr>9.4.1 调用序列和返回序列</vt:lpstr>
      <vt:lpstr>9.4.1 调用序列和返回序列</vt:lpstr>
      <vt:lpstr>9.4.1 调用序列和返回序列</vt:lpstr>
      <vt:lpstr>9.4.1 调用序列和返回序列</vt:lpstr>
      <vt:lpstr>9.4.2 C语言的过程调用和返回 </vt:lpstr>
      <vt:lpstr>对于par和call产生的目标代码</vt:lpstr>
      <vt:lpstr>PowerPoint 演示文稿</vt:lpstr>
      <vt:lpstr>PowerPoint 演示文稿</vt:lpstr>
      <vt:lpstr>9.4.3 栈中的可变长数据</vt:lpstr>
      <vt:lpstr>9.4.3 栈中的可变长数据</vt:lpstr>
      <vt:lpstr>栈式存储分配策略的局限</vt:lpstr>
      <vt:lpstr>9.5 栈中非局部数据的访问</vt:lpstr>
      <vt:lpstr>9.5.1 无过程嵌套的静态作用域</vt:lpstr>
      <vt:lpstr>9.5.1 无过程嵌套的静态作用域</vt:lpstr>
      <vt:lpstr>PowerPoint 演示文稿</vt:lpstr>
      <vt:lpstr>9.5.2 有过程嵌套的静态作用域</vt:lpstr>
      <vt:lpstr>PowerPoint 演示文稿</vt:lpstr>
      <vt:lpstr>PowerPoint 演示文稿</vt:lpstr>
      <vt:lpstr>9.5.2 有过程嵌套的静态作用域</vt:lpstr>
      <vt:lpstr>9.5.2 有过程嵌套的静态作用域</vt:lpstr>
      <vt:lpstr>9.5.2 有过程嵌套的静态作用域</vt:lpstr>
      <vt:lpstr>9.5.2 有过程嵌套的静态作用域</vt:lpstr>
      <vt:lpstr>9.5.2 有过程嵌套的静态作用域</vt:lpstr>
      <vt:lpstr>9.5.2 有过程嵌套的静态作用域</vt:lpstr>
      <vt:lpstr>9.5.2 有过程嵌套的静态作用域</vt:lpstr>
      <vt:lpstr>9.5.2 有过程嵌套的静态作用域</vt:lpstr>
      <vt:lpstr>9.5.2 有过程嵌套的静态作用域</vt:lpstr>
      <vt:lpstr>PowerPoint 演示文稿</vt:lpstr>
      <vt:lpstr>PowerPoint 演示文稿</vt:lpstr>
      <vt:lpstr>一个例子</vt:lpstr>
      <vt:lpstr>PowerPoint 演示文稿</vt:lpstr>
      <vt:lpstr>主程序P</vt:lpstr>
      <vt:lpstr>主程序P过程 S</vt:lpstr>
      <vt:lpstr>主程序P 过程 S 过程 Q</vt:lpstr>
      <vt:lpstr>主程序P 过程 S 过程 Q 过程 R</vt:lpstr>
      <vt:lpstr>主程序P 过程 S 过程 Q 过程 R 过程 R</vt:lpstr>
      <vt:lpstr>主程序P 过程 S 过程 Q 过程 R 过程 Q</vt:lpstr>
      <vt:lpstr>二、通过Display表 访问非局部数据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一个例子</vt:lpstr>
      <vt:lpstr>主程序过程 S</vt:lpstr>
      <vt:lpstr>主程序P过程 S 过程 Q</vt:lpstr>
      <vt:lpstr>主程序P过程 S 过程 Q 过程 R</vt:lpstr>
      <vt:lpstr>主程序P 过程 S 过程 Q 过程 R 过程 R</vt:lpstr>
      <vt:lpstr>过程调用、过程进入、过程返回</vt:lpstr>
      <vt:lpstr>过程调用、过程进入、过程返回</vt:lpstr>
      <vt:lpstr>过程调用、过程进入、过程返回</vt:lpstr>
      <vt:lpstr>过程调用、过程进入、过程返回</vt:lpstr>
      <vt:lpstr>9.5.3 动态作用域的实现</vt:lpstr>
      <vt:lpstr>9.5.3 动态作用域</vt:lpstr>
      <vt:lpstr>9.5.3 动态作用域</vt:lpstr>
      <vt:lpstr>9.5.3 动态作用域</vt:lpstr>
      <vt:lpstr>9.5.3 动态作用域</vt:lpstr>
      <vt:lpstr>本章小结</vt:lpstr>
      <vt:lpstr>本章小结</vt:lpstr>
      <vt:lpstr>本章小结</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178</cp:revision>
  <cp:lastPrinted>1601-01-01T00:00:00Z</cp:lastPrinted>
  <dcterms:created xsi:type="dcterms:W3CDTF">2003-07-09T14:46:46Z</dcterms:created>
  <dcterms:modified xsi:type="dcterms:W3CDTF">2017-02-24T00:44:19Z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