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54"/>
  </p:notesMasterIdLst>
  <p:handoutMasterIdLst>
    <p:handoutMasterId r:id="rId55"/>
  </p:handoutMasterIdLst>
  <p:sldIdLst>
    <p:sldId id="460" r:id="rId2"/>
    <p:sldId id="461" r:id="rId3"/>
    <p:sldId id="462" r:id="rId4"/>
    <p:sldId id="463" r:id="rId5"/>
    <p:sldId id="464" r:id="rId6"/>
    <p:sldId id="465" r:id="rId7"/>
    <p:sldId id="466" r:id="rId8"/>
    <p:sldId id="467" r:id="rId9"/>
    <p:sldId id="468" r:id="rId10"/>
    <p:sldId id="469" r:id="rId11"/>
    <p:sldId id="470" r:id="rId12"/>
    <p:sldId id="471" r:id="rId13"/>
    <p:sldId id="472" r:id="rId14"/>
    <p:sldId id="473" r:id="rId15"/>
    <p:sldId id="474" r:id="rId16"/>
    <p:sldId id="475" r:id="rId17"/>
    <p:sldId id="476" r:id="rId18"/>
    <p:sldId id="477" r:id="rId19"/>
    <p:sldId id="478" r:id="rId20"/>
    <p:sldId id="479" r:id="rId21"/>
    <p:sldId id="480" r:id="rId22"/>
    <p:sldId id="481" r:id="rId23"/>
    <p:sldId id="482" r:id="rId24"/>
    <p:sldId id="483" r:id="rId25"/>
    <p:sldId id="484" r:id="rId26"/>
    <p:sldId id="485" r:id="rId27"/>
    <p:sldId id="486" r:id="rId28"/>
    <p:sldId id="487" r:id="rId29"/>
    <p:sldId id="488" r:id="rId30"/>
    <p:sldId id="489" r:id="rId31"/>
    <p:sldId id="490" r:id="rId32"/>
    <p:sldId id="491" r:id="rId33"/>
    <p:sldId id="492" r:id="rId34"/>
    <p:sldId id="493" r:id="rId35"/>
    <p:sldId id="494" r:id="rId36"/>
    <p:sldId id="495" r:id="rId37"/>
    <p:sldId id="496" r:id="rId38"/>
    <p:sldId id="497" r:id="rId39"/>
    <p:sldId id="498" r:id="rId40"/>
    <p:sldId id="499" r:id="rId41"/>
    <p:sldId id="500" r:id="rId42"/>
    <p:sldId id="501" r:id="rId43"/>
    <p:sldId id="508" r:id="rId44"/>
    <p:sldId id="509" r:id="rId45"/>
    <p:sldId id="510" r:id="rId46"/>
    <p:sldId id="511" r:id="rId47"/>
    <p:sldId id="512" r:id="rId48"/>
    <p:sldId id="513" r:id="rId49"/>
    <p:sldId id="514" r:id="rId50"/>
    <p:sldId id="515" r:id="rId51"/>
    <p:sldId id="516" r:id="rId52"/>
    <p:sldId id="517" r:id="rId5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kern="1200">
        <a:solidFill>
          <a:schemeClr val="tx1"/>
        </a:solidFill>
        <a:latin typeface="Tahoma" pitchFamily="34" charset="0"/>
        <a:ea typeface="宋体" pitchFamily="2" charset="-122"/>
        <a:cs typeface="+mn-cs"/>
      </a:defRPr>
    </a:lvl5pPr>
    <a:lvl6pPr marL="2286000" algn="l" defTabSz="914400" rtl="0" eaLnBrk="1" latinLnBrk="0" hangingPunct="1">
      <a:defRPr kern="1200">
        <a:solidFill>
          <a:schemeClr val="tx1"/>
        </a:solidFill>
        <a:latin typeface="Tahoma" pitchFamily="34" charset="0"/>
        <a:ea typeface="宋体" pitchFamily="2" charset="-122"/>
        <a:cs typeface="+mn-cs"/>
      </a:defRPr>
    </a:lvl6pPr>
    <a:lvl7pPr marL="2743200" algn="l" defTabSz="914400" rtl="0" eaLnBrk="1" latinLnBrk="0" hangingPunct="1">
      <a:defRPr kern="1200">
        <a:solidFill>
          <a:schemeClr val="tx1"/>
        </a:solidFill>
        <a:latin typeface="Tahoma" pitchFamily="34" charset="0"/>
        <a:ea typeface="宋体" pitchFamily="2" charset="-122"/>
        <a:cs typeface="+mn-cs"/>
      </a:defRPr>
    </a:lvl7pPr>
    <a:lvl8pPr marL="3200400" algn="l" defTabSz="914400" rtl="0" eaLnBrk="1" latinLnBrk="0" hangingPunct="1">
      <a:defRPr kern="1200">
        <a:solidFill>
          <a:schemeClr val="tx1"/>
        </a:solidFill>
        <a:latin typeface="Tahoma" pitchFamily="34" charset="0"/>
        <a:ea typeface="宋体" pitchFamily="2" charset="-122"/>
        <a:cs typeface="+mn-cs"/>
      </a:defRPr>
    </a:lvl8pPr>
    <a:lvl9pPr marL="3657600" algn="l" defTabSz="914400" rtl="0" eaLnBrk="1" latinLnBrk="0" hangingPunct="1">
      <a:defRPr kern="1200">
        <a:solidFill>
          <a:schemeClr val="tx1"/>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009999"/>
    <a:srgbClr val="FFFFCC"/>
    <a:srgbClr val="99FFCC"/>
    <a:srgbClr val="3399FF"/>
    <a:srgbClr val="FFFF00"/>
    <a:srgbClr val="CC00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35" autoAdjust="0"/>
    <p:restoredTop sz="86439" autoAdjust="0"/>
  </p:normalViewPr>
  <p:slideViewPr>
    <p:cSldViewPr>
      <p:cViewPr varScale="1">
        <p:scale>
          <a:sx n="108" d="100"/>
          <a:sy n="108" d="100"/>
        </p:scale>
        <p:origin x="1608" y="108"/>
      </p:cViewPr>
      <p:guideLst>
        <p:guide orient="horz" pos="2160"/>
        <p:guide pos="2880"/>
      </p:guideLst>
    </p:cSldViewPr>
  </p:slideViewPr>
  <p:outlineViewPr>
    <p:cViewPr>
      <p:scale>
        <a:sx n="25" d="100"/>
        <a:sy n="25" d="100"/>
      </p:scale>
      <p:origin x="0" y="-46512"/>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zh-CN" altLang="en-US"/>
          </a:p>
        </p:txBody>
      </p:sp>
      <p:sp>
        <p:nvSpPr>
          <p:cNvPr id="39936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39936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
        <p:nvSpPr>
          <p:cNvPr id="39936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716DDA60-EDE3-4321-9965-5DECB955EFD1}" type="slidenum">
              <a:rPr lang="zh-CN" altLang="en-US"/>
              <a:pPr>
                <a:defRPr/>
              </a:pPr>
              <a:t>‹#›</a:t>
            </a:fld>
            <a:endParaRPr lang="en-US" altLang="zh-CN"/>
          </a:p>
        </p:txBody>
      </p:sp>
    </p:spTree>
    <p:extLst>
      <p:ext uri="{BB962C8B-B14F-4D97-AF65-F5344CB8AC3E}">
        <p14:creationId xmlns:p14="http://schemas.microsoft.com/office/powerpoint/2010/main" val="8009658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87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zh-CN" altLang="en-US"/>
          </a:p>
        </p:txBody>
      </p:sp>
      <p:sp>
        <p:nvSpPr>
          <p:cNvPr id="32870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645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870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2871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32871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6EFB740E-98D6-4382-B8DC-6D63694CFF69}" type="slidenum">
              <a:rPr lang="zh-CN" altLang="en-US"/>
              <a:pPr>
                <a:defRPr/>
              </a:pPr>
              <a:t>‹#›</a:t>
            </a:fld>
            <a:endParaRPr lang="en-US" altLang="zh-CN"/>
          </a:p>
        </p:txBody>
      </p:sp>
    </p:spTree>
    <p:extLst>
      <p:ext uri="{BB962C8B-B14F-4D97-AF65-F5344CB8AC3E}">
        <p14:creationId xmlns:p14="http://schemas.microsoft.com/office/powerpoint/2010/main" val="1538558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06767E-03E0-4B5E-BA5D-50CDB01D9EC8}" type="slidenum">
              <a:rPr lang="en-US" altLang="zh-CN"/>
              <a:pPr/>
              <a:t>7</a:t>
            </a:fld>
            <a:endParaRPr lang="en-US" altLang="zh-CN"/>
          </a:p>
        </p:txBody>
      </p:sp>
      <p:sp>
        <p:nvSpPr>
          <p:cNvPr id="2785282" name="Rectangle 2"/>
          <p:cNvSpPr>
            <a:spLocks noGrp="1" noRot="1" noChangeAspect="1" noChangeArrowheads="1" noTextEdit="1"/>
          </p:cNvSpPr>
          <p:nvPr>
            <p:ph type="sldImg"/>
          </p:nvPr>
        </p:nvSpPr>
        <p:spPr>
          <a:ln/>
        </p:spPr>
      </p:sp>
      <p:sp>
        <p:nvSpPr>
          <p:cNvPr id="278528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769795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20C221-FB59-4FA7-BF29-5042EEC9FC45}" type="slidenum">
              <a:rPr lang="en-US" altLang="zh-CN"/>
              <a:pPr/>
              <a:t>8</a:t>
            </a:fld>
            <a:endParaRPr lang="en-US" altLang="zh-CN"/>
          </a:p>
        </p:txBody>
      </p:sp>
      <p:sp>
        <p:nvSpPr>
          <p:cNvPr id="2787330" name="Rectangle 2"/>
          <p:cNvSpPr>
            <a:spLocks noGrp="1" noRot="1" noChangeAspect="1" noChangeArrowheads="1" noTextEdit="1"/>
          </p:cNvSpPr>
          <p:nvPr>
            <p:ph type="sldImg"/>
          </p:nvPr>
        </p:nvSpPr>
        <p:spPr>
          <a:ln/>
        </p:spPr>
      </p:sp>
      <p:sp>
        <p:nvSpPr>
          <p:cNvPr id="278733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610530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A8466C-A9C6-4059-BE0A-DE8226924A3C}" type="slidenum">
              <a:rPr lang="en-US" altLang="zh-CN"/>
              <a:pPr/>
              <a:t>9</a:t>
            </a:fld>
            <a:endParaRPr lang="en-US" altLang="zh-CN"/>
          </a:p>
        </p:txBody>
      </p:sp>
      <p:sp>
        <p:nvSpPr>
          <p:cNvPr id="2789378" name="Rectangle 2"/>
          <p:cNvSpPr>
            <a:spLocks noGrp="1" noRot="1" noChangeAspect="1" noChangeArrowheads="1" noTextEdit="1"/>
          </p:cNvSpPr>
          <p:nvPr>
            <p:ph type="sldImg"/>
          </p:nvPr>
        </p:nvSpPr>
        <p:spPr>
          <a:ln/>
        </p:spPr>
      </p:sp>
      <p:sp>
        <p:nvSpPr>
          <p:cNvPr id="278937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103310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1A17BE-7B4E-4288-9F2E-0D8F5C02BE3E}" type="slidenum">
              <a:rPr lang="en-US" altLang="zh-CN"/>
              <a:pPr/>
              <a:t>10</a:t>
            </a:fld>
            <a:endParaRPr lang="en-US" altLang="zh-CN"/>
          </a:p>
        </p:txBody>
      </p:sp>
      <p:sp>
        <p:nvSpPr>
          <p:cNvPr id="2791426" name="Rectangle 2"/>
          <p:cNvSpPr>
            <a:spLocks noGrp="1" noRot="1" noChangeAspect="1" noChangeArrowheads="1" noTextEdit="1"/>
          </p:cNvSpPr>
          <p:nvPr>
            <p:ph type="sldImg"/>
          </p:nvPr>
        </p:nvSpPr>
        <p:spPr>
          <a:ln/>
        </p:spPr>
      </p:sp>
      <p:sp>
        <p:nvSpPr>
          <p:cNvPr id="279142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25035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2B898D-3B29-494D-95F1-F931B4D6A90F}" type="slidenum">
              <a:rPr lang="en-US" altLang="zh-CN"/>
              <a:pPr/>
              <a:t>11</a:t>
            </a:fld>
            <a:endParaRPr lang="en-US" altLang="zh-CN"/>
          </a:p>
        </p:txBody>
      </p:sp>
      <p:sp>
        <p:nvSpPr>
          <p:cNvPr id="2793474" name="Rectangle 2"/>
          <p:cNvSpPr>
            <a:spLocks noGrp="1" noRot="1" noChangeAspect="1" noChangeArrowheads="1" noTextEdit="1"/>
          </p:cNvSpPr>
          <p:nvPr>
            <p:ph type="sldImg"/>
          </p:nvPr>
        </p:nvSpPr>
        <p:spPr>
          <a:ln/>
        </p:spPr>
      </p:sp>
      <p:sp>
        <p:nvSpPr>
          <p:cNvPr id="279347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49961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1DAC49C-7B72-4B51-BDD6-E45A6E878E35}" type="slidenum">
              <a:rPr lang="en-US" altLang="zh-CN"/>
              <a:pPr/>
              <a:t>12</a:t>
            </a:fld>
            <a:endParaRPr lang="en-US" altLang="zh-CN"/>
          </a:p>
        </p:txBody>
      </p:sp>
      <p:sp>
        <p:nvSpPr>
          <p:cNvPr id="2893826" name="Rectangle 2"/>
          <p:cNvSpPr>
            <a:spLocks noGrp="1" noRot="1" noChangeAspect="1" noChangeArrowheads="1" noTextEdit="1"/>
          </p:cNvSpPr>
          <p:nvPr>
            <p:ph type="sldImg"/>
          </p:nvPr>
        </p:nvSpPr>
        <p:spPr>
          <a:ln/>
        </p:spPr>
      </p:sp>
      <p:sp>
        <p:nvSpPr>
          <p:cNvPr id="289382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117549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779000-B025-47B3-9FFE-07232A9182C9}" type="slidenum">
              <a:rPr lang="en-US" altLang="zh-CN"/>
              <a:pPr/>
              <a:t>13</a:t>
            </a:fld>
            <a:endParaRPr lang="en-US" altLang="zh-CN"/>
          </a:p>
        </p:txBody>
      </p:sp>
      <p:sp>
        <p:nvSpPr>
          <p:cNvPr id="2795522" name="Rectangle 2"/>
          <p:cNvSpPr>
            <a:spLocks noGrp="1" noRot="1" noChangeAspect="1" noChangeArrowheads="1" noTextEdit="1"/>
          </p:cNvSpPr>
          <p:nvPr>
            <p:ph type="sldImg"/>
          </p:nvPr>
        </p:nvSpPr>
        <p:spPr>
          <a:ln/>
        </p:spPr>
      </p:sp>
      <p:sp>
        <p:nvSpPr>
          <p:cNvPr id="279552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908590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DD6EE6-EE65-44A9-B349-FF9FF7E7E989}" type="slidenum">
              <a:rPr lang="en-US" altLang="zh-CN"/>
              <a:pPr/>
              <a:t>14</a:t>
            </a:fld>
            <a:endParaRPr lang="en-US" altLang="zh-CN"/>
          </a:p>
        </p:txBody>
      </p:sp>
      <p:sp>
        <p:nvSpPr>
          <p:cNvPr id="2797570" name="Rectangle 2"/>
          <p:cNvSpPr>
            <a:spLocks noGrp="1" noRot="1" noChangeAspect="1" noChangeArrowheads="1" noTextEdit="1"/>
          </p:cNvSpPr>
          <p:nvPr>
            <p:ph type="sldImg"/>
          </p:nvPr>
        </p:nvSpPr>
        <p:spPr>
          <a:ln/>
        </p:spPr>
      </p:sp>
      <p:sp>
        <p:nvSpPr>
          <p:cNvPr id="279757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454339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28FB18C-A56F-4B01-BC4F-373869649BE1}" type="slidenum">
              <a:rPr lang="en-US" altLang="zh-CN"/>
              <a:pPr/>
              <a:t>15</a:t>
            </a:fld>
            <a:endParaRPr lang="en-US" altLang="zh-CN"/>
          </a:p>
        </p:txBody>
      </p:sp>
      <p:sp>
        <p:nvSpPr>
          <p:cNvPr id="2799618" name="Rectangle 2"/>
          <p:cNvSpPr>
            <a:spLocks noGrp="1" noRot="1" noChangeAspect="1" noChangeArrowheads="1" noTextEdit="1"/>
          </p:cNvSpPr>
          <p:nvPr>
            <p:ph type="sldImg"/>
          </p:nvPr>
        </p:nvSpPr>
        <p:spPr>
          <a:ln/>
        </p:spPr>
      </p:sp>
      <p:sp>
        <p:nvSpPr>
          <p:cNvPr id="279961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42378417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F4E227-B6CA-4D40-8A6F-25848F5D9EA8}" type="slidenum">
              <a:rPr lang="en-US" altLang="zh-CN"/>
              <a:pPr/>
              <a:t>16</a:t>
            </a:fld>
            <a:endParaRPr lang="en-US" altLang="zh-CN"/>
          </a:p>
        </p:txBody>
      </p:sp>
      <p:sp>
        <p:nvSpPr>
          <p:cNvPr id="2801666" name="Rectangle 2"/>
          <p:cNvSpPr>
            <a:spLocks noGrp="1" noRot="1" noChangeAspect="1" noChangeArrowheads="1" noTextEdit="1"/>
          </p:cNvSpPr>
          <p:nvPr>
            <p:ph type="sldImg"/>
          </p:nvPr>
        </p:nvSpPr>
        <p:spPr>
          <a:ln/>
        </p:spPr>
      </p:sp>
      <p:sp>
        <p:nvSpPr>
          <p:cNvPr id="280166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339322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8FEA09-61DC-465E-9607-8240676CD4F9}" type="slidenum">
              <a:rPr lang="en-US" altLang="zh-CN"/>
              <a:pPr/>
              <a:t>17</a:t>
            </a:fld>
            <a:endParaRPr lang="en-US" altLang="zh-CN"/>
          </a:p>
        </p:txBody>
      </p:sp>
      <p:sp>
        <p:nvSpPr>
          <p:cNvPr id="2803714" name="Rectangle 2"/>
          <p:cNvSpPr>
            <a:spLocks noGrp="1" noRot="1" noChangeAspect="1" noChangeArrowheads="1" noTextEdit="1"/>
          </p:cNvSpPr>
          <p:nvPr>
            <p:ph type="sldImg"/>
          </p:nvPr>
        </p:nvSpPr>
        <p:spPr>
          <a:ln/>
        </p:spPr>
      </p:sp>
      <p:sp>
        <p:nvSpPr>
          <p:cNvPr id="280371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6557557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79C3BE-CF93-4E7B-8D5B-EC6A950D5320}" type="slidenum">
              <a:rPr lang="en-US" altLang="zh-CN"/>
              <a:pPr/>
              <a:t>18</a:t>
            </a:fld>
            <a:endParaRPr lang="en-US" altLang="zh-CN"/>
          </a:p>
        </p:txBody>
      </p:sp>
      <p:sp>
        <p:nvSpPr>
          <p:cNvPr id="2805762" name="Rectangle 2"/>
          <p:cNvSpPr>
            <a:spLocks noGrp="1" noRot="1" noChangeAspect="1" noChangeArrowheads="1" noTextEdit="1"/>
          </p:cNvSpPr>
          <p:nvPr>
            <p:ph type="sldImg"/>
          </p:nvPr>
        </p:nvSpPr>
        <p:spPr>
          <a:ln/>
        </p:spPr>
      </p:sp>
      <p:sp>
        <p:nvSpPr>
          <p:cNvPr id="280576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9992856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EC04931-DF9B-46D7-BC1E-44831987147E}" type="slidenum">
              <a:rPr lang="en-US" altLang="zh-CN"/>
              <a:pPr/>
              <a:t>19</a:t>
            </a:fld>
            <a:endParaRPr lang="en-US" altLang="zh-CN"/>
          </a:p>
        </p:txBody>
      </p:sp>
      <p:sp>
        <p:nvSpPr>
          <p:cNvPr id="2807810" name="Rectangle 2"/>
          <p:cNvSpPr>
            <a:spLocks noGrp="1" noRot="1" noChangeAspect="1" noChangeArrowheads="1" noTextEdit="1"/>
          </p:cNvSpPr>
          <p:nvPr>
            <p:ph type="sldImg"/>
          </p:nvPr>
        </p:nvSpPr>
        <p:spPr>
          <a:ln/>
        </p:spPr>
      </p:sp>
      <p:sp>
        <p:nvSpPr>
          <p:cNvPr id="280781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488177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9FF00D-B9B4-440F-B15C-1871D7B9F195}" type="slidenum">
              <a:rPr lang="en-US" altLang="zh-CN"/>
              <a:pPr/>
              <a:t>20</a:t>
            </a:fld>
            <a:endParaRPr lang="en-US" altLang="zh-CN"/>
          </a:p>
        </p:txBody>
      </p:sp>
      <p:sp>
        <p:nvSpPr>
          <p:cNvPr id="2809858" name="Rectangle 2"/>
          <p:cNvSpPr>
            <a:spLocks noGrp="1" noRot="1" noChangeAspect="1" noChangeArrowheads="1" noTextEdit="1"/>
          </p:cNvSpPr>
          <p:nvPr>
            <p:ph type="sldImg"/>
          </p:nvPr>
        </p:nvSpPr>
        <p:spPr>
          <a:ln/>
        </p:spPr>
      </p:sp>
      <p:sp>
        <p:nvSpPr>
          <p:cNvPr id="280985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5406808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8DF8CC-300F-4DBD-B8D0-0481B6AE2C88}" type="slidenum">
              <a:rPr lang="en-US" altLang="zh-CN"/>
              <a:pPr/>
              <a:t>21</a:t>
            </a:fld>
            <a:endParaRPr lang="en-US" altLang="zh-CN"/>
          </a:p>
        </p:txBody>
      </p:sp>
      <p:sp>
        <p:nvSpPr>
          <p:cNvPr id="2811906" name="Rectangle 2"/>
          <p:cNvSpPr>
            <a:spLocks noGrp="1" noRot="1" noChangeAspect="1" noChangeArrowheads="1" noTextEdit="1"/>
          </p:cNvSpPr>
          <p:nvPr>
            <p:ph type="sldImg"/>
          </p:nvPr>
        </p:nvSpPr>
        <p:spPr>
          <a:ln/>
        </p:spPr>
      </p:sp>
      <p:sp>
        <p:nvSpPr>
          <p:cNvPr id="281190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16321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9816ED-4688-4F99-BCB5-CDEC567CE00A}" type="slidenum">
              <a:rPr lang="en-US" altLang="zh-CN"/>
              <a:pPr/>
              <a:t>22</a:t>
            </a:fld>
            <a:endParaRPr lang="en-US" altLang="zh-CN"/>
          </a:p>
        </p:txBody>
      </p:sp>
      <p:sp>
        <p:nvSpPr>
          <p:cNvPr id="2813954" name="Rectangle 2"/>
          <p:cNvSpPr>
            <a:spLocks noGrp="1" noRot="1" noChangeAspect="1" noChangeArrowheads="1" noTextEdit="1"/>
          </p:cNvSpPr>
          <p:nvPr>
            <p:ph type="sldImg"/>
          </p:nvPr>
        </p:nvSpPr>
        <p:spPr>
          <a:ln/>
        </p:spPr>
      </p:sp>
      <p:sp>
        <p:nvSpPr>
          <p:cNvPr id="281395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8445661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93A820-E9B7-4C07-A241-0A5BBB31B0C0}" type="slidenum">
              <a:rPr lang="en-US" altLang="zh-CN"/>
              <a:pPr/>
              <a:t>23</a:t>
            </a:fld>
            <a:endParaRPr lang="en-US" altLang="zh-CN"/>
          </a:p>
        </p:txBody>
      </p:sp>
      <p:sp>
        <p:nvSpPr>
          <p:cNvPr id="2816002" name="Rectangle 2"/>
          <p:cNvSpPr>
            <a:spLocks noGrp="1" noRot="1" noChangeAspect="1" noChangeArrowheads="1" noTextEdit="1"/>
          </p:cNvSpPr>
          <p:nvPr>
            <p:ph type="sldImg"/>
          </p:nvPr>
        </p:nvSpPr>
        <p:spPr>
          <a:ln/>
        </p:spPr>
      </p:sp>
      <p:sp>
        <p:nvSpPr>
          <p:cNvPr id="281600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669122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E0F479C-9AF8-4A91-93AB-7315F707DA05}" type="slidenum">
              <a:rPr lang="en-US" altLang="zh-CN"/>
              <a:pPr/>
              <a:t>24</a:t>
            </a:fld>
            <a:endParaRPr lang="en-US" altLang="zh-CN"/>
          </a:p>
        </p:txBody>
      </p:sp>
      <p:sp>
        <p:nvSpPr>
          <p:cNvPr id="2818050" name="Rectangle 2"/>
          <p:cNvSpPr>
            <a:spLocks noGrp="1" noRot="1" noChangeAspect="1" noChangeArrowheads="1" noTextEdit="1"/>
          </p:cNvSpPr>
          <p:nvPr>
            <p:ph type="sldImg"/>
          </p:nvPr>
        </p:nvSpPr>
        <p:spPr>
          <a:ln/>
        </p:spPr>
      </p:sp>
      <p:sp>
        <p:nvSpPr>
          <p:cNvPr id="281805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7471010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E5CC6CE-03C3-4520-85DD-2EDC391EC3FB}" type="slidenum">
              <a:rPr lang="en-US" altLang="zh-CN"/>
              <a:pPr/>
              <a:t>25</a:t>
            </a:fld>
            <a:endParaRPr lang="en-US" altLang="zh-CN"/>
          </a:p>
        </p:txBody>
      </p:sp>
      <p:sp>
        <p:nvSpPr>
          <p:cNvPr id="2820098" name="Rectangle 2"/>
          <p:cNvSpPr>
            <a:spLocks noGrp="1" noRot="1" noChangeAspect="1" noChangeArrowheads="1" noTextEdit="1"/>
          </p:cNvSpPr>
          <p:nvPr>
            <p:ph type="sldImg"/>
          </p:nvPr>
        </p:nvSpPr>
        <p:spPr>
          <a:ln/>
        </p:spPr>
      </p:sp>
      <p:sp>
        <p:nvSpPr>
          <p:cNvPr id="282009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40367182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1C30F9-B5CA-432B-83A5-949EBA5FF846}" type="slidenum">
              <a:rPr lang="en-US" altLang="zh-CN"/>
              <a:pPr/>
              <a:t>26</a:t>
            </a:fld>
            <a:endParaRPr lang="en-US" altLang="zh-CN"/>
          </a:p>
        </p:txBody>
      </p:sp>
      <p:sp>
        <p:nvSpPr>
          <p:cNvPr id="2897922" name="Rectangle 2"/>
          <p:cNvSpPr>
            <a:spLocks noGrp="1" noRot="1" noChangeAspect="1" noChangeArrowheads="1" noTextEdit="1"/>
          </p:cNvSpPr>
          <p:nvPr>
            <p:ph type="sldImg"/>
          </p:nvPr>
        </p:nvSpPr>
        <p:spPr>
          <a:ln/>
        </p:spPr>
      </p:sp>
      <p:sp>
        <p:nvSpPr>
          <p:cNvPr id="289792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9778344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89DA9-904F-4CA1-87B5-5D64E4AF2991}" type="slidenum">
              <a:rPr lang="en-US" altLang="zh-CN"/>
              <a:pPr/>
              <a:t>27</a:t>
            </a:fld>
            <a:endParaRPr lang="en-US" altLang="zh-CN"/>
          </a:p>
        </p:txBody>
      </p:sp>
      <p:sp>
        <p:nvSpPr>
          <p:cNvPr id="2822146" name="Rectangle 2"/>
          <p:cNvSpPr>
            <a:spLocks noGrp="1" noRot="1" noChangeAspect="1" noChangeArrowheads="1" noTextEdit="1"/>
          </p:cNvSpPr>
          <p:nvPr>
            <p:ph type="sldImg"/>
          </p:nvPr>
        </p:nvSpPr>
        <p:spPr>
          <a:ln/>
        </p:spPr>
      </p:sp>
      <p:sp>
        <p:nvSpPr>
          <p:cNvPr id="282214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2532954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01FFA2-36B7-4F71-AD24-EA1A3DA261DB}" type="slidenum">
              <a:rPr lang="en-US" altLang="zh-CN"/>
              <a:pPr/>
              <a:t>28</a:t>
            </a:fld>
            <a:endParaRPr lang="en-US" altLang="zh-CN"/>
          </a:p>
        </p:txBody>
      </p:sp>
      <p:sp>
        <p:nvSpPr>
          <p:cNvPr id="2824194" name="Rectangle 2"/>
          <p:cNvSpPr>
            <a:spLocks noGrp="1" noRot="1" noChangeAspect="1" noChangeArrowheads="1" noTextEdit="1"/>
          </p:cNvSpPr>
          <p:nvPr>
            <p:ph type="sldImg"/>
          </p:nvPr>
        </p:nvSpPr>
        <p:spPr>
          <a:ln/>
        </p:spPr>
      </p:sp>
      <p:sp>
        <p:nvSpPr>
          <p:cNvPr id="282419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9643650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4AC3C1-4997-4F1F-92D3-ABDB67BD0D1C}" type="slidenum">
              <a:rPr lang="en-US" altLang="zh-CN"/>
              <a:pPr/>
              <a:t>29</a:t>
            </a:fld>
            <a:endParaRPr lang="en-US" altLang="zh-CN"/>
          </a:p>
        </p:txBody>
      </p:sp>
      <p:sp>
        <p:nvSpPr>
          <p:cNvPr id="2826242" name="Rectangle 2"/>
          <p:cNvSpPr>
            <a:spLocks noGrp="1" noRot="1" noChangeAspect="1" noChangeArrowheads="1" noTextEdit="1"/>
          </p:cNvSpPr>
          <p:nvPr>
            <p:ph type="sldImg"/>
          </p:nvPr>
        </p:nvSpPr>
        <p:spPr>
          <a:ln/>
        </p:spPr>
      </p:sp>
      <p:sp>
        <p:nvSpPr>
          <p:cNvPr id="282624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9352720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8539D0-E28B-4C2C-98CE-FE62DF6159F0}" type="slidenum">
              <a:rPr lang="en-US" altLang="zh-CN"/>
              <a:pPr/>
              <a:t>30</a:t>
            </a:fld>
            <a:endParaRPr lang="en-US" altLang="zh-CN"/>
          </a:p>
        </p:txBody>
      </p:sp>
      <p:sp>
        <p:nvSpPr>
          <p:cNvPr id="2828290" name="Rectangle 2"/>
          <p:cNvSpPr>
            <a:spLocks noGrp="1" noRot="1" noChangeAspect="1" noChangeArrowheads="1" noTextEdit="1"/>
          </p:cNvSpPr>
          <p:nvPr>
            <p:ph type="sldImg"/>
          </p:nvPr>
        </p:nvSpPr>
        <p:spPr>
          <a:ln/>
        </p:spPr>
      </p:sp>
      <p:sp>
        <p:nvSpPr>
          <p:cNvPr id="282829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6186903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7B4591-B833-4EA7-9394-7D298FE17940}" type="slidenum">
              <a:rPr lang="en-US" altLang="zh-CN"/>
              <a:pPr/>
              <a:t>31</a:t>
            </a:fld>
            <a:endParaRPr lang="en-US" altLang="zh-CN"/>
          </a:p>
        </p:txBody>
      </p:sp>
      <p:sp>
        <p:nvSpPr>
          <p:cNvPr id="2830338" name="Rectangle 2"/>
          <p:cNvSpPr>
            <a:spLocks noGrp="1" noRot="1" noChangeAspect="1" noChangeArrowheads="1" noTextEdit="1"/>
          </p:cNvSpPr>
          <p:nvPr>
            <p:ph type="sldImg"/>
          </p:nvPr>
        </p:nvSpPr>
        <p:spPr>
          <a:ln/>
        </p:spPr>
      </p:sp>
      <p:sp>
        <p:nvSpPr>
          <p:cNvPr id="283033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5694430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6DCEFE-3990-415B-BEF8-113100607DFC}" type="slidenum">
              <a:rPr lang="en-US" altLang="zh-CN"/>
              <a:pPr/>
              <a:t>32</a:t>
            </a:fld>
            <a:endParaRPr lang="en-US" altLang="zh-CN"/>
          </a:p>
        </p:txBody>
      </p:sp>
      <p:sp>
        <p:nvSpPr>
          <p:cNvPr id="2832386" name="Rectangle 2"/>
          <p:cNvSpPr>
            <a:spLocks noGrp="1" noRot="1" noChangeAspect="1" noChangeArrowheads="1" noTextEdit="1"/>
          </p:cNvSpPr>
          <p:nvPr>
            <p:ph type="sldImg"/>
          </p:nvPr>
        </p:nvSpPr>
        <p:spPr>
          <a:ln/>
        </p:spPr>
      </p:sp>
      <p:sp>
        <p:nvSpPr>
          <p:cNvPr id="283238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8463135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6D596F-B482-44F2-AE79-F2DE9B1CAE2D}" type="slidenum">
              <a:rPr lang="en-US" altLang="zh-CN"/>
              <a:pPr/>
              <a:t>33</a:t>
            </a:fld>
            <a:endParaRPr lang="en-US" altLang="zh-CN"/>
          </a:p>
        </p:txBody>
      </p:sp>
      <p:sp>
        <p:nvSpPr>
          <p:cNvPr id="2834434" name="Rectangle 2"/>
          <p:cNvSpPr>
            <a:spLocks noGrp="1" noRot="1" noChangeAspect="1" noChangeArrowheads="1" noTextEdit="1"/>
          </p:cNvSpPr>
          <p:nvPr>
            <p:ph type="sldImg"/>
          </p:nvPr>
        </p:nvSpPr>
        <p:spPr>
          <a:ln/>
        </p:spPr>
      </p:sp>
      <p:sp>
        <p:nvSpPr>
          <p:cNvPr id="283443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3018359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0AF7EA-0619-4AB5-BA97-9D6E412D0F7B}" type="slidenum">
              <a:rPr lang="en-US" altLang="zh-CN"/>
              <a:pPr/>
              <a:t>34</a:t>
            </a:fld>
            <a:endParaRPr lang="en-US" altLang="zh-CN"/>
          </a:p>
        </p:txBody>
      </p:sp>
      <p:sp>
        <p:nvSpPr>
          <p:cNvPr id="2836482" name="Rectangle 2"/>
          <p:cNvSpPr>
            <a:spLocks noGrp="1" noRot="1" noChangeAspect="1" noChangeArrowheads="1" noTextEdit="1"/>
          </p:cNvSpPr>
          <p:nvPr>
            <p:ph type="sldImg"/>
          </p:nvPr>
        </p:nvSpPr>
        <p:spPr>
          <a:ln/>
        </p:spPr>
      </p:sp>
      <p:sp>
        <p:nvSpPr>
          <p:cNvPr id="283648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9417443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00CF20-3FFD-4C0A-B44B-979C5F904576}" type="slidenum">
              <a:rPr lang="en-US" altLang="zh-CN"/>
              <a:pPr/>
              <a:t>35</a:t>
            </a:fld>
            <a:endParaRPr lang="en-US" altLang="zh-CN"/>
          </a:p>
        </p:txBody>
      </p:sp>
      <p:sp>
        <p:nvSpPr>
          <p:cNvPr id="2838530" name="Rectangle 2"/>
          <p:cNvSpPr>
            <a:spLocks noGrp="1" noRot="1" noChangeAspect="1" noChangeArrowheads="1" noTextEdit="1"/>
          </p:cNvSpPr>
          <p:nvPr>
            <p:ph type="sldImg"/>
          </p:nvPr>
        </p:nvSpPr>
        <p:spPr>
          <a:ln/>
        </p:spPr>
      </p:sp>
      <p:sp>
        <p:nvSpPr>
          <p:cNvPr id="283853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4377690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435D17-465C-47F9-AF3F-791D8A23891D}" type="slidenum">
              <a:rPr lang="en-US" altLang="zh-CN"/>
              <a:pPr/>
              <a:t>36</a:t>
            </a:fld>
            <a:endParaRPr lang="en-US" altLang="zh-CN"/>
          </a:p>
        </p:txBody>
      </p:sp>
      <p:sp>
        <p:nvSpPr>
          <p:cNvPr id="2840578" name="Rectangle 2"/>
          <p:cNvSpPr>
            <a:spLocks noGrp="1" noRot="1" noChangeAspect="1" noChangeArrowheads="1" noTextEdit="1"/>
          </p:cNvSpPr>
          <p:nvPr>
            <p:ph type="sldImg"/>
          </p:nvPr>
        </p:nvSpPr>
        <p:spPr>
          <a:ln/>
        </p:spPr>
      </p:sp>
      <p:sp>
        <p:nvSpPr>
          <p:cNvPr id="284057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9560918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37F2CB-0C2F-49A5-8A83-610131F53F89}" type="slidenum">
              <a:rPr lang="en-US" altLang="zh-CN"/>
              <a:pPr/>
              <a:t>37</a:t>
            </a:fld>
            <a:endParaRPr lang="en-US" altLang="zh-CN"/>
          </a:p>
        </p:txBody>
      </p:sp>
      <p:sp>
        <p:nvSpPr>
          <p:cNvPr id="2842626" name="Rectangle 2"/>
          <p:cNvSpPr>
            <a:spLocks noGrp="1" noRot="1" noChangeAspect="1" noChangeArrowheads="1" noTextEdit="1"/>
          </p:cNvSpPr>
          <p:nvPr>
            <p:ph type="sldImg"/>
          </p:nvPr>
        </p:nvSpPr>
        <p:spPr>
          <a:ln/>
        </p:spPr>
      </p:sp>
      <p:sp>
        <p:nvSpPr>
          <p:cNvPr id="284262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464034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5FE67F-F141-4F3F-86C7-E36BAAFFC202}" type="slidenum">
              <a:rPr lang="en-US" altLang="zh-CN"/>
              <a:pPr/>
              <a:t>38</a:t>
            </a:fld>
            <a:endParaRPr lang="en-US" altLang="zh-CN"/>
          </a:p>
        </p:txBody>
      </p:sp>
      <p:sp>
        <p:nvSpPr>
          <p:cNvPr id="2844674" name="Rectangle 2"/>
          <p:cNvSpPr>
            <a:spLocks noGrp="1" noRot="1" noChangeAspect="1" noChangeArrowheads="1" noTextEdit="1"/>
          </p:cNvSpPr>
          <p:nvPr>
            <p:ph type="sldImg"/>
          </p:nvPr>
        </p:nvSpPr>
        <p:spPr>
          <a:ln/>
        </p:spPr>
      </p:sp>
      <p:sp>
        <p:nvSpPr>
          <p:cNvPr id="284467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9144131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84C10-4D0A-4015-BE75-8CE32E4E4B01}" type="slidenum">
              <a:rPr lang="en-US" altLang="zh-CN"/>
              <a:pPr/>
              <a:t>39</a:t>
            </a:fld>
            <a:endParaRPr lang="en-US" altLang="zh-CN"/>
          </a:p>
        </p:txBody>
      </p:sp>
      <p:sp>
        <p:nvSpPr>
          <p:cNvPr id="2899970" name="Rectangle 2"/>
          <p:cNvSpPr>
            <a:spLocks noGrp="1" noRot="1" noChangeAspect="1" noChangeArrowheads="1" noTextEdit="1"/>
          </p:cNvSpPr>
          <p:nvPr>
            <p:ph type="sldImg"/>
          </p:nvPr>
        </p:nvSpPr>
        <p:spPr>
          <a:ln/>
        </p:spPr>
      </p:sp>
      <p:sp>
        <p:nvSpPr>
          <p:cNvPr id="289997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9575514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9034BB1-FAF7-4E60-B1EE-6CCA8D79C0C4}" type="slidenum">
              <a:rPr lang="en-US" altLang="zh-CN"/>
              <a:pPr/>
              <a:t>40</a:t>
            </a:fld>
            <a:endParaRPr lang="en-US" altLang="zh-CN"/>
          </a:p>
        </p:txBody>
      </p:sp>
      <p:sp>
        <p:nvSpPr>
          <p:cNvPr id="2846722" name="Rectangle 2"/>
          <p:cNvSpPr>
            <a:spLocks noGrp="1" noRot="1" noChangeAspect="1" noChangeArrowheads="1" noTextEdit="1"/>
          </p:cNvSpPr>
          <p:nvPr>
            <p:ph type="sldImg"/>
          </p:nvPr>
        </p:nvSpPr>
        <p:spPr>
          <a:ln/>
        </p:spPr>
      </p:sp>
      <p:sp>
        <p:nvSpPr>
          <p:cNvPr id="284672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0405948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760D4D-3CDF-491B-A8CD-EBBF2A91ACBF}" type="slidenum">
              <a:rPr lang="en-US" altLang="zh-CN"/>
              <a:pPr/>
              <a:t>41</a:t>
            </a:fld>
            <a:endParaRPr lang="en-US" altLang="zh-CN"/>
          </a:p>
        </p:txBody>
      </p:sp>
      <p:sp>
        <p:nvSpPr>
          <p:cNvPr id="2902018" name="Rectangle 2"/>
          <p:cNvSpPr>
            <a:spLocks noGrp="1" noRot="1" noChangeAspect="1" noChangeArrowheads="1" noTextEdit="1"/>
          </p:cNvSpPr>
          <p:nvPr>
            <p:ph type="sldImg"/>
          </p:nvPr>
        </p:nvSpPr>
        <p:spPr>
          <a:ln/>
        </p:spPr>
      </p:sp>
      <p:sp>
        <p:nvSpPr>
          <p:cNvPr id="290201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7049870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43B55F4-A16D-4DF5-9699-A1AD7BDC8AB7}" type="slidenum">
              <a:rPr lang="en-US" altLang="zh-CN"/>
              <a:pPr/>
              <a:t>42</a:t>
            </a:fld>
            <a:endParaRPr lang="en-US" altLang="zh-CN"/>
          </a:p>
        </p:txBody>
      </p:sp>
      <p:sp>
        <p:nvSpPr>
          <p:cNvPr id="2848770" name="Rectangle 2"/>
          <p:cNvSpPr>
            <a:spLocks noGrp="1" noRot="1" noChangeAspect="1" noChangeArrowheads="1" noTextEdit="1"/>
          </p:cNvSpPr>
          <p:nvPr>
            <p:ph type="sldImg"/>
          </p:nvPr>
        </p:nvSpPr>
        <p:spPr>
          <a:ln/>
        </p:spPr>
      </p:sp>
      <p:sp>
        <p:nvSpPr>
          <p:cNvPr id="284877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7079464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2A82FC-0750-441D-AC2A-065DCAD1CA40}" type="slidenum">
              <a:rPr lang="en-US" altLang="zh-CN"/>
              <a:pPr/>
              <a:t>43</a:t>
            </a:fld>
            <a:endParaRPr lang="en-US" altLang="zh-CN"/>
          </a:p>
        </p:txBody>
      </p:sp>
      <p:sp>
        <p:nvSpPr>
          <p:cNvPr id="2859010" name="Rectangle 2"/>
          <p:cNvSpPr>
            <a:spLocks noGrp="1" noRot="1" noChangeAspect="1" noChangeArrowheads="1" noTextEdit="1"/>
          </p:cNvSpPr>
          <p:nvPr>
            <p:ph type="sldImg"/>
          </p:nvPr>
        </p:nvSpPr>
        <p:spPr>
          <a:ln/>
        </p:spPr>
      </p:sp>
      <p:sp>
        <p:nvSpPr>
          <p:cNvPr id="285901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8801766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B34C5B-EF66-403B-8CDF-5F5C9DC2588B}" type="slidenum">
              <a:rPr lang="en-US" altLang="zh-CN"/>
              <a:pPr/>
              <a:t>44</a:t>
            </a:fld>
            <a:endParaRPr lang="en-US" altLang="zh-CN"/>
          </a:p>
        </p:txBody>
      </p:sp>
      <p:sp>
        <p:nvSpPr>
          <p:cNvPr id="2861058" name="Rectangle 2"/>
          <p:cNvSpPr>
            <a:spLocks noGrp="1" noRot="1" noChangeAspect="1" noChangeArrowheads="1" noTextEdit="1"/>
          </p:cNvSpPr>
          <p:nvPr>
            <p:ph type="sldImg"/>
          </p:nvPr>
        </p:nvSpPr>
        <p:spPr>
          <a:ln/>
        </p:spPr>
      </p:sp>
      <p:sp>
        <p:nvSpPr>
          <p:cNvPr id="286105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7649636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3A5764-4E4A-406F-9629-827AD95C297C}" type="slidenum">
              <a:rPr lang="en-US" altLang="zh-CN"/>
              <a:pPr/>
              <a:t>45</a:t>
            </a:fld>
            <a:endParaRPr lang="en-US" altLang="zh-CN"/>
          </a:p>
        </p:txBody>
      </p:sp>
      <p:sp>
        <p:nvSpPr>
          <p:cNvPr id="2863106" name="Rectangle 2"/>
          <p:cNvSpPr>
            <a:spLocks noGrp="1" noRot="1" noChangeAspect="1" noChangeArrowheads="1" noTextEdit="1"/>
          </p:cNvSpPr>
          <p:nvPr>
            <p:ph type="sldImg"/>
          </p:nvPr>
        </p:nvSpPr>
        <p:spPr>
          <a:ln/>
        </p:spPr>
      </p:sp>
      <p:sp>
        <p:nvSpPr>
          <p:cNvPr id="286310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0510262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F214B0-0BF4-44A9-8604-D5476C87FDD9}" type="slidenum">
              <a:rPr lang="en-US" altLang="zh-CN"/>
              <a:pPr/>
              <a:t>46</a:t>
            </a:fld>
            <a:endParaRPr lang="en-US" altLang="zh-CN"/>
          </a:p>
        </p:txBody>
      </p:sp>
      <p:sp>
        <p:nvSpPr>
          <p:cNvPr id="2865154" name="Rectangle 2"/>
          <p:cNvSpPr>
            <a:spLocks noGrp="1" noRot="1" noChangeAspect="1" noChangeArrowheads="1" noTextEdit="1"/>
          </p:cNvSpPr>
          <p:nvPr>
            <p:ph type="sldImg"/>
          </p:nvPr>
        </p:nvSpPr>
        <p:spPr>
          <a:ln/>
        </p:spPr>
      </p:sp>
      <p:sp>
        <p:nvSpPr>
          <p:cNvPr id="286515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6815253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131ECB-7EA9-441E-B822-83422D548712}" type="slidenum">
              <a:rPr lang="en-US" altLang="zh-CN"/>
              <a:pPr/>
              <a:t>47</a:t>
            </a:fld>
            <a:endParaRPr lang="en-US" altLang="zh-CN"/>
          </a:p>
        </p:txBody>
      </p:sp>
      <p:sp>
        <p:nvSpPr>
          <p:cNvPr id="2867202" name="Rectangle 2"/>
          <p:cNvSpPr>
            <a:spLocks noGrp="1" noRot="1" noChangeAspect="1" noChangeArrowheads="1" noTextEdit="1"/>
          </p:cNvSpPr>
          <p:nvPr>
            <p:ph type="sldImg"/>
          </p:nvPr>
        </p:nvSpPr>
        <p:spPr>
          <a:ln/>
        </p:spPr>
      </p:sp>
      <p:sp>
        <p:nvSpPr>
          <p:cNvPr id="286720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6746006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9F4110-CFFD-48D5-9BBF-B6B3473A961E}" type="slidenum">
              <a:rPr lang="en-US" altLang="zh-CN"/>
              <a:pPr/>
              <a:t>48</a:t>
            </a:fld>
            <a:endParaRPr lang="en-US" altLang="zh-CN"/>
          </a:p>
        </p:txBody>
      </p:sp>
      <p:sp>
        <p:nvSpPr>
          <p:cNvPr id="2869250" name="Rectangle 2"/>
          <p:cNvSpPr>
            <a:spLocks noGrp="1" noRot="1" noChangeAspect="1" noChangeArrowheads="1" noTextEdit="1"/>
          </p:cNvSpPr>
          <p:nvPr>
            <p:ph type="sldImg"/>
          </p:nvPr>
        </p:nvSpPr>
        <p:spPr>
          <a:ln/>
        </p:spPr>
      </p:sp>
      <p:sp>
        <p:nvSpPr>
          <p:cNvPr id="286925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5125962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68165A-E4C7-43D8-9765-5EBBEC83CE90}" type="slidenum">
              <a:rPr lang="en-US" altLang="zh-CN"/>
              <a:pPr/>
              <a:t>49</a:t>
            </a:fld>
            <a:endParaRPr lang="en-US" altLang="zh-CN"/>
          </a:p>
        </p:txBody>
      </p:sp>
      <p:sp>
        <p:nvSpPr>
          <p:cNvPr id="2871298" name="Rectangle 2"/>
          <p:cNvSpPr>
            <a:spLocks noGrp="1" noRot="1" noChangeAspect="1" noChangeArrowheads="1" noTextEdit="1"/>
          </p:cNvSpPr>
          <p:nvPr>
            <p:ph type="sldImg"/>
          </p:nvPr>
        </p:nvSpPr>
        <p:spPr>
          <a:ln/>
        </p:spPr>
      </p:sp>
      <p:sp>
        <p:nvSpPr>
          <p:cNvPr id="287129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4213214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7294DE-6FB1-474E-BCB2-53466D9CAD17}" type="slidenum">
              <a:rPr lang="en-US" altLang="zh-CN"/>
              <a:pPr/>
              <a:t>50</a:t>
            </a:fld>
            <a:endParaRPr lang="en-US" altLang="zh-CN"/>
          </a:p>
        </p:txBody>
      </p:sp>
      <p:sp>
        <p:nvSpPr>
          <p:cNvPr id="2962434" name="Rectangle 2"/>
          <p:cNvSpPr>
            <a:spLocks noGrp="1" noRot="1" noChangeAspect="1" noChangeArrowheads="1" noTextEdit="1"/>
          </p:cNvSpPr>
          <p:nvPr>
            <p:ph type="sldImg"/>
          </p:nvPr>
        </p:nvSpPr>
        <p:spPr>
          <a:ln/>
        </p:spPr>
      </p:sp>
      <p:sp>
        <p:nvSpPr>
          <p:cNvPr id="296243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3419535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E15641-7119-4E27-AB92-3FCFA9D73DC6}" type="slidenum">
              <a:rPr lang="en-US" altLang="zh-CN"/>
              <a:pPr/>
              <a:t>51</a:t>
            </a:fld>
            <a:endParaRPr lang="en-US" altLang="zh-CN"/>
          </a:p>
        </p:txBody>
      </p:sp>
      <p:sp>
        <p:nvSpPr>
          <p:cNvPr id="2873346" name="Rectangle 2"/>
          <p:cNvSpPr>
            <a:spLocks noGrp="1" noRot="1" noChangeAspect="1" noChangeArrowheads="1" noTextEdit="1"/>
          </p:cNvSpPr>
          <p:nvPr>
            <p:ph type="sldImg"/>
          </p:nvPr>
        </p:nvSpPr>
        <p:spPr>
          <a:ln/>
        </p:spPr>
      </p:sp>
      <p:sp>
        <p:nvSpPr>
          <p:cNvPr id="287334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4756785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2C1042-CC17-48F7-BBAF-14D3A8AAA39A}" type="slidenum">
              <a:rPr lang="en-US" altLang="zh-CN"/>
              <a:pPr/>
              <a:t>52</a:t>
            </a:fld>
            <a:endParaRPr lang="en-US" altLang="zh-CN"/>
          </a:p>
        </p:txBody>
      </p:sp>
      <p:sp>
        <p:nvSpPr>
          <p:cNvPr id="2875394" name="Rectangle 2"/>
          <p:cNvSpPr>
            <a:spLocks noGrp="1" noRot="1" noChangeAspect="1" noChangeArrowheads="1" noTextEdit="1"/>
          </p:cNvSpPr>
          <p:nvPr>
            <p:ph type="sldImg"/>
          </p:nvPr>
        </p:nvSpPr>
        <p:spPr>
          <a:ln/>
        </p:spPr>
      </p:sp>
      <p:sp>
        <p:nvSpPr>
          <p:cNvPr id="287539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7123150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46114" name="Rectangle 2"/>
          <p:cNvSpPr>
            <a:spLocks noGrp="1" noRot="1" noChangeArrowheads="1"/>
          </p:cNvSpPr>
          <p:nvPr>
            <p:ph type="ctrTitle"/>
          </p:nvPr>
        </p:nvSpPr>
        <p:spPr>
          <a:xfrm>
            <a:off x="685800" y="2286000"/>
            <a:ext cx="7772400" cy="1143000"/>
          </a:xfrm>
        </p:spPr>
        <p:txBody>
          <a:bodyPr/>
          <a:lstStyle>
            <a:lvl1pPr>
              <a:defRPr/>
            </a:lvl1pPr>
          </a:lstStyle>
          <a:p>
            <a:r>
              <a:rPr lang="zh-CN" altLang="en-US" smtClean="0"/>
              <a:t>单击此处编辑母版标题样式</a:t>
            </a:r>
            <a:endParaRPr lang="zh-CN" altLang="en-US"/>
          </a:p>
        </p:txBody>
      </p:sp>
      <p:sp>
        <p:nvSpPr>
          <p:cNvPr id="346115"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7253FE72-D0EC-42FD-AF5B-20AFF69D3F0D}" type="datetime1">
              <a:rPr lang="zh-CN" altLang="en-US"/>
              <a:pPr>
                <a:defRPr/>
              </a:pPr>
              <a:t>2017/2/24</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3DA6346E-9113-4E7C-992E-5D320361FA45}" type="slidenum">
              <a:rPr lang="zh-CN" altLang="en-US"/>
              <a:pPr>
                <a:defRPr/>
              </a:pPr>
              <a:t>‹#›</a:t>
            </a:fld>
            <a:endParaRPr lang="en-US" altLang="zh-CN"/>
          </a:p>
        </p:txBody>
      </p:sp>
    </p:spTree>
    <p:extLst>
      <p:ext uri="{BB962C8B-B14F-4D97-AF65-F5344CB8AC3E}">
        <p14:creationId xmlns:p14="http://schemas.microsoft.com/office/powerpoint/2010/main" val="158145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374F26E3-542C-426E-B0A2-EF925FB1FC32}"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8133331-7F63-4B9E-875E-062A44C5F090}" type="slidenum">
              <a:rPr lang="zh-CN" altLang="en-US"/>
              <a:pPr>
                <a:defRPr/>
              </a:pPr>
              <a:t>‹#›</a:t>
            </a:fld>
            <a:endParaRPr lang="en-US" altLang="zh-CN"/>
          </a:p>
        </p:txBody>
      </p:sp>
    </p:spTree>
    <p:extLst>
      <p:ext uri="{BB962C8B-B14F-4D97-AF65-F5344CB8AC3E}">
        <p14:creationId xmlns:p14="http://schemas.microsoft.com/office/powerpoint/2010/main" val="1120125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F35F79F7-48E8-4AA1-A8C5-16BA0F90D9EA}"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80F1FCD-B8FA-422A-B47A-9F4A54D4A476}" type="slidenum">
              <a:rPr lang="zh-CN" altLang="en-US"/>
              <a:pPr>
                <a:defRPr/>
              </a:pPr>
              <a:t>‹#›</a:t>
            </a:fld>
            <a:endParaRPr lang="en-US" altLang="zh-CN"/>
          </a:p>
        </p:txBody>
      </p:sp>
    </p:spTree>
    <p:extLst>
      <p:ext uri="{BB962C8B-B14F-4D97-AF65-F5344CB8AC3E}">
        <p14:creationId xmlns:p14="http://schemas.microsoft.com/office/powerpoint/2010/main" val="2861438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fld id="{037CCED0-3222-466C-BE7D-E16D1DABCEA6}"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08E5063-7393-4AC3-B969-AE1573CB3802}" type="slidenum">
              <a:rPr lang="zh-CN" altLang="en-US"/>
              <a:pPr>
                <a:defRPr/>
              </a:pPr>
              <a:t>‹#›</a:t>
            </a:fld>
            <a:endParaRPr lang="en-US" altLang="zh-CN"/>
          </a:p>
        </p:txBody>
      </p:sp>
    </p:spTree>
    <p:extLst>
      <p:ext uri="{BB962C8B-B14F-4D97-AF65-F5344CB8AC3E}">
        <p14:creationId xmlns:p14="http://schemas.microsoft.com/office/powerpoint/2010/main" val="2887547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fld id="{CFA604AA-45FF-4B0C-AC64-3929012D0CCB}" type="datetime1">
              <a:rPr lang="zh-CN" altLang="en-US"/>
              <a:pPr>
                <a:defRPr/>
              </a:pPr>
              <a:t>2017/2/24</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38C34DC2-7A5A-4238-8435-45C2B6E31675}" type="slidenum">
              <a:rPr lang="zh-CN" altLang="en-US"/>
              <a:pPr>
                <a:defRPr/>
              </a:pPr>
              <a:t>‹#›</a:t>
            </a:fld>
            <a:endParaRPr lang="en-US" altLang="zh-CN"/>
          </a:p>
        </p:txBody>
      </p:sp>
    </p:spTree>
    <p:extLst>
      <p:ext uri="{BB962C8B-B14F-4D97-AF65-F5344CB8AC3E}">
        <p14:creationId xmlns:p14="http://schemas.microsoft.com/office/powerpoint/2010/main" val="986877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fld id="{71B34FCB-CBAC-4183-9483-6E1BD1D45952}" type="datetime1">
              <a:rPr lang="zh-CN" altLang="en-US"/>
              <a:pPr>
                <a:defRPr/>
              </a:pPr>
              <a:t>2017/2/24</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5B67C442-137D-49F9-BFF6-B32FF323B732}" type="slidenum">
              <a:rPr lang="zh-CN" altLang="en-US"/>
              <a:pPr>
                <a:defRPr/>
              </a:pPr>
              <a:t>‹#›</a:t>
            </a:fld>
            <a:endParaRPr lang="en-US" altLang="zh-CN"/>
          </a:p>
        </p:txBody>
      </p:sp>
    </p:spTree>
    <p:extLst>
      <p:ext uri="{BB962C8B-B14F-4D97-AF65-F5344CB8AC3E}">
        <p14:creationId xmlns:p14="http://schemas.microsoft.com/office/powerpoint/2010/main" val="1999759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EE982EDB-7BF8-4A5C-93B5-A56F66152FAE}" type="datetime1">
              <a:rPr lang="zh-CN" altLang="en-US"/>
              <a:pPr>
                <a:defRPr/>
              </a:pPr>
              <a:t>2017/2/24</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7BDC7CE6-81EC-404A-8A85-FFB6C8FE4823}" type="slidenum">
              <a:rPr lang="zh-CN" altLang="en-US"/>
              <a:pPr>
                <a:defRPr/>
              </a:pPr>
              <a:t>‹#›</a:t>
            </a:fld>
            <a:endParaRPr lang="en-US" altLang="zh-CN"/>
          </a:p>
        </p:txBody>
      </p:sp>
    </p:spTree>
    <p:extLst>
      <p:ext uri="{BB962C8B-B14F-4D97-AF65-F5344CB8AC3E}">
        <p14:creationId xmlns:p14="http://schemas.microsoft.com/office/powerpoint/2010/main" val="1983968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91006BC9-7732-4877-854F-B2D2FECBF825}"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6C67C5F-3580-4041-A110-1DE8500103D9}" type="slidenum">
              <a:rPr lang="zh-CN" altLang="en-US"/>
              <a:pPr>
                <a:defRPr/>
              </a:pPr>
              <a:t>‹#›</a:t>
            </a:fld>
            <a:endParaRPr lang="en-US" altLang="zh-CN"/>
          </a:p>
        </p:txBody>
      </p:sp>
    </p:spTree>
    <p:extLst>
      <p:ext uri="{BB962C8B-B14F-4D97-AF65-F5344CB8AC3E}">
        <p14:creationId xmlns:p14="http://schemas.microsoft.com/office/powerpoint/2010/main" val="2018834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70264EE0-4591-47F1-8D62-75D0D766C1DC}"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DBCA80D-4718-488A-8FD6-CB70E5F6AE9B}" type="slidenum">
              <a:rPr lang="zh-CN" altLang="en-US"/>
              <a:pPr>
                <a:defRPr/>
              </a:pPr>
              <a:t>‹#›</a:t>
            </a:fld>
            <a:endParaRPr lang="en-US" altLang="zh-CN"/>
          </a:p>
        </p:txBody>
      </p:sp>
    </p:spTree>
    <p:extLst>
      <p:ext uri="{BB962C8B-B14F-4D97-AF65-F5344CB8AC3E}">
        <p14:creationId xmlns:p14="http://schemas.microsoft.com/office/powerpoint/2010/main" val="4174637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2292C845-B506-42E0-9D15-E1E696FDD0AA}"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7F534A9-B071-444A-A1AE-5D0037B2C7D8}" type="slidenum">
              <a:rPr lang="zh-CN" altLang="en-US"/>
              <a:pPr>
                <a:defRPr/>
              </a:pPr>
              <a:t>‹#›</a:t>
            </a:fld>
            <a:endParaRPr lang="en-US" altLang="zh-CN"/>
          </a:p>
        </p:txBody>
      </p:sp>
    </p:spTree>
    <p:extLst>
      <p:ext uri="{BB962C8B-B14F-4D97-AF65-F5344CB8AC3E}">
        <p14:creationId xmlns:p14="http://schemas.microsoft.com/office/powerpoint/2010/main" val="863992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36BE66D8-A3A4-4F5B-8A16-DAFD6E0B31C3}"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CBE3214-D9D0-48DA-8E12-7C84DBDDDDB5}" type="slidenum">
              <a:rPr lang="zh-CN" altLang="en-US"/>
              <a:pPr>
                <a:defRPr/>
              </a:pPr>
              <a:t>‹#›</a:t>
            </a:fld>
            <a:endParaRPr lang="en-US" altLang="zh-CN"/>
          </a:p>
        </p:txBody>
      </p:sp>
    </p:spTree>
    <p:extLst>
      <p:ext uri="{BB962C8B-B14F-4D97-AF65-F5344CB8AC3E}">
        <p14:creationId xmlns:p14="http://schemas.microsoft.com/office/powerpoint/2010/main" val="3000883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301625" y="1905000"/>
            <a:ext cx="8540750" cy="4194175"/>
          </a:xfrm>
        </p:spPr>
        <p:txBody>
          <a:bodyPr/>
          <a:lstStyle/>
          <a:p>
            <a:pPr lvl="0"/>
            <a:r>
              <a:rPr lang="zh-CN" altLang="en-US" noProof="0" smtClean="0"/>
              <a:t>单击图标添加表格</a:t>
            </a:r>
          </a:p>
        </p:txBody>
      </p:sp>
      <p:sp>
        <p:nvSpPr>
          <p:cNvPr id="4" name="Rectangle 4"/>
          <p:cNvSpPr>
            <a:spLocks noGrp="1" noChangeArrowheads="1"/>
          </p:cNvSpPr>
          <p:nvPr>
            <p:ph type="dt" sz="half" idx="10"/>
          </p:nvPr>
        </p:nvSpPr>
        <p:spPr>
          <a:ln/>
        </p:spPr>
        <p:txBody>
          <a:bodyPr/>
          <a:lstStyle>
            <a:lvl1pPr>
              <a:defRPr/>
            </a:lvl1pPr>
          </a:lstStyle>
          <a:p>
            <a:pPr>
              <a:defRPr/>
            </a:pPr>
            <a:fld id="{A69ABAD5-F3B1-402A-AD0B-F2CE71604182}"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DBF3B48-EBB0-4D16-933E-8C9765A4081C}" type="slidenum">
              <a:rPr lang="zh-CN" altLang="en-US"/>
              <a:pPr>
                <a:defRPr/>
              </a:pPr>
              <a:t>‹#›</a:t>
            </a:fld>
            <a:endParaRPr lang="en-US" altLang="zh-CN"/>
          </a:p>
        </p:txBody>
      </p:sp>
    </p:spTree>
    <p:extLst>
      <p:ext uri="{BB962C8B-B14F-4D97-AF65-F5344CB8AC3E}">
        <p14:creationId xmlns:p14="http://schemas.microsoft.com/office/powerpoint/2010/main" val="28189431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50938" y="214313"/>
            <a:ext cx="7804150" cy="5918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1162050" y="6243638"/>
            <a:ext cx="1905000" cy="457200"/>
          </a:xfrm>
        </p:spPr>
        <p:txBody>
          <a:bodyPr/>
          <a:lstStyle>
            <a:lvl1pPr>
              <a:defRPr/>
            </a:lvl1pPr>
          </a:lstStyle>
          <a:p>
            <a:pPr>
              <a:defRPr/>
            </a:pPr>
            <a:fld id="{57B2C022-CB24-4BA1-AF52-2C1017ED1647}" type="datetime1">
              <a:rPr lang="zh-CN" altLang="en-US"/>
              <a:pPr>
                <a:defRPr/>
              </a:pPr>
              <a:t>2017/2/24</a:t>
            </a:fld>
            <a:endParaRPr lang="en-US" altLang="zh-CN"/>
          </a:p>
        </p:txBody>
      </p:sp>
      <p:sp>
        <p:nvSpPr>
          <p:cNvPr id="4" name="页脚占位符 3"/>
          <p:cNvSpPr>
            <a:spLocks noGrp="1"/>
          </p:cNvSpPr>
          <p:nvPr>
            <p:ph type="ftr" sz="quarter" idx="11"/>
          </p:nvPr>
        </p:nvSpPr>
        <p:spPr>
          <a:xfrm>
            <a:off x="3657600" y="6243638"/>
            <a:ext cx="2895600" cy="457200"/>
          </a:xfrm>
        </p:spPr>
        <p:txBody>
          <a:bodyPr/>
          <a:lstStyle>
            <a:lvl1pPr>
              <a:defRPr/>
            </a:lvl1pPr>
          </a:lstStyle>
          <a:p>
            <a:pPr>
              <a:defRPr/>
            </a:pPr>
            <a:endParaRPr lang="en-US" altLang="zh-CN"/>
          </a:p>
        </p:txBody>
      </p:sp>
      <p:sp>
        <p:nvSpPr>
          <p:cNvPr id="5" name="灯片编号占位符 4"/>
          <p:cNvSpPr>
            <a:spLocks noGrp="1"/>
          </p:cNvSpPr>
          <p:nvPr>
            <p:ph type="sldNum" sz="quarter" idx="12"/>
          </p:nvPr>
        </p:nvSpPr>
        <p:spPr>
          <a:xfrm>
            <a:off x="7042150" y="6243638"/>
            <a:ext cx="1905000" cy="457200"/>
          </a:xfrm>
        </p:spPr>
        <p:txBody>
          <a:bodyPr/>
          <a:lstStyle>
            <a:lvl1pPr>
              <a:defRPr/>
            </a:lvl1pPr>
          </a:lstStyle>
          <a:p>
            <a:pPr>
              <a:defRPr/>
            </a:pPr>
            <a:fld id="{CD94D0BB-82A3-4BD4-9946-83C7D315A0EF}" type="slidenum">
              <a:rPr lang="zh-CN" altLang="en-US"/>
              <a:pPr>
                <a:defRPr/>
              </a:pPr>
              <a:t>‹#›</a:t>
            </a:fld>
            <a:endParaRPr lang="en-US" altLang="zh-CN"/>
          </a:p>
        </p:txBody>
      </p:sp>
    </p:spTree>
    <p:extLst>
      <p:ext uri="{BB962C8B-B14F-4D97-AF65-F5344CB8AC3E}">
        <p14:creationId xmlns:p14="http://schemas.microsoft.com/office/powerpoint/2010/main" val="1432524486"/>
      </p:ext>
    </p:extLst>
  </p:cSld>
  <p:clrMapOvr>
    <a:masterClrMapping/>
  </p:clrMapOvr>
  <p:transition/>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Rot="1" noChangeArrowheads="1"/>
          </p:cNvSpPr>
          <p:nvPr>
            <p:ph type="title"/>
          </p:nvPr>
        </p:nvSpPr>
        <p:spPr bwMode="auto">
          <a:xfrm>
            <a:off x="301625" y="609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3075" name="Rectangle 3"/>
          <p:cNvSpPr>
            <a:spLocks noGrp="1" noRot="1" noChangeArrowheads="1"/>
          </p:cNvSpPr>
          <p:nvPr>
            <p:ph type="body" idx="1"/>
          </p:nvPr>
        </p:nvSpPr>
        <p:spPr bwMode="auto">
          <a:xfrm>
            <a:off x="301625" y="1905000"/>
            <a:ext cx="8540750"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45092" name="Rectangle 4"/>
          <p:cNvSpPr>
            <a:spLocks noGrp="1" noChangeArrowheads="1"/>
          </p:cNvSpPr>
          <p:nvPr>
            <p:ph type="dt" sz="half" idx="2"/>
          </p:nvPr>
        </p:nvSpPr>
        <p:spPr bwMode="auto">
          <a:xfrm>
            <a:off x="301625"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fld id="{88219C38-A3D1-4E52-B4CC-4EA23219BA93}" type="datetime1">
              <a:rPr lang="zh-CN" altLang="en-US"/>
              <a:pPr>
                <a:defRPr/>
              </a:pPr>
              <a:t>2017/2/24</a:t>
            </a:fld>
            <a:endParaRPr lang="en-US" altLang="zh-CN"/>
          </a:p>
        </p:txBody>
      </p:sp>
      <p:sp>
        <p:nvSpPr>
          <p:cNvPr id="34509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345094" name="Rectangle 6"/>
          <p:cNvSpPr>
            <a:spLocks noGrp="1" noChangeArrowheads="1"/>
          </p:cNvSpPr>
          <p:nvPr>
            <p:ph type="sldNum" sz="quarter" idx="4"/>
          </p:nvPr>
        </p:nvSpPr>
        <p:spPr bwMode="auto">
          <a:xfrm>
            <a:off x="6553200"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3E7D6CDD-CADD-4448-9501-B16368E6BE96}"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28"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30" r:id="rId13"/>
  </p:sldLayoutIdLst>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eaLnBrk="1" fontAlgn="base" hangingPunct="1">
        <a:spcBef>
          <a:spcPct val="0"/>
        </a:spcBef>
        <a:spcAft>
          <a:spcPct val="0"/>
        </a:spcAft>
        <a:defRPr sz="4400">
          <a:solidFill>
            <a:schemeClr val="tx2"/>
          </a:solidFill>
          <a:latin typeface="Arial" charset="0"/>
          <a:ea typeface="宋体" pitchFamily="2" charset="-122"/>
        </a:defRPr>
      </a:lvl6pPr>
      <a:lvl7pPr marL="914400" algn="ctr" rtl="0" eaLnBrk="1" fontAlgn="base" hangingPunct="1">
        <a:spcBef>
          <a:spcPct val="0"/>
        </a:spcBef>
        <a:spcAft>
          <a:spcPct val="0"/>
        </a:spcAft>
        <a:defRPr sz="4400">
          <a:solidFill>
            <a:schemeClr val="tx2"/>
          </a:solidFill>
          <a:latin typeface="Arial" charset="0"/>
          <a:ea typeface="宋体" pitchFamily="2" charset="-122"/>
        </a:defRPr>
      </a:lvl7pPr>
      <a:lvl8pPr marL="1371600" algn="ctr" rtl="0" eaLnBrk="1" fontAlgn="base" hangingPunct="1">
        <a:spcBef>
          <a:spcPct val="0"/>
        </a:spcBef>
        <a:spcAft>
          <a:spcPct val="0"/>
        </a:spcAft>
        <a:defRPr sz="4400">
          <a:solidFill>
            <a:schemeClr val="tx2"/>
          </a:solidFill>
          <a:latin typeface="Arial" charset="0"/>
          <a:ea typeface="宋体" pitchFamily="2" charset="-122"/>
        </a:defRPr>
      </a:lvl8pPr>
      <a:lvl9pPr marL="1828800" algn="ctr" rtl="0" eaLnBrk="1" fontAlgn="base" hangingPunct="1">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5pPr>
      <a:lvl6pPr marL="2514600" indent="-228600" algn="l" rtl="0" eaLnBrk="1" fontAlgn="base" hangingPunct="1">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eaLnBrk="1" fontAlgn="base" hangingPunct="1">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eaLnBrk="1" fontAlgn="base" hangingPunct="1">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eaLnBrk="1" fontAlgn="base" hangingPunct="1">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4.png"/><Relationship Id="rId4" Type="http://schemas.openxmlformats.org/officeDocument/2006/relationships/image" Target="../media/image3.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5.wmf"/><Relationship Id="rId4" Type="http://schemas.openxmlformats.org/officeDocument/2006/relationships/oleObject" Target="../embeddings/oleObject2.bin"/></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6.emf"/><Relationship Id="rId4" Type="http://schemas.openxmlformats.org/officeDocument/2006/relationships/oleObject" Target="../embeddings/oleObject3.bin"/></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2.xml"/><Relationship Id="rId7"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7.wmf"/><Relationship Id="rId4" Type="http://schemas.openxmlformats.org/officeDocument/2006/relationships/oleObject" Target="../embeddings/oleObject4.bin"/></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9.emf"/><Relationship Id="rId4" Type="http://schemas.openxmlformats.org/officeDocument/2006/relationships/oleObject" Target="../embeddings/oleObject6.bin"/></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47E1E14F-AE74-465E-843F-437A693BA94B}" type="slidenum">
              <a:rPr lang="zh-CN" altLang="en-US"/>
              <a:pPr eaLnBrk="1" hangingPunct="1"/>
              <a:t>1</a:t>
            </a:fld>
            <a:endParaRPr lang="en-US" altLang="zh-CN"/>
          </a:p>
        </p:txBody>
      </p:sp>
      <p:sp>
        <p:nvSpPr>
          <p:cNvPr id="1028" name="Rectangle 2"/>
          <p:cNvSpPr>
            <a:spLocks noGrp="1" noRot="1" noChangeArrowheads="1"/>
          </p:cNvSpPr>
          <p:nvPr>
            <p:ph type="ctrTitle"/>
          </p:nvPr>
        </p:nvSpPr>
        <p:spPr>
          <a:xfrm>
            <a:off x="1187450" y="1143000"/>
            <a:ext cx="6965950" cy="1524000"/>
          </a:xfrm>
        </p:spPr>
        <p:txBody>
          <a:bodyPr/>
          <a:lstStyle/>
          <a:p>
            <a:pPr eaLnBrk="1" hangingPunct="1"/>
            <a:r>
              <a:rPr lang="zh-CN" altLang="en-US" sz="6000" b="1" dirty="0" smtClean="0">
                <a:latin typeface="Times New Roman" panose="02020603050405020304" pitchFamily="18" charset="0"/>
                <a:ea typeface="华文新魏" panose="02010800040101010101" pitchFamily="2" charset="-122"/>
                <a:cs typeface="Times New Roman" panose="02020603050405020304" pitchFamily="18" charset="0"/>
              </a:rPr>
              <a:t>编译原理</a:t>
            </a:r>
            <a:r>
              <a:rPr lang="zh-CN" altLang="en-US" b="1" dirty="0" smtClean="0">
                <a:latin typeface="Times New Roman" panose="02020603050405020304" pitchFamily="18" charset="0"/>
                <a:ea typeface="华文新魏" panose="02010800040101010101" pitchFamily="2" charset="-122"/>
                <a:cs typeface="Times New Roman" panose="02020603050405020304" pitchFamily="18" charset="0"/>
              </a:rPr>
              <a:t/>
            </a:r>
            <a:br>
              <a:rPr lang="zh-CN" altLang="en-US" b="1" dirty="0" smtClean="0">
                <a:latin typeface="Times New Roman" panose="02020603050405020304" pitchFamily="18" charset="0"/>
                <a:ea typeface="华文新魏" panose="02010800040101010101" pitchFamily="2" charset="-122"/>
                <a:cs typeface="Times New Roman" panose="02020603050405020304" pitchFamily="18" charset="0"/>
              </a:rPr>
            </a:br>
            <a:r>
              <a:rPr lang="en-US" altLang="zh-CN" b="1" dirty="0" smtClean="0">
                <a:latin typeface="Times New Roman" panose="02020603050405020304" pitchFamily="18" charset="0"/>
                <a:ea typeface="华文新魏" panose="02010800040101010101" pitchFamily="2" charset="-122"/>
                <a:cs typeface="Times New Roman" panose="02020603050405020304" pitchFamily="18" charset="0"/>
              </a:rPr>
              <a:t>(Principles of Compiling)</a:t>
            </a:r>
            <a:endParaRPr lang="zh-CN" altLang="en-US" b="1" dirty="0" smtClean="0">
              <a:latin typeface="Times New Roman" panose="02020603050405020304" pitchFamily="18" charset="0"/>
              <a:ea typeface="华文新魏" panose="02010800040101010101" pitchFamily="2" charset="-122"/>
              <a:cs typeface="Times New Roman" panose="02020603050405020304" pitchFamily="18" charset="0"/>
            </a:endParaRPr>
          </a:p>
        </p:txBody>
      </p:sp>
      <p:graphicFrame>
        <p:nvGraphicFramePr>
          <p:cNvPr id="1026" name="Object 3">
            <a:hlinkClick r:id="" action="ppaction://ole?verb=0"/>
          </p:cNvPr>
          <p:cNvGraphicFramePr>
            <a:graphicFrameLocks/>
          </p:cNvGraphicFramePr>
          <p:nvPr/>
        </p:nvGraphicFramePr>
        <p:xfrm>
          <a:off x="7235825" y="2997200"/>
          <a:ext cx="1219200" cy="2438400"/>
        </p:xfrm>
        <a:graphic>
          <a:graphicData uri="http://schemas.openxmlformats.org/presentationml/2006/ole">
            <mc:AlternateContent xmlns:mc="http://schemas.openxmlformats.org/markup-compatibility/2006">
              <mc:Choice xmlns:v="urn:schemas-microsoft-com:vml" Requires="v">
                <p:oleObj spid="_x0000_s82953" name="剪辑" r:id="rId3" imgW="2641320" imgH="4586040" progId="MS_ClipArt_Gallery.2">
                  <p:embed/>
                </p:oleObj>
              </mc:Choice>
              <mc:Fallback>
                <p:oleObj name="剪辑" r:id="rId3" imgW="2641320" imgH="4586040" progId="MS_ClipArt_Gallery.2">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5825" y="2997200"/>
                        <a:ext cx="12192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9" name="Text Box 4"/>
          <p:cNvSpPr txBox="1">
            <a:spLocks noChangeArrowheads="1"/>
          </p:cNvSpPr>
          <p:nvPr/>
        </p:nvSpPr>
        <p:spPr bwMode="auto">
          <a:xfrm>
            <a:off x="1476375" y="3500438"/>
            <a:ext cx="604837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主讲：</a:t>
            </a:r>
            <a:r>
              <a:rPr lang="zh-CN" altLang="en-US" sz="2800" b="1" dirty="0" smtClean="0">
                <a:latin typeface="Times New Roman" pitchFamily="18" charset="0"/>
                <a:ea typeface="华文新魏" pitchFamily="2" charset="-122"/>
              </a:rPr>
              <a:t>蒋宗礼、姜守旭</a:t>
            </a:r>
            <a:endParaRPr lang="zh-CN" altLang="en-US" sz="2800" b="1" dirty="0">
              <a:latin typeface="Times New Roman" pitchFamily="18" charset="0"/>
              <a:ea typeface="华文新魏" pitchFamily="2" charset="-122"/>
            </a:endParaRPr>
          </a:p>
          <a:p>
            <a:pPr eaLnBrk="1" hangingPunct="1">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办公室</a:t>
            </a:r>
            <a:r>
              <a:rPr lang="zh-CN" altLang="en-US" sz="2800" b="1" dirty="0" smtClean="0">
                <a:latin typeface="Times New Roman" pitchFamily="18" charset="0"/>
                <a:ea typeface="华文新魏" pitchFamily="2" charset="-122"/>
              </a:rPr>
              <a:t>：</a:t>
            </a:r>
            <a:r>
              <a:rPr lang="zh-CN" altLang="en-US" sz="2800" b="1" dirty="0">
                <a:latin typeface="Times New Roman" pitchFamily="18" charset="0"/>
                <a:ea typeface="华文新魏" pitchFamily="2" charset="-122"/>
              </a:rPr>
              <a:t>信</a:t>
            </a:r>
            <a:r>
              <a:rPr lang="zh-CN" altLang="en-US" sz="2800" b="1" dirty="0" smtClean="0">
                <a:latin typeface="Times New Roman" pitchFamily="18" charset="0"/>
                <a:ea typeface="华文新魏" pitchFamily="2" charset="-122"/>
              </a:rPr>
              <a:t>北</a:t>
            </a:r>
            <a:r>
              <a:rPr lang="en-US" altLang="zh-CN" sz="2800" b="1" dirty="0" smtClean="0">
                <a:latin typeface="Times New Roman" pitchFamily="18" charset="0"/>
                <a:ea typeface="华文新魏" pitchFamily="2" charset="-122"/>
              </a:rPr>
              <a:t>212</a:t>
            </a:r>
            <a:endParaRPr lang="en-US" altLang="zh-CN" sz="2800" b="1" dirty="0">
              <a:latin typeface="Times New Roman" pitchFamily="18" charset="0"/>
              <a:ea typeface="华文新魏" pitchFamily="2" charset="-122"/>
            </a:endParaRPr>
          </a:p>
          <a:p>
            <a:pPr eaLnBrk="1" hangingPunct="1">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电话：</a:t>
            </a:r>
            <a:r>
              <a:rPr lang="en-US" altLang="zh-CN" sz="2800" b="1" dirty="0" smtClean="0">
                <a:latin typeface="Times New Roman" pitchFamily="18" charset="0"/>
                <a:ea typeface="华文新魏" pitchFamily="2" charset="-122"/>
              </a:rPr>
              <a:t>67392397</a:t>
            </a:r>
            <a:endParaRPr lang="en-US" altLang="zh-CN" sz="2800" b="1" dirty="0">
              <a:latin typeface="Times New Roman" pitchFamily="18" charset="0"/>
              <a:ea typeface="华文新魏" pitchFamily="2" charset="-122"/>
            </a:endParaRPr>
          </a:p>
          <a:p>
            <a:pPr eaLnBrk="1" hangingPunct="1">
              <a:lnSpc>
                <a:spcPct val="90000"/>
              </a:lnSpc>
              <a:spcBef>
                <a:spcPct val="20000"/>
              </a:spcBef>
              <a:buClr>
                <a:schemeClr val="folHlink"/>
              </a:buClr>
              <a:buSzPct val="60000"/>
              <a:buFont typeface="Wingdings" pitchFamily="2" charset="2"/>
              <a:buChar char="n"/>
            </a:pPr>
            <a:r>
              <a:rPr lang="en-US" altLang="zh-CN" sz="2800" b="1" dirty="0">
                <a:latin typeface="Times New Roman" pitchFamily="18" charset="0"/>
                <a:ea typeface="华文新魏" pitchFamily="2" charset="-122"/>
              </a:rPr>
              <a:t>Email：jiangzl@bjut.edu.cn</a:t>
            </a:r>
          </a:p>
        </p:txBody>
      </p:sp>
      <p:pic>
        <p:nvPicPr>
          <p:cNvPr id="103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04813"/>
            <a:ext cx="1619250"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07407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88061C3-DF12-4574-99F4-D118F45AEF31}"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D82CB7AB-29C8-44A4-876A-2169F9D018DB}" type="slidenum">
              <a:rPr lang="en-US" altLang="zh-CN"/>
              <a:pPr/>
              <a:t>2</a:t>
            </a:fld>
            <a:endParaRPr lang="en-US" altLang="zh-CN"/>
          </a:p>
        </p:txBody>
      </p:sp>
      <p:sp>
        <p:nvSpPr>
          <p:cNvPr id="2779138" name="Rectangle 2"/>
          <p:cNvSpPr>
            <a:spLocks noGrp="1" noChangeArrowheads="1"/>
          </p:cNvSpPr>
          <p:nvPr>
            <p:ph type="title"/>
          </p:nvPr>
        </p:nvSpPr>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第</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章 代码生成 </a:t>
            </a:r>
          </a:p>
        </p:txBody>
      </p:sp>
      <p:sp>
        <p:nvSpPr>
          <p:cNvPr id="2779139" name="Rectangle 3"/>
          <p:cNvSpPr>
            <a:spLocks noGrp="1" noChangeArrowheads="1"/>
          </p:cNvSpPr>
          <p:nvPr>
            <p:ph type="body" idx="1"/>
          </p:nvPr>
        </p:nvSpPr>
        <p:spPr>
          <a:xfrm>
            <a:off x="373063" y="1412875"/>
            <a:ext cx="8520112" cy="4713288"/>
          </a:xfrm>
        </p:spPr>
        <p:txBody>
          <a:bodyPr/>
          <a:lstStyle/>
          <a:p>
            <a:pPr marL="533400" indent="-533400">
              <a:spcBef>
                <a:spcPct val="60000"/>
              </a:spcBef>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11.1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代码生成器设计中的问题</a:t>
            </a:r>
          </a:p>
          <a:p>
            <a:pPr marL="533400" indent="-533400">
              <a:spcBef>
                <a:spcPct val="60000"/>
              </a:spcBef>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目标语言</a:t>
            </a:r>
          </a:p>
          <a:p>
            <a:pPr marL="533400" indent="-533400">
              <a:spcBef>
                <a:spcPct val="60000"/>
              </a:spcBef>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一个简单的代码生成器</a:t>
            </a:r>
          </a:p>
          <a:p>
            <a:pPr marL="533400" indent="-533400">
              <a:spcBef>
                <a:spcPct val="60000"/>
              </a:spcBef>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11.4 </a:t>
            </a:r>
            <a:r>
              <a:rPr lang="zh-CN" altLang="en-US" b="1" dirty="0" smtClean="0">
                <a:latin typeface="Times New Roman" panose="02020603050405020304" pitchFamily="18" charset="0"/>
                <a:ea typeface="华文新魏" panose="02010800040101010101" pitchFamily="2" charset="-122"/>
                <a:cs typeface="Times New Roman" panose="02020603050405020304" pitchFamily="18" charset="0"/>
              </a:rPr>
              <a:t>寄存器</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分配与指派</a:t>
            </a:r>
          </a:p>
          <a:p>
            <a:pPr marL="533400" indent="-533400">
              <a:spcBef>
                <a:spcPct val="60000"/>
              </a:spcBef>
              <a:buFontTx/>
              <a:buNone/>
            </a:pPr>
            <a:r>
              <a:rPr lang="en-US" altLang="zh-CN" b="1" dirty="0" smtClean="0">
                <a:latin typeface="Times New Roman" panose="02020603050405020304" pitchFamily="18" charset="0"/>
                <a:ea typeface="华文新魏" panose="02010800040101010101" pitchFamily="2" charset="-122"/>
                <a:cs typeface="Times New Roman" panose="02020603050405020304" pitchFamily="18" charset="0"/>
              </a:rPr>
              <a:t>11.5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本章小结</a:t>
            </a:r>
          </a:p>
        </p:txBody>
      </p:sp>
    </p:spTree>
    <p:extLst>
      <p:ext uri="{BB962C8B-B14F-4D97-AF65-F5344CB8AC3E}">
        <p14:creationId xmlns:p14="http://schemas.microsoft.com/office/powerpoint/2010/main" val="19538879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79139">
                                            <p:txEl>
                                              <p:pRg st="0" end="0"/>
                                            </p:txEl>
                                          </p:spTgt>
                                        </p:tgtEl>
                                        <p:attrNameLst>
                                          <p:attrName>style.visibility</p:attrName>
                                        </p:attrNameLst>
                                      </p:cBhvr>
                                      <p:to>
                                        <p:strVal val="visible"/>
                                      </p:to>
                                    </p:set>
                                    <p:animEffect transition="in" filter="blinds(horizontal)">
                                      <p:cBhvr>
                                        <p:cTn id="7" dur="500"/>
                                        <p:tgtEl>
                                          <p:spTgt spid="27791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79139">
                                            <p:txEl>
                                              <p:pRg st="1" end="1"/>
                                            </p:txEl>
                                          </p:spTgt>
                                        </p:tgtEl>
                                        <p:attrNameLst>
                                          <p:attrName>style.visibility</p:attrName>
                                        </p:attrNameLst>
                                      </p:cBhvr>
                                      <p:to>
                                        <p:strVal val="visible"/>
                                      </p:to>
                                    </p:set>
                                    <p:animEffect transition="in" filter="blinds(horizontal)">
                                      <p:cBhvr>
                                        <p:cTn id="12" dur="500"/>
                                        <p:tgtEl>
                                          <p:spTgt spid="27791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79139">
                                            <p:txEl>
                                              <p:pRg st="2" end="2"/>
                                            </p:txEl>
                                          </p:spTgt>
                                        </p:tgtEl>
                                        <p:attrNameLst>
                                          <p:attrName>style.visibility</p:attrName>
                                        </p:attrNameLst>
                                      </p:cBhvr>
                                      <p:to>
                                        <p:strVal val="visible"/>
                                      </p:to>
                                    </p:set>
                                    <p:animEffect transition="in" filter="blinds(horizontal)">
                                      <p:cBhvr>
                                        <p:cTn id="17" dur="500"/>
                                        <p:tgtEl>
                                          <p:spTgt spid="27791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79139">
                                            <p:txEl>
                                              <p:pRg st="3" end="3"/>
                                            </p:txEl>
                                          </p:spTgt>
                                        </p:tgtEl>
                                        <p:attrNameLst>
                                          <p:attrName>style.visibility</p:attrName>
                                        </p:attrNameLst>
                                      </p:cBhvr>
                                      <p:to>
                                        <p:strVal val="visible"/>
                                      </p:to>
                                    </p:set>
                                    <p:animEffect transition="in" filter="blinds(horizontal)">
                                      <p:cBhvr>
                                        <p:cTn id="22" dur="500"/>
                                        <p:tgtEl>
                                          <p:spTgt spid="27791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79139">
                                            <p:txEl>
                                              <p:pRg st="4" end="4"/>
                                            </p:txEl>
                                          </p:spTgt>
                                        </p:tgtEl>
                                        <p:attrNameLst>
                                          <p:attrName>style.visibility</p:attrName>
                                        </p:attrNameLst>
                                      </p:cBhvr>
                                      <p:to>
                                        <p:strVal val="visible"/>
                                      </p:to>
                                    </p:set>
                                    <p:animEffect transition="in" filter="blinds(horizontal)">
                                      <p:cBhvr>
                                        <p:cTn id="27" dur="500"/>
                                        <p:tgtEl>
                                          <p:spTgt spid="27791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913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5E3FB19-6C02-4D6E-BFBF-93DCF72BC5D1}"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2E65CCF7-9F98-42DB-B736-4407442CA0D6}" type="slidenum">
              <a:rPr lang="en-US" altLang="zh-CN"/>
              <a:pPr/>
              <a:t>3</a:t>
            </a:fld>
            <a:endParaRPr lang="en-US" altLang="zh-CN"/>
          </a:p>
        </p:txBody>
      </p:sp>
      <p:sp>
        <p:nvSpPr>
          <p:cNvPr id="2780162" name="Rectangle 2"/>
          <p:cNvSpPr>
            <a:spLocks noGrp="1" noChangeArrowheads="1"/>
          </p:cNvSpPr>
          <p:nvPr>
            <p:ph type="title"/>
          </p:nvPr>
        </p:nvSpPr>
        <p:spPr>
          <a:xfrm>
            <a:off x="179388" y="117475"/>
            <a:ext cx="8964612" cy="935038"/>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第</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章 代码生成</a:t>
            </a:r>
          </a:p>
        </p:txBody>
      </p:sp>
      <p:sp>
        <p:nvSpPr>
          <p:cNvPr id="2780163" name="Rectangle 3"/>
          <p:cNvSpPr>
            <a:spLocks noGrp="1" noChangeArrowheads="1"/>
          </p:cNvSpPr>
          <p:nvPr>
            <p:ph type="body" idx="1"/>
          </p:nvPr>
        </p:nvSpPr>
        <p:spPr>
          <a:xfrm>
            <a:off x="152400" y="1125538"/>
            <a:ext cx="8839200" cy="5040312"/>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代码生成是编译的最后一个阶段，由代码生成器完成。其任务是把中间代码转换为等价的、具有较高质量的目标代码，以充分利用目标机器的资源。当然，代码生成器本身也必须具有较高的运行效率。</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目标代码可以是绝对地址的机器代码，或相对地址的机器代码，也可以是汇编代码。 </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本章用微型机的汇编指令来表示目标代码。  </a:t>
            </a:r>
          </a:p>
        </p:txBody>
      </p:sp>
    </p:spTree>
    <p:extLst>
      <p:ext uri="{BB962C8B-B14F-4D97-AF65-F5344CB8AC3E}">
        <p14:creationId xmlns:p14="http://schemas.microsoft.com/office/powerpoint/2010/main" val="5977780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80163">
                                            <p:txEl>
                                              <p:pRg st="0" end="0"/>
                                            </p:txEl>
                                          </p:spTgt>
                                        </p:tgtEl>
                                        <p:attrNameLst>
                                          <p:attrName>style.visibility</p:attrName>
                                        </p:attrNameLst>
                                      </p:cBhvr>
                                      <p:to>
                                        <p:strVal val="visible"/>
                                      </p:to>
                                    </p:set>
                                    <p:animEffect transition="in" filter="blinds(horizontal)">
                                      <p:cBhvr>
                                        <p:cTn id="7" dur="500"/>
                                        <p:tgtEl>
                                          <p:spTgt spid="27801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80163">
                                            <p:txEl>
                                              <p:pRg st="1" end="1"/>
                                            </p:txEl>
                                          </p:spTgt>
                                        </p:tgtEl>
                                        <p:attrNameLst>
                                          <p:attrName>style.visibility</p:attrName>
                                        </p:attrNameLst>
                                      </p:cBhvr>
                                      <p:to>
                                        <p:strVal val="visible"/>
                                      </p:to>
                                    </p:set>
                                    <p:animEffect transition="in" filter="blinds(horizontal)">
                                      <p:cBhvr>
                                        <p:cTn id="12" dur="500"/>
                                        <p:tgtEl>
                                          <p:spTgt spid="27801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80163">
                                            <p:txEl>
                                              <p:pRg st="2" end="2"/>
                                            </p:txEl>
                                          </p:spTgt>
                                        </p:tgtEl>
                                        <p:attrNameLst>
                                          <p:attrName>style.visibility</p:attrName>
                                        </p:attrNameLst>
                                      </p:cBhvr>
                                      <p:to>
                                        <p:strVal val="visible"/>
                                      </p:to>
                                    </p:set>
                                    <p:animEffect transition="in" filter="blinds(horizontal)">
                                      <p:cBhvr>
                                        <p:cTn id="17" dur="500"/>
                                        <p:tgtEl>
                                          <p:spTgt spid="27801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016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80B8692-B9D8-47C6-AD2C-5EAF1FE02DE1}"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58AFC0FA-6B3B-4DAF-8C85-7A956D9F635C}" type="slidenum">
              <a:rPr lang="en-US" altLang="zh-CN"/>
              <a:pPr/>
              <a:t>4</a:t>
            </a:fld>
            <a:endParaRPr lang="en-US" altLang="zh-CN"/>
          </a:p>
        </p:txBody>
      </p:sp>
      <p:sp>
        <p:nvSpPr>
          <p:cNvPr id="2781186" name="Rectangle 2"/>
          <p:cNvSpPr>
            <a:spLocks noGrp="1" noChangeArrowheads="1"/>
          </p:cNvSpPr>
          <p:nvPr>
            <p:ph type="title"/>
          </p:nvPr>
        </p:nvSpPr>
        <p:spPr>
          <a:xfrm>
            <a:off x="71438" y="117475"/>
            <a:ext cx="8964612" cy="935038"/>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11.1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代码生成器设计中的问题 </a:t>
            </a:r>
          </a:p>
        </p:txBody>
      </p:sp>
      <p:sp>
        <p:nvSpPr>
          <p:cNvPr id="2781187" name="Rectangle 3"/>
          <p:cNvSpPr>
            <a:spLocks noGrp="1" noChangeArrowheads="1"/>
          </p:cNvSpPr>
          <p:nvPr>
            <p:ph type="body" idx="1"/>
          </p:nvPr>
        </p:nvSpPr>
        <p:spPr>
          <a:xfrm>
            <a:off x="152400" y="1700213"/>
            <a:ext cx="8839200" cy="3457575"/>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虽然代码生成器的具体实现依赖于目标机器的体系结构、指令系统和操作系统，但存储管理、指令选择、寄存器分配和计算顺序等问题却是设计各种代码生成器都要考虑的问题，本节讨论这类共性问题。 </a:t>
            </a:r>
          </a:p>
        </p:txBody>
      </p:sp>
    </p:spTree>
    <p:extLst>
      <p:ext uri="{BB962C8B-B14F-4D97-AF65-F5344CB8AC3E}">
        <p14:creationId xmlns:p14="http://schemas.microsoft.com/office/powerpoint/2010/main" val="6026688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DCA908D-56FB-433A-BAC5-28AFD7DF39D9}"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095F32A-894B-4695-9AC4-199367215F9A}" type="slidenum">
              <a:rPr lang="en-US" altLang="zh-CN"/>
              <a:pPr/>
              <a:t>5</a:t>
            </a:fld>
            <a:endParaRPr lang="en-US" altLang="zh-CN"/>
          </a:p>
        </p:txBody>
      </p:sp>
      <p:sp>
        <p:nvSpPr>
          <p:cNvPr id="2782210" name="Rectangle 2"/>
          <p:cNvSpPr>
            <a:spLocks noGrp="1" noChangeArrowheads="1"/>
          </p:cNvSpPr>
          <p:nvPr>
            <p:ph type="title"/>
          </p:nvPr>
        </p:nvSpPr>
        <p:spPr>
          <a:xfrm>
            <a:off x="179388" y="117475"/>
            <a:ext cx="8785225" cy="8636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11.1.1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代码生成器的输入</a:t>
            </a:r>
          </a:p>
        </p:txBody>
      </p:sp>
      <p:sp>
        <p:nvSpPr>
          <p:cNvPr id="2782211" name="Rectangle 3"/>
          <p:cNvSpPr>
            <a:spLocks noGrp="1" noChangeArrowheads="1"/>
          </p:cNvSpPr>
          <p:nvPr>
            <p:ph type="body" idx="1"/>
          </p:nvPr>
        </p:nvSpPr>
        <p:spPr>
          <a:xfrm>
            <a:off x="152400" y="981075"/>
            <a:ext cx="8839200" cy="4895850"/>
          </a:xfrm>
        </p:spPr>
        <p:txBody>
          <a:bodyPr/>
          <a:lstStyle/>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代码生成器的输入包括中间代码和符号表信息，符号表信息主要用来确定中间代码中的变量所代表的数据对象的运行时地址。</a:t>
            </a:r>
          </a:p>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假设在代码生成前，编译器的前端已经将源程序扫描、分析和翻译成为足够详细的中间代码，其中变量的值已经可以表示为目标机器能够直接操作的量</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位、整数、实数、指针等</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p>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已经完成了必要的类型检查；</a:t>
            </a:r>
          </a:p>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在需要的地方已经插入了类型转换符；明显的语义错误</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如试图把浮点数作为数组下标</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也都已经被检测出来了。 </a:t>
            </a:r>
          </a:p>
        </p:txBody>
      </p:sp>
    </p:spTree>
    <p:extLst>
      <p:ext uri="{BB962C8B-B14F-4D97-AF65-F5344CB8AC3E}">
        <p14:creationId xmlns:p14="http://schemas.microsoft.com/office/powerpoint/2010/main" val="21713832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82211">
                                            <p:txEl>
                                              <p:pRg st="0" end="0"/>
                                            </p:txEl>
                                          </p:spTgt>
                                        </p:tgtEl>
                                        <p:attrNameLst>
                                          <p:attrName>style.visibility</p:attrName>
                                        </p:attrNameLst>
                                      </p:cBhvr>
                                      <p:to>
                                        <p:strVal val="visible"/>
                                      </p:to>
                                    </p:set>
                                    <p:animEffect transition="in" filter="blinds(horizontal)">
                                      <p:cBhvr>
                                        <p:cTn id="7" dur="500"/>
                                        <p:tgtEl>
                                          <p:spTgt spid="27822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82211">
                                            <p:txEl>
                                              <p:pRg st="1" end="1"/>
                                            </p:txEl>
                                          </p:spTgt>
                                        </p:tgtEl>
                                        <p:attrNameLst>
                                          <p:attrName>style.visibility</p:attrName>
                                        </p:attrNameLst>
                                      </p:cBhvr>
                                      <p:to>
                                        <p:strVal val="visible"/>
                                      </p:to>
                                    </p:set>
                                    <p:animEffect transition="in" filter="blinds(horizontal)">
                                      <p:cBhvr>
                                        <p:cTn id="12" dur="500"/>
                                        <p:tgtEl>
                                          <p:spTgt spid="27822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82211">
                                            <p:txEl>
                                              <p:pRg st="2" end="2"/>
                                            </p:txEl>
                                          </p:spTgt>
                                        </p:tgtEl>
                                        <p:attrNameLst>
                                          <p:attrName>style.visibility</p:attrName>
                                        </p:attrNameLst>
                                      </p:cBhvr>
                                      <p:to>
                                        <p:strVal val="visible"/>
                                      </p:to>
                                    </p:set>
                                    <p:animEffect transition="in" filter="blinds(horizontal)">
                                      <p:cBhvr>
                                        <p:cTn id="17" dur="500"/>
                                        <p:tgtEl>
                                          <p:spTgt spid="27822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82211">
                                            <p:txEl>
                                              <p:pRg st="3" end="3"/>
                                            </p:txEl>
                                          </p:spTgt>
                                        </p:tgtEl>
                                        <p:attrNameLst>
                                          <p:attrName>style.visibility</p:attrName>
                                        </p:attrNameLst>
                                      </p:cBhvr>
                                      <p:to>
                                        <p:strVal val="visible"/>
                                      </p:to>
                                    </p:set>
                                    <p:animEffect transition="in" filter="blinds(horizontal)">
                                      <p:cBhvr>
                                        <p:cTn id="22" dur="500"/>
                                        <p:tgtEl>
                                          <p:spTgt spid="27822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221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25F57DF-70C2-4E9C-8711-336B125EA291}"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3EFE875E-0CBC-4391-BB00-D76D28BFED6B}" type="slidenum">
              <a:rPr lang="en-US" altLang="zh-CN"/>
              <a:pPr/>
              <a:t>6</a:t>
            </a:fld>
            <a:endParaRPr lang="en-US" altLang="zh-CN"/>
          </a:p>
        </p:txBody>
      </p:sp>
      <p:sp>
        <p:nvSpPr>
          <p:cNvPr id="2783234" name="Rectangle 2"/>
          <p:cNvSpPr>
            <a:spLocks noGrp="1" noChangeArrowheads="1"/>
          </p:cNvSpPr>
          <p:nvPr>
            <p:ph type="title"/>
          </p:nvPr>
        </p:nvSpPr>
        <p:spPr>
          <a:xfrm>
            <a:off x="179388" y="117475"/>
            <a:ext cx="8785225" cy="8636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11.1.2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目标代码的形式 </a:t>
            </a:r>
          </a:p>
        </p:txBody>
      </p:sp>
      <p:sp>
        <p:nvSpPr>
          <p:cNvPr id="2783235" name="Rectangle 3"/>
          <p:cNvSpPr>
            <a:spLocks noGrp="1" noChangeArrowheads="1"/>
          </p:cNvSpPr>
          <p:nvPr>
            <p:ph type="body" idx="1"/>
          </p:nvPr>
        </p:nvSpPr>
        <p:spPr>
          <a:xfrm>
            <a:off x="152400" y="908050"/>
            <a:ext cx="8839200" cy="5616575"/>
          </a:xfrm>
        </p:spPr>
        <p:txBody>
          <a:bodyPr/>
          <a:lstStyle/>
          <a:p>
            <a:pPr>
              <a:lnSpc>
                <a:spcPct val="90000"/>
              </a:lnSpc>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代码生成器的输出是目标代码。目标代码的形式主要有如下</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3</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种：</a:t>
            </a:r>
          </a:p>
          <a:p>
            <a:pPr lvl="1">
              <a:lnSpc>
                <a:spcPct val="90000"/>
              </a:lnSpc>
            </a:pP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绝对机器语言代码</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。所有地址均已定位，可以立即被执行。适于小程序的编译，因为它们可以迅速地被执行。</a:t>
            </a:r>
          </a:p>
          <a:p>
            <a:pPr lvl="1">
              <a:lnSpc>
                <a:spcPct val="90000"/>
              </a:lnSpc>
            </a:pP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可重定位的机器语言代码</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。允许分别将子程序编译成一组可重定位模块，再由连接装配器将它们和某些运行程序连接起来，转换成能执行的机器语言程序。好处是比较灵活，并能利用已有的程序资源，代价是增加了连接和装配的开销。</a:t>
            </a:r>
          </a:p>
          <a:p>
            <a:pPr lvl="1">
              <a:lnSpc>
                <a:spcPct val="90000"/>
              </a:lnSpc>
            </a:pP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汇编语言代码</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。生成汇编语言代码后还需要经过汇编程序汇编成可执行的机器语言代码，但其好处是简化了代码生成过程并增加了可读性。</a:t>
            </a:r>
          </a:p>
        </p:txBody>
      </p:sp>
    </p:spTree>
    <p:extLst>
      <p:ext uri="{BB962C8B-B14F-4D97-AF65-F5344CB8AC3E}">
        <p14:creationId xmlns:p14="http://schemas.microsoft.com/office/powerpoint/2010/main" val="22685010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83235">
                                            <p:txEl>
                                              <p:pRg st="0" end="0"/>
                                            </p:txEl>
                                          </p:spTgt>
                                        </p:tgtEl>
                                        <p:attrNameLst>
                                          <p:attrName>style.visibility</p:attrName>
                                        </p:attrNameLst>
                                      </p:cBhvr>
                                      <p:to>
                                        <p:strVal val="visible"/>
                                      </p:to>
                                    </p:set>
                                    <p:animEffect transition="in" filter="blinds(horizontal)">
                                      <p:cBhvr>
                                        <p:cTn id="7" dur="500"/>
                                        <p:tgtEl>
                                          <p:spTgt spid="27832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83235">
                                            <p:txEl>
                                              <p:pRg st="1" end="1"/>
                                            </p:txEl>
                                          </p:spTgt>
                                        </p:tgtEl>
                                        <p:attrNameLst>
                                          <p:attrName>style.visibility</p:attrName>
                                        </p:attrNameLst>
                                      </p:cBhvr>
                                      <p:to>
                                        <p:strVal val="visible"/>
                                      </p:to>
                                    </p:set>
                                    <p:animEffect transition="in" filter="blinds(horizontal)">
                                      <p:cBhvr>
                                        <p:cTn id="12" dur="500"/>
                                        <p:tgtEl>
                                          <p:spTgt spid="27832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83235">
                                            <p:txEl>
                                              <p:pRg st="2" end="2"/>
                                            </p:txEl>
                                          </p:spTgt>
                                        </p:tgtEl>
                                        <p:attrNameLst>
                                          <p:attrName>style.visibility</p:attrName>
                                        </p:attrNameLst>
                                      </p:cBhvr>
                                      <p:to>
                                        <p:strVal val="visible"/>
                                      </p:to>
                                    </p:set>
                                    <p:animEffect transition="in" filter="blinds(horizontal)">
                                      <p:cBhvr>
                                        <p:cTn id="17" dur="500"/>
                                        <p:tgtEl>
                                          <p:spTgt spid="27832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83235">
                                            <p:txEl>
                                              <p:pRg st="3" end="3"/>
                                            </p:txEl>
                                          </p:spTgt>
                                        </p:tgtEl>
                                        <p:attrNameLst>
                                          <p:attrName>style.visibility</p:attrName>
                                        </p:attrNameLst>
                                      </p:cBhvr>
                                      <p:to>
                                        <p:strVal val="visible"/>
                                      </p:to>
                                    </p:set>
                                    <p:animEffect transition="in" filter="blinds(horizontal)">
                                      <p:cBhvr>
                                        <p:cTn id="22" dur="500"/>
                                        <p:tgtEl>
                                          <p:spTgt spid="27832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3235" grpId="0" build="p" bldLvl="2"/>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6FB0BE2-B9B2-4697-B62B-B28D2AAA4381}"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47AB8793-A20A-49B5-9A4F-646D78031C5C}" type="slidenum">
              <a:rPr lang="en-US" altLang="zh-CN"/>
              <a:pPr/>
              <a:t>7</a:t>
            </a:fld>
            <a:endParaRPr lang="en-US" altLang="zh-CN"/>
          </a:p>
        </p:txBody>
      </p:sp>
      <p:sp>
        <p:nvSpPr>
          <p:cNvPr id="2784258" name="Rectangle 2"/>
          <p:cNvSpPr>
            <a:spLocks noGrp="1" noChangeArrowheads="1"/>
          </p:cNvSpPr>
          <p:nvPr>
            <p:ph type="title"/>
          </p:nvPr>
        </p:nvSpPr>
        <p:spPr>
          <a:xfrm>
            <a:off x="1116013" y="115888"/>
            <a:ext cx="7504112" cy="936625"/>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11.1.3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指令选择</a:t>
            </a:r>
          </a:p>
        </p:txBody>
      </p:sp>
      <p:sp>
        <p:nvSpPr>
          <p:cNvPr id="2784259" name="Rectangle 3"/>
          <p:cNvSpPr>
            <a:spLocks noGrp="1" noChangeArrowheads="1"/>
          </p:cNvSpPr>
          <p:nvPr>
            <p:ph type="body" idx="1"/>
          </p:nvPr>
        </p:nvSpPr>
        <p:spPr>
          <a:xfrm>
            <a:off x="354013" y="1196975"/>
            <a:ext cx="8610600" cy="474345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所谓</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指令选择</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是指寻找一个合适的机器指令序列来实现给定的中间代码。</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目标机器指令系统的性质决定了指令选择的难易程度</a:t>
            </a:r>
          </a:p>
          <a:p>
            <a:pPr lvl="1"/>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指令系统的一致性和完备性是两个重要的因素</a:t>
            </a:r>
          </a:p>
          <a:p>
            <a:pPr lvl="1"/>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特殊机器指令的使用和指令速度是另一些重要的因素</a:t>
            </a:r>
          </a:p>
        </p:txBody>
      </p:sp>
    </p:spTree>
    <p:extLst>
      <p:ext uri="{BB962C8B-B14F-4D97-AF65-F5344CB8AC3E}">
        <p14:creationId xmlns:p14="http://schemas.microsoft.com/office/powerpoint/2010/main" val="479561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84259">
                                            <p:txEl>
                                              <p:pRg st="0" end="0"/>
                                            </p:txEl>
                                          </p:spTgt>
                                        </p:tgtEl>
                                        <p:attrNameLst>
                                          <p:attrName>style.visibility</p:attrName>
                                        </p:attrNameLst>
                                      </p:cBhvr>
                                      <p:to>
                                        <p:strVal val="visible"/>
                                      </p:to>
                                    </p:set>
                                    <p:animEffect transition="in" filter="blinds(horizontal)">
                                      <p:cBhvr>
                                        <p:cTn id="7" dur="500"/>
                                        <p:tgtEl>
                                          <p:spTgt spid="27842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84259">
                                            <p:txEl>
                                              <p:pRg st="1" end="1"/>
                                            </p:txEl>
                                          </p:spTgt>
                                        </p:tgtEl>
                                        <p:attrNameLst>
                                          <p:attrName>style.visibility</p:attrName>
                                        </p:attrNameLst>
                                      </p:cBhvr>
                                      <p:to>
                                        <p:strVal val="visible"/>
                                      </p:to>
                                    </p:set>
                                    <p:animEffect transition="in" filter="blinds(horizontal)">
                                      <p:cBhvr>
                                        <p:cTn id="12" dur="500"/>
                                        <p:tgtEl>
                                          <p:spTgt spid="2784259">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784259">
                                            <p:txEl>
                                              <p:pRg st="2" end="2"/>
                                            </p:txEl>
                                          </p:spTgt>
                                        </p:tgtEl>
                                        <p:attrNameLst>
                                          <p:attrName>style.visibility</p:attrName>
                                        </p:attrNameLst>
                                      </p:cBhvr>
                                      <p:to>
                                        <p:strVal val="visible"/>
                                      </p:to>
                                    </p:set>
                                    <p:animEffect transition="in" filter="blinds(horizontal)">
                                      <p:cBhvr>
                                        <p:cTn id="15" dur="500"/>
                                        <p:tgtEl>
                                          <p:spTgt spid="2784259">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784259">
                                            <p:txEl>
                                              <p:pRg st="3" end="3"/>
                                            </p:txEl>
                                          </p:spTgt>
                                        </p:tgtEl>
                                        <p:attrNameLst>
                                          <p:attrName>style.visibility</p:attrName>
                                        </p:attrNameLst>
                                      </p:cBhvr>
                                      <p:to>
                                        <p:strVal val="visible"/>
                                      </p:to>
                                    </p:set>
                                    <p:animEffect transition="in" filter="blinds(horizontal)">
                                      <p:cBhvr>
                                        <p:cTn id="18" dur="500"/>
                                        <p:tgtEl>
                                          <p:spTgt spid="27842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425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BC92C7B-B290-48F7-9EF5-CB1280740C60}"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87B6E944-2FB3-4F85-84B1-D292B911F611}" type="slidenum">
              <a:rPr lang="en-US" altLang="zh-CN"/>
              <a:pPr/>
              <a:t>8</a:t>
            </a:fld>
            <a:endParaRPr lang="en-US" altLang="zh-CN"/>
          </a:p>
        </p:txBody>
      </p:sp>
      <p:sp>
        <p:nvSpPr>
          <p:cNvPr id="2786306" name="Rectangle 2"/>
          <p:cNvSpPr>
            <a:spLocks noGrp="1" noChangeArrowheads="1"/>
          </p:cNvSpPr>
          <p:nvPr>
            <p:ph type="title"/>
          </p:nvPr>
        </p:nvSpPr>
        <p:spPr>
          <a:xfrm>
            <a:off x="1116013" y="115888"/>
            <a:ext cx="7504112" cy="11430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11.1.3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指令选择</a:t>
            </a:r>
          </a:p>
        </p:txBody>
      </p:sp>
      <p:sp>
        <p:nvSpPr>
          <p:cNvPr id="2786307" name="Rectangle 3"/>
          <p:cNvSpPr>
            <a:spLocks noGrp="1" noChangeArrowheads="1"/>
          </p:cNvSpPr>
          <p:nvPr>
            <p:ph type="body" idx="1"/>
          </p:nvPr>
        </p:nvSpPr>
        <p:spPr>
          <a:xfrm>
            <a:off x="125413" y="1403350"/>
            <a:ext cx="8839200" cy="467995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若不考虑目标程序的效率，指令的选择将非常简单：</a:t>
            </a:r>
          </a:p>
          <a:p>
            <a:pPr lvl="1"/>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如：三地址语句</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 := y + z</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翻译成如下代码序列：（</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z</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都是静态分配）</a:t>
            </a:r>
          </a:p>
          <a:p>
            <a:pPr lvl="1"/>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y,	R0	/*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把</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装入寄存器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R0 */</a:t>
            </a:r>
          </a:p>
          <a:p>
            <a:pPr lvl="1"/>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ADD	z,	R0 	/* z</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加到</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上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p>
          <a:p>
            <a:pPr lvl="1"/>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R0,	x 	/*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把</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存入</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逐个语句地产生代码，常常得到低质量的代码</a:t>
            </a:r>
          </a:p>
        </p:txBody>
      </p:sp>
    </p:spTree>
    <p:extLst>
      <p:ext uri="{BB962C8B-B14F-4D97-AF65-F5344CB8AC3E}">
        <p14:creationId xmlns:p14="http://schemas.microsoft.com/office/powerpoint/2010/main" val="13872502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661A3BE-43DC-41E5-B8AB-B9769EB900B0}"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2EB8EFEC-612B-4E2A-A440-32CFD0F06ACC}" type="slidenum">
              <a:rPr lang="en-US" altLang="zh-CN"/>
              <a:pPr/>
              <a:t>9</a:t>
            </a:fld>
            <a:endParaRPr lang="en-US" altLang="zh-CN"/>
          </a:p>
        </p:txBody>
      </p:sp>
      <p:sp>
        <p:nvSpPr>
          <p:cNvPr id="2788354" name="Rectangle 2"/>
          <p:cNvSpPr>
            <a:spLocks noGrp="1" noChangeArrowheads="1"/>
          </p:cNvSpPr>
          <p:nvPr>
            <p:ph type="title"/>
          </p:nvPr>
        </p:nvSpPr>
        <p:spPr>
          <a:xfrm>
            <a:off x="1116013" y="115888"/>
            <a:ext cx="7437437" cy="936625"/>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11.1.3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指令选择</a:t>
            </a:r>
          </a:p>
        </p:txBody>
      </p:sp>
      <p:sp>
        <p:nvSpPr>
          <p:cNvPr id="2788355" name="Rectangle 3"/>
          <p:cNvSpPr>
            <a:spLocks noGrp="1" noChangeArrowheads="1"/>
          </p:cNvSpPr>
          <p:nvPr>
            <p:ph type="body" idx="1"/>
          </p:nvPr>
        </p:nvSpPr>
        <p:spPr>
          <a:xfrm>
            <a:off x="323850" y="1196975"/>
            <a:ext cx="8610600" cy="4848225"/>
          </a:xfrm>
        </p:spPr>
        <p:txBody>
          <a:bodyPr/>
          <a:lstStyle/>
          <a:p>
            <a:pPr>
              <a:lnSpc>
                <a:spcPct val="90000"/>
              </a:lnSpc>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语句序列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 := b + c </a:t>
            </a: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d := a + e</a:t>
            </a:r>
          </a:p>
          <a:p>
            <a:pPr>
              <a:lnSpc>
                <a:spcPct val="90000"/>
              </a:lnSpc>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的代码如下</a:t>
            </a: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b,	R0</a:t>
            </a: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ADD	         c,	R0</a:t>
            </a:r>
          </a:p>
          <a:p>
            <a:pPr>
              <a:lnSpc>
                <a:spcPct val="90000"/>
              </a:lnSpc>
              <a:buFontTx/>
              <a:buNone/>
            </a:pPr>
            <a:r>
              <a:rPr lang="en-US" altLang="zh-CN" b="1"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MOV	R0,	a     -- </a:t>
            </a:r>
            <a:r>
              <a:rPr lang="zh-CN" altLang="en-US" sz="2800" b="1"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若</a:t>
            </a:r>
            <a:r>
              <a:rPr lang="en-US" altLang="zh-CN" sz="2800" b="1"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a</a:t>
            </a:r>
            <a:r>
              <a:rPr lang="zh-CN" altLang="en-US" sz="2800" b="1"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不再使用，第三条也多余</a:t>
            </a:r>
            <a:endParaRPr lang="zh-CN" altLang="en-US" b="1"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endParaRPr>
          </a:p>
          <a:p>
            <a:pPr>
              <a:lnSpc>
                <a:spcPct val="90000"/>
              </a:lnSpc>
              <a:buFontTx/>
              <a:buNone/>
            </a:pPr>
            <a:r>
              <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MOV	a,	R0  -- </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多余的指令</a:t>
            </a: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ADD	         e,	R0	</a:t>
            </a:r>
            <a:endParaRPr lang="en-US" altLang="zh-CN" sz="2800" b="1" dirty="0">
              <a:latin typeface="Times New Roman" panose="02020603050405020304" pitchFamily="18" charset="0"/>
              <a:ea typeface="华文新魏" panose="02010800040101010101" pitchFamily="2" charset="-122"/>
              <a:cs typeface="Times New Roman" panose="02020603050405020304" pitchFamily="18" charset="0"/>
            </a:endParaRP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R0,	d	</a:t>
            </a:r>
          </a:p>
        </p:txBody>
      </p:sp>
    </p:spTree>
    <p:extLst>
      <p:ext uri="{BB962C8B-B14F-4D97-AF65-F5344CB8AC3E}">
        <p14:creationId xmlns:p14="http://schemas.microsoft.com/office/powerpoint/2010/main" val="19061050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18E071C-051E-48E2-A994-7CAB5B03E7EB}"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A5F65628-23EB-467C-BF6D-2349561C269E}" type="slidenum">
              <a:rPr lang="en-US" altLang="zh-CN"/>
              <a:pPr/>
              <a:t>10</a:t>
            </a:fld>
            <a:endParaRPr lang="en-US" altLang="zh-CN"/>
          </a:p>
        </p:txBody>
      </p:sp>
      <p:sp>
        <p:nvSpPr>
          <p:cNvPr id="2790402" name="Rectangle 2"/>
          <p:cNvSpPr>
            <a:spLocks noGrp="1" noChangeArrowheads="1"/>
          </p:cNvSpPr>
          <p:nvPr>
            <p:ph type="title"/>
          </p:nvPr>
        </p:nvSpPr>
        <p:spPr>
          <a:xfrm>
            <a:off x="1116013" y="115888"/>
            <a:ext cx="7437437" cy="936625"/>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11.1.3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指令选择</a:t>
            </a:r>
          </a:p>
        </p:txBody>
      </p:sp>
      <p:sp>
        <p:nvSpPr>
          <p:cNvPr id="2790403" name="Rectangle 3"/>
          <p:cNvSpPr>
            <a:spLocks noGrp="1" noChangeArrowheads="1"/>
          </p:cNvSpPr>
          <p:nvPr>
            <p:ph type="body" idx="1"/>
          </p:nvPr>
        </p:nvSpPr>
        <p:spPr>
          <a:xfrm>
            <a:off x="323850" y="1244600"/>
            <a:ext cx="8610600" cy="4848225"/>
          </a:xfrm>
        </p:spPr>
        <p:txBody>
          <a:bodyPr/>
          <a:lstStyle/>
          <a:p>
            <a:r>
              <a:rPr lang="zh-CN" altLang="zh-CN" b="1" dirty="0">
                <a:latin typeface="Times New Roman" panose="02020603050405020304" pitchFamily="18" charset="0"/>
                <a:ea typeface="华文新魏" panose="02010800040101010101" pitchFamily="2" charset="-122"/>
                <a:cs typeface="Times New Roman" panose="02020603050405020304" pitchFamily="18" charset="0"/>
              </a:rPr>
              <a:t>如果目标机器有加</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指令</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(INC)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，则</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的最有效实现是：</a:t>
            </a:r>
            <a:endParaRPr lang="zh-CN" altLang="pt-BR" b="1" dirty="0">
              <a:latin typeface="Times New Roman" panose="02020603050405020304" pitchFamily="18" charset="0"/>
              <a:ea typeface="华文新魏" panose="02010800040101010101" pitchFamily="2" charset="-122"/>
              <a:cs typeface="Times New Roman" panose="02020603050405020304" pitchFamily="18" charset="0"/>
            </a:endParaRPr>
          </a:p>
          <a:p>
            <a:pPr>
              <a:buFontTx/>
              <a:buNone/>
            </a:pPr>
            <a:r>
              <a:rPr lang="pt-BR" altLang="zh-CN" b="1" dirty="0">
                <a:latin typeface="Times New Roman" panose="02020603050405020304" pitchFamily="18" charset="0"/>
                <a:ea typeface="华文新魏" panose="02010800040101010101" pitchFamily="2" charset="-122"/>
                <a:cs typeface="Times New Roman" panose="02020603050405020304" pitchFamily="18" charset="0"/>
              </a:rPr>
              <a:t>		INC a</a:t>
            </a:r>
          </a:p>
          <a:p>
            <a:pPr>
              <a:buFontTx/>
              <a:buNone/>
            </a:pPr>
            <a:r>
              <a:rPr lang="zh-CN" altLang="pt-BR" b="1" dirty="0">
                <a:latin typeface="Times New Roman" panose="02020603050405020304" pitchFamily="18" charset="0"/>
                <a:ea typeface="华文新魏" panose="02010800040101010101" pitchFamily="2" charset="-122"/>
                <a:cs typeface="Times New Roman" panose="02020603050405020304" pitchFamily="18" charset="0"/>
              </a:rPr>
              <a:t>而不是</a:t>
            </a:r>
          </a:p>
          <a:p>
            <a:pPr>
              <a:buFontTx/>
              <a:buNone/>
            </a:pPr>
            <a:r>
              <a:rPr lang="pt-BR" altLang="zh-CN" b="1" dirty="0">
                <a:latin typeface="Times New Roman" panose="02020603050405020304" pitchFamily="18" charset="0"/>
                <a:ea typeface="华文新魏" panose="02010800040101010101" pitchFamily="2" charset="-122"/>
                <a:cs typeface="Times New Roman" panose="02020603050405020304" pitchFamily="18" charset="0"/>
              </a:rPr>
              <a:t>		MOV a, R0</a:t>
            </a:r>
          </a:p>
          <a:p>
            <a:pPr>
              <a:buFontTx/>
              <a:buNone/>
            </a:pPr>
            <a:r>
              <a:rPr lang="pt-BR" altLang="zh-CN" b="1" dirty="0">
                <a:latin typeface="Times New Roman" panose="02020603050405020304" pitchFamily="18" charset="0"/>
                <a:ea typeface="华文新魏" panose="02010800040101010101" pitchFamily="2" charset="-122"/>
                <a:cs typeface="Times New Roman" panose="02020603050405020304" pitchFamily="18" charset="0"/>
              </a:rPr>
              <a:t>		ADD #1, R0</a:t>
            </a:r>
          </a:p>
          <a:p>
            <a:pPr>
              <a:buFontTx/>
              <a:buNone/>
            </a:pPr>
            <a:r>
              <a:rPr lang="pt-BR" altLang="zh-CN" b="1" dirty="0">
                <a:latin typeface="Times New Roman" panose="02020603050405020304" pitchFamily="18" charset="0"/>
                <a:ea typeface="华文新魏" panose="02010800040101010101" pitchFamily="2" charset="-122"/>
                <a:cs typeface="Times New Roman" panose="02020603050405020304" pitchFamily="18" charset="0"/>
              </a:rPr>
              <a:t>		MOV R0, a </a:t>
            </a:r>
            <a:endParaRPr lang="en-US" altLang="zh-CN" b="1" dirty="0">
              <a:latin typeface="Times New Roman" panose="02020603050405020304" pitchFamily="18" charset="0"/>
              <a:ea typeface="华文新魏" panose="02010800040101010101" pitchFamily="2" charset="-122"/>
              <a:cs typeface="Times New Roman" panose="02020603050405020304" pitchFamily="18" charset="0"/>
            </a:endParaRPr>
          </a:p>
        </p:txBody>
      </p:sp>
    </p:spTree>
    <p:extLst>
      <p:ext uri="{BB962C8B-B14F-4D97-AF65-F5344CB8AC3E}">
        <p14:creationId xmlns:p14="http://schemas.microsoft.com/office/powerpoint/2010/main" val="40648799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547061D-5F41-47B5-B4D0-628734C027E9}"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711D040-8AEB-463C-BB1A-78CA2E7354D7}" type="slidenum">
              <a:rPr lang="en-US" altLang="zh-CN"/>
              <a:pPr/>
              <a:t>11</a:t>
            </a:fld>
            <a:endParaRPr lang="en-US" altLang="zh-CN"/>
          </a:p>
        </p:txBody>
      </p:sp>
      <p:sp>
        <p:nvSpPr>
          <p:cNvPr id="2792450" name="Rectangle 2"/>
          <p:cNvSpPr>
            <a:spLocks noGrp="1" noChangeArrowheads="1"/>
          </p:cNvSpPr>
          <p:nvPr>
            <p:ph type="title"/>
          </p:nvPr>
        </p:nvSpPr>
        <p:spPr>
          <a:xfrm>
            <a:off x="1116013" y="115888"/>
            <a:ext cx="7437437" cy="936625"/>
          </a:xfrm>
        </p:spPr>
        <p:txBody>
          <a:bodyPr/>
          <a:lstStyle/>
          <a:p>
            <a:r>
              <a:rPr lang="pt-BR" altLang="zh-CN" b="1" dirty="0">
                <a:latin typeface="Times New Roman" panose="02020603050405020304" pitchFamily="18" charset="0"/>
                <a:ea typeface="华文新魏" panose="02010800040101010101" pitchFamily="2" charset="-122"/>
                <a:cs typeface="Times New Roman" panose="02020603050405020304" pitchFamily="18" charset="0"/>
              </a:rPr>
              <a:t>11.1.4 </a:t>
            </a:r>
            <a:r>
              <a:rPr lang="zh-CN" altLang="pt-BR" b="1" dirty="0">
                <a:latin typeface="Times New Roman" panose="02020603050405020304" pitchFamily="18" charset="0"/>
                <a:ea typeface="华文新魏" panose="02010800040101010101" pitchFamily="2" charset="-122"/>
                <a:cs typeface="Times New Roman" panose="02020603050405020304" pitchFamily="18" charset="0"/>
              </a:rPr>
              <a:t>寄存器分配</a:t>
            </a:r>
            <a:endParaRPr lang="zh-CN" altLang="en-US" b="1" dirty="0">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792451" name="Rectangle 3"/>
          <p:cNvSpPr>
            <a:spLocks noGrp="1" noChangeArrowheads="1"/>
          </p:cNvSpPr>
          <p:nvPr>
            <p:ph type="body" idx="1"/>
          </p:nvPr>
        </p:nvSpPr>
        <p:spPr>
          <a:xfrm>
            <a:off x="107950" y="1244600"/>
            <a:ext cx="8964613" cy="4848225"/>
          </a:xfrm>
        </p:spPr>
        <p:txBody>
          <a:bodyPr/>
          <a:lstStyle/>
          <a:p>
            <a:r>
              <a:rPr lang="zh-CN" altLang="pt-BR" b="1" dirty="0">
                <a:latin typeface="Times New Roman" panose="02020603050405020304" pitchFamily="18" charset="0"/>
                <a:ea typeface="华文新魏" panose="02010800040101010101" pitchFamily="2" charset="-122"/>
                <a:cs typeface="Times New Roman" panose="02020603050405020304" pitchFamily="18" charset="0"/>
              </a:rPr>
              <a:t>将运算对象放在寄存器中的指令通常要比将运算对象放在内存中的指令快且短，因此，要想生成高质量的目标代码，必须充分使用目标机器的寄存器，寄存器的使用包括：</a:t>
            </a:r>
            <a:endParaRPr lang="zh-CN" altLang="en-US" b="1" dirty="0">
              <a:latin typeface="Times New Roman" panose="02020603050405020304" pitchFamily="18" charset="0"/>
              <a:ea typeface="华文新魏" panose="02010800040101010101" pitchFamily="2" charset="-122"/>
              <a:cs typeface="Times New Roman" panose="02020603050405020304" pitchFamily="18" charset="0"/>
            </a:endParaRPr>
          </a:p>
          <a:p>
            <a:pPr lvl="1"/>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寄存器分配：为程序的某一点选择驻留在寄存器的一组变量</a:t>
            </a:r>
          </a:p>
          <a:p>
            <a:pPr lvl="1"/>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寄存器指派：确定变量将要驻留的具体寄存器</a:t>
            </a:r>
          </a:p>
        </p:txBody>
      </p:sp>
    </p:spTree>
    <p:extLst>
      <p:ext uri="{BB962C8B-B14F-4D97-AF65-F5344CB8AC3E}">
        <p14:creationId xmlns:p14="http://schemas.microsoft.com/office/powerpoint/2010/main" val="5549251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E8A32DD-6470-4B82-A056-45C6F33E8426}"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D16AA88-0016-4B25-92FE-CD94AEF9F5CE}" type="slidenum">
              <a:rPr lang="en-US" altLang="zh-CN"/>
              <a:pPr/>
              <a:t>12</a:t>
            </a:fld>
            <a:endParaRPr lang="en-US" altLang="zh-CN"/>
          </a:p>
        </p:txBody>
      </p:sp>
      <p:sp>
        <p:nvSpPr>
          <p:cNvPr id="2892802" name="Rectangle 2"/>
          <p:cNvSpPr>
            <a:spLocks noGrp="1" noChangeArrowheads="1"/>
          </p:cNvSpPr>
          <p:nvPr>
            <p:ph type="title"/>
          </p:nvPr>
        </p:nvSpPr>
        <p:spPr>
          <a:xfrm>
            <a:off x="1116013" y="115888"/>
            <a:ext cx="7437437" cy="936625"/>
          </a:xfrm>
        </p:spPr>
        <p:txBody>
          <a:bodyPr/>
          <a:lstStyle/>
          <a:p>
            <a:r>
              <a:rPr lang="pt-BR" altLang="zh-CN" b="1" dirty="0">
                <a:latin typeface="Times New Roman" panose="02020603050405020304" pitchFamily="18" charset="0"/>
                <a:ea typeface="华文新魏" panose="02010800040101010101" pitchFamily="2" charset="-122"/>
                <a:cs typeface="Times New Roman" panose="02020603050405020304" pitchFamily="18" charset="0"/>
              </a:rPr>
              <a:t>11.1.4 </a:t>
            </a:r>
            <a:r>
              <a:rPr lang="zh-CN" altLang="pt-BR" b="1" dirty="0">
                <a:latin typeface="Times New Roman" panose="02020603050405020304" pitchFamily="18" charset="0"/>
                <a:ea typeface="华文新魏" panose="02010800040101010101" pitchFamily="2" charset="-122"/>
                <a:cs typeface="Times New Roman" panose="02020603050405020304" pitchFamily="18" charset="0"/>
              </a:rPr>
              <a:t>寄存器分配</a:t>
            </a:r>
            <a:endParaRPr lang="zh-CN" altLang="en-US" b="1" dirty="0">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892803" name="Rectangle 3"/>
          <p:cNvSpPr>
            <a:spLocks noGrp="1" noChangeArrowheads="1"/>
          </p:cNvSpPr>
          <p:nvPr>
            <p:ph type="body" idx="1"/>
          </p:nvPr>
        </p:nvSpPr>
        <p:spPr>
          <a:xfrm>
            <a:off x="107950" y="1244600"/>
            <a:ext cx="8964613" cy="4848225"/>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选择最优的寄存器指派方案是一个</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NP</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完全问题，如果考虑到目标机器的硬件和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或</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操作系统对寄存器的使用约束，该问题还会进一步复杂。有关寄存器分配和指派的策略将在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11.5</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节再进行详细讨论。</a:t>
            </a:r>
          </a:p>
        </p:txBody>
      </p:sp>
    </p:spTree>
    <p:extLst>
      <p:ext uri="{BB962C8B-B14F-4D97-AF65-F5344CB8AC3E}">
        <p14:creationId xmlns:p14="http://schemas.microsoft.com/office/powerpoint/2010/main" val="26138432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C781130-022E-4612-949D-ED5102C2B9CD}"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4B24C6A-71D7-4213-B5B5-0623BCE3F312}" type="slidenum">
              <a:rPr lang="en-US" altLang="zh-CN"/>
              <a:pPr/>
              <a:t>13</a:t>
            </a:fld>
            <a:endParaRPr lang="en-US" altLang="zh-CN"/>
          </a:p>
        </p:txBody>
      </p:sp>
      <p:sp>
        <p:nvSpPr>
          <p:cNvPr id="2794498" name="Rectangle 2"/>
          <p:cNvSpPr>
            <a:spLocks noGrp="1" noChangeArrowheads="1"/>
          </p:cNvSpPr>
          <p:nvPr>
            <p:ph type="title"/>
          </p:nvPr>
        </p:nvSpPr>
        <p:spPr>
          <a:xfrm>
            <a:off x="1116013" y="115888"/>
            <a:ext cx="7437437" cy="936625"/>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11.1.5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计算顺序选择</a:t>
            </a:r>
          </a:p>
        </p:txBody>
      </p:sp>
      <p:sp>
        <p:nvSpPr>
          <p:cNvPr id="2794499" name="Rectangle 3"/>
          <p:cNvSpPr>
            <a:spLocks noGrp="1" noChangeArrowheads="1"/>
          </p:cNvSpPr>
          <p:nvPr>
            <p:ph type="body" idx="1"/>
          </p:nvPr>
        </p:nvSpPr>
        <p:spPr>
          <a:xfrm>
            <a:off x="107950" y="1244600"/>
            <a:ext cx="8964613" cy="4848225"/>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计算执行的顺序同样会影响目标代码的效率。后面将会看到，某些计算顺序比其它顺序需要较少的寄存器来保存中间结果，因而其目标代码的效率也要高。</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选择最佳计算顺序也是一个</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NP</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完全问题。为简单起见，只讨论如何按给定的三地址码的顺序生成目标代码。</a:t>
            </a:r>
          </a:p>
        </p:txBody>
      </p:sp>
    </p:spTree>
    <p:extLst>
      <p:ext uri="{BB962C8B-B14F-4D97-AF65-F5344CB8AC3E}">
        <p14:creationId xmlns:p14="http://schemas.microsoft.com/office/powerpoint/2010/main" val="41821394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5ECB640-DAF1-40C7-ACBF-A554475192FB}"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763B5B19-6256-4CD2-9174-9A94731BD43D}" type="slidenum">
              <a:rPr lang="en-US" altLang="zh-CN"/>
              <a:pPr/>
              <a:t>14</a:t>
            </a:fld>
            <a:endParaRPr lang="en-US" altLang="zh-CN"/>
          </a:p>
        </p:txBody>
      </p:sp>
      <p:sp>
        <p:nvSpPr>
          <p:cNvPr id="2796546" name="Rectangle 2"/>
          <p:cNvSpPr>
            <a:spLocks noGrp="1" noChangeArrowheads="1"/>
          </p:cNvSpPr>
          <p:nvPr>
            <p:ph type="title"/>
          </p:nvPr>
        </p:nvSpPr>
        <p:spPr>
          <a:xfrm>
            <a:off x="1460500" y="115888"/>
            <a:ext cx="6207125" cy="865187"/>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目标语言</a:t>
            </a:r>
            <a:r>
              <a:rPr lang="zh-CN" altLang="en-US" b="1" dirty="0">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p>
        </p:txBody>
      </p:sp>
      <p:sp>
        <p:nvSpPr>
          <p:cNvPr id="2796547" name="Rectangle 3"/>
          <p:cNvSpPr>
            <a:spLocks noGrp="1" noChangeArrowheads="1"/>
          </p:cNvSpPr>
          <p:nvPr>
            <p:ph type="body" idx="1"/>
          </p:nvPr>
        </p:nvSpPr>
        <p:spPr>
          <a:xfrm>
            <a:off x="354013" y="1125538"/>
            <a:ext cx="8610600" cy="5126037"/>
          </a:xfrm>
        </p:spPr>
        <p:txBody>
          <a:bodyPr/>
          <a:lstStyle/>
          <a:p>
            <a:pPr>
              <a:buFontTx/>
              <a:buNone/>
            </a:pPr>
            <a:r>
              <a:rPr lang="en-US" altLang="zh-CN" sz="3600" b="1" dirty="0">
                <a:latin typeface="Times New Roman" panose="02020603050405020304" pitchFamily="18" charset="0"/>
                <a:ea typeface="华文新魏" panose="02010800040101010101" pitchFamily="2" charset="-122"/>
                <a:cs typeface="Times New Roman" panose="02020603050405020304" pitchFamily="18" charset="0"/>
              </a:rPr>
              <a:t>11.2.1 </a:t>
            </a:r>
            <a:r>
              <a:rPr lang="zh-CN" altLang="en-US" sz="3600" b="1" dirty="0">
                <a:latin typeface="Times New Roman" panose="02020603050405020304" pitchFamily="18" charset="0"/>
                <a:ea typeface="华文新魏" panose="02010800040101010101" pitchFamily="2" charset="-122"/>
                <a:cs typeface="Times New Roman" panose="02020603050405020304" pitchFamily="18" charset="0"/>
              </a:rPr>
              <a:t>目标机模型</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选择可作为几种微机代表的寄存器机器</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字节寻址，四字节组成一个字，具有</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n</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个通用寄存器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R0, R1,  …, Rn-1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二地址指令：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op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源，目的</a:t>
            </a:r>
          </a:p>
          <a:p>
            <a:pPr algn="just">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将源移到目的中</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p>
          <a:p>
            <a:pPr algn="just">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ADD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将源加到目的中</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p>
          <a:p>
            <a:pPr algn="just">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SUB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在目的中减去源</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p>
        </p:txBody>
      </p:sp>
    </p:spTree>
    <p:extLst>
      <p:ext uri="{BB962C8B-B14F-4D97-AF65-F5344CB8AC3E}">
        <p14:creationId xmlns:p14="http://schemas.microsoft.com/office/powerpoint/2010/main" val="27820517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F1D6DE7-2158-48EF-A8AE-668BA3814974}"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2B49D57F-B5D1-42D0-85C0-E33AFDB1F063}" type="slidenum">
              <a:rPr lang="en-US" altLang="zh-CN"/>
              <a:pPr/>
              <a:t>15</a:t>
            </a:fld>
            <a:endParaRPr lang="en-US" altLang="zh-CN"/>
          </a:p>
        </p:txBody>
      </p:sp>
      <p:sp>
        <p:nvSpPr>
          <p:cNvPr id="2798594" name="Rectangle 2"/>
          <p:cNvSpPr>
            <a:spLocks noGrp="1" noChangeArrowheads="1"/>
          </p:cNvSpPr>
          <p:nvPr>
            <p:ph type="title"/>
          </p:nvPr>
        </p:nvSpPr>
        <p:spPr>
          <a:xfrm>
            <a:off x="1531938" y="115888"/>
            <a:ext cx="6135687" cy="865187"/>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目标语言</a:t>
            </a:r>
            <a:r>
              <a:rPr lang="zh-CN" altLang="en-US" b="1" dirty="0">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p>
        </p:txBody>
      </p:sp>
      <p:sp>
        <p:nvSpPr>
          <p:cNvPr id="2798595" name="Rectangle 3"/>
          <p:cNvSpPr>
            <a:spLocks noGrp="1" noChangeArrowheads="1"/>
          </p:cNvSpPr>
          <p:nvPr>
            <p:ph type="body" idx="1"/>
          </p:nvPr>
        </p:nvSpPr>
        <p:spPr>
          <a:xfrm>
            <a:off x="304800" y="1196975"/>
            <a:ext cx="8610600" cy="4892675"/>
          </a:xfrm>
        </p:spPr>
        <p:txBody>
          <a:bodyPr/>
          <a:lstStyle/>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寻址模式和它们的汇编语言形式及相关开销</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寻址模式	 汇编形式   地址            增加的开销</a:t>
            </a:r>
          </a:p>
          <a:p>
            <a:pPr>
              <a:spcBef>
                <a:spcPct val="50000"/>
              </a:spcBef>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绝对地址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		   M 	                   1</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寄存器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		    R	                   0</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下标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c</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c</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contents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   1</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间址寄存器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contents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         0</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间址下标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c</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  </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contents</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i="1" dirty="0" err="1">
                <a:latin typeface="Times New Roman" panose="02020603050405020304" pitchFamily="18" charset="0"/>
                <a:ea typeface="华文新魏" panose="02010800040101010101" pitchFamily="2" charset="-122"/>
                <a:cs typeface="Times New Roman" panose="02020603050405020304" pitchFamily="18" charset="0"/>
              </a:rPr>
              <a:t>c</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i="1" dirty="0" err="1">
                <a:latin typeface="Times New Roman" panose="02020603050405020304" pitchFamily="18" charset="0"/>
                <a:ea typeface="华文新魏" panose="02010800040101010101" pitchFamily="2" charset="-122"/>
                <a:cs typeface="Times New Roman" panose="02020603050405020304" pitchFamily="18" charset="0"/>
              </a:rPr>
              <a:t>contents</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R</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 </a:t>
            </a:r>
          </a:p>
          <a:p>
            <a:pPr>
              <a:spcBef>
                <a:spcPct val="30000"/>
              </a:spcBef>
              <a:buFontTx/>
              <a:buNone/>
            </a:pP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直接量	   </a:t>
            </a:r>
            <a:r>
              <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c		     c	                   </a:t>
            </a:r>
            <a:r>
              <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1 </a:t>
            </a:r>
          </a:p>
        </p:txBody>
      </p:sp>
    </p:spTree>
    <p:extLst>
      <p:ext uri="{BB962C8B-B14F-4D97-AF65-F5344CB8AC3E}">
        <p14:creationId xmlns:p14="http://schemas.microsoft.com/office/powerpoint/2010/main" val="12076775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B39C1D3-2496-480A-96F7-B0EEF91A031F}"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56132256-AB19-47A2-BFB4-60301077E066}" type="slidenum">
              <a:rPr lang="en-US" altLang="zh-CN"/>
              <a:pPr/>
              <a:t>16</a:t>
            </a:fld>
            <a:endParaRPr lang="en-US" altLang="zh-CN"/>
          </a:p>
        </p:txBody>
      </p:sp>
      <p:sp>
        <p:nvSpPr>
          <p:cNvPr id="2800642" name="Rectangle 2"/>
          <p:cNvSpPr>
            <a:spLocks noGrp="1" noChangeArrowheads="1"/>
          </p:cNvSpPr>
          <p:nvPr>
            <p:ph type="title"/>
          </p:nvPr>
        </p:nvSpPr>
        <p:spPr>
          <a:xfrm>
            <a:off x="1619250" y="115888"/>
            <a:ext cx="5919788" cy="936625"/>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目标语言</a:t>
            </a:r>
            <a:r>
              <a:rPr lang="zh-CN" altLang="en-US" b="1" dirty="0">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p>
        </p:txBody>
      </p:sp>
      <p:sp>
        <p:nvSpPr>
          <p:cNvPr id="2800643" name="Rectangle 3"/>
          <p:cNvSpPr>
            <a:spLocks noGrp="1" noChangeArrowheads="1"/>
          </p:cNvSpPr>
          <p:nvPr>
            <p:ph type="body" idx="1"/>
          </p:nvPr>
        </p:nvSpPr>
        <p:spPr>
          <a:xfrm>
            <a:off x="304800" y="1268413"/>
            <a:ext cx="8610600" cy="4776787"/>
          </a:xfrm>
        </p:spPr>
        <p:txBody>
          <a:bodyPr/>
          <a:lstStyle/>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指令实例</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R0,		M</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MOV	4(R0),	M</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i="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contents</a:t>
            </a:r>
            <a:r>
              <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(4 + </a:t>
            </a:r>
            <a:r>
              <a:rPr lang="en-US" altLang="zh-CN" b="1" i="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contents</a:t>
            </a:r>
            <a:r>
              <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(R0))</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MOV	*4(R0),	M</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i="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contents</a:t>
            </a:r>
            <a:r>
              <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contents</a:t>
            </a:r>
            <a:r>
              <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(4+</a:t>
            </a:r>
            <a:r>
              <a:rPr lang="en-US" altLang="zh-CN" b="1" i="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contents</a:t>
            </a:r>
            <a:r>
              <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(R0)))</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MOV	#1,		R0</a:t>
            </a:r>
          </a:p>
        </p:txBody>
      </p:sp>
    </p:spTree>
    <p:extLst>
      <p:ext uri="{BB962C8B-B14F-4D97-AF65-F5344CB8AC3E}">
        <p14:creationId xmlns:p14="http://schemas.microsoft.com/office/powerpoint/2010/main" val="5793993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A0152B57-FD62-4406-973B-27FE9F45DBA5}"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E25AF628-357D-4AA1-8BEE-C43A72D7590C}" type="slidenum">
              <a:rPr lang="en-US" altLang="zh-CN"/>
              <a:pPr/>
              <a:t>17</a:t>
            </a:fld>
            <a:endParaRPr lang="en-US" altLang="zh-CN"/>
          </a:p>
        </p:txBody>
      </p:sp>
      <p:sp>
        <p:nvSpPr>
          <p:cNvPr id="2802690" name="Rectangle 2"/>
          <p:cNvSpPr>
            <a:spLocks noGrp="1" noChangeArrowheads="1"/>
          </p:cNvSpPr>
          <p:nvPr>
            <p:ph type="title"/>
          </p:nvPr>
        </p:nvSpPr>
        <p:spPr>
          <a:xfrm>
            <a:off x="1619250" y="115888"/>
            <a:ext cx="5846763" cy="865187"/>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目标语言</a:t>
            </a:r>
            <a:r>
              <a:rPr lang="zh-CN" altLang="en-US" b="1" dirty="0">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p>
        </p:txBody>
      </p:sp>
      <p:sp>
        <p:nvSpPr>
          <p:cNvPr id="2802691" name="Rectangle 3"/>
          <p:cNvSpPr>
            <a:spLocks noGrp="1" noChangeArrowheads="1"/>
          </p:cNvSpPr>
          <p:nvPr>
            <p:ph type="body" idx="1"/>
          </p:nvPr>
        </p:nvSpPr>
        <p:spPr>
          <a:xfrm>
            <a:off x="323850" y="1125538"/>
            <a:ext cx="8610600" cy="5246687"/>
          </a:xfrm>
        </p:spPr>
        <p:txBody>
          <a:bodyPr/>
          <a:lstStyle/>
          <a:p>
            <a:pPr>
              <a:buFontTx/>
              <a:buNone/>
            </a:pPr>
            <a:r>
              <a:rPr lang="en-US" altLang="zh-CN" sz="3600" b="1" dirty="0">
                <a:latin typeface="Times New Roman" panose="02020603050405020304" pitchFamily="18" charset="0"/>
                <a:ea typeface="华文新魏" panose="02010800040101010101" pitchFamily="2" charset="-122"/>
                <a:cs typeface="Times New Roman" panose="02020603050405020304" pitchFamily="18" charset="0"/>
              </a:rPr>
              <a:t>11.2.2 </a:t>
            </a:r>
            <a:r>
              <a:rPr lang="zh-CN" altLang="en-US" sz="3600" b="1" dirty="0">
                <a:latin typeface="Times New Roman" panose="02020603050405020304" pitchFamily="18" charset="0"/>
                <a:ea typeface="华文新魏" panose="02010800040101010101" pitchFamily="2" charset="-122"/>
                <a:cs typeface="Times New Roman" panose="02020603050405020304" pitchFamily="18" charset="0"/>
              </a:rPr>
              <a:t>程序和指令的开销</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指令开销</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源和目的寻址模式的附加开销</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指令				开销</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R0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R1		   1</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MOV R5</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 		   2</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ADD #1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R3		   2</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SUB 4(R0), *12(R1) 	   3</a:t>
            </a:r>
          </a:p>
        </p:txBody>
      </p:sp>
    </p:spTree>
    <p:extLst>
      <p:ext uri="{BB962C8B-B14F-4D97-AF65-F5344CB8AC3E}">
        <p14:creationId xmlns:p14="http://schemas.microsoft.com/office/powerpoint/2010/main" val="11800967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EF4D813-D1F7-4A13-B637-C128D81D0C4F}"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0CAC79AF-386F-4244-B4EB-975C44EADB24}" type="slidenum">
              <a:rPr lang="en-US" altLang="zh-CN"/>
              <a:pPr/>
              <a:t>18</a:t>
            </a:fld>
            <a:endParaRPr lang="en-US" altLang="zh-CN"/>
          </a:p>
        </p:txBody>
      </p:sp>
      <p:sp>
        <p:nvSpPr>
          <p:cNvPr id="2804738" name="Rectangle 2"/>
          <p:cNvSpPr>
            <a:spLocks noGrp="1" noChangeArrowheads="1"/>
          </p:cNvSpPr>
          <p:nvPr>
            <p:ph type="title"/>
          </p:nvPr>
        </p:nvSpPr>
        <p:spPr>
          <a:xfrm>
            <a:off x="1533525" y="115888"/>
            <a:ext cx="5775325" cy="100965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程序和指令的开销</a:t>
            </a:r>
          </a:p>
        </p:txBody>
      </p:sp>
      <p:sp>
        <p:nvSpPr>
          <p:cNvPr id="2804739" name="Rectangle 3"/>
          <p:cNvSpPr>
            <a:spLocks noGrp="1" noChangeArrowheads="1"/>
          </p:cNvSpPr>
          <p:nvPr>
            <p:ph type="body" idx="1"/>
          </p:nvPr>
        </p:nvSpPr>
        <p:spPr>
          <a:xfrm>
            <a:off x="323850" y="1476375"/>
            <a:ext cx="8610600" cy="3697288"/>
          </a:xfrm>
        </p:spPr>
        <p:txBody>
          <a:bodyPr/>
          <a:lstStyle/>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 := b + 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都静态分配内存单元</a:t>
            </a:r>
          </a:p>
          <a:p>
            <a:pPr>
              <a:buFontTx/>
              <a:buNone/>
            </a:pPr>
            <a:endParaRPr lang="zh-CN" altLang="en-US" b="1" dirty="0">
              <a:latin typeface="Times New Roman" panose="02020603050405020304" pitchFamily="18" charset="0"/>
              <a:ea typeface="华文新魏" panose="02010800040101010101" pitchFamily="2" charset="-122"/>
              <a:cs typeface="Times New Roman" panose="02020603050405020304" pitchFamily="18" charset="0"/>
            </a:endParaRP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b, R0</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ADD c, R0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开销</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6</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MOV R0, a</a:t>
            </a:r>
          </a:p>
        </p:txBody>
      </p:sp>
    </p:spTree>
    <p:extLst>
      <p:ext uri="{BB962C8B-B14F-4D97-AF65-F5344CB8AC3E}">
        <p14:creationId xmlns:p14="http://schemas.microsoft.com/office/powerpoint/2010/main" val="10399914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9936BC2-D731-4426-BBE8-D4B19987C2A6}"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706CB0C-EB51-49A1-809A-E7EC37B753A4}" type="slidenum">
              <a:rPr lang="en-US" altLang="zh-CN"/>
              <a:pPr/>
              <a:t>19</a:t>
            </a:fld>
            <a:endParaRPr lang="en-US" altLang="zh-CN"/>
          </a:p>
        </p:txBody>
      </p:sp>
      <p:sp>
        <p:nvSpPr>
          <p:cNvPr id="2806786" name="Rectangle 2"/>
          <p:cNvSpPr>
            <a:spLocks noGrp="1" noChangeArrowheads="1"/>
          </p:cNvSpPr>
          <p:nvPr>
            <p:ph type="title"/>
          </p:nvPr>
        </p:nvSpPr>
        <p:spPr>
          <a:xfrm>
            <a:off x="1676400" y="115888"/>
            <a:ext cx="5559425" cy="936625"/>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程序和指令的开销</a:t>
            </a:r>
          </a:p>
        </p:txBody>
      </p:sp>
      <p:sp>
        <p:nvSpPr>
          <p:cNvPr id="2806787" name="Rectangle 3"/>
          <p:cNvSpPr>
            <a:spLocks noGrp="1" noChangeArrowheads="1"/>
          </p:cNvSpPr>
          <p:nvPr>
            <p:ph type="body" idx="1"/>
          </p:nvPr>
        </p:nvSpPr>
        <p:spPr>
          <a:xfrm>
            <a:off x="323850" y="1196975"/>
            <a:ext cx="8610600" cy="5126038"/>
          </a:xfrm>
        </p:spPr>
        <p:txBody>
          <a:bodyPr/>
          <a:lstStyle/>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 := b + 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都静态分配内存单元</a:t>
            </a:r>
          </a:p>
          <a:p>
            <a:pPr>
              <a:buFontTx/>
              <a:buNone/>
            </a:pPr>
            <a:endParaRPr lang="zh-CN" altLang="en-US" b="1" dirty="0">
              <a:latin typeface="Times New Roman" panose="02020603050405020304" pitchFamily="18" charset="0"/>
              <a:ea typeface="华文新魏" panose="02010800040101010101" pitchFamily="2" charset="-122"/>
              <a:cs typeface="Times New Roman" panose="02020603050405020304" pitchFamily="18" charset="0"/>
            </a:endParaRP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b, R0</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ADD c, R0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开销</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6</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MOV R0, a</a:t>
            </a:r>
          </a:p>
          <a:p>
            <a:pPr>
              <a:buFontTx/>
              <a:buNone/>
            </a:pPr>
            <a:endParaRPr lang="en-US" altLang="zh-CN" b="1" dirty="0">
              <a:latin typeface="Times New Roman" panose="02020603050405020304" pitchFamily="18" charset="0"/>
              <a:ea typeface="华文新魏" panose="02010800040101010101" pitchFamily="2" charset="-122"/>
              <a:cs typeface="Times New Roman" panose="02020603050405020304" pitchFamily="18" charset="0"/>
            </a:endParaRPr>
          </a:p>
          <a:p>
            <a:pPr algn="just">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MOV b, a</a:t>
            </a:r>
          </a:p>
          <a:p>
            <a:pPr>
              <a:buFontTx/>
              <a:buNone/>
            </a:pPr>
            <a:r>
              <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	ADD c, a			</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开销</a:t>
            </a:r>
            <a:r>
              <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 6 </a:t>
            </a:r>
          </a:p>
        </p:txBody>
      </p:sp>
    </p:spTree>
    <p:extLst>
      <p:ext uri="{BB962C8B-B14F-4D97-AF65-F5344CB8AC3E}">
        <p14:creationId xmlns:p14="http://schemas.microsoft.com/office/powerpoint/2010/main" val="21325248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434515A-48EC-43F5-8E4A-FA7645231EF8}"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62213466-F10F-4A83-85D4-5797442D2F86}" type="slidenum">
              <a:rPr lang="en-US" altLang="zh-CN"/>
              <a:pPr/>
              <a:t>20</a:t>
            </a:fld>
            <a:endParaRPr lang="en-US" altLang="zh-CN"/>
          </a:p>
        </p:txBody>
      </p:sp>
      <p:sp>
        <p:nvSpPr>
          <p:cNvPr id="2808834" name="Rectangle 2"/>
          <p:cNvSpPr>
            <a:spLocks noGrp="1" noChangeArrowheads="1"/>
          </p:cNvSpPr>
          <p:nvPr>
            <p:ph type="title"/>
          </p:nvPr>
        </p:nvSpPr>
        <p:spPr>
          <a:xfrm>
            <a:off x="1749425" y="115888"/>
            <a:ext cx="5486400" cy="100965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程序和指令的开销</a:t>
            </a:r>
          </a:p>
        </p:txBody>
      </p:sp>
      <p:sp>
        <p:nvSpPr>
          <p:cNvPr id="2808835" name="Rectangle 3"/>
          <p:cNvSpPr>
            <a:spLocks noGrp="1" noChangeArrowheads="1"/>
          </p:cNvSpPr>
          <p:nvPr>
            <p:ph type="body" idx="1"/>
          </p:nvPr>
        </p:nvSpPr>
        <p:spPr>
          <a:xfrm>
            <a:off x="354013" y="1522413"/>
            <a:ext cx="8610600" cy="3481387"/>
          </a:xfrm>
        </p:spPr>
        <p:txBody>
          <a:bodyPr/>
          <a:lstStyle/>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 := b + 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都静态分配内存单元</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若</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分别含</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的地址，则</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*R1, *R0</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ADD *R2, *R0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开销</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2</a:t>
            </a:r>
          </a:p>
        </p:txBody>
      </p:sp>
    </p:spTree>
    <p:extLst>
      <p:ext uri="{BB962C8B-B14F-4D97-AF65-F5344CB8AC3E}">
        <p14:creationId xmlns:p14="http://schemas.microsoft.com/office/powerpoint/2010/main" val="80455002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5CB6E28-1E1D-4823-B05D-16887E633C8E}"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DA10E819-F65E-4CCE-9283-47EBCD4D1FB3}" type="slidenum">
              <a:rPr lang="en-US" altLang="zh-CN"/>
              <a:pPr/>
              <a:t>21</a:t>
            </a:fld>
            <a:endParaRPr lang="en-US" altLang="zh-CN"/>
          </a:p>
        </p:txBody>
      </p:sp>
      <p:sp>
        <p:nvSpPr>
          <p:cNvPr id="2810882" name="Rectangle 2"/>
          <p:cNvSpPr>
            <a:spLocks noGrp="1" noChangeArrowheads="1"/>
          </p:cNvSpPr>
          <p:nvPr>
            <p:ph type="title"/>
          </p:nvPr>
        </p:nvSpPr>
        <p:spPr>
          <a:xfrm>
            <a:off x="1749425" y="115888"/>
            <a:ext cx="5630863" cy="936625"/>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程序和指令的开销</a:t>
            </a:r>
            <a:r>
              <a:rPr lang="zh-CN" altLang="en-US" b="1" dirty="0">
                <a:solidFill>
                  <a:schemeClr val="folHlink"/>
                </a:solidFill>
                <a:latin typeface="Times New Roman" panose="02020603050405020304" pitchFamily="18" charset="0"/>
                <a:ea typeface="华文新魏" panose="02010800040101010101" pitchFamily="2" charset="-122"/>
                <a:cs typeface="Times New Roman" panose="02020603050405020304" pitchFamily="18" charset="0"/>
              </a:rPr>
              <a:t>  </a:t>
            </a:r>
          </a:p>
        </p:txBody>
      </p:sp>
      <p:sp>
        <p:nvSpPr>
          <p:cNvPr id="2810883" name="Rectangle 3"/>
          <p:cNvSpPr>
            <a:spLocks noGrp="1" noChangeArrowheads="1"/>
          </p:cNvSpPr>
          <p:nvPr>
            <p:ph type="body" idx="1"/>
          </p:nvPr>
        </p:nvSpPr>
        <p:spPr>
          <a:xfrm>
            <a:off x="354013" y="1196975"/>
            <a:ext cx="8610600" cy="5030788"/>
          </a:xfrm>
        </p:spPr>
        <p:txBody>
          <a:bodyPr/>
          <a:lstStyle/>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 := b + 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都静态分配内存单元</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若</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分别含</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的地址，则</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*R1, *R0</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ADD *R2, *R0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开销</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2</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若</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分别含</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的值，并且</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的值在这个</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赋值后不再需要，则</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ADD R2, R1</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MOV R1, a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开销</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3 </a:t>
            </a:r>
          </a:p>
        </p:txBody>
      </p:sp>
    </p:spTree>
    <p:extLst>
      <p:ext uri="{BB962C8B-B14F-4D97-AF65-F5344CB8AC3E}">
        <p14:creationId xmlns:p14="http://schemas.microsoft.com/office/powerpoint/2010/main" val="38731752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43403AB-D57A-47F9-BD8F-6CE249460215}"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94CA26EF-AE22-415D-8F6F-87D043DF008A}" type="slidenum">
              <a:rPr lang="en-US" altLang="zh-CN"/>
              <a:pPr/>
              <a:t>22</a:t>
            </a:fld>
            <a:endParaRPr lang="en-US" altLang="zh-CN"/>
          </a:p>
        </p:txBody>
      </p:sp>
      <p:sp>
        <p:nvSpPr>
          <p:cNvPr id="2812930" name="Rectangle 2"/>
          <p:cNvSpPr>
            <a:spLocks noGrp="1" noChangeArrowheads="1"/>
          </p:cNvSpPr>
          <p:nvPr>
            <p:ph type="title"/>
          </p:nvPr>
        </p:nvSpPr>
        <p:spPr>
          <a:xfrm>
            <a:off x="1116013" y="115888"/>
            <a:ext cx="6840537" cy="936625"/>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11.2.3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变量的运行时刻地址 </a:t>
            </a:r>
          </a:p>
        </p:txBody>
      </p:sp>
      <p:sp>
        <p:nvSpPr>
          <p:cNvPr id="2812931" name="Rectangle 3"/>
          <p:cNvSpPr>
            <a:spLocks noGrp="1" noChangeArrowheads="1"/>
          </p:cNvSpPr>
          <p:nvPr>
            <p:ph type="body" idx="1"/>
          </p:nvPr>
        </p:nvSpPr>
        <p:spPr>
          <a:xfrm>
            <a:off x="354013" y="1196975"/>
            <a:ext cx="8610600" cy="5030788"/>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存储分配策略以及过程的活动记录中局部数据的布局决定了如何访问变量所对应的内存位置</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前面假设三地址码中的变量实际上是一个指向符号表表项的指针，在代码生成阶段，变量必须被替换为运行时的内存地址</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例</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11.1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考虑三地址码</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，假设处理完过程的声明部分之后，</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在符号表中的相对地址为</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12</a:t>
            </a:r>
          </a:p>
        </p:txBody>
      </p:sp>
    </p:spTree>
    <p:extLst>
      <p:ext uri="{BB962C8B-B14F-4D97-AF65-F5344CB8AC3E}">
        <p14:creationId xmlns:p14="http://schemas.microsoft.com/office/powerpoint/2010/main" val="34306900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12931">
                                            <p:txEl>
                                              <p:pRg st="0" end="0"/>
                                            </p:txEl>
                                          </p:spTgt>
                                        </p:tgtEl>
                                        <p:attrNameLst>
                                          <p:attrName>style.visibility</p:attrName>
                                        </p:attrNameLst>
                                      </p:cBhvr>
                                      <p:to>
                                        <p:strVal val="visible"/>
                                      </p:to>
                                    </p:set>
                                    <p:animEffect transition="in" filter="blinds(horizontal)">
                                      <p:cBhvr>
                                        <p:cTn id="7" dur="500"/>
                                        <p:tgtEl>
                                          <p:spTgt spid="28129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12931">
                                            <p:txEl>
                                              <p:pRg st="1" end="1"/>
                                            </p:txEl>
                                          </p:spTgt>
                                        </p:tgtEl>
                                        <p:attrNameLst>
                                          <p:attrName>style.visibility</p:attrName>
                                        </p:attrNameLst>
                                      </p:cBhvr>
                                      <p:to>
                                        <p:strVal val="visible"/>
                                      </p:to>
                                    </p:set>
                                    <p:animEffect transition="in" filter="blinds(horizontal)">
                                      <p:cBhvr>
                                        <p:cTn id="12" dur="500"/>
                                        <p:tgtEl>
                                          <p:spTgt spid="28129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12931">
                                            <p:txEl>
                                              <p:pRg st="2" end="2"/>
                                            </p:txEl>
                                          </p:spTgt>
                                        </p:tgtEl>
                                        <p:attrNameLst>
                                          <p:attrName>style.visibility</p:attrName>
                                        </p:attrNameLst>
                                      </p:cBhvr>
                                      <p:to>
                                        <p:strVal val="visible"/>
                                      </p:to>
                                    </p:set>
                                    <p:animEffect transition="in" filter="blinds(horizontal)">
                                      <p:cBhvr>
                                        <p:cTn id="17" dur="500"/>
                                        <p:tgtEl>
                                          <p:spTgt spid="28129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293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C2DC90E-1757-4B39-8BC1-55D4ECFDCFE6}"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950AA093-C02C-486A-A2A0-D5E1D34647E1}" type="slidenum">
              <a:rPr lang="en-US" altLang="zh-CN"/>
              <a:pPr/>
              <a:t>23</a:t>
            </a:fld>
            <a:endParaRPr lang="en-US" altLang="zh-CN"/>
          </a:p>
        </p:txBody>
      </p:sp>
      <p:sp>
        <p:nvSpPr>
          <p:cNvPr id="2814978" name="Rectangle 2"/>
          <p:cNvSpPr>
            <a:spLocks noGrp="1" noChangeArrowheads="1"/>
          </p:cNvSpPr>
          <p:nvPr>
            <p:ph type="title"/>
          </p:nvPr>
        </p:nvSpPr>
        <p:spPr>
          <a:xfrm>
            <a:off x="1116013" y="115888"/>
            <a:ext cx="6840537" cy="936625"/>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11.2.3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变量的运行时刻地址 </a:t>
            </a:r>
          </a:p>
        </p:txBody>
      </p:sp>
      <p:sp>
        <p:nvSpPr>
          <p:cNvPr id="2814979" name="Rectangle 3"/>
          <p:cNvSpPr>
            <a:spLocks noGrp="1" noChangeArrowheads="1"/>
          </p:cNvSpPr>
          <p:nvPr>
            <p:ph type="body" idx="1"/>
          </p:nvPr>
        </p:nvSpPr>
        <p:spPr>
          <a:xfrm>
            <a:off x="354013" y="1196975"/>
            <a:ext cx="8610600" cy="5030788"/>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被分配在一个地址从</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static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开始的静态内存区域中，则</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的运行时刻地址为</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static+12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。如果静态区从地址</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开始，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的目标代码为：</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#0, 112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如果采用栈式存储分配策略，则只有等到运行时刻才能知道一个过程的活动记录位置。此时，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的目标代码为：</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#0, 12(SP)</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p:txBody>
      </p:sp>
    </p:spTree>
    <p:extLst>
      <p:ext uri="{BB962C8B-B14F-4D97-AF65-F5344CB8AC3E}">
        <p14:creationId xmlns:p14="http://schemas.microsoft.com/office/powerpoint/2010/main" val="13606079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14979">
                                            <p:txEl>
                                              <p:pRg st="0" end="0"/>
                                            </p:txEl>
                                          </p:spTgt>
                                        </p:tgtEl>
                                        <p:attrNameLst>
                                          <p:attrName>style.visibility</p:attrName>
                                        </p:attrNameLst>
                                      </p:cBhvr>
                                      <p:to>
                                        <p:strVal val="visible"/>
                                      </p:to>
                                    </p:set>
                                    <p:animEffect transition="in" filter="blinds(horizontal)">
                                      <p:cBhvr>
                                        <p:cTn id="7" dur="500"/>
                                        <p:tgtEl>
                                          <p:spTgt spid="281497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814979">
                                            <p:txEl>
                                              <p:pRg st="1" end="1"/>
                                            </p:txEl>
                                          </p:spTgt>
                                        </p:tgtEl>
                                        <p:attrNameLst>
                                          <p:attrName>style.visibility</p:attrName>
                                        </p:attrNameLst>
                                      </p:cBhvr>
                                      <p:to>
                                        <p:strVal val="visible"/>
                                      </p:to>
                                    </p:set>
                                    <p:animEffect transition="in" filter="blinds(horizontal)">
                                      <p:cBhvr>
                                        <p:cTn id="10" dur="500"/>
                                        <p:tgtEl>
                                          <p:spTgt spid="281497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814979">
                                            <p:txEl>
                                              <p:pRg st="2" end="2"/>
                                            </p:txEl>
                                          </p:spTgt>
                                        </p:tgtEl>
                                        <p:attrNameLst>
                                          <p:attrName>style.visibility</p:attrName>
                                        </p:attrNameLst>
                                      </p:cBhvr>
                                      <p:to>
                                        <p:strVal val="visible"/>
                                      </p:to>
                                    </p:set>
                                    <p:animEffect transition="in" filter="blinds(horizontal)">
                                      <p:cBhvr>
                                        <p:cTn id="15" dur="500"/>
                                        <p:tgtEl>
                                          <p:spTgt spid="2814979">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814979">
                                            <p:txEl>
                                              <p:pRg st="3" end="3"/>
                                            </p:txEl>
                                          </p:spTgt>
                                        </p:tgtEl>
                                        <p:attrNameLst>
                                          <p:attrName>style.visibility</p:attrName>
                                        </p:attrNameLst>
                                      </p:cBhvr>
                                      <p:to>
                                        <p:strVal val="visible"/>
                                      </p:to>
                                    </p:set>
                                    <p:animEffect transition="in" filter="blinds(horizontal)">
                                      <p:cBhvr>
                                        <p:cTn id="18" dur="500"/>
                                        <p:tgtEl>
                                          <p:spTgt spid="28149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4979"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A67A4C82-32DB-4C6D-84A9-E7BA7002DBA4}"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CD247356-4017-4803-BBF3-146A8A6CCC52}" type="slidenum">
              <a:rPr lang="en-US" altLang="zh-CN"/>
              <a:pPr/>
              <a:t>24</a:t>
            </a:fld>
            <a:endParaRPr lang="en-US" altLang="zh-CN"/>
          </a:p>
        </p:txBody>
      </p:sp>
      <p:sp>
        <p:nvSpPr>
          <p:cNvPr id="2817026" name="Rectangle 2"/>
          <p:cNvSpPr>
            <a:spLocks noGrp="1" noChangeArrowheads="1"/>
          </p:cNvSpPr>
          <p:nvPr>
            <p:ph type="title"/>
          </p:nvPr>
        </p:nvSpPr>
        <p:spPr>
          <a:xfrm>
            <a:off x="1101725" y="115888"/>
            <a:ext cx="6999288" cy="100965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一个简单的代码生成器</a:t>
            </a:r>
          </a:p>
        </p:txBody>
      </p:sp>
      <p:sp>
        <p:nvSpPr>
          <p:cNvPr id="2817027" name="Rectangle 3"/>
          <p:cNvSpPr>
            <a:spLocks noGrp="1" noChangeArrowheads="1"/>
          </p:cNvSpPr>
          <p:nvPr>
            <p:ph type="body" idx="1"/>
          </p:nvPr>
        </p:nvSpPr>
        <p:spPr>
          <a:xfrm>
            <a:off x="354013" y="1268413"/>
            <a:ext cx="8610600" cy="4465637"/>
          </a:xfrm>
        </p:spPr>
        <p:txBody>
          <a:bodyPr/>
          <a:lstStyle/>
          <a:p>
            <a:pPr algn="just">
              <a:lnSpc>
                <a:spcPct val="95000"/>
              </a:lnSpc>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依次考虑基本块的每个语句，为其产生代码</a:t>
            </a:r>
          </a:p>
          <a:p>
            <a:pPr algn="just">
              <a:lnSpc>
                <a:spcPct val="95000"/>
              </a:lnSpc>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假定三地址语句的每种算符都有对应的目标机器算符</a:t>
            </a:r>
          </a:p>
          <a:p>
            <a:pPr algn="just">
              <a:lnSpc>
                <a:spcPct val="95000"/>
              </a:lnSpc>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假定计算结果留在寄存器中尽可能长的时间</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p>
          <a:p>
            <a:pPr algn="just">
              <a:lnSpc>
                <a:spcPct val="95000"/>
              </a:lnSpc>
              <a:spcBef>
                <a:spcPct val="0"/>
              </a:spcBef>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除非：</a:t>
            </a:r>
          </a:p>
          <a:p>
            <a:pPr lvl="1" algn="just">
              <a:lnSpc>
                <a:spcPct val="95000"/>
              </a:lnSpc>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该寄存器要用于其它计算，或者</a:t>
            </a:r>
          </a:p>
          <a:p>
            <a:pPr lvl="1" algn="just">
              <a:lnSpc>
                <a:spcPct val="95000"/>
              </a:lnSpc>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到达基本块末尾</a:t>
            </a:r>
          </a:p>
          <a:p>
            <a:pPr algn="just">
              <a:lnSpc>
                <a:spcPct val="95000"/>
              </a:lnSpc>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后续的目标代码也要尽可能地引用保存在寄存器中的变量值 </a:t>
            </a:r>
          </a:p>
        </p:txBody>
      </p:sp>
    </p:spTree>
    <p:extLst>
      <p:ext uri="{BB962C8B-B14F-4D97-AF65-F5344CB8AC3E}">
        <p14:creationId xmlns:p14="http://schemas.microsoft.com/office/powerpoint/2010/main" val="18094949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17027">
                                            <p:txEl>
                                              <p:pRg st="0" end="0"/>
                                            </p:txEl>
                                          </p:spTgt>
                                        </p:tgtEl>
                                        <p:attrNameLst>
                                          <p:attrName>style.visibility</p:attrName>
                                        </p:attrNameLst>
                                      </p:cBhvr>
                                      <p:to>
                                        <p:strVal val="visible"/>
                                      </p:to>
                                    </p:set>
                                    <p:animEffect transition="in" filter="blinds(horizontal)">
                                      <p:cBhvr>
                                        <p:cTn id="7" dur="500"/>
                                        <p:tgtEl>
                                          <p:spTgt spid="2817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17027">
                                            <p:txEl>
                                              <p:pRg st="1" end="1"/>
                                            </p:txEl>
                                          </p:spTgt>
                                        </p:tgtEl>
                                        <p:attrNameLst>
                                          <p:attrName>style.visibility</p:attrName>
                                        </p:attrNameLst>
                                      </p:cBhvr>
                                      <p:to>
                                        <p:strVal val="visible"/>
                                      </p:to>
                                    </p:set>
                                    <p:animEffect transition="in" filter="blinds(horizontal)">
                                      <p:cBhvr>
                                        <p:cTn id="12" dur="500"/>
                                        <p:tgtEl>
                                          <p:spTgt spid="2817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17027">
                                            <p:txEl>
                                              <p:pRg st="2" end="2"/>
                                            </p:txEl>
                                          </p:spTgt>
                                        </p:tgtEl>
                                        <p:attrNameLst>
                                          <p:attrName>style.visibility</p:attrName>
                                        </p:attrNameLst>
                                      </p:cBhvr>
                                      <p:to>
                                        <p:strVal val="visible"/>
                                      </p:to>
                                    </p:set>
                                    <p:animEffect transition="in" filter="blinds(horizontal)">
                                      <p:cBhvr>
                                        <p:cTn id="17" dur="500"/>
                                        <p:tgtEl>
                                          <p:spTgt spid="2817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817027">
                                            <p:txEl>
                                              <p:pRg st="3" end="3"/>
                                            </p:txEl>
                                          </p:spTgt>
                                        </p:tgtEl>
                                        <p:attrNameLst>
                                          <p:attrName>style.visibility</p:attrName>
                                        </p:attrNameLst>
                                      </p:cBhvr>
                                      <p:to>
                                        <p:strVal val="visible"/>
                                      </p:to>
                                    </p:set>
                                    <p:animEffect transition="in" filter="blinds(horizontal)">
                                      <p:cBhvr>
                                        <p:cTn id="22" dur="500"/>
                                        <p:tgtEl>
                                          <p:spTgt spid="2817027">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817027">
                                            <p:txEl>
                                              <p:pRg st="4" end="4"/>
                                            </p:txEl>
                                          </p:spTgt>
                                        </p:tgtEl>
                                        <p:attrNameLst>
                                          <p:attrName>style.visibility</p:attrName>
                                        </p:attrNameLst>
                                      </p:cBhvr>
                                      <p:to>
                                        <p:strVal val="visible"/>
                                      </p:to>
                                    </p:set>
                                    <p:animEffect transition="in" filter="blinds(horizontal)">
                                      <p:cBhvr>
                                        <p:cTn id="25" dur="500"/>
                                        <p:tgtEl>
                                          <p:spTgt spid="2817027">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817027">
                                            <p:txEl>
                                              <p:pRg st="5" end="5"/>
                                            </p:txEl>
                                          </p:spTgt>
                                        </p:tgtEl>
                                        <p:attrNameLst>
                                          <p:attrName>style.visibility</p:attrName>
                                        </p:attrNameLst>
                                      </p:cBhvr>
                                      <p:to>
                                        <p:strVal val="visible"/>
                                      </p:to>
                                    </p:set>
                                    <p:animEffect transition="in" filter="blinds(horizontal)">
                                      <p:cBhvr>
                                        <p:cTn id="28" dur="500"/>
                                        <p:tgtEl>
                                          <p:spTgt spid="2817027">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817027">
                                            <p:txEl>
                                              <p:pRg st="6" end="6"/>
                                            </p:txEl>
                                          </p:spTgt>
                                        </p:tgtEl>
                                        <p:attrNameLst>
                                          <p:attrName>style.visibility</p:attrName>
                                        </p:attrNameLst>
                                      </p:cBhvr>
                                      <p:to>
                                        <p:strVal val="visible"/>
                                      </p:to>
                                    </p:set>
                                    <p:animEffect transition="in" filter="blinds(horizontal)">
                                      <p:cBhvr>
                                        <p:cTn id="33" dur="500"/>
                                        <p:tgtEl>
                                          <p:spTgt spid="28170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702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A1C9945A-6454-4C82-90CE-BA4C958CE8F0}"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B7CFCA90-E477-40DF-A151-746727BE7B93}" type="slidenum">
              <a:rPr lang="en-US" altLang="zh-CN"/>
              <a:pPr/>
              <a:t>25</a:t>
            </a:fld>
            <a:endParaRPr lang="en-US" altLang="zh-CN"/>
          </a:p>
        </p:txBody>
      </p:sp>
      <p:sp>
        <p:nvSpPr>
          <p:cNvPr id="2819074" name="Rectangle 2"/>
          <p:cNvSpPr>
            <a:spLocks noGrp="1" noChangeArrowheads="1"/>
          </p:cNvSpPr>
          <p:nvPr>
            <p:ph type="title"/>
          </p:nvPr>
        </p:nvSpPr>
        <p:spPr>
          <a:xfrm>
            <a:off x="1101725" y="115888"/>
            <a:ext cx="6999288" cy="936625"/>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11.3.1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后续引用信息 </a:t>
            </a:r>
          </a:p>
        </p:txBody>
      </p:sp>
      <p:sp>
        <p:nvSpPr>
          <p:cNvPr id="2819075" name="Rectangle 3"/>
          <p:cNvSpPr>
            <a:spLocks noGrp="1" noChangeArrowheads="1"/>
          </p:cNvSpPr>
          <p:nvPr>
            <p:ph type="body" idx="1"/>
          </p:nvPr>
        </p:nvSpPr>
        <p:spPr>
          <a:xfrm>
            <a:off x="354013" y="1557338"/>
            <a:ext cx="8610600" cy="4608512"/>
          </a:xfrm>
        </p:spPr>
        <p:txBody>
          <a:bodyPr/>
          <a:lstStyle/>
          <a:p>
            <a:pPr algn="just">
              <a:lnSpc>
                <a:spcPct val="95000"/>
              </a:lnSpc>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为了在代码生成过程中能充分合理地使用寄存器，应把基本块中还会再被引用的变量的值尽量保留在寄存器中，而把基本块内不会再被引用的变量所占用的寄存器及早释放。为此，对于每个形如</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a:=b op 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的三地址码，需要知道变量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在基本块内是否还会再被引用以及会在哪里被引用，这些信息称为</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后续引用信息</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p:txBody>
      </p:sp>
    </p:spTree>
    <p:extLst>
      <p:ext uri="{BB962C8B-B14F-4D97-AF65-F5344CB8AC3E}">
        <p14:creationId xmlns:p14="http://schemas.microsoft.com/office/powerpoint/2010/main" val="38303936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19075">
                                            <p:txEl>
                                              <p:pRg st="0" end="0"/>
                                            </p:txEl>
                                          </p:spTgt>
                                        </p:tgtEl>
                                        <p:attrNameLst>
                                          <p:attrName>style.visibility</p:attrName>
                                        </p:attrNameLst>
                                      </p:cBhvr>
                                      <p:to>
                                        <p:strVal val="visible"/>
                                      </p:to>
                                    </p:set>
                                    <p:animEffect transition="in" filter="blinds(horizontal)">
                                      <p:cBhvr>
                                        <p:cTn id="7" dur="500"/>
                                        <p:tgtEl>
                                          <p:spTgt spid="28190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907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07C0C98-6AD4-4924-809A-4B9FC77A536A}"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242061D7-A231-4A7E-BE16-9E7D6505432D}" type="slidenum">
              <a:rPr lang="en-US" altLang="zh-CN"/>
              <a:pPr/>
              <a:t>26</a:t>
            </a:fld>
            <a:endParaRPr lang="en-US" altLang="zh-CN"/>
          </a:p>
        </p:txBody>
      </p:sp>
      <p:sp>
        <p:nvSpPr>
          <p:cNvPr id="2896898" name="Rectangle 2"/>
          <p:cNvSpPr>
            <a:spLocks noGrp="1" noChangeArrowheads="1"/>
          </p:cNvSpPr>
          <p:nvPr>
            <p:ph type="title"/>
          </p:nvPr>
        </p:nvSpPr>
        <p:spPr>
          <a:xfrm>
            <a:off x="1101725" y="115888"/>
            <a:ext cx="6999288" cy="936625"/>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11.3.1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后续引用信息 </a:t>
            </a:r>
          </a:p>
        </p:txBody>
      </p:sp>
      <p:sp>
        <p:nvSpPr>
          <p:cNvPr id="2896899" name="Rectangle 3"/>
          <p:cNvSpPr>
            <a:spLocks noGrp="1" noChangeArrowheads="1"/>
          </p:cNvSpPr>
          <p:nvPr>
            <p:ph type="body" idx="1"/>
          </p:nvPr>
        </p:nvSpPr>
        <p:spPr>
          <a:xfrm>
            <a:off x="354013" y="1844675"/>
            <a:ext cx="8610600" cy="4321175"/>
          </a:xfrm>
        </p:spPr>
        <p:txBody>
          <a:bodyPr/>
          <a:lstStyle/>
          <a:p>
            <a:pPr algn="just">
              <a:lnSpc>
                <a:spcPct val="95000"/>
              </a:lnSpc>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如果在一个基本块中，语句</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定义了</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，语句</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要引用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的值，且从</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之间没有</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的其它定义，则称</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的定义能够</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到达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。从</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所能到达的每一个</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的引用点都称为</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点定义的变量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后续引用信息</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，所有这样的</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所组成的引用链则称为变量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后续引用信息链</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p:txBody>
      </p:sp>
    </p:spTree>
    <p:extLst>
      <p:ext uri="{BB962C8B-B14F-4D97-AF65-F5344CB8AC3E}">
        <p14:creationId xmlns:p14="http://schemas.microsoft.com/office/powerpoint/2010/main" val="15339867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96899">
                                            <p:txEl>
                                              <p:pRg st="0" end="0"/>
                                            </p:txEl>
                                          </p:spTgt>
                                        </p:tgtEl>
                                        <p:attrNameLst>
                                          <p:attrName>style.visibility</p:attrName>
                                        </p:attrNameLst>
                                      </p:cBhvr>
                                      <p:to>
                                        <p:strVal val="visible"/>
                                      </p:to>
                                    </p:set>
                                    <p:animEffect transition="in" filter="blinds(horizontal)">
                                      <p:cBhvr>
                                        <p:cTn id="7" dur="500"/>
                                        <p:tgtEl>
                                          <p:spTgt spid="28968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6899"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2070672-AD6E-4234-A92C-2F4F44159877}"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0113E3E8-F8F5-4BC0-AC56-3360D3F1DB72}" type="slidenum">
              <a:rPr lang="en-US" altLang="zh-CN"/>
              <a:pPr/>
              <a:t>27</a:t>
            </a:fld>
            <a:endParaRPr lang="en-US" altLang="zh-CN"/>
          </a:p>
        </p:txBody>
      </p:sp>
      <p:sp>
        <p:nvSpPr>
          <p:cNvPr id="2821122" name="Rectangle 2"/>
          <p:cNvSpPr>
            <a:spLocks noGrp="1" noChangeArrowheads="1"/>
          </p:cNvSpPr>
          <p:nvPr>
            <p:ph type="title"/>
          </p:nvPr>
        </p:nvSpPr>
        <p:spPr>
          <a:xfrm>
            <a:off x="1101725" y="115888"/>
            <a:ext cx="6999288" cy="720725"/>
          </a:xfrm>
        </p:spPr>
        <p:txBody>
          <a:bodyPr/>
          <a:lstStyle/>
          <a:p>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后续引用信息的计算 </a:t>
            </a:r>
          </a:p>
        </p:txBody>
      </p:sp>
      <p:sp>
        <p:nvSpPr>
          <p:cNvPr id="2821123" name="Rectangle 3"/>
          <p:cNvSpPr>
            <a:spLocks noGrp="1" noChangeArrowheads="1"/>
          </p:cNvSpPr>
          <p:nvPr>
            <p:ph type="body" idx="1"/>
          </p:nvPr>
        </p:nvSpPr>
        <p:spPr>
          <a:xfrm>
            <a:off x="354013" y="981075"/>
            <a:ext cx="8610600" cy="5400675"/>
          </a:xfrm>
        </p:spPr>
        <p:txBody>
          <a:bodyPr/>
          <a:lstStyle/>
          <a:p>
            <a:pPr>
              <a:spcBef>
                <a:spcPct val="0"/>
              </a:spcBef>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⑴ </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初始时，将基本块中各变量的符号表表项的后续引用信息域置为“无后续引用”，并根据该变量在基本块的出口是否活跃，将其活跃信息域置为“活跃”或“不活跃”；</a:t>
            </a:r>
          </a:p>
          <a:p>
            <a:pPr>
              <a:spcBef>
                <a:spcPct val="0"/>
              </a:spcBef>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⑵ 从基本块出口向入口反向扫描，并对每个形如</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i:a:=b op c</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的三地址码依次执行如下操作：</a:t>
            </a:r>
          </a:p>
          <a:p>
            <a:pPr lvl="1">
              <a:spcBef>
                <a:spcPct val="0"/>
              </a:spcBef>
              <a:buFontTx/>
              <a:buNone/>
            </a:pP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① </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将符号表中</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的后续引用信息和活跃信息附加到</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上</a:t>
            </a:r>
          </a:p>
          <a:p>
            <a:pPr lvl="1">
              <a:spcBef>
                <a:spcPct val="0"/>
              </a:spcBef>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② 将符号表中</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的后续引用信息和活跃信息分别置为“无后续引用”和“不活跃”</a:t>
            </a:r>
          </a:p>
          <a:p>
            <a:pPr lvl="1">
              <a:spcBef>
                <a:spcPct val="0"/>
              </a:spcBef>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③ 将符号表中</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的后续引用信息和活跃信息附加到</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上</a:t>
            </a:r>
          </a:p>
          <a:p>
            <a:pPr lvl="1">
              <a:spcBef>
                <a:spcPct val="0"/>
              </a:spcBef>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④ 将符号表中变量</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的后续引用信息均置为</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，活跃信息均置为“活跃”</a:t>
            </a:r>
          </a:p>
          <a:p>
            <a:pPr>
              <a:spcBef>
                <a:spcPct val="0"/>
              </a:spcBef>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    注意，上述次序不能颠倒，因为</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也可能就是</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。此外，因为过程调用可能带来副作用，所以在划分基本块时将过程调用也作为基本块的入口。</a:t>
            </a:r>
          </a:p>
        </p:txBody>
      </p:sp>
    </p:spTree>
    <p:extLst>
      <p:ext uri="{BB962C8B-B14F-4D97-AF65-F5344CB8AC3E}">
        <p14:creationId xmlns:p14="http://schemas.microsoft.com/office/powerpoint/2010/main" val="14229944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21123">
                                            <p:txEl>
                                              <p:pRg st="0" end="0"/>
                                            </p:txEl>
                                          </p:spTgt>
                                        </p:tgtEl>
                                        <p:attrNameLst>
                                          <p:attrName>style.visibility</p:attrName>
                                        </p:attrNameLst>
                                      </p:cBhvr>
                                      <p:to>
                                        <p:strVal val="visible"/>
                                      </p:to>
                                    </p:set>
                                    <p:animEffect transition="in" filter="blinds(horizontal)">
                                      <p:cBhvr>
                                        <p:cTn id="7" dur="500"/>
                                        <p:tgtEl>
                                          <p:spTgt spid="28211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21123">
                                            <p:txEl>
                                              <p:pRg st="1" end="1"/>
                                            </p:txEl>
                                          </p:spTgt>
                                        </p:tgtEl>
                                        <p:attrNameLst>
                                          <p:attrName>style.visibility</p:attrName>
                                        </p:attrNameLst>
                                      </p:cBhvr>
                                      <p:to>
                                        <p:strVal val="visible"/>
                                      </p:to>
                                    </p:set>
                                    <p:animEffect transition="in" filter="blinds(horizontal)">
                                      <p:cBhvr>
                                        <p:cTn id="12" dur="500"/>
                                        <p:tgtEl>
                                          <p:spTgt spid="282112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821123">
                                            <p:txEl>
                                              <p:pRg st="2" end="2"/>
                                            </p:txEl>
                                          </p:spTgt>
                                        </p:tgtEl>
                                        <p:attrNameLst>
                                          <p:attrName>style.visibility</p:attrName>
                                        </p:attrNameLst>
                                      </p:cBhvr>
                                      <p:to>
                                        <p:strVal val="visible"/>
                                      </p:to>
                                    </p:set>
                                    <p:animEffect transition="in" filter="blinds(horizontal)">
                                      <p:cBhvr>
                                        <p:cTn id="15" dur="500"/>
                                        <p:tgtEl>
                                          <p:spTgt spid="282112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821123">
                                            <p:txEl>
                                              <p:pRg st="3" end="3"/>
                                            </p:txEl>
                                          </p:spTgt>
                                        </p:tgtEl>
                                        <p:attrNameLst>
                                          <p:attrName>style.visibility</p:attrName>
                                        </p:attrNameLst>
                                      </p:cBhvr>
                                      <p:to>
                                        <p:strVal val="visible"/>
                                      </p:to>
                                    </p:set>
                                    <p:animEffect transition="in" filter="blinds(horizontal)">
                                      <p:cBhvr>
                                        <p:cTn id="18" dur="500"/>
                                        <p:tgtEl>
                                          <p:spTgt spid="282112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821123">
                                            <p:txEl>
                                              <p:pRg st="4" end="4"/>
                                            </p:txEl>
                                          </p:spTgt>
                                        </p:tgtEl>
                                        <p:attrNameLst>
                                          <p:attrName>style.visibility</p:attrName>
                                        </p:attrNameLst>
                                      </p:cBhvr>
                                      <p:to>
                                        <p:strVal val="visible"/>
                                      </p:to>
                                    </p:set>
                                    <p:animEffect transition="in" filter="blinds(horizontal)">
                                      <p:cBhvr>
                                        <p:cTn id="21" dur="500"/>
                                        <p:tgtEl>
                                          <p:spTgt spid="2821123">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821123">
                                            <p:txEl>
                                              <p:pRg st="5" end="5"/>
                                            </p:txEl>
                                          </p:spTgt>
                                        </p:tgtEl>
                                        <p:attrNameLst>
                                          <p:attrName>style.visibility</p:attrName>
                                        </p:attrNameLst>
                                      </p:cBhvr>
                                      <p:to>
                                        <p:strVal val="visible"/>
                                      </p:to>
                                    </p:set>
                                    <p:animEffect transition="in" filter="blinds(horizontal)">
                                      <p:cBhvr>
                                        <p:cTn id="24" dur="500"/>
                                        <p:tgtEl>
                                          <p:spTgt spid="2821123">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821123">
                                            <p:txEl>
                                              <p:pRg st="6" end="6"/>
                                            </p:txEl>
                                          </p:spTgt>
                                        </p:tgtEl>
                                        <p:attrNameLst>
                                          <p:attrName>style.visibility</p:attrName>
                                        </p:attrNameLst>
                                      </p:cBhvr>
                                      <p:to>
                                        <p:strVal val="visible"/>
                                      </p:to>
                                    </p:set>
                                    <p:animEffect transition="in" filter="blinds(horizontal)">
                                      <p:cBhvr>
                                        <p:cTn id="29" dur="500"/>
                                        <p:tgtEl>
                                          <p:spTgt spid="28211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112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日期占位符 3"/>
          <p:cNvSpPr>
            <a:spLocks noGrp="1"/>
          </p:cNvSpPr>
          <p:nvPr>
            <p:ph type="dt" sz="half" idx="10"/>
          </p:nvPr>
        </p:nvSpPr>
        <p:spPr/>
        <p:txBody>
          <a:bodyPr/>
          <a:lstStyle/>
          <a:p>
            <a:fld id="{D0199EFE-1630-4AF6-A888-4A84A59DDAC7}" type="datetime1">
              <a:rPr lang="zh-CN" altLang="en-US"/>
              <a:pPr/>
              <a:t>2017/2/24</a:t>
            </a:fld>
            <a:endParaRPr lang="en-US" altLang="zh-CN"/>
          </a:p>
        </p:txBody>
      </p:sp>
      <p:sp>
        <p:nvSpPr>
          <p:cNvPr id="14" name="灯片编号占位符 5"/>
          <p:cNvSpPr>
            <a:spLocks noGrp="1"/>
          </p:cNvSpPr>
          <p:nvPr>
            <p:ph type="sldNum" sz="quarter" idx="12"/>
          </p:nvPr>
        </p:nvSpPr>
        <p:spPr/>
        <p:txBody>
          <a:bodyPr/>
          <a:lstStyle/>
          <a:p>
            <a:fld id="{DE57F710-8E9D-408F-A1E7-E9700127C068}" type="slidenum">
              <a:rPr lang="en-US" altLang="zh-CN"/>
              <a:pPr/>
              <a:t>28</a:t>
            </a:fld>
            <a:endParaRPr lang="en-US" altLang="zh-CN"/>
          </a:p>
        </p:txBody>
      </p:sp>
      <p:sp>
        <p:nvSpPr>
          <p:cNvPr id="2823170" name="Rectangle 2"/>
          <p:cNvSpPr>
            <a:spLocks noGrp="1" noChangeArrowheads="1"/>
          </p:cNvSpPr>
          <p:nvPr>
            <p:ph type="title"/>
          </p:nvPr>
        </p:nvSpPr>
        <p:spPr>
          <a:xfrm>
            <a:off x="381000" y="115888"/>
            <a:ext cx="8229600" cy="11430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一个简单的代码生成器</a:t>
            </a:r>
          </a:p>
        </p:txBody>
      </p:sp>
      <p:sp>
        <p:nvSpPr>
          <p:cNvPr id="2823171" name="Rectangle 3"/>
          <p:cNvSpPr>
            <a:spLocks noGrp="1" noChangeArrowheads="1"/>
          </p:cNvSpPr>
          <p:nvPr>
            <p:ph type="body" idx="1"/>
          </p:nvPr>
        </p:nvSpPr>
        <p:spPr>
          <a:xfrm>
            <a:off x="304800" y="2060575"/>
            <a:ext cx="8610600" cy="4705350"/>
          </a:xfrm>
        </p:spPr>
        <p:txBody>
          <a:bodyPr/>
          <a:lstStyle/>
          <a:p>
            <a:pPr algn="just">
              <a:lnSpc>
                <a:spcPct val="95000"/>
              </a:lnSpc>
              <a:spcBef>
                <a:spcPct val="0"/>
              </a:spcBef>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在没有收集全局信息</a:t>
            </a:r>
          </a:p>
          <a:p>
            <a:pPr algn="just">
              <a:lnSpc>
                <a:spcPct val="95000"/>
              </a:lnSpc>
              <a:spcBef>
                <a:spcPct val="0"/>
              </a:spcBef>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前，暂且以基本块为</a:t>
            </a:r>
          </a:p>
          <a:p>
            <a:pPr algn="just">
              <a:lnSpc>
                <a:spcPct val="95000"/>
              </a:lnSpc>
              <a:spcBef>
                <a:spcPct val="0"/>
              </a:spcBef>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单位来生成代码</a:t>
            </a:r>
          </a:p>
        </p:txBody>
      </p:sp>
      <p:grpSp>
        <p:nvGrpSpPr>
          <p:cNvPr id="2823172" name="Group 4"/>
          <p:cNvGrpSpPr>
            <a:grpSpLocks/>
          </p:cNvGrpSpPr>
          <p:nvPr/>
        </p:nvGrpSpPr>
        <p:grpSpPr bwMode="auto">
          <a:xfrm>
            <a:off x="3962400" y="1371600"/>
            <a:ext cx="4921250" cy="5472113"/>
            <a:chOff x="2468" y="672"/>
            <a:chExt cx="3100" cy="3447"/>
          </a:xfrm>
        </p:grpSpPr>
        <p:sp>
          <p:nvSpPr>
            <p:cNvPr id="2823173" name="Rectangle 5"/>
            <p:cNvSpPr>
              <a:spLocks noChangeArrowheads="1"/>
            </p:cNvSpPr>
            <p:nvPr/>
          </p:nvSpPr>
          <p:spPr bwMode="auto">
            <a:xfrm>
              <a:off x="3227" y="672"/>
              <a:ext cx="1959" cy="49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lnSpc>
                  <a:spcPct val="80000"/>
                </a:lnSpc>
              </a:pPr>
              <a:r>
                <a:rPr lang="en-US" altLang="zh-CN" sz="2800" b="1"/>
                <a:t>prod := 0</a:t>
              </a:r>
            </a:p>
            <a:p>
              <a:pPr algn="just" eaLnBrk="0" hangingPunct="0">
                <a:lnSpc>
                  <a:spcPct val="80000"/>
                </a:lnSpc>
              </a:pPr>
              <a:r>
                <a:rPr lang="en-US" altLang="zh-CN" sz="2800" b="1"/>
                <a:t>i := 1</a:t>
              </a:r>
            </a:p>
            <a:p>
              <a:pPr algn="just" eaLnBrk="0" hangingPunct="0"/>
              <a:endParaRPr lang="en-US" altLang="zh-CN" sz="2800" b="1"/>
            </a:p>
          </p:txBody>
        </p:sp>
        <p:sp>
          <p:nvSpPr>
            <p:cNvPr id="2823174" name="Rectangle 6"/>
            <p:cNvSpPr>
              <a:spLocks noChangeArrowheads="1"/>
            </p:cNvSpPr>
            <p:nvPr/>
          </p:nvSpPr>
          <p:spPr bwMode="auto">
            <a:xfrm>
              <a:off x="3215" y="1498"/>
              <a:ext cx="2003" cy="229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0" hangingPunct="0">
                <a:lnSpc>
                  <a:spcPct val="80000"/>
                </a:lnSpc>
              </a:pPr>
              <a:r>
                <a:rPr lang="en-US" altLang="zh-CN" sz="2800" b="1"/>
                <a:t>t</a:t>
              </a:r>
              <a:r>
                <a:rPr lang="en-US" altLang="zh-CN" sz="2800" b="1" baseline="-25000"/>
                <a:t>1 </a:t>
              </a:r>
              <a:r>
                <a:rPr lang="en-US" altLang="zh-CN" sz="2800" b="1"/>
                <a:t>:= 4* i</a:t>
              </a:r>
            </a:p>
            <a:p>
              <a:pPr algn="just" eaLnBrk="0" hangingPunct="0">
                <a:lnSpc>
                  <a:spcPct val="80000"/>
                </a:lnSpc>
              </a:pPr>
              <a:r>
                <a:rPr lang="en-US" altLang="zh-CN" sz="2800" b="1"/>
                <a:t>t</a:t>
              </a:r>
              <a:r>
                <a:rPr lang="en-US" altLang="zh-CN" sz="2800" b="1" baseline="-25000"/>
                <a:t>2</a:t>
              </a:r>
              <a:r>
                <a:rPr lang="en-US" altLang="zh-CN" sz="2800" b="1"/>
                <a:t>:= a[t</a:t>
              </a:r>
              <a:r>
                <a:rPr lang="en-US" altLang="zh-CN" sz="2800" b="1" baseline="-25000"/>
                <a:t>1</a:t>
              </a:r>
              <a:r>
                <a:rPr lang="en-US" altLang="zh-CN" sz="2800" b="1"/>
                <a:t>]</a:t>
              </a:r>
            </a:p>
            <a:p>
              <a:pPr algn="just" eaLnBrk="0" hangingPunct="0">
                <a:lnSpc>
                  <a:spcPct val="80000"/>
                </a:lnSpc>
              </a:pPr>
              <a:r>
                <a:rPr lang="en-US" altLang="zh-CN" sz="2800" b="1"/>
                <a:t>t</a:t>
              </a:r>
              <a:r>
                <a:rPr lang="en-US" altLang="zh-CN" sz="2800" b="1" baseline="-25000"/>
                <a:t>3 </a:t>
              </a:r>
              <a:r>
                <a:rPr lang="en-US" altLang="zh-CN" sz="2800" b="1"/>
                <a:t>:= 4* I</a:t>
              </a:r>
            </a:p>
            <a:p>
              <a:pPr algn="just" eaLnBrk="0" hangingPunct="0">
                <a:lnSpc>
                  <a:spcPct val="80000"/>
                </a:lnSpc>
              </a:pPr>
              <a:r>
                <a:rPr lang="en-US" altLang="zh-CN" sz="2800" b="1"/>
                <a:t>t</a:t>
              </a:r>
              <a:r>
                <a:rPr lang="en-US" altLang="zh-CN" sz="2800" b="1" baseline="-25000"/>
                <a:t>4 </a:t>
              </a:r>
              <a:r>
                <a:rPr lang="en-US" altLang="zh-CN" sz="2800" b="1"/>
                <a:t>:= b[t</a:t>
              </a:r>
              <a:r>
                <a:rPr lang="en-US" altLang="zh-CN" sz="2800" b="1" baseline="-25000"/>
                <a:t>3</a:t>
              </a:r>
              <a:r>
                <a:rPr lang="en-US" altLang="zh-CN" sz="2800" b="1"/>
                <a:t>]</a:t>
              </a:r>
            </a:p>
            <a:p>
              <a:pPr algn="just" eaLnBrk="0" hangingPunct="0">
                <a:lnSpc>
                  <a:spcPct val="80000"/>
                </a:lnSpc>
              </a:pPr>
              <a:r>
                <a:rPr lang="en-US" altLang="zh-CN" sz="2800" b="1"/>
                <a:t>t</a:t>
              </a:r>
              <a:r>
                <a:rPr lang="en-US" altLang="zh-CN" sz="2800" b="1" baseline="-25000"/>
                <a:t>5 </a:t>
              </a:r>
              <a:r>
                <a:rPr lang="en-US" altLang="zh-CN" sz="2800" b="1"/>
                <a:t>:= t</a:t>
              </a:r>
              <a:r>
                <a:rPr lang="en-US" altLang="zh-CN" sz="2800" b="1" baseline="-25000"/>
                <a:t>2 </a:t>
              </a:r>
              <a:r>
                <a:rPr lang="en-US" altLang="zh-CN" sz="2800" b="1"/>
                <a:t>* t</a:t>
              </a:r>
              <a:r>
                <a:rPr lang="en-US" altLang="zh-CN" sz="2800" b="1" baseline="-25000"/>
                <a:t>4</a:t>
              </a:r>
              <a:endParaRPr lang="en-US" altLang="zh-CN" sz="2800" b="1"/>
            </a:p>
            <a:p>
              <a:pPr algn="just" eaLnBrk="0" hangingPunct="0">
                <a:lnSpc>
                  <a:spcPct val="80000"/>
                </a:lnSpc>
              </a:pPr>
              <a:r>
                <a:rPr lang="en-US" altLang="zh-CN" sz="2800" b="1"/>
                <a:t>t</a:t>
              </a:r>
              <a:r>
                <a:rPr lang="en-US" altLang="zh-CN" sz="2800" b="1" baseline="-25000"/>
                <a:t>6 </a:t>
              </a:r>
              <a:r>
                <a:rPr lang="en-US" altLang="zh-CN" sz="2800" b="1"/>
                <a:t>:= prod + t</a:t>
              </a:r>
              <a:r>
                <a:rPr lang="en-US" altLang="zh-CN" sz="2800" b="1" baseline="-25000"/>
                <a:t>5</a:t>
              </a:r>
              <a:endParaRPr lang="en-US" altLang="zh-CN" sz="2800" b="1"/>
            </a:p>
            <a:p>
              <a:pPr algn="just" eaLnBrk="0" hangingPunct="0">
                <a:lnSpc>
                  <a:spcPct val="80000"/>
                </a:lnSpc>
              </a:pPr>
              <a:r>
                <a:rPr lang="en-US" altLang="zh-CN" sz="2800" b="1"/>
                <a:t>prod := t</a:t>
              </a:r>
              <a:r>
                <a:rPr lang="en-US" altLang="zh-CN" sz="2800" b="1" baseline="-25000"/>
                <a:t>6</a:t>
              </a:r>
              <a:endParaRPr lang="en-US" altLang="zh-CN" sz="2800" b="1"/>
            </a:p>
            <a:p>
              <a:pPr algn="just" eaLnBrk="0" hangingPunct="0">
                <a:lnSpc>
                  <a:spcPct val="80000"/>
                </a:lnSpc>
              </a:pPr>
              <a:r>
                <a:rPr lang="en-US" altLang="zh-CN" sz="2800" b="1"/>
                <a:t>t</a:t>
              </a:r>
              <a:r>
                <a:rPr lang="en-US" altLang="zh-CN" sz="2800" b="1" baseline="-25000"/>
                <a:t>7 </a:t>
              </a:r>
              <a:r>
                <a:rPr lang="en-US" altLang="zh-CN" sz="2800" b="1"/>
                <a:t>:= i +1</a:t>
              </a:r>
            </a:p>
            <a:p>
              <a:pPr algn="just" eaLnBrk="0" hangingPunct="0">
                <a:lnSpc>
                  <a:spcPct val="80000"/>
                </a:lnSpc>
              </a:pPr>
              <a:r>
                <a:rPr lang="en-US" altLang="zh-CN" sz="2800" b="1"/>
                <a:t>i := t</a:t>
              </a:r>
              <a:r>
                <a:rPr lang="en-US" altLang="zh-CN" sz="2800" b="1" baseline="-25000"/>
                <a:t>7</a:t>
              </a:r>
              <a:endParaRPr lang="en-US" altLang="zh-CN" sz="2800" b="1"/>
            </a:p>
            <a:p>
              <a:pPr algn="just" eaLnBrk="0" hangingPunct="0">
                <a:lnSpc>
                  <a:spcPct val="80000"/>
                </a:lnSpc>
              </a:pPr>
              <a:r>
                <a:rPr lang="en-US" altLang="zh-CN" sz="2800" b="1"/>
                <a:t>if i &lt;= 20 goto </a:t>
              </a:r>
              <a:r>
                <a:rPr lang="en-US" altLang="zh-CN" sz="2800" b="1" i="1"/>
                <a:t>B</a:t>
              </a:r>
              <a:r>
                <a:rPr lang="en-US" altLang="zh-CN" sz="2800" b="1" baseline="-25000"/>
                <a:t>2</a:t>
              </a:r>
              <a:endParaRPr lang="en-US" altLang="zh-CN" b="1"/>
            </a:p>
          </p:txBody>
        </p:sp>
        <p:sp>
          <p:nvSpPr>
            <p:cNvPr id="2823175" name="Line 7"/>
            <p:cNvSpPr>
              <a:spLocks noChangeShapeType="1"/>
            </p:cNvSpPr>
            <p:nvPr/>
          </p:nvSpPr>
          <p:spPr bwMode="auto">
            <a:xfrm>
              <a:off x="4130" y="1162"/>
              <a:ext cx="0" cy="336"/>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823176" name="Rectangle 8"/>
            <p:cNvSpPr>
              <a:spLocks noChangeArrowheads="1"/>
            </p:cNvSpPr>
            <p:nvPr/>
          </p:nvSpPr>
          <p:spPr bwMode="auto">
            <a:xfrm>
              <a:off x="5173" y="713"/>
              <a:ext cx="395"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800" b="1" i="1"/>
                <a:t>B</a:t>
              </a:r>
              <a:r>
                <a:rPr lang="en-US" altLang="zh-CN" sz="2800" b="1" baseline="-25000"/>
                <a:t>1</a:t>
              </a:r>
              <a:endParaRPr lang="en-US" altLang="zh-CN" sz="2800" b="1"/>
            </a:p>
          </p:txBody>
        </p:sp>
        <p:sp>
          <p:nvSpPr>
            <p:cNvPr id="2823177" name="Rectangle 9"/>
            <p:cNvSpPr>
              <a:spLocks noChangeArrowheads="1"/>
            </p:cNvSpPr>
            <p:nvPr/>
          </p:nvSpPr>
          <p:spPr bwMode="auto">
            <a:xfrm>
              <a:off x="5215" y="2334"/>
              <a:ext cx="353"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en-US" altLang="zh-CN" sz="2800" b="1" i="1"/>
                <a:t>B</a:t>
              </a:r>
              <a:r>
                <a:rPr lang="en-US" altLang="zh-CN" sz="2800" b="1" baseline="-25000"/>
                <a:t>2</a:t>
              </a:r>
              <a:endParaRPr lang="en-US" altLang="zh-CN" sz="2800" b="1"/>
            </a:p>
          </p:txBody>
        </p:sp>
        <p:sp>
          <p:nvSpPr>
            <p:cNvPr id="2823178" name="Line 10"/>
            <p:cNvSpPr>
              <a:spLocks noChangeShapeType="1"/>
            </p:cNvSpPr>
            <p:nvPr/>
          </p:nvSpPr>
          <p:spPr bwMode="auto">
            <a:xfrm>
              <a:off x="4176" y="3792"/>
              <a:ext cx="0" cy="327"/>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823179" name="Freeform 11"/>
            <p:cNvSpPr>
              <a:spLocks/>
            </p:cNvSpPr>
            <p:nvPr/>
          </p:nvSpPr>
          <p:spPr bwMode="auto">
            <a:xfrm>
              <a:off x="2468" y="1252"/>
              <a:ext cx="1086" cy="2740"/>
            </a:xfrm>
            <a:custGeom>
              <a:avLst/>
              <a:gdLst>
                <a:gd name="T0" fmla="*/ 1086 w 1086"/>
                <a:gd name="T1" fmla="*/ 2569 h 2740"/>
                <a:gd name="T2" fmla="*/ 609 w 1086"/>
                <a:gd name="T3" fmla="*/ 2668 h 2740"/>
                <a:gd name="T4" fmla="*/ 201 w 1086"/>
                <a:gd name="T5" fmla="*/ 2134 h 2740"/>
                <a:gd name="T6" fmla="*/ 5 w 1086"/>
                <a:gd name="T7" fmla="*/ 1305 h 2740"/>
                <a:gd name="T8" fmla="*/ 229 w 1086"/>
                <a:gd name="T9" fmla="*/ 336 h 2740"/>
                <a:gd name="T10" fmla="*/ 595 w 1086"/>
                <a:gd name="T11" fmla="*/ 12 h 2740"/>
                <a:gd name="T12" fmla="*/ 893 w 1086"/>
                <a:gd name="T13" fmla="*/ 263 h 2740"/>
              </a:gdLst>
              <a:ahLst/>
              <a:cxnLst>
                <a:cxn ang="0">
                  <a:pos x="T0" y="T1"/>
                </a:cxn>
                <a:cxn ang="0">
                  <a:pos x="T2" y="T3"/>
                </a:cxn>
                <a:cxn ang="0">
                  <a:pos x="T4" y="T5"/>
                </a:cxn>
                <a:cxn ang="0">
                  <a:pos x="T6" y="T7"/>
                </a:cxn>
                <a:cxn ang="0">
                  <a:pos x="T8" y="T9"/>
                </a:cxn>
                <a:cxn ang="0">
                  <a:pos x="T10" y="T11"/>
                </a:cxn>
                <a:cxn ang="0">
                  <a:pos x="T12" y="T13"/>
                </a:cxn>
              </a:cxnLst>
              <a:rect l="0" t="0" r="r" b="b"/>
              <a:pathLst>
                <a:path w="1086" h="2740">
                  <a:moveTo>
                    <a:pt x="1086" y="2569"/>
                  </a:moveTo>
                  <a:cubicBezTo>
                    <a:pt x="1007" y="2585"/>
                    <a:pt x="756" y="2740"/>
                    <a:pt x="609" y="2668"/>
                  </a:cubicBezTo>
                  <a:cubicBezTo>
                    <a:pt x="462" y="2596"/>
                    <a:pt x="302" y="2361"/>
                    <a:pt x="201" y="2134"/>
                  </a:cubicBezTo>
                  <a:cubicBezTo>
                    <a:pt x="100" y="1907"/>
                    <a:pt x="0" y="1605"/>
                    <a:pt x="5" y="1305"/>
                  </a:cubicBezTo>
                  <a:cubicBezTo>
                    <a:pt x="10" y="1005"/>
                    <a:pt x="131" y="552"/>
                    <a:pt x="229" y="336"/>
                  </a:cubicBezTo>
                  <a:cubicBezTo>
                    <a:pt x="327" y="120"/>
                    <a:pt x="484" y="24"/>
                    <a:pt x="595" y="12"/>
                  </a:cubicBezTo>
                  <a:cubicBezTo>
                    <a:pt x="706" y="0"/>
                    <a:pt x="831" y="211"/>
                    <a:pt x="893" y="263"/>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extLst>
      <p:ext uri="{BB962C8B-B14F-4D97-AF65-F5344CB8AC3E}">
        <p14:creationId xmlns:p14="http://schemas.microsoft.com/office/powerpoint/2010/main" val="301215165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640FDC6-76BE-4F40-9ADC-42A3440BC98C}"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BB25F035-FDB1-414F-B8F2-CD4F2319C995}" type="slidenum">
              <a:rPr lang="en-US" altLang="zh-CN"/>
              <a:pPr/>
              <a:t>29</a:t>
            </a:fld>
            <a:endParaRPr lang="en-US" altLang="zh-CN"/>
          </a:p>
        </p:txBody>
      </p:sp>
      <p:sp>
        <p:nvSpPr>
          <p:cNvPr id="2825218" name="Rectangle 2"/>
          <p:cNvSpPr>
            <a:spLocks noGrp="1" noChangeArrowheads="1"/>
          </p:cNvSpPr>
          <p:nvPr>
            <p:ph type="title"/>
          </p:nvPr>
        </p:nvSpPr>
        <p:spPr>
          <a:xfrm>
            <a:off x="684213" y="115888"/>
            <a:ext cx="8135937" cy="792162"/>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11.3.2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寄存器描述符与地址描述符</a:t>
            </a:r>
          </a:p>
        </p:txBody>
      </p:sp>
      <p:sp>
        <p:nvSpPr>
          <p:cNvPr id="2825219" name="Rectangle 3"/>
          <p:cNvSpPr>
            <a:spLocks noGrp="1" noChangeArrowheads="1"/>
          </p:cNvSpPr>
          <p:nvPr>
            <p:ph type="body" idx="1"/>
          </p:nvPr>
        </p:nvSpPr>
        <p:spPr>
          <a:xfrm>
            <a:off x="304800" y="1196975"/>
            <a:ext cx="8610600" cy="4886325"/>
          </a:xfrm>
        </p:spPr>
        <p:txBody>
          <a:bodyPr/>
          <a:lstStyle/>
          <a:p>
            <a:pPr algn="just">
              <a:lnSpc>
                <a:spcPct val="95000"/>
              </a:lnSpc>
              <a:spcBef>
                <a:spcPct val="0"/>
              </a:spcBef>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例：对</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 := b + c</a:t>
            </a:r>
          </a:p>
          <a:p>
            <a:pPr algn="just">
              <a:lnSpc>
                <a:spcPct val="95000"/>
              </a:lnSpc>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如果寄存器</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Ri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含</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Rj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含</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，且</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此后不再活跃</a:t>
            </a:r>
          </a:p>
          <a:p>
            <a:pPr lvl="1" algn="just">
              <a:lnSpc>
                <a:spcPct val="95000"/>
              </a:lnSpc>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产生</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ADD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Rj</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Ri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，结果</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Ri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a:t>
            </a:r>
          </a:p>
          <a:p>
            <a:pPr algn="just">
              <a:lnSpc>
                <a:spcPct val="95000"/>
              </a:lnSpc>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Ri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含</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，但</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在内存单元，</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仍然不再活跃</a:t>
            </a:r>
          </a:p>
          <a:p>
            <a:pPr lvl="1" algn="just">
              <a:lnSpc>
                <a:spcPct val="95000"/>
              </a:lnSpc>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产生</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ADD c,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Ri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，或者</a:t>
            </a:r>
          </a:p>
          <a:p>
            <a:pPr lvl="1" algn="just">
              <a:lnSpc>
                <a:spcPct val="95000"/>
              </a:lnSpc>
              <a:spcBef>
                <a:spcPct val="0"/>
              </a:spcBef>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c,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Rj</a:t>
            </a:r>
            <a:endParaRPr lang="en-US" altLang="zh-CN" b="1" dirty="0">
              <a:latin typeface="Times New Roman" panose="02020603050405020304" pitchFamily="18" charset="0"/>
              <a:ea typeface="华文新魏" panose="02010800040101010101" pitchFamily="2" charset="-122"/>
              <a:cs typeface="Times New Roman" panose="02020603050405020304" pitchFamily="18" charset="0"/>
            </a:endParaRPr>
          </a:p>
          <a:p>
            <a:pPr lvl="1" algn="just">
              <a:lnSpc>
                <a:spcPct val="95000"/>
              </a:lnSpc>
              <a:spcBef>
                <a:spcPct val="0"/>
              </a:spcBef>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ADD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Rj</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Ri</a:t>
            </a:r>
            <a:endParaRPr lang="en-US" altLang="zh-CN" b="1" dirty="0">
              <a:latin typeface="Times New Roman" panose="02020603050405020304" pitchFamily="18" charset="0"/>
              <a:ea typeface="华文新魏" panose="02010800040101010101" pitchFamily="2" charset="-122"/>
              <a:cs typeface="Times New Roman" panose="02020603050405020304" pitchFamily="18" charset="0"/>
            </a:endParaRPr>
          </a:p>
          <a:p>
            <a:pPr algn="just">
              <a:lnSpc>
                <a:spcPct val="95000"/>
              </a:lnSpc>
              <a:spcBef>
                <a:spcPct val="0"/>
              </a:spcBef>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若</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的值以后还要用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第二种代码比较有吸引力</a:t>
            </a:r>
          </a:p>
        </p:txBody>
      </p:sp>
    </p:spTree>
    <p:extLst>
      <p:ext uri="{BB962C8B-B14F-4D97-AF65-F5344CB8AC3E}">
        <p14:creationId xmlns:p14="http://schemas.microsoft.com/office/powerpoint/2010/main" val="15962324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67D957F-4E2A-42D8-AD61-478D7F77A10A}"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64672367-6C77-469E-8BFE-27B9624D71B7}" type="slidenum">
              <a:rPr lang="en-US" altLang="zh-CN"/>
              <a:pPr/>
              <a:t>30</a:t>
            </a:fld>
            <a:endParaRPr lang="en-US" altLang="zh-CN"/>
          </a:p>
        </p:txBody>
      </p:sp>
      <p:sp>
        <p:nvSpPr>
          <p:cNvPr id="2827266" name="Rectangle 2"/>
          <p:cNvSpPr>
            <a:spLocks noGrp="1" noChangeArrowheads="1"/>
          </p:cNvSpPr>
          <p:nvPr>
            <p:ph type="title"/>
          </p:nvPr>
        </p:nvSpPr>
        <p:spPr>
          <a:xfrm>
            <a:off x="611188" y="115888"/>
            <a:ext cx="7921625" cy="1009650"/>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11.3.2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寄存器描述符与地址描述符</a:t>
            </a:r>
          </a:p>
        </p:txBody>
      </p:sp>
      <p:sp>
        <p:nvSpPr>
          <p:cNvPr id="2827267" name="Rectangle 3"/>
          <p:cNvSpPr>
            <a:spLocks noGrp="1" noChangeArrowheads="1"/>
          </p:cNvSpPr>
          <p:nvPr>
            <p:ph type="body" idx="1"/>
          </p:nvPr>
        </p:nvSpPr>
        <p:spPr>
          <a:xfrm>
            <a:off x="304800" y="1196975"/>
            <a:ext cx="8610600" cy="4824413"/>
          </a:xfrm>
        </p:spPr>
        <p:txBody>
          <a:bodyPr/>
          <a:lstStyle/>
          <a:p>
            <a:pPr algn="just">
              <a:lnSpc>
                <a:spcPct val="95000"/>
              </a:lnSpc>
              <a:spcBef>
                <a:spcPct val="0"/>
              </a:spcBef>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在代码生成过程中，需要跟踪</a:t>
            </a:r>
            <a:r>
              <a:rPr lang="zh-CN" altLang="en-US" sz="28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寄存器的内容</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和</a:t>
            </a:r>
            <a:r>
              <a:rPr lang="zh-CN" altLang="en-US" sz="28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名字的地址</a:t>
            </a:r>
          </a:p>
          <a:p>
            <a:pPr algn="just"/>
            <a:r>
              <a:rPr lang="zh-CN" altLang="en-US" sz="28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寄存器描述符</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记录每个寄存器当前存的是什么</a:t>
            </a:r>
          </a:p>
          <a:p>
            <a:pPr lvl="1" algn="just"/>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在任何一点，每个寄存器保存若干个</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包括零个</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名字的值</a:t>
            </a:r>
          </a:p>
          <a:p>
            <a:pPr algn="just"/>
            <a:r>
              <a:rPr lang="zh-CN" altLang="en-US" sz="28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名字的地址描述符</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记录运行时每个名字的当前值存放的一个或多个位置</a:t>
            </a:r>
          </a:p>
          <a:p>
            <a:pPr lvl="1" algn="just"/>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该位置可能是寄存器、栈单元、内存地址或者是它们的某个集合</a:t>
            </a:r>
          </a:p>
          <a:p>
            <a:pPr lvl="1" algn="just"/>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这些信息可以存放在符号表中</a:t>
            </a:r>
          </a:p>
          <a:p>
            <a:pPr algn="just"/>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这两个描述符在代码生成过程中是变化的。</a:t>
            </a:r>
          </a:p>
        </p:txBody>
      </p:sp>
    </p:spTree>
    <p:extLst>
      <p:ext uri="{BB962C8B-B14F-4D97-AF65-F5344CB8AC3E}">
        <p14:creationId xmlns:p14="http://schemas.microsoft.com/office/powerpoint/2010/main" val="10382861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27267">
                                            <p:txEl>
                                              <p:pRg st="0" end="0"/>
                                            </p:txEl>
                                          </p:spTgt>
                                        </p:tgtEl>
                                        <p:attrNameLst>
                                          <p:attrName>style.visibility</p:attrName>
                                        </p:attrNameLst>
                                      </p:cBhvr>
                                      <p:to>
                                        <p:strVal val="visible"/>
                                      </p:to>
                                    </p:set>
                                    <p:animEffect transition="in" filter="blinds(horizontal)">
                                      <p:cBhvr>
                                        <p:cTn id="7" dur="500"/>
                                        <p:tgtEl>
                                          <p:spTgt spid="2827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27267">
                                            <p:txEl>
                                              <p:pRg st="1" end="1"/>
                                            </p:txEl>
                                          </p:spTgt>
                                        </p:tgtEl>
                                        <p:attrNameLst>
                                          <p:attrName>style.visibility</p:attrName>
                                        </p:attrNameLst>
                                      </p:cBhvr>
                                      <p:to>
                                        <p:strVal val="visible"/>
                                      </p:to>
                                    </p:set>
                                    <p:animEffect transition="in" filter="blinds(horizontal)">
                                      <p:cBhvr>
                                        <p:cTn id="12" dur="500"/>
                                        <p:tgtEl>
                                          <p:spTgt spid="2827267">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827267">
                                            <p:txEl>
                                              <p:pRg st="2" end="2"/>
                                            </p:txEl>
                                          </p:spTgt>
                                        </p:tgtEl>
                                        <p:attrNameLst>
                                          <p:attrName>style.visibility</p:attrName>
                                        </p:attrNameLst>
                                      </p:cBhvr>
                                      <p:to>
                                        <p:strVal val="visible"/>
                                      </p:to>
                                    </p:set>
                                    <p:animEffect transition="in" filter="blinds(horizontal)">
                                      <p:cBhvr>
                                        <p:cTn id="15" dur="500"/>
                                        <p:tgtEl>
                                          <p:spTgt spid="2827267">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827267">
                                            <p:txEl>
                                              <p:pRg st="3" end="3"/>
                                            </p:txEl>
                                          </p:spTgt>
                                        </p:tgtEl>
                                        <p:attrNameLst>
                                          <p:attrName>style.visibility</p:attrName>
                                        </p:attrNameLst>
                                      </p:cBhvr>
                                      <p:to>
                                        <p:strVal val="visible"/>
                                      </p:to>
                                    </p:set>
                                    <p:animEffect transition="in" filter="blinds(horizontal)">
                                      <p:cBhvr>
                                        <p:cTn id="20" dur="500"/>
                                        <p:tgtEl>
                                          <p:spTgt spid="2827267">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827267">
                                            <p:txEl>
                                              <p:pRg st="4" end="4"/>
                                            </p:txEl>
                                          </p:spTgt>
                                        </p:tgtEl>
                                        <p:attrNameLst>
                                          <p:attrName>style.visibility</p:attrName>
                                        </p:attrNameLst>
                                      </p:cBhvr>
                                      <p:to>
                                        <p:strVal val="visible"/>
                                      </p:to>
                                    </p:set>
                                    <p:animEffect transition="in" filter="blinds(horizontal)">
                                      <p:cBhvr>
                                        <p:cTn id="23" dur="500"/>
                                        <p:tgtEl>
                                          <p:spTgt spid="2827267">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827267">
                                            <p:txEl>
                                              <p:pRg st="5" end="5"/>
                                            </p:txEl>
                                          </p:spTgt>
                                        </p:tgtEl>
                                        <p:attrNameLst>
                                          <p:attrName>style.visibility</p:attrName>
                                        </p:attrNameLst>
                                      </p:cBhvr>
                                      <p:to>
                                        <p:strVal val="visible"/>
                                      </p:to>
                                    </p:set>
                                    <p:animEffect transition="in" filter="blinds(horizontal)">
                                      <p:cBhvr>
                                        <p:cTn id="26" dur="500"/>
                                        <p:tgtEl>
                                          <p:spTgt spid="2827267">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827267">
                                            <p:txEl>
                                              <p:pRg st="6" end="6"/>
                                            </p:txEl>
                                          </p:spTgt>
                                        </p:tgtEl>
                                        <p:attrNameLst>
                                          <p:attrName>style.visibility</p:attrName>
                                        </p:attrNameLst>
                                      </p:cBhvr>
                                      <p:to>
                                        <p:strVal val="visible"/>
                                      </p:to>
                                    </p:set>
                                    <p:animEffect transition="in" filter="blinds(horizontal)">
                                      <p:cBhvr>
                                        <p:cTn id="31" dur="500"/>
                                        <p:tgtEl>
                                          <p:spTgt spid="28272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726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59BEFDE-DE5F-49F4-B0AA-FA91275AD2FC}"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0ED016C7-CF5C-40FF-8E29-09B93363A187}" type="slidenum">
              <a:rPr lang="en-US" altLang="zh-CN"/>
              <a:pPr/>
              <a:t>31</a:t>
            </a:fld>
            <a:endParaRPr lang="en-US" altLang="zh-CN"/>
          </a:p>
        </p:txBody>
      </p:sp>
      <p:sp>
        <p:nvSpPr>
          <p:cNvPr id="2829314" name="Rectangle 2"/>
          <p:cNvSpPr>
            <a:spLocks noGrp="1" noChangeArrowheads="1"/>
          </p:cNvSpPr>
          <p:nvPr>
            <p:ph type="title"/>
          </p:nvPr>
        </p:nvSpPr>
        <p:spPr>
          <a:xfrm>
            <a:off x="1095375" y="115888"/>
            <a:ext cx="7292975" cy="865187"/>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代码生成算法</a:t>
            </a:r>
          </a:p>
        </p:txBody>
      </p:sp>
      <p:sp>
        <p:nvSpPr>
          <p:cNvPr id="2829315" name="Rectangle 3"/>
          <p:cNvSpPr>
            <a:spLocks noGrp="1" noChangeArrowheads="1"/>
          </p:cNvSpPr>
          <p:nvPr>
            <p:ph type="body" idx="1"/>
          </p:nvPr>
        </p:nvSpPr>
        <p:spPr>
          <a:xfrm>
            <a:off x="304800" y="981075"/>
            <a:ext cx="8610600" cy="5400675"/>
          </a:xfrm>
        </p:spPr>
        <p:txBody>
          <a:bodyPr/>
          <a:lstStyle/>
          <a:p>
            <a:pPr algn="just">
              <a:lnSpc>
                <a:spcPct val="95000"/>
              </a:lnSpc>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对每个三地址语句</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i: x := y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op</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z</a:t>
            </a:r>
          </a:p>
          <a:p>
            <a:pPr algn="just">
              <a:lnSpc>
                <a:spcPct val="95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调用函数</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getreg</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i:x</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 y op z</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确定可用于保存</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y</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 op </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z</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的计算结果的位置</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L</a:t>
            </a:r>
          </a:p>
          <a:p>
            <a:pPr algn="just">
              <a:lnSpc>
                <a:spcPct val="95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查看</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的地址描述符以确定</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值当前的一个位置</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y</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值当前既在内存单元中又在寄存器中，则选择寄存器作为</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的值还不在</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中，则生成指令</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MOV y</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L </a:t>
            </a:r>
          </a:p>
          <a:p>
            <a:pPr algn="just">
              <a:lnSpc>
                <a:spcPct val="95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生成指令</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op</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z</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，其中</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z</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是</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z</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的当前位置之一</a:t>
            </a:r>
          </a:p>
          <a:p>
            <a:pPr algn="just">
              <a:lnSpc>
                <a:spcPct val="95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或</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z</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的当前值没有后续引用，在块的出口也不活跃，并且还在寄存器中，则修改寄存器描述符以表示在执行了</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x:=y op z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之后，这些寄存器分别不再包含</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或</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)z</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的值。 </a:t>
            </a:r>
          </a:p>
        </p:txBody>
      </p:sp>
    </p:spTree>
    <p:extLst>
      <p:ext uri="{BB962C8B-B14F-4D97-AF65-F5344CB8AC3E}">
        <p14:creationId xmlns:p14="http://schemas.microsoft.com/office/powerpoint/2010/main" val="20934866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29315">
                                            <p:txEl>
                                              <p:pRg st="0" end="0"/>
                                            </p:txEl>
                                          </p:spTgt>
                                        </p:tgtEl>
                                        <p:attrNameLst>
                                          <p:attrName>style.visibility</p:attrName>
                                        </p:attrNameLst>
                                      </p:cBhvr>
                                      <p:to>
                                        <p:strVal val="visible"/>
                                      </p:to>
                                    </p:set>
                                    <p:animEffect transition="in" filter="blinds(horizontal)">
                                      <p:cBhvr>
                                        <p:cTn id="7" dur="500"/>
                                        <p:tgtEl>
                                          <p:spTgt spid="28293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29315">
                                            <p:txEl>
                                              <p:pRg st="1" end="1"/>
                                            </p:txEl>
                                          </p:spTgt>
                                        </p:tgtEl>
                                        <p:attrNameLst>
                                          <p:attrName>style.visibility</p:attrName>
                                        </p:attrNameLst>
                                      </p:cBhvr>
                                      <p:to>
                                        <p:strVal val="visible"/>
                                      </p:to>
                                    </p:set>
                                    <p:animEffect transition="in" filter="blinds(horizontal)">
                                      <p:cBhvr>
                                        <p:cTn id="12" dur="500"/>
                                        <p:tgtEl>
                                          <p:spTgt spid="28293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29315">
                                            <p:txEl>
                                              <p:pRg st="2" end="2"/>
                                            </p:txEl>
                                          </p:spTgt>
                                        </p:tgtEl>
                                        <p:attrNameLst>
                                          <p:attrName>style.visibility</p:attrName>
                                        </p:attrNameLst>
                                      </p:cBhvr>
                                      <p:to>
                                        <p:strVal val="visible"/>
                                      </p:to>
                                    </p:set>
                                    <p:animEffect transition="in" filter="blinds(horizontal)">
                                      <p:cBhvr>
                                        <p:cTn id="17" dur="500"/>
                                        <p:tgtEl>
                                          <p:spTgt spid="28293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829315">
                                            <p:txEl>
                                              <p:pRg st="3" end="3"/>
                                            </p:txEl>
                                          </p:spTgt>
                                        </p:tgtEl>
                                        <p:attrNameLst>
                                          <p:attrName>style.visibility</p:attrName>
                                        </p:attrNameLst>
                                      </p:cBhvr>
                                      <p:to>
                                        <p:strVal val="visible"/>
                                      </p:to>
                                    </p:set>
                                    <p:animEffect transition="in" filter="blinds(horizontal)">
                                      <p:cBhvr>
                                        <p:cTn id="22" dur="500"/>
                                        <p:tgtEl>
                                          <p:spTgt spid="28293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829315">
                                            <p:txEl>
                                              <p:pRg st="4" end="4"/>
                                            </p:txEl>
                                          </p:spTgt>
                                        </p:tgtEl>
                                        <p:attrNameLst>
                                          <p:attrName>style.visibility</p:attrName>
                                        </p:attrNameLst>
                                      </p:cBhvr>
                                      <p:to>
                                        <p:strVal val="visible"/>
                                      </p:to>
                                    </p:set>
                                    <p:animEffect transition="in" filter="blinds(horizontal)">
                                      <p:cBhvr>
                                        <p:cTn id="27" dur="500"/>
                                        <p:tgtEl>
                                          <p:spTgt spid="28293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931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A971FA4-5645-47A2-9F9A-75F3391979BE}"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0EEBB667-FFFA-4459-8498-5BE2A8BEBFF9}" type="slidenum">
              <a:rPr lang="en-US" altLang="zh-CN"/>
              <a:pPr/>
              <a:t>32</a:t>
            </a:fld>
            <a:endParaRPr lang="en-US" altLang="zh-CN"/>
          </a:p>
        </p:txBody>
      </p:sp>
      <p:sp>
        <p:nvSpPr>
          <p:cNvPr id="2831362" name="Rectangle 2"/>
          <p:cNvSpPr>
            <a:spLocks noGrp="1" noChangeArrowheads="1"/>
          </p:cNvSpPr>
          <p:nvPr>
            <p:ph type="title"/>
          </p:nvPr>
        </p:nvSpPr>
        <p:spPr>
          <a:xfrm>
            <a:off x="1095375" y="115888"/>
            <a:ext cx="7148513" cy="865187"/>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代码生成算法</a:t>
            </a:r>
          </a:p>
        </p:txBody>
      </p:sp>
      <p:sp>
        <p:nvSpPr>
          <p:cNvPr id="2831363" name="Rectangle 3"/>
          <p:cNvSpPr>
            <a:spLocks noGrp="1" noChangeArrowheads="1"/>
          </p:cNvSpPr>
          <p:nvPr>
            <p:ph type="body" idx="1"/>
          </p:nvPr>
        </p:nvSpPr>
        <p:spPr>
          <a:xfrm>
            <a:off x="120650" y="1052513"/>
            <a:ext cx="8915400" cy="5329237"/>
          </a:xfrm>
        </p:spPr>
        <p:txBody>
          <a:bodyPr/>
          <a:lstStyle/>
          <a:p>
            <a:pPr algn="just">
              <a:lnSpc>
                <a:spcPct val="95000"/>
              </a:lnSpc>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寄存器选择函数</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getreg</a:t>
            </a:r>
            <a:endParaRPr lang="en-US" altLang="zh-CN" b="1" dirty="0">
              <a:latin typeface="Times New Roman" panose="02020603050405020304" pitchFamily="18" charset="0"/>
              <a:ea typeface="华文新魏" panose="02010800040101010101" pitchFamily="2" charset="-122"/>
              <a:cs typeface="Times New Roman" panose="02020603050405020304" pitchFamily="18" charset="0"/>
            </a:endParaRPr>
          </a:p>
          <a:p>
            <a:pPr algn="just">
              <a:lnSpc>
                <a:spcPct val="95000"/>
              </a:lnSpc>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函数</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getreg</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返回保存</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 := y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op</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z</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值的位置</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L</a:t>
            </a:r>
          </a:p>
          <a:p>
            <a:pPr lvl="1" algn="just">
              <a:lnSpc>
                <a:spcPct val="95000"/>
              </a:lnSpc>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如果变量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且</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不含其它变量的值</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并且在执行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x:=y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op</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z</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后</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不会再被引用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则返回</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作为</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a:p>
            <a:pPr lvl="1" algn="just">
              <a:lnSpc>
                <a:spcPct val="95000"/>
              </a:lnSpc>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否则，返回一个空闲寄存器，如果有的话</a:t>
            </a:r>
          </a:p>
          <a:p>
            <a:pPr lvl="1" algn="just">
              <a:lnSpc>
                <a:spcPct val="95000"/>
              </a:lnSpc>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否则，如果</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在块中还会再被引用，或者</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op</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是必须使用寄存器的算符，则找一个已被占用的寄存器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可能产生</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R</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指令，并修改</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的地址描述符</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p>
          <a:p>
            <a:pPr lvl="1" algn="just">
              <a:lnSpc>
                <a:spcPct val="95000"/>
              </a:lnSpc>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否则，如果</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在基本块中不会再被引用，或找不到适当的被占用寄存器，则选择</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的内存单元作为</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p>
        </p:txBody>
      </p:sp>
    </p:spTree>
    <p:extLst>
      <p:ext uri="{BB962C8B-B14F-4D97-AF65-F5344CB8AC3E}">
        <p14:creationId xmlns:p14="http://schemas.microsoft.com/office/powerpoint/2010/main" val="293383594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BFBD14D-AC8D-456B-B2D8-CC5671834433}"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C09A1A2B-5B74-48B1-A9F8-E43FBFE3B9E8}" type="slidenum">
              <a:rPr lang="en-US" altLang="zh-CN"/>
              <a:pPr/>
              <a:t>33</a:t>
            </a:fld>
            <a:endParaRPr lang="en-US" altLang="zh-CN"/>
          </a:p>
        </p:txBody>
      </p:sp>
      <p:sp>
        <p:nvSpPr>
          <p:cNvPr id="2833410" name="Rectangle 2"/>
          <p:cNvSpPr>
            <a:spLocks noGrp="1" noChangeArrowheads="1"/>
          </p:cNvSpPr>
          <p:nvPr>
            <p:ph type="title"/>
          </p:nvPr>
        </p:nvSpPr>
        <p:spPr>
          <a:xfrm>
            <a:off x="1101725" y="115888"/>
            <a:ext cx="7070725" cy="11430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代码生成算法</a:t>
            </a:r>
          </a:p>
        </p:txBody>
      </p:sp>
      <p:sp>
        <p:nvSpPr>
          <p:cNvPr id="2833411" name="Rectangle 3"/>
          <p:cNvSpPr>
            <a:spLocks noGrp="1" noChangeArrowheads="1"/>
          </p:cNvSpPr>
          <p:nvPr>
            <p:ph type="body" idx="1"/>
          </p:nvPr>
        </p:nvSpPr>
        <p:spPr>
          <a:xfrm>
            <a:off x="304800" y="1268413"/>
            <a:ext cx="8610600" cy="4824412"/>
          </a:xfrm>
        </p:spPr>
        <p:txBody>
          <a:bodyPr/>
          <a:lstStyle/>
          <a:p>
            <a:pPr algn="just">
              <a:lnSpc>
                <a:spcPct val="95000"/>
              </a:lnSpc>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赋值语句</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d := (a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b) + (a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c) + (a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c)</a:t>
            </a:r>
          </a:p>
          <a:p>
            <a:pPr algn="just">
              <a:lnSpc>
                <a:spcPct val="95000"/>
              </a:lnSpc>
              <a:buFontTx/>
              <a:buNone/>
            </a:pPr>
            <a:endParaRPr lang="en-US" altLang="zh-CN" b="1" dirty="0">
              <a:latin typeface="Times New Roman" panose="02020603050405020304" pitchFamily="18" charset="0"/>
              <a:ea typeface="华文新魏" panose="02010800040101010101" pitchFamily="2" charset="-122"/>
              <a:cs typeface="Times New Roman" panose="02020603050405020304" pitchFamily="18" charset="0"/>
            </a:endParaRPr>
          </a:p>
          <a:p>
            <a:pPr algn="just">
              <a:lnSpc>
                <a:spcPct val="95000"/>
              </a:lnSpc>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编译产生的三地址码序列为：</a:t>
            </a:r>
          </a:p>
          <a:p>
            <a:pPr algn="just">
              <a:lnSpc>
                <a:spcPct val="95000"/>
              </a:lnSpc>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a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b</a:t>
            </a:r>
          </a:p>
          <a:p>
            <a:pPr algn="just">
              <a:lnSpc>
                <a:spcPct val="95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a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c</a:t>
            </a:r>
          </a:p>
          <a:p>
            <a:pPr algn="just">
              <a:lnSpc>
                <a:spcPct val="95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2</a:t>
            </a:r>
            <a:endParaRPr lang="en-US" altLang="zh-CN" b="1" dirty="0">
              <a:latin typeface="Times New Roman" panose="02020603050405020304" pitchFamily="18" charset="0"/>
              <a:ea typeface="华文新魏" panose="02010800040101010101" pitchFamily="2" charset="-122"/>
              <a:cs typeface="Times New Roman" panose="02020603050405020304" pitchFamily="18" charset="0"/>
            </a:endParaRPr>
          </a:p>
          <a:p>
            <a:pPr algn="just">
              <a:lnSpc>
                <a:spcPct val="95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d := 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p>
          <a:p>
            <a:pPr algn="just">
              <a:lnSpc>
                <a:spcPct val="95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在基本块的出口是活跃的。 </a:t>
            </a:r>
          </a:p>
        </p:txBody>
      </p:sp>
    </p:spTree>
    <p:extLst>
      <p:ext uri="{BB962C8B-B14F-4D97-AF65-F5344CB8AC3E}">
        <p14:creationId xmlns:p14="http://schemas.microsoft.com/office/powerpoint/2010/main" val="267004616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日期占位符 3"/>
          <p:cNvSpPr>
            <a:spLocks noGrp="1"/>
          </p:cNvSpPr>
          <p:nvPr>
            <p:ph type="dt" sz="half" idx="10"/>
          </p:nvPr>
        </p:nvSpPr>
        <p:spPr/>
        <p:txBody>
          <a:bodyPr/>
          <a:lstStyle/>
          <a:p>
            <a:fld id="{E38312D4-BCA0-40FB-B115-2E196829ABC9}" type="datetime1">
              <a:rPr lang="zh-CN" altLang="en-US"/>
              <a:pPr/>
              <a:t>2017/2/24</a:t>
            </a:fld>
            <a:endParaRPr lang="en-US" altLang="zh-CN"/>
          </a:p>
        </p:txBody>
      </p:sp>
      <p:sp>
        <p:nvSpPr>
          <p:cNvPr id="50" name="灯片编号占位符 5"/>
          <p:cNvSpPr>
            <a:spLocks noGrp="1"/>
          </p:cNvSpPr>
          <p:nvPr>
            <p:ph type="sldNum" sz="quarter" idx="12"/>
          </p:nvPr>
        </p:nvSpPr>
        <p:spPr/>
        <p:txBody>
          <a:bodyPr/>
          <a:lstStyle/>
          <a:p>
            <a:fld id="{8A743851-019E-4DC3-A354-CF92BCAA23A9}" type="slidenum">
              <a:rPr lang="en-US" altLang="zh-CN"/>
              <a:pPr/>
              <a:t>34</a:t>
            </a:fld>
            <a:endParaRPr lang="en-US" altLang="zh-CN"/>
          </a:p>
        </p:txBody>
      </p:sp>
      <p:sp>
        <p:nvSpPr>
          <p:cNvPr id="2835458" name="Rectangle 2"/>
          <p:cNvSpPr>
            <a:spLocks noGrp="1" noChangeArrowheads="1"/>
          </p:cNvSpPr>
          <p:nvPr>
            <p:ph type="title"/>
          </p:nvPr>
        </p:nvSpPr>
        <p:spPr>
          <a:xfrm>
            <a:off x="812800" y="115888"/>
            <a:ext cx="7359650" cy="8382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代码生成算法</a:t>
            </a:r>
          </a:p>
        </p:txBody>
      </p:sp>
      <p:graphicFrame>
        <p:nvGraphicFramePr>
          <p:cNvPr id="2835459" name="Group 3"/>
          <p:cNvGraphicFramePr>
            <a:graphicFrameLocks noGrp="1"/>
          </p:cNvGraphicFramePr>
          <p:nvPr/>
        </p:nvGraphicFramePr>
        <p:xfrm>
          <a:off x="323850" y="1084263"/>
          <a:ext cx="8707438" cy="5400676"/>
        </p:xfrm>
        <a:graphic>
          <a:graphicData uri="http://schemas.openxmlformats.org/drawingml/2006/table">
            <a:tbl>
              <a:tblPr/>
              <a:tblGrid>
                <a:gridCol w="1878013">
                  <a:extLst>
                    <a:ext uri="{9D8B030D-6E8A-4147-A177-3AD203B41FA5}">
                      <a16:colId xmlns:a16="http://schemas.microsoft.com/office/drawing/2014/main" val="2655943977"/>
                    </a:ext>
                  </a:extLst>
                </a:gridCol>
                <a:gridCol w="2082800">
                  <a:extLst>
                    <a:ext uri="{9D8B030D-6E8A-4147-A177-3AD203B41FA5}">
                      <a16:colId xmlns:a16="http://schemas.microsoft.com/office/drawing/2014/main" val="298948344"/>
                    </a:ext>
                  </a:extLst>
                </a:gridCol>
                <a:gridCol w="2022475">
                  <a:extLst>
                    <a:ext uri="{9D8B030D-6E8A-4147-A177-3AD203B41FA5}">
                      <a16:colId xmlns:a16="http://schemas.microsoft.com/office/drawing/2014/main" val="2455032090"/>
                    </a:ext>
                  </a:extLst>
                </a:gridCol>
                <a:gridCol w="2724150">
                  <a:extLst>
                    <a:ext uri="{9D8B030D-6E8A-4147-A177-3AD203B41FA5}">
                      <a16:colId xmlns:a16="http://schemas.microsoft.com/office/drawing/2014/main" val="1500831106"/>
                    </a:ext>
                  </a:extLst>
                </a:gridCol>
              </a:tblGrid>
              <a:tr h="62388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语  句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生成的代码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寄存器描述符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名字地址描述符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64147211"/>
                  </a:ext>
                </a:extLst>
              </a:tr>
              <a:tr h="533400">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寄存器空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12340708"/>
                  </a:ext>
                </a:extLst>
              </a:tr>
              <a:tr h="838200">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t</a:t>
                      </a:r>
                      <a:r>
                        <a:rPr kumimoji="0" lang="en-US" altLang="zh-CN" sz="2400" b="1" i="0" u="none" strike="noStrike" cap="none" normalizeH="0" baseline="-30000" smtClean="0">
                          <a:ln>
                            <a:noFill/>
                          </a:ln>
                          <a:solidFill>
                            <a:schemeClr val="tx1"/>
                          </a:solidFill>
                          <a:effectLst/>
                          <a:latin typeface="Times New Roman" panose="02020603050405020304" pitchFamily="18" charset="0"/>
                          <a:ea typeface="楷体_GB2312" pitchFamily="49" charset="-122"/>
                        </a:rPr>
                        <a:t>1</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 := a </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sym typeface="Symbol" panose="05050102010706020507" pitchFamily="18" charset="2"/>
                        </a:rPr>
                        <a:t></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 b</a:t>
                      </a:r>
                      <a:r>
                        <a:rPr kumimoji="0" lang="en-US" altLang="zh-CN" sz="2400" b="0" i="0" u="none" strike="noStrike" cap="none" normalizeH="0" baseline="0" smtClean="0">
                          <a:ln>
                            <a:noFill/>
                          </a:ln>
                          <a:solidFill>
                            <a:schemeClr val="tx1"/>
                          </a:solidFill>
                          <a:effectLst/>
                          <a:latin typeface="Times New Roman" panose="02020603050405020304" pitchFamily="18" charset="0"/>
                          <a:ea typeface="楷体_GB2312" pitchFamily="49"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MOV a, R0</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SUB b, R0</a:t>
                      </a:r>
                      <a:r>
                        <a:rPr kumimoji="0" lang="en-US" altLang="zh-CN" sz="2400" b="0" i="0" u="none" strike="noStrike" cap="none" normalizeH="0" baseline="0" smtClean="0">
                          <a:ln>
                            <a:noFill/>
                          </a:ln>
                          <a:solidFill>
                            <a:schemeClr val="tx1"/>
                          </a:solidFill>
                          <a:effectLst/>
                          <a:latin typeface="Times New Roman" panose="02020603050405020304" pitchFamily="18" charset="0"/>
                          <a:ea typeface="楷体_GB2312"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R0</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含</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t</a:t>
                      </a:r>
                      <a:r>
                        <a:rPr kumimoji="0" lang="en-US" altLang="zh-CN" sz="2400" b="1" i="0" u="none" strike="noStrike" cap="none" normalizeH="0" baseline="-30000" smtClean="0">
                          <a:ln>
                            <a:noFill/>
                          </a:ln>
                          <a:solidFill>
                            <a:schemeClr val="tx1"/>
                          </a:solidFill>
                          <a:effectLst/>
                          <a:latin typeface="Times New Roman" panose="02020603050405020304" pitchFamily="18" charset="0"/>
                          <a:ea typeface="楷体_GB2312" pitchFamily="49" charset="-122"/>
                        </a:rPr>
                        <a:t>1</a:t>
                      </a:r>
                      <a:r>
                        <a:rPr kumimoji="0" lang="en-US" altLang="zh-CN" sz="2400" b="0" i="0" u="none" strike="noStrike" cap="none" normalizeH="0" baseline="0" smtClean="0">
                          <a:ln>
                            <a:noFill/>
                          </a:ln>
                          <a:solidFill>
                            <a:schemeClr val="tx1"/>
                          </a:solidFill>
                          <a:effectLst/>
                          <a:latin typeface="Times New Roman" panose="02020603050405020304" pitchFamily="18" charset="0"/>
                          <a:ea typeface="楷体_GB2312"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t</a:t>
                      </a:r>
                      <a:r>
                        <a:rPr kumimoji="0" lang="en-US" altLang="zh-CN" sz="2400" b="1" i="0" u="none" strike="noStrike" cap="none" normalizeH="0" baseline="-30000" smtClean="0">
                          <a:ln>
                            <a:noFill/>
                          </a:ln>
                          <a:solidFill>
                            <a:schemeClr val="tx1"/>
                          </a:solidFill>
                          <a:effectLst/>
                          <a:latin typeface="Times New Roman" panose="02020603050405020304" pitchFamily="18" charset="0"/>
                          <a:ea typeface="楷体_GB2312" pitchFamily="49" charset="-122"/>
                        </a:rPr>
                        <a:t>1</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在</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R0</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中</a:t>
                      </a:r>
                      <a:r>
                        <a:rPr kumimoji="0" lang="zh-CN" altLang="en-US" sz="2400" b="0" i="0" u="none" strike="noStrike" cap="none" normalizeH="0" baseline="0" smtClean="0">
                          <a:ln>
                            <a:noFill/>
                          </a:ln>
                          <a:solidFill>
                            <a:schemeClr val="tx1"/>
                          </a:solidFill>
                          <a:effectLst/>
                          <a:latin typeface="Times New Roman" panose="02020603050405020304" pitchFamily="18" charset="0"/>
                          <a:ea typeface="楷体_GB2312" pitchFamily="49"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46692512"/>
                  </a:ext>
                </a:extLst>
              </a:tr>
              <a:tr h="96043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t</a:t>
                      </a:r>
                      <a:r>
                        <a:rPr kumimoji="0" lang="en-US" altLang="zh-CN" sz="2400" b="1" i="0" u="none" strike="noStrike" cap="none" normalizeH="0" baseline="-30000" smtClean="0">
                          <a:ln>
                            <a:noFill/>
                          </a:ln>
                          <a:solidFill>
                            <a:schemeClr val="tx1"/>
                          </a:solidFill>
                          <a:effectLst/>
                          <a:latin typeface="Times New Roman" panose="02020603050405020304" pitchFamily="18" charset="0"/>
                          <a:ea typeface="楷体_GB2312" pitchFamily="49" charset="-122"/>
                        </a:rPr>
                        <a:t>2</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 := a </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sym typeface="Symbol" panose="05050102010706020507" pitchFamily="18" charset="2"/>
                        </a:rPr>
                        <a:t></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 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MOV a, R1</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SUB c, R1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R0</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含</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t</a:t>
                      </a:r>
                      <a:r>
                        <a:rPr kumimoji="0" lang="en-US" altLang="zh-CN" sz="2400" b="1" i="0" u="none" strike="noStrike" cap="none" normalizeH="0" baseline="-30000" smtClean="0">
                          <a:ln>
                            <a:noFill/>
                          </a:ln>
                          <a:solidFill>
                            <a:schemeClr val="tx1"/>
                          </a:solidFill>
                          <a:effectLst/>
                          <a:latin typeface="Times New Roman" panose="02020603050405020304" pitchFamily="18" charset="0"/>
                          <a:ea typeface="楷体_GB2312" pitchFamily="49" charset="-122"/>
                        </a:rPr>
                        <a:t>1</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R1</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含</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t</a:t>
                      </a:r>
                      <a:r>
                        <a:rPr kumimoji="0" lang="en-US" altLang="zh-CN" sz="2400" b="1" i="0" u="none" strike="noStrike" cap="none" normalizeH="0" baseline="-25000" smtClean="0">
                          <a:ln>
                            <a:noFill/>
                          </a:ln>
                          <a:solidFill>
                            <a:schemeClr val="tx1"/>
                          </a:solidFill>
                          <a:effectLst/>
                          <a:latin typeface="Times New Roman" panose="02020603050405020304" pitchFamily="18" charset="0"/>
                          <a:ea typeface="楷体_GB2312" pitchFamily="49"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t</a:t>
                      </a:r>
                      <a:r>
                        <a:rPr kumimoji="0" lang="en-US" altLang="zh-CN" sz="2400" b="1" i="0" u="none" strike="noStrike" cap="none" normalizeH="0" baseline="-30000" smtClean="0">
                          <a:ln>
                            <a:noFill/>
                          </a:ln>
                          <a:solidFill>
                            <a:schemeClr val="tx1"/>
                          </a:solidFill>
                          <a:effectLst/>
                          <a:latin typeface="Times New Roman" panose="02020603050405020304" pitchFamily="18" charset="0"/>
                          <a:ea typeface="楷体_GB2312" pitchFamily="49" charset="-122"/>
                        </a:rPr>
                        <a:t>1</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在</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R0</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中</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t</a:t>
                      </a:r>
                      <a:r>
                        <a:rPr kumimoji="0" lang="en-US" altLang="zh-CN" sz="2400" b="1" i="0" u="none" strike="noStrike" cap="none" normalizeH="0" baseline="-30000" smtClean="0">
                          <a:ln>
                            <a:noFill/>
                          </a:ln>
                          <a:solidFill>
                            <a:schemeClr val="tx1"/>
                          </a:solidFill>
                          <a:effectLst/>
                          <a:latin typeface="Times New Roman" panose="02020603050405020304" pitchFamily="18" charset="0"/>
                          <a:ea typeface="楷体_GB2312" pitchFamily="49" charset="-122"/>
                        </a:rPr>
                        <a:t>2</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在</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R1</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中</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42196970"/>
                  </a:ext>
                </a:extLst>
              </a:tr>
              <a:tr h="1016000">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t</a:t>
                      </a:r>
                      <a:r>
                        <a:rPr kumimoji="0" lang="en-US" altLang="zh-CN" sz="2400" b="1" i="0" u="none" strike="noStrike" cap="none" normalizeH="0" baseline="-30000" smtClean="0">
                          <a:ln>
                            <a:noFill/>
                          </a:ln>
                          <a:solidFill>
                            <a:schemeClr val="tx1"/>
                          </a:solidFill>
                          <a:effectLst/>
                          <a:latin typeface="Times New Roman" panose="02020603050405020304" pitchFamily="18" charset="0"/>
                          <a:ea typeface="楷体_GB2312" pitchFamily="49" charset="-122"/>
                        </a:rPr>
                        <a:t>3</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 := t</a:t>
                      </a:r>
                      <a:r>
                        <a:rPr kumimoji="0" lang="en-US" altLang="zh-CN" sz="2400" b="1" i="0" u="none" strike="noStrike" cap="none" normalizeH="0" baseline="-30000" smtClean="0">
                          <a:ln>
                            <a:noFill/>
                          </a:ln>
                          <a:solidFill>
                            <a:schemeClr val="tx1"/>
                          </a:solidFill>
                          <a:effectLst/>
                          <a:latin typeface="Times New Roman" panose="02020603050405020304" pitchFamily="18" charset="0"/>
                          <a:ea typeface="楷体_GB2312" pitchFamily="49" charset="-122"/>
                        </a:rPr>
                        <a:t>1</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 t</a:t>
                      </a:r>
                      <a:r>
                        <a:rPr kumimoji="0" lang="en-US" altLang="zh-CN" sz="2400" b="1" i="0" u="none" strike="noStrike" cap="none" normalizeH="0" baseline="-30000" smtClean="0">
                          <a:ln>
                            <a:noFill/>
                          </a:ln>
                          <a:solidFill>
                            <a:schemeClr val="tx1"/>
                          </a:solidFill>
                          <a:effectLst/>
                          <a:latin typeface="Times New Roman" panose="02020603050405020304" pitchFamily="18" charset="0"/>
                          <a:ea typeface="楷体_GB2312" pitchFamily="49" charset="-122"/>
                        </a:rPr>
                        <a:t>2</a:t>
                      </a:r>
                      <a:r>
                        <a:rPr kumimoji="0" lang="en-US" altLang="zh-CN" sz="2400" b="0" i="0" u="none" strike="noStrike" cap="none" normalizeH="0" baseline="0" smtClean="0">
                          <a:ln>
                            <a:noFill/>
                          </a:ln>
                          <a:solidFill>
                            <a:schemeClr val="tx1"/>
                          </a:solidFill>
                          <a:effectLst/>
                          <a:latin typeface="Times New Roman" panose="02020603050405020304" pitchFamily="18" charset="0"/>
                          <a:ea typeface="楷体_GB2312" pitchFamily="49"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ADD R1,R0</a:t>
                      </a:r>
                      <a:r>
                        <a:rPr kumimoji="0" lang="en-US" altLang="zh-CN" sz="2400" b="0" i="0" u="none" strike="noStrike" cap="none" normalizeH="0" baseline="0" smtClean="0">
                          <a:ln>
                            <a:noFill/>
                          </a:ln>
                          <a:solidFill>
                            <a:schemeClr val="tx1"/>
                          </a:solidFill>
                          <a:effectLst/>
                          <a:latin typeface="Times New Roman" panose="02020603050405020304" pitchFamily="18" charset="0"/>
                          <a:ea typeface="楷体_GB2312"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R0</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含</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t</a:t>
                      </a:r>
                      <a:r>
                        <a:rPr kumimoji="0" lang="en-US" altLang="zh-CN" sz="2400" b="1" i="0" u="none" strike="noStrike" cap="none" normalizeH="0" baseline="-30000" smtClean="0">
                          <a:ln>
                            <a:noFill/>
                          </a:ln>
                          <a:solidFill>
                            <a:schemeClr val="tx1"/>
                          </a:solidFill>
                          <a:effectLst/>
                          <a:latin typeface="Times New Roman" panose="02020603050405020304" pitchFamily="18" charset="0"/>
                          <a:ea typeface="楷体_GB2312" pitchFamily="49" charset="-122"/>
                        </a:rPr>
                        <a:t>3</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R1</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含</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t</a:t>
                      </a:r>
                      <a:r>
                        <a:rPr kumimoji="0" lang="en-US" altLang="zh-CN" sz="2400" b="1" i="0" u="none" strike="noStrike" cap="none" normalizeH="0" baseline="-30000" smtClean="0">
                          <a:ln>
                            <a:noFill/>
                          </a:ln>
                          <a:solidFill>
                            <a:schemeClr val="tx1"/>
                          </a:solidFill>
                          <a:effectLst/>
                          <a:latin typeface="Times New Roman" panose="02020603050405020304" pitchFamily="18" charset="0"/>
                          <a:ea typeface="楷体_GB2312" pitchFamily="49" charset="-122"/>
                        </a:rPr>
                        <a:t>2</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t</a:t>
                      </a:r>
                      <a:r>
                        <a:rPr kumimoji="0" lang="en-US" altLang="zh-CN" sz="2400" b="1" i="0" u="none" strike="noStrike" cap="none" normalizeH="0" baseline="-30000" smtClean="0">
                          <a:ln>
                            <a:noFill/>
                          </a:ln>
                          <a:solidFill>
                            <a:schemeClr val="tx1"/>
                          </a:solidFill>
                          <a:effectLst/>
                          <a:latin typeface="Times New Roman" panose="02020603050405020304" pitchFamily="18" charset="0"/>
                          <a:ea typeface="楷体_GB2312" pitchFamily="49" charset="-122"/>
                        </a:rPr>
                        <a:t>3</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在</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R0</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中</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t</a:t>
                      </a:r>
                      <a:r>
                        <a:rPr kumimoji="0" lang="en-US" altLang="zh-CN" sz="2400" b="1" i="0" u="none" strike="noStrike" cap="none" normalizeH="0" baseline="-30000" smtClean="0">
                          <a:ln>
                            <a:noFill/>
                          </a:ln>
                          <a:solidFill>
                            <a:schemeClr val="tx1"/>
                          </a:solidFill>
                          <a:effectLst/>
                          <a:latin typeface="Times New Roman" panose="02020603050405020304" pitchFamily="18" charset="0"/>
                          <a:ea typeface="楷体_GB2312" pitchFamily="49" charset="-122"/>
                        </a:rPr>
                        <a:t>2</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在</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R1</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中</a:t>
                      </a:r>
                      <a:r>
                        <a:rPr kumimoji="0" lang="zh-CN" altLang="en-US" sz="2400" b="0" i="0" u="none" strike="noStrike" cap="none" normalizeH="0" baseline="0" smtClean="0">
                          <a:ln>
                            <a:noFill/>
                          </a:ln>
                          <a:solidFill>
                            <a:schemeClr val="tx1"/>
                          </a:solidFill>
                          <a:effectLst/>
                          <a:latin typeface="Times New Roman" panose="02020603050405020304" pitchFamily="18" charset="0"/>
                          <a:ea typeface="楷体_GB2312" pitchFamily="49"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20003057"/>
                  </a:ext>
                </a:extLst>
              </a:tr>
              <a:tr h="584200">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d := t</a:t>
                      </a:r>
                      <a:r>
                        <a:rPr kumimoji="0" lang="en-US" altLang="zh-CN" sz="2400" b="1" i="0" u="none" strike="noStrike" cap="none" normalizeH="0" baseline="-30000" smtClean="0">
                          <a:ln>
                            <a:noFill/>
                          </a:ln>
                          <a:solidFill>
                            <a:schemeClr val="tx1"/>
                          </a:solidFill>
                          <a:effectLst/>
                          <a:latin typeface="Times New Roman" panose="02020603050405020304" pitchFamily="18" charset="0"/>
                          <a:ea typeface="楷体_GB2312" pitchFamily="49" charset="-122"/>
                        </a:rPr>
                        <a:t>3</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 + t</a:t>
                      </a:r>
                      <a:r>
                        <a:rPr kumimoji="0" lang="en-US" altLang="zh-CN" sz="2400" b="1" i="0" u="none" strike="noStrike" cap="none" normalizeH="0" baseline="-30000" smtClean="0">
                          <a:ln>
                            <a:noFill/>
                          </a:ln>
                          <a:solidFill>
                            <a:schemeClr val="tx1"/>
                          </a:solidFill>
                          <a:effectLst/>
                          <a:latin typeface="Times New Roman" panose="02020603050405020304" pitchFamily="18" charset="0"/>
                          <a:ea typeface="楷体_GB2312" pitchFamily="49" charset="-122"/>
                        </a:rPr>
                        <a:t>2</a:t>
                      </a:r>
                      <a:r>
                        <a:rPr kumimoji="0" lang="en-US" altLang="zh-CN" sz="2400" b="0" i="0" u="none" strike="noStrike" cap="none" normalizeH="0" baseline="0" smtClean="0">
                          <a:ln>
                            <a:noFill/>
                          </a:ln>
                          <a:solidFill>
                            <a:schemeClr val="tx1"/>
                          </a:solidFill>
                          <a:effectLst/>
                          <a:latin typeface="Times New Roman" panose="02020603050405020304" pitchFamily="18" charset="0"/>
                          <a:ea typeface="楷体_GB2312" pitchFamily="49"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ADD R1,R0</a:t>
                      </a:r>
                      <a:r>
                        <a:rPr kumimoji="0" lang="en-US" altLang="zh-CN" sz="2400" b="0" i="0" u="none" strike="noStrike" cap="none" normalizeH="0" baseline="0" smtClean="0">
                          <a:ln>
                            <a:noFill/>
                          </a:ln>
                          <a:solidFill>
                            <a:schemeClr val="tx1"/>
                          </a:solidFill>
                          <a:effectLst/>
                          <a:latin typeface="Times New Roman" panose="02020603050405020304" pitchFamily="18" charset="0"/>
                          <a:ea typeface="楷体_GB2312"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R0</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含</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d</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在</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R0</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中</a:t>
                      </a:r>
                      <a:r>
                        <a:rPr kumimoji="0" lang="zh-CN" altLang="en-US" sz="2400" b="0" i="0" u="none" strike="noStrike" cap="none" normalizeH="0" baseline="0" smtClean="0">
                          <a:ln>
                            <a:noFill/>
                          </a:ln>
                          <a:solidFill>
                            <a:schemeClr val="tx1"/>
                          </a:solidFill>
                          <a:effectLst/>
                          <a:latin typeface="Times New Roman" panose="02020603050405020304" pitchFamily="18" charset="0"/>
                          <a:ea typeface="楷体_GB2312" pitchFamily="49"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50213749"/>
                  </a:ext>
                </a:extLst>
              </a:tr>
              <a:tr h="844550">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400" b="0" i="0" u="none" strike="noStrike" cap="none" normalizeH="0" baseline="0" smtClean="0">
                        <a:ln>
                          <a:noFill/>
                        </a:ln>
                        <a:solidFill>
                          <a:schemeClr val="tx1"/>
                        </a:solidFill>
                        <a:effectLst/>
                        <a:latin typeface="Times New Roman" panose="02020603050405020304" pitchFamily="18"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MOV R0, d</a:t>
                      </a:r>
                      <a:r>
                        <a:rPr kumimoji="0" lang="en-US" altLang="zh-CN" sz="2400" b="0" i="0" u="none" strike="noStrike" cap="none" normalizeH="0" baseline="0" smtClean="0">
                          <a:ln>
                            <a:noFill/>
                          </a:ln>
                          <a:solidFill>
                            <a:schemeClr val="tx1"/>
                          </a:solidFill>
                          <a:effectLst/>
                          <a:latin typeface="Times New Roman" panose="02020603050405020304" pitchFamily="18" charset="0"/>
                          <a:ea typeface="楷体_GB2312" pitchFamily="49"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400" b="1" i="0" u="none" strike="noStrike" cap="none" normalizeH="0" baseline="-30000" smtClean="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d</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在</a:t>
                      </a:r>
                      <a:r>
                        <a:rPr kumimoji="0" lang="en-US" altLang="zh-CN"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R0</a:t>
                      </a:r>
                      <a:r>
                        <a:rPr kumimoji="0" lang="zh-CN" alt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rPr>
                        <a:t>和内存中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52329187"/>
                  </a:ext>
                </a:extLst>
              </a:tr>
            </a:tbl>
          </a:graphicData>
        </a:graphic>
      </p:graphicFrame>
    </p:spTree>
    <p:extLst>
      <p:ext uri="{BB962C8B-B14F-4D97-AF65-F5344CB8AC3E}">
        <p14:creationId xmlns:p14="http://schemas.microsoft.com/office/powerpoint/2010/main" val="327954627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1CFB449-AD24-441B-9903-98AF0C8CA17C}"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9B7EEBB8-A2E6-4877-892B-7EB494D87413}" type="slidenum">
              <a:rPr lang="en-US" altLang="zh-CN"/>
              <a:pPr/>
              <a:t>35</a:t>
            </a:fld>
            <a:endParaRPr lang="en-US" altLang="zh-CN"/>
          </a:p>
        </p:txBody>
      </p:sp>
      <p:sp>
        <p:nvSpPr>
          <p:cNvPr id="2837506" name="Rectangle 2"/>
          <p:cNvSpPr>
            <a:spLocks noGrp="1" noChangeArrowheads="1"/>
          </p:cNvSpPr>
          <p:nvPr>
            <p:ph type="title"/>
          </p:nvPr>
        </p:nvSpPr>
        <p:spPr>
          <a:xfrm>
            <a:off x="1101725" y="115888"/>
            <a:ext cx="7070725" cy="11430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代码生成算法</a:t>
            </a:r>
          </a:p>
        </p:txBody>
      </p:sp>
      <p:sp>
        <p:nvSpPr>
          <p:cNvPr id="2837507" name="Rectangle 3"/>
          <p:cNvSpPr>
            <a:spLocks noGrp="1" noChangeArrowheads="1"/>
          </p:cNvSpPr>
          <p:nvPr>
            <p:ph type="body" idx="1"/>
          </p:nvPr>
        </p:nvSpPr>
        <p:spPr>
          <a:xfrm>
            <a:off x="304800" y="1547813"/>
            <a:ext cx="8610600" cy="4632325"/>
          </a:xfrm>
        </p:spPr>
        <p:txBody>
          <a:bodyPr/>
          <a:lstStyle/>
          <a:p>
            <a:pPr algn="just">
              <a:lnSpc>
                <a:spcPct val="95000"/>
              </a:lnSpc>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前三条指令可以修改，使执行代价降低</a:t>
            </a:r>
          </a:p>
          <a:p>
            <a:pPr algn="just">
              <a:lnSpc>
                <a:spcPct val="95000"/>
              </a:lnSpc>
              <a:buFontTx/>
              <a:buNone/>
            </a:pPr>
            <a:endParaRPr lang="zh-CN" altLang="en-US" b="1" dirty="0">
              <a:latin typeface="Times New Roman" panose="02020603050405020304" pitchFamily="18" charset="0"/>
              <a:ea typeface="华文新魏" panose="02010800040101010101" pitchFamily="2" charset="-122"/>
              <a:cs typeface="Times New Roman" panose="02020603050405020304" pitchFamily="18" charset="0"/>
            </a:endParaRPr>
          </a:p>
          <a:p>
            <a:pPr algn="just">
              <a:lnSpc>
                <a:spcPct val="95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a, R0			MOV a, R0</a:t>
            </a:r>
          </a:p>
          <a:p>
            <a:pPr algn="just">
              <a:lnSpc>
                <a:spcPct val="95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SUB b, R0			         </a:t>
            </a:r>
            <a:r>
              <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MOV R0</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R1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p>
          <a:p>
            <a:pPr algn="just">
              <a:lnSpc>
                <a:spcPct val="95000"/>
              </a:lnSpc>
              <a:buFontTx/>
              <a:buNone/>
            </a:pPr>
            <a:r>
              <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MOV a, R1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SUB b, R0</a:t>
            </a:r>
          </a:p>
          <a:p>
            <a:pPr algn="just">
              <a:lnSpc>
                <a:spcPct val="95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SUB c, R1			         SUB c, R1</a:t>
            </a:r>
          </a:p>
          <a:p>
            <a:pPr algn="just">
              <a:lnSpc>
                <a:spcPct val="95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 				         .  .  .</a:t>
            </a:r>
          </a:p>
        </p:txBody>
      </p:sp>
    </p:spTree>
    <p:extLst>
      <p:ext uri="{BB962C8B-B14F-4D97-AF65-F5344CB8AC3E}">
        <p14:creationId xmlns:p14="http://schemas.microsoft.com/office/powerpoint/2010/main" val="153243779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D3B3451-192C-46C6-8FD2-4F38EEA24220}"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A113350A-0C64-4885-ADEE-15F620D5DCBB}" type="slidenum">
              <a:rPr lang="en-US" altLang="zh-CN"/>
              <a:pPr/>
              <a:t>36</a:t>
            </a:fld>
            <a:endParaRPr lang="en-US" altLang="zh-CN"/>
          </a:p>
        </p:txBody>
      </p:sp>
      <p:sp>
        <p:nvSpPr>
          <p:cNvPr id="2839554" name="Rectangle 2"/>
          <p:cNvSpPr>
            <a:spLocks noGrp="1" noChangeArrowheads="1"/>
          </p:cNvSpPr>
          <p:nvPr>
            <p:ph type="title"/>
          </p:nvPr>
        </p:nvSpPr>
        <p:spPr>
          <a:xfrm>
            <a:off x="539750" y="115888"/>
            <a:ext cx="8064500" cy="936625"/>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11.3.4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常用三地址码的代码生成</a:t>
            </a:r>
          </a:p>
        </p:txBody>
      </p:sp>
      <p:sp>
        <p:nvSpPr>
          <p:cNvPr id="2839555" name="Rectangle 3"/>
          <p:cNvSpPr>
            <a:spLocks noGrp="1" noChangeArrowheads="1"/>
          </p:cNvSpPr>
          <p:nvPr>
            <p:ph type="body" idx="1"/>
          </p:nvPr>
        </p:nvSpPr>
        <p:spPr>
          <a:xfrm>
            <a:off x="304800" y="1123950"/>
            <a:ext cx="8610600" cy="5113338"/>
          </a:xfrm>
        </p:spPr>
        <p:txBody>
          <a:bodyPr/>
          <a:lstStyle/>
          <a:p>
            <a:pPr>
              <a:lnSpc>
                <a:spcPct val="90000"/>
              </a:lnSpc>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⑴</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复制：</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a:=b</a:t>
            </a:r>
          </a:p>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的当前值在寄存器</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R</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中，则不必生成代码，只要将</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添加到</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R</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的寄存器描述符中，并把</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的地址描述符置为</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R</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即可。</a:t>
            </a:r>
          </a:p>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在基本块中不会再被引用且在基本块的出口也不活跃，则还要从</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R</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的寄存器描述符中删除</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，并从</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的地址描述符中删除</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R</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p>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但若</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的当前值只在内存单元中，如果只是简单地将</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的地址描述符置为</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的内存地址，那么，若不对</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的值采取保护措施，</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的值将会为</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的再次定义所影响。此时，生成一条形如</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MOV b, R</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的指令会较为稳妥。</a:t>
            </a:r>
          </a:p>
        </p:txBody>
      </p:sp>
    </p:spTree>
    <p:extLst>
      <p:ext uri="{BB962C8B-B14F-4D97-AF65-F5344CB8AC3E}">
        <p14:creationId xmlns:p14="http://schemas.microsoft.com/office/powerpoint/2010/main" val="4113475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39555">
                                            <p:txEl>
                                              <p:pRg st="0" end="0"/>
                                            </p:txEl>
                                          </p:spTgt>
                                        </p:tgtEl>
                                        <p:attrNameLst>
                                          <p:attrName>style.visibility</p:attrName>
                                        </p:attrNameLst>
                                      </p:cBhvr>
                                      <p:to>
                                        <p:strVal val="visible"/>
                                      </p:to>
                                    </p:set>
                                    <p:animEffect transition="in" filter="blinds(horizontal)">
                                      <p:cBhvr>
                                        <p:cTn id="7" dur="500"/>
                                        <p:tgtEl>
                                          <p:spTgt spid="28395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39555">
                                            <p:txEl>
                                              <p:pRg st="1" end="1"/>
                                            </p:txEl>
                                          </p:spTgt>
                                        </p:tgtEl>
                                        <p:attrNameLst>
                                          <p:attrName>style.visibility</p:attrName>
                                        </p:attrNameLst>
                                      </p:cBhvr>
                                      <p:to>
                                        <p:strVal val="visible"/>
                                      </p:to>
                                    </p:set>
                                    <p:animEffect transition="in" filter="blinds(horizontal)">
                                      <p:cBhvr>
                                        <p:cTn id="12" dur="500"/>
                                        <p:tgtEl>
                                          <p:spTgt spid="28395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39555">
                                            <p:txEl>
                                              <p:pRg st="2" end="2"/>
                                            </p:txEl>
                                          </p:spTgt>
                                        </p:tgtEl>
                                        <p:attrNameLst>
                                          <p:attrName>style.visibility</p:attrName>
                                        </p:attrNameLst>
                                      </p:cBhvr>
                                      <p:to>
                                        <p:strVal val="visible"/>
                                      </p:to>
                                    </p:set>
                                    <p:animEffect transition="in" filter="blinds(horizontal)">
                                      <p:cBhvr>
                                        <p:cTn id="17" dur="500"/>
                                        <p:tgtEl>
                                          <p:spTgt spid="28395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839555">
                                            <p:txEl>
                                              <p:pRg st="3" end="3"/>
                                            </p:txEl>
                                          </p:spTgt>
                                        </p:tgtEl>
                                        <p:attrNameLst>
                                          <p:attrName>style.visibility</p:attrName>
                                        </p:attrNameLst>
                                      </p:cBhvr>
                                      <p:to>
                                        <p:strVal val="visible"/>
                                      </p:to>
                                    </p:set>
                                    <p:animEffect transition="in" filter="blinds(horizontal)">
                                      <p:cBhvr>
                                        <p:cTn id="22" dur="500"/>
                                        <p:tgtEl>
                                          <p:spTgt spid="28395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955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7F90266-3762-4888-ACD6-C0F237BA3833}"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E8B73ED0-FABE-44FA-9DC2-B660EA5235A9}" type="slidenum">
              <a:rPr lang="en-US" altLang="zh-CN"/>
              <a:pPr/>
              <a:t>37</a:t>
            </a:fld>
            <a:endParaRPr lang="en-US" altLang="zh-CN"/>
          </a:p>
        </p:txBody>
      </p:sp>
      <p:sp>
        <p:nvSpPr>
          <p:cNvPr id="2841602" name="Rectangle 2"/>
          <p:cNvSpPr>
            <a:spLocks noGrp="1" noChangeArrowheads="1"/>
          </p:cNvSpPr>
          <p:nvPr>
            <p:ph type="title"/>
          </p:nvPr>
        </p:nvSpPr>
        <p:spPr>
          <a:xfrm>
            <a:off x="539750" y="115888"/>
            <a:ext cx="8064500" cy="936625"/>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11.3.4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常用三地址码的代码生成</a:t>
            </a:r>
          </a:p>
        </p:txBody>
      </p:sp>
      <p:sp>
        <p:nvSpPr>
          <p:cNvPr id="2841603" name="Rectangle 3"/>
          <p:cNvSpPr>
            <a:spLocks noGrp="1" noChangeArrowheads="1"/>
          </p:cNvSpPr>
          <p:nvPr>
            <p:ph type="body" idx="1"/>
          </p:nvPr>
        </p:nvSpPr>
        <p:spPr>
          <a:xfrm>
            <a:off x="304800" y="1123950"/>
            <a:ext cx="8610600" cy="5113338"/>
          </a:xfrm>
        </p:spPr>
        <p:txBody>
          <a:bodyPr/>
          <a:lstStyle/>
          <a:p>
            <a:pPr>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⑵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一元运算：</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 op b </a:t>
            </a:r>
          </a:p>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与二元运算的处理类似。</a:t>
            </a:r>
          </a:p>
          <a:p>
            <a:pPr>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⑶ 数组元素引用：</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a:=b[i]</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p>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假设</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在基本块中还会再被引用，而且寄存器</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R</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是可用的，则将</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保留在寄存器</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R</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中。于是，如果</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的当前值不在寄存器中，则生成如下指令序列：</a:t>
            </a:r>
          </a:p>
          <a:p>
            <a:pPr lvl="1">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MOV </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R</a:t>
            </a:r>
          </a:p>
          <a:p>
            <a:pPr lvl="1">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MOV b(R), R       </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开销</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=4</a:t>
            </a:r>
          </a:p>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的当前值在寄存器</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R</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中，则生成如下指令：</a:t>
            </a:r>
          </a:p>
          <a:p>
            <a:pPr lvl="1">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MOV b(</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R</a:t>
            </a:r>
            <a:r>
              <a:rPr lang="en-US" altLang="zh-CN" sz="2400" b="1" i="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R       </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开销</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=2</a:t>
            </a:r>
          </a:p>
        </p:txBody>
      </p:sp>
    </p:spTree>
    <p:extLst>
      <p:ext uri="{BB962C8B-B14F-4D97-AF65-F5344CB8AC3E}">
        <p14:creationId xmlns:p14="http://schemas.microsoft.com/office/powerpoint/2010/main" val="40252808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41603">
                                            <p:txEl>
                                              <p:pRg st="0" end="0"/>
                                            </p:txEl>
                                          </p:spTgt>
                                        </p:tgtEl>
                                        <p:attrNameLst>
                                          <p:attrName>style.visibility</p:attrName>
                                        </p:attrNameLst>
                                      </p:cBhvr>
                                      <p:to>
                                        <p:strVal val="visible"/>
                                      </p:to>
                                    </p:set>
                                    <p:animEffect transition="in" filter="blinds(horizontal)">
                                      <p:cBhvr>
                                        <p:cTn id="7" dur="500"/>
                                        <p:tgtEl>
                                          <p:spTgt spid="28416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41603">
                                            <p:txEl>
                                              <p:pRg st="1" end="1"/>
                                            </p:txEl>
                                          </p:spTgt>
                                        </p:tgtEl>
                                        <p:attrNameLst>
                                          <p:attrName>style.visibility</p:attrName>
                                        </p:attrNameLst>
                                      </p:cBhvr>
                                      <p:to>
                                        <p:strVal val="visible"/>
                                      </p:to>
                                    </p:set>
                                    <p:animEffect transition="in" filter="blinds(horizontal)">
                                      <p:cBhvr>
                                        <p:cTn id="12" dur="500"/>
                                        <p:tgtEl>
                                          <p:spTgt spid="28416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41603">
                                            <p:txEl>
                                              <p:pRg st="2" end="2"/>
                                            </p:txEl>
                                          </p:spTgt>
                                        </p:tgtEl>
                                        <p:attrNameLst>
                                          <p:attrName>style.visibility</p:attrName>
                                        </p:attrNameLst>
                                      </p:cBhvr>
                                      <p:to>
                                        <p:strVal val="visible"/>
                                      </p:to>
                                    </p:set>
                                    <p:animEffect transition="in" filter="blinds(horizontal)">
                                      <p:cBhvr>
                                        <p:cTn id="17" dur="500"/>
                                        <p:tgtEl>
                                          <p:spTgt spid="28416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841603">
                                            <p:txEl>
                                              <p:pRg st="3" end="3"/>
                                            </p:txEl>
                                          </p:spTgt>
                                        </p:tgtEl>
                                        <p:attrNameLst>
                                          <p:attrName>style.visibility</p:attrName>
                                        </p:attrNameLst>
                                      </p:cBhvr>
                                      <p:to>
                                        <p:strVal val="visible"/>
                                      </p:to>
                                    </p:set>
                                    <p:animEffect transition="in" filter="blinds(horizontal)">
                                      <p:cBhvr>
                                        <p:cTn id="22" dur="500"/>
                                        <p:tgtEl>
                                          <p:spTgt spid="2841603">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841603">
                                            <p:txEl>
                                              <p:pRg st="4" end="4"/>
                                            </p:txEl>
                                          </p:spTgt>
                                        </p:tgtEl>
                                        <p:attrNameLst>
                                          <p:attrName>style.visibility</p:attrName>
                                        </p:attrNameLst>
                                      </p:cBhvr>
                                      <p:to>
                                        <p:strVal val="visible"/>
                                      </p:to>
                                    </p:set>
                                    <p:animEffect transition="in" filter="blinds(horizontal)">
                                      <p:cBhvr>
                                        <p:cTn id="25" dur="500"/>
                                        <p:tgtEl>
                                          <p:spTgt spid="2841603">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841603">
                                            <p:txEl>
                                              <p:pRg st="5" end="5"/>
                                            </p:txEl>
                                          </p:spTgt>
                                        </p:tgtEl>
                                        <p:attrNameLst>
                                          <p:attrName>style.visibility</p:attrName>
                                        </p:attrNameLst>
                                      </p:cBhvr>
                                      <p:to>
                                        <p:strVal val="visible"/>
                                      </p:to>
                                    </p:set>
                                    <p:animEffect transition="in" filter="blinds(horizontal)">
                                      <p:cBhvr>
                                        <p:cTn id="28" dur="500"/>
                                        <p:tgtEl>
                                          <p:spTgt spid="2841603">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841603">
                                            <p:txEl>
                                              <p:pRg st="6" end="6"/>
                                            </p:txEl>
                                          </p:spTgt>
                                        </p:tgtEl>
                                        <p:attrNameLst>
                                          <p:attrName>style.visibility</p:attrName>
                                        </p:attrNameLst>
                                      </p:cBhvr>
                                      <p:to>
                                        <p:strVal val="visible"/>
                                      </p:to>
                                    </p:set>
                                    <p:animEffect transition="in" filter="blinds(horizontal)">
                                      <p:cBhvr>
                                        <p:cTn id="33" dur="500"/>
                                        <p:tgtEl>
                                          <p:spTgt spid="2841603">
                                            <p:txEl>
                                              <p:pRg st="6" end="6"/>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841603">
                                            <p:txEl>
                                              <p:pRg st="7" end="7"/>
                                            </p:txEl>
                                          </p:spTgt>
                                        </p:tgtEl>
                                        <p:attrNameLst>
                                          <p:attrName>style.visibility</p:attrName>
                                        </p:attrNameLst>
                                      </p:cBhvr>
                                      <p:to>
                                        <p:strVal val="visible"/>
                                      </p:to>
                                    </p:set>
                                    <p:animEffect transition="in" filter="blinds(horizontal)">
                                      <p:cBhvr>
                                        <p:cTn id="36" dur="500"/>
                                        <p:tgtEl>
                                          <p:spTgt spid="284160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160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701AE83-12E1-4750-AE20-5DC4389CEE94}"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2357DCD0-3620-4A62-87B3-BCFA9CB1EC76}" type="slidenum">
              <a:rPr lang="en-US" altLang="zh-CN"/>
              <a:pPr/>
              <a:t>38</a:t>
            </a:fld>
            <a:endParaRPr lang="en-US" altLang="zh-CN"/>
          </a:p>
        </p:txBody>
      </p:sp>
      <p:sp>
        <p:nvSpPr>
          <p:cNvPr id="2843650" name="Rectangle 2"/>
          <p:cNvSpPr>
            <a:spLocks noGrp="1" noChangeArrowheads="1"/>
          </p:cNvSpPr>
          <p:nvPr>
            <p:ph type="title"/>
          </p:nvPr>
        </p:nvSpPr>
        <p:spPr>
          <a:xfrm>
            <a:off x="539750" y="115888"/>
            <a:ext cx="8064500" cy="792162"/>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11.3.4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常用三地址码的代码生成</a:t>
            </a:r>
          </a:p>
        </p:txBody>
      </p:sp>
      <p:sp>
        <p:nvSpPr>
          <p:cNvPr id="2843651" name="Rectangle 3"/>
          <p:cNvSpPr>
            <a:spLocks noGrp="1" noChangeArrowheads="1"/>
          </p:cNvSpPr>
          <p:nvPr>
            <p:ph type="body" idx="1"/>
          </p:nvPr>
        </p:nvSpPr>
        <p:spPr>
          <a:xfrm>
            <a:off x="304800" y="908050"/>
            <a:ext cx="8610600" cy="5473700"/>
          </a:xfrm>
        </p:spPr>
        <p:txBody>
          <a:bodyPr/>
          <a:lstStyle/>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⑷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数组元素赋值：</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假设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是静态分配的。如果</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的当前值不在寄存器中，则生成如下指令序列：</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R</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b, a(R)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开销</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=5</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的当前值在寄存器</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R</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中，则生成如下指令：</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b, 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R</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开销</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=3</a:t>
            </a:r>
          </a:p>
        </p:txBody>
      </p:sp>
    </p:spTree>
    <p:extLst>
      <p:ext uri="{BB962C8B-B14F-4D97-AF65-F5344CB8AC3E}">
        <p14:creationId xmlns:p14="http://schemas.microsoft.com/office/powerpoint/2010/main" val="5212228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43651">
                                            <p:txEl>
                                              <p:pRg st="0" end="0"/>
                                            </p:txEl>
                                          </p:spTgt>
                                        </p:tgtEl>
                                        <p:attrNameLst>
                                          <p:attrName>style.visibility</p:attrName>
                                        </p:attrNameLst>
                                      </p:cBhvr>
                                      <p:to>
                                        <p:strVal val="visible"/>
                                      </p:to>
                                    </p:set>
                                    <p:animEffect transition="in" filter="blinds(horizontal)">
                                      <p:cBhvr>
                                        <p:cTn id="7" dur="500"/>
                                        <p:tgtEl>
                                          <p:spTgt spid="28436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43651">
                                            <p:txEl>
                                              <p:pRg st="1" end="1"/>
                                            </p:txEl>
                                          </p:spTgt>
                                        </p:tgtEl>
                                        <p:attrNameLst>
                                          <p:attrName>style.visibility</p:attrName>
                                        </p:attrNameLst>
                                      </p:cBhvr>
                                      <p:to>
                                        <p:strVal val="visible"/>
                                      </p:to>
                                    </p:set>
                                    <p:animEffect transition="in" filter="blinds(horizontal)">
                                      <p:cBhvr>
                                        <p:cTn id="12" dur="500"/>
                                        <p:tgtEl>
                                          <p:spTgt spid="2843651">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843651">
                                            <p:txEl>
                                              <p:pRg st="2" end="2"/>
                                            </p:txEl>
                                          </p:spTgt>
                                        </p:tgtEl>
                                        <p:attrNameLst>
                                          <p:attrName>style.visibility</p:attrName>
                                        </p:attrNameLst>
                                      </p:cBhvr>
                                      <p:to>
                                        <p:strVal val="visible"/>
                                      </p:to>
                                    </p:set>
                                    <p:animEffect transition="in" filter="blinds(horizontal)">
                                      <p:cBhvr>
                                        <p:cTn id="15" dur="500"/>
                                        <p:tgtEl>
                                          <p:spTgt spid="2843651">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843651">
                                            <p:txEl>
                                              <p:pRg st="3" end="3"/>
                                            </p:txEl>
                                          </p:spTgt>
                                        </p:tgtEl>
                                        <p:attrNameLst>
                                          <p:attrName>style.visibility</p:attrName>
                                        </p:attrNameLst>
                                      </p:cBhvr>
                                      <p:to>
                                        <p:strVal val="visible"/>
                                      </p:to>
                                    </p:set>
                                    <p:animEffect transition="in" filter="blinds(horizontal)">
                                      <p:cBhvr>
                                        <p:cTn id="18" dur="500"/>
                                        <p:tgtEl>
                                          <p:spTgt spid="2843651">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843651">
                                            <p:txEl>
                                              <p:pRg st="4" end="4"/>
                                            </p:txEl>
                                          </p:spTgt>
                                        </p:tgtEl>
                                        <p:attrNameLst>
                                          <p:attrName>style.visibility</p:attrName>
                                        </p:attrNameLst>
                                      </p:cBhvr>
                                      <p:to>
                                        <p:strVal val="visible"/>
                                      </p:to>
                                    </p:set>
                                    <p:animEffect transition="in" filter="blinds(horizontal)">
                                      <p:cBhvr>
                                        <p:cTn id="23" dur="500"/>
                                        <p:tgtEl>
                                          <p:spTgt spid="2843651">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843651">
                                            <p:txEl>
                                              <p:pRg st="5" end="5"/>
                                            </p:txEl>
                                          </p:spTgt>
                                        </p:tgtEl>
                                        <p:attrNameLst>
                                          <p:attrName>style.visibility</p:attrName>
                                        </p:attrNameLst>
                                      </p:cBhvr>
                                      <p:to>
                                        <p:strVal val="visible"/>
                                      </p:to>
                                    </p:set>
                                    <p:animEffect transition="in" filter="blinds(horizontal)">
                                      <p:cBhvr>
                                        <p:cTn id="26" dur="500"/>
                                        <p:tgtEl>
                                          <p:spTgt spid="28436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3651"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6C08011-5039-4AC5-B4A4-1642DC7585F5}"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726AE704-FCD3-403B-8F1A-3345B9AFFDFD}" type="slidenum">
              <a:rPr lang="en-US" altLang="zh-CN"/>
              <a:pPr/>
              <a:t>39</a:t>
            </a:fld>
            <a:endParaRPr lang="en-US" altLang="zh-CN"/>
          </a:p>
        </p:txBody>
      </p:sp>
      <p:sp>
        <p:nvSpPr>
          <p:cNvPr id="2898946" name="Rectangle 2"/>
          <p:cNvSpPr>
            <a:spLocks noGrp="1" noChangeArrowheads="1"/>
          </p:cNvSpPr>
          <p:nvPr>
            <p:ph type="title"/>
          </p:nvPr>
        </p:nvSpPr>
        <p:spPr>
          <a:xfrm>
            <a:off x="539750" y="115888"/>
            <a:ext cx="8064500" cy="792162"/>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11.3.4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常用三地址码的代码生成</a:t>
            </a:r>
          </a:p>
        </p:txBody>
      </p:sp>
      <p:sp>
        <p:nvSpPr>
          <p:cNvPr id="2898947" name="Rectangle 3"/>
          <p:cNvSpPr>
            <a:spLocks noGrp="1" noChangeArrowheads="1"/>
          </p:cNvSpPr>
          <p:nvPr>
            <p:ph type="body" idx="1"/>
          </p:nvPr>
        </p:nvSpPr>
        <p:spPr>
          <a:xfrm>
            <a:off x="304800" y="908050"/>
            <a:ext cx="8610600" cy="5473700"/>
          </a:xfrm>
        </p:spPr>
        <p:txBody>
          <a:bodyPr/>
          <a:lstStyle/>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⑸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指针引用：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a:=*p</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同样假设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在基本块中还会再被引用，而且寄存器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是可用的，则将</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保留在寄存器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中。于是，如果</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的当前值不在寄存器中，则生成如下指令：</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p, R</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*R, R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开销</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=3</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的当前值在寄存器</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R</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中，则可生成如下指令：</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R</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开销</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=2</a:t>
            </a:r>
          </a:p>
        </p:txBody>
      </p:sp>
    </p:spTree>
    <p:extLst>
      <p:ext uri="{BB962C8B-B14F-4D97-AF65-F5344CB8AC3E}">
        <p14:creationId xmlns:p14="http://schemas.microsoft.com/office/powerpoint/2010/main" val="27225744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98947">
                                            <p:txEl>
                                              <p:pRg st="0" end="0"/>
                                            </p:txEl>
                                          </p:spTgt>
                                        </p:tgtEl>
                                        <p:attrNameLst>
                                          <p:attrName>style.visibility</p:attrName>
                                        </p:attrNameLst>
                                      </p:cBhvr>
                                      <p:to>
                                        <p:strVal val="visible"/>
                                      </p:to>
                                    </p:set>
                                    <p:animEffect transition="in" filter="blinds(horizontal)">
                                      <p:cBhvr>
                                        <p:cTn id="7" dur="500"/>
                                        <p:tgtEl>
                                          <p:spTgt spid="28989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98947">
                                            <p:txEl>
                                              <p:pRg st="1" end="1"/>
                                            </p:txEl>
                                          </p:spTgt>
                                        </p:tgtEl>
                                        <p:attrNameLst>
                                          <p:attrName>style.visibility</p:attrName>
                                        </p:attrNameLst>
                                      </p:cBhvr>
                                      <p:to>
                                        <p:strVal val="visible"/>
                                      </p:to>
                                    </p:set>
                                    <p:animEffect transition="in" filter="blinds(horizontal)">
                                      <p:cBhvr>
                                        <p:cTn id="12" dur="500"/>
                                        <p:tgtEl>
                                          <p:spTgt spid="2898947">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898947">
                                            <p:txEl>
                                              <p:pRg st="2" end="2"/>
                                            </p:txEl>
                                          </p:spTgt>
                                        </p:tgtEl>
                                        <p:attrNameLst>
                                          <p:attrName>style.visibility</p:attrName>
                                        </p:attrNameLst>
                                      </p:cBhvr>
                                      <p:to>
                                        <p:strVal val="visible"/>
                                      </p:to>
                                    </p:set>
                                    <p:animEffect transition="in" filter="blinds(horizontal)">
                                      <p:cBhvr>
                                        <p:cTn id="15" dur="500"/>
                                        <p:tgtEl>
                                          <p:spTgt spid="2898947">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898947">
                                            <p:txEl>
                                              <p:pRg st="3" end="3"/>
                                            </p:txEl>
                                          </p:spTgt>
                                        </p:tgtEl>
                                        <p:attrNameLst>
                                          <p:attrName>style.visibility</p:attrName>
                                        </p:attrNameLst>
                                      </p:cBhvr>
                                      <p:to>
                                        <p:strVal val="visible"/>
                                      </p:to>
                                    </p:set>
                                    <p:animEffect transition="in" filter="blinds(horizontal)">
                                      <p:cBhvr>
                                        <p:cTn id="18" dur="500"/>
                                        <p:tgtEl>
                                          <p:spTgt spid="2898947">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898947">
                                            <p:txEl>
                                              <p:pRg st="4" end="4"/>
                                            </p:txEl>
                                          </p:spTgt>
                                        </p:tgtEl>
                                        <p:attrNameLst>
                                          <p:attrName>style.visibility</p:attrName>
                                        </p:attrNameLst>
                                      </p:cBhvr>
                                      <p:to>
                                        <p:strVal val="visible"/>
                                      </p:to>
                                    </p:set>
                                    <p:animEffect transition="in" filter="blinds(horizontal)">
                                      <p:cBhvr>
                                        <p:cTn id="23" dur="500"/>
                                        <p:tgtEl>
                                          <p:spTgt spid="2898947">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898947">
                                            <p:txEl>
                                              <p:pRg st="5" end="5"/>
                                            </p:txEl>
                                          </p:spTgt>
                                        </p:tgtEl>
                                        <p:attrNameLst>
                                          <p:attrName>style.visibility</p:attrName>
                                        </p:attrNameLst>
                                      </p:cBhvr>
                                      <p:to>
                                        <p:strVal val="visible"/>
                                      </p:to>
                                    </p:set>
                                    <p:animEffect transition="in" filter="blinds(horizontal)">
                                      <p:cBhvr>
                                        <p:cTn id="26" dur="500"/>
                                        <p:tgtEl>
                                          <p:spTgt spid="28989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894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57A59FA-F3EC-4737-B891-2571F2DDA536}"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4F9C159E-8076-42C3-BD4F-106ED9A61F09}" type="slidenum">
              <a:rPr lang="en-US" altLang="zh-CN"/>
              <a:pPr/>
              <a:t>40</a:t>
            </a:fld>
            <a:endParaRPr lang="en-US" altLang="zh-CN"/>
          </a:p>
        </p:txBody>
      </p:sp>
      <p:sp>
        <p:nvSpPr>
          <p:cNvPr id="2845698" name="Rectangle 2"/>
          <p:cNvSpPr>
            <a:spLocks noGrp="1" noChangeArrowheads="1"/>
          </p:cNvSpPr>
          <p:nvPr>
            <p:ph type="title"/>
          </p:nvPr>
        </p:nvSpPr>
        <p:spPr>
          <a:xfrm>
            <a:off x="539750" y="115888"/>
            <a:ext cx="8064500" cy="792162"/>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11.3.4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常用三地址码的代码生成</a:t>
            </a:r>
          </a:p>
        </p:txBody>
      </p:sp>
      <p:sp>
        <p:nvSpPr>
          <p:cNvPr id="2845699" name="Rectangle 3"/>
          <p:cNvSpPr>
            <a:spLocks noGrp="1" noChangeArrowheads="1"/>
          </p:cNvSpPr>
          <p:nvPr>
            <p:ph type="body" idx="1"/>
          </p:nvPr>
        </p:nvSpPr>
        <p:spPr>
          <a:xfrm>
            <a:off x="304800" y="1484313"/>
            <a:ext cx="8610600" cy="4824412"/>
          </a:xfrm>
        </p:spPr>
        <p:txBody>
          <a:bodyPr/>
          <a:lstStyle/>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⑹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指针赋值：*</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p:=a</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假设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是静态分配的。如果</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的当前值不在寄存器中，则生成如下指令：</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p, R</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a, *R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开销</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=4</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的当前值在寄存器</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R</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中，则可生成如下指令：</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MOV a, *R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开销</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=2</a:t>
            </a:r>
          </a:p>
        </p:txBody>
      </p:sp>
    </p:spTree>
    <p:extLst>
      <p:ext uri="{BB962C8B-B14F-4D97-AF65-F5344CB8AC3E}">
        <p14:creationId xmlns:p14="http://schemas.microsoft.com/office/powerpoint/2010/main" val="62353561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A2916E9-E870-45FA-9A13-0CC10A2B7C19}"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0A074D16-5073-49A3-9D74-179785FF2140}" type="slidenum">
              <a:rPr lang="en-US" altLang="zh-CN"/>
              <a:pPr/>
              <a:t>41</a:t>
            </a:fld>
            <a:endParaRPr lang="en-US" altLang="zh-CN"/>
          </a:p>
        </p:txBody>
      </p:sp>
      <p:sp>
        <p:nvSpPr>
          <p:cNvPr id="2900994" name="Rectangle 2"/>
          <p:cNvSpPr>
            <a:spLocks noGrp="1" noChangeArrowheads="1"/>
          </p:cNvSpPr>
          <p:nvPr>
            <p:ph type="title"/>
          </p:nvPr>
        </p:nvSpPr>
        <p:spPr>
          <a:xfrm>
            <a:off x="539750" y="115888"/>
            <a:ext cx="8064500" cy="792162"/>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11.3.4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常用三地址码的代码生成</a:t>
            </a:r>
          </a:p>
        </p:txBody>
      </p:sp>
      <p:sp>
        <p:nvSpPr>
          <p:cNvPr id="2900995" name="Rectangle 3"/>
          <p:cNvSpPr>
            <a:spLocks noGrp="1" noChangeArrowheads="1"/>
          </p:cNvSpPr>
          <p:nvPr>
            <p:ph type="body" idx="1"/>
          </p:nvPr>
        </p:nvSpPr>
        <p:spPr>
          <a:xfrm>
            <a:off x="304800" y="2133600"/>
            <a:ext cx="8610600" cy="4175125"/>
          </a:xfrm>
        </p:spPr>
        <p:txBody>
          <a:bodyPr/>
          <a:lstStyle/>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⑺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无条件转移：</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goto</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L</a:t>
            </a:r>
            <a:endParaRPr lang="fr-FR" altLang="zh-CN" b="1" dirty="0">
              <a:latin typeface="Times New Roman" panose="02020603050405020304" pitchFamily="18" charset="0"/>
              <a:ea typeface="华文新魏" panose="02010800040101010101" pitchFamily="2" charset="-122"/>
              <a:cs typeface="Times New Roman" panose="02020603050405020304" pitchFamily="18" charset="0"/>
            </a:endParaRPr>
          </a:p>
          <a:p>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假设</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为三地址语句的序号，则生成指令</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JMP L'</a:t>
            </a: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a:t>
            </a:r>
          </a:p>
          <a:p>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其中，</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为序号为</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的三地址语句的目标代码首址。</a:t>
            </a:r>
            <a:endParaRPr lang="zh-CN" altLang="en-US" b="1" dirty="0">
              <a:latin typeface="Times New Roman" panose="02020603050405020304" pitchFamily="18" charset="0"/>
              <a:ea typeface="华文新魏" panose="02010800040101010101" pitchFamily="2" charset="-122"/>
              <a:cs typeface="Times New Roman" panose="02020603050405020304" pitchFamily="18" charset="0"/>
            </a:endParaRPr>
          </a:p>
        </p:txBody>
      </p:sp>
    </p:spTree>
    <p:extLst>
      <p:ext uri="{BB962C8B-B14F-4D97-AF65-F5344CB8AC3E}">
        <p14:creationId xmlns:p14="http://schemas.microsoft.com/office/powerpoint/2010/main" val="13362335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DC24C49-9A35-481C-A473-9E62C5172235}"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9C081718-0F26-4A2D-A64F-7603F8EFF08C}" type="slidenum">
              <a:rPr lang="en-US" altLang="zh-CN"/>
              <a:pPr/>
              <a:t>42</a:t>
            </a:fld>
            <a:endParaRPr lang="en-US" altLang="zh-CN"/>
          </a:p>
        </p:txBody>
      </p:sp>
      <p:sp>
        <p:nvSpPr>
          <p:cNvPr id="2847746" name="Rectangle 2"/>
          <p:cNvSpPr>
            <a:spLocks noGrp="1" noChangeArrowheads="1"/>
          </p:cNvSpPr>
          <p:nvPr>
            <p:ph type="title"/>
          </p:nvPr>
        </p:nvSpPr>
        <p:spPr>
          <a:xfrm>
            <a:off x="539750" y="115888"/>
            <a:ext cx="8064500" cy="792162"/>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11.3.4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常用三地址码的代码生成</a:t>
            </a:r>
          </a:p>
        </p:txBody>
      </p:sp>
      <p:sp>
        <p:nvSpPr>
          <p:cNvPr id="2847747" name="Rectangle 3"/>
          <p:cNvSpPr>
            <a:spLocks noGrp="1" noChangeArrowheads="1"/>
          </p:cNvSpPr>
          <p:nvPr>
            <p:ph type="body" idx="1"/>
          </p:nvPr>
        </p:nvSpPr>
        <p:spPr>
          <a:xfrm>
            <a:off x="304800" y="1050925"/>
            <a:ext cx="8610600" cy="5257800"/>
          </a:xfrm>
        </p:spPr>
        <p:txBody>
          <a:bodyPr/>
          <a:lstStyle/>
          <a:p>
            <a:pPr>
              <a:buFontTx/>
              <a:buNone/>
            </a:pP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⑻  条件转移：</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if a rop b goto L </a:t>
            </a:r>
          </a:p>
          <a:p>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同样假设</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为三地址语句的序号，则生成如下的指令序列：</a:t>
            </a:r>
          </a:p>
          <a:p>
            <a:pPr lvl="1">
              <a:buFontTx/>
              <a:buNone/>
            </a:pP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CMP a, b</a:t>
            </a:r>
          </a:p>
          <a:p>
            <a:pPr lvl="1">
              <a:buFontTx/>
              <a:buNone/>
            </a:pP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CJrop L'</a:t>
            </a:r>
          </a:p>
          <a:p>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其中，</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的含义与</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⑺中相同，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CMP</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为比较指令，</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Cj</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rop</a:t>
            </a: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为条件码跳转指令，</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CMP</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根据</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rop</a:t>
            </a: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取</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&gt;</a:t>
            </a: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&lt;</a:t>
            </a: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或</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而将条件码分别置为正、负或零。如果</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或</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的当前值在寄存器中，则在生成目标代码时应尽量使用寄存器寻址模式。</a:t>
            </a:r>
          </a:p>
        </p:txBody>
      </p:sp>
    </p:spTree>
    <p:extLst>
      <p:ext uri="{BB962C8B-B14F-4D97-AF65-F5344CB8AC3E}">
        <p14:creationId xmlns:p14="http://schemas.microsoft.com/office/powerpoint/2010/main" val="9457248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C3FEE90-D600-485E-8D9A-66904645535C}"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3A63EEAE-7D4B-410B-A6F8-54A3EB4B1BEB}" type="slidenum">
              <a:rPr lang="en-US" altLang="zh-CN"/>
              <a:pPr/>
              <a:t>43</a:t>
            </a:fld>
            <a:endParaRPr lang="en-US" altLang="zh-CN"/>
          </a:p>
        </p:txBody>
      </p:sp>
      <p:sp>
        <p:nvSpPr>
          <p:cNvPr id="2857986" name="Rectangle 2"/>
          <p:cNvSpPr>
            <a:spLocks noGrp="1" noChangeArrowheads="1"/>
          </p:cNvSpPr>
          <p:nvPr>
            <p:ph type="title"/>
          </p:nvPr>
        </p:nvSpPr>
        <p:spPr>
          <a:xfrm>
            <a:off x="539750" y="115888"/>
            <a:ext cx="8064500" cy="792162"/>
          </a:xfrm>
        </p:spPr>
        <p:txBody>
          <a:bodyPr/>
          <a:lstStyle/>
          <a:p>
            <a:r>
              <a:rPr lang="en-US" altLang="zh-CN" sz="4000" b="1" dirty="0" smtClean="0">
                <a:latin typeface="Times New Roman" panose="02020603050405020304" pitchFamily="18" charset="0"/>
                <a:ea typeface="华文新魏" panose="02010800040101010101" pitchFamily="2" charset="-122"/>
                <a:cs typeface="Times New Roman" panose="02020603050405020304" pitchFamily="18" charset="0"/>
              </a:rPr>
              <a:t>11.4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寄存器分配与指派</a:t>
            </a:r>
          </a:p>
        </p:txBody>
      </p:sp>
      <p:sp>
        <p:nvSpPr>
          <p:cNvPr id="2857987" name="Rectangle 3"/>
          <p:cNvSpPr>
            <a:spLocks noGrp="1" noChangeArrowheads="1"/>
          </p:cNvSpPr>
          <p:nvPr>
            <p:ph type="body" idx="1"/>
          </p:nvPr>
        </p:nvSpPr>
        <p:spPr>
          <a:xfrm>
            <a:off x="304800" y="1123950"/>
            <a:ext cx="8610600" cy="4968875"/>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由于只涉及寄存器运算对象的指令要比那些涉及内存运算对象的指令短且快，因此有效地利用寄存器非常重要。 </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寄存器分配的任务是为程序的某一点选择应该驻留在寄存器中的一组变量</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寄存器指派则负责挑出变量将要驻留的具体寄存器。 </a:t>
            </a:r>
          </a:p>
        </p:txBody>
      </p:sp>
    </p:spTree>
    <p:extLst>
      <p:ext uri="{BB962C8B-B14F-4D97-AF65-F5344CB8AC3E}">
        <p14:creationId xmlns:p14="http://schemas.microsoft.com/office/powerpoint/2010/main" val="29935212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57987">
                                            <p:txEl>
                                              <p:pRg st="0" end="0"/>
                                            </p:txEl>
                                          </p:spTgt>
                                        </p:tgtEl>
                                        <p:attrNameLst>
                                          <p:attrName>style.visibility</p:attrName>
                                        </p:attrNameLst>
                                      </p:cBhvr>
                                      <p:to>
                                        <p:strVal val="visible"/>
                                      </p:to>
                                    </p:set>
                                    <p:animEffect transition="in" filter="blinds(horizontal)">
                                      <p:cBhvr>
                                        <p:cTn id="7" dur="500"/>
                                        <p:tgtEl>
                                          <p:spTgt spid="28579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57987">
                                            <p:txEl>
                                              <p:pRg st="1" end="1"/>
                                            </p:txEl>
                                          </p:spTgt>
                                        </p:tgtEl>
                                        <p:attrNameLst>
                                          <p:attrName>style.visibility</p:attrName>
                                        </p:attrNameLst>
                                      </p:cBhvr>
                                      <p:to>
                                        <p:strVal val="visible"/>
                                      </p:to>
                                    </p:set>
                                    <p:animEffect transition="in" filter="blinds(horizontal)">
                                      <p:cBhvr>
                                        <p:cTn id="12" dur="500"/>
                                        <p:tgtEl>
                                          <p:spTgt spid="28579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57987">
                                            <p:txEl>
                                              <p:pRg st="2" end="2"/>
                                            </p:txEl>
                                          </p:spTgt>
                                        </p:tgtEl>
                                        <p:attrNameLst>
                                          <p:attrName>style.visibility</p:attrName>
                                        </p:attrNameLst>
                                      </p:cBhvr>
                                      <p:to>
                                        <p:strVal val="visible"/>
                                      </p:to>
                                    </p:set>
                                    <p:animEffect transition="in" filter="blinds(horizontal)">
                                      <p:cBhvr>
                                        <p:cTn id="17" dur="500"/>
                                        <p:tgtEl>
                                          <p:spTgt spid="28579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7987"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7791E22-578F-4868-86F4-B1F0BF53DE8F}"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3DB16131-5543-4E30-8DAC-68A9DA765ACA}" type="slidenum">
              <a:rPr lang="en-US" altLang="zh-CN"/>
              <a:pPr/>
              <a:t>44</a:t>
            </a:fld>
            <a:endParaRPr lang="en-US" altLang="zh-CN"/>
          </a:p>
        </p:txBody>
      </p:sp>
      <p:sp>
        <p:nvSpPr>
          <p:cNvPr id="2860034" name="Rectangle 2"/>
          <p:cNvSpPr>
            <a:spLocks noGrp="1" noChangeArrowheads="1"/>
          </p:cNvSpPr>
          <p:nvPr>
            <p:ph type="title"/>
          </p:nvPr>
        </p:nvSpPr>
        <p:spPr>
          <a:xfrm>
            <a:off x="539750" y="115888"/>
            <a:ext cx="8064500" cy="792162"/>
          </a:xfrm>
        </p:spPr>
        <p:txBody>
          <a:bodyPr/>
          <a:lstStyle/>
          <a:p>
            <a:r>
              <a:rPr lang="en-US" altLang="zh-CN" sz="4000" b="1" dirty="0" smtClean="0">
                <a:latin typeface="Times New Roman" panose="02020603050405020304" pitchFamily="18" charset="0"/>
                <a:ea typeface="华文新魏" panose="02010800040101010101" pitchFamily="2" charset="-122"/>
                <a:cs typeface="Times New Roman" panose="02020603050405020304" pitchFamily="18" charset="0"/>
              </a:rPr>
              <a:t>11.4.1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全局寄存器分配</a:t>
            </a:r>
          </a:p>
        </p:txBody>
      </p:sp>
      <p:sp>
        <p:nvSpPr>
          <p:cNvPr id="2860035" name="Rectangle 3"/>
          <p:cNvSpPr>
            <a:spLocks noGrp="1" noChangeArrowheads="1"/>
          </p:cNvSpPr>
          <p:nvPr>
            <p:ph type="body" idx="1"/>
          </p:nvPr>
        </p:nvSpPr>
        <p:spPr>
          <a:xfrm>
            <a:off x="304800" y="981075"/>
            <a:ext cx="8610600" cy="5111750"/>
          </a:xfrm>
        </p:spPr>
        <p:txBody>
          <a:bodyPr/>
          <a:lstStyle/>
          <a:p>
            <a:pPr>
              <a:lnSpc>
                <a:spcPct val="8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由于程序的大多数时间都花在内层循环上，因此一种比较自然的全局寄存器分配方法是在整个循环中将经常引用的值保存在固定的寄存器中。</a:t>
            </a:r>
          </a:p>
          <a:p>
            <a:pPr>
              <a:lnSpc>
                <a:spcPct val="8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假设已经利用第</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10</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章的技术找出了流图中的循环结构，而且知道基本块中计算出的哪些值要在该块外被引用，则有一种简单的全局寄存器分配策略，那就是分配固定数目的寄存器来保存每个内部循环中最活跃的值。</a:t>
            </a:r>
          </a:p>
          <a:p>
            <a:pPr>
              <a:lnSpc>
                <a:spcPct val="8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不同循环选中的值也会有所不同。</a:t>
            </a:r>
          </a:p>
          <a:p>
            <a:pPr>
              <a:lnSpc>
                <a:spcPct val="8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未被分配的寄存器可用于存放</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11.4</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节讨论的基本块的局部值。</a:t>
            </a:r>
          </a:p>
          <a:p>
            <a:pPr>
              <a:lnSpc>
                <a:spcPct val="8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该方法的缺点是：固定的寄存器数目对全局寄存器分配来说可能不够用，但实现简单。</a:t>
            </a:r>
          </a:p>
        </p:txBody>
      </p:sp>
    </p:spTree>
    <p:extLst>
      <p:ext uri="{BB962C8B-B14F-4D97-AF65-F5344CB8AC3E}">
        <p14:creationId xmlns:p14="http://schemas.microsoft.com/office/powerpoint/2010/main" val="13087438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0035">
                                            <p:txEl>
                                              <p:pRg st="0" end="0"/>
                                            </p:txEl>
                                          </p:spTgt>
                                        </p:tgtEl>
                                        <p:attrNameLst>
                                          <p:attrName>style.visibility</p:attrName>
                                        </p:attrNameLst>
                                      </p:cBhvr>
                                      <p:to>
                                        <p:strVal val="visible"/>
                                      </p:to>
                                    </p:set>
                                    <p:animEffect transition="in" filter="blinds(horizontal)">
                                      <p:cBhvr>
                                        <p:cTn id="7" dur="500"/>
                                        <p:tgtEl>
                                          <p:spTgt spid="28600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60035">
                                            <p:txEl>
                                              <p:pRg st="1" end="1"/>
                                            </p:txEl>
                                          </p:spTgt>
                                        </p:tgtEl>
                                        <p:attrNameLst>
                                          <p:attrName>style.visibility</p:attrName>
                                        </p:attrNameLst>
                                      </p:cBhvr>
                                      <p:to>
                                        <p:strVal val="visible"/>
                                      </p:to>
                                    </p:set>
                                    <p:animEffect transition="in" filter="blinds(horizontal)">
                                      <p:cBhvr>
                                        <p:cTn id="12" dur="500"/>
                                        <p:tgtEl>
                                          <p:spTgt spid="28600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60035">
                                            <p:txEl>
                                              <p:pRg st="2" end="2"/>
                                            </p:txEl>
                                          </p:spTgt>
                                        </p:tgtEl>
                                        <p:attrNameLst>
                                          <p:attrName>style.visibility</p:attrName>
                                        </p:attrNameLst>
                                      </p:cBhvr>
                                      <p:to>
                                        <p:strVal val="visible"/>
                                      </p:to>
                                    </p:set>
                                    <p:animEffect transition="in" filter="blinds(horizontal)">
                                      <p:cBhvr>
                                        <p:cTn id="17" dur="500"/>
                                        <p:tgtEl>
                                          <p:spTgt spid="28600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860035">
                                            <p:txEl>
                                              <p:pRg st="3" end="3"/>
                                            </p:txEl>
                                          </p:spTgt>
                                        </p:tgtEl>
                                        <p:attrNameLst>
                                          <p:attrName>style.visibility</p:attrName>
                                        </p:attrNameLst>
                                      </p:cBhvr>
                                      <p:to>
                                        <p:strVal val="visible"/>
                                      </p:to>
                                    </p:set>
                                    <p:animEffect transition="in" filter="blinds(horizontal)">
                                      <p:cBhvr>
                                        <p:cTn id="22" dur="500"/>
                                        <p:tgtEl>
                                          <p:spTgt spid="286003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860035">
                                            <p:txEl>
                                              <p:pRg st="4" end="4"/>
                                            </p:txEl>
                                          </p:spTgt>
                                        </p:tgtEl>
                                        <p:attrNameLst>
                                          <p:attrName>style.visibility</p:attrName>
                                        </p:attrNameLst>
                                      </p:cBhvr>
                                      <p:to>
                                        <p:strVal val="visible"/>
                                      </p:to>
                                    </p:set>
                                    <p:animEffect transition="in" filter="blinds(horizontal)">
                                      <p:cBhvr>
                                        <p:cTn id="27" dur="500"/>
                                        <p:tgtEl>
                                          <p:spTgt spid="28600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003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BA7BB392-0F51-44FB-9366-D978A1AAB8EE}"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F2C85B20-9818-41A3-8D67-54077997E5B6}" type="slidenum">
              <a:rPr lang="en-US" altLang="zh-CN"/>
              <a:pPr/>
              <a:t>45</a:t>
            </a:fld>
            <a:endParaRPr lang="en-US" altLang="zh-CN"/>
          </a:p>
        </p:txBody>
      </p:sp>
      <p:sp>
        <p:nvSpPr>
          <p:cNvPr id="2862082" name="Rectangle 2"/>
          <p:cNvSpPr>
            <a:spLocks noGrp="1" noChangeArrowheads="1"/>
          </p:cNvSpPr>
          <p:nvPr>
            <p:ph type="title"/>
          </p:nvPr>
        </p:nvSpPr>
        <p:spPr>
          <a:xfrm>
            <a:off x="539750" y="115888"/>
            <a:ext cx="8064500" cy="792162"/>
          </a:xfrm>
        </p:spPr>
        <p:txBody>
          <a:bodyPr/>
          <a:lstStyle/>
          <a:p>
            <a:r>
              <a:rPr lang="en-US" altLang="zh-CN" sz="4000" b="1" dirty="0" smtClean="0">
                <a:latin typeface="Times New Roman" panose="02020603050405020304" pitchFamily="18" charset="0"/>
                <a:ea typeface="华文新魏" panose="02010800040101010101" pitchFamily="2" charset="-122"/>
                <a:cs typeface="Times New Roman" panose="02020603050405020304" pitchFamily="18" charset="0"/>
              </a:rPr>
              <a:t>11.4.2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引用计数</a:t>
            </a:r>
          </a:p>
        </p:txBody>
      </p:sp>
      <p:sp>
        <p:nvSpPr>
          <p:cNvPr id="2862083" name="Rectangle 3"/>
          <p:cNvSpPr>
            <a:spLocks noGrp="1" noChangeArrowheads="1"/>
          </p:cNvSpPr>
          <p:nvPr>
            <p:ph type="body" idx="1"/>
          </p:nvPr>
        </p:nvSpPr>
        <p:spPr>
          <a:xfrm>
            <a:off x="107950" y="981075"/>
            <a:ext cx="9036050" cy="5111750"/>
          </a:xfrm>
        </p:spPr>
        <p:txBody>
          <a:bodyPr/>
          <a:lstStyle/>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在寄存器中，则对</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的每次引用都将节省一个单元的开销。于是可以采用一种简单的方法来确定执行循环</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时将变量</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保存在寄存器中所节省的开销。</a:t>
            </a:r>
          </a:p>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计算循环</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中为</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分配寄存器所节省开销的近似公式：</a:t>
            </a:r>
          </a:p>
          <a:p>
            <a:pPr>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(11.5)</a:t>
            </a:r>
          </a:p>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其中，</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use</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x</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是定义</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之前，块</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中对</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的引用次数。如果</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的出口处是活跃的，而且</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中含有对</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的赋值，则</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live</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x</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为</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，否则</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live</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x</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为</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0</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。注意，</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(11.5)</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是个近似公式。这是因为循环中的块的迭代次数可能是不一样的，而且我们还假设循环会迭代许多次。</a:t>
            </a:r>
          </a:p>
        </p:txBody>
      </p:sp>
      <p:sp>
        <p:nvSpPr>
          <p:cNvPr id="286208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862085" name="Object 5"/>
          <p:cNvGraphicFramePr>
            <a:graphicFrameLocks noChangeAspect="1"/>
          </p:cNvGraphicFramePr>
          <p:nvPr/>
        </p:nvGraphicFramePr>
        <p:xfrm>
          <a:off x="1295400" y="2852738"/>
          <a:ext cx="3276600" cy="622300"/>
        </p:xfrm>
        <a:graphic>
          <a:graphicData uri="http://schemas.openxmlformats.org/presentationml/2006/ole">
            <mc:AlternateContent xmlns:mc="http://schemas.openxmlformats.org/markup-compatibility/2006">
              <mc:Choice xmlns:v="urn:schemas-microsoft-com:vml" Requires="v">
                <p:oleObj spid="_x0000_s116740" name="Equation" r:id="rId4" imgW="1892300" imgH="355600" progId="Equation.DSMT4">
                  <p:embed/>
                </p:oleObj>
              </mc:Choice>
              <mc:Fallback>
                <p:oleObj name="Equation" r:id="rId4" imgW="1892300" imgH="355600" progId="Equation.DSMT4">
                  <p:embed/>
                  <p:pic>
                    <p:nvPicPr>
                      <p:cNvPr id="2862085"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2852738"/>
                        <a:ext cx="3276600"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050527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2083">
                                            <p:txEl>
                                              <p:pRg st="0" end="0"/>
                                            </p:txEl>
                                          </p:spTgt>
                                        </p:tgtEl>
                                        <p:attrNameLst>
                                          <p:attrName>style.visibility</p:attrName>
                                        </p:attrNameLst>
                                      </p:cBhvr>
                                      <p:to>
                                        <p:strVal val="visible"/>
                                      </p:to>
                                    </p:set>
                                    <p:animEffect transition="in" filter="blinds(horizontal)">
                                      <p:cBhvr>
                                        <p:cTn id="7" dur="500"/>
                                        <p:tgtEl>
                                          <p:spTgt spid="2862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62083">
                                            <p:txEl>
                                              <p:pRg st="1" end="1"/>
                                            </p:txEl>
                                          </p:spTgt>
                                        </p:tgtEl>
                                        <p:attrNameLst>
                                          <p:attrName>style.visibility</p:attrName>
                                        </p:attrNameLst>
                                      </p:cBhvr>
                                      <p:to>
                                        <p:strVal val="visible"/>
                                      </p:to>
                                    </p:set>
                                    <p:animEffect transition="in" filter="blinds(horizontal)">
                                      <p:cBhvr>
                                        <p:cTn id="12" dur="500"/>
                                        <p:tgtEl>
                                          <p:spTgt spid="28620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62083">
                                            <p:txEl>
                                              <p:pRg st="2" end="2"/>
                                            </p:txEl>
                                          </p:spTgt>
                                        </p:tgtEl>
                                        <p:attrNameLst>
                                          <p:attrName>style.visibility</p:attrName>
                                        </p:attrNameLst>
                                      </p:cBhvr>
                                      <p:to>
                                        <p:strVal val="visible"/>
                                      </p:to>
                                    </p:set>
                                    <p:animEffect transition="in" filter="blinds(horizontal)">
                                      <p:cBhvr>
                                        <p:cTn id="17" dur="500"/>
                                        <p:tgtEl>
                                          <p:spTgt spid="28620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862083">
                                            <p:txEl>
                                              <p:pRg st="3" end="3"/>
                                            </p:txEl>
                                          </p:spTgt>
                                        </p:tgtEl>
                                        <p:attrNameLst>
                                          <p:attrName>style.visibility</p:attrName>
                                        </p:attrNameLst>
                                      </p:cBhvr>
                                      <p:to>
                                        <p:strVal val="visible"/>
                                      </p:to>
                                    </p:set>
                                    <p:animEffect transition="in" filter="blinds(horizontal)">
                                      <p:cBhvr>
                                        <p:cTn id="22" dur="500"/>
                                        <p:tgtEl>
                                          <p:spTgt spid="28620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208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D39A4F7-43BF-480D-A70D-5904B63C5C16}"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82A6B423-B35D-4FC0-B087-4BDD5FA31DA6}" type="slidenum">
              <a:rPr lang="en-US" altLang="zh-CN"/>
              <a:pPr/>
              <a:t>46</a:t>
            </a:fld>
            <a:endParaRPr lang="en-US" altLang="zh-CN"/>
          </a:p>
        </p:txBody>
      </p:sp>
      <p:sp>
        <p:nvSpPr>
          <p:cNvPr id="2864130" name="Rectangle 2"/>
          <p:cNvSpPr>
            <a:spLocks noGrp="1" noChangeArrowheads="1"/>
          </p:cNvSpPr>
          <p:nvPr>
            <p:ph type="title"/>
          </p:nvPr>
        </p:nvSpPr>
        <p:spPr>
          <a:xfrm>
            <a:off x="539750" y="115888"/>
            <a:ext cx="8064500" cy="792162"/>
          </a:xfrm>
        </p:spPr>
        <p:txBody>
          <a:bodyPr/>
          <a:lstStyle/>
          <a:p>
            <a:r>
              <a:rPr lang="en-US" altLang="zh-CN" sz="4000" b="1" dirty="0" smtClean="0">
                <a:latin typeface="Times New Roman" panose="02020603050405020304" pitchFamily="18" charset="0"/>
                <a:ea typeface="华文新魏" panose="02010800040101010101" pitchFamily="2" charset="-122"/>
                <a:cs typeface="Times New Roman" panose="02020603050405020304" pitchFamily="18" charset="0"/>
              </a:rPr>
              <a:t>11.4.2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引用计数</a:t>
            </a:r>
          </a:p>
        </p:txBody>
      </p:sp>
      <p:sp>
        <p:nvSpPr>
          <p:cNvPr id="2864131" name="Rectangle 3"/>
          <p:cNvSpPr>
            <a:spLocks noGrp="1" noChangeArrowheads="1"/>
          </p:cNvSpPr>
          <p:nvPr>
            <p:ph type="body" idx="1"/>
          </p:nvPr>
        </p:nvSpPr>
        <p:spPr>
          <a:xfrm>
            <a:off x="304800" y="981075"/>
            <a:ext cx="8610600" cy="511175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例</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考虑图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中内层循环中的基本块，块中的跳转语句均已删除。假设用寄存器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来保存循环中的值。为方便起见，图中还列出了在每个块入口和出口活跃的变量。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e</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f</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的末尾都是活跃的，但只有</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e</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的入口是活跃的，只有</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f</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3</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的入口是活跃的。一般地，块末尾活跃的变量是其后继块入口活跃变量的并集。</a:t>
            </a:r>
          </a:p>
        </p:txBody>
      </p:sp>
    </p:spTree>
    <p:extLst>
      <p:ext uri="{BB962C8B-B14F-4D97-AF65-F5344CB8AC3E}">
        <p14:creationId xmlns:p14="http://schemas.microsoft.com/office/powerpoint/2010/main" val="11954833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FCEC1C88-93F9-499F-B35A-B1B13B6CD533}" type="datetime1">
              <a:rPr lang="zh-CN" altLang="en-US"/>
              <a:pPr/>
              <a:t>2017/2/24</a:t>
            </a:fld>
            <a:endParaRPr lang="en-US" altLang="zh-CN"/>
          </a:p>
        </p:txBody>
      </p:sp>
      <p:sp>
        <p:nvSpPr>
          <p:cNvPr id="7" name="灯片编号占位符 5"/>
          <p:cNvSpPr>
            <a:spLocks noGrp="1"/>
          </p:cNvSpPr>
          <p:nvPr>
            <p:ph type="sldNum" sz="quarter" idx="12"/>
          </p:nvPr>
        </p:nvSpPr>
        <p:spPr/>
        <p:txBody>
          <a:bodyPr/>
          <a:lstStyle/>
          <a:p>
            <a:fld id="{68B0F5C3-62FE-48F9-A96E-02C1AEDE20F2}" type="slidenum">
              <a:rPr lang="en-US" altLang="zh-CN"/>
              <a:pPr/>
              <a:t>47</a:t>
            </a:fld>
            <a:endParaRPr lang="en-US" altLang="zh-CN"/>
          </a:p>
        </p:txBody>
      </p:sp>
      <p:sp>
        <p:nvSpPr>
          <p:cNvPr id="2866178" name="Rectangle 2"/>
          <p:cNvSpPr>
            <a:spLocks noGrp="1" noChangeArrowheads="1"/>
          </p:cNvSpPr>
          <p:nvPr>
            <p:ph type="title"/>
          </p:nvPr>
        </p:nvSpPr>
        <p:spPr>
          <a:xfrm>
            <a:off x="539750" y="115888"/>
            <a:ext cx="8064500" cy="792162"/>
          </a:xfrm>
        </p:spPr>
        <p:txBody>
          <a:bodyPr/>
          <a:lstStyle/>
          <a:p>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例</a:t>
            </a:r>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11.3</a:t>
            </a:r>
          </a:p>
        </p:txBody>
      </p:sp>
      <p:sp>
        <p:nvSpPr>
          <p:cNvPr id="2866179" name="Rectangle 3"/>
          <p:cNvSpPr>
            <a:spLocks noChangeArrowheads="1"/>
          </p:cNvSpPr>
          <p:nvPr/>
        </p:nvSpPr>
        <p:spPr bwMode="auto">
          <a:xfrm>
            <a:off x="0" y="200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866180" name="Object 4"/>
          <p:cNvGraphicFramePr>
            <a:graphicFrameLocks noChangeAspect="1"/>
          </p:cNvGraphicFramePr>
          <p:nvPr/>
        </p:nvGraphicFramePr>
        <p:xfrm>
          <a:off x="1584325" y="836613"/>
          <a:ext cx="6227763" cy="5332412"/>
        </p:xfrm>
        <a:graphic>
          <a:graphicData uri="http://schemas.openxmlformats.org/presentationml/2006/ole">
            <mc:AlternateContent xmlns:mc="http://schemas.openxmlformats.org/markup-compatibility/2006">
              <mc:Choice xmlns:v="urn:schemas-microsoft-com:vml" Requires="v">
                <p:oleObj spid="_x0000_s117764" name="Visio" r:id="rId4" imgW="3338014" imgH="2857155" progId="Visio.Drawing.11">
                  <p:embed/>
                </p:oleObj>
              </mc:Choice>
              <mc:Fallback>
                <p:oleObj name="Visio" r:id="rId4" imgW="3338014" imgH="2857155" progId="Visio.Drawing.11">
                  <p:embed/>
                  <p:pic>
                    <p:nvPicPr>
                      <p:cNvPr id="286618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4325" y="836613"/>
                        <a:ext cx="6227763" cy="5332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6655295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half" idx="10"/>
          </p:nvPr>
        </p:nvSpPr>
        <p:spPr/>
        <p:txBody>
          <a:bodyPr/>
          <a:lstStyle/>
          <a:p>
            <a:fld id="{730629CF-72C8-47FB-A688-F9AC6F4D410C}" type="datetime1">
              <a:rPr lang="zh-CN" altLang="en-US"/>
              <a:pPr/>
              <a:t>2017/2/24</a:t>
            </a:fld>
            <a:endParaRPr lang="en-US" altLang="zh-CN"/>
          </a:p>
        </p:txBody>
      </p:sp>
      <p:sp>
        <p:nvSpPr>
          <p:cNvPr id="10" name="灯片编号占位符 5"/>
          <p:cNvSpPr>
            <a:spLocks noGrp="1"/>
          </p:cNvSpPr>
          <p:nvPr>
            <p:ph type="sldNum" sz="quarter" idx="12"/>
          </p:nvPr>
        </p:nvSpPr>
        <p:spPr/>
        <p:txBody>
          <a:bodyPr/>
          <a:lstStyle/>
          <a:p>
            <a:fld id="{9A9E2C18-1F00-4377-A371-DD805AEDBA60}" type="slidenum">
              <a:rPr lang="en-US" altLang="zh-CN"/>
              <a:pPr/>
              <a:t>48</a:t>
            </a:fld>
            <a:endParaRPr lang="en-US" altLang="zh-CN"/>
          </a:p>
        </p:txBody>
      </p:sp>
      <p:sp>
        <p:nvSpPr>
          <p:cNvPr id="2868226" name="Rectangle 2"/>
          <p:cNvSpPr>
            <a:spLocks noGrp="1" noChangeArrowheads="1"/>
          </p:cNvSpPr>
          <p:nvPr>
            <p:ph type="title"/>
          </p:nvPr>
        </p:nvSpPr>
        <p:spPr>
          <a:xfrm>
            <a:off x="539750" y="115888"/>
            <a:ext cx="8064500" cy="649287"/>
          </a:xfrm>
        </p:spPr>
        <p:txBody>
          <a:bodyPr/>
          <a:lstStyle/>
          <a:p>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例</a:t>
            </a:r>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11.3 </a:t>
            </a:r>
          </a:p>
        </p:txBody>
      </p:sp>
      <p:sp>
        <p:nvSpPr>
          <p:cNvPr id="2868227" name="Rectangle 3"/>
          <p:cNvSpPr>
            <a:spLocks noGrp="1" noChangeArrowheads="1"/>
          </p:cNvSpPr>
          <p:nvPr>
            <p:ph type="body" idx="1"/>
          </p:nvPr>
        </p:nvSpPr>
        <p:spPr>
          <a:xfrm>
            <a:off x="304800" y="836613"/>
            <a:ext cx="8610600" cy="5543550"/>
          </a:xfrm>
        </p:spPr>
        <p:txBody>
          <a:bodyPr/>
          <a:lstStyle/>
          <a:p>
            <a:pPr>
              <a:lnSpc>
                <a:spcPct val="90000"/>
              </a:lnSpc>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首先计算</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x</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时</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(11.5)</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的值，由于</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的出口是活跃的，</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中还含有对</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的赋值，而且</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3</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4</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的出口不活跃，因此</a:t>
            </a:r>
          </a:p>
          <a:p>
            <a:pPr>
              <a:lnSpc>
                <a:spcPct val="90000"/>
              </a:lnSpc>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因为</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是在任何引用之前于</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中定义的，所以</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use</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。同理，</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use</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use</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，而且，</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use</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4</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，于是，                    </a:t>
            </a:r>
          </a:p>
          <a:p>
            <a:pPr>
              <a:lnSpc>
                <a:spcPct val="90000"/>
              </a:lnSpc>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综上，</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x</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时</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(11.5)</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式的值为</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4</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。亦即，将</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存入某个全局寄存器可以节省</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4</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个单元的开销。由于</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x</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e</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f</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时</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(11.5)</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式的值分别为</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6</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3</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6</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4</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4</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，因此可以将</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放入寄存器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。使用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存放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e</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或</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f</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而不是</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可以节省相同的开销。</a:t>
            </a:r>
          </a:p>
        </p:txBody>
      </p:sp>
      <p:sp>
        <p:nvSpPr>
          <p:cNvPr id="2868228" name="Rectangle 4"/>
          <p:cNvSpPr>
            <a:spLocks noChangeArrowheads="1"/>
          </p:cNvSpPr>
          <p:nvPr/>
        </p:nvSpPr>
        <p:spPr bwMode="auto">
          <a:xfrm>
            <a:off x="0" y="32496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868229" name="Object 5"/>
          <p:cNvGraphicFramePr>
            <a:graphicFrameLocks noChangeAspect="1"/>
          </p:cNvGraphicFramePr>
          <p:nvPr/>
        </p:nvGraphicFramePr>
        <p:xfrm>
          <a:off x="6516688" y="1700213"/>
          <a:ext cx="2232025" cy="625475"/>
        </p:xfrm>
        <a:graphic>
          <a:graphicData uri="http://schemas.openxmlformats.org/presentationml/2006/ole">
            <mc:AlternateContent xmlns:mc="http://schemas.openxmlformats.org/markup-compatibility/2006">
              <mc:Choice xmlns:v="urn:schemas-microsoft-com:vml" Requires="v">
                <p:oleObj spid="_x0000_s118790" name="Equation" r:id="rId4" imgW="1282700" imgH="355600" progId="Equation.DSMT4">
                  <p:embed/>
                </p:oleObj>
              </mc:Choice>
              <mc:Fallback>
                <p:oleObj name="Equation" r:id="rId4" imgW="1282700" imgH="355600" progId="Equation.DSMT4">
                  <p:embed/>
                  <p:pic>
                    <p:nvPicPr>
                      <p:cNvPr id="286822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6688" y="1700213"/>
                        <a:ext cx="2232025"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8230" name="Rectangle 6"/>
          <p:cNvSpPr>
            <a:spLocks noChangeArrowheads="1"/>
          </p:cNvSpPr>
          <p:nvPr/>
        </p:nvSpPr>
        <p:spPr bwMode="auto">
          <a:xfrm>
            <a:off x="0" y="32496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868231" name="Object 7"/>
          <p:cNvGraphicFramePr>
            <a:graphicFrameLocks noChangeAspect="1"/>
          </p:cNvGraphicFramePr>
          <p:nvPr/>
        </p:nvGraphicFramePr>
        <p:xfrm>
          <a:off x="5556250" y="3160713"/>
          <a:ext cx="1728788" cy="581025"/>
        </p:xfrm>
        <a:graphic>
          <a:graphicData uri="http://schemas.openxmlformats.org/presentationml/2006/ole">
            <mc:AlternateContent xmlns:mc="http://schemas.openxmlformats.org/markup-compatibility/2006">
              <mc:Choice xmlns:v="urn:schemas-microsoft-com:vml" Requires="v">
                <p:oleObj spid="_x0000_s118791" name="Equation" r:id="rId6" imgW="1066337" imgH="355446" progId="Equation.DSMT4">
                  <p:embed/>
                </p:oleObj>
              </mc:Choice>
              <mc:Fallback>
                <p:oleObj name="Equation" r:id="rId6" imgW="1066337" imgH="355446" progId="Equation.DSMT4">
                  <p:embed/>
                  <p:pic>
                    <p:nvPicPr>
                      <p:cNvPr id="2868231"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56250" y="3160713"/>
                        <a:ext cx="1728788"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9696666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5951E035-B423-4597-B44A-05F692F7ADAE}" type="datetime1">
              <a:rPr lang="zh-CN" altLang="en-US"/>
              <a:pPr/>
              <a:t>2017/2/24</a:t>
            </a:fld>
            <a:endParaRPr lang="en-US" altLang="zh-CN"/>
          </a:p>
        </p:txBody>
      </p:sp>
      <p:sp>
        <p:nvSpPr>
          <p:cNvPr id="9" name="灯片编号占位符 5"/>
          <p:cNvSpPr>
            <a:spLocks noGrp="1"/>
          </p:cNvSpPr>
          <p:nvPr>
            <p:ph type="sldNum" sz="quarter" idx="12"/>
          </p:nvPr>
        </p:nvSpPr>
        <p:spPr/>
        <p:txBody>
          <a:bodyPr/>
          <a:lstStyle/>
          <a:p>
            <a:fld id="{F0CE833F-652E-4755-B928-5D20E4793ABD}" type="slidenum">
              <a:rPr lang="en-US" altLang="zh-CN"/>
              <a:pPr/>
              <a:t>49</a:t>
            </a:fld>
            <a:endParaRPr lang="en-US" altLang="zh-CN"/>
          </a:p>
        </p:txBody>
      </p:sp>
      <p:sp>
        <p:nvSpPr>
          <p:cNvPr id="2870274" name="Rectangle 2"/>
          <p:cNvSpPr>
            <a:spLocks noGrp="1" noChangeArrowheads="1"/>
          </p:cNvSpPr>
          <p:nvPr>
            <p:ph type="title"/>
          </p:nvPr>
        </p:nvSpPr>
        <p:spPr>
          <a:xfrm>
            <a:off x="539750" y="115888"/>
            <a:ext cx="1728788" cy="792162"/>
          </a:xfrm>
        </p:spPr>
        <p:txBody>
          <a:bodyPr/>
          <a:lstStyle/>
          <a:p>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例</a:t>
            </a:r>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11.3</a:t>
            </a:r>
          </a:p>
        </p:txBody>
      </p:sp>
      <p:sp>
        <p:nvSpPr>
          <p:cNvPr id="2870275" name="Rectangle 3"/>
          <p:cNvSpPr>
            <a:spLocks noChangeArrowheads="1"/>
          </p:cNvSpPr>
          <p:nvPr/>
        </p:nvSpPr>
        <p:spPr bwMode="auto">
          <a:xfrm>
            <a:off x="0" y="2000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870276" name="Rectangle 4"/>
          <p:cNvSpPr>
            <a:spLocks noChangeArrowheads="1"/>
          </p:cNvSpPr>
          <p:nvPr/>
        </p:nvSpPr>
        <p:spPr bwMode="auto">
          <a:xfrm>
            <a:off x="0" y="16303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870277" name="Object 5"/>
          <p:cNvGraphicFramePr>
            <a:graphicFrameLocks noChangeAspect="1"/>
          </p:cNvGraphicFramePr>
          <p:nvPr/>
        </p:nvGraphicFramePr>
        <p:xfrm>
          <a:off x="1816100" y="333375"/>
          <a:ext cx="5132388" cy="5759450"/>
        </p:xfrm>
        <a:graphic>
          <a:graphicData uri="http://schemas.openxmlformats.org/presentationml/2006/ole">
            <mc:AlternateContent xmlns:mc="http://schemas.openxmlformats.org/markup-compatibility/2006">
              <mc:Choice xmlns:v="urn:schemas-microsoft-com:vml" Requires="v">
                <p:oleObj spid="_x0000_s119812" name="Visio" r:id="rId4" imgW="3121671" imgH="3506094" progId="Visio.Drawing.11">
                  <p:embed/>
                </p:oleObj>
              </mc:Choice>
              <mc:Fallback>
                <p:oleObj name="Visio" r:id="rId4" imgW="3121671" imgH="3506094" progId="Visio.Drawing.11">
                  <p:embed/>
                  <p:pic>
                    <p:nvPicPr>
                      <p:cNvPr id="287027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16100" y="333375"/>
                        <a:ext cx="5132388" cy="5759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70278" name="Rectangle 6"/>
          <p:cNvSpPr>
            <a:spLocks noChangeArrowheads="1"/>
          </p:cNvSpPr>
          <p:nvPr/>
        </p:nvSpPr>
        <p:spPr bwMode="auto">
          <a:xfrm>
            <a:off x="1744663" y="6237288"/>
            <a:ext cx="565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b="1"/>
              <a:t>图</a:t>
            </a:r>
            <a:r>
              <a:rPr kumimoji="1" lang="en-US" altLang="zh-CN" b="1"/>
              <a:t>11.3 </a:t>
            </a:r>
            <a:r>
              <a:rPr kumimoji="1" lang="zh-CN" altLang="en-US" b="1"/>
              <a:t>使用全局寄存器分配的代码序列</a:t>
            </a:r>
          </a:p>
        </p:txBody>
      </p:sp>
    </p:spTree>
    <p:extLst>
      <p:ext uri="{BB962C8B-B14F-4D97-AF65-F5344CB8AC3E}">
        <p14:creationId xmlns:p14="http://schemas.microsoft.com/office/powerpoint/2010/main" val="337884552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DD885F7A-EDF4-488F-A469-F28EF79D95BA}"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81932B88-9564-4532-AD1E-3FE46F7EC170}" type="slidenum">
              <a:rPr lang="en-US" altLang="zh-CN"/>
              <a:pPr/>
              <a:t>50</a:t>
            </a:fld>
            <a:endParaRPr lang="en-US" altLang="zh-CN"/>
          </a:p>
        </p:txBody>
      </p:sp>
      <p:sp>
        <p:nvSpPr>
          <p:cNvPr id="2961410" name="Rectangle 2"/>
          <p:cNvSpPr>
            <a:spLocks noGrp="1" noChangeArrowheads="1"/>
          </p:cNvSpPr>
          <p:nvPr>
            <p:ph type="title"/>
          </p:nvPr>
        </p:nvSpPr>
        <p:spPr>
          <a:xfrm>
            <a:off x="539750" y="115888"/>
            <a:ext cx="8064500" cy="649287"/>
          </a:xfrm>
        </p:spPr>
        <p:txBody>
          <a:bodyPr/>
          <a:lstStyle/>
          <a:p>
            <a:r>
              <a:rPr lang="en-US" altLang="zh-CN" sz="4000" b="1" dirty="0" smtClean="0">
                <a:latin typeface="Times New Roman" panose="02020603050405020304" pitchFamily="18" charset="0"/>
                <a:ea typeface="华文新魏" panose="02010800040101010101" pitchFamily="2" charset="-122"/>
                <a:cs typeface="Times New Roman" panose="02020603050405020304" pitchFamily="18" charset="0"/>
              </a:rPr>
              <a:t>11.4.3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外层循环的寄存器指派 </a:t>
            </a:r>
          </a:p>
        </p:txBody>
      </p:sp>
      <p:sp>
        <p:nvSpPr>
          <p:cNvPr id="2961411" name="Rectangle 3"/>
          <p:cNvSpPr>
            <a:spLocks noGrp="1" noChangeArrowheads="1"/>
          </p:cNvSpPr>
          <p:nvPr>
            <p:ph type="body" idx="1"/>
          </p:nvPr>
        </p:nvSpPr>
        <p:spPr>
          <a:xfrm>
            <a:off x="304800" y="1412875"/>
            <a:ext cx="8610600" cy="4967288"/>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为内层循环分配了寄存器并生成代码之后，可以将同样的方法应用到外层循环上。</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如果外层循环</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L</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包含内层循环</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L</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，则在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L</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中分配了寄存器的变量不必再在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L</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L</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中分配寄存器。</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如果变量</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是在循环</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L</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中而不是在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L</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中分配了寄存器，则必须在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L</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的入口处保存</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并在离开</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L</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进入块</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L</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L</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之前装载</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p:txBody>
      </p:sp>
      <p:sp>
        <p:nvSpPr>
          <p:cNvPr id="2961412" name="Rectangle 4"/>
          <p:cNvSpPr>
            <a:spLocks noChangeArrowheads="1"/>
          </p:cNvSpPr>
          <p:nvPr/>
        </p:nvSpPr>
        <p:spPr bwMode="auto">
          <a:xfrm>
            <a:off x="0" y="32496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961413" name="Rectangle 5"/>
          <p:cNvSpPr>
            <a:spLocks noChangeArrowheads="1"/>
          </p:cNvSpPr>
          <p:nvPr/>
        </p:nvSpPr>
        <p:spPr bwMode="auto">
          <a:xfrm>
            <a:off x="0" y="32496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215048125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18E2E7EF-A8A2-45DB-8FE2-0F04FE5C02D1}"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5EAB899A-755B-4933-BBC9-A1143A701E2E}" type="slidenum">
              <a:rPr lang="en-US" altLang="zh-CN"/>
              <a:pPr/>
              <a:t>51</a:t>
            </a:fld>
            <a:endParaRPr lang="en-US" altLang="zh-CN"/>
          </a:p>
        </p:txBody>
      </p:sp>
      <p:sp>
        <p:nvSpPr>
          <p:cNvPr id="2872322" name="Rectangle 2"/>
          <p:cNvSpPr>
            <a:spLocks noGrp="1" noChangeArrowheads="1"/>
          </p:cNvSpPr>
          <p:nvPr>
            <p:ph type="title"/>
          </p:nvPr>
        </p:nvSpPr>
        <p:spPr>
          <a:xfrm>
            <a:off x="539750" y="115888"/>
            <a:ext cx="8064500" cy="649287"/>
          </a:xfrm>
        </p:spPr>
        <p:txBody>
          <a:bodyPr/>
          <a:lstStyle/>
          <a:p>
            <a:r>
              <a:rPr lang="en-US" altLang="zh-CN" sz="4000" b="1" dirty="0" smtClean="0">
                <a:latin typeface="Times New Roman" panose="02020603050405020304" pitchFamily="18" charset="0"/>
                <a:ea typeface="华文新魏" panose="02010800040101010101" pitchFamily="2" charset="-122"/>
                <a:cs typeface="Times New Roman" panose="02020603050405020304" pitchFamily="18" charset="0"/>
              </a:rPr>
              <a:t>11.4.3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外层循环的寄存器指派 </a:t>
            </a:r>
          </a:p>
        </p:txBody>
      </p:sp>
      <p:sp>
        <p:nvSpPr>
          <p:cNvPr id="2872323" name="Rectangle 3"/>
          <p:cNvSpPr>
            <a:spLocks noGrp="1" noChangeArrowheads="1"/>
          </p:cNvSpPr>
          <p:nvPr>
            <p:ph type="body" idx="1"/>
          </p:nvPr>
        </p:nvSpPr>
        <p:spPr>
          <a:xfrm>
            <a:off x="304800" y="1484313"/>
            <a:ext cx="8610600" cy="489585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L</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而不是</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L</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中为</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分配了寄存器，则必须在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L</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的入口装载</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，并在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L</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的出口保存</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如果计算时需要寄存器但所有可用的寄存器均被占用，则必须将某个正被使用的寄存器中的内容存放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溢出</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到内存中以释放一个寄存器。</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图染色法是一种简单的用于寄存器分配和寄存器溢出管理的系统技术。</a:t>
            </a:r>
          </a:p>
        </p:txBody>
      </p:sp>
      <p:sp>
        <p:nvSpPr>
          <p:cNvPr id="2872324" name="Rectangle 4"/>
          <p:cNvSpPr>
            <a:spLocks noChangeArrowheads="1"/>
          </p:cNvSpPr>
          <p:nvPr/>
        </p:nvSpPr>
        <p:spPr bwMode="auto">
          <a:xfrm>
            <a:off x="0" y="32496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872325" name="Rectangle 5"/>
          <p:cNvSpPr>
            <a:spLocks noChangeArrowheads="1"/>
          </p:cNvSpPr>
          <p:nvPr/>
        </p:nvSpPr>
        <p:spPr bwMode="auto">
          <a:xfrm>
            <a:off x="0" y="32496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12457900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8E3C8EF-92E4-4C52-B7E0-F337C1556F01}"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58E2861B-4C23-4DF2-881C-B98A18BCE8B8}" type="slidenum">
              <a:rPr lang="en-US" altLang="zh-CN"/>
              <a:pPr/>
              <a:t>52</a:t>
            </a:fld>
            <a:endParaRPr lang="en-US" altLang="zh-CN"/>
          </a:p>
        </p:txBody>
      </p:sp>
      <p:sp>
        <p:nvSpPr>
          <p:cNvPr id="2874370" name="Rectangle 2"/>
          <p:cNvSpPr>
            <a:spLocks noGrp="1" noChangeArrowheads="1"/>
          </p:cNvSpPr>
          <p:nvPr>
            <p:ph type="title"/>
          </p:nvPr>
        </p:nvSpPr>
        <p:spPr>
          <a:xfrm>
            <a:off x="1965325" y="115888"/>
            <a:ext cx="5127625" cy="792162"/>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本章小结</a:t>
            </a:r>
          </a:p>
        </p:txBody>
      </p:sp>
      <p:sp>
        <p:nvSpPr>
          <p:cNvPr id="2874371" name="Rectangle 3"/>
          <p:cNvSpPr>
            <a:spLocks noGrp="1" noChangeArrowheads="1"/>
          </p:cNvSpPr>
          <p:nvPr>
            <p:ph type="body" idx="1"/>
          </p:nvPr>
        </p:nvSpPr>
        <p:spPr>
          <a:xfrm>
            <a:off x="304800" y="1052513"/>
            <a:ext cx="8839200" cy="5184775"/>
          </a:xfrm>
        </p:spPr>
        <p:txBody>
          <a:bodyPr/>
          <a:lstStyle/>
          <a:p>
            <a:pPr>
              <a:lnSpc>
                <a:spcPct val="90000"/>
              </a:lnSpc>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目标代码的生成需要尽力开发利用机器提供的资源，特别是根据开销选用恰当的指令和寄存器，以提高其执行效率；</a:t>
            </a:r>
          </a:p>
          <a:p>
            <a:pPr>
              <a:lnSpc>
                <a:spcPct val="90000"/>
              </a:lnSpc>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2.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稀缺资源寄存器的有效利用涉及到后续引用问题，寄存器描述符用来记录每个寄存器当前的内容；地址描述符记录运行时存放变量当前值的一个或多个位置，用来确定对变量的存取方式；</a:t>
            </a:r>
          </a:p>
          <a:p>
            <a:pPr>
              <a:lnSpc>
                <a:spcPct val="90000"/>
              </a:lnSpc>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3.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使用引用计数能够良好地实现寄存器的分配和指派；</a:t>
            </a:r>
          </a:p>
          <a:p>
            <a:pPr>
              <a:lnSpc>
                <a:spcPct val="90000"/>
              </a:lnSpc>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4.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不同形式的三地址码对应不同的目标代码，且具有不同的执行代价；</a:t>
            </a:r>
          </a:p>
          <a:p>
            <a:pPr>
              <a:lnSpc>
                <a:spcPct val="90000"/>
              </a:lnSpc>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5.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不可达和冗余指令删除、控制流优化、强度削弱、代数化简、特殊指令使用等都是有效的窥孔优化方法；</a:t>
            </a:r>
          </a:p>
        </p:txBody>
      </p:sp>
    </p:spTree>
    <p:extLst>
      <p:ext uri="{BB962C8B-B14F-4D97-AF65-F5344CB8AC3E}">
        <p14:creationId xmlns:p14="http://schemas.microsoft.com/office/powerpoint/2010/main" val="23263115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74371">
                                            <p:txEl>
                                              <p:pRg st="0" end="0"/>
                                            </p:txEl>
                                          </p:spTgt>
                                        </p:tgtEl>
                                        <p:attrNameLst>
                                          <p:attrName>style.visibility</p:attrName>
                                        </p:attrNameLst>
                                      </p:cBhvr>
                                      <p:to>
                                        <p:strVal val="visible"/>
                                      </p:to>
                                    </p:set>
                                    <p:animEffect transition="in" filter="blinds(horizontal)">
                                      <p:cBhvr>
                                        <p:cTn id="7" dur="500"/>
                                        <p:tgtEl>
                                          <p:spTgt spid="28743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74371">
                                            <p:txEl>
                                              <p:pRg st="1" end="1"/>
                                            </p:txEl>
                                          </p:spTgt>
                                        </p:tgtEl>
                                        <p:attrNameLst>
                                          <p:attrName>style.visibility</p:attrName>
                                        </p:attrNameLst>
                                      </p:cBhvr>
                                      <p:to>
                                        <p:strVal val="visible"/>
                                      </p:to>
                                    </p:set>
                                    <p:animEffect transition="in" filter="blinds(horizontal)">
                                      <p:cBhvr>
                                        <p:cTn id="12" dur="500"/>
                                        <p:tgtEl>
                                          <p:spTgt spid="28743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74371">
                                            <p:txEl>
                                              <p:pRg st="2" end="2"/>
                                            </p:txEl>
                                          </p:spTgt>
                                        </p:tgtEl>
                                        <p:attrNameLst>
                                          <p:attrName>style.visibility</p:attrName>
                                        </p:attrNameLst>
                                      </p:cBhvr>
                                      <p:to>
                                        <p:strVal val="visible"/>
                                      </p:to>
                                    </p:set>
                                    <p:animEffect transition="in" filter="blinds(horizontal)">
                                      <p:cBhvr>
                                        <p:cTn id="17" dur="500"/>
                                        <p:tgtEl>
                                          <p:spTgt spid="28743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874371">
                                            <p:txEl>
                                              <p:pRg st="3" end="3"/>
                                            </p:txEl>
                                          </p:spTgt>
                                        </p:tgtEl>
                                        <p:attrNameLst>
                                          <p:attrName>style.visibility</p:attrName>
                                        </p:attrNameLst>
                                      </p:cBhvr>
                                      <p:to>
                                        <p:strVal val="visible"/>
                                      </p:to>
                                    </p:set>
                                    <p:animEffect transition="in" filter="blinds(horizontal)">
                                      <p:cBhvr>
                                        <p:cTn id="22" dur="500"/>
                                        <p:tgtEl>
                                          <p:spTgt spid="287437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874371">
                                            <p:txEl>
                                              <p:pRg st="4" end="4"/>
                                            </p:txEl>
                                          </p:spTgt>
                                        </p:tgtEl>
                                        <p:attrNameLst>
                                          <p:attrName>style.visibility</p:attrName>
                                        </p:attrNameLst>
                                      </p:cBhvr>
                                      <p:to>
                                        <p:strVal val="visible"/>
                                      </p:to>
                                    </p:set>
                                    <p:animEffect transition="in" filter="blinds(horizontal)">
                                      <p:cBhvr>
                                        <p:cTn id="27" dur="500"/>
                                        <p:tgtEl>
                                          <p:spTgt spid="28743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4371" grpId="0" build="p"/>
    </p:bldLst>
  </p:timing>
</p:sld>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12编译原理-5</Template>
  <TotalTime>3783</TotalTime>
  <Words>4084</Words>
  <Application>Microsoft Office PowerPoint</Application>
  <PresentationFormat>全屏显示(4:3)</PresentationFormat>
  <Paragraphs>529</Paragraphs>
  <Slides>52</Slides>
  <Notes>46</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3</vt:i4>
      </vt:variant>
      <vt:variant>
        <vt:lpstr>幻灯片标题</vt:lpstr>
      </vt:variant>
      <vt:variant>
        <vt:i4>52</vt:i4>
      </vt:variant>
    </vt:vector>
  </HeadingPairs>
  <TitlesOfParts>
    <vt:vector size="64" baseType="lpstr">
      <vt:lpstr>华文新魏</vt:lpstr>
      <vt:lpstr>楷体_GB2312</vt:lpstr>
      <vt:lpstr>宋体</vt:lpstr>
      <vt:lpstr>Arial</vt:lpstr>
      <vt:lpstr>Symbol</vt:lpstr>
      <vt:lpstr>Tahoma</vt:lpstr>
      <vt:lpstr>Times New Roman</vt:lpstr>
      <vt:lpstr>Wingdings</vt:lpstr>
      <vt:lpstr>诗情画意</vt:lpstr>
      <vt:lpstr>剪辑</vt:lpstr>
      <vt:lpstr>Equation</vt:lpstr>
      <vt:lpstr>Visio</vt:lpstr>
      <vt:lpstr>编译原理 (Principles of Compiling)</vt:lpstr>
      <vt:lpstr>第11章 代码生成 </vt:lpstr>
      <vt:lpstr>第11章 代码生成</vt:lpstr>
      <vt:lpstr>11.1 代码生成器设计中的问题 </vt:lpstr>
      <vt:lpstr>11.1.1 代码生成器的输入</vt:lpstr>
      <vt:lpstr>11.1.2 目标代码的形式 </vt:lpstr>
      <vt:lpstr>11.1.3 指令选择</vt:lpstr>
      <vt:lpstr>11.1.3 指令选择</vt:lpstr>
      <vt:lpstr>11.1.3 指令选择</vt:lpstr>
      <vt:lpstr>11.1.3 指令选择</vt:lpstr>
      <vt:lpstr>11.1.4 寄存器分配</vt:lpstr>
      <vt:lpstr>11.1.4 寄存器分配</vt:lpstr>
      <vt:lpstr>11.1.5 计算顺序选择</vt:lpstr>
      <vt:lpstr>11.2 目标语言 </vt:lpstr>
      <vt:lpstr>11.2 目标语言  </vt:lpstr>
      <vt:lpstr>11.2 目标语言  </vt:lpstr>
      <vt:lpstr>11.2 目标语言  </vt:lpstr>
      <vt:lpstr>程序和指令的开销</vt:lpstr>
      <vt:lpstr>程序和指令的开销</vt:lpstr>
      <vt:lpstr>程序和指令的开销</vt:lpstr>
      <vt:lpstr>程序和指令的开销  </vt:lpstr>
      <vt:lpstr>11.2.3 变量的运行时刻地址 </vt:lpstr>
      <vt:lpstr>11.2.3 变量的运行时刻地址 </vt:lpstr>
      <vt:lpstr>11.3 一个简单的代码生成器</vt:lpstr>
      <vt:lpstr>11.3.1 后续引用信息 </vt:lpstr>
      <vt:lpstr>11.3.1 后续引用信息 </vt:lpstr>
      <vt:lpstr>后续引用信息的计算 </vt:lpstr>
      <vt:lpstr>11.3 一个简单的代码生成器</vt:lpstr>
      <vt:lpstr>11.3.2 寄存器描述符与地址描述符</vt:lpstr>
      <vt:lpstr>11.3.2 寄存器描述符与地址描述符</vt:lpstr>
      <vt:lpstr>11.3.3 代码生成算法</vt:lpstr>
      <vt:lpstr>11.3.3 代码生成算法</vt:lpstr>
      <vt:lpstr>11.3.3 代码生成算法</vt:lpstr>
      <vt:lpstr>11.3.3 代码生成算法</vt:lpstr>
      <vt:lpstr>11.3.3 代码生成算法</vt:lpstr>
      <vt:lpstr>11.3.4 常用三地址码的代码生成</vt:lpstr>
      <vt:lpstr>11.3.4 常用三地址码的代码生成</vt:lpstr>
      <vt:lpstr>11.3.4 常用三地址码的代码生成</vt:lpstr>
      <vt:lpstr>11.3.4 常用三地址码的代码生成</vt:lpstr>
      <vt:lpstr>11.3.4 常用三地址码的代码生成</vt:lpstr>
      <vt:lpstr>11.3.4 常用三地址码的代码生成</vt:lpstr>
      <vt:lpstr>11.3.4 常用三地址码的代码生成</vt:lpstr>
      <vt:lpstr>11.4 寄存器分配与指派</vt:lpstr>
      <vt:lpstr>11.4.1 全局寄存器分配</vt:lpstr>
      <vt:lpstr>11.4.2 引用计数</vt:lpstr>
      <vt:lpstr>11.4.2 引用计数</vt:lpstr>
      <vt:lpstr>例11.3</vt:lpstr>
      <vt:lpstr>例11.3 </vt:lpstr>
      <vt:lpstr>例11.3</vt:lpstr>
      <vt:lpstr>11.4.3 外层循环的寄存器指派 </vt:lpstr>
      <vt:lpstr>11.4.3 外层循环的寄存器指派 </vt:lpstr>
      <vt:lpstr>本章小结</vt:lpstr>
    </vt:vector>
  </TitlesOfParts>
  <Company>bjut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creator>jzl</dc:creator>
  <cp:lastModifiedBy>Admin</cp:lastModifiedBy>
  <cp:revision>181</cp:revision>
  <cp:lastPrinted>1601-01-01T00:00:00Z</cp:lastPrinted>
  <dcterms:created xsi:type="dcterms:W3CDTF">2003-07-09T14:46:46Z</dcterms:created>
  <dcterms:modified xsi:type="dcterms:W3CDTF">2017-02-24T00:35:00Z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ies>
</file>