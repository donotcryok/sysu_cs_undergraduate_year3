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94"/>
  </p:notesMasterIdLst>
  <p:handoutMasterIdLst>
    <p:handoutMasterId r:id="rId95"/>
  </p:handoutMasterIdLst>
  <p:sldIdLst>
    <p:sldId id="460" r:id="rId2"/>
    <p:sldId id="461" r:id="rId3"/>
    <p:sldId id="462" r:id="rId4"/>
    <p:sldId id="463" r:id="rId5"/>
    <p:sldId id="464" r:id="rId6"/>
    <p:sldId id="465" r:id="rId7"/>
    <p:sldId id="466" r:id="rId8"/>
    <p:sldId id="467" r:id="rId9"/>
    <p:sldId id="468" r:id="rId10"/>
    <p:sldId id="469" r:id="rId11"/>
    <p:sldId id="470" r:id="rId12"/>
    <p:sldId id="471" r:id="rId13"/>
    <p:sldId id="472" r:id="rId14"/>
    <p:sldId id="473" r:id="rId15"/>
    <p:sldId id="474" r:id="rId16"/>
    <p:sldId id="475" r:id="rId17"/>
    <p:sldId id="476" r:id="rId18"/>
    <p:sldId id="477" r:id="rId19"/>
    <p:sldId id="478" r:id="rId20"/>
    <p:sldId id="479" r:id="rId21"/>
    <p:sldId id="480" r:id="rId22"/>
    <p:sldId id="481" r:id="rId23"/>
    <p:sldId id="482" r:id="rId24"/>
    <p:sldId id="483" r:id="rId25"/>
    <p:sldId id="484" r:id="rId26"/>
    <p:sldId id="485" r:id="rId27"/>
    <p:sldId id="486" r:id="rId28"/>
    <p:sldId id="487" r:id="rId29"/>
    <p:sldId id="488" r:id="rId30"/>
    <p:sldId id="489" r:id="rId31"/>
    <p:sldId id="490" r:id="rId32"/>
    <p:sldId id="491" r:id="rId33"/>
    <p:sldId id="492" r:id="rId34"/>
    <p:sldId id="493" r:id="rId35"/>
    <p:sldId id="494" r:id="rId36"/>
    <p:sldId id="495" r:id="rId37"/>
    <p:sldId id="496" r:id="rId38"/>
    <p:sldId id="497" r:id="rId39"/>
    <p:sldId id="498" r:id="rId40"/>
    <p:sldId id="499" r:id="rId41"/>
    <p:sldId id="500" r:id="rId42"/>
    <p:sldId id="501" r:id="rId43"/>
    <p:sldId id="502" r:id="rId44"/>
    <p:sldId id="503" r:id="rId45"/>
    <p:sldId id="504" r:id="rId46"/>
    <p:sldId id="505" r:id="rId47"/>
    <p:sldId id="506" r:id="rId48"/>
    <p:sldId id="507" r:id="rId49"/>
    <p:sldId id="508" r:id="rId50"/>
    <p:sldId id="509" r:id="rId51"/>
    <p:sldId id="510" r:id="rId52"/>
    <p:sldId id="511" r:id="rId53"/>
    <p:sldId id="512" r:id="rId54"/>
    <p:sldId id="513" r:id="rId55"/>
    <p:sldId id="514" r:id="rId56"/>
    <p:sldId id="515" r:id="rId57"/>
    <p:sldId id="516" r:id="rId58"/>
    <p:sldId id="517" r:id="rId59"/>
    <p:sldId id="518" r:id="rId60"/>
    <p:sldId id="519" r:id="rId61"/>
    <p:sldId id="520" r:id="rId62"/>
    <p:sldId id="521" r:id="rId63"/>
    <p:sldId id="522" r:id="rId64"/>
    <p:sldId id="523" r:id="rId65"/>
    <p:sldId id="524" r:id="rId66"/>
    <p:sldId id="525" r:id="rId67"/>
    <p:sldId id="526" r:id="rId68"/>
    <p:sldId id="527" r:id="rId69"/>
    <p:sldId id="528" r:id="rId70"/>
    <p:sldId id="529" r:id="rId71"/>
    <p:sldId id="530" r:id="rId72"/>
    <p:sldId id="531" r:id="rId73"/>
    <p:sldId id="532" r:id="rId74"/>
    <p:sldId id="533" r:id="rId75"/>
    <p:sldId id="540" r:id="rId76"/>
    <p:sldId id="541" r:id="rId77"/>
    <p:sldId id="542" r:id="rId78"/>
    <p:sldId id="543" r:id="rId79"/>
    <p:sldId id="544" r:id="rId80"/>
    <p:sldId id="545" r:id="rId81"/>
    <p:sldId id="546" r:id="rId82"/>
    <p:sldId id="547" r:id="rId83"/>
    <p:sldId id="548" r:id="rId84"/>
    <p:sldId id="549" r:id="rId85"/>
    <p:sldId id="550" r:id="rId86"/>
    <p:sldId id="551" r:id="rId87"/>
    <p:sldId id="552" r:id="rId88"/>
    <p:sldId id="553" r:id="rId89"/>
    <p:sldId id="554" r:id="rId90"/>
    <p:sldId id="555" r:id="rId91"/>
    <p:sldId id="556" r:id="rId92"/>
    <p:sldId id="557" r:id="rId9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ern="1200">
        <a:solidFill>
          <a:schemeClr val="tx1"/>
        </a:solidFill>
        <a:latin typeface="Tahoma" pitchFamily="34" charset="0"/>
        <a:ea typeface="宋体" pitchFamily="2" charset="-122"/>
        <a:cs typeface="+mn-cs"/>
      </a:defRPr>
    </a:lvl5pPr>
    <a:lvl6pPr marL="2286000" algn="l" defTabSz="914400" rtl="0" eaLnBrk="1" latinLnBrk="0" hangingPunct="1">
      <a:defRPr kern="1200">
        <a:solidFill>
          <a:schemeClr val="tx1"/>
        </a:solidFill>
        <a:latin typeface="Tahoma" pitchFamily="34" charset="0"/>
        <a:ea typeface="宋体" pitchFamily="2" charset="-122"/>
        <a:cs typeface="+mn-cs"/>
      </a:defRPr>
    </a:lvl6pPr>
    <a:lvl7pPr marL="2743200" algn="l" defTabSz="914400" rtl="0" eaLnBrk="1" latinLnBrk="0" hangingPunct="1">
      <a:defRPr kern="1200">
        <a:solidFill>
          <a:schemeClr val="tx1"/>
        </a:solidFill>
        <a:latin typeface="Tahoma" pitchFamily="34" charset="0"/>
        <a:ea typeface="宋体" pitchFamily="2" charset="-122"/>
        <a:cs typeface="+mn-cs"/>
      </a:defRPr>
    </a:lvl7pPr>
    <a:lvl8pPr marL="3200400" algn="l" defTabSz="914400" rtl="0" eaLnBrk="1" latinLnBrk="0" hangingPunct="1">
      <a:defRPr kern="1200">
        <a:solidFill>
          <a:schemeClr val="tx1"/>
        </a:solidFill>
        <a:latin typeface="Tahoma" pitchFamily="34" charset="0"/>
        <a:ea typeface="宋体" pitchFamily="2" charset="-122"/>
        <a:cs typeface="+mn-cs"/>
      </a:defRPr>
    </a:lvl8pPr>
    <a:lvl9pPr marL="3657600" algn="l" defTabSz="914400" rtl="0" eaLnBrk="1" latinLnBrk="0" hangingPunct="1">
      <a:defRPr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009999"/>
    <a:srgbClr val="FFFFCC"/>
    <a:srgbClr val="99FFCC"/>
    <a:srgbClr val="3399FF"/>
    <a:srgbClr val="FFFF00"/>
    <a:srgbClr val="CC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86439" autoAdjust="0"/>
  </p:normalViewPr>
  <p:slideViewPr>
    <p:cSldViewPr>
      <p:cViewPr varScale="1">
        <p:scale>
          <a:sx n="108" d="100"/>
          <a:sy n="108" d="100"/>
        </p:scale>
        <p:origin x="1608" y="108"/>
      </p:cViewPr>
      <p:guideLst>
        <p:guide orient="horz" pos="2160"/>
        <p:guide pos="2880"/>
      </p:guideLst>
    </p:cSldViewPr>
  </p:slideViewPr>
  <p:outlineViewPr>
    <p:cViewPr>
      <p:scale>
        <a:sx n="25" d="100"/>
        <a:sy n="25" d="100"/>
      </p:scale>
      <p:origin x="0" y="-8709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zh-CN" altLang="en-US"/>
          </a:p>
        </p:txBody>
      </p:sp>
      <p:sp>
        <p:nvSpPr>
          <p:cNvPr id="39936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ltLang="zh-CN"/>
          </a:p>
        </p:txBody>
      </p:sp>
      <p:sp>
        <p:nvSpPr>
          <p:cNvPr id="39936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ltLang="zh-CN"/>
          </a:p>
        </p:txBody>
      </p:sp>
      <p:sp>
        <p:nvSpPr>
          <p:cNvPr id="39936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16DDA60-EDE3-4321-9965-5DECB955EFD1}" type="slidenum">
              <a:rPr lang="zh-CN" altLang="en-US"/>
              <a:pPr>
                <a:defRPr/>
              </a:pPr>
              <a:t>‹#›</a:t>
            </a:fld>
            <a:endParaRPr lang="en-US" altLang="zh-CN"/>
          </a:p>
        </p:txBody>
      </p:sp>
    </p:spTree>
    <p:extLst>
      <p:ext uri="{BB962C8B-B14F-4D97-AF65-F5344CB8AC3E}">
        <p14:creationId xmlns:p14="http://schemas.microsoft.com/office/powerpoint/2010/main" val="8009658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32870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870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2871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32871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EFB740E-98D6-4382-B8DC-6D63694CFF69}" type="slidenum">
              <a:rPr lang="zh-CN" altLang="en-US"/>
              <a:pPr>
                <a:defRPr/>
              </a:pPr>
              <a:t>‹#›</a:t>
            </a:fld>
            <a:endParaRPr lang="en-US" altLang="zh-CN"/>
          </a:p>
        </p:txBody>
      </p:sp>
    </p:spTree>
    <p:extLst>
      <p:ext uri="{BB962C8B-B14F-4D97-AF65-F5344CB8AC3E}">
        <p14:creationId xmlns:p14="http://schemas.microsoft.com/office/powerpoint/2010/main" val="1538558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894EE3-8D3C-4CD6-81C4-8A5B91F910AE}" type="slidenum">
              <a:rPr lang="en-US" altLang="zh-CN"/>
              <a:pPr/>
              <a:t>6</a:t>
            </a:fld>
            <a:endParaRPr lang="en-US" altLang="zh-CN"/>
          </a:p>
        </p:txBody>
      </p:sp>
      <p:sp>
        <p:nvSpPr>
          <p:cNvPr id="2670594" name="Rectangle 2"/>
          <p:cNvSpPr>
            <a:spLocks noGrp="1" noRot="1" noChangeAspect="1" noChangeArrowheads="1" noTextEdit="1"/>
          </p:cNvSpPr>
          <p:nvPr>
            <p:ph type="sldImg"/>
          </p:nvPr>
        </p:nvSpPr>
        <p:spPr>
          <a:ln/>
        </p:spPr>
      </p:sp>
      <p:sp>
        <p:nvSpPr>
          <p:cNvPr id="267059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427997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E61473-7D6F-47DB-B570-E768A3ABB6B3}" type="slidenum">
              <a:rPr lang="en-US" altLang="zh-CN"/>
              <a:pPr/>
              <a:t>7</a:t>
            </a:fld>
            <a:endParaRPr lang="en-US" altLang="zh-CN"/>
          </a:p>
        </p:txBody>
      </p:sp>
      <p:sp>
        <p:nvSpPr>
          <p:cNvPr id="2672642" name="Rectangle 2"/>
          <p:cNvSpPr>
            <a:spLocks noGrp="1" noRot="1" noChangeAspect="1" noChangeArrowheads="1" noTextEdit="1"/>
          </p:cNvSpPr>
          <p:nvPr>
            <p:ph type="sldImg"/>
          </p:nvPr>
        </p:nvSpPr>
        <p:spPr>
          <a:ln/>
        </p:spPr>
      </p:sp>
      <p:sp>
        <p:nvSpPr>
          <p:cNvPr id="267264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130488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BBA620-4800-4629-9253-F486AA279E13}" type="slidenum">
              <a:rPr lang="en-US" altLang="zh-CN"/>
              <a:pPr/>
              <a:t>8</a:t>
            </a:fld>
            <a:endParaRPr lang="en-US" altLang="zh-CN"/>
          </a:p>
        </p:txBody>
      </p:sp>
      <p:sp>
        <p:nvSpPr>
          <p:cNvPr id="2674690" name="Rectangle 2"/>
          <p:cNvSpPr>
            <a:spLocks noGrp="1" noRot="1" noChangeAspect="1" noChangeArrowheads="1" noTextEdit="1"/>
          </p:cNvSpPr>
          <p:nvPr>
            <p:ph type="sldImg"/>
          </p:nvPr>
        </p:nvSpPr>
        <p:spPr>
          <a:ln/>
        </p:spPr>
      </p:sp>
      <p:sp>
        <p:nvSpPr>
          <p:cNvPr id="267469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26913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2ECD6E-72AB-4798-91C0-5860AB5E9C43}" type="slidenum">
              <a:rPr lang="en-US" altLang="zh-CN"/>
              <a:pPr/>
              <a:t>9</a:t>
            </a:fld>
            <a:endParaRPr lang="en-US" altLang="zh-CN"/>
          </a:p>
        </p:txBody>
      </p:sp>
      <p:sp>
        <p:nvSpPr>
          <p:cNvPr id="2676738" name="Rectangle 2"/>
          <p:cNvSpPr>
            <a:spLocks noGrp="1" noRot="1" noChangeAspect="1" noChangeArrowheads="1" noTextEdit="1"/>
          </p:cNvSpPr>
          <p:nvPr>
            <p:ph type="sldImg"/>
          </p:nvPr>
        </p:nvSpPr>
        <p:spPr>
          <a:ln/>
        </p:spPr>
      </p:sp>
      <p:sp>
        <p:nvSpPr>
          <p:cNvPr id="267673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658344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2964F7-D9C9-4923-A83D-DAFB45E159D9}" type="slidenum">
              <a:rPr lang="en-US" altLang="zh-CN"/>
              <a:pPr/>
              <a:t>10</a:t>
            </a:fld>
            <a:endParaRPr lang="en-US" altLang="zh-CN"/>
          </a:p>
        </p:txBody>
      </p:sp>
      <p:sp>
        <p:nvSpPr>
          <p:cNvPr id="2678786" name="Rectangle 2"/>
          <p:cNvSpPr>
            <a:spLocks noGrp="1" noRot="1" noChangeAspect="1" noChangeArrowheads="1" noTextEdit="1"/>
          </p:cNvSpPr>
          <p:nvPr>
            <p:ph type="sldImg"/>
          </p:nvPr>
        </p:nvSpPr>
        <p:spPr>
          <a:ln/>
        </p:spPr>
      </p:sp>
      <p:sp>
        <p:nvSpPr>
          <p:cNvPr id="267878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038661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B07EF8-5370-4354-BAED-CAED963463D1}" type="slidenum">
              <a:rPr lang="en-US" altLang="zh-CN"/>
              <a:pPr/>
              <a:t>11</a:t>
            </a:fld>
            <a:endParaRPr lang="en-US" altLang="zh-CN"/>
          </a:p>
        </p:txBody>
      </p:sp>
      <p:sp>
        <p:nvSpPr>
          <p:cNvPr id="2680834" name="Rectangle 2"/>
          <p:cNvSpPr>
            <a:spLocks noGrp="1" noRot="1" noChangeAspect="1" noChangeArrowheads="1" noTextEdit="1"/>
          </p:cNvSpPr>
          <p:nvPr>
            <p:ph type="sldImg"/>
          </p:nvPr>
        </p:nvSpPr>
        <p:spPr>
          <a:ln/>
        </p:spPr>
      </p:sp>
      <p:sp>
        <p:nvSpPr>
          <p:cNvPr id="268083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065633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D526B-E6C8-4DF6-BB45-B48D96FC5668}" type="slidenum">
              <a:rPr lang="en-US" altLang="zh-CN"/>
              <a:pPr/>
              <a:t>12</a:t>
            </a:fld>
            <a:endParaRPr lang="en-US" altLang="zh-CN"/>
          </a:p>
        </p:txBody>
      </p:sp>
      <p:sp>
        <p:nvSpPr>
          <p:cNvPr id="2682882" name="Rectangle 2"/>
          <p:cNvSpPr>
            <a:spLocks noGrp="1" noRot="1" noChangeAspect="1" noChangeArrowheads="1" noTextEdit="1"/>
          </p:cNvSpPr>
          <p:nvPr>
            <p:ph type="sldImg"/>
          </p:nvPr>
        </p:nvSpPr>
        <p:spPr>
          <a:ln/>
        </p:spPr>
      </p:sp>
      <p:sp>
        <p:nvSpPr>
          <p:cNvPr id="268288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86989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0CC59D-AE93-4CC4-AB13-C6C040DB0A0E}" type="slidenum">
              <a:rPr lang="en-US" altLang="zh-CN"/>
              <a:pPr/>
              <a:t>13</a:t>
            </a:fld>
            <a:endParaRPr lang="en-US" altLang="zh-CN"/>
          </a:p>
        </p:txBody>
      </p:sp>
      <p:sp>
        <p:nvSpPr>
          <p:cNvPr id="2684930" name="Rectangle 2"/>
          <p:cNvSpPr>
            <a:spLocks noGrp="1" noRot="1" noChangeAspect="1" noChangeArrowheads="1" noTextEdit="1"/>
          </p:cNvSpPr>
          <p:nvPr>
            <p:ph type="sldImg"/>
          </p:nvPr>
        </p:nvSpPr>
        <p:spPr>
          <a:ln/>
        </p:spPr>
      </p:sp>
      <p:sp>
        <p:nvSpPr>
          <p:cNvPr id="268493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49602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8FEF81-32D1-45DF-A759-F2A83080DF65}" type="slidenum">
              <a:rPr lang="en-US" altLang="zh-CN"/>
              <a:pPr/>
              <a:t>14</a:t>
            </a:fld>
            <a:endParaRPr lang="en-US" altLang="zh-CN"/>
          </a:p>
        </p:txBody>
      </p:sp>
      <p:sp>
        <p:nvSpPr>
          <p:cNvPr id="2686978" name="Rectangle 2"/>
          <p:cNvSpPr>
            <a:spLocks noGrp="1" noRot="1" noChangeAspect="1" noChangeArrowheads="1" noTextEdit="1"/>
          </p:cNvSpPr>
          <p:nvPr>
            <p:ph type="sldImg"/>
          </p:nvPr>
        </p:nvSpPr>
        <p:spPr>
          <a:ln/>
        </p:spPr>
      </p:sp>
      <p:sp>
        <p:nvSpPr>
          <p:cNvPr id="26869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37732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4AC2DC-BC15-4D1E-A5C9-7EDA15A77064}" type="slidenum">
              <a:rPr lang="en-US" altLang="zh-CN"/>
              <a:pPr/>
              <a:t>15</a:t>
            </a:fld>
            <a:endParaRPr lang="en-US" altLang="zh-CN"/>
          </a:p>
        </p:txBody>
      </p:sp>
      <p:sp>
        <p:nvSpPr>
          <p:cNvPr id="2689026" name="Rectangle 2"/>
          <p:cNvSpPr>
            <a:spLocks noGrp="1" noRot="1" noChangeAspect="1" noChangeArrowheads="1" noTextEdit="1"/>
          </p:cNvSpPr>
          <p:nvPr>
            <p:ph type="sldImg"/>
          </p:nvPr>
        </p:nvSpPr>
        <p:spPr>
          <a:ln/>
        </p:spPr>
      </p:sp>
      <p:sp>
        <p:nvSpPr>
          <p:cNvPr id="268902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42412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FB7B27-FC00-4FC3-B97F-D6D15EE77D94}" type="slidenum">
              <a:rPr lang="en-US" altLang="zh-CN"/>
              <a:pPr/>
              <a:t>16</a:t>
            </a:fld>
            <a:endParaRPr lang="en-US" altLang="zh-CN"/>
          </a:p>
        </p:txBody>
      </p:sp>
      <p:sp>
        <p:nvSpPr>
          <p:cNvPr id="2691074" name="Rectangle 2"/>
          <p:cNvSpPr>
            <a:spLocks noGrp="1" noRot="1" noChangeAspect="1" noChangeArrowheads="1" noTextEdit="1"/>
          </p:cNvSpPr>
          <p:nvPr>
            <p:ph type="sldImg"/>
          </p:nvPr>
        </p:nvSpPr>
        <p:spPr>
          <a:ln/>
        </p:spPr>
      </p:sp>
      <p:sp>
        <p:nvSpPr>
          <p:cNvPr id="269107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165328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8E16A9-2F59-4D1E-9B7F-DDC93E31DD11}" type="slidenum">
              <a:rPr lang="en-US" altLang="zh-CN"/>
              <a:pPr/>
              <a:t>17</a:t>
            </a:fld>
            <a:endParaRPr lang="en-US" altLang="zh-CN"/>
          </a:p>
        </p:txBody>
      </p:sp>
      <p:sp>
        <p:nvSpPr>
          <p:cNvPr id="2693122" name="Rectangle 2"/>
          <p:cNvSpPr>
            <a:spLocks noGrp="1" noRot="1" noChangeAspect="1" noChangeArrowheads="1" noTextEdit="1"/>
          </p:cNvSpPr>
          <p:nvPr>
            <p:ph type="sldImg"/>
          </p:nvPr>
        </p:nvSpPr>
        <p:spPr>
          <a:ln/>
        </p:spPr>
      </p:sp>
      <p:sp>
        <p:nvSpPr>
          <p:cNvPr id="269312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689541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8A894B-D3D0-4E1B-A41A-F69807226CFA}" type="slidenum">
              <a:rPr lang="en-US" altLang="zh-CN"/>
              <a:pPr/>
              <a:t>18</a:t>
            </a:fld>
            <a:endParaRPr lang="en-US" altLang="zh-CN"/>
          </a:p>
        </p:txBody>
      </p:sp>
      <p:sp>
        <p:nvSpPr>
          <p:cNvPr id="2695170" name="Rectangle 2"/>
          <p:cNvSpPr>
            <a:spLocks noGrp="1" noRot="1" noChangeAspect="1" noChangeArrowheads="1" noTextEdit="1"/>
          </p:cNvSpPr>
          <p:nvPr>
            <p:ph type="sldImg"/>
          </p:nvPr>
        </p:nvSpPr>
        <p:spPr>
          <a:ln/>
        </p:spPr>
      </p:sp>
      <p:sp>
        <p:nvSpPr>
          <p:cNvPr id="269517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83543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53D66D-26FF-4251-8B09-2BFA47A03819}" type="slidenum">
              <a:rPr lang="en-US" altLang="zh-CN"/>
              <a:pPr/>
              <a:t>19</a:t>
            </a:fld>
            <a:endParaRPr lang="en-US" altLang="zh-CN"/>
          </a:p>
        </p:txBody>
      </p:sp>
      <p:sp>
        <p:nvSpPr>
          <p:cNvPr id="2697218" name="Rectangle 2"/>
          <p:cNvSpPr>
            <a:spLocks noGrp="1" noRot="1" noChangeAspect="1" noChangeArrowheads="1" noTextEdit="1"/>
          </p:cNvSpPr>
          <p:nvPr>
            <p:ph type="sldImg"/>
          </p:nvPr>
        </p:nvSpPr>
        <p:spPr>
          <a:ln/>
        </p:spPr>
      </p:sp>
      <p:sp>
        <p:nvSpPr>
          <p:cNvPr id="269721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533312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611398-487B-478A-8376-F46903404F43}" type="slidenum">
              <a:rPr lang="en-US" altLang="zh-CN"/>
              <a:pPr/>
              <a:t>20</a:t>
            </a:fld>
            <a:endParaRPr lang="en-US" altLang="zh-CN"/>
          </a:p>
        </p:txBody>
      </p:sp>
      <p:sp>
        <p:nvSpPr>
          <p:cNvPr id="2699266" name="Rectangle 2"/>
          <p:cNvSpPr>
            <a:spLocks noGrp="1" noRot="1" noChangeAspect="1" noChangeArrowheads="1" noTextEdit="1"/>
          </p:cNvSpPr>
          <p:nvPr>
            <p:ph type="sldImg"/>
          </p:nvPr>
        </p:nvSpPr>
        <p:spPr>
          <a:ln/>
        </p:spPr>
      </p:sp>
      <p:sp>
        <p:nvSpPr>
          <p:cNvPr id="2699267"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320708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B905FD-3B02-480C-89FF-3505828345B6}" type="slidenum">
              <a:rPr lang="en-US" altLang="zh-CN"/>
              <a:pPr/>
              <a:t>21</a:t>
            </a:fld>
            <a:endParaRPr lang="en-US" altLang="zh-CN"/>
          </a:p>
        </p:txBody>
      </p:sp>
      <p:sp>
        <p:nvSpPr>
          <p:cNvPr id="2701314" name="Rectangle 2"/>
          <p:cNvSpPr>
            <a:spLocks noGrp="1" noRot="1" noChangeAspect="1" noChangeArrowheads="1" noTextEdit="1"/>
          </p:cNvSpPr>
          <p:nvPr>
            <p:ph type="sldImg"/>
          </p:nvPr>
        </p:nvSpPr>
        <p:spPr>
          <a:ln/>
        </p:spPr>
      </p:sp>
      <p:sp>
        <p:nvSpPr>
          <p:cNvPr id="27013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958679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641AF1-6E69-4D8C-A9E0-9E70C4F2DFA3}" type="slidenum">
              <a:rPr lang="en-US" altLang="zh-CN"/>
              <a:pPr/>
              <a:t>22</a:t>
            </a:fld>
            <a:endParaRPr lang="en-US" altLang="zh-CN"/>
          </a:p>
        </p:txBody>
      </p:sp>
      <p:sp>
        <p:nvSpPr>
          <p:cNvPr id="2703362" name="Rectangle 2"/>
          <p:cNvSpPr>
            <a:spLocks noGrp="1" noRot="1" noChangeAspect="1" noChangeArrowheads="1" noTextEdit="1"/>
          </p:cNvSpPr>
          <p:nvPr>
            <p:ph type="sldImg"/>
          </p:nvPr>
        </p:nvSpPr>
        <p:spPr>
          <a:ln/>
        </p:spPr>
      </p:sp>
      <p:sp>
        <p:nvSpPr>
          <p:cNvPr id="2703363"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21110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89D09F-FE33-465C-8E56-06255FC8C47C}" type="slidenum">
              <a:rPr lang="en-US" altLang="zh-CN"/>
              <a:pPr/>
              <a:t>23</a:t>
            </a:fld>
            <a:endParaRPr lang="en-US" altLang="zh-CN"/>
          </a:p>
        </p:txBody>
      </p:sp>
      <p:sp>
        <p:nvSpPr>
          <p:cNvPr id="2705410" name="Rectangle 2"/>
          <p:cNvSpPr>
            <a:spLocks noGrp="1" noRot="1" noChangeAspect="1" noChangeArrowheads="1" noTextEdit="1"/>
          </p:cNvSpPr>
          <p:nvPr>
            <p:ph type="sldImg"/>
          </p:nvPr>
        </p:nvSpPr>
        <p:spPr>
          <a:ln/>
        </p:spPr>
      </p:sp>
      <p:sp>
        <p:nvSpPr>
          <p:cNvPr id="2705411"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4234866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D9F85F-568F-41D5-8948-A679BA5B49E8}" type="slidenum">
              <a:rPr lang="en-US" altLang="zh-CN"/>
              <a:pPr/>
              <a:t>91</a:t>
            </a:fld>
            <a:endParaRPr lang="en-US" altLang="zh-CN"/>
          </a:p>
        </p:txBody>
      </p:sp>
      <p:sp>
        <p:nvSpPr>
          <p:cNvPr id="2778114" name="Rectangle 2"/>
          <p:cNvSpPr>
            <a:spLocks noGrp="1" noRot="1" noChangeAspect="1" noChangeArrowheads="1" noTextEdit="1"/>
          </p:cNvSpPr>
          <p:nvPr>
            <p:ph type="sldImg"/>
          </p:nvPr>
        </p:nvSpPr>
        <p:spPr>
          <a:ln/>
        </p:spPr>
      </p:sp>
      <p:sp>
        <p:nvSpPr>
          <p:cNvPr id="2778115"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1173121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985E24-EC35-4904-98C1-4E0EC7539640}" type="slidenum">
              <a:rPr lang="en-US" altLang="zh-CN"/>
              <a:pPr/>
              <a:t>92</a:t>
            </a:fld>
            <a:endParaRPr lang="en-US" altLang="zh-CN"/>
          </a:p>
        </p:txBody>
      </p:sp>
      <p:sp>
        <p:nvSpPr>
          <p:cNvPr id="2891778" name="Rectangle 2"/>
          <p:cNvSpPr>
            <a:spLocks noGrp="1" noRot="1" noChangeAspect="1" noChangeArrowheads="1" noTextEdit="1"/>
          </p:cNvSpPr>
          <p:nvPr>
            <p:ph type="sldImg"/>
          </p:nvPr>
        </p:nvSpPr>
        <p:spPr>
          <a:ln/>
        </p:spPr>
      </p:sp>
      <p:sp>
        <p:nvSpPr>
          <p:cNvPr id="2891779" name="Rectangle 3"/>
          <p:cNvSpPr>
            <a:spLocks noGrp="1" noChangeArrowheads="1"/>
          </p:cNvSpPr>
          <p:nvPr>
            <p:ph type="body" idx="1"/>
          </p:nvPr>
        </p:nvSpPr>
        <p:spPr/>
        <p:txBody>
          <a:bodyPr/>
          <a:lstStyle/>
          <a:p>
            <a:pPr algn="just"/>
            <a:r>
              <a:rPr lang="en-US" altLang="zh-CN"/>
              <a:t> </a:t>
            </a:r>
          </a:p>
        </p:txBody>
      </p:sp>
    </p:spTree>
    <p:extLst>
      <p:ext uri="{BB962C8B-B14F-4D97-AF65-F5344CB8AC3E}">
        <p14:creationId xmlns:p14="http://schemas.microsoft.com/office/powerpoint/2010/main" val="25584837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46114"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smtClean="0"/>
              <a:t>单击此处编辑母版标题样式</a:t>
            </a:r>
            <a:endParaRPr lang="zh-CN" altLang="en-US"/>
          </a:p>
        </p:txBody>
      </p:sp>
      <p:sp>
        <p:nvSpPr>
          <p:cNvPr id="346115"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253FE72-D0EC-42FD-AF5B-20AFF69D3F0D}" type="datetime1">
              <a:rPr lang="zh-CN" altLang="en-US"/>
              <a:pPr>
                <a:defRPr/>
              </a:pPr>
              <a:t>2017/2/24</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DA6346E-9113-4E7C-992E-5D320361FA45}" type="slidenum">
              <a:rPr lang="zh-CN" altLang="en-US"/>
              <a:pPr>
                <a:defRPr/>
              </a:pPr>
              <a:t>‹#›</a:t>
            </a:fld>
            <a:endParaRPr lang="en-US" altLang="zh-CN"/>
          </a:p>
        </p:txBody>
      </p:sp>
    </p:spTree>
    <p:extLst>
      <p:ext uri="{BB962C8B-B14F-4D97-AF65-F5344CB8AC3E}">
        <p14:creationId xmlns:p14="http://schemas.microsoft.com/office/powerpoint/2010/main" val="158145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74F26E3-542C-426E-B0A2-EF925FB1FC3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133331-7F63-4B9E-875E-062A44C5F090}" type="slidenum">
              <a:rPr lang="zh-CN" altLang="en-US"/>
              <a:pPr>
                <a:defRPr/>
              </a:pPr>
              <a:t>‹#›</a:t>
            </a:fld>
            <a:endParaRPr lang="en-US" altLang="zh-CN"/>
          </a:p>
        </p:txBody>
      </p:sp>
    </p:spTree>
    <p:extLst>
      <p:ext uri="{BB962C8B-B14F-4D97-AF65-F5344CB8AC3E}">
        <p14:creationId xmlns:p14="http://schemas.microsoft.com/office/powerpoint/2010/main" val="112012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F35F79F7-48E8-4AA1-A8C5-16BA0F90D9E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80F1FCD-B8FA-422A-B47A-9F4A54D4A476}" type="slidenum">
              <a:rPr lang="zh-CN" altLang="en-US"/>
              <a:pPr>
                <a:defRPr/>
              </a:pPr>
              <a:t>‹#›</a:t>
            </a:fld>
            <a:endParaRPr lang="en-US" altLang="zh-CN"/>
          </a:p>
        </p:txBody>
      </p:sp>
    </p:spTree>
    <p:extLst>
      <p:ext uri="{BB962C8B-B14F-4D97-AF65-F5344CB8AC3E}">
        <p14:creationId xmlns:p14="http://schemas.microsoft.com/office/powerpoint/2010/main" val="286143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fld id="{037CCED0-3222-466C-BE7D-E16D1DABCEA6}"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08E5063-7393-4AC3-B969-AE1573CB3802}" type="slidenum">
              <a:rPr lang="zh-CN" altLang="en-US"/>
              <a:pPr>
                <a:defRPr/>
              </a:pPr>
              <a:t>‹#›</a:t>
            </a:fld>
            <a:endParaRPr lang="en-US" altLang="zh-CN"/>
          </a:p>
        </p:txBody>
      </p:sp>
    </p:spTree>
    <p:extLst>
      <p:ext uri="{BB962C8B-B14F-4D97-AF65-F5344CB8AC3E}">
        <p14:creationId xmlns:p14="http://schemas.microsoft.com/office/powerpoint/2010/main" val="2887547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fld id="{CFA604AA-45FF-4B0C-AC64-3929012D0CCB}" type="datetime1">
              <a:rPr lang="zh-CN" altLang="en-US"/>
              <a:pPr>
                <a:defRPr/>
              </a:pPr>
              <a:t>2017/2/24</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C34DC2-7A5A-4238-8435-45C2B6E31675}" type="slidenum">
              <a:rPr lang="zh-CN" altLang="en-US"/>
              <a:pPr>
                <a:defRPr/>
              </a:pPr>
              <a:t>‹#›</a:t>
            </a:fld>
            <a:endParaRPr lang="en-US" altLang="zh-CN"/>
          </a:p>
        </p:txBody>
      </p:sp>
    </p:spTree>
    <p:extLst>
      <p:ext uri="{BB962C8B-B14F-4D97-AF65-F5344CB8AC3E}">
        <p14:creationId xmlns:p14="http://schemas.microsoft.com/office/powerpoint/2010/main" val="98687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fld id="{71B34FCB-CBAC-4183-9483-6E1BD1D45952}" type="datetime1">
              <a:rPr lang="zh-CN" altLang="en-US"/>
              <a:pPr>
                <a:defRPr/>
              </a:pPr>
              <a:t>2017/2/24</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67C442-137D-49F9-BFF6-B32FF323B732}" type="slidenum">
              <a:rPr lang="zh-CN" altLang="en-US"/>
              <a:pPr>
                <a:defRPr/>
              </a:pPr>
              <a:t>‹#›</a:t>
            </a:fld>
            <a:endParaRPr lang="en-US" altLang="zh-CN"/>
          </a:p>
        </p:txBody>
      </p:sp>
    </p:spTree>
    <p:extLst>
      <p:ext uri="{BB962C8B-B14F-4D97-AF65-F5344CB8AC3E}">
        <p14:creationId xmlns:p14="http://schemas.microsoft.com/office/powerpoint/2010/main" val="199975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E982EDB-7BF8-4A5C-93B5-A56F66152FAE}" type="datetime1">
              <a:rPr lang="zh-CN" altLang="en-US"/>
              <a:pPr>
                <a:defRPr/>
              </a:pPr>
              <a:t>2017/2/24</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7BDC7CE6-81EC-404A-8A85-FFB6C8FE4823}" type="slidenum">
              <a:rPr lang="zh-CN" altLang="en-US"/>
              <a:pPr>
                <a:defRPr/>
              </a:pPr>
              <a:t>‹#›</a:t>
            </a:fld>
            <a:endParaRPr lang="en-US" altLang="zh-CN"/>
          </a:p>
        </p:txBody>
      </p:sp>
    </p:spTree>
    <p:extLst>
      <p:ext uri="{BB962C8B-B14F-4D97-AF65-F5344CB8AC3E}">
        <p14:creationId xmlns:p14="http://schemas.microsoft.com/office/powerpoint/2010/main" val="1983968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1006BC9-7732-4877-854F-B2D2FECBF825}"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6C67C5F-3580-4041-A110-1DE8500103D9}" type="slidenum">
              <a:rPr lang="zh-CN" altLang="en-US"/>
              <a:pPr>
                <a:defRPr/>
              </a:pPr>
              <a:t>‹#›</a:t>
            </a:fld>
            <a:endParaRPr lang="en-US" altLang="zh-CN"/>
          </a:p>
        </p:txBody>
      </p:sp>
    </p:spTree>
    <p:extLst>
      <p:ext uri="{BB962C8B-B14F-4D97-AF65-F5344CB8AC3E}">
        <p14:creationId xmlns:p14="http://schemas.microsoft.com/office/powerpoint/2010/main" val="2018834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70264EE0-4591-47F1-8D62-75D0D766C1DC}" type="datetime1">
              <a:rPr lang="zh-CN" altLang="en-US"/>
              <a:pPr>
                <a:defRPr/>
              </a:pPr>
              <a:t>2017/2/24</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DBCA80D-4718-488A-8FD6-CB70E5F6AE9B}" type="slidenum">
              <a:rPr lang="zh-CN" altLang="en-US"/>
              <a:pPr>
                <a:defRPr/>
              </a:pPr>
              <a:t>‹#›</a:t>
            </a:fld>
            <a:endParaRPr lang="en-US" altLang="zh-CN"/>
          </a:p>
        </p:txBody>
      </p:sp>
    </p:spTree>
    <p:extLst>
      <p:ext uri="{BB962C8B-B14F-4D97-AF65-F5344CB8AC3E}">
        <p14:creationId xmlns:p14="http://schemas.microsoft.com/office/powerpoint/2010/main" val="4174637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2292C845-B506-42E0-9D15-E1E696FDD0AA}"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7F534A9-B071-444A-A1AE-5D0037B2C7D8}" type="slidenum">
              <a:rPr lang="zh-CN" altLang="en-US"/>
              <a:pPr>
                <a:defRPr/>
              </a:pPr>
              <a:t>‹#›</a:t>
            </a:fld>
            <a:endParaRPr lang="en-US" altLang="zh-CN"/>
          </a:p>
        </p:txBody>
      </p:sp>
    </p:spTree>
    <p:extLst>
      <p:ext uri="{BB962C8B-B14F-4D97-AF65-F5344CB8AC3E}">
        <p14:creationId xmlns:p14="http://schemas.microsoft.com/office/powerpoint/2010/main" val="863992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fld id="{36BE66D8-A3A4-4F5B-8A16-DAFD6E0B31C3}"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CBE3214-D9D0-48DA-8E12-7C84DBDDDDB5}" type="slidenum">
              <a:rPr lang="zh-CN" altLang="en-US"/>
              <a:pPr>
                <a:defRPr/>
              </a:pPr>
              <a:t>‹#›</a:t>
            </a:fld>
            <a:endParaRPr lang="en-US" altLang="zh-CN"/>
          </a:p>
        </p:txBody>
      </p:sp>
    </p:spTree>
    <p:extLst>
      <p:ext uri="{BB962C8B-B14F-4D97-AF65-F5344CB8AC3E}">
        <p14:creationId xmlns:p14="http://schemas.microsoft.com/office/powerpoint/2010/main" val="30008836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1625" y="609600"/>
            <a:ext cx="854075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301625" y="1905000"/>
            <a:ext cx="8540750" cy="4194175"/>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a:ln/>
        </p:spPr>
        <p:txBody>
          <a:bodyPr/>
          <a:lstStyle>
            <a:lvl1pPr>
              <a:defRPr/>
            </a:lvl1pPr>
          </a:lstStyle>
          <a:p>
            <a:pPr>
              <a:defRPr/>
            </a:pPr>
            <a:fld id="{A69ABAD5-F3B1-402A-AD0B-F2CE71604182}" type="datetime1">
              <a:rPr lang="zh-CN" altLang="en-US"/>
              <a:pPr>
                <a:defRPr/>
              </a:pPr>
              <a:t>2017/2/24</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DBF3B48-EBB0-4D16-933E-8C9765A4081C}" type="slidenum">
              <a:rPr lang="zh-CN" altLang="en-US"/>
              <a:pPr>
                <a:defRPr/>
              </a:pPr>
              <a:t>‹#›</a:t>
            </a:fld>
            <a:endParaRPr lang="en-US" altLang="zh-CN"/>
          </a:p>
        </p:txBody>
      </p:sp>
    </p:spTree>
    <p:extLst>
      <p:ext uri="{BB962C8B-B14F-4D97-AF65-F5344CB8AC3E}">
        <p14:creationId xmlns:p14="http://schemas.microsoft.com/office/powerpoint/2010/main" val="28189431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a:xfrm>
            <a:off x="1162050" y="6243638"/>
            <a:ext cx="1905000" cy="457200"/>
          </a:xfrm>
        </p:spPr>
        <p:txBody>
          <a:bodyPr/>
          <a:lstStyle>
            <a:lvl1pPr>
              <a:defRPr/>
            </a:lvl1pPr>
          </a:lstStyle>
          <a:p>
            <a:pPr>
              <a:defRPr/>
            </a:pPr>
            <a:fld id="{57B2C022-CB24-4BA1-AF52-2C1017ED1647}" type="datetime1">
              <a:rPr lang="zh-CN" altLang="en-US"/>
              <a:pPr>
                <a:defRPr/>
              </a:pPr>
              <a:t>2017/2/24</a:t>
            </a:fld>
            <a:endParaRPr lang="en-US" altLang="zh-CN"/>
          </a:p>
        </p:txBody>
      </p:sp>
      <p:sp>
        <p:nvSpPr>
          <p:cNvPr id="4" name="页脚占位符 3"/>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7042150" y="6243638"/>
            <a:ext cx="1905000" cy="457200"/>
          </a:xfrm>
        </p:spPr>
        <p:txBody>
          <a:bodyPr/>
          <a:lstStyle>
            <a:lvl1pPr>
              <a:defRPr/>
            </a:lvl1pPr>
          </a:lstStyle>
          <a:p>
            <a:pPr>
              <a:defRPr/>
            </a:pPr>
            <a:fld id="{CD94D0BB-82A3-4BD4-9946-83C7D315A0EF}" type="slidenum">
              <a:rPr lang="zh-CN" altLang="en-US"/>
              <a:pPr>
                <a:defRPr/>
              </a:pPr>
              <a:t>‹#›</a:t>
            </a:fld>
            <a:endParaRPr lang="en-US" altLang="zh-CN"/>
          </a:p>
        </p:txBody>
      </p:sp>
    </p:spTree>
    <p:extLst>
      <p:ext uri="{BB962C8B-B14F-4D97-AF65-F5344CB8AC3E}">
        <p14:creationId xmlns:p14="http://schemas.microsoft.com/office/powerpoint/2010/main" val="1432524486"/>
      </p:ext>
    </p:extLst>
  </p:cSld>
  <p:clrMapOvr>
    <a:masterClrMapping/>
  </p:clrMapOvr>
  <p:transition/>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6096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075" name="Rectangle 3"/>
          <p:cNvSpPr>
            <a:spLocks noGrp="1" noRot="1" noChangeArrowheads="1"/>
          </p:cNvSpPr>
          <p:nvPr>
            <p:ph type="body" idx="1"/>
          </p:nvPr>
        </p:nvSpPr>
        <p:spPr bwMode="auto">
          <a:xfrm>
            <a:off x="301625" y="1905000"/>
            <a:ext cx="854075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345092" name="Rectangle 4"/>
          <p:cNvSpPr>
            <a:spLocks noGrp="1" noChangeArrowheads="1"/>
          </p:cNvSpPr>
          <p:nvPr>
            <p:ph type="dt" sz="half" idx="2"/>
          </p:nvPr>
        </p:nvSpPr>
        <p:spPr bwMode="auto">
          <a:xfrm>
            <a:off x="3016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88219C38-A3D1-4E52-B4CC-4EA23219BA93}" type="datetime1">
              <a:rPr lang="zh-CN" altLang="en-US"/>
              <a:pPr>
                <a:defRPr/>
              </a:pPr>
              <a:t>2017/2/24</a:t>
            </a:fld>
            <a:endParaRPr lang="en-US" altLang="zh-CN"/>
          </a:p>
        </p:txBody>
      </p:sp>
      <p:sp>
        <p:nvSpPr>
          <p:cNvPr id="3450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345094" name="Rectangle 6"/>
          <p:cNvSpPr>
            <a:spLocks noGrp="1" noChangeArrowheads="1"/>
          </p:cNvSpPr>
          <p:nvPr>
            <p:ph type="sldNum" sz="quarter" idx="4"/>
          </p:nvPr>
        </p:nvSpPr>
        <p:spPr bwMode="auto">
          <a:xfrm>
            <a:off x="655320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E7D6CDD-CADD-4448-9501-B16368E6BE9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8"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30" r:id="rId13"/>
  </p:sldLayoutIdLst>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5pPr>
      <a:lvl6pPr marL="25146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6pPr>
      <a:lvl7pPr marL="29718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7pPr>
      <a:lvl8pPr marL="34290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8pPr>
      <a:lvl9pPr marL="3886200" indent="-228600" algn="l" rtl="0" eaLnBrk="1" fontAlgn="base" hangingPunct="1">
        <a:spcBef>
          <a:spcPct val="20000"/>
        </a:spcBef>
        <a:spcAft>
          <a:spcPct val="0"/>
        </a:spcAft>
        <a:buClr>
          <a:schemeClr val="hlink"/>
        </a:buClr>
        <a:buSzPct val="85000"/>
        <a:buFont typeface="Wingdings"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4.png"/><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0.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1.e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fld id="{47E1E14F-AE74-465E-843F-437A693BA94B}" type="slidenum">
              <a:rPr lang="zh-CN" altLang="en-US"/>
              <a:pPr eaLnBrk="1" hangingPunct="1"/>
              <a:t>1</a:t>
            </a:fld>
            <a:endParaRPr lang="en-US" altLang="zh-CN"/>
          </a:p>
        </p:txBody>
      </p:sp>
      <p:sp>
        <p:nvSpPr>
          <p:cNvPr id="1028" name="Rectangle 2"/>
          <p:cNvSpPr>
            <a:spLocks noGrp="1" noRot="1" noChangeArrowheads="1"/>
          </p:cNvSpPr>
          <p:nvPr>
            <p:ph type="ctrTitle"/>
          </p:nvPr>
        </p:nvSpPr>
        <p:spPr>
          <a:xfrm>
            <a:off x="1187450" y="1143000"/>
            <a:ext cx="6965950" cy="1524000"/>
          </a:xfrm>
        </p:spPr>
        <p:txBody>
          <a:bodyPr/>
          <a:lstStyle/>
          <a:p>
            <a:pPr eaLnBrk="1" hangingPunct="1"/>
            <a:r>
              <a:rPr lang="zh-CN" altLang="en-US" sz="6000" b="1" dirty="0" smtClean="0">
                <a:latin typeface="Times New Roman" panose="02020603050405020304" pitchFamily="18" charset="0"/>
                <a:ea typeface="华文新魏" panose="02010800040101010101" pitchFamily="2" charset="-122"/>
                <a:cs typeface="Times New Roman" panose="02020603050405020304" pitchFamily="18" charset="0"/>
              </a:rPr>
              <a:t>编译原理</a:t>
            </a:r>
            <a: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t/>
            </a:r>
            <a:br>
              <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rPr>
            </a:br>
            <a:r>
              <a:rPr lang="en-US" altLang="zh-CN" b="1" dirty="0" smtClean="0">
                <a:latin typeface="Times New Roman" panose="02020603050405020304" pitchFamily="18" charset="0"/>
                <a:ea typeface="华文新魏" panose="02010800040101010101" pitchFamily="2" charset="-122"/>
                <a:cs typeface="Times New Roman" panose="02020603050405020304" pitchFamily="18" charset="0"/>
              </a:rPr>
              <a:t>(Principles of Compiling)</a:t>
            </a:r>
            <a:endParaRPr lang="zh-CN" altLang="en-US" b="1" dirty="0" smtClean="0">
              <a:latin typeface="Times New Roman" panose="02020603050405020304" pitchFamily="18" charset="0"/>
              <a:ea typeface="华文新魏" panose="02010800040101010101" pitchFamily="2" charset="-122"/>
              <a:cs typeface="Times New Roman" panose="02020603050405020304" pitchFamily="18" charset="0"/>
            </a:endParaRPr>
          </a:p>
        </p:txBody>
      </p:sp>
      <p:graphicFrame>
        <p:nvGraphicFramePr>
          <p:cNvPr id="1026" name="Object 3">
            <a:hlinkClick r:id="" action="ppaction://ole?verb=0"/>
          </p:cNvPr>
          <p:cNvGraphicFramePr>
            <a:graphicFrameLocks/>
          </p:cNvGraphicFramePr>
          <p:nvPr/>
        </p:nvGraphicFramePr>
        <p:xfrm>
          <a:off x="7235825" y="2997200"/>
          <a:ext cx="1219200" cy="2438400"/>
        </p:xfrm>
        <a:graphic>
          <a:graphicData uri="http://schemas.openxmlformats.org/presentationml/2006/ole">
            <mc:AlternateContent xmlns:mc="http://schemas.openxmlformats.org/markup-compatibility/2006">
              <mc:Choice xmlns:v="urn:schemas-microsoft-com:vml" Requires="v">
                <p:oleObj spid="_x0000_s82951" name="剪辑" r:id="rId3" imgW="2641320" imgH="4586040" progId="MS_ClipArt_Gallery.2">
                  <p:embed/>
                </p:oleObj>
              </mc:Choice>
              <mc:Fallback>
                <p:oleObj name="剪辑" r:id="rId3" imgW="2641320" imgH="4586040"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2997200"/>
                        <a:ext cx="12192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Text Box 4"/>
          <p:cNvSpPr txBox="1">
            <a:spLocks noChangeArrowheads="1"/>
          </p:cNvSpPr>
          <p:nvPr/>
        </p:nvSpPr>
        <p:spPr bwMode="auto">
          <a:xfrm>
            <a:off x="1476375" y="3500438"/>
            <a:ext cx="604837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主讲：</a:t>
            </a:r>
            <a:r>
              <a:rPr lang="zh-CN" altLang="en-US" sz="2800" b="1" dirty="0" smtClean="0">
                <a:latin typeface="Times New Roman" pitchFamily="18" charset="0"/>
                <a:ea typeface="华文新魏" pitchFamily="2" charset="-122"/>
              </a:rPr>
              <a:t>蒋宗礼、姜守旭</a:t>
            </a:r>
            <a:endParaRPr lang="zh-CN" altLang="en-US"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办公室</a:t>
            </a:r>
            <a:r>
              <a:rPr lang="zh-CN" altLang="en-US" sz="2800" b="1" dirty="0" smtClean="0">
                <a:latin typeface="Times New Roman" pitchFamily="18" charset="0"/>
                <a:ea typeface="华文新魏" pitchFamily="2" charset="-122"/>
              </a:rPr>
              <a:t>：</a:t>
            </a:r>
            <a:r>
              <a:rPr lang="zh-CN" altLang="en-US" sz="2800" b="1" dirty="0">
                <a:latin typeface="Times New Roman" pitchFamily="18" charset="0"/>
                <a:ea typeface="华文新魏" pitchFamily="2" charset="-122"/>
              </a:rPr>
              <a:t>信</a:t>
            </a:r>
            <a:r>
              <a:rPr lang="zh-CN" altLang="en-US" sz="2800" b="1" dirty="0" smtClean="0">
                <a:latin typeface="Times New Roman" pitchFamily="18" charset="0"/>
                <a:ea typeface="华文新魏" pitchFamily="2" charset="-122"/>
              </a:rPr>
              <a:t>北</a:t>
            </a:r>
            <a:r>
              <a:rPr lang="en-US" altLang="zh-CN" sz="2800" b="1" dirty="0" smtClean="0">
                <a:latin typeface="Times New Roman" pitchFamily="18" charset="0"/>
                <a:ea typeface="华文新魏" pitchFamily="2" charset="-122"/>
              </a:rPr>
              <a:t>212</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zh-CN" altLang="en-US" sz="2800" b="1" dirty="0">
                <a:latin typeface="Times New Roman" pitchFamily="18" charset="0"/>
                <a:ea typeface="华文新魏" pitchFamily="2" charset="-122"/>
              </a:rPr>
              <a:t>电话：</a:t>
            </a:r>
            <a:r>
              <a:rPr lang="en-US" altLang="zh-CN" sz="2800" b="1" dirty="0" smtClean="0">
                <a:latin typeface="Times New Roman" pitchFamily="18" charset="0"/>
                <a:ea typeface="华文新魏" pitchFamily="2" charset="-122"/>
              </a:rPr>
              <a:t>67392397</a:t>
            </a:r>
            <a:endParaRPr lang="en-US" altLang="zh-CN" sz="2800" b="1" dirty="0">
              <a:latin typeface="Times New Roman" pitchFamily="18" charset="0"/>
              <a:ea typeface="华文新魏" pitchFamily="2" charset="-122"/>
            </a:endParaRPr>
          </a:p>
          <a:p>
            <a:pPr eaLnBrk="1" hangingPunct="1">
              <a:lnSpc>
                <a:spcPct val="90000"/>
              </a:lnSpc>
              <a:spcBef>
                <a:spcPct val="20000"/>
              </a:spcBef>
              <a:buClr>
                <a:schemeClr val="folHlink"/>
              </a:buClr>
              <a:buSzPct val="60000"/>
              <a:buFont typeface="Wingdings" pitchFamily="2" charset="2"/>
              <a:buChar char="n"/>
            </a:pPr>
            <a:r>
              <a:rPr lang="en-US" altLang="zh-CN" sz="2800" b="1" dirty="0">
                <a:latin typeface="Times New Roman" pitchFamily="18" charset="0"/>
                <a:ea typeface="华文新魏" pitchFamily="2" charset="-122"/>
              </a:rPr>
              <a:t>Email：jiangzl@bjut.edu.cn</a:t>
            </a:r>
          </a:p>
        </p:txBody>
      </p:sp>
      <p:pic>
        <p:nvPicPr>
          <p:cNvPr id="103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4813"/>
            <a:ext cx="1619250"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7407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F660384-38C9-44BD-B371-E4D68EAC2DF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5FEC211-2ED7-43C4-97BC-ED2A95CAC5BE}" type="slidenum">
              <a:rPr lang="en-US" altLang="zh-CN"/>
              <a:pPr/>
              <a:t>2</a:t>
            </a:fld>
            <a:endParaRPr lang="en-US" altLang="zh-CN"/>
          </a:p>
        </p:txBody>
      </p:sp>
      <p:sp>
        <p:nvSpPr>
          <p:cNvPr id="2665474"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代码优化 </a:t>
            </a:r>
          </a:p>
        </p:txBody>
      </p:sp>
      <p:sp>
        <p:nvSpPr>
          <p:cNvPr id="2665475" name="Rectangle 3"/>
          <p:cNvSpPr>
            <a:spLocks noGrp="1" noChangeArrowheads="1"/>
          </p:cNvSpPr>
          <p:nvPr>
            <p:ph type="body" idx="1"/>
          </p:nvPr>
        </p:nvSpPr>
        <p:spPr>
          <a:xfrm>
            <a:off x="373063" y="1412875"/>
            <a:ext cx="8520112" cy="4713288"/>
          </a:xfrm>
        </p:spPr>
        <p:txBody>
          <a:bodyPr/>
          <a:lstStyle/>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优化的种类</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控制流分析</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数据流分析</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局部优化</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循环优化</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10.6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全局优化</a:t>
            </a:r>
          </a:p>
          <a:p>
            <a:pPr marL="533400" indent="-533400">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10.6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Tree>
    <p:extLst>
      <p:ext uri="{BB962C8B-B14F-4D97-AF65-F5344CB8AC3E}">
        <p14:creationId xmlns:p14="http://schemas.microsoft.com/office/powerpoint/2010/main" val="9665852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5475">
                                            <p:txEl>
                                              <p:pRg st="0" end="0"/>
                                            </p:txEl>
                                          </p:spTgt>
                                        </p:tgtEl>
                                        <p:attrNameLst>
                                          <p:attrName>style.visibility</p:attrName>
                                        </p:attrNameLst>
                                      </p:cBhvr>
                                      <p:to>
                                        <p:strVal val="visible"/>
                                      </p:to>
                                    </p:set>
                                    <p:animEffect transition="in" filter="blinds(horizontal)">
                                      <p:cBhvr>
                                        <p:cTn id="7" dur="500"/>
                                        <p:tgtEl>
                                          <p:spTgt spid="26654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5475">
                                            <p:txEl>
                                              <p:pRg st="1" end="1"/>
                                            </p:txEl>
                                          </p:spTgt>
                                        </p:tgtEl>
                                        <p:attrNameLst>
                                          <p:attrName>style.visibility</p:attrName>
                                        </p:attrNameLst>
                                      </p:cBhvr>
                                      <p:to>
                                        <p:strVal val="visible"/>
                                      </p:to>
                                    </p:set>
                                    <p:animEffect transition="in" filter="blinds(horizontal)">
                                      <p:cBhvr>
                                        <p:cTn id="12" dur="500"/>
                                        <p:tgtEl>
                                          <p:spTgt spid="26654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5475">
                                            <p:txEl>
                                              <p:pRg st="2" end="2"/>
                                            </p:txEl>
                                          </p:spTgt>
                                        </p:tgtEl>
                                        <p:attrNameLst>
                                          <p:attrName>style.visibility</p:attrName>
                                        </p:attrNameLst>
                                      </p:cBhvr>
                                      <p:to>
                                        <p:strVal val="visible"/>
                                      </p:to>
                                    </p:set>
                                    <p:animEffect transition="in" filter="blinds(horizontal)">
                                      <p:cBhvr>
                                        <p:cTn id="17" dur="500"/>
                                        <p:tgtEl>
                                          <p:spTgt spid="26654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5475">
                                            <p:txEl>
                                              <p:pRg st="3" end="3"/>
                                            </p:txEl>
                                          </p:spTgt>
                                        </p:tgtEl>
                                        <p:attrNameLst>
                                          <p:attrName>style.visibility</p:attrName>
                                        </p:attrNameLst>
                                      </p:cBhvr>
                                      <p:to>
                                        <p:strVal val="visible"/>
                                      </p:to>
                                    </p:set>
                                    <p:animEffect transition="in" filter="blinds(horizontal)">
                                      <p:cBhvr>
                                        <p:cTn id="22" dur="500"/>
                                        <p:tgtEl>
                                          <p:spTgt spid="26654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5475">
                                            <p:txEl>
                                              <p:pRg st="4" end="4"/>
                                            </p:txEl>
                                          </p:spTgt>
                                        </p:tgtEl>
                                        <p:attrNameLst>
                                          <p:attrName>style.visibility</p:attrName>
                                        </p:attrNameLst>
                                      </p:cBhvr>
                                      <p:to>
                                        <p:strVal val="visible"/>
                                      </p:to>
                                    </p:set>
                                    <p:animEffect transition="in" filter="blinds(horizontal)">
                                      <p:cBhvr>
                                        <p:cTn id="27" dur="500"/>
                                        <p:tgtEl>
                                          <p:spTgt spid="26654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5475">
                                            <p:txEl>
                                              <p:pRg st="5" end="5"/>
                                            </p:txEl>
                                          </p:spTgt>
                                        </p:tgtEl>
                                        <p:attrNameLst>
                                          <p:attrName>style.visibility</p:attrName>
                                        </p:attrNameLst>
                                      </p:cBhvr>
                                      <p:to>
                                        <p:strVal val="visible"/>
                                      </p:to>
                                    </p:set>
                                    <p:animEffect transition="in" filter="blinds(horizontal)">
                                      <p:cBhvr>
                                        <p:cTn id="32" dur="500"/>
                                        <p:tgtEl>
                                          <p:spTgt spid="266547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5475">
                                            <p:txEl>
                                              <p:pRg st="6" end="6"/>
                                            </p:txEl>
                                          </p:spTgt>
                                        </p:tgtEl>
                                        <p:attrNameLst>
                                          <p:attrName>style.visibility</p:attrName>
                                        </p:attrNameLst>
                                      </p:cBhvr>
                                      <p:to>
                                        <p:strVal val="visible"/>
                                      </p:to>
                                    </p:set>
                                    <p:animEffect transition="in" filter="blinds(horizontal)">
                                      <p:cBhvr>
                                        <p:cTn id="37" dur="500"/>
                                        <p:tgtEl>
                                          <p:spTgt spid="26654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54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DACB87F-78BA-484E-909A-D137E76B276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F4B887D-9F8D-4659-A6D0-6E509FB96160}" type="slidenum">
              <a:rPr lang="en-US" altLang="zh-CN"/>
              <a:pPr/>
              <a:t>3</a:t>
            </a:fld>
            <a:endParaRPr lang="en-US" altLang="zh-CN"/>
          </a:p>
        </p:txBody>
      </p:sp>
      <p:sp>
        <p:nvSpPr>
          <p:cNvPr id="2666498" name="Rectangle 2"/>
          <p:cNvSpPr>
            <a:spLocks noGrp="1" noChangeArrowheads="1"/>
          </p:cNvSpPr>
          <p:nvPr>
            <p:ph type="title"/>
          </p:nvPr>
        </p:nvSpPr>
        <p:spPr>
          <a:xfrm>
            <a:off x="457200" y="188913"/>
            <a:ext cx="8229600" cy="922337"/>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章 代码优化</a:t>
            </a:r>
          </a:p>
        </p:txBody>
      </p:sp>
      <p:sp>
        <p:nvSpPr>
          <p:cNvPr id="2666499" name="Rectangle 3"/>
          <p:cNvSpPr>
            <a:spLocks noGrp="1" noChangeArrowheads="1"/>
          </p:cNvSpPr>
          <p:nvPr>
            <p:ph type="body" idx="1"/>
          </p:nvPr>
        </p:nvSpPr>
        <p:spPr>
          <a:xfrm>
            <a:off x="323850" y="1268413"/>
            <a:ext cx="8569325" cy="4897437"/>
          </a:xfrm>
        </p:spPr>
        <p:txBody>
          <a:bodyPr/>
          <a:lstStyle/>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代码优化就是为了提高目标程序的效率，对程序进行等价变换，亦即在保持功能不变的前提下，对源程序进行合理的变换，使得目标代码具有更高的时间效率和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或空间效率。</a:t>
            </a:r>
          </a:p>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空间效率和时间效率有时是一对矛盾，有时不能兼顾。</a:t>
            </a:r>
          </a:p>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优化的要求：</a:t>
            </a:r>
          </a:p>
          <a:p>
            <a:pPr lvl="1">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必须是等价变换</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保持功能</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lvl="1">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为优化的努力必须是值得的。</a:t>
            </a:r>
          </a:p>
          <a:p>
            <a:pPr lvl="1">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有时优化后的代码的效率反而会下降。</a:t>
            </a:r>
          </a:p>
        </p:txBody>
      </p:sp>
    </p:spTree>
    <p:extLst>
      <p:ext uri="{BB962C8B-B14F-4D97-AF65-F5344CB8AC3E}">
        <p14:creationId xmlns:p14="http://schemas.microsoft.com/office/powerpoint/2010/main" val="37187487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6499">
                                            <p:txEl>
                                              <p:pRg st="0" end="0"/>
                                            </p:txEl>
                                          </p:spTgt>
                                        </p:tgtEl>
                                        <p:attrNameLst>
                                          <p:attrName>style.visibility</p:attrName>
                                        </p:attrNameLst>
                                      </p:cBhvr>
                                      <p:to>
                                        <p:strVal val="visible"/>
                                      </p:to>
                                    </p:set>
                                    <p:animEffect transition="in" filter="blinds(horizontal)">
                                      <p:cBhvr>
                                        <p:cTn id="7" dur="500"/>
                                        <p:tgtEl>
                                          <p:spTgt spid="26664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6499">
                                            <p:txEl>
                                              <p:pRg st="1" end="1"/>
                                            </p:txEl>
                                          </p:spTgt>
                                        </p:tgtEl>
                                        <p:attrNameLst>
                                          <p:attrName>style.visibility</p:attrName>
                                        </p:attrNameLst>
                                      </p:cBhvr>
                                      <p:to>
                                        <p:strVal val="visible"/>
                                      </p:to>
                                    </p:set>
                                    <p:animEffect transition="in" filter="blinds(horizontal)">
                                      <p:cBhvr>
                                        <p:cTn id="12" dur="500"/>
                                        <p:tgtEl>
                                          <p:spTgt spid="26664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6499">
                                            <p:txEl>
                                              <p:pRg st="2" end="2"/>
                                            </p:txEl>
                                          </p:spTgt>
                                        </p:tgtEl>
                                        <p:attrNameLst>
                                          <p:attrName>style.visibility</p:attrName>
                                        </p:attrNameLst>
                                      </p:cBhvr>
                                      <p:to>
                                        <p:strVal val="visible"/>
                                      </p:to>
                                    </p:set>
                                    <p:animEffect transition="in" filter="blinds(horizontal)">
                                      <p:cBhvr>
                                        <p:cTn id="17" dur="500"/>
                                        <p:tgtEl>
                                          <p:spTgt spid="2666499">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666499">
                                            <p:txEl>
                                              <p:pRg st="3" end="3"/>
                                            </p:txEl>
                                          </p:spTgt>
                                        </p:tgtEl>
                                        <p:attrNameLst>
                                          <p:attrName>style.visibility</p:attrName>
                                        </p:attrNameLst>
                                      </p:cBhvr>
                                      <p:to>
                                        <p:strVal val="visible"/>
                                      </p:to>
                                    </p:set>
                                    <p:animEffect transition="in" filter="blinds(horizontal)">
                                      <p:cBhvr>
                                        <p:cTn id="20" dur="500"/>
                                        <p:tgtEl>
                                          <p:spTgt spid="2666499">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666499">
                                            <p:txEl>
                                              <p:pRg st="4" end="4"/>
                                            </p:txEl>
                                          </p:spTgt>
                                        </p:tgtEl>
                                        <p:attrNameLst>
                                          <p:attrName>style.visibility</p:attrName>
                                        </p:attrNameLst>
                                      </p:cBhvr>
                                      <p:to>
                                        <p:strVal val="visible"/>
                                      </p:to>
                                    </p:set>
                                    <p:animEffect transition="in" filter="blinds(horizontal)">
                                      <p:cBhvr>
                                        <p:cTn id="23" dur="500"/>
                                        <p:tgtEl>
                                          <p:spTgt spid="2666499">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666499">
                                            <p:txEl>
                                              <p:pRg st="5" end="5"/>
                                            </p:txEl>
                                          </p:spTgt>
                                        </p:tgtEl>
                                        <p:attrNameLst>
                                          <p:attrName>style.visibility</p:attrName>
                                        </p:attrNameLst>
                                      </p:cBhvr>
                                      <p:to>
                                        <p:strVal val="visible"/>
                                      </p:to>
                                    </p:set>
                                    <p:animEffect transition="in" filter="blinds(horizontal)">
                                      <p:cBhvr>
                                        <p:cTn id="26" dur="500"/>
                                        <p:tgtEl>
                                          <p:spTgt spid="26664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64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half" idx="10"/>
          </p:nvPr>
        </p:nvSpPr>
        <p:spPr/>
        <p:txBody>
          <a:bodyPr/>
          <a:lstStyle/>
          <a:p>
            <a:fld id="{AB20C46B-214B-460F-93C1-2C3132AA37FD}" type="datetime1">
              <a:rPr lang="zh-CN" altLang="en-US"/>
              <a:pPr/>
              <a:t>2017/2/24</a:t>
            </a:fld>
            <a:endParaRPr lang="en-US" altLang="zh-CN"/>
          </a:p>
        </p:txBody>
      </p:sp>
      <p:sp>
        <p:nvSpPr>
          <p:cNvPr id="11" name="灯片编号占位符 5"/>
          <p:cNvSpPr>
            <a:spLocks noGrp="1"/>
          </p:cNvSpPr>
          <p:nvPr>
            <p:ph type="sldNum" sz="quarter" idx="12"/>
          </p:nvPr>
        </p:nvSpPr>
        <p:spPr/>
        <p:txBody>
          <a:bodyPr/>
          <a:lstStyle/>
          <a:p>
            <a:fld id="{1DF0F725-7DC2-4561-BA0C-A2D29373EF72}" type="slidenum">
              <a:rPr lang="en-US" altLang="zh-CN"/>
              <a:pPr/>
              <a:t>4</a:t>
            </a:fld>
            <a:endParaRPr lang="en-US" altLang="zh-CN"/>
          </a:p>
        </p:txBody>
      </p:sp>
      <p:sp>
        <p:nvSpPr>
          <p:cNvPr id="2667522" name="Rectangle 2"/>
          <p:cNvSpPr>
            <a:spLocks noGrp="1" noChangeArrowheads="1"/>
          </p:cNvSpPr>
          <p:nvPr>
            <p:ph type="title"/>
          </p:nvPr>
        </p:nvSpPr>
        <p:spPr>
          <a:xfrm>
            <a:off x="457200" y="274638"/>
            <a:ext cx="8229600" cy="7778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代码优化程序的结构</a:t>
            </a:r>
          </a:p>
        </p:txBody>
      </p:sp>
      <p:sp>
        <p:nvSpPr>
          <p:cNvPr id="2667523" name="Rectangle 3"/>
          <p:cNvSpPr>
            <a:spLocks noGrp="1" noChangeArrowheads="1"/>
          </p:cNvSpPr>
          <p:nvPr>
            <p:ph type="body" idx="1"/>
          </p:nvPr>
        </p:nvSpPr>
        <p:spPr>
          <a:xfrm>
            <a:off x="142875" y="2347913"/>
            <a:ext cx="8821738" cy="3313112"/>
          </a:xfrm>
        </p:spPr>
        <p:txBody>
          <a:bodyPr/>
          <a:lstStyle/>
          <a:p>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控制流分析</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的主要目的是分析出程序的循环结构。循环结构中的代码的效率是整个程序的效率的关键。</a:t>
            </a:r>
          </a:p>
          <a:p>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数据流分析</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进行数据流信息的收集，主要是变量的值的获得和使用情况的数据流信息。</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活跃变量分析</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可用表达式分析</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代码变换</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根据上面的分析</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对中间代码进行等价变换</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p:txBody>
      </p:sp>
      <p:sp>
        <p:nvSpPr>
          <p:cNvPr id="2667524" name="Text Box 4"/>
          <p:cNvSpPr txBox="1">
            <a:spLocks noChangeArrowheads="1"/>
          </p:cNvSpPr>
          <p:nvPr/>
        </p:nvSpPr>
        <p:spPr bwMode="auto">
          <a:xfrm>
            <a:off x="827088" y="1412875"/>
            <a:ext cx="2016125" cy="5286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zh-CN" altLang="en-US" sz="2800" b="1">
                <a:ea typeface="楷体_GB2312" pitchFamily="49" charset="-122"/>
              </a:rPr>
              <a:t>控制流分析</a:t>
            </a:r>
          </a:p>
        </p:txBody>
      </p:sp>
      <p:sp>
        <p:nvSpPr>
          <p:cNvPr id="2667525" name="Text Box 5"/>
          <p:cNvSpPr txBox="1">
            <a:spLocks noChangeArrowheads="1"/>
          </p:cNvSpPr>
          <p:nvPr/>
        </p:nvSpPr>
        <p:spPr bwMode="auto">
          <a:xfrm>
            <a:off x="3565525" y="1412875"/>
            <a:ext cx="1997075" cy="5286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zh-CN" altLang="en-US" sz="2800" b="1">
                <a:ea typeface="楷体_GB2312" pitchFamily="49" charset="-122"/>
              </a:rPr>
              <a:t>数据流分析</a:t>
            </a:r>
          </a:p>
        </p:txBody>
      </p:sp>
      <p:sp>
        <p:nvSpPr>
          <p:cNvPr id="2667526" name="Text Box 6"/>
          <p:cNvSpPr txBox="1">
            <a:spLocks noChangeArrowheads="1"/>
          </p:cNvSpPr>
          <p:nvPr/>
        </p:nvSpPr>
        <p:spPr bwMode="auto">
          <a:xfrm>
            <a:off x="6300788" y="1412875"/>
            <a:ext cx="1824037" cy="5286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zh-CN" altLang="en-US" sz="2800" b="1">
                <a:ea typeface="楷体_GB2312" pitchFamily="49" charset="-122"/>
              </a:rPr>
              <a:t>代码变换</a:t>
            </a:r>
          </a:p>
        </p:txBody>
      </p:sp>
      <p:sp>
        <p:nvSpPr>
          <p:cNvPr id="2667527" name="Line 7"/>
          <p:cNvSpPr>
            <a:spLocks noChangeShapeType="1"/>
          </p:cNvSpPr>
          <p:nvPr/>
        </p:nvSpPr>
        <p:spPr bwMode="auto">
          <a:xfrm>
            <a:off x="2843213" y="1700213"/>
            <a:ext cx="7207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7528" name="Line 8"/>
          <p:cNvSpPr>
            <a:spLocks noChangeShapeType="1"/>
          </p:cNvSpPr>
          <p:nvPr/>
        </p:nvSpPr>
        <p:spPr bwMode="auto">
          <a:xfrm>
            <a:off x="5580063" y="1700213"/>
            <a:ext cx="7207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3280586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7523">
                                            <p:txEl>
                                              <p:pRg st="0" end="0"/>
                                            </p:txEl>
                                          </p:spTgt>
                                        </p:tgtEl>
                                        <p:attrNameLst>
                                          <p:attrName>style.visibility</p:attrName>
                                        </p:attrNameLst>
                                      </p:cBhvr>
                                      <p:to>
                                        <p:strVal val="visible"/>
                                      </p:to>
                                    </p:set>
                                    <p:animEffect transition="in" filter="blinds(horizontal)">
                                      <p:cBhvr>
                                        <p:cTn id="7" dur="500"/>
                                        <p:tgtEl>
                                          <p:spTgt spid="26675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7523">
                                            <p:txEl>
                                              <p:pRg st="1" end="1"/>
                                            </p:txEl>
                                          </p:spTgt>
                                        </p:tgtEl>
                                        <p:attrNameLst>
                                          <p:attrName>style.visibility</p:attrName>
                                        </p:attrNameLst>
                                      </p:cBhvr>
                                      <p:to>
                                        <p:strVal val="visible"/>
                                      </p:to>
                                    </p:set>
                                    <p:animEffect transition="in" filter="blinds(horizontal)">
                                      <p:cBhvr>
                                        <p:cTn id="12" dur="500"/>
                                        <p:tgtEl>
                                          <p:spTgt spid="266752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667523">
                                            <p:txEl>
                                              <p:pRg st="2" end="2"/>
                                            </p:txEl>
                                          </p:spTgt>
                                        </p:tgtEl>
                                        <p:attrNameLst>
                                          <p:attrName>style.visibility</p:attrName>
                                        </p:attrNameLst>
                                      </p:cBhvr>
                                      <p:to>
                                        <p:strVal val="visible"/>
                                      </p:to>
                                    </p:set>
                                    <p:animEffect transition="in" filter="blinds(horizontal)">
                                      <p:cBhvr>
                                        <p:cTn id="15" dur="500"/>
                                        <p:tgtEl>
                                          <p:spTgt spid="266752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67523">
                                            <p:txEl>
                                              <p:pRg st="3" end="3"/>
                                            </p:txEl>
                                          </p:spTgt>
                                        </p:tgtEl>
                                        <p:attrNameLst>
                                          <p:attrName>style.visibility</p:attrName>
                                        </p:attrNameLst>
                                      </p:cBhvr>
                                      <p:to>
                                        <p:strVal val="visible"/>
                                      </p:to>
                                    </p:set>
                                    <p:animEffect transition="in" filter="blinds(horizontal)">
                                      <p:cBhvr>
                                        <p:cTn id="20" dur="500"/>
                                        <p:tgtEl>
                                          <p:spTgt spid="26675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75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3CE9D0A-5261-44C8-B354-05C306F8D43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4E87A76-EE92-46F2-9992-053CD83C783B}" type="slidenum">
              <a:rPr lang="en-US" altLang="zh-CN"/>
              <a:pPr/>
              <a:t>5</a:t>
            </a:fld>
            <a:endParaRPr lang="en-US" altLang="zh-CN"/>
          </a:p>
        </p:txBody>
      </p:sp>
      <p:sp>
        <p:nvSpPr>
          <p:cNvPr id="2668546" name="Rectangle 2"/>
          <p:cNvSpPr>
            <a:spLocks noGrp="1" noChangeArrowheads="1"/>
          </p:cNvSpPr>
          <p:nvPr>
            <p:ph type="title"/>
          </p:nvPr>
        </p:nvSpPr>
        <p:spPr>
          <a:xfrm>
            <a:off x="2484438" y="125413"/>
            <a:ext cx="4533900" cy="9271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优化的种类</a:t>
            </a:r>
          </a:p>
        </p:txBody>
      </p:sp>
      <p:sp>
        <p:nvSpPr>
          <p:cNvPr id="2668547" name="Rectangle 3"/>
          <p:cNvSpPr>
            <a:spLocks noGrp="1" noChangeArrowheads="1"/>
          </p:cNvSpPr>
          <p:nvPr>
            <p:ph type="body" idx="1"/>
          </p:nvPr>
        </p:nvSpPr>
        <p:spPr>
          <a:xfrm>
            <a:off x="395288" y="1125538"/>
            <a:ext cx="8497887" cy="5111750"/>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机器相关性</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机器相关优化：寄存器优化，多处理器优化，特殊指令优化，无用指令消除等。</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机器无关优化：</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优化范围</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局部优化：单个基本块范围内的优化，常量合并优化，公共子表达式删除，计算强度削弱和无用代码删除。</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全局优化：主要是基于循环的优化：循环不变优化，归纳变量删除，计算强度削减。</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优化语言级</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优化语言级：针对中间代码，针对机器语言。</a:t>
            </a:r>
          </a:p>
        </p:txBody>
      </p:sp>
    </p:spTree>
    <p:extLst>
      <p:ext uri="{BB962C8B-B14F-4D97-AF65-F5344CB8AC3E}">
        <p14:creationId xmlns:p14="http://schemas.microsoft.com/office/powerpoint/2010/main" val="30039452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8547">
                                            <p:txEl>
                                              <p:pRg st="0" end="0"/>
                                            </p:txEl>
                                          </p:spTgt>
                                        </p:tgtEl>
                                        <p:attrNameLst>
                                          <p:attrName>style.visibility</p:attrName>
                                        </p:attrNameLst>
                                      </p:cBhvr>
                                      <p:to>
                                        <p:strVal val="visible"/>
                                      </p:to>
                                    </p:set>
                                    <p:animEffect transition="in" filter="blinds(horizontal)">
                                      <p:cBhvr>
                                        <p:cTn id="7" dur="500"/>
                                        <p:tgtEl>
                                          <p:spTgt spid="266854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8547">
                                            <p:txEl>
                                              <p:pRg st="1" end="1"/>
                                            </p:txEl>
                                          </p:spTgt>
                                        </p:tgtEl>
                                        <p:attrNameLst>
                                          <p:attrName>style.visibility</p:attrName>
                                        </p:attrNameLst>
                                      </p:cBhvr>
                                      <p:to>
                                        <p:strVal val="visible"/>
                                      </p:to>
                                    </p:set>
                                    <p:animEffect transition="in" filter="blinds(horizontal)">
                                      <p:cBhvr>
                                        <p:cTn id="10" dur="500"/>
                                        <p:tgtEl>
                                          <p:spTgt spid="266854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68547">
                                            <p:txEl>
                                              <p:pRg st="2" end="2"/>
                                            </p:txEl>
                                          </p:spTgt>
                                        </p:tgtEl>
                                        <p:attrNameLst>
                                          <p:attrName>style.visibility</p:attrName>
                                        </p:attrNameLst>
                                      </p:cBhvr>
                                      <p:to>
                                        <p:strVal val="visible"/>
                                      </p:to>
                                    </p:set>
                                    <p:animEffect transition="in" filter="blinds(horizontal)">
                                      <p:cBhvr>
                                        <p:cTn id="13" dur="500"/>
                                        <p:tgtEl>
                                          <p:spTgt spid="266854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668547">
                                            <p:txEl>
                                              <p:pRg st="3" end="3"/>
                                            </p:txEl>
                                          </p:spTgt>
                                        </p:tgtEl>
                                        <p:attrNameLst>
                                          <p:attrName>style.visibility</p:attrName>
                                        </p:attrNameLst>
                                      </p:cBhvr>
                                      <p:to>
                                        <p:strVal val="visible"/>
                                      </p:to>
                                    </p:set>
                                    <p:animEffect transition="in" filter="blinds(horizontal)">
                                      <p:cBhvr>
                                        <p:cTn id="18" dur="500"/>
                                        <p:tgtEl>
                                          <p:spTgt spid="2668547">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668547">
                                            <p:txEl>
                                              <p:pRg st="4" end="4"/>
                                            </p:txEl>
                                          </p:spTgt>
                                        </p:tgtEl>
                                        <p:attrNameLst>
                                          <p:attrName>style.visibility</p:attrName>
                                        </p:attrNameLst>
                                      </p:cBhvr>
                                      <p:to>
                                        <p:strVal val="visible"/>
                                      </p:to>
                                    </p:set>
                                    <p:animEffect transition="in" filter="blinds(horizontal)">
                                      <p:cBhvr>
                                        <p:cTn id="21" dur="500"/>
                                        <p:tgtEl>
                                          <p:spTgt spid="266854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668547">
                                            <p:txEl>
                                              <p:pRg st="5" end="5"/>
                                            </p:txEl>
                                          </p:spTgt>
                                        </p:tgtEl>
                                        <p:attrNameLst>
                                          <p:attrName>style.visibility</p:attrName>
                                        </p:attrNameLst>
                                      </p:cBhvr>
                                      <p:to>
                                        <p:strVal val="visible"/>
                                      </p:to>
                                    </p:set>
                                    <p:animEffect transition="in" filter="blinds(horizontal)">
                                      <p:cBhvr>
                                        <p:cTn id="24" dur="500"/>
                                        <p:tgtEl>
                                          <p:spTgt spid="2668547">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668547">
                                            <p:txEl>
                                              <p:pRg st="6" end="6"/>
                                            </p:txEl>
                                          </p:spTgt>
                                        </p:tgtEl>
                                        <p:attrNameLst>
                                          <p:attrName>style.visibility</p:attrName>
                                        </p:attrNameLst>
                                      </p:cBhvr>
                                      <p:to>
                                        <p:strVal val="visible"/>
                                      </p:to>
                                    </p:set>
                                    <p:animEffect transition="in" filter="blinds(horizontal)">
                                      <p:cBhvr>
                                        <p:cTn id="29" dur="500"/>
                                        <p:tgtEl>
                                          <p:spTgt spid="2668547">
                                            <p:txEl>
                                              <p:pRg st="6" end="6"/>
                                            </p:txEl>
                                          </p:spTgt>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668547">
                                            <p:txEl>
                                              <p:pRg st="7" end="7"/>
                                            </p:txEl>
                                          </p:spTgt>
                                        </p:tgtEl>
                                        <p:attrNameLst>
                                          <p:attrName>style.visibility</p:attrName>
                                        </p:attrNameLst>
                                      </p:cBhvr>
                                      <p:to>
                                        <p:strVal val="visible"/>
                                      </p:to>
                                    </p:set>
                                    <p:animEffect transition="in" filter="blinds(horizontal)">
                                      <p:cBhvr>
                                        <p:cTn id="32" dur="500"/>
                                        <p:tgtEl>
                                          <p:spTgt spid="26685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54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65E0A5A-D73F-43E4-A139-CB1F0387FA7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89CB1CB-F5C7-4FCB-9D9B-DFB18FCAA3C2}" type="slidenum">
              <a:rPr lang="en-US" altLang="zh-CN"/>
              <a:pPr/>
              <a:t>6</a:t>
            </a:fld>
            <a:endParaRPr lang="en-US" altLang="zh-CN"/>
          </a:p>
        </p:txBody>
      </p:sp>
      <p:sp>
        <p:nvSpPr>
          <p:cNvPr id="2669570" name="Rectangle 2"/>
          <p:cNvSpPr>
            <a:spLocks noGrp="1" noChangeArrowheads="1"/>
          </p:cNvSpPr>
          <p:nvPr>
            <p:ph type="title"/>
          </p:nvPr>
        </p:nvSpPr>
        <p:spPr>
          <a:xfrm>
            <a:off x="1022350" y="115888"/>
            <a:ext cx="6286500" cy="10096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程序例子</a:t>
            </a:r>
          </a:p>
        </p:txBody>
      </p:sp>
      <p:sp>
        <p:nvSpPr>
          <p:cNvPr id="2669571" name="Rectangle 3"/>
          <p:cNvSpPr>
            <a:spLocks noGrp="1" noChangeArrowheads="1"/>
          </p:cNvSpPr>
          <p:nvPr>
            <p:ph type="body" idx="1"/>
          </p:nvPr>
        </p:nvSpPr>
        <p:spPr>
          <a:xfrm>
            <a:off x="252413" y="1196975"/>
            <a:ext cx="8891587" cy="5038725"/>
          </a:xfrm>
        </p:spPr>
        <p:txBody>
          <a:bodyPr/>
          <a:lstStyle/>
          <a:p>
            <a:pPr>
              <a:lnSpc>
                <a:spcPct val="90000"/>
              </a:lnSpc>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本节所用的例子</a:t>
            </a:r>
          </a:p>
          <a:p>
            <a:pPr>
              <a:lnSpc>
                <a:spcPct val="90000"/>
              </a:lnSpc>
              <a:buFontTx/>
              <a:buNone/>
            </a:pP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m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 j = n; v = a[n];		(1)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m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while (1) {					(2)  j := n</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do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 while(a[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]&lt;v);		(3)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4 * n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do j =j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1;while (a[j]&gt;v);		(4)  v := a[t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if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&gt;= j) break;			(5)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+ 1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		(6)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4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(7)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]=a[n]; a[n]=x;         	(8)if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&lt;v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(5)</a:t>
            </a:r>
          </a:p>
        </p:txBody>
      </p:sp>
    </p:spTree>
    <p:extLst>
      <p:ext uri="{BB962C8B-B14F-4D97-AF65-F5344CB8AC3E}">
        <p14:creationId xmlns:p14="http://schemas.microsoft.com/office/powerpoint/2010/main" val="35940656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4461040-D3A3-47FB-94B1-11A4974D100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F5A595B-05B5-4415-B211-49B04454A506}" type="slidenum">
              <a:rPr lang="en-US" altLang="zh-CN"/>
              <a:pPr/>
              <a:t>7</a:t>
            </a:fld>
            <a:endParaRPr lang="en-US" altLang="zh-CN"/>
          </a:p>
        </p:txBody>
      </p:sp>
      <p:sp>
        <p:nvSpPr>
          <p:cNvPr id="2671618" name="Rectangle 2"/>
          <p:cNvSpPr>
            <a:spLocks noGrp="1" noChangeArrowheads="1"/>
          </p:cNvSpPr>
          <p:nvPr>
            <p:ph type="title"/>
          </p:nvPr>
        </p:nvSpPr>
        <p:spPr>
          <a:xfrm>
            <a:off x="1079500" y="115888"/>
            <a:ext cx="6999288" cy="11430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程序例子</a:t>
            </a:r>
          </a:p>
        </p:txBody>
      </p:sp>
      <p:sp>
        <p:nvSpPr>
          <p:cNvPr id="2671619" name="Rectangle 3"/>
          <p:cNvSpPr>
            <a:spLocks noGrp="1" noChangeArrowheads="1"/>
          </p:cNvSpPr>
          <p:nvPr>
            <p:ph type="body" idx="1"/>
          </p:nvPr>
        </p:nvSpPr>
        <p:spPr>
          <a:xfrm>
            <a:off x="107950" y="1196975"/>
            <a:ext cx="8964613" cy="5111750"/>
          </a:xfrm>
        </p:spPr>
        <p:txBody>
          <a:bodyPr/>
          <a:lstStyle/>
          <a:p>
            <a:pPr>
              <a:lnSpc>
                <a:spcPct val="90000"/>
              </a:lnSpc>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本节所用的例子</a:t>
            </a:r>
          </a:p>
          <a:p>
            <a:pPr>
              <a:lnSpc>
                <a:spcPct val="90000"/>
              </a:lnSpc>
              <a:buFontTx/>
              <a:buNone/>
            </a:pP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m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 j = n; v = a[n];		(9)  j := j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while (1) {				         (10)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4 * j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do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 while(a[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]&lt;v);	         (11)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do j =j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1;while (a[j]&gt;v);           (12)if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&gt;v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(9)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if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&gt;= j) break;		         (13)if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&gt;=j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(23) </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	         (14) 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6</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(15) x := a[t</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6</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]=a[n]; a[n]=x;             .  .  .	</a:t>
            </a:r>
          </a:p>
        </p:txBody>
      </p:sp>
    </p:spTree>
    <p:extLst>
      <p:ext uri="{BB962C8B-B14F-4D97-AF65-F5344CB8AC3E}">
        <p14:creationId xmlns:p14="http://schemas.microsoft.com/office/powerpoint/2010/main" val="12412776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日期占位符 3"/>
          <p:cNvSpPr>
            <a:spLocks noGrp="1"/>
          </p:cNvSpPr>
          <p:nvPr>
            <p:ph type="dt" sz="half" idx="10"/>
          </p:nvPr>
        </p:nvSpPr>
        <p:spPr/>
        <p:txBody>
          <a:bodyPr/>
          <a:lstStyle/>
          <a:p>
            <a:fld id="{7D27DF0C-0D56-4773-AFCE-847AD2D2D1CA}" type="datetime1">
              <a:rPr lang="zh-CN" altLang="en-US"/>
              <a:pPr/>
              <a:t>2017/2/24</a:t>
            </a:fld>
            <a:endParaRPr lang="en-US" altLang="zh-CN"/>
          </a:p>
        </p:txBody>
      </p:sp>
      <p:sp>
        <p:nvSpPr>
          <p:cNvPr id="26" name="灯片编号占位符 5"/>
          <p:cNvSpPr>
            <a:spLocks noGrp="1"/>
          </p:cNvSpPr>
          <p:nvPr>
            <p:ph type="sldNum" sz="quarter" idx="12"/>
          </p:nvPr>
        </p:nvSpPr>
        <p:spPr/>
        <p:txBody>
          <a:bodyPr/>
          <a:lstStyle/>
          <a:p>
            <a:fld id="{0CA17181-F033-4894-97B8-BED9CCB4669A}" type="slidenum">
              <a:rPr lang="en-US" altLang="zh-CN"/>
              <a:pPr/>
              <a:t>8</a:t>
            </a:fld>
            <a:endParaRPr lang="en-US" altLang="zh-CN"/>
          </a:p>
        </p:txBody>
      </p:sp>
      <p:sp>
        <p:nvSpPr>
          <p:cNvPr id="2673666" name="Rectangle 2"/>
          <p:cNvSpPr>
            <a:spLocks noGrp="1" noChangeArrowheads="1"/>
          </p:cNvSpPr>
          <p:nvPr>
            <p:ph type="title"/>
          </p:nvPr>
        </p:nvSpPr>
        <p:spPr>
          <a:xfrm>
            <a:off x="250825" y="155575"/>
            <a:ext cx="1814513" cy="6096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流图</a:t>
            </a:r>
          </a:p>
        </p:txBody>
      </p:sp>
      <p:grpSp>
        <p:nvGrpSpPr>
          <p:cNvPr id="2673667" name="Group 3"/>
          <p:cNvGrpSpPr>
            <a:grpSpLocks/>
          </p:cNvGrpSpPr>
          <p:nvPr/>
        </p:nvGrpSpPr>
        <p:grpSpPr bwMode="auto">
          <a:xfrm>
            <a:off x="304800" y="363538"/>
            <a:ext cx="8151813" cy="5945187"/>
            <a:chOff x="192" y="528"/>
            <a:chExt cx="5135" cy="3745"/>
          </a:xfrm>
        </p:grpSpPr>
        <p:sp>
          <p:nvSpPr>
            <p:cNvPr id="2673668" name="Rectangle 4"/>
            <p:cNvSpPr>
              <a:spLocks noChangeArrowheads="1"/>
            </p:cNvSpPr>
            <p:nvPr/>
          </p:nvSpPr>
          <p:spPr bwMode="auto">
            <a:xfrm>
              <a:off x="2028" y="543"/>
              <a:ext cx="1423" cy="68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i := m </a:t>
              </a:r>
              <a:r>
                <a:rPr lang="en-US" altLang="zh-CN" b="1">
                  <a:sym typeface="Symbol" panose="05050102010706020507" pitchFamily="18" charset="2"/>
                </a:rPr>
                <a:t></a:t>
              </a:r>
              <a:r>
                <a:rPr lang="en-US" altLang="zh-CN" b="1"/>
                <a:t>1</a:t>
              </a:r>
            </a:p>
            <a:p>
              <a:pPr algn="just" eaLnBrk="0" hangingPunct="0">
                <a:lnSpc>
                  <a:spcPct val="70000"/>
                </a:lnSpc>
              </a:pPr>
              <a:r>
                <a:rPr lang="en-US" altLang="zh-CN" b="1"/>
                <a:t>j := n</a:t>
              </a:r>
            </a:p>
            <a:p>
              <a:pPr algn="just" eaLnBrk="0" hangingPunct="0">
                <a:lnSpc>
                  <a:spcPct val="70000"/>
                </a:lnSpc>
              </a:pPr>
              <a:r>
                <a:rPr lang="en-US" altLang="zh-CN" b="1"/>
                <a:t>t</a:t>
              </a:r>
              <a:r>
                <a:rPr lang="en-US" altLang="zh-CN" b="1" baseline="-25000"/>
                <a:t>1</a:t>
              </a:r>
              <a:r>
                <a:rPr lang="en-US" altLang="zh-CN" b="1"/>
                <a:t> := 4 </a:t>
              </a:r>
              <a:r>
                <a:rPr lang="en-US" altLang="zh-CN" b="1">
                  <a:latin typeface="宋体" panose="02010600030101010101" pitchFamily="2" charset="-122"/>
                </a:rPr>
                <a:t>*</a:t>
              </a:r>
              <a:r>
                <a:rPr lang="en-US" altLang="zh-CN" b="1"/>
                <a:t> n</a:t>
              </a:r>
            </a:p>
            <a:p>
              <a:pPr algn="just" eaLnBrk="0" hangingPunct="0">
                <a:lnSpc>
                  <a:spcPct val="70000"/>
                </a:lnSpc>
              </a:pPr>
              <a:r>
                <a:rPr lang="en-US" altLang="zh-CN" b="1"/>
                <a:t>v := a[t</a:t>
              </a:r>
              <a:r>
                <a:rPr lang="en-US" altLang="zh-CN" b="1" baseline="-25000"/>
                <a:t>1</a:t>
              </a:r>
              <a:r>
                <a:rPr lang="en-US" altLang="zh-CN" b="1"/>
                <a:t>]</a:t>
              </a:r>
            </a:p>
          </p:txBody>
        </p:sp>
        <p:sp>
          <p:nvSpPr>
            <p:cNvPr id="2673669" name="Rectangle 5"/>
            <p:cNvSpPr>
              <a:spLocks noChangeArrowheads="1"/>
            </p:cNvSpPr>
            <p:nvPr/>
          </p:nvSpPr>
          <p:spPr bwMode="auto">
            <a:xfrm>
              <a:off x="2025" y="1499"/>
              <a:ext cx="1438" cy="684"/>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i := i + 1</a:t>
              </a:r>
            </a:p>
            <a:p>
              <a:pPr algn="just" eaLnBrk="0" hangingPunct="0">
                <a:lnSpc>
                  <a:spcPct val="70000"/>
                </a:lnSpc>
              </a:pPr>
              <a:r>
                <a:rPr lang="en-US" altLang="zh-CN" b="1"/>
                <a:t>t</a:t>
              </a:r>
              <a:r>
                <a:rPr lang="en-US" altLang="zh-CN" b="1" baseline="-25000"/>
                <a:t>2</a:t>
              </a:r>
              <a:r>
                <a:rPr lang="en-US" altLang="zh-CN" b="1"/>
                <a:t> := 4 </a:t>
              </a:r>
              <a:r>
                <a:rPr lang="en-US" altLang="zh-CN" b="1">
                  <a:latin typeface="宋体" panose="02010600030101010101" pitchFamily="2" charset="-122"/>
                </a:rPr>
                <a:t>*</a:t>
              </a:r>
              <a:r>
                <a:rPr lang="en-US" altLang="zh-CN" b="1"/>
                <a:t> i</a:t>
              </a:r>
            </a:p>
            <a:p>
              <a:pPr algn="just" eaLnBrk="0" hangingPunct="0">
                <a:lnSpc>
                  <a:spcPct val="70000"/>
                </a:lnSpc>
              </a:pPr>
              <a:r>
                <a:rPr lang="en-US" altLang="zh-CN" b="1"/>
                <a:t>t</a:t>
              </a:r>
              <a:r>
                <a:rPr lang="en-US" altLang="zh-CN" b="1" baseline="-25000"/>
                <a:t>3</a:t>
              </a:r>
              <a:r>
                <a:rPr lang="en-US" altLang="zh-CN" b="1"/>
                <a:t> := a[t</a:t>
              </a:r>
              <a:r>
                <a:rPr lang="en-US" altLang="zh-CN" b="1" baseline="-25000"/>
                <a:t>2</a:t>
              </a:r>
              <a:r>
                <a:rPr lang="en-US" altLang="zh-CN" b="1"/>
                <a:t>]</a:t>
              </a:r>
            </a:p>
            <a:p>
              <a:pPr algn="just" eaLnBrk="0" hangingPunct="0">
                <a:lnSpc>
                  <a:spcPct val="70000"/>
                </a:lnSpc>
              </a:pPr>
              <a:r>
                <a:rPr lang="en-US" altLang="zh-CN" b="1"/>
                <a:t>if t</a:t>
              </a:r>
              <a:r>
                <a:rPr lang="en-US" altLang="zh-CN" b="1" baseline="-25000"/>
                <a:t>3</a:t>
              </a:r>
              <a:r>
                <a:rPr lang="en-US" altLang="zh-CN" b="1"/>
                <a:t> &lt; v goto </a:t>
              </a:r>
              <a:r>
                <a:rPr lang="en-US" altLang="zh-CN" b="1" i="1"/>
                <a:t>B</a:t>
              </a:r>
              <a:r>
                <a:rPr lang="en-US" altLang="zh-CN" b="1" baseline="-25000"/>
                <a:t>2</a:t>
              </a:r>
            </a:p>
          </p:txBody>
        </p:sp>
        <p:sp>
          <p:nvSpPr>
            <p:cNvPr id="2673670" name="Rectangle 6"/>
            <p:cNvSpPr>
              <a:spLocks noChangeArrowheads="1"/>
            </p:cNvSpPr>
            <p:nvPr/>
          </p:nvSpPr>
          <p:spPr bwMode="auto">
            <a:xfrm>
              <a:off x="3558" y="528"/>
              <a:ext cx="33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lIns="0" tIns="0" rIns="0" bIns="0"/>
            <a:lstStyle/>
            <a:p>
              <a:pPr algn="just" eaLnBrk="0" hangingPunct="0"/>
              <a:r>
                <a:rPr lang="en-US" altLang="zh-CN" b="1" i="1"/>
                <a:t>B</a:t>
              </a:r>
              <a:r>
                <a:rPr lang="en-US" altLang="zh-CN" b="1" baseline="-25000"/>
                <a:t>1</a:t>
              </a:r>
              <a:endParaRPr lang="en-US" altLang="zh-CN" b="1"/>
            </a:p>
          </p:txBody>
        </p:sp>
        <p:sp>
          <p:nvSpPr>
            <p:cNvPr id="2673671" name="Rectangle 7"/>
            <p:cNvSpPr>
              <a:spLocks noChangeArrowheads="1"/>
            </p:cNvSpPr>
            <p:nvPr/>
          </p:nvSpPr>
          <p:spPr bwMode="auto">
            <a:xfrm>
              <a:off x="3427" y="1421"/>
              <a:ext cx="52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2</a:t>
              </a:r>
              <a:endParaRPr lang="en-US" altLang="zh-CN" b="1"/>
            </a:p>
          </p:txBody>
        </p:sp>
        <p:sp>
          <p:nvSpPr>
            <p:cNvPr id="2673672" name="Rectangle 8"/>
            <p:cNvSpPr>
              <a:spLocks noChangeArrowheads="1"/>
            </p:cNvSpPr>
            <p:nvPr/>
          </p:nvSpPr>
          <p:spPr bwMode="auto">
            <a:xfrm>
              <a:off x="2040" y="2464"/>
              <a:ext cx="1437" cy="68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j := j </a:t>
              </a:r>
              <a:r>
                <a:rPr lang="en-US" altLang="zh-CN" b="1">
                  <a:sym typeface="Symbol" panose="05050102010706020507" pitchFamily="18" charset="2"/>
                </a:rPr>
                <a:t></a:t>
              </a:r>
              <a:r>
                <a:rPr lang="en-US" altLang="zh-CN" b="1"/>
                <a:t>1</a:t>
              </a:r>
            </a:p>
            <a:p>
              <a:pPr algn="just" eaLnBrk="0" hangingPunct="0">
                <a:lnSpc>
                  <a:spcPct val="70000"/>
                </a:lnSpc>
              </a:pPr>
              <a:r>
                <a:rPr lang="en-US" altLang="zh-CN" b="1"/>
                <a:t>t</a:t>
              </a:r>
              <a:r>
                <a:rPr lang="en-US" altLang="zh-CN" b="1" baseline="-25000"/>
                <a:t>4</a:t>
              </a:r>
              <a:r>
                <a:rPr lang="en-US" altLang="zh-CN" b="1"/>
                <a:t> := 4 </a:t>
              </a:r>
              <a:r>
                <a:rPr lang="en-US" altLang="zh-CN" b="1">
                  <a:latin typeface="宋体" panose="02010600030101010101" pitchFamily="2" charset="-122"/>
                </a:rPr>
                <a:t>*</a:t>
              </a:r>
              <a:r>
                <a:rPr lang="en-US" altLang="zh-CN" b="1"/>
                <a:t> j</a:t>
              </a:r>
            </a:p>
            <a:p>
              <a:pPr algn="just" eaLnBrk="0" hangingPunct="0">
                <a:lnSpc>
                  <a:spcPct val="70000"/>
                </a:lnSpc>
              </a:pPr>
              <a:r>
                <a:rPr lang="en-US" altLang="zh-CN" b="1"/>
                <a:t>t</a:t>
              </a:r>
              <a:r>
                <a:rPr lang="en-US" altLang="zh-CN" b="1" baseline="-25000"/>
                <a:t>5</a:t>
              </a:r>
              <a:r>
                <a:rPr lang="en-US" altLang="zh-CN" b="1"/>
                <a:t> := a[t</a:t>
              </a:r>
              <a:r>
                <a:rPr lang="en-US" altLang="zh-CN" b="1" baseline="-25000"/>
                <a:t>4</a:t>
              </a:r>
              <a:r>
                <a:rPr lang="en-US" altLang="zh-CN" b="1"/>
                <a:t>]</a:t>
              </a:r>
            </a:p>
            <a:p>
              <a:pPr algn="just" eaLnBrk="0" hangingPunct="0">
                <a:lnSpc>
                  <a:spcPct val="70000"/>
                </a:lnSpc>
              </a:pPr>
              <a:r>
                <a:rPr lang="en-US" altLang="zh-CN" b="1"/>
                <a:t>if t</a:t>
              </a:r>
              <a:r>
                <a:rPr lang="en-US" altLang="zh-CN" b="1" baseline="-25000"/>
                <a:t>5</a:t>
              </a:r>
              <a:r>
                <a:rPr lang="en-US" altLang="zh-CN" b="1"/>
                <a:t> &gt; v goto </a:t>
              </a:r>
              <a:r>
                <a:rPr lang="en-US" altLang="zh-CN" b="1" i="1"/>
                <a:t>B</a:t>
              </a:r>
              <a:r>
                <a:rPr lang="en-US" altLang="zh-CN" b="1" baseline="-25000"/>
                <a:t>3</a:t>
              </a:r>
            </a:p>
          </p:txBody>
        </p:sp>
        <p:sp>
          <p:nvSpPr>
            <p:cNvPr id="2673673" name="Line 9"/>
            <p:cNvSpPr>
              <a:spLocks noChangeShapeType="1"/>
            </p:cNvSpPr>
            <p:nvPr/>
          </p:nvSpPr>
          <p:spPr bwMode="auto">
            <a:xfrm>
              <a:off x="2727" y="1233"/>
              <a:ext cx="0"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73674" name="Line 10"/>
            <p:cNvSpPr>
              <a:spLocks noChangeShapeType="1"/>
            </p:cNvSpPr>
            <p:nvPr/>
          </p:nvSpPr>
          <p:spPr bwMode="auto">
            <a:xfrm>
              <a:off x="2713" y="2198"/>
              <a:ext cx="0"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73675" name="Rectangle 11"/>
            <p:cNvSpPr>
              <a:spLocks noChangeArrowheads="1"/>
            </p:cNvSpPr>
            <p:nvPr/>
          </p:nvSpPr>
          <p:spPr bwMode="auto">
            <a:xfrm>
              <a:off x="2040" y="3440"/>
              <a:ext cx="1450" cy="25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0" rIns="0" bIns="0"/>
            <a:lstStyle/>
            <a:p>
              <a:pPr algn="just" eaLnBrk="0" hangingPunct="0">
                <a:lnSpc>
                  <a:spcPct val="96000"/>
                </a:lnSpc>
              </a:pPr>
              <a:r>
                <a:rPr lang="en-US" altLang="zh-CN" b="1"/>
                <a:t>if i &gt;= j goto </a:t>
              </a:r>
              <a:r>
                <a:rPr lang="en-US" altLang="zh-CN" b="1" i="1"/>
                <a:t>B</a:t>
              </a:r>
              <a:r>
                <a:rPr lang="en-US" altLang="zh-CN" b="1" baseline="-25000"/>
                <a:t>6</a:t>
              </a:r>
            </a:p>
          </p:txBody>
        </p:sp>
        <p:sp>
          <p:nvSpPr>
            <p:cNvPr id="2673676" name="Line 12"/>
            <p:cNvSpPr>
              <a:spLocks noChangeShapeType="1"/>
            </p:cNvSpPr>
            <p:nvPr/>
          </p:nvSpPr>
          <p:spPr bwMode="auto">
            <a:xfrm>
              <a:off x="2713" y="3163"/>
              <a:ext cx="0"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73677" name="Rectangle 13"/>
            <p:cNvSpPr>
              <a:spLocks noChangeArrowheads="1"/>
            </p:cNvSpPr>
            <p:nvPr/>
          </p:nvSpPr>
          <p:spPr bwMode="auto">
            <a:xfrm>
              <a:off x="624" y="3984"/>
              <a:ext cx="1475" cy="8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endParaRPr lang="zh-CN" altLang="zh-CN" sz="1000" baseline="-25000"/>
            </a:p>
          </p:txBody>
        </p:sp>
        <p:sp>
          <p:nvSpPr>
            <p:cNvPr id="2673678" name="Rectangle 14"/>
            <p:cNvSpPr>
              <a:spLocks noChangeArrowheads="1"/>
            </p:cNvSpPr>
            <p:nvPr/>
          </p:nvSpPr>
          <p:spPr bwMode="auto">
            <a:xfrm>
              <a:off x="3493" y="3360"/>
              <a:ext cx="52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4</a:t>
              </a:r>
              <a:endParaRPr lang="en-US" altLang="zh-CN" b="1"/>
            </a:p>
          </p:txBody>
        </p:sp>
        <p:sp>
          <p:nvSpPr>
            <p:cNvPr id="2673679" name="Rectangle 15"/>
            <p:cNvSpPr>
              <a:spLocks noChangeArrowheads="1"/>
            </p:cNvSpPr>
            <p:nvPr/>
          </p:nvSpPr>
          <p:spPr bwMode="auto">
            <a:xfrm>
              <a:off x="3452" y="2386"/>
              <a:ext cx="52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3</a:t>
              </a:r>
              <a:endParaRPr lang="en-US" altLang="zh-CN" b="1"/>
            </a:p>
          </p:txBody>
        </p:sp>
        <p:sp>
          <p:nvSpPr>
            <p:cNvPr id="2673680" name="Rectangle 16"/>
            <p:cNvSpPr>
              <a:spLocks noChangeArrowheads="1"/>
            </p:cNvSpPr>
            <p:nvPr/>
          </p:nvSpPr>
          <p:spPr bwMode="auto">
            <a:xfrm>
              <a:off x="192" y="3840"/>
              <a:ext cx="43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5</a:t>
              </a:r>
              <a:endParaRPr lang="en-US" altLang="zh-CN" b="1"/>
            </a:p>
          </p:txBody>
        </p:sp>
        <p:sp>
          <p:nvSpPr>
            <p:cNvPr id="2673681" name="Rectangle 17"/>
            <p:cNvSpPr>
              <a:spLocks noChangeArrowheads="1"/>
            </p:cNvSpPr>
            <p:nvPr/>
          </p:nvSpPr>
          <p:spPr bwMode="auto">
            <a:xfrm>
              <a:off x="3312" y="3984"/>
              <a:ext cx="1435" cy="8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endParaRPr lang="zh-CN" altLang="zh-CN" sz="1000" baseline="-25000"/>
            </a:p>
          </p:txBody>
        </p:sp>
        <p:sp>
          <p:nvSpPr>
            <p:cNvPr id="2673682" name="Line 18"/>
            <p:cNvSpPr>
              <a:spLocks noChangeShapeType="1"/>
            </p:cNvSpPr>
            <p:nvPr/>
          </p:nvSpPr>
          <p:spPr bwMode="auto">
            <a:xfrm flipH="1">
              <a:off x="1296" y="3696"/>
              <a:ext cx="1263" cy="24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73683" name="Line 19"/>
            <p:cNvSpPr>
              <a:spLocks noChangeShapeType="1"/>
            </p:cNvSpPr>
            <p:nvPr/>
          </p:nvSpPr>
          <p:spPr bwMode="auto">
            <a:xfrm>
              <a:off x="2880" y="3696"/>
              <a:ext cx="1250" cy="24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73684" name="Rectangle 20"/>
            <p:cNvSpPr>
              <a:spLocks noChangeArrowheads="1"/>
            </p:cNvSpPr>
            <p:nvPr/>
          </p:nvSpPr>
          <p:spPr bwMode="auto">
            <a:xfrm>
              <a:off x="4800" y="3888"/>
              <a:ext cx="52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6</a:t>
              </a:r>
              <a:endParaRPr lang="en-US" altLang="zh-CN" b="1"/>
            </a:p>
          </p:txBody>
        </p:sp>
        <p:sp>
          <p:nvSpPr>
            <p:cNvPr id="2673685" name="Freeform 21"/>
            <p:cNvSpPr>
              <a:spLocks/>
            </p:cNvSpPr>
            <p:nvPr/>
          </p:nvSpPr>
          <p:spPr bwMode="auto">
            <a:xfrm>
              <a:off x="1447" y="1366"/>
              <a:ext cx="645" cy="952"/>
            </a:xfrm>
            <a:custGeom>
              <a:avLst/>
              <a:gdLst>
                <a:gd name="T0" fmla="*/ 722 w 722"/>
                <a:gd name="T1" fmla="*/ 1251 h 1447"/>
                <a:gd name="T2" fmla="*/ 392 w 722"/>
                <a:gd name="T3" fmla="*/ 1447 h 1447"/>
                <a:gd name="T4" fmla="*/ 138 w 722"/>
                <a:gd name="T5" fmla="*/ 1251 h 1447"/>
                <a:gd name="T6" fmla="*/ 3 w 722"/>
                <a:gd name="T7" fmla="*/ 697 h 1447"/>
                <a:gd name="T8" fmla="*/ 153 w 722"/>
                <a:gd name="T9" fmla="*/ 157 h 1447"/>
                <a:gd name="T10" fmla="*/ 423 w 722"/>
                <a:gd name="T11" fmla="*/ 7 h 1447"/>
                <a:gd name="T12" fmla="*/ 662 w 722"/>
                <a:gd name="T13" fmla="*/ 201 h 1447"/>
              </a:gdLst>
              <a:ahLst/>
              <a:cxnLst>
                <a:cxn ang="0">
                  <a:pos x="T0" y="T1"/>
                </a:cxn>
                <a:cxn ang="0">
                  <a:pos x="T2" y="T3"/>
                </a:cxn>
                <a:cxn ang="0">
                  <a:pos x="T4" y="T5"/>
                </a:cxn>
                <a:cxn ang="0">
                  <a:pos x="T6" y="T7"/>
                </a:cxn>
                <a:cxn ang="0">
                  <a:pos x="T8" y="T9"/>
                </a:cxn>
                <a:cxn ang="0">
                  <a:pos x="T10" y="T11"/>
                </a:cxn>
                <a:cxn ang="0">
                  <a:pos x="T12" y="T13"/>
                </a:cxn>
              </a:cxnLst>
              <a:rect l="0" t="0" r="r" b="b"/>
              <a:pathLst>
                <a:path w="722" h="1447">
                  <a:moveTo>
                    <a:pt x="722" y="1251"/>
                  </a:moveTo>
                  <a:cubicBezTo>
                    <a:pt x="605" y="1349"/>
                    <a:pt x="489" y="1447"/>
                    <a:pt x="392" y="1447"/>
                  </a:cubicBezTo>
                  <a:cubicBezTo>
                    <a:pt x="295" y="1447"/>
                    <a:pt x="203" y="1376"/>
                    <a:pt x="138" y="1251"/>
                  </a:cubicBezTo>
                  <a:cubicBezTo>
                    <a:pt x="73" y="1126"/>
                    <a:pt x="0" y="879"/>
                    <a:pt x="3" y="697"/>
                  </a:cubicBezTo>
                  <a:cubicBezTo>
                    <a:pt x="6" y="515"/>
                    <a:pt x="83" y="272"/>
                    <a:pt x="153" y="157"/>
                  </a:cubicBezTo>
                  <a:cubicBezTo>
                    <a:pt x="223" y="42"/>
                    <a:pt x="338" y="0"/>
                    <a:pt x="423" y="7"/>
                  </a:cubicBezTo>
                  <a:cubicBezTo>
                    <a:pt x="508" y="14"/>
                    <a:pt x="612" y="161"/>
                    <a:pt x="662" y="201"/>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73686" name="Freeform 22"/>
            <p:cNvSpPr>
              <a:spLocks/>
            </p:cNvSpPr>
            <p:nvPr/>
          </p:nvSpPr>
          <p:spPr bwMode="auto">
            <a:xfrm>
              <a:off x="1485" y="2333"/>
              <a:ext cx="634" cy="950"/>
            </a:xfrm>
            <a:custGeom>
              <a:avLst/>
              <a:gdLst>
                <a:gd name="T0" fmla="*/ 722 w 722"/>
                <a:gd name="T1" fmla="*/ 1251 h 1447"/>
                <a:gd name="T2" fmla="*/ 392 w 722"/>
                <a:gd name="T3" fmla="*/ 1447 h 1447"/>
                <a:gd name="T4" fmla="*/ 138 w 722"/>
                <a:gd name="T5" fmla="*/ 1251 h 1447"/>
                <a:gd name="T6" fmla="*/ 3 w 722"/>
                <a:gd name="T7" fmla="*/ 697 h 1447"/>
                <a:gd name="T8" fmla="*/ 153 w 722"/>
                <a:gd name="T9" fmla="*/ 157 h 1447"/>
                <a:gd name="T10" fmla="*/ 423 w 722"/>
                <a:gd name="T11" fmla="*/ 7 h 1447"/>
                <a:gd name="T12" fmla="*/ 662 w 722"/>
                <a:gd name="T13" fmla="*/ 201 h 1447"/>
              </a:gdLst>
              <a:ahLst/>
              <a:cxnLst>
                <a:cxn ang="0">
                  <a:pos x="T0" y="T1"/>
                </a:cxn>
                <a:cxn ang="0">
                  <a:pos x="T2" y="T3"/>
                </a:cxn>
                <a:cxn ang="0">
                  <a:pos x="T4" y="T5"/>
                </a:cxn>
                <a:cxn ang="0">
                  <a:pos x="T6" y="T7"/>
                </a:cxn>
                <a:cxn ang="0">
                  <a:pos x="T8" y="T9"/>
                </a:cxn>
                <a:cxn ang="0">
                  <a:pos x="T10" y="T11"/>
                </a:cxn>
                <a:cxn ang="0">
                  <a:pos x="T12" y="T13"/>
                </a:cxn>
              </a:cxnLst>
              <a:rect l="0" t="0" r="r" b="b"/>
              <a:pathLst>
                <a:path w="722" h="1447">
                  <a:moveTo>
                    <a:pt x="722" y="1251"/>
                  </a:moveTo>
                  <a:cubicBezTo>
                    <a:pt x="605" y="1349"/>
                    <a:pt x="489" y="1447"/>
                    <a:pt x="392" y="1447"/>
                  </a:cubicBezTo>
                  <a:cubicBezTo>
                    <a:pt x="295" y="1447"/>
                    <a:pt x="203" y="1376"/>
                    <a:pt x="138" y="1251"/>
                  </a:cubicBezTo>
                  <a:cubicBezTo>
                    <a:pt x="73" y="1126"/>
                    <a:pt x="0" y="879"/>
                    <a:pt x="3" y="697"/>
                  </a:cubicBezTo>
                  <a:cubicBezTo>
                    <a:pt x="6" y="515"/>
                    <a:pt x="83" y="272"/>
                    <a:pt x="153" y="157"/>
                  </a:cubicBezTo>
                  <a:cubicBezTo>
                    <a:pt x="223" y="42"/>
                    <a:pt x="338" y="0"/>
                    <a:pt x="423" y="7"/>
                  </a:cubicBezTo>
                  <a:cubicBezTo>
                    <a:pt x="508" y="14"/>
                    <a:pt x="612" y="161"/>
                    <a:pt x="662" y="201"/>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73687" name="Freeform 23"/>
            <p:cNvSpPr>
              <a:spLocks/>
            </p:cNvSpPr>
            <p:nvPr/>
          </p:nvSpPr>
          <p:spPr bwMode="auto">
            <a:xfrm>
              <a:off x="476" y="1137"/>
              <a:ext cx="1803" cy="3136"/>
            </a:xfrm>
            <a:custGeom>
              <a:avLst/>
              <a:gdLst>
                <a:gd name="T0" fmla="*/ 620 w 1803"/>
                <a:gd name="T1" fmla="*/ 2951 h 3136"/>
                <a:gd name="T2" fmla="*/ 142 w 1803"/>
                <a:gd name="T3" fmla="*/ 3021 h 3136"/>
                <a:gd name="T4" fmla="*/ 2 w 1803"/>
                <a:gd name="T5" fmla="*/ 2263 h 3136"/>
                <a:gd name="T6" fmla="*/ 128 w 1803"/>
                <a:gd name="T7" fmla="*/ 1518 h 3136"/>
                <a:gd name="T8" fmla="*/ 283 w 1803"/>
                <a:gd name="T9" fmla="*/ 951 h 3136"/>
                <a:gd name="T10" fmla="*/ 648 w 1803"/>
                <a:gd name="T11" fmla="*/ 277 h 3136"/>
                <a:gd name="T12" fmla="*/ 1170 w 1803"/>
                <a:gd name="T13" fmla="*/ 11 h 3136"/>
                <a:gd name="T14" fmla="*/ 1803 w 1803"/>
                <a:gd name="T15" fmla="*/ 347 h 3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03" h="3136">
                  <a:moveTo>
                    <a:pt x="620" y="2951"/>
                  </a:moveTo>
                  <a:cubicBezTo>
                    <a:pt x="540" y="2963"/>
                    <a:pt x="245" y="3136"/>
                    <a:pt x="142" y="3021"/>
                  </a:cubicBezTo>
                  <a:cubicBezTo>
                    <a:pt x="39" y="2906"/>
                    <a:pt x="4" y="2513"/>
                    <a:pt x="2" y="2263"/>
                  </a:cubicBezTo>
                  <a:cubicBezTo>
                    <a:pt x="0" y="2013"/>
                    <a:pt x="81" y="1737"/>
                    <a:pt x="128" y="1518"/>
                  </a:cubicBezTo>
                  <a:cubicBezTo>
                    <a:pt x="175" y="1299"/>
                    <a:pt x="196" y="1158"/>
                    <a:pt x="283" y="951"/>
                  </a:cubicBezTo>
                  <a:cubicBezTo>
                    <a:pt x="370" y="744"/>
                    <a:pt x="500" y="433"/>
                    <a:pt x="648" y="277"/>
                  </a:cubicBezTo>
                  <a:cubicBezTo>
                    <a:pt x="796" y="120"/>
                    <a:pt x="978" y="0"/>
                    <a:pt x="1170" y="11"/>
                  </a:cubicBezTo>
                  <a:cubicBezTo>
                    <a:pt x="1362" y="23"/>
                    <a:pt x="1672" y="278"/>
                    <a:pt x="1803" y="34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37421709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E216B2BE-689E-49FC-BB67-12D8FA8F3AC1}"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26FD5BBE-F66E-408D-A6CA-CFD4B9878742}" type="slidenum">
              <a:rPr lang="en-US" altLang="zh-CN"/>
              <a:pPr/>
              <a:t>9</a:t>
            </a:fld>
            <a:endParaRPr lang="en-US" altLang="zh-CN"/>
          </a:p>
        </p:txBody>
      </p:sp>
      <p:sp>
        <p:nvSpPr>
          <p:cNvPr id="2675714" name="Rectangle 2"/>
          <p:cNvSpPr>
            <a:spLocks noGrp="1" noChangeArrowheads="1"/>
          </p:cNvSpPr>
          <p:nvPr>
            <p:ph type="title"/>
          </p:nvPr>
        </p:nvSpPr>
        <p:spPr>
          <a:xfrm>
            <a:off x="1100138" y="44450"/>
            <a:ext cx="6280150"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75715" name="Rectangle 3"/>
          <p:cNvSpPr>
            <a:spLocks noGrp="1" noChangeArrowheads="1"/>
          </p:cNvSpPr>
          <p:nvPr>
            <p:ph type="body" idx="1"/>
          </p:nvPr>
        </p:nvSpPr>
        <p:spPr>
          <a:xfrm>
            <a:off x="304800" y="1125538"/>
            <a:ext cx="8610600" cy="5219700"/>
          </a:xfrm>
        </p:spPr>
        <p:txBody>
          <a:bodyPr/>
          <a:lstStyle/>
          <a:p>
            <a:pPr>
              <a:spcBef>
                <a:spcPct val="1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局部公共子表达式</a:t>
            </a:r>
          </a:p>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75716" name="Rectangle 4"/>
          <p:cNvSpPr>
            <a:spLocks noChangeArrowheads="1"/>
          </p:cNvSpPr>
          <p:nvPr/>
        </p:nvSpPr>
        <p:spPr bwMode="auto">
          <a:xfrm>
            <a:off x="990600" y="2382838"/>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4 </a:t>
            </a:r>
            <a:r>
              <a:rPr lang="en-US" altLang="zh-CN" sz="2800" b="1">
                <a:latin typeface="宋体" panose="02010600030101010101" pitchFamily="2" charset="-122"/>
              </a:rPr>
              <a:t>*</a:t>
            </a:r>
            <a:r>
              <a:rPr lang="en-US" altLang="zh-CN" sz="2800" b="1"/>
              <a:t> i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1506876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8F61597A-C385-4D52-9569-E8D159119AB2}"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87736911-D1EF-4B46-961F-0AC99A306C07}" type="slidenum">
              <a:rPr lang="en-US" altLang="zh-CN"/>
              <a:pPr/>
              <a:t>10</a:t>
            </a:fld>
            <a:endParaRPr lang="en-US" altLang="zh-CN"/>
          </a:p>
        </p:txBody>
      </p:sp>
      <p:sp>
        <p:nvSpPr>
          <p:cNvPr id="2677762" name="Rectangle 2"/>
          <p:cNvSpPr>
            <a:spLocks noGrp="1" noChangeArrowheads="1"/>
          </p:cNvSpPr>
          <p:nvPr>
            <p:ph type="title"/>
          </p:nvPr>
        </p:nvSpPr>
        <p:spPr>
          <a:xfrm>
            <a:off x="1100138" y="44450"/>
            <a:ext cx="6064250"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77763" name="Rectangle 3"/>
          <p:cNvSpPr>
            <a:spLocks noGrp="1" noChangeArrowheads="1"/>
          </p:cNvSpPr>
          <p:nvPr>
            <p:ph type="body" idx="1"/>
          </p:nvPr>
        </p:nvSpPr>
        <p:spPr>
          <a:xfrm>
            <a:off x="304800" y="1125538"/>
            <a:ext cx="8610600" cy="5291137"/>
          </a:xfrm>
        </p:spPr>
        <p:txBody>
          <a:bodyPr/>
          <a:lstStyle/>
          <a:p>
            <a:pPr>
              <a:spcBef>
                <a:spcPct val="1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局部公共子表达式</a:t>
            </a:r>
            <a:endParaRPr lang="zh-CN" altLang="en-US"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77764" name="Rectangle 4"/>
          <p:cNvSpPr>
            <a:spLocks noChangeArrowheads="1"/>
          </p:cNvSpPr>
          <p:nvPr/>
        </p:nvSpPr>
        <p:spPr bwMode="auto">
          <a:xfrm>
            <a:off x="990600" y="2382838"/>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r>
              <a:rPr lang="en-US" altLang="zh-CN" sz="2800" b="1"/>
              <a:t>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22690014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9EFBDA2A-ECD2-41BA-937F-722A7ADF7C7B}"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10C28935-6258-4160-B219-4BB657C17581}" type="slidenum">
              <a:rPr lang="en-US" altLang="zh-CN"/>
              <a:pPr/>
              <a:t>11</a:t>
            </a:fld>
            <a:endParaRPr lang="en-US" altLang="zh-CN"/>
          </a:p>
        </p:txBody>
      </p:sp>
      <p:sp>
        <p:nvSpPr>
          <p:cNvPr id="2679810" name="Rectangle 2"/>
          <p:cNvSpPr>
            <a:spLocks noGrp="1" noChangeArrowheads="1"/>
          </p:cNvSpPr>
          <p:nvPr>
            <p:ph type="title"/>
          </p:nvPr>
        </p:nvSpPr>
        <p:spPr>
          <a:xfrm>
            <a:off x="1100138" y="44450"/>
            <a:ext cx="6567487"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79811" name="Rectangle 3"/>
          <p:cNvSpPr>
            <a:spLocks noGrp="1" noChangeArrowheads="1"/>
          </p:cNvSpPr>
          <p:nvPr>
            <p:ph type="body" idx="1"/>
          </p:nvPr>
        </p:nvSpPr>
        <p:spPr>
          <a:xfrm>
            <a:off x="304800" y="1052513"/>
            <a:ext cx="8610600" cy="5292725"/>
          </a:xfrm>
        </p:spPr>
        <p:txBody>
          <a:bodyPr/>
          <a:lstStyle/>
          <a:p>
            <a:pPr>
              <a:spcBef>
                <a:spcPct val="1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局部公共子表达式</a:t>
            </a:r>
            <a:endParaRPr lang="zh-CN" altLang="en-US"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79812" name="Rectangle 4"/>
          <p:cNvSpPr>
            <a:spLocks noChangeArrowheads="1"/>
          </p:cNvSpPr>
          <p:nvPr/>
        </p:nvSpPr>
        <p:spPr bwMode="auto">
          <a:xfrm>
            <a:off x="990600" y="2382838"/>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r>
              <a:rPr lang="en-US" altLang="zh-CN" sz="2800" b="1"/>
              <a:t>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79813" name="Rectangle 5"/>
          <p:cNvSpPr>
            <a:spLocks noChangeArrowheads="1"/>
          </p:cNvSpPr>
          <p:nvPr/>
        </p:nvSpPr>
        <p:spPr bwMode="auto">
          <a:xfrm>
            <a:off x="3581400" y="2382838"/>
            <a:ext cx="2227263" cy="3048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6</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8</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39249857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3C5AFC33-2817-4D14-B49A-685DD0D4A088}"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22E02E52-1C97-4477-BC7E-A847DCD502A0}" type="slidenum">
              <a:rPr lang="en-US" altLang="zh-CN"/>
              <a:pPr/>
              <a:t>12</a:t>
            </a:fld>
            <a:endParaRPr lang="en-US" altLang="zh-CN"/>
          </a:p>
        </p:txBody>
      </p:sp>
      <p:sp>
        <p:nvSpPr>
          <p:cNvPr id="2681858" name="Rectangle 2"/>
          <p:cNvSpPr>
            <a:spLocks noGrp="1" noChangeArrowheads="1"/>
          </p:cNvSpPr>
          <p:nvPr>
            <p:ph type="title"/>
          </p:nvPr>
        </p:nvSpPr>
        <p:spPr>
          <a:xfrm>
            <a:off x="1100138" y="188913"/>
            <a:ext cx="6496050" cy="10795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81859" name="Rectangle 3"/>
          <p:cNvSpPr>
            <a:spLocks noGrp="1" noChangeArrowheads="1"/>
          </p:cNvSpPr>
          <p:nvPr>
            <p:ph type="body" idx="1"/>
          </p:nvPr>
        </p:nvSpPr>
        <p:spPr>
          <a:xfrm>
            <a:off x="304800" y="1196975"/>
            <a:ext cx="8610600" cy="5229225"/>
          </a:xfrm>
        </p:spPr>
        <p:txBody>
          <a:bodyPr/>
          <a:lstStyle/>
          <a:p>
            <a:pPr>
              <a:spcBef>
                <a:spcPct val="1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全局公共子表达式</a:t>
            </a:r>
            <a:endParaRPr lang="zh-CN" altLang="en-US"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81860" name="Rectangle 4"/>
          <p:cNvSpPr>
            <a:spLocks noChangeArrowheads="1"/>
          </p:cNvSpPr>
          <p:nvPr/>
        </p:nvSpPr>
        <p:spPr bwMode="auto">
          <a:xfrm>
            <a:off x="685800" y="2463800"/>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4 </a:t>
            </a:r>
            <a:r>
              <a:rPr lang="en-US" altLang="zh-CN" sz="2800" b="1">
                <a:latin typeface="宋体" panose="02010600030101010101" pitchFamily="2" charset="-122"/>
              </a:rPr>
              <a:t>*</a:t>
            </a:r>
            <a:r>
              <a:rPr lang="en-US" altLang="zh-CN" sz="2800" b="1"/>
              <a:t> i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1861" name="Rectangle 5"/>
          <p:cNvSpPr>
            <a:spLocks noChangeArrowheads="1"/>
          </p:cNvSpPr>
          <p:nvPr/>
        </p:nvSpPr>
        <p:spPr bwMode="auto">
          <a:xfrm>
            <a:off x="3657600" y="2463800"/>
            <a:ext cx="2227263" cy="3048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8</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6</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8</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691859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49626F77-BDE0-4AEB-A43E-443B25746C9E}"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8EE77E1A-A7B9-4652-965A-8D8151D570C4}" type="slidenum">
              <a:rPr lang="en-US" altLang="zh-CN"/>
              <a:pPr/>
              <a:t>13</a:t>
            </a:fld>
            <a:endParaRPr lang="en-US" altLang="zh-CN"/>
          </a:p>
        </p:txBody>
      </p:sp>
      <p:sp>
        <p:nvSpPr>
          <p:cNvPr id="2683906" name="Rectangle 2"/>
          <p:cNvSpPr>
            <a:spLocks noGrp="1" noChangeArrowheads="1"/>
          </p:cNvSpPr>
          <p:nvPr>
            <p:ph type="title"/>
          </p:nvPr>
        </p:nvSpPr>
        <p:spPr>
          <a:xfrm>
            <a:off x="1100138" y="44450"/>
            <a:ext cx="6351587"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83907" name="Rectangle 3"/>
          <p:cNvSpPr>
            <a:spLocks noGrp="1" noChangeArrowheads="1"/>
          </p:cNvSpPr>
          <p:nvPr>
            <p:ph type="body" idx="1"/>
          </p:nvPr>
        </p:nvSpPr>
        <p:spPr>
          <a:xfrm>
            <a:off x="304800" y="1052513"/>
            <a:ext cx="8610600" cy="5319712"/>
          </a:xfrm>
        </p:spPr>
        <p:txBody>
          <a:bodyPr/>
          <a:lstStyle/>
          <a:p>
            <a:pPr>
              <a:spcBef>
                <a:spcPct val="10000"/>
              </a:spcBef>
              <a:buFontTx/>
              <a:buNone/>
            </a:pP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全局公共子表达式</a:t>
            </a:r>
            <a:endParaRPr lang="zh-CN" altLang="en-US"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83908" name="Rectangle 4"/>
          <p:cNvSpPr>
            <a:spLocks noChangeArrowheads="1"/>
          </p:cNvSpPr>
          <p:nvPr/>
        </p:nvSpPr>
        <p:spPr bwMode="auto">
          <a:xfrm>
            <a:off x="685800" y="2382838"/>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4 </a:t>
            </a:r>
            <a:r>
              <a:rPr lang="en-US" altLang="zh-CN" sz="2800" b="1">
                <a:latin typeface="宋体" panose="02010600030101010101" pitchFamily="2" charset="-122"/>
              </a:rPr>
              <a:t>*</a:t>
            </a:r>
            <a:r>
              <a:rPr lang="en-US" altLang="zh-CN" sz="2800" b="1"/>
              <a:t> i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3909" name="Rectangle 5"/>
          <p:cNvSpPr>
            <a:spLocks noChangeArrowheads="1"/>
          </p:cNvSpPr>
          <p:nvPr/>
        </p:nvSpPr>
        <p:spPr bwMode="auto">
          <a:xfrm>
            <a:off x="3657600" y="2382838"/>
            <a:ext cx="2227263" cy="3048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8</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6</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8</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3910" name="Rectangle 6"/>
          <p:cNvSpPr>
            <a:spLocks noChangeArrowheads="1"/>
          </p:cNvSpPr>
          <p:nvPr/>
        </p:nvSpPr>
        <p:spPr bwMode="auto">
          <a:xfrm>
            <a:off x="6477000" y="2382838"/>
            <a:ext cx="2227263" cy="22098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a[t</a:t>
            </a:r>
            <a:r>
              <a:rPr lang="en-US" altLang="zh-CN" sz="2800" b="1" baseline="-25000"/>
              <a:t>2</a:t>
            </a:r>
            <a:r>
              <a:rPr lang="en-US" altLang="zh-CN" sz="2800" b="1"/>
              <a:t>]</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4</a:t>
            </a:r>
            <a:r>
              <a:rPr lang="en-US" altLang="zh-CN" sz="2800" b="1"/>
              <a:t>]</a:t>
            </a: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974252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8EACBBFD-8212-40BB-ABDB-D6D6D72F68B3}"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58F7E75A-90EE-430B-9323-A61C48C18BA7}" type="slidenum">
              <a:rPr lang="en-US" altLang="zh-CN"/>
              <a:pPr/>
              <a:t>14</a:t>
            </a:fld>
            <a:endParaRPr lang="en-US" altLang="zh-CN"/>
          </a:p>
        </p:txBody>
      </p:sp>
      <p:sp>
        <p:nvSpPr>
          <p:cNvPr id="2685954" name="Rectangle 2"/>
          <p:cNvSpPr>
            <a:spLocks noGrp="1" noChangeArrowheads="1"/>
          </p:cNvSpPr>
          <p:nvPr>
            <p:ph type="title"/>
          </p:nvPr>
        </p:nvSpPr>
        <p:spPr>
          <a:xfrm>
            <a:off x="1101725" y="44450"/>
            <a:ext cx="6062663"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85955" name="Rectangle 3"/>
          <p:cNvSpPr>
            <a:spLocks noGrp="1" noChangeArrowheads="1"/>
          </p:cNvSpPr>
          <p:nvPr>
            <p:ph type="body" idx="1"/>
          </p:nvPr>
        </p:nvSpPr>
        <p:spPr>
          <a:xfrm>
            <a:off x="304800" y="1163638"/>
            <a:ext cx="8610600" cy="5181600"/>
          </a:xfrm>
        </p:spPr>
        <p:txBody>
          <a:bodyPr/>
          <a:lstStyle/>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85956" name="Rectangle 4"/>
          <p:cNvSpPr>
            <a:spLocks noChangeArrowheads="1"/>
          </p:cNvSpPr>
          <p:nvPr/>
        </p:nvSpPr>
        <p:spPr bwMode="auto">
          <a:xfrm>
            <a:off x="685800" y="2060575"/>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r>
              <a:rPr lang="en-US" altLang="zh-CN" sz="2800" b="1"/>
              <a:t>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5957" name="Rectangle 5"/>
          <p:cNvSpPr>
            <a:spLocks noChangeArrowheads="1"/>
          </p:cNvSpPr>
          <p:nvPr/>
        </p:nvSpPr>
        <p:spPr bwMode="auto">
          <a:xfrm>
            <a:off x="3657600" y="2060575"/>
            <a:ext cx="2227263" cy="3048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8</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6</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8</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5958" name="Rectangle 6"/>
          <p:cNvSpPr>
            <a:spLocks noChangeArrowheads="1"/>
          </p:cNvSpPr>
          <p:nvPr/>
        </p:nvSpPr>
        <p:spPr bwMode="auto">
          <a:xfrm>
            <a:off x="6477000" y="2060575"/>
            <a:ext cx="2227263" cy="2057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a:t>
            </a:r>
            <a:r>
              <a:rPr lang="en-US" altLang="zh-CN" sz="2800" b="1">
                <a:solidFill>
                  <a:srgbClr val="FF0000"/>
                </a:solidFill>
              </a:rPr>
              <a:t>a[t</a:t>
            </a:r>
            <a:r>
              <a:rPr lang="en-US" altLang="zh-CN" sz="2800" b="1" baseline="-25000">
                <a:solidFill>
                  <a:srgbClr val="FF0000"/>
                </a:solidFill>
              </a:rPr>
              <a:t>2</a:t>
            </a:r>
            <a:r>
              <a:rPr lang="en-US" altLang="zh-CN" sz="2800" b="1">
                <a:solidFill>
                  <a:srgbClr val="FF0000"/>
                </a:solidFill>
              </a:rPr>
              <a:t>]</a:t>
            </a:r>
          </a:p>
          <a:p>
            <a:pPr algn="just" eaLnBrk="0" hangingPunct="0">
              <a:lnSpc>
                <a:spcPct val="96000"/>
              </a:lnSpc>
            </a:pPr>
            <a:r>
              <a:rPr lang="en-US" altLang="zh-CN" sz="2800" b="1"/>
              <a:t>t</a:t>
            </a:r>
            <a:r>
              <a:rPr lang="en-US" altLang="zh-CN" sz="2800" b="1" baseline="-25000"/>
              <a:t>9</a:t>
            </a:r>
            <a:r>
              <a:rPr lang="en-US" altLang="zh-CN" sz="2800" b="1"/>
              <a:t> := </a:t>
            </a:r>
            <a:r>
              <a:rPr lang="en-US" altLang="zh-CN" sz="2800" b="1">
                <a:solidFill>
                  <a:srgbClr val="FF0000"/>
                </a:solidFill>
              </a:rPr>
              <a:t>a[t</a:t>
            </a:r>
            <a:r>
              <a:rPr lang="en-US" altLang="zh-CN" sz="2800" b="1" baseline="-25000">
                <a:solidFill>
                  <a:srgbClr val="FF0000"/>
                </a:solidFill>
              </a:rPr>
              <a:t>4</a:t>
            </a:r>
            <a:r>
              <a:rPr lang="en-US" altLang="zh-CN" sz="2800" b="1">
                <a:solidFill>
                  <a:srgbClr val="FF0000"/>
                </a:solidFill>
              </a:rPr>
              <a:t>]</a:t>
            </a: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Tree>
    <p:extLst>
      <p:ext uri="{BB962C8B-B14F-4D97-AF65-F5344CB8AC3E}">
        <p14:creationId xmlns:p14="http://schemas.microsoft.com/office/powerpoint/2010/main" val="17130145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half" idx="10"/>
          </p:nvPr>
        </p:nvSpPr>
        <p:spPr/>
        <p:txBody>
          <a:bodyPr/>
          <a:lstStyle/>
          <a:p>
            <a:fld id="{DCDEEC4E-C14A-4D4A-A29E-6238E98B3940}" type="datetime1">
              <a:rPr lang="zh-CN" altLang="en-US"/>
              <a:pPr/>
              <a:t>2017/2/24</a:t>
            </a:fld>
            <a:endParaRPr lang="en-US" altLang="zh-CN"/>
          </a:p>
        </p:txBody>
      </p:sp>
      <p:sp>
        <p:nvSpPr>
          <p:cNvPr id="10" name="灯片编号占位符 5"/>
          <p:cNvSpPr>
            <a:spLocks noGrp="1"/>
          </p:cNvSpPr>
          <p:nvPr>
            <p:ph type="sldNum" sz="quarter" idx="12"/>
          </p:nvPr>
        </p:nvSpPr>
        <p:spPr/>
        <p:txBody>
          <a:bodyPr/>
          <a:lstStyle/>
          <a:p>
            <a:fld id="{06583243-43F3-4CBF-B8E9-F9BD034E79F6}" type="slidenum">
              <a:rPr lang="en-US" altLang="zh-CN"/>
              <a:pPr/>
              <a:t>15</a:t>
            </a:fld>
            <a:endParaRPr lang="en-US" altLang="zh-CN"/>
          </a:p>
        </p:txBody>
      </p:sp>
      <p:sp>
        <p:nvSpPr>
          <p:cNvPr id="2688002" name="Rectangle 2"/>
          <p:cNvSpPr>
            <a:spLocks noGrp="1" noChangeArrowheads="1"/>
          </p:cNvSpPr>
          <p:nvPr>
            <p:ph type="title"/>
          </p:nvPr>
        </p:nvSpPr>
        <p:spPr>
          <a:xfrm>
            <a:off x="1101725" y="44450"/>
            <a:ext cx="6783388"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88003" name="Rectangle 3"/>
          <p:cNvSpPr>
            <a:spLocks noGrp="1" noChangeArrowheads="1"/>
          </p:cNvSpPr>
          <p:nvPr>
            <p:ph type="body" idx="1"/>
          </p:nvPr>
        </p:nvSpPr>
        <p:spPr>
          <a:xfrm>
            <a:off x="304800" y="1163638"/>
            <a:ext cx="8610600" cy="5181600"/>
          </a:xfrm>
        </p:spPr>
        <p:txBody>
          <a:bodyPr/>
          <a:lstStyle/>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5</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]=a[j]; a[j]=x;</a:t>
            </a:r>
          </a:p>
        </p:txBody>
      </p:sp>
      <p:sp>
        <p:nvSpPr>
          <p:cNvPr id="2688004" name="Rectangle 4"/>
          <p:cNvSpPr>
            <a:spLocks noChangeArrowheads="1"/>
          </p:cNvSpPr>
          <p:nvPr/>
        </p:nvSpPr>
        <p:spPr bwMode="auto">
          <a:xfrm>
            <a:off x="685800" y="1995488"/>
            <a:ext cx="2227263" cy="3810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7</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 </a:t>
            </a:r>
          </a:p>
          <a:p>
            <a:pPr algn="just" eaLnBrk="0" hangingPunct="0">
              <a:lnSpc>
                <a:spcPct val="96000"/>
              </a:lnSpc>
            </a:pPr>
            <a:r>
              <a:rPr lang="en-US" altLang="zh-CN" sz="2800" b="1"/>
              <a:t>t</a:t>
            </a:r>
            <a:r>
              <a:rPr lang="en-US" altLang="zh-CN" sz="2800" b="1" baseline="-25000"/>
              <a:t>8</a:t>
            </a:r>
            <a:r>
              <a:rPr lang="en-US" altLang="zh-CN" sz="2800" b="1"/>
              <a:t> := 4 </a:t>
            </a:r>
            <a:r>
              <a:rPr lang="en-US" altLang="zh-CN" sz="2800" b="1">
                <a:latin typeface="宋体" panose="02010600030101010101" pitchFamily="2" charset="-122"/>
              </a:rPr>
              <a:t>*</a:t>
            </a:r>
            <a:r>
              <a:rPr lang="en-US" altLang="zh-CN" sz="2800" b="1"/>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7</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t</a:t>
            </a:r>
            <a:r>
              <a:rPr lang="en-US" altLang="zh-CN" sz="2800" b="1" baseline="-25000"/>
              <a:t>10</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a[t</a:t>
            </a:r>
            <a:r>
              <a:rPr lang="en-US" altLang="zh-CN" sz="2800" b="1" baseline="-25000"/>
              <a:t>10</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8005" name="Rectangle 5"/>
          <p:cNvSpPr>
            <a:spLocks noChangeArrowheads="1"/>
          </p:cNvSpPr>
          <p:nvPr/>
        </p:nvSpPr>
        <p:spPr bwMode="auto">
          <a:xfrm>
            <a:off x="3657600" y="1995488"/>
            <a:ext cx="2227263" cy="3048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25000"/>
              <a:t>6</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i</a:t>
            </a:r>
          </a:p>
          <a:p>
            <a:pPr algn="just" eaLnBrk="0" hangingPunct="0">
              <a:lnSpc>
                <a:spcPct val="96000"/>
              </a:lnSpc>
            </a:pPr>
            <a:r>
              <a:rPr lang="en-US" altLang="zh-CN" sz="2800" b="1"/>
              <a:t>x := a[t</a:t>
            </a:r>
            <a:r>
              <a:rPr lang="en-US" altLang="zh-CN" sz="2800" b="1" baseline="-25000"/>
              <a:t>6</a:t>
            </a:r>
            <a:r>
              <a:rPr lang="en-US" altLang="zh-CN" sz="2800" b="1"/>
              <a:t>]</a:t>
            </a:r>
          </a:p>
          <a:p>
            <a:pPr algn="just" eaLnBrk="0" hangingPunct="0">
              <a:lnSpc>
                <a:spcPct val="96000"/>
              </a:lnSpc>
            </a:pPr>
            <a:r>
              <a:rPr lang="en-US" altLang="zh-CN" sz="2800" b="1"/>
              <a:t>t</a:t>
            </a:r>
            <a:r>
              <a:rPr lang="en-US" altLang="zh-CN" sz="2800" b="1" baseline="-25000"/>
              <a:t>8</a:t>
            </a:r>
            <a:r>
              <a:rPr lang="en-US" altLang="zh-CN" sz="2800" b="1"/>
              <a:t> := </a:t>
            </a:r>
            <a:r>
              <a:rPr lang="en-US" altLang="zh-CN" sz="2800" b="1">
                <a:solidFill>
                  <a:srgbClr val="FF0000"/>
                </a:solidFill>
              </a:rPr>
              <a:t>4 </a:t>
            </a:r>
            <a:r>
              <a:rPr lang="en-US" altLang="zh-CN" sz="2800" b="1">
                <a:solidFill>
                  <a:srgbClr val="FF0000"/>
                </a:solidFill>
                <a:latin typeface="宋体" panose="02010600030101010101" pitchFamily="2" charset="-122"/>
              </a:rPr>
              <a:t>*</a:t>
            </a:r>
            <a:r>
              <a:rPr lang="en-US" altLang="zh-CN" sz="2800" b="1">
                <a:solidFill>
                  <a:srgbClr val="FF0000"/>
                </a:solidFill>
              </a:rPr>
              <a:t> j</a:t>
            </a:r>
          </a:p>
          <a:p>
            <a:pPr algn="just" eaLnBrk="0" hangingPunct="0">
              <a:lnSpc>
                <a:spcPct val="96000"/>
              </a:lnSpc>
            </a:pPr>
            <a:r>
              <a:rPr lang="en-US" altLang="zh-CN" sz="2800" b="1"/>
              <a:t>t</a:t>
            </a:r>
            <a:r>
              <a:rPr lang="en-US" altLang="zh-CN" sz="2800" b="1" baseline="-25000"/>
              <a:t>9</a:t>
            </a:r>
            <a:r>
              <a:rPr lang="en-US" altLang="zh-CN" sz="2800" b="1"/>
              <a:t> := a[t</a:t>
            </a:r>
            <a:r>
              <a:rPr lang="en-US" altLang="zh-CN" sz="2800" b="1" baseline="-25000"/>
              <a:t>8</a:t>
            </a:r>
            <a:r>
              <a:rPr lang="en-US" altLang="zh-CN" sz="2800" b="1"/>
              <a:t>]</a:t>
            </a:r>
          </a:p>
          <a:p>
            <a:pPr algn="just" eaLnBrk="0" hangingPunct="0">
              <a:lnSpc>
                <a:spcPct val="96000"/>
              </a:lnSpc>
            </a:pPr>
            <a:r>
              <a:rPr lang="en-US" altLang="zh-CN" sz="2800" b="1"/>
              <a:t>a[t</a:t>
            </a:r>
            <a:r>
              <a:rPr lang="en-US" altLang="zh-CN" sz="2800" b="1" baseline="-25000"/>
              <a:t>6</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8</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8006" name="Rectangle 6"/>
          <p:cNvSpPr>
            <a:spLocks noChangeArrowheads="1"/>
          </p:cNvSpPr>
          <p:nvPr/>
        </p:nvSpPr>
        <p:spPr bwMode="auto">
          <a:xfrm>
            <a:off x="6477000" y="1995488"/>
            <a:ext cx="2227263" cy="2057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a:t>
            </a:r>
            <a:r>
              <a:rPr lang="en-US" altLang="zh-CN" sz="2800" b="1">
                <a:solidFill>
                  <a:srgbClr val="FF0000"/>
                </a:solidFill>
              </a:rPr>
              <a:t>a[t</a:t>
            </a:r>
            <a:r>
              <a:rPr lang="en-US" altLang="zh-CN" sz="2800" b="1" baseline="-25000">
                <a:solidFill>
                  <a:srgbClr val="FF0000"/>
                </a:solidFill>
              </a:rPr>
              <a:t>2</a:t>
            </a:r>
            <a:r>
              <a:rPr lang="en-US" altLang="zh-CN" sz="2800" b="1">
                <a:solidFill>
                  <a:srgbClr val="FF0000"/>
                </a:solidFill>
              </a:rPr>
              <a:t>]</a:t>
            </a:r>
          </a:p>
          <a:p>
            <a:pPr algn="just" eaLnBrk="0" hangingPunct="0">
              <a:lnSpc>
                <a:spcPct val="96000"/>
              </a:lnSpc>
            </a:pPr>
            <a:r>
              <a:rPr lang="en-US" altLang="zh-CN" sz="2800" b="1"/>
              <a:t>t</a:t>
            </a:r>
            <a:r>
              <a:rPr lang="en-US" altLang="zh-CN" sz="2800" b="1" baseline="-25000"/>
              <a:t>9</a:t>
            </a:r>
            <a:r>
              <a:rPr lang="en-US" altLang="zh-CN" sz="2800" b="1"/>
              <a:t> := </a:t>
            </a:r>
            <a:r>
              <a:rPr lang="en-US" altLang="zh-CN" sz="2800" b="1">
                <a:solidFill>
                  <a:srgbClr val="FF0000"/>
                </a:solidFill>
              </a:rPr>
              <a:t>a[t</a:t>
            </a:r>
            <a:r>
              <a:rPr lang="en-US" altLang="zh-CN" sz="2800" b="1" baseline="-25000">
                <a:solidFill>
                  <a:srgbClr val="FF0000"/>
                </a:solidFill>
              </a:rPr>
              <a:t>4</a:t>
            </a:r>
            <a:r>
              <a:rPr lang="en-US" altLang="zh-CN" sz="2800" b="1">
                <a:solidFill>
                  <a:srgbClr val="FF0000"/>
                </a:solidFill>
              </a:rPr>
              <a:t>]</a:t>
            </a: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9</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endParaRPr lang="en-US" altLang="zh-CN" sz="2800" b="1"/>
          </a:p>
          <a:p>
            <a:pPr algn="just" eaLnBrk="0" hangingPunct="0">
              <a:lnSpc>
                <a:spcPct val="96000"/>
              </a:lnSpc>
            </a:pPr>
            <a:endParaRPr lang="en-US" altLang="zh-CN" sz="2800" b="1" baseline="-25000"/>
          </a:p>
        </p:txBody>
      </p:sp>
      <p:sp>
        <p:nvSpPr>
          <p:cNvPr id="2688007" name="Rectangle 7"/>
          <p:cNvSpPr>
            <a:spLocks noChangeArrowheads="1"/>
          </p:cNvSpPr>
          <p:nvPr/>
        </p:nvSpPr>
        <p:spPr bwMode="auto">
          <a:xfrm>
            <a:off x="6477000" y="4129088"/>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t</a:t>
            </a:r>
            <a:r>
              <a:rPr lang="en-US" altLang="zh-CN" sz="2800" b="1" baseline="-25000"/>
              <a:t>3</a:t>
            </a:r>
            <a:endParaRPr lang="en-US" altLang="zh-CN" sz="2800" b="1">
              <a:solidFill>
                <a:srgbClr val="00FF00"/>
              </a:solidFill>
            </a:endParaRP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5</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p>
        </p:txBody>
      </p:sp>
    </p:spTree>
    <p:extLst>
      <p:ext uri="{BB962C8B-B14F-4D97-AF65-F5344CB8AC3E}">
        <p14:creationId xmlns:p14="http://schemas.microsoft.com/office/powerpoint/2010/main" val="38313814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0E500FC6-11AB-4379-9C53-178CB296FB58}"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0D2A23DF-8BED-4F4E-A771-493682945951}" type="slidenum">
              <a:rPr lang="en-US" altLang="zh-CN"/>
              <a:pPr/>
              <a:t>16</a:t>
            </a:fld>
            <a:endParaRPr lang="en-US" altLang="zh-CN"/>
          </a:p>
        </p:txBody>
      </p:sp>
      <p:sp>
        <p:nvSpPr>
          <p:cNvPr id="2690050" name="Rectangle 2"/>
          <p:cNvSpPr>
            <a:spLocks noGrp="1" noChangeArrowheads="1"/>
          </p:cNvSpPr>
          <p:nvPr>
            <p:ph type="title"/>
          </p:nvPr>
        </p:nvSpPr>
        <p:spPr>
          <a:xfrm>
            <a:off x="1100138" y="44450"/>
            <a:ext cx="6351587"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90051" name="Rectangle 3"/>
          <p:cNvSpPr>
            <a:spLocks noGrp="1" noChangeArrowheads="1"/>
          </p:cNvSpPr>
          <p:nvPr>
            <p:ph type="body" idx="1"/>
          </p:nvPr>
        </p:nvSpPr>
        <p:spPr>
          <a:xfrm>
            <a:off x="304800" y="1196975"/>
            <a:ext cx="8610600" cy="5148263"/>
          </a:xfrm>
        </p:spPr>
        <p:txBody>
          <a:bodyPr/>
          <a:lstStyle/>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6</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 =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a[n]; a[n] = x;</a:t>
            </a:r>
          </a:p>
        </p:txBody>
      </p:sp>
      <p:sp>
        <p:nvSpPr>
          <p:cNvPr id="2690052" name="Rectangle 4"/>
          <p:cNvSpPr>
            <a:spLocks noChangeArrowheads="1"/>
          </p:cNvSpPr>
          <p:nvPr/>
        </p:nvSpPr>
        <p:spPr bwMode="auto">
          <a:xfrm>
            <a:off x="685800" y="2060575"/>
            <a:ext cx="2227263" cy="3429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30000"/>
              <a:t>11</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30000"/>
              <a:t>11</a:t>
            </a:r>
            <a:r>
              <a:rPr lang="en-US" altLang="zh-CN" sz="2800" b="1"/>
              <a:t>]</a:t>
            </a:r>
          </a:p>
          <a:p>
            <a:pPr algn="just" eaLnBrk="0" hangingPunct="0">
              <a:lnSpc>
                <a:spcPct val="96000"/>
              </a:lnSpc>
            </a:pPr>
            <a:r>
              <a:rPr lang="en-US" altLang="zh-CN" sz="2800" b="1"/>
              <a:t>t</a:t>
            </a:r>
            <a:r>
              <a:rPr lang="en-US" altLang="zh-CN" sz="2800" b="1" baseline="-30000"/>
              <a:t>12</a:t>
            </a:r>
            <a:r>
              <a:rPr lang="en-US" altLang="zh-CN" sz="2800" b="1"/>
              <a:t> := 4 </a:t>
            </a:r>
            <a:r>
              <a:rPr lang="en-US" altLang="zh-CN" sz="2800" b="1">
                <a:latin typeface="宋体" panose="02010600030101010101" pitchFamily="2" charset="-122"/>
              </a:rPr>
              <a:t>*</a:t>
            </a:r>
            <a:r>
              <a:rPr lang="en-US" altLang="zh-CN" sz="2800" b="1"/>
              <a:t> i </a:t>
            </a:r>
          </a:p>
          <a:p>
            <a:pPr algn="just" eaLnBrk="0" hangingPunct="0">
              <a:lnSpc>
                <a:spcPct val="96000"/>
              </a:lnSpc>
            </a:pPr>
            <a:r>
              <a:rPr lang="en-US" altLang="zh-CN" sz="2800" b="1"/>
              <a:t>t</a:t>
            </a:r>
            <a:r>
              <a:rPr lang="en-US" altLang="zh-CN" sz="2800" b="1" baseline="-30000"/>
              <a:t>13</a:t>
            </a:r>
            <a:r>
              <a:rPr lang="en-US" altLang="zh-CN" sz="2800" b="1"/>
              <a:t> := 4 </a:t>
            </a:r>
            <a:r>
              <a:rPr lang="en-US" altLang="zh-CN" sz="2800" b="1">
                <a:latin typeface="宋体" panose="02010600030101010101" pitchFamily="2" charset="-122"/>
              </a:rPr>
              <a:t>*</a:t>
            </a:r>
            <a:r>
              <a:rPr lang="en-US" altLang="zh-CN" sz="2800" b="1"/>
              <a:t> n</a:t>
            </a:r>
          </a:p>
          <a:p>
            <a:pPr algn="just" eaLnBrk="0" hangingPunct="0">
              <a:lnSpc>
                <a:spcPct val="96000"/>
              </a:lnSpc>
            </a:pPr>
            <a:r>
              <a:rPr lang="en-US" altLang="zh-CN" sz="2800" b="1"/>
              <a:t>t</a:t>
            </a:r>
            <a:r>
              <a:rPr lang="en-US" altLang="zh-CN" sz="2800" b="1" baseline="-30000"/>
              <a:t>14</a:t>
            </a:r>
            <a:r>
              <a:rPr lang="en-US" altLang="zh-CN" sz="2800" b="1"/>
              <a:t> := a[t</a:t>
            </a:r>
            <a:r>
              <a:rPr lang="en-US" altLang="zh-CN" sz="2800" b="1" baseline="-30000"/>
              <a:t>13</a:t>
            </a:r>
            <a:r>
              <a:rPr lang="en-US" altLang="zh-CN" sz="2800" b="1"/>
              <a:t>]</a:t>
            </a:r>
          </a:p>
          <a:p>
            <a:pPr algn="just" eaLnBrk="0" hangingPunct="0">
              <a:lnSpc>
                <a:spcPct val="96000"/>
              </a:lnSpc>
            </a:pPr>
            <a:r>
              <a:rPr lang="en-US" altLang="zh-CN" sz="2800" b="1"/>
              <a:t>a[t</a:t>
            </a:r>
            <a:r>
              <a:rPr lang="en-US" altLang="zh-CN" sz="2800" b="1" baseline="-30000"/>
              <a:t>12</a:t>
            </a:r>
            <a:r>
              <a:rPr lang="en-US" altLang="zh-CN" sz="2800" b="1"/>
              <a:t>] := t</a:t>
            </a:r>
            <a:r>
              <a:rPr lang="en-US" altLang="zh-CN" sz="2800" b="1" baseline="-30000"/>
              <a:t>14</a:t>
            </a:r>
            <a:endParaRPr lang="en-US" altLang="zh-CN" sz="2800" b="1"/>
          </a:p>
          <a:p>
            <a:pPr algn="just" eaLnBrk="0" hangingPunct="0">
              <a:lnSpc>
                <a:spcPct val="96000"/>
              </a:lnSpc>
            </a:pPr>
            <a:r>
              <a:rPr lang="en-US" altLang="zh-CN" sz="2800" b="1"/>
              <a:t>t</a:t>
            </a:r>
            <a:r>
              <a:rPr lang="en-US" altLang="zh-CN" sz="2800" b="1" baseline="-30000"/>
              <a:t>15</a:t>
            </a:r>
            <a:r>
              <a:rPr lang="en-US" altLang="zh-CN" sz="2800" b="1"/>
              <a:t> := 4 </a:t>
            </a:r>
            <a:r>
              <a:rPr lang="en-US" altLang="zh-CN" sz="2800" b="1">
                <a:latin typeface="宋体" panose="02010600030101010101" pitchFamily="2" charset="-122"/>
              </a:rPr>
              <a:t>*</a:t>
            </a:r>
            <a:r>
              <a:rPr lang="en-US" altLang="zh-CN" sz="2800" b="1"/>
              <a:t> n </a:t>
            </a:r>
          </a:p>
          <a:p>
            <a:pPr algn="just" eaLnBrk="0" hangingPunct="0">
              <a:lnSpc>
                <a:spcPct val="96000"/>
              </a:lnSpc>
            </a:pPr>
            <a:r>
              <a:rPr lang="en-US" altLang="zh-CN" sz="2800" b="1"/>
              <a:t>a[t</a:t>
            </a:r>
            <a:r>
              <a:rPr lang="en-US" altLang="zh-CN" sz="2800" b="1" baseline="-30000"/>
              <a:t>15</a:t>
            </a:r>
            <a:r>
              <a:rPr lang="en-US" altLang="zh-CN" sz="2800" b="1"/>
              <a:t>] := x </a:t>
            </a:r>
          </a:p>
        </p:txBody>
      </p:sp>
      <p:sp>
        <p:nvSpPr>
          <p:cNvPr id="2690053" name="Rectangle 5"/>
          <p:cNvSpPr>
            <a:spLocks noChangeArrowheads="1"/>
          </p:cNvSpPr>
          <p:nvPr/>
        </p:nvSpPr>
        <p:spPr bwMode="auto">
          <a:xfrm>
            <a:off x="5181600" y="2517775"/>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t</a:t>
            </a:r>
            <a:r>
              <a:rPr lang="en-US" altLang="zh-CN" sz="2800" b="1" baseline="-30000"/>
              <a:t>3</a:t>
            </a:r>
            <a:endParaRPr lang="en-US" altLang="zh-CN" sz="2800" b="1"/>
          </a:p>
          <a:p>
            <a:pPr algn="just" eaLnBrk="0" hangingPunct="0">
              <a:lnSpc>
                <a:spcPct val="96000"/>
              </a:lnSpc>
            </a:pPr>
            <a:r>
              <a:rPr lang="en-US" altLang="zh-CN" sz="2800" b="1"/>
              <a:t>t</a:t>
            </a:r>
            <a:r>
              <a:rPr lang="en-US" altLang="zh-CN" sz="2800" b="1" baseline="-30000"/>
              <a:t>14</a:t>
            </a:r>
            <a:r>
              <a:rPr lang="en-US" altLang="zh-CN" sz="2800" b="1"/>
              <a:t> := a[t</a:t>
            </a:r>
            <a:r>
              <a:rPr lang="en-US" altLang="zh-CN" sz="2800" b="1" baseline="-30000"/>
              <a:t>1</a:t>
            </a:r>
            <a:r>
              <a:rPr lang="en-US" altLang="zh-CN" sz="2800" b="1"/>
              <a:t>]</a:t>
            </a:r>
          </a:p>
          <a:p>
            <a:pPr algn="just" eaLnBrk="0" hangingPunct="0">
              <a:lnSpc>
                <a:spcPct val="96000"/>
              </a:lnSpc>
            </a:pPr>
            <a:r>
              <a:rPr lang="en-US" altLang="zh-CN" sz="2800" b="1"/>
              <a:t>a[t</a:t>
            </a:r>
            <a:r>
              <a:rPr lang="en-US" altLang="zh-CN" sz="2800" b="1" baseline="-30000"/>
              <a:t>2</a:t>
            </a:r>
            <a:r>
              <a:rPr lang="en-US" altLang="zh-CN" sz="2800" b="1"/>
              <a:t>] := t</a:t>
            </a:r>
            <a:r>
              <a:rPr lang="en-US" altLang="zh-CN" sz="2800" b="1" baseline="-30000"/>
              <a:t>14</a:t>
            </a:r>
            <a:endParaRPr lang="en-US" altLang="zh-CN" sz="2800" b="1"/>
          </a:p>
          <a:p>
            <a:pPr algn="just" eaLnBrk="0" hangingPunct="0">
              <a:lnSpc>
                <a:spcPct val="96000"/>
              </a:lnSpc>
            </a:pPr>
            <a:r>
              <a:rPr lang="en-US" altLang="zh-CN" sz="2800" b="1"/>
              <a:t>a[t</a:t>
            </a:r>
            <a:r>
              <a:rPr lang="en-US" altLang="zh-CN" sz="2800" b="1" baseline="-30000"/>
              <a:t>1</a:t>
            </a:r>
            <a:r>
              <a:rPr lang="en-US" altLang="zh-CN" sz="2800" b="1"/>
              <a:t>] := x </a:t>
            </a:r>
          </a:p>
        </p:txBody>
      </p:sp>
    </p:spTree>
    <p:extLst>
      <p:ext uri="{BB962C8B-B14F-4D97-AF65-F5344CB8AC3E}">
        <p14:creationId xmlns:p14="http://schemas.microsoft.com/office/powerpoint/2010/main" val="42901538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508134AE-18F2-44CC-9672-B73B836D2F5E}"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9305557E-7279-4CFB-9556-E23544CC83F4}" type="slidenum">
              <a:rPr lang="en-US" altLang="zh-CN"/>
              <a:pPr/>
              <a:t>17</a:t>
            </a:fld>
            <a:endParaRPr lang="en-US" altLang="zh-CN"/>
          </a:p>
        </p:txBody>
      </p:sp>
      <p:sp>
        <p:nvSpPr>
          <p:cNvPr id="2692098" name="Rectangle 2"/>
          <p:cNvSpPr>
            <a:spLocks noGrp="1" noChangeArrowheads="1"/>
          </p:cNvSpPr>
          <p:nvPr>
            <p:ph type="title"/>
          </p:nvPr>
        </p:nvSpPr>
        <p:spPr>
          <a:xfrm>
            <a:off x="1100138" y="44450"/>
            <a:ext cx="6567487" cy="9366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92099" name="Rectangle 3"/>
          <p:cNvSpPr>
            <a:spLocks noGrp="1" noChangeArrowheads="1"/>
          </p:cNvSpPr>
          <p:nvPr>
            <p:ph type="body" idx="1"/>
          </p:nvPr>
        </p:nvSpPr>
        <p:spPr>
          <a:xfrm>
            <a:off x="304800" y="1125538"/>
            <a:ext cx="8610600" cy="4967287"/>
          </a:xfrm>
        </p:spPr>
        <p:txBody>
          <a:bodyPr/>
          <a:lstStyle/>
          <a:p>
            <a:pPr>
              <a:spcBef>
                <a:spcPct val="10000"/>
              </a:spcBef>
              <a:buFontTx/>
              <a:buNone/>
            </a:pP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6</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 =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a[n]; a[n] = x;</a:t>
            </a:r>
          </a:p>
          <a:p>
            <a:pPr>
              <a:spcBef>
                <a:spcPct val="1000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a:t>
            </a:r>
            <a:r>
              <a:rPr lang="en-US" altLang="zh-CN" sz="2800" b="1" baseline="-30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能否作为公共子表达式？</a:t>
            </a:r>
          </a:p>
        </p:txBody>
      </p:sp>
      <p:sp>
        <p:nvSpPr>
          <p:cNvPr id="2692100" name="Rectangle 4"/>
          <p:cNvSpPr>
            <a:spLocks noChangeArrowheads="1"/>
          </p:cNvSpPr>
          <p:nvPr/>
        </p:nvSpPr>
        <p:spPr bwMode="auto">
          <a:xfrm>
            <a:off x="685800" y="2382838"/>
            <a:ext cx="2227263" cy="34290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a:t>
            </a:r>
            <a:r>
              <a:rPr lang="en-US" altLang="zh-CN" sz="2800" b="1" baseline="-30000"/>
              <a:t>11</a:t>
            </a:r>
            <a:r>
              <a:rPr lang="en-US" altLang="zh-CN" sz="2800" b="1"/>
              <a:t> := 4 </a:t>
            </a:r>
            <a:r>
              <a:rPr lang="en-US" altLang="zh-CN" sz="2800" b="1">
                <a:latin typeface="宋体" panose="02010600030101010101" pitchFamily="2" charset="-122"/>
              </a:rPr>
              <a:t>*</a:t>
            </a:r>
            <a:r>
              <a:rPr lang="en-US" altLang="zh-CN" sz="2800" b="1"/>
              <a:t> i</a:t>
            </a:r>
          </a:p>
          <a:p>
            <a:pPr algn="just" eaLnBrk="0" hangingPunct="0">
              <a:lnSpc>
                <a:spcPct val="96000"/>
              </a:lnSpc>
            </a:pPr>
            <a:r>
              <a:rPr lang="en-US" altLang="zh-CN" sz="2800" b="1"/>
              <a:t>x := a[t</a:t>
            </a:r>
            <a:r>
              <a:rPr lang="en-US" altLang="zh-CN" sz="2800" b="1" baseline="-30000"/>
              <a:t>11</a:t>
            </a:r>
            <a:r>
              <a:rPr lang="en-US" altLang="zh-CN" sz="2800" b="1"/>
              <a:t>]</a:t>
            </a:r>
          </a:p>
          <a:p>
            <a:pPr algn="just" eaLnBrk="0" hangingPunct="0">
              <a:lnSpc>
                <a:spcPct val="96000"/>
              </a:lnSpc>
            </a:pPr>
            <a:r>
              <a:rPr lang="en-US" altLang="zh-CN" sz="2800" b="1"/>
              <a:t>t</a:t>
            </a:r>
            <a:r>
              <a:rPr lang="en-US" altLang="zh-CN" sz="2800" b="1" baseline="-30000"/>
              <a:t>12</a:t>
            </a:r>
            <a:r>
              <a:rPr lang="en-US" altLang="zh-CN" sz="2800" b="1"/>
              <a:t> := 4 </a:t>
            </a:r>
            <a:r>
              <a:rPr lang="en-US" altLang="zh-CN" sz="2800" b="1">
                <a:latin typeface="宋体" panose="02010600030101010101" pitchFamily="2" charset="-122"/>
              </a:rPr>
              <a:t>*</a:t>
            </a:r>
            <a:r>
              <a:rPr lang="en-US" altLang="zh-CN" sz="2800" b="1"/>
              <a:t> i </a:t>
            </a:r>
          </a:p>
          <a:p>
            <a:pPr algn="just" eaLnBrk="0" hangingPunct="0">
              <a:lnSpc>
                <a:spcPct val="96000"/>
              </a:lnSpc>
            </a:pPr>
            <a:r>
              <a:rPr lang="en-US" altLang="zh-CN" sz="2800" b="1"/>
              <a:t>t</a:t>
            </a:r>
            <a:r>
              <a:rPr lang="en-US" altLang="zh-CN" sz="2800" b="1" baseline="-30000"/>
              <a:t>13</a:t>
            </a:r>
            <a:r>
              <a:rPr lang="en-US" altLang="zh-CN" sz="2800" b="1"/>
              <a:t> := 4 </a:t>
            </a:r>
            <a:r>
              <a:rPr lang="en-US" altLang="zh-CN" sz="2800" b="1">
                <a:latin typeface="宋体" panose="02010600030101010101" pitchFamily="2" charset="-122"/>
              </a:rPr>
              <a:t>*</a:t>
            </a:r>
            <a:r>
              <a:rPr lang="en-US" altLang="zh-CN" sz="2800" b="1"/>
              <a:t> n</a:t>
            </a:r>
          </a:p>
          <a:p>
            <a:pPr algn="just" eaLnBrk="0" hangingPunct="0">
              <a:lnSpc>
                <a:spcPct val="96000"/>
              </a:lnSpc>
            </a:pPr>
            <a:r>
              <a:rPr lang="en-US" altLang="zh-CN" sz="2800" b="1"/>
              <a:t>t</a:t>
            </a:r>
            <a:r>
              <a:rPr lang="en-US" altLang="zh-CN" sz="2800" b="1" baseline="-30000"/>
              <a:t>14</a:t>
            </a:r>
            <a:r>
              <a:rPr lang="en-US" altLang="zh-CN" sz="2800" b="1"/>
              <a:t> := a[t</a:t>
            </a:r>
            <a:r>
              <a:rPr lang="en-US" altLang="zh-CN" sz="2800" b="1" baseline="-30000"/>
              <a:t>13</a:t>
            </a:r>
            <a:r>
              <a:rPr lang="en-US" altLang="zh-CN" sz="2800" b="1"/>
              <a:t>]</a:t>
            </a:r>
          </a:p>
          <a:p>
            <a:pPr algn="just" eaLnBrk="0" hangingPunct="0">
              <a:lnSpc>
                <a:spcPct val="96000"/>
              </a:lnSpc>
            </a:pPr>
            <a:r>
              <a:rPr lang="en-US" altLang="zh-CN" sz="2800" b="1"/>
              <a:t>a[t</a:t>
            </a:r>
            <a:r>
              <a:rPr lang="en-US" altLang="zh-CN" sz="2800" b="1" baseline="-30000"/>
              <a:t>12</a:t>
            </a:r>
            <a:r>
              <a:rPr lang="en-US" altLang="zh-CN" sz="2800" b="1"/>
              <a:t>] := t</a:t>
            </a:r>
            <a:r>
              <a:rPr lang="en-US" altLang="zh-CN" sz="2800" b="1" baseline="-30000"/>
              <a:t>14</a:t>
            </a:r>
            <a:endParaRPr lang="en-US" altLang="zh-CN" sz="2800" b="1"/>
          </a:p>
          <a:p>
            <a:pPr algn="just" eaLnBrk="0" hangingPunct="0">
              <a:lnSpc>
                <a:spcPct val="96000"/>
              </a:lnSpc>
            </a:pPr>
            <a:r>
              <a:rPr lang="en-US" altLang="zh-CN" sz="2800" b="1"/>
              <a:t>t</a:t>
            </a:r>
            <a:r>
              <a:rPr lang="en-US" altLang="zh-CN" sz="2800" b="1" baseline="-30000"/>
              <a:t>15</a:t>
            </a:r>
            <a:r>
              <a:rPr lang="en-US" altLang="zh-CN" sz="2800" b="1"/>
              <a:t> := 4 </a:t>
            </a:r>
            <a:r>
              <a:rPr lang="en-US" altLang="zh-CN" sz="2800" b="1">
                <a:latin typeface="宋体" panose="02010600030101010101" pitchFamily="2" charset="-122"/>
              </a:rPr>
              <a:t>*</a:t>
            </a:r>
            <a:r>
              <a:rPr lang="en-US" altLang="zh-CN" sz="2800" b="1"/>
              <a:t> n </a:t>
            </a:r>
          </a:p>
          <a:p>
            <a:pPr algn="just" eaLnBrk="0" hangingPunct="0">
              <a:lnSpc>
                <a:spcPct val="96000"/>
              </a:lnSpc>
            </a:pPr>
            <a:r>
              <a:rPr lang="en-US" altLang="zh-CN" sz="2800" b="1"/>
              <a:t>a[t</a:t>
            </a:r>
            <a:r>
              <a:rPr lang="en-US" altLang="zh-CN" sz="2800" b="1" baseline="-30000"/>
              <a:t>15</a:t>
            </a:r>
            <a:r>
              <a:rPr lang="en-US" altLang="zh-CN" sz="2800" b="1"/>
              <a:t>] := x </a:t>
            </a:r>
          </a:p>
        </p:txBody>
      </p:sp>
      <p:sp>
        <p:nvSpPr>
          <p:cNvPr id="2692101" name="Rectangle 5"/>
          <p:cNvSpPr>
            <a:spLocks noChangeArrowheads="1"/>
          </p:cNvSpPr>
          <p:nvPr/>
        </p:nvSpPr>
        <p:spPr bwMode="auto">
          <a:xfrm>
            <a:off x="5181600" y="2840038"/>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t</a:t>
            </a:r>
            <a:r>
              <a:rPr lang="en-US" altLang="zh-CN" sz="2800" b="1" baseline="-30000"/>
              <a:t>3</a:t>
            </a:r>
            <a:endParaRPr lang="en-US" altLang="zh-CN" sz="2800" b="1"/>
          </a:p>
          <a:p>
            <a:pPr algn="just" eaLnBrk="0" hangingPunct="0">
              <a:lnSpc>
                <a:spcPct val="96000"/>
              </a:lnSpc>
            </a:pPr>
            <a:r>
              <a:rPr lang="en-US" altLang="zh-CN" sz="2800" b="1"/>
              <a:t>t</a:t>
            </a:r>
            <a:r>
              <a:rPr lang="en-US" altLang="zh-CN" sz="2800" b="1" baseline="-30000"/>
              <a:t>14</a:t>
            </a:r>
            <a:r>
              <a:rPr lang="en-US" altLang="zh-CN" sz="2800" b="1"/>
              <a:t> := </a:t>
            </a:r>
            <a:r>
              <a:rPr lang="en-US" altLang="zh-CN" sz="2800" b="1">
                <a:solidFill>
                  <a:srgbClr val="FF0000"/>
                </a:solidFill>
              </a:rPr>
              <a:t>a[t</a:t>
            </a:r>
            <a:r>
              <a:rPr lang="en-US" altLang="zh-CN" sz="2800" b="1" baseline="-30000">
                <a:solidFill>
                  <a:srgbClr val="FF0000"/>
                </a:solidFill>
              </a:rPr>
              <a:t>1</a:t>
            </a:r>
            <a:r>
              <a:rPr lang="en-US" altLang="zh-CN" sz="2800" b="1">
                <a:solidFill>
                  <a:srgbClr val="FF0000"/>
                </a:solidFill>
              </a:rPr>
              <a:t>]</a:t>
            </a:r>
          </a:p>
          <a:p>
            <a:pPr algn="just" eaLnBrk="0" hangingPunct="0">
              <a:lnSpc>
                <a:spcPct val="96000"/>
              </a:lnSpc>
            </a:pPr>
            <a:r>
              <a:rPr lang="en-US" altLang="zh-CN" sz="2800" b="1"/>
              <a:t>a[t</a:t>
            </a:r>
            <a:r>
              <a:rPr lang="en-US" altLang="zh-CN" sz="2800" b="1" baseline="-30000"/>
              <a:t>2</a:t>
            </a:r>
            <a:r>
              <a:rPr lang="en-US" altLang="zh-CN" sz="2800" b="1"/>
              <a:t>] := t</a:t>
            </a:r>
            <a:r>
              <a:rPr lang="en-US" altLang="zh-CN" sz="2800" b="1" baseline="-30000"/>
              <a:t>14</a:t>
            </a:r>
            <a:endParaRPr lang="en-US" altLang="zh-CN" sz="2800" b="1"/>
          </a:p>
          <a:p>
            <a:pPr algn="just" eaLnBrk="0" hangingPunct="0">
              <a:lnSpc>
                <a:spcPct val="96000"/>
              </a:lnSpc>
            </a:pPr>
            <a:r>
              <a:rPr lang="en-US" altLang="zh-CN" sz="2800" b="1"/>
              <a:t>a[t</a:t>
            </a:r>
            <a:r>
              <a:rPr lang="en-US" altLang="zh-CN" sz="2800" b="1" baseline="-30000"/>
              <a:t>1</a:t>
            </a:r>
            <a:r>
              <a:rPr lang="en-US" altLang="zh-CN" sz="2800" b="1"/>
              <a:t>] := x </a:t>
            </a:r>
          </a:p>
        </p:txBody>
      </p:sp>
    </p:spTree>
    <p:extLst>
      <p:ext uri="{BB962C8B-B14F-4D97-AF65-F5344CB8AC3E}">
        <p14:creationId xmlns:p14="http://schemas.microsoft.com/office/powerpoint/2010/main" val="877813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日期占位符 3"/>
          <p:cNvSpPr>
            <a:spLocks noGrp="1"/>
          </p:cNvSpPr>
          <p:nvPr>
            <p:ph type="dt" sz="half" idx="10"/>
          </p:nvPr>
        </p:nvSpPr>
        <p:spPr/>
        <p:txBody>
          <a:bodyPr/>
          <a:lstStyle/>
          <a:p>
            <a:fld id="{6F38C309-8881-4C18-A752-CE3C1B000C26}" type="datetime1">
              <a:rPr lang="zh-CN" altLang="en-US"/>
              <a:pPr/>
              <a:t>2017/2/24</a:t>
            </a:fld>
            <a:endParaRPr lang="en-US" altLang="zh-CN"/>
          </a:p>
        </p:txBody>
      </p:sp>
      <p:sp>
        <p:nvSpPr>
          <p:cNvPr id="26" name="灯片编号占位符 5"/>
          <p:cNvSpPr>
            <a:spLocks noGrp="1"/>
          </p:cNvSpPr>
          <p:nvPr>
            <p:ph type="sldNum" sz="quarter" idx="12"/>
          </p:nvPr>
        </p:nvSpPr>
        <p:spPr/>
        <p:txBody>
          <a:bodyPr/>
          <a:lstStyle/>
          <a:p>
            <a:fld id="{DAF27C91-FE66-4F88-8962-DAB468390C7B}" type="slidenum">
              <a:rPr lang="en-US" altLang="zh-CN"/>
              <a:pPr/>
              <a:t>18</a:t>
            </a:fld>
            <a:endParaRPr lang="en-US" altLang="zh-CN"/>
          </a:p>
        </p:txBody>
      </p:sp>
      <p:sp>
        <p:nvSpPr>
          <p:cNvPr id="2694146" name="Rectangle 2"/>
          <p:cNvSpPr>
            <a:spLocks noGrp="1" noChangeArrowheads="1"/>
          </p:cNvSpPr>
          <p:nvPr>
            <p:ph type="title"/>
          </p:nvPr>
        </p:nvSpPr>
        <p:spPr>
          <a:xfrm>
            <a:off x="381000" y="44450"/>
            <a:ext cx="8229600" cy="6096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公共子表达式删除</a:t>
            </a:r>
          </a:p>
        </p:txBody>
      </p:sp>
      <p:sp>
        <p:nvSpPr>
          <p:cNvPr id="2694147" name="Rectangle 3"/>
          <p:cNvSpPr>
            <a:spLocks noChangeArrowheads="1"/>
          </p:cNvSpPr>
          <p:nvPr/>
        </p:nvSpPr>
        <p:spPr bwMode="auto">
          <a:xfrm>
            <a:off x="3219450" y="677863"/>
            <a:ext cx="2259013" cy="108426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i := m </a:t>
            </a:r>
            <a:r>
              <a:rPr lang="en-US" altLang="zh-CN" b="1">
                <a:sym typeface="Symbol" panose="05050102010706020507" pitchFamily="18" charset="2"/>
              </a:rPr>
              <a:t></a:t>
            </a:r>
            <a:r>
              <a:rPr lang="en-US" altLang="zh-CN" b="1"/>
              <a:t>1</a:t>
            </a:r>
          </a:p>
          <a:p>
            <a:pPr algn="just" eaLnBrk="0" hangingPunct="0">
              <a:lnSpc>
                <a:spcPct val="70000"/>
              </a:lnSpc>
            </a:pPr>
            <a:r>
              <a:rPr lang="en-US" altLang="zh-CN" b="1"/>
              <a:t>j := n</a:t>
            </a:r>
          </a:p>
          <a:p>
            <a:pPr algn="just" eaLnBrk="0" hangingPunct="0">
              <a:lnSpc>
                <a:spcPct val="70000"/>
              </a:lnSpc>
            </a:pPr>
            <a:r>
              <a:rPr lang="en-US" altLang="zh-CN" b="1"/>
              <a:t>t</a:t>
            </a:r>
            <a:r>
              <a:rPr lang="en-US" altLang="zh-CN" b="1" baseline="-25000"/>
              <a:t>1</a:t>
            </a:r>
            <a:r>
              <a:rPr lang="en-US" altLang="zh-CN" b="1"/>
              <a:t> := 4 </a:t>
            </a:r>
            <a:r>
              <a:rPr lang="en-US" altLang="zh-CN" b="1">
                <a:latin typeface="宋体" panose="02010600030101010101" pitchFamily="2" charset="-122"/>
              </a:rPr>
              <a:t>*</a:t>
            </a:r>
            <a:r>
              <a:rPr lang="en-US" altLang="zh-CN" b="1"/>
              <a:t> n</a:t>
            </a:r>
          </a:p>
          <a:p>
            <a:pPr algn="just" eaLnBrk="0" hangingPunct="0">
              <a:lnSpc>
                <a:spcPct val="70000"/>
              </a:lnSpc>
            </a:pPr>
            <a:r>
              <a:rPr lang="en-US" altLang="zh-CN" b="1"/>
              <a:t>v := </a:t>
            </a:r>
            <a:r>
              <a:rPr lang="en-US" altLang="zh-CN" b="1">
                <a:solidFill>
                  <a:srgbClr val="FF0000"/>
                </a:solidFill>
              </a:rPr>
              <a:t>a[t</a:t>
            </a:r>
            <a:r>
              <a:rPr lang="en-US" altLang="zh-CN" b="1" baseline="-25000">
                <a:solidFill>
                  <a:srgbClr val="FF0000"/>
                </a:solidFill>
              </a:rPr>
              <a:t>1</a:t>
            </a:r>
            <a:r>
              <a:rPr lang="en-US" altLang="zh-CN" b="1">
                <a:solidFill>
                  <a:srgbClr val="FF0000"/>
                </a:solidFill>
              </a:rPr>
              <a:t>]</a:t>
            </a:r>
          </a:p>
        </p:txBody>
      </p:sp>
      <p:sp>
        <p:nvSpPr>
          <p:cNvPr id="2694148" name="Rectangle 4"/>
          <p:cNvSpPr>
            <a:spLocks noChangeArrowheads="1"/>
          </p:cNvSpPr>
          <p:nvPr/>
        </p:nvSpPr>
        <p:spPr bwMode="auto">
          <a:xfrm>
            <a:off x="3214688" y="2195513"/>
            <a:ext cx="2282825" cy="10858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i := i + 1</a:t>
            </a:r>
          </a:p>
          <a:p>
            <a:pPr algn="just" eaLnBrk="0" hangingPunct="0">
              <a:lnSpc>
                <a:spcPct val="70000"/>
              </a:lnSpc>
            </a:pPr>
            <a:r>
              <a:rPr lang="en-US" altLang="zh-CN" b="1"/>
              <a:t>t</a:t>
            </a:r>
            <a:r>
              <a:rPr lang="en-US" altLang="zh-CN" b="1" baseline="-25000"/>
              <a:t>2</a:t>
            </a:r>
            <a:r>
              <a:rPr lang="en-US" altLang="zh-CN" b="1"/>
              <a:t> := 4 </a:t>
            </a:r>
            <a:r>
              <a:rPr lang="en-US" altLang="zh-CN" b="1">
                <a:latin typeface="宋体" panose="02010600030101010101" pitchFamily="2" charset="-122"/>
              </a:rPr>
              <a:t>*</a:t>
            </a:r>
            <a:r>
              <a:rPr lang="en-US" altLang="zh-CN" b="1"/>
              <a:t> i</a:t>
            </a:r>
          </a:p>
          <a:p>
            <a:pPr algn="just" eaLnBrk="0" hangingPunct="0">
              <a:lnSpc>
                <a:spcPct val="70000"/>
              </a:lnSpc>
            </a:pPr>
            <a:r>
              <a:rPr lang="en-US" altLang="zh-CN" b="1"/>
              <a:t>t</a:t>
            </a:r>
            <a:r>
              <a:rPr lang="en-US" altLang="zh-CN" b="1" baseline="-25000"/>
              <a:t>3</a:t>
            </a:r>
            <a:r>
              <a:rPr lang="en-US" altLang="zh-CN" b="1"/>
              <a:t> := a[t</a:t>
            </a:r>
            <a:r>
              <a:rPr lang="en-US" altLang="zh-CN" b="1" baseline="-25000"/>
              <a:t>2</a:t>
            </a:r>
            <a:r>
              <a:rPr lang="en-US" altLang="zh-CN" b="1"/>
              <a:t>]</a:t>
            </a:r>
          </a:p>
          <a:p>
            <a:pPr algn="just" eaLnBrk="0" hangingPunct="0">
              <a:lnSpc>
                <a:spcPct val="70000"/>
              </a:lnSpc>
            </a:pPr>
            <a:r>
              <a:rPr lang="en-US" altLang="zh-CN" b="1"/>
              <a:t>if t</a:t>
            </a:r>
            <a:r>
              <a:rPr lang="en-US" altLang="zh-CN" b="1" baseline="-25000"/>
              <a:t>3</a:t>
            </a:r>
            <a:r>
              <a:rPr lang="en-US" altLang="zh-CN" b="1"/>
              <a:t> &lt; v goto </a:t>
            </a:r>
            <a:r>
              <a:rPr lang="en-US" altLang="zh-CN" b="1" i="1"/>
              <a:t>B</a:t>
            </a:r>
            <a:r>
              <a:rPr lang="en-US" altLang="zh-CN" b="1" baseline="-25000"/>
              <a:t>2</a:t>
            </a:r>
          </a:p>
        </p:txBody>
      </p:sp>
      <p:sp>
        <p:nvSpPr>
          <p:cNvPr id="2694149" name="Rectangle 5"/>
          <p:cNvSpPr>
            <a:spLocks noChangeArrowheads="1"/>
          </p:cNvSpPr>
          <p:nvPr/>
        </p:nvSpPr>
        <p:spPr bwMode="auto">
          <a:xfrm>
            <a:off x="5648325" y="654050"/>
            <a:ext cx="52387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lIns="0" tIns="0" rIns="0" bIns="0"/>
          <a:lstStyle/>
          <a:p>
            <a:pPr algn="just" eaLnBrk="0" hangingPunct="0"/>
            <a:r>
              <a:rPr lang="en-US" altLang="zh-CN" b="1" i="1"/>
              <a:t>B</a:t>
            </a:r>
            <a:r>
              <a:rPr lang="en-US" altLang="zh-CN" b="1" baseline="-25000"/>
              <a:t>1</a:t>
            </a:r>
            <a:endParaRPr lang="en-US" altLang="zh-CN" b="1"/>
          </a:p>
        </p:txBody>
      </p:sp>
      <p:sp>
        <p:nvSpPr>
          <p:cNvPr id="2694150" name="Rectangle 6"/>
          <p:cNvSpPr>
            <a:spLocks noChangeArrowheads="1"/>
          </p:cNvSpPr>
          <p:nvPr/>
        </p:nvSpPr>
        <p:spPr bwMode="auto">
          <a:xfrm>
            <a:off x="5440363" y="2071688"/>
            <a:ext cx="83502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2</a:t>
            </a:r>
            <a:endParaRPr lang="en-US" altLang="zh-CN" b="1"/>
          </a:p>
        </p:txBody>
      </p:sp>
      <p:sp>
        <p:nvSpPr>
          <p:cNvPr id="2694151" name="Rectangle 7"/>
          <p:cNvSpPr>
            <a:spLocks noChangeArrowheads="1"/>
          </p:cNvSpPr>
          <p:nvPr/>
        </p:nvSpPr>
        <p:spPr bwMode="auto">
          <a:xfrm>
            <a:off x="3238500" y="3727450"/>
            <a:ext cx="2281238" cy="108267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70000"/>
              </a:lnSpc>
            </a:pPr>
            <a:r>
              <a:rPr lang="en-US" altLang="zh-CN" b="1"/>
              <a:t>j := j </a:t>
            </a:r>
            <a:r>
              <a:rPr lang="en-US" altLang="zh-CN" b="1">
                <a:sym typeface="Symbol" panose="05050102010706020507" pitchFamily="18" charset="2"/>
              </a:rPr>
              <a:t></a:t>
            </a:r>
            <a:r>
              <a:rPr lang="en-US" altLang="zh-CN" b="1"/>
              <a:t>1</a:t>
            </a:r>
          </a:p>
          <a:p>
            <a:pPr algn="just" eaLnBrk="0" hangingPunct="0">
              <a:lnSpc>
                <a:spcPct val="70000"/>
              </a:lnSpc>
            </a:pPr>
            <a:r>
              <a:rPr lang="en-US" altLang="zh-CN" b="1"/>
              <a:t>t</a:t>
            </a:r>
            <a:r>
              <a:rPr lang="en-US" altLang="zh-CN" b="1" baseline="-25000"/>
              <a:t>4</a:t>
            </a:r>
            <a:r>
              <a:rPr lang="en-US" altLang="zh-CN" b="1"/>
              <a:t> := 4 </a:t>
            </a:r>
            <a:r>
              <a:rPr lang="en-US" altLang="zh-CN" b="1">
                <a:latin typeface="宋体" panose="02010600030101010101" pitchFamily="2" charset="-122"/>
              </a:rPr>
              <a:t>*</a:t>
            </a:r>
            <a:r>
              <a:rPr lang="en-US" altLang="zh-CN" b="1"/>
              <a:t> j</a:t>
            </a:r>
          </a:p>
          <a:p>
            <a:pPr algn="just" eaLnBrk="0" hangingPunct="0">
              <a:lnSpc>
                <a:spcPct val="70000"/>
              </a:lnSpc>
            </a:pPr>
            <a:r>
              <a:rPr lang="en-US" altLang="zh-CN" b="1"/>
              <a:t>t</a:t>
            </a:r>
            <a:r>
              <a:rPr lang="en-US" altLang="zh-CN" b="1" baseline="-25000"/>
              <a:t>5</a:t>
            </a:r>
            <a:r>
              <a:rPr lang="en-US" altLang="zh-CN" b="1"/>
              <a:t> := a[t</a:t>
            </a:r>
            <a:r>
              <a:rPr lang="en-US" altLang="zh-CN" b="1" baseline="-25000"/>
              <a:t>4</a:t>
            </a:r>
            <a:r>
              <a:rPr lang="en-US" altLang="zh-CN" b="1"/>
              <a:t>]</a:t>
            </a:r>
          </a:p>
          <a:p>
            <a:pPr algn="just" eaLnBrk="0" hangingPunct="0">
              <a:lnSpc>
                <a:spcPct val="70000"/>
              </a:lnSpc>
            </a:pPr>
            <a:r>
              <a:rPr lang="en-US" altLang="zh-CN" b="1"/>
              <a:t>if t</a:t>
            </a:r>
            <a:r>
              <a:rPr lang="en-US" altLang="zh-CN" b="1" baseline="-25000"/>
              <a:t>5</a:t>
            </a:r>
            <a:r>
              <a:rPr lang="en-US" altLang="zh-CN" b="1"/>
              <a:t> &gt; v goto </a:t>
            </a:r>
            <a:r>
              <a:rPr lang="en-US" altLang="zh-CN" b="1" i="1"/>
              <a:t>B</a:t>
            </a:r>
            <a:r>
              <a:rPr lang="en-US" altLang="zh-CN" b="1" baseline="-25000"/>
              <a:t>3</a:t>
            </a:r>
          </a:p>
        </p:txBody>
      </p:sp>
      <p:sp>
        <p:nvSpPr>
          <p:cNvPr id="2694152" name="Line 8"/>
          <p:cNvSpPr>
            <a:spLocks noChangeShapeType="1"/>
          </p:cNvSpPr>
          <p:nvPr/>
        </p:nvSpPr>
        <p:spPr bwMode="auto">
          <a:xfrm>
            <a:off x="4329113" y="1773238"/>
            <a:ext cx="0" cy="422275"/>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4153" name="Line 9"/>
          <p:cNvSpPr>
            <a:spLocks noChangeShapeType="1"/>
          </p:cNvSpPr>
          <p:nvPr/>
        </p:nvSpPr>
        <p:spPr bwMode="auto">
          <a:xfrm>
            <a:off x="4306888" y="3305175"/>
            <a:ext cx="0" cy="422275"/>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4154" name="Rectangle 10"/>
          <p:cNvSpPr>
            <a:spLocks noChangeArrowheads="1"/>
          </p:cNvSpPr>
          <p:nvPr/>
        </p:nvSpPr>
        <p:spPr bwMode="auto">
          <a:xfrm>
            <a:off x="3238500" y="5276850"/>
            <a:ext cx="2301875" cy="40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0" rIns="0" bIns="0"/>
          <a:lstStyle/>
          <a:p>
            <a:pPr algn="just" eaLnBrk="0" hangingPunct="0">
              <a:lnSpc>
                <a:spcPct val="96000"/>
              </a:lnSpc>
            </a:pPr>
            <a:r>
              <a:rPr lang="en-US" altLang="zh-CN" b="1"/>
              <a:t>if i &gt;= j goto </a:t>
            </a:r>
            <a:r>
              <a:rPr lang="en-US" altLang="zh-CN" b="1" i="1"/>
              <a:t>B</a:t>
            </a:r>
            <a:r>
              <a:rPr lang="en-US" altLang="zh-CN" b="1" baseline="-25000"/>
              <a:t>6</a:t>
            </a:r>
          </a:p>
        </p:txBody>
      </p:sp>
      <p:sp>
        <p:nvSpPr>
          <p:cNvPr id="2694155" name="Line 11"/>
          <p:cNvSpPr>
            <a:spLocks noChangeShapeType="1"/>
          </p:cNvSpPr>
          <p:nvPr/>
        </p:nvSpPr>
        <p:spPr bwMode="auto">
          <a:xfrm>
            <a:off x="4306888" y="4837113"/>
            <a:ext cx="0" cy="423862"/>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4156" name="Rectangle 12"/>
          <p:cNvSpPr>
            <a:spLocks noChangeArrowheads="1"/>
          </p:cNvSpPr>
          <p:nvPr/>
        </p:nvSpPr>
        <p:spPr bwMode="auto">
          <a:xfrm>
            <a:off x="990600" y="6140450"/>
            <a:ext cx="2341563" cy="1349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endParaRPr lang="zh-CN" altLang="zh-CN" sz="1000" baseline="-25000"/>
          </a:p>
        </p:txBody>
      </p:sp>
      <p:sp>
        <p:nvSpPr>
          <p:cNvPr id="2694157" name="Rectangle 13"/>
          <p:cNvSpPr>
            <a:spLocks noChangeArrowheads="1"/>
          </p:cNvSpPr>
          <p:nvPr/>
        </p:nvSpPr>
        <p:spPr bwMode="auto">
          <a:xfrm>
            <a:off x="5545138" y="5149850"/>
            <a:ext cx="8350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4</a:t>
            </a:r>
            <a:endParaRPr lang="en-US" altLang="zh-CN" b="1"/>
          </a:p>
        </p:txBody>
      </p:sp>
      <p:sp>
        <p:nvSpPr>
          <p:cNvPr id="2694158" name="Rectangle 14"/>
          <p:cNvSpPr>
            <a:spLocks noChangeArrowheads="1"/>
          </p:cNvSpPr>
          <p:nvPr/>
        </p:nvSpPr>
        <p:spPr bwMode="auto">
          <a:xfrm>
            <a:off x="5480050" y="3603625"/>
            <a:ext cx="8382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3</a:t>
            </a:r>
            <a:endParaRPr lang="en-US" altLang="zh-CN" b="1"/>
          </a:p>
        </p:txBody>
      </p:sp>
      <p:sp>
        <p:nvSpPr>
          <p:cNvPr id="2694159" name="Rectangle 15"/>
          <p:cNvSpPr>
            <a:spLocks noChangeArrowheads="1"/>
          </p:cNvSpPr>
          <p:nvPr/>
        </p:nvSpPr>
        <p:spPr bwMode="auto">
          <a:xfrm>
            <a:off x="304800" y="5911850"/>
            <a:ext cx="6858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5</a:t>
            </a:r>
            <a:endParaRPr lang="en-US" altLang="zh-CN" b="1"/>
          </a:p>
        </p:txBody>
      </p:sp>
      <p:sp>
        <p:nvSpPr>
          <p:cNvPr id="2694160" name="Rectangle 16"/>
          <p:cNvSpPr>
            <a:spLocks noChangeArrowheads="1"/>
          </p:cNvSpPr>
          <p:nvPr/>
        </p:nvSpPr>
        <p:spPr bwMode="auto">
          <a:xfrm>
            <a:off x="5257800" y="6140450"/>
            <a:ext cx="2278063" cy="1349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endParaRPr lang="zh-CN" altLang="zh-CN" sz="1000" baseline="-25000"/>
          </a:p>
        </p:txBody>
      </p:sp>
      <p:sp>
        <p:nvSpPr>
          <p:cNvPr id="2694161" name="Line 17"/>
          <p:cNvSpPr>
            <a:spLocks noChangeShapeType="1"/>
          </p:cNvSpPr>
          <p:nvPr/>
        </p:nvSpPr>
        <p:spPr bwMode="auto">
          <a:xfrm flipH="1">
            <a:off x="2057400" y="5683250"/>
            <a:ext cx="2005013" cy="392113"/>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4162" name="Line 18"/>
          <p:cNvSpPr>
            <a:spLocks noChangeShapeType="1"/>
          </p:cNvSpPr>
          <p:nvPr/>
        </p:nvSpPr>
        <p:spPr bwMode="auto">
          <a:xfrm>
            <a:off x="4572000" y="5683250"/>
            <a:ext cx="1984375" cy="392113"/>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4163" name="Rectangle 19"/>
          <p:cNvSpPr>
            <a:spLocks noChangeArrowheads="1"/>
          </p:cNvSpPr>
          <p:nvPr/>
        </p:nvSpPr>
        <p:spPr bwMode="auto">
          <a:xfrm>
            <a:off x="7620000" y="5988050"/>
            <a:ext cx="83661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just" eaLnBrk="0" hangingPunct="0"/>
            <a:r>
              <a:rPr lang="en-US" altLang="zh-CN" b="1" i="1"/>
              <a:t>B</a:t>
            </a:r>
            <a:r>
              <a:rPr lang="en-US" altLang="zh-CN" b="1" baseline="-25000"/>
              <a:t>6</a:t>
            </a:r>
            <a:endParaRPr lang="en-US" altLang="zh-CN" b="1"/>
          </a:p>
        </p:txBody>
      </p:sp>
      <p:sp>
        <p:nvSpPr>
          <p:cNvPr id="2694164" name="Freeform 20"/>
          <p:cNvSpPr>
            <a:spLocks/>
          </p:cNvSpPr>
          <p:nvPr/>
        </p:nvSpPr>
        <p:spPr bwMode="auto">
          <a:xfrm>
            <a:off x="2297113" y="1984375"/>
            <a:ext cx="1023937" cy="1511300"/>
          </a:xfrm>
          <a:custGeom>
            <a:avLst/>
            <a:gdLst>
              <a:gd name="T0" fmla="*/ 722 w 722"/>
              <a:gd name="T1" fmla="*/ 1251 h 1447"/>
              <a:gd name="T2" fmla="*/ 392 w 722"/>
              <a:gd name="T3" fmla="*/ 1447 h 1447"/>
              <a:gd name="T4" fmla="*/ 138 w 722"/>
              <a:gd name="T5" fmla="*/ 1251 h 1447"/>
              <a:gd name="T6" fmla="*/ 3 w 722"/>
              <a:gd name="T7" fmla="*/ 697 h 1447"/>
              <a:gd name="T8" fmla="*/ 153 w 722"/>
              <a:gd name="T9" fmla="*/ 157 h 1447"/>
              <a:gd name="T10" fmla="*/ 423 w 722"/>
              <a:gd name="T11" fmla="*/ 7 h 1447"/>
              <a:gd name="T12" fmla="*/ 662 w 722"/>
              <a:gd name="T13" fmla="*/ 201 h 1447"/>
            </a:gdLst>
            <a:ahLst/>
            <a:cxnLst>
              <a:cxn ang="0">
                <a:pos x="T0" y="T1"/>
              </a:cxn>
              <a:cxn ang="0">
                <a:pos x="T2" y="T3"/>
              </a:cxn>
              <a:cxn ang="0">
                <a:pos x="T4" y="T5"/>
              </a:cxn>
              <a:cxn ang="0">
                <a:pos x="T6" y="T7"/>
              </a:cxn>
              <a:cxn ang="0">
                <a:pos x="T8" y="T9"/>
              </a:cxn>
              <a:cxn ang="0">
                <a:pos x="T10" y="T11"/>
              </a:cxn>
              <a:cxn ang="0">
                <a:pos x="T12" y="T13"/>
              </a:cxn>
            </a:cxnLst>
            <a:rect l="0" t="0" r="r" b="b"/>
            <a:pathLst>
              <a:path w="722" h="1447">
                <a:moveTo>
                  <a:pt x="722" y="1251"/>
                </a:moveTo>
                <a:cubicBezTo>
                  <a:pt x="605" y="1349"/>
                  <a:pt x="489" y="1447"/>
                  <a:pt x="392" y="1447"/>
                </a:cubicBezTo>
                <a:cubicBezTo>
                  <a:pt x="295" y="1447"/>
                  <a:pt x="203" y="1376"/>
                  <a:pt x="138" y="1251"/>
                </a:cubicBezTo>
                <a:cubicBezTo>
                  <a:pt x="73" y="1126"/>
                  <a:pt x="0" y="879"/>
                  <a:pt x="3" y="697"/>
                </a:cubicBezTo>
                <a:cubicBezTo>
                  <a:pt x="6" y="515"/>
                  <a:pt x="83" y="272"/>
                  <a:pt x="153" y="157"/>
                </a:cubicBezTo>
                <a:cubicBezTo>
                  <a:pt x="223" y="42"/>
                  <a:pt x="338" y="0"/>
                  <a:pt x="423" y="7"/>
                </a:cubicBezTo>
                <a:cubicBezTo>
                  <a:pt x="508" y="14"/>
                  <a:pt x="612" y="161"/>
                  <a:pt x="662" y="201"/>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94165" name="Freeform 21"/>
          <p:cNvSpPr>
            <a:spLocks/>
          </p:cNvSpPr>
          <p:nvPr/>
        </p:nvSpPr>
        <p:spPr bwMode="auto">
          <a:xfrm>
            <a:off x="2357438" y="3519488"/>
            <a:ext cx="1006475" cy="1508125"/>
          </a:xfrm>
          <a:custGeom>
            <a:avLst/>
            <a:gdLst>
              <a:gd name="T0" fmla="*/ 722 w 722"/>
              <a:gd name="T1" fmla="*/ 1251 h 1447"/>
              <a:gd name="T2" fmla="*/ 392 w 722"/>
              <a:gd name="T3" fmla="*/ 1447 h 1447"/>
              <a:gd name="T4" fmla="*/ 138 w 722"/>
              <a:gd name="T5" fmla="*/ 1251 h 1447"/>
              <a:gd name="T6" fmla="*/ 3 w 722"/>
              <a:gd name="T7" fmla="*/ 697 h 1447"/>
              <a:gd name="T8" fmla="*/ 153 w 722"/>
              <a:gd name="T9" fmla="*/ 157 h 1447"/>
              <a:gd name="T10" fmla="*/ 423 w 722"/>
              <a:gd name="T11" fmla="*/ 7 h 1447"/>
              <a:gd name="T12" fmla="*/ 662 w 722"/>
              <a:gd name="T13" fmla="*/ 201 h 1447"/>
            </a:gdLst>
            <a:ahLst/>
            <a:cxnLst>
              <a:cxn ang="0">
                <a:pos x="T0" y="T1"/>
              </a:cxn>
              <a:cxn ang="0">
                <a:pos x="T2" y="T3"/>
              </a:cxn>
              <a:cxn ang="0">
                <a:pos x="T4" y="T5"/>
              </a:cxn>
              <a:cxn ang="0">
                <a:pos x="T6" y="T7"/>
              </a:cxn>
              <a:cxn ang="0">
                <a:pos x="T8" y="T9"/>
              </a:cxn>
              <a:cxn ang="0">
                <a:pos x="T10" y="T11"/>
              </a:cxn>
              <a:cxn ang="0">
                <a:pos x="T12" y="T13"/>
              </a:cxn>
            </a:cxnLst>
            <a:rect l="0" t="0" r="r" b="b"/>
            <a:pathLst>
              <a:path w="722" h="1447">
                <a:moveTo>
                  <a:pt x="722" y="1251"/>
                </a:moveTo>
                <a:cubicBezTo>
                  <a:pt x="605" y="1349"/>
                  <a:pt x="489" y="1447"/>
                  <a:pt x="392" y="1447"/>
                </a:cubicBezTo>
                <a:cubicBezTo>
                  <a:pt x="295" y="1447"/>
                  <a:pt x="203" y="1376"/>
                  <a:pt x="138" y="1251"/>
                </a:cubicBezTo>
                <a:cubicBezTo>
                  <a:pt x="73" y="1126"/>
                  <a:pt x="0" y="879"/>
                  <a:pt x="3" y="697"/>
                </a:cubicBezTo>
                <a:cubicBezTo>
                  <a:pt x="6" y="515"/>
                  <a:pt x="83" y="272"/>
                  <a:pt x="153" y="157"/>
                </a:cubicBezTo>
                <a:cubicBezTo>
                  <a:pt x="223" y="42"/>
                  <a:pt x="338" y="0"/>
                  <a:pt x="423" y="7"/>
                </a:cubicBezTo>
                <a:cubicBezTo>
                  <a:pt x="508" y="14"/>
                  <a:pt x="612" y="161"/>
                  <a:pt x="662" y="201"/>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94166" name="Freeform 22"/>
          <p:cNvSpPr>
            <a:spLocks/>
          </p:cNvSpPr>
          <p:nvPr/>
        </p:nvSpPr>
        <p:spPr bwMode="auto">
          <a:xfrm>
            <a:off x="755650" y="1620838"/>
            <a:ext cx="2862263" cy="4978400"/>
          </a:xfrm>
          <a:custGeom>
            <a:avLst/>
            <a:gdLst>
              <a:gd name="T0" fmla="*/ 620 w 1803"/>
              <a:gd name="T1" fmla="*/ 2951 h 3136"/>
              <a:gd name="T2" fmla="*/ 142 w 1803"/>
              <a:gd name="T3" fmla="*/ 3021 h 3136"/>
              <a:gd name="T4" fmla="*/ 2 w 1803"/>
              <a:gd name="T5" fmla="*/ 2263 h 3136"/>
              <a:gd name="T6" fmla="*/ 128 w 1803"/>
              <a:gd name="T7" fmla="*/ 1518 h 3136"/>
              <a:gd name="T8" fmla="*/ 283 w 1803"/>
              <a:gd name="T9" fmla="*/ 951 h 3136"/>
              <a:gd name="T10" fmla="*/ 648 w 1803"/>
              <a:gd name="T11" fmla="*/ 277 h 3136"/>
              <a:gd name="T12" fmla="*/ 1170 w 1803"/>
              <a:gd name="T13" fmla="*/ 11 h 3136"/>
              <a:gd name="T14" fmla="*/ 1803 w 1803"/>
              <a:gd name="T15" fmla="*/ 347 h 31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03" h="3136">
                <a:moveTo>
                  <a:pt x="620" y="2951"/>
                </a:moveTo>
                <a:cubicBezTo>
                  <a:pt x="540" y="2963"/>
                  <a:pt x="245" y="3136"/>
                  <a:pt x="142" y="3021"/>
                </a:cubicBezTo>
                <a:cubicBezTo>
                  <a:pt x="39" y="2906"/>
                  <a:pt x="4" y="2513"/>
                  <a:pt x="2" y="2263"/>
                </a:cubicBezTo>
                <a:cubicBezTo>
                  <a:pt x="0" y="2013"/>
                  <a:pt x="81" y="1737"/>
                  <a:pt x="128" y="1518"/>
                </a:cubicBezTo>
                <a:cubicBezTo>
                  <a:pt x="175" y="1299"/>
                  <a:pt x="196" y="1158"/>
                  <a:pt x="283" y="951"/>
                </a:cubicBezTo>
                <a:cubicBezTo>
                  <a:pt x="370" y="744"/>
                  <a:pt x="500" y="433"/>
                  <a:pt x="648" y="277"/>
                </a:cubicBezTo>
                <a:cubicBezTo>
                  <a:pt x="796" y="120"/>
                  <a:pt x="978" y="0"/>
                  <a:pt x="1170" y="11"/>
                </a:cubicBezTo>
                <a:cubicBezTo>
                  <a:pt x="1362" y="23"/>
                  <a:pt x="1672" y="278"/>
                  <a:pt x="1803" y="34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94167" name="Rectangle 23"/>
          <p:cNvSpPr>
            <a:spLocks noChangeArrowheads="1"/>
          </p:cNvSpPr>
          <p:nvPr/>
        </p:nvSpPr>
        <p:spPr bwMode="auto">
          <a:xfrm>
            <a:off x="6019800" y="1444625"/>
            <a:ext cx="2743200" cy="367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r>
              <a:rPr lang="zh-CN" altLang="en-US" sz="3200" b="1">
                <a:ea typeface="楷体_GB2312" pitchFamily="49" charset="-122"/>
              </a:rPr>
              <a:t>把</a:t>
            </a:r>
            <a:r>
              <a:rPr lang="en-US" altLang="zh-CN" sz="3200" b="1">
                <a:ea typeface="楷体_GB2312" pitchFamily="49" charset="-122"/>
              </a:rPr>
              <a:t>a[t</a:t>
            </a:r>
            <a:r>
              <a:rPr lang="en-US" altLang="zh-CN" sz="3200" b="1" baseline="-30000">
                <a:ea typeface="楷体_GB2312" pitchFamily="49" charset="-122"/>
              </a:rPr>
              <a:t>1</a:t>
            </a:r>
            <a:r>
              <a:rPr lang="en-US" altLang="zh-CN" sz="3200" b="1">
                <a:ea typeface="楷体_GB2312" pitchFamily="49" charset="-122"/>
              </a:rPr>
              <a:t>]</a:t>
            </a:r>
            <a:r>
              <a:rPr lang="zh-CN" altLang="en-US" sz="3200" b="1">
                <a:ea typeface="楷体_GB2312" pitchFamily="49" charset="-122"/>
              </a:rPr>
              <a:t>作为公共子表达式是不稳妥的：</a:t>
            </a:r>
          </a:p>
          <a:p>
            <a:pPr eaLnBrk="0" hangingPunct="0"/>
            <a:r>
              <a:rPr lang="zh-CN" altLang="en-US" sz="3200" b="1">
                <a:solidFill>
                  <a:srgbClr val="FF0000"/>
                </a:solidFill>
                <a:latin typeface="黑体" panose="02010609060101010101" pitchFamily="49" charset="-122"/>
                <a:ea typeface="黑体" panose="02010609060101010101" pitchFamily="49" charset="-122"/>
              </a:rPr>
              <a:t>控制离开</a:t>
            </a:r>
            <a:r>
              <a:rPr lang="en-US" altLang="zh-CN" sz="3200" b="1">
                <a:solidFill>
                  <a:srgbClr val="FF0000"/>
                </a:solidFill>
                <a:latin typeface="黑体" panose="02010609060101010101" pitchFamily="49" charset="-122"/>
                <a:ea typeface="黑体" panose="02010609060101010101" pitchFamily="49" charset="-122"/>
              </a:rPr>
              <a:t>B</a:t>
            </a:r>
            <a:r>
              <a:rPr lang="en-US" altLang="zh-CN" sz="3200" b="1" baseline="-25000">
                <a:solidFill>
                  <a:srgbClr val="FF0000"/>
                </a:solidFill>
                <a:latin typeface="黑体" panose="02010609060101010101" pitchFamily="49" charset="-122"/>
                <a:ea typeface="黑体" panose="02010609060101010101" pitchFamily="49" charset="-122"/>
              </a:rPr>
              <a:t>1</a:t>
            </a:r>
            <a:r>
              <a:rPr lang="zh-CN" altLang="en-US" sz="3200" b="1">
                <a:solidFill>
                  <a:srgbClr val="FF0000"/>
                </a:solidFill>
                <a:latin typeface="黑体" panose="02010609060101010101" pitchFamily="49" charset="-122"/>
                <a:ea typeface="黑体" panose="02010609060101010101" pitchFamily="49" charset="-122"/>
              </a:rPr>
              <a:t>进入</a:t>
            </a:r>
            <a:r>
              <a:rPr lang="en-US" altLang="zh-CN" sz="3200" b="1">
                <a:solidFill>
                  <a:srgbClr val="FF0000"/>
                </a:solidFill>
                <a:latin typeface="黑体" panose="02010609060101010101" pitchFamily="49" charset="-122"/>
                <a:ea typeface="黑体" panose="02010609060101010101" pitchFamily="49" charset="-122"/>
              </a:rPr>
              <a:t>B</a:t>
            </a:r>
            <a:r>
              <a:rPr lang="en-US" altLang="zh-CN" sz="3200" b="1" baseline="-25000">
                <a:solidFill>
                  <a:srgbClr val="FF0000"/>
                </a:solidFill>
                <a:latin typeface="黑体" panose="02010609060101010101" pitchFamily="49" charset="-122"/>
                <a:ea typeface="黑体" panose="02010609060101010101" pitchFamily="49" charset="-122"/>
              </a:rPr>
              <a:t>6</a:t>
            </a:r>
            <a:r>
              <a:rPr lang="zh-CN" altLang="en-US" sz="3200" b="1">
                <a:solidFill>
                  <a:srgbClr val="FF0000"/>
                </a:solidFill>
                <a:latin typeface="黑体" panose="02010609060101010101" pitchFamily="49" charset="-122"/>
                <a:ea typeface="黑体" panose="02010609060101010101" pitchFamily="49" charset="-122"/>
              </a:rPr>
              <a:t>之前可能进入</a:t>
            </a:r>
            <a:r>
              <a:rPr lang="en-US" altLang="zh-CN" sz="3200" b="1">
                <a:solidFill>
                  <a:srgbClr val="FF0000"/>
                </a:solidFill>
                <a:latin typeface="黑体" panose="02010609060101010101" pitchFamily="49" charset="-122"/>
                <a:ea typeface="黑体" panose="02010609060101010101" pitchFamily="49" charset="-122"/>
              </a:rPr>
              <a:t>B</a:t>
            </a:r>
            <a:r>
              <a:rPr lang="en-US" altLang="zh-CN" sz="3200" b="1" baseline="-25000">
                <a:solidFill>
                  <a:srgbClr val="FF0000"/>
                </a:solidFill>
                <a:latin typeface="黑体" panose="02010609060101010101" pitchFamily="49" charset="-122"/>
                <a:ea typeface="黑体" panose="02010609060101010101" pitchFamily="49" charset="-122"/>
              </a:rPr>
              <a:t>5</a:t>
            </a:r>
            <a:r>
              <a:rPr lang="zh-CN" altLang="en-US" sz="3200" b="1">
                <a:solidFill>
                  <a:srgbClr val="FF0000"/>
                </a:solidFill>
                <a:latin typeface="黑体" panose="02010609060101010101" pitchFamily="49" charset="-122"/>
                <a:ea typeface="黑体" panose="02010609060101010101" pitchFamily="49" charset="-122"/>
              </a:rPr>
              <a:t>，而</a:t>
            </a:r>
            <a:r>
              <a:rPr lang="en-US" altLang="zh-CN" sz="3200" b="1">
                <a:solidFill>
                  <a:srgbClr val="FF0000"/>
                </a:solidFill>
                <a:latin typeface="黑体" panose="02010609060101010101" pitchFamily="49" charset="-122"/>
                <a:ea typeface="黑体" panose="02010609060101010101" pitchFamily="49" charset="-122"/>
              </a:rPr>
              <a:t>B</a:t>
            </a:r>
            <a:r>
              <a:rPr lang="en-US" altLang="zh-CN" sz="3200" b="1" baseline="-25000">
                <a:solidFill>
                  <a:srgbClr val="FF0000"/>
                </a:solidFill>
                <a:latin typeface="黑体" panose="02010609060101010101" pitchFamily="49" charset="-122"/>
                <a:ea typeface="黑体" panose="02010609060101010101" pitchFamily="49" charset="-122"/>
              </a:rPr>
              <a:t>5</a:t>
            </a:r>
            <a:r>
              <a:rPr lang="zh-CN" altLang="en-US" sz="3200" b="1">
                <a:solidFill>
                  <a:srgbClr val="FF0000"/>
                </a:solidFill>
                <a:latin typeface="黑体" panose="02010609060101010101" pitchFamily="49" charset="-122"/>
                <a:ea typeface="黑体" panose="02010609060101010101" pitchFamily="49" charset="-122"/>
              </a:rPr>
              <a:t>有对</a:t>
            </a:r>
            <a:r>
              <a:rPr lang="en-US" altLang="zh-CN" sz="3200" b="1">
                <a:solidFill>
                  <a:srgbClr val="FF0000"/>
                </a:solidFill>
                <a:latin typeface="黑体" panose="02010609060101010101" pitchFamily="49" charset="-122"/>
                <a:ea typeface="黑体" panose="02010609060101010101" pitchFamily="49" charset="-122"/>
              </a:rPr>
              <a:t>a</a:t>
            </a:r>
            <a:r>
              <a:rPr lang="zh-CN" altLang="en-US" sz="3200" b="1">
                <a:solidFill>
                  <a:srgbClr val="FF0000"/>
                </a:solidFill>
                <a:latin typeface="黑体" panose="02010609060101010101" pitchFamily="49" charset="-122"/>
                <a:ea typeface="黑体" panose="02010609060101010101" pitchFamily="49" charset="-122"/>
              </a:rPr>
              <a:t>的赋值</a:t>
            </a:r>
            <a:r>
              <a:rPr lang="zh-CN" altLang="en-US" sz="3200" b="1">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1523957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3"/>
          <p:cNvSpPr>
            <a:spLocks noGrp="1"/>
          </p:cNvSpPr>
          <p:nvPr>
            <p:ph type="dt" sz="half" idx="10"/>
          </p:nvPr>
        </p:nvSpPr>
        <p:spPr/>
        <p:txBody>
          <a:bodyPr/>
          <a:lstStyle/>
          <a:p>
            <a:fld id="{AD7B4161-9FA3-44AC-B267-DB8945B96140}" type="datetime1">
              <a:rPr lang="zh-CN" altLang="en-US"/>
              <a:pPr/>
              <a:t>2017/2/24</a:t>
            </a:fld>
            <a:endParaRPr lang="en-US" altLang="zh-CN"/>
          </a:p>
        </p:txBody>
      </p:sp>
      <p:sp>
        <p:nvSpPr>
          <p:cNvPr id="18" name="灯片编号占位符 5"/>
          <p:cNvSpPr>
            <a:spLocks noGrp="1"/>
          </p:cNvSpPr>
          <p:nvPr>
            <p:ph type="sldNum" sz="quarter" idx="12"/>
          </p:nvPr>
        </p:nvSpPr>
        <p:spPr/>
        <p:txBody>
          <a:bodyPr/>
          <a:lstStyle/>
          <a:p>
            <a:fld id="{9A02463C-55FD-4562-A7BE-9DAFE48AE4DF}" type="slidenum">
              <a:rPr lang="en-US" altLang="zh-CN"/>
              <a:pPr/>
              <a:t>19</a:t>
            </a:fld>
            <a:endParaRPr lang="en-US" altLang="zh-CN"/>
          </a:p>
        </p:txBody>
      </p:sp>
      <p:sp>
        <p:nvSpPr>
          <p:cNvPr id="2696194" name="Rectangle 2"/>
          <p:cNvSpPr>
            <a:spLocks noGrp="1" noChangeArrowheads="1"/>
          </p:cNvSpPr>
          <p:nvPr>
            <p:ph type="title"/>
          </p:nvPr>
        </p:nvSpPr>
        <p:spPr>
          <a:xfrm>
            <a:off x="1101725" y="44450"/>
            <a:ext cx="6638925"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复制传播</a:t>
            </a:r>
          </a:p>
        </p:txBody>
      </p:sp>
      <p:sp>
        <p:nvSpPr>
          <p:cNvPr id="2696195" name="Rectangle 3"/>
          <p:cNvSpPr>
            <a:spLocks noGrp="1" noChangeArrowheads="1"/>
          </p:cNvSpPr>
          <p:nvPr>
            <p:ph type="body" idx="1"/>
          </p:nvPr>
        </p:nvSpPr>
        <p:spPr>
          <a:xfrm>
            <a:off x="304800" y="1125538"/>
            <a:ext cx="8610600" cy="5111750"/>
          </a:xfrm>
        </p:spPr>
        <p:txBody>
          <a:bodyPr/>
          <a:lstStyle/>
          <a:p>
            <a:pPr>
              <a:spcBef>
                <a:spcPct val="10000"/>
              </a:spcBef>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形如</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 := 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的赋值语句叫做复制语句</a:t>
            </a:r>
          </a:p>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优化过程中会大量引入复制</a:t>
            </a:r>
          </a:p>
          <a:p>
            <a:pPr>
              <a:spcBef>
                <a:spcPct val="10000"/>
              </a:spcBef>
              <a:buFontTx/>
              <a:buNone/>
            </a:pP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696196" name="Group 4"/>
          <p:cNvGrpSpPr>
            <a:grpSpLocks/>
          </p:cNvGrpSpPr>
          <p:nvPr/>
        </p:nvGrpSpPr>
        <p:grpSpPr bwMode="auto">
          <a:xfrm>
            <a:off x="152400" y="2565400"/>
            <a:ext cx="8839200" cy="3505200"/>
            <a:chOff x="96" y="2112"/>
            <a:chExt cx="5568" cy="1872"/>
          </a:xfrm>
        </p:grpSpPr>
        <p:sp>
          <p:nvSpPr>
            <p:cNvPr id="2696197" name="Rectangle 5"/>
            <p:cNvSpPr>
              <a:spLocks noChangeArrowheads="1"/>
            </p:cNvSpPr>
            <p:nvPr/>
          </p:nvSpPr>
          <p:spPr bwMode="auto">
            <a:xfrm>
              <a:off x="3171" y="2112"/>
              <a:ext cx="1052" cy="61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 := d + e</a:t>
              </a:r>
            </a:p>
            <a:p>
              <a:pPr algn="just" eaLnBrk="0" hangingPunct="0">
                <a:lnSpc>
                  <a:spcPct val="96000"/>
                </a:lnSpc>
              </a:pPr>
              <a:r>
                <a:rPr lang="en-US" altLang="zh-CN" sz="2800" b="1"/>
                <a:t>a := t</a:t>
              </a:r>
            </a:p>
          </p:txBody>
        </p:sp>
        <p:sp>
          <p:nvSpPr>
            <p:cNvPr id="2696198" name="Rectangle 6"/>
            <p:cNvSpPr>
              <a:spLocks noChangeArrowheads="1"/>
            </p:cNvSpPr>
            <p:nvPr/>
          </p:nvSpPr>
          <p:spPr bwMode="auto">
            <a:xfrm>
              <a:off x="1016" y="3669"/>
              <a:ext cx="386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txBody>
            <a:bodyPr/>
            <a:lstStyle/>
            <a:p>
              <a:pPr algn="ctr" eaLnBrk="0" hangingPunct="0"/>
              <a:r>
                <a:rPr lang="en-US" altLang="zh-CN" sz="2800" b="1">
                  <a:solidFill>
                    <a:srgbClr val="FF0000"/>
                  </a:solidFill>
                </a:rPr>
                <a:t> </a:t>
              </a:r>
              <a:r>
                <a:rPr lang="zh-CN" altLang="en-US" sz="2800" b="1">
                  <a:solidFill>
                    <a:srgbClr val="FF0000"/>
                  </a:solidFill>
                  <a:ea typeface="黑体" panose="02010609060101010101" pitchFamily="49" charset="-122"/>
                </a:rPr>
                <a:t>删除局部公共子表达式期间引进复制</a:t>
              </a:r>
            </a:p>
          </p:txBody>
        </p:sp>
        <p:sp>
          <p:nvSpPr>
            <p:cNvPr id="2696199" name="Rectangle 7"/>
            <p:cNvSpPr>
              <a:spLocks noChangeArrowheads="1"/>
            </p:cNvSpPr>
            <p:nvPr/>
          </p:nvSpPr>
          <p:spPr bwMode="auto">
            <a:xfrm>
              <a:off x="4613" y="2112"/>
              <a:ext cx="1051" cy="61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t := d + e</a:t>
              </a:r>
            </a:p>
            <a:p>
              <a:pPr algn="just" eaLnBrk="0" hangingPunct="0">
                <a:lnSpc>
                  <a:spcPct val="96000"/>
                </a:lnSpc>
              </a:pPr>
              <a:r>
                <a:rPr lang="en-US" altLang="zh-CN" sz="2800" b="1"/>
                <a:t>b := t</a:t>
              </a:r>
            </a:p>
          </p:txBody>
        </p:sp>
        <p:sp>
          <p:nvSpPr>
            <p:cNvPr id="2696200" name="Rectangle 8"/>
            <p:cNvSpPr>
              <a:spLocks noChangeArrowheads="1"/>
            </p:cNvSpPr>
            <p:nvPr/>
          </p:nvSpPr>
          <p:spPr bwMode="auto">
            <a:xfrm>
              <a:off x="3905" y="3219"/>
              <a:ext cx="1052" cy="34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c := t</a:t>
              </a:r>
            </a:p>
          </p:txBody>
        </p:sp>
        <p:sp>
          <p:nvSpPr>
            <p:cNvPr id="2696201" name="Line 9"/>
            <p:cNvSpPr>
              <a:spLocks noChangeShapeType="1"/>
            </p:cNvSpPr>
            <p:nvPr/>
          </p:nvSpPr>
          <p:spPr bwMode="auto">
            <a:xfrm>
              <a:off x="3726" y="2732"/>
              <a:ext cx="507" cy="494"/>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6202" name="Line 10"/>
            <p:cNvSpPr>
              <a:spLocks noChangeShapeType="1"/>
            </p:cNvSpPr>
            <p:nvPr/>
          </p:nvSpPr>
          <p:spPr bwMode="auto">
            <a:xfrm flipH="1">
              <a:off x="4638" y="2751"/>
              <a:ext cx="506" cy="493"/>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6203" name="Rectangle 11"/>
            <p:cNvSpPr>
              <a:spLocks noChangeArrowheads="1"/>
            </p:cNvSpPr>
            <p:nvPr/>
          </p:nvSpPr>
          <p:spPr bwMode="auto">
            <a:xfrm>
              <a:off x="893" y="3114"/>
              <a:ext cx="1051" cy="34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c := d + e</a:t>
              </a:r>
            </a:p>
          </p:txBody>
        </p:sp>
        <p:sp>
          <p:nvSpPr>
            <p:cNvPr id="2696204" name="Rectangle 12"/>
            <p:cNvSpPr>
              <a:spLocks noChangeArrowheads="1"/>
            </p:cNvSpPr>
            <p:nvPr/>
          </p:nvSpPr>
          <p:spPr bwMode="auto">
            <a:xfrm>
              <a:off x="1728" y="2246"/>
              <a:ext cx="1052" cy="34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b := d + e</a:t>
              </a:r>
            </a:p>
          </p:txBody>
        </p:sp>
        <p:sp>
          <p:nvSpPr>
            <p:cNvPr id="2696205" name="Rectangle 13"/>
            <p:cNvSpPr>
              <a:spLocks noChangeArrowheads="1"/>
            </p:cNvSpPr>
            <p:nvPr/>
          </p:nvSpPr>
          <p:spPr bwMode="auto">
            <a:xfrm>
              <a:off x="96" y="2230"/>
              <a:ext cx="1051" cy="34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a := d + e</a:t>
              </a:r>
            </a:p>
          </p:txBody>
        </p:sp>
        <p:sp>
          <p:nvSpPr>
            <p:cNvPr id="2696206" name="Line 14"/>
            <p:cNvSpPr>
              <a:spLocks noChangeShapeType="1"/>
            </p:cNvSpPr>
            <p:nvPr/>
          </p:nvSpPr>
          <p:spPr bwMode="auto">
            <a:xfrm>
              <a:off x="688" y="2598"/>
              <a:ext cx="507" cy="494"/>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696207" name="Line 15"/>
            <p:cNvSpPr>
              <a:spLocks noChangeShapeType="1"/>
            </p:cNvSpPr>
            <p:nvPr/>
          </p:nvSpPr>
          <p:spPr bwMode="auto">
            <a:xfrm flipH="1">
              <a:off x="1677" y="2598"/>
              <a:ext cx="507" cy="494"/>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750420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85B7B1C7-FB4B-4396-9204-C35ED44BD878}"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8E6C580F-9F3F-47F7-9114-72045B9776ED}" type="slidenum">
              <a:rPr lang="en-US" altLang="zh-CN"/>
              <a:pPr/>
              <a:t>20</a:t>
            </a:fld>
            <a:endParaRPr lang="en-US" altLang="zh-CN"/>
          </a:p>
        </p:txBody>
      </p:sp>
      <p:sp>
        <p:nvSpPr>
          <p:cNvPr id="2698242" name="Rectangle 2"/>
          <p:cNvSpPr>
            <a:spLocks noGrp="1" noChangeArrowheads="1"/>
          </p:cNvSpPr>
          <p:nvPr>
            <p:ph type="title"/>
          </p:nvPr>
        </p:nvSpPr>
        <p:spPr>
          <a:xfrm>
            <a:off x="1116013" y="115888"/>
            <a:ext cx="5486400"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复制传播</a:t>
            </a:r>
          </a:p>
        </p:txBody>
      </p:sp>
      <p:sp>
        <p:nvSpPr>
          <p:cNvPr id="2698243" name="Rectangle 3"/>
          <p:cNvSpPr>
            <a:spLocks noGrp="1" noChangeArrowheads="1"/>
          </p:cNvSpPr>
          <p:nvPr>
            <p:ph type="body" idx="1"/>
          </p:nvPr>
        </p:nvSpPr>
        <p:spPr>
          <a:xfrm>
            <a:off x="304800" y="1196975"/>
            <a:ext cx="8610600" cy="4959350"/>
          </a:xfrm>
        </p:spPr>
        <p:txBody>
          <a:bodyPr/>
          <a:lstStyle/>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复制传播变换的思想是在复制语句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 := 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之后尽可能用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代替</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a:t>
            </a:r>
          </a:p>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复制传播变换本身并不是优化，但它给其它优化带来机会</a:t>
            </a:r>
          </a:p>
          <a:p>
            <a:pPr lvl="1">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无用代码删除</a:t>
            </a:r>
          </a:p>
        </p:txBody>
      </p:sp>
      <p:sp>
        <p:nvSpPr>
          <p:cNvPr id="2698244" name="Rectangle 4"/>
          <p:cNvSpPr>
            <a:spLocks noChangeArrowheads="1"/>
          </p:cNvSpPr>
          <p:nvPr/>
        </p:nvSpPr>
        <p:spPr bwMode="auto">
          <a:xfrm>
            <a:off x="5715000" y="4057650"/>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x := t</a:t>
            </a:r>
            <a:r>
              <a:rPr lang="en-US" altLang="zh-CN" sz="2800" b="1" baseline="-25000"/>
              <a:t>3</a:t>
            </a:r>
            <a:endParaRPr lang="en-US" altLang="zh-CN" sz="2800" b="1">
              <a:solidFill>
                <a:srgbClr val="00FF00"/>
              </a:solidFill>
            </a:endParaRP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5</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a:t>
            </a:r>
            <a:r>
              <a:rPr lang="en-US" altLang="zh-CN" sz="2800" b="1">
                <a:solidFill>
                  <a:schemeClr val="hlink"/>
                </a:solidFill>
              </a:rPr>
              <a:t> </a:t>
            </a:r>
            <a:r>
              <a:rPr lang="en-US" altLang="zh-CN" sz="2800" b="1">
                <a:solidFill>
                  <a:srgbClr val="FF0000"/>
                </a:solidFill>
              </a:rPr>
              <a:t>t</a:t>
            </a:r>
            <a:r>
              <a:rPr lang="en-US" altLang="zh-CN" sz="2800" b="1" baseline="-25000">
                <a:solidFill>
                  <a:srgbClr val="FF0000"/>
                </a:solidFill>
              </a:rPr>
              <a:t>3</a:t>
            </a:r>
            <a:endParaRPr lang="en-US" altLang="zh-CN" sz="2800" b="1">
              <a:solidFill>
                <a:srgbClr val="FF0000"/>
              </a:solidFill>
            </a:endParaRPr>
          </a:p>
          <a:p>
            <a:pPr algn="just" eaLnBrk="0" hangingPunct="0">
              <a:lnSpc>
                <a:spcPct val="96000"/>
              </a:lnSpc>
            </a:pPr>
            <a:r>
              <a:rPr lang="en-US" altLang="zh-CN" sz="2800" b="1"/>
              <a:t>goto </a:t>
            </a:r>
            <a:r>
              <a:rPr lang="en-US" altLang="zh-CN" sz="2800" b="1" i="1"/>
              <a:t>B</a:t>
            </a:r>
            <a:r>
              <a:rPr lang="en-US" altLang="zh-CN" sz="2800" b="1" baseline="-25000"/>
              <a:t>2</a:t>
            </a:r>
          </a:p>
        </p:txBody>
      </p:sp>
      <p:sp>
        <p:nvSpPr>
          <p:cNvPr id="2698245" name="Rectangle 5"/>
          <p:cNvSpPr>
            <a:spLocks noChangeArrowheads="1"/>
          </p:cNvSpPr>
          <p:nvPr/>
        </p:nvSpPr>
        <p:spPr bwMode="auto">
          <a:xfrm>
            <a:off x="1295400" y="4057650"/>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solidFill>
                  <a:srgbClr val="FF0000"/>
                </a:solidFill>
              </a:rPr>
              <a:t>x := t</a:t>
            </a:r>
            <a:r>
              <a:rPr lang="en-US" altLang="zh-CN" sz="2800" b="1" baseline="-25000">
                <a:solidFill>
                  <a:srgbClr val="FF0000"/>
                </a:solidFill>
              </a:rPr>
              <a:t>3</a:t>
            </a:r>
            <a:endParaRPr lang="en-US" altLang="zh-CN" sz="2800" b="1">
              <a:solidFill>
                <a:srgbClr val="FF0000"/>
              </a:solidFill>
            </a:endParaRP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5</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x</a:t>
            </a:r>
          </a:p>
          <a:p>
            <a:pPr algn="just" eaLnBrk="0" hangingPunct="0">
              <a:lnSpc>
                <a:spcPct val="96000"/>
              </a:lnSpc>
            </a:pPr>
            <a:r>
              <a:rPr lang="en-US" altLang="zh-CN" sz="2800" b="1"/>
              <a:t>goto </a:t>
            </a:r>
            <a:r>
              <a:rPr lang="en-US" altLang="zh-CN" sz="2800" b="1" i="1"/>
              <a:t>B</a:t>
            </a:r>
            <a:r>
              <a:rPr lang="en-US" altLang="zh-CN" sz="2800" b="1" baseline="-25000"/>
              <a:t>2</a:t>
            </a:r>
          </a:p>
        </p:txBody>
      </p:sp>
    </p:spTree>
    <p:extLst>
      <p:ext uri="{BB962C8B-B14F-4D97-AF65-F5344CB8AC3E}">
        <p14:creationId xmlns:p14="http://schemas.microsoft.com/office/powerpoint/2010/main" val="2491308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13F1518-1635-422D-AA94-6605A3F9241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F4733A9-B233-462E-91C4-20DA9CC4BA2B}" type="slidenum">
              <a:rPr lang="en-US" altLang="zh-CN"/>
              <a:pPr/>
              <a:t>21</a:t>
            </a:fld>
            <a:endParaRPr lang="en-US" altLang="zh-CN"/>
          </a:p>
        </p:txBody>
      </p:sp>
      <p:sp>
        <p:nvSpPr>
          <p:cNvPr id="2700290" name="Rectangle 2"/>
          <p:cNvSpPr>
            <a:spLocks noGrp="1" noChangeArrowheads="1"/>
          </p:cNvSpPr>
          <p:nvPr>
            <p:ph type="title"/>
          </p:nvPr>
        </p:nvSpPr>
        <p:spPr>
          <a:xfrm>
            <a:off x="1244600" y="260350"/>
            <a:ext cx="5343525"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无用代码删除</a:t>
            </a:r>
          </a:p>
        </p:txBody>
      </p:sp>
      <p:sp>
        <p:nvSpPr>
          <p:cNvPr id="2700291" name="Rectangle 3"/>
          <p:cNvSpPr>
            <a:spLocks noGrp="1" noChangeArrowheads="1"/>
          </p:cNvSpPr>
          <p:nvPr>
            <p:ph type="body" idx="1"/>
          </p:nvPr>
        </p:nvSpPr>
        <p:spPr>
          <a:xfrm>
            <a:off x="304800" y="1619250"/>
            <a:ext cx="8610600" cy="4681538"/>
          </a:xfrm>
        </p:spPr>
        <p:txBody>
          <a:bodyPr/>
          <a:lstStyle/>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无用代码是指计算结果以后不被引用的语句</a:t>
            </a:r>
          </a:p>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一些优化变换可能会引入无用代码</a:t>
            </a:r>
          </a:p>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a:t>
            </a:r>
          </a:p>
          <a:p>
            <a:pPr>
              <a:spcBef>
                <a:spcPct val="1000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debug := true;		         debug := false;</a:t>
            </a:r>
          </a:p>
          <a:p>
            <a:pPr>
              <a:spcBef>
                <a:spcPct val="1000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  .  .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测试后改成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  .</a:t>
            </a:r>
          </a:p>
          <a:p>
            <a:pPr>
              <a:spcBef>
                <a:spcPct val="10000"/>
              </a:spcBef>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if(debug)print …	                   if(debug)print …</a:t>
            </a:r>
          </a:p>
        </p:txBody>
      </p:sp>
    </p:spTree>
    <p:extLst>
      <p:ext uri="{BB962C8B-B14F-4D97-AF65-F5344CB8AC3E}">
        <p14:creationId xmlns:p14="http://schemas.microsoft.com/office/powerpoint/2010/main" val="5631332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F631BC67-2123-4062-83E0-6125FD1127AF}"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01D511C9-230A-4F9E-97D9-12F55176B1B9}" type="slidenum">
              <a:rPr lang="en-US" altLang="zh-CN"/>
              <a:pPr/>
              <a:t>22</a:t>
            </a:fld>
            <a:endParaRPr lang="en-US" altLang="zh-CN"/>
          </a:p>
        </p:txBody>
      </p:sp>
      <p:sp>
        <p:nvSpPr>
          <p:cNvPr id="2702338" name="Rectangle 2"/>
          <p:cNvSpPr>
            <a:spLocks noGrp="1" noChangeArrowheads="1"/>
          </p:cNvSpPr>
          <p:nvPr>
            <p:ph type="title"/>
          </p:nvPr>
        </p:nvSpPr>
        <p:spPr>
          <a:xfrm>
            <a:off x="957263" y="260350"/>
            <a:ext cx="5846762" cy="11430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无用代码删除</a:t>
            </a:r>
          </a:p>
        </p:txBody>
      </p:sp>
      <p:sp>
        <p:nvSpPr>
          <p:cNvPr id="2702339" name="Rectangle 3"/>
          <p:cNvSpPr>
            <a:spLocks noGrp="1" noChangeArrowheads="1"/>
          </p:cNvSpPr>
          <p:nvPr>
            <p:ph type="body" idx="1"/>
          </p:nvPr>
        </p:nvSpPr>
        <p:spPr>
          <a:xfrm>
            <a:off x="304800" y="1619250"/>
            <a:ext cx="8610600" cy="4868863"/>
          </a:xfrm>
        </p:spPr>
        <p:txBody>
          <a:bodyPr/>
          <a:lstStyle/>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无用代码是指计算结果以后不被引用的语句</a:t>
            </a:r>
          </a:p>
          <a:p>
            <a:pPr>
              <a:spcBef>
                <a:spcPct val="1000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一些优化变换可能会引入无用代码</a:t>
            </a:r>
          </a:p>
          <a:p>
            <a:pPr>
              <a:spcBef>
                <a:spcPct val="10000"/>
              </a:spcBef>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例：复制传播可能会引入无用代码</a:t>
            </a:r>
          </a:p>
          <a:p>
            <a:pPr>
              <a:spcBef>
                <a:spcPct val="10000"/>
              </a:spcBef>
              <a:buFontTx/>
              <a:buNone/>
            </a:pP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02340" name="Rectangle 4"/>
          <p:cNvSpPr>
            <a:spLocks noChangeArrowheads="1"/>
          </p:cNvSpPr>
          <p:nvPr/>
        </p:nvSpPr>
        <p:spPr bwMode="auto">
          <a:xfrm>
            <a:off x="1219200" y="3970338"/>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solidFill>
                  <a:srgbClr val="FF0000"/>
                </a:solidFill>
              </a:rPr>
              <a:t>x := t</a:t>
            </a:r>
            <a:r>
              <a:rPr lang="en-US" altLang="zh-CN" sz="2800" b="1" baseline="-25000">
                <a:solidFill>
                  <a:srgbClr val="FF0000"/>
                </a:solidFill>
              </a:rPr>
              <a:t>3</a:t>
            </a:r>
            <a:endParaRPr lang="en-US" altLang="zh-CN" sz="2800" b="1">
              <a:solidFill>
                <a:srgbClr val="FF0000"/>
              </a:solidFill>
            </a:endParaRPr>
          </a:p>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5</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t</a:t>
            </a:r>
            <a:r>
              <a:rPr lang="en-US" altLang="zh-CN" sz="2800" b="1" baseline="-25000"/>
              <a:t>3</a:t>
            </a:r>
            <a:endParaRPr lang="en-US" altLang="zh-CN" sz="2800" b="1"/>
          </a:p>
          <a:p>
            <a:pPr algn="just" eaLnBrk="0" hangingPunct="0">
              <a:lnSpc>
                <a:spcPct val="96000"/>
              </a:lnSpc>
            </a:pPr>
            <a:r>
              <a:rPr lang="en-US" altLang="zh-CN" sz="2800" b="1"/>
              <a:t>goto </a:t>
            </a:r>
            <a:r>
              <a:rPr lang="en-US" altLang="zh-CN" sz="2800" b="1" i="1"/>
              <a:t>B</a:t>
            </a:r>
            <a:r>
              <a:rPr lang="en-US" altLang="zh-CN" sz="2800" b="1" baseline="-25000"/>
              <a:t>2</a:t>
            </a:r>
          </a:p>
        </p:txBody>
      </p:sp>
      <p:sp>
        <p:nvSpPr>
          <p:cNvPr id="2702341" name="Rectangle 5"/>
          <p:cNvSpPr>
            <a:spLocks noChangeArrowheads="1"/>
          </p:cNvSpPr>
          <p:nvPr/>
        </p:nvSpPr>
        <p:spPr bwMode="auto">
          <a:xfrm>
            <a:off x="5562600" y="3970338"/>
            <a:ext cx="2227263" cy="16764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tIns="0" bIns="0"/>
          <a:lstStyle/>
          <a:p>
            <a:pPr algn="just" eaLnBrk="0" hangingPunct="0">
              <a:lnSpc>
                <a:spcPct val="96000"/>
              </a:lnSpc>
            </a:pPr>
            <a:r>
              <a:rPr lang="en-US" altLang="zh-CN" sz="2800" b="1"/>
              <a:t>a[t</a:t>
            </a:r>
            <a:r>
              <a:rPr lang="en-US" altLang="zh-CN" sz="2800" b="1" baseline="-25000"/>
              <a:t>2</a:t>
            </a:r>
            <a:r>
              <a:rPr lang="en-US" altLang="zh-CN" sz="2800" b="1"/>
              <a:t>] := t</a:t>
            </a:r>
            <a:r>
              <a:rPr lang="en-US" altLang="zh-CN" sz="2800" b="1" baseline="-25000"/>
              <a:t>5</a:t>
            </a:r>
            <a:endParaRPr lang="en-US" altLang="zh-CN" sz="2800" b="1"/>
          </a:p>
          <a:p>
            <a:pPr algn="just" eaLnBrk="0" hangingPunct="0">
              <a:lnSpc>
                <a:spcPct val="96000"/>
              </a:lnSpc>
            </a:pPr>
            <a:r>
              <a:rPr lang="en-US" altLang="zh-CN" sz="2800" b="1"/>
              <a:t>a[t</a:t>
            </a:r>
            <a:r>
              <a:rPr lang="en-US" altLang="zh-CN" sz="2800" b="1" baseline="-25000"/>
              <a:t>4</a:t>
            </a:r>
            <a:r>
              <a:rPr lang="en-US" altLang="zh-CN" sz="2800" b="1"/>
              <a:t>] := t</a:t>
            </a:r>
            <a:r>
              <a:rPr lang="en-US" altLang="zh-CN" sz="2800" b="1" baseline="-25000"/>
              <a:t>3</a:t>
            </a:r>
            <a:endParaRPr lang="en-US" altLang="zh-CN" sz="2800" b="1"/>
          </a:p>
          <a:p>
            <a:pPr algn="just" eaLnBrk="0" hangingPunct="0">
              <a:lnSpc>
                <a:spcPct val="96000"/>
              </a:lnSpc>
            </a:pPr>
            <a:r>
              <a:rPr lang="en-US" altLang="zh-CN" sz="2800" b="1"/>
              <a:t>goto </a:t>
            </a:r>
            <a:r>
              <a:rPr lang="en-US" altLang="zh-CN" sz="2800" b="1" i="1"/>
              <a:t>B</a:t>
            </a:r>
            <a:r>
              <a:rPr lang="en-US" altLang="zh-CN" sz="2800" b="1" baseline="-25000"/>
              <a:t>2</a:t>
            </a:r>
          </a:p>
        </p:txBody>
      </p:sp>
    </p:spTree>
    <p:extLst>
      <p:ext uri="{BB962C8B-B14F-4D97-AF65-F5344CB8AC3E}">
        <p14:creationId xmlns:p14="http://schemas.microsoft.com/office/powerpoint/2010/main" val="34867660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B464F73-453F-4124-8933-8278F302F92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CB7259A-9BDA-4B3E-90EE-924D052C0F3B}" type="slidenum">
              <a:rPr lang="en-US" altLang="zh-CN"/>
              <a:pPr/>
              <a:t>23</a:t>
            </a:fld>
            <a:endParaRPr lang="en-US" altLang="zh-CN"/>
          </a:p>
        </p:txBody>
      </p:sp>
      <p:sp>
        <p:nvSpPr>
          <p:cNvPr id="2704386" name="Rectangle 2"/>
          <p:cNvSpPr>
            <a:spLocks noGrp="1" noChangeArrowheads="1"/>
          </p:cNvSpPr>
          <p:nvPr>
            <p:ph type="title"/>
          </p:nvPr>
        </p:nvSpPr>
        <p:spPr>
          <a:xfrm>
            <a:off x="1604963" y="44450"/>
            <a:ext cx="5846762" cy="8636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代码外提</a:t>
            </a:r>
          </a:p>
        </p:txBody>
      </p:sp>
      <p:sp>
        <p:nvSpPr>
          <p:cNvPr id="2704387" name="Rectangle 3"/>
          <p:cNvSpPr>
            <a:spLocks noGrp="1" noChangeArrowheads="1"/>
          </p:cNvSpPr>
          <p:nvPr>
            <p:ph type="body" idx="1"/>
          </p:nvPr>
        </p:nvSpPr>
        <p:spPr>
          <a:xfrm>
            <a:off x="304800" y="981075"/>
            <a:ext cx="8610600" cy="4895850"/>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结果独立于循环执行次数的表达式称为循环不变计算。如果将循环不变计算从循环中移出到循环的前面，将会减少循环执行的代码总数，大大提高代码的执行效率。这种与循环有关的优化方法称为代码外提。</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例如，下面的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while</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语句中，</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1imit-2</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就是循环不变计算。</a:t>
            </a:r>
          </a:p>
          <a:p>
            <a:pPr lvl="1">
              <a:lnSpc>
                <a:spcPct val="90000"/>
              </a:lnSpc>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while(</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&lt;=limit-2 )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假设循环体中的语句不改变</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limit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的值*</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lvl="1">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代码外提将生成如下的等价语句：</a:t>
            </a:r>
          </a:p>
          <a:p>
            <a:pPr lvl="1">
              <a:lnSpc>
                <a:spcPct val="90000"/>
              </a:lnSpc>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t := limit-2;</a:t>
            </a:r>
          </a:p>
          <a:p>
            <a:pPr lvl="1">
              <a:lnSpc>
                <a:spcPct val="90000"/>
              </a:lnSpc>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while (</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&lt;= t)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假设循环体中的语句不改变</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limit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t*/}</a:t>
            </a:r>
          </a:p>
        </p:txBody>
      </p:sp>
    </p:spTree>
    <p:extLst>
      <p:ext uri="{BB962C8B-B14F-4D97-AF65-F5344CB8AC3E}">
        <p14:creationId xmlns:p14="http://schemas.microsoft.com/office/powerpoint/2010/main" val="6737587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00E308C-A98E-4532-9DE5-225A00960B0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D8F9C49-61B9-49C7-B26F-A89B261F9497}" type="slidenum">
              <a:rPr lang="en-US" altLang="zh-CN"/>
              <a:pPr/>
              <a:t>24</a:t>
            </a:fld>
            <a:endParaRPr lang="en-US" altLang="zh-CN"/>
          </a:p>
        </p:txBody>
      </p:sp>
      <p:sp>
        <p:nvSpPr>
          <p:cNvPr id="2706434" name="Rectangle 2"/>
          <p:cNvSpPr>
            <a:spLocks noGrp="1" noChangeArrowheads="1"/>
          </p:cNvSpPr>
          <p:nvPr>
            <p:ph type="title"/>
          </p:nvPr>
        </p:nvSpPr>
        <p:spPr>
          <a:xfrm>
            <a:off x="519113" y="115888"/>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强度削弱</a:t>
            </a:r>
          </a:p>
        </p:txBody>
      </p:sp>
      <p:sp>
        <p:nvSpPr>
          <p:cNvPr id="2706435" name="Rectangle 3"/>
          <p:cNvSpPr>
            <a:spLocks noGrp="1" noChangeArrowheads="1"/>
          </p:cNvSpPr>
          <p:nvPr>
            <p:ph type="body" idx="1"/>
          </p:nvPr>
        </p:nvSpPr>
        <p:spPr>
          <a:xfrm>
            <a:off x="611188" y="1052513"/>
            <a:ext cx="8153400" cy="43926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实现同样的运算可以有多种方式。用计算较快的运算代替较慢的运算。</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变成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2.0*x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变成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x+x</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变成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x*0.5</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n-1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en-US" altLang="zh-CN" b="1" baseline="30000" dirty="0">
                <a:latin typeface="Times New Roman" panose="02020603050405020304" pitchFamily="18" charset="0"/>
                <a:ea typeface="华文新魏" panose="02010800040101010101" pitchFamily="2" charset="-122"/>
                <a:cs typeface="Times New Roman" panose="02020603050405020304" pitchFamily="18" charset="0"/>
              </a:rPr>
              <a:t>n-1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变成</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n-1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n-2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0</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7736509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77519791-4F11-4B3F-99D1-36CF6C19FCDB}"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D76F4974-070A-4544-8787-09A4AF379145}" type="slidenum">
              <a:rPr lang="en-US" altLang="zh-CN"/>
              <a:pPr/>
              <a:t>25</a:t>
            </a:fld>
            <a:endParaRPr lang="en-US" altLang="zh-CN"/>
          </a:p>
        </p:txBody>
      </p:sp>
      <p:sp>
        <p:nvSpPr>
          <p:cNvPr id="2707458" name="Rectangle 2"/>
          <p:cNvSpPr>
            <a:spLocks noGrp="1" noChangeArrowheads="1"/>
          </p:cNvSpPr>
          <p:nvPr>
            <p:ph type="title"/>
          </p:nvPr>
        </p:nvSpPr>
        <p:spPr>
          <a:xfrm>
            <a:off x="519113" y="115888"/>
            <a:ext cx="8229600" cy="720725"/>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10.1.5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强度削弱</a:t>
            </a:r>
          </a:p>
        </p:txBody>
      </p:sp>
      <p:sp>
        <p:nvSpPr>
          <p:cNvPr id="2707459" name="Rectangle 3"/>
          <p:cNvSpPr>
            <a:spLocks noChangeArrowheads="1"/>
          </p:cNvSpPr>
          <p:nvPr/>
        </p:nvSpPr>
        <p:spPr bwMode="auto">
          <a:xfrm>
            <a:off x="0" y="1749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07460" name="Object 4"/>
          <p:cNvGraphicFramePr>
            <a:graphicFrameLocks noChangeAspect="1"/>
          </p:cNvGraphicFramePr>
          <p:nvPr/>
        </p:nvGraphicFramePr>
        <p:xfrm>
          <a:off x="1476375" y="836613"/>
          <a:ext cx="6300788" cy="5429250"/>
        </p:xfrm>
        <a:graphic>
          <a:graphicData uri="http://schemas.openxmlformats.org/presentationml/2006/ole">
            <mc:AlternateContent xmlns:mc="http://schemas.openxmlformats.org/markup-compatibility/2006">
              <mc:Choice xmlns:v="urn:schemas-microsoft-com:vml" Requires="v">
                <p:oleObj spid="_x0000_s108547" name="Visio" r:id="rId3" imgW="3633216" imgH="3132596" progId="Visio.Drawing.11">
                  <p:embed/>
                </p:oleObj>
              </mc:Choice>
              <mc:Fallback>
                <p:oleObj name="Visio" r:id="rId3" imgW="3633216" imgH="3132596" progId="Visio.Drawing.11">
                  <p:embed/>
                  <p:pic>
                    <p:nvPicPr>
                      <p:cNvPr id="27074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836613"/>
                        <a:ext cx="6300788" cy="542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07461" name="Rectangle 5"/>
          <p:cNvSpPr>
            <a:spLocks noChangeArrowheads="1"/>
          </p:cNvSpPr>
          <p:nvPr/>
        </p:nvSpPr>
        <p:spPr bwMode="auto">
          <a:xfrm>
            <a:off x="1981200" y="6308725"/>
            <a:ext cx="518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10.6 </a:t>
            </a:r>
            <a:r>
              <a:rPr kumimoji="1" lang="zh-CN" altLang="en-US" b="1"/>
              <a:t>将强度削弱应用到块</a:t>
            </a:r>
            <a:r>
              <a:rPr kumimoji="1" lang="en-US" altLang="zh-CN" b="1" i="1"/>
              <a:t>B</a:t>
            </a:r>
            <a:r>
              <a:rPr kumimoji="1" lang="en-US" altLang="zh-CN" b="1" baseline="-30000"/>
              <a:t>3</a:t>
            </a:r>
            <a:r>
              <a:rPr kumimoji="1" lang="zh-CN" altLang="en-US" b="1"/>
              <a:t>中的</a:t>
            </a:r>
            <a:r>
              <a:rPr kumimoji="1" lang="en-US" altLang="zh-CN" b="1"/>
              <a:t>4*j</a:t>
            </a:r>
          </a:p>
        </p:txBody>
      </p:sp>
    </p:spTree>
    <p:extLst>
      <p:ext uri="{BB962C8B-B14F-4D97-AF65-F5344CB8AC3E}">
        <p14:creationId xmlns:p14="http://schemas.microsoft.com/office/powerpoint/2010/main" val="35890455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F479C14-A5CD-4989-A3A3-C3BFB4C3F1A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BFC1C18-E37E-4915-8420-4BBB18874024}" type="slidenum">
              <a:rPr lang="en-US" altLang="zh-CN"/>
              <a:pPr/>
              <a:t>26</a:t>
            </a:fld>
            <a:endParaRPr lang="en-US" altLang="zh-CN"/>
          </a:p>
        </p:txBody>
      </p:sp>
      <p:sp>
        <p:nvSpPr>
          <p:cNvPr id="2708482" name="Rectangle 2"/>
          <p:cNvSpPr>
            <a:spLocks noGrp="1" noChangeArrowheads="1"/>
          </p:cNvSpPr>
          <p:nvPr>
            <p:ph type="title"/>
          </p:nvPr>
        </p:nvSpPr>
        <p:spPr>
          <a:xfrm>
            <a:off x="457200" y="274638"/>
            <a:ext cx="8229600" cy="77787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归纳变量删除</a:t>
            </a:r>
          </a:p>
        </p:txBody>
      </p:sp>
      <p:sp>
        <p:nvSpPr>
          <p:cNvPr id="2708483" name="Rectangle 3"/>
          <p:cNvSpPr>
            <a:spLocks noGrp="1" noChangeArrowheads="1"/>
          </p:cNvSpPr>
          <p:nvPr>
            <p:ph type="body" idx="1"/>
          </p:nvPr>
        </p:nvSpPr>
        <p:spPr>
          <a:xfrm>
            <a:off x="611188" y="1555750"/>
            <a:ext cx="8153400" cy="3960813"/>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在围绕</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的循环的每次迭代中，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的值总是同步变化，每次</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的值就减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，这是因为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赋给了</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t4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，我们将这样的变量称为归纳变量 </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如果循环中存在两个或更多的归纳变量，也许可以只保留一个，而去掉其余的，以便提高程序的运行效率。 </a:t>
            </a:r>
          </a:p>
        </p:txBody>
      </p:sp>
    </p:spTree>
    <p:extLst>
      <p:ext uri="{BB962C8B-B14F-4D97-AF65-F5344CB8AC3E}">
        <p14:creationId xmlns:p14="http://schemas.microsoft.com/office/powerpoint/2010/main" val="16592772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8D45FFF2-3AF9-40CB-9CE4-A5B8CA6CFBCF}"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E7316FCF-69DD-4EA1-859A-69C96BFC7260}" type="slidenum">
              <a:rPr lang="en-US" altLang="zh-CN"/>
              <a:pPr/>
              <a:t>27</a:t>
            </a:fld>
            <a:endParaRPr lang="en-US" altLang="zh-CN"/>
          </a:p>
        </p:txBody>
      </p:sp>
      <p:sp>
        <p:nvSpPr>
          <p:cNvPr id="2709506" name="Rectangle 2"/>
          <p:cNvSpPr>
            <a:spLocks noGrp="1" noChangeArrowheads="1"/>
          </p:cNvSpPr>
          <p:nvPr>
            <p:ph type="title"/>
          </p:nvPr>
        </p:nvSpPr>
        <p:spPr>
          <a:xfrm>
            <a:off x="457200" y="58738"/>
            <a:ext cx="8229600" cy="633412"/>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10.1.5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a:t>
            </a:r>
          </a:p>
        </p:txBody>
      </p:sp>
      <p:sp>
        <p:nvSpPr>
          <p:cNvPr id="2709507" name="Rectangle 3"/>
          <p:cNvSpPr>
            <a:spLocks noChangeArrowheads="1"/>
          </p:cNvSpPr>
          <p:nvPr/>
        </p:nvSpPr>
        <p:spPr bwMode="auto">
          <a:xfrm>
            <a:off x="0" y="1608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09508" name="Object 4"/>
          <p:cNvGraphicFramePr>
            <a:graphicFrameLocks noChangeAspect="1"/>
          </p:cNvGraphicFramePr>
          <p:nvPr/>
        </p:nvGraphicFramePr>
        <p:xfrm>
          <a:off x="1835150" y="692150"/>
          <a:ext cx="5473700" cy="5545138"/>
        </p:xfrm>
        <a:graphic>
          <a:graphicData uri="http://schemas.openxmlformats.org/presentationml/2006/ole">
            <mc:AlternateContent xmlns:mc="http://schemas.openxmlformats.org/markup-compatibility/2006">
              <mc:Choice xmlns:v="urn:schemas-microsoft-com:vml" Requires="v">
                <p:oleObj spid="_x0000_s109571" name="Visio" r:id="rId3" imgW="3367845" imgH="3416101" progId="Visio.Drawing.11">
                  <p:embed/>
                </p:oleObj>
              </mc:Choice>
              <mc:Fallback>
                <p:oleObj name="Visio" r:id="rId3" imgW="3367845" imgH="3416101" progId="Visio.Drawing.11">
                  <p:embed/>
                  <p:pic>
                    <p:nvPicPr>
                      <p:cNvPr id="270950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692150"/>
                        <a:ext cx="5473700" cy="5545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09509" name="Rectangle 5"/>
          <p:cNvSpPr>
            <a:spLocks noChangeArrowheads="1"/>
          </p:cNvSpPr>
          <p:nvPr/>
        </p:nvSpPr>
        <p:spPr bwMode="auto">
          <a:xfrm>
            <a:off x="2490788" y="6267450"/>
            <a:ext cx="416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10.7 </a:t>
            </a:r>
            <a:r>
              <a:rPr kumimoji="1" lang="zh-CN" altLang="en-US" b="1"/>
              <a:t>归纳变量删除后的流图</a:t>
            </a:r>
          </a:p>
        </p:txBody>
      </p:sp>
    </p:spTree>
    <p:extLst>
      <p:ext uri="{BB962C8B-B14F-4D97-AF65-F5344CB8AC3E}">
        <p14:creationId xmlns:p14="http://schemas.microsoft.com/office/powerpoint/2010/main" val="33252340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639F04B-DB87-4E37-BD69-5FE35517F37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4CB0817-55C6-4649-A4CF-B701662C9370}" type="slidenum">
              <a:rPr lang="en-US" altLang="zh-CN"/>
              <a:pPr/>
              <a:t>28</a:t>
            </a:fld>
            <a:endParaRPr lang="en-US" altLang="zh-CN"/>
          </a:p>
        </p:txBody>
      </p:sp>
      <p:sp>
        <p:nvSpPr>
          <p:cNvPr id="2710530" name="Rectangle 2"/>
          <p:cNvSpPr>
            <a:spLocks noGrp="1" noChangeArrowheads="1"/>
          </p:cNvSpPr>
          <p:nvPr>
            <p:ph type="title"/>
          </p:nvPr>
        </p:nvSpPr>
        <p:spPr>
          <a:xfrm>
            <a:off x="457200" y="706438"/>
            <a:ext cx="8229600" cy="77787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控制流分析</a:t>
            </a:r>
          </a:p>
        </p:txBody>
      </p:sp>
      <p:sp>
        <p:nvSpPr>
          <p:cNvPr id="2710531" name="Rectangle 3"/>
          <p:cNvSpPr>
            <a:spLocks noGrp="1" noChangeArrowheads="1"/>
          </p:cNvSpPr>
          <p:nvPr>
            <p:ph type="body" idx="1"/>
          </p:nvPr>
        </p:nvSpPr>
        <p:spPr>
          <a:xfrm>
            <a:off x="323850" y="1701800"/>
            <a:ext cx="8675688" cy="331152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为了对程序进行优化，尤其是对循环进行优化，必须首先分析程序中的控制流程，以便找出程序中的循环结构，这是控制流分析的主要任务。</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为此，首先需要将程序划分为基本块集合并转换成流图，然后再从流图中找出循环。 </a:t>
            </a:r>
          </a:p>
        </p:txBody>
      </p:sp>
    </p:spTree>
    <p:extLst>
      <p:ext uri="{BB962C8B-B14F-4D97-AF65-F5344CB8AC3E}">
        <p14:creationId xmlns:p14="http://schemas.microsoft.com/office/powerpoint/2010/main" val="35763468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0531">
                                            <p:txEl>
                                              <p:pRg st="0" end="0"/>
                                            </p:txEl>
                                          </p:spTgt>
                                        </p:tgtEl>
                                        <p:attrNameLst>
                                          <p:attrName>style.visibility</p:attrName>
                                        </p:attrNameLst>
                                      </p:cBhvr>
                                      <p:to>
                                        <p:strVal val="visible"/>
                                      </p:to>
                                    </p:set>
                                    <p:animEffect transition="in" filter="blinds(horizontal)">
                                      <p:cBhvr>
                                        <p:cTn id="7" dur="500"/>
                                        <p:tgtEl>
                                          <p:spTgt spid="27105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10531">
                                            <p:txEl>
                                              <p:pRg st="1" end="1"/>
                                            </p:txEl>
                                          </p:spTgt>
                                        </p:tgtEl>
                                        <p:attrNameLst>
                                          <p:attrName>style.visibility</p:attrName>
                                        </p:attrNameLst>
                                      </p:cBhvr>
                                      <p:to>
                                        <p:strVal val="visible"/>
                                      </p:to>
                                    </p:set>
                                    <p:animEffect transition="in" filter="blinds(horizontal)">
                                      <p:cBhvr>
                                        <p:cTn id="12" dur="500"/>
                                        <p:tgtEl>
                                          <p:spTgt spid="27105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053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F0E445C-9409-4E36-A6D1-A9E7584E7E8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00A874E-AA86-49C0-A883-B7FE5815E8F8}" type="slidenum">
              <a:rPr lang="en-US" altLang="zh-CN"/>
              <a:pPr/>
              <a:t>29</a:t>
            </a:fld>
            <a:endParaRPr lang="en-US" altLang="zh-CN"/>
          </a:p>
        </p:txBody>
      </p:sp>
      <p:sp>
        <p:nvSpPr>
          <p:cNvPr id="2711554" name="Rectangle 2"/>
          <p:cNvSpPr>
            <a:spLocks noGrp="1" noChangeArrowheads="1"/>
          </p:cNvSpPr>
          <p:nvPr>
            <p:ph type="title"/>
          </p:nvPr>
        </p:nvSpPr>
        <p:spPr>
          <a:xfrm>
            <a:off x="457200" y="130175"/>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10.2.1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a:t>
            </a:r>
          </a:p>
        </p:txBody>
      </p:sp>
      <p:sp>
        <p:nvSpPr>
          <p:cNvPr id="2711555" name="Rectangle 3"/>
          <p:cNvSpPr>
            <a:spLocks noGrp="1" noChangeArrowheads="1"/>
          </p:cNvSpPr>
          <p:nvPr>
            <p:ph type="body" idx="1"/>
          </p:nvPr>
        </p:nvSpPr>
        <p:spPr>
          <a:xfrm>
            <a:off x="323850" y="1052513"/>
            <a:ext cx="8675688" cy="51847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(basic block)</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是一个连续的语句序列，控制流从它的开始进入，并从它的末尾离开，中间不存在中断或分支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末尾除外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。下面的三地址码序列就形成了一个基本块：</a:t>
            </a:r>
            <a:endParaRPr lang="zh-CN" altLang="fr-FR" b="1" dirty="0">
              <a:latin typeface="Times New Roman" panose="02020603050405020304" pitchFamily="18" charset="0"/>
              <a:ea typeface="华文新魏" panose="02010800040101010101" pitchFamily="2" charset="-122"/>
              <a:cs typeface="Times New Roman" panose="02020603050405020304" pitchFamily="18" charset="0"/>
            </a:endParaRP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t1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a*a</a:t>
            </a: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t2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a*b</a:t>
            </a: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t3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2*t2</a:t>
            </a: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t4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t1+t3</a:t>
            </a: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t5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b*b</a:t>
            </a:r>
          </a:p>
          <a:p>
            <a:pPr lvl="1"/>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t6 :</a:t>
            </a:r>
            <a:r>
              <a:rPr lang="zh-CN" altLang="fr-FR" b="1" dirty="0">
                <a:latin typeface="Times New Roman" panose="02020603050405020304" pitchFamily="18" charset="0"/>
                <a:ea typeface="华文新魏" panose="02010800040101010101" pitchFamily="2" charset="-122"/>
                <a:cs typeface="Times New Roman" panose="02020603050405020304" pitchFamily="18" charset="0"/>
              </a:rPr>
              <a:t>＝ </a:t>
            </a:r>
            <a:r>
              <a:rPr lang="fr-FR" altLang="zh-CN" b="1" dirty="0">
                <a:latin typeface="Times New Roman" panose="02020603050405020304" pitchFamily="18" charset="0"/>
                <a:ea typeface="华文新魏" panose="02010800040101010101" pitchFamily="2" charset="-122"/>
                <a:cs typeface="Times New Roman" panose="02020603050405020304" pitchFamily="18" charset="0"/>
              </a:rPr>
              <a:t>t4+t5</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23038007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6A1381-059F-4CF2-83C8-F2D91972148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1071E7D-49AB-462B-B68C-02FD477428C0}" type="slidenum">
              <a:rPr lang="en-US" altLang="zh-CN"/>
              <a:pPr/>
              <a:t>30</a:t>
            </a:fld>
            <a:endParaRPr lang="en-US" altLang="zh-CN"/>
          </a:p>
        </p:txBody>
      </p:sp>
      <p:sp>
        <p:nvSpPr>
          <p:cNvPr id="2712578" name="Rectangle 2"/>
          <p:cNvSpPr>
            <a:spLocks noGrp="1" noChangeArrowheads="1"/>
          </p:cNvSpPr>
          <p:nvPr>
            <p:ph type="title"/>
          </p:nvPr>
        </p:nvSpPr>
        <p:spPr>
          <a:xfrm>
            <a:off x="457200" y="130175"/>
            <a:ext cx="8229600" cy="706438"/>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基本块的划分算法</a:t>
            </a:r>
          </a:p>
        </p:txBody>
      </p:sp>
      <p:sp>
        <p:nvSpPr>
          <p:cNvPr id="2712579" name="Rectangle 3"/>
          <p:cNvSpPr>
            <a:spLocks noGrp="1" noChangeArrowheads="1"/>
          </p:cNvSpPr>
          <p:nvPr>
            <p:ph type="body" idx="1"/>
          </p:nvPr>
        </p:nvSpPr>
        <p:spPr>
          <a:xfrm>
            <a:off x="323850" y="981075"/>
            <a:ext cx="8675688" cy="5400675"/>
          </a:xfrm>
        </p:spPr>
        <p:txBody>
          <a:bodyPr/>
          <a:lstStyle/>
          <a:p>
            <a:pPr>
              <a:spcBef>
                <a:spcPct val="0"/>
              </a:spcBef>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算法</a:t>
            </a:r>
            <a:r>
              <a:rPr lang="fr-FR" altLang="zh-CN" sz="2800" b="1" dirty="0">
                <a:latin typeface="Times New Roman" panose="02020603050405020304" pitchFamily="18" charset="0"/>
                <a:ea typeface="华文新魏" panose="02010800040101010101" pitchFamily="2" charset="-122"/>
                <a:cs typeface="Times New Roman" panose="02020603050405020304" pitchFamily="18" charset="0"/>
              </a:rPr>
              <a:t>10.1 </a:t>
            </a:r>
            <a:r>
              <a:rPr lang="zh-CN" altLang="fr-FR" sz="2800" b="1" dirty="0">
                <a:latin typeface="Times New Roman" panose="02020603050405020304" pitchFamily="18" charset="0"/>
                <a:ea typeface="华文新魏" panose="02010800040101010101" pitchFamily="2" charset="-122"/>
                <a:cs typeface="Times New Roman" panose="02020603050405020304" pitchFamily="18" charset="0"/>
              </a:rPr>
              <a:t>基本块的划分。</a:t>
            </a:r>
          </a:p>
          <a:p>
            <a:pPr>
              <a:spcBef>
                <a:spcPct val="0"/>
              </a:spcBef>
            </a:pPr>
            <a:r>
              <a:rPr lang="zh-CN" altLang="fr-FR" sz="2800" b="1" dirty="0">
                <a:latin typeface="Times New Roman" panose="02020603050405020304" pitchFamily="18" charset="0"/>
                <a:ea typeface="华文新魏" panose="02010800040101010101" pitchFamily="2" charset="-122"/>
                <a:cs typeface="Times New Roman" panose="02020603050405020304" pitchFamily="18" charset="0"/>
              </a:rPr>
              <a:t>输入：一个三地址码序列；</a:t>
            </a:r>
          </a:p>
          <a:p>
            <a:pPr>
              <a:spcBef>
                <a:spcPct val="0"/>
              </a:spcBef>
            </a:pPr>
            <a:r>
              <a:rPr lang="zh-CN" altLang="fr-FR" sz="2800" b="1" dirty="0">
                <a:latin typeface="Times New Roman" panose="02020603050405020304" pitchFamily="18" charset="0"/>
                <a:ea typeface="华文新魏" panose="02010800040101010101" pitchFamily="2" charset="-122"/>
                <a:cs typeface="Times New Roman" panose="02020603050405020304" pitchFamily="18" charset="0"/>
              </a:rPr>
              <a:t>输出：一个基本块列表，其中每个三地址码仅在一个块中；</a:t>
            </a:r>
          </a:p>
          <a:p>
            <a:pPr>
              <a:spcBef>
                <a:spcPct val="0"/>
              </a:spcBef>
            </a:pPr>
            <a:r>
              <a:rPr lang="zh-CN" altLang="fr-FR" sz="2800" b="1" dirty="0">
                <a:latin typeface="Times New Roman" panose="02020603050405020304" pitchFamily="18" charset="0"/>
                <a:ea typeface="华文新魏" panose="02010800040101010101" pitchFamily="2" charset="-122"/>
                <a:cs typeface="Times New Roman" panose="02020603050405020304" pitchFamily="18" charset="0"/>
              </a:rPr>
              <a:t>步骤：</a:t>
            </a:r>
            <a:endParaRPr lang="zh-CN" altLang="en-US" sz="2800" b="1" dirty="0">
              <a:latin typeface="Times New Roman" panose="02020603050405020304" pitchFamily="18" charset="0"/>
              <a:ea typeface="华文新魏" panose="02010800040101010101" pitchFamily="2" charset="-122"/>
              <a:cs typeface="Times New Roman" panose="02020603050405020304" pitchFamily="18" charset="0"/>
            </a:endParaRPr>
          </a:p>
          <a:p>
            <a:pPr>
              <a:spcBef>
                <a:spcPct val="0"/>
              </a:spcBef>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．首先确定所有的入口</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(leader)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语句，即基本块的第一个语句。确定入口的规则如下：</a:t>
            </a:r>
          </a:p>
          <a:p>
            <a:pPr lvl="1">
              <a:spcBef>
                <a:spcPct val="0"/>
              </a:spcBef>
            </a:pP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a)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第一个语句是入口语句；</a:t>
            </a:r>
          </a:p>
          <a:p>
            <a:pPr lvl="1">
              <a:spcBef>
                <a:spcPct val="0"/>
              </a:spcBef>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任何能由条件转移语句或无条件转移语句转移到的语句都是入口语句；</a:t>
            </a:r>
          </a:p>
          <a:p>
            <a:pPr lvl="1">
              <a:spcBef>
                <a:spcPct val="0"/>
              </a:spcBef>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c)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紧跟在转移语句或条件转移后面的语句是入口语句。</a:t>
            </a:r>
          </a:p>
          <a:p>
            <a:pPr>
              <a:spcBef>
                <a:spcPct val="0"/>
              </a:spcBef>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．对于每个入口语句，其基本块由它和直到下一个入口语句</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但不含该入口语句</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或程序结束为止的所有语句组成。 </a:t>
            </a:r>
          </a:p>
        </p:txBody>
      </p:sp>
    </p:spTree>
    <p:extLst>
      <p:ext uri="{BB962C8B-B14F-4D97-AF65-F5344CB8AC3E}">
        <p14:creationId xmlns:p14="http://schemas.microsoft.com/office/powerpoint/2010/main" val="2588862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2579">
                                            <p:txEl>
                                              <p:pRg st="0" end="0"/>
                                            </p:txEl>
                                          </p:spTgt>
                                        </p:tgtEl>
                                        <p:attrNameLst>
                                          <p:attrName>style.visibility</p:attrName>
                                        </p:attrNameLst>
                                      </p:cBhvr>
                                      <p:to>
                                        <p:strVal val="visible"/>
                                      </p:to>
                                    </p:set>
                                    <p:animEffect transition="in" filter="blinds(horizontal)">
                                      <p:cBhvr>
                                        <p:cTn id="7" dur="500"/>
                                        <p:tgtEl>
                                          <p:spTgt spid="27125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12579">
                                            <p:txEl>
                                              <p:pRg st="1" end="1"/>
                                            </p:txEl>
                                          </p:spTgt>
                                        </p:tgtEl>
                                        <p:attrNameLst>
                                          <p:attrName>style.visibility</p:attrName>
                                        </p:attrNameLst>
                                      </p:cBhvr>
                                      <p:to>
                                        <p:strVal val="visible"/>
                                      </p:to>
                                    </p:set>
                                    <p:animEffect transition="in" filter="blinds(horizontal)">
                                      <p:cBhvr>
                                        <p:cTn id="12" dur="500"/>
                                        <p:tgtEl>
                                          <p:spTgt spid="27125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12579">
                                            <p:txEl>
                                              <p:pRg st="2" end="2"/>
                                            </p:txEl>
                                          </p:spTgt>
                                        </p:tgtEl>
                                        <p:attrNameLst>
                                          <p:attrName>style.visibility</p:attrName>
                                        </p:attrNameLst>
                                      </p:cBhvr>
                                      <p:to>
                                        <p:strVal val="visible"/>
                                      </p:to>
                                    </p:set>
                                    <p:animEffect transition="in" filter="blinds(horizontal)">
                                      <p:cBhvr>
                                        <p:cTn id="17" dur="500"/>
                                        <p:tgtEl>
                                          <p:spTgt spid="27125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12579">
                                            <p:txEl>
                                              <p:pRg st="3" end="3"/>
                                            </p:txEl>
                                          </p:spTgt>
                                        </p:tgtEl>
                                        <p:attrNameLst>
                                          <p:attrName>style.visibility</p:attrName>
                                        </p:attrNameLst>
                                      </p:cBhvr>
                                      <p:to>
                                        <p:strVal val="visible"/>
                                      </p:to>
                                    </p:set>
                                    <p:animEffect transition="in" filter="blinds(horizontal)">
                                      <p:cBhvr>
                                        <p:cTn id="22" dur="500"/>
                                        <p:tgtEl>
                                          <p:spTgt spid="271257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12579">
                                            <p:txEl>
                                              <p:pRg st="4" end="4"/>
                                            </p:txEl>
                                          </p:spTgt>
                                        </p:tgtEl>
                                        <p:attrNameLst>
                                          <p:attrName>style.visibility</p:attrName>
                                        </p:attrNameLst>
                                      </p:cBhvr>
                                      <p:to>
                                        <p:strVal val="visible"/>
                                      </p:to>
                                    </p:set>
                                    <p:animEffect transition="in" filter="blinds(horizontal)">
                                      <p:cBhvr>
                                        <p:cTn id="27" dur="500"/>
                                        <p:tgtEl>
                                          <p:spTgt spid="2712579">
                                            <p:txEl>
                                              <p:pRg st="4" end="4"/>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12579">
                                            <p:txEl>
                                              <p:pRg st="5" end="5"/>
                                            </p:txEl>
                                          </p:spTgt>
                                        </p:tgtEl>
                                        <p:attrNameLst>
                                          <p:attrName>style.visibility</p:attrName>
                                        </p:attrNameLst>
                                      </p:cBhvr>
                                      <p:to>
                                        <p:strVal val="visible"/>
                                      </p:to>
                                    </p:set>
                                    <p:animEffect transition="in" filter="blinds(horizontal)">
                                      <p:cBhvr>
                                        <p:cTn id="30" dur="500"/>
                                        <p:tgtEl>
                                          <p:spTgt spid="2712579">
                                            <p:txEl>
                                              <p:pRg st="5" end="5"/>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712579">
                                            <p:txEl>
                                              <p:pRg st="6" end="6"/>
                                            </p:txEl>
                                          </p:spTgt>
                                        </p:tgtEl>
                                        <p:attrNameLst>
                                          <p:attrName>style.visibility</p:attrName>
                                        </p:attrNameLst>
                                      </p:cBhvr>
                                      <p:to>
                                        <p:strVal val="visible"/>
                                      </p:to>
                                    </p:set>
                                    <p:animEffect transition="in" filter="blinds(horizontal)">
                                      <p:cBhvr>
                                        <p:cTn id="33" dur="500"/>
                                        <p:tgtEl>
                                          <p:spTgt spid="2712579">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712579">
                                            <p:txEl>
                                              <p:pRg st="7" end="7"/>
                                            </p:txEl>
                                          </p:spTgt>
                                        </p:tgtEl>
                                        <p:attrNameLst>
                                          <p:attrName>style.visibility</p:attrName>
                                        </p:attrNameLst>
                                      </p:cBhvr>
                                      <p:to>
                                        <p:strVal val="visible"/>
                                      </p:to>
                                    </p:set>
                                    <p:animEffect transition="in" filter="blinds(horizontal)">
                                      <p:cBhvr>
                                        <p:cTn id="36" dur="500"/>
                                        <p:tgtEl>
                                          <p:spTgt spid="2712579">
                                            <p:txEl>
                                              <p:pRg st="7" end="7"/>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712579">
                                            <p:txEl>
                                              <p:pRg st="8" end="8"/>
                                            </p:txEl>
                                          </p:spTgt>
                                        </p:tgtEl>
                                        <p:attrNameLst>
                                          <p:attrName>style.visibility</p:attrName>
                                        </p:attrNameLst>
                                      </p:cBhvr>
                                      <p:to>
                                        <p:strVal val="visible"/>
                                      </p:to>
                                    </p:set>
                                    <p:animEffect transition="in" filter="blinds(horizontal)">
                                      <p:cBhvr>
                                        <p:cTn id="41" dur="500"/>
                                        <p:tgtEl>
                                          <p:spTgt spid="27125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2579"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D151C6B-5AD5-4177-BE4C-B88DDA7CC5A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81DFF20-92C4-4CFB-A7FA-61A1A09AF92A}" type="slidenum">
              <a:rPr lang="en-US" altLang="zh-CN"/>
              <a:pPr/>
              <a:t>31</a:t>
            </a:fld>
            <a:endParaRPr lang="en-US" altLang="zh-CN"/>
          </a:p>
        </p:txBody>
      </p:sp>
      <p:sp>
        <p:nvSpPr>
          <p:cNvPr id="2713602" name="Rectangle 2"/>
          <p:cNvSpPr>
            <a:spLocks noGrp="1" noChangeArrowheads="1"/>
          </p:cNvSpPr>
          <p:nvPr>
            <p:ph type="title"/>
          </p:nvPr>
        </p:nvSpPr>
        <p:spPr>
          <a:xfrm>
            <a:off x="457200" y="130175"/>
            <a:ext cx="8229600" cy="7064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10.2.2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流图</a:t>
            </a:r>
          </a:p>
        </p:txBody>
      </p:sp>
      <p:sp>
        <p:nvSpPr>
          <p:cNvPr id="2713603" name="Rectangle 3"/>
          <p:cNvSpPr>
            <a:spLocks noGrp="1" noChangeArrowheads="1"/>
          </p:cNvSpPr>
          <p:nvPr>
            <p:ph type="body" idx="1"/>
          </p:nvPr>
        </p:nvSpPr>
        <p:spPr>
          <a:xfrm>
            <a:off x="323850" y="981075"/>
            <a:ext cx="8675688" cy="5400675"/>
          </a:xfrm>
        </p:spPr>
        <p:txBody>
          <a:bodyPr/>
          <a:lstStyle/>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程序的控制流信息可以用流图表示，流图是一个节点为基本块的有向图。</a:t>
            </a:r>
          </a:p>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以程序的第一个语句作为入口语句的节点称为</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初始节点</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如果在某个执行序列中</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跟随在</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之后，则从</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有一条有向边。</a:t>
            </a:r>
          </a:p>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如果从</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的最后一条语句有条件或无条件转移到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的第一个语句；或者按程序正文的次序</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紧跟在</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之后，并且</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不是结束于无条件转移，则称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前驱</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，而</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后继</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2542708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3603">
                                            <p:txEl>
                                              <p:pRg st="0" end="0"/>
                                            </p:txEl>
                                          </p:spTgt>
                                        </p:tgtEl>
                                        <p:attrNameLst>
                                          <p:attrName>style.visibility</p:attrName>
                                        </p:attrNameLst>
                                      </p:cBhvr>
                                      <p:to>
                                        <p:strVal val="visible"/>
                                      </p:to>
                                    </p:set>
                                    <p:animEffect transition="in" filter="blinds(horizontal)">
                                      <p:cBhvr>
                                        <p:cTn id="7" dur="500"/>
                                        <p:tgtEl>
                                          <p:spTgt spid="2713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13603">
                                            <p:txEl>
                                              <p:pRg st="1" end="1"/>
                                            </p:txEl>
                                          </p:spTgt>
                                        </p:tgtEl>
                                        <p:attrNameLst>
                                          <p:attrName>style.visibility</p:attrName>
                                        </p:attrNameLst>
                                      </p:cBhvr>
                                      <p:to>
                                        <p:strVal val="visible"/>
                                      </p:to>
                                    </p:set>
                                    <p:animEffect transition="in" filter="blinds(horizontal)">
                                      <p:cBhvr>
                                        <p:cTn id="12" dur="500"/>
                                        <p:tgtEl>
                                          <p:spTgt spid="27136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13603">
                                            <p:txEl>
                                              <p:pRg st="2" end="2"/>
                                            </p:txEl>
                                          </p:spTgt>
                                        </p:tgtEl>
                                        <p:attrNameLst>
                                          <p:attrName>style.visibility</p:attrName>
                                        </p:attrNameLst>
                                      </p:cBhvr>
                                      <p:to>
                                        <p:strVal val="visible"/>
                                      </p:to>
                                    </p:set>
                                    <p:animEffect transition="in" filter="blinds(horizontal)">
                                      <p:cBhvr>
                                        <p:cTn id="17" dur="500"/>
                                        <p:tgtEl>
                                          <p:spTgt spid="27136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13603">
                                            <p:txEl>
                                              <p:pRg st="3" end="3"/>
                                            </p:txEl>
                                          </p:spTgt>
                                        </p:tgtEl>
                                        <p:attrNameLst>
                                          <p:attrName>style.visibility</p:attrName>
                                        </p:attrNameLst>
                                      </p:cBhvr>
                                      <p:to>
                                        <p:strVal val="visible"/>
                                      </p:to>
                                    </p:set>
                                    <p:animEffect transition="in" filter="blinds(horizontal)">
                                      <p:cBhvr>
                                        <p:cTn id="22" dur="500"/>
                                        <p:tgtEl>
                                          <p:spTgt spid="2713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0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2481921-E285-4619-8B8F-489E16A6CC4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2689F4B-A58D-441A-A71A-6D574A1AD095}" type="slidenum">
              <a:rPr lang="en-US" altLang="zh-CN"/>
              <a:pPr/>
              <a:t>32</a:t>
            </a:fld>
            <a:endParaRPr lang="en-US" altLang="zh-CN"/>
          </a:p>
        </p:txBody>
      </p:sp>
      <p:sp>
        <p:nvSpPr>
          <p:cNvPr id="2714626" name="Rectangle 2"/>
          <p:cNvSpPr>
            <a:spLocks noGrp="1" noChangeArrowheads="1"/>
          </p:cNvSpPr>
          <p:nvPr>
            <p:ph type="title"/>
          </p:nvPr>
        </p:nvSpPr>
        <p:spPr>
          <a:xfrm>
            <a:off x="457200" y="130175"/>
            <a:ext cx="8229600" cy="7064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10.2.3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循环</a:t>
            </a:r>
          </a:p>
        </p:txBody>
      </p:sp>
      <p:sp>
        <p:nvSpPr>
          <p:cNvPr id="2714627" name="Rectangle 3"/>
          <p:cNvSpPr>
            <a:spLocks noGrp="1" noChangeArrowheads="1"/>
          </p:cNvSpPr>
          <p:nvPr>
            <p:ph type="body" idx="1"/>
          </p:nvPr>
        </p:nvSpPr>
        <p:spPr>
          <a:xfrm>
            <a:off x="323850" y="981075"/>
            <a:ext cx="8675688" cy="54006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流图中的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循环</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就是具有唯一入口的强连通子图，而且从循环外进入循环内，必须首先经过循环的入口节点。 </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如果从流图的初始节点到节点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的每条路径都要经过节点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，则说节点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支配</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(dominate)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，记作</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dom</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又称为</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必经节点</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根据该定义，每个节点都支配它自身，而循环的入口节点则支配循环中的所有节点。 </a:t>
            </a:r>
          </a:p>
        </p:txBody>
      </p:sp>
    </p:spTree>
    <p:extLst>
      <p:ext uri="{BB962C8B-B14F-4D97-AF65-F5344CB8AC3E}">
        <p14:creationId xmlns:p14="http://schemas.microsoft.com/office/powerpoint/2010/main" val="534857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4627">
                                            <p:txEl>
                                              <p:pRg st="0" end="0"/>
                                            </p:txEl>
                                          </p:spTgt>
                                        </p:tgtEl>
                                        <p:attrNameLst>
                                          <p:attrName>style.visibility</p:attrName>
                                        </p:attrNameLst>
                                      </p:cBhvr>
                                      <p:to>
                                        <p:strVal val="visible"/>
                                      </p:to>
                                    </p:set>
                                    <p:animEffect transition="in" filter="blinds(horizontal)">
                                      <p:cBhvr>
                                        <p:cTn id="7" dur="500"/>
                                        <p:tgtEl>
                                          <p:spTgt spid="2714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14627">
                                            <p:txEl>
                                              <p:pRg st="1" end="1"/>
                                            </p:txEl>
                                          </p:spTgt>
                                        </p:tgtEl>
                                        <p:attrNameLst>
                                          <p:attrName>style.visibility</p:attrName>
                                        </p:attrNameLst>
                                      </p:cBhvr>
                                      <p:to>
                                        <p:strVal val="visible"/>
                                      </p:to>
                                    </p:set>
                                    <p:animEffect transition="in" filter="blinds(horizontal)">
                                      <p:cBhvr>
                                        <p:cTn id="12" dur="500"/>
                                        <p:tgtEl>
                                          <p:spTgt spid="2714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14627">
                                            <p:txEl>
                                              <p:pRg st="2" end="2"/>
                                            </p:txEl>
                                          </p:spTgt>
                                        </p:tgtEl>
                                        <p:attrNameLst>
                                          <p:attrName>style.visibility</p:attrName>
                                        </p:attrNameLst>
                                      </p:cBhvr>
                                      <p:to>
                                        <p:strVal val="visible"/>
                                      </p:to>
                                    </p:set>
                                    <p:animEffect transition="in" filter="blinds(horizontal)">
                                      <p:cBhvr>
                                        <p:cTn id="17" dur="500"/>
                                        <p:tgtEl>
                                          <p:spTgt spid="27146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462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0118CC2B-0948-4300-A7FC-BBC41DA7D6EC}"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7AAE1CAE-9957-4E0B-818B-4366D0053C44}" type="slidenum">
              <a:rPr lang="en-US" altLang="zh-CN"/>
              <a:pPr/>
              <a:t>33</a:t>
            </a:fld>
            <a:endParaRPr lang="en-US" altLang="zh-CN"/>
          </a:p>
        </p:txBody>
      </p:sp>
      <p:sp>
        <p:nvSpPr>
          <p:cNvPr id="2715650" name="Rectangle 2"/>
          <p:cNvSpPr>
            <a:spLocks noGrp="1" noChangeArrowheads="1"/>
          </p:cNvSpPr>
          <p:nvPr>
            <p:ph type="title"/>
          </p:nvPr>
        </p:nvSpPr>
        <p:spPr>
          <a:xfrm>
            <a:off x="457200" y="44450"/>
            <a:ext cx="8229600" cy="706438"/>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支配节点集计算 </a:t>
            </a:r>
          </a:p>
        </p:txBody>
      </p:sp>
      <p:sp>
        <p:nvSpPr>
          <p:cNvPr id="2715651" name="Rectangle 3"/>
          <p:cNvSpPr>
            <a:spLocks noGrp="1" noChangeArrowheads="1"/>
          </p:cNvSpPr>
          <p:nvPr>
            <p:ph type="body" idx="1"/>
          </p:nvPr>
        </p:nvSpPr>
        <p:spPr>
          <a:xfrm>
            <a:off x="107950" y="836613"/>
            <a:ext cx="8891588" cy="5400675"/>
          </a:xfrm>
        </p:spPr>
        <p:txBody>
          <a:bodyPr/>
          <a:lstStyle/>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10.2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支配节点集计算。</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输入：流图</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，其节点集为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，边集为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，初始节点为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0</a:t>
            </a:r>
            <a:endParaRPr lang="en-US" altLang="zh-CN" sz="2800"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输出：关系</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dom</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步骤：</a:t>
            </a:r>
            <a:endParaRPr lang="zh-CN" altLang="pt-BR" sz="2800"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0</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0</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for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0</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中的</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do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 </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初始化完毕 *</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while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发生变化 </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do </a:t>
            </a: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   </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for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0</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中的</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do </a:t>
            </a:r>
          </a:p>
          <a:p>
            <a:pPr>
              <a:buFontTx/>
              <a:buNone/>
            </a:pP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5</a:t>
            </a:r>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pt-BR" altLang="zh-CN" sz="2800" b="1" i="1" dirty="0">
                <a:latin typeface="Times New Roman" panose="02020603050405020304" pitchFamily="18" charset="0"/>
                <a:ea typeface="华文新魏" panose="02010800040101010101" pitchFamily="2" charset="-122"/>
                <a:cs typeface="Times New Roman" panose="02020603050405020304" pitchFamily="18" charset="0"/>
              </a:rPr>
              <a:t>p</a:t>
            </a:r>
            <a:r>
              <a:rPr lang="pt-BR" altLang="zh-CN" sz="2800" b="1" dirty="0">
                <a:latin typeface="Times New Roman" panose="02020603050405020304" pitchFamily="18" charset="0"/>
                <a:ea typeface="华文新魏" panose="02010800040101010101" pitchFamily="2" charset="-122"/>
                <a:cs typeface="Times New Roman" panose="02020603050405020304" pitchFamily="18" charset="0"/>
              </a:rPr>
              <a:t>);</a:t>
            </a:r>
            <a:endParaRPr lang="en-US" altLang="zh-CN" sz="2800"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15652" name="Rectangle 4"/>
          <p:cNvSpPr>
            <a:spLocks noChangeArrowheads="1"/>
          </p:cNvSpPr>
          <p:nvPr/>
        </p:nvSpPr>
        <p:spPr bwMode="auto">
          <a:xfrm>
            <a:off x="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15653" name="Object 5"/>
          <p:cNvGraphicFramePr>
            <a:graphicFrameLocks noChangeAspect="1"/>
          </p:cNvGraphicFramePr>
          <p:nvPr/>
        </p:nvGraphicFramePr>
        <p:xfrm>
          <a:off x="3059113" y="5373688"/>
          <a:ext cx="865187" cy="654050"/>
        </p:xfrm>
        <a:graphic>
          <a:graphicData uri="http://schemas.openxmlformats.org/presentationml/2006/ole">
            <mc:AlternateContent xmlns:mc="http://schemas.openxmlformats.org/markup-compatibility/2006">
              <mc:Choice xmlns:v="urn:schemas-microsoft-com:vml" Requires="v">
                <p:oleObj spid="_x0000_s110595" name="Equation" r:id="rId3" imgW="406048" imgH="304536" progId="Equation.DSMT4">
                  <p:embed/>
                </p:oleObj>
              </mc:Choice>
              <mc:Fallback>
                <p:oleObj name="Equation" r:id="rId3" imgW="406048" imgH="304536" progId="Equation.DSMT4">
                  <p:embed/>
                  <p:pic>
                    <p:nvPicPr>
                      <p:cNvPr id="271565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5373688"/>
                        <a:ext cx="865187"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175251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D2425B44-ACFA-449A-A77E-95CF4F963547}"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C0CDB996-3059-498A-985D-05559EAEEC14}" type="slidenum">
              <a:rPr lang="en-US" altLang="zh-CN"/>
              <a:pPr/>
              <a:t>34</a:t>
            </a:fld>
            <a:endParaRPr lang="en-US" altLang="zh-CN"/>
          </a:p>
        </p:txBody>
      </p:sp>
      <p:sp>
        <p:nvSpPr>
          <p:cNvPr id="2716674" name="Rectangle 2"/>
          <p:cNvSpPr>
            <a:spLocks noGrp="1" noChangeArrowheads="1"/>
          </p:cNvSpPr>
          <p:nvPr>
            <p:ph type="title"/>
          </p:nvPr>
        </p:nvSpPr>
        <p:spPr>
          <a:xfrm>
            <a:off x="457200" y="44450"/>
            <a:ext cx="8229600" cy="706438"/>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循环 </a:t>
            </a:r>
          </a:p>
        </p:txBody>
      </p:sp>
      <p:sp>
        <p:nvSpPr>
          <p:cNvPr id="2716675" name="Rectangle 3"/>
          <p:cNvSpPr>
            <a:spLocks noGrp="1" noChangeArrowheads="1"/>
          </p:cNvSpPr>
          <p:nvPr>
            <p:ph type="body" idx="1"/>
          </p:nvPr>
        </p:nvSpPr>
        <p:spPr>
          <a:xfrm>
            <a:off x="107950" y="836613"/>
            <a:ext cx="8891588" cy="5113337"/>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循环的性质：</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循环必须有唯一的入口点，称为首节点</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(header)</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。首节点支配循环中的所有节点。</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循环至少迭代一次，亦即至少有一条返回首节点的路径。</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为了寻找流图中的循环，必须寻找可以返回到循环入口节点的有向边，这种边叫做</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回边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(back edge)</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dom</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，则边</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a</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称为回边。 利用支配节点集可以求出流图中的所有回边。</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给定一条回边</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，定义该边的</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自然循环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(natural loop)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加上所有不经过</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而能到达</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的节点集合。</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是该循环的首节点。 </a:t>
            </a:r>
          </a:p>
        </p:txBody>
      </p:sp>
      <p:sp>
        <p:nvSpPr>
          <p:cNvPr id="2716676" name="Rectangle 4"/>
          <p:cNvSpPr>
            <a:spLocks noChangeArrowheads="1"/>
          </p:cNvSpPr>
          <p:nvPr/>
        </p:nvSpPr>
        <p:spPr bwMode="auto">
          <a:xfrm>
            <a:off x="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30001089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6675">
                                            <p:txEl>
                                              <p:pRg st="0" end="0"/>
                                            </p:txEl>
                                          </p:spTgt>
                                        </p:tgtEl>
                                        <p:attrNameLst>
                                          <p:attrName>style.visibility</p:attrName>
                                        </p:attrNameLst>
                                      </p:cBhvr>
                                      <p:to>
                                        <p:strVal val="visible"/>
                                      </p:to>
                                    </p:set>
                                    <p:animEffect transition="in" filter="blinds(horizontal)">
                                      <p:cBhvr>
                                        <p:cTn id="7" dur="500"/>
                                        <p:tgtEl>
                                          <p:spTgt spid="271667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716675">
                                            <p:txEl>
                                              <p:pRg st="1" end="1"/>
                                            </p:txEl>
                                          </p:spTgt>
                                        </p:tgtEl>
                                        <p:attrNameLst>
                                          <p:attrName>style.visibility</p:attrName>
                                        </p:attrNameLst>
                                      </p:cBhvr>
                                      <p:to>
                                        <p:strVal val="visible"/>
                                      </p:to>
                                    </p:set>
                                    <p:animEffect transition="in" filter="blinds(horizontal)">
                                      <p:cBhvr>
                                        <p:cTn id="10" dur="500"/>
                                        <p:tgtEl>
                                          <p:spTgt spid="271667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716675">
                                            <p:txEl>
                                              <p:pRg st="2" end="2"/>
                                            </p:txEl>
                                          </p:spTgt>
                                        </p:tgtEl>
                                        <p:attrNameLst>
                                          <p:attrName>style.visibility</p:attrName>
                                        </p:attrNameLst>
                                      </p:cBhvr>
                                      <p:to>
                                        <p:strVal val="visible"/>
                                      </p:to>
                                    </p:set>
                                    <p:animEffect transition="in" filter="blinds(horizontal)">
                                      <p:cBhvr>
                                        <p:cTn id="13" dur="500"/>
                                        <p:tgtEl>
                                          <p:spTgt spid="271667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716675">
                                            <p:txEl>
                                              <p:pRg st="3" end="3"/>
                                            </p:txEl>
                                          </p:spTgt>
                                        </p:tgtEl>
                                        <p:attrNameLst>
                                          <p:attrName>style.visibility</p:attrName>
                                        </p:attrNameLst>
                                      </p:cBhvr>
                                      <p:to>
                                        <p:strVal val="visible"/>
                                      </p:to>
                                    </p:set>
                                    <p:animEffect transition="in" filter="blinds(horizontal)">
                                      <p:cBhvr>
                                        <p:cTn id="18" dur="500"/>
                                        <p:tgtEl>
                                          <p:spTgt spid="2716675">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16675">
                                            <p:txEl>
                                              <p:pRg st="4" end="4"/>
                                            </p:txEl>
                                          </p:spTgt>
                                        </p:tgtEl>
                                        <p:attrNameLst>
                                          <p:attrName>style.visibility</p:attrName>
                                        </p:attrNameLst>
                                      </p:cBhvr>
                                      <p:to>
                                        <p:strVal val="visible"/>
                                      </p:to>
                                    </p:set>
                                    <p:animEffect transition="in" filter="blinds(horizontal)">
                                      <p:cBhvr>
                                        <p:cTn id="23" dur="500"/>
                                        <p:tgtEl>
                                          <p:spTgt spid="27166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667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half" idx="10"/>
          </p:nvPr>
        </p:nvSpPr>
        <p:spPr/>
        <p:txBody>
          <a:bodyPr/>
          <a:lstStyle/>
          <a:p>
            <a:fld id="{FB1D2AB9-9ACD-401E-9EC5-527FFE40F779}" type="datetime1">
              <a:rPr lang="zh-CN" altLang="en-US"/>
              <a:pPr/>
              <a:t>2017/2/24</a:t>
            </a:fld>
            <a:endParaRPr lang="en-US" altLang="zh-CN"/>
          </a:p>
        </p:txBody>
      </p:sp>
      <p:sp>
        <p:nvSpPr>
          <p:cNvPr id="8" name="灯片编号占位符 5"/>
          <p:cNvSpPr>
            <a:spLocks noGrp="1"/>
          </p:cNvSpPr>
          <p:nvPr>
            <p:ph type="sldNum" sz="quarter" idx="12"/>
          </p:nvPr>
        </p:nvSpPr>
        <p:spPr/>
        <p:txBody>
          <a:bodyPr/>
          <a:lstStyle/>
          <a:p>
            <a:fld id="{F633002F-CDA8-4D21-995A-D294C234D150}" type="slidenum">
              <a:rPr lang="en-US" altLang="zh-CN"/>
              <a:pPr/>
              <a:t>35</a:t>
            </a:fld>
            <a:endParaRPr lang="en-US" altLang="zh-CN"/>
          </a:p>
        </p:txBody>
      </p:sp>
      <p:sp>
        <p:nvSpPr>
          <p:cNvPr id="2717698" name="Rectangle 2"/>
          <p:cNvSpPr>
            <a:spLocks noGrp="1" noChangeArrowheads="1"/>
          </p:cNvSpPr>
          <p:nvPr>
            <p:ph type="title"/>
          </p:nvPr>
        </p:nvSpPr>
        <p:spPr>
          <a:xfrm>
            <a:off x="609600" y="115888"/>
            <a:ext cx="7772400" cy="820737"/>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10.6</a:t>
            </a:r>
          </a:p>
        </p:txBody>
      </p:sp>
      <p:sp>
        <p:nvSpPr>
          <p:cNvPr id="2717699" name="Rectangle 3"/>
          <p:cNvSpPr>
            <a:spLocks noGrp="1" noChangeArrowheads="1"/>
          </p:cNvSpPr>
          <p:nvPr>
            <p:ph type="body" idx="1"/>
          </p:nvPr>
        </p:nvSpPr>
        <p:spPr>
          <a:xfrm>
            <a:off x="250825" y="1052513"/>
            <a:ext cx="4249738" cy="5329237"/>
          </a:xfrm>
        </p:spPr>
        <p:txBody>
          <a:bodyPr/>
          <a:lstStyle/>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dom</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4</a:t>
            </a:r>
          </a:p>
          <a:p>
            <a:pPr lvl="1">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回边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4→3</a:t>
            </a:r>
          </a:p>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dom</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7</a:t>
            </a:r>
          </a:p>
          <a:p>
            <a:pPr lvl="1">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回边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7→4</a:t>
            </a:r>
          </a:p>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的自然循环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{7</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a:t>
            </a:r>
          </a:p>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7→4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的自然循环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{4,5,6,7,8,10}</a:t>
            </a:r>
          </a:p>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4→3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8→3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的自然循环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{3,4,5,6,7,8,10}</a:t>
            </a:r>
          </a:p>
        </p:txBody>
      </p:sp>
      <p:sp>
        <p:nvSpPr>
          <p:cNvPr id="2717700" name="Rectangle 4"/>
          <p:cNvSpPr>
            <a:spLocks noChangeArrowheads="1"/>
          </p:cNvSpPr>
          <p:nvPr/>
        </p:nvSpPr>
        <p:spPr bwMode="auto">
          <a:xfrm>
            <a:off x="0" y="21415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17701" name="Object 5"/>
          <p:cNvGraphicFramePr>
            <a:graphicFrameLocks noChangeAspect="1"/>
          </p:cNvGraphicFramePr>
          <p:nvPr/>
        </p:nvGraphicFramePr>
        <p:xfrm>
          <a:off x="4159250" y="908050"/>
          <a:ext cx="4589463" cy="5329238"/>
        </p:xfrm>
        <a:graphic>
          <a:graphicData uri="http://schemas.openxmlformats.org/presentationml/2006/ole">
            <mc:AlternateContent xmlns:mc="http://schemas.openxmlformats.org/markup-compatibility/2006">
              <mc:Choice xmlns:v="urn:schemas-microsoft-com:vml" Requires="v">
                <p:oleObj spid="_x0000_s111619" name="Visio" r:id="rId3" imgW="2220241" imgH="2572610" progId="Visio.Drawing.11">
                  <p:embed/>
                </p:oleObj>
              </mc:Choice>
              <mc:Fallback>
                <p:oleObj name="Visio" r:id="rId3" imgW="2220241" imgH="2572610" progId="Visio.Drawing.11">
                  <p:embed/>
                  <p:pic>
                    <p:nvPicPr>
                      <p:cNvPr id="27177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250" y="908050"/>
                        <a:ext cx="4589463" cy="5329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809057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17699">
                                            <p:txEl>
                                              <p:pRg st="0" end="0"/>
                                            </p:txEl>
                                          </p:spTgt>
                                        </p:tgtEl>
                                        <p:attrNameLst>
                                          <p:attrName>style.visibility</p:attrName>
                                        </p:attrNameLst>
                                      </p:cBhvr>
                                      <p:to>
                                        <p:strVal val="visible"/>
                                      </p:to>
                                    </p:set>
                                    <p:animEffect transition="in" filter="blinds(horizontal)">
                                      <p:cBhvr>
                                        <p:cTn id="7" dur="500"/>
                                        <p:tgtEl>
                                          <p:spTgt spid="271769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717699">
                                            <p:txEl>
                                              <p:pRg st="1" end="1"/>
                                            </p:txEl>
                                          </p:spTgt>
                                        </p:tgtEl>
                                        <p:attrNameLst>
                                          <p:attrName>style.visibility</p:attrName>
                                        </p:attrNameLst>
                                      </p:cBhvr>
                                      <p:to>
                                        <p:strVal val="visible"/>
                                      </p:to>
                                    </p:set>
                                    <p:animEffect transition="in" filter="blinds(horizontal)">
                                      <p:cBhvr>
                                        <p:cTn id="10" dur="500"/>
                                        <p:tgtEl>
                                          <p:spTgt spid="27176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17699">
                                            <p:txEl>
                                              <p:pRg st="2" end="2"/>
                                            </p:txEl>
                                          </p:spTgt>
                                        </p:tgtEl>
                                        <p:attrNameLst>
                                          <p:attrName>style.visibility</p:attrName>
                                        </p:attrNameLst>
                                      </p:cBhvr>
                                      <p:to>
                                        <p:strVal val="visible"/>
                                      </p:to>
                                    </p:set>
                                    <p:animEffect transition="in" filter="blinds(horizontal)">
                                      <p:cBhvr>
                                        <p:cTn id="15" dur="500"/>
                                        <p:tgtEl>
                                          <p:spTgt spid="271769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717699">
                                            <p:txEl>
                                              <p:pRg st="3" end="3"/>
                                            </p:txEl>
                                          </p:spTgt>
                                        </p:tgtEl>
                                        <p:attrNameLst>
                                          <p:attrName>style.visibility</p:attrName>
                                        </p:attrNameLst>
                                      </p:cBhvr>
                                      <p:to>
                                        <p:strVal val="visible"/>
                                      </p:to>
                                    </p:set>
                                    <p:animEffect transition="in" filter="blinds(horizontal)">
                                      <p:cBhvr>
                                        <p:cTn id="18" dur="500"/>
                                        <p:tgtEl>
                                          <p:spTgt spid="27176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17699">
                                            <p:txEl>
                                              <p:pRg st="4" end="4"/>
                                            </p:txEl>
                                          </p:spTgt>
                                        </p:tgtEl>
                                        <p:attrNameLst>
                                          <p:attrName>style.visibility</p:attrName>
                                        </p:attrNameLst>
                                      </p:cBhvr>
                                      <p:to>
                                        <p:strVal val="visible"/>
                                      </p:to>
                                    </p:set>
                                    <p:animEffect transition="in" filter="blinds(horizontal)">
                                      <p:cBhvr>
                                        <p:cTn id="23" dur="500"/>
                                        <p:tgtEl>
                                          <p:spTgt spid="2717699">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717699">
                                            <p:txEl>
                                              <p:pRg st="5" end="5"/>
                                            </p:txEl>
                                          </p:spTgt>
                                        </p:tgtEl>
                                        <p:attrNameLst>
                                          <p:attrName>style.visibility</p:attrName>
                                        </p:attrNameLst>
                                      </p:cBhvr>
                                      <p:to>
                                        <p:strVal val="visible"/>
                                      </p:to>
                                    </p:set>
                                    <p:animEffect transition="in" filter="blinds(horizontal)">
                                      <p:cBhvr>
                                        <p:cTn id="28" dur="500"/>
                                        <p:tgtEl>
                                          <p:spTgt spid="2717699">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717699">
                                            <p:txEl>
                                              <p:pRg st="6" end="6"/>
                                            </p:txEl>
                                          </p:spTgt>
                                        </p:tgtEl>
                                        <p:attrNameLst>
                                          <p:attrName>style.visibility</p:attrName>
                                        </p:attrNameLst>
                                      </p:cBhvr>
                                      <p:to>
                                        <p:strVal val="visible"/>
                                      </p:to>
                                    </p:set>
                                    <p:animEffect transition="in" filter="blinds(horizontal)">
                                      <p:cBhvr>
                                        <p:cTn id="33" dur="500"/>
                                        <p:tgtEl>
                                          <p:spTgt spid="27176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769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012BDF72-0FC6-4785-95AB-485318D8757F}"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148572F5-D51B-4299-85EC-81580DD70AB0}" type="slidenum">
              <a:rPr lang="en-US" altLang="zh-CN"/>
              <a:pPr/>
              <a:t>36</a:t>
            </a:fld>
            <a:endParaRPr lang="en-US" altLang="zh-CN"/>
          </a:p>
        </p:txBody>
      </p:sp>
      <p:sp>
        <p:nvSpPr>
          <p:cNvPr id="2718722" name="Rectangle 2"/>
          <p:cNvSpPr>
            <a:spLocks noGrp="1" noChangeArrowheads="1"/>
          </p:cNvSpPr>
          <p:nvPr>
            <p:ph type="title"/>
          </p:nvPr>
        </p:nvSpPr>
        <p:spPr>
          <a:xfrm>
            <a:off x="457200" y="44450"/>
            <a:ext cx="8229600" cy="706438"/>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自然循环的构造 </a:t>
            </a:r>
          </a:p>
        </p:txBody>
      </p:sp>
      <p:sp>
        <p:nvSpPr>
          <p:cNvPr id="2718723" name="Rectangle 3"/>
          <p:cNvSpPr>
            <a:spLocks noGrp="1" noChangeArrowheads="1"/>
          </p:cNvSpPr>
          <p:nvPr>
            <p:ph type="body" idx="1"/>
          </p:nvPr>
        </p:nvSpPr>
        <p:spPr>
          <a:xfrm>
            <a:off x="323850" y="836613"/>
            <a:ext cx="8424863" cy="5329237"/>
          </a:xfrm>
        </p:spPr>
        <p:txBody>
          <a:bodyPr/>
          <a:lstStyle/>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10.3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构造回边的自然循环。</a:t>
            </a:r>
          </a:p>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输入：流图</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和回边</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输出：由</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的自然循环中所有节点构成的集合</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loop</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procedure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insert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(m);</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if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m</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不在</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loop</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then begin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loop</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loop</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m</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将</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m</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压入栈</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stack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end;</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下面是主程序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endPar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stack</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loop</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insert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while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stack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非空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do begin</a:t>
            </a:r>
          </a:p>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从</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stack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弹出第一个元素</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m</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for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m</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的每个前驱</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do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insert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p</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end</a:t>
            </a:r>
          </a:p>
        </p:txBody>
      </p:sp>
      <p:sp>
        <p:nvSpPr>
          <p:cNvPr id="2718724" name="Rectangle 4"/>
          <p:cNvSpPr>
            <a:spLocks noChangeArrowheads="1"/>
          </p:cNvSpPr>
          <p:nvPr/>
        </p:nvSpPr>
        <p:spPr bwMode="auto">
          <a:xfrm>
            <a:off x="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7349668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a:spLocks noGrp="1"/>
          </p:cNvSpPr>
          <p:nvPr>
            <p:ph type="dt" sz="half" idx="10"/>
          </p:nvPr>
        </p:nvSpPr>
        <p:spPr/>
        <p:txBody>
          <a:bodyPr/>
          <a:lstStyle/>
          <a:p>
            <a:fld id="{F7044143-A57C-49EA-9427-5EB0F0E4BFA5}" type="datetime1">
              <a:rPr lang="zh-CN" altLang="en-US"/>
              <a:pPr/>
              <a:t>2017/2/24</a:t>
            </a:fld>
            <a:endParaRPr lang="en-US" altLang="zh-CN"/>
          </a:p>
        </p:txBody>
      </p:sp>
      <p:sp>
        <p:nvSpPr>
          <p:cNvPr id="16" name="灯片编号占位符 5"/>
          <p:cNvSpPr>
            <a:spLocks noGrp="1"/>
          </p:cNvSpPr>
          <p:nvPr>
            <p:ph type="sldNum" sz="quarter" idx="12"/>
          </p:nvPr>
        </p:nvSpPr>
        <p:spPr/>
        <p:txBody>
          <a:bodyPr/>
          <a:lstStyle/>
          <a:p>
            <a:fld id="{62DEF1ED-B467-4FDB-949A-358CA8614735}" type="slidenum">
              <a:rPr lang="en-US" altLang="zh-CN"/>
              <a:pPr/>
              <a:t>37</a:t>
            </a:fld>
            <a:endParaRPr lang="en-US" altLang="zh-CN"/>
          </a:p>
        </p:txBody>
      </p:sp>
      <p:sp>
        <p:nvSpPr>
          <p:cNvPr id="2719746" name="Rectangle 2"/>
          <p:cNvSpPr>
            <a:spLocks noGrp="1" noChangeArrowheads="1"/>
          </p:cNvSpPr>
          <p:nvPr>
            <p:ph type="title"/>
          </p:nvPr>
        </p:nvSpPr>
        <p:spPr>
          <a:xfrm>
            <a:off x="457200" y="274638"/>
            <a:ext cx="8229600" cy="7778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a:t>
            </a:r>
          </a:p>
        </p:txBody>
      </p:sp>
      <p:sp>
        <p:nvSpPr>
          <p:cNvPr id="2719747" name="Rectangle 3"/>
          <p:cNvSpPr>
            <a:spLocks noGrp="1" noChangeArrowheads="1"/>
          </p:cNvSpPr>
          <p:nvPr>
            <p:ph type="body" idx="1"/>
          </p:nvPr>
        </p:nvSpPr>
        <p:spPr>
          <a:xfrm>
            <a:off x="468313" y="1196975"/>
            <a:ext cx="8486775" cy="2305050"/>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如果将自然循环当作“循环”，则循环或者互不相交，或者一个在另外一个里面。</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内循环：不包含其他循环的循环称为内循环。</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如果两个循环具有相同的首节点，那么很难说一个包含另外一个。此时把两个循环合并。</a:t>
            </a:r>
            <a:endParaRPr lang="zh-CN" altLang="en-US" sz="3600"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19748" name="Text Box 4"/>
          <p:cNvSpPr txBox="1">
            <a:spLocks noChangeArrowheads="1"/>
          </p:cNvSpPr>
          <p:nvPr/>
        </p:nvSpPr>
        <p:spPr bwMode="auto">
          <a:xfrm>
            <a:off x="3810000" y="3878263"/>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lgn="ctr">
              <a:spcBef>
                <a:spcPct val="50000"/>
              </a:spcBef>
            </a:pPr>
            <a:r>
              <a:rPr kumimoji="1" lang="en-US" altLang="zh-CN"/>
              <a:t>B</a:t>
            </a:r>
            <a:r>
              <a:rPr kumimoji="1" lang="en-US" altLang="zh-CN" baseline="-25000"/>
              <a:t>0</a:t>
            </a:r>
          </a:p>
        </p:txBody>
      </p:sp>
      <p:sp>
        <p:nvSpPr>
          <p:cNvPr id="2719749" name="Line 5"/>
          <p:cNvSpPr>
            <a:spLocks noChangeShapeType="1"/>
          </p:cNvSpPr>
          <p:nvPr/>
        </p:nvSpPr>
        <p:spPr bwMode="auto">
          <a:xfrm>
            <a:off x="4114800" y="3344863"/>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9750" name="Text Box 6"/>
          <p:cNvSpPr txBox="1">
            <a:spLocks noChangeArrowheads="1"/>
          </p:cNvSpPr>
          <p:nvPr/>
        </p:nvSpPr>
        <p:spPr bwMode="auto">
          <a:xfrm>
            <a:off x="3810000" y="4640263"/>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lgn="ctr">
              <a:spcBef>
                <a:spcPct val="50000"/>
              </a:spcBef>
            </a:pPr>
            <a:r>
              <a:rPr kumimoji="1" lang="en-US" altLang="zh-CN"/>
              <a:t>B</a:t>
            </a:r>
            <a:r>
              <a:rPr kumimoji="1" lang="en-US" altLang="zh-CN" baseline="-25000"/>
              <a:t>1</a:t>
            </a:r>
          </a:p>
        </p:txBody>
      </p:sp>
      <p:sp>
        <p:nvSpPr>
          <p:cNvPr id="2719751" name="Text Box 7"/>
          <p:cNvSpPr txBox="1">
            <a:spLocks noChangeArrowheads="1"/>
          </p:cNvSpPr>
          <p:nvPr/>
        </p:nvSpPr>
        <p:spPr bwMode="auto">
          <a:xfrm>
            <a:off x="2743200" y="5554663"/>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lgn="ctr">
              <a:spcBef>
                <a:spcPct val="50000"/>
              </a:spcBef>
            </a:pPr>
            <a:r>
              <a:rPr kumimoji="1" lang="en-US" altLang="zh-CN"/>
              <a:t>B</a:t>
            </a:r>
            <a:r>
              <a:rPr kumimoji="1" lang="en-US" altLang="zh-CN" baseline="-25000"/>
              <a:t>2</a:t>
            </a:r>
          </a:p>
        </p:txBody>
      </p:sp>
      <p:sp>
        <p:nvSpPr>
          <p:cNvPr id="2719752" name="Text Box 8"/>
          <p:cNvSpPr txBox="1">
            <a:spLocks noChangeArrowheads="1"/>
          </p:cNvSpPr>
          <p:nvPr/>
        </p:nvSpPr>
        <p:spPr bwMode="auto">
          <a:xfrm>
            <a:off x="5029200" y="5554663"/>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lgn="ctr">
              <a:spcBef>
                <a:spcPct val="50000"/>
              </a:spcBef>
            </a:pPr>
            <a:r>
              <a:rPr kumimoji="1" lang="en-US" altLang="zh-CN"/>
              <a:t>B</a:t>
            </a:r>
            <a:r>
              <a:rPr kumimoji="1" lang="en-US" altLang="zh-CN" baseline="-25000"/>
              <a:t>3</a:t>
            </a:r>
          </a:p>
        </p:txBody>
      </p:sp>
      <p:sp>
        <p:nvSpPr>
          <p:cNvPr id="2719753" name="Line 9"/>
          <p:cNvSpPr>
            <a:spLocks noChangeShapeType="1"/>
          </p:cNvSpPr>
          <p:nvPr/>
        </p:nvSpPr>
        <p:spPr bwMode="auto">
          <a:xfrm>
            <a:off x="4114800" y="4335463"/>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19754" name="Freeform 10"/>
          <p:cNvSpPr>
            <a:spLocks/>
          </p:cNvSpPr>
          <p:nvPr/>
        </p:nvSpPr>
        <p:spPr bwMode="auto">
          <a:xfrm>
            <a:off x="3124200" y="4868863"/>
            <a:ext cx="685800" cy="685800"/>
          </a:xfrm>
          <a:custGeom>
            <a:avLst/>
            <a:gdLst>
              <a:gd name="T0" fmla="*/ 432 w 432"/>
              <a:gd name="T1" fmla="*/ 0 h 432"/>
              <a:gd name="T2" fmla="*/ 0 w 432"/>
              <a:gd name="T3" fmla="*/ 0 h 432"/>
              <a:gd name="T4" fmla="*/ 0 w 432"/>
              <a:gd name="T5" fmla="*/ 432 h 432"/>
            </a:gdLst>
            <a:ahLst/>
            <a:cxnLst>
              <a:cxn ang="0">
                <a:pos x="T0" y="T1"/>
              </a:cxn>
              <a:cxn ang="0">
                <a:pos x="T2" y="T3"/>
              </a:cxn>
              <a:cxn ang="0">
                <a:pos x="T4" y="T5"/>
              </a:cxn>
            </a:cxnLst>
            <a:rect l="0" t="0" r="r" b="b"/>
            <a:pathLst>
              <a:path w="432" h="432">
                <a:moveTo>
                  <a:pt x="432" y="0"/>
                </a:moveTo>
                <a:lnTo>
                  <a:pt x="0" y="0"/>
                </a:lnTo>
                <a:lnTo>
                  <a:pt x="0" y="432"/>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719755" name="Freeform 11"/>
          <p:cNvSpPr>
            <a:spLocks/>
          </p:cNvSpPr>
          <p:nvPr/>
        </p:nvSpPr>
        <p:spPr bwMode="auto">
          <a:xfrm>
            <a:off x="4572000" y="4868863"/>
            <a:ext cx="685800" cy="685800"/>
          </a:xfrm>
          <a:custGeom>
            <a:avLst/>
            <a:gdLst>
              <a:gd name="T0" fmla="*/ 0 w 432"/>
              <a:gd name="T1" fmla="*/ 0 h 432"/>
              <a:gd name="T2" fmla="*/ 432 w 432"/>
              <a:gd name="T3" fmla="*/ 0 h 432"/>
              <a:gd name="T4" fmla="*/ 432 w 432"/>
              <a:gd name="T5" fmla="*/ 432 h 432"/>
            </a:gdLst>
            <a:ahLst/>
            <a:cxnLst>
              <a:cxn ang="0">
                <a:pos x="T0" y="T1"/>
              </a:cxn>
              <a:cxn ang="0">
                <a:pos x="T2" y="T3"/>
              </a:cxn>
              <a:cxn ang="0">
                <a:pos x="T4" y="T5"/>
              </a:cxn>
            </a:cxnLst>
            <a:rect l="0" t="0" r="r" b="b"/>
            <a:pathLst>
              <a:path w="432" h="432">
                <a:moveTo>
                  <a:pt x="0" y="0"/>
                </a:moveTo>
                <a:lnTo>
                  <a:pt x="432" y="0"/>
                </a:lnTo>
                <a:lnTo>
                  <a:pt x="432" y="432"/>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719756" name="Freeform 12"/>
          <p:cNvSpPr>
            <a:spLocks/>
          </p:cNvSpPr>
          <p:nvPr/>
        </p:nvSpPr>
        <p:spPr bwMode="auto">
          <a:xfrm>
            <a:off x="2362200" y="4106863"/>
            <a:ext cx="1447800" cy="1676400"/>
          </a:xfrm>
          <a:custGeom>
            <a:avLst/>
            <a:gdLst>
              <a:gd name="T0" fmla="*/ 240 w 912"/>
              <a:gd name="T1" fmla="*/ 1056 h 1056"/>
              <a:gd name="T2" fmla="*/ 0 w 912"/>
              <a:gd name="T3" fmla="*/ 1056 h 1056"/>
              <a:gd name="T4" fmla="*/ 0 w 912"/>
              <a:gd name="T5" fmla="*/ 0 h 1056"/>
              <a:gd name="T6" fmla="*/ 912 w 912"/>
              <a:gd name="T7" fmla="*/ 0 h 1056"/>
            </a:gdLst>
            <a:ahLst/>
            <a:cxnLst>
              <a:cxn ang="0">
                <a:pos x="T0" y="T1"/>
              </a:cxn>
              <a:cxn ang="0">
                <a:pos x="T2" y="T3"/>
              </a:cxn>
              <a:cxn ang="0">
                <a:pos x="T4" y="T5"/>
              </a:cxn>
              <a:cxn ang="0">
                <a:pos x="T6" y="T7"/>
              </a:cxn>
            </a:cxnLst>
            <a:rect l="0" t="0" r="r" b="b"/>
            <a:pathLst>
              <a:path w="912" h="1056">
                <a:moveTo>
                  <a:pt x="240" y="1056"/>
                </a:moveTo>
                <a:lnTo>
                  <a:pt x="0" y="1056"/>
                </a:lnTo>
                <a:lnTo>
                  <a:pt x="0" y="0"/>
                </a:lnTo>
                <a:lnTo>
                  <a:pt x="912" y="0"/>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2719757" name="Freeform 13"/>
          <p:cNvSpPr>
            <a:spLocks/>
          </p:cNvSpPr>
          <p:nvPr/>
        </p:nvSpPr>
        <p:spPr bwMode="auto">
          <a:xfrm>
            <a:off x="4572000" y="4106863"/>
            <a:ext cx="1600200" cy="1600200"/>
          </a:xfrm>
          <a:custGeom>
            <a:avLst/>
            <a:gdLst>
              <a:gd name="T0" fmla="*/ 768 w 1008"/>
              <a:gd name="T1" fmla="*/ 1008 h 1008"/>
              <a:gd name="T2" fmla="*/ 1008 w 1008"/>
              <a:gd name="T3" fmla="*/ 1008 h 1008"/>
              <a:gd name="T4" fmla="*/ 1008 w 1008"/>
              <a:gd name="T5" fmla="*/ 0 h 1008"/>
              <a:gd name="T6" fmla="*/ 0 w 1008"/>
              <a:gd name="T7" fmla="*/ 0 h 1008"/>
            </a:gdLst>
            <a:ahLst/>
            <a:cxnLst>
              <a:cxn ang="0">
                <a:pos x="T0" y="T1"/>
              </a:cxn>
              <a:cxn ang="0">
                <a:pos x="T2" y="T3"/>
              </a:cxn>
              <a:cxn ang="0">
                <a:pos x="T4" y="T5"/>
              </a:cxn>
              <a:cxn ang="0">
                <a:pos x="T6" y="T7"/>
              </a:cxn>
            </a:cxnLst>
            <a:rect l="0" t="0" r="r" b="b"/>
            <a:pathLst>
              <a:path w="1008" h="1008">
                <a:moveTo>
                  <a:pt x="768" y="1008"/>
                </a:moveTo>
                <a:lnTo>
                  <a:pt x="1008" y="1008"/>
                </a:lnTo>
                <a:lnTo>
                  <a:pt x="1008" y="0"/>
                </a:lnTo>
                <a:lnTo>
                  <a:pt x="0" y="0"/>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Tree>
    <p:extLst>
      <p:ext uri="{BB962C8B-B14F-4D97-AF65-F5344CB8AC3E}">
        <p14:creationId xmlns:p14="http://schemas.microsoft.com/office/powerpoint/2010/main" val="36591580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3"/>
          <p:cNvSpPr>
            <a:spLocks noGrp="1"/>
          </p:cNvSpPr>
          <p:nvPr>
            <p:ph type="dt" sz="half" idx="10"/>
          </p:nvPr>
        </p:nvSpPr>
        <p:spPr/>
        <p:txBody>
          <a:bodyPr/>
          <a:lstStyle/>
          <a:p>
            <a:fld id="{7A286B16-D85C-43D7-8D3F-531D8EE8D87F}" type="datetime1">
              <a:rPr lang="zh-CN" altLang="en-US"/>
              <a:pPr/>
              <a:t>2017/2/24</a:t>
            </a:fld>
            <a:endParaRPr lang="en-US" altLang="zh-CN"/>
          </a:p>
        </p:txBody>
      </p:sp>
      <p:sp>
        <p:nvSpPr>
          <p:cNvPr id="24" name="灯片编号占位符 5"/>
          <p:cNvSpPr>
            <a:spLocks noGrp="1"/>
          </p:cNvSpPr>
          <p:nvPr>
            <p:ph type="sldNum" sz="quarter" idx="12"/>
          </p:nvPr>
        </p:nvSpPr>
        <p:spPr/>
        <p:txBody>
          <a:bodyPr/>
          <a:lstStyle/>
          <a:p>
            <a:fld id="{6E64C87B-A57E-4079-9212-8CDA741C7C3A}" type="slidenum">
              <a:rPr lang="en-US" altLang="zh-CN"/>
              <a:pPr/>
              <a:t>38</a:t>
            </a:fld>
            <a:endParaRPr lang="en-US" altLang="zh-CN"/>
          </a:p>
        </p:txBody>
      </p:sp>
      <p:sp>
        <p:nvSpPr>
          <p:cNvPr id="2720770" name="Rectangle 2"/>
          <p:cNvSpPr>
            <a:spLocks noGrp="1" noChangeArrowheads="1"/>
          </p:cNvSpPr>
          <p:nvPr>
            <p:ph type="title"/>
          </p:nvPr>
        </p:nvSpPr>
        <p:spPr>
          <a:xfrm>
            <a:off x="457200" y="115888"/>
            <a:ext cx="8229600" cy="7778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a:t>
            </a:r>
          </a:p>
        </p:txBody>
      </p:sp>
      <p:sp>
        <p:nvSpPr>
          <p:cNvPr id="2720771" name="Rectangle 3"/>
          <p:cNvSpPr>
            <a:spLocks noGrp="1" noChangeArrowheads="1"/>
          </p:cNvSpPr>
          <p:nvPr>
            <p:ph type="body" idx="1"/>
          </p:nvPr>
        </p:nvSpPr>
        <p:spPr>
          <a:xfrm>
            <a:off x="179388" y="908050"/>
            <a:ext cx="4824412" cy="5329238"/>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某些变换要求我们将循环中的某些语句移到首节点的前面。因此，在开始处理循环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之前，往往需要先创建一个称为</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前置首节点</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的新块。前置首节点的唯一后继是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的首节点，原来从</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外到达</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首节点的边都将改成进入前置首节点，从循环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里面到达首节点的边不改变。</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初始时前置首节点为空，但对</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的变换可能会将一些语句放到该节点中。 </a:t>
            </a:r>
          </a:p>
        </p:txBody>
      </p:sp>
      <p:grpSp>
        <p:nvGrpSpPr>
          <p:cNvPr id="2720772" name="Group 4"/>
          <p:cNvGrpSpPr>
            <a:grpSpLocks/>
          </p:cNvGrpSpPr>
          <p:nvPr/>
        </p:nvGrpSpPr>
        <p:grpSpPr bwMode="auto">
          <a:xfrm>
            <a:off x="5395913" y="333375"/>
            <a:ext cx="3352800" cy="2667000"/>
            <a:chOff x="3024" y="1056"/>
            <a:chExt cx="2112" cy="1680"/>
          </a:xfrm>
        </p:grpSpPr>
        <p:sp>
          <p:nvSpPr>
            <p:cNvPr id="2720773" name="Text Box 5"/>
            <p:cNvSpPr txBox="1">
              <a:spLocks noChangeArrowheads="1"/>
            </p:cNvSpPr>
            <p:nvPr/>
          </p:nvSpPr>
          <p:spPr bwMode="auto">
            <a:xfrm>
              <a:off x="3312" y="1584"/>
              <a:ext cx="1632"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b="1">
                  <a:latin typeface="楷体_GB2312" pitchFamily="49" charset="-122"/>
                  <a:ea typeface="楷体_GB2312" pitchFamily="49" charset="-122"/>
                </a:rPr>
                <a:t>首节点</a:t>
              </a:r>
            </a:p>
          </p:txBody>
        </p:sp>
        <p:sp>
          <p:nvSpPr>
            <p:cNvPr id="2720774" name="Line 6"/>
            <p:cNvSpPr>
              <a:spLocks noChangeShapeType="1"/>
            </p:cNvSpPr>
            <p:nvPr/>
          </p:nvSpPr>
          <p:spPr bwMode="auto">
            <a:xfrm>
              <a:off x="3744" y="1104"/>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75" name="Line 7"/>
            <p:cNvSpPr>
              <a:spLocks noChangeShapeType="1"/>
            </p:cNvSpPr>
            <p:nvPr/>
          </p:nvSpPr>
          <p:spPr bwMode="auto">
            <a:xfrm>
              <a:off x="4320" y="1056"/>
              <a:ext cx="0"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76" name="Text Box 8"/>
            <p:cNvSpPr txBox="1">
              <a:spLocks noChangeArrowheads="1"/>
            </p:cNvSpPr>
            <p:nvPr/>
          </p:nvSpPr>
          <p:spPr bwMode="auto">
            <a:xfrm>
              <a:off x="3264" y="2448"/>
              <a:ext cx="17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b="1">
                  <a:latin typeface="楷体_GB2312" pitchFamily="49" charset="-122"/>
                  <a:ea typeface="楷体_GB2312" pitchFamily="49" charset="-122"/>
                </a:rPr>
                <a:t> </a:t>
              </a:r>
            </a:p>
          </p:txBody>
        </p:sp>
        <p:sp>
          <p:nvSpPr>
            <p:cNvPr id="2720777" name="Rectangle 9"/>
            <p:cNvSpPr>
              <a:spLocks noChangeArrowheads="1"/>
            </p:cNvSpPr>
            <p:nvPr/>
          </p:nvSpPr>
          <p:spPr bwMode="auto">
            <a:xfrm>
              <a:off x="3264" y="2112"/>
              <a:ext cx="1728" cy="3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20778" name="Freeform 10"/>
            <p:cNvSpPr>
              <a:spLocks/>
            </p:cNvSpPr>
            <p:nvPr/>
          </p:nvSpPr>
          <p:spPr bwMode="auto">
            <a:xfrm>
              <a:off x="3024" y="1440"/>
              <a:ext cx="432" cy="864"/>
            </a:xfrm>
            <a:custGeom>
              <a:avLst/>
              <a:gdLst>
                <a:gd name="T0" fmla="*/ 240 w 432"/>
                <a:gd name="T1" fmla="*/ 1200 h 1200"/>
                <a:gd name="T2" fmla="*/ 0 w 432"/>
                <a:gd name="T3" fmla="*/ 1200 h 1200"/>
                <a:gd name="T4" fmla="*/ 0 w 432"/>
                <a:gd name="T5" fmla="*/ 0 h 1200"/>
                <a:gd name="T6" fmla="*/ 432 w 432"/>
                <a:gd name="T7" fmla="*/ 0 h 1200"/>
                <a:gd name="T8" fmla="*/ 432 w 432"/>
                <a:gd name="T9" fmla="*/ 144 h 1200"/>
              </a:gdLst>
              <a:ahLst/>
              <a:cxnLst>
                <a:cxn ang="0">
                  <a:pos x="T0" y="T1"/>
                </a:cxn>
                <a:cxn ang="0">
                  <a:pos x="T2" y="T3"/>
                </a:cxn>
                <a:cxn ang="0">
                  <a:pos x="T4" y="T5"/>
                </a:cxn>
                <a:cxn ang="0">
                  <a:pos x="T6" y="T7"/>
                </a:cxn>
                <a:cxn ang="0">
                  <a:pos x="T8" y="T9"/>
                </a:cxn>
              </a:cxnLst>
              <a:rect l="0" t="0" r="r" b="b"/>
              <a:pathLst>
                <a:path w="432" h="1200">
                  <a:moveTo>
                    <a:pt x="240" y="1200"/>
                  </a:moveTo>
                  <a:lnTo>
                    <a:pt x="0" y="1200"/>
                  </a:lnTo>
                  <a:lnTo>
                    <a:pt x="0" y="0"/>
                  </a:lnTo>
                  <a:lnTo>
                    <a:pt x="432" y="0"/>
                  </a:lnTo>
                  <a:lnTo>
                    <a:pt x="432" y="144"/>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79" name="Freeform 11"/>
            <p:cNvSpPr>
              <a:spLocks/>
            </p:cNvSpPr>
            <p:nvPr/>
          </p:nvSpPr>
          <p:spPr bwMode="auto">
            <a:xfrm>
              <a:off x="4704" y="1488"/>
              <a:ext cx="432" cy="816"/>
            </a:xfrm>
            <a:custGeom>
              <a:avLst/>
              <a:gdLst>
                <a:gd name="T0" fmla="*/ 288 w 432"/>
                <a:gd name="T1" fmla="*/ 1104 h 1104"/>
                <a:gd name="T2" fmla="*/ 432 w 432"/>
                <a:gd name="T3" fmla="*/ 1104 h 1104"/>
                <a:gd name="T4" fmla="*/ 432 w 432"/>
                <a:gd name="T5" fmla="*/ 0 h 1104"/>
                <a:gd name="T6" fmla="*/ 0 w 432"/>
                <a:gd name="T7" fmla="*/ 0 h 1104"/>
                <a:gd name="T8" fmla="*/ 0 w 432"/>
                <a:gd name="T9" fmla="*/ 96 h 1104"/>
              </a:gdLst>
              <a:ahLst/>
              <a:cxnLst>
                <a:cxn ang="0">
                  <a:pos x="T0" y="T1"/>
                </a:cxn>
                <a:cxn ang="0">
                  <a:pos x="T2" y="T3"/>
                </a:cxn>
                <a:cxn ang="0">
                  <a:pos x="T4" y="T5"/>
                </a:cxn>
                <a:cxn ang="0">
                  <a:pos x="T6" y="T7"/>
                </a:cxn>
                <a:cxn ang="0">
                  <a:pos x="T8" y="T9"/>
                </a:cxn>
              </a:cxnLst>
              <a:rect l="0" t="0" r="r" b="b"/>
              <a:pathLst>
                <a:path w="432" h="1104">
                  <a:moveTo>
                    <a:pt x="288" y="1104"/>
                  </a:moveTo>
                  <a:lnTo>
                    <a:pt x="432" y="1104"/>
                  </a:lnTo>
                  <a:lnTo>
                    <a:pt x="432" y="0"/>
                  </a:lnTo>
                  <a:lnTo>
                    <a:pt x="0" y="0"/>
                  </a:lnTo>
                  <a:lnTo>
                    <a:pt x="0" y="96"/>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20780" name="Text Box 12"/>
          <p:cNvSpPr txBox="1">
            <a:spLocks noChangeArrowheads="1"/>
          </p:cNvSpPr>
          <p:nvPr/>
        </p:nvSpPr>
        <p:spPr bwMode="auto">
          <a:xfrm>
            <a:off x="5781675" y="4408488"/>
            <a:ext cx="25908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b="1">
                <a:ea typeface="楷体_GB2312" pitchFamily="49" charset="-122"/>
              </a:rPr>
              <a:t>首节点</a:t>
            </a:r>
          </a:p>
        </p:txBody>
      </p:sp>
      <p:sp>
        <p:nvSpPr>
          <p:cNvPr id="2720781" name="Line 13"/>
          <p:cNvSpPr>
            <a:spLocks noChangeShapeType="1"/>
          </p:cNvSpPr>
          <p:nvPr/>
        </p:nvSpPr>
        <p:spPr bwMode="auto">
          <a:xfrm>
            <a:off x="6543675" y="318928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82" name="Line 14"/>
          <p:cNvSpPr>
            <a:spLocks noChangeShapeType="1"/>
          </p:cNvSpPr>
          <p:nvPr/>
        </p:nvSpPr>
        <p:spPr bwMode="auto">
          <a:xfrm>
            <a:off x="7458075" y="3189288"/>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83" name="Text Box 15"/>
          <p:cNvSpPr txBox="1">
            <a:spLocks noChangeArrowheads="1"/>
          </p:cNvSpPr>
          <p:nvPr/>
        </p:nvSpPr>
        <p:spPr bwMode="auto">
          <a:xfrm>
            <a:off x="5705475" y="5780088"/>
            <a:ext cx="281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 </a:t>
            </a:r>
          </a:p>
        </p:txBody>
      </p:sp>
      <p:sp>
        <p:nvSpPr>
          <p:cNvPr id="2720784" name="Rectangle 16"/>
          <p:cNvSpPr>
            <a:spLocks noChangeArrowheads="1"/>
          </p:cNvSpPr>
          <p:nvPr/>
        </p:nvSpPr>
        <p:spPr bwMode="auto">
          <a:xfrm>
            <a:off x="5705475" y="5246688"/>
            <a:ext cx="2743200" cy="533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20785" name="Freeform 17"/>
          <p:cNvSpPr>
            <a:spLocks/>
          </p:cNvSpPr>
          <p:nvPr/>
        </p:nvSpPr>
        <p:spPr bwMode="auto">
          <a:xfrm>
            <a:off x="5324475" y="4179888"/>
            <a:ext cx="685800" cy="1371600"/>
          </a:xfrm>
          <a:custGeom>
            <a:avLst/>
            <a:gdLst>
              <a:gd name="T0" fmla="*/ 240 w 432"/>
              <a:gd name="T1" fmla="*/ 1200 h 1200"/>
              <a:gd name="T2" fmla="*/ 0 w 432"/>
              <a:gd name="T3" fmla="*/ 1200 h 1200"/>
              <a:gd name="T4" fmla="*/ 0 w 432"/>
              <a:gd name="T5" fmla="*/ 0 h 1200"/>
              <a:gd name="T6" fmla="*/ 432 w 432"/>
              <a:gd name="T7" fmla="*/ 0 h 1200"/>
              <a:gd name="T8" fmla="*/ 432 w 432"/>
              <a:gd name="T9" fmla="*/ 144 h 1200"/>
            </a:gdLst>
            <a:ahLst/>
            <a:cxnLst>
              <a:cxn ang="0">
                <a:pos x="T0" y="T1"/>
              </a:cxn>
              <a:cxn ang="0">
                <a:pos x="T2" y="T3"/>
              </a:cxn>
              <a:cxn ang="0">
                <a:pos x="T4" y="T5"/>
              </a:cxn>
              <a:cxn ang="0">
                <a:pos x="T6" y="T7"/>
              </a:cxn>
              <a:cxn ang="0">
                <a:pos x="T8" y="T9"/>
              </a:cxn>
            </a:cxnLst>
            <a:rect l="0" t="0" r="r" b="b"/>
            <a:pathLst>
              <a:path w="432" h="1200">
                <a:moveTo>
                  <a:pt x="240" y="1200"/>
                </a:moveTo>
                <a:lnTo>
                  <a:pt x="0" y="1200"/>
                </a:lnTo>
                <a:lnTo>
                  <a:pt x="0" y="0"/>
                </a:lnTo>
                <a:lnTo>
                  <a:pt x="432" y="0"/>
                </a:lnTo>
                <a:lnTo>
                  <a:pt x="432" y="144"/>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86" name="Freeform 18"/>
          <p:cNvSpPr>
            <a:spLocks/>
          </p:cNvSpPr>
          <p:nvPr/>
        </p:nvSpPr>
        <p:spPr bwMode="auto">
          <a:xfrm>
            <a:off x="7991475" y="4256088"/>
            <a:ext cx="685800" cy="1295400"/>
          </a:xfrm>
          <a:custGeom>
            <a:avLst/>
            <a:gdLst>
              <a:gd name="T0" fmla="*/ 288 w 432"/>
              <a:gd name="T1" fmla="*/ 1104 h 1104"/>
              <a:gd name="T2" fmla="*/ 432 w 432"/>
              <a:gd name="T3" fmla="*/ 1104 h 1104"/>
              <a:gd name="T4" fmla="*/ 432 w 432"/>
              <a:gd name="T5" fmla="*/ 0 h 1104"/>
              <a:gd name="T6" fmla="*/ 0 w 432"/>
              <a:gd name="T7" fmla="*/ 0 h 1104"/>
              <a:gd name="T8" fmla="*/ 0 w 432"/>
              <a:gd name="T9" fmla="*/ 96 h 1104"/>
            </a:gdLst>
            <a:ahLst/>
            <a:cxnLst>
              <a:cxn ang="0">
                <a:pos x="T0" y="T1"/>
              </a:cxn>
              <a:cxn ang="0">
                <a:pos x="T2" y="T3"/>
              </a:cxn>
              <a:cxn ang="0">
                <a:pos x="T4" y="T5"/>
              </a:cxn>
              <a:cxn ang="0">
                <a:pos x="T6" y="T7"/>
              </a:cxn>
              <a:cxn ang="0">
                <a:pos x="T8" y="T9"/>
              </a:cxn>
            </a:cxnLst>
            <a:rect l="0" t="0" r="r" b="b"/>
            <a:pathLst>
              <a:path w="432" h="1104">
                <a:moveTo>
                  <a:pt x="288" y="1104"/>
                </a:moveTo>
                <a:lnTo>
                  <a:pt x="432" y="1104"/>
                </a:lnTo>
                <a:lnTo>
                  <a:pt x="432" y="0"/>
                </a:lnTo>
                <a:lnTo>
                  <a:pt x="0" y="0"/>
                </a:lnTo>
                <a:lnTo>
                  <a:pt x="0" y="96"/>
                </a:lnTo>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87" name="Text Box 19"/>
          <p:cNvSpPr txBox="1">
            <a:spLocks noChangeArrowheads="1"/>
          </p:cNvSpPr>
          <p:nvPr/>
        </p:nvSpPr>
        <p:spPr bwMode="auto">
          <a:xfrm>
            <a:off x="5781675" y="3570288"/>
            <a:ext cx="2590800" cy="4667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zh-CN" altLang="en-US" b="1">
                <a:ea typeface="楷体_GB2312" pitchFamily="49" charset="-122"/>
              </a:rPr>
              <a:t>前置首节点</a:t>
            </a:r>
          </a:p>
        </p:txBody>
      </p:sp>
      <p:sp>
        <p:nvSpPr>
          <p:cNvPr id="2720788" name="Line 20"/>
          <p:cNvSpPr>
            <a:spLocks noChangeShapeType="1"/>
          </p:cNvSpPr>
          <p:nvPr/>
        </p:nvSpPr>
        <p:spPr bwMode="auto">
          <a:xfrm>
            <a:off x="6543675" y="402748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20789" name="Line 21"/>
          <p:cNvSpPr>
            <a:spLocks noChangeShapeType="1"/>
          </p:cNvSpPr>
          <p:nvPr/>
        </p:nvSpPr>
        <p:spPr bwMode="auto">
          <a:xfrm>
            <a:off x="7458075" y="402748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6576995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3"/>
          <p:cNvSpPr>
            <a:spLocks noGrp="1"/>
          </p:cNvSpPr>
          <p:nvPr>
            <p:ph type="dt" sz="half" idx="10"/>
          </p:nvPr>
        </p:nvSpPr>
        <p:spPr/>
        <p:txBody>
          <a:bodyPr/>
          <a:lstStyle/>
          <a:p>
            <a:fld id="{9CF98BF6-626A-4ACB-BCBD-5819188EE54B}" type="datetime1">
              <a:rPr lang="zh-CN" altLang="en-US"/>
              <a:pPr/>
              <a:t>2017/2/24</a:t>
            </a:fld>
            <a:endParaRPr lang="en-US" altLang="zh-CN"/>
          </a:p>
        </p:txBody>
      </p:sp>
      <p:sp>
        <p:nvSpPr>
          <p:cNvPr id="14" name="灯片编号占位符 5"/>
          <p:cNvSpPr>
            <a:spLocks noGrp="1"/>
          </p:cNvSpPr>
          <p:nvPr>
            <p:ph type="sldNum" sz="quarter" idx="12"/>
          </p:nvPr>
        </p:nvSpPr>
        <p:spPr/>
        <p:txBody>
          <a:bodyPr/>
          <a:lstStyle/>
          <a:p>
            <a:fld id="{54B0B390-3509-4B99-8A8E-E92ACEABCC8F}" type="slidenum">
              <a:rPr lang="en-US" altLang="zh-CN"/>
              <a:pPr/>
              <a:t>39</a:t>
            </a:fld>
            <a:endParaRPr lang="en-US" altLang="zh-CN"/>
          </a:p>
        </p:txBody>
      </p:sp>
      <p:sp>
        <p:nvSpPr>
          <p:cNvPr id="2721794" name="Rectangle 2"/>
          <p:cNvSpPr>
            <a:spLocks noGrp="1" noChangeArrowheads="1"/>
          </p:cNvSpPr>
          <p:nvPr>
            <p:ph type="title"/>
          </p:nvPr>
        </p:nvSpPr>
        <p:spPr>
          <a:xfrm>
            <a:off x="457200" y="188913"/>
            <a:ext cx="8229600" cy="8509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可归约流图</a:t>
            </a:r>
          </a:p>
        </p:txBody>
      </p:sp>
      <p:sp>
        <p:nvSpPr>
          <p:cNvPr id="2721795" name="Rectangle 3"/>
          <p:cNvSpPr>
            <a:spLocks noGrp="1" noChangeArrowheads="1"/>
          </p:cNvSpPr>
          <p:nvPr>
            <p:ph type="body" idx="1"/>
          </p:nvPr>
        </p:nvSpPr>
        <p:spPr>
          <a:xfrm>
            <a:off x="179388" y="1260475"/>
            <a:ext cx="5943600" cy="4905375"/>
          </a:xfrm>
        </p:spPr>
        <p:txBody>
          <a:bodyPr/>
          <a:lstStyle/>
          <a:p>
            <a:pPr>
              <a:lnSpc>
                <a:spcPct val="90000"/>
              </a:lnSpc>
            </a:pPr>
            <a:r>
              <a:rPr lang="zh-CN" altLang="en-US" sz="24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可归约流图</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：一个流图</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是可约的，当且仅当可以把它的边分成两个不相交的组，其中一组仅含回边，另一组的边都不是回边，这些边被称为前向边，所有前向边形成一个无环有向图，在该图中，每个节点都可以从</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的初始节点到达。</a:t>
            </a:r>
          </a:p>
          <a:p>
            <a:pPr>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循环的可约流图具有一个重要的性质，就是当流图中的一些节点被看作是循环的节点集合时，这些节点之间一定包含一条回边。于是，为了找出流图可约程序中的所有循环，只要检查回边的自然循环即可。  </a:t>
            </a:r>
          </a:p>
        </p:txBody>
      </p:sp>
      <p:sp>
        <p:nvSpPr>
          <p:cNvPr id="2721796" name="Text Box 4"/>
          <p:cNvSpPr txBox="1">
            <a:spLocks noChangeArrowheads="1"/>
          </p:cNvSpPr>
          <p:nvPr/>
        </p:nvSpPr>
        <p:spPr bwMode="auto">
          <a:xfrm>
            <a:off x="7010400" y="3022600"/>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en-US" altLang="zh-CN"/>
              <a:t>B</a:t>
            </a:r>
            <a:r>
              <a:rPr kumimoji="1" lang="en-US" altLang="zh-CN" baseline="-25000"/>
              <a:t>1</a:t>
            </a:r>
          </a:p>
        </p:txBody>
      </p:sp>
      <p:sp>
        <p:nvSpPr>
          <p:cNvPr id="2721797" name="Text Box 5"/>
          <p:cNvSpPr txBox="1">
            <a:spLocks noChangeArrowheads="1"/>
          </p:cNvSpPr>
          <p:nvPr/>
        </p:nvSpPr>
        <p:spPr bwMode="auto">
          <a:xfrm>
            <a:off x="6248400" y="4546600"/>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en-US" altLang="zh-CN"/>
              <a:t>B</a:t>
            </a:r>
            <a:r>
              <a:rPr kumimoji="1" lang="en-US" altLang="zh-CN" baseline="-25000"/>
              <a:t>2</a:t>
            </a:r>
          </a:p>
        </p:txBody>
      </p:sp>
      <p:sp>
        <p:nvSpPr>
          <p:cNvPr id="2721798" name="Text Box 6"/>
          <p:cNvSpPr txBox="1">
            <a:spLocks noChangeArrowheads="1"/>
          </p:cNvSpPr>
          <p:nvPr/>
        </p:nvSpPr>
        <p:spPr bwMode="auto">
          <a:xfrm>
            <a:off x="7848600" y="4546600"/>
            <a:ext cx="7620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pPr>
              <a:spcBef>
                <a:spcPct val="50000"/>
              </a:spcBef>
            </a:pPr>
            <a:r>
              <a:rPr kumimoji="1" lang="en-US" altLang="zh-CN"/>
              <a:t>B</a:t>
            </a:r>
            <a:r>
              <a:rPr kumimoji="1" lang="en-US" altLang="zh-CN" baseline="-25000"/>
              <a:t>3</a:t>
            </a:r>
          </a:p>
        </p:txBody>
      </p:sp>
      <p:sp>
        <p:nvSpPr>
          <p:cNvPr id="2721799" name="Line 7"/>
          <p:cNvSpPr>
            <a:spLocks noChangeShapeType="1"/>
          </p:cNvSpPr>
          <p:nvPr/>
        </p:nvSpPr>
        <p:spPr bwMode="auto">
          <a:xfrm>
            <a:off x="7010400" y="4622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21800" name="Line 8"/>
          <p:cNvSpPr>
            <a:spLocks noChangeShapeType="1"/>
          </p:cNvSpPr>
          <p:nvPr/>
        </p:nvSpPr>
        <p:spPr bwMode="auto">
          <a:xfrm flipH="1">
            <a:off x="7010400" y="48514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21801" name="Line 9"/>
          <p:cNvSpPr>
            <a:spLocks noChangeShapeType="1"/>
          </p:cNvSpPr>
          <p:nvPr/>
        </p:nvSpPr>
        <p:spPr bwMode="auto">
          <a:xfrm flipH="1">
            <a:off x="6553200" y="3479800"/>
            <a:ext cx="76200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21802" name="Line 10"/>
          <p:cNvSpPr>
            <a:spLocks noChangeShapeType="1"/>
          </p:cNvSpPr>
          <p:nvPr/>
        </p:nvSpPr>
        <p:spPr bwMode="auto">
          <a:xfrm>
            <a:off x="7543800" y="3479800"/>
            <a:ext cx="76200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21803" name="Rectangle 11"/>
          <p:cNvSpPr>
            <a:spLocks noChangeArrowheads="1"/>
          </p:cNvSpPr>
          <p:nvPr/>
        </p:nvSpPr>
        <p:spPr bwMode="auto">
          <a:xfrm>
            <a:off x="5651500" y="5276850"/>
            <a:ext cx="3473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b="1">
                <a:ea typeface="楷体_GB2312" pitchFamily="49" charset="-122"/>
              </a:rPr>
              <a:t>图</a:t>
            </a:r>
            <a:r>
              <a:rPr kumimoji="1" lang="en-US" altLang="zh-CN" b="1">
                <a:ea typeface="楷体_GB2312" pitchFamily="49" charset="-122"/>
              </a:rPr>
              <a:t>10.10 </a:t>
            </a:r>
            <a:r>
              <a:rPr kumimoji="1" lang="zh-CN" altLang="en-US" b="1">
                <a:ea typeface="楷体_GB2312" pitchFamily="49" charset="-122"/>
              </a:rPr>
              <a:t>一个不可约流图 </a:t>
            </a:r>
          </a:p>
        </p:txBody>
      </p:sp>
    </p:spTree>
    <p:extLst>
      <p:ext uri="{BB962C8B-B14F-4D97-AF65-F5344CB8AC3E}">
        <p14:creationId xmlns:p14="http://schemas.microsoft.com/office/powerpoint/2010/main" val="12458542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90EA2D6-C37D-41A4-A3D6-BED267D259E3}"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448C267E-F0F1-4A5F-8833-8367D859B65A}" type="slidenum">
              <a:rPr lang="en-US" altLang="zh-CN"/>
              <a:pPr/>
              <a:t>40</a:t>
            </a:fld>
            <a:endParaRPr lang="en-US" altLang="zh-CN"/>
          </a:p>
        </p:txBody>
      </p:sp>
      <p:sp>
        <p:nvSpPr>
          <p:cNvPr id="2722818" name="Rectangle 2"/>
          <p:cNvSpPr>
            <a:spLocks noGrp="1" noChangeArrowheads="1"/>
          </p:cNvSpPr>
          <p:nvPr>
            <p:ph type="title"/>
          </p:nvPr>
        </p:nvSpPr>
        <p:spPr>
          <a:xfrm>
            <a:off x="457200" y="188913"/>
            <a:ext cx="8229600" cy="77787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数据流分析</a:t>
            </a:r>
          </a:p>
        </p:txBody>
      </p:sp>
      <p:sp>
        <p:nvSpPr>
          <p:cNvPr id="2722819" name="Rectangle 3"/>
          <p:cNvSpPr>
            <a:spLocks noGrp="1" noChangeArrowheads="1"/>
          </p:cNvSpPr>
          <p:nvPr>
            <p:ph type="body" idx="1"/>
          </p:nvPr>
        </p:nvSpPr>
        <p:spPr>
          <a:xfrm>
            <a:off x="395288" y="1052513"/>
            <a:ext cx="8604250" cy="47529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为了进行代码优化，编译器必须掌握程序中变量的定义和引用情况，有了这些信息才能对源程序进行合适的等价变换。</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例如，了解每个基本块的出口处哪些变量是活跃的可以改进寄存器的利用率，执行常量合并和无用代码删除则需要利用变量的“到达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定义”信息。 </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对程序中变量的定义和引用关系的分析称为</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数据流分析</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p>
        </p:txBody>
      </p:sp>
    </p:spTree>
    <p:extLst>
      <p:ext uri="{BB962C8B-B14F-4D97-AF65-F5344CB8AC3E}">
        <p14:creationId xmlns:p14="http://schemas.microsoft.com/office/powerpoint/2010/main" val="334402614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B4B6036-C17D-4748-87C3-2A22CDACFED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6D3CAC2-0851-4A95-AA3C-FA1A023D1AEC}" type="slidenum">
              <a:rPr lang="en-US" altLang="zh-CN"/>
              <a:pPr/>
              <a:t>41</a:t>
            </a:fld>
            <a:endParaRPr lang="en-US" altLang="zh-CN"/>
          </a:p>
        </p:txBody>
      </p:sp>
      <p:sp>
        <p:nvSpPr>
          <p:cNvPr id="2723842"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数据流分析的种类</a:t>
            </a:r>
          </a:p>
        </p:txBody>
      </p:sp>
      <p:sp>
        <p:nvSpPr>
          <p:cNvPr id="2723843" name="Rectangle 3"/>
          <p:cNvSpPr>
            <a:spLocks noGrp="1" noChangeArrowheads="1"/>
          </p:cNvSpPr>
          <p:nvPr>
            <p:ph type="body" idx="1"/>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活跃变量分析</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可用表达式分析</a:t>
            </a:r>
          </a:p>
        </p:txBody>
      </p:sp>
    </p:spTree>
    <p:extLst>
      <p:ext uri="{BB962C8B-B14F-4D97-AF65-F5344CB8AC3E}">
        <p14:creationId xmlns:p14="http://schemas.microsoft.com/office/powerpoint/2010/main" val="8417269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7604E22-1BCA-4775-952D-F67D7BC97F6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E065EE5-B8F4-4C08-B91E-5DEA4E399B8A}" type="slidenum">
              <a:rPr lang="en-US" altLang="zh-CN"/>
              <a:pPr/>
              <a:t>42</a:t>
            </a:fld>
            <a:endParaRPr lang="en-US" altLang="zh-CN"/>
          </a:p>
        </p:txBody>
      </p:sp>
      <p:sp>
        <p:nvSpPr>
          <p:cNvPr id="2724866"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数据流方程的一般形式</a:t>
            </a:r>
          </a:p>
        </p:txBody>
      </p:sp>
      <p:sp>
        <p:nvSpPr>
          <p:cNvPr id="2724867" name="Rectangle 3"/>
          <p:cNvSpPr>
            <a:spLocks noGrp="1" noChangeArrowheads="1"/>
          </p:cNvSpPr>
          <p:nvPr>
            <p:ph type="body" idx="1"/>
          </p:nvPr>
        </p:nvSpPr>
        <p:spPr>
          <a:xfrm>
            <a:off x="250825" y="1125538"/>
            <a:ext cx="8893175" cy="5183187"/>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下面的方程叫做数据流方程：</a:t>
            </a:r>
          </a:p>
          <a:p>
            <a:pPr lvl="1"/>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(10.3)</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该方程的含义是，当控制流通过一个语句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末尾得到的信息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或者是在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中产生的信息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，或者是进入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开始点时携带的、并且没有被</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注销的那些信息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表示进入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开始点时携带的信息，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表示被</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注销的信息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也可以根据</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来定义</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endParaRPr lang="en-US" altLang="zh-CN" b="1" i="1" dirty="0">
              <a:latin typeface="Times New Roman" panose="02020603050405020304" pitchFamily="18" charset="0"/>
              <a:ea typeface="华文新魏" panose="02010800040101010101" pitchFamily="2" charset="-122"/>
              <a:cs typeface="Times New Roman" panose="02020603050405020304" pitchFamily="18" charset="0"/>
            </a:endParaRPr>
          </a:p>
          <a:p>
            <a:pPr lvl="1">
              <a:buFontTx/>
              <a:buNone/>
            </a:pP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    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(10.4) </a:t>
            </a:r>
          </a:p>
          <a:p>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291606328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9EBA9F3-83BF-481C-BDC2-74DCBCC662C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CB5B80D-D7F4-42E1-BDBB-875D8E888169}" type="slidenum">
              <a:rPr lang="en-US" altLang="zh-CN"/>
              <a:pPr/>
              <a:t>43</a:t>
            </a:fld>
            <a:endParaRPr lang="en-US" altLang="zh-CN"/>
          </a:p>
        </p:txBody>
      </p:sp>
      <p:sp>
        <p:nvSpPr>
          <p:cNvPr id="2725890"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数据流方程的一般形式</a:t>
            </a:r>
          </a:p>
        </p:txBody>
      </p:sp>
      <p:sp>
        <p:nvSpPr>
          <p:cNvPr id="2725891" name="Rectangle 3"/>
          <p:cNvSpPr>
            <a:spLocks noGrp="1" noChangeArrowheads="1"/>
          </p:cNvSpPr>
          <p:nvPr>
            <p:ph type="body" idx="1"/>
          </p:nvPr>
        </p:nvSpPr>
        <p:spPr>
          <a:xfrm>
            <a:off x="250825" y="1125538"/>
            <a:ext cx="8893175" cy="48244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不同的问题方程的意义可能有所不同，主要可由以下两点来区别：</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信息流向问题。根据信息流向可以将数据流分析问题分为正向和反向两类，正向的含义是根据</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集合来计算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集合，反向则是从</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集合来计算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集合。</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聚合操作问题。所谓聚合操作，是指当有多条边进入某一基本块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时，由</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的前驱节点的</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out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集计算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时采用的集合操作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并或交</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定义等方程采用并操作，全局可用表达式采用的则是交操作。</a:t>
            </a:r>
          </a:p>
        </p:txBody>
      </p:sp>
    </p:spTree>
    <p:extLst>
      <p:ext uri="{BB962C8B-B14F-4D97-AF65-F5344CB8AC3E}">
        <p14:creationId xmlns:p14="http://schemas.microsoft.com/office/powerpoint/2010/main" val="130790332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5EB1A81-1E52-43B6-9911-43B175F0B67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85C2EE2-B40C-4AEC-AB76-CCEA423E5E5D}" type="slidenum">
              <a:rPr lang="en-US" altLang="zh-CN"/>
              <a:pPr/>
              <a:t>44</a:t>
            </a:fld>
            <a:endParaRPr lang="en-US" altLang="zh-CN"/>
          </a:p>
        </p:txBody>
      </p:sp>
      <p:sp>
        <p:nvSpPr>
          <p:cNvPr id="2726914" name="Rectangle 2"/>
          <p:cNvSpPr>
            <a:spLocks noGrp="1" noChangeArrowheads="1"/>
          </p:cNvSpPr>
          <p:nvPr>
            <p:ph type="title"/>
          </p:nvPr>
        </p:nvSpPr>
        <p:spPr>
          <a:xfrm>
            <a:off x="457200" y="57150"/>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数据流方程的一般形式</a:t>
            </a:r>
          </a:p>
        </p:txBody>
      </p:sp>
      <p:sp>
        <p:nvSpPr>
          <p:cNvPr id="2726915" name="Rectangle 3"/>
          <p:cNvSpPr>
            <a:spLocks noGrp="1" noChangeArrowheads="1"/>
          </p:cNvSpPr>
          <p:nvPr>
            <p:ph type="body" idx="1"/>
          </p:nvPr>
        </p:nvSpPr>
        <p:spPr>
          <a:xfrm>
            <a:off x="107950" y="908050"/>
            <a:ext cx="8893175" cy="5472113"/>
          </a:xfrm>
        </p:spPr>
        <p:txBody>
          <a:bodyPr/>
          <a:lstStyle/>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在基本块中，将相邻语句间的位置称为</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点</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，第一个语句前和最后一个语句后的位置也称为点。从点</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到点</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的路径是这样的点序列</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p</a:t>
            </a:r>
            <a:r>
              <a:rPr lang="en-US" altLang="zh-CN" b="1" baseline="-25000" dirty="0" err="1">
                <a:latin typeface="Times New Roman" panose="02020603050405020304" pitchFamily="18" charset="0"/>
                <a:ea typeface="华文新魏" panose="02010800040101010101" pitchFamily="2" charset="-122"/>
                <a:cs typeface="Times New Roman" panose="02020603050405020304" pitchFamily="18" charset="0"/>
              </a:rPr>
              <a:t>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对于</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下列条件之一成立：</a:t>
            </a:r>
          </a:p>
          <a:p>
            <a:pPr lvl="1">
              <a:lnSpc>
                <a:spcPct val="90000"/>
              </a:lnSpc>
            </a:pP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是紧接在一个语句前面的点，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是同一块中紧跟在该语句后面的点；</a:t>
            </a:r>
          </a:p>
          <a:p>
            <a:pPr lvl="1">
              <a:lnSpc>
                <a:spcPct val="90000"/>
              </a:lnSpc>
            </a:pP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是某基本块的结束点，而</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是后继块的开始点。</a:t>
            </a:r>
          </a:p>
          <a:p>
            <a:pPr>
              <a:lnSpc>
                <a:spcPct val="90000"/>
              </a:lnSpc>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为简单起见，假设控制只能从一个开始点进入基本块，而当基本块结束时控制只能从一个结束点离开。 </a:t>
            </a:r>
          </a:p>
        </p:txBody>
      </p:sp>
    </p:spTree>
    <p:extLst>
      <p:ext uri="{BB962C8B-B14F-4D97-AF65-F5344CB8AC3E}">
        <p14:creationId xmlns:p14="http://schemas.microsoft.com/office/powerpoint/2010/main" val="40424843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1AE19C8-8489-4B31-9E86-27608CF71BD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BBD6945-68DF-403F-8964-E6D5A0BD4190}" type="slidenum">
              <a:rPr lang="en-US" altLang="zh-CN"/>
              <a:pPr/>
              <a:t>45</a:t>
            </a:fld>
            <a:endParaRPr lang="en-US" altLang="zh-CN"/>
          </a:p>
        </p:txBody>
      </p:sp>
      <p:sp>
        <p:nvSpPr>
          <p:cNvPr id="2727938"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a:t>
            </a:r>
          </a:p>
        </p:txBody>
      </p:sp>
      <p:sp>
        <p:nvSpPr>
          <p:cNvPr id="2727939" name="Rectangle 3"/>
          <p:cNvSpPr>
            <a:spLocks noGrp="1" noChangeArrowheads="1"/>
          </p:cNvSpPr>
          <p:nvPr>
            <p:ph type="body" idx="1"/>
          </p:nvPr>
        </p:nvSpPr>
        <p:spPr>
          <a:xfrm>
            <a:off x="250825" y="1125538"/>
            <a:ext cx="8893175" cy="54721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的定义是一条赋值或可能赋值给</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的语句。最普通的定义是对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的赋值或从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I/O</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设备读一个值并赋给</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的语句，这些语句比较明确地为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定义了一个值，称为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的明确定义。也有一些语句只是可能为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定义一个值，称为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的含糊定义，其常见形式有：</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为参数的过程调用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传值方式除外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或者可能访问</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的过程；</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．通过可能指向</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的指针对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赋值。 </a:t>
            </a:r>
          </a:p>
        </p:txBody>
      </p:sp>
    </p:spTree>
    <p:extLst>
      <p:ext uri="{BB962C8B-B14F-4D97-AF65-F5344CB8AC3E}">
        <p14:creationId xmlns:p14="http://schemas.microsoft.com/office/powerpoint/2010/main" val="25701244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BF81227-4FDB-4A72-B693-918F3F33348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018C486-981C-4FB0-B236-B3E63DD92035}" type="slidenum">
              <a:rPr lang="en-US" altLang="zh-CN"/>
              <a:pPr/>
              <a:t>46</a:t>
            </a:fld>
            <a:endParaRPr lang="en-US" altLang="zh-CN"/>
          </a:p>
        </p:txBody>
      </p:sp>
      <p:sp>
        <p:nvSpPr>
          <p:cNvPr id="2728962"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a:t>
            </a:r>
          </a:p>
        </p:txBody>
      </p:sp>
      <p:sp>
        <p:nvSpPr>
          <p:cNvPr id="2728963" name="Rectangle 3"/>
          <p:cNvSpPr>
            <a:spLocks noGrp="1" noChangeArrowheads="1"/>
          </p:cNvSpPr>
          <p:nvPr>
            <p:ph type="body" idx="1"/>
          </p:nvPr>
        </p:nvSpPr>
        <p:spPr>
          <a:xfrm>
            <a:off x="250825" y="1125538"/>
            <a:ext cx="8893175" cy="54721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对于定义</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，如果存在一条从紧跟</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的点到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的路径，并且在这条路径上</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没有被“注销”，则称定义</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(reach)</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如果沿着这条路径的某两点间存在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的其它定义，则将</a:t>
            </a:r>
            <a:r>
              <a:rPr lang="zh-CN" altLang="en-US"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注销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(kill)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的那个定义。注意，只有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的明确定义才能注销</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的其它定义。</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到达定义信息可以用引用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即</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来保存，它是一个链表，对于变量的每次引用，到达该引用的所有定义都保存在该链表中。</a:t>
            </a:r>
          </a:p>
        </p:txBody>
      </p:sp>
    </p:spTree>
    <p:extLst>
      <p:ext uri="{BB962C8B-B14F-4D97-AF65-F5344CB8AC3E}">
        <p14:creationId xmlns:p14="http://schemas.microsoft.com/office/powerpoint/2010/main" val="3977508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28963">
                                            <p:txEl>
                                              <p:pRg st="0" end="0"/>
                                            </p:txEl>
                                          </p:spTgt>
                                        </p:tgtEl>
                                        <p:attrNameLst>
                                          <p:attrName>style.visibility</p:attrName>
                                        </p:attrNameLst>
                                      </p:cBhvr>
                                      <p:to>
                                        <p:strVal val="visible"/>
                                      </p:to>
                                    </p:set>
                                    <p:animEffect transition="in" filter="blinds(horizontal)">
                                      <p:cBhvr>
                                        <p:cTn id="7" dur="500"/>
                                        <p:tgtEl>
                                          <p:spTgt spid="2728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28963">
                                            <p:txEl>
                                              <p:pRg st="1" end="1"/>
                                            </p:txEl>
                                          </p:spTgt>
                                        </p:tgtEl>
                                        <p:attrNameLst>
                                          <p:attrName>style.visibility</p:attrName>
                                        </p:attrNameLst>
                                      </p:cBhvr>
                                      <p:to>
                                        <p:strVal val="visible"/>
                                      </p:to>
                                    </p:set>
                                    <p:animEffect transition="in" filter="blinds(horizontal)">
                                      <p:cBhvr>
                                        <p:cTn id="12" dur="500"/>
                                        <p:tgtEl>
                                          <p:spTgt spid="2728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28963">
                                            <p:txEl>
                                              <p:pRg st="2" end="2"/>
                                            </p:txEl>
                                          </p:spTgt>
                                        </p:tgtEl>
                                        <p:attrNameLst>
                                          <p:attrName>style.visibility</p:attrName>
                                        </p:attrNameLst>
                                      </p:cBhvr>
                                      <p:to>
                                        <p:strVal val="visible"/>
                                      </p:to>
                                    </p:set>
                                    <p:animEffect transition="in" filter="blinds(horizontal)">
                                      <p:cBhvr>
                                        <p:cTn id="17" dur="500"/>
                                        <p:tgtEl>
                                          <p:spTgt spid="27289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896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5794EE3-9BD3-4226-91AC-1F5DB6818C50}"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6329CD1-055A-4B5D-9DEF-060CFC509D13}" type="slidenum">
              <a:rPr lang="en-US" altLang="zh-CN"/>
              <a:pPr/>
              <a:t>47</a:t>
            </a:fld>
            <a:endParaRPr lang="en-US" altLang="zh-CN"/>
          </a:p>
        </p:txBody>
      </p:sp>
      <p:sp>
        <p:nvSpPr>
          <p:cNvPr id="2729986"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a:t>
            </a:r>
          </a:p>
        </p:txBody>
      </p:sp>
      <p:sp>
        <p:nvSpPr>
          <p:cNvPr id="2729987" name="Rectangle 3"/>
          <p:cNvSpPr>
            <a:spLocks noGrp="1" noChangeArrowheads="1"/>
          </p:cNvSpPr>
          <p:nvPr>
            <p:ph type="body" idx="1"/>
          </p:nvPr>
        </p:nvSpPr>
        <p:spPr>
          <a:xfrm>
            <a:off x="250825" y="1125538"/>
            <a:ext cx="8893175" cy="54721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如果块</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中在变量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的引用之前没有任何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的明确定义，那么</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的这次引用的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链为</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的定义的集合。如果</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的这次引用之前存在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的明确定义，那么只有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的最后一次定义会在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链中，而</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不能放在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链中</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另外，如果存在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的含糊定义，那么所有那些在该定义和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的这次引用之间没有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的明确定义的定义都将被放在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的这次引用的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链中</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利用</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链可以求出循环中的所有循环不变计算，常量传播也需要用到</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链信息</a:t>
            </a:r>
          </a:p>
        </p:txBody>
      </p:sp>
    </p:spTree>
    <p:extLst>
      <p:ext uri="{BB962C8B-B14F-4D97-AF65-F5344CB8AC3E}">
        <p14:creationId xmlns:p14="http://schemas.microsoft.com/office/powerpoint/2010/main" val="7993921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29987">
                                            <p:txEl>
                                              <p:pRg st="0" end="0"/>
                                            </p:txEl>
                                          </p:spTgt>
                                        </p:tgtEl>
                                        <p:attrNameLst>
                                          <p:attrName>style.visibility</p:attrName>
                                        </p:attrNameLst>
                                      </p:cBhvr>
                                      <p:to>
                                        <p:strVal val="visible"/>
                                      </p:to>
                                    </p:set>
                                    <p:animEffect transition="in" filter="blinds(horizontal)">
                                      <p:cBhvr>
                                        <p:cTn id="7" dur="500"/>
                                        <p:tgtEl>
                                          <p:spTgt spid="2729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29987">
                                            <p:txEl>
                                              <p:pRg st="1" end="1"/>
                                            </p:txEl>
                                          </p:spTgt>
                                        </p:tgtEl>
                                        <p:attrNameLst>
                                          <p:attrName>style.visibility</p:attrName>
                                        </p:attrNameLst>
                                      </p:cBhvr>
                                      <p:to>
                                        <p:strVal val="visible"/>
                                      </p:to>
                                    </p:set>
                                    <p:animEffect transition="in" filter="blinds(horizontal)">
                                      <p:cBhvr>
                                        <p:cTn id="12" dur="500"/>
                                        <p:tgtEl>
                                          <p:spTgt spid="27299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29987">
                                            <p:txEl>
                                              <p:pRg st="2" end="2"/>
                                            </p:txEl>
                                          </p:spTgt>
                                        </p:tgtEl>
                                        <p:attrNameLst>
                                          <p:attrName>style.visibility</p:attrName>
                                        </p:attrNameLst>
                                      </p:cBhvr>
                                      <p:to>
                                        <p:strVal val="visible"/>
                                      </p:to>
                                    </p:set>
                                    <p:animEffect transition="in" filter="blinds(horizontal)">
                                      <p:cBhvr>
                                        <p:cTn id="17" dur="500"/>
                                        <p:tgtEl>
                                          <p:spTgt spid="27299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998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37C181B-663E-4299-B1BE-BE2164F767EF}"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9A4DD36-7FAF-42E3-A75E-F9069C562D22}" type="slidenum">
              <a:rPr lang="en-US" altLang="zh-CN"/>
              <a:pPr/>
              <a:t>48</a:t>
            </a:fld>
            <a:endParaRPr lang="en-US" altLang="zh-CN"/>
          </a:p>
        </p:txBody>
      </p:sp>
      <p:sp>
        <p:nvSpPr>
          <p:cNvPr id="2731010" name="Rectangle 2"/>
          <p:cNvSpPr>
            <a:spLocks noGrp="1" noChangeArrowheads="1"/>
          </p:cNvSpPr>
          <p:nvPr>
            <p:ph type="title"/>
          </p:nvPr>
        </p:nvSpPr>
        <p:spPr>
          <a:xfrm>
            <a:off x="457200" y="115888"/>
            <a:ext cx="8229600" cy="11430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到达定义数据流方程（记号）</a:t>
            </a:r>
          </a:p>
        </p:txBody>
      </p:sp>
      <p:sp>
        <p:nvSpPr>
          <p:cNvPr id="2731011" name="Rectangle 3"/>
          <p:cNvSpPr>
            <a:spLocks noGrp="1" noChangeArrowheads="1"/>
          </p:cNvSpPr>
          <p:nvPr>
            <p:ph type="body" idx="1"/>
          </p:nvPr>
        </p:nvSpPr>
        <p:spPr>
          <a:xfrm>
            <a:off x="609600" y="1341438"/>
            <a:ext cx="8283575" cy="470535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的入口点处各个变量的定义集合。</a:t>
            </a:r>
          </a:p>
          <a:p>
            <a:pPr lvl="1"/>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中点</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之前有</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的定义</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，且这个定义能够到达</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，则点</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处</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sz="3200" b="1" dirty="0" err="1">
                <a:latin typeface="Times New Roman" panose="02020603050405020304" pitchFamily="18" charset="0"/>
                <a:ea typeface="华文新魏" panose="02010800040101010101" pitchFamily="2" charset="-122"/>
                <a:cs typeface="Times New Roman" panose="02020603050405020304" pitchFamily="18" charset="0"/>
              </a:rPr>
              <a:t>ud</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链是</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a:t>
            </a:r>
          </a:p>
          <a:p>
            <a:pPr lvl="1"/>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否则，点</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处</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sz="3200" b="1" dirty="0" err="1">
                <a:latin typeface="Times New Roman" panose="02020603050405020304" pitchFamily="18" charset="0"/>
                <a:ea typeface="华文新魏" panose="02010800040101010101" pitchFamily="2" charset="-122"/>
                <a:cs typeface="Times New Roman" panose="02020603050405020304" pitchFamily="18" charset="0"/>
              </a:rPr>
              <a:t>ud</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链就是</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in[B]</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的定义集合。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P[B]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的所有前驱基本块的集合。</a:t>
            </a:r>
          </a:p>
        </p:txBody>
      </p:sp>
    </p:spTree>
    <p:extLst>
      <p:ext uri="{BB962C8B-B14F-4D97-AF65-F5344CB8AC3E}">
        <p14:creationId xmlns:p14="http://schemas.microsoft.com/office/powerpoint/2010/main" val="990383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1011">
                                            <p:txEl>
                                              <p:pRg st="0" end="0"/>
                                            </p:txEl>
                                          </p:spTgt>
                                        </p:tgtEl>
                                        <p:attrNameLst>
                                          <p:attrName>style.visibility</p:attrName>
                                        </p:attrNameLst>
                                      </p:cBhvr>
                                      <p:to>
                                        <p:strVal val="visible"/>
                                      </p:to>
                                    </p:set>
                                    <p:animEffect transition="in" filter="blinds(horizontal)">
                                      <p:cBhvr>
                                        <p:cTn id="7" dur="500"/>
                                        <p:tgtEl>
                                          <p:spTgt spid="273101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731011">
                                            <p:txEl>
                                              <p:pRg st="1" end="1"/>
                                            </p:txEl>
                                          </p:spTgt>
                                        </p:tgtEl>
                                        <p:attrNameLst>
                                          <p:attrName>style.visibility</p:attrName>
                                        </p:attrNameLst>
                                      </p:cBhvr>
                                      <p:to>
                                        <p:strVal val="visible"/>
                                      </p:to>
                                    </p:set>
                                    <p:animEffect transition="in" filter="blinds(horizontal)">
                                      <p:cBhvr>
                                        <p:cTn id="10" dur="500"/>
                                        <p:tgtEl>
                                          <p:spTgt spid="273101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731011">
                                            <p:txEl>
                                              <p:pRg st="2" end="2"/>
                                            </p:txEl>
                                          </p:spTgt>
                                        </p:tgtEl>
                                        <p:attrNameLst>
                                          <p:attrName>style.visibility</p:attrName>
                                        </p:attrNameLst>
                                      </p:cBhvr>
                                      <p:to>
                                        <p:strVal val="visible"/>
                                      </p:to>
                                    </p:set>
                                    <p:animEffect transition="in" filter="blinds(horizontal)">
                                      <p:cBhvr>
                                        <p:cTn id="13" dur="500"/>
                                        <p:tgtEl>
                                          <p:spTgt spid="2731011">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731011">
                                            <p:txEl>
                                              <p:pRg st="3" end="3"/>
                                            </p:txEl>
                                          </p:spTgt>
                                        </p:tgtEl>
                                        <p:attrNameLst>
                                          <p:attrName>style.visibility</p:attrName>
                                        </p:attrNameLst>
                                      </p:cBhvr>
                                      <p:to>
                                        <p:strVal val="visible"/>
                                      </p:to>
                                    </p:set>
                                    <p:animEffect transition="in" filter="blinds(horizontal)">
                                      <p:cBhvr>
                                        <p:cTn id="18" dur="500"/>
                                        <p:tgtEl>
                                          <p:spTgt spid="27310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101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D706119-DCEF-4240-82D3-E4E8D5C9734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858FD1B-9C2C-4BB3-B0C3-63748E104608}" type="slidenum">
              <a:rPr lang="en-US" altLang="zh-CN"/>
              <a:pPr/>
              <a:t>49</a:t>
            </a:fld>
            <a:endParaRPr lang="en-US" altLang="zh-CN"/>
          </a:p>
        </p:txBody>
      </p:sp>
      <p:sp>
        <p:nvSpPr>
          <p:cNvPr id="2886658" name="Rectangle 2"/>
          <p:cNvSpPr>
            <a:spLocks noGrp="1" noChangeArrowheads="1"/>
          </p:cNvSpPr>
          <p:nvPr>
            <p:ph type="title"/>
          </p:nvPr>
        </p:nvSpPr>
        <p:spPr>
          <a:xfrm>
            <a:off x="457200" y="115888"/>
            <a:ext cx="8229600" cy="11430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到达定义数据流方程（记号）</a:t>
            </a:r>
          </a:p>
        </p:txBody>
      </p:sp>
      <p:sp>
        <p:nvSpPr>
          <p:cNvPr id="2886659" name="Rectangle 3"/>
          <p:cNvSpPr>
            <a:spLocks noGrp="1" noChangeArrowheads="1"/>
          </p:cNvSpPr>
          <p:nvPr>
            <p:ph type="body" idx="1"/>
          </p:nvPr>
        </p:nvSpPr>
        <p:spPr>
          <a:xfrm>
            <a:off x="609600" y="1341438"/>
            <a:ext cx="8283575" cy="470535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gen[B]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：各个变量在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内定义，并能够到达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的出口点的所有定义的集合。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：各个变量的能够到达基本块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的出口点的所有定义的集合。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kill[B]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：各个变量在基本块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中重新定义，即在此块内部被注销的定义点的集合。</a:t>
            </a:r>
            <a:endParaRPr lang="zh-CN" altLang="en-US" sz="4000"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2580935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86659">
                                            <p:txEl>
                                              <p:pRg st="0" end="0"/>
                                            </p:txEl>
                                          </p:spTgt>
                                        </p:tgtEl>
                                        <p:attrNameLst>
                                          <p:attrName>style.visibility</p:attrName>
                                        </p:attrNameLst>
                                      </p:cBhvr>
                                      <p:to>
                                        <p:strVal val="visible"/>
                                      </p:to>
                                    </p:set>
                                    <p:animEffect transition="in" filter="blinds(horizontal)">
                                      <p:cBhvr>
                                        <p:cTn id="7" dur="500"/>
                                        <p:tgtEl>
                                          <p:spTgt spid="28866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86659">
                                            <p:txEl>
                                              <p:pRg st="1" end="1"/>
                                            </p:txEl>
                                          </p:spTgt>
                                        </p:tgtEl>
                                        <p:attrNameLst>
                                          <p:attrName>style.visibility</p:attrName>
                                        </p:attrNameLst>
                                      </p:cBhvr>
                                      <p:to>
                                        <p:strVal val="visible"/>
                                      </p:to>
                                    </p:set>
                                    <p:animEffect transition="in" filter="blinds(horizontal)">
                                      <p:cBhvr>
                                        <p:cTn id="12" dur="500"/>
                                        <p:tgtEl>
                                          <p:spTgt spid="28866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86659">
                                            <p:txEl>
                                              <p:pRg st="2" end="2"/>
                                            </p:txEl>
                                          </p:spTgt>
                                        </p:tgtEl>
                                        <p:attrNameLst>
                                          <p:attrName>style.visibility</p:attrName>
                                        </p:attrNameLst>
                                      </p:cBhvr>
                                      <p:to>
                                        <p:strVal val="visible"/>
                                      </p:to>
                                    </p:set>
                                    <p:animEffect transition="in" filter="blinds(horizontal)">
                                      <p:cBhvr>
                                        <p:cTn id="17" dur="500"/>
                                        <p:tgtEl>
                                          <p:spTgt spid="28866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6659"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BCC8105-0D6D-4183-B006-9936D4E3CC9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D807A2B-DA97-40D4-84B5-6AAD31DCB029}" type="slidenum">
              <a:rPr lang="en-US" altLang="zh-CN"/>
              <a:pPr/>
              <a:t>50</a:t>
            </a:fld>
            <a:endParaRPr lang="en-US" altLang="zh-CN"/>
          </a:p>
        </p:txBody>
      </p:sp>
      <p:sp>
        <p:nvSpPr>
          <p:cNvPr id="2732034"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到达定义数据流方程</a:t>
            </a:r>
          </a:p>
        </p:txBody>
      </p:sp>
      <p:sp>
        <p:nvSpPr>
          <p:cNvPr id="2732035" name="Rectangle 3"/>
          <p:cNvSpPr>
            <a:spLocks noGrp="1" noChangeArrowheads="1"/>
          </p:cNvSpPr>
          <p:nvPr>
            <p:ph type="body" idx="1"/>
          </p:nvPr>
        </p:nvSpPr>
        <p:spPr>
          <a:xfrm>
            <a:off x="827088" y="1484313"/>
            <a:ext cx="7772400" cy="4579937"/>
          </a:xfrm>
        </p:spPr>
        <p:txBody>
          <a:bodyPr/>
          <a:lstStyle/>
          <a:p>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 =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out[p] where p is in P[B]</a:t>
            </a:r>
          </a:p>
          <a:p>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out[B] = gen[B]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(in[B]-kill[B])</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其中：</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gen[B]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可以从基本块中求出：使用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图就可以得到。</a:t>
            </a:r>
          </a:p>
          <a:p>
            <a:pPr lvl="1"/>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kill[B]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中，对于整个流图中的所有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的定义点，如果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中有对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的定义，那么该定义点在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kill[B]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p>
        </p:txBody>
      </p:sp>
    </p:spTree>
    <p:extLst>
      <p:ext uri="{BB962C8B-B14F-4D97-AF65-F5344CB8AC3E}">
        <p14:creationId xmlns:p14="http://schemas.microsoft.com/office/powerpoint/2010/main" val="3736506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4A0FACB-2AE4-45BA-9FCD-B544F8CA3A4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944B5EB-6C3C-49ED-A6A9-5C9BD3A7E23B}" type="slidenum">
              <a:rPr lang="en-US" altLang="zh-CN"/>
              <a:pPr/>
              <a:t>51</a:t>
            </a:fld>
            <a:endParaRPr lang="en-US" altLang="zh-CN"/>
          </a:p>
        </p:txBody>
      </p:sp>
      <p:sp>
        <p:nvSpPr>
          <p:cNvPr id="2733058" name="Rectangle 2"/>
          <p:cNvSpPr>
            <a:spLocks noGrp="1" noChangeArrowheads="1"/>
          </p:cNvSpPr>
          <p:nvPr>
            <p:ph type="title"/>
          </p:nvPr>
        </p:nvSpPr>
        <p:spPr>
          <a:xfrm>
            <a:off x="457200" y="274638"/>
            <a:ext cx="8229600" cy="7778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方程求解算法</a:t>
            </a:r>
          </a:p>
        </p:txBody>
      </p:sp>
      <p:sp>
        <p:nvSpPr>
          <p:cNvPr id="2733059" name="Rectangle 3"/>
          <p:cNvSpPr>
            <a:spLocks noGrp="1" noChangeArrowheads="1"/>
          </p:cNvSpPr>
          <p:nvPr>
            <p:ph type="body" idx="1"/>
          </p:nvPr>
        </p:nvSpPr>
        <p:spPr>
          <a:xfrm>
            <a:off x="685800" y="1268413"/>
            <a:ext cx="7772400" cy="4968875"/>
          </a:xfrm>
        </p:spPr>
        <p:txBody>
          <a:bodyPr/>
          <a:lstStyle/>
          <a:p>
            <a:pPr>
              <a:lnSpc>
                <a:spcPct val="90000"/>
              </a:lnSpc>
            </a:pPr>
            <a:r>
              <a:rPr lang="zh-CN" altLang="en-US" sz="36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使用迭代方法。</a:t>
            </a:r>
          </a:p>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初始值设置为：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in[Bi]=</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out[B]=gen[B</a:t>
            </a:r>
            <a:r>
              <a:rPr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change = true;</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while(change)</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change = false;</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for each B do</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{in[B] =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out[p] where p is in P[B];</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out[B] = gen[B]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(in[B]-kill[B]);</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oldout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 out[B];</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if(out[B] != </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oldout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change = true;}</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34249004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686F0536-38BB-4D3B-B37E-1C827324CEB3}" type="datetime1">
              <a:rPr lang="zh-CN" altLang="en-US"/>
              <a:pPr/>
              <a:t>2017/2/24</a:t>
            </a:fld>
            <a:endParaRPr lang="en-US" altLang="zh-CN"/>
          </a:p>
        </p:txBody>
      </p:sp>
      <p:sp>
        <p:nvSpPr>
          <p:cNvPr id="20" name="灯片编号占位符 5"/>
          <p:cNvSpPr>
            <a:spLocks noGrp="1"/>
          </p:cNvSpPr>
          <p:nvPr>
            <p:ph type="sldNum" sz="quarter" idx="12"/>
          </p:nvPr>
        </p:nvSpPr>
        <p:spPr/>
        <p:txBody>
          <a:bodyPr/>
          <a:lstStyle/>
          <a:p>
            <a:fld id="{9ECC478C-E2A3-498A-8FE9-1F440352B03F}" type="slidenum">
              <a:rPr lang="en-US" altLang="zh-CN"/>
              <a:pPr/>
              <a:t>52</a:t>
            </a:fld>
            <a:endParaRPr lang="en-US" altLang="zh-CN"/>
          </a:p>
        </p:txBody>
      </p:sp>
      <p:sp>
        <p:nvSpPr>
          <p:cNvPr id="2734082" name="Rectangle 2"/>
          <p:cNvSpPr>
            <a:spLocks noGrp="1" noChangeArrowheads="1"/>
          </p:cNvSpPr>
          <p:nvPr>
            <p:ph type="title"/>
          </p:nvPr>
        </p:nvSpPr>
        <p:spPr>
          <a:xfrm>
            <a:off x="739775" y="188913"/>
            <a:ext cx="7793038" cy="95726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算法例子</a:t>
            </a:r>
          </a:p>
        </p:txBody>
      </p:sp>
      <p:sp>
        <p:nvSpPr>
          <p:cNvPr id="2734083" name="Rectangle 3"/>
          <p:cNvSpPr>
            <a:spLocks noGrp="1" noChangeArrowheads="1"/>
          </p:cNvSpPr>
          <p:nvPr>
            <p:ph type="body" idx="1"/>
          </p:nvPr>
        </p:nvSpPr>
        <p:spPr>
          <a:xfrm>
            <a:off x="5618163" y="1731963"/>
            <a:ext cx="3490912" cy="4648200"/>
          </a:xfrm>
        </p:spPr>
        <p:txBody>
          <a:bodyPr/>
          <a:lstStyle/>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gen[B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]={d1,d2,d3}</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kill[B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]={d4,d5,d6,d7}</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gen[B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]={d4,d5}</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kill[B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]={d1,d2,d7}</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gen[B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]={d6}</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kill[B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gen[B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]={d7}</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kill[B</a:t>
            </a:r>
            <a:r>
              <a:rPr kumimoji="1" lang="en-US" altLang="zh-CN" sz="24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]={d1,d4}</a:t>
            </a:r>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2734084" name="Group 4"/>
          <p:cNvGrpSpPr>
            <a:grpSpLocks/>
          </p:cNvGrpSpPr>
          <p:nvPr/>
        </p:nvGrpSpPr>
        <p:grpSpPr bwMode="auto">
          <a:xfrm>
            <a:off x="233363" y="1389063"/>
            <a:ext cx="5562600" cy="4200525"/>
            <a:chOff x="144" y="1296"/>
            <a:chExt cx="3504" cy="2646"/>
          </a:xfrm>
        </p:grpSpPr>
        <p:sp>
          <p:nvSpPr>
            <p:cNvPr id="2734085" name="Text Box 5"/>
            <p:cNvSpPr txBox="1">
              <a:spLocks noChangeArrowheads="1"/>
            </p:cNvSpPr>
            <p:nvPr/>
          </p:nvSpPr>
          <p:spPr bwMode="auto">
            <a:xfrm>
              <a:off x="1056" y="1296"/>
              <a:ext cx="2016" cy="75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d1: -	m	1	i</a:t>
              </a:r>
            </a:p>
            <a:p>
              <a:r>
                <a:rPr kumimoji="1" lang="en-US" altLang="zh-CN" b="1"/>
                <a:t>d2: =	n		j</a:t>
              </a:r>
            </a:p>
            <a:p>
              <a:r>
                <a:rPr kumimoji="1" lang="en-US" altLang="zh-CN" b="1"/>
                <a:t>d3: =	u2		a</a:t>
              </a:r>
            </a:p>
          </p:txBody>
        </p:sp>
        <p:sp>
          <p:nvSpPr>
            <p:cNvPr id="2734086" name="Text Box 6"/>
            <p:cNvSpPr txBox="1">
              <a:spLocks noChangeArrowheads="1"/>
            </p:cNvSpPr>
            <p:nvPr/>
          </p:nvSpPr>
          <p:spPr bwMode="auto">
            <a:xfrm>
              <a:off x="1104" y="2256"/>
              <a:ext cx="2016" cy="5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d4: +	i	1	i</a:t>
              </a:r>
            </a:p>
            <a:p>
              <a:r>
                <a:rPr kumimoji="1" lang="en-US" altLang="zh-CN" b="1"/>
                <a:t>d5: -	j	1	j</a:t>
              </a:r>
            </a:p>
          </p:txBody>
        </p:sp>
        <p:sp>
          <p:nvSpPr>
            <p:cNvPr id="2734087" name="Text Box 7"/>
            <p:cNvSpPr txBox="1">
              <a:spLocks noChangeArrowheads="1"/>
            </p:cNvSpPr>
            <p:nvPr/>
          </p:nvSpPr>
          <p:spPr bwMode="auto">
            <a:xfrm>
              <a:off x="144" y="3120"/>
              <a:ext cx="2016" cy="29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d6: =	u2		a</a:t>
              </a:r>
            </a:p>
          </p:txBody>
        </p:sp>
        <p:sp>
          <p:nvSpPr>
            <p:cNvPr id="2734088" name="Text Box 8"/>
            <p:cNvSpPr txBox="1">
              <a:spLocks noChangeArrowheads="1"/>
            </p:cNvSpPr>
            <p:nvPr/>
          </p:nvSpPr>
          <p:spPr bwMode="auto">
            <a:xfrm>
              <a:off x="1488" y="3648"/>
              <a:ext cx="2016" cy="29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d7: =	u3		i</a:t>
              </a:r>
            </a:p>
          </p:txBody>
        </p:sp>
        <p:sp>
          <p:nvSpPr>
            <p:cNvPr id="2734089" name="Line 9"/>
            <p:cNvSpPr>
              <a:spLocks noChangeShapeType="1"/>
            </p:cNvSpPr>
            <p:nvPr/>
          </p:nvSpPr>
          <p:spPr bwMode="auto">
            <a:xfrm>
              <a:off x="2016" y="206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34090" name="Line 10"/>
            <p:cNvSpPr>
              <a:spLocks noChangeShapeType="1"/>
            </p:cNvSpPr>
            <p:nvPr/>
          </p:nvSpPr>
          <p:spPr bwMode="auto">
            <a:xfrm flipH="1">
              <a:off x="1104" y="2784"/>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34091" name="Line 11"/>
            <p:cNvSpPr>
              <a:spLocks noChangeShapeType="1"/>
            </p:cNvSpPr>
            <p:nvPr/>
          </p:nvSpPr>
          <p:spPr bwMode="auto">
            <a:xfrm>
              <a:off x="2208" y="2784"/>
              <a:ext cx="336" cy="8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34092" name="Line 12"/>
            <p:cNvSpPr>
              <a:spLocks noChangeShapeType="1"/>
            </p:cNvSpPr>
            <p:nvPr/>
          </p:nvSpPr>
          <p:spPr bwMode="auto">
            <a:xfrm>
              <a:off x="1104" y="3408"/>
              <a:ext cx="86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34093" name="Freeform 13"/>
            <p:cNvSpPr>
              <a:spLocks/>
            </p:cNvSpPr>
            <p:nvPr/>
          </p:nvSpPr>
          <p:spPr bwMode="auto">
            <a:xfrm>
              <a:off x="3120" y="2592"/>
              <a:ext cx="528" cy="1152"/>
            </a:xfrm>
            <a:custGeom>
              <a:avLst/>
              <a:gdLst>
                <a:gd name="T0" fmla="*/ 384 w 528"/>
                <a:gd name="T1" fmla="*/ 1152 h 1152"/>
                <a:gd name="T2" fmla="*/ 528 w 528"/>
                <a:gd name="T3" fmla="*/ 1152 h 1152"/>
                <a:gd name="T4" fmla="*/ 528 w 528"/>
                <a:gd name="T5" fmla="*/ 0 h 1152"/>
                <a:gd name="T6" fmla="*/ 0 w 528"/>
                <a:gd name="T7" fmla="*/ 0 h 1152"/>
              </a:gdLst>
              <a:ahLst/>
              <a:cxnLst>
                <a:cxn ang="0">
                  <a:pos x="T0" y="T1"/>
                </a:cxn>
                <a:cxn ang="0">
                  <a:pos x="T2" y="T3"/>
                </a:cxn>
                <a:cxn ang="0">
                  <a:pos x="T4" y="T5"/>
                </a:cxn>
                <a:cxn ang="0">
                  <a:pos x="T6" y="T7"/>
                </a:cxn>
              </a:cxnLst>
              <a:rect l="0" t="0" r="r" b="b"/>
              <a:pathLst>
                <a:path w="528" h="1152">
                  <a:moveTo>
                    <a:pt x="384" y="1152"/>
                  </a:moveTo>
                  <a:lnTo>
                    <a:pt x="528" y="1152"/>
                  </a:lnTo>
                  <a:lnTo>
                    <a:pt x="528" y="0"/>
                  </a:lnTo>
                  <a:lnTo>
                    <a:pt x="0" y="0"/>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
        <p:nvSpPr>
          <p:cNvPr id="2734094" name="Text Box 14"/>
          <p:cNvSpPr txBox="1">
            <a:spLocks noChangeArrowheads="1"/>
          </p:cNvSpPr>
          <p:nvPr/>
        </p:nvSpPr>
        <p:spPr bwMode="auto">
          <a:xfrm>
            <a:off x="900113" y="1317625"/>
            <a:ext cx="609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a:t>B</a:t>
            </a:r>
            <a:r>
              <a:rPr kumimoji="1" lang="en-US" altLang="zh-CN" baseline="-25000"/>
              <a:t>1</a:t>
            </a:r>
          </a:p>
        </p:txBody>
      </p:sp>
      <p:sp>
        <p:nvSpPr>
          <p:cNvPr id="2734095" name="Text Box 15"/>
          <p:cNvSpPr txBox="1">
            <a:spLocks noChangeArrowheads="1"/>
          </p:cNvSpPr>
          <p:nvPr/>
        </p:nvSpPr>
        <p:spPr bwMode="auto">
          <a:xfrm>
            <a:off x="914400" y="2668588"/>
            <a:ext cx="609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a:t>B</a:t>
            </a:r>
            <a:r>
              <a:rPr kumimoji="1" lang="en-US" altLang="zh-CN" baseline="-25000"/>
              <a:t>2</a:t>
            </a:r>
          </a:p>
        </p:txBody>
      </p:sp>
      <p:sp>
        <p:nvSpPr>
          <p:cNvPr id="2734096" name="Text Box 16"/>
          <p:cNvSpPr txBox="1">
            <a:spLocks noChangeArrowheads="1"/>
          </p:cNvSpPr>
          <p:nvPr/>
        </p:nvSpPr>
        <p:spPr bwMode="auto">
          <a:xfrm>
            <a:off x="76200" y="3740150"/>
            <a:ext cx="609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a:t>B</a:t>
            </a:r>
            <a:r>
              <a:rPr kumimoji="1" lang="en-US" altLang="zh-CN" baseline="-25000"/>
              <a:t>3</a:t>
            </a:r>
          </a:p>
        </p:txBody>
      </p:sp>
      <p:sp>
        <p:nvSpPr>
          <p:cNvPr id="2734097" name="Text Box 17"/>
          <p:cNvSpPr txBox="1">
            <a:spLocks noChangeArrowheads="1"/>
          </p:cNvSpPr>
          <p:nvPr/>
        </p:nvSpPr>
        <p:spPr bwMode="auto">
          <a:xfrm>
            <a:off x="1441450" y="5060950"/>
            <a:ext cx="609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pPr>
            <a:r>
              <a:rPr kumimoji="1" lang="en-US" altLang="zh-CN"/>
              <a:t>B</a:t>
            </a:r>
            <a:r>
              <a:rPr kumimoji="1" lang="en-US" altLang="zh-CN" baseline="-25000"/>
              <a:t>4</a:t>
            </a:r>
          </a:p>
        </p:txBody>
      </p:sp>
    </p:spTree>
    <p:extLst>
      <p:ext uri="{BB962C8B-B14F-4D97-AF65-F5344CB8AC3E}">
        <p14:creationId xmlns:p14="http://schemas.microsoft.com/office/powerpoint/2010/main" val="11161751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C197FBD-BEAF-46EC-83F7-4E474C9588B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33F9E90-8D26-49A3-A62C-5B688FCB6C9A}" type="slidenum">
              <a:rPr lang="en-US" altLang="zh-CN"/>
              <a:pPr/>
              <a:t>53</a:t>
            </a:fld>
            <a:endParaRPr lang="en-US" altLang="zh-CN"/>
          </a:p>
        </p:txBody>
      </p:sp>
      <p:sp>
        <p:nvSpPr>
          <p:cNvPr id="2735106" name="Rectangle 2"/>
          <p:cNvSpPr>
            <a:spLocks noGrp="1" noChangeArrowheads="1"/>
          </p:cNvSpPr>
          <p:nvPr>
            <p:ph type="title"/>
          </p:nvPr>
        </p:nvSpPr>
        <p:spPr>
          <a:xfrm>
            <a:off x="2055813" y="115888"/>
            <a:ext cx="5180012" cy="638175"/>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计算过程</a:t>
            </a:r>
          </a:p>
        </p:txBody>
      </p:sp>
      <p:sp>
        <p:nvSpPr>
          <p:cNvPr id="2735107" name="Rectangle 3"/>
          <p:cNvSpPr>
            <a:spLocks noGrp="1" noChangeArrowheads="1"/>
          </p:cNvSpPr>
          <p:nvPr>
            <p:ph type="body" idx="1"/>
          </p:nvPr>
        </p:nvSpPr>
        <p:spPr>
          <a:xfrm>
            <a:off x="152400" y="819150"/>
            <a:ext cx="8686800" cy="5562600"/>
          </a:xfrm>
        </p:spPr>
        <p:txBody>
          <a:bodyPr/>
          <a:lstStyle/>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初始化：</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 =in[B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 =in[B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 = 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空</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]={d1,d2,d3}, 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]={d4,d5}</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]={d6}, 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]={d7}.</a:t>
            </a:r>
          </a:p>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第一次循环：</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={d1,d2,d3,d7};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]={d4,d5};</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]={d4,d5,d6};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]={d1,d2,d3};</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]={d3,d4,d5}…</a:t>
            </a:r>
          </a:p>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结果：</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]={d1,d2,d3};</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]={d1,d2,d3,d5,d6,d7};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]={d3,d4,d5,d6};</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]={d3,d4,d5,d6};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]={d4,d5,d6};</a:t>
            </a:r>
          </a:p>
          <a:p>
            <a:pPr lvl="1"/>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]={d3,d4,d5,d6}; </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out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]={d3,d5,d6,d7};</a:t>
            </a:r>
          </a:p>
        </p:txBody>
      </p:sp>
    </p:spTree>
    <p:extLst>
      <p:ext uri="{BB962C8B-B14F-4D97-AF65-F5344CB8AC3E}">
        <p14:creationId xmlns:p14="http://schemas.microsoft.com/office/powerpoint/2010/main" val="10731625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5107">
                                            <p:txEl>
                                              <p:pRg st="0" end="0"/>
                                            </p:txEl>
                                          </p:spTgt>
                                        </p:tgtEl>
                                        <p:attrNameLst>
                                          <p:attrName>style.visibility</p:attrName>
                                        </p:attrNameLst>
                                      </p:cBhvr>
                                      <p:to>
                                        <p:strVal val="visible"/>
                                      </p:to>
                                    </p:set>
                                    <p:animEffect transition="in" filter="blinds(horizontal)">
                                      <p:cBhvr>
                                        <p:cTn id="7" dur="500"/>
                                        <p:tgtEl>
                                          <p:spTgt spid="273510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735107">
                                            <p:txEl>
                                              <p:pRg st="1" end="1"/>
                                            </p:txEl>
                                          </p:spTgt>
                                        </p:tgtEl>
                                        <p:attrNameLst>
                                          <p:attrName>style.visibility</p:attrName>
                                        </p:attrNameLst>
                                      </p:cBhvr>
                                      <p:to>
                                        <p:strVal val="visible"/>
                                      </p:to>
                                    </p:set>
                                    <p:animEffect transition="in" filter="blinds(horizontal)">
                                      <p:cBhvr>
                                        <p:cTn id="10" dur="500"/>
                                        <p:tgtEl>
                                          <p:spTgt spid="273510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735107">
                                            <p:txEl>
                                              <p:pRg st="2" end="2"/>
                                            </p:txEl>
                                          </p:spTgt>
                                        </p:tgtEl>
                                        <p:attrNameLst>
                                          <p:attrName>style.visibility</p:attrName>
                                        </p:attrNameLst>
                                      </p:cBhvr>
                                      <p:to>
                                        <p:strVal val="visible"/>
                                      </p:to>
                                    </p:set>
                                    <p:animEffect transition="in" filter="blinds(horizontal)">
                                      <p:cBhvr>
                                        <p:cTn id="13" dur="500"/>
                                        <p:tgtEl>
                                          <p:spTgt spid="273510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735107">
                                            <p:txEl>
                                              <p:pRg st="3" end="3"/>
                                            </p:txEl>
                                          </p:spTgt>
                                        </p:tgtEl>
                                        <p:attrNameLst>
                                          <p:attrName>style.visibility</p:attrName>
                                        </p:attrNameLst>
                                      </p:cBhvr>
                                      <p:to>
                                        <p:strVal val="visible"/>
                                      </p:to>
                                    </p:set>
                                    <p:animEffect transition="in" filter="blinds(horizontal)">
                                      <p:cBhvr>
                                        <p:cTn id="16" dur="500"/>
                                        <p:tgtEl>
                                          <p:spTgt spid="2735107">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35107">
                                            <p:txEl>
                                              <p:pRg st="4" end="4"/>
                                            </p:txEl>
                                          </p:spTgt>
                                        </p:tgtEl>
                                        <p:attrNameLst>
                                          <p:attrName>style.visibility</p:attrName>
                                        </p:attrNameLst>
                                      </p:cBhvr>
                                      <p:to>
                                        <p:strVal val="visible"/>
                                      </p:to>
                                    </p:set>
                                    <p:animEffect transition="in" filter="blinds(horizontal)">
                                      <p:cBhvr>
                                        <p:cTn id="21" dur="500"/>
                                        <p:tgtEl>
                                          <p:spTgt spid="273510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735107">
                                            <p:txEl>
                                              <p:pRg st="5" end="5"/>
                                            </p:txEl>
                                          </p:spTgt>
                                        </p:tgtEl>
                                        <p:attrNameLst>
                                          <p:attrName>style.visibility</p:attrName>
                                        </p:attrNameLst>
                                      </p:cBhvr>
                                      <p:to>
                                        <p:strVal val="visible"/>
                                      </p:to>
                                    </p:set>
                                    <p:animEffect transition="in" filter="blinds(horizontal)">
                                      <p:cBhvr>
                                        <p:cTn id="24" dur="500"/>
                                        <p:tgtEl>
                                          <p:spTgt spid="2735107">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735107">
                                            <p:txEl>
                                              <p:pRg st="6" end="6"/>
                                            </p:txEl>
                                          </p:spTgt>
                                        </p:tgtEl>
                                        <p:attrNameLst>
                                          <p:attrName>style.visibility</p:attrName>
                                        </p:attrNameLst>
                                      </p:cBhvr>
                                      <p:to>
                                        <p:strVal val="visible"/>
                                      </p:to>
                                    </p:set>
                                    <p:animEffect transition="in" filter="blinds(horizontal)">
                                      <p:cBhvr>
                                        <p:cTn id="27" dur="500"/>
                                        <p:tgtEl>
                                          <p:spTgt spid="2735107">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735107">
                                            <p:txEl>
                                              <p:pRg st="7" end="7"/>
                                            </p:txEl>
                                          </p:spTgt>
                                        </p:tgtEl>
                                        <p:attrNameLst>
                                          <p:attrName>style.visibility</p:attrName>
                                        </p:attrNameLst>
                                      </p:cBhvr>
                                      <p:to>
                                        <p:strVal val="visible"/>
                                      </p:to>
                                    </p:set>
                                    <p:animEffect transition="in" filter="blinds(horizontal)">
                                      <p:cBhvr>
                                        <p:cTn id="30" dur="500"/>
                                        <p:tgtEl>
                                          <p:spTgt spid="2735107">
                                            <p:txEl>
                                              <p:pRg st="7" end="7"/>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735107">
                                            <p:txEl>
                                              <p:pRg st="8" end="8"/>
                                            </p:txEl>
                                          </p:spTgt>
                                        </p:tgtEl>
                                        <p:attrNameLst>
                                          <p:attrName>style.visibility</p:attrName>
                                        </p:attrNameLst>
                                      </p:cBhvr>
                                      <p:to>
                                        <p:strVal val="visible"/>
                                      </p:to>
                                    </p:set>
                                    <p:animEffect transition="in" filter="blinds(horizontal)">
                                      <p:cBhvr>
                                        <p:cTn id="35" dur="500"/>
                                        <p:tgtEl>
                                          <p:spTgt spid="2735107">
                                            <p:txEl>
                                              <p:pRg st="8" end="8"/>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735107">
                                            <p:txEl>
                                              <p:pRg st="9" end="9"/>
                                            </p:txEl>
                                          </p:spTgt>
                                        </p:tgtEl>
                                        <p:attrNameLst>
                                          <p:attrName>style.visibility</p:attrName>
                                        </p:attrNameLst>
                                      </p:cBhvr>
                                      <p:to>
                                        <p:strVal val="visible"/>
                                      </p:to>
                                    </p:set>
                                    <p:animEffect transition="in" filter="blinds(horizontal)">
                                      <p:cBhvr>
                                        <p:cTn id="38" dur="500"/>
                                        <p:tgtEl>
                                          <p:spTgt spid="2735107">
                                            <p:txEl>
                                              <p:pRg st="9" end="9"/>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735107">
                                            <p:txEl>
                                              <p:pRg st="10" end="10"/>
                                            </p:txEl>
                                          </p:spTgt>
                                        </p:tgtEl>
                                        <p:attrNameLst>
                                          <p:attrName>style.visibility</p:attrName>
                                        </p:attrNameLst>
                                      </p:cBhvr>
                                      <p:to>
                                        <p:strVal val="visible"/>
                                      </p:to>
                                    </p:set>
                                    <p:animEffect transition="in" filter="blinds(horizontal)">
                                      <p:cBhvr>
                                        <p:cTn id="41" dur="500"/>
                                        <p:tgtEl>
                                          <p:spTgt spid="2735107">
                                            <p:txEl>
                                              <p:pRg st="10" end="10"/>
                                            </p:txEl>
                                          </p:spTgt>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735107">
                                            <p:txEl>
                                              <p:pRg st="11" end="11"/>
                                            </p:txEl>
                                          </p:spTgt>
                                        </p:tgtEl>
                                        <p:attrNameLst>
                                          <p:attrName>style.visibility</p:attrName>
                                        </p:attrNameLst>
                                      </p:cBhvr>
                                      <p:to>
                                        <p:strVal val="visible"/>
                                      </p:to>
                                    </p:set>
                                    <p:animEffect transition="in" filter="blinds(horizontal)">
                                      <p:cBhvr>
                                        <p:cTn id="44" dur="500"/>
                                        <p:tgtEl>
                                          <p:spTgt spid="2735107">
                                            <p:txEl>
                                              <p:pRg st="11" end="11"/>
                                            </p:txEl>
                                          </p:spTgt>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2735107">
                                            <p:txEl>
                                              <p:pRg st="12" end="12"/>
                                            </p:txEl>
                                          </p:spTgt>
                                        </p:tgtEl>
                                        <p:attrNameLst>
                                          <p:attrName>style.visibility</p:attrName>
                                        </p:attrNameLst>
                                      </p:cBhvr>
                                      <p:to>
                                        <p:strVal val="visible"/>
                                      </p:to>
                                    </p:set>
                                    <p:animEffect transition="in" filter="blinds(horizontal)">
                                      <p:cBhvr>
                                        <p:cTn id="47" dur="500"/>
                                        <p:tgtEl>
                                          <p:spTgt spid="273510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5107"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15C5771-125F-48CF-92CB-AEC51A69D65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0DB6C8B-050F-489B-BFD3-D78AC20D6EA6}" type="slidenum">
              <a:rPr lang="en-US" altLang="zh-CN"/>
              <a:pPr/>
              <a:t>54</a:t>
            </a:fld>
            <a:endParaRPr lang="en-US" altLang="zh-CN"/>
          </a:p>
        </p:txBody>
      </p:sp>
      <p:sp>
        <p:nvSpPr>
          <p:cNvPr id="2736130"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活跃变量分析</a:t>
            </a:r>
          </a:p>
        </p:txBody>
      </p:sp>
      <p:sp>
        <p:nvSpPr>
          <p:cNvPr id="2736131" name="Rectangle 3"/>
          <p:cNvSpPr>
            <a:spLocks noGrp="1" noChangeArrowheads="1"/>
          </p:cNvSpPr>
          <p:nvPr>
            <p:ph type="body" idx="1"/>
          </p:nvPr>
        </p:nvSpPr>
        <p:spPr>
          <a:xfrm>
            <a:off x="228600" y="1125538"/>
            <a:ext cx="8763000" cy="4824412"/>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对于变量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，在流图中沿从</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开始的某条路径，是否可以引用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点的值。如果可以则称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点是活跃的，否则，</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点就是无用的。</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活跃变量信息在目标代码生成时具有重要的作用。当我们在寄存器中计算一个值之后，通常假设在某个块中还要引用它，如果它在该块的末尾是无用的，则不需要存储该值。</a:t>
            </a:r>
          </a:p>
          <a:p>
            <a:r>
              <a:rPr lang="zh-CN" altLang="en-US" sz="2800" b="1" dirty="0">
                <a:solidFill>
                  <a:srgbClr val="0000FF"/>
                </a:solidFill>
                <a:latin typeface="Times New Roman" panose="02020603050405020304" pitchFamily="18" charset="0"/>
                <a:ea typeface="华文新魏" panose="02010800040101010101" pitchFamily="2" charset="-122"/>
                <a:cs typeface="Times New Roman" panose="02020603050405020304" pitchFamily="18" charset="0"/>
              </a:rPr>
              <a:t>消除复制四元式的依据也是对活跃变量的分析。</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如果某个变量的值在以后不被引用，那么该复制四元式可以被消除。</a:t>
            </a:r>
          </a:p>
        </p:txBody>
      </p:sp>
    </p:spTree>
    <p:extLst>
      <p:ext uri="{BB962C8B-B14F-4D97-AF65-F5344CB8AC3E}">
        <p14:creationId xmlns:p14="http://schemas.microsoft.com/office/powerpoint/2010/main" val="11560531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6131">
                                            <p:txEl>
                                              <p:pRg st="0" end="0"/>
                                            </p:txEl>
                                          </p:spTgt>
                                        </p:tgtEl>
                                        <p:attrNameLst>
                                          <p:attrName>style.visibility</p:attrName>
                                        </p:attrNameLst>
                                      </p:cBhvr>
                                      <p:to>
                                        <p:strVal val="visible"/>
                                      </p:to>
                                    </p:set>
                                    <p:animEffect transition="in" filter="blinds(horizontal)">
                                      <p:cBhvr>
                                        <p:cTn id="7" dur="500"/>
                                        <p:tgtEl>
                                          <p:spTgt spid="2736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36131">
                                            <p:txEl>
                                              <p:pRg st="1" end="1"/>
                                            </p:txEl>
                                          </p:spTgt>
                                        </p:tgtEl>
                                        <p:attrNameLst>
                                          <p:attrName>style.visibility</p:attrName>
                                        </p:attrNameLst>
                                      </p:cBhvr>
                                      <p:to>
                                        <p:strVal val="visible"/>
                                      </p:to>
                                    </p:set>
                                    <p:animEffect transition="in" filter="blinds(horizontal)">
                                      <p:cBhvr>
                                        <p:cTn id="12" dur="500"/>
                                        <p:tgtEl>
                                          <p:spTgt spid="27361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36131">
                                            <p:txEl>
                                              <p:pRg st="2" end="2"/>
                                            </p:txEl>
                                          </p:spTgt>
                                        </p:tgtEl>
                                        <p:attrNameLst>
                                          <p:attrName>style.visibility</p:attrName>
                                        </p:attrNameLst>
                                      </p:cBhvr>
                                      <p:to>
                                        <p:strVal val="visible"/>
                                      </p:to>
                                    </p:set>
                                    <p:animEffect transition="in" filter="blinds(horizontal)">
                                      <p:cBhvr>
                                        <p:cTn id="17" dur="500"/>
                                        <p:tgtEl>
                                          <p:spTgt spid="2736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6131"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0BF40C7-1BB5-44B1-8E6D-3C8628A71AE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A5C0FD9-1E1C-480F-B152-BD81D1E5C536}" type="slidenum">
              <a:rPr lang="en-US" altLang="zh-CN"/>
              <a:pPr/>
              <a:t>55</a:t>
            </a:fld>
            <a:endParaRPr lang="en-US" altLang="zh-CN"/>
          </a:p>
        </p:txBody>
      </p:sp>
      <p:sp>
        <p:nvSpPr>
          <p:cNvPr id="2737154" name="Rectangle 2"/>
          <p:cNvSpPr>
            <a:spLocks noGrp="1" noChangeArrowheads="1"/>
          </p:cNvSpPr>
          <p:nvPr>
            <p:ph type="title"/>
          </p:nvPr>
        </p:nvSpPr>
        <p:spPr>
          <a:xfrm>
            <a:off x="468313" y="188913"/>
            <a:ext cx="8229600" cy="79216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记号</a:t>
            </a:r>
          </a:p>
        </p:txBody>
      </p:sp>
      <p:sp>
        <p:nvSpPr>
          <p:cNvPr id="2737155" name="Rectangle 3"/>
          <p:cNvSpPr>
            <a:spLocks noGrp="1" noChangeArrowheads="1"/>
          </p:cNvSpPr>
          <p:nvPr>
            <p:ph type="body" idx="1"/>
          </p:nvPr>
        </p:nvSpPr>
        <p:spPr>
          <a:xfrm>
            <a:off x="250825" y="1268413"/>
            <a:ext cx="8785225" cy="475297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的入口点的活跃变量集合。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是在基本块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的出口点的活跃变量集。</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是在基本块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内的定义，但是定义前在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中没有被引用的变量的集合。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表示在基本块中引用，但是引用前在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中没有被定义的变量集合。</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是可以从基本块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中直接求得的量，因此在方程中作为已知量。</a:t>
            </a:r>
            <a:endParaRPr lang="zh-CN" altLang="en-US" sz="3600"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3413340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7155">
                                            <p:txEl>
                                              <p:pRg st="0" end="0"/>
                                            </p:txEl>
                                          </p:spTgt>
                                        </p:tgtEl>
                                        <p:attrNameLst>
                                          <p:attrName>style.visibility</p:attrName>
                                        </p:attrNameLst>
                                      </p:cBhvr>
                                      <p:to>
                                        <p:strVal val="visible"/>
                                      </p:to>
                                    </p:set>
                                    <p:animEffect transition="in" filter="blinds(horizontal)">
                                      <p:cBhvr>
                                        <p:cTn id="7" dur="500"/>
                                        <p:tgtEl>
                                          <p:spTgt spid="2737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37155">
                                            <p:txEl>
                                              <p:pRg st="1" end="1"/>
                                            </p:txEl>
                                          </p:spTgt>
                                        </p:tgtEl>
                                        <p:attrNameLst>
                                          <p:attrName>style.visibility</p:attrName>
                                        </p:attrNameLst>
                                      </p:cBhvr>
                                      <p:to>
                                        <p:strVal val="visible"/>
                                      </p:to>
                                    </p:set>
                                    <p:animEffect transition="in" filter="blinds(horizontal)">
                                      <p:cBhvr>
                                        <p:cTn id="12" dur="500"/>
                                        <p:tgtEl>
                                          <p:spTgt spid="2737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37155">
                                            <p:txEl>
                                              <p:pRg st="2" end="2"/>
                                            </p:txEl>
                                          </p:spTgt>
                                        </p:tgtEl>
                                        <p:attrNameLst>
                                          <p:attrName>style.visibility</p:attrName>
                                        </p:attrNameLst>
                                      </p:cBhvr>
                                      <p:to>
                                        <p:strVal val="visible"/>
                                      </p:to>
                                    </p:set>
                                    <p:animEffect transition="in" filter="blinds(horizontal)">
                                      <p:cBhvr>
                                        <p:cTn id="17" dur="500"/>
                                        <p:tgtEl>
                                          <p:spTgt spid="27371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37155">
                                            <p:txEl>
                                              <p:pRg st="3" end="3"/>
                                            </p:txEl>
                                          </p:spTgt>
                                        </p:tgtEl>
                                        <p:attrNameLst>
                                          <p:attrName>style.visibility</p:attrName>
                                        </p:attrNameLst>
                                      </p:cBhvr>
                                      <p:to>
                                        <p:strVal val="visible"/>
                                      </p:to>
                                    </p:set>
                                    <p:animEffect transition="in" filter="blinds(horizontal)">
                                      <p:cBhvr>
                                        <p:cTn id="22" dur="500"/>
                                        <p:tgtEl>
                                          <p:spTgt spid="27371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37155">
                                            <p:txEl>
                                              <p:pRg st="4" end="4"/>
                                            </p:txEl>
                                          </p:spTgt>
                                        </p:tgtEl>
                                        <p:attrNameLst>
                                          <p:attrName>style.visibility</p:attrName>
                                        </p:attrNameLst>
                                      </p:cBhvr>
                                      <p:to>
                                        <p:strVal val="visible"/>
                                      </p:to>
                                    </p:set>
                                    <p:animEffect transition="in" filter="blinds(horizontal)">
                                      <p:cBhvr>
                                        <p:cTn id="27" dur="500"/>
                                        <p:tgtEl>
                                          <p:spTgt spid="27371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7155"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2BA07ED-0A3C-4DA4-83D5-326C1E85B72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A3E0F15-85F3-497B-ABF7-0DFDA2D06545}" type="slidenum">
              <a:rPr lang="en-US" altLang="zh-CN"/>
              <a:pPr/>
              <a:t>56</a:t>
            </a:fld>
            <a:endParaRPr lang="en-US" altLang="zh-CN"/>
          </a:p>
        </p:txBody>
      </p:sp>
      <p:sp>
        <p:nvSpPr>
          <p:cNvPr id="2738178"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活跃变量数据流方程</a:t>
            </a:r>
          </a:p>
        </p:txBody>
      </p:sp>
      <p:sp>
        <p:nvSpPr>
          <p:cNvPr id="2738179" name="Rectangle 3"/>
          <p:cNvSpPr>
            <a:spLocks noGrp="1" noChangeArrowheads="1"/>
          </p:cNvSpPr>
          <p:nvPr>
            <p:ph type="body" idx="1"/>
          </p:nvPr>
        </p:nvSpPr>
        <p:spPr>
          <a:xfrm>
            <a:off x="304800" y="1341438"/>
            <a:ext cx="8686800" cy="4864100"/>
          </a:xfrm>
        </p:spPr>
        <p:txBody>
          <a:bodyPr/>
          <a:lstStyle/>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in[B] = use[B]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p>
          <a:p>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out[B] =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in[S]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的所有后继。</a:t>
            </a:r>
          </a:p>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变量在某点活跃，表示变量在该点的值在以后会被使用。</a:t>
            </a:r>
          </a:p>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第一个方程表示：</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一个变量在进入块</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时是活跃的，如果它在该块中于定义前被引用</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一个变量在离开块</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时是活跃的，而且在该块中没有被重新定义。 </a:t>
            </a:r>
          </a:p>
          <a:p>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第二个方程表示：</a:t>
            </a:r>
          </a:p>
          <a:p>
            <a:pPr lvl="1"/>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一个变量在离开块</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时是活跃的，当且仅当它在进入该块的某个后继时是活跃的。 </a:t>
            </a:r>
          </a:p>
        </p:txBody>
      </p:sp>
    </p:spTree>
    <p:extLst>
      <p:ext uri="{BB962C8B-B14F-4D97-AF65-F5344CB8AC3E}">
        <p14:creationId xmlns:p14="http://schemas.microsoft.com/office/powerpoint/2010/main" val="9090425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8179">
                                            <p:txEl>
                                              <p:pRg st="0" end="0"/>
                                            </p:txEl>
                                          </p:spTgt>
                                        </p:tgtEl>
                                        <p:attrNameLst>
                                          <p:attrName>style.visibility</p:attrName>
                                        </p:attrNameLst>
                                      </p:cBhvr>
                                      <p:to>
                                        <p:strVal val="visible"/>
                                      </p:to>
                                    </p:set>
                                    <p:animEffect transition="in" filter="blinds(horizontal)">
                                      <p:cBhvr>
                                        <p:cTn id="7" dur="500"/>
                                        <p:tgtEl>
                                          <p:spTgt spid="27381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38179">
                                            <p:txEl>
                                              <p:pRg st="1" end="1"/>
                                            </p:txEl>
                                          </p:spTgt>
                                        </p:tgtEl>
                                        <p:attrNameLst>
                                          <p:attrName>style.visibility</p:attrName>
                                        </p:attrNameLst>
                                      </p:cBhvr>
                                      <p:to>
                                        <p:strVal val="visible"/>
                                      </p:to>
                                    </p:set>
                                    <p:animEffect transition="in" filter="blinds(horizontal)">
                                      <p:cBhvr>
                                        <p:cTn id="12" dur="500"/>
                                        <p:tgtEl>
                                          <p:spTgt spid="27381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38179">
                                            <p:txEl>
                                              <p:pRg st="2" end="2"/>
                                            </p:txEl>
                                          </p:spTgt>
                                        </p:tgtEl>
                                        <p:attrNameLst>
                                          <p:attrName>style.visibility</p:attrName>
                                        </p:attrNameLst>
                                      </p:cBhvr>
                                      <p:to>
                                        <p:strVal val="visible"/>
                                      </p:to>
                                    </p:set>
                                    <p:animEffect transition="in" filter="blinds(horizontal)">
                                      <p:cBhvr>
                                        <p:cTn id="17" dur="500"/>
                                        <p:tgtEl>
                                          <p:spTgt spid="27381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38179">
                                            <p:txEl>
                                              <p:pRg st="3" end="3"/>
                                            </p:txEl>
                                          </p:spTgt>
                                        </p:tgtEl>
                                        <p:attrNameLst>
                                          <p:attrName>style.visibility</p:attrName>
                                        </p:attrNameLst>
                                      </p:cBhvr>
                                      <p:to>
                                        <p:strVal val="visible"/>
                                      </p:to>
                                    </p:set>
                                    <p:animEffect transition="in" filter="blinds(horizontal)">
                                      <p:cBhvr>
                                        <p:cTn id="22" dur="500"/>
                                        <p:tgtEl>
                                          <p:spTgt spid="2738179">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738179">
                                            <p:txEl>
                                              <p:pRg st="4" end="4"/>
                                            </p:txEl>
                                          </p:spTgt>
                                        </p:tgtEl>
                                        <p:attrNameLst>
                                          <p:attrName>style.visibility</p:attrName>
                                        </p:attrNameLst>
                                      </p:cBhvr>
                                      <p:to>
                                        <p:strVal val="visible"/>
                                      </p:to>
                                    </p:set>
                                    <p:animEffect transition="in" filter="blinds(horizontal)">
                                      <p:cBhvr>
                                        <p:cTn id="25" dur="500"/>
                                        <p:tgtEl>
                                          <p:spTgt spid="2738179">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738179">
                                            <p:txEl>
                                              <p:pRg st="5" end="5"/>
                                            </p:txEl>
                                          </p:spTgt>
                                        </p:tgtEl>
                                        <p:attrNameLst>
                                          <p:attrName>style.visibility</p:attrName>
                                        </p:attrNameLst>
                                      </p:cBhvr>
                                      <p:to>
                                        <p:strVal val="visible"/>
                                      </p:to>
                                    </p:set>
                                    <p:animEffect transition="in" filter="blinds(horizontal)">
                                      <p:cBhvr>
                                        <p:cTn id="28" dur="500"/>
                                        <p:tgtEl>
                                          <p:spTgt spid="2738179">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738179">
                                            <p:txEl>
                                              <p:pRg st="6" end="6"/>
                                            </p:txEl>
                                          </p:spTgt>
                                        </p:tgtEl>
                                        <p:attrNameLst>
                                          <p:attrName>style.visibility</p:attrName>
                                        </p:attrNameLst>
                                      </p:cBhvr>
                                      <p:to>
                                        <p:strVal val="visible"/>
                                      </p:to>
                                    </p:set>
                                    <p:animEffect transition="in" filter="blinds(horizontal)">
                                      <p:cBhvr>
                                        <p:cTn id="33" dur="500"/>
                                        <p:tgtEl>
                                          <p:spTgt spid="2738179">
                                            <p:txEl>
                                              <p:pRg st="6" end="6"/>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738179">
                                            <p:txEl>
                                              <p:pRg st="7" end="7"/>
                                            </p:txEl>
                                          </p:spTgt>
                                        </p:tgtEl>
                                        <p:attrNameLst>
                                          <p:attrName>style.visibility</p:attrName>
                                        </p:attrNameLst>
                                      </p:cBhvr>
                                      <p:to>
                                        <p:strVal val="visible"/>
                                      </p:to>
                                    </p:set>
                                    <p:animEffect transition="in" filter="blinds(horizontal)">
                                      <p:cBhvr>
                                        <p:cTn id="36" dur="500"/>
                                        <p:tgtEl>
                                          <p:spTgt spid="27381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8179"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B07056C-CB32-4C35-BC7C-98BCDA989AA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778FDAC-4BFB-469D-92DF-5EC76EE57641}" type="slidenum">
              <a:rPr lang="en-US" altLang="zh-CN"/>
              <a:pPr/>
              <a:t>57</a:t>
            </a:fld>
            <a:endParaRPr lang="en-US" altLang="zh-CN"/>
          </a:p>
        </p:txBody>
      </p:sp>
      <p:sp>
        <p:nvSpPr>
          <p:cNvPr id="2739202"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活跃变量数据流方程求解</a:t>
            </a:r>
          </a:p>
        </p:txBody>
      </p:sp>
      <p:sp>
        <p:nvSpPr>
          <p:cNvPr id="2739203" name="Rectangle 3"/>
          <p:cNvSpPr>
            <a:spLocks noGrp="1" noChangeArrowheads="1"/>
          </p:cNvSpPr>
          <p:nvPr>
            <p:ph type="body" idx="1"/>
          </p:nvPr>
        </p:nvSpPr>
        <p:spPr>
          <a:xfrm>
            <a:off x="201613" y="1557338"/>
            <a:ext cx="8763000" cy="4133850"/>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设置初值：</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重复执行以下步骤直到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不再改变：</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for(</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&lt;n;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lvl="1">
              <a:buFontTx/>
              <a:buNone/>
            </a:pP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p>
          <a:p>
            <a:pPr lvl="2">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in[s]; 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的后继；</a:t>
            </a:r>
          </a:p>
          <a:p>
            <a:pPr lvl="2">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]=use[B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(out[B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0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p>
          <a:p>
            <a:pPr lvl="1">
              <a:buFontTx/>
              <a:buNone/>
            </a:pP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60280894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日期占位符 3"/>
          <p:cNvSpPr>
            <a:spLocks noGrp="1"/>
          </p:cNvSpPr>
          <p:nvPr>
            <p:ph type="dt" sz="half" idx="10"/>
          </p:nvPr>
        </p:nvSpPr>
        <p:spPr/>
        <p:txBody>
          <a:bodyPr/>
          <a:lstStyle/>
          <a:p>
            <a:fld id="{16D6CB7A-895B-447A-AB82-213958386202}" type="datetime1">
              <a:rPr lang="zh-CN" altLang="en-US"/>
              <a:pPr/>
              <a:t>2017/2/24</a:t>
            </a:fld>
            <a:endParaRPr lang="en-US" altLang="zh-CN"/>
          </a:p>
        </p:txBody>
      </p:sp>
      <p:sp>
        <p:nvSpPr>
          <p:cNvPr id="16" name="灯片编号占位符 5"/>
          <p:cNvSpPr>
            <a:spLocks noGrp="1"/>
          </p:cNvSpPr>
          <p:nvPr>
            <p:ph type="sldNum" sz="quarter" idx="12"/>
          </p:nvPr>
        </p:nvSpPr>
        <p:spPr/>
        <p:txBody>
          <a:bodyPr/>
          <a:lstStyle/>
          <a:p>
            <a:fld id="{A0C4C217-57AC-4F6C-8032-E1F8D7D7AE4C}" type="slidenum">
              <a:rPr lang="en-US" altLang="zh-CN"/>
              <a:pPr/>
              <a:t>58</a:t>
            </a:fld>
            <a:endParaRPr lang="en-US" altLang="zh-CN"/>
          </a:p>
        </p:txBody>
      </p:sp>
      <p:sp>
        <p:nvSpPr>
          <p:cNvPr id="2740226" name="Rectangle 2"/>
          <p:cNvSpPr>
            <a:spLocks noGrp="1" noChangeArrowheads="1"/>
          </p:cNvSpPr>
          <p:nvPr>
            <p:ph type="title"/>
          </p:nvPr>
        </p:nvSpPr>
        <p:spPr>
          <a:xfrm>
            <a:off x="831850" y="115888"/>
            <a:ext cx="7772400" cy="11430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活跃变量数据流方程例子</a:t>
            </a:r>
          </a:p>
        </p:txBody>
      </p:sp>
      <p:sp>
        <p:nvSpPr>
          <p:cNvPr id="2740227" name="Rectangle 3"/>
          <p:cNvSpPr>
            <a:spLocks noGrp="1" noChangeArrowheads="1"/>
          </p:cNvSpPr>
          <p:nvPr>
            <p:ph type="body" idx="1"/>
          </p:nvPr>
        </p:nvSpPr>
        <p:spPr>
          <a:xfrm>
            <a:off x="5722938" y="1374775"/>
            <a:ext cx="3313112" cy="4214813"/>
          </a:xfrm>
        </p:spPr>
        <p:txBody>
          <a:bodyPr/>
          <a:lstStyle/>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i,j,a</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m,n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u1}</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i,j</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]={u2}</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def</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use[B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]={u3}</a:t>
            </a:r>
          </a:p>
        </p:txBody>
      </p:sp>
      <p:grpSp>
        <p:nvGrpSpPr>
          <p:cNvPr id="2740228" name="Group 4"/>
          <p:cNvGrpSpPr>
            <a:grpSpLocks/>
          </p:cNvGrpSpPr>
          <p:nvPr/>
        </p:nvGrpSpPr>
        <p:grpSpPr bwMode="auto">
          <a:xfrm>
            <a:off x="0" y="1527175"/>
            <a:ext cx="5562600" cy="4200525"/>
            <a:chOff x="144" y="1296"/>
            <a:chExt cx="3504" cy="2646"/>
          </a:xfrm>
        </p:grpSpPr>
        <p:sp>
          <p:nvSpPr>
            <p:cNvPr id="2740229" name="Text Box 5"/>
            <p:cNvSpPr txBox="1">
              <a:spLocks noChangeArrowheads="1"/>
            </p:cNvSpPr>
            <p:nvPr/>
          </p:nvSpPr>
          <p:spPr bwMode="auto">
            <a:xfrm>
              <a:off x="1056" y="1296"/>
              <a:ext cx="2016" cy="75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d1: -	m	1	i</a:t>
              </a:r>
            </a:p>
            <a:p>
              <a:r>
                <a:rPr kumimoji="1" lang="en-US" altLang="zh-CN" b="1"/>
                <a:t>d2: =	n		j</a:t>
              </a:r>
            </a:p>
            <a:p>
              <a:r>
                <a:rPr kumimoji="1" lang="en-US" altLang="zh-CN" b="1"/>
                <a:t>d3: =	u2		a</a:t>
              </a:r>
            </a:p>
          </p:txBody>
        </p:sp>
        <p:sp>
          <p:nvSpPr>
            <p:cNvPr id="2740230" name="Text Box 6"/>
            <p:cNvSpPr txBox="1">
              <a:spLocks noChangeArrowheads="1"/>
            </p:cNvSpPr>
            <p:nvPr/>
          </p:nvSpPr>
          <p:spPr bwMode="auto">
            <a:xfrm>
              <a:off x="1104" y="2256"/>
              <a:ext cx="2016" cy="5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d4: +	i	1	i</a:t>
              </a:r>
            </a:p>
            <a:p>
              <a:r>
                <a:rPr kumimoji="1" lang="en-US" altLang="zh-CN" b="1"/>
                <a:t>d5: -	j	1	j</a:t>
              </a:r>
            </a:p>
          </p:txBody>
        </p:sp>
        <p:sp>
          <p:nvSpPr>
            <p:cNvPr id="2740231" name="Text Box 7"/>
            <p:cNvSpPr txBox="1">
              <a:spLocks noChangeArrowheads="1"/>
            </p:cNvSpPr>
            <p:nvPr/>
          </p:nvSpPr>
          <p:spPr bwMode="auto">
            <a:xfrm>
              <a:off x="144" y="3120"/>
              <a:ext cx="2016" cy="29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d6: =	u2		a</a:t>
              </a:r>
            </a:p>
          </p:txBody>
        </p:sp>
        <p:sp>
          <p:nvSpPr>
            <p:cNvPr id="2740232" name="Text Box 8"/>
            <p:cNvSpPr txBox="1">
              <a:spLocks noChangeArrowheads="1"/>
            </p:cNvSpPr>
            <p:nvPr/>
          </p:nvSpPr>
          <p:spPr bwMode="auto">
            <a:xfrm>
              <a:off x="1488" y="3648"/>
              <a:ext cx="2016" cy="29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a:spAutoFit/>
            </a:bodyPr>
            <a:lstStyle/>
            <a:p>
              <a:r>
                <a:rPr kumimoji="1" lang="en-US" altLang="zh-CN" b="1"/>
                <a:t>d7: =	u3		i</a:t>
              </a:r>
            </a:p>
          </p:txBody>
        </p:sp>
        <p:sp>
          <p:nvSpPr>
            <p:cNvPr id="2740233" name="Line 9"/>
            <p:cNvSpPr>
              <a:spLocks noChangeShapeType="1"/>
            </p:cNvSpPr>
            <p:nvPr/>
          </p:nvSpPr>
          <p:spPr bwMode="auto">
            <a:xfrm>
              <a:off x="2016" y="2064"/>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40234" name="Line 10"/>
            <p:cNvSpPr>
              <a:spLocks noChangeShapeType="1"/>
            </p:cNvSpPr>
            <p:nvPr/>
          </p:nvSpPr>
          <p:spPr bwMode="auto">
            <a:xfrm flipH="1">
              <a:off x="1104" y="2784"/>
              <a:ext cx="576"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40235" name="Line 11"/>
            <p:cNvSpPr>
              <a:spLocks noChangeShapeType="1"/>
            </p:cNvSpPr>
            <p:nvPr/>
          </p:nvSpPr>
          <p:spPr bwMode="auto">
            <a:xfrm>
              <a:off x="2208" y="2784"/>
              <a:ext cx="336" cy="8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40236" name="Line 12"/>
            <p:cNvSpPr>
              <a:spLocks noChangeShapeType="1"/>
            </p:cNvSpPr>
            <p:nvPr/>
          </p:nvSpPr>
          <p:spPr bwMode="auto">
            <a:xfrm>
              <a:off x="1104" y="3408"/>
              <a:ext cx="86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40237" name="Freeform 13"/>
            <p:cNvSpPr>
              <a:spLocks/>
            </p:cNvSpPr>
            <p:nvPr/>
          </p:nvSpPr>
          <p:spPr bwMode="auto">
            <a:xfrm>
              <a:off x="3120" y="2592"/>
              <a:ext cx="528" cy="1152"/>
            </a:xfrm>
            <a:custGeom>
              <a:avLst/>
              <a:gdLst>
                <a:gd name="T0" fmla="*/ 384 w 528"/>
                <a:gd name="T1" fmla="*/ 1152 h 1152"/>
                <a:gd name="T2" fmla="*/ 528 w 528"/>
                <a:gd name="T3" fmla="*/ 1152 h 1152"/>
                <a:gd name="T4" fmla="*/ 528 w 528"/>
                <a:gd name="T5" fmla="*/ 0 h 1152"/>
                <a:gd name="T6" fmla="*/ 0 w 528"/>
                <a:gd name="T7" fmla="*/ 0 h 1152"/>
              </a:gdLst>
              <a:ahLst/>
              <a:cxnLst>
                <a:cxn ang="0">
                  <a:pos x="T0" y="T1"/>
                </a:cxn>
                <a:cxn ang="0">
                  <a:pos x="T2" y="T3"/>
                </a:cxn>
                <a:cxn ang="0">
                  <a:pos x="T4" y="T5"/>
                </a:cxn>
                <a:cxn ang="0">
                  <a:pos x="T6" y="T7"/>
                </a:cxn>
              </a:cxnLst>
              <a:rect l="0" t="0" r="r" b="b"/>
              <a:pathLst>
                <a:path w="528" h="1152">
                  <a:moveTo>
                    <a:pt x="384" y="1152"/>
                  </a:moveTo>
                  <a:lnTo>
                    <a:pt x="528" y="1152"/>
                  </a:lnTo>
                  <a:lnTo>
                    <a:pt x="528" y="0"/>
                  </a:lnTo>
                  <a:lnTo>
                    <a:pt x="0" y="0"/>
                  </a:lnTo>
                </a:path>
              </a:pathLst>
            </a:custGeom>
            <a:noFill/>
            <a:ln w="9525">
              <a:solidFill>
                <a:schemeClr val="tx1"/>
              </a:solidFill>
              <a:round/>
              <a:headEnd/>
              <a:tailEnd type="triangle" w="med" len="med"/>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spTree>
    <p:extLst>
      <p:ext uri="{BB962C8B-B14F-4D97-AF65-F5344CB8AC3E}">
        <p14:creationId xmlns:p14="http://schemas.microsoft.com/office/powerpoint/2010/main" val="28068828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81201A0-F50C-4DE0-97A6-B80519804F1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3284D6B-0A8C-49F3-9B42-1C582721FD24}" type="slidenum">
              <a:rPr lang="en-US" altLang="zh-CN"/>
              <a:pPr/>
              <a:t>59</a:t>
            </a:fld>
            <a:endParaRPr lang="en-US" altLang="zh-CN"/>
          </a:p>
        </p:txBody>
      </p:sp>
      <p:sp>
        <p:nvSpPr>
          <p:cNvPr id="2741250" name="Rectangle 2"/>
          <p:cNvSpPr>
            <a:spLocks noGrp="1" noChangeArrowheads="1"/>
          </p:cNvSpPr>
          <p:nvPr>
            <p:ph type="title"/>
          </p:nvPr>
        </p:nvSpPr>
        <p:spPr>
          <a:xfrm>
            <a:off x="573088" y="115888"/>
            <a:ext cx="4637087" cy="655637"/>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迭代过程</a:t>
            </a:r>
          </a:p>
        </p:txBody>
      </p:sp>
      <p:sp>
        <p:nvSpPr>
          <p:cNvPr id="2741251" name="Rectangle 3"/>
          <p:cNvSpPr>
            <a:spLocks noGrp="1" noChangeArrowheads="1"/>
          </p:cNvSpPr>
          <p:nvPr>
            <p:ph type="body" idx="1"/>
          </p:nvPr>
        </p:nvSpPr>
        <p:spPr>
          <a:xfrm>
            <a:off x="304800" y="981075"/>
            <a:ext cx="8534400" cy="5294313"/>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第一次循环：</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]={m,n,u1}</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	</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i,j</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i,j</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 in[B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]={j,u2,u3}</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第二次循环：</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	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]={m,n,u1,u2,u3}</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	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	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3</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a:t>
            </a:r>
          </a:p>
          <a:p>
            <a:pPr lvl="1">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]={i,j,u2,u3} 	in [B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4</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]={j,u2,u3}</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第三次循环各个值不再改变，完成求解。</a:t>
            </a:r>
          </a:p>
        </p:txBody>
      </p:sp>
    </p:spTree>
    <p:extLst>
      <p:ext uri="{BB962C8B-B14F-4D97-AF65-F5344CB8AC3E}">
        <p14:creationId xmlns:p14="http://schemas.microsoft.com/office/powerpoint/2010/main" val="348238147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1990F5B-600B-49BC-A413-315AF424C8C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84A7B7FF-A0D4-42A6-AEFB-1D131542BC8A}" type="slidenum">
              <a:rPr lang="en-US" altLang="zh-CN"/>
              <a:pPr/>
              <a:t>60</a:t>
            </a:fld>
            <a:endParaRPr lang="en-US" altLang="zh-CN"/>
          </a:p>
        </p:txBody>
      </p:sp>
      <p:sp>
        <p:nvSpPr>
          <p:cNvPr id="2742274" name="Rectangle 2"/>
          <p:cNvSpPr>
            <a:spLocks noGrp="1" noChangeArrowheads="1"/>
          </p:cNvSpPr>
          <p:nvPr>
            <p:ph type="title"/>
          </p:nvPr>
        </p:nvSpPr>
        <p:spPr>
          <a:xfrm>
            <a:off x="457200" y="188913"/>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10.3.3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活跃变量分析</a:t>
            </a:r>
          </a:p>
        </p:txBody>
      </p:sp>
      <p:sp>
        <p:nvSpPr>
          <p:cNvPr id="2742275" name="Rectangle 3"/>
          <p:cNvSpPr>
            <a:spLocks noGrp="1" noChangeArrowheads="1"/>
          </p:cNvSpPr>
          <p:nvPr>
            <p:ph type="body" idx="1"/>
          </p:nvPr>
        </p:nvSpPr>
        <p:spPr>
          <a:xfrm>
            <a:off x="228600" y="1125538"/>
            <a:ext cx="8763000" cy="482441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引用链 </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引用链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简称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是一种和活跃变量分析方式相同的数据流信息。定义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引用链的计算与引用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定义链的计算正好相反，它是从变量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的某个定义点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出发，计算该定义可以到达的所有引用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的集合，所谓可以到达是指从</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有一条没有重新定义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的路径。</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在代码优化过程中，无用代码删除、强度削弱、循环中的代码外提以及目标代码生成过程中的寄存器分配都要用到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链信息。 </a:t>
            </a:r>
          </a:p>
        </p:txBody>
      </p:sp>
    </p:spTree>
    <p:extLst>
      <p:ext uri="{BB962C8B-B14F-4D97-AF65-F5344CB8AC3E}">
        <p14:creationId xmlns:p14="http://schemas.microsoft.com/office/powerpoint/2010/main" val="34639785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974B393-DC2F-4549-819B-DD9E9F57386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42091EF-E363-4D6E-8BF4-708E4BA7FA70}" type="slidenum">
              <a:rPr lang="en-US" altLang="zh-CN"/>
              <a:pPr/>
              <a:t>61</a:t>
            </a:fld>
            <a:endParaRPr lang="en-US" altLang="zh-CN"/>
          </a:p>
        </p:txBody>
      </p:sp>
      <p:sp>
        <p:nvSpPr>
          <p:cNvPr id="2743298" name="Rectangle 2"/>
          <p:cNvSpPr>
            <a:spLocks noGrp="1" noChangeArrowheads="1"/>
          </p:cNvSpPr>
          <p:nvPr>
            <p:ph type="title"/>
          </p:nvPr>
        </p:nvSpPr>
        <p:spPr>
          <a:xfrm>
            <a:off x="684213" y="166688"/>
            <a:ext cx="7793037" cy="95885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10.3.4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可用表达式分析</a:t>
            </a:r>
          </a:p>
        </p:txBody>
      </p:sp>
      <p:sp>
        <p:nvSpPr>
          <p:cNvPr id="2743299" name="Rectangle 3"/>
          <p:cNvSpPr>
            <a:spLocks noGrp="1" noChangeArrowheads="1"/>
          </p:cNvSpPr>
          <p:nvPr>
            <p:ph type="body" idx="1"/>
          </p:nvPr>
        </p:nvSpPr>
        <p:spPr>
          <a:xfrm>
            <a:off x="287338" y="1268413"/>
            <a:ext cx="8532812" cy="4745037"/>
          </a:xfrm>
        </p:spPr>
        <p:txBody>
          <a:bodyPr/>
          <a:lstStyle/>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如果从初始节点到</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的每一条路径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不必是无环路的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都要计算</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，而且在到达</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的这些路径上没有对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的赋值，则称</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表达式</a:t>
            </a:r>
            <a:r>
              <a:rPr lang="en-US" altLang="zh-CN"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i="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p</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点是可用的</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对表达式的注销：如果基本块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中含有对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的赋值</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或可能赋值</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，而且后来没有重新计算</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，则称</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注销</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了表达式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表达式的生成：如果基本块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明确地计算了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，并且后来没有重新定义</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生成</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了表达式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p>
          <a:p>
            <a:pPr>
              <a:lnSpc>
                <a:spcPct val="90000"/>
              </a:lnSpc>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可用表达式信息的主要用途是检测公共子表达式。 </a:t>
            </a:r>
          </a:p>
        </p:txBody>
      </p:sp>
    </p:spTree>
    <p:extLst>
      <p:ext uri="{BB962C8B-B14F-4D97-AF65-F5344CB8AC3E}">
        <p14:creationId xmlns:p14="http://schemas.microsoft.com/office/powerpoint/2010/main" val="2323041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3299">
                                            <p:txEl>
                                              <p:pRg st="0" end="0"/>
                                            </p:txEl>
                                          </p:spTgt>
                                        </p:tgtEl>
                                        <p:attrNameLst>
                                          <p:attrName>style.visibility</p:attrName>
                                        </p:attrNameLst>
                                      </p:cBhvr>
                                      <p:to>
                                        <p:strVal val="visible"/>
                                      </p:to>
                                    </p:set>
                                    <p:animEffect transition="in" filter="blinds(horizontal)">
                                      <p:cBhvr>
                                        <p:cTn id="7" dur="500"/>
                                        <p:tgtEl>
                                          <p:spTgt spid="2743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3299">
                                            <p:txEl>
                                              <p:pRg st="1" end="1"/>
                                            </p:txEl>
                                          </p:spTgt>
                                        </p:tgtEl>
                                        <p:attrNameLst>
                                          <p:attrName>style.visibility</p:attrName>
                                        </p:attrNameLst>
                                      </p:cBhvr>
                                      <p:to>
                                        <p:strVal val="visible"/>
                                      </p:to>
                                    </p:set>
                                    <p:animEffect transition="in" filter="blinds(horizontal)">
                                      <p:cBhvr>
                                        <p:cTn id="12" dur="500"/>
                                        <p:tgtEl>
                                          <p:spTgt spid="27432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3299">
                                            <p:txEl>
                                              <p:pRg st="2" end="2"/>
                                            </p:txEl>
                                          </p:spTgt>
                                        </p:tgtEl>
                                        <p:attrNameLst>
                                          <p:attrName>style.visibility</p:attrName>
                                        </p:attrNameLst>
                                      </p:cBhvr>
                                      <p:to>
                                        <p:strVal val="visible"/>
                                      </p:to>
                                    </p:set>
                                    <p:animEffect transition="in" filter="blinds(horizontal)">
                                      <p:cBhvr>
                                        <p:cTn id="17" dur="500"/>
                                        <p:tgtEl>
                                          <p:spTgt spid="27432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43299">
                                            <p:txEl>
                                              <p:pRg st="3" end="3"/>
                                            </p:txEl>
                                          </p:spTgt>
                                        </p:tgtEl>
                                        <p:attrNameLst>
                                          <p:attrName>style.visibility</p:attrName>
                                        </p:attrNameLst>
                                      </p:cBhvr>
                                      <p:to>
                                        <p:strVal val="visible"/>
                                      </p:to>
                                    </p:set>
                                    <p:animEffect transition="in" filter="blinds(horizontal)">
                                      <p:cBhvr>
                                        <p:cTn id="22" dur="500"/>
                                        <p:tgtEl>
                                          <p:spTgt spid="2743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329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8774E9-9A2C-4B46-BB8F-AD824FF3AFF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BDE1C57-E6EE-4C6E-8A01-6A6B2DEC9CA9}" type="slidenum">
              <a:rPr lang="en-US" altLang="zh-CN"/>
              <a:pPr/>
              <a:t>62</a:t>
            </a:fld>
            <a:endParaRPr lang="en-US" altLang="zh-CN"/>
          </a:p>
        </p:txBody>
      </p:sp>
      <p:sp>
        <p:nvSpPr>
          <p:cNvPr id="2744322" name="Rectangle 2"/>
          <p:cNvSpPr>
            <a:spLocks noGrp="1" noChangeArrowheads="1"/>
          </p:cNvSpPr>
          <p:nvPr>
            <p:ph type="title"/>
          </p:nvPr>
        </p:nvSpPr>
        <p:spPr>
          <a:xfrm>
            <a:off x="457200" y="274638"/>
            <a:ext cx="8229600" cy="8509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记号</a:t>
            </a:r>
          </a:p>
        </p:txBody>
      </p:sp>
      <p:sp>
        <p:nvSpPr>
          <p:cNvPr id="2744323" name="Rectangle 3"/>
          <p:cNvSpPr>
            <a:spLocks noGrp="1" noChangeArrowheads="1"/>
          </p:cNvSpPr>
          <p:nvPr>
            <p:ph type="body" idx="1"/>
          </p:nvPr>
        </p:nvSpPr>
        <p:spPr>
          <a:xfrm>
            <a:off x="120650" y="1412875"/>
            <a:ext cx="8915400" cy="4759325"/>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：在基本块出口处的可用表达式集合。</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：在基本块入口处的可用表达式集合。</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生成的可用表达式的集合。</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注销的可用表达式的集合。</a:t>
            </a:r>
          </a:p>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的值可以直接从流图计算出来，因此在数据流方程中，可以将</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 e_</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kill[B]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当作已知量看待。</a:t>
            </a:r>
          </a:p>
        </p:txBody>
      </p:sp>
    </p:spTree>
    <p:extLst>
      <p:ext uri="{BB962C8B-B14F-4D97-AF65-F5344CB8AC3E}">
        <p14:creationId xmlns:p14="http://schemas.microsoft.com/office/powerpoint/2010/main" val="9394444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4323">
                                            <p:txEl>
                                              <p:pRg st="0" end="0"/>
                                            </p:txEl>
                                          </p:spTgt>
                                        </p:tgtEl>
                                        <p:attrNameLst>
                                          <p:attrName>style.visibility</p:attrName>
                                        </p:attrNameLst>
                                      </p:cBhvr>
                                      <p:to>
                                        <p:strVal val="visible"/>
                                      </p:to>
                                    </p:set>
                                    <p:animEffect transition="in" filter="blinds(horizontal)">
                                      <p:cBhvr>
                                        <p:cTn id="7" dur="500"/>
                                        <p:tgtEl>
                                          <p:spTgt spid="2744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4323">
                                            <p:txEl>
                                              <p:pRg st="1" end="1"/>
                                            </p:txEl>
                                          </p:spTgt>
                                        </p:tgtEl>
                                        <p:attrNameLst>
                                          <p:attrName>style.visibility</p:attrName>
                                        </p:attrNameLst>
                                      </p:cBhvr>
                                      <p:to>
                                        <p:strVal val="visible"/>
                                      </p:to>
                                    </p:set>
                                    <p:animEffect transition="in" filter="blinds(horizontal)">
                                      <p:cBhvr>
                                        <p:cTn id="12" dur="500"/>
                                        <p:tgtEl>
                                          <p:spTgt spid="2744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4323">
                                            <p:txEl>
                                              <p:pRg st="2" end="2"/>
                                            </p:txEl>
                                          </p:spTgt>
                                        </p:tgtEl>
                                        <p:attrNameLst>
                                          <p:attrName>style.visibility</p:attrName>
                                        </p:attrNameLst>
                                      </p:cBhvr>
                                      <p:to>
                                        <p:strVal val="visible"/>
                                      </p:to>
                                    </p:set>
                                    <p:animEffect transition="in" filter="blinds(horizontal)">
                                      <p:cBhvr>
                                        <p:cTn id="17" dur="500"/>
                                        <p:tgtEl>
                                          <p:spTgt spid="274432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44323">
                                            <p:txEl>
                                              <p:pRg st="3" end="3"/>
                                            </p:txEl>
                                          </p:spTgt>
                                        </p:tgtEl>
                                        <p:attrNameLst>
                                          <p:attrName>style.visibility</p:attrName>
                                        </p:attrNameLst>
                                      </p:cBhvr>
                                      <p:to>
                                        <p:strVal val="visible"/>
                                      </p:to>
                                    </p:set>
                                    <p:animEffect transition="in" filter="blinds(horizontal)">
                                      <p:cBhvr>
                                        <p:cTn id="22" dur="500"/>
                                        <p:tgtEl>
                                          <p:spTgt spid="274432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44323">
                                            <p:txEl>
                                              <p:pRg st="4" end="4"/>
                                            </p:txEl>
                                          </p:spTgt>
                                        </p:tgtEl>
                                        <p:attrNameLst>
                                          <p:attrName>style.visibility</p:attrName>
                                        </p:attrNameLst>
                                      </p:cBhvr>
                                      <p:to>
                                        <p:strVal val="visible"/>
                                      </p:to>
                                    </p:set>
                                    <p:animEffect transition="in" filter="blinds(horizontal)">
                                      <p:cBhvr>
                                        <p:cTn id="27" dur="500"/>
                                        <p:tgtEl>
                                          <p:spTgt spid="27443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2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845BEB4-FBBB-4CC4-B679-390A8F1DE2A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8000B1E-9545-41B0-B5EB-1A052C9740EB}" type="slidenum">
              <a:rPr lang="en-US" altLang="zh-CN"/>
              <a:pPr/>
              <a:t>63</a:t>
            </a:fld>
            <a:endParaRPr lang="en-US" altLang="zh-CN"/>
          </a:p>
        </p:txBody>
      </p:sp>
      <p:sp>
        <p:nvSpPr>
          <p:cNvPr id="2745346" name="Rectangle 2"/>
          <p:cNvSpPr>
            <a:spLocks noGrp="1" noChangeArrowheads="1"/>
          </p:cNvSpPr>
          <p:nvPr>
            <p:ph type="title"/>
          </p:nvPr>
        </p:nvSpPr>
        <p:spPr>
          <a:xfrm>
            <a:off x="457200" y="274638"/>
            <a:ext cx="8229600" cy="922337"/>
          </a:xfrm>
        </p:spPr>
        <p:txBody>
          <a:bodyPr/>
          <a:lstStyle/>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的计算</a:t>
            </a:r>
          </a:p>
        </p:txBody>
      </p:sp>
      <p:sp>
        <p:nvSpPr>
          <p:cNvPr id="2745347" name="Rectangle 3"/>
          <p:cNvSpPr>
            <a:spLocks noGrp="1" noChangeArrowheads="1"/>
          </p:cNvSpPr>
          <p:nvPr>
            <p:ph type="body" idx="1"/>
          </p:nvPr>
        </p:nvSpPr>
        <p:spPr>
          <a:xfrm>
            <a:off x="250825" y="1268413"/>
            <a:ext cx="8713788" cy="5211762"/>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对于一个基本块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的计算过程为：</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初始设置：</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顺序扫描每个四元式：</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对于四元式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op x y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，把</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加入</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gen[B]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中删除和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相关的表达式。</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最后的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就是相应的集合。</a:t>
            </a:r>
          </a:p>
        </p:txBody>
      </p:sp>
    </p:spTree>
    <p:extLst>
      <p:ext uri="{BB962C8B-B14F-4D97-AF65-F5344CB8AC3E}">
        <p14:creationId xmlns:p14="http://schemas.microsoft.com/office/powerpoint/2010/main" val="9595904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5347">
                                            <p:txEl>
                                              <p:pRg st="0" end="0"/>
                                            </p:txEl>
                                          </p:spTgt>
                                        </p:tgtEl>
                                        <p:attrNameLst>
                                          <p:attrName>style.visibility</p:attrName>
                                        </p:attrNameLst>
                                      </p:cBhvr>
                                      <p:to>
                                        <p:strVal val="visible"/>
                                      </p:to>
                                    </p:set>
                                    <p:animEffect transition="in" filter="blinds(horizontal)">
                                      <p:cBhvr>
                                        <p:cTn id="7" dur="500"/>
                                        <p:tgtEl>
                                          <p:spTgt spid="2745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5347">
                                            <p:txEl>
                                              <p:pRg st="1" end="1"/>
                                            </p:txEl>
                                          </p:spTgt>
                                        </p:tgtEl>
                                        <p:attrNameLst>
                                          <p:attrName>style.visibility</p:attrName>
                                        </p:attrNameLst>
                                      </p:cBhvr>
                                      <p:to>
                                        <p:strVal val="visible"/>
                                      </p:to>
                                    </p:set>
                                    <p:animEffect transition="in" filter="blinds(horizontal)">
                                      <p:cBhvr>
                                        <p:cTn id="12" dur="500"/>
                                        <p:tgtEl>
                                          <p:spTgt spid="2745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5347">
                                            <p:txEl>
                                              <p:pRg st="2" end="2"/>
                                            </p:txEl>
                                          </p:spTgt>
                                        </p:tgtEl>
                                        <p:attrNameLst>
                                          <p:attrName>style.visibility</p:attrName>
                                        </p:attrNameLst>
                                      </p:cBhvr>
                                      <p:to>
                                        <p:strVal val="visible"/>
                                      </p:to>
                                    </p:set>
                                    <p:animEffect transition="in" filter="blinds(horizontal)">
                                      <p:cBhvr>
                                        <p:cTn id="17" dur="500"/>
                                        <p:tgtEl>
                                          <p:spTgt spid="2745347">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745347">
                                            <p:txEl>
                                              <p:pRg st="3" end="3"/>
                                            </p:txEl>
                                          </p:spTgt>
                                        </p:tgtEl>
                                        <p:attrNameLst>
                                          <p:attrName>style.visibility</p:attrName>
                                        </p:attrNameLst>
                                      </p:cBhvr>
                                      <p:to>
                                        <p:strVal val="visible"/>
                                      </p:to>
                                    </p:set>
                                    <p:animEffect transition="in" filter="blinds(horizontal)">
                                      <p:cBhvr>
                                        <p:cTn id="20" dur="500"/>
                                        <p:tgtEl>
                                          <p:spTgt spid="2745347">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45347">
                                            <p:txEl>
                                              <p:pRg st="4" end="4"/>
                                            </p:txEl>
                                          </p:spTgt>
                                        </p:tgtEl>
                                        <p:attrNameLst>
                                          <p:attrName>style.visibility</p:attrName>
                                        </p:attrNameLst>
                                      </p:cBhvr>
                                      <p:to>
                                        <p:strVal val="visible"/>
                                      </p:to>
                                    </p:set>
                                    <p:animEffect transition="in" filter="blinds(horizontal)">
                                      <p:cBhvr>
                                        <p:cTn id="23" dur="500"/>
                                        <p:tgtEl>
                                          <p:spTgt spid="274534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745347">
                                            <p:txEl>
                                              <p:pRg st="5" end="5"/>
                                            </p:txEl>
                                          </p:spTgt>
                                        </p:tgtEl>
                                        <p:attrNameLst>
                                          <p:attrName>style.visibility</p:attrName>
                                        </p:attrNameLst>
                                      </p:cBhvr>
                                      <p:to>
                                        <p:strVal val="visible"/>
                                      </p:to>
                                    </p:set>
                                    <p:animEffect transition="in" filter="blinds(horizontal)">
                                      <p:cBhvr>
                                        <p:cTn id="28" dur="500"/>
                                        <p:tgtEl>
                                          <p:spTgt spid="2745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5347"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252BD81-E03A-4FCA-83F2-7683AC38FB1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BB691DB-9F38-4821-91A1-D6D6806BF1E8}" type="slidenum">
              <a:rPr lang="en-US" altLang="zh-CN"/>
              <a:pPr/>
              <a:t>64</a:t>
            </a:fld>
            <a:endParaRPr lang="en-US" altLang="zh-CN"/>
          </a:p>
        </p:txBody>
      </p:sp>
      <p:sp>
        <p:nvSpPr>
          <p:cNvPr id="2746370" name="Rectangle 2"/>
          <p:cNvSpPr>
            <a:spLocks noGrp="1" noChangeArrowheads="1"/>
          </p:cNvSpPr>
          <p:nvPr>
            <p:ph type="title"/>
          </p:nvPr>
        </p:nvSpPr>
        <p:spPr>
          <a:xfrm>
            <a:off x="457200" y="274638"/>
            <a:ext cx="8229600" cy="922337"/>
          </a:xfrm>
        </p:spPr>
        <p:txBody>
          <a:bodyPr/>
          <a:lstStyle/>
          <a:p>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的计算</a:t>
            </a:r>
          </a:p>
        </p:txBody>
      </p:sp>
      <p:sp>
        <p:nvSpPr>
          <p:cNvPr id="2746371" name="Rectangle 3"/>
          <p:cNvSpPr>
            <a:spLocks noGrp="1" noChangeArrowheads="1"/>
          </p:cNvSpPr>
          <p:nvPr>
            <p:ph type="body" idx="1"/>
          </p:nvPr>
        </p:nvSpPr>
        <p:spPr>
          <a:xfrm>
            <a:off x="179388" y="1412875"/>
            <a:ext cx="8893175" cy="45720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设流图的表达式全集为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初始设置：</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K</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顺序扫描基本块的每个四元式：</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对于四元式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op x y 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，把表达式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中消除；</a:t>
            </a:r>
          </a:p>
          <a:p>
            <a:pPr lvl="1"/>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把</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中所有和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相关的四元式加入到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扫描完所有的四元式之后，</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E</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就是所求的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4496524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6371">
                                            <p:txEl>
                                              <p:pRg st="0" end="0"/>
                                            </p:txEl>
                                          </p:spTgt>
                                        </p:tgtEl>
                                        <p:attrNameLst>
                                          <p:attrName>style.visibility</p:attrName>
                                        </p:attrNameLst>
                                      </p:cBhvr>
                                      <p:to>
                                        <p:strVal val="visible"/>
                                      </p:to>
                                    </p:set>
                                    <p:animEffect transition="in" filter="blinds(horizontal)">
                                      <p:cBhvr>
                                        <p:cTn id="7" dur="500"/>
                                        <p:tgtEl>
                                          <p:spTgt spid="2746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6371">
                                            <p:txEl>
                                              <p:pRg st="1" end="1"/>
                                            </p:txEl>
                                          </p:spTgt>
                                        </p:tgtEl>
                                        <p:attrNameLst>
                                          <p:attrName>style.visibility</p:attrName>
                                        </p:attrNameLst>
                                      </p:cBhvr>
                                      <p:to>
                                        <p:strVal val="visible"/>
                                      </p:to>
                                    </p:set>
                                    <p:animEffect transition="in" filter="blinds(horizontal)">
                                      <p:cBhvr>
                                        <p:cTn id="12" dur="500"/>
                                        <p:tgtEl>
                                          <p:spTgt spid="2746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6371">
                                            <p:txEl>
                                              <p:pRg st="2" end="2"/>
                                            </p:txEl>
                                          </p:spTgt>
                                        </p:tgtEl>
                                        <p:attrNameLst>
                                          <p:attrName>style.visibility</p:attrName>
                                        </p:attrNameLst>
                                      </p:cBhvr>
                                      <p:to>
                                        <p:strVal val="visible"/>
                                      </p:to>
                                    </p:set>
                                    <p:animEffect transition="in" filter="blinds(horizontal)">
                                      <p:cBhvr>
                                        <p:cTn id="17" dur="500"/>
                                        <p:tgtEl>
                                          <p:spTgt spid="2746371">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746371">
                                            <p:txEl>
                                              <p:pRg st="3" end="3"/>
                                            </p:txEl>
                                          </p:spTgt>
                                        </p:tgtEl>
                                        <p:attrNameLst>
                                          <p:attrName>style.visibility</p:attrName>
                                        </p:attrNameLst>
                                      </p:cBhvr>
                                      <p:to>
                                        <p:strVal val="visible"/>
                                      </p:to>
                                    </p:set>
                                    <p:animEffect transition="in" filter="blinds(horizontal)">
                                      <p:cBhvr>
                                        <p:cTn id="20" dur="500"/>
                                        <p:tgtEl>
                                          <p:spTgt spid="2746371">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46371">
                                            <p:txEl>
                                              <p:pRg st="4" end="4"/>
                                            </p:txEl>
                                          </p:spTgt>
                                        </p:tgtEl>
                                        <p:attrNameLst>
                                          <p:attrName>style.visibility</p:attrName>
                                        </p:attrNameLst>
                                      </p:cBhvr>
                                      <p:to>
                                        <p:strVal val="visible"/>
                                      </p:to>
                                    </p:set>
                                    <p:animEffect transition="in" filter="blinds(horizontal)">
                                      <p:cBhvr>
                                        <p:cTn id="23" dur="500"/>
                                        <p:tgtEl>
                                          <p:spTgt spid="2746371">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746371">
                                            <p:txEl>
                                              <p:pRg st="5" end="5"/>
                                            </p:txEl>
                                          </p:spTgt>
                                        </p:tgtEl>
                                        <p:attrNameLst>
                                          <p:attrName>style.visibility</p:attrName>
                                        </p:attrNameLst>
                                      </p:cBhvr>
                                      <p:to>
                                        <p:strVal val="visible"/>
                                      </p:to>
                                    </p:set>
                                    <p:animEffect transition="in" filter="blinds(horizontal)">
                                      <p:cBhvr>
                                        <p:cTn id="28" dur="500"/>
                                        <p:tgtEl>
                                          <p:spTgt spid="27463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6371"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日期占位符 3"/>
          <p:cNvSpPr>
            <a:spLocks noGrp="1"/>
          </p:cNvSpPr>
          <p:nvPr>
            <p:ph type="dt" sz="half" idx="10"/>
          </p:nvPr>
        </p:nvSpPr>
        <p:spPr/>
        <p:txBody>
          <a:bodyPr/>
          <a:lstStyle/>
          <a:p>
            <a:fld id="{55CF7425-4799-4296-84AA-D19F73AEAE3E}" type="datetime1">
              <a:rPr lang="zh-CN" altLang="en-US"/>
              <a:pPr/>
              <a:t>2017/2/24</a:t>
            </a:fld>
            <a:endParaRPr lang="en-US" altLang="zh-CN"/>
          </a:p>
        </p:txBody>
      </p:sp>
      <p:sp>
        <p:nvSpPr>
          <p:cNvPr id="21" name="灯片编号占位符 5"/>
          <p:cNvSpPr>
            <a:spLocks noGrp="1"/>
          </p:cNvSpPr>
          <p:nvPr>
            <p:ph type="sldNum" sz="quarter" idx="12"/>
          </p:nvPr>
        </p:nvSpPr>
        <p:spPr/>
        <p:txBody>
          <a:bodyPr/>
          <a:lstStyle/>
          <a:p>
            <a:fld id="{3A941786-465C-4341-86C0-C5313FC72929}" type="slidenum">
              <a:rPr lang="en-US" altLang="zh-CN"/>
              <a:pPr/>
              <a:t>65</a:t>
            </a:fld>
            <a:endParaRPr lang="en-US" altLang="zh-CN"/>
          </a:p>
        </p:txBody>
      </p:sp>
      <p:sp>
        <p:nvSpPr>
          <p:cNvPr id="2747394" name="Rectangle 2"/>
          <p:cNvSpPr>
            <a:spLocks noGrp="1" noChangeArrowheads="1"/>
          </p:cNvSpPr>
          <p:nvPr>
            <p:ph type="title"/>
          </p:nvPr>
        </p:nvSpPr>
        <p:spPr>
          <a:xfrm>
            <a:off x="827088" y="844550"/>
            <a:ext cx="5110162" cy="855663"/>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数据流方程</a:t>
            </a:r>
          </a:p>
        </p:txBody>
      </p:sp>
      <p:sp>
        <p:nvSpPr>
          <p:cNvPr id="2747395" name="Rectangle 3"/>
          <p:cNvSpPr>
            <a:spLocks noGrp="1" noChangeArrowheads="1"/>
          </p:cNvSpPr>
          <p:nvPr>
            <p:ph type="body" idx="1"/>
          </p:nvPr>
        </p:nvSpPr>
        <p:spPr>
          <a:xfrm>
            <a:off x="71438" y="1844675"/>
            <a:ext cx="7453312" cy="4465638"/>
          </a:xfrm>
        </p:spPr>
        <p:txBody>
          <a:bodyPr/>
          <a:lstStyle/>
          <a:p>
            <a:pPr marL="609600" indent="-609600">
              <a:buSzPct val="85000"/>
              <a:buFontTx/>
              <a:buAutoNum type="arabicPeriod"/>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[B]∪(in[B]-</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 </a:t>
            </a:r>
          </a:p>
          <a:p>
            <a:pPr marL="609600" indent="-609600">
              <a:buSzPct val="85000"/>
              <a:buFontTx/>
              <a:buAutoNum type="arabicPeriod"/>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 ∩out[p] B!=B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p</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的前驱。</a:t>
            </a:r>
          </a:p>
          <a:p>
            <a:pPr marL="609600" indent="-609600">
              <a:buSzPct val="85000"/>
              <a:buFontTx/>
              <a:buAutoNum type="arabicPeriod"/>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2800"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空集</a:t>
            </a:r>
          </a:p>
          <a:p>
            <a:pPr marL="609600" indent="-609600"/>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说明：</a:t>
            </a:r>
          </a:p>
          <a:p>
            <a:pPr marL="990600" lvl="1" indent="-533400"/>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在程序开始的时候，无可用表达式。</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(3)</a:t>
            </a:r>
          </a:p>
          <a:p>
            <a:pPr marL="990600" lvl="1" indent="-533400"/>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一个表达式在某个基本块的入口点可用，必须要求它在所有前驱的出口点也可用。（</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marL="990600" lvl="1" indent="-533400"/>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一个表达式在某个基本块的出口点可用，或者该表达式是由它的产生的；或者该表达式在入口点可用，且没有被注销掉。（</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p:txBody>
      </p:sp>
      <p:grpSp>
        <p:nvGrpSpPr>
          <p:cNvPr id="2747396" name="Group 4"/>
          <p:cNvGrpSpPr>
            <a:grpSpLocks/>
          </p:cNvGrpSpPr>
          <p:nvPr/>
        </p:nvGrpSpPr>
        <p:grpSpPr bwMode="auto">
          <a:xfrm>
            <a:off x="5715000" y="152400"/>
            <a:ext cx="3429000" cy="3505200"/>
            <a:chOff x="3600" y="816"/>
            <a:chExt cx="2160" cy="2208"/>
          </a:xfrm>
        </p:grpSpPr>
        <p:sp>
          <p:nvSpPr>
            <p:cNvPr id="2747397" name="Text Box 5"/>
            <p:cNvSpPr txBox="1">
              <a:spLocks noChangeArrowheads="1"/>
            </p:cNvSpPr>
            <p:nvPr/>
          </p:nvSpPr>
          <p:spPr bwMode="auto">
            <a:xfrm>
              <a:off x="4416" y="1104"/>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endParaRPr kumimoji="1" lang="zh-CN" altLang="zh-CN"/>
            </a:p>
          </p:txBody>
        </p:sp>
        <p:sp>
          <p:nvSpPr>
            <p:cNvPr id="2747398" name="Text Box 6"/>
            <p:cNvSpPr txBox="1">
              <a:spLocks noChangeArrowheads="1"/>
            </p:cNvSpPr>
            <p:nvPr/>
          </p:nvSpPr>
          <p:spPr bwMode="auto">
            <a:xfrm>
              <a:off x="4464" y="1632"/>
              <a:ext cx="576" cy="9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endParaRPr kumimoji="1" lang="en-US" altLang="zh-CN"/>
            </a:p>
            <a:p>
              <a:pPr algn="ctr" eaLnBrk="0" hangingPunct="0">
                <a:spcBef>
                  <a:spcPct val="50000"/>
                </a:spcBef>
              </a:pPr>
              <a:r>
                <a:rPr kumimoji="1" lang="en-US" altLang="zh-CN"/>
                <a:t>B</a:t>
              </a:r>
            </a:p>
            <a:p>
              <a:pPr algn="ctr" eaLnBrk="0" hangingPunct="0">
                <a:spcBef>
                  <a:spcPct val="50000"/>
                </a:spcBef>
              </a:pPr>
              <a:endParaRPr kumimoji="1" lang="en-US" altLang="zh-CN"/>
            </a:p>
          </p:txBody>
        </p:sp>
        <p:sp>
          <p:nvSpPr>
            <p:cNvPr id="2747399" name="Text Box 7"/>
            <p:cNvSpPr txBox="1">
              <a:spLocks noChangeArrowheads="1"/>
            </p:cNvSpPr>
            <p:nvPr/>
          </p:nvSpPr>
          <p:spPr bwMode="auto">
            <a:xfrm>
              <a:off x="4368" y="816"/>
              <a:ext cx="57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a:t>p2</a:t>
              </a:r>
            </a:p>
          </p:txBody>
        </p:sp>
        <p:sp>
          <p:nvSpPr>
            <p:cNvPr id="2747400" name="Text Box 8"/>
            <p:cNvSpPr txBox="1">
              <a:spLocks noChangeArrowheads="1"/>
            </p:cNvSpPr>
            <p:nvPr/>
          </p:nvSpPr>
          <p:spPr bwMode="auto">
            <a:xfrm>
              <a:off x="3600" y="816"/>
              <a:ext cx="57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a:t>p1</a:t>
              </a:r>
            </a:p>
          </p:txBody>
        </p:sp>
        <p:sp>
          <p:nvSpPr>
            <p:cNvPr id="2747401" name="Text Box 9"/>
            <p:cNvSpPr txBox="1">
              <a:spLocks noChangeArrowheads="1"/>
            </p:cNvSpPr>
            <p:nvPr/>
          </p:nvSpPr>
          <p:spPr bwMode="auto">
            <a:xfrm>
              <a:off x="5088" y="816"/>
              <a:ext cx="576" cy="29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kumimoji="1" lang="en-US" altLang="zh-CN"/>
                <a:t>p3</a:t>
              </a:r>
            </a:p>
          </p:txBody>
        </p:sp>
        <p:sp>
          <p:nvSpPr>
            <p:cNvPr id="2747402" name="Line 10"/>
            <p:cNvSpPr>
              <a:spLocks noChangeShapeType="1"/>
            </p:cNvSpPr>
            <p:nvPr/>
          </p:nvSpPr>
          <p:spPr bwMode="auto">
            <a:xfrm>
              <a:off x="3936" y="1104"/>
              <a:ext cx="672"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7403" name="Line 11"/>
            <p:cNvSpPr>
              <a:spLocks noChangeShapeType="1"/>
            </p:cNvSpPr>
            <p:nvPr/>
          </p:nvSpPr>
          <p:spPr bwMode="auto">
            <a:xfrm>
              <a:off x="4656" y="1104"/>
              <a:ext cx="48"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7404" name="Line 12"/>
            <p:cNvSpPr>
              <a:spLocks noChangeShapeType="1"/>
            </p:cNvSpPr>
            <p:nvPr/>
          </p:nvSpPr>
          <p:spPr bwMode="auto">
            <a:xfrm flipH="1">
              <a:off x="4848" y="1104"/>
              <a:ext cx="480" cy="52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7405" name="Text Box 13"/>
            <p:cNvSpPr txBox="1">
              <a:spLocks noChangeArrowheads="1"/>
            </p:cNvSpPr>
            <p:nvPr/>
          </p:nvSpPr>
          <p:spPr bwMode="auto">
            <a:xfrm>
              <a:off x="5088" y="148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IN</a:t>
              </a:r>
            </a:p>
          </p:txBody>
        </p:sp>
        <p:sp>
          <p:nvSpPr>
            <p:cNvPr id="2747406" name="Text Box 14"/>
            <p:cNvSpPr txBox="1">
              <a:spLocks noChangeArrowheads="1"/>
            </p:cNvSpPr>
            <p:nvPr/>
          </p:nvSpPr>
          <p:spPr bwMode="auto">
            <a:xfrm>
              <a:off x="4704" y="2736"/>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OUT</a:t>
              </a:r>
            </a:p>
          </p:txBody>
        </p:sp>
        <p:sp>
          <p:nvSpPr>
            <p:cNvPr id="2747407" name="Line 15"/>
            <p:cNvSpPr>
              <a:spLocks noChangeShapeType="1"/>
            </p:cNvSpPr>
            <p:nvPr/>
          </p:nvSpPr>
          <p:spPr bwMode="auto">
            <a:xfrm flipH="1">
              <a:off x="5136" y="1680"/>
              <a:ext cx="96" cy="105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7408" name="Line 16"/>
            <p:cNvSpPr>
              <a:spLocks noChangeShapeType="1"/>
            </p:cNvSpPr>
            <p:nvPr/>
          </p:nvSpPr>
          <p:spPr bwMode="auto">
            <a:xfrm>
              <a:off x="4272" y="2064"/>
              <a:ext cx="480" cy="5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47409" name="Text Box 17"/>
            <p:cNvSpPr txBox="1">
              <a:spLocks noChangeArrowheads="1"/>
            </p:cNvSpPr>
            <p:nvPr/>
          </p:nvSpPr>
          <p:spPr bwMode="auto">
            <a:xfrm>
              <a:off x="3984" y="1824"/>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GEN</a:t>
              </a:r>
            </a:p>
          </p:txBody>
        </p:sp>
        <p:sp>
          <p:nvSpPr>
            <p:cNvPr id="2747410" name="Text Box 18"/>
            <p:cNvSpPr txBox="1">
              <a:spLocks noChangeArrowheads="1"/>
            </p:cNvSpPr>
            <p:nvPr/>
          </p:nvSpPr>
          <p:spPr bwMode="auto">
            <a:xfrm>
              <a:off x="5088" y="196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kumimoji="1" lang="en-US" altLang="zh-CN"/>
                <a:t>-KILL</a:t>
              </a:r>
            </a:p>
          </p:txBody>
        </p:sp>
      </p:grpSp>
    </p:spTree>
    <p:extLst>
      <p:ext uri="{BB962C8B-B14F-4D97-AF65-F5344CB8AC3E}">
        <p14:creationId xmlns:p14="http://schemas.microsoft.com/office/powerpoint/2010/main" val="1394221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7395">
                                            <p:txEl>
                                              <p:pRg st="0" end="0"/>
                                            </p:txEl>
                                          </p:spTgt>
                                        </p:tgtEl>
                                        <p:attrNameLst>
                                          <p:attrName>style.visibility</p:attrName>
                                        </p:attrNameLst>
                                      </p:cBhvr>
                                      <p:to>
                                        <p:strVal val="visible"/>
                                      </p:to>
                                    </p:set>
                                    <p:animEffect transition="in" filter="blinds(horizontal)">
                                      <p:cBhvr>
                                        <p:cTn id="7" dur="500"/>
                                        <p:tgtEl>
                                          <p:spTgt spid="2747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7395">
                                            <p:txEl>
                                              <p:pRg st="1" end="1"/>
                                            </p:txEl>
                                          </p:spTgt>
                                        </p:tgtEl>
                                        <p:attrNameLst>
                                          <p:attrName>style.visibility</p:attrName>
                                        </p:attrNameLst>
                                      </p:cBhvr>
                                      <p:to>
                                        <p:strVal val="visible"/>
                                      </p:to>
                                    </p:set>
                                    <p:animEffect transition="in" filter="blinds(horizontal)">
                                      <p:cBhvr>
                                        <p:cTn id="12" dur="500"/>
                                        <p:tgtEl>
                                          <p:spTgt spid="27473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7395">
                                            <p:txEl>
                                              <p:pRg st="2" end="2"/>
                                            </p:txEl>
                                          </p:spTgt>
                                        </p:tgtEl>
                                        <p:attrNameLst>
                                          <p:attrName>style.visibility</p:attrName>
                                        </p:attrNameLst>
                                      </p:cBhvr>
                                      <p:to>
                                        <p:strVal val="visible"/>
                                      </p:to>
                                    </p:set>
                                    <p:animEffect transition="in" filter="blinds(horizontal)">
                                      <p:cBhvr>
                                        <p:cTn id="17" dur="500"/>
                                        <p:tgtEl>
                                          <p:spTgt spid="2747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47395">
                                            <p:txEl>
                                              <p:pRg st="3" end="3"/>
                                            </p:txEl>
                                          </p:spTgt>
                                        </p:tgtEl>
                                        <p:attrNameLst>
                                          <p:attrName>style.visibility</p:attrName>
                                        </p:attrNameLst>
                                      </p:cBhvr>
                                      <p:to>
                                        <p:strVal val="visible"/>
                                      </p:to>
                                    </p:set>
                                    <p:animEffect transition="in" filter="blinds(horizontal)">
                                      <p:cBhvr>
                                        <p:cTn id="22" dur="500"/>
                                        <p:tgtEl>
                                          <p:spTgt spid="2747395">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747395">
                                            <p:txEl>
                                              <p:pRg st="4" end="4"/>
                                            </p:txEl>
                                          </p:spTgt>
                                        </p:tgtEl>
                                        <p:attrNameLst>
                                          <p:attrName>style.visibility</p:attrName>
                                        </p:attrNameLst>
                                      </p:cBhvr>
                                      <p:to>
                                        <p:strVal val="visible"/>
                                      </p:to>
                                    </p:set>
                                    <p:animEffect transition="in" filter="blinds(horizontal)">
                                      <p:cBhvr>
                                        <p:cTn id="25" dur="500"/>
                                        <p:tgtEl>
                                          <p:spTgt spid="274739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747395">
                                            <p:txEl>
                                              <p:pRg st="5" end="5"/>
                                            </p:txEl>
                                          </p:spTgt>
                                        </p:tgtEl>
                                        <p:attrNameLst>
                                          <p:attrName>style.visibility</p:attrName>
                                        </p:attrNameLst>
                                      </p:cBhvr>
                                      <p:to>
                                        <p:strVal val="visible"/>
                                      </p:to>
                                    </p:set>
                                    <p:animEffect transition="in" filter="blinds(horizontal)">
                                      <p:cBhvr>
                                        <p:cTn id="28" dur="500"/>
                                        <p:tgtEl>
                                          <p:spTgt spid="274739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747395">
                                            <p:txEl>
                                              <p:pRg st="6" end="6"/>
                                            </p:txEl>
                                          </p:spTgt>
                                        </p:tgtEl>
                                        <p:attrNameLst>
                                          <p:attrName>style.visibility</p:attrName>
                                        </p:attrNameLst>
                                      </p:cBhvr>
                                      <p:to>
                                        <p:strVal val="visible"/>
                                      </p:to>
                                    </p:set>
                                    <p:animEffect transition="in" filter="blinds(horizontal)">
                                      <p:cBhvr>
                                        <p:cTn id="31" dur="500"/>
                                        <p:tgtEl>
                                          <p:spTgt spid="27473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739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0776D55-96D8-4ED9-A628-AB6111C5578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991EA56-8900-47B9-A738-28E397AB5FFD}" type="slidenum">
              <a:rPr lang="en-US" altLang="zh-CN"/>
              <a:pPr/>
              <a:t>66</a:t>
            </a:fld>
            <a:endParaRPr lang="en-US" altLang="zh-CN"/>
          </a:p>
        </p:txBody>
      </p:sp>
      <p:sp>
        <p:nvSpPr>
          <p:cNvPr id="2748418" name="Rectangle 2"/>
          <p:cNvSpPr>
            <a:spLocks noGrp="1" noChangeArrowheads="1"/>
          </p:cNvSpPr>
          <p:nvPr>
            <p:ph type="title"/>
          </p:nvPr>
        </p:nvSpPr>
        <p:spPr>
          <a:xfrm>
            <a:off x="457200" y="188913"/>
            <a:ext cx="8229600" cy="8509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方程求解算法</a:t>
            </a:r>
          </a:p>
        </p:txBody>
      </p:sp>
      <p:sp>
        <p:nvSpPr>
          <p:cNvPr id="2748419" name="Rectangle 3"/>
          <p:cNvSpPr>
            <a:spLocks noGrp="1" noChangeArrowheads="1"/>
          </p:cNvSpPr>
          <p:nvPr>
            <p:ph type="body" idx="1"/>
          </p:nvPr>
        </p:nvSpPr>
        <p:spPr>
          <a:xfrm>
            <a:off x="395288" y="1196975"/>
            <a:ext cx="8458200" cy="4752975"/>
          </a:xfrm>
        </p:spPr>
        <p:txBody>
          <a:bodyPr/>
          <a:lstStyle/>
          <a:p>
            <a:r>
              <a:rPr lang="zh-CN" altLang="en-US" sz="3600"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迭代算法</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初始化：</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out[B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1</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&gt;=2)</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重复执行下列算法直到</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稳定</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for</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&lt;=n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p>
          <a:p>
            <a:pPr lvl="1">
              <a:buFontTx/>
              <a:buNone/>
            </a:pP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in[B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 ∩out[p], p</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3200" b="1" dirty="0">
                <a:latin typeface="Times New Roman" panose="02020603050405020304" pitchFamily="18" charset="0"/>
                <a:ea typeface="华文新魏" panose="02010800040101010101" pitchFamily="2" charset="-122"/>
                <a:cs typeface="Times New Roman" panose="02020603050405020304" pitchFamily="18" charset="0"/>
              </a:rPr>
              <a:t>的前驱；</a:t>
            </a:r>
          </a:p>
          <a:p>
            <a:pPr lvl="1">
              <a:buFontTx/>
              <a:buNone/>
            </a:pP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3200" b="1" dirty="0" err="1">
                <a:latin typeface="Times New Roman" panose="02020603050405020304" pitchFamily="18" charset="0"/>
                <a:ea typeface="华文新魏" panose="02010800040101010101" pitchFamily="2" charset="-122"/>
                <a:cs typeface="Times New Roman" panose="02020603050405020304" pitchFamily="18" charset="0"/>
              </a:rPr>
              <a:t>e_gen</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 ∪(in[B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3200" b="1" dirty="0" err="1">
                <a:latin typeface="Times New Roman" panose="02020603050405020304" pitchFamily="18" charset="0"/>
                <a:ea typeface="华文新魏" panose="02010800040101010101" pitchFamily="2" charset="-122"/>
                <a:cs typeface="Times New Roman" panose="02020603050405020304" pitchFamily="18" charset="0"/>
              </a:rPr>
              <a:t>e_kill</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3200"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32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5597856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8419">
                                            <p:txEl>
                                              <p:pRg st="0" end="0"/>
                                            </p:txEl>
                                          </p:spTgt>
                                        </p:tgtEl>
                                        <p:attrNameLst>
                                          <p:attrName>style.visibility</p:attrName>
                                        </p:attrNameLst>
                                      </p:cBhvr>
                                      <p:to>
                                        <p:strVal val="visible"/>
                                      </p:to>
                                    </p:set>
                                    <p:animEffect transition="in" filter="blinds(horizontal)">
                                      <p:cBhvr>
                                        <p:cTn id="7" dur="500"/>
                                        <p:tgtEl>
                                          <p:spTgt spid="2748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8419">
                                            <p:txEl>
                                              <p:pRg st="1" end="1"/>
                                            </p:txEl>
                                          </p:spTgt>
                                        </p:tgtEl>
                                        <p:attrNameLst>
                                          <p:attrName>style.visibility</p:attrName>
                                        </p:attrNameLst>
                                      </p:cBhvr>
                                      <p:to>
                                        <p:strVal val="visible"/>
                                      </p:to>
                                    </p:set>
                                    <p:animEffect transition="in" filter="blinds(horizontal)">
                                      <p:cBhvr>
                                        <p:cTn id="12" dur="500"/>
                                        <p:tgtEl>
                                          <p:spTgt spid="2748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8419">
                                            <p:txEl>
                                              <p:pRg st="2" end="2"/>
                                            </p:txEl>
                                          </p:spTgt>
                                        </p:tgtEl>
                                        <p:attrNameLst>
                                          <p:attrName>style.visibility</p:attrName>
                                        </p:attrNameLst>
                                      </p:cBhvr>
                                      <p:to>
                                        <p:strVal val="visible"/>
                                      </p:to>
                                    </p:set>
                                    <p:animEffect transition="in" filter="blinds(horizontal)">
                                      <p:cBhvr>
                                        <p:cTn id="17" dur="500"/>
                                        <p:tgtEl>
                                          <p:spTgt spid="2748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48419">
                                            <p:txEl>
                                              <p:pRg st="3" end="3"/>
                                            </p:txEl>
                                          </p:spTgt>
                                        </p:tgtEl>
                                        <p:attrNameLst>
                                          <p:attrName>style.visibility</p:attrName>
                                        </p:attrNameLst>
                                      </p:cBhvr>
                                      <p:to>
                                        <p:strVal val="visible"/>
                                      </p:to>
                                    </p:set>
                                    <p:animEffect transition="in" filter="blinds(horizontal)">
                                      <p:cBhvr>
                                        <p:cTn id="22" dur="500"/>
                                        <p:tgtEl>
                                          <p:spTgt spid="2748419">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748419">
                                            <p:txEl>
                                              <p:pRg st="4" end="4"/>
                                            </p:txEl>
                                          </p:spTgt>
                                        </p:tgtEl>
                                        <p:attrNameLst>
                                          <p:attrName>style.visibility</p:attrName>
                                        </p:attrNameLst>
                                      </p:cBhvr>
                                      <p:to>
                                        <p:strVal val="visible"/>
                                      </p:to>
                                    </p:set>
                                    <p:animEffect transition="in" filter="blinds(horizontal)">
                                      <p:cBhvr>
                                        <p:cTn id="25" dur="500"/>
                                        <p:tgtEl>
                                          <p:spTgt spid="2748419">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748419">
                                            <p:txEl>
                                              <p:pRg st="5" end="5"/>
                                            </p:txEl>
                                          </p:spTgt>
                                        </p:tgtEl>
                                        <p:attrNameLst>
                                          <p:attrName>style.visibility</p:attrName>
                                        </p:attrNameLst>
                                      </p:cBhvr>
                                      <p:to>
                                        <p:strVal val="visible"/>
                                      </p:to>
                                    </p:set>
                                    <p:animEffect transition="in" filter="blinds(horizontal)">
                                      <p:cBhvr>
                                        <p:cTn id="28" dur="500"/>
                                        <p:tgtEl>
                                          <p:spTgt spid="2748419">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748419">
                                            <p:txEl>
                                              <p:pRg st="6" end="6"/>
                                            </p:txEl>
                                          </p:spTgt>
                                        </p:tgtEl>
                                        <p:attrNameLst>
                                          <p:attrName>style.visibility</p:attrName>
                                        </p:attrNameLst>
                                      </p:cBhvr>
                                      <p:to>
                                        <p:strVal val="visible"/>
                                      </p:to>
                                    </p:set>
                                    <p:animEffect transition="in" filter="blinds(horizontal)">
                                      <p:cBhvr>
                                        <p:cTn id="33" dur="500"/>
                                        <p:tgtEl>
                                          <p:spTgt spid="27484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841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7398EEA-A736-4A10-8947-38CF67E63D9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94D8EFA8-6824-45BD-86DE-F3EC10841943}" type="slidenum">
              <a:rPr lang="en-US" altLang="zh-CN"/>
              <a:pPr/>
              <a:t>67</a:t>
            </a:fld>
            <a:endParaRPr lang="en-US" altLang="zh-CN"/>
          </a:p>
        </p:txBody>
      </p:sp>
      <p:sp>
        <p:nvSpPr>
          <p:cNvPr id="2749442" name="Rectangle 2"/>
          <p:cNvSpPr>
            <a:spLocks noGrp="1" noChangeArrowheads="1"/>
          </p:cNvSpPr>
          <p:nvPr>
            <p:ph type="title"/>
          </p:nvPr>
        </p:nvSpPr>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算法说明</a:t>
            </a:r>
          </a:p>
        </p:txBody>
      </p:sp>
      <p:sp>
        <p:nvSpPr>
          <p:cNvPr id="2749443" name="Rectangle 3"/>
          <p:cNvSpPr>
            <a:spLocks noGrp="1" noChangeArrowheads="1"/>
          </p:cNvSpPr>
          <p:nvPr>
            <p:ph type="body" idx="1"/>
          </p:nvPr>
        </p:nvSpPr>
        <p:spPr>
          <a:xfrm>
            <a:off x="684213" y="1412875"/>
            <a:ext cx="8064500" cy="4321175"/>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初始化值和前面的两个算法不同。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的初值大于实际的值。</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在迭代的过程种，</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out[B</a:t>
            </a:r>
            <a:r>
              <a:rPr lang="en-US" altLang="zh-CN" b="1" baseline="-25000" dirty="0">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的值逐渐缩小直到稳定。</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表示四元式的全集，就是四元式序列中所有表达式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op 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的集合。</a:t>
            </a:r>
          </a:p>
        </p:txBody>
      </p:sp>
    </p:spTree>
    <p:extLst>
      <p:ext uri="{BB962C8B-B14F-4D97-AF65-F5344CB8AC3E}">
        <p14:creationId xmlns:p14="http://schemas.microsoft.com/office/powerpoint/2010/main" val="2809897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49443">
                                            <p:txEl>
                                              <p:pRg st="0" end="0"/>
                                            </p:txEl>
                                          </p:spTgt>
                                        </p:tgtEl>
                                        <p:attrNameLst>
                                          <p:attrName>style.visibility</p:attrName>
                                        </p:attrNameLst>
                                      </p:cBhvr>
                                      <p:to>
                                        <p:strVal val="visible"/>
                                      </p:to>
                                    </p:set>
                                    <p:animEffect transition="in" filter="blinds(horizontal)">
                                      <p:cBhvr>
                                        <p:cTn id="7" dur="500"/>
                                        <p:tgtEl>
                                          <p:spTgt spid="2749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49443">
                                            <p:txEl>
                                              <p:pRg st="1" end="1"/>
                                            </p:txEl>
                                          </p:spTgt>
                                        </p:tgtEl>
                                        <p:attrNameLst>
                                          <p:attrName>style.visibility</p:attrName>
                                        </p:attrNameLst>
                                      </p:cBhvr>
                                      <p:to>
                                        <p:strVal val="visible"/>
                                      </p:to>
                                    </p:set>
                                    <p:animEffect transition="in" filter="blinds(horizontal)">
                                      <p:cBhvr>
                                        <p:cTn id="12" dur="500"/>
                                        <p:tgtEl>
                                          <p:spTgt spid="2749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49443">
                                            <p:txEl>
                                              <p:pRg st="2" end="2"/>
                                            </p:txEl>
                                          </p:spTgt>
                                        </p:tgtEl>
                                        <p:attrNameLst>
                                          <p:attrName>style.visibility</p:attrName>
                                        </p:attrNameLst>
                                      </p:cBhvr>
                                      <p:to>
                                        <p:strVal val="visible"/>
                                      </p:to>
                                    </p:set>
                                    <p:animEffect transition="in" filter="blinds(horizontal)">
                                      <p:cBhvr>
                                        <p:cTn id="17" dur="500"/>
                                        <p:tgtEl>
                                          <p:spTgt spid="2749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944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3D4894F-BD8E-45EF-9AB1-06945BFD125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2AB4DF83-5627-4375-A85E-54DF8CD1D023}" type="slidenum">
              <a:rPr lang="en-US" altLang="zh-CN"/>
              <a:pPr/>
              <a:t>68</a:t>
            </a:fld>
            <a:endParaRPr lang="en-US" altLang="zh-CN"/>
          </a:p>
        </p:txBody>
      </p:sp>
      <p:sp>
        <p:nvSpPr>
          <p:cNvPr id="2750466" name="Rectangle 2"/>
          <p:cNvSpPr>
            <a:spLocks noGrp="1" noChangeArrowheads="1"/>
          </p:cNvSpPr>
          <p:nvPr>
            <p:ph type="title"/>
          </p:nvPr>
        </p:nvSpPr>
        <p:spPr>
          <a:xfrm>
            <a:off x="755650" y="188913"/>
            <a:ext cx="7772400"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10.4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局部优化</a:t>
            </a:r>
          </a:p>
        </p:txBody>
      </p:sp>
      <p:sp>
        <p:nvSpPr>
          <p:cNvPr id="2750467" name="Rectangle 3"/>
          <p:cNvSpPr>
            <a:spLocks noGrp="1" noChangeArrowheads="1"/>
          </p:cNvSpPr>
          <p:nvPr>
            <p:ph type="body" idx="1"/>
          </p:nvPr>
        </p:nvSpPr>
        <p:spPr>
          <a:xfrm>
            <a:off x="152400" y="1196975"/>
            <a:ext cx="8839200" cy="4824413"/>
          </a:xfrm>
        </p:spPr>
        <p:txBody>
          <a:bodyPr/>
          <a:lstStyle/>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基本块的功能实际上就是计算一组表达式，这些表达式是在基本块出口活跃的变量的值。如果两个基本块计算一组同样的表达式，则称它们是等价的。 </a:t>
            </a:r>
          </a:p>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可以对基本块应用很多变换而不改变它所计算的表达式集合，许多这样的变换对改进最终由某基本块生成的代码的质量很有用。 </a:t>
            </a:r>
          </a:p>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利用基本块的</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表示可以实现一些常用的对基本块的变换。 </a:t>
            </a:r>
          </a:p>
        </p:txBody>
      </p:sp>
    </p:spTree>
    <p:extLst>
      <p:ext uri="{BB962C8B-B14F-4D97-AF65-F5344CB8AC3E}">
        <p14:creationId xmlns:p14="http://schemas.microsoft.com/office/powerpoint/2010/main" val="3934106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0467">
                                            <p:txEl>
                                              <p:pRg st="0" end="0"/>
                                            </p:txEl>
                                          </p:spTgt>
                                        </p:tgtEl>
                                        <p:attrNameLst>
                                          <p:attrName>style.visibility</p:attrName>
                                        </p:attrNameLst>
                                      </p:cBhvr>
                                      <p:to>
                                        <p:strVal val="visible"/>
                                      </p:to>
                                    </p:set>
                                    <p:animEffect transition="in" filter="blinds(horizontal)">
                                      <p:cBhvr>
                                        <p:cTn id="7" dur="500"/>
                                        <p:tgtEl>
                                          <p:spTgt spid="27504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50467">
                                            <p:txEl>
                                              <p:pRg st="1" end="1"/>
                                            </p:txEl>
                                          </p:spTgt>
                                        </p:tgtEl>
                                        <p:attrNameLst>
                                          <p:attrName>style.visibility</p:attrName>
                                        </p:attrNameLst>
                                      </p:cBhvr>
                                      <p:to>
                                        <p:strVal val="visible"/>
                                      </p:to>
                                    </p:set>
                                    <p:animEffect transition="in" filter="blinds(horizontal)">
                                      <p:cBhvr>
                                        <p:cTn id="12" dur="500"/>
                                        <p:tgtEl>
                                          <p:spTgt spid="2750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50467">
                                            <p:txEl>
                                              <p:pRg st="2" end="2"/>
                                            </p:txEl>
                                          </p:spTgt>
                                        </p:tgtEl>
                                        <p:attrNameLst>
                                          <p:attrName>style.visibility</p:attrName>
                                        </p:attrNameLst>
                                      </p:cBhvr>
                                      <p:to>
                                        <p:strVal val="visible"/>
                                      </p:to>
                                    </p:set>
                                    <p:animEffect transition="in" filter="blinds(horizontal)">
                                      <p:cBhvr>
                                        <p:cTn id="17" dur="500"/>
                                        <p:tgtEl>
                                          <p:spTgt spid="27504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0467"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4344A2C-3F79-47B7-B957-B8EB5DB63A36}"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56CF7E7-0256-4FCE-8220-3184DD881A67}" type="slidenum">
              <a:rPr lang="en-US" altLang="zh-CN"/>
              <a:pPr/>
              <a:t>69</a:t>
            </a:fld>
            <a:endParaRPr lang="en-US" altLang="zh-CN"/>
          </a:p>
        </p:txBody>
      </p:sp>
      <p:sp>
        <p:nvSpPr>
          <p:cNvPr id="2751490" name="Rectangle 2"/>
          <p:cNvSpPr>
            <a:spLocks noGrp="1" noChangeArrowheads="1"/>
          </p:cNvSpPr>
          <p:nvPr>
            <p:ph type="title"/>
          </p:nvPr>
        </p:nvSpPr>
        <p:spPr>
          <a:xfrm>
            <a:off x="755650" y="188913"/>
            <a:ext cx="7772400"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10.4.1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基本块的</a:t>
            </a:r>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表示 </a:t>
            </a:r>
          </a:p>
        </p:txBody>
      </p:sp>
      <p:sp>
        <p:nvSpPr>
          <p:cNvPr id="2751491" name="Rectangle 3"/>
          <p:cNvSpPr>
            <a:spLocks noGrp="1" noChangeArrowheads="1"/>
          </p:cNvSpPr>
          <p:nvPr>
            <p:ph type="body" idx="1"/>
          </p:nvPr>
        </p:nvSpPr>
        <p:spPr>
          <a:xfrm>
            <a:off x="152400" y="981075"/>
            <a:ext cx="8839200" cy="5256213"/>
          </a:xfrm>
        </p:spPr>
        <p:txBody>
          <a:bodyPr/>
          <a:lstStyle/>
          <a:p>
            <a:pPr>
              <a:lnSpc>
                <a:spcPct val="90000"/>
              </a:lnSpc>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的构造方法</a:t>
            </a:r>
          </a:p>
          <a:p>
            <a:pPr lvl="1">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⑴ 基本块中出现的每个变量都有一个</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节点表示其初始值。</a:t>
            </a:r>
          </a:p>
          <a:p>
            <a:pPr lvl="1">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⑵ 基本块中的每个语句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都有一个</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与之相关联。</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的子节点是那些在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之前、最后一次对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中用到的运算对象进行定义的语句所对应的节点。</a:t>
            </a:r>
          </a:p>
          <a:p>
            <a:pPr lvl="1">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⑶ 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由</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中用到的运算符来标记，节点</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还附加了一组变量，这些变量在基本块中都是由</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最后定义的。</a:t>
            </a:r>
          </a:p>
          <a:p>
            <a:pPr lvl="1">
              <a:lnSpc>
                <a:spcPct val="90000"/>
              </a:lnSpc>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⑷ 如果有的话，还要记下那些其值在块的出口是活跃的节点，它们是输出节点。流图的另一个基本块以后可能会用到这些变量的值。 </a:t>
            </a:r>
          </a:p>
        </p:txBody>
      </p:sp>
    </p:spTree>
    <p:extLst>
      <p:ext uri="{BB962C8B-B14F-4D97-AF65-F5344CB8AC3E}">
        <p14:creationId xmlns:p14="http://schemas.microsoft.com/office/powerpoint/2010/main" val="39909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1491">
                                            <p:txEl>
                                              <p:pRg st="0" end="0"/>
                                            </p:txEl>
                                          </p:spTgt>
                                        </p:tgtEl>
                                        <p:attrNameLst>
                                          <p:attrName>style.visibility</p:attrName>
                                        </p:attrNameLst>
                                      </p:cBhvr>
                                      <p:to>
                                        <p:strVal val="visible"/>
                                      </p:to>
                                    </p:set>
                                    <p:animEffect transition="in" filter="blinds(horizontal)">
                                      <p:cBhvr>
                                        <p:cTn id="7" dur="500"/>
                                        <p:tgtEl>
                                          <p:spTgt spid="27514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51491">
                                            <p:txEl>
                                              <p:pRg st="1" end="1"/>
                                            </p:txEl>
                                          </p:spTgt>
                                        </p:tgtEl>
                                        <p:attrNameLst>
                                          <p:attrName>style.visibility</p:attrName>
                                        </p:attrNameLst>
                                      </p:cBhvr>
                                      <p:to>
                                        <p:strVal val="visible"/>
                                      </p:to>
                                    </p:set>
                                    <p:animEffect transition="in" filter="blinds(horizontal)">
                                      <p:cBhvr>
                                        <p:cTn id="12" dur="500"/>
                                        <p:tgtEl>
                                          <p:spTgt spid="27514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51491">
                                            <p:txEl>
                                              <p:pRg st="2" end="2"/>
                                            </p:txEl>
                                          </p:spTgt>
                                        </p:tgtEl>
                                        <p:attrNameLst>
                                          <p:attrName>style.visibility</p:attrName>
                                        </p:attrNameLst>
                                      </p:cBhvr>
                                      <p:to>
                                        <p:strVal val="visible"/>
                                      </p:to>
                                    </p:set>
                                    <p:animEffect transition="in" filter="blinds(horizontal)">
                                      <p:cBhvr>
                                        <p:cTn id="17" dur="500"/>
                                        <p:tgtEl>
                                          <p:spTgt spid="27514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51491">
                                            <p:txEl>
                                              <p:pRg st="3" end="3"/>
                                            </p:txEl>
                                          </p:spTgt>
                                        </p:tgtEl>
                                        <p:attrNameLst>
                                          <p:attrName>style.visibility</p:attrName>
                                        </p:attrNameLst>
                                      </p:cBhvr>
                                      <p:to>
                                        <p:strVal val="visible"/>
                                      </p:to>
                                    </p:set>
                                    <p:animEffect transition="in" filter="blinds(horizontal)">
                                      <p:cBhvr>
                                        <p:cTn id="22" dur="500"/>
                                        <p:tgtEl>
                                          <p:spTgt spid="27514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51491">
                                            <p:txEl>
                                              <p:pRg st="4" end="4"/>
                                            </p:txEl>
                                          </p:spTgt>
                                        </p:tgtEl>
                                        <p:attrNameLst>
                                          <p:attrName>style.visibility</p:attrName>
                                        </p:attrNameLst>
                                      </p:cBhvr>
                                      <p:to>
                                        <p:strVal val="visible"/>
                                      </p:to>
                                    </p:set>
                                    <p:animEffect transition="in" filter="blinds(horizontal)">
                                      <p:cBhvr>
                                        <p:cTn id="27" dur="500"/>
                                        <p:tgtEl>
                                          <p:spTgt spid="27514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1491" grpId="0" build="p" bldLvl="2"/>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08E597A-2CAA-4340-AEB3-79EC78B8CE6B}"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6AA1F09-B9FB-45D2-858D-273A6597BAE7}" type="slidenum">
              <a:rPr lang="en-US" altLang="zh-CN"/>
              <a:pPr/>
              <a:t>70</a:t>
            </a:fld>
            <a:endParaRPr lang="en-US" altLang="zh-CN"/>
          </a:p>
        </p:txBody>
      </p:sp>
      <p:sp>
        <p:nvSpPr>
          <p:cNvPr id="2752514" name="Rectangle 2"/>
          <p:cNvSpPr>
            <a:spLocks noGrp="1" noChangeArrowheads="1"/>
          </p:cNvSpPr>
          <p:nvPr>
            <p:ph type="title"/>
          </p:nvPr>
        </p:nvSpPr>
        <p:spPr>
          <a:xfrm>
            <a:off x="755650" y="188913"/>
            <a:ext cx="7772400" cy="719137"/>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利用</a:t>
            </a:r>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进行的基本块变换</a:t>
            </a:r>
          </a:p>
        </p:txBody>
      </p:sp>
      <p:sp>
        <p:nvSpPr>
          <p:cNvPr id="2752515" name="Rectangle 3"/>
          <p:cNvSpPr>
            <a:spLocks noGrp="1" noChangeArrowheads="1"/>
          </p:cNvSpPr>
          <p:nvPr>
            <p:ph type="body" idx="1"/>
          </p:nvPr>
        </p:nvSpPr>
        <p:spPr>
          <a:xfrm>
            <a:off x="196850" y="1125538"/>
            <a:ext cx="8839200" cy="4392612"/>
          </a:xfrm>
        </p:spPr>
        <p:txBody>
          <a:bodyPr/>
          <a:lstStyle/>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⑴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局部公共子表达式删除。</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⑵ 无用代码删除。</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⑶ 交换两个独立的相邻语句的次序，以便减少某个临时值需要保存在寄存器中的时间。</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⑷ 使用代数规则重新排列三地址码的运算对象的顺序，以便简化计算过程。</a:t>
            </a:r>
          </a:p>
        </p:txBody>
      </p:sp>
    </p:spTree>
    <p:extLst>
      <p:ext uri="{BB962C8B-B14F-4D97-AF65-F5344CB8AC3E}">
        <p14:creationId xmlns:p14="http://schemas.microsoft.com/office/powerpoint/2010/main" val="1357214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2515">
                                            <p:txEl>
                                              <p:pRg st="0" end="0"/>
                                            </p:txEl>
                                          </p:spTgt>
                                        </p:tgtEl>
                                        <p:attrNameLst>
                                          <p:attrName>style.visibility</p:attrName>
                                        </p:attrNameLst>
                                      </p:cBhvr>
                                      <p:to>
                                        <p:strVal val="visible"/>
                                      </p:to>
                                    </p:set>
                                    <p:animEffect transition="in" filter="blinds(horizontal)">
                                      <p:cBhvr>
                                        <p:cTn id="7" dur="500"/>
                                        <p:tgtEl>
                                          <p:spTgt spid="2752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52515">
                                            <p:txEl>
                                              <p:pRg st="1" end="1"/>
                                            </p:txEl>
                                          </p:spTgt>
                                        </p:tgtEl>
                                        <p:attrNameLst>
                                          <p:attrName>style.visibility</p:attrName>
                                        </p:attrNameLst>
                                      </p:cBhvr>
                                      <p:to>
                                        <p:strVal val="visible"/>
                                      </p:to>
                                    </p:set>
                                    <p:animEffect transition="in" filter="blinds(horizontal)">
                                      <p:cBhvr>
                                        <p:cTn id="12" dur="500"/>
                                        <p:tgtEl>
                                          <p:spTgt spid="2752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52515">
                                            <p:txEl>
                                              <p:pRg st="2" end="2"/>
                                            </p:txEl>
                                          </p:spTgt>
                                        </p:tgtEl>
                                        <p:attrNameLst>
                                          <p:attrName>style.visibility</p:attrName>
                                        </p:attrNameLst>
                                      </p:cBhvr>
                                      <p:to>
                                        <p:strVal val="visible"/>
                                      </p:to>
                                    </p:set>
                                    <p:animEffect transition="in" filter="blinds(horizontal)">
                                      <p:cBhvr>
                                        <p:cTn id="17" dur="500"/>
                                        <p:tgtEl>
                                          <p:spTgt spid="275251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52515">
                                            <p:txEl>
                                              <p:pRg st="3" end="3"/>
                                            </p:txEl>
                                          </p:spTgt>
                                        </p:tgtEl>
                                        <p:attrNameLst>
                                          <p:attrName>style.visibility</p:attrName>
                                        </p:attrNameLst>
                                      </p:cBhvr>
                                      <p:to>
                                        <p:strVal val="visible"/>
                                      </p:to>
                                    </p:set>
                                    <p:animEffect transition="in" filter="blinds(horizontal)">
                                      <p:cBhvr>
                                        <p:cTn id="22" dur="500"/>
                                        <p:tgtEl>
                                          <p:spTgt spid="2752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251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E0E766B6-4636-4753-BC98-8B678FCF613D}"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B6338FED-689F-4ACD-B691-FFA315CE6E66}" type="slidenum">
              <a:rPr lang="en-US" altLang="zh-CN"/>
              <a:pPr/>
              <a:t>71</a:t>
            </a:fld>
            <a:endParaRPr lang="en-US" altLang="zh-CN"/>
          </a:p>
        </p:txBody>
      </p:sp>
      <p:sp>
        <p:nvSpPr>
          <p:cNvPr id="2753538" name="Rectangle 2"/>
          <p:cNvSpPr>
            <a:spLocks noGrp="1" noChangeArrowheads="1"/>
          </p:cNvSpPr>
          <p:nvPr>
            <p:ph type="title"/>
          </p:nvPr>
        </p:nvSpPr>
        <p:spPr>
          <a:xfrm>
            <a:off x="457200" y="274638"/>
            <a:ext cx="8229600" cy="850900"/>
          </a:xfrm>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10.4.2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局部公共子表达式删除 </a:t>
            </a:r>
          </a:p>
        </p:txBody>
      </p:sp>
      <p:sp>
        <p:nvSpPr>
          <p:cNvPr id="2753539" name="Rectangle 3"/>
          <p:cNvSpPr>
            <a:spLocks noGrp="1" noChangeArrowheads="1"/>
          </p:cNvSpPr>
          <p:nvPr>
            <p:ph type="body" idx="1"/>
          </p:nvPr>
        </p:nvSpPr>
        <p:spPr>
          <a:xfrm>
            <a:off x="250825" y="1196975"/>
            <a:ext cx="5473700" cy="5327650"/>
          </a:xfrm>
        </p:spPr>
        <p:txBody>
          <a:bodyPr/>
          <a:lstStyle/>
          <a:p>
            <a:pPr>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10.12</a:t>
            </a:r>
          </a:p>
          <a:p>
            <a:pPr lvl="1">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a := b+c</a:t>
            </a:r>
          </a:p>
          <a:p>
            <a:pPr lvl="1">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b := a-d</a:t>
            </a:r>
          </a:p>
          <a:p>
            <a:pPr lvl="1">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c := b+c</a:t>
            </a:r>
          </a:p>
          <a:p>
            <a:pPr lvl="1">
              <a:buFontTx/>
              <a:buNone/>
            </a:pPr>
            <a:r>
              <a:rPr lang="pt-BR" altLang="zh-CN" b="1" dirty="0">
                <a:latin typeface="Times New Roman" panose="02020603050405020304" pitchFamily="18" charset="0"/>
                <a:ea typeface="华文新魏" panose="02010800040101010101" pitchFamily="2" charset="-122"/>
                <a:cs typeface="Times New Roman" panose="02020603050405020304" pitchFamily="18" charset="0"/>
              </a:rPr>
              <a:t>d := a-d             (10.8)</a:t>
            </a:r>
          </a:p>
          <a:p>
            <a:r>
              <a:rPr lang="zh-CN" altLang="pt-BR"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在出口处不是活跃的：</a:t>
            </a:r>
          </a:p>
          <a:p>
            <a:pPr lvl="1">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a := </a:t>
            </a:r>
            <a:r>
              <a:rPr lang="en-US" altLang="zh-CN" b="1" dirty="0" err="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b+c</a:t>
            </a:r>
            <a:endPar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endParaRPr>
          </a:p>
          <a:p>
            <a:pPr lvl="1">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d := a-d</a:t>
            </a:r>
          </a:p>
          <a:p>
            <a:pPr lvl="1">
              <a:buFontTx/>
              <a:buNone/>
            </a:pPr>
            <a:r>
              <a:rPr lang="en-US" altLang="zh-CN" b="1" dirty="0">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c := </a:t>
            </a:r>
            <a:r>
              <a:rPr lang="en-US" altLang="zh-CN" b="1" dirty="0" err="1">
                <a:solidFill>
                  <a:srgbClr val="FF0000"/>
                </a:solidFill>
                <a:latin typeface="Times New Roman" panose="02020603050405020304" pitchFamily="18" charset="0"/>
                <a:ea typeface="华文新魏" panose="02010800040101010101" pitchFamily="2" charset="-122"/>
                <a:cs typeface="Times New Roman" panose="02020603050405020304" pitchFamily="18" charset="0"/>
              </a:rPr>
              <a:t>d+c</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endParaRPr lang="pt-BR"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53540" name="Rectangle 4"/>
          <p:cNvSpPr>
            <a:spLocks noChangeArrowheads="1"/>
          </p:cNvSpPr>
          <p:nvPr/>
        </p:nvSpPr>
        <p:spPr bwMode="auto">
          <a:xfrm>
            <a:off x="0" y="2557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53541" name="Object 5"/>
          <p:cNvGraphicFramePr>
            <a:graphicFrameLocks noChangeAspect="1"/>
          </p:cNvGraphicFramePr>
          <p:nvPr/>
        </p:nvGraphicFramePr>
        <p:xfrm>
          <a:off x="4786313" y="1162050"/>
          <a:ext cx="4249737" cy="3794125"/>
        </p:xfrm>
        <a:graphic>
          <a:graphicData uri="http://schemas.openxmlformats.org/presentationml/2006/ole">
            <mc:AlternateContent xmlns:mc="http://schemas.openxmlformats.org/markup-compatibility/2006">
              <mc:Choice xmlns:v="urn:schemas-microsoft-com:vml" Requires="v">
                <p:oleObj spid="_x0000_s112643" name="Visio" r:id="rId3" imgW="1697282" imgH="1515579" progId="Visio.Drawing.11">
                  <p:embed/>
                </p:oleObj>
              </mc:Choice>
              <mc:Fallback>
                <p:oleObj name="Visio" r:id="rId3" imgW="1697282" imgH="1515579" progId="Visio.Drawing.11">
                  <p:embed/>
                  <p:pic>
                    <p:nvPicPr>
                      <p:cNvPr id="27535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1162050"/>
                        <a:ext cx="4249737" cy="3794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53542" name="Rectangle 6"/>
          <p:cNvSpPr>
            <a:spLocks noChangeArrowheads="1"/>
          </p:cNvSpPr>
          <p:nvPr/>
        </p:nvSpPr>
        <p:spPr bwMode="auto">
          <a:xfrm>
            <a:off x="5297488" y="5132388"/>
            <a:ext cx="3689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t>图</a:t>
            </a:r>
            <a:r>
              <a:rPr kumimoji="1" lang="en-US" altLang="zh-CN" b="1"/>
              <a:t>10.13 </a:t>
            </a:r>
            <a:r>
              <a:rPr kumimoji="1" lang="zh-CN" altLang="en-US" b="1"/>
              <a:t>基本块</a:t>
            </a:r>
            <a:r>
              <a:rPr kumimoji="1" lang="en-US" altLang="zh-CN" b="1"/>
              <a:t>(10.8)</a:t>
            </a:r>
            <a:r>
              <a:rPr kumimoji="1" lang="zh-CN" altLang="en-US" b="1"/>
              <a:t>的</a:t>
            </a:r>
            <a:r>
              <a:rPr kumimoji="1" lang="en-US" altLang="zh-CN" b="1"/>
              <a:t>dag</a:t>
            </a:r>
          </a:p>
        </p:txBody>
      </p:sp>
    </p:spTree>
    <p:extLst>
      <p:ext uri="{BB962C8B-B14F-4D97-AF65-F5344CB8AC3E}">
        <p14:creationId xmlns:p14="http://schemas.microsoft.com/office/powerpoint/2010/main" val="32471584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half" idx="10"/>
          </p:nvPr>
        </p:nvSpPr>
        <p:spPr/>
        <p:txBody>
          <a:bodyPr/>
          <a:lstStyle/>
          <a:p>
            <a:fld id="{FA78FFE6-1262-401D-B47D-7F2E183671B8}" type="datetime1">
              <a:rPr lang="zh-CN" altLang="en-US"/>
              <a:pPr/>
              <a:t>2017/2/24</a:t>
            </a:fld>
            <a:endParaRPr lang="en-US" altLang="zh-CN"/>
          </a:p>
        </p:txBody>
      </p:sp>
      <p:sp>
        <p:nvSpPr>
          <p:cNvPr id="9" name="灯片编号占位符 5"/>
          <p:cNvSpPr>
            <a:spLocks noGrp="1"/>
          </p:cNvSpPr>
          <p:nvPr>
            <p:ph type="sldNum" sz="quarter" idx="12"/>
          </p:nvPr>
        </p:nvSpPr>
        <p:spPr/>
        <p:txBody>
          <a:bodyPr/>
          <a:lstStyle/>
          <a:p>
            <a:fld id="{AFEED286-A016-45F9-852A-733C90B1D6AE}" type="slidenum">
              <a:rPr lang="en-US" altLang="zh-CN"/>
              <a:pPr/>
              <a:t>72</a:t>
            </a:fld>
            <a:endParaRPr lang="en-US" altLang="zh-CN"/>
          </a:p>
        </p:txBody>
      </p:sp>
      <p:sp>
        <p:nvSpPr>
          <p:cNvPr id="2754562" name="Rectangle 2"/>
          <p:cNvSpPr>
            <a:spLocks noGrp="1" noChangeArrowheads="1"/>
          </p:cNvSpPr>
          <p:nvPr>
            <p:ph type="title"/>
          </p:nvPr>
        </p:nvSpPr>
        <p:spPr>
          <a:xfrm>
            <a:off x="755650" y="117475"/>
            <a:ext cx="7772400"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10.4.3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无用代码删除 </a:t>
            </a:r>
          </a:p>
        </p:txBody>
      </p:sp>
      <p:sp>
        <p:nvSpPr>
          <p:cNvPr id="2754563" name="Rectangle 3"/>
          <p:cNvSpPr>
            <a:spLocks noGrp="1" noChangeArrowheads="1"/>
          </p:cNvSpPr>
          <p:nvPr>
            <p:ph type="body" idx="1"/>
          </p:nvPr>
        </p:nvSpPr>
        <p:spPr>
          <a:xfrm>
            <a:off x="152400" y="908050"/>
            <a:ext cx="8839200" cy="5400675"/>
          </a:xfrm>
        </p:spPr>
        <p:txBody>
          <a:bodyPr/>
          <a:lstStyle/>
          <a:p>
            <a:pPr>
              <a:spcBef>
                <a:spcPct val="0"/>
              </a:spcBef>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上删除无用代码的方法很简单：只要从</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上删除所有没有附加活跃变量的根节点</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即没有父节点的节点</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即可。重复进行这样的处理即可从</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中删除所有与无用代码相对应的节点。</a:t>
            </a:r>
          </a:p>
          <a:p>
            <a:pPr lvl="3">
              <a:spcBef>
                <a:spcPct val="0"/>
              </a:spcBef>
              <a:buFontTx/>
              <a:buNone/>
            </a:pPr>
            <a:r>
              <a:rPr lang="pt-BR" altLang="zh-CN" sz="2400" b="1" dirty="0">
                <a:latin typeface="Times New Roman" panose="02020603050405020304" pitchFamily="18" charset="0"/>
                <a:ea typeface="华文新魏" panose="02010800040101010101" pitchFamily="2" charset="-122"/>
                <a:cs typeface="Times New Roman" panose="02020603050405020304" pitchFamily="18" charset="0"/>
              </a:rPr>
              <a:t>a := b+c</a:t>
            </a:r>
          </a:p>
          <a:p>
            <a:pPr lvl="3">
              <a:spcBef>
                <a:spcPct val="0"/>
              </a:spcBef>
              <a:buFontTx/>
              <a:buNone/>
            </a:pPr>
            <a:r>
              <a:rPr lang="pt-BR" altLang="zh-CN" sz="2400" b="1" dirty="0">
                <a:latin typeface="Times New Roman" panose="02020603050405020304" pitchFamily="18" charset="0"/>
                <a:ea typeface="华文新魏" panose="02010800040101010101" pitchFamily="2" charset="-122"/>
                <a:cs typeface="Times New Roman" panose="02020603050405020304" pitchFamily="18" charset="0"/>
              </a:rPr>
              <a:t>b := b-d</a:t>
            </a:r>
          </a:p>
          <a:p>
            <a:pPr lvl="3">
              <a:spcBef>
                <a:spcPct val="0"/>
              </a:spcBef>
              <a:buFontTx/>
              <a:buNone/>
            </a:pPr>
            <a:r>
              <a:rPr lang="pt-BR" altLang="zh-CN" sz="2400" b="1" dirty="0">
                <a:latin typeface="Times New Roman" panose="02020603050405020304" pitchFamily="18" charset="0"/>
                <a:ea typeface="华文新魏" panose="02010800040101010101" pitchFamily="2" charset="-122"/>
                <a:cs typeface="Times New Roman" panose="02020603050405020304" pitchFamily="18" charset="0"/>
              </a:rPr>
              <a:t>c := c+d</a:t>
            </a:r>
          </a:p>
          <a:p>
            <a:pPr lvl="3">
              <a:spcBef>
                <a:spcPct val="0"/>
              </a:spcBef>
              <a:buFontTx/>
              <a:buNone/>
            </a:pPr>
            <a:r>
              <a:rPr lang="pt-BR" altLang="zh-CN" sz="2400" b="1" dirty="0">
                <a:latin typeface="Times New Roman" panose="02020603050405020304" pitchFamily="18" charset="0"/>
                <a:ea typeface="华文新魏" panose="02010800040101010101" pitchFamily="2" charset="-122"/>
                <a:cs typeface="Times New Roman" panose="02020603050405020304" pitchFamily="18" charset="0"/>
              </a:rPr>
              <a:t>e := b+c </a:t>
            </a:r>
          </a:p>
          <a:p>
            <a:pPr>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图</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10.14</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中的</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a</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是活跃变量，</a:t>
            </a:r>
          </a:p>
          <a:p>
            <a:pPr>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而</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不是，我们可以立即删除</a:t>
            </a:r>
          </a:p>
          <a:p>
            <a:pPr>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标记为</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e</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的根节点。随后，标记</a:t>
            </a:r>
          </a:p>
          <a:p>
            <a:pPr>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的节点变成了根节点，</a:t>
            </a:r>
          </a:p>
          <a:p>
            <a:pPr>
              <a:spcBef>
                <a:spcPct val="0"/>
              </a:spcBef>
              <a:buFontTx/>
              <a:buNone/>
            </a:pP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下一步也可以被删除。</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p>
        </p:txBody>
      </p:sp>
      <p:sp>
        <p:nvSpPr>
          <p:cNvPr id="2754564" name="Rectangle 4"/>
          <p:cNvSpPr>
            <a:spLocks noChangeArrowheads="1"/>
          </p:cNvSpPr>
          <p:nvPr/>
        </p:nvSpPr>
        <p:spPr bwMode="auto">
          <a:xfrm>
            <a:off x="0" y="27352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54565" name="Object 5"/>
          <p:cNvGraphicFramePr>
            <a:graphicFrameLocks noChangeAspect="1"/>
          </p:cNvGraphicFramePr>
          <p:nvPr/>
        </p:nvGraphicFramePr>
        <p:xfrm>
          <a:off x="4645025" y="2636838"/>
          <a:ext cx="4248150" cy="2809875"/>
        </p:xfrm>
        <a:graphic>
          <a:graphicData uri="http://schemas.openxmlformats.org/presentationml/2006/ole">
            <mc:AlternateContent xmlns:mc="http://schemas.openxmlformats.org/markup-compatibility/2006">
              <mc:Choice xmlns:v="urn:schemas-microsoft-com:vml" Requires="v">
                <p:oleObj spid="_x0000_s113667" name="Visio" r:id="rId3" imgW="1752276" imgH="1158988" progId="Visio.Drawing.11">
                  <p:embed/>
                </p:oleObj>
              </mc:Choice>
              <mc:Fallback>
                <p:oleObj name="Visio" r:id="rId3" imgW="1752276" imgH="1158988" progId="Visio.Drawing.11">
                  <p:embed/>
                  <p:pic>
                    <p:nvPicPr>
                      <p:cNvPr id="275456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5025" y="2636838"/>
                        <a:ext cx="4248150" cy="280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54566" name="Rectangle 6"/>
          <p:cNvSpPr>
            <a:spLocks noChangeArrowheads="1"/>
          </p:cNvSpPr>
          <p:nvPr/>
        </p:nvSpPr>
        <p:spPr bwMode="auto">
          <a:xfrm>
            <a:off x="4929188" y="5589588"/>
            <a:ext cx="3841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b="1">
                <a:ea typeface="楷体_GB2312" pitchFamily="49" charset="-122"/>
              </a:rPr>
              <a:t>图</a:t>
            </a:r>
            <a:r>
              <a:rPr kumimoji="1" lang="en-US" altLang="zh-CN" b="1">
                <a:ea typeface="楷体_GB2312" pitchFamily="49" charset="-122"/>
              </a:rPr>
              <a:t>10.14</a:t>
            </a:r>
            <a:r>
              <a:rPr kumimoji="1" lang="zh-CN" altLang="en-US" b="1">
                <a:ea typeface="楷体_GB2312" pitchFamily="49" charset="-122"/>
              </a:rPr>
              <a:t>基本块</a:t>
            </a:r>
            <a:r>
              <a:rPr kumimoji="1" lang="en-US" altLang="zh-CN" b="1">
                <a:ea typeface="楷体_GB2312" pitchFamily="49" charset="-122"/>
              </a:rPr>
              <a:t>(10.9)</a:t>
            </a:r>
            <a:r>
              <a:rPr kumimoji="1" lang="zh-CN" altLang="en-US" b="1">
                <a:ea typeface="楷体_GB2312" pitchFamily="49" charset="-122"/>
              </a:rPr>
              <a:t>的</a:t>
            </a:r>
            <a:r>
              <a:rPr kumimoji="1" lang="en-US" altLang="zh-CN" b="1">
                <a:ea typeface="楷体_GB2312" pitchFamily="49" charset="-122"/>
              </a:rPr>
              <a:t>dag</a:t>
            </a:r>
          </a:p>
        </p:txBody>
      </p:sp>
    </p:spTree>
    <p:extLst>
      <p:ext uri="{BB962C8B-B14F-4D97-AF65-F5344CB8AC3E}">
        <p14:creationId xmlns:p14="http://schemas.microsoft.com/office/powerpoint/2010/main" val="31360794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ACCB1D5-AC7D-42B7-83F1-84FB9615CB6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BF300CC-9970-4FB3-AD24-65582AD2280F}" type="slidenum">
              <a:rPr lang="en-US" altLang="zh-CN"/>
              <a:pPr/>
              <a:t>73</a:t>
            </a:fld>
            <a:endParaRPr lang="en-US" altLang="zh-CN"/>
          </a:p>
        </p:txBody>
      </p:sp>
      <p:sp>
        <p:nvSpPr>
          <p:cNvPr id="2755586" name="Rectangle 2"/>
          <p:cNvSpPr>
            <a:spLocks noGrp="1" noChangeArrowheads="1"/>
          </p:cNvSpPr>
          <p:nvPr>
            <p:ph type="title"/>
          </p:nvPr>
        </p:nvSpPr>
        <p:spPr>
          <a:xfrm>
            <a:off x="755650" y="188913"/>
            <a:ext cx="7772400"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10.4.4</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代数恒等式的使用 </a:t>
            </a:r>
          </a:p>
        </p:txBody>
      </p:sp>
      <p:sp>
        <p:nvSpPr>
          <p:cNvPr id="2755587" name="Rectangle 3"/>
          <p:cNvSpPr>
            <a:spLocks noGrp="1" noChangeArrowheads="1"/>
          </p:cNvSpPr>
          <p:nvPr>
            <p:ph type="body" idx="1"/>
          </p:nvPr>
        </p:nvSpPr>
        <p:spPr>
          <a:xfrm>
            <a:off x="152400" y="1773238"/>
            <a:ext cx="8839200" cy="46799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代数恒等式代表基本块上另一类重要的优化方法，下面是一些常见的代数恒等式：</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x+0 = 0+x = x      x–0 = x       x*1 = 1*x = x        x/1 = x</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另外一类代数优化是局部强度削弱，即用较快的运算符取代较慢的运算符，例如：</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x**2 = x*x       2.0*x =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x+x</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x/2 = x*0.5</a:t>
            </a:r>
          </a:p>
        </p:txBody>
      </p:sp>
    </p:spTree>
    <p:extLst>
      <p:ext uri="{BB962C8B-B14F-4D97-AF65-F5344CB8AC3E}">
        <p14:creationId xmlns:p14="http://schemas.microsoft.com/office/powerpoint/2010/main" val="319589546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EA62406-92C9-4C25-9928-285F53B6E49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68EF9A40-9BB0-486E-8C6E-322914310000}" type="slidenum">
              <a:rPr lang="en-US" altLang="zh-CN"/>
              <a:pPr/>
              <a:t>74</a:t>
            </a:fld>
            <a:endParaRPr lang="en-US" altLang="zh-CN"/>
          </a:p>
        </p:txBody>
      </p:sp>
      <p:sp>
        <p:nvSpPr>
          <p:cNvPr id="2887682" name="Rectangle 2"/>
          <p:cNvSpPr>
            <a:spLocks noGrp="1" noChangeArrowheads="1"/>
          </p:cNvSpPr>
          <p:nvPr>
            <p:ph type="title"/>
          </p:nvPr>
        </p:nvSpPr>
        <p:spPr>
          <a:xfrm>
            <a:off x="755650" y="188913"/>
            <a:ext cx="7772400"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10.4.4</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代数恒等式的使用 </a:t>
            </a:r>
          </a:p>
        </p:txBody>
      </p:sp>
      <p:sp>
        <p:nvSpPr>
          <p:cNvPr id="2887683" name="Rectangle 3"/>
          <p:cNvSpPr>
            <a:spLocks noGrp="1" noChangeArrowheads="1"/>
          </p:cNvSpPr>
          <p:nvPr>
            <p:ph type="body" idx="1"/>
          </p:nvPr>
        </p:nvSpPr>
        <p:spPr>
          <a:xfrm>
            <a:off x="152400" y="1628775"/>
            <a:ext cx="8839200" cy="4824413"/>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第三类相关的优化技术是常量合并。即在编译时对常量表达式进行计算，并利用它们的值取代常量表达式。例如，表达式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2*3.14</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可以替换为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6.28</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dag</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构造过程可以帮助我们应用上述和更多其它的通用代数变换，比如交换律和结合律。 </a:t>
            </a:r>
          </a:p>
        </p:txBody>
      </p:sp>
    </p:spTree>
    <p:extLst>
      <p:ext uri="{BB962C8B-B14F-4D97-AF65-F5344CB8AC3E}">
        <p14:creationId xmlns:p14="http://schemas.microsoft.com/office/powerpoint/2010/main" val="2942032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59F18F3-7C08-4905-882A-966F000F7E05}"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B27F52F-2D1F-451A-8793-549A8CF3EA01}" type="slidenum">
              <a:rPr lang="en-US" altLang="zh-CN"/>
              <a:pPr/>
              <a:t>75</a:t>
            </a:fld>
            <a:endParaRPr lang="en-US" altLang="zh-CN"/>
          </a:p>
        </p:txBody>
      </p:sp>
      <p:sp>
        <p:nvSpPr>
          <p:cNvPr id="2761730" name="Rectangle 2"/>
          <p:cNvSpPr>
            <a:spLocks noGrp="1" noChangeArrowheads="1"/>
          </p:cNvSpPr>
          <p:nvPr>
            <p:ph type="title"/>
          </p:nvPr>
        </p:nvSpPr>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10.5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循环优化</a:t>
            </a:r>
          </a:p>
        </p:txBody>
      </p:sp>
      <p:sp>
        <p:nvSpPr>
          <p:cNvPr id="2761731" name="Rectangle 3"/>
          <p:cNvSpPr>
            <a:spLocks noGrp="1" noChangeArrowheads="1"/>
          </p:cNvSpPr>
          <p:nvPr>
            <p:ph type="body" idx="1"/>
          </p:nvPr>
        </p:nvSpPr>
        <p:spPr>
          <a:xfrm>
            <a:off x="684213" y="1628775"/>
            <a:ext cx="7772400" cy="4402138"/>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循环不变计算的检测</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代码外提</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a:t>
            </a:r>
          </a:p>
        </p:txBody>
      </p:sp>
    </p:spTree>
    <p:extLst>
      <p:ext uri="{BB962C8B-B14F-4D97-AF65-F5344CB8AC3E}">
        <p14:creationId xmlns:p14="http://schemas.microsoft.com/office/powerpoint/2010/main" val="1133904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1731">
                                            <p:txEl>
                                              <p:pRg st="0" end="0"/>
                                            </p:txEl>
                                          </p:spTgt>
                                        </p:tgtEl>
                                        <p:attrNameLst>
                                          <p:attrName>style.visibility</p:attrName>
                                        </p:attrNameLst>
                                      </p:cBhvr>
                                      <p:to>
                                        <p:strVal val="visible"/>
                                      </p:to>
                                    </p:set>
                                    <p:animEffect transition="in" filter="blinds(horizontal)">
                                      <p:cBhvr>
                                        <p:cTn id="7" dur="500"/>
                                        <p:tgtEl>
                                          <p:spTgt spid="2761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1731">
                                            <p:txEl>
                                              <p:pRg st="1" end="1"/>
                                            </p:txEl>
                                          </p:spTgt>
                                        </p:tgtEl>
                                        <p:attrNameLst>
                                          <p:attrName>style.visibility</p:attrName>
                                        </p:attrNameLst>
                                      </p:cBhvr>
                                      <p:to>
                                        <p:strVal val="visible"/>
                                      </p:to>
                                    </p:set>
                                    <p:animEffect transition="in" filter="blinds(horizontal)">
                                      <p:cBhvr>
                                        <p:cTn id="12" dur="500"/>
                                        <p:tgtEl>
                                          <p:spTgt spid="27617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1731">
                                            <p:txEl>
                                              <p:pRg st="2" end="2"/>
                                            </p:txEl>
                                          </p:spTgt>
                                        </p:tgtEl>
                                        <p:attrNameLst>
                                          <p:attrName>style.visibility</p:attrName>
                                        </p:attrNameLst>
                                      </p:cBhvr>
                                      <p:to>
                                        <p:strVal val="visible"/>
                                      </p:to>
                                    </p:set>
                                    <p:animEffect transition="in" filter="blinds(horizontal)">
                                      <p:cBhvr>
                                        <p:cTn id="17" dur="500"/>
                                        <p:tgtEl>
                                          <p:spTgt spid="27617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1731"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0A9C3B9-545A-464D-BED5-ED8ECC1A867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5D7AB2C-F6F4-4FDA-B8C5-F4AED0131C68}" type="slidenum">
              <a:rPr lang="en-US" altLang="zh-CN"/>
              <a:pPr/>
              <a:t>76</a:t>
            </a:fld>
            <a:endParaRPr lang="en-US" altLang="zh-CN"/>
          </a:p>
        </p:txBody>
      </p:sp>
      <p:sp>
        <p:nvSpPr>
          <p:cNvPr id="2762754"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10.5.1</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循环不变计算的检测 </a:t>
            </a:r>
          </a:p>
        </p:txBody>
      </p:sp>
      <p:sp>
        <p:nvSpPr>
          <p:cNvPr id="2762755" name="Rectangle 3"/>
          <p:cNvSpPr>
            <a:spLocks noGrp="1" noChangeArrowheads="1"/>
          </p:cNvSpPr>
          <p:nvPr>
            <p:ph type="body" idx="1"/>
          </p:nvPr>
        </p:nvSpPr>
        <p:spPr>
          <a:xfrm>
            <a:off x="152400" y="908050"/>
            <a:ext cx="8839200" cy="5761038"/>
          </a:xfrm>
        </p:spPr>
        <p:txBody>
          <a:bodyPr/>
          <a:lstStyle/>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10.7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循环不变计算检测。</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输入：由一组基本块构成的循环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，每个基本块包括一系列的三地址码，且每个三地址码的</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链均可用；</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输出：从控制进入循环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一直到离开</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，每次都计算同样值的三地址码；</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步骤：</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．将如下语句标记为“不变”：它们的运算对象或者是常数，或者它们的所有到达</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定义都在循环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的外面。</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．重复步骤</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，直到某次重复没有新的语句可标记为“不变”为止。</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．将如下语句标记为“不变”：它们先前没有被标记，而且它们的所有运算对象或者是常数，或者其到达定义都在循环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之外，或者只有一个到达定义，这个定义是循环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中已标记为“不变”的语句。</a:t>
            </a:r>
          </a:p>
        </p:txBody>
      </p:sp>
    </p:spTree>
    <p:extLst>
      <p:ext uri="{BB962C8B-B14F-4D97-AF65-F5344CB8AC3E}">
        <p14:creationId xmlns:p14="http://schemas.microsoft.com/office/powerpoint/2010/main" val="9509458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2755">
                                            <p:txEl>
                                              <p:pRg st="0" end="0"/>
                                            </p:txEl>
                                          </p:spTgt>
                                        </p:tgtEl>
                                        <p:attrNameLst>
                                          <p:attrName>style.visibility</p:attrName>
                                        </p:attrNameLst>
                                      </p:cBhvr>
                                      <p:to>
                                        <p:strVal val="visible"/>
                                      </p:to>
                                    </p:set>
                                    <p:animEffect transition="in" filter="blinds(horizontal)">
                                      <p:cBhvr>
                                        <p:cTn id="7" dur="500"/>
                                        <p:tgtEl>
                                          <p:spTgt spid="2762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2755">
                                            <p:txEl>
                                              <p:pRg st="1" end="1"/>
                                            </p:txEl>
                                          </p:spTgt>
                                        </p:tgtEl>
                                        <p:attrNameLst>
                                          <p:attrName>style.visibility</p:attrName>
                                        </p:attrNameLst>
                                      </p:cBhvr>
                                      <p:to>
                                        <p:strVal val="visible"/>
                                      </p:to>
                                    </p:set>
                                    <p:animEffect transition="in" filter="blinds(horizontal)">
                                      <p:cBhvr>
                                        <p:cTn id="12" dur="500"/>
                                        <p:tgtEl>
                                          <p:spTgt spid="2762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2755">
                                            <p:txEl>
                                              <p:pRg st="2" end="2"/>
                                            </p:txEl>
                                          </p:spTgt>
                                        </p:tgtEl>
                                        <p:attrNameLst>
                                          <p:attrName>style.visibility</p:attrName>
                                        </p:attrNameLst>
                                      </p:cBhvr>
                                      <p:to>
                                        <p:strVal val="visible"/>
                                      </p:to>
                                    </p:set>
                                    <p:animEffect transition="in" filter="blinds(horizontal)">
                                      <p:cBhvr>
                                        <p:cTn id="17" dur="500"/>
                                        <p:tgtEl>
                                          <p:spTgt spid="2762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2755">
                                            <p:txEl>
                                              <p:pRg st="3" end="3"/>
                                            </p:txEl>
                                          </p:spTgt>
                                        </p:tgtEl>
                                        <p:attrNameLst>
                                          <p:attrName>style.visibility</p:attrName>
                                        </p:attrNameLst>
                                      </p:cBhvr>
                                      <p:to>
                                        <p:strVal val="visible"/>
                                      </p:to>
                                    </p:set>
                                    <p:animEffect transition="in" filter="blinds(horizontal)">
                                      <p:cBhvr>
                                        <p:cTn id="22" dur="500"/>
                                        <p:tgtEl>
                                          <p:spTgt spid="27627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2755">
                                            <p:txEl>
                                              <p:pRg st="4" end="4"/>
                                            </p:txEl>
                                          </p:spTgt>
                                        </p:tgtEl>
                                        <p:attrNameLst>
                                          <p:attrName>style.visibility</p:attrName>
                                        </p:attrNameLst>
                                      </p:cBhvr>
                                      <p:to>
                                        <p:strVal val="visible"/>
                                      </p:to>
                                    </p:set>
                                    <p:animEffect transition="in" filter="blinds(horizontal)">
                                      <p:cBhvr>
                                        <p:cTn id="27" dur="500"/>
                                        <p:tgtEl>
                                          <p:spTgt spid="27627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62755">
                                            <p:txEl>
                                              <p:pRg st="5" end="5"/>
                                            </p:txEl>
                                          </p:spTgt>
                                        </p:tgtEl>
                                        <p:attrNameLst>
                                          <p:attrName>style.visibility</p:attrName>
                                        </p:attrNameLst>
                                      </p:cBhvr>
                                      <p:to>
                                        <p:strVal val="visible"/>
                                      </p:to>
                                    </p:set>
                                    <p:animEffect transition="in" filter="blinds(horizontal)">
                                      <p:cBhvr>
                                        <p:cTn id="32" dur="500"/>
                                        <p:tgtEl>
                                          <p:spTgt spid="276275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62755">
                                            <p:txEl>
                                              <p:pRg st="6" end="6"/>
                                            </p:txEl>
                                          </p:spTgt>
                                        </p:tgtEl>
                                        <p:attrNameLst>
                                          <p:attrName>style.visibility</p:attrName>
                                        </p:attrNameLst>
                                      </p:cBhvr>
                                      <p:to>
                                        <p:strVal val="visible"/>
                                      </p:to>
                                    </p:set>
                                    <p:animEffect transition="in" filter="blinds(horizontal)">
                                      <p:cBhvr>
                                        <p:cTn id="37" dur="500"/>
                                        <p:tgtEl>
                                          <p:spTgt spid="27627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2755"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FAB3DBD-50D1-484E-8536-5BB669CFA748}"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2D29C18-8DD2-48F2-8BD9-6CEB65F13EED}" type="slidenum">
              <a:rPr lang="en-US" altLang="zh-CN"/>
              <a:pPr/>
              <a:t>77</a:t>
            </a:fld>
            <a:endParaRPr lang="en-US" altLang="zh-CN"/>
          </a:p>
        </p:txBody>
      </p:sp>
      <p:sp>
        <p:nvSpPr>
          <p:cNvPr id="2763778"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代码外提</a:t>
            </a:r>
          </a:p>
        </p:txBody>
      </p:sp>
      <p:sp>
        <p:nvSpPr>
          <p:cNvPr id="2763779" name="Rectangle 3"/>
          <p:cNvSpPr>
            <a:spLocks noGrp="1" noChangeArrowheads="1"/>
          </p:cNvSpPr>
          <p:nvPr>
            <p:ph type="body" idx="1"/>
          </p:nvPr>
        </p:nvSpPr>
        <p:spPr>
          <a:xfrm>
            <a:off x="152400" y="1557338"/>
            <a:ext cx="8839200" cy="511175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将语句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 </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外提的条件：</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．含有语句</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的块是循环中所有出口节点的支配节点，出口节点指的是其后继节点不在循环中的节点</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．循环中没有其它语句对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赋值。如果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是只赋值一次的临时变量，该条件肯定满足，因此不必检查。</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．循环中</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的引用仅由</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到达，如果</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是临时变量，该条件一般也可以满足。</a:t>
            </a:r>
          </a:p>
        </p:txBody>
      </p:sp>
    </p:spTree>
    <p:extLst>
      <p:ext uri="{BB962C8B-B14F-4D97-AF65-F5344CB8AC3E}">
        <p14:creationId xmlns:p14="http://schemas.microsoft.com/office/powerpoint/2010/main" val="58534910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1F0CC2C-14BC-4348-96F4-341A9321A56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86592BD-1190-458E-80C9-8594AD2FA493}" type="slidenum">
              <a:rPr lang="en-US" altLang="zh-CN"/>
              <a:pPr/>
              <a:t>78</a:t>
            </a:fld>
            <a:endParaRPr lang="en-US" altLang="zh-CN"/>
          </a:p>
        </p:txBody>
      </p:sp>
      <p:sp>
        <p:nvSpPr>
          <p:cNvPr id="2764802"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代码外提</a:t>
            </a:r>
          </a:p>
        </p:txBody>
      </p:sp>
      <p:sp>
        <p:nvSpPr>
          <p:cNvPr id="2764803" name="Rectangle 3"/>
          <p:cNvSpPr>
            <a:spLocks noGrp="1" noChangeArrowheads="1"/>
          </p:cNvSpPr>
          <p:nvPr>
            <p:ph type="body" idx="1"/>
          </p:nvPr>
        </p:nvSpPr>
        <p:spPr>
          <a:xfrm>
            <a:off x="152400" y="836613"/>
            <a:ext cx="8839200" cy="5616575"/>
          </a:xfrm>
        </p:spPr>
        <p:txBody>
          <a:bodyPr/>
          <a:lstStyle/>
          <a:p>
            <a:pPr>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10.8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代码外提</a:t>
            </a:r>
          </a:p>
          <a:p>
            <a:pPr>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输入：带有</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链和支配节点信息的循环</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输出：循环的修正版本，增加了前置首节点，且</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可能</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有一些语句外提到前置首节点中；</a:t>
            </a:r>
          </a:p>
          <a:p>
            <a:pPr>
              <a:lnSpc>
                <a:spcPct val="90000"/>
              </a:lnSpc>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步骤：</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．应用算法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寻找循环不变语句。</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．对</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中找到的每个定义</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的语句</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，检查是否满足下列条件：</a:t>
            </a:r>
          </a:p>
          <a:p>
            <a:pPr lvl="1">
              <a:lnSpc>
                <a:spcPct val="90000"/>
              </a:lnSpc>
              <a:buFontTx/>
              <a:buNone/>
            </a:pP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a) </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所在的块支配</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的所有出口；</a:t>
            </a:r>
          </a:p>
          <a:p>
            <a:pPr lvl="1">
              <a:lnSpc>
                <a:spcPct val="90000"/>
              </a:lnSpc>
              <a:buFontTx/>
              <a:buNone/>
            </a:pP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b) x</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的其它地方没有被定义，而且</a:t>
            </a:r>
          </a:p>
          <a:p>
            <a:pPr lvl="1">
              <a:lnSpc>
                <a:spcPct val="90000"/>
              </a:lnSpc>
              <a:buFontTx/>
              <a:buNone/>
            </a:pP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c) </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中所有</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的引用只能由</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的定义到达。</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．按算法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找出的次序，把</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中找出的满足</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个条件的每个语句移到新的前置首节点。但是，若</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的运算对象在</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中被定义</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由算法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找出这种</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，那么只有这些对象的定义语句外提到前置首节点后，才能外提</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799167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4803">
                                            <p:txEl>
                                              <p:pRg st="0" end="0"/>
                                            </p:txEl>
                                          </p:spTgt>
                                        </p:tgtEl>
                                        <p:attrNameLst>
                                          <p:attrName>style.visibility</p:attrName>
                                        </p:attrNameLst>
                                      </p:cBhvr>
                                      <p:to>
                                        <p:strVal val="visible"/>
                                      </p:to>
                                    </p:set>
                                    <p:animEffect transition="in" filter="blinds(horizontal)">
                                      <p:cBhvr>
                                        <p:cTn id="7" dur="500"/>
                                        <p:tgtEl>
                                          <p:spTgt spid="27648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4803">
                                            <p:txEl>
                                              <p:pRg st="1" end="1"/>
                                            </p:txEl>
                                          </p:spTgt>
                                        </p:tgtEl>
                                        <p:attrNameLst>
                                          <p:attrName>style.visibility</p:attrName>
                                        </p:attrNameLst>
                                      </p:cBhvr>
                                      <p:to>
                                        <p:strVal val="visible"/>
                                      </p:to>
                                    </p:set>
                                    <p:animEffect transition="in" filter="blinds(horizontal)">
                                      <p:cBhvr>
                                        <p:cTn id="12" dur="500"/>
                                        <p:tgtEl>
                                          <p:spTgt spid="27648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4803">
                                            <p:txEl>
                                              <p:pRg st="2" end="2"/>
                                            </p:txEl>
                                          </p:spTgt>
                                        </p:tgtEl>
                                        <p:attrNameLst>
                                          <p:attrName>style.visibility</p:attrName>
                                        </p:attrNameLst>
                                      </p:cBhvr>
                                      <p:to>
                                        <p:strVal val="visible"/>
                                      </p:to>
                                    </p:set>
                                    <p:animEffect transition="in" filter="blinds(horizontal)">
                                      <p:cBhvr>
                                        <p:cTn id="17" dur="500"/>
                                        <p:tgtEl>
                                          <p:spTgt spid="27648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4803">
                                            <p:txEl>
                                              <p:pRg st="3" end="3"/>
                                            </p:txEl>
                                          </p:spTgt>
                                        </p:tgtEl>
                                        <p:attrNameLst>
                                          <p:attrName>style.visibility</p:attrName>
                                        </p:attrNameLst>
                                      </p:cBhvr>
                                      <p:to>
                                        <p:strVal val="visible"/>
                                      </p:to>
                                    </p:set>
                                    <p:animEffect transition="in" filter="blinds(horizontal)">
                                      <p:cBhvr>
                                        <p:cTn id="22" dur="500"/>
                                        <p:tgtEl>
                                          <p:spTgt spid="27648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4803">
                                            <p:txEl>
                                              <p:pRg st="4" end="4"/>
                                            </p:txEl>
                                          </p:spTgt>
                                        </p:tgtEl>
                                        <p:attrNameLst>
                                          <p:attrName>style.visibility</p:attrName>
                                        </p:attrNameLst>
                                      </p:cBhvr>
                                      <p:to>
                                        <p:strVal val="visible"/>
                                      </p:to>
                                    </p:set>
                                    <p:animEffect transition="in" filter="blinds(horizontal)">
                                      <p:cBhvr>
                                        <p:cTn id="27" dur="500"/>
                                        <p:tgtEl>
                                          <p:spTgt spid="27648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64803">
                                            <p:txEl>
                                              <p:pRg st="5" end="5"/>
                                            </p:txEl>
                                          </p:spTgt>
                                        </p:tgtEl>
                                        <p:attrNameLst>
                                          <p:attrName>style.visibility</p:attrName>
                                        </p:attrNameLst>
                                      </p:cBhvr>
                                      <p:to>
                                        <p:strVal val="visible"/>
                                      </p:to>
                                    </p:set>
                                    <p:animEffect transition="in" filter="blinds(horizontal)">
                                      <p:cBhvr>
                                        <p:cTn id="32" dur="500"/>
                                        <p:tgtEl>
                                          <p:spTgt spid="2764803">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764803">
                                            <p:txEl>
                                              <p:pRg st="6" end="6"/>
                                            </p:txEl>
                                          </p:spTgt>
                                        </p:tgtEl>
                                        <p:attrNameLst>
                                          <p:attrName>style.visibility</p:attrName>
                                        </p:attrNameLst>
                                      </p:cBhvr>
                                      <p:to>
                                        <p:strVal val="visible"/>
                                      </p:to>
                                    </p:set>
                                    <p:animEffect transition="in" filter="blinds(horizontal)">
                                      <p:cBhvr>
                                        <p:cTn id="35" dur="500"/>
                                        <p:tgtEl>
                                          <p:spTgt spid="2764803">
                                            <p:txEl>
                                              <p:pRg st="6" end="6"/>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2764803">
                                            <p:txEl>
                                              <p:pRg st="7" end="7"/>
                                            </p:txEl>
                                          </p:spTgt>
                                        </p:tgtEl>
                                        <p:attrNameLst>
                                          <p:attrName>style.visibility</p:attrName>
                                        </p:attrNameLst>
                                      </p:cBhvr>
                                      <p:to>
                                        <p:strVal val="visible"/>
                                      </p:to>
                                    </p:set>
                                    <p:animEffect transition="in" filter="blinds(horizontal)">
                                      <p:cBhvr>
                                        <p:cTn id="38" dur="500"/>
                                        <p:tgtEl>
                                          <p:spTgt spid="2764803">
                                            <p:txEl>
                                              <p:pRg st="7" end="7"/>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2764803">
                                            <p:txEl>
                                              <p:pRg st="8" end="8"/>
                                            </p:txEl>
                                          </p:spTgt>
                                        </p:tgtEl>
                                        <p:attrNameLst>
                                          <p:attrName>style.visibility</p:attrName>
                                        </p:attrNameLst>
                                      </p:cBhvr>
                                      <p:to>
                                        <p:strVal val="visible"/>
                                      </p:to>
                                    </p:set>
                                    <p:animEffect transition="in" filter="blinds(horizontal)">
                                      <p:cBhvr>
                                        <p:cTn id="41" dur="500"/>
                                        <p:tgtEl>
                                          <p:spTgt spid="2764803">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2764803">
                                            <p:txEl>
                                              <p:pRg st="9" end="9"/>
                                            </p:txEl>
                                          </p:spTgt>
                                        </p:tgtEl>
                                        <p:attrNameLst>
                                          <p:attrName>style.visibility</p:attrName>
                                        </p:attrNameLst>
                                      </p:cBhvr>
                                      <p:to>
                                        <p:strVal val="visible"/>
                                      </p:to>
                                    </p:set>
                                    <p:animEffect transition="in" filter="blinds(horizontal)">
                                      <p:cBhvr>
                                        <p:cTn id="46" dur="500"/>
                                        <p:tgtEl>
                                          <p:spTgt spid="27648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0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8C58914-390E-4A8F-9007-8C4C0433B9C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3528E8D-1701-4E50-ACC2-5632A798D598}" type="slidenum">
              <a:rPr lang="en-US" altLang="zh-CN"/>
              <a:pPr/>
              <a:t>79</a:t>
            </a:fld>
            <a:endParaRPr lang="en-US" altLang="zh-CN"/>
          </a:p>
        </p:txBody>
      </p:sp>
      <p:sp>
        <p:nvSpPr>
          <p:cNvPr id="2765826"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65827" name="Rectangle 3"/>
          <p:cNvSpPr>
            <a:spLocks noGrp="1" noChangeArrowheads="1"/>
          </p:cNvSpPr>
          <p:nvPr>
            <p:ph type="body" idx="1"/>
          </p:nvPr>
        </p:nvSpPr>
        <p:spPr>
          <a:xfrm>
            <a:off x="152400" y="836613"/>
            <a:ext cx="8839200" cy="5616575"/>
          </a:xfrm>
        </p:spPr>
        <p:txBody>
          <a:bodyPr/>
          <a:lstStyle/>
          <a:p>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10.9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归纳变量检测</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输入：带有到达定义信息和循环不变计算信息</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由算法</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得到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输出：一组归纳变量，以及与每个归纳变量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相关联的三元组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是基本归纳变量，</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是常量，在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的定义点，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的值由</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给出。称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属于</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族，基本归纳变量</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也属于它自己的族；</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步骤：</a:t>
            </a:r>
          </a:p>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．在循环</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中找出所有的基本归纳变量，此处需要用到循环不变计算的信息。与每个基本归纳变量</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相关联的三元组为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1, 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301154868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08B4750-E20D-4FDE-95A5-0C8536E47D8D}"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BDF3097B-6597-43D2-AC7A-FB775B83C21D}" type="slidenum">
              <a:rPr lang="en-US" altLang="zh-CN"/>
              <a:pPr/>
              <a:t>80</a:t>
            </a:fld>
            <a:endParaRPr lang="en-US" altLang="zh-CN"/>
          </a:p>
        </p:txBody>
      </p:sp>
      <p:sp>
        <p:nvSpPr>
          <p:cNvPr id="2766850"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66851" name="Rectangle 3"/>
          <p:cNvSpPr>
            <a:spLocks noGrp="1" noChangeArrowheads="1"/>
          </p:cNvSpPr>
          <p:nvPr>
            <p:ph type="body" idx="1"/>
          </p:nvPr>
        </p:nvSpPr>
        <p:spPr>
          <a:xfrm>
            <a:off x="152400" y="836613"/>
            <a:ext cx="8839200" cy="5616575"/>
          </a:xfrm>
        </p:spPr>
        <p:txBody>
          <a:bodyPr/>
          <a:lstStyle/>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中寻找具有下列形式之一且只被赋值一次的变量</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j±</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±j</a:t>
            </a:r>
            <a:endParaRPr lang="en-US" altLang="zh-CN" sz="2400"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其中，</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是常数，</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是基本的或非基本的归纳变量。</a:t>
            </a:r>
          </a:p>
          <a:p>
            <a:pPr lvl="1">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⑴如果</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是基本归纳变量，则</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族中。</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的三元组依赖于定义它的语句。例如，如果</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是由</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定义的，则</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的三元组为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0)</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。类似地可以定义其他情况的三元组。</a:t>
            </a:r>
          </a:p>
          <a:p>
            <a:pPr lvl="1">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⑵如果</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不是基本归纳变量，假设</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属于</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族，则</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还要满足如下要求：</a:t>
            </a:r>
          </a:p>
          <a:p>
            <a:pPr lvl="2"/>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a) </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在循环</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中对</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的唯一赋值和对</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的赋值之间没有对</a:t>
            </a:r>
            <a:r>
              <a:rPr lang="en-US" altLang="zh-CN" sz="20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的赋值。</a:t>
            </a:r>
          </a:p>
          <a:p>
            <a:pPr lvl="2"/>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b) </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循环</a:t>
            </a:r>
            <a:r>
              <a:rPr lang="en-US" altLang="zh-CN" sz="20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外没有</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的定义可到达</a:t>
            </a:r>
            <a:r>
              <a:rPr lang="en-US" altLang="zh-CN" sz="20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000" b="1" dirty="0">
                <a:latin typeface="Times New Roman" panose="02020603050405020304" pitchFamily="18" charset="0"/>
                <a:ea typeface="华文新魏" panose="02010800040101010101" pitchFamily="2" charset="-122"/>
                <a:cs typeface="Times New Roman" panose="02020603050405020304" pitchFamily="18" charset="0"/>
              </a:rPr>
              <a:t>。</a:t>
            </a:r>
          </a:p>
          <a:p>
            <a:pPr lvl="1">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此时利用</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的三元组</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和定义</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的语句即可计算</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的三元组。例如，定义</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导致</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k</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的三元组为</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。注意，</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可以在分析过程中完成计算，因为</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都是常数。</a:t>
            </a:r>
          </a:p>
        </p:txBody>
      </p:sp>
    </p:spTree>
    <p:extLst>
      <p:ext uri="{BB962C8B-B14F-4D97-AF65-F5344CB8AC3E}">
        <p14:creationId xmlns:p14="http://schemas.microsoft.com/office/powerpoint/2010/main" val="87098123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3A45F10E-74C8-4AA7-903D-A516840B968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CDE9545-75A3-47FB-AAD9-F1DB5742161A}" type="slidenum">
              <a:rPr lang="en-US" altLang="zh-CN"/>
              <a:pPr/>
              <a:t>81</a:t>
            </a:fld>
            <a:endParaRPr lang="en-US" altLang="zh-CN"/>
          </a:p>
        </p:txBody>
      </p:sp>
      <p:sp>
        <p:nvSpPr>
          <p:cNvPr id="2767874"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67875" name="Rectangle 3"/>
          <p:cNvSpPr>
            <a:spLocks noGrp="1" noChangeArrowheads="1"/>
          </p:cNvSpPr>
          <p:nvPr>
            <p:ph type="body" idx="1"/>
          </p:nvPr>
        </p:nvSpPr>
        <p:spPr>
          <a:xfrm>
            <a:off x="152400" y="836613"/>
            <a:ext cx="8839200" cy="5616575"/>
          </a:xfrm>
        </p:spPr>
        <p:txBody>
          <a:bodyPr/>
          <a:lstStyle/>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10.10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用于归纳变量的强度削弱。</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输入：循环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，附带有到达定义信息和由算法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10.9</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算出的归纳变量族；</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输出：修正后的循环；</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步骤：依次考察每个基本归纳变量</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。对每个三元组为</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族归纳变量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，执行如下步骤：</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．建立新变量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，但如果变量</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jl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具有同样的三元组，则只为它们建立一个新变量。</a:t>
            </a:r>
          </a:p>
          <a:p>
            <a:pPr>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代替对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a:t>
            </a:r>
          </a:p>
        </p:txBody>
      </p:sp>
    </p:spTree>
    <p:extLst>
      <p:ext uri="{BB962C8B-B14F-4D97-AF65-F5344CB8AC3E}">
        <p14:creationId xmlns:p14="http://schemas.microsoft.com/office/powerpoint/2010/main" val="365944584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DA5E23D-B128-44A0-B6DB-94C96F322C6A}"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13BEDCA5-5797-40BC-B869-FD297D537FEF}" type="slidenum">
              <a:rPr lang="en-US" altLang="zh-CN"/>
              <a:pPr/>
              <a:t>82</a:t>
            </a:fld>
            <a:endParaRPr lang="en-US" altLang="zh-CN"/>
          </a:p>
        </p:txBody>
      </p:sp>
      <p:sp>
        <p:nvSpPr>
          <p:cNvPr id="2768898" name="Rectangle 2"/>
          <p:cNvSpPr>
            <a:spLocks noGrp="1" noChangeArrowheads="1"/>
          </p:cNvSpPr>
          <p:nvPr>
            <p:ph type="title"/>
          </p:nvPr>
        </p:nvSpPr>
        <p:spPr>
          <a:xfrm>
            <a:off x="179388" y="115888"/>
            <a:ext cx="8964612" cy="719137"/>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68899" name="Rectangle 3"/>
          <p:cNvSpPr>
            <a:spLocks noGrp="1" noChangeArrowheads="1"/>
          </p:cNvSpPr>
          <p:nvPr>
            <p:ph type="body" idx="1"/>
          </p:nvPr>
        </p:nvSpPr>
        <p:spPr>
          <a:xfrm>
            <a:off x="152400" y="836613"/>
            <a:ext cx="8839200" cy="5616575"/>
          </a:xfrm>
        </p:spPr>
        <p:txBody>
          <a:bodyPr/>
          <a:lstStyle/>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中紧跟在每个赋值语句</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之后</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是常数</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，添加上如下语句：</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 := s +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endParaRPr lang="en-US" altLang="zh-CN" sz="2800" b="1" dirty="0">
              <a:latin typeface="Times New Roman" panose="02020603050405020304" pitchFamily="18" charset="0"/>
              <a:ea typeface="华文新魏" panose="02010800040101010101" pitchFamily="2" charset="-122"/>
              <a:cs typeface="Times New Roman" panose="02020603050405020304" pitchFamily="18" charset="0"/>
            </a:endParaRPr>
          </a:p>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其中，表达式</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的计算结果为一个常数，因为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n</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都是常数。将</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放入</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族，其三元组为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．必须保证在循环的入口处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的初值为</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，该初始化可以放在前置首节点的末尾，由下面两个语句组成：</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s:=i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s+</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则省略 *／</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注意，</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族的归纳变量。</a:t>
            </a:r>
          </a:p>
        </p:txBody>
      </p:sp>
    </p:spTree>
    <p:extLst>
      <p:ext uri="{BB962C8B-B14F-4D97-AF65-F5344CB8AC3E}">
        <p14:creationId xmlns:p14="http://schemas.microsoft.com/office/powerpoint/2010/main" val="202092072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half" idx="10"/>
          </p:nvPr>
        </p:nvSpPr>
        <p:spPr/>
        <p:txBody>
          <a:bodyPr/>
          <a:lstStyle/>
          <a:p>
            <a:fld id="{57A97B5D-7455-4BEF-A1EA-355BFB4A50FA}" type="datetime1">
              <a:rPr lang="zh-CN" altLang="en-US"/>
              <a:pPr/>
              <a:t>2017/2/24</a:t>
            </a:fld>
            <a:endParaRPr lang="en-US" altLang="zh-CN"/>
          </a:p>
        </p:txBody>
      </p:sp>
      <p:sp>
        <p:nvSpPr>
          <p:cNvPr id="7" name="灯片编号占位符 5"/>
          <p:cNvSpPr>
            <a:spLocks noGrp="1"/>
          </p:cNvSpPr>
          <p:nvPr>
            <p:ph type="sldNum" sz="quarter" idx="12"/>
          </p:nvPr>
        </p:nvSpPr>
        <p:spPr/>
        <p:txBody>
          <a:bodyPr/>
          <a:lstStyle/>
          <a:p>
            <a:fld id="{EBCB13B2-B04A-4D5D-AB13-0392A35DCD9F}" type="slidenum">
              <a:rPr lang="en-US" altLang="zh-CN"/>
              <a:pPr/>
              <a:t>83</a:t>
            </a:fld>
            <a:endParaRPr lang="en-US" altLang="zh-CN"/>
          </a:p>
        </p:txBody>
      </p:sp>
      <p:sp>
        <p:nvSpPr>
          <p:cNvPr id="2769922" name="Rectangle 2"/>
          <p:cNvSpPr>
            <a:spLocks noChangeArrowheads="1"/>
          </p:cNvSpPr>
          <p:nvPr/>
        </p:nvSpPr>
        <p:spPr bwMode="auto">
          <a:xfrm>
            <a:off x="0" y="1300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69923" name="Object 3"/>
          <p:cNvGraphicFramePr>
            <a:graphicFrameLocks noChangeAspect="1"/>
          </p:cNvGraphicFramePr>
          <p:nvPr/>
        </p:nvGraphicFramePr>
        <p:xfrm>
          <a:off x="936625" y="44450"/>
          <a:ext cx="7164388" cy="6316663"/>
        </p:xfrm>
        <a:graphic>
          <a:graphicData uri="http://schemas.openxmlformats.org/presentationml/2006/ole">
            <mc:AlternateContent xmlns:mc="http://schemas.openxmlformats.org/markup-compatibility/2006">
              <mc:Choice xmlns:v="urn:schemas-microsoft-com:vml" Requires="v">
                <p:oleObj spid="_x0000_s115715" name="Visio" r:id="rId3" imgW="4568109" imgH="4032008" progId="Visio.Drawing.11">
                  <p:embed/>
                </p:oleObj>
              </mc:Choice>
              <mc:Fallback>
                <p:oleObj name="Visio" r:id="rId3" imgW="4568109" imgH="4032008" progId="Visio.Drawing.11">
                  <p:embed/>
                  <p:pic>
                    <p:nvPicPr>
                      <p:cNvPr id="276992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625" y="44450"/>
                        <a:ext cx="7164388" cy="6316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9924" name="Rectangle 4"/>
          <p:cNvSpPr>
            <a:spLocks noChangeArrowheads="1"/>
          </p:cNvSpPr>
          <p:nvPr/>
        </p:nvSpPr>
        <p:spPr bwMode="auto">
          <a:xfrm>
            <a:off x="3524250" y="6284913"/>
            <a:ext cx="2097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000" b="1">
                <a:ea typeface="楷体_GB2312" pitchFamily="49" charset="-122"/>
              </a:rPr>
              <a:t>图</a:t>
            </a:r>
            <a:r>
              <a:rPr kumimoji="1" lang="en-US" altLang="zh-CN" sz="2000" b="1">
                <a:ea typeface="楷体_GB2312" pitchFamily="49" charset="-122"/>
              </a:rPr>
              <a:t>10.20 </a:t>
            </a:r>
            <a:r>
              <a:rPr kumimoji="1" lang="zh-CN" altLang="en-US" sz="2000" b="1">
                <a:ea typeface="楷体_GB2312" pitchFamily="49" charset="-122"/>
              </a:rPr>
              <a:t>强度削弱</a:t>
            </a:r>
          </a:p>
        </p:txBody>
      </p:sp>
    </p:spTree>
    <p:extLst>
      <p:ext uri="{BB962C8B-B14F-4D97-AF65-F5344CB8AC3E}">
        <p14:creationId xmlns:p14="http://schemas.microsoft.com/office/powerpoint/2010/main" val="262941122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D98892F-A79C-47F6-817A-743FBF93193E}"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34286FAE-9276-4CDF-B6A1-77BC7C4A9A08}" type="slidenum">
              <a:rPr lang="en-US" altLang="zh-CN"/>
              <a:pPr/>
              <a:t>84</a:t>
            </a:fld>
            <a:endParaRPr lang="en-US" altLang="zh-CN"/>
          </a:p>
        </p:txBody>
      </p:sp>
      <p:sp>
        <p:nvSpPr>
          <p:cNvPr id="2770946" name="Rectangle 2"/>
          <p:cNvSpPr>
            <a:spLocks noGrp="1" noChangeArrowheads="1"/>
          </p:cNvSpPr>
          <p:nvPr>
            <p:ph type="title"/>
          </p:nvPr>
        </p:nvSpPr>
        <p:spPr>
          <a:xfrm>
            <a:off x="179388" y="44450"/>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70947" name="Rectangle 3"/>
          <p:cNvSpPr>
            <a:spLocks noGrp="1" noChangeArrowheads="1"/>
          </p:cNvSpPr>
          <p:nvPr>
            <p:ph type="body" idx="1"/>
          </p:nvPr>
        </p:nvSpPr>
        <p:spPr>
          <a:xfrm>
            <a:off x="152400" y="765175"/>
            <a:ext cx="8839200" cy="5616575"/>
          </a:xfrm>
        </p:spPr>
        <p:txBody>
          <a:bodyPr/>
          <a:lstStyle/>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10.11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归纳变量删除</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输入：带有到达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定义信息、循环不变计算信息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利用算法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10.7</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求得</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和活跃变量信息的循环</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输出：修正后的循环；</a:t>
            </a:r>
          </a:p>
          <a:p>
            <a:pPr>
              <a:buFontTx/>
              <a:buNone/>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步骤：</a:t>
            </a:r>
          </a:p>
        </p:txBody>
      </p:sp>
    </p:spTree>
    <p:extLst>
      <p:ext uri="{BB962C8B-B14F-4D97-AF65-F5344CB8AC3E}">
        <p14:creationId xmlns:p14="http://schemas.microsoft.com/office/powerpoint/2010/main" val="57690112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59556C0-5458-46C5-965B-68CE383BB919}"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FC4A6171-9E7B-49B0-A521-92D5772D67E5}" type="slidenum">
              <a:rPr lang="en-US" altLang="zh-CN"/>
              <a:pPr/>
              <a:t>85</a:t>
            </a:fld>
            <a:endParaRPr lang="en-US" altLang="zh-CN"/>
          </a:p>
        </p:txBody>
      </p:sp>
      <p:sp>
        <p:nvSpPr>
          <p:cNvPr id="2889730" name="Rectangle 2"/>
          <p:cNvSpPr>
            <a:spLocks noGrp="1" noChangeArrowheads="1"/>
          </p:cNvSpPr>
          <p:nvPr>
            <p:ph type="title"/>
          </p:nvPr>
        </p:nvSpPr>
        <p:spPr>
          <a:xfrm>
            <a:off x="179388" y="44450"/>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889731" name="Rectangle 3"/>
          <p:cNvSpPr>
            <a:spLocks noGrp="1" noChangeArrowheads="1"/>
          </p:cNvSpPr>
          <p:nvPr>
            <p:ph type="body" idx="1"/>
          </p:nvPr>
        </p:nvSpPr>
        <p:spPr>
          <a:xfrm>
            <a:off x="152400" y="1125538"/>
            <a:ext cx="8839200" cy="5256212"/>
          </a:xfrm>
        </p:spPr>
        <p:txBody>
          <a:bodyPr/>
          <a:lstStyle/>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．考虑每个仅用于计算同族中其它归纳变量和条件分支的基本归纳变量</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。取</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族的某个</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，优先取其三元组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中的</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尽可能简单的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即优先考虑</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l</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和</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的情况</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，把每个包含</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的测试语句改成用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代替</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。假定下面的</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是正的。用下面的语句来代替形如</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if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relop</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x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的测试语句，其中</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不是归纳变量。</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c</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等于</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r:</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d</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为</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0</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则省略 *／</a:t>
            </a:r>
          </a:p>
          <a:p>
            <a:pPr>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if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i</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relop</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x </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goto</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B</a:t>
            </a:r>
          </a:p>
          <a:p>
            <a:pPr>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     </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最后，因为被删除的归纳变量已经没有什么用处，所以从循环中删除所有对它们的赋值。</a:t>
            </a:r>
          </a:p>
        </p:txBody>
      </p:sp>
    </p:spTree>
    <p:extLst>
      <p:ext uri="{BB962C8B-B14F-4D97-AF65-F5344CB8AC3E}">
        <p14:creationId xmlns:p14="http://schemas.microsoft.com/office/powerpoint/2010/main" val="309866104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741FE07-1A3F-4D5A-8DB3-FD19425C766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7ED798F1-E074-43A9-8419-A4FCABB7E04F}" type="slidenum">
              <a:rPr lang="en-US" altLang="zh-CN"/>
              <a:pPr/>
              <a:t>86</a:t>
            </a:fld>
            <a:endParaRPr lang="en-US" altLang="zh-CN"/>
          </a:p>
        </p:txBody>
      </p:sp>
      <p:sp>
        <p:nvSpPr>
          <p:cNvPr id="2771970" name="Rectangle 2"/>
          <p:cNvSpPr>
            <a:spLocks noGrp="1" noChangeArrowheads="1"/>
          </p:cNvSpPr>
          <p:nvPr>
            <p:ph type="title"/>
          </p:nvPr>
        </p:nvSpPr>
        <p:spPr>
          <a:xfrm>
            <a:off x="179388" y="117475"/>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10.5.3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归纳变量删除和强度削弱 </a:t>
            </a:r>
          </a:p>
        </p:txBody>
      </p:sp>
      <p:sp>
        <p:nvSpPr>
          <p:cNvPr id="2771971" name="Rectangle 3"/>
          <p:cNvSpPr>
            <a:spLocks noGrp="1" noChangeArrowheads="1"/>
          </p:cNvSpPr>
          <p:nvPr>
            <p:ph type="body" idx="1"/>
          </p:nvPr>
        </p:nvSpPr>
        <p:spPr>
          <a:xfrm>
            <a:off x="152400" y="1054100"/>
            <a:ext cx="8839200" cy="5111750"/>
          </a:xfrm>
        </p:spPr>
        <p:txBody>
          <a:bodyPr/>
          <a:lstStyle/>
          <a:p>
            <a:pPr algn="just">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．再考虑由算法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10.10</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为其引入语句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的每个归纳变量</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。首先检查在引入的</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和任何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的引用之间有没有对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的赋值，应该是没有。一般情况下，</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在定义它的块中被引用，这可以简化该检查；否则，需要用到达定义信息，并加上一些对图的分析来实现这种检查。然后用对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的引用代替所有对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的引用，并删除语句</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j:</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4878412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E8B8743-5D14-4F81-AC09-53BAB6B44801}"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0EC5199A-BE35-4C92-A483-FA4F09A9A8BA}" type="slidenum">
              <a:rPr lang="en-US" altLang="zh-CN"/>
              <a:pPr/>
              <a:t>87</a:t>
            </a:fld>
            <a:endParaRPr lang="en-US" altLang="zh-CN"/>
          </a:p>
        </p:txBody>
      </p:sp>
      <p:sp>
        <p:nvSpPr>
          <p:cNvPr id="2772994" name="Rectangle 2"/>
          <p:cNvSpPr>
            <a:spLocks noGrp="1" noChangeArrowheads="1"/>
          </p:cNvSpPr>
          <p:nvPr>
            <p:ph type="title"/>
          </p:nvPr>
        </p:nvSpPr>
        <p:spPr/>
        <p:txBody>
          <a:bodyPr/>
          <a:lstStyle/>
          <a:p>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10.6 </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全局优化</a:t>
            </a:r>
          </a:p>
        </p:txBody>
      </p:sp>
      <p:sp>
        <p:nvSpPr>
          <p:cNvPr id="2772995" name="Rectangle 3"/>
          <p:cNvSpPr>
            <a:spLocks noGrp="1" noChangeArrowheads="1"/>
          </p:cNvSpPr>
          <p:nvPr>
            <p:ph type="body" idx="1"/>
          </p:nvPr>
        </p:nvSpPr>
        <p:spPr>
          <a:xfrm>
            <a:off x="684213" y="2017713"/>
            <a:ext cx="7772400" cy="4114800"/>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全局公共子表达式的删除</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复制传播</a:t>
            </a:r>
          </a:p>
          <a:p>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endParaRPr lang="zh-CN" altLang="en-US" b="1" dirty="0">
              <a:latin typeface="Times New Roman" panose="02020603050405020304" pitchFamily="18" charset="0"/>
              <a:ea typeface="华文新魏" panose="02010800040101010101" pitchFamily="2" charset="-122"/>
              <a:cs typeface="Times New Roman" panose="02020603050405020304" pitchFamily="18" charset="0"/>
            </a:endParaRPr>
          </a:p>
          <a:p>
            <a:endParaRPr lang="en-US" altLang="zh-CN" b="1" dirty="0">
              <a:latin typeface="Times New Roman" panose="02020603050405020304" pitchFamily="18" charset="0"/>
              <a:ea typeface="华文新魏" panose="02010800040101010101" pitchFamily="2" charset="-122"/>
              <a:cs typeface="Times New Roman" panose="02020603050405020304" pitchFamily="18" charset="0"/>
            </a:endParaRPr>
          </a:p>
        </p:txBody>
      </p:sp>
    </p:spTree>
    <p:extLst>
      <p:ext uri="{BB962C8B-B14F-4D97-AF65-F5344CB8AC3E}">
        <p14:creationId xmlns:p14="http://schemas.microsoft.com/office/powerpoint/2010/main" val="108173183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FF07AE6-BC78-492F-8D10-18A17B3D6F7C}"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F2C1A65-DBA3-4A92-90CC-F1B1C5EEDF3F}" type="slidenum">
              <a:rPr lang="en-US" altLang="zh-CN"/>
              <a:pPr/>
              <a:t>88</a:t>
            </a:fld>
            <a:endParaRPr lang="en-US" altLang="zh-CN"/>
          </a:p>
        </p:txBody>
      </p:sp>
      <p:sp>
        <p:nvSpPr>
          <p:cNvPr id="2774018" name="Rectangle 2"/>
          <p:cNvSpPr>
            <a:spLocks noGrp="1" noChangeArrowheads="1"/>
          </p:cNvSpPr>
          <p:nvPr>
            <p:ph type="title"/>
          </p:nvPr>
        </p:nvSpPr>
        <p:spPr>
          <a:xfrm>
            <a:off x="179388" y="117475"/>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10.6.1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全局公共子表达式删除 </a:t>
            </a:r>
          </a:p>
        </p:txBody>
      </p:sp>
      <p:sp>
        <p:nvSpPr>
          <p:cNvPr id="2774019" name="Rectangle 3"/>
          <p:cNvSpPr>
            <a:spLocks noGrp="1" noChangeArrowheads="1"/>
          </p:cNvSpPr>
          <p:nvPr>
            <p:ph type="body" idx="1"/>
          </p:nvPr>
        </p:nvSpPr>
        <p:spPr>
          <a:xfrm>
            <a:off x="152400" y="836613"/>
            <a:ext cx="8839200" cy="5545137"/>
          </a:xfrm>
        </p:spPr>
        <p:txBody>
          <a:bodyPr/>
          <a:lstStyle/>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10.12 </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全局公共子表达式删除。</a:t>
            </a:r>
          </a:p>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输入：带有可用表达式信息的流图；</a:t>
            </a:r>
          </a:p>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输出：修正后的流图；</a:t>
            </a:r>
          </a:p>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步骤：对每个形如</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x:=y+z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的语句</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所在块的开始点是可用的，且该块中在语句</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之前没有对</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的定义，则执行下面的步骤：</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．为寻找到达</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所在块的</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的计算，只需沿流图的边从该块开始反向搜索，但不穿过任何计算</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的块。在遇到的每个块中，对</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的最后一次计算将是到达</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的计算。</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．建立新变量</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．把</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中找到的每个语句</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w:=y+z</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用如下语句代替：</a:t>
            </a:r>
          </a:p>
          <a:p>
            <a:pPr>
              <a:lnSpc>
                <a:spcPct val="90000"/>
              </a:lnSpc>
              <a:buFontTx/>
              <a:buNone/>
            </a:pP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u := </a:t>
            </a:r>
            <a:r>
              <a:rPr lang="en-US" altLang="zh-CN" sz="2400" b="1" dirty="0" err="1">
                <a:latin typeface="Times New Roman" panose="02020603050405020304" pitchFamily="18" charset="0"/>
                <a:ea typeface="华文新魏" panose="02010800040101010101" pitchFamily="2" charset="-122"/>
                <a:cs typeface="Times New Roman" panose="02020603050405020304" pitchFamily="18" charset="0"/>
              </a:rPr>
              <a:t>y+z</a:t>
            </a:r>
            <a:endParaRPr lang="en-US" altLang="zh-CN" sz="2400" b="1" dirty="0">
              <a:latin typeface="Times New Roman" panose="02020603050405020304" pitchFamily="18" charset="0"/>
              <a:ea typeface="华文新魏" panose="02010800040101010101" pitchFamily="2" charset="-122"/>
              <a:cs typeface="Times New Roman" panose="02020603050405020304" pitchFamily="18" charset="0"/>
            </a:endParaRP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		w := u</a:t>
            </a:r>
          </a:p>
          <a:p>
            <a:pPr>
              <a:lnSpc>
                <a:spcPct val="90000"/>
              </a:lnSpc>
              <a:buFontTx/>
              <a:buNone/>
            </a:pP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4</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．用</a:t>
            </a:r>
            <a:r>
              <a:rPr lang="en-US" altLang="zh-CN" sz="2400" b="1" dirty="0">
                <a:latin typeface="Times New Roman" panose="02020603050405020304" pitchFamily="18" charset="0"/>
                <a:ea typeface="华文新魏" panose="02010800040101010101" pitchFamily="2" charset="-122"/>
                <a:cs typeface="Times New Roman" panose="02020603050405020304" pitchFamily="18" charset="0"/>
              </a:rPr>
              <a:t>x:=u</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代替语句</a:t>
            </a:r>
            <a:r>
              <a:rPr lang="en-US" altLang="zh-CN" sz="24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400" b="1" dirty="0">
                <a:latin typeface="Times New Roman" panose="02020603050405020304" pitchFamily="18" charset="0"/>
                <a:ea typeface="华文新魏" panose="02010800040101010101" pitchFamily="2" charset="-122"/>
                <a:cs typeface="Times New Roman" panose="02020603050405020304" pitchFamily="18" charset="0"/>
              </a:rPr>
              <a:t>。</a:t>
            </a:r>
          </a:p>
        </p:txBody>
      </p:sp>
    </p:spTree>
    <p:extLst>
      <p:ext uri="{BB962C8B-B14F-4D97-AF65-F5344CB8AC3E}">
        <p14:creationId xmlns:p14="http://schemas.microsoft.com/office/powerpoint/2010/main" val="1477961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4019">
                                            <p:txEl>
                                              <p:pRg st="0" end="0"/>
                                            </p:txEl>
                                          </p:spTgt>
                                        </p:tgtEl>
                                        <p:attrNameLst>
                                          <p:attrName>style.visibility</p:attrName>
                                        </p:attrNameLst>
                                      </p:cBhvr>
                                      <p:to>
                                        <p:strVal val="visible"/>
                                      </p:to>
                                    </p:set>
                                    <p:animEffect transition="in" filter="blinds(horizontal)">
                                      <p:cBhvr>
                                        <p:cTn id="7" dur="500"/>
                                        <p:tgtEl>
                                          <p:spTgt spid="27740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4019">
                                            <p:txEl>
                                              <p:pRg st="1" end="1"/>
                                            </p:txEl>
                                          </p:spTgt>
                                        </p:tgtEl>
                                        <p:attrNameLst>
                                          <p:attrName>style.visibility</p:attrName>
                                        </p:attrNameLst>
                                      </p:cBhvr>
                                      <p:to>
                                        <p:strVal val="visible"/>
                                      </p:to>
                                    </p:set>
                                    <p:animEffect transition="in" filter="blinds(horizontal)">
                                      <p:cBhvr>
                                        <p:cTn id="12" dur="500"/>
                                        <p:tgtEl>
                                          <p:spTgt spid="27740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74019">
                                            <p:txEl>
                                              <p:pRg st="2" end="2"/>
                                            </p:txEl>
                                          </p:spTgt>
                                        </p:tgtEl>
                                        <p:attrNameLst>
                                          <p:attrName>style.visibility</p:attrName>
                                        </p:attrNameLst>
                                      </p:cBhvr>
                                      <p:to>
                                        <p:strVal val="visible"/>
                                      </p:to>
                                    </p:set>
                                    <p:animEffect transition="in" filter="blinds(horizontal)">
                                      <p:cBhvr>
                                        <p:cTn id="17" dur="500"/>
                                        <p:tgtEl>
                                          <p:spTgt spid="27740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74019">
                                            <p:txEl>
                                              <p:pRg st="3" end="3"/>
                                            </p:txEl>
                                          </p:spTgt>
                                        </p:tgtEl>
                                        <p:attrNameLst>
                                          <p:attrName>style.visibility</p:attrName>
                                        </p:attrNameLst>
                                      </p:cBhvr>
                                      <p:to>
                                        <p:strVal val="visible"/>
                                      </p:to>
                                    </p:set>
                                    <p:animEffect transition="in" filter="blinds(horizontal)">
                                      <p:cBhvr>
                                        <p:cTn id="22" dur="500"/>
                                        <p:tgtEl>
                                          <p:spTgt spid="27740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74019">
                                            <p:txEl>
                                              <p:pRg st="4" end="4"/>
                                            </p:txEl>
                                          </p:spTgt>
                                        </p:tgtEl>
                                        <p:attrNameLst>
                                          <p:attrName>style.visibility</p:attrName>
                                        </p:attrNameLst>
                                      </p:cBhvr>
                                      <p:to>
                                        <p:strVal val="visible"/>
                                      </p:to>
                                    </p:set>
                                    <p:animEffect transition="in" filter="blinds(horizontal)">
                                      <p:cBhvr>
                                        <p:cTn id="27" dur="500"/>
                                        <p:tgtEl>
                                          <p:spTgt spid="277401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74019">
                                            <p:txEl>
                                              <p:pRg st="5" end="5"/>
                                            </p:txEl>
                                          </p:spTgt>
                                        </p:tgtEl>
                                        <p:attrNameLst>
                                          <p:attrName>style.visibility</p:attrName>
                                        </p:attrNameLst>
                                      </p:cBhvr>
                                      <p:to>
                                        <p:strVal val="visible"/>
                                      </p:to>
                                    </p:set>
                                    <p:animEffect transition="in" filter="blinds(horizontal)">
                                      <p:cBhvr>
                                        <p:cTn id="32" dur="500"/>
                                        <p:tgtEl>
                                          <p:spTgt spid="277401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74019">
                                            <p:txEl>
                                              <p:pRg st="6" end="6"/>
                                            </p:txEl>
                                          </p:spTgt>
                                        </p:tgtEl>
                                        <p:attrNameLst>
                                          <p:attrName>style.visibility</p:attrName>
                                        </p:attrNameLst>
                                      </p:cBhvr>
                                      <p:to>
                                        <p:strVal val="visible"/>
                                      </p:to>
                                    </p:set>
                                    <p:animEffect transition="in" filter="blinds(horizontal)">
                                      <p:cBhvr>
                                        <p:cTn id="37" dur="500"/>
                                        <p:tgtEl>
                                          <p:spTgt spid="277401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74019">
                                            <p:txEl>
                                              <p:pRg st="7" end="7"/>
                                            </p:txEl>
                                          </p:spTgt>
                                        </p:tgtEl>
                                        <p:attrNameLst>
                                          <p:attrName>style.visibility</p:attrName>
                                        </p:attrNameLst>
                                      </p:cBhvr>
                                      <p:to>
                                        <p:strVal val="visible"/>
                                      </p:to>
                                    </p:set>
                                    <p:animEffect transition="in" filter="blinds(horizontal)">
                                      <p:cBhvr>
                                        <p:cTn id="42" dur="500"/>
                                        <p:tgtEl>
                                          <p:spTgt spid="277401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774019">
                                            <p:txEl>
                                              <p:pRg st="8" end="8"/>
                                            </p:txEl>
                                          </p:spTgt>
                                        </p:tgtEl>
                                        <p:attrNameLst>
                                          <p:attrName>style.visibility</p:attrName>
                                        </p:attrNameLst>
                                      </p:cBhvr>
                                      <p:to>
                                        <p:strVal val="visible"/>
                                      </p:to>
                                    </p:set>
                                    <p:animEffect transition="in" filter="blinds(horizontal)">
                                      <p:cBhvr>
                                        <p:cTn id="47" dur="500"/>
                                        <p:tgtEl>
                                          <p:spTgt spid="277401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774019">
                                            <p:txEl>
                                              <p:pRg st="9" end="9"/>
                                            </p:txEl>
                                          </p:spTgt>
                                        </p:tgtEl>
                                        <p:attrNameLst>
                                          <p:attrName>style.visibility</p:attrName>
                                        </p:attrNameLst>
                                      </p:cBhvr>
                                      <p:to>
                                        <p:strVal val="visible"/>
                                      </p:to>
                                    </p:set>
                                    <p:animEffect transition="in" filter="blinds(horizontal)">
                                      <p:cBhvr>
                                        <p:cTn id="52" dur="500"/>
                                        <p:tgtEl>
                                          <p:spTgt spid="27740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4019"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E815778-2015-46A2-859B-3BB8904083A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AB2ED055-D05D-404E-B3AD-8BC8A55F829A}" type="slidenum">
              <a:rPr lang="en-US" altLang="zh-CN"/>
              <a:pPr/>
              <a:t>89</a:t>
            </a:fld>
            <a:endParaRPr lang="en-US" altLang="zh-CN"/>
          </a:p>
        </p:txBody>
      </p:sp>
      <p:sp>
        <p:nvSpPr>
          <p:cNvPr id="2775042" name="Rectangle 2"/>
          <p:cNvSpPr>
            <a:spLocks noGrp="1" noChangeArrowheads="1"/>
          </p:cNvSpPr>
          <p:nvPr>
            <p:ph type="title"/>
          </p:nvPr>
        </p:nvSpPr>
        <p:spPr>
          <a:xfrm>
            <a:off x="179388" y="117475"/>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10.6.2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复制传播</a:t>
            </a:r>
          </a:p>
        </p:txBody>
      </p:sp>
      <p:sp>
        <p:nvSpPr>
          <p:cNvPr id="2775043" name="Rectangle 3"/>
          <p:cNvSpPr>
            <a:spLocks noGrp="1" noChangeArrowheads="1"/>
          </p:cNvSpPr>
          <p:nvPr>
            <p:ph type="body" idx="1"/>
          </p:nvPr>
        </p:nvSpPr>
        <p:spPr>
          <a:xfrm>
            <a:off x="152400" y="1341438"/>
            <a:ext cx="8839200" cy="4751387"/>
          </a:xfrm>
        </p:spPr>
        <p:txBody>
          <a:bodyPr/>
          <a:lstStyle/>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10.12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、归纳变量删除算法和其它一些算法都会引入形如</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的代码。</a:t>
            </a:r>
          </a:p>
          <a:p>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如果能找出复制代码</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中定义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的所有引用点，并用</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代替</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，则可以删除该复制语句。前提是</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的每个引用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必须满足下列条件：</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必须是到达</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的唯一定义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即引用</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链只包含</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a:t>
            </a:r>
          </a:p>
          <a:p>
            <a:pPr lvl="1">
              <a:buFontTx/>
              <a:buNone/>
            </a:pP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．在从</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到</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的每条路径，包括穿过</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u</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若干次</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但没有第二次穿过</a:t>
            </a:r>
            <a:r>
              <a:rPr lang="en-US" altLang="zh-CN" b="1" i="1" dirty="0">
                <a:latin typeface="Times New Roman" panose="02020603050405020304" pitchFamily="18" charset="0"/>
                <a:ea typeface="华文新魏" panose="02010800040101010101" pitchFamily="2" charset="-122"/>
                <a:cs typeface="Times New Roman" panose="02020603050405020304" pitchFamily="18" charset="0"/>
              </a:rPr>
              <a:t>s</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的路径上，没有对</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的赋值。</a:t>
            </a:r>
          </a:p>
        </p:txBody>
      </p:sp>
    </p:spTree>
    <p:extLst>
      <p:ext uri="{BB962C8B-B14F-4D97-AF65-F5344CB8AC3E}">
        <p14:creationId xmlns:p14="http://schemas.microsoft.com/office/powerpoint/2010/main" val="22603166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5043">
                                            <p:txEl>
                                              <p:pRg st="0" end="0"/>
                                            </p:txEl>
                                          </p:spTgt>
                                        </p:tgtEl>
                                        <p:attrNameLst>
                                          <p:attrName>style.visibility</p:attrName>
                                        </p:attrNameLst>
                                      </p:cBhvr>
                                      <p:to>
                                        <p:strVal val="visible"/>
                                      </p:to>
                                    </p:set>
                                    <p:animEffect transition="in" filter="blinds(horizontal)">
                                      <p:cBhvr>
                                        <p:cTn id="7" dur="500"/>
                                        <p:tgtEl>
                                          <p:spTgt spid="27750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5043">
                                            <p:txEl>
                                              <p:pRg st="1" end="1"/>
                                            </p:txEl>
                                          </p:spTgt>
                                        </p:tgtEl>
                                        <p:attrNameLst>
                                          <p:attrName>style.visibility</p:attrName>
                                        </p:attrNameLst>
                                      </p:cBhvr>
                                      <p:to>
                                        <p:strVal val="visible"/>
                                      </p:to>
                                    </p:set>
                                    <p:animEffect transition="in" filter="blinds(horizontal)">
                                      <p:cBhvr>
                                        <p:cTn id="12" dur="500"/>
                                        <p:tgtEl>
                                          <p:spTgt spid="277504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75043">
                                            <p:txEl>
                                              <p:pRg st="2" end="2"/>
                                            </p:txEl>
                                          </p:spTgt>
                                        </p:tgtEl>
                                        <p:attrNameLst>
                                          <p:attrName>style.visibility</p:attrName>
                                        </p:attrNameLst>
                                      </p:cBhvr>
                                      <p:to>
                                        <p:strVal val="visible"/>
                                      </p:to>
                                    </p:set>
                                    <p:animEffect transition="in" filter="blinds(horizontal)">
                                      <p:cBhvr>
                                        <p:cTn id="15" dur="500"/>
                                        <p:tgtEl>
                                          <p:spTgt spid="2775043">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775043">
                                            <p:txEl>
                                              <p:pRg st="3" end="3"/>
                                            </p:txEl>
                                          </p:spTgt>
                                        </p:tgtEl>
                                        <p:attrNameLst>
                                          <p:attrName>style.visibility</p:attrName>
                                        </p:attrNameLst>
                                      </p:cBhvr>
                                      <p:to>
                                        <p:strVal val="visible"/>
                                      </p:to>
                                    </p:set>
                                    <p:animEffect transition="in" filter="blinds(horizontal)">
                                      <p:cBhvr>
                                        <p:cTn id="18" dur="500"/>
                                        <p:tgtEl>
                                          <p:spTgt spid="2775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4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AAA3619-BAED-4F4E-A1BD-E67AC316C554}"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E3FEFC24-252F-4171-987D-E6377C3EA107}" type="slidenum">
              <a:rPr lang="en-US" altLang="zh-CN"/>
              <a:pPr/>
              <a:t>90</a:t>
            </a:fld>
            <a:endParaRPr lang="en-US" altLang="zh-CN"/>
          </a:p>
        </p:txBody>
      </p:sp>
      <p:sp>
        <p:nvSpPr>
          <p:cNvPr id="2776066" name="Rectangle 2"/>
          <p:cNvSpPr>
            <a:spLocks noGrp="1" noChangeArrowheads="1"/>
          </p:cNvSpPr>
          <p:nvPr>
            <p:ph type="title"/>
          </p:nvPr>
        </p:nvSpPr>
        <p:spPr>
          <a:xfrm>
            <a:off x="179388" y="117475"/>
            <a:ext cx="8964612" cy="719138"/>
          </a:xfrm>
        </p:spPr>
        <p:txBody>
          <a:bodyPr/>
          <a:lstStyle/>
          <a:p>
            <a:r>
              <a:rPr lang="en-US" altLang="zh-CN" sz="4000" b="1" dirty="0">
                <a:latin typeface="Times New Roman" panose="02020603050405020304" pitchFamily="18" charset="0"/>
                <a:ea typeface="华文新魏" panose="02010800040101010101" pitchFamily="2" charset="-122"/>
                <a:cs typeface="Times New Roman" panose="02020603050405020304" pitchFamily="18" charset="0"/>
              </a:rPr>
              <a:t>10.6.2 </a:t>
            </a:r>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复制传播</a:t>
            </a:r>
          </a:p>
        </p:txBody>
      </p:sp>
      <p:sp>
        <p:nvSpPr>
          <p:cNvPr id="2776067" name="Rectangle 3"/>
          <p:cNvSpPr>
            <a:spLocks noGrp="1" noChangeArrowheads="1"/>
          </p:cNvSpPr>
          <p:nvPr>
            <p:ph type="body" idx="1"/>
          </p:nvPr>
        </p:nvSpPr>
        <p:spPr>
          <a:xfrm>
            <a:off x="152400" y="909638"/>
            <a:ext cx="8839200" cy="5472112"/>
          </a:xfrm>
        </p:spPr>
        <p:txBody>
          <a:bodyPr/>
          <a:lstStyle/>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算法</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10.13</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复制传播。</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输入：流图</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G</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；到达每个块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的定义的</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ud</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链；</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_</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，即沿着每条路径到达块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的复制语句</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的集合，在这些路径上</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的最后一次出现之后没有再对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进行赋值；每个定义的引用的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du-</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链；</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输出：修正后的流图；</a:t>
            </a:r>
          </a:p>
          <a:p>
            <a:pPr>
              <a:lnSpc>
                <a:spcPct val="80000"/>
              </a:lnSpc>
              <a:buFontTx/>
              <a:buNone/>
            </a:pP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步骤：对每个复制</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执行下列步骤：</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．确定由该</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的定义所能到达的那些</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的引用。</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．对</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中找到的每个</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的引用，确定</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是否在</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_</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中，其中块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是含有</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的本次引用的基本块，而且块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中该引用的前面没有</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或</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的定义。回想一下，如果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在</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c</a:t>
            </a:r>
            <a:r>
              <a:rPr lang="en-US" altLang="zh-CN" sz="2800" b="1" dirty="0" err="1">
                <a:latin typeface="Times New Roman" panose="02020603050405020304" pitchFamily="18" charset="0"/>
                <a:ea typeface="华文新魏" panose="02010800040101010101" pitchFamily="2" charset="-122"/>
                <a:cs typeface="Times New Roman" panose="02020603050405020304" pitchFamily="18" charset="0"/>
              </a:rPr>
              <a:t>_</a:t>
            </a:r>
            <a:r>
              <a:rPr lang="en-US" altLang="zh-CN" sz="2800" b="1" i="1" dirty="0" err="1">
                <a:latin typeface="Times New Roman" panose="02020603050405020304" pitchFamily="18" charset="0"/>
                <a:ea typeface="华文新魏" panose="02010800040101010101" pitchFamily="2" charset="-122"/>
                <a:cs typeface="Times New Roman" panose="02020603050405020304" pitchFamily="18" charset="0"/>
              </a:rPr>
              <a:t>in</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中，那么</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是唯一的到达块</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B</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的定义。</a:t>
            </a:r>
          </a:p>
          <a:p>
            <a:pPr>
              <a:lnSpc>
                <a:spcPct val="80000"/>
              </a:lnSpc>
              <a:buFontTx/>
              <a:buNone/>
            </a:pP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3</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．如果</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满足</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(2)</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中的条件，则删掉</a:t>
            </a:r>
            <a:r>
              <a:rPr lang="en-US" altLang="zh-CN" sz="2800" b="1" i="1" dirty="0">
                <a:latin typeface="Times New Roman" panose="02020603050405020304" pitchFamily="18" charset="0"/>
                <a:ea typeface="华文新魏" panose="02010800040101010101" pitchFamily="2" charset="-122"/>
                <a:cs typeface="Times New Roman" panose="02020603050405020304" pitchFamily="18" charset="0"/>
              </a:rPr>
              <a:t>s</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，且把</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(1)</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中找出的所有</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x</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的引用用</a:t>
            </a:r>
            <a:r>
              <a:rPr lang="en-US" altLang="zh-CN" sz="2800" b="1" dirty="0">
                <a:latin typeface="Times New Roman" panose="02020603050405020304" pitchFamily="18" charset="0"/>
                <a:ea typeface="华文新魏" panose="02010800040101010101" pitchFamily="2" charset="-122"/>
                <a:cs typeface="Times New Roman" panose="02020603050405020304" pitchFamily="18" charset="0"/>
              </a:rPr>
              <a:t>y</a:t>
            </a:r>
            <a:r>
              <a:rPr lang="zh-CN" altLang="en-US" sz="2800" b="1" dirty="0">
                <a:latin typeface="Times New Roman" panose="02020603050405020304" pitchFamily="18" charset="0"/>
                <a:ea typeface="华文新魏" panose="02010800040101010101" pitchFamily="2" charset="-122"/>
                <a:cs typeface="Times New Roman" panose="02020603050405020304" pitchFamily="18" charset="0"/>
              </a:rPr>
              <a:t>来代替。 </a:t>
            </a:r>
          </a:p>
        </p:txBody>
      </p:sp>
    </p:spTree>
    <p:extLst>
      <p:ext uri="{BB962C8B-B14F-4D97-AF65-F5344CB8AC3E}">
        <p14:creationId xmlns:p14="http://schemas.microsoft.com/office/powerpoint/2010/main" val="3728555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6067">
                                            <p:txEl>
                                              <p:pRg st="0" end="0"/>
                                            </p:txEl>
                                          </p:spTgt>
                                        </p:tgtEl>
                                        <p:attrNameLst>
                                          <p:attrName>style.visibility</p:attrName>
                                        </p:attrNameLst>
                                      </p:cBhvr>
                                      <p:to>
                                        <p:strVal val="visible"/>
                                      </p:to>
                                    </p:set>
                                    <p:animEffect transition="in" filter="blinds(horizontal)">
                                      <p:cBhvr>
                                        <p:cTn id="7" dur="500"/>
                                        <p:tgtEl>
                                          <p:spTgt spid="27760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6067">
                                            <p:txEl>
                                              <p:pRg st="1" end="1"/>
                                            </p:txEl>
                                          </p:spTgt>
                                        </p:tgtEl>
                                        <p:attrNameLst>
                                          <p:attrName>style.visibility</p:attrName>
                                        </p:attrNameLst>
                                      </p:cBhvr>
                                      <p:to>
                                        <p:strVal val="visible"/>
                                      </p:to>
                                    </p:set>
                                    <p:animEffect transition="in" filter="blinds(horizontal)">
                                      <p:cBhvr>
                                        <p:cTn id="12" dur="500"/>
                                        <p:tgtEl>
                                          <p:spTgt spid="27760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76067">
                                            <p:txEl>
                                              <p:pRg st="2" end="2"/>
                                            </p:txEl>
                                          </p:spTgt>
                                        </p:tgtEl>
                                        <p:attrNameLst>
                                          <p:attrName>style.visibility</p:attrName>
                                        </p:attrNameLst>
                                      </p:cBhvr>
                                      <p:to>
                                        <p:strVal val="visible"/>
                                      </p:to>
                                    </p:set>
                                    <p:animEffect transition="in" filter="blinds(horizontal)">
                                      <p:cBhvr>
                                        <p:cTn id="17" dur="500"/>
                                        <p:tgtEl>
                                          <p:spTgt spid="27760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76067">
                                            <p:txEl>
                                              <p:pRg st="3" end="3"/>
                                            </p:txEl>
                                          </p:spTgt>
                                        </p:tgtEl>
                                        <p:attrNameLst>
                                          <p:attrName>style.visibility</p:attrName>
                                        </p:attrNameLst>
                                      </p:cBhvr>
                                      <p:to>
                                        <p:strVal val="visible"/>
                                      </p:to>
                                    </p:set>
                                    <p:animEffect transition="in" filter="blinds(horizontal)">
                                      <p:cBhvr>
                                        <p:cTn id="22" dur="500"/>
                                        <p:tgtEl>
                                          <p:spTgt spid="27760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76067">
                                            <p:txEl>
                                              <p:pRg st="4" end="4"/>
                                            </p:txEl>
                                          </p:spTgt>
                                        </p:tgtEl>
                                        <p:attrNameLst>
                                          <p:attrName>style.visibility</p:attrName>
                                        </p:attrNameLst>
                                      </p:cBhvr>
                                      <p:to>
                                        <p:strVal val="visible"/>
                                      </p:to>
                                    </p:set>
                                    <p:animEffect transition="in" filter="blinds(horizontal)">
                                      <p:cBhvr>
                                        <p:cTn id="27" dur="500"/>
                                        <p:tgtEl>
                                          <p:spTgt spid="27760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76067">
                                            <p:txEl>
                                              <p:pRg st="5" end="5"/>
                                            </p:txEl>
                                          </p:spTgt>
                                        </p:tgtEl>
                                        <p:attrNameLst>
                                          <p:attrName>style.visibility</p:attrName>
                                        </p:attrNameLst>
                                      </p:cBhvr>
                                      <p:to>
                                        <p:strVal val="visible"/>
                                      </p:to>
                                    </p:set>
                                    <p:animEffect transition="in" filter="blinds(horizontal)">
                                      <p:cBhvr>
                                        <p:cTn id="32" dur="500"/>
                                        <p:tgtEl>
                                          <p:spTgt spid="27760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76067">
                                            <p:txEl>
                                              <p:pRg st="6" end="6"/>
                                            </p:txEl>
                                          </p:spTgt>
                                        </p:tgtEl>
                                        <p:attrNameLst>
                                          <p:attrName>style.visibility</p:attrName>
                                        </p:attrNameLst>
                                      </p:cBhvr>
                                      <p:to>
                                        <p:strVal val="visible"/>
                                      </p:to>
                                    </p:set>
                                    <p:animEffect transition="in" filter="blinds(horizontal)">
                                      <p:cBhvr>
                                        <p:cTn id="37" dur="500"/>
                                        <p:tgtEl>
                                          <p:spTgt spid="27760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6067"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851E38C-5DE4-4AE2-AB5C-0ED1CC242547}"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D2BDE39F-EA5D-4E53-AD62-B28D7650F817}" type="slidenum">
              <a:rPr lang="en-US" altLang="zh-CN"/>
              <a:pPr/>
              <a:t>91</a:t>
            </a:fld>
            <a:endParaRPr lang="en-US" altLang="zh-CN"/>
          </a:p>
        </p:txBody>
      </p:sp>
      <p:sp>
        <p:nvSpPr>
          <p:cNvPr id="2777090" name="Rectangle 2"/>
          <p:cNvSpPr>
            <a:spLocks noGrp="1" noChangeArrowheads="1"/>
          </p:cNvSpPr>
          <p:nvPr>
            <p:ph type="title"/>
          </p:nvPr>
        </p:nvSpPr>
        <p:spPr>
          <a:xfrm>
            <a:off x="2108200" y="115888"/>
            <a:ext cx="5127625" cy="639762"/>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777091" name="Rectangle 3"/>
          <p:cNvSpPr>
            <a:spLocks noGrp="1" noChangeArrowheads="1"/>
          </p:cNvSpPr>
          <p:nvPr>
            <p:ph type="body" idx="1"/>
          </p:nvPr>
        </p:nvSpPr>
        <p:spPr>
          <a:xfrm>
            <a:off x="304800" y="836613"/>
            <a:ext cx="8610600" cy="5616575"/>
          </a:xfrm>
        </p:spPr>
        <p:txBody>
          <a:bodyPr/>
          <a:lstStyle/>
          <a:p>
            <a:pPr marL="609600" indent="-609600">
              <a:lnSpc>
                <a:spcPct val="90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代码优化就是对程序进行等价变换，以提高目标程序的效率，通常只对中间代码进行优化。通常包括控制流分析、数据流分析和变换三部分。</a:t>
            </a:r>
          </a:p>
          <a:p>
            <a:pPr marL="609600" indent="-609600">
              <a:lnSpc>
                <a:spcPct val="90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以程序的基本块为基础，基本块内的优化叫局部优化，跨基本块的优化为全局优化，循环优化是针对循环进行的优化，是全局优化的一部分。</a:t>
            </a:r>
          </a:p>
          <a:p>
            <a:pPr marL="609600" indent="-609600">
              <a:lnSpc>
                <a:spcPct val="90000"/>
              </a:lnSpc>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公共子表达式的删除、复制传播、无用代码删除、代码外提、强度削弱和归纳变量删除等都是一些常用的针对局部或者全局的代码优化方法。</a:t>
            </a:r>
          </a:p>
        </p:txBody>
      </p:sp>
    </p:spTree>
    <p:extLst>
      <p:ext uri="{BB962C8B-B14F-4D97-AF65-F5344CB8AC3E}">
        <p14:creationId xmlns:p14="http://schemas.microsoft.com/office/powerpoint/2010/main" val="2721654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7091">
                                            <p:txEl>
                                              <p:pRg st="0" end="0"/>
                                            </p:txEl>
                                          </p:spTgt>
                                        </p:tgtEl>
                                        <p:attrNameLst>
                                          <p:attrName>style.visibility</p:attrName>
                                        </p:attrNameLst>
                                      </p:cBhvr>
                                      <p:to>
                                        <p:strVal val="visible"/>
                                      </p:to>
                                    </p:set>
                                    <p:animEffect transition="in" filter="blinds(horizontal)">
                                      <p:cBhvr>
                                        <p:cTn id="7" dur="500"/>
                                        <p:tgtEl>
                                          <p:spTgt spid="27770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7091">
                                            <p:txEl>
                                              <p:pRg st="1" end="1"/>
                                            </p:txEl>
                                          </p:spTgt>
                                        </p:tgtEl>
                                        <p:attrNameLst>
                                          <p:attrName>style.visibility</p:attrName>
                                        </p:attrNameLst>
                                      </p:cBhvr>
                                      <p:to>
                                        <p:strVal val="visible"/>
                                      </p:to>
                                    </p:set>
                                    <p:animEffect transition="in" filter="blinds(horizontal)">
                                      <p:cBhvr>
                                        <p:cTn id="12" dur="500"/>
                                        <p:tgtEl>
                                          <p:spTgt spid="27770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77091">
                                            <p:txEl>
                                              <p:pRg st="2" end="2"/>
                                            </p:txEl>
                                          </p:spTgt>
                                        </p:tgtEl>
                                        <p:attrNameLst>
                                          <p:attrName>style.visibility</p:attrName>
                                        </p:attrNameLst>
                                      </p:cBhvr>
                                      <p:to>
                                        <p:strVal val="visible"/>
                                      </p:to>
                                    </p:set>
                                    <p:animEffect transition="in" filter="blinds(horizontal)">
                                      <p:cBhvr>
                                        <p:cTn id="17" dur="500"/>
                                        <p:tgtEl>
                                          <p:spTgt spid="27770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709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8A71320-D975-4449-A4B5-8BA8C3791FC2}" type="datetime1">
              <a:rPr lang="zh-CN" altLang="en-US"/>
              <a:pPr/>
              <a:t>2017/2/24</a:t>
            </a:fld>
            <a:endParaRPr lang="en-US" altLang="zh-CN"/>
          </a:p>
        </p:txBody>
      </p:sp>
      <p:sp>
        <p:nvSpPr>
          <p:cNvPr id="6" name="灯片编号占位符 5"/>
          <p:cNvSpPr>
            <a:spLocks noGrp="1"/>
          </p:cNvSpPr>
          <p:nvPr>
            <p:ph type="sldNum" sz="quarter" idx="12"/>
          </p:nvPr>
        </p:nvSpPr>
        <p:spPr/>
        <p:txBody>
          <a:bodyPr/>
          <a:lstStyle/>
          <a:p>
            <a:fld id="{5C81363E-62AD-4A76-A187-426468B76EA2}" type="slidenum">
              <a:rPr lang="en-US" altLang="zh-CN"/>
              <a:pPr/>
              <a:t>92</a:t>
            </a:fld>
            <a:endParaRPr lang="en-US" altLang="zh-CN"/>
          </a:p>
        </p:txBody>
      </p:sp>
      <p:sp>
        <p:nvSpPr>
          <p:cNvPr id="2890754" name="Rectangle 2"/>
          <p:cNvSpPr>
            <a:spLocks noGrp="1" noChangeArrowheads="1"/>
          </p:cNvSpPr>
          <p:nvPr>
            <p:ph type="title"/>
          </p:nvPr>
        </p:nvSpPr>
        <p:spPr>
          <a:xfrm>
            <a:off x="2108200" y="115888"/>
            <a:ext cx="5127625" cy="639762"/>
          </a:xfrm>
        </p:spPr>
        <p:txBody>
          <a:bodyPr/>
          <a:lstStyle/>
          <a:p>
            <a:r>
              <a:rPr lang="zh-CN" altLang="en-US" sz="4000" b="1" dirty="0">
                <a:latin typeface="Times New Roman" panose="02020603050405020304" pitchFamily="18" charset="0"/>
                <a:ea typeface="华文新魏" panose="02010800040101010101" pitchFamily="2" charset="-122"/>
                <a:cs typeface="Times New Roman" panose="02020603050405020304" pitchFamily="18" charset="0"/>
              </a:rPr>
              <a:t>本章小结</a:t>
            </a:r>
          </a:p>
        </p:txBody>
      </p:sp>
      <p:sp>
        <p:nvSpPr>
          <p:cNvPr id="2890755" name="Rectangle 3"/>
          <p:cNvSpPr>
            <a:spLocks noGrp="1" noChangeArrowheads="1"/>
          </p:cNvSpPr>
          <p:nvPr>
            <p:ph type="body" idx="1"/>
          </p:nvPr>
        </p:nvSpPr>
        <p:spPr>
          <a:xfrm>
            <a:off x="304800" y="1341438"/>
            <a:ext cx="8610600" cy="5111750"/>
          </a:xfrm>
        </p:spPr>
        <p:txBody>
          <a:bodyPr/>
          <a:lstStyle/>
          <a:p>
            <a:pPr marL="609600" indent="-609600">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划分基本块、构造并分析表示程序控制流信息的流图是进行控制流分析的基础工作。在对循环的分析中，用到支配节点、回边、自然循环、前置首节点、流图的可约等重要概念。</a:t>
            </a:r>
          </a:p>
          <a:p>
            <a:pPr marL="609600" indent="-609600">
              <a:spcBef>
                <a:spcPct val="0"/>
              </a:spcBef>
            </a:pP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对程序中变量的定义和引用关系的分析称为数据流分析，用数据流方程表达变量的定义、引用等，具体进行到达</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定义分析、定义</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zh-CN" altLang="en-US" b="1" dirty="0">
                <a:latin typeface="Times New Roman" panose="02020603050405020304" pitchFamily="18" charset="0"/>
                <a:ea typeface="华文新魏" panose="02010800040101010101" pitchFamily="2" charset="-122"/>
                <a:cs typeface="Times New Roman" panose="02020603050405020304" pitchFamily="18" charset="0"/>
              </a:rPr>
              <a:t>引用分析、可用表达式分析。</a:t>
            </a:r>
          </a:p>
        </p:txBody>
      </p:sp>
    </p:spTree>
    <p:extLst>
      <p:ext uri="{BB962C8B-B14F-4D97-AF65-F5344CB8AC3E}">
        <p14:creationId xmlns:p14="http://schemas.microsoft.com/office/powerpoint/2010/main" val="248032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90755">
                                            <p:txEl>
                                              <p:pRg st="0" end="0"/>
                                            </p:txEl>
                                          </p:spTgt>
                                        </p:tgtEl>
                                        <p:attrNameLst>
                                          <p:attrName>style.visibility</p:attrName>
                                        </p:attrNameLst>
                                      </p:cBhvr>
                                      <p:to>
                                        <p:strVal val="visible"/>
                                      </p:to>
                                    </p:set>
                                    <p:animEffect transition="in" filter="blinds(horizontal)">
                                      <p:cBhvr>
                                        <p:cTn id="7" dur="500"/>
                                        <p:tgtEl>
                                          <p:spTgt spid="2890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90755">
                                            <p:txEl>
                                              <p:pRg st="1" end="1"/>
                                            </p:txEl>
                                          </p:spTgt>
                                        </p:tgtEl>
                                        <p:attrNameLst>
                                          <p:attrName>style.visibility</p:attrName>
                                        </p:attrNameLst>
                                      </p:cBhvr>
                                      <p:to>
                                        <p:strVal val="visible"/>
                                      </p:to>
                                    </p:set>
                                    <p:animEffect transition="in" filter="blinds(horizontal)">
                                      <p:cBhvr>
                                        <p:cTn id="12" dur="500"/>
                                        <p:tgtEl>
                                          <p:spTgt spid="28907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0755" grpId="0" build="p"/>
    </p:bldLst>
  </p:timing>
</p:sld>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12编译原理-5</Template>
  <TotalTime>3780</TotalTime>
  <Words>8429</Words>
  <Application>Microsoft Office PowerPoint</Application>
  <PresentationFormat>全屏显示(4:3)</PresentationFormat>
  <Paragraphs>1003</Paragraphs>
  <Slides>92</Slides>
  <Notes>20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92</vt:i4>
      </vt:variant>
    </vt:vector>
  </HeadingPairs>
  <TitlesOfParts>
    <vt:vector size="105" baseType="lpstr">
      <vt:lpstr>黑体</vt:lpstr>
      <vt:lpstr>华文新魏</vt:lpstr>
      <vt:lpstr>楷体_GB2312</vt:lpstr>
      <vt:lpstr>宋体</vt:lpstr>
      <vt:lpstr>Arial</vt:lpstr>
      <vt:lpstr>Symbol</vt:lpstr>
      <vt:lpstr>Tahoma</vt:lpstr>
      <vt:lpstr>Times New Roman</vt:lpstr>
      <vt:lpstr>Wingdings</vt:lpstr>
      <vt:lpstr>诗情画意</vt:lpstr>
      <vt:lpstr>剪辑</vt:lpstr>
      <vt:lpstr>Visio</vt:lpstr>
      <vt:lpstr>Equation</vt:lpstr>
      <vt:lpstr>编译原理 (Principles of Compiling)</vt:lpstr>
      <vt:lpstr>第10章 代码优化 </vt:lpstr>
      <vt:lpstr>第10章 代码优化</vt:lpstr>
      <vt:lpstr>代码优化程序的结构</vt:lpstr>
      <vt:lpstr>10.1 优化的种类</vt:lpstr>
      <vt:lpstr>程序例子</vt:lpstr>
      <vt:lpstr>程序例子</vt:lpstr>
      <vt:lpstr>流图</vt:lpstr>
      <vt:lpstr>10.1.1公共子表达式删除</vt:lpstr>
      <vt:lpstr>10.1.1公共子表达式删除</vt:lpstr>
      <vt:lpstr>10.1.1公共子表达式删除</vt:lpstr>
      <vt:lpstr>10.1.1公共子表达式删除</vt:lpstr>
      <vt:lpstr>10.1.1公共子表达式删除</vt:lpstr>
      <vt:lpstr>10.1.1公共子表达式删除</vt:lpstr>
      <vt:lpstr>10.1.1公共子表达式删除</vt:lpstr>
      <vt:lpstr>10.1.1公共子表达式删除</vt:lpstr>
      <vt:lpstr>10.1.1公共子表达式删除</vt:lpstr>
      <vt:lpstr>10.1.1公共子表达式删除</vt:lpstr>
      <vt:lpstr>10.1.2 复制传播</vt:lpstr>
      <vt:lpstr>10.1.2 复制传播</vt:lpstr>
      <vt:lpstr>10.1.3 无用代码删除</vt:lpstr>
      <vt:lpstr>10.1.3 无用代码删除</vt:lpstr>
      <vt:lpstr>10.1.4 代码外提</vt:lpstr>
      <vt:lpstr>10.1.5 强度削弱</vt:lpstr>
      <vt:lpstr>10.1.5 强度削弱</vt:lpstr>
      <vt:lpstr>10.1.5 归纳变量删除</vt:lpstr>
      <vt:lpstr>10.1.5 归纳变量删除</vt:lpstr>
      <vt:lpstr>10.2 控制流分析</vt:lpstr>
      <vt:lpstr>10.2.1 基本块</vt:lpstr>
      <vt:lpstr>基本块的划分算法</vt:lpstr>
      <vt:lpstr>10.2.2 流图</vt:lpstr>
      <vt:lpstr>10.2.3 循环</vt:lpstr>
      <vt:lpstr>支配节点集计算 </vt:lpstr>
      <vt:lpstr>循环 </vt:lpstr>
      <vt:lpstr>例10.6</vt:lpstr>
      <vt:lpstr>自然循环的构造 </vt:lpstr>
      <vt:lpstr>循环</vt:lpstr>
      <vt:lpstr>循环</vt:lpstr>
      <vt:lpstr>可归约流图</vt:lpstr>
      <vt:lpstr>10.3 数据流分析</vt:lpstr>
      <vt:lpstr>数据流分析的种类</vt:lpstr>
      <vt:lpstr>10.3.1 数据流方程的一般形式</vt:lpstr>
      <vt:lpstr>10.3.1 数据流方程的一般形式</vt:lpstr>
      <vt:lpstr>10.3.1 数据流方程的一般形式</vt:lpstr>
      <vt:lpstr>10.3.2 到达-定义分析</vt:lpstr>
      <vt:lpstr>10.3.2 到达-定义分析</vt:lpstr>
      <vt:lpstr>10.3.2 到达-定义分析</vt:lpstr>
      <vt:lpstr>到达定义数据流方程（记号）</vt:lpstr>
      <vt:lpstr>到达定义数据流方程（记号）</vt:lpstr>
      <vt:lpstr>到达定义数据流方程</vt:lpstr>
      <vt:lpstr>方程求解算法</vt:lpstr>
      <vt:lpstr>算法例子</vt:lpstr>
      <vt:lpstr>计算过程</vt:lpstr>
      <vt:lpstr>10.3.3 活跃变量分析</vt:lpstr>
      <vt:lpstr>记号</vt:lpstr>
      <vt:lpstr>活跃变量数据流方程</vt:lpstr>
      <vt:lpstr>活跃变量数据流方程求解</vt:lpstr>
      <vt:lpstr>活跃变量数据流方程例子</vt:lpstr>
      <vt:lpstr>迭代过程</vt:lpstr>
      <vt:lpstr>10.3.3 活跃变量分析</vt:lpstr>
      <vt:lpstr>10.3.4 可用表达式分析</vt:lpstr>
      <vt:lpstr>记号</vt:lpstr>
      <vt:lpstr>e_gen[B]的计算</vt:lpstr>
      <vt:lpstr>e_kill[B]的计算</vt:lpstr>
      <vt:lpstr>数据流方程</vt:lpstr>
      <vt:lpstr>方程求解算法</vt:lpstr>
      <vt:lpstr>算法说明</vt:lpstr>
      <vt:lpstr>10.4 局部优化</vt:lpstr>
      <vt:lpstr>10.4.1 基本块的dag表示 </vt:lpstr>
      <vt:lpstr>利用dag进行的基本块变换</vt:lpstr>
      <vt:lpstr>10.4.2 局部公共子表达式删除 </vt:lpstr>
      <vt:lpstr>10.4.3 无用代码删除 </vt:lpstr>
      <vt:lpstr>10.4.4代数恒等式的使用 </vt:lpstr>
      <vt:lpstr>10.4.4代数恒等式的使用 </vt:lpstr>
      <vt:lpstr>10.5 循环优化</vt:lpstr>
      <vt:lpstr>10.5.1循环不变计算的检测 </vt:lpstr>
      <vt:lpstr>10.5.2 代码外提</vt:lpstr>
      <vt:lpstr>10.5.2 代码外提</vt:lpstr>
      <vt:lpstr>10.5.3 归纳变量删除和强度削弱 </vt:lpstr>
      <vt:lpstr>10.5.3 归纳变量删除和强度削弱 </vt:lpstr>
      <vt:lpstr>10.5.3 归纳变量删除和强度削弱 </vt:lpstr>
      <vt:lpstr>10.5.3 归纳变量删除和强度削弱 </vt:lpstr>
      <vt:lpstr>PowerPoint 演示文稿</vt:lpstr>
      <vt:lpstr>10.5.3 归纳变量删除和强度削弱 </vt:lpstr>
      <vt:lpstr>10.5.3 归纳变量删除和强度削弱 </vt:lpstr>
      <vt:lpstr>10.5.3 归纳变量删除和强度削弱 </vt:lpstr>
      <vt:lpstr>10.6 全局优化</vt:lpstr>
      <vt:lpstr>10.6.1 全局公共子表达式删除 </vt:lpstr>
      <vt:lpstr>10.6.2 复制传播</vt:lpstr>
      <vt:lpstr>10.6.2 复制传播</vt:lpstr>
      <vt:lpstr>本章小结</vt:lpstr>
      <vt:lpstr>本章小结</vt:lpstr>
    </vt:vector>
  </TitlesOfParts>
  <Company>bjut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creator>jzl</dc:creator>
  <cp:lastModifiedBy>Admin</cp:lastModifiedBy>
  <cp:revision>179</cp:revision>
  <cp:lastPrinted>1601-01-01T00:00:00Z</cp:lastPrinted>
  <dcterms:created xsi:type="dcterms:W3CDTF">2003-07-09T14:46:46Z</dcterms:created>
  <dcterms:modified xsi:type="dcterms:W3CDTF">2017-02-24T00:36:06Z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ies>
</file>