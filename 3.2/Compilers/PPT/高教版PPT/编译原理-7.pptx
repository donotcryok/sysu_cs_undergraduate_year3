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86"/>
  </p:notesMasterIdLst>
  <p:handoutMasterIdLst>
    <p:handoutMasterId r:id="rId87"/>
  </p:handoutMasterIdLst>
  <p:sldIdLst>
    <p:sldId id="423" r:id="rId2"/>
    <p:sldId id="256" r:id="rId3"/>
    <p:sldId id="300" r:id="rId4"/>
    <p:sldId id="461" r:id="rId5"/>
    <p:sldId id="468" r:id="rId6"/>
    <p:sldId id="463" r:id="rId7"/>
    <p:sldId id="464" r:id="rId8"/>
    <p:sldId id="491" r:id="rId9"/>
    <p:sldId id="465" r:id="rId10"/>
    <p:sldId id="466" r:id="rId11"/>
    <p:sldId id="467" r:id="rId12"/>
    <p:sldId id="309" r:id="rId13"/>
    <p:sldId id="384" r:id="rId14"/>
    <p:sldId id="438" r:id="rId15"/>
    <p:sldId id="437" r:id="rId16"/>
    <p:sldId id="312" r:id="rId17"/>
    <p:sldId id="439" r:id="rId18"/>
    <p:sldId id="448" r:id="rId19"/>
    <p:sldId id="385" r:id="rId20"/>
    <p:sldId id="343" r:id="rId21"/>
    <p:sldId id="344" r:id="rId22"/>
    <p:sldId id="493" r:id="rId23"/>
    <p:sldId id="494" r:id="rId24"/>
    <p:sldId id="495" r:id="rId25"/>
    <p:sldId id="496" r:id="rId26"/>
    <p:sldId id="497" r:id="rId27"/>
    <p:sldId id="498" r:id="rId28"/>
    <p:sldId id="499" r:id="rId29"/>
    <p:sldId id="500" r:id="rId30"/>
    <p:sldId id="501" r:id="rId31"/>
    <p:sldId id="502" r:id="rId32"/>
    <p:sldId id="503" r:id="rId33"/>
    <p:sldId id="504" r:id="rId34"/>
    <p:sldId id="505" r:id="rId35"/>
    <p:sldId id="506" r:id="rId36"/>
    <p:sldId id="507" r:id="rId37"/>
    <p:sldId id="508" r:id="rId38"/>
    <p:sldId id="509" r:id="rId39"/>
    <p:sldId id="510" r:id="rId40"/>
    <p:sldId id="511" r:id="rId41"/>
    <p:sldId id="512" r:id="rId42"/>
    <p:sldId id="514" r:id="rId43"/>
    <p:sldId id="515" r:id="rId44"/>
    <p:sldId id="516" r:id="rId45"/>
    <p:sldId id="517" r:id="rId46"/>
    <p:sldId id="518" r:id="rId47"/>
    <p:sldId id="519" r:id="rId48"/>
    <p:sldId id="520" r:id="rId49"/>
    <p:sldId id="521" r:id="rId50"/>
    <p:sldId id="522" r:id="rId51"/>
    <p:sldId id="523" r:id="rId52"/>
    <p:sldId id="524" r:id="rId53"/>
    <p:sldId id="525" r:id="rId54"/>
    <p:sldId id="526" r:id="rId55"/>
    <p:sldId id="527" r:id="rId56"/>
    <p:sldId id="528" r:id="rId57"/>
    <p:sldId id="529" r:id="rId58"/>
    <p:sldId id="530" r:id="rId59"/>
    <p:sldId id="531" r:id="rId60"/>
    <p:sldId id="532" r:id="rId61"/>
    <p:sldId id="533" r:id="rId62"/>
    <p:sldId id="534" r:id="rId63"/>
    <p:sldId id="535" r:id="rId64"/>
    <p:sldId id="536" r:id="rId65"/>
    <p:sldId id="537" r:id="rId66"/>
    <p:sldId id="538" r:id="rId67"/>
    <p:sldId id="539" r:id="rId68"/>
    <p:sldId id="540" r:id="rId69"/>
    <p:sldId id="541" r:id="rId70"/>
    <p:sldId id="542" r:id="rId71"/>
    <p:sldId id="543" r:id="rId72"/>
    <p:sldId id="545" r:id="rId73"/>
    <p:sldId id="546" r:id="rId74"/>
    <p:sldId id="547" r:id="rId75"/>
    <p:sldId id="548" r:id="rId76"/>
    <p:sldId id="549" r:id="rId77"/>
    <p:sldId id="550" r:id="rId78"/>
    <p:sldId id="551" r:id="rId79"/>
    <p:sldId id="552" r:id="rId80"/>
    <p:sldId id="553" r:id="rId81"/>
    <p:sldId id="556" r:id="rId82"/>
    <p:sldId id="557" r:id="rId83"/>
    <p:sldId id="558" r:id="rId84"/>
    <p:sldId id="559" r:id="rId8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1BE"/>
    <a:srgbClr val="C3BDC1"/>
    <a:srgbClr val="003300"/>
    <a:srgbClr val="00966F"/>
    <a:srgbClr val="A50021"/>
    <a:srgbClr val="F7F4F3"/>
    <a:srgbClr val="F1ECEB"/>
    <a:srgbClr val="ECE5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17" autoAdjust="0"/>
  </p:normalViewPr>
  <p:slideViewPr>
    <p:cSldViewPr>
      <p:cViewPr varScale="1">
        <p:scale>
          <a:sx n="119" d="100"/>
          <a:sy n="119" d="100"/>
        </p:scale>
        <p:origin x="129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180"/>
    </p:cViewPr>
  </p:sorterViewPr>
  <p:notesViewPr>
    <p:cSldViewPr>
      <p:cViewPr varScale="1">
        <p:scale>
          <a:sx n="54" d="100"/>
          <a:sy n="54" d="100"/>
        </p:scale>
        <p:origin x="-181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7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7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00270DAD-BBD7-4A4F-9634-D9907B1E99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40028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1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1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1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98776B85-6E50-488C-B048-2FFD9CC46F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8302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4611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133B17-E087-4038-83D5-E96F2E95CB7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9A467D-4B3F-416A-8036-F9DD9FB4FF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91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9615A4-000A-46AA-B130-69F310E5BB2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615451-FA7E-4E71-A06E-8057AEA03A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5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B52A4-6265-4356-A38B-976FF1D1DCE0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7D7A3-1778-4639-B276-2796D0CC76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021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EECC7-91A0-4FF0-89EF-4533A307F351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0B1474-6100-47D7-95BE-55C8A1F30F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354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C20E1-EB47-4511-9075-DE3E847A9495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F9108-6752-4968-A169-84EAE20D3F7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862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278DDF-8F59-4893-987F-97D057C9B591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F151-105A-476A-91E5-D9B6044CF2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6961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6DA73-1A80-4BDC-8DBB-1E02548A4358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B35E7-94F4-486D-9DE3-2C74071B69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796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BA030-A5D1-4E51-B6F6-AF8FDC4008CA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F9CD5-70B2-426B-ADB5-2614DF9133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763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45B575-0731-44E1-993C-59A45BECD419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5702DD-2B03-4458-8756-429227A2CB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813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99FF0-AEF6-431E-97B7-4354BEBCD763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3EA47-87E4-4DF8-97F1-6D331E8E4A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707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2F508-DE4C-49EF-8AB8-AAD6CAD8F6FC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14FF-CA7C-4777-9F2E-1F7A1FE7BB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894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DB9892-2BFC-458B-B1CD-85D8D2679BF9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72C99-CDB0-4716-BAD9-4D236D227A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102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标题，两项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826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11826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FCE4E6-1F16-4993-9182-7979AA6831BF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27139E8-8AE8-432A-BB4E-3CE657C944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886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E689F5-B29B-404C-B3A0-FD2BAA5804E2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955C74-FEE3-42F3-9C29-D80D20D639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99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2F9A67D9-97AB-4FC8-A4BC-17166FF9A0DE}" type="datetime1">
              <a:rPr lang="zh-CN" altLang="en-US"/>
              <a:pPr>
                <a:defRPr/>
              </a:pPr>
              <a:t>2017/2/24</a:t>
            </a:fld>
            <a:endParaRPr lang="en-US" altLang="zh-CN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6A2A8D1-0D25-4829-96C4-54EAA1CB62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0" r:id="rId4"/>
    <p:sldLayoutId id="2147483699" r:id="rId5"/>
    <p:sldLayoutId id="2147483698" r:id="rId6"/>
    <p:sldLayoutId id="2147483697" r:id="rId7"/>
    <p:sldLayoutId id="2147483696" r:id="rId8"/>
    <p:sldLayoutId id="2147483695" r:id="rId9"/>
    <p:sldLayoutId id="2147483694" r:id="rId10"/>
    <p:sldLayoutId id="2147483693" r:id="rId11"/>
    <p:sldLayoutId id="2147483692" r:id="rId12"/>
    <p:sldLayoutId id="2147483704" r:id="rId13"/>
    <p:sldLayoutId id="2147483705" r:id="rId14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87450" y="765175"/>
            <a:ext cx="6965950" cy="1901825"/>
          </a:xfrm>
        </p:spPr>
        <p:txBody>
          <a:bodyPr/>
          <a:lstStyle/>
          <a:p>
            <a:r>
              <a:rPr lang="zh-CN" altLang="en-US" sz="6000" b="1" smtClean="0">
                <a:latin typeface="Times New Roman" pitchFamily="18" charset="0"/>
                <a:ea typeface="华文新魏" pitchFamily="2" charset="-122"/>
              </a:rPr>
              <a:t>编译原理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/>
            </a:r>
            <a:br>
              <a:rPr lang="zh-CN" altLang="en-US" b="1" smtClean="0">
                <a:latin typeface="Times New Roman" pitchFamily="18" charset="0"/>
                <a:ea typeface="华文新魏" pitchFamily="2" charset="-122"/>
              </a:rPr>
            </a:b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(Principles of Compiling)</a:t>
            </a:r>
          </a:p>
        </p:txBody>
      </p:sp>
      <p:sp>
        <p:nvSpPr>
          <p:cNvPr id="1028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6DA4D27-FCF8-4DBC-916C-9E551F389CB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29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E381EC1-D21D-439D-8A36-E2CDAA0364AF}" type="slidenum">
              <a:rPr lang="zh-CN" altLang="en-US"/>
              <a:pPr eaLnBrk="1" hangingPunct="1"/>
              <a:t>1</a:t>
            </a:fld>
            <a:endParaRPr lang="en-US" altLang="zh-CN"/>
          </a:p>
        </p:txBody>
      </p:sp>
      <p:graphicFrame>
        <p:nvGraphicFramePr>
          <p:cNvPr id="102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476375" y="3500438"/>
            <a:ext cx="586740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主    讲：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蒋宗礼、姜守旭</a:t>
            </a:r>
            <a:endParaRPr lang="zh-CN" altLang="en-US" sz="2800" b="1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办公室：信北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212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电    话：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67392397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Email</a:t>
            </a: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jiangzl@bjut.edu.cn</a:t>
            </a:r>
          </a:p>
        </p:txBody>
      </p:sp>
      <p:pic>
        <p:nvPicPr>
          <p:cNvPr id="103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3375"/>
            <a:ext cx="161925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00113" y="1052513"/>
            <a:ext cx="7499350" cy="1752600"/>
          </a:xfrm>
        </p:spPr>
        <p:txBody>
          <a:bodyPr/>
          <a:lstStyle/>
          <a:p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第7章 语义分析和</a:t>
            </a:r>
            <a:b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</a:br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中间代码生成</a:t>
            </a:r>
            <a:endParaRPr lang="en-US" altLang="zh-CN" sz="4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052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F1E192-1835-49A2-913C-0C3769F37DF5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053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CB6374-3321-4492-8FF2-2AEF6072E550}" type="slidenum">
              <a:rPr lang="zh-CN" altLang="en-US"/>
              <a:pPr eaLnBrk="1" hangingPunct="1"/>
              <a:t>2</a:t>
            </a:fld>
            <a:endParaRPr lang="en-US" altLang="zh-CN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188913"/>
            <a:ext cx="16192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8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剪辑" r:id="rId4" imgW="2641320" imgH="4586040" progId="MS_ClipArt_Gallery.2">
                  <p:embed/>
                </p:oleObj>
              </mc:Choice>
              <mc:Fallback>
                <p:oleObj name="剪辑" r:id="rId4" imgW="2641320" imgH="4586040" progId="MS_ClipArt_Gallery.2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990600" y="3140075"/>
            <a:ext cx="610235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中间代码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赋值语句的翻译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控制语句的翻译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(if、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循环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说明语句翻译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组合数据说明的翻译</a:t>
            </a:r>
          </a:p>
          <a:p>
            <a:pPr lvl="1"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过程调用翻译</a:t>
            </a:r>
            <a:endParaRPr lang="zh-CN" altLang="en-US" sz="2800" b="1"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793037" cy="990600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7.1  中间代码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44675"/>
            <a:ext cx="7467600" cy="4287838"/>
          </a:xfrm>
        </p:spPr>
        <p:txBody>
          <a:bodyPr lIns="92075" tIns="46038" rIns="92075" bIns="46038"/>
          <a:lstStyle/>
          <a:p>
            <a:pPr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作用</a:t>
            </a:r>
          </a:p>
          <a:p>
            <a:pPr lvl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过渡：经过语义分析被译成中间代码序列</a:t>
            </a:r>
          </a:p>
          <a:p>
            <a:pPr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特点</a:t>
            </a:r>
          </a:p>
          <a:p>
            <a:pPr lvl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形式简单、语义明确</a:t>
            </a:r>
          </a:p>
          <a:p>
            <a:pPr lvl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独立于目标语言</a:t>
            </a:r>
          </a:p>
          <a:p>
            <a:pPr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优点</a:t>
            </a:r>
          </a:p>
          <a:p>
            <a:pPr lvl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便于编译系统的实现、移植、代码优化</a:t>
            </a:r>
          </a:p>
        </p:txBody>
      </p:sp>
      <p:sp>
        <p:nvSpPr>
          <p:cNvPr id="163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D28014-1F0E-41E5-B1FC-745BA855638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63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772027-4387-4C52-9224-CC6932ADDCE4}" type="slidenum">
              <a:rPr lang="zh-CN" altLang="en-US"/>
              <a:pPr eaLnBrk="1" hangingPunct="1"/>
              <a:t>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27150" y="239713"/>
            <a:ext cx="7292975" cy="1392237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常用的中间代码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语言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endParaRPr lang="en-US" altLang="zh-CN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0995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33550"/>
            <a:ext cx="8208962" cy="11906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以表达式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 - 12) * B + 6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的中间代码为例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三地址码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四元式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74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AB75BB-550A-4AE6-B890-6E14D284A54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74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21CA223-FF65-4DD1-A887-19E2E524C0C5}" type="slidenum">
              <a:rPr lang="zh-CN" altLang="en-US"/>
              <a:pPr eaLnBrk="1" hangingPunct="1"/>
              <a:t>4</a:t>
            </a:fld>
            <a:endParaRPr lang="en-US" altLang="zh-CN"/>
          </a:p>
        </p:txBody>
      </p:sp>
      <p:sp>
        <p:nvSpPr>
          <p:cNvPr id="509956" name="Text Box 4"/>
          <p:cNvSpPr txBox="1">
            <a:spLocks noChangeArrowheads="1"/>
          </p:cNvSpPr>
          <p:nvPr/>
        </p:nvSpPr>
        <p:spPr bwMode="auto">
          <a:xfrm>
            <a:off x="1331913" y="3246438"/>
            <a:ext cx="2447925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三地址码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=A-12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*B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+6</a:t>
            </a:r>
          </a:p>
        </p:txBody>
      </p:sp>
      <p:sp>
        <p:nvSpPr>
          <p:cNvPr id="509957" name="Text Box 5"/>
          <p:cNvSpPr txBox="1">
            <a:spLocks noChangeArrowheads="1"/>
          </p:cNvSpPr>
          <p:nvPr/>
        </p:nvSpPr>
        <p:spPr bwMode="auto">
          <a:xfrm>
            <a:off x="4716463" y="3317875"/>
            <a:ext cx="3182937" cy="27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四元式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(-,  A, 12, 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(* , 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, B, 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(+, 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, 6,  T</a:t>
            </a:r>
            <a:r>
              <a:rPr kumimoji="1" lang="en-US" altLang="zh-CN" sz="32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7150" y="239713"/>
            <a:ext cx="7292975" cy="1392237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常用的中间代码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语言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endParaRPr lang="en-US" altLang="zh-CN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7991475" cy="8318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以表达式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 - 12) * B + 6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的中间代码为例</a:t>
            </a:r>
          </a:p>
        </p:txBody>
      </p:sp>
      <p:sp>
        <p:nvSpPr>
          <p:cNvPr id="184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4990C5E-1B72-4FC6-877F-EE947E5E41A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84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7AFEC37-D566-40FF-95D2-378043657867}" type="slidenum">
              <a:rPr lang="zh-CN" altLang="en-US"/>
              <a:pPr eaLnBrk="1" hangingPunct="1"/>
              <a:t>5</a:t>
            </a:fld>
            <a:endParaRPr lang="en-US" altLang="zh-CN"/>
          </a:p>
        </p:txBody>
      </p:sp>
      <p:sp>
        <p:nvSpPr>
          <p:cNvPr id="517124" name="Text Box 4"/>
          <p:cNvSpPr txBox="1">
            <a:spLocks noChangeArrowheads="1"/>
          </p:cNvSpPr>
          <p:nvPr/>
        </p:nvSpPr>
        <p:spPr bwMode="auto">
          <a:xfrm>
            <a:off x="6705600" y="4511675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-</a:t>
            </a:r>
          </a:p>
        </p:txBody>
      </p:sp>
      <p:sp>
        <p:nvSpPr>
          <p:cNvPr id="517125" name="Text Box 5"/>
          <p:cNvSpPr txBox="1">
            <a:spLocks noChangeArrowheads="1"/>
          </p:cNvSpPr>
          <p:nvPr/>
        </p:nvSpPr>
        <p:spPr bwMode="auto">
          <a:xfrm>
            <a:off x="7391400" y="23780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+</a:t>
            </a:r>
          </a:p>
        </p:txBody>
      </p:sp>
      <p:sp>
        <p:nvSpPr>
          <p:cNvPr id="517126" name="Text Box 6"/>
          <p:cNvSpPr txBox="1">
            <a:spLocks noChangeArrowheads="1"/>
          </p:cNvSpPr>
          <p:nvPr/>
        </p:nvSpPr>
        <p:spPr bwMode="auto">
          <a:xfrm>
            <a:off x="6705600" y="3521075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*</a:t>
            </a:r>
          </a:p>
        </p:txBody>
      </p:sp>
      <p:sp>
        <p:nvSpPr>
          <p:cNvPr id="517127" name="Text Box 7"/>
          <p:cNvSpPr txBox="1">
            <a:spLocks noChangeArrowheads="1"/>
          </p:cNvSpPr>
          <p:nvPr/>
        </p:nvSpPr>
        <p:spPr bwMode="auto">
          <a:xfrm>
            <a:off x="8077200" y="3521075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6</a:t>
            </a:r>
          </a:p>
        </p:txBody>
      </p:sp>
      <p:sp>
        <p:nvSpPr>
          <p:cNvPr id="517128" name="Text Box 8"/>
          <p:cNvSpPr txBox="1">
            <a:spLocks noChangeArrowheads="1"/>
          </p:cNvSpPr>
          <p:nvPr/>
        </p:nvSpPr>
        <p:spPr bwMode="auto">
          <a:xfrm>
            <a:off x="6629400" y="5578475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A</a:t>
            </a:r>
          </a:p>
        </p:txBody>
      </p:sp>
      <p:sp>
        <p:nvSpPr>
          <p:cNvPr id="517129" name="Text Box 9"/>
          <p:cNvSpPr txBox="1">
            <a:spLocks noChangeArrowheads="1"/>
          </p:cNvSpPr>
          <p:nvPr/>
        </p:nvSpPr>
        <p:spPr bwMode="auto">
          <a:xfrm>
            <a:off x="7848600" y="55784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12</a:t>
            </a:r>
          </a:p>
        </p:txBody>
      </p:sp>
      <p:sp>
        <p:nvSpPr>
          <p:cNvPr id="517130" name="Line 10"/>
          <p:cNvSpPr>
            <a:spLocks noChangeShapeType="1"/>
          </p:cNvSpPr>
          <p:nvPr/>
        </p:nvSpPr>
        <p:spPr bwMode="auto">
          <a:xfrm>
            <a:off x="6829425" y="4945063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1" name="Line 11"/>
          <p:cNvSpPr>
            <a:spLocks noChangeShapeType="1"/>
          </p:cNvSpPr>
          <p:nvPr/>
        </p:nvSpPr>
        <p:spPr bwMode="auto">
          <a:xfrm>
            <a:off x="6929438" y="4949825"/>
            <a:ext cx="106680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2" name="Line 12"/>
          <p:cNvSpPr>
            <a:spLocks noChangeShapeType="1"/>
          </p:cNvSpPr>
          <p:nvPr/>
        </p:nvSpPr>
        <p:spPr bwMode="auto">
          <a:xfrm>
            <a:off x="6858000" y="3902075"/>
            <a:ext cx="0" cy="83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3" name="Line 13"/>
          <p:cNvSpPr>
            <a:spLocks noChangeShapeType="1"/>
          </p:cNvSpPr>
          <p:nvPr/>
        </p:nvSpPr>
        <p:spPr bwMode="auto">
          <a:xfrm flipV="1">
            <a:off x="6858000" y="2682875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4" name="Line 14"/>
          <p:cNvSpPr>
            <a:spLocks noChangeShapeType="1"/>
          </p:cNvSpPr>
          <p:nvPr/>
        </p:nvSpPr>
        <p:spPr bwMode="auto">
          <a:xfrm>
            <a:off x="7620000" y="2682875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5" name="Text Box 15"/>
          <p:cNvSpPr txBox="1">
            <a:spLocks noChangeArrowheads="1"/>
          </p:cNvSpPr>
          <p:nvPr/>
        </p:nvSpPr>
        <p:spPr bwMode="auto">
          <a:xfrm>
            <a:off x="7924800" y="4587875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B</a:t>
            </a:r>
          </a:p>
        </p:txBody>
      </p:sp>
      <p:sp>
        <p:nvSpPr>
          <p:cNvPr id="517136" name="Line 16"/>
          <p:cNvSpPr>
            <a:spLocks noChangeShapeType="1"/>
          </p:cNvSpPr>
          <p:nvPr/>
        </p:nvSpPr>
        <p:spPr bwMode="auto">
          <a:xfrm>
            <a:off x="7010400" y="3806825"/>
            <a:ext cx="1143000" cy="914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7" name="Rectangle 17"/>
          <p:cNvSpPr>
            <a:spLocks noChangeArrowheads="1"/>
          </p:cNvSpPr>
          <p:nvPr/>
        </p:nvSpPr>
        <p:spPr bwMode="auto">
          <a:xfrm>
            <a:off x="684213" y="2781300"/>
            <a:ext cx="5256212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语法结构树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三元式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去掉了语法树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分析树中对语义无关紧要的成分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又称为抽象语法树</a:t>
            </a:r>
          </a:p>
          <a:p>
            <a:pPr marL="742950" lvl="1" indent="-28575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简称结构树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60350"/>
            <a:ext cx="7292975" cy="1392238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常用的中间代码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语言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endParaRPr lang="en-US" altLang="zh-CN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51200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8208962" cy="22320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以表达式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 - 12) * B + 6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的中间代码为例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后缀式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逆波兰表示</a:t>
            </a:r>
            <a:r>
              <a:rPr kumimoji="1" lang="en-US" altLang="zh-CN" sz="1900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(Reverse Polish Notation) </a:t>
            </a:r>
          </a:p>
          <a:p>
            <a:pPr lvl="2"/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Lukasiewicz1929~1951</a:t>
            </a: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年发明</a:t>
            </a:r>
          </a:p>
          <a:p>
            <a:pPr lvl="2"/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前缀式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波兰表示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(Polish Notation)</a:t>
            </a:r>
          </a:p>
        </p:txBody>
      </p:sp>
      <p:sp>
        <p:nvSpPr>
          <p:cNvPr id="194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4E5E993-76DC-4FCF-ADBA-AED8067A211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94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F849DEB-18F0-4C8E-B89F-B6EF33ED5E40}" type="slidenum">
              <a:rPr lang="zh-CN" altLang="en-US"/>
              <a:pPr eaLnBrk="1" hangingPunct="1"/>
              <a:t>6</a:t>
            </a:fld>
            <a:endParaRPr lang="en-US" altLang="zh-CN"/>
          </a:p>
        </p:txBody>
      </p:sp>
      <p:sp>
        <p:nvSpPr>
          <p:cNvPr id="512004" name="Text Box 4"/>
          <p:cNvSpPr txBox="1">
            <a:spLocks noChangeArrowheads="1"/>
          </p:cNvSpPr>
          <p:nvPr/>
        </p:nvSpPr>
        <p:spPr bwMode="auto">
          <a:xfrm>
            <a:off x="827088" y="4567238"/>
            <a:ext cx="29511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波兰表示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+*-A12B6</a:t>
            </a:r>
          </a:p>
        </p:txBody>
      </p:sp>
      <p:sp>
        <p:nvSpPr>
          <p:cNvPr id="512005" name="Text Box 5"/>
          <p:cNvSpPr txBox="1">
            <a:spLocks noChangeArrowheads="1"/>
          </p:cNvSpPr>
          <p:nvPr/>
        </p:nvSpPr>
        <p:spPr bwMode="auto">
          <a:xfrm>
            <a:off x="5003800" y="4581525"/>
            <a:ext cx="29511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逆波兰表示</a:t>
            </a:r>
          </a:p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  <a:ea typeface="楷体_GB2312" pitchFamily="49" charset="-122"/>
              </a:rPr>
              <a:t>A12-B*6+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684213" y="836613"/>
            <a:ext cx="8212137" cy="690562"/>
          </a:xfrm>
        </p:spPr>
        <p:txBody>
          <a:bodyPr/>
          <a:lstStyle/>
          <a:p>
            <a:pPr>
              <a:spcBef>
                <a:spcPct val="100000"/>
              </a:spcBef>
              <a:buFont typeface="Wingdings" pitchFamily="2" charset="2"/>
              <a:buNone/>
            </a:pPr>
            <a:r>
              <a:rPr lang="zh-CN" altLang="en-US" sz="3700" b="1" smtClean="0">
                <a:latin typeface="Times New Roman" pitchFamily="18" charset="0"/>
                <a:ea typeface="华文新魏" pitchFamily="2" charset="-122"/>
              </a:rPr>
              <a:t>例 表达式  </a:t>
            </a:r>
            <a:r>
              <a:rPr lang="en-US" altLang="zh-CN" sz="3700" b="1" smtClean="0">
                <a:latin typeface="Times New Roman" pitchFamily="18" charset="0"/>
                <a:ea typeface="华文新魏" pitchFamily="2" charset="-122"/>
              </a:rPr>
              <a:t>(A - 12) * B + 6 </a:t>
            </a:r>
            <a:r>
              <a:rPr lang="zh-CN" altLang="en-US" sz="3700" b="1" smtClean="0">
                <a:latin typeface="Times New Roman" pitchFamily="18" charset="0"/>
                <a:ea typeface="华文新魏" pitchFamily="2" charset="-122"/>
              </a:rPr>
              <a:t>的中间代码</a:t>
            </a:r>
          </a:p>
        </p:txBody>
      </p:sp>
      <p:sp>
        <p:nvSpPr>
          <p:cNvPr id="20483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540E0F0-267C-4EEF-B050-9195549E60E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8B9B72F-118B-41AE-9DF8-DB4FE9EF31DE}" type="slidenum">
              <a:rPr lang="zh-CN" altLang="en-US"/>
              <a:pPr eaLnBrk="1" hangingPunct="1"/>
              <a:t>7</a:t>
            </a:fld>
            <a:endParaRPr lang="en-US" altLang="zh-CN"/>
          </a:p>
        </p:txBody>
      </p:sp>
      <p:sp>
        <p:nvSpPr>
          <p:cNvPr id="20485" name="Text Box 3"/>
          <p:cNvSpPr txBox="1">
            <a:spLocks noChangeArrowheads="1"/>
          </p:cNvSpPr>
          <p:nvPr/>
        </p:nvSpPr>
        <p:spPr bwMode="auto">
          <a:xfrm>
            <a:off x="762000" y="4176713"/>
            <a:ext cx="15240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三地址码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=A-12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*B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+6</a:t>
            </a: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3851275" y="1916113"/>
            <a:ext cx="19812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四元式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(-,  A, 12,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(* 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, B,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(+,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, 6, 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20487" name="Text Box 5"/>
          <p:cNvSpPr txBox="1">
            <a:spLocks noChangeArrowheads="1"/>
          </p:cNvSpPr>
          <p:nvPr/>
        </p:nvSpPr>
        <p:spPr bwMode="auto">
          <a:xfrm>
            <a:off x="3995738" y="4149725"/>
            <a:ext cx="19050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三元组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1  (-,  A, 12)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2  (* , (1),  B)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3  (+, (2),  6)</a:t>
            </a:r>
          </a:p>
        </p:txBody>
      </p:sp>
      <p:sp>
        <p:nvSpPr>
          <p:cNvPr id="20488" name="Text Box 6"/>
          <p:cNvSpPr txBox="1">
            <a:spLocks noChangeArrowheads="1"/>
          </p:cNvSpPr>
          <p:nvPr/>
        </p:nvSpPr>
        <p:spPr bwMode="auto">
          <a:xfrm>
            <a:off x="803275" y="1916113"/>
            <a:ext cx="17526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波兰表示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+*-A12B6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逆波兰表示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A12-B*6+</a:t>
            </a:r>
          </a:p>
        </p:txBody>
      </p:sp>
      <p:sp>
        <p:nvSpPr>
          <p:cNvPr id="20489" name="Text Box 7"/>
          <p:cNvSpPr txBox="1">
            <a:spLocks noChangeArrowheads="1"/>
          </p:cNvSpPr>
          <p:nvPr/>
        </p:nvSpPr>
        <p:spPr bwMode="auto">
          <a:xfrm>
            <a:off x="6705600" y="40386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-</a:t>
            </a:r>
          </a:p>
        </p:txBody>
      </p:sp>
      <p:sp>
        <p:nvSpPr>
          <p:cNvPr id="20490" name="Text Box 8"/>
          <p:cNvSpPr txBox="1">
            <a:spLocks noChangeArrowheads="1"/>
          </p:cNvSpPr>
          <p:nvPr/>
        </p:nvSpPr>
        <p:spPr bwMode="auto">
          <a:xfrm>
            <a:off x="7391400" y="19050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+</a:t>
            </a:r>
          </a:p>
        </p:txBody>
      </p:sp>
      <p:sp>
        <p:nvSpPr>
          <p:cNvPr id="20491" name="Text Box 9"/>
          <p:cNvSpPr txBox="1">
            <a:spLocks noChangeArrowheads="1"/>
          </p:cNvSpPr>
          <p:nvPr/>
        </p:nvSpPr>
        <p:spPr bwMode="auto">
          <a:xfrm>
            <a:off x="6705600" y="30480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*</a:t>
            </a:r>
          </a:p>
        </p:txBody>
      </p:sp>
      <p:sp>
        <p:nvSpPr>
          <p:cNvPr id="20492" name="Text Box 10"/>
          <p:cNvSpPr txBox="1">
            <a:spLocks noChangeArrowheads="1"/>
          </p:cNvSpPr>
          <p:nvPr/>
        </p:nvSpPr>
        <p:spPr bwMode="auto">
          <a:xfrm>
            <a:off x="8077200" y="3048000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6</a:t>
            </a:r>
          </a:p>
        </p:txBody>
      </p:sp>
      <p:sp>
        <p:nvSpPr>
          <p:cNvPr id="20493" name="Text Box 11"/>
          <p:cNvSpPr txBox="1">
            <a:spLocks noChangeArrowheads="1"/>
          </p:cNvSpPr>
          <p:nvPr/>
        </p:nvSpPr>
        <p:spPr bwMode="auto">
          <a:xfrm>
            <a:off x="6629400" y="51054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A</a:t>
            </a:r>
          </a:p>
        </p:txBody>
      </p:sp>
      <p:sp>
        <p:nvSpPr>
          <p:cNvPr id="20494" name="Text Box 12"/>
          <p:cNvSpPr txBox="1">
            <a:spLocks noChangeArrowheads="1"/>
          </p:cNvSpPr>
          <p:nvPr/>
        </p:nvSpPr>
        <p:spPr bwMode="auto">
          <a:xfrm>
            <a:off x="7848600" y="51054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12</a:t>
            </a:r>
          </a:p>
        </p:txBody>
      </p:sp>
      <p:sp>
        <p:nvSpPr>
          <p:cNvPr id="20495" name="Line 13"/>
          <p:cNvSpPr>
            <a:spLocks noChangeShapeType="1"/>
          </p:cNvSpPr>
          <p:nvPr/>
        </p:nvSpPr>
        <p:spPr bwMode="auto">
          <a:xfrm>
            <a:off x="6829425" y="4471988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6" name="Line 14"/>
          <p:cNvSpPr>
            <a:spLocks noChangeShapeType="1"/>
          </p:cNvSpPr>
          <p:nvPr/>
        </p:nvSpPr>
        <p:spPr bwMode="auto">
          <a:xfrm>
            <a:off x="6929438" y="4476750"/>
            <a:ext cx="106680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Line 15"/>
          <p:cNvSpPr>
            <a:spLocks noChangeShapeType="1"/>
          </p:cNvSpPr>
          <p:nvPr/>
        </p:nvSpPr>
        <p:spPr bwMode="auto">
          <a:xfrm>
            <a:off x="6858000" y="3429000"/>
            <a:ext cx="0" cy="83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Line 16"/>
          <p:cNvSpPr>
            <a:spLocks noChangeShapeType="1"/>
          </p:cNvSpPr>
          <p:nvPr/>
        </p:nvSpPr>
        <p:spPr bwMode="auto">
          <a:xfrm flipV="1">
            <a:off x="6858000" y="2209800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17"/>
          <p:cNvSpPr>
            <a:spLocks noChangeShapeType="1"/>
          </p:cNvSpPr>
          <p:nvPr/>
        </p:nvSpPr>
        <p:spPr bwMode="auto">
          <a:xfrm>
            <a:off x="7620000" y="2209800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Text Box 18"/>
          <p:cNvSpPr txBox="1">
            <a:spLocks noChangeArrowheads="1"/>
          </p:cNvSpPr>
          <p:nvPr/>
        </p:nvSpPr>
        <p:spPr bwMode="auto">
          <a:xfrm>
            <a:off x="7924800" y="41148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B</a:t>
            </a:r>
          </a:p>
        </p:txBody>
      </p:sp>
      <p:sp>
        <p:nvSpPr>
          <p:cNvPr id="20501" name="Line 19"/>
          <p:cNvSpPr>
            <a:spLocks noChangeShapeType="1"/>
          </p:cNvSpPr>
          <p:nvPr/>
        </p:nvSpPr>
        <p:spPr bwMode="auto">
          <a:xfrm>
            <a:off x="7010400" y="3333750"/>
            <a:ext cx="1143000" cy="914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2" name="Text Box 20"/>
          <p:cNvSpPr txBox="1">
            <a:spLocks noChangeArrowheads="1"/>
          </p:cNvSpPr>
          <p:nvPr/>
        </p:nvSpPr>
        <p:spPr bwMode="auto">
          <a:xfrm>
            <a:off x="6804025" y="5805488"/>
            <a:ext cx="17287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000099"/>
                </a:solidFill>
                <a:ea typeface="华文新魏" pitchFamily="2" charset="-122"/>
              </a:rPr>
              <a:t>语法结构树</a:t>
            </a:r>
          </a:p>
          <a:p>
            <a:pPr eaLnBrk="1" hangingPunct="1"/>
            <a:r>
              <a:rPr lang="zh-CN" altLang="en-US" sz="2400" b="1">
                <a:solidFill>
                  <a:srgbClr val="000099"/>
                </a:solidFill>
                <a:ea typeface="华文新魏" pitchFamily="2" charset="-122"/>
              </a:rPr>
              <a:t>抽象语法树</a:t>
            </a:r>
          </a:p>
        </p:txBody>
      </p:sp>
      <p:sp>
        <p:nvSpPr>
          <p:cNvPr id="20503" name="Text Box 21"/>
          <p:cNvSpPr txBox="1">
            <a:spLocks noChangeArrowheads="1"/>
          </p:cNvSpPr>
          <p:nvPr/>
        </p:nvSpPr>
        <p:spPr bwMode="auto">
          <a:xfrm>
            <a:off x="762000" y="4176713"/>
            <a:ext cx="15240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三地址码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=A-12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*B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=T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+6</a:t>
            </a:r>
          </a:p>
        </p:txBody>
      </p:sp>
      <p:sp>
        <p:nvSpPr>
          <p:cNvPr id="20504" name="Text Box 22"/>
          <p:cNvSpPr txBox="1">
            <a:spLocks noChangeArrowheads="1"/>
          </p:cNvSpPr>
          <p:nvPr/>
        </p:nvSpPr>
        <p:spPr bwMode="auto">
          <a:xfrm>
            <a:off x="3851275" y="1916113"/>
            <a:ext cx="1981200" cy="210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四元式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(-,  A, 12,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(* 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, B,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(+,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, 6,  T</a:t>
            </a:r>
            <a:r>
              <a:rPr kumimoji="1" lang="en-US" altLang="zh-CN" sz="2400" b="1" baseline="-25000">
                <a:latin typeface="Times New Roman" pitchFamily="18" charset="0"/>
                <a:ea typeface="楷体_GB2312" pitchFamily="49" charset="-122"/>
              </a:rPr>
              <a:t>3</a:t>
            </a:r>
            <a:r>
              <a:rPr kumimoji="1" lang="en-US" altLang="zh-CN" sz="2400" b="1">
                <a:latin typeface="Times New Roman" pitchFamily="18" charset="0"/>
                <a:ea typeface="楷体_GB2312" pitchFamily="49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39713"/>
            <a:ext cx="7292975" cy="1392237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构造语法结构树的属性文法</a:t>
            </a:r>
            <a:endParaRPr lang="en-US" altLang="zh-CN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9750" y="1700213"/>
            <a:ext cx="7991475" cy="83185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以表达式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 - 12) * B + 6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的中间代码为例</a:t>
            </a:r>
          </a:p>
        </p:txBody>
      </p:sp>
      <p:sp>
        <p:nvSpPr>
          <p:cNvPr id="126980" name="日期占位符 3"/>
          <p:cNvSpPr txBox="1">
            <a:spLocks noGrp="1"/>
          </p:cNvSpPr>
          <p:nvPr/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379212A-A105-4900-8229-EB363D2CBE36}" type="datetime1">
              <a:rPr lang="zh-CN" altLang="en-US" sz="1400"/>
              <a:pPr eaLnBrk="1" hangingPunct="1"/>
              <a:t>2017/2/24</a:t>
            </a:fld>
            <a:endParaRPr lang="en-US" altLang="zh-CN" sz="1400"/>
          </a:p>
        </p:txBody>
      </p:sp>
      <p:sp>
        <p:nvSpPr>
          <p:cNvPr id="126981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DD2DDD01-120C-4CFB-9896-6B364BC339DD}" type="slidenum">
              <a:rPr lang="zh-CN" altLang="en-US" sz="1400"/>
              <a:pPr algn="r" eaLnBrk="1" hangingPunct="1"/>
              <a:t>8</a:t>
            </a:fld>
            <a:endParaRPr lang="en-US" altLang="zh-CN" sz="1400"/>
          </a:p>
        </p:txBody>
      </p:sp>
      <p:sp>
        <p:nvSpPr>
          <p:cNvPr id="517124" name="Text Box 4"/>
          <p:cNvSpPr txBox="1">
            <a:spLocks noChangeArrowheads="1"/>
          </p:cNvSpPr>
          <p:nvPr/>
        </p:nvSpPr>
        <p:spPr bwMode="auto">
          <a:xfrm>
            <a:off x="5795963" y="45085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-</a:t>
            </a:r>
          </a:p>
        </p:txBody>
      </p:sp>
      <p:sp>
        <p:nvSpPr>
          <p:cNvPr id="517125" name="Text Box 5"/>
          <p:cNvSpPr txBox="1">
            <a:spLocks noChangeArrowheads="1"/>
          </p:cNvSpPr>
          <p:nvPr/>
        </p:nvSpPr>
        <p:spPr bwMode="auto">
          <a:xfrm>
            <a:off x="6481763" y="23749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+</a:t>
            </a:r>
          </a:p>
        </p:txBody>
      </p:sp>
      <p:sp>
        <p:nvSpPr>
          <p:cNvPr id="517126" name="Text Box 6"/>
          <p:cNvSpPr txBox="1">
            <a:spLocks noChangeArrowheads="1"/>
          </p:cNvSpPr>
          <p:nvPr/>
        </p:nvSpPr>
        <p:spPr bwMode="auto">
          <a:xfrm>
            <a:off x="5795963" y="35179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latin typeface="Times New Roman" pitchFamily="18" charset="0"/>
              </a:rPr>
              <a:t>*</a:t>
            </a:r>
          </a:p>
        </p:txBody>
      </p:sp>
      <p:sp>
        <p:nvSpPr>
          <p:cNvPr id="517127" name="Text Box 7"/>
          <p:cNvSpPr txBox="1">
            <a:spLocks noChangeArrowheads="1"/>
          </p:cNvSpPr>
          <p:nvPr/>
        </p:nvSpPr>
        <p:spPr bwMode="auto">
          <a:xfrm>
            <a:off x="7167563" y="3517900"/>
            <a:ext cx="685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6</a:t>
            </a:r>
          </a:p>
        </p:txBody>
      </p:sp>
      <p:sp>
        <p:nvSpPr>
          <p:cNvPr id="517128" name="Text Box 8"/>
          <p:cNvSpPr txBox="1">
            <a:spLocks noChangeArrowheads="1"/>
          </p:cNvSpPr>
          <p:nvPr/>
        </p:nvSpPr>
        <p:spPr bwMode="auto">
          <a:xfrm>
            <a:off x="5719763" y="55753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A</a:t>
            </a:r>
          </a:p>
        </p:txBody>
      </p:sp>
      <p:sp>
        <p:nvSpPr>
          <p:cNvPr id="517129" name="Text Box 9"/>
          <p:cNvSpPr txBox="1">
            <a:spLocks noChangeArrowheads="1"/>
          </p:cNvSpPr>
          <p:nvPr/>
        </p:nvSpPr>
        <p:spPr bwMode="auto">
          <a:xfrm>
            <a:off x="6938963" y="55753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12</a:t>
            </a:r>
          </a:p>
        </p:txBody>
      </p:sp>
      <p:sp>
        <p:nvSpPr>
          <p:cNvPr id="517130" name="Line 10"/>
          <p:cNvSpPr>
            <a:spLocks noChangeShapeType="1"/>
          </p:cNvSpPr>
          <p:nvPr/>
        </p:nvSpPr>
        <p:spPr bwMode="auto">
          <a:xfrm>
            <a:off x="5919788" y="4941888"/>
            <a:ext cx="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1" name="Line 11"/>
          <p:cNvSpPr>
            <a:spLocks noChangeShapeType="1"/>
          </p:cNvSpPr>
          <p:nvPr/>
        </p:nvSpPr>
        <p:spPr bwMode="auto">
          <a:xfrm>
            <a:off x="6019800" y="4946650"/>
            <a:ext cx="1066800" cy="7620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2" name="Line 12"/>
          <p:cNvSpPr>
            <a:spLocks noChangeShapeType="1"/>
          </p:cNvSpPr>
          <p:nvPr/>
        </p:nvSpPr>
        <p:spPr bwMode="auto">
          <a:xfrm>
            <a:off x="5948363" y="3898900"/>
            <a:ext cx="0" cy="83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3" name="Line 13"/>
          <p:cNvSpPr>
            <a:spLocks noChangeShapeType="1"/>
          </p:cNvSpPr>
          <p:nvPr/>
        </p:nvSpPr>
        <p:spPr bwMode="auto">
          <a:xfrm flipV="1">
            <a:off x="5948363" y="2679700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4" name="Line 14"/>
          <p:cNvSpPr>
            <a:spLocks noChangeShapeType="1"/>
          </p:cNvSpPr>
          <p:nvPr/>
        </p:nvSpPr>
        <p:spPr bwMode="auto">
          <a:xfrm>
            <a:off x="6710363" y="2679700"/>
            <a:ext cx="609600" cy="9906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5" name="Text Box 15"/>
          <p:cNvSpPr txBox="1">
            <a:spLocks noChangeArrowheads="1"/>
          </p:cNvSpPr>
          <p:nvPr/>
        </p:nvSpPr>
        <p:spPr bwMode="auto">
          <a:xfrm>
            <a:off x="7015163" y="4584700"/>
            <a:ext cx="609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B</a:t>
            </a:r>
          </a:p>
        </p:txBody>
      </p:sp>
      <p:sp>
        <p:nvSpPr>
          <p:cNvPr id="517136" name="Line 16"/>
          <p:cNvSpPr>
            <a:spLocks noChangeShapeType="1"/>
          </p:cNvSpPr>
          <p:nvPr/>
        </p:nvSpPr>
        <p:spPr bwMode="auto">
          <a:xfrm>
            <a:off x="6100763" y="3803650"/>
            <a:ext cx="1143000" cy="9144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7137" name="Rectangle 17"/>
          <p:cNvSpPr>
            <a:spLocks noChangeArrowheads="1"/>
          </p:cNvSpPr>
          <p:nvPr/>
        </p:nvSpPr>
        <p:spPr bwMode="auto">
          <a:xfrm>
            <a:off x="684213" y="2565400"/>
            <a:ext cx="5472112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叶子节点的建立</a:t>
            </a:r>
          </a:p>
          <a:p>
            <a:pPr marL="742950" lvl="1" indent="-28575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mkleaf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中间节点的建立</a:t>
            </a:r>
          </a:p>
          <a:p>
            <a:pPr marL="742950" lvl="1" indent="-28575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mknode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属性设计</a:t>
            </a:r>
          </a:p>
          <a:p>
            <a:pPr marL="742950" lvl="1" indent="-28575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指针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(pointer)</a:t>
            </a: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语义动作的执行时机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构造语法结构树的属性文法</a:t>
            </a:r>
            <a:b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(S-</a:t>
            </a:r>
            <a:r>
              <a:rPr lang="zh-CN" altLang="en-US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属性文法</a:t>
            </a:r>
            <a:r>
              <a:rPr lang="en-US" altLang="zh-CN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endParaRPr lang="zh-CN" altLang="en-US" sz="24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514051" name="Group 3"/>
          <p:cNvGraphicFramePr>
            <a:graphicFrameLocks noGrp="1"/>
          </p:cNvGraphicFramePr>
          <p:nvPr>
            <p:ph type="tbl" idx="1"/>
          </p:nvPr>
        </p:nvGraphicFramePr>
        <p:xfrm>
          <a:off x="971550" y="1989138"/>
          <a:ext cx="7921625" cy="406400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产生式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语义规则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S→id:=E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-E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(E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num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5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000EFA1-C376-4971-93C0-C4FE009D43F5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15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C28762-8041-40AF-93D5-F6DDEBA6AF8D}" type="slidenum">
              <a:rPr lang="zh-CN" altLang="en-US"/>
              <a:pPr eaLnBrk="1" hangingPunct="1"/>
              <a:t>9</a:t>
            </a:fld>
            <a:endParaRPr lang="en-US" altLang="zh-CN"/>
          </a:p>
        </p:txBody>
      </p:sp>
      <p:sp>
        <p:nvSpPr>
          <p:cNvPr id="514080" name="Rectangle 32"/>
          <p:cNvSpPr>
            <a:spLocks noChangeArrowheads="1"/>
          </p:cNvSpPr>
          <p:nvPr/>
        </p:nvSpPr>
        <p:spPr bwMode="auto">
          <a:xfrm>
            <a:off x="2627313" y="2470150"/>
            <a:ext cx="5932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S.p:= mknode(':=', mkleaf(id, id.entry), E.p)</a:t>
            </a:r>
          </a:p>
        </p:txBody>
      </p:sp>
      <p:sp>
        <p:nvSpPr>
          <p:cNvPr id="514081" name="Rectangle 33"/>
          <p:cNvSpPr>
            <a:spLocks noChangeArrowheads="1"/>
          </p:cNvSpPr>
          <p:nvPr/>
        </p:nvSpPr>
        <p:spPr bwMode="auto">
          <a:xfrm>
            <a:off x="2555875" y="3046413"/>
            <a:ext cx="398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E.p:= mknode('+',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.p,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.p)</a:t>
            </a:r>
          </a:p>
        </p:txBody>
      </p:sp>
      <p:sp>
        <p:nvSpPr>
          <p:cNvPr id="514082" name="Rectangle 34"/>
          <p:cNvSpPr>
            <a:spLocks noChangeArrowheads="1"/>
          </p:cNvSpPr>
          <p:nvPr/>
        </p:nvSpPr>
        <p:spPr bwMode="auto">
          <a:xfrm>
            <a:off x="2592388" y="3549650"/>
            <a:ext cx="3965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E.p:= mknode('*',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.p,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.p)</a:t>
            </a:r>
          </a:p>
        </p:txBody>
      </p:sp>
      <p:sp>
        <p:nvSpPr>
          <p:cNvPr id="514083" name="Rectangle 35"/>
          <p:cNvSpPr>
            <a:spLocks noChangeArrowheads="1"/>
          </p:cNvSpPr>
          <p:nvPr/>
        </p:nvSpPr>
        <p:spPr bwMode="auto">
          <a:xfrm>
            <a:off x="2627313" y="4054475"/>
            <a:ext cx="3516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E.p:= mknode('-', 0,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.p)</a:t>
            </a:r>
          </a:p>
        </p:txBody>
      </p:sp>
      <p:sp>
        <p:nvSpPr>
          <p:cNvPr id="514084" name="Rectangle 36"/>
          <p:cNvSpPr>
            <a:spLocks noChangeArrowheads="1"/>
          </p:cNvSpPr>
          <p:nvPr/>
        </p:nvSpPr>
        <p:spPr bwMode="auto">
          <a:xfrm>
            <a:off x="2627313" y="4560888"/>
            <a:ext cx="153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</a:t>
            </a:r>
          </a:p>
        </p:txBody>
      </p:sp>
      <p:sp>
        <p:nvSpPr>
          <p:cNvPr id="514085" name="Rectangle 37"/>
          <p:cNvSpPr>
            <a:spLocks noChangeArrowheads="1"/>
          </p:cNvSpPr>
          <p:nvPr/>
        </p:nvSpPr>
        <p:spPr bwMode="auto">
          <a:xfrm>
            <a:off x="2555875" y="5129213"/>
            <a:ext cx="460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E.p:= mkleaf(id, id.entry)</a:t>
            </a:r>
          </a:p>
        </p:txBody>
      </p:sp>
      <p:sp>
        <p:nvSpPr>
          <p:cNvPr id="514086" name="Rectangle 38"/>
          <p:cNvSpPr>
            <a:spLocks noChangeArrowheads="1"/>
          </p:cNvSpPr>
          <p:nvPr/>
        </p:nvSpPr>
        <p:spPr bwMode="auto">
          <a:xfrm>
            <a:off x="2555875" y="5568950"/>
            <a:ext cx="3736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E.p:=mkleaf(num,num.val)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549275"/>
            <a:ext cx="8748713" cy="1143000"/>
          </a:xfrm>
        </p:spPr>
        <p:txBody>
          <a:bodyPr/>
          <a:lstStyle/>
          <a:p>
            <a:r>
              <a:rPr lang="zh-CN" altLang="en-US" sz="48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：</a:t>
            </a: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a:=b*(-c)+b*(-34)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的语法结构树</a:t>
            </a:r>
            <a:b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3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				</a:t>
            </a:r>
            <a:r>
              <a:rPr lang="en-US" altLang="zh-CN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直观描述</a:t>
            </a:r>
          </a:p>
        </p:txBody>
      </p:sp>
      <p:sp>
        <p:nvSpPr>
          <p:cNvPr id="22531" name="日期占位符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5BFABE2-2494-4ECC-81F6-3BFA8F21B1D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2532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31BE32A-71F7-41F0-BC46-514FF301C8AA}" type="slidenum">
              <a:rPr lang="zh-CN" altLang="en-US"/>
              <a:pPr eaLnBrk="1" hangingPunct="1"/>
              <a:t>10</a:t>
            </a:fld>
            <a:endParaRPr lang="en-US" altLang="zh-CN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833563" y="2078038"/>
            <a:ext cx="1676400" cy="609600"/>
            <a:chOff x="1200" y="1536"/>
            <a:chExt cx="1056" cy="384"/>
          </a:xfrm>
        </p:grpSpPr>
        <p:sp>
          <p:nvSpPr>
            <p:cNvPr id="22581" name="Rectangle 4"/>
            <p:cNvSpPr>
              <a:spLocks noChangeArrowheads="1"/>
            </p:cNvSpPr>
            <p:nvPr/>
          </p:nvSpPr>
          <p:spPr bwMode="auto">
            <a:xfrm>
              <a:off x="1200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:=</a:t>
              </a:r>
            </a:p>
          </p:txBody>
        </p:sp>
        <p:sp>
          <p:nvSpPr>
            <p:cNvPr id="22582" name="Rectangle 5"/>
            <p:cNvSpPr>
              <a:spLocks noChangeArrowheads="1"/>
            </p:cNvSpPr>
            <p:nvPr/>
          </p:nvSpPr>
          <p:spPr bwMode="auto">
            <a:xfrm>
              <a:off x="1536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en-US" sz="24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22583" name="Rectangle 6"/>
            <p:cNvSpPr>
              <a:spLocks noChangeArrowheads="1"/>
            </p:cNvSpPr>
            <p:nvPr/>
          </p:nvSpPr>
          <p:spPr bwMode="auto">
            <a:xfrm>
              <a:off x="1872" y="1536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500563" y="3284538"/>
            <a:ext cx="1676400" cy="609600"/>
            <a:chOff x="2880" y="1536"/>
            <a:chExt cx="1056" cy="384"/>
          </a:xfrm>
        </p:grpSpPr>
        <p:sp>
          <p:nvSpPr>
            <p:cNvPr id="22578" name="Rectangle 8"/>
            <p:cNvSpPr>
              <a:spLocks noChangeArrowheads="1"/>
            </p:cNvSpPr>
            <p:nvPr/>
          </p:nvSpPr>
          <p:spPr bwMode="auto">
            <a:xfrm>
              <a:off x="2880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zh-CN" altLang="en-US" sz="2800" b="1">
                  <a:solidFill>
                    <a:srgbClr val="000099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2579" name="Rectangle 9"/>
            <p:cNvSpPr>
              <a:spLocks noChangeArrowheads="1"/>
            </p:cNvSpPr>
            <p:nvPr/>
          </p:nvSpPr>
          <p:spPr bwMode="auto">
            <a:xfrm>
              <a:off x="3216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0" name="Rectangle 10"/>
            <p:cNvSpPr>
              <a:spLocks noChangeArrowheads="1"/>
            </p:cNvSpPr>
            <p:nvPr/>
          </p:nvSpPr>
          <p:spPr bwMode="auto">
            <a:xfrm>
              <a:off x="3552" y="1536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645025" y="4437063"/>
            <a:ext cx="1676400" cy="609600"/>
            <a:chOff x="4512" y="1536"/>
            <a:chExt cx="1056" cy="384"/>
          </a:xfrm>
        </p:grpSpPr>
        <p:sp>
          <p:nvSpPr>
            <p:cNvPr id="22575" name="Rectangle 12"/>
            <p:cNvSpPr>
              <a:spLocks noChangeArrowheads="1"/>
            </p:cNvSpPr>
            <p:nvPr/>
          </p:nvSpPr>
          <p:spPr bwMode="auto">
            <a:xfrm>
              <a:off x="4512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22576" name="Rectangle 13"/>
            <p:cNvSpPr>
              <a:spLocks noChangeArrowheads="1"/>
            </p:cNvSpPr>
            <p:nvPr/>
          </p:nvSpPr>
          <p:spPr bwMode="auto">
            <a:xfrm>
              <a:off x="4848" y="153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77" name="Rectangle 14"/>
            <p:cNvSpPr>
              <a:spLocks noChangeArrowheads="1"/>
            </p:cNvSpPr>
            <p:nvPr/>
          </p:nvSpPr>
          <p:spPr bwMode="auto">
            <a:xfrm>
              <a:off x="5184" y="1536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en-US" sz="28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500563" y="2060575"/>
            <a:ext cx="1676400" cy="609600"/>
            <a:chOff x="1200" y="3120"/>
            <a:chExt cx="1056" cy="384"/>
          </a:xfrm>
        </p:grpSpPr>
        <p:sp>
          <p:nvSpPr>
            <p:cNvPr id="22572" name="Rectangle 16"/>
            <p:cNvSpPr>
              <a:spLocks noChangeArrowheads="1"/>
            </p:cNvSpPr>
            <p:nvPr/>
          </p:nvSpPr>
          <p:spPr bwMode="auto">
            <a:xfrm>
              <a:off x="1200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22573" name="Rectangle 17"/>
            <p:cNvSpPr>
              <a:spLocks noChangeArrowheads="1"/>
            </p:cNvSpPr>
            <p:nvPr/>
          </p:nvSpPr>
          <p:spPr bwMode="auto">
            <a:xfrm>
              <a:off x="1536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en-US" sz="2400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22574" name="Rectangle 18"/>
            <p:cNvSpPr>
              <a:spLocks noChangeArrowheads="1"/>
            </p:cNvSpPr>
            <p:nvPr/>
          </p:nvSpPr>
          <p:spPr bwMode="auto">
            <a:xfrm>
              <a:off x="1872" y="3120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7092950" y="2060575"/>
            <a:ext cx="1676400" cy="609600"/>
            <a:chOff x="2928" y="3120"/>
            <a:chExt cx="1056" cy="384"/>
          </a:xfrm>
        </p:grpSpPr>
        <p:sp>
          <p:nvSpPr>
            <p:cNvPr id="22569" name="Rectangle 20"/>
            <p:cNvSpPr>
              <a:spLocks noChangeArrowheads="1"/>
            </p:cNvSpPr>
            <p:nvPr/>
          </p:nvSpPr>
          <p:spPr bwMode="auto">
            <a:xfrm>
              <a:off x="2928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zh-CN" altLang="en-US" sz="2800" b="1">
                  <a:solidFill>
                    <a:srgbClr val="000099"/>
                  </a:solidFill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2570" name="Rectangle 21"/>
            <p:cNvSpPr>
              <a:spLocks noChangeArrowheads="1"/>
            </p:cNvSpPr>
            <p:nvPr/>
          </p:nvSpPr>
          <p:spPr bwMode="auto">
            <a:xfrm>
              <a:off x="3264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71" name="Rectangle 22"/>
            <p:cNvSpPr>
              <a:spLocks noChangeArrowheads="1"/>
            </p:cNvSpPr>
            <p:nvPr/>
          </p:nvSpPr>
          <p:spPr bwMode="auto">
            <a:xfrm>
              <a:off x="3600" y="3120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7092950" y="4437063"/>
            <a:ext cx="1676400" cy="609600"/>
            <a:chOff x="4512" y="3120"/>
            <a:chExt cx="1056" cy="384"/>
          </a:xfrm>
        </p:grpSpPr>
        <p:sp>
          <p:nvSpPr>
            <p:cNvPr id="22566" name="Rectangle 24"/>
            <p:cNvSpPr>
              <a:spLocks noChangeArrowheads="1"/>
            </p:cNvSpPr>
            <p:nvPr/>
          </p:nvSpPr>
          <p:spPr bwMode="auto">
            <a:xfrm>
              <a:off x="4512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22567" name="Rectangle 25"/>
            <p:cNvSpPr>
              <a:spLocks noChangeArrowheads="1"/>
            </p:cNvSpPr>
            <p:nvPr/>
          </p:nvSpPr>
          <p:spPr bwMode="auto">
            <a:xfrm>
              <a:off x="4848" y="3120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2568" name="Rectangle 26"/>
            <p:cNvSpPr>
              <a:spLocks noChangeArrowheads="1"/>
            </p:cNvSpPr>
            <p:nvPr/>
          </p:nvSpPr>
          <p:spPr bwMode="auto">
            <a:xfrm>
              <a:off x="5184" y="3120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endParaRPr kumimoji="1" lang="zh-CN" altLang="en-US" sz="28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7092950" y="3284538"/>
            <a:ext cx="1143000" cy="609600"/>
            <a:chOff x="3264" y="3888"/>
            <a:chExt cx="720" cy="384"/>
          </a:xfrm>
        </p:grpSpPr>
        <p:sp>
          <p:nvSpPr>
            <p:cNvPr id="22564" name="Rectangle 28"/>
            <p:cNvSpPr>
              <a:spLocks noChangeArrowheads="1"/>
            </p:cNvSpPr>
            <p:nvPr/>
          </p:nvSpPr>
          <p:spPr bwMode="auto">
            <a:xfrm>
              <a:off x="3264" y="3888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CC0066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22565" name="Rectangle 29"/>
            <p:cNvSpPr>
              <a:spLocks noChangeArrowheads="1"/>
            </p:cNvSpPr>
            <p:nvPr/>
          </p:nvSpPr>
          <p:spPr bwMode="auto">
            <a:xfrm>
              <a:off x="3600" y="3888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CC0066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9" name="Group 30"/>
          <p:cNvGrpSpPr>
            <a:grpSpLocks/>
          </p:cNvGrpSpPr>
          <p:nvPr/>
        </p:nvGrpSpPr>
        <p:grpSpPr bwMode="auto">
          <a:xfrm>
            <a:off x="7380288" y="5661025"/>
            <a:ext cx="1371600" cy="609600"/>
            <a:chOff x="4704" y="3888"/>
            <a:chExt cx="864" cy="384"/>
          </a:xfrm>
        </p:grpSpPr>
        <p:sp>
          <p:nvSpPr>
            <p:cNvPr id="22562" name="Rectangle 31"/>
            <p:cNvSpPr>
              <a:spLocks noChangeArrowheads="1"/>
            </p:cNvSpPr>
            <p:nvPr/>
          </p:nvSpPr>
          <p:spPr bwMode="auto">
            <a:xfrm>
              <a:off x="4704" y="3888"/>
              <a:ext cx="480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num</a:t>
              </a:r>
            </a:p>
          </p:txBody>
        </p:sp>
        <p:sp>
          <p:nvSpPr>
            <p:cNvPr id="22563" name="Rectangle 32"/>
            <p:cNvSpPr>
              <a:spLocks noChangeArrowheads="1"/>
            </p:cNvSpPr>
            <p:nvPr/>
          </p:nvSpPr>
          <p:spPr bwMode="auto">
            <a:xfrm>
              <a:off x="5184" y="3888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34</a:t>
              </a:r>
            </a:p>
          </p:txBody>
        </p:sp>
      </p:grp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2555875" y="4508500"/>
            <a:ext cx="1143000" cy="609600"/>
            <a:chOff x="3216" y="2256"/>
            <a:chExt cx="720" cy="384"/>
          </a:xfrm>
        </p:grpSpPr>
        <p:sp>
          <p:nvSpPr>
            <p:cNvPr id="22560" name="Rectangle 34"/>
            <p:cNvSpPr>
              <a:spLocks noChangeArrowheads="1"/>
            </p:cNvSpPr>
            <p:nvPr/>
          </p:nvSpPr>
          <p:spPr bwMode="auto">
            <a:xfrm>
              <a:off x="3216" y="225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22561" name="Rectangle 35"/>
            <p:cNvSpPr>
              <a:spLocks noChangeArrowheads="1"/>
            </p:cNvSpPr>
            <p:nvPr/>
          </p:nvSpPr>
          <p:spPr bwMode="auto">
            <a:xfrm>
              <a:off x="3552" y="2256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5292725" y="5661025"/>
            <a:ext cx="1143000" cy="609600"/>
            <a:chOff x="4848" y="2256"/>
            <a:chExt cx="720" cy="384"/>
          </a:xfrm>
        </p:grpSpPr>
        <p:sp>
          <p:nvSpPr>
            <p:cNvPr id="22558" name="Rectangle 37"/>
            <p:cNvSpPr>
              <a:spLocks noChangeArrowheads="1"/>
            </p:cNvSpPr>
            <p:nvPr/>
          </p:nvSpPr>
          <p:spPr bwMode="auto">
            <a:xfrm>
              <a:off x="4848" y="2256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22559" name="Rectangle 38"/>
            <p:cNvSpPr>
              <a:spLocks noChangeArrowheads="1"/>
            </p:cNvSpPr>
            <p:nvPr/>
          </p:nvSpPr>
          <p:spPr bwMode="auto">
            <a:xfrm>
              <a:off x="5184" y="2256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c</a:t>
              </a:r>
            </a:p>
          </p:txBody>
        </p:sp>
      </p:grpSp>
      <p:grpSp>
        <p:nvGrpSpPr>
          <p:cNvPr id="12" name="Group 39"/>
          <p:cNvGrpSpPr>
            <a:grpSpLocks/>
          </p:cNvGrpSpPr>
          <p:nvPr/>
        </p:nvGrpSpPr>
        <p:grpSpPr bwMode="auto">
          <a:xfrm>
            <a:off x="2339975" y="3213100"/>
            <a:ext cx="1143000" cy="609600"/>
            <a:chOff x="1319" y="2251"/>
            <a:chExt cx="720" cy="384"/>
          </a:xfrm>
        </p:grpSpPr>
        <p:sp>
          <p:nvSpPr>
            <p:cNvPr id="22556" name="Rectangle 40"/>
            <p:cNvSpPr>
              <a:spLocks noChangeArrowheads="1"/>
            </p:cNvSpPr>
            <p:nvPr/>
          </p:nvSpPr>
          <p:spPr bwMode="auto">
            <a:xfrm>
              <a:off x="1319" y="2251"/>
              <a:ext cx="336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22557" name="Rectangle 41"/>
            <p:cNvSpPr>
              <a:spLocks noChangeArrowheads="1"/>
            </p:cNvSpPr>
            <p:nvPr/>
          </p:nvSpPr>
          <p:spPr bwMode="auto">
            <a:xfrm>
              <a:off x="1655" y="2251"/>
              <a:ext cx="384" cy="384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sp>
        <p:nvSpPr>
          <p:cNvPr id="515114" name="Text Box 42"/>
          <p:cNvSpPr txBox="1">
            <a:spLocks noChangeArrowheads="1"/>
          </p:cNvSpPr>
          <p:nvPr/>
        </p:nvSpPr>
        <p:spPr bwMode="auto">
          <a:xfrm>
            <a:off x="179388" y="2132013"/>
            <a:ext cx="738187" cy="4699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Times New Roman" pitchFamily="18" charset="0"/>
              </a:rPr>
              <a:t>root</a:t>
            </a:r>
            <a:endParaRPr kumimoji="1" lang="en-US" altLang="zh-CN" sz="24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515115" name="Line 43"/>
          <p:cNvSpPr>
            <a:spLocks noChangeShapeType="1"/>
          </p:cNvSpPr>
          <p:nvPr/>
        </p:nvSpPr>
        <p:spPr bwMode="auto">
          <a:xfrm>
            <a:off x="900113" y="2347913"/>
            <a:ext cx="865187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16" name="Line 44"/>
          <p:cNvSpPr>
            <a:spLocks noChangeShapeType="1"/>
          </p:cNvSpPr>
          <p:nvPr/>
        </p:nvSpPr>
        <p:spPr bwMode="auto">
          <a:xfrm>
            <a:off x="2628900" y="2420938"/>
            <a:ext cx="0" cy="792162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17" name="Line 45"/>
          <p:cNvSpPr>
            <a:spLocks noChangeShapeType="1"/>
          </p:cNvSpPr>
          <p:nvPr/>
        </p:nvSpPr>
        <p:spPr bwMode="auto">
          <a:xfrm>
            <a:off x="5940425" y="2420938"/>
            <a:ext cx="11525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18" name="Line 46"/>
          <p:cNvSpPr>
            <a:spLocks noChangeShapeType="1"/>
          </p:cNvSpPr>
          <p:nvPr/>
        </p:nvSpPr>
        <p:spPr bwMode="auto">
          <a:xfrm>
            <a:off x="3276600" y="2347913"/>
            <a:ext cx="1223963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19" name="Line 47"/>
          <p:cNvSpPr>
            <a:spLocks noChangeShapeType="1"/>
          </p:cNvSpPr>
          <p:nvPr/>
        </p:nvSpPr>
        <p:spPr bwMode="auto">
          <a:xfrm>
            <a:off x="5292725" y="2420938"/>
            <a:ext cx="0" cy="863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0" name="Freeform 48"/>
          <p:cNvSpPr>
            <a:spLocks/>
          </p:cNvSpPr>
          <p:nvPr/>
        </p:nvSpPr>
        <p:spPr bwMode="auto">
          <a:xfrm>
            <a:off x="7380288" y="2347913"/>
            <a:ext cx="504825" cy="936625"/>
          </a:xfrm>
          <a:custGeom>
            <a:avLst/>
            <a:gdLst>
              <a:gd name="T0" fmla="*/ 318 w 318"/>
              <a:gd name="T1" fmla="*/ 0 h 590"/>
              <a:gd name="T2" fmla="*/ 227 w 318"/>
              <a:gd name="T3" fmla="*/ 318 h 590"/>
              <a:gd name="T4" fmla="*/ 46 w 318"/>
              <a:gd name="T5" fmla="*/ 409 h 590"/>
              <a:gd name="T6" fmla="*/ 0 w 318"/>
              <a:gd name="T7" fmla="*/ 590 h 590"/>
              <a:gd name="T8" fmla="*/ 0 60000 65536"/>
              <a:gd name="T9" fmla="*/ 0 60000 65536"/>
              <a:gd name="T10" fmla="*/ 0 60000 65536"/>
              <a:gd name="T11" fmla="*/ 0 60000 65536"/>
              <a:gd name="T12" fmla="*/ 0 w 318"/>
              <a:gd name="T13" fmla="*/ 0 h 590"/>
              <a:gd name="T14" fmla="*/ 318 w 318"/>
              <a:gd name="T15" fmla="*/ 590 h 5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8" h="590">
                <a:moveTo>
                  <a:pt x="318" y="0"/>
                </a:moveTo>
                <a:cubicBezTo>
                  <a:pt x="295" y="125"/>
                  <a:pt x="272" y="250"/>
                  <a:pt x="227" y="318"/>
                </a:cubicBezTo>
                <a:cubicBezTo>
                  <a:pt x="182" y="386"/>
                  <a:pt x="84" y="364"/>
                  <a:pt x="46" y="409"/>
                </a:cubicBezTo>
                <a:cubicBezTo>
                  <a:pt x="8" y="454"/>
                  <a:pt x="4" y="522"/>
                  <a:pt x="0" y="59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1" name="Freeform 49"/>
          <p:cNvSpPr>
            <a:spLocks/>
          </p:cNvSpPr>
          <p:nvPr/>
        </p:nvSpPr>
        <p:spPr bwMode="auto">
          <a:xfrm>
            <a:off x="7740650" y="4797425"/>
            <a:ext cx="577850" cy="935038"/>
          </a:xfrm>
          <a:custGeom>
            <a:avLst/>
            <a:gdLst>
              <a:gd name="T0" fmla="*/ 318 w 318"/>
              <a:gd name="T1" fmla="*/ 0 h 590"/>
              <a:gd name="T2" fmla="*/ 227 w 318"/>
              <a:gd name="T3" fmla="*/ 318 h 590"/>
              <a:gd name="T4" fmla="*/ 46 w 318"/>
              <a:gd name="T5" fmla="*/ 409 h 590"/>
              <a:gd name="T6" fmla="*/ 0 w 318"/>
              <a:gd name="T7" fmla="*/ 590 h 590"/>
              <a:gd name="T8" fmla="*/ 0 60000 65536"/>
              <a:gd name="T9" fmla="*/ 0 60000 65536"/>
              <a:gd name="T10" fmla="*/ 0 60000 65536"/>
              <a:gd name="T11" fmla="*/ 0 60000 65536"/>
              <a:gd name="T12" fmla="*/ 0 w 318"/>
              <a:gd name="T13" fmla="*/ 0 h 590"/>
              <a:gd name="T14" fmla="*/ 318 w 318"/>
              <a:gd name="T15" fmla="*/ 590 h 5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8" h="590">
                <a:moveTo>
                  <a:pt x="318" y="0"/>
                </a:moveTo>
                <a:cubicBezTo>
                  <a:pt x="295" y="125"/>
                  <a:pt x="272" y="250"/>
                  <a:pt x="227" y="318"/>
                </a:cubicBezTo>
                <a:cubicBezTo>
                  <a:pt x="182" y="386"/>
                  <a:pt x="84" y="364"/>
                  <a:pt x="46" y="409"/>
                </a:cubicBezTo>
                <a:cubicBezTo>
                  <a:pt x="8" y="454"/>
                  <a:pt x="4" y="522"/>
                  <a:pt x="0" y="59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2" name="Freeform 50"/>
          <p:cNvSpPr>
            <a:spLocks/>
          </p:cNvSpPr>
          <p:nvPr/>
        </p:nvSpPr>
        <p:spPr bwMode="auto">
          <a:xfrm>
            <a:off x="7237413" y="2420938"/>
            <a:ext cx="1343025" cy="2016125"/>
          </a:xfrm>
          <a:custGeom>
            <a:avLst/>
            <a:gdLst>
              <a:gd name="T0" fmla="*/ 816 w 846"/>
              <a:gd name="T1" fmla="*/ 0 h 1270"/>
              <a:gd name="T2" fmla="*/ 816 w 846"/>
              <a:gd name="T3" fmla="*/ 862 h 1270"/>
              <a:gd name="T4" fmla="*/ 635 w 846"/>
              <a:gd name="T5" fmla="*/ 1088 h 1270"/>
              <a:gd name="T6" fmla="*/ 136 w 846"/>
              <a:gd name="T7" fmla="*/ 1088 h 1270"/>
              <a:gd name="T8" fmla="*/ 0 w 846"/>
              <a:gd name="T9" fmla="*/ 1270 h 12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6"/>
              <a:gd name="T16" fmla="*/ 0 h 1270"/>
              <a:gd name="T17" fmla="*/ 846 w 846"/>
              <a:gd name="T18" fmla="*/ 1270 h 12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6" h="1270">
                <a:moveTo>
                  <a:pt x="816" y="0"/>
                </a:moveTo>
                <a:cubicBezTo>
                  <a:pt x="831" y="340"/>
                  <a:pt x="846" y="681"/>
                  <a:pt x="816" y="862"/>
                </a:cubicBezTo>
                <a:cubicBezTo>
                  <a:pt x="786" y="1043"/>
                  <a:pt x="748" y="1050"/>
                  <a:pt x="635" y="1088"/>
                </a:cubicBezTo>
                <a:cubicBezTo>
                  <a:pt x="522" y="1126"/>
                  <a:pt x="242" y="1058"/>
                  <a:pt x="136" y="1088"/>
                </a:cubicBezTo>
                <a:cubicBezTo>
                  <a:pt x="30" y="1118"/>
                  <a:pt x="15" y="1194"/>
                  <a:pt x="0" y="127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3" name="Freeform 51"/>
          <p:cNvSpPr>
            <a:spLocks/>
          </p:cNvSpPr>
          <p:nvPr/>
        </p:nvSpPr>
        <p:spPr bwMode="auto">
          <a:xfrm>
            <a:off x="2771775" y="3644900"/>
            <a:ext cx="2520950" cy="863600"/>
          </a:xfrm>
          <a:custGeom>
            <a:avLst/>
            <a:gdLst>
              <a:gd name="T0" fmla="*/ 1588 w 1588"/>
              <a:gd name="T1" fmla="*/ 0 h 544"/>
              <a:gd name="T2" fmla="*/ 1270 w 1588"/>
              <a:gd name="T3" fmla="*/ 272 h 544"/>
              <a:gd name="T4" fmla="*/ 454 w 1588"/>
              <a:gd name="T5" fmla="*/ 363 h 544"/>
              <a:gd name="T6" fmla="*/ 0 w 1588"/>
              <a:gd name="T7" fmla="*/ 544 h 544"/>
              <a:gd name="T8" fmla="*/ 0 60000 65536"/>
              <a:gd name="T9" fmla="*/ 0 60000 65536"/>
              <a:gd name="T10" fmla="*/ 0 60000 65536"/>
              <a:gd name="T11" fmla="*/ 0 60000 65536"/>
              <a:gd name="T12" fmla="*/ 0 w 1588"/>
              <a:gd name="T13" fmla="*/ 0 h 544"/>
              <a:gd name="T14" fmla="*/ 1588 w 1588"/>
              <a:gd name="T15" fmla="*/ 544 h 5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88" h="544">
                <a:moveTo>
                  <a:pt x="1588" y="0"/>
                </a:moveTo>
                <a:cubicBezTo>
                  <a:pt x="1523" y="106"/>
                  <a:pt x="1459" y="212"/>
                  <a:pt x="1270" y="272"/>
                </a:cubicBezTo>
                <a:cubicBezTo>
                  <a:pt x="1081" y="332"/>
                  <a:pt x="666" y="318"/>
                  <a:pt x="454" y="363"/>
                </a:cubicBezTo>
                <a:cubicBezTo>
                  <a:pt x="242" y="408"/>
                  <a:pt x="121" y="476"/>
                  <a:pt x="0" y="544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4" name="Freeform 52"/>
          <p:cNvSpPr>
            <a:spLocks/>
          </p:cNvSpPr>
          <p:nvPr/>
        </p:nvSpPr>
        <p:spPr bwMode="auto">
          <a:xfrm>
            <a:off x="4860925" y="3644900"/>
            <a:ext cx="1079500" cy="792163"/>
          </a:xfrm>
          <a:custGeom>
            <a:avLst/>
            <a:gdLst>
              <a:gd name="T0" fmla="*/ 680 w 680"/>
              <a:gd name="T1" fmla="*/ 0 h 499"/>
              <a:gd name="T2" fmla="*/ 408 w 680"/>
              <a:gd name="T3" fmla="*/ 317 h 499"/>
              <a:gd name="T4" fmla="*/ 0 w 680"/>
              <a:gd name="T5" fmla="*/ 499 h 499"/>
              <a:gd name="T6" fmla="*/ 0 60000 65536"/>
              <a:gd name="T7" fmla="*/ 0 60000 65536"/>
              <a:gd name="T8" fmla="*/ 0 60000 65536"/>
              <a:gd name="T9" fmla="*/ 0 w 680"/>
              <a:gd name="T10" fmla="*/ 0 h 499"/>
              <a:gd name="T11" fmla="*/ 680 w 680"/>
              <a:gd name="T12" fmla="*/ 499 h 4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499">
                <a:moveTo>
                  <a:pt x="680" y="0"/>
                </a:moveTo>
                <a:cubicBezTo>
                  <a:pt x="600" y="117"/>
                  <a:pt x="521" y="234"/>
                  <a:pt x="408" y="317"/>
                </a:cubicBezTo>
                <a:cubicBezTo>
                  <a:pt x="295" y="400"/>
                  <a:pt x="147" y="449"/>
                  <a:pt x="0" y="499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125" name="Freeform 53"/>
          <p:cNvSpPr>
            <a:spLocks/>
          </p:cNvSpPr>
          <p:nvPr/>
        </p:nvSpPr>
        <p:spPr bwMode="auto">
          <a:xfrm>
            <a:off x="5437188" y="4797425"/>
            <a:ext cx="576262" cy="863600"/>
          </a:xfrm>
          <a:custGeom>
            <a:avLst/>
            <a:gdLst>
              <a:gd name="T0" fmla="*/ 318 w 318"/>
              <a:gd name="T1" fmla="*/ 0 h 590"/>
              <a:gd name="T2" fmla="*/ 227 w 318"/>
              <a:gd name="T3" fmla="*/ 318 h 590"/>
              <a:gd name="T4" fmla="*/ 46 w 318"/>
              <a:gd name="T5" fmla="*/ 409 h 590"/>
              <a:gd name="T6" fmla="*/ 0 w 318"/>
              <a:gd name="T7" fmla="*/ 590 h 590"/>
              <a:gd name="T8" fmla="*/ 0 60000 65536"/>
              <a:gd name="T9" fmla="*/ 0 60000 65536"/>
              <a:gd name="T10" fmla="*/ 0 60000 65536"/>
              <a:gd name="T11" fmla="*/ 0 60000 65536"/>
              <a:gd name="T12" fmla="*/ 0 w 318"/>
              <a:gd name="T13" fmla="*/ 0 h 590"/>
              <a:gd name="T14" fmla="*/ 318 w 318"/>
              <a:gd name="T15" fmla="*/ 590 h 5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8" h="590">
                <a:moveTo>
                  <a:pt x="318" y="0"/>
                </a:moveTo>
                <a:cubicBezTo>
                  <a:pt x="295" y="125"/>
                  <a:pt x="272" y="250"/>
                  <a:pt x="227" y="318"/>
                </a:cubicBezTo>
                <a:cubicBezTo>
                  <a:pt x="182" y="386"/>
                  <a:pt x="84" y="364"/>
                  <a:pt x="46" y="409"/>
                </a:cubicBezTo>
                <a:cubicBezTo>
                  <a:pt x="8" y="454"/>
                  <a:pt x="4" y="522"/>
                  <a:pt x="0" y="590"/>
                </a:cubicBez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54025"/>
            <a:ext cx="4464050" cy="1462088"/>
          </a:xfrm>
        </p:spPr>
        <p:txBody>
          <a:bodyPr lIns="92075" tIns="46038" rIns="92075" bIns="46038"/>
          <a:lstStyle/>
          <a:p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构造语法结构树的属性文法</a:t>
            </a:r>
            <a:r>
              <a:rPr lang="zh-CN" altLang="en-US" sz="5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/>
            </a:r>
            <a:br>
              <a:rPr lang="zh-CN" altLang="en-US" sz="5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数组存储形式</a:t>
            </a:r>
          </a:p>
        </p:txBody>
      </p:sp>
      <p:graphicFrame>
        <p:nvGraphicFramePr>
          <p:cNvPr id="516099" name="Group 3"/>
          <p:cNvGraphicFramePr>
            <a:graphicFrameLocks noGrp="1"/>
          </p:cNvGraphicFramePr>
          <p:nvPr>
            <p:ph sz="quarter" idx="1"/>
          </p:nvPr>
        </p:nvGraphicFramePr>
        <p:xfrm>
          <a:off x="5002213" y="5505450"/>
          <a:ext cx="3817937" cy="536575"/>
        </p:xfrm>
        <a:graphic>
          <a:graphicData uri="http://schemas.openxmlformats.org/drawingml/2006/table">
            <a:tbl>
              <a:tblPr/>
              <a:tblGrid>
                <a:gridCol w="65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15" name="Group 19"/>
          <p:cNvGraphicFramePr>
            <a:graphicFrameLocks noGrp="1"/>
          </p:cNvGraphicFramePr>
          <p:nvPr>
            <p:ph sz="quarter" idx="2"/>
          </p:nvPr>
        </p:nvGraphicFramePr>
        <p:xfrm>
          <a:off x="5003800" y="908050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6111" name="Rectangle 15"/>
          <p:cNvSpPr>
            <a:spLocks noGrp="1" noChangeArrowheads="1"/>
          </p:cNvSpPr>
          <p:nvPr>
            <p:ph type="body" sz="half" idx="3"/>
          </p:nvPr>
        </p:nvSpPr>
        <p:spPr>
          <a:xfrm>
            <a:off x="4787900" y="333375"/>
            <a:ext cx="4392613" cy="503238"/>
          </a:xfrm>
          <a:noFill/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地址  算符   操作数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   </a:t>
            </a:r>
            <a:r>
              <a:rPr lang="zh-CN" altLang="en-US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操作数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</a:p>
        </p:txBody>
      </p:sp>
      <p:sp>
        <p:nvSpPr>
          <p:cNvPr id="23580" name="日期占位符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BBE1747-570B-4B50-A38D-94C2F028F78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3581" name="灯片编号占位符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72F24E-9624-4073-8904-C04869AFBB2D}" type="slidenum">
              <a:rPr lang="zh-CN" altLang="en-US"/>
              <a:pPr eaLnBrk="1" hangingPunct="1"/>
              <a:t>11</a:t>
            </a:fld>
            <a:endParaRPr lang="en-US" altLang="zh-CN"/>
          </a:p>
        </p:txBody>
      </p:sp>
      <p:sp>
        <p:nvSpPr>
          <p:cNvPr id="516112" name="Rectangle 16"/>
          <p:cNvSpPr>
            <a:spLocks noChangeArrowheads="1"/>
          </p:cNvSpPr>
          <p:nvPr/>
        </p:nvSpPr>
        <p:spPr bwMode="auto">
          <a:xfrm>
            <a:off x="228600" y="2559050"/>
            <a:ext cx="4414838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kumimoji="1" lang="en-US" altLang="zh-CN" sz="3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a:=b*(-c)+b*(-34)</a:t>
            </a:r>
          </a:p>
        </p:txBody>
      </p:sp>
      <p:sp>
        <p:nvSpPr>
          <p:cNvPr id="516113" name="Text Box 17"/>
          <p:cNvSpPr txBox="1">
            <a:spLocks noChangeArrowheads="1"/>
          </p:cNvSpPr>
          <p:nvPr/>
        </p:nvSpPr>
        <p:spPr bwMode="auto">
          <a:xfrm>
            <a:off x="395288" y="407670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以语法分析为中心</a:t>
            </a:r>
          </a:p>
        </p:txBody>
      </p:sp>
      <p:sp>
        <p:nvSpPr>
          <p:cNvPr id="516114" name="Text Box 18"/>
          <p:cNvSpPr txBox="1">
            <a:spLocks noChangeArrowheads="1"/>
          </p:cNvSpPr>
          <p:nvPr/>
        </p:nvSpPr>
        <p:spPr bwMode="auto">
          <a:xfrm>
            <a:off x="539750" y="5229225"/>
            <a:ext cx="2447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S →</a:t>
            </a:r>
            <a:r>
              <a:rPr kumimoji="1" lang="en-US" altLang="zh-CN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id:=E</a:t>
            </a:r>
          </a:p>
        </p:txBody>
      </p:sp>
      <p:graphicFrame>
        <p:nvGraphicFramePr>
          <p:cNvPr id="516127" name="Group 31"/>
          <p:cNvGraphicFramePr>
            <a:graphicFrameLocks noGrp="1"/>
          </p:cNvGraphicFramePr>
          <p:nvPr/>
        </p:nvGraphicFramePr>
        <p:xfrm>
          <a:off x="5003800" y="1411288"/>
          <a:ext cx="3810000" cy="528638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39" name="Group 43"/>
          <p:cNvGraphicFramePr>
            <a:graphicFrameLocks noGrp="1"/>
          </p:cNvGraphicFramePr>
          <p:nvPr/>
        </p:nvGraphicFramePr>
        <p:xfrm>
          <a:off x="5003800" y="1916113"/>
          <a:ext cx="3810000" cy="557213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51" name="Group 55"/>
          <p:cNvGraphicFramePr>
            <a:graphicFrameLocks noGrp="1"/>
          </p:cNvGraphicFramePr>
          <p:nvPr/>
        </p:nvGraphicFramePr>
        <p:xfrm>
          <a:off x="5003800" y="2492375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63" name="Group 67"/>
          <p:cNvGraphicFramePr>
            <a:graphicFrameLocks noGrp="1"/>
          </p:cNvGraphicFramePr>
          <p:nvPr/>
        </p:nvGraphicFramePr>
        <p:xfrm>
          <a:off x="5003800" y="2997200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75" name="Group 79"/>
          <p:cNvGraphicFramePr>
            <a:graphicFrameLocks noGrp="1"/>
          </p:cNvGraphicFramePr>
          <p:nvPr/>
        </p:nvGraphicFramePr>
        <p:xfrm>
          <a:off x="5003800" y="3500438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87" name="Group 91"/>
          <p:cNvGraphicFramePr>
            <a:graphicFrameLocks noGrp="1"/>
          </p:cNvGraphicFramePr>
          <p:nvPr/>
        </p:nvGraphicFramePr>
        <p:xfrm>
          <a:off x="5003800" y="4003675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199" name="Group 103"/>
          <p:cNvGraphicFramePr>
            <a:graphicFrameLocks noGrp="1"/>
          </p:cNvGraphicFramePr>
          <p:nvPr/>
        </p:nvGraphicFramePr>
        <p:xfrm>
          <a:off x="5003800" y="4508500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211" name="Group 115"/>
          <p:cNvGraphicFramePr>
            <a:graphicFrameLocks noGrp="1"/>
          </p:cNvGraphicFramePr>
          <p:nvPr/>
        </p:nvGraphicFramePr>
        <p:xfrm>
          <a:off x="5003800" y="5011738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6223" name="Group 127"/>
          <p:cNvGraphicFramePr>
            <a:graphicFrameLocks noGrp="1"/>
          </p:cNvGraphicFramePr>
          <p:nvPr/>
        </p:nvGraphicFramePr>
        <p:xfrm>
          <a:off x="5003800" y="6021388"/>
          <a:ext cx="3810000" cy="518160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:=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757" name="Group 205"/>
          <p:cNvGraphicFramePr>
            <a:graphicFrameLocks noGrp="1"/>
          </p:cNvGraphicFramePr>
          <p:nvPr/>
        </p:nvGraphicFramePr>
        <p:xfrm>
          <a:off x="5003800" y="908050"/>
          <a:ext cx="3816350" cy="5641531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9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4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351838" cy="990600"/>
          </a:xfrm>
        </p:spPr>
        <p:txBody>
          <a:bodyPr lIns="92075" tIns="46038" rIns="92075" bIns="46038"/>
          <a:lstStyle/>
          <a:p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生成后缀式的属性文法</a:t>
            </a: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逆波兰表示</a:t>
            </a: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563688"/>
            <a:ext cx="7278688" cy="180022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二元运算：操作数1 操作数2 运算符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一元运算：操作数 运算符</a:t>
            </a:r>
          </a:p>
          <a:p>
            <a:pPr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 := b *(- c)+ b *(- 34)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的后缀式</a:t>
            </a:r>
          </a:p>
        </p:txBody>
      </p:sp>
      <p:sp>
        <p:nvSpPr>
          <p:cNvPr id="245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B644B0D-C197-4680-B01B-D54DE2351A2C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45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D57EDDF-04DC-4066-8C52-F3613D24B2A0}" type="slidenum">
              <a:rPr lang="zh-CN" altLang="en-US"/>
              <a:pPr eaLnBrk="1" hangingPunct="1"/>
              <a:t>12</a:t>
            </a:fld>
            <a:endParaRPr lang="en-US" altLang="zh-CN"/>
          </a:p>
        </p:txBody>
      </p:sp>
      <p:sp>
        <p:nvSpPr>
          <p:cNvPr id="286724" name="Rectangle 4"/>
          <p:cNvSpPr>
            <a:spLocks noChangeArrowheads="1"/>
          </p:cNvSpPr>
          <p:nvPr/>
        </p:nvSpPr>
        <p:spPr bwMode="auto">
          <a:xfrm>
            <a:off x="539750" y="5668963"/>
            <a:ext cx="4032250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属性设计：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.code</a:t>
            </a:r>
          </a:p>
        </p:txBody>
      </p:sp>
      <p:sp>
        <p:nvSpPr>
          <p:cNvPr id="286725" name="Rectangle 5"/>
          <p:cNvSpPr>
            <a:spLocks noChangeArrowheads="1"/>
          </p:cNvSpPr>
          <p:nvPr/>
        </p:nvSpPr>
        <p:spPr bwMode="auto">
          <a:xfrm>
            <a:off x="2581275" y="3244850"/>
            <a:ext cx="601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c -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2300288" y="324485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b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27" name="Rectangle 7"/>
          <p:cNvSpPr>
            <a:spLocks noChangeArrowheads="1"/>
          </p:cNvSpPr>
          <p:nvPr/>
        </p:nvSpPr>
        <p:spPr bwMode="auto">
          <a:xfrm>
            <a:off x="3157538" y="33575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</a:rPr>
              <a:t>*</a:t>
            </a:r>
            <a:endParaRPr lang="zh-CN" altLang="en-US" sz="28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28" name="Rectangle 8"/>
          <p:cNvSpPr>
            <a:spLocks noChangeArrowheads="1"/>
          </p:cNvSpPr>
          <p:nvPr/>
        </p:nvSpPr>
        <p:spPr bwMode="auto">
          <a:xfrm>
            <a:off x="3835400" y="3244850"/>
            <a:ext cx="590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34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29" name="Rectangle 9"/>
          <p:cNvSpPr>
            <a:spLocks noChangeArrowheads="1"/>
          </p:cNvSpPr>
          <p:nvPr/>
        </p:nvSpPr>
        <p:spPr bwMode="auto">
          <a:xfrm>
            <a:off x="4267200" y="3244850"/>
            <a:ext cx="319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-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30" name="Rectangle 10"/>
          <p:cNvSpPr>
            <a:spLocks noChangeArrowheads="1"/>
          </p:cNvSpPr>
          <p:nvPr/>
        </p:nvSpPr>
        <p:spPr bwMode="auto">
          <a:xfrm>
            <a:off x="4556125" y="3357563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</a:rPr>
              <a:t>*</a:t>
            </a:r>
            <a:endParaRPr lang="zh-CN" altLang="en-US" sz="28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31" name="Rectangle 11"/>
          <p:cNvSpPr>
            <a:spLocks noChangeArrowheads="1"/>
          </p:cNvSpPr>
          <p:nvPr/>
        </p:nvSpPr>
        <p:spPr bwMode="auto">
          <a:xfrm>
            <a:off x="3517900" y="324485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b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32" name="Rectangle 12"/>
          <p:cNvSpPr>
            <a:spLocks noChangeArrowheads="1"/>
          </p:cNvSpPr>
          <p:nvPr/>
        </p:nvSpPr>
        <p:spPr bwMode="auto">
          <a:xfrm>
            <a:off x="4886325" y="3244850"/>
            <a:ext cx="415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+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33" name="Rectangle 13"/>
          <p:cNvSpPr>
            <a:spLocks noChangeArrowheads="1"/>
          </p:cNvSpPr>
          <p:nvPr/>
        </p:nvSpPr>
        <p:spPr bwMode="auto">
          <a:xfrm>
            <a:off x="1981200" y="324485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a</a:t>
            </a:r>
            <a:endParaRPr lang="zh-CN" altLang="en-US" sz="32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286734" name="Rectangle 14"/>
          <p:cNvSpPr>
            <a:spLocks noChangeArrowheads="1"/>
          </p:cNvSpPr>
          <p:nvPr/>
        </p:nvSpPr>
        <p:spPr bwMode="auto">
          <a:xfrm>
            <a:off x="5246688" y="3244850"/>
            <a:ext cx="5508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folHlink"/>
                </a:solidFill>
                <a:latin typeface="Times New Roman" pitchFamily="18" charset="0"/>
              </a:rPr>
              <a:t>:=</a:t>
            </a:r>
          </a:p>
        </p:txBody>
      </p:sp>
      <p:sp>
        <p:nvSpPr>
          <p:cNvPr id="286735" name="Rectangle 15"/>
          <p:cNvSpPr>
            <a:spLocks noChangeArrowheads="1"/>
          </p:cNvSpPr>
          <p:nvPr/>
        </p:nvSpPr>
        <p:spPr bwMode="auto">
          <a:xfrm>
            <a:off x="2268538" y="365283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b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36" name="Rectangle 16"/>
          <p:cNvSpPr>
            <a:spLocks noChangeArrowheads="1"/>
          </p:cNvSpPr>
          <p:nvPr/>
        </p:nvSpPr>
        <p:spPr bwMode="auto">
          <a:xfrm>
            <a:off x="2844800" y="3868738"/>
            <a:ext cx="549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- c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37" name="Rectangle 17"/>
          <p:cNvSpPr>
            <a:spLocks noChangeArrowheads="1"/>
          </p:cNvSpPr>
          <p:nvPr/>
        </p:nvSpPr>
        <p:spPr bwMode="auto">
          <a:xfrm>
            <a:off x="2243138" y="4300538"/>
            <a:ext cx="1252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b *(- c)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38" name="Rectangle 18"/>
          <p:cNvSpPr>
            <a:spLocks noChangeArrowheads="1"/>
          </p:cNvSpPr>
          <p:nvPr/>
        </p:nvSpPr>
        <p:spPr bwMode="auto">
          <a:xfrm>
            <a:off x="3638550" y="36798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b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39" name="Rectangle 19"/>
          <p:cNvSpPr>
            <a:spLocks noChangeArrowheads="1"/>
          </p:cNvSpPr>
          <p:nvPr/>
        </p:nvSpPr>
        <p:spPr bwMode="auto">
          <a:xfrm>
            <a:off x="4184650" y="3876675"/>
            <a:ext cx="747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- 34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40" name="Rectangle 20"/>
          <p:cNvSpPr>
            <a:spLocks noChangeArrowheads="1"/>
          </p:cNvSpPr>
          <p:nvPr/>
        </p:nvSpPr>
        <p:spPr bwMode="auto">
          <a:xfrm>
            <a:off x="3625850" y="4327525"/>
            <a:ext cx="1450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b *(- 34)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41" name="Rectangle 21"/>
          <p:cNvSpPr>
            <a:spLocks noChangeArrowheads="1"/>
          </p:cNvSpPr>
          <p:nvPr/>
        </p:nvSpPr>
        <p:spPr bwMode="auto">
          <a:xfrm>
            <a:off x="2263775" y="4687888"/>
            <a:ext cx="2811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b *(- c)+ b *(- 34)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286742" name="Rectangle 22"/>
          <p:cNvSpPr>
            <a:spLocks noChangeArrowheads="1"/>
          </p:cNvSpPr>
          <p:nvPr/>
        </p:nvSpPr>
        <p:spPr bwMode="auto">
          <a:xfrm>
            <a:off x="1547813" y="5119688"/>
            <a:ext cx="348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990033"/>
                </a:solidFill>
                <a:latin typeface="Times New Roman" pitchFamily="18" charset="0"/>
              </a:rPr>
              <a:t>a := b *(- c)+ b *(- 34)</a:t>
            </a:r>
            <a:endParaRPr lang="zh-CN" altLang="en-US" sz="2800" b="1">
              <a:solidFill>
                <a:srgbClr val="990033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61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生成后缀式的属性文法</a:t>
            </a:r>
          </a:p>
        </p:txBody>
      </p:sp>
      <p:graphicFrame>
        <p:nvGraphicFramePr>
          <p:cNvPr id="380998" name="Group 70"/>
          <p:cNvGraphicFramePr>
            <a:graphicFrameLocks noGrp="1"/>
          </p:cNvGraphicFramePr>
          <p:nvPr>
            <p:ph type="tbl" idx="1"/>
          </p:nvPr>
        </p:nvGraphicFramePr>
        <p:xfrm>
          <a:off x="1116013" y="1989138"/>
          <a:ext cx="7127875" cy="4064000"/>
        </p:xfrm>
        <a:graphic>
          <a:graphicData uri="http://schemas.openxmlformats.org/drawingml/2006/table">
            <a:tbl>
              <a:tblPr/>
              <a:tblGrid>
                <a:gridCol w="1735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2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产生式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语义规则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S→id:=E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-E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(E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id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num 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6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82A0C75-FB00-42E4-BFD1-B5DF5B67E88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56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C6DB89-069E-4852-A056-E11DC417A59F}" type="slidenum">
              <a:rPr lang="zh-CN" altLang="en-US"/>
              <a:pPr eaLnBrk="1" hangingPunct="1"/>
              <a:t>13</a:t>
            </a:fld>
            <a:endParaRPr lang="en-US" altLang="zh-CN"/>
          </a:p>
        </p:txBody>
      </p:sp>
      <p:sp>
        <p:nvSpPr>
          <p:cNvPr id="380987" name="Rectangle 59"/>
          <p:cNvSpPr>
            <a:spLocks noChangeArrowheads="1"/>
          </p:cNvSpPr>
          <p:nvPr/>
        </p:nvSpPr>
        <p:spPr bwMode="auto">
          <a:xfrm>
            <a:off x="2987675" y="2466975"/>
            <a:ext cx="412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Print(id.name || E.code || “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:=</a:t>
            </a:r>
            <a:r>
              <a:rPr lang="en-US" altLang="zh-CN" sz="2400" b="1">
                <a:latin typeface="Times New Roman" pitchFamily="18" charset="0"/>
              </a:rPr>
              <a:t>”)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0988" name="Rectangle 60"/>
          <p:cNvSpPr>
            <a:spLocks noChangeArrowheads="1"/>
          </p:cNvSpPr>
          <p:nvPr/>
        </p:nvSpPr>
        <p:spPr bwMode="auto">
          <a:xfrm>
            <a:off x="2987675" y="2997200"/>
            <a:ext cx="4478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.code || ”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+</a:t>
            </a:r>
            <a:r>
              <a:rPr lang="en-US" altLang="zh-CN" sz="2400" b="1">
                <a:latin typeface="Times New Roman" pitchFamily="18" charset="0"/>
              </a:rPr>
              <a:t>”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0989" name="Rectangle 61"/>
          <p:cNvSpPr>
            <a:spLocks noChangeArrowheads="1"/>
          </p:cNvSpPr>
          <p:nvPr/>
        </p:nvSpPr>
        <p:spPr bwMode="auto">
          <a:xfrm>
            <a:off x="2987675" y="3500438"/>
            <a:ext cx="445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.code || ”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*</a:t>
            </a:r>
            <a:r>
              <a:rPr lang="en-US" altLang="zh-CN" sz="2400" b="1">
                <a:latin typeface="Times New Roman" pitchFamily="18" charset="0"/>
              </a:rPr>
              <a:t>”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0991" name="Rectangle 63"/>
          <p:cNvSpPr>
            <a:spLocks noChangeArrowheads="1"/>
          </p:cNvSpPr>
          <p:nvPr/>
        </p:nvSpPr>
        <p:spPr bwMode="auto">
          <a:xfrm>
            <a:off x="2987675" y="4005263"/>
            <a:ext cx="314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“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-</a:t>
            </a:r>
            <a:r>
              <a:rPr lang="en-US" altLang="zh-CN" sz="2400" b="1">
                <a:latin typeface="Times New Roman" pitchFamily="18" charset="0"/>
              </a:rPr>
              <a:t>“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0992" name="Rectangle 64"/>
          <p:cNvSpPr>
            <a:spLocks noChangeArrowheads="1"/>
          </p:cNvSpPr>
          <p:nvPr/>
        </p:nvSpPr>
        <p:spPr bwMode="auto">
          <a:xfrm>
            <a:off x="2987675" y="4508500"/>
            <a:ext cx="245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0993" name="Rectangle 65"/>
          <p:cNvSpPr>
            <a:spLocks noChangeArrowheads="1"/>
          </p:cNvSpPr>
          <p:nvPr/>
        </p:nvSpPr>
        <p:spPr bwMode="auto">
          <a:xfrm>
            <a:off x="2987675" y="5013325"/>
            <a:ext cx="252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E.code := 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id.name</a:t>
            </a:r>
            <a:endParaRPr lang="zh-CN" altLang="en-US" sz="2400" b="1">
              <a:solidFill>
                <a:srgbClr val="990033"/>
              </a:solidFill>
              <a:latin typeface="Times New Roman" pitchFamily="18" charset="0"/>
            </a:endParaRPr>
          </a:p>
        </p:txBody>
      </p:sp>
      <p:sp>
        <p:nvSpPr>
          <p:cNvPr id="380994" name="Rectangle 66"/>
          <p:cNvSpPr>
            <a:spLocks noChangeArrowheads="1"/>
          </p:cNvSpPr>
          <p:nvPr/>
        </p:nvSpPr>
        <p:spPr bwMode="auto">
          <a:xfrm>
            <a:off x="2987675" y="5516563"/>
            <a:ext cx="261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E.code := 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</a:rPr>
              <a:t>num.val</a:t>
            </a:r>
            <a:r>
              <a:rPr lang="zh-CN" altLang="en-US" sz="2400"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480260" name="Rectangle 4"/>
          <p:cNvSpPr>
            <a:spLocks noGrp="1" noChangeArrowheads="1"/>
          </p:cNvSpPr>
          <p:nvPr>
            <p:ph idx="1"/>
          </p:nvPr>
        </p:nvSpPr>
        <p:spPr>
          <a:xfrm>
            <a:off x="684213" y="3213100"/>
            <a:ext cx="8154987" cy="2362200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一般形式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 := y op z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其中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x, y, z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为变量名、常数或编译产生的临时变量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四元式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(op, y, z, x)</a:t>
            </a:r>
          </a:p>
        </p:txBody>
      </p:sp>
      <p:sp>
        <p:nvSpPr>
          <p:cNvPr id="2662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252800C-CAC7-49BF-AE33-1FAF7E45DA4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66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CF6AEC2-6C7B-47A2-A101-2398956E41D9}" type="slidenum">
              <a:rPr lang="zh-CN" altLang="en-US"/>
              <a:pPr eaLnBrk="1" hangingPunct="1"/>
              <a:t>14</a:t>
            </a:fld>
            <a:endParaRPr lang="en-US" altLang="zh-CN"/>
          </a:p>
        </p:txBody>
      </p:sp>
      <p:sp>
        <p:nvSpPr>
          <p:cNvPr id="480261" name="Line 5"/>
          <p:cNvSpPr>
            <a:spLocks noChangeShapeType="1"/>
          </p:cNvSpPr>
          <p:nvPr/>
        </p:nvSpPr>
        <p:spPr bwMode="auto">
          <a:xfrm>
            <a:off x="3103563" y="3670300"/>
            <a:ext cx="963612" cy="127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0262" name="Line 6"/>
          <p:cNvSpPr>
            <a:spLocks noChangeShapeType="1"/>
          </p:cNvSpPr>
          <p:nvPr/>
        </p:nvSpPr>
        <p:spPr bwMode="auto">
          <a:xfrm flipH="1">
            <a:off x="3348038" y="3746500"/>
            <a:ext cx="517525" cy="11953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0263" name="Line 7"/>
          <p:cNvSpPr>
            <a:spLocks noChangeShapeType="1"/>
          </p:cNvSpPr>
          <p:nvPr/>
        </p:nvSpPr>
        <p:spPr bwMode="auto">
          <a:xfrm flipH="1">
            <a:off x="3708400" y="3644900"/>
            <a:ext cx="939800" cy="1296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0264" name="Line 8"/>
          <p:cNvSpPr>
            <a:spLocks noChangeShapeType="1"/>
          </p:cNvSpPr>
          <p:nvPr/>
        </p:nvSpPr>
        <p:spPr bwMode="auto">
          <a:xfrm flipH="1">
            <a:off x="2916238" y="3716338"/>
            <a:ext cx="1263650" cy="1266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SzTx/>
              <a:buFont typeface="Wingdings" pitchFamily="2" charset="2"/>
              <a:buAutoNum type="arabicPeriod"/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基本三地址码</a:t>
            </a:r>
          </a:p>
          <a:p>
            <a:pPr marL="533400" indent="-533400">
              <a:buFont typeface="Wingdings" pitchFamily="2" charset="2"/>
              <a:buNone/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x := y op z 			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双目运算</a:t>
            </a:r>
          </a:p>
          <a:p>
            <a:pPr marL="533400" indent="-533400">
              <a:buFont typeface="Wingdings" pitchFamily="2" charset="2"/>
              <a:buNone/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x := op y   			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单目运算</a:t>
            </a:r>
          </a:p>
          <a:p>
            <a:pPr marL="533400" indent="-533400">
              <a:buFont typeface="Wingdings" pitchFamily="2" charset="2"/>
              <a:buNone/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x := y	  			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赋值语句</a:t>
            </a:r>
          </a:p>
        </p:txBody>
      </p:sp>
      <p:sp>
        <p:nvSpPr>
          <p:cNvPr id="2765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C8D5048-490A-410E-B87D-87BB1825ACB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76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C0B97F6-43B4-4BAF-8413-7991EB2F72FB}" type="slidenum">
              <a:rPr lang="zh-CN" altLang="en-US"/>
              <a:pPr eaLnBrk="1" hangingPunct="1"/>
              <a:t>15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03288" y="404813"/>
            <a:ext cx="7772400" cy="1244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127875" cy="3960812"/>
          </a:xfrm>
        </p:spPr>
        <p:txBody>
          <a:bodyPr/>
          <a:lstStyle/>
          <a:p>
            <a:pPr marL="609600" indent="-609600">
              <a:buSzTx/>
              <a:buFont typeface="Wingdings" pitchFamily="2" charset="2"/>
              <a:buAutoNum type="arabicPeriod" startAt="2"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特殊三地址码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x relop y goto l  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条件转移语句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(relop,x,y,l)		relop:&gt;,&lt;,=,=&lt;</a:t>
            </a:r>
            <a:r>
              <a:rPr lang="zh-CN" altLang="en-US" smtClean="0">
                <a:solidFill>
                  <a:srgbClr val="000099"/>
                </a:solidFill>
                <a:latin typeface="Times New Roman" pitchFamily="18" charset="0"/>
              </a:rPr>
              <a:t> 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goto l	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无条件转移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param x 	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实在参数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call p, n 	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过程调用</a:t>
            </a:r>
          </a:p>
          <a:p>
            <a:pPr marL="977900" lvl="1" indent="-5334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return  x 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过程返回</a:t>
            </a:r>
          </a:p>
        </p:txBody>
      </p:sp>
      <p:sp>
        <p:nvSpPr>
          <p:cNvPr id="286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843965A-77A7-44F6-90CD-19E4EE06653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86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E1E37C8-C4FF-4384-B4A9-B5581DC4BE6F}" type="slidenum">
              <a:rPr lang="zh-CN" altLang="en-US"/>
              <a:pPr eaLnBrk="1" hangingPunct="1"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2017713"/>
            <a:ext cx="8054975" cy="4114800"/>
          </a:xfrm>
        </p:spPr>
        <p:txBody>
          <a:bodyPr/>
          <a:lstStyle/>
          <a:p>
            <a:pPr marL="609600" indent="-609600">
              <a:buSzTx/>
              <a:buFont typeface="Wingdings" pitchFamily="2" charset="2"/>
              <a:buAutoNum type="arabicPeriod" startAt="3"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数组运算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x := y[i]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将数组元素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y[i]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赋给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		x[i] := y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赋给数组元素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x[i]</a:t>
            </a:r>
          </a:p>
          <a:p>
            <a:pPr marL="609600" indent="-609600">
              <a:buSzTx/>
              <a:buFont typeface="Wingdings" pitchFamily="2" charset="2"/>
              <a:buAutoNum type="arabicPeriod" startAt="4"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指针运算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x := &amp;y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的左值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地址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赋给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x := *y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所指的单元的内容赋给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x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*x := y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的右值存入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所指的单元</a:t>
            </a:r>
          </a:p>
        </p:txBody>
      </p:sp>
      <p:sp>
        <p:nvSpPr>
          <p:cNvPr id="297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5D73B38-2407-47C0-BD1B-265CBB00C04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297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4CB2B4-D99B-4BD0-9C83-50489CD6EB66}" type="slidenum">
              <a:rPr lang="zh-CN" altLang="en-US"/>
              <a:pPr eaLnBrk="1" hangingPunct="1"/>
              <a:t>17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SzTx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属性设计</a:t>
            </a:r>
          </a:p>
          <a:p>
            <a:pPr marL="819150" lvl="1" indent="-457200">
              <a:buSzTx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形成代码：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.code</a:t>
            </a:r>
            <a:endParaRPr kumimoji="1" lang="zh-CN" altLang="en-US" b="1" smtClean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marL="819150" lvl="1" indent="-457200"/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记下相应的地址：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.place</a:t>
            </a:r>
          </a:p>
          <a:p>
            <a:pPr marL="533400" indent="-533400">
              <a:buSzTx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子程序设计</a:t>
            </a:r>
          </a:p>
          <a:p>
            <a:pPr marL="819150" lvl="1" indent="-457200">
              <a:buSzTx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生成代码：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gen</a:t>
            </a:r>
          </a:p>
          <a:p>
            <a:pPr marL="819150" lvl="1" indent="-457200">
              <a:buSzTx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完成计算后需要将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</a:t>
            </a: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中间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结果存储起来，申请存储单元：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newtemp</a:t>
            </a:r>
          </a:p>
        </p:txBody>
      </p:sp>
      <p:sp>
        <p:nvSpPr>
          <p:cNvPr id="3072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0A5EC7B-2F44-4074-BA3B-834ED1B75C4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07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0F6A635-0DED-464B-8615-A7ACF12767E2}" type="slidenum">
              <a:rPr lang="zh-CN" altLang="en-US"/>
              <a:pPr eaLnBrk="1" hangingPunct="1"/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331788"/>
            <a:ext cx="7793037" cy="776287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3174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EA4E8B7-7CF0-4C08-BE80-C6CFE596F78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96F8739-3782-44AA-AF61-07626932DD82}" type="slidenum">
              <a:rPr lang="zh-CN" altLang="en-US"/>
              <a:pPr eaLnBrk="1" hangingPunct="1"/>
              <a:t>19</a:t>
            </a:fld>
            <a:endParaRPr lang="en-US" altLang="zh-CN"/>
          </a:p>
        </p:txBody>
      </p:sp>
      <p:graphicFrame>
        <p:nvGraphicFramePr>
          <p:cNvPr id="383040" name="Group 64"/>
          <p:cNvGraphicFramePr>
            <a:graphicFrameLocks noGrp="1"/>
          </p:cNvGraphicFramePr>
          <p:nvPr/>
        </p:nvGraphicFramePr>
        <p:xfrm>
          <a:off x="250825" y="1203325"/>
          <a:ext cx="8642350" cy="4962526"/>
        </p:xfrm>
        <a:graphic>
          <a:graphicData uri="http://schemas.openxmlformats.org/drawingml/2006/table">
            <a:tbl>
              <a:tblPr/>
              <a:tblGrid>
                <a:gridCol w="1585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6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产生式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语义规则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S→id:=E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-E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(E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id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num 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3024" name="Rectangle 48"/>
          <p:cNvSpPr>
            <a:spLocks noChangeArrowheads="1"/>
          </p:cNvSpPr>
          <p:nvPr/>
        </p:nvSpPr>
        <p:spPr bwMode="auto">
          <a:xfrm>
            <a:off x="1979613" y="1692275"/>
            <a:ext cx="5402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S.code:=E.code||gen(id.place’:=’E.place)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3026" name="Rectangle 50"/>
          <p:cNvSpPr>
            <a:spLocks noChangeArrowheads="1"/>
          </p:cNvSpPr>
          <p:nvPr/>
        </p:nvSpPr>
        <p:spPr bwMode="auto">
          <a:xfrm>
            <a:off x="1946275" y="2120900"/>
            <a:ext cx="64420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E.place:=newtemp;E.code :=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.code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||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gen(E.place’:=’E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.place’+’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.place)</a:t>
            </a:r>
            <a:endParaRPr lang="zh-CN" altLang="en-US" sz="2400" b="1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383029" name="Rectangle 53"/>
          <p:cNvSpPr>
            <a:spLocks noChangeArrowheads="1"/>
          </p:cNvSpPr>
          <p:nvPr/>
        </p:nvSpPr>
        <p:spPr bwMode="auto">
          <a:xfrm>
            <a:off x="1908175" y="2913063"/>
            <a:ext cx="65182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E.place:=newtemp;E.code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gen(E.place’:=’E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.place’*’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.place)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3033" name="Rectangle 57"/>
          <p:cNvSpPr>
            <a:spLocks noChangeArrowheads="1"/>
          </p:cNvSpPr>
          <p:nvPr/>
        </p:nvSpPr>
        <p:spPr bwMode="auto">
          <a:xfrm>
            <a:off x="1892300" y="3776663"/>
            <a:ext cx="54879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E.place:=newtemp;   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gen(E.place’:=’’uminus’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3036" name="Rectangle 60"/>
          <p:cNvSpPr>
            <a:spLocks noChangeArrowheads="1"/>
          </p:cNvSpPr>
          <p:nvPr/>
        </p:nvSpPr>
        <p:spPr bwMode="auto">
          <a:xfrm>
            <a:off x="1908175" y="4646613"/>
            <a:ext cx="522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.place;    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3037" name="Rectangle 61"/>
          <p:cNvSpPr>
            <a:spLocks noChangeArrowheads="1"/>
          </p:cNvSpPr>
          <p:nvPr/>
        </p:nvSpPr>
        <p:spPr bwMode="auto">
          <a:xfrm>
            <a:off x="1908175" y="5119688"/>
            <a:ext cx="432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id.place;   E.code := ‘’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383038" name="Rectangle 62"/>
          <p:cNvSpPr>
            <a:spLocks noChangeArrowheads="1"/>
          </p:cNvSpPr>
          <p:nvPr/>
        </p:nvSpPr>
        <p:spPr bwMode="auto">
          <a:xfrm>
            <a:off x="1908175" y="5581650"/>
            <a:ext cx="438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num.val;   E.code := ‘’</a:t>
            </a:r>
            <a:endParaRPr lang="zh-CN" altLang="en-US" sz="24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20713"/>
            <a:ext cx="8382000" cy="762000"/>
          </a:xfrm>
        </p:spPr>
        <p:txBody>
          <a:bodyPr lIns="92075" tIns="46038" rIns="92075" bIns="46038"/>
          <a:lstStyle/>
          <a:p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a:=-c+b*34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的中间代码生成过程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604838" y="1606550"/>
            <a:ext cx="7715250" cy="4343400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S.code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E.code || gen( ‘a:=‘E.place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‘a’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id.place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	|| gen( ‘t3:=‘E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.place’+’E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)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|| gen( ‘a:=t3’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newtemp t3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E.place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gen( ‘t1:= 0 -’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)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newtemp t1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 */</a:t>
            </a:r>
          </a:p>
        </p:txBody>
      </p:sp>
      <p:sp>
        <p:nvSpPr>
          <p:cNvPr id="327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EF90DEE-A554-4FC7-8883-753DDEEC427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27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B807488-1DA4-480B-90AE-E24294E6B683}" type="slidenum">
              <a:rPr lang="zh-CN" altLang="en-US"/>
              <a:pPr eaLnBrk="1" hangingPunct="1"/>
              <a:t>20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Rectangle 3"/>
          <p:cNvSpPr>
            <a:spLocks noGrp="1" noChangeArrowheads="1"/>
          </p:cNvSpPr>
          <p:nvPr>
            <p:ph type="title"/>
          </p:nvPr>
        </p:nvSpPr>
        <p:spPr>
          <a:xfrm>
            <a:off x="466725" y="404813"/>
            <a:ext cx="8382000" cy="7620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a:=-c+b*34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的中间代码生成过程</a:t>
            </a:r>
          </a:p>
        </p:txBody>
      </p:sp>
      <p:sp>
        <p:nvSpPr>
          <p:cNvPr id="322562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423988"/>
            <a:ext cx="8153400" cy="488632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 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||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	|| gen( ‘t2:=’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.place’*’E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newtemp  t2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	|| gen( ‘t3:=t1+t2’ ) || gen( ‘a:=t3’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gen( ‘t1:= 0 - c’ )   || gen( ‘t2:=b*34’ )  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		/*  ‘c’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‘b’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 ‘34’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   */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	|| gen( ‘t3:=t1+t2’ )  || gen( ‘a:=t3’ 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/*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为空 */</a:t>
            </a:r>
          </a:p>
        </p:txBody>
      </p:sp>
      <p:sp>
        <p:nvSpPr>
          <p:cNvPr id="3379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CFEC3C3-6BC4-4E82-AE74-C2C1288EC59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37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07B2839-08BE-49BD-9A8B-B2E76632AFF2}" type="slidenum">
              <a:rPr lang="zh-CN" altLang="en-US"/>
              <a:pPr eaLnBrk="1" hangingPunct="1"/>
              <a:t>21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549275"/>
            <a:ext cx="6234112" cy="1008063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7.2 说明语句的翻译</a:t>
            </a:r>
            <a:endParaRPr lang="zh-CN" altLang="en-US" sz="20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7993063" cy="4256087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作用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说明语句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(Declarations)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用于说明程序中规定范围内使用的各类变量、常数和过程</a:t>
            </a:r>
          </a:p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需要完成的工作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在符号表中记录被说明对象的属性，为执行做准备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计算要占的存储空间，计算相对地址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8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CD9C67E-72DA-4FEE-AAE0-A19D19B2D0E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48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377F416-2B69-406C-BD71-3F3153FC5295}" type="slidenum">
              <a:rPr lang="zh-CN" altLang="en-US"/>
              <a:pPr eaLnBrk="1" hangingPunct="1"/>
              <a:t>22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6121400" cy="1243013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要关心的问题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557338"/>
            <a:ext cx="8064500" cy="46085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类型</a:t>
            </a:r>
          </a:p>
          <a:p>
            <a:pPr lvl="1"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基本类型/内部类型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(built-in)：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整型、实型、双精度型、逻辑型、字符型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用户定义类型——结构描述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从类型的作用看编译要做的工作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数据抽象、隐蔽数据基本表示：用户无需注明字节数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规定可执行的运算：类型检查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数据精度控制：规定存储单元字节数，优化空间管理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另一个问题：作用域——有效范围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一般：说明所在的分程序、过程</a:t>
            </a:r>
          </a:p>
        </p:txBody>
      </p:sp>
      <p:sp>
        <p:nvSpPr>
          <p:cNvPr id="358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57ACF51-4116-4768-AC84-32210A200A2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58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100CAEB-762A-4FD1-B479-7666B3F445DF}" type="slidenum">
              <a:rPr lang="zh-CN" altLang="en-US"/>
              <a:pPr eaLnBrk="1" hangingPunct="1"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5903913" cy="1074738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变量说明的翻译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844675"/>
            <a:ext cx="8066087" cy="4471988"/>
          </a:xfrm>
        </p:spPr>
        <p:txBody>
          <a:bodyPr/>
          <a:lstStyle/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在符号表中填写变量的属性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种别、类型、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相对地址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、作用域、……、等</a:t>
            </a:r>
          </a:p>
          <a:p>
            <a:pPr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数据区的划分与相对地址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两种数据区：静态数据区、动态数据区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全局变量：静态数据区的偏移量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offset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局部变量：局部数据区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活动记录部分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的偏移量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offset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68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D721B0D-FE77-4CD3-9561-AB7255911035}" type="datetime1">
              <a:rPr lang="zh-CN" altLang="en-US">
                <a:latin typeface="Times New Roman" pitchFamily="18" charset="0"/>
              </a:rPr>
              <a:pPr eaLnBrk="1" hangingPunct="1"/>
              <a:t>2017/2/24</a:t>
            </a:fld>
            <a:endParaRPr lang="en-US" altLang="zh-CN">
              <a:latin typeface="Times New Roman" pitchFamily="18" charset="0"/>
            </a:endParaRPr>
          </a:p>
        </p:txBody>
      </p:sp>
      <p:sp>
        <p:nvSpPr>
          <p:cNvPr id="368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FE485B8-9F6E-4F66-BFFA-56B4B9998E67}" type="slidenum">
              <a:rPr lang="zh-CN" altLang="en-US">
                <a:latin typeface="Times New Roman" pitchFamily="18" charset="0"/>
              </a:rPr>
              <a:pPr eaLnBrk="1" hangingPunct="1"/>
              <a:t>24</a:t>
            </a:fld>
            <a:endParaRPr lang="en-US" altLang="zh-CN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115888"/>
            <a:ext cx="8540750" cy="11430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：相对地址举例</a:t>
            </a:r>
          </a:p>
        </p:txBody>
      </p:sp>
      <p:graphicFrame>
        <p:nvGraphicFramePr>
          <p:cNvPr id="296085" name="Group 149"/>
          <p:cNvGraphicFramePr>
            <a:graphicFrameLocks noGrp="1"/>
          </p:cNvGraphicFramePr>
          <p:nvPr>
            <p:ph sz="half" idx="1"/>
          </p:nvPr>
        </p:nvGraphicFramePr>
        <p:xfrm>
          <a:off x="323850" y="3798888"/>
          <a:ext cx="3600450" cy="2298700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offset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923" name="日期占位符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3900BF6-5B6B-43E5-AFAE-EAA7CED734D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792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CF29F80-A608-4304-919A-5B1689FF4F57}" type="slidenum">
              <a:rPr lang="zh-CN" altLang="en-US"/>
              <a:pPr eaLnBrk="1" hangingPunct="1"/>
              <a:t>25</a:t>
            </a:fld>
            <a:endParaRPr lang="en-US" altLang="zh-CN"/>
          </a:p>
        </p:txBody>
      </p:sp>
      <p:sp>
        <p:nvSpPr>
          <p:cNvPr id="295940" name="Line 4"/>
          <p:cNvSpPr>
            <a:spLocks noChangeShapeType="1"/>
          </p:cNvSpPr>
          <p:nvPr/>
        </p:nvSpPr>
        <p:spPr bwMode="auto">
          <a:xfrm flipV="1">
            <a:off x="2627313" y="2287588"/>
            <a:ext cx="3832225" cy="22320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5941" name="Line 5"/>
          <p:cNvSpPr>
            <a:spLocks noChangeShapeType="1"/>
          </p:cNvSpPr>
          <p:nvPr/>
        </p:nvSpPr>
        <p:spPr bwMode="auto">
          <a:xfrm flipV="1">
            <a:off x="2627313" y="4448175"/>
            <a:ext cx="3671887" cy="5032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5942" name="Line 6"/>
          <p:cNvSpPr>
            <a:spLocks noChangeShapeType="1"/>
          </p:cNvSpPr>
          <p:nvPr/>
        </p:nvSpPr>
        <p:spPr bwMode="auto">
          <a:xfrm flipV="1">
            <a:off x="2700338" y="4951413"/>
            <a:ext cx="3743325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5950" name="Text Box 14"/>
          <p:cNvSpPr txBox="1">
            <a:spLocks noChangeArrowheads="1"/>
          </p:cNvSpPr>
          <p:nvPr/>
        </p:nvSpPr>
        <p:spPr bwMode="auto">
          <a:xfrm>
            <a:off x="5867400" y="19272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66"/>
                </a:solidFill>
                <a:latin typeface="Times New Roman" pitchFamily="18" charset="0"/>
              </a:rPr>
              <a:t>0</a:t>
            </a:r>
          </a:p>
        </p:txBody>
      </p:sp>
      <p:sp>
        <p:nvSpPr>
          <p:cNvPr id="295951" name="Text Box 15"/>
          <p:cNvSpPr txBox="1">
            <a:spLocks noChangeArrowheads="1"/>
          </p:cNvSpPr>
          <p:nvPr/>
        </p:nvSpPr>
        <p:spPr bwMode="auto">
          <a:xfrm>
            <a:off x="1116013" y="1279525"/>
            <a:ext cx="2590800" cy="24844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Begin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real  x[8];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integer  i, j;</a:t>
            </a:r>
          </a:p>
          <a:p>
            <a:pPr eaLnBrk="0" hangingPunct="0"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……</a:t>
            </a:r>
          </a:p>
          <a:p>
            <a:pPr eaLnBrk="0" hangingPunct="0"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end</a:t>
            </a:r>
          </a:p>
        </p:txBody>
      </p:sp>
      <p:sp>
        <p:nvSpPr>
          <p:cNvPr id="295952" name="Text Box 16"/>
          <p:cNvSpPr txBox="1">
            <a:spLocks noChangeArrowheads="1"/>
          </p:cNvSpPr>
          <p:nvPr/>
        </p:nvSpPr>
        <p:spPr bwMode="auto">
          <a:xfrm>
            <a:off x="4716463" y="1495425"/>
            <a:ext cx="39608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实型</a:t>
            </a: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8</a:t>
            </a:r>
            <a:r>
              <a:rPr lang="zh-CN" altLang="en-US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字节，整型</a:t>
            </a: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4</a:t>
            </a:r>
            <a:r>
              <a:rPr lang="zh-CN" altLang="en-US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字节</a:t>
            </a:r>
            <a:endParaRPr lang="en-US" altLang="zh-CN" sz="2800" b="1">
              <a:solidFill>
                <a:srgbClr val="CC0066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95980" name="Text Box 44"/>
          <p:cNvSpPr txBox="1">
            <a:spLocks noChangeArrowheads="1"/>
          </p:cNvSpPr>
          <p:nvPr/>
        </p:nvSpPr>
        <p:spPr bwMode="auto">
          <a:xfrm>
            <a:off x="5867400" y="254952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66"/>
                </a:solidFill>
                <a:latin typeface="Times New Roman" pitchFamily="18" charset="0"/>
              </a:rPr>
              <a:t>8</a:t>
            </a:r>
          </a:p>
        </p:txBody>
      </p:sp>
      <p:sp>
        <p:nvSpPr>
          <p:cNvPr id="295981" name="Text Box 45"/>
          <p:cNvSpPr txBox="1">
            <a:spLocks noChangeArrowheads="1"/>
          </p:cNvSpPr>
          <p:nvPr/>
        </p:nvSpPr>
        <p:spPr bwMode="auto">
          <a:xfrm>
            <a:off x="5867400" y="36306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66"/>
                </a:solidFill>
                <a:latin typeface="Times New Roman" pitchFamily="18" charset="0"/>
              </a:rPr>
              <a:t>56</a:t>
            </a:r>
          </a:p>
        </p:txBody>
      </p:sp>
      <p:sp>
        <p:nvSpPr>
          <p:cNvPr id="295982" name="Text Box 46"/>
          <p:cNvSpPr txBox="1">
            <a:spLocks noChangeArrowheads="1"/>
          </p:cNvSpPr>
          <p:nvPr/>
        </p:nvSpPr>
        <p:spPr bwMode="auto">
          <a:xfrm>
            <a:off x="5867400" y="4181475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66"/>
                </a:solidFill>
                <a:latin typeface="Times New Roman" pitchFamily="18" charset="0"/>
              </a:rPr>
              <a:t>64</a:t>
            </a:r>
          </a:p>
        </p:txBody>
      </p:sp>
      <p:sp>
        <p:nvSpPr>
          <p:cNvPr id="295983" name="Text Box 47"/>
          <p:cNvSpPr txBox="1">
            <a:spLocks noChangeArrowheads="1"/>
          </p:cNvSpPr>
          <p:nvPr/>
        </p:nvSpPr>
        <p:spPr bwMode="auto">
          <a:xfrm>
            <a:off x="5907088" y="4710113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66"/>
                </a:solidFill>
                <a:latin typeface="Times New Roman" pitchFamily="18" charset="0"/>
              </a:rPr>
              <a:t>68</a:t>
            </a:r>
          </a:p>
        </p:txBody>
      </p:sp>
      <p:sp>
        <p:nvSpPr>
          <p:cNvPr id="295985" name="Rectangle 49"/>
          <p:cNvSpPr>
            <a:spLocks noChangeArrowheads="1"/>
          </p:cNvSpPr>
          <p:nvPr/>
        </p:nvSpPr>
        <p:spPr bwMode="auto">
          <a:xfrm>
            <a:off x="2266950" y="4256088"/>
            <a:ext cx="50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5986" name="Rectangle 50"/>
          <p:cNvSpPr>
            <a:spLocks noChangeArrowheads="1"/>
          </p:cNvSpPr>
          <p:nvPr/>
        </p:nvSpPr>
        <p:spPr bwMode="auto">
          <a:xfrm>
            <a:off x="2195513" y="46640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64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5987" name="Rectangle 51"/>
          <p:cNvSpPr>
            <a:spLocks noChangeArrowheads="1"/>
          </p:cNvSpPr>
          <p:nvPr/>
        </p:nvSpPr>
        <p:spPr bwMode="auto">
          <a:xfrm>
            <a:off x="2195513" y="51641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68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295988" name="Rectangle 52"/>
          <p:cNvSpPr>
            <a:spLocks noChangeArrowheads="1"/>
          </p:cNvSpPr>
          <p:nvPr/>
        </p:nvSpPr>
        <p:spPr bwMode="auto">
          <a:xfrm>
            <a:off x="6588125" y="4159250"/>
            <a:ext cx="43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i</a:t>
            </a:r>
          </a:p>
        </p:txBody>
      </p:sp>
      <p:sp>
        <p:nvSpPr>
          <p:cNvPr id="295989" name="Rectangle 53"/>
          <p:cNvSpPr>
            <a:spLocks noChangeArrowheads="1"/>
          </p:cNvSpPr>
          <p:nvPr/>
        </p:nvSpPr>
        <p:spPr bwMode="auto">
          <a:xfrm>
            <a:off x="6604000" y="4672013"/>
            <a:ext cx="48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j</a:t>
            </a:r>
          </a:p>
        </p:txBody>
      </p:sp>
      <p:sp>
        <p:nvSpPr>
          <p:cNvPr id="295990" name="Rectangle 54"/>
          <p:cNvSpPr>
            <a:spLocks noChangeArrowheads="1"/>
          </p:cNvSpPr>
          <p:nvPr/>
        </p:nvSpPr>
        <p:spPr bwMode="auto">
          <a:xfrm>
            <a:off x="6516688" y="1973263"/>
            <a:ext cx="857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itchFamily="18" charset="0"/>
              </a:rPr>
              <a:t>X[1]</a:t>
            </a:r>
          </a:p>
        </p:txBody>
      </p:sp>
      <p:sp>
        <p:nvSpPr>
          <p:cNvPr id="295991" name="Rectangle 55"/>
          <p:cNvSpPr>
            <a:spLocks noChangeArrowheads="1"/>
          </p:cNvSpPr>
          <p:nvPr/>
        </p:nvSpPr>
        <p:spPr bwMode="auto">
          <a:xfrm>
            <a:off x="6588125" y="2549525"/>
            <a:ext cx="857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</a:rPr>
              <a:t>X[2]</a:t>
            </a:r>
            <a:endParaRPr kumimoji="1" lang="zh-CN" altLang="en-US" sz="2800" b="1">
              <a:latin typeface="Times New Roman" pitchFamily="18" charset="0"/>
            </a:endParaRPr>
          </a:p>
        </p:txBody>
      </p:sp>
      <p:sp>
        <p:nvSpPr>
          <p:cNvPr id="295992" name="Rectangle 56"/>
          <p:cNvSpPr>
            <a:spLocks noChangeArrowheads="1"/>
          </p:cNvSpPr>
          <p:nvPr/>
        </p:nvSpPr>
        <p:spPr bwMode="auto">
          <a:xfrm>
            <a:off x="6588125" y="30543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</a:rPr>
              <a:t>…</a:t>
            </a:r>
            <a:endParaRPr kumimoji="1" lang="zh-CN" altLang="en-US" sz="2800" b="1">
              <a:latin typeface="Times New Roman" pitchFamily="18" charset="0"/>
            </a:endParaRPr>
          </a:p>
        </p:txBody>
      </p:sp>
      <p:sp>
        <p:nvSpPr>
          <p:cNvPr id="295994" name="Rectangle 58"/>
          <p:cNvSpPr>
            <a:spLocks noChangeArrowheads="1"/>
          </p:cNvSpPr>
          <p:nvPr/>
        </p:nvSpPr>
        <p:spPr bwMode="auto">
          <a:xfrm>
            <a:off x="6516688" y="3582988"/>
            <a:ext cx="857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latin typeface="Times New Roman" pitchFamily="18" charset="0"/>
              </a:rPr>
              <a:t>X[8]</a:t>
            </a:r>
            <a:endParaRPr kumimoji="1" lang="zh-CN" altLang="en-US" sz="2800" b="1">
              <a:latin typeface="Times New Roman" pitchFamily="18" charset="0"/>
            </a:endParaRPr>
          </a:p>
        </p:txBody>
      </p:sp>
      <p:sp>
        <p:nvSpPr>
          <p:cNvPr id="295995" name="Text Box 59"/>
          <p:cNvSpPr txBox="1">
            <a:spLocks noChangeArrowheads="1"/>
          </p:cNvSpPr>
          <p:nvPr/>
        </p:nvSpPr>
        <p:spPr bwMode="auto">
          <a:xfrm>
            <a:off x="3851275" y="5595938"/>
            <a:ext cx="4535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990033"/>
                </a:solidFill>
                <a:ea typeface="华文新魏" pitchFamily="2" charset="-122"/>
              </a:rPr>
              <a:t>翻译中要干什么事情？</a:t>
            </a:r>
            <a:endParaRPr lang="en-US" altLang="zh-CN" sz="3200" b="1">
              <a:solidFill>
                <a:srgbClr val="990033"/>
              </a:solidFill>
              <a:ea typeface="华文新魏" pitchFamily="2" charset="-122"/>
            </a:endParaRP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6443663" y="2071688"/>
            <a:ext cx="1441450" cy="3600450"/>
            <a:chOff x="4059" y="1616"/>
            <a:chExt cx="908" cy="2268"/>
          </a:xfrm>
        </p:grpSpPr>
        <p:sp>
          <p:nvSpPr>
            <p:cNvPr id="37958" name="Line 60"/>
            <p:cNvSpPr>
              <a:spLocks noChangeShapeType="1"/>
            </p:cNvSpPr>
            <p:nvPr/>
          </p:nvSpPr>
          <p:spPr bwMode="auto">
            <a:xfrm>
              <a:off x="4059" y="3612"/>
              <a:ext cx="9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59" name="Group 72"/>
            <p:cNvGrpSpPr>
              <a:grpSpLocks/>
            </p:cNvGrpSpPr>
            <p:nvPr/>
          </p:nvGrpSpPr>
          <p:grpSpPr bwMode="auto">
            <a:xfrm>
              <a:off x="4059" y="1616"/>
              <a:ext cx="908" cy="2268"/>
              <a:chOff x="4059" y="1616"/>
              <a:chExt cx="908" cy="2268"/>
            </a:xfrm>
          </p:grpSpPr>
          <p:grpSp>
            <p:nvGrpSpPr>
              <p:cNvPr id="37960" name="Group 71"/>
              <p:cNvGrpSpPr>
                <a:grpSpLocks/>
              </p:cNvGrpSpPr>
              <p:nvPr/>
            </p:nvGrpSpPr>
            <p:grpSpPr bwMode="auto">
              <a:xfrm>
                <a:off x="4080" y="1888"/>
                <a:ext cx="864" cy="1361"/>
                <a:chOff x="4080" y="1888"/>
                <a:chExt cx="864" cy="1361"/>
              </a:xfrm>
            </p:grpSpPr>
            <p:sp>
              <p:nvSpPr>
                <p:cNvPr id="37964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4080" y="1888"/>
                  <a:ext cx="841" cy="21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5" name="Line 10"/>
                <p:cNvSpPr>
                  <a:spLocks noChangeShapeType="1"/>
                </p:cNvSpPr>
                <p:nvPr/>
              </p:nvSpPr>
              <p:spPr bwMode="auto">
                <a:xfrm>
                  <a:off x="4080" y="2245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6" name="Line 11"/>
                <p:cNvSpPr>
                  <a:spLocks noChangeShapeType="1"/>
                </p:cNvSpPr>
                <p:nvPr/>
              </p:nvSpPr>
              <p:spPr bwMode="auto">
                <a:xfrm>
                  <a:off x="4080" y="2581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7" name="Line 12"/>
                <p:cNvSpPr>
                  <a:spLocks noChangeShapeType="1"/>
                </p:cNvSpPr>
                <p:nvPr/>
              </p:nvSpPr>
              <p:spPr bwMode="auto">
                <a:xfrm>
                  <a:off x="4080" y="2931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8" name="Line 13"/>
                <p:cNvSpPr>
                  <a:spLocks noChangeShapeType="1"/>
                </p:cNvSpPr>
                <p:nvPr/>
              </p:nvSpPr>
              <p:spPr bwMode="auto">
                <a:xfrm>
                  <a:off x="4080" y="3249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1" name="Line 63"/>
              <p:cNvSpPr>
                <a:spLocks noChangeShapeType="1"/>
              </p:cNvSpPr>
              <p:nvPr/>
            </p:nvSpPr>
            <p:spPr bwMode="auto">
              <a:xfrm>
                <a:off x="4059" y="1616"/>
                <a:ext cx="9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62" name="Line 64"/>
              <p:cNvSpPr>
                <a:spLocks noChangeShapeType="1"/>
              </p:cNvSpPr>
              <p:nvPr/>
            </p:nvSpPr>
            <p:spPr bwMode="auto">
              <a:xfrm>
                <a:off x="4967" y="1616"/>
                <a:ext cx="0" cy="222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63" name="Line 65"/>
              <p:cNvSpPr>
                <a:spLocks noChangeShapeType="1"/>
              </p:cNvSpPr>
              <p:nvPr/>
            </p:nvSpPr>
            <p:spPr bwMode="auto">
              <a:xfrm>
                <a:off x="4059" y="1616"/>
                <a:ext cx="0" cy="22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96010" name="Rectangle 74"/>
          <p:cNvSpPr>
            <a:spLocks noChangeArrowheads="1"/>
          </p:cNvSpPr>
          <p:nvPr/>
        </p:nvSpPr>
        <p:spPr bwMode="auto">
          <a:xfrm>
            <a:off x="2484438" y="3222625"/>
            <a:ext cx="973137" cy="519113"/>
          </a:xfrm>
          <a:prstGeom prst="rect">
            <a:avLst/>
          </a:prstGeom>
          <a:solidFill>
            <a:srgbClr val="00966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enter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96011" name="Rectangle 75"/>
          <p:cNvSpPr>
            <a:spLocks noChangeArrowheads="1"/>
          </p:cNvSpPr>
          <p:nvPr/>
        </p:nvSpPr>
        <p:spPr bwMode="auto">
          <a:xfrm>
            <a:off x="3708400" y="3222625"/>
            <a:ext cx="1014413" cy="519113"/>
          </a:xfrm>
          <a:prstGeom prst="rect">
            <a:avLst/>
          </a:prstGeom>
          <a:solidFill>
            <a:srgbClr val="00966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offset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96012" name="Rectangle 76"/>
          <p:cNvSpPr>
            <a:spLocks noChangeArrowheads="1"/>
          </p:cNvSpPr>
          <p:nvPr/>
        </p:nvSpPr>
        <p:spPr bwMode="auto">
          <a:xfrm>
            <a:off x="3708400" y="1422400"/>
            <a:ext cx="1079500" cy="519113"/>
          </a:xfrm>
          <a:prstGeom prst="rect">
            <a:avLst/>
          </a:prstGeom>
          <a:solidFill>
            <a:srgbClr val="00966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type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96013" name="Rectangle 77"/>
          <p:cNvSpPr>
            <a:spLocks noChangeArrowheads="1"/>
          </p:cNvSpPr>
          <p:nvPr/>
        </p:nvSpPr>
        <p:spPr bwMode="auto">
          <a:xfrm>
            <a:off x="3708400" y="2359025"/>
            <a:ext cx="1055688" cy="519113"/>
          </a:xfrm>
          <a:prstGeom prst="rect">
            <a:avLst/>
          </a:prstGeom>
          <a:solidFill>
            <a:srgbClr val="00966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width</a:t>
            </a:r>
          </a:p>
        </p:txBody>
      </p:sp>
      <p:sp>
        <p:nvSpPr>
          <p:cNvPr id="296014" name="AutoShape 78"/>
          <p:cNvSpPr>
            <a:spLocks noChangeArrowheads="1"/>
          </p:cNvSpPr>
          <p:nvPr/>
        </p:nvSpPr>
        <p:spPr bwMode="auto">
          <a:xfrm>
            <a:off x="4140200" y="2863850"/>
            <a:ext cx="217488" cy="431800"/>
          </a:xfrm>
          <a:prstGeom prst="upArrow">
            <a:avLst>
              <a:gd name="adj1" fmla="val 50000"/>
              <a:gd name="adj2" fmla="val 49635"/>
            </a:avLst>
          </a:prstGeom>
          <a:solidFill>
            <a:srgbClr val="00966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6015" name="AutoShape 79"/>
          <p:cNvSpPr>
            <a:spLocks noChangeArrowheads="1"/>
          </p:cNvSpPr>
          <p:nvPr/>
        </p:nvSpPr>
        <p:spPr bwMode="auto">
          <a:xfrm>
            <a:off x="4140200" y="1927225"/>
            <a:ext cx="215900" cy="431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966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296077" name="Rectangle 141"/>
          <p:cNvSpPr>
            <a:spLocks noChangeArrowheads="1"/>
          </p:cNvSpPr>
          <p:nvPr/>
        </p:nvSpPr>
        <p:spPr bwMode="auto">
          <a:xfrm>
            <a:off x="1187450" y="5167313"/>
            <a:ext cx="944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integer</a:t>
            </a:r>
            <a:endParaRPr lang="zh-CN" altLang="en-US" sz="2000" b="1">
              <a:latin typeface="Times New Roman" pitchFamily="18" charset="0"/>
            </a:endParaRPr>
          </a:p>
        </p:txBody>
      </p:sp>
      <p:sp>
        <p:nvSpPr>
          <p:cNvPr id="296078" name="Rectangle 142"/>
          <p:cNvSpPr>
            <a:spLocks noChangeArrowheads="1"/>
          </p:cNvSpPr>
          <p:nvPr/>
        </p:nvSpPr>
        <p:spPr bwMode="auto">
          <a:xfrm>
            <a:off x="1187450" y="4735513"/>
            <a:ext cx="944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1">
                <a:latin typeface="Times New Roman" pitchFamily="18" charset="0"/>
              </a:rPr>
              <a:t>integer</a:t>
            </a:r>
            <a:endParaRPr lang="zh-CN" altLang="en-US" sz="2000" b="1">
              <a:latin typeface="Times New Roman" pitchFamily="18" charset="0"/>
            </a:endParaRPr>
          </a:p>
        </p:txBody>
      </p:sp>
      <p:sp>
        <p:nvSpPr>
          <p:cNvPr id="296079" name="Rectangle 143"/>
          <p:cNvSpPr>
            <a:spLocks noChangeArrowheads="1"/>
          </p:cNvSpPr>
          <p:nvPr/>
        </p:nvSpPr>
        <p:spPr bwMode="auto">
          <a:xfrm>
            <a:off x="1258888" y="4230688"/>
            <a:ext cx="690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real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296080" name="Rectangle 144"/>
          <p:cNvSpPr>
            <a:spLocks noChangeArrowheads="1"/>
          </p:cNvSpPr>
          <p:nvPr/>
        </p:nvSpPr>
        <p:spPr bwMode="auto">
          <a:xfrm>
            <a:off x="395288" y="42306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x</a:t>
            </a:r>
          </a:p>
        </p:txBody>
      </p:sp>
      <p:sp>
        <p:nvSpPr>
          <p:cNvPr id="296081" name="Rectangle 145"/>
          <p:cNvSpPr>
            <a:spLocks noChangeArrowheads="1"/>
          </p:cNvSpPr>
          <p:nvPr/>
        </p:nvSpPr>
        <p:spPr bwMode="auto">
          <a:xfrm>
            <a:off x="395288" y="4735513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i</a:t>
            </a:r>
          </a:p>
        </p:txBody>
      </p:sp>
      <p:sp>
        <p:nvSpPr>
          <p:cNvPr id="296082" name="Rectangle 146"/>
          <p:cNvSpPr>
            <a:spLocks noChangeArrowheads="1"/>
          </p:cNvSpPr>
          <p:nvPr/>
        </p:nvSpPr>
        <p:spPr bwMode="auto">
          <a:xfrm>
            <a:off x="395288" y="5167313"/>
            <a:ext cx="28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j</a:t>
            </a:r>
          </a:p>
        </p:txBody>
      </p:sp>
      <p:sp>
        <p:nvSpPr>
          <p:cNvPr id="37970" name="Rectangle 82"/>
          <p:cNvSpPr>
            <a:spLocks noChangeArrowheads="1"/>
          </p:cNvSpPr>
          <p:nvPr/>
        </p:nvSpPr>
        <p:spPr bwMode="auto">
          <a:xfrm>
            <a:off x="4932363" y="2349500"/>
            <a:ext cx="1031875" cy="519113"/>
          </a:xfrm>
          <a:prstGeom prst="rect">
            <a:avLst/>
          </a:prstGeom>
          <a:solidFill>
            <a:srgbClr val="00966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array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46100"/>
            <a:ext cx="4640262" cy="914400"/>
          </a:xfrm>
        </p:spPr>
        <p:txBody>
          <a:bodyPr/>
          <a:lstStyle/>
          <a:p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文法描述</a:t>
            </a:r>
            <a:endParaRPr lang="en-US" altLang="zh-CN" sz="20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12900"/>
            <a:ext cx="4495800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   →  D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  →   D ; D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  →   id : T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 →   integer 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 →  real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→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↑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  →   array[num] of T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</a:t>
            </a:r>
          </a:p>
        </p:txBody>
      </p:sp>
      <p:sp>
        <p:nvSpPr>
          <p:cNvPr id="389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FC0267A-0913-448F-8F42-9AE703394C4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89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0035F4F-5A36-4D28-AC90-7E15FF174F8D}" type="slidenum">
              <a:rPr lang="zh-CN" altLang="en-US"/>
              <a:pPr eaLnBrk="1" hangingPunct="1"/>
              <a:t>26</a:t>
            </a:fld>
            <a:endParaRPr lang="en-US" altLang="zh-CN"/>
          </a:p>
        </p:txBody>
      </p:sp>
      <p:sp>
        <p:nvSpPr>
          <p:cNvPr id="38918" name="Text Box 4"/>
          <p:cNvSpPr txBox="1">
            <a:spLocks noChangeArrowheads="1"/>
          </p:cNvSpPr>
          <p:nvPr/>
        </p:nvSpPr>
        <p:spPr bwMode="auto">
          <a:xfrm>
            <a:off x="2743200" y="1700213"/>
            <a:ext cx="6400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kumimoji="1"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例如：</a:t>
            </a:r>
          </a:p>
          <a:p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</a:rPr>
              <a:t>a:integer; b:real;c:array[10]of real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895600" y="2547938"/>
            <a:ext cx="6019800" cy="3657600"/>
            <a:chOff x="1824" y="1968"/>
            <a:chExt cx="3792" cy="2304"/>
          </a:xfrm>
        </p:grpSpPr>
        <p:grpSp>
          <p:nvGrpSpPr>
            <p:cNvPr id="38927" name="Group 5"/>
            <p:cNvGrpSpPr>
              <a:grpSpLocks/>
            </p:cNvGrpSpPr>
            <p:nvPr/>
          </p:nvGrpSpPr>
          <p:grpSpPr bwMode="auto">
            <a:xfrm>
              <a:off x="1824" y="1968"/>
              <a:ext cx="3792" cy="2304"/>
              <a:chOff x="1824" y="1968"/>
              <a:chExt cx="3792" cy="2304"/>
            </a:xfrm>
          </p:grpSpPr>
          <p:grpSp>
            <p:nvGrpSpPr>
              <p:cNvPr id="38931" name="Group 6"/>
              <p:cNvGrpSpPr>
                <a:grpSpLocks/>
              </p:cNvGrpSpPr>
              <p:nvPr/>
            </p:nvGrpSpPr>
            <p:grpSpPr bwMode="auto">
              <a:xfrm>
                <a:off x="2352" y="2016"/>
                <a:ext cx="432" cy="576"/>
                <a:chOff x="2352" y="2016"/>
                <a:chExt cx="432" cy="576"/>
              </a:xfrm>
            </p:grpSpPr>
            <p:sp>
              <p:nvSpPr>
                <p:cNvPr id="38957" name="Line 7"/>
                <p:cNvSpPr>
                  <a:spLocks noChangeShapeType="1"/>
                </p:cNvSpPr>
                <p:nvPr/>
              </p:nvSpPr>
              <p:spPr bwMode="auto">
                <a:xfrm>
                  <a:off x="2352" y="2016"/>
                  <a:ext cx="192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95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496" y="2304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itchFamily="18" charset="0"/>
                    </a:rPr>
                    <a:t>T</a:t>
                  </a:r>
                </a:p>
              </p:txBody>
            </p:sp>
          </p:grpSp>
          <p:grpSp>
            <p:nvGrpSpPr>
              <p:cNvPr id="38932" name="Group 9"/>
              <p:cNvGrpSpPr>
                <a:grpSpLocks/>
              </p:cNvGrpSpPr>
              <p:nvPr/>
            </p:nvGrpSpPr>
            <p:grpSpPr bwMode="auto">
              <a:xfrm>
                <a:off x="3312" y="2016"/>
                <a:ext cx="432" cy="576"/>
                <a:chOff x="2352" y="2016"/>
                <a:chExt cx="432" cy="576"/>
              </a:xfrm>
            </p:grpSpPr>
            <p:sp>
              <p:nvSpPr>
                <p:cNvPr id="38955" name="Line 10"/>
                <p:cNvSpPr>
                  <a:spLocks noChangeShapeType="1"/>
                </p:cNvSpPr>
                <p:nvPr/>
              </p:nvSpPr>
              <p:spPr bwMode="auto">
                <a:xfrm>
                  <a:off x="2352" y="2016"/>
                  <a:ext cx="192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95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496" y="2304"/>
                  <a:ext cx="28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itchFamily="18" charset="0"/>
                    </a:rPr>
                    <a:t>T</a:t>
                  </a:r>
                </a:p>
              </p:txBody>
            </p:sp>
          </p:grpSp>
          <p:grpSp>
            <p:nvGrpSpPr>
              <p:cNvPr id="38933" name="Group 12"/>
              <p:cNvGrpSpPr>
                <a:grpSpLocks/>
              </p:cNvGrpSpPr>
              <p:nvPr/>
            </p:nvGrpSpPr>
            <p:grpSpPr bwMode="auto">
              <a:xfrm>
                <a:off x="4608" y="2064"/>
                <a:ext cx="1008" cy="552"/>
                <a:chOff x="2352" y="2016"/>
                <a:chExt cx="432" cy="602"/>
              </a:xfrm>
            </p:grpSpPr>
            <p:sp>
              <p:nvSpPr>
                <p:cNvPr id="38953" name="Line 13"/>
                <p:cNvSpPr>
                  <a:spLocks noChangeShapeType="1"/>
                </p:cNvSpPr>
                <p:nvPr/>
              </p:nvSpPr>
              <p:spPr bwMode="auto">
                <a:xfrm>
                  <a:off x="2352" y="2016"/>
                  <a:ext cx="192" cy="33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954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2496" y="2304"/>
                  <a:ext cx="288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ahoma" pitchFamily="34" charset="0"/>
                      <a:ea typeface="宋体" pitchFamily="2" charset="-122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2400" b="1">
                      <a:latin typeface="Times New Roman" pitchFamily="18" charset="0"/>
                    </a:rPr>
                    <a:t>T</a:t>
                  </a:r>
                </a:p>
              </p:txBody>
            </p:sp>
          </p:grpSp>
          <p:sp>
            <p:nvSpPr>
              <p:cNvPr id="38934" name="Line 15"/>
              <p:cNvSpPr>
                <a:spLocks noChangeShapeType="1"/>
              </p:cNvSpPr>
              <p:nvPr/>
            </p:nvSpPr>
            <p:spPr bwMode="auto">
              <a:xfrm>
                <a:off x="1824" y="2016"/>
                <a:ext cx="1008" cy="9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5" name="Text Box 16"/>
              <p:cNvSpPr txBox="1">
                <a:spLocks noChangeArrowheads="1"/>
              </p:cNvSpPr>
              <p:nvPr/>
            </p:nvSpPr>
            <p:spPr bwMode="auto">
              <a:xfrm>
                <a:off x="2832" y="288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936" name="Text Box 17"/>
              <p:cNvSpPr txBox="1">
                <a:spLocks noChangeArrowheads="1"/>
              </p:cNvSpPr>
              <p:nvPr/>
            </p:nvSpPr>
            <p:spPr bwMode="auto">
              <a:xfrm>
                <a:off x="3696" y="288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937" name="Text Box 18"/>
              <p:cNvSpPr txBox="1">
                <a:spLocks noChangeArrowheads="1"/>
              </p:cNvSpPr>
              <p:nvPr/>
            </p:nvSpPr>
            <p:spPr bwMode="auto">
              <a:xfrm>
                <a:off x="5040" y="288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938" name="Line 19"/>
              <p:cNvSpPr>
                <a:spLocks noChangeShapeType="1"/>
              </p:cNvSpPr>
              <p:nvPr/>
            </p:nvSpPr>
            <p:spPr bwMode="auto">
              <a:xfrm>
                <a:off x="2640" y="2496"/>
                <a:ext cx="288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9" name="Line 20"/>
              <p:cNvSpPr>
                <a:spLocks noChangeShapeType="1"/>
              </p:cNvSpPr>
              <p:nvPr/>
            </p:nvSpPr>
            <p:spPr bwMode="auto">
              <a:xfrm>
                <a:off x="3600" y="2544"/>
                <a:ext cx="192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0" name="Line 21"/>
              <p:cNvSpPr>
                <a:spLocks noChangeShapeType="1"/>
              </p:cNvSpPr>
              <p:nvPr/>
            </p:nvSpPr>
            <p:spPr bwMode="auto">
              <a:xfrm>
                <a:off x="2928" y="1968"/>
                <a:ext cx="816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1" name="Line 22"/>
              <p:cNvSpPr>
                <a:spLocks noChangeShapeType="1"/>
              </p:cNvSpPr>
              <p:nvPr/>
            </p:nvSpPr>
            <p:spPr bwMode="auto">
              <a:xfrm>
                <a:off x="5088" y="2544"/>
                <a:ext cx="96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2" name="Line 23"/>
              <p:cNvSpPr>
                <a:spLocks noChangeShapeType="1"/>
              </p:cNvSpPr>
              <p:nvPr/>
            </p:nvSpPr>
            <p:spPr bwMode="auto">
              <a:xfrm>
                <a:off x="3696" y="2016"/>
                <a:ext cx="1392" cy="9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3" name="Text Box 24"/>
              <p:cNvSpPr txBox="1">
                <a:spLocks noChangeArrowheads="1"/>
              </p:cNvSpPr>
              <p:nvPr/>
            </p:nvSpPr>
            <p:spPr bwMode="auto">
              <a:xfrm>
                <a:off x="3600" y="345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944" name="Text Box 25"/>
              <p:cNvSpPr txBox="1">
                <a:spLocks noChangeArrowheads="1"/>
              </p:cNvSpPr>
              <p:nvPr/>
            </p:nvSpPr>
            <p:spPr bwMode="auto">
              <a:xfrm>
                <a:off x="4608" y="398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P</a:t>
                </a:r>
              </a:p>
            </p:txBody>
          </p:sp>
          <p:sp>
            <p:nvSpPr>
              <p:cNvPr id="38945" name="Line 26"/>
              <p:cNvSpPr>
                <a:spLocks noChangeShapeType="1"/>
              </p:cNvSpPr>
              <p:nvPr/>
            </p:nvSpPr>
            <p:spPr bwMode="auto">
              <a:xfrm>
                <a:off x="2832" y="2016"/>
                <a:ext cx="864" cy="15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6" name="Line 27"/>
              <p:cNvSpPr>
                <a:spLocks noChangeShapeType="1"/>
              </p:cNvSpPr>
              <p:nvPr/>
            </p:nvSpPr>
            <p:spPr bwMode="auto">
              <a:xfrm>
                <a:off x="2976" y="3072"/>
                <a:ext cx="67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7" name="Line 28"/>
              <p:cNvSpPr>
                <a:spLocks noChangeShapeType="1"/>
              </p:cNvSpPr>
              <p:nvPr/>
            </p:nvSpPr>
            <p:spPr bwMode="auto">
              <a:xfrm flipH="1">
                <a:off x="3744" y="3072"/>
                <a:ext cx="96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48" name="Text Box 29"/>
              <p:cNvSpPr txBox="1">
                <a:spLocks noChangeArrowheads="1"/>
              </p:cNvSpPr>
              <p:nvPr/>
            </p:nvSpPr>
            <p:spPr bwMode="auto">
              <a:xfrm>
                <a:off x="4560" y="355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zh-CN" sz="2400" b="1">
                    <a:latin typeface="Times New Roman" pitchFamily="18" charset="0"/>
                  </a:rPr>
                  <a:t>D</a:t>
                </a:r>
              </a:p>
            </p:txBody>
          </p:sp>
          <p:sp>
            <p:nvSpPr>
              <p:cNvPr id="38949" name="Line 30"/>
              <p:cNvSpPr>
                <a:spLocks noChangeShapeType="1"/>
              </p:cNvSpPr>
              <p:nvPr/>
            </p:nvSpPr>
            <p:spPr bwMode="auto">
              <a:xfrm>
                <a:off x="3792" y="3600"/>
                <a:ext cx="81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0" name="Line 31"/>
              <p:cNvSpPr>
                <a:spLocks noChangeShapeType="1"/>
              </p:cNvSpPr>
              <p:nvPr/>
            </p:nvSpPr>
            <p:spPr bwMode="auto">
              <a:xfrm>
                <a:off x="3600" y="2064"/>
                <a:ext cx="1056" cy="15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1" name="Line 32"/>
              <p:cNvSpPr>
                <a:spLocks noChangeShapeType="1"/>
              </p:cNvSpPr>
              <p:nvPr/>
            </p:nvSpPr>
            <p:spPr bwMode="auto">
              <a:xfrm flipH="1">
                <a:off x="4704" y="3120"/>
                <a:ext cx="432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52" name="Line 33"/>
              <p:cNvSpPr>
                <a:spLocks noChangeShapeType="1"/>
              </p:cNvSpPr>
              <p:nvPr/>
            </p:nvSpPr>
            <p:spPr bwMode="auto">
              <a:xfrm>
                <a:off x="4704" y="3792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928" name="Line 34"/>
            <p:cNvSpPr>
              <a:spLocks noChangeShapeType="1"/>
            </p:cNvSpPr>
            <p:nvPr/>
          </p:nvSpPr>
          <p:spPr bwMode="auto">
            <a:xfrm flipH="1">
              <a:off x="5329" y="2024"/>
              <a:ext cx="4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Text Box 35"/>
            <p:cNvSpPr txBox="1">
              <a:spLocks noChangeArrowheads="1"/>
            </p:cNvSpPr>
            <p:nvPr/>
          </p:nvSpPr>
          <p:spPr bwMode="auto">
            <a:xfrm>
              <a:off x="5148" y="2115"/>
              <a:ext cx="4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38930" name="Line 36"/>
            <p:cNvSpPr>
              <a:spLocks noChangeShapeType="1"/>
            </p:cNvSpPr>
            <p:nvPr/>
          </p:nvSpPr>
          <p:spPr bwMode="auto">
            <a:xfrm flipV="1">
              <a:off x="5103" y="2251"/>
              <a:ext cx="13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1094" name="Text Box 38"/>
          <p:cNvSpPr txBox="1">
            <a:spLocks noChangeArrowheads="1"/>
          </p:cNvSpPr>
          <p:nvPr/>
        </p:nvSpPr>
        <p:spPr bwMode="auto">
          <a:xfrm>
            <a:off x="1908175" y="5734050"/>
            <a:ext cx="5975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990033"/>
                </a:solidFill>
                <a:ea typeface="华文新魏" pitchFamily="2" charset="-122"/>
              </a:rPr>
              <a:t>翻译中如何完成要干的事情？</a:t>
            </a:r>
            <a:endParaRPr lang="en-US" altLang="zh-CN" sz="3200" b="1">
              <a:solidFill>
                <a:srgbClr val="990033"/>
              </a:solidFill>
              <a:ea typeface="华文新魏" pitchFamily="2" charset="-122"/>
            </a:endParaRPr>
          </a:p>
        </p:txBody>
      </p:sp>
      <p:sp>
        <p:nvSpPr>
          <p:cNvPr id="301095" name="AutoShape 39"/>
          <p:cNvSpPr>
            <a:spLocks noChangeArrowheads="1"/>
          </p:cNvSpPr>
          <p:nvPr/>
        </p:nvSpPr>
        <p:spPr bwMode="auto">
          <a:xfrm>
            <a:off x="1187450" y="188913"/>
            <a:ext cx="4392613" cy="647700"/>
          </a:xfrm>
          <a:prstGeom prst="wedgeRoundRectCallout">
            <a:avLst>
              <a:gd name="adj1" fmla="val -48157"/>
              <a:gd name="adj2" fmla="val 18946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初值相对地址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offset</a:t>
            </a:r>
          </a:p>
        </p:txBody>
      </p:sp>
      <p:sp>
        <p:nvSpPr>
          <p:cNvPr id="301097" name="AutoShape 41"/>
          <p:cNvSpPr>
            <a:spLocks noChangeArrowheads="1"/>
          </p:cNvSpPr>
          <p:nvPr/>
        </p:nvSpPr>
        <p:spPr bwMode="auto">
          <a:xfrm>
            <a:off x="5830888" y="5013325"/>
            <a:ext cx="3313112" cy="647700"/>
          </a:xfrm>
          <a:prstGeom prst="wedgeRoundRectCallout">
            <a:avLst>
              <a:gd name="adj1" fmla="val -95662"/>
              <a:gd name="adj2" fmla="val 16912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数组处理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array</a:t>
            </a:r>
          </a:p>
        </p:txBody>
      </p:sp>
      <p:sp>
        <p:nvSpPr>
          <p:cNvPr id="301098" name="AutoShape 42"/>
          <p:cNvSpPr>
            <a:spLocks noChangeArrowheads="1"/>
          </p:cNvSpPr>
          <p:nvPr/>
        </p:nvSpPr>
        <p:spPr bwMode="auto">
          <a:xfrm>
            <a:off x="3492500" y="1052513"/>
            <a:ext cx="5472113" cy="647700"/>
          </a:xfrm>
          <a:prstGeom prst="wedgeRoundRectCallout">
            <a:avLst>
              <a:gd name="adj1" fmla="val -71093"/>
              <a:gd name="adj2" fmla="val 239949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填写表项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enter,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修改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offset</a:t>
            </a:r>
          </a:p>
        </p:txBody>
      </p: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555875" y="3284538"/>
            <a:ext cx="6119813" cy="2089150"/>
            <a:chOff x="1610" y="2205"/>
            <a:chExt cx="3855" cy="1316"/>
          </a:xfrm>
        </p:grpSpPr>
        <p:sp>
          <p:nvSpPr>
            <p:cNvPr id="38925" name="AutoShape 40"/>
            <p:cNvSpPr>
              <a:spLocks noChangeArrowheads="1"/>
            </p:cNvSpPr>
            <p:nvPr/>
          </p:nvSpPr>
          <p:spPr bwMode="auto">
            <a:xfrm>
              <a:off x="3288" y="2205"/>
              <a:ext cx="2177" cy="725"/>
            </a:xfrm>
            <a:prstGeom prst="wedgeRoundRectCallout">
              <a:avLst>
                <a:gd name="adj1" fmla="val -116787"/>
                <a:gd name="adj2" fmla="val 57310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zh-CN" altLang="en-US" sz="3200" b="1">
                  <a:latin typeface="Times New Roman" pitchFamily="18" charset="0"/>
                  <a:ea typeface="华文新魏" pitchFamily="2" charset="-122"/>
                </a:rPr>
                <a:t>记录类型</a:t>
              </a:r>
              <a:r>
                <a:rPr lang="en-US" altLang="zh-CN" sz="3200" b="1">
                  <a:latin typeface="Times New Roman" pitchFamily="18" charset="0"/>
                  <a:ea typeface="华文新魏" pitchFamily="2" charset="-122"/>
                </a:rPr>
                <a:t>type</a:t>
              </a:r>
            </a:p>
            <a:p>
              <a:pPr algn="ctr"/>
              <a:r>
                <a:rPr lang="zh-CN" altLang="en-US" sz="3200" b="1">
                  <a:latin typeface="Times New Roman" pitchFamily="18" charset="0"/>
                  <a:ea typeface="华文新魏" pitchFamily="2" charset="-122"/>
                </a:rPr>
                <a:t>和宽度</a:t>
              </a:r>
              <a:r>
                <a:rPr lang="en-US" altLang="zh-CN" sz="3200" b="1">
                  <a:latin typeface="Times New Roman" pitchFamily="18" charset="0"/>
                  <a:ea typeface="华文新魏" pitchFamily="2" charset="-122"/>
                </a:rPr>
                <a:t>width</a:t>
              </a:r>
            </a:p>
          </p:txBody>
        </p:sp>
        <p:sp>
          <p:nvSpPr>
            <p:cNvPr id="38926" name="AutoShape 43"/>
            <p:cNvSpPr>
              <a:spLocks/>
            </p:cNvSpPr>
            <p:nvPr/>
          </p:nvSpPr>
          <p:spPr bwMode="auto">
            <a:xfrm>
              <a:off x="1610" y="2432"/>
              <a:ext cx="227" cy="1089"/>
            </a:xfrm>
            <a:prstGeom prst="rightBrace">
              <a:avLst>
                <a:gd name="adj1" fmla="val 39978"/>
                <a:gd name="adj2" fmla="val 50000"/>
              </a:avLst>
            </a:prstGeom>
            <a:noFill/>
            <a:ln w="38100">
              <a:solidFill>
                <a:srgbClr val="00966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023100" cy="82867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属性、过程、与全局量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701675" y="1622425"/>
            <a:ext cx="7542213" cy="44196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类型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的属性</a:t>
            </a: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类型：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type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占用的字节数：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width 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全局量</a:t>
            </a:r>
          </a:p>
          <a:p>
            <a:pPr lvl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offset：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已分配空间字节数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当前有效的分配起始地址</a:t>
            </a:r>
          </a:p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基本子程序</a:t>
            </a:r>
          </a:p>
          <a:p>
            <a:pPr lvl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enter：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设置变量的类型和地址</a:t>
            </a:r>
          </a:p>
          <a:p>
            <a:pPr lvl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array：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数组类型处理</a:t>
            </a:r>
          </a:p>
        </p:txBody>
      </p:sp>
      <p:sp>
        <p:nvSpPr>
          <p:cNvPr id="399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3370FC5-C8B4-4684-AF39-008A2799A1E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399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38B85D1-BCCD-4AC7-8D83-FF8C41492579}" type="slidenum">
              <a:rPr lang="zh-CN" altLang="en-US"/>
              <a:pPr eaLnBrk="1" hangingPunct="1"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6624637" cy="109537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说明语句的翻译模式</a:t>
            </a:r>
            <a:endParaRPr lang="en-US" altLang="zh-CN" sz="20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>
          <a:xfrm>
            <a:off x="625475" y="1468438"/>
            <a:ext cx="8077200" cy="4648200"/>
          </a:xfrm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P→{ offset := 0 } D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D→D ; D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D→id : T  {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enter( id.name, T.type, offset );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	       offset := offset + T.width}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T→integer {T.type := integer;   T.width := 4}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T→real    {T.type := real;   T.width := 8}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T→array[ num ]  of  T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           {T.type := 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array( num.val, T</a:t>
            </a:r>
            <a:r>
              <a:rPr lang="en-US" altLang="zh-CN" sz="24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.type);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            T.width := num.val * T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.width}</a:t>
            </a:r>
          </a:p>
          <a:p>
            <a:pPr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T→↑T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{T.type := pointer( T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.type); T.width := 4}</a:t>
            </a:r>
          </a:p>
        </p:txBody>
      </p:sp>
      <p:sp>
        <p:nvSpPr>
          <p:cNvPr id="409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2E4869-D02F-4CFC-B5DF-84D50131918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09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4DFF8CE-DAC3-4915-8F13-71DA33F9D42B}" type="slidenum">
              <a:rPr lang="zh-CN" altLang="en-US"/>
              <a:pPr eaLnBrk="1" hangingPunct="1"/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5334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</a:t>
            </a:r>
            <a:r>
              <a:rPr lang="en-US" altLang="zh-CN" sz="3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x:real; i:integer </a:t>
            </a:r>
            <a:r>
              <a:rPr lang="zh-CN" altLang="en-US" sz="3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的翻译</a:t>
            </a:r>
            <a:endParaRPr lang="zh-CN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4132" name="Rectangle 4"/>
          <p:cNvSpPr>
            <a:spLocks noGrp="1" noChangeArrowheads="1"/>
          </p:cNvSpPr>
          <p:nvPr>
            <p:ph idx="1"/>
          </p:nvPr>
        </p:nvSpPr>
        <p:spPr>
          <a:xfrm>
            <a:off x="533400" y="5876925"/>
            <a:ext cx="2525713" cy="533400"/>
          </a:xfrm>
          <a:ln cap="rnd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92075" tIns="46038" rIns="92075" bIns="46038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enter(x,real,0)</a:t>
            </a:r>
          </a:p>
        </p:txBody>
      </p:sp>
      <p:sp>
        <p:nvSpPr>
          <p:cNvPr id="304133" name="Text Box 5"/>
          <p:cNvSpPr txBox="1">
            <a:spLocks noChangeArrowheads="1"/>
          </p:cNvSpPr>
          <p:nvPr/>
        </p:nvSpPr>
        <p:spPr bwMode="auto">
          <a:xfrm>
            <a:off x="2268538" y="1844675"/>
            <a:ext cx="12207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offset=0</a:t>
            </a:r>
          </a:p>
        </p:txBody>
      </p:sp>
      <p:sp>
        <p:nvSpPr>
          <p:cNvPr id="304134" name="Text Box 6"/>
          <p:cNvSpPr txBox="1">
            <a:spLocks noChangeArrowheads="1"/>
          </p:cNvSpPr>
          <p:nvPr/>
        </p:nvSpPr>
        <p:spPr bwMode="auto">
          <a:xfrm>
            <a:off x="2268538" y="3141663"/>
            <a:ext cx="12207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offset=8</a:t>
            </a:r>
          </a:p>
        </p:txBody>
      </p:sp>
      <p:sp>
        <p:nvSpPr>
          <p:cNvPr id="304135" name="Text Box 7"/>
          <p:cNvSpPr txBox="1">
            <a:spLocks noChangeArrowheads="1"/>
          </p:cNvSpPr>
          <p:nvPr/>
        </p:nvSpPr>
        <p:spPr bwMode="auto">
          <a:xfrm>
            <a:off x="3505200" y="5029200"/>
            <a:ext cx="17018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T.type=real</a:t>
            </a:r>
          </a:p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T.width=8</a:t>
            </a:r>
          </a:p>
        </p:txBody>
      </p:sp>
      <p:sp>
        <p:nvSpPr>
          <p:cNvPr id="304136" name="Text Box 8"/>
          <p:cNvSpPr txBox="1">
            <a:spLocks noChangeArrowheads="1"/>
          </p:cNvSpPr>
          <p:nvPr/>
        </p:nvSpPr>
        <p:spPr bwMode="auto">
          <a:xfrm>
            <a:off x="6084888" y="3068638"/>
            <a:ext cx="13731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offset=12</a:t>
            </a:r>
          </a:p>
        </p:txBody>
      </p:sp>
      <p:sp>
        <p:nvSpPr>
          <p:cNvPr id="304137" name="Text Box 9"/>
          <p:cNvSpPr txBox="1">
            <a:spLocks noChangeArrowheads="1"/>
          </p:cNvSpPr>
          <p:nvPr/>
        </p:nvSpPr>
        <p:spPr bwMode="auto">
          <a:xfrm>
            <a:off x="7146925" y="5121275"/>
            <a:ext cx="2108200" cy="822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T.type=integer</a:t>
            </a:r>
          </a:p>
          <a:p>
            <a:pPr eaLnBrk="0" hangingPunct="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T.width=4</a:t>
            </a:r>
          </a:p>
        </p:txBody>
      </p:sp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4876800" y="5876925"/>
            <a:ext cx="2863850" cy="48577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enter(i,integer,8)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304139" name="Rectangle 11"/>
          <p:cNvSpPr>
            <a:spLocks noChangeArrowheads="1"/>
          </p:cNvSpPr>
          <p:nvPr/>
        </p:nvSpPr>
        <p:spPr bwMode="auto">
          <a:xfrm>
            <a:off x="4953000" y="1371600"/>
            <a:ext cx="3810000" cy="11874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D→id : T  {enter( id.name, T.type, offset );                           offset := offset + T.width}</a:t>
            </a:r>
          </a:p>
        </p:txBody>
      </p:sp>
      <p:sp>
        <p:nvSpPr>
          <p:cNvPr id="41995" name="Text Box 12"/>
          <p:cNvSpPr txBox="1">
            <a:spLocks noChangeArrowheads="1"/>
          </p:cNvSpPr>
          <p:nvPr/>
        </p:nvSpPr>
        <p:spPr bwMode="auto">
          <a:xfrm>
            <a:off x="2627313" y="5229225"/>
            <a:ext cx="792162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real</a:t>
            </a:r>
          </a:p>
        </p:txBody>
      </p:sp>
      <p:sp>
        <p:nvSpPr>
          <p:cNvPr id="41996" name="Text Box 34"/>
          <p:cNvSpPr txBox="1">
            <a:spLocks noChangeArrowheads="1"/>
          </p:cNvSpPr>
          <p:nvPr/>
        </p:nvSpPr>
        <p:spPr bwMode="auto">
          <a:xfrm>
            <a:off x="2627313" y="4149725"/>
            <a:ext cx="792162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41997" name="Text Box 35"/>
          <p:cNvSpPr txBox="1">
            <a:spLocks noChangeArrowheads="1"/>
          </p:cNvSpPr>
          <p:nvPr/>
        </p:nvSpPr>
        <p:spPr bwMode="auto">
          <a:xfrm>
            <a:off x="1476375" y="4149725"/>
            <a:ext cx="792163" cy="466725"/>
          </a:xfrm>
          <a:prstGeom prst="rect">
            <a:avLst/>
          </a:prstGeom>
          <a:noFill/>
          <a:ln w="9525" algn="ctr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41998" name="Text Box 36"/>
          <p:cNvSpPr txBox="1">
            <a:spLocks noChangeArrowheads="1"/>
          </p:cNvSpPr>
          <p:nvPr/>
        </p:nvSpPr>
        <p:spPr bwMode="auto">
          <a:xfrm>
            <a:off x="395288" y="4149725"/>
            <a:ext cx="792162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id</a:t>
            </a:r>
          </a:p>
        </p:txBody>
      </p:sp>
      <p:sp>
        <p:nvSpPr>
          <p:cNvPr id="41999" name="Line 37"/>
          <p:cNvSpPr>
            <a:spLocks noChangeShapeType="1"/>
          </p:cNvSpPr>
          <p:nvPr/>
        </p:nvSpPr>
        <p:spPr bwMode="auto">
          <a:xfrm>
            <a:off x="2987675" y="4652963"/>
            <a:ext cx="0" cy="5048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38"/>
          <p:cNvSpPr>
            <a:spLocks noChangeShapeType="1"/>
          </p:cNvSpPr>
          <p:nvPr/>
        </p:nvSpPr>
        <p:spPr bwMode="auto">
          <a:xfrm flipH="1">
            <a:off x="755650" y="3644900"/>
            <a:ext cx="1152525" cy="50482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Text Box 39"/>
          <p:cNvSpPr txBox="1">
            <a:spLocks noChangeArrowheads="1"/>
          </p:cNvSpPr>
          <p:nvPr/>
        </p:nvSpPr>
        <p:spPr bwMode="auto">
          <a:xfrm>
            <a:off x="1547813" y="3141663"/>
            <a:ext cx="792162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42002" name="Text Box 40"/>
          <p:cNvSpPr txBox="1">
            <a:spLocks noChangeArrowheads="1"/>
          </p:cNvSpPr>
          <p:nvPr/>
        </p:nvSpPr>
        <p:spPr bwMode="auto">
          <a:xfrm>
            <a:off x="6372225" y="4149725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42003" name="Text Box 41"/>
          <p:cNvSpPr txBox="1">
            <a:spLocks noChangeArrowheads="1"/>
          </p:cNvSpPr>
          <p:nvPr/>
        </p:nvSpPr>
        <p:spPr bwMode="auto">
          <a:xfrm>
            <a:off x="5219700" y="4149725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42004" name="Text Box 42"/>
          <p:cNvSpPr txBox="1">
            <a:spLocks noChangeArrowheads="1"/>
          </p:cNvSpPr>
          <p:nvPr/>
        </p:nvSpPr>
        <p:spPr bwMode="auto">
          <a:xfrm>
            <a:off x="4067175" y="4114800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id</a:t>
            </a:r>
          </a:p>
        </p:txBody>
      </p:sp>
      <p:sp>
        <p:nvSpPr>
          <p:cNvPr id="42005" name="Text Box 43"/>
          <p:cNvSpPr txBox="1">
            <a:spLocks noChangeArrowheads="1"/>
          </p:cNvSpPr>
          <p:nvPr/>
        </p:nvSpPr>
        <p:spPr bwMode="auto">
          <a:xfrm>
            <a:off x="5219700" y="3068638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42006" name="Text Box 44"/>
          <p:cNvSpPr txBox="1">
            <a:spLocks noChangeArrowheads="1"/>
          </p:cNvSpPr>
          <p:nvPr/>
        </p:nvSpPr>
        <p:spPr bwMode="auto">
          <a:xfrm>
            <a:off x="3276600" y="3068638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;</a:t>
            </a:r>
          </a:p>
        </p:txBody>
      </p:sp>
      <p:sp>
        <p:nvSpPr>
          <p:cNvPr id="42007" name="Text Box 45"/>
          <p:cNvSpPr txBox="1">
            <a:spLocks noChangeArrowheads="1"/>
          </p:cNvSpPr>
          <p:nvPr/>
        </p:nvSpPr>
        <p:spPr bwMode="auto">
          <a:xfrm>
            <a:off x="3275013" y="2276475"/>
            <a:ext cx="792162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D</a:t>
            </a:r>
          </a:p>
        </p:txBody>
      </p:sp>
      <p:sp>
        <p:nvSpPr>
          <p:cNvPr id="42008" name="Text Box 46"/>
          <p:cNvSpPr txBox="1">
            <a:spLocks noChangeArrowheads="1"/>
          </p:cNvSpPr>
          <p:nvPr/>
        </p:nvSpPr>
        <p:spPr bwMode="auto">
          <a:xfrm>
            <a:off x="3276600" y="1268413"/>
            <a:ext cx="792163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P</a:t>
            </a:r>
          </a:p>
        </p:txBody>
      </p:sp>
      <p:sp>
        <p:nvSpPr>
          <p:cNvPr id="42009" name="Line 47"/>
          <p:cNvSpPr>
            <a:spLocks noChangeShapeType="1"/>
          </p:cNvSpPr>
          <p:nvPr/>
        </p:nvSpPr>
        <p:spPr bwMode="auto">
          <a:xfrm>
            <a:off x="3635375" y="1700213"/>
            <a:ext cx="0" cy="5762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0" name="Text Box 48"/>
          <p:cNvSpPr txBox="1">
            <a:spLocks noChangeArrowheads="1"/>
          </p:cNvSpPr>
          <p:nvPr/>
        </p:nvSpPr>
        <p:spPr bwMode="auto">
          <a:xfrm>
            <a:off x="5867400" y="5300663"/>
            <a:ext cx="1296988" cy="4667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integer</a:t>
            </a:r>
          </a:p>
        </p:txBody>
      </p:sp>
      <p:sp>
        <p:nvSpPr>
          <p:cNvPr id="42011" name="Line 49"/>
          <p:cNvSpPr>
            <a:spLocks noChangeShapeType="1"/>
          </p:cNvSpPr>
          <p:nvPr/>
        </p:nvSpPr>
        <p:spPr bwMode="auto">
          <a:xfrm>
            <a:off x="1908175" y="3573463"/>
            <a:ext cx="0" cy="5762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2" name="Line 50"/>
          <p:cNvSpPr>
            <a:spLocks noChangeShapeType="1"/>
          </p:cNvSpPr>
          <p:nvPr/>
        </p:nvSpPr>
        <p:spPr bwMode="auto">
          <a:xfrm>
            <a:off x="1908175" y="3644900"/>
            <a:ext cx="1008063" cy="4318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3" name="Line 51"/>
          <p:cNvSpPr>
            <a:spLocks noChangeShapeType="1"/>
          </p:cNvSpPr>
          <p:nvPr/>
        </p:nvSpPr>
        <p:spPr bwMode="auto">
          <a:xfrm flipV="1">
            <a:off x="1908175" y="2781300"/>
            <a:ext cx="1727200" cy="3603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4" name="Line 52"/>
          <p:cNvSpPr>
            <a:spLocks noChangeShapeType="1"/>
          </p:cNvSpPr>
          <p:nvPr/>
        </p:nvSpPr>
        <p:spPr bwMode="auto">
          <a:xfrm>
            <a:off x="3635375" y="2708275"/>
            <a:ext cx="0" cy="360363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5" name="Line 53"/>
          <p:cNvSpPr>
            <a:spLocks noChangeShapeType="1"/>
          </p:cNvSpPr>
          <p:nvPr/>
        </p:nvSpPr>
        <p:spPr bwMode="auto">
          <a:xfrm>
            <a:off x="3635375" y="2781300"/>
            <a:ext cx="1944688" cy="28733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6" name="Line 54"/>
          <p:cNvSpPr>
            <a:spLocks noChangeShapeType="1"/>
          </p:cNvSpPr>
          <p:nvPr/>
        </p:nvSpPr>
        <p:spPr bwMode="auto">
          <a:xfrm flipH="1">
            <a:off x="4500563" y="3500438"/>
            <a:ext cx="1079500" cy="64928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7" name="Line 55"/>
          <p:cNvSpPr>
            <a:spLocks noChangeShapeType="1"/>
          </p:cNvSpPr>
          <p:nvPr/>
        </p:nvSpPr>
        <p:spPr bwMode="auto">
          <a:xfrm>
            <a:off x="5580063" y="3500438"/>
            <a:ext cx="0" cy="649287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8" name="Line 56"/>
          <p:cNvSpPr>
            <a:spLocks noChangeShapeType="1"/>
          </p:cNvSpPr>
          <p:nvPr/>
        </p:nvSpPr>
        <p:spPr bwMode="auto">
          <a:xfrm>
            <a:off x="5580063" y="3573463"/>
            <a:ext cx="1223962" cy="5762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9" name="Line 57"/>
          <p:cNvSpPr>
            <a:spLocks noChangeShapeType="1"/>
          </p:cNvSpPr>
          <p:nvPr/>
        </p:nvSpPr>
        <p:spPr bwMode="auto">
          <a:xfrm>
            <a:off x="6732588" y="4581525"/>
            <a:ext cx="0" cy="71913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6669087" cy="720725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sz="3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x:real; i:integer </a:t>
            </a:r>
            <a:r>
              <a:rPr lang="zh-CN" altLang="en-US" sz="36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的翻译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507413" cy="4495800"/>
          </a:xfrm>
        </p:spPr>
        <p:txBody>
          <a:bodyPr/>
          <a:lstStyle/>
          <a:p>
            <a:pPr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P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 { offset := 0 } D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{ offset := 0 } D ; D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{ offset := 0 } x: T  {enter( x, T.type, offset ); offset := offset + T.width}; D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{ offset := 0 } x : real  {T.type := real;   T.width := 8} {enter( x, T.type, offset ); offset := offset + T.width}; D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 x : real  { ( x, real, 0 ); offset := 8}; D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 x : real  { ( x, real, 0 ); offset := 8}; i : T  {enter( id.name, T.type, offset ) ;offset := offset + T.width}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 x : real  { ( x, real, 0 ); offset := 8}; i : integer  {T.type := integer;   T.width := 4} {enter( i, T.type, offset ) ;offset := offset + T.width}</a:t>
            </a:r>
          </a:p>
          <a:p>
            <a:pPr>
              <a:spcBef>
                <a:spcPct val="40000"/>
              </a:spcBef>
              <a:buFont typeface="Symbol" pitchFamily="18" charset="2"/>
              <a:buNone/>
            </a:pP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 x : real  { ( x, real, 0 )}; i : integer { ( i, integer, 8 ) ;offset=12}</a:t>
            </a:r>
          </a:p>
        </p:txBody>
      </p:sp>
      <p:sp>
        <p:nvSpPr>
          <p:cNvPr id="481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48CE90-DE2D-421D-9B18-4201DB1D109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81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3154CBF-958F-470E-A8E2-D0618E33B3CB}" type="slidenum">
              <a:rPr lang="zh-CN" altLang="en-US"/>
              <a:pPr eaLnBrk="1" hangingPunct="1"/>
              <a:t>30</a:t>
            </a:fld>
            <a:endParaRPr lang="en-US" altLang="zh-CN"/>
          </a:p>
        </p:txBody>
      </p:sp>
      <p:sp>
        <p:nvSpPr>
          <p:cNvPr id="305157" name="Rectangle 5"/>
          <p:cNvSpPr>
            <a:spLocks noChangeArrowheads="1"/>
          </p:cNvSpPr>
          <p:nvPr/>
        </p:nvSpPr>
        <p:spPr bwMode="auto">
          <a:xfrm>
            <a:off x="2987675" y="944563"/>
            <a:ext cx="5832475" cy="1260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D→id : T  {enter( id.name, T.type, offset );                           offset := offset + T.width}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T→real    {T.type := real;   T.width := 8}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260350"/>
            <a:ext cx="6996113" cy="1319213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7.3  组合数据说明的翻译</a:t>
            </a:r>
            <a:endParaRPr lang="en-US" altLang="zh-CN" sz="20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881063" y="1916113"/>
            <a:ext cx="7723187" cy="42560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分类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同结构的组合数据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同质数据结构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2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数组、集合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异结构的组合数据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异质数据结构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2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记录、结构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抽象数据类型</a:t>
            </a:r>
          </a:p>
          <a:p>
            <a:pPr lvl="2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类、模块</a:t>
            </a:r>
          </a:p>
        </p:txBody>
      </p:sp>
      <p:sp>
        <p:nvSpPr>
          <p:cNvPr id="4915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F8CFA9A-F760-486E-A878-6032683BEB2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491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4FACEB3-A254-4D9C-AF86-555F06082856}" type="slidenum">
              <a:rPr lang="zh-CN" altLang="en-US"/>
              <a:pPr eaLnBrk="1" hangingPunct="1"/>
              <a:t>31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549275"/>
            <a:ext cx="5910262" cy="974725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数组的引用与分配策略</a:t>
            </a:r>
            <a:endParaRPr lang="zh-CN" altLang="en-US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00213"/>
            <a:ext cx="7772400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操作</a:t>
            </a: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元素的引用、修改:</a:t>
            </a:r>
          </a:p>
          <a:p>
            <a:pPr lvl="2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数组：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A[n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,n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,…,n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]  </a:t>
            </a:r>
          </a:p>
          <a:p>
            <a:pPr lvl="2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记录、结构：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B.h.j</a:t>
            </a: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结构的引用、修改：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  ,  B，A.c</a:t>
            </a:r>
          </a:p>
          <a:p>
            <a:pPr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分配策略</a:t>
            </a: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静态：直接完成相应的分配工作</a:t>
            </a:r>
          </a:p>
          <a:p>
            <a:pPr lvl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动态：构造代码，以便在运行时调用分配过程进行分配</a:t>
            </a:r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56DA49E-4D57-42B7-A428-7D21F46EAA6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01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F5E0560-F101-4D54-805C-AE0867F18A74}" type="slidenum">
              <a:rPr lang="zh-CN" altLang="en-US"/>
              <a:pPr eaLnBrk="1" hangingPunct="1"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793037" cy="91122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数组说明的翻译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017713"/>
            <a:ext cx="4597400" cy="4291012"/>
          </a:xfrm>
          <a:noFill/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表达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：符号表不足以表达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内情向量</a:t>
            </a:r>
            <a:endParaRPr lang="zh-CN" altLang="en-US" sz="2400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维数、下标上界与下界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空间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分配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首地址、需用空间计算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引用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：存放方式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按行存放、按列存放——影响具体元素地址的计算</a:t>
            </a:r>
          </a:p>
        </p:txBody>
      </p:sp>
      <p:graphicFrame>
        <p:nvGraphicFramePr>
          <p:cNvPr id="51233" name="Group 33"/>
          <p:cNvGraphicFramePr>
            <a:graphicFrameLocks noGrp="1"/>
          </p:cNvGraphicFramePr>
          <p:nvPr>
            <p:ph sz="half" idx="2"/>
          </p:nvPr>
        </p:nvGraphicFramePr>
        <p:xfrm>
          <a:off x="5778500" y="2060575"/>
          <a:ext cx="2681288" cy="4184969"/>
        </p:xfrm>
        <a:graphic>
          <a:graphicData uri="http://schemas.openxmlformats.org/drawingml/2006/table">
            <a:tbl>
              <a:tblPr/>
              <a:tblGrid>
                <a:gridCol w="893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9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230" name="日期占位符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8532B96-1B5F-4F77-BA2E-67A1BE1BB0C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1231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2F59D3D-996F-43E5-8437-7FF65CD893F0}" type="slidenum">
              <a:rPr lang="zh-CN" altLang="en-US"/>
              <a:pPr eaLnBrk="1" hangingPunct="1"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793037" cy="9144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静态数组分配要完成的工作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16113"/>
            <a:ext cx="7772400" cy="41148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编译时确定数组的存放</a:t>
            </a:r>
            <a:endParaRPr lang="en-US" altLang="zh-CN" b="1" smtClean="0">
              <a:solidFill>
                <a:srgbClr val="990033"/>
              </a:solidFill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数组存放在一个连续的存储区中</a:t>
            </a:r>
          </a:p>
          <a:p>
            <a:pPr>
              <a:lnSpc>
                <a:spcPct val="14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知道起始地址</a:t>
            </a:r>
          </a:p>
          <a:p>
            <a:pPr>
              <a:lnSpc>
                <a:spcPct val="14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要计算该数组的大小</a:t>
            </a:r>
          </a:p>
          <a:p>
            <a:pPr>
              <a:lnSpc>
                <a:spcPct val="14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按照与简单变量类似的方式进行分配</a:t>
            </a:r>
          </a:p>
        </p:txBody>
      </p:sp>
      <p:sp>
        <p:nvSpPr>
          <p:cNvPr id="5222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0829F1B-EF31-48A7-8A56-1B020BFB61A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22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CCDE3F4-2A6F-4CA2-97DD-6030DC13B1A7}" type="slidenum">
              <a:rPr lang="zh-CN" altLang="en-US"/>
              <a:pPr eaLnBrk="1" hangingPunct="1"/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title"/>
          </p:nvPr>
        </p:nvSpPr>
        <p:spPr>
          <a:xfrm>
            <a:off x="1150938" y="685800"/>
            <a:ext cx="7793037" cy="990600"/>
          </a:xfrm>
          <a:noFill/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动态数组分配要完成的工作</a:t>
            </a:r>
          </a:p>
        </p:txBody>
      </p:sp>
      <p:sp>
        <p:nvSpPr>
          <p:cNvPr id="53251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2017713"/>
            <a:ext cx="7772400" cy="4114800"/>
          </a:xfrm>
        </p:spPr>
        <p:txBody>
          <a:bodyPr/>
          <a:lstStyle/>
          <a:p>
            <a:r>
              <a:rPr lang="zh-CN" altLang="en-US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运行时确定数组的存放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要处理的问题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准备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上下界的计算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体积的计算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动态分配子程序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将计算的结果告诉动态分配子程序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进行分配</a:t>
            </a:r>
          </a:p>
        </p:txBody>
      </p:sp>
      <p:sp>
        <p:nvSpPr>
          <p:cNvPr id="5325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4A4F1E-5613-40BE-9C06-5C8ECF8546E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32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E3F0F77-31E6-4233-9821-0E0E92E5E1BD}" type="slidenum">
              <a:rPr lang="zh-CN" altLang="en-US"/>
              <a:pPr eaLnBrk="1" hangingPunct="1"/>
              <a:t>35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F5E8DBD-FF46-4FC1-83BE-BEF290FF0C6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36C264-4283-4FC5-B508-8FE268E3EF1C}" type="slidenum">
              <a:rPr lang="zh-CN" altLang="en-US"/>
              <a:pPr eaLnBrk="1" hangingPunct="1"/>
              <a:t>36</a:t>
            </a:fld>
            <a:endParaRPr lang="en-US" altLang="zh-CN"/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550863" y="549275"/>
            <a:ext cx="784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3600" b="1">
                <a:latin typeface="Times New Roman" pitchFamily="18" charset="0"/>
                <a:ea typeface="华文新魏" pitchFamily="2" charset="-122"/>
              </a:rPr>
              <a:t>动态分配方案下数组说明的代码结构</a:t>
            </a:r>
          </a:p>
        </p:txBody>
      </p:sp>
      <p:sp>
        <p:nvSpPr>
          <p:cNvPr id="311299" name="Text Box 3"/>
          <p:cNvSpPr txBox="1">
            <a:spLocks noChangeArrowheads="1"/>
          </p:cNvSpPr>
          <p:nvPr/>
        </p:nvSpPr>
        <p:spPr bwMode="auto">
          <a:xfrm>
            <a:off x="2749550" y="1377950"/>
            <a:ext cx="6107113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D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kumimoji="1" lang="en-US" altLang="zh-CN" sz="2400" b="1">
                <a:latin typeface="Times New Roman" pitchFamily="18" charset="0"/>
              </a:rPr>
              <a:t>id:array [low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:up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 , ……, low</a:t>
            </a:r>
            <a:r>
              <a:rPr kumimoji="1" lang="en-US" altLang="zh-CN" sz="2400" b="1" baseline="-25000">
                <a:latin typeface="Times New Roman" pitchFamily="18" charset="0"/>
              </a:rPr>
              <a:t>k</a:t>
            </a:r>
            <a:r>
              <a:rPr kumimoji="1" lang="en-US" altLang="zh-CN" sz="2400" b="1">
                <a:latin typeface="Times New Roman" pitchFamily="18" charset="0"/>
              </a:rPr>
              <a:t>:up</a:t>
            </a:r>
            <a:r>
              <a:rPr kumimoji="1" lang="en-US" altLang="zh-CN" sz="2400" b="1" baseline="-25000">
                <a:latin typeface="Times New Roman" pitchFamily="18" charset="0"/>
              </a:rPr>
              <a:t>k</a:t>
            </a:r>
            <a:r>
              <a:rPr kumimoji="1" lang="en-US" altLang="zh-CN" sz="2400" b="1">
                <a:latin typeface="Times New Roman" pitchFamily="18" charset="0"/>
              </a:rPr>
              <a:t>] of T</a:t>
            </a:r>
          </a:p>
        </p:txBody>
      </p:sp>
      <p:sp>
        <p:nvSpPr>
          <p:cNvPr id="311300" name="Text Box 4"/>
          <p:cNvSpPr txBox="1">
            <a:spLocks noChangeArrowheads="1"/>
          </p:cNvSpPr>
          <p:nvPr/>
        </p:nvSpPr>
        <p:spPr bwMode="auto">
          <a:xfrm>
            <a:off x="539750" y="1449388"/>
            <a:ext cx="3311525" cy="469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pitchFamily="18" charset="0"/>
              </a:rPr>
              <a:t>low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送工作单元</a:t>
            </a:r>
            <a:r>
              <a:rPr kumimoji="1" lang="en-US" altLang="zh-CN" sz="2400" b="1">
                <a:latin typeface="Times New Roman" pitchFamily="18" charset="0"/>
              </a:rPr>
              <a:t>W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endParaRPr kumimoji="1" lang="en-US" altLang="zh-CN" sz="2400" b="1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pitchFamily="18" charset="0"/>
              </a:rPr>
              <a:t>up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送工作单元</a:t>
            </a:r>
            <a:r>
              <a:rPr kumimoji="1" lang="en-US" altLang="zh-CN" sz="2400" b="1">
                <a:latin typeface="Times New Roman" pitchFamily="18" charset="0"/>
              </a:rPr>
              <a:t>W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endParaRPr kumimoji="1" lang="en-US" altLang="zh-CN" sz="2400" b="1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pitchFamily="18" charset="0"/>
              </a:rPr>
              <a:t>……</a:t>
            </a:r>
          </a:p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pitchFamily="18" charset="0"/>
              </a:rPr>
              <a:t>low</a:t>
            </a:r>
            <a:r>
              <a:rPr kumimoji="1" lang="en-US" altLang="zh-CN" sz="2400" b="1" baseline="-25000">
                <a:latin typeface="Times New Roman" pitchFamily="18" charset="0"/>
              </a:rPr>
              <a:t>k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送工作单元</a:t>
            </a:r>
            <a:r>
              <a:rPr kumimoji="1" lang="en-US" altLang="zh-CN" sz="2400" b="1">
                <a:latin typeface="Times New Roman" pitchFamily="18" charset="0"/>
              </a:rPr>
              <a:t>W</a:t>
            </a:r>
            <a:r>
              <a:rPr kumimoji="1" lang="en-US" altLang="zh-CN" sz="2400" b="1" baseline="-25000">
                <a:latin typeface="Times New Roman" pitchFamily="18" charset="0"/>
              </a:rPr>
              <a:t>2k-1</a:t>
            </a:r>
            <a:endParaRPr kumimoji="1" lang="en-US" altLang="zh-CN" sz="2400" b="1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kumimoji="1" lang="en-US" altLang="zh-CN" sz="2400" b="1">
                <a:latin typeface="Times New Roman" pitchFamily="18" charset="0"/>
              </a:rPr>
              <a:t>up</a:t>
            </a:r>
            <a:r>
              <a:rPr kumimoji="1" lang="en-US" altLang="zh-CN" sz="2400" b="1" baseline="-25000">
                <a:latin typeface="Times New Roman" pitchFamily="18" charset="0"/>
              </a:rPr>
              <a:t>k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  <a:p>
            <a:pPr>
              <a:spcBef>
                <a:spcPct val="2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送工作单元</a:t>
            </a:r>
            <a:r>
              <a:rPr kumimoji="1" lang="en-US" altLang="zh-CN" sz="2400" b="1">
                <a:latin typeface="Times New Roman" pitchFamily="18" charset="0"/>
              </a:rPr>
              <a:t>W</a:t>
            </a:r>
            <a:r>
              <a:rPr kumimoji="1" lang="en-US" altLang="zh-CN" sz="2400" b="1" baseline="-25000">
                <a:latin typeface="Times New Roman" pitchFamily="18" charset="0"/>
              </a:rPr>
              <a:t>2k</a:t>
            </a:r>
          </a:p>
          <a:p>
            <a:pPr eaLnBrk="1" hangingPunct="1"/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其它参数</a:t>
            </a:r>
            <a:r>
              <a:rPr kumimoji="1" lang="en-US" altLang="zh-CN" sz="2400" b="1">
                <a:latin typeface="Times New Roman" pitchFamily="18" charset="0"/>
                <a:ea typeface="华文新魏" pitchFamily="2" charset="-122"/>
              </a:rPr>
              <a:t>(k,type)</a:t>
            </a:r>
          </a:p>
          <a:p>
            <a:pPr eaLnBrk="1" hangingPunct="1"/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转动态分配子程序入口</a:t>
            </a:r>
            <a:endParaRPr kumimoji="1" lang="en-US" altLang="zh-CN" sz="2400" b="1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1302" name="Text Box 6"/>
          <p:cNvSpPr txBox="1">
            <a:spLocks noChangeArrowheads="1"/>
          </p:cNvSpPr>
          <p:nvPr/>
        </p:nvSpPr>
        <p:spPr bwMode="auto">
          <a:xfrm>
            <a:off x="3492500" y="2962275"/>
            <a:ext cx="5183188" cy="21971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Times New Roman" pitchFamily="18" charset="0"/>
              </a:rPr>
              <a:t>D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</a:t>
            </a:r>
            <a:r>
              <a:rPr kumimoji="1" lang="en-US" altLang="zh-CN" sz="2400" b="1">
                <a:solidFill>
                  <a:srgbClr val="000099"/>
                </a:solidFill>
                <a:latin typeface="Times New Roman" pitchFamily="18" charset="0"/>
              </a:rPr>
              <a:t>id:array [num] of T</a:t>
            </a:r>
          </a:p>
          <a:p>
            <a:pPr eaLnBrk="1" hangingPunct="1"/>
            <a:r>
              <a:rPr lang="en-US" altLang="zh-CN" b="1">
                <a:solidFill>
                  <a:srgbClr val="CC0066"/>
                </a:solidFill>
                <a:latin typeface="Times New Roman" pitchFamily="18" charset="0"/>
              </a:rPr>
              <a:t>{D.type := array( num.val, T.type);</a:t>
            </a:r>
          </a:p>
          <a:p>
            <a:pPr eaLnBrk="1" hangingPunct="1"/>
            <a:r>
              <a:rPr lang="en-US" altLang="zh-CN" b="1">
                <a:solidFill>
                  <a:srgbClr val="CC0066"/>
                </a:solidFill>
                <a:latin typeface="Times New Roman" pitchFamily="18" charset="0"/>
              </a:rPr>
              <a:t>            D.width := num.val * T.width</a:t>
            </a:r>
            <a:r>
              <a:rPr lang="zh-CN" altLang="en-US" b="1">
                <a:solidFill>
                  <a:srgbClr val="CC0066"/>
                </a:solidFill>
                <a:latin typeface="Times New Roman" pitchFamily="18" charset="0"/>
              </a:rPr>
              <a:t>；</a:t>
            </a:r>
          </a:p>
          <a:p>
            <a:pPr eaLnBrk="1" hangingPunct="1"/>
            <a:r>
              <a:rPr lang="zh-CN" altLang="en-US" b="1">
                <a:solidFill>
                  <a:srgbClr val="CC0066"/>
                </a:solidFill>
                <a:latin typeface="Times New Roman" pitchFamily="18" charset="0"/>
              </a:rPr>
              <a:t>            </a:t>
            </a:r>
            <a:r>
              <a:rPr lang="en-US" altLang="zh-CN" b="1">
                <a:solidFill>
                  <a:srgbClr val="CC0066"/>
                </a:solidFill>
                <a:latin typeface="Times New Roman" pitchFamily="18" charset="0"/>
              </a:rPr>
              <a:t>enter( id.name, T.type, offset )}</a:t>
            </a:r>
          </a:p>
          <a:p>
            <a:pPr eaLnBrk="1" hangingPunct="1">
              <a:spcBef>
                <a:spcPct val="100000"/>
              </a:spcBef>
            </a:pPr>
            <a:r>
              <a:rPr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动态数组将存放在动态数据区</a:t>
            </a:r>
            <a:endParaRPr lang="en-US" altLang="zh-CN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404813"/>
            <a:ext cx="5630863" cy="1012825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数组元素的引用</a:t>
            </a:r>
            <a:endParaRPr lang="zh-CN" altLang="en-US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23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68313" y="1557338"/>
            <a:ext cx="7696200" cy="4400550"/>
          </a:xfrm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数组元素的翻译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完成上下界检查</a:t>
            </a:r>
          </a:p>
          <a:p>
            <a:pPr lvl="1"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生成完成相对地址计算的代码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目标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x := y[i]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y[i] := x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y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为数组地址的固定部分——相当于第1个元素的地址，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是相对地址，不是数组下标</a:t>
            </a: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简化表示：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w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width</a:t>
            </a:r>
          </a:p>
        </p:txBody>
      </p:sp>
      <p:sp>
        <p:nvSpPr>
          <p:cNvPr id="55300" name="日期占位符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F841608-ECA7-4443-9971-732BC82A47A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5301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688BE5A-F25D-48B8-B01E-E41B4B77C81A}" type="slidenum">
              <a:rPr lang="zh-CN" altLang="en-US"/>
              <a:pPr eaLnBrk="1" hangingPunct="1"/>
              <a:t>37</a:t>
            </a:fld>
            <a:endParaRPr lang="en-US" altLang="zh-CN"/>
          </a:p>
        </p:txBody>
      </p:sp>
      <p:sp>
        <p:nvSpPr>
          <p:cNvPr id="55303" name="AutoShape 7"/>
          <p:cNvSpPr>
            <a:spLocks noChangeArrowheads="1"/>
          </p:cNvSpPr>
          <p:nvPr/>
        </p:nvSpPr>
        <p:spPr bwMode="auto">
          <a:xfrm>
            <a:off x="5724525" y="1700213"/>
            <a:ext cx="1439863" cy="576262"/>
          </a:xfrm>
          <a:prstGeom prst="wedgeRectCallout">
            <a:avLst>
              <a:gd name="adj1" fmla="val -232361"/>
              <a:gd name="adj2" fmla="val 3648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.place</a:t>
            </a:r>
            <a:endParaRPr kumimoji="1" lang="zh-CN" altLang="en-US" sz="2800" b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5304" name="AutoShape 8"/>
          <p:cNvSpPr>
            <a:spLocks noChangeArrowheads="1"/>
          </p:cNvSpPr>
          <p:nvPr/>
        </p:nvSpPr>
        <p:spPr bwMode="auto">
          <a:xfrm>
            <a:off x="7704138" y="1700213"/>
            <a:ext cx="1439862" cy="576262"/>
          </a:xfrm>
          <a:prstGeom prst="wedgeRectCallout">
            <a:avLst>
              <a:gd name="adj1" fmla="val -347907"/>
              <a:gd name="adj2" fmla="val 3513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kumimoji="1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.offset</a:t>
            </a:r>
            <a:endParaRPr kumimoji="1" lang="zh-CN" altLang="en-US" sz="2800" b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920037" cy="1079500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数组元素地址计算-按行存放</a:t>
            </a:r>
            <a:endParaRPr lang="en-US" altLang="zh-CN" sz="40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555750"/>
            <a:ext cx="8424863" cy="49418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每一维的大小：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+1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，起始地址：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base</a:t>
            </a:r>
          </a:p>
          <a:p>
            <a:pPr>
              <a:lnSpc>
                <a:spcPct val="9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一维数组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Addr(A[i])=base+(i-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       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=(base- 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*w)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+i*w=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+i*w</a:t>
            </a:r>
          </a:p>
          <a:p>
            <a:pPr>
              <a:lnSpc>
                <a:spcPct val="90000"/>
              </a:lnSpc>
              <a:spcBef>
                <a:spcPct val="55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二维数组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]~A[i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Addr(A[i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])=base+((i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 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))*w</a:t>
            </a:r>
          </a:p>
          <a:p>
            <a:pPr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base+(i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  <a:p>
            <a:pPr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base-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 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</a:t>
            </a:r>
          </a:p>
          <a:p>
            <a:pPr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base-(low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-low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)*w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  <a:p>
            <a:pPr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</p:txBody>
      </p:sp>
      <p:sp>
        <p:nvSpPr>
          <p:cNvPr id="5632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34BA39-6607-4929-BEBA-C3406B86587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63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4D2D280-DDEC-4FC2-90B4-A9FEC2C6B3E9}" type="slidenum">
              <a:rPr lang="zh-CN" altLang="en-US"/>
              <a:pPr eaLnBrk="1" hangingPunct="1"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115888"/>
            <a:ext cx="6324600" cy="1185862"/>
          </a:xfrm>
        </p:spPr>
        <p:txBody>
          <a:bodyPr/>
          <a:lstStyle/>
          <a:p>
            <a:r>
              <a:rPr lang="zh-CN" altLang="en-US" sz="36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数组元素地址计算-按行存放</a:t>
            </a:r>
            <a:endParaRPr lang="en-US" altLang="zh-CN" sz="36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4134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73200"/>
            <a:ext cx="8785225" cy="47640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三维数组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]~A[i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Addr(A[i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])=base+((i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                                                     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 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 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 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 )*w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base+(i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 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                      + 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 *w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base-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*w-low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 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base-((low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-low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 *n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+low</a:t>
            </a:r>
            <a:r>
              <a:rPr lang="en-US" altLang="zh-CN" sz="28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)*w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+((i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+((i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</p:txBody>
      </p:sp>
      <p:sp>
        <p:nvSpPr>
          <p:cNvPr id="5734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0C3BC9B-E143-474D-9540-3ABF1CF0766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73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0C3CAFF-D3D4-4FA7-9576-4923D9707CB4}" type="slidenum">
              <a:rPr lang="zh-CN" altLang="en-US"/>
              <a:pPr eaLnBrk="1" hangingPunct="1"/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6324600" cy="609600"/>
          </a:xfrm>
        </p:spPr>
        <p:txBody>
          <a:bodyPr/>
          <a:lstStyle/>
          <a:p>
            <a:r>
              <a:rPr lang="zh-CN" altLang="en-US" sz="36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数组元素地址计算-按行存放</a:t>
            </a:r>
            <a:endParaRPr lang="en-US" altLang="zh-CN" sz="20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4237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328738"/>
            <a:ext cx="8785225" cy="4764087"/>
          </a:xfrm>
        </p:spPr>
        <p:txBody>
          <a:bodyPr/>
          <a:lstStyle/>
          <a:p>
            <a:pPr algn="ctr">
              <a:spcBef>
                <a:spcPct val="80000"/>
              </a:spcBef>
              <a:buFont typeface="Wingdings" pitchFamily="2" charset="2"/>
              <a:buNone/>
            </a:pPr>
            <a:r>
              <a:rPr lang="zh-CN" altLang="en-US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寻找计算规律</a:t>
            </a:r>
            <a:endParaRPr lang="en-US" altLang="zh-CN" b="1" smtClean="0">
              <a:solidFill>
                <a:srgbClr val="CC0066"/>
              </a:solidFill>
              <a:latin typeface="Times New Roman" pitchFamily="18" charset="0"/>
              <a:ea typeface="华文新魏" pitchFamily="2" charset="-122"/>
            </a:endParaRPr>
          </a:p>
          <a:p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=up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-low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+1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一维数组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]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      Addr(A[i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])=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*w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二维数组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]~A[i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]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Addr(A[i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])=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  <a:p>
            <a:pPr>
              <a:spcBef>
                <a:spcPct val="5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三维数组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A[low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 low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:up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]~A[i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Addr(A[i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])=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+((i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 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+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)*n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+i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)*w</a:t>
            </a:r>
          </a:p>
        </p:txBody>
      </p:sp>
      <p:sp>
        <p:nvSpPr>
          <p:cNvPr id="583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70FF613-4B08-4F0D-8FB2-5A6707B589D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83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B41EDF6-FA48-42E9-BFB0-DFB95F364299}" type="slidenum">
              <a:rPr lang="zh-CN" altLang="en-US"/>
              <a:pPr eaLnBrk="1" hangingPunct="1"/>
              <a:t>40</a:t>
            </a:fld>
            <a:endParaRPr lang="en-US" altLang="zh-CN"/>
          </a:p>
        </p:txBody>
      </p:sp>
      <p:graphicFrame>
        <p:nvGraphicFramePr>
          <p:cNvPr id="58404" name="Group 36"/>
          <p:cNvGraphicFramePr>
            <a:graphicFrameLocks noGrp="1"/>
          </p:cNvGraphicFramePr>
          <p:nvPr/>
        </p:nvGraphicFramePr>
        <p:xfrm>
          <a:off x="7019925" y="404813"/>
          <a:ext cx="2124075" cy="2906713"/>
        </p:xfrm>
        <a:graphic>
          <a:graphicData uri="http://schemas.openxmlformats.org/drawingml/2006/table">
            <a:tbl>
              <a:tblPr/>
              <a:tblGrid>
                <a:gridCol w="788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low</a:t>
                      </a:r>
                      <a:r>
                        <a:rPr kumimoji="0" lang="en-US" altLang="zh-CN" sz="22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up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908050"/>
            <a:ext cx="7793037" cy="768350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属性设置</a:t>
            </a:r>
          </a:p>
        </p:txBody>
      </p:sp>
      <p:sp>
        <p:nvSpPr>
          <p:cNvPr id="476164" name="Text Box 4"/>
          <p:cNvSpPr txBox="1">
            <a:spLocks noGrp="1" noChangeArrowheads="1"/>
          </p:cNvSpPr>
          <p:nvPr>
            <p:ph idx="1"/>
          </p:nvPr>
        </p:nvSpPr>
        <p:spPr>
          <a:xfrm>
            <a:off x="755650" y="2017713"/>
            <a:ext cx="8199438" cy="41148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id[E</a:t>
            </a:r>
            <a:r>
              <a:rPr kumimoji="1"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,E</a:t>
            </a:r>
            <a:r>
              <a:rPr kumimoji="1"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,…,E</a:t>
            </a:r>
            <a:r>
              <a:rPr kumimoji="1"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]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S→L:=E 	 L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.place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L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.offset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.place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E→L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L→id      	id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.place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L→Elist]	Elist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.place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.ndim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Elist→id[E 	Elist</a:t>
            </a:r>
            <a:r>
              <a:rPr kumimoji="1" lang="en-US" altLang="zh-CN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.array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初值</a:t>
            </a:r>
          </a:p>
          <a:p>
            <a:pPr>
              <a:defRPr/>
            </a:pP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Elist→Elist</a:t>
            </a:r>
            <a:r>
              <a:rPr kumimoji="1" lang="en-US" altLang="zh-CN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,E 		    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累进</a:t>
            </a:r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257204E-6422-4909-85BC-E2CFB79CAAD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593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5C3C39-C157-482E-9CE0-F445B9316489}" type="slidenum">
              <a:rPr lang="zh-CN" altLang="en-US"/>
              <a:pPr eaLnBrk="1" hangingPunct="1"/>
              <a:t>41</a:t>
            </a:fld>
            <a:endParaRPr lang="en-US" altLang="zh-CN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935038" y="271463"/>
            <a:ext cx="7453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Addr(A[i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,i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r>
              <a:rPr lang="en-US" altLang="zh-CN" sz="3200" b="1">
                <a:latin typeface="Times New Roman" pitchFamily="18" charset="0"/>
              </a:rPr>
              <a:t>,i</a:t>
            </a:r>
            <a:r>
              <a:rPr lang="en-US" altLang="zh-CN" sz="3200" b="1" baseline="-25000">
                <a:latin typeface="Times New Roman" pitchFamily="18" charset="0"/>
              </a:rPr>
              <a:t>3</a:t>
            </a:r>
            <a:r>
              <a:rPr lang="en-US" altLang="zh-CN" sz="3200" b="1">
                <a:latin typeface="Times New Roman" pitchFamily="18" charset="0"/>
              </a:rPr>
              <a:t>])=</a:t>
            </a: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altLang="zh-CN" sz="3200" b="1">
                <a:latin typeface="Times New Roman" pitchFamily="18" charset="0"/>
              </a:rPr>
              <a:t>+((i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 * n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r>
              <a:rPr lang="en-US" altLang="zh-CN" sz="3200" b="1">
                <a:latin typeface="Times New Roman" pitchFamily="18" charset="0"/>
              </a:rPr>
              <a:t> + i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r>
              <a:rPr lang="en-US" altLang="zh-CN" sz="3200" b="1">
                <a:latin typeface="Times New Roman" pitchFamily="18" charset="0"/>
              </a:rPr>
              <a:t>)*n</a:t>
            </a:r>
            <a:r>
              <a:rPr lang="en-US" altLang="zh-CN" sz="3200" b="1" baseline="-25000">
                <a:latin typeface="Times New Roman" pitchFamily="18" charset="0"/>
              </a:rPr>
              <a:t>3</a:t>
            </a:r>
            <a:r>
              <a:rPr lang="en-US" altLang="zh-CN" sz="3200" b="1">
                <a:latin typeface="Times New Roman" pitchFamily="18" charset="0"/>
              </a:rPr>
              <a:t>+i</a:t>
            </a:r>
            <a:r>
              <a:rPr lang="en-US" altLang="zh-CN" sz="3200" b="1" baseline="-25000">
                <a:latin typeface="Times New Roman" pitchFamily="18" charset="0"/>
              </a:rPr>
              <a:t>3</a:t>
            </a:r>
            <a:r>
              <a:rPr lang="en-US" altLang="zh-CN" sz="3200" b="1">
                <a:latin typeface="Times New Roman" pitchFamily="18" charset="0"/>
              </a:rPr>
              <a:t>)*w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476166" name="Freeform 6"/>
          <p:cNvSpPr>
            <a:spLocks/>
          </p:cNvSpPr>
          <p:nvPr/>
        </p:nvSpPr>
        <p:spPr bwMode="auto">
          <a:xfrm>
            <a:off x="5508625" y="765175"/>
            <a:ext cx="863600" cy="3816350"/>
          </a:xfrm>
          <a:custGeom>
            <a:avLst/>
            <a:gdLst>
              <a:gd name="T0" fmla="*/ 0 w 499"/>
              <a:gd name="T1" fmla="*/ 0 h 2404"/>
              <a:gd name="T2" fmla="*/ 91 w 499"/>
              <a:gd name="T3" fmla="*/ 998 h 2404"/>
              <a:gd name="T4" fmla="*/ 499 w 499"/>
              <a:gd name="T5" fmla="*/ 2404 h 2404"/>
              <a:gd name="T6" fmla="*/ 0 60000 65536"/>
              <a:gd name="T7" fmla="*/ 0 60000 65536"/>
              <a:gd name="T8" fmla="*/ 0 60000 65536"/>
              <a:gd name="T9" fmla="*/ 0 w 499"/>
              <a:gd name="T10" fmla="*/ 0 h 2404"/>
              <a:gd name="T11" fmla="*/ 499 w 499"/>
              <a:gd name="T12" fmla="*/ 2404 h 24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9" h="2404">
                <a:moveTo>
                  <a:pt x="0" y="0"/>
                </a:moveTo>
                <a:cubicBezTo>
                  <a:pt x="4" y="298"/>
                  <a:pt x="8" y="597"/>
                  <a:pt x="91" y="998"/>
                </a:cubicBezTo>
                <a:cubicBezTo>
                  <a:pt x="174" y="1399"/>
                  <a:pt x="336" y="1901"/>
                  <a:pt x="499" y="2404"/>
                </a:cubicBezTo>
              </a:path>
            </a:pathLst>
          </a:custGeom>
          <a:noFill/>
          <a:ln w="38100">
            <a:solidFill>
              <a:srgbClr val="00966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6167" name="Freeform 7"/>
          <p:cNvSpPr>
            <a:spLocks/>
          </p:cNvSpPr>
          <p:nvPr/>
        </p:nvSpPr>
        <p:spPr bwMode="auto">
          <a:xfrm>
            <a:off x="6443663" y="692150"/>
            <a:ext cx="360362" cy="3889375"/>
          </a:xfrm>
          <a:custGeom>
            <a:avLst/>
            <a:gdLst>
              <a:gd name="T0" fmla="*/ 0 w 635"/>
              <a:gd name="T1" fmla="*/ 2404 h 2404"/>
              <a:gd name="T2" fmla="*/ 544 w 635"/>
              <a:gd name="T3" fmla="*/ 998 h 2404"/>
              <a:gd name="T4" fmla="*/ 544 w 635"/>
              <a:gd name="T5" fmla="*/ 0 h 2404"/>
              <a:gd name="T6" fmla="*/ 0 60000 65536"/>
              <a:gd name="T7" fmla="*/ 0 60000 65536"/>
              <a:gd name="T8" fmla="*/ 0 60000 65536"/>
              <a:gd name="T9" fmla="*/ 0 w 635"/>
              <a:gd name="T10" fmla="*/ 0 h 2404"/>
              <a:gd name="T11" fmla="*/ 635 w 635"/>
              <a:gd name="T12" fmla="*/ 2404 h 24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35" h="2404">
                <a:moveTo>
                  <a:pt x="0" y="2404"/>
                </a:moveTo>
                <a:cubicBezTo>
                  <a:pt x="226" y="1901"/>
                  <a:pt x="453" y="1399"/>
                  <a:pt x="544" y="998"/>
                </a:cubicBezTo>
                <a:cubicBezTo>
                  <a:pt x="635" y="597"/>
                  <a:pt x="589" y="298"/>
                  <a:pt x="544" y="0"/>
                </a:cubicBezTo>
              </a:path>
            </a:pathLst>
          </a:custGeom>
          <a:noFill/>
          <a:ln w="38100">
            <a:solidFill>
              <a:srgbClr val="00966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6168" name="Freeform 8"/>
          <p:cNvSpPr>
            <a:spLocks/>
          </p:cNvSpPr>
          <p:nvPr/>
        </p:nvSpPr>
        <p:spPr bwMode="auto">
          <a:xfrm>
            <a:off x="4211638" y="836613"/>
            <a:ext cx="3168650" cy="3671887"/>
          </a:xfrm>
          <a:custGeom>
            <a:avLst/>
            <a:gdLst>
              <a:gd name="T0" fmla="*/ 2570 w 2570"/>
              <a:gd name="T1" fmla="*/ 91 h 2359"/>
              <a:gd name="T2" fmla="*/ 393 w 2570"/>
              <a:gd name="T3" fmla="*/ 91 h 2359"/>
              <a:gd name="T4" fmla="*/ 212 w 2570"/>
              <a:gd name="T5" fmla="*/ 636 h 2359"/>
              <a:gd name="T6" fmla="*/ 484 w 2570"/>
              <a:gd name="T7" fmla="*/ 2359 h 2359"/>
              <a:gd name="T8" fmla="*/ 0 60000 65536"/>
              <a:gd name="T9" fmla="*/ 0 60000 65536"/>
              <a:gd name="T10" fmla="*/ 0 60000 65536"/>
              <a:gd name="T11" fmla="*/ 0 60000 65536"/>
              <a:gd name="T12" fmla="*/ 0 w 2570"/>
              <a:gd name="T13" fmla="*/ 0 h 2359"/>
              <a:gd name="T14" fmla="*/ 2570 w 2570"/>
              <a:gd name="T15" fmla="*/ 2359 h 2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70" h="2359">
                <a:moveTo>
                  <a:pt x="2570" y="91"/>
                </a:moveTo>
                <a:cubicBezTo>
                  <a:pt x="1678" y="45"/>
                  <a:pt x="786" y="0"/>
                  <a:pt x="393" y="91"/>
                </a:cubicBezTo>
                <a:cubicBezTo>
                  <a:pt x="0" y="182"/>
                  <a:pt x="197" y="258"/>
                  <a:pt x="212" y="636"/>
                </a:cubicBezTo>
                <a:cubicBezTo>
                  <a:pt x="227" y="1014"/>
                  <a:pt x="355" y="1686"/>
                  <a:pt x="484" y="2359"/>
                </a:cubicBezTo>
              </a:path>
            </a:pathLst>
          </a:custGeom>
          <a:noFill/>
          <a:ln w="38100">
            <a:solidFill>
              <a:srgbClr val="00966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6169" name="Freeform 9"/>
          <p:cNvSpPr>
            <a:spLocks/>
          </p:cNvSpPr>
          <p:nvPr/>
        </p:nvSpPr>
        <p:spPr bwMode="auto">
          <a:xfrm>
            <a:off x="3851275" y="692150"/>
            <a:ext cx="433388" cy="2089150"/>
          </a:xfrm>
          <a:custGeom>
            <a:avLst/>
            <a:gdLst>
              <a:gd name="T0" fmla="*/ 0 w 2358"/>
              <a:gd name="T1" fmla="*/ 15 h 1285"/>
              <a:gd name="T2" fmla="*/ 1859 w 2358"/>
              <a:gd name="T3" fmla="*/ 60 h 1285"/>
              <a:gd name="T4" fmla="*/ 2267 w 2358"/>
              <a:gd name="T5" fmla="*/ 378 h 1285"/>
              <a:gd name="T6" fmla="*/ 2358 w 2358"/>
              <a:gd name="T7" fmla="*/ 1285 h 1285"/>
              <a:gd name="T8" fmla="*/ 0 60000 65536"/>
              <a:gd name="T9" fmla="*/ 0 60000 65536"/>
              <a:gd name="T10" fmla="*/ 0 60000 65536"/>
              <a:gd name="T11" fmla="*/ 0 60000 65536"/>
              <a:gd name="T12" fmla="*/ 0 w 2358"/>
              <a:gd name="T13" fmla="*/ 0 h 1285"/>
              <a:gd name="T14" fmla="*/ 2358 w 2358"/>
              <a:gd name="T15" fmla="*/ 1285 h 12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58" h="1285">
                <a:moveTo>
                  <a:pt x="0" y="15"/>
                </a:moveTo>
                <a:cubicBezTo>
                  <a:pt x="740" y="7"/>
                  <a:pt x="1481" y="0"/>
                  <a:pt x="1859" y="60"/>
                </a:cubicBezTo>
                <a:cubicBezTo>
                  <a:pt x="2237" y="120"/>
                  <a:pt x="2184" y="174"/>
                  <a:pt x="2267" y="378"/>
                </a:cubicBezTo>
                <a:cubicBezTo>
                  <a:pt x="2350" y="582"/>
                  <a:pt x="2354" y="933"/>
                  <a:pt x="2358" y="1285"/>
                </a:cubicBezTo>
              </a:path>
            </a:pathLst>
          </a:custGeom>
          <a:noFill/>
          <a:ln w="38100">
            <a:solidFill>
              <a:srgbClr val="00966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6170" name="Freeform 10"/>
          <p:cNvSpPr>
            <a:spLocks/>
          </p:cNvSpPr>
          <p:nvPr/>
        </p:nvSpPr>
        <p:spPr bwMode="auto">
          <a:xfrm>
            <a:off x="4716463" y="800100"/>
            <a:ext cx="3527425" cy="1908175"/>
          </a:xfrm>
          <a:custGeom>
            <a:avLst/>
            <a:gdLst>
              <a:gd name="T0" fmla="*/ 0 w 2827"/>
              <a:gd name="T1" fmla="*/ 23 h 1202"/>
              <a:gd name="T2" fmla="*/ 2177 w 2827"/>
              <a:gd name="T3" fmla="*/ 23 h 1202"/>
              <a:gd name="T4" fmla="*/ 2585 w 2827"/>
              <a:gd name="T5" fmla="*/ 159 h 1202"/>
              <a:gd name="T6" fmla="*/ 2585 w 2827"/>
              <a:gd name="T7" fmla="*/ 477 h 1202"/>
              <a:gd name="T8" fmla="*/ 1134 w 2827"/>
              <a:gd name="T9" fmla="*/ 1202 h 12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27"/>
              <a:gd name="T16" fmla="*/ 0 h 1202"/>
              <a:gd name="T17" fmla="*/ 2827 w 2827"/>
              <a:gd name="T18" fmla="*/ 1202 h 12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27" h="1202">
                <a:moveTo>
                  <a:pt x="0" y="23"/>
                </a:moveTo>
                <a:cubicBezTo>
                  <a:pt x="873" y="11"/>
                  <a:pt x="1746" y="0"/>
                  <a:pt x="2177" y="23"/>
                </a:cubicBezTo>
                <a:cubicBezTo>
                  <a:pt x="2608" y="46"/>
                  <a:pt x="2517" y="83"/>
                  <a:pt x="2585" y="159"/>
                </a:cubicBezTo>
                <a:cubicBezTo>
                  <a:pt x="2653" y="235"/>
                  <a:pt x="2827" y="303"/>
                  <a:pt x="2585" y="477"/>
                </a:cubicBezTo>
                <a:cubicBezTo>
                  <a:pt x="2343" y="651"/>
                  <a:pt x="1738" y="926"/>
                  <a:pt x="1134" y="1202"/>
                </a:cubicBezTo>
              </a:path>
            </a:pathLst>
          </a:custGeom>
          <a:noFill/>
          <a:ln w="38100">
            <a:solidFill>
              <a:srgbClr val="CC0066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ext Box 2"/>
          <p:cNvSpPr txBox="1">
            <a:spLocks noChangeArrowheads="1"/>
          </p:cNvSpPr>
          <p:nvPr/>
        </p:nvSpPr>
        <p:spPr bwMode="auto">
          <a:xfrm>
            <a:off x="304800" y="765175"/>
            <a:ext cx="845820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id[E</a:t>
            </a:r>
            <a:r>
              <a:rPr kumimoji="1" lang="en-US" altLang="zh-CN" sz="28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,E</a:t>
            </a:r>
            <a:r>
              <a:rPr kumimoji="1" lang="en-US" altLang="zh-CN" sz="28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,…,E</a:t>
            </a:r>
            <a:r>
              <a:rPr kumimoji="1" lang="en-US" altLang="zh-CN" sz="28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k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](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P270</a:t>
            </a:r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中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L=left</a:t>
            </a:r>
            <a:r>
              <a:rPr kumimoji="1" lang="zh-CN" altLang="en-US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place=addr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  <a:endParaRPr kumimoji="1" lang="en-US" altLang="zh-CN" sz="20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539750" y="96838"/>
            <a:ext cx="8175625" cy="457200"/>
          </a:xfrm>
          <a:prstGeom prst="rect">
            <a:avLst/>
          </a:prstGeom>
          <a:solidFill>
            <a:srgbClr val="CC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Addr(A[E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,E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,….E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k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])=c+(((E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*n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+ 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)*n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3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+ …E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k-1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) *n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k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+E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k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)*w</a:t>
            </a:r>
            <a:endParaRPr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04800" y="1501775"/>
            <a:ext cx="2106613" cy="4400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S→L:=E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endParaRPr kumimoji="1" lang="en-US" altLang="zh-CN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E→L      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</a:t>
            </a:r>
            <a:endParaRPr kumimoji="1" lang="en-US" altLang="zh-CN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L→id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L→Elist]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</a:t>
            </a: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Elist→id[E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endParaRPr kumimoji="1" lang="en-US" altLang="zh-CN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Elist→Elist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,E		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04800" y="1501775"/>
            <a:ext cx="8458200" cy="5240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S→L:=E 	{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if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L.offset=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null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then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(L.place’:=’E.place)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else 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(L.place[L.offset]’:=’E.place}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E→L       	{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if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L.offset=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null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then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E.place:=L.place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else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{E.place:=newtemp; 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(E.place’:=’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L.place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[L.offset]}}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L→id      	{L.place:=id.place; L.offset:=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null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}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L→Elist] 	{L.place:=newtemp;  L.offset:=newtemp;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(L.place’:=’</a:t>
            </a:r>
            <a:r>
              <a:rPr kumimoji="1" lang="en-US" altLang="zh-CN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);  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(L.offset’:=’Elist.place*w)}</a:t>
            </a:r>
            <a:r>
              <a:rPr kumimoji="1" lang="en-US" altLang="zh-CN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Elist→id[E	{Elist.place:=E.place;Elist.ndim:=1;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Elist.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array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:=id.place}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Elist→Elist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,E{t:=newtemp; m:=Elist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.ndim+1;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(t’:=’Elist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.place’*’limit(Elist.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array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,m);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</a:t>
            </a:r>
            <a:r>
              <a:rPr kumimoji="1" lang="en-US" altLang="zh-CN" sz="2400" b="1">
                <a:solidFill>
                  <a:srgbClr val="00966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gen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(t’:=’t’+’E.place);   Elist.array:=Elist</a:t>
            </a:r>
            <a:r>
              <a:rPr kumimoji="1" lang="en-US" altLang="zh-CN" sz="24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.array;</a:t>
            </a:r>
          </a:p>
          <a:p>
            <a:pPr>
              <a:spcBef>
                <a:spcPct val="10000"/>
              </a:spcBef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Elist.place:=t;   Elist.ndim:=m}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-100013"/>
            <a:ext cx="7793038" cy="1462088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记录说明的翻译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268413"/>
            <a:ext cx="4176712" cy="45370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空间分配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设置首地址和各元素的相对地址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对齐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: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大于所需的空间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例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struct node {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float x, y;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char  a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struct node *next;</a:t>
            </a: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} node; </a:t>
            </a:r>
          </a:p>
        </p:txBody>
      </p:sp>
      <p:graphicFrame>
        <p:nvGraphicFramePr>
          <p:cNvPr id="315469" name="Group 77"/>
          <p:cNvGraphicFramePr>
            <a:graphicFrameLocks noGrp="1"/>
          </p:cNvGraphicFramePr>
          <p:nvPr>
            <p:ph sz="half" idx="2"/>
          </p:nvPr>
        </p:nvGraphicFramePr>
        <p:xfrm>
          <a:off x="6227763" y="2276475"/>
          <a:ext cx="1368425" cy="436245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1473" name="日期占位符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3AB1051-AE27-439E-9289-BFA6E5B3807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147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5DD231C-A6F0-4DB2-99C8-5005A0C08804}" type="slidenum">
              <a:rPr lang="zh-CN" altLang="en-US"/>
              <a:pPr eaLnBrk="1" hangingPunct="1"/>
              <a:t>43</a:t>
            </a:fld>
            <a:endParaRPr lang="en-US" altLang="zh-CN"/>
          </a:p>
        </p:txBody>
      </p:sp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5940425" y="220503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000" b="1">
                <a:latin typeface="Times New Roman" pitchFamily="18" charset="0"/>
              </a:rPr>
              <a:t>0</a:t>
            </a:r>
          </a:p>
        </p:txBody>
      </p:sp>
      <p:sp>
        <p:nvSpPr>
          <p:cNvPr id="315398" name="Text Box 6"/>
          <p:cNvSpPr txBox="1">
            <a:spLocks noChangeArrowheads="1"/>
          </p:cNvSpPr>
          <p:nvPr/>
        </p:nvSpPr>
        <p:spPr bwMode="auto">
          <a:xfrm>
            <a:off x="5927725" y="36433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000" b="1">
                <a:latin typeface="Times New Roman" pitchFamily="18" charset="0"/>
              </a:rPr>
              <a:t>8</a:t>
            </a:r>
          </a:p>
        </p:txBody>
      </p:sp>
      <p:sp>
        <p:nvSpPr>
          <p:cNvPr id="315399" name="Text Box 7"/>
          <p:cNvSpPr txBox="1">
            <a:spLocks noChangeArrowheads="1"/>
          </p:cNvSpPr>
          <p:nvPr/>
        </p:nvSpPr>
        <p:spPr bwMode="auto">
          <a:xfrm>
            <a:off x="5789613" y="4903788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000" b="1">
                <a:latin typeface="Times New Roman" pitchFamily="18" charset="0"/>
              </a:rPr>
              <a:t>16</a:t>
            </a:r>
          </a:p>
        </p:txBody>
      </p:sp>
      <p:sp>
        <p:nvSpPr>
          <p:cNvPr id="315435" name="Text Box 43"/>
          <p:cNvSpPr txBox="1">
            <a:spLocks noChangeArrowheads="1"/>
          </p:cNvSpPr>
          <p:nvPr/>
        </p:nvSpPr>
        <p:spPr bwMode="auto">
          <a:xfrm>
            <a:off x="5789613" y="55530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000" b="1">
                <a:latin typeface="Times New Roman" pitchFamily="18" charset="0"/>
              </a:rPr>
              <a:t>18</a:t>
            </a:r>
          </a:p>
        </p:txBody>
      </p:sp>
      <p:sp>
        <p:nvSpPr>
          <p:cNvPr id="61480" name="Text Box 40"/>
          <p:cNvSpPr txBox="1">
            <a:spLocks noChangeArrowheads="1"/>
          </p:cNvSpPr>
          <p:nvPr/>
        </p:nvSpPr>
        <p:spPr bwMode="auto">
          <a:xfrm>
            <a:off x="5867400" y="1268413"/>
            <a:ext cx="23764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float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8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个字节</a:t>
            </a:r>
          </a:p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char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个字节</a:t>
            </a:r>
          </a:p>
        </p:txBody>
      </p:sp>
      <p:sp>
        <p:nvSpPr>
          <p:cNvPr id="61481" name="Rectangle 41"/>
          <p:cNvSpPr>
            <a:spLocks noChangeArrowheads="1"/>
          </p:cNvSpPr>
          <p:nvPr/>
        </p:nvSpPr>
        <p:spPr bwMode="auto">
          <a:xfrm>
            <a:off x="6659563" y="2276475"/>
            <a:ext cx="311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b="1">
                <a:latin typeface="Times New Roman" pitchFamily="18" charset="0"/>
              </a:rPr>
              <a:t>x</a:t>
            </a:r>
          </a:p>
        </p:txBody>
      </p:sp>
      <p:sp>
        <p:nvSpPr>
          <p:cNvPr id="61482" name="Rectangle 42"/>
          <p:cNvSpPr>
            <a:spLocks noChangeArrowheads="1"/>
          </p:cNvSpPr>
          <p:nvPr/>
        </p:nvSpPr>
        <p:spPr bwMode="auto">
          <a:xfrm>
            <a:off x="6732588" y="3573463"/>
            <a:ext cx="311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b="1">
                <a:latin typeface="Times New Roman" pitchFamily="18" charset="0"/>
              </a:rPr>
              <a:t>y</a:t>
            </a:r>
          </a:p>
        </p:txBody>
      </p:sp>
      <p:sp>
        <p:nvSpPr>
          <p:cNvPr id="61483" name="Rectangle 43"/>
          <p:cNvSpPr>
            <a:spLocks noChangeArrowheads="1"/>
          </p:cNvSpPr>
          <p:nvPr/>
        </p:nvSpPr>
        <p:spPr bwMode="auto">
          <a:xfrm>
            <a:off x="6732588" y="4941888"/>
            <a:ext cx="311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b="1">
                <a:latin typeface="Times New Roman" pitchFamily="18" charset="0"/>
              </a:rPr>
              <a:t>a</a:t>
            </a:r>
          </a:p>
        </p:txBody>
      </p:sp>
      <p:sp>
        <p:nvSpPr>
          <p:cNvPr id="61484" name="Rectangle 44"/>
          <p:cNvSpPr>
            <a:spLocks noChangeArrowheads="1"/>
          </p:cNvSpPr>
          <p:nvPr/>
        </p:nvSpPr>
        <p:spPr bwMode="auto">
          <a:xfrm>
            <a:off x="6516688" y="5589588"/>
            <a:ext cx="6492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b="1">
                <a:latin typeface="Times New Roman" pitchFamily="18" charset="0"/>
              </a:rPr>
              <a:t>next</a:t>
            </a:r>
            <a:endParaRPr lang="zh-CN" altLang="en-US" sz="20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333375"/>
            <a:ext cx="6264275" cy="83502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记录说明的翻译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833563"/>
            <a:ext cx="7770813" cy="4691062"/>
          </a:xfrm>
        </p:spPr>
        <p:txBody>
          <a:bodyPr lIns="92075" tIns="46038" rIns="92075" bIns="46038"/>
          <a:lstStyle/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符号表及有关表格处理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各元素的名字、类型、字节数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生成代码，完成元素的相对地址的计算</a:t>
            </a:r>
          </a:p>
          <a:p>
            <a:pPr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目标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y := x[i]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x[i] := y </a:t>
            </a:r>
          </a:p>
          <a:p>
            <a:pPr lvl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是结构名，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是相对地址</a:t>
            </a:r>
          </a:p>
          <a:p>
            <a:pPr lvl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间接地址问题： *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x = y </a:t>
            </a:r>
          </a:p>
        </p:txBody>
      </p:sp>
      <p:sp>
        <p:nvSpPr>
          <p:cNvPr id="624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2E87DEE-D35A-4E00-A75F-666A746FB24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24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560F7B-4418-434E-8085-BD23872EEBC7}" type="slidenum">
              <a:rPr lang="zh-CN" altLang="en-US"/>
              <a:pPr eaLnBrk="1" hangingPunct="1"/>
              <a:t>44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549275"/>
            <a:ext cx="6048375" cy="11430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7.4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赋值语句的翻译</a:t>
            </a:r>
            <a:endParaRPr lang="zh-CN" altLang="en-US" sz="40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916113"/>
            <a:ext cx="6951662" cy="4114800"/>
          </a:xfrm>
        </p:spPr>
        <p:txBody>
          <a:bodyPr/>
          <a:lstStyle/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翻译的一般需求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源：充分了解各种语法成分的语义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包括：控制结构、数据结构、单词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充分了解它们的实现方法</a:t>
            </a:r>
          </a:p>
          <a:p>
            <a:pPr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目：目标语言的语义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了解中间代码的语义</a:t>
            </a:r>
          </a:p>
          <a:p>
            <a:pPr lvl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了解运行环境</a:t>
            </a:r>
          </a:p>
        </p:txBody>
      </p:sp>
      <p:sp>
        <p:nvSpPr>
          <p:cNvPr id="634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8465CA-65F2-43B8-9D3D-53C090300C8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34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AC76954-7C60-457A-8099-ADBF7EC5211D}" type="slidenum">
              <a:rPr lang="zh-CN" altLang="en-US"/>
              <a:pPr eaLnBrk="1" hangingPunct="1"/>
              <a:t>45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6448425" cy="11430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赋值语句翻译的实现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73238"/>
            <a:ext cx="7772400" cy="40370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基本子程序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继续用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gen(gencode)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产生一条中间代码 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继续用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newtemp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申请新的临时变量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属性设置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继续用属性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code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表示中间代码序列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继续用属性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place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表示存储位置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45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81E4BEC-10B3-4B81-B53F-C5CE7AF3675C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45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5881E23-2B52-41EF-8642-D782BB084AEB}" type="slidenum">
              <a:rPr lang="zh-CN" altLang="en-US"/>
              <a:pPr eaLnBrk="1" hangingPunct="1"/>
              <a:t>46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15888"/>
            <a:ext cx="7793037" cy="1350962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赋值语句翻译的实现</a:t>
            </a:r>
            <a:b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			</a:t>
            </a:r>
            <a:r>
              <a:rPr lang="en-US" altLang="zh-CN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生成三地址码的属性文法</a:t>
            </a:r>
          </a:p>
        </p:txBody>
      </p:sp>
      <p:sp>
        <p:nvSpPr>
          <p:cNvPr id="65539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71C20FB-AF58-41E9-9971-8FE6C5517BA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55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9C1390-2512-4B0E-97C2-4D7612AA2FEF}" type="slidenum">
              <a:rPr lang="zh-CN" altLang="en-US"/>
              <a:pPr eaLnBrk="1" hangingPunct="1"/>
              <a:t>47</a:t>
            </a:fld>
            <a:endParaRPr lang="en-US" altLang="zh-CN"/>
          </a:p>
        </p:txBody>
      </p:sp>
      <p:graphicFrame>
        <p:nvGraphicFramePr>
          <p:cNvPr id="491523" name="Group 3"/>
          <p:cNvGraphicFramePr>
            <a:graphicFrameLocks noGrp="1"/>
          </p:cNvGraphicFramePr>
          <p:nvPr/>
        </p:nvGraphicFramePr>
        <p:xfrm>
          <a:off x="250825" y="1411288"/>
          <a:ext cx="8569325" cy="4962526"/>
        </p:xfrm>
        <a:graphic>
          <a:graphicData uri="http://schemas.openxmlformats.org/drawingml/2006/table">
            <a:tbl>
              <a:tblPr/>
              <a:tblGrid>
                <a:gridCol w="1585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3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产生式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语义规则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S→id:=E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-E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(E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id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E→ num 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91552" name="Rectangle 32"/>
          <p:cNvSpPr>
            <a:spLocks noChangeArrowheads="1"/>
          </p:cNvSpPr>
          <p:nvPr/>
        </p:nvSpPr>
        <p:spPr bwMode="auto">
          <a:xfrm>
            <a:off x="1979613" y="1900238"/>
            <a:ext cx="6048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S.code:=E.code||gen(id.place’:=’E.place)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91553" name="Rectangle 33"/>
          <p:cNvSpPr>
            <a:spLocks noChangeArrowheads="1"/>
          </p:cNvSpPr>
          <p:nvPr/>
        </p:nvSpPr>
        <p:spPr bwMode="auto">
          <a:xfrm>
            <a:off x="1908175" y="2339975"/>
            <a:ext cx="66246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E.place:=newtemp;E.code :=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.code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||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gen(E.place’:=’E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.place’+’ E</a:t>
            </a:r>
            <a:r>
              <a:rPr lang="en-US" altLang="zh-CN" sz="2400" b="1" baseline="-2500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楷体_GB2312" pitchFamily="49" charset="-122"/>
              </a:rPr>
              <a:t>.place)</a:t>
            </a:r>
            <a:endParaRPr lang="zh-CN" altLang="en-US" sz="2400" b="1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91554" name="Rectangle 34"/>
          <p:cNvSpPr>
            <a:spLocks noChangeArrowheads="1"/>
          </p:cNvSpPr>
          <p:nvPr/>
        </p:nvSpPr>
        <p:spPr bwMode="auto">
          <a:xfrm>
            <a:off x="1908175" y="3121025"/>
            <a:ext cx="67675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E.place:=newtemp;E.code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gen(E.place’:=’E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.place’*’ E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.place)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91555" name="Rectangle 35"/>
          <p:cNvSpPr>
            <a:spLocks noChangeArrowheads="1"/>
          </p:cNvSpPr>
          <p:nvPr/>
        </p:nvSpPr>
        <p:spPr bwMode="auto">
          <a:xfrm>
            <a:off x="1892300" y="4005263"/>
            <a:ext cx="7251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E.place:=newtemp;   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 || 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latin typeface="Times New Roman" pitchFamily="18" charset="0"/>
              </a:rPr>
              <a:t>gen(E.place’:=’’uminus’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.place)</a:t>
            </a:r>
            <a:r>
              <a:rPr lang="en-US" altLang="zh-CN" sz="1200" b="1">
                <a:solidFill>
                  <a:schemeClr val="hlink"/>
                </a:solidFill>
                <a:latin typeface="Times New Roman" pitchFamily="18" charset="0"/>
              </a:rPr>
              <a:t>/ </a:t>
            </a:r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gen(E.place':=0-'E</a:t>
            </a:r>
            <a:r>
              <a:rPr kumimoji="1" lang="en-US" altLang="zh-CN" sz="1600" b="1" baseline="-25000">
                <a:solidFill>
                  <a:schemeClr val="hlink"/>
                </a:solidFill>
                <a:latin typeface="Times New Roman" pitchFamily="18" charset="0"/>
              </a:rPr>
              <a:t>1</a:t>
            </a:r>
            <a:r>
              <a:rPr kumimoji="1" lang="en-US" altLang="zh-CN" sz="1600" b="1">
                <a:solidFill>
                  <a:schemeClr val="hlink"/>
                </a:solidFill>
                <a:latin typeface="Times New Roman" pitchFamily="18" charset="0"/>
              </a:rPr>
              <a:t>.place)</a:t>
            </a:r>
            <a:r>
              <a:rPr kumimoji="1" lang="en-US" altLang="zh-CN" sz="1600">
                <a:solidFill>
                  <a:schemeClr val="hlink"/>
                </a:solidFill>
                <a:latin typeface="Times New Roman" pitchFamily="18" charset="0"/>
              </a:rPr>
              <a:t> </a:t>
            </a:r>
            <a:endParaRPr kumimoji="1" lang="zh-CN" altLang="en-US" sz="160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491556" name="Rectangle 36"/>
          <p:cNvSpPr>
            <a:spLocks noChangeArrowheads="1"/>
          </p:cNvSpPr>
          <p:nvPr/>
        </p:nvSpPr>
        <p:spPr bwMode="auto">
          <a:xfrm>
            <a:off x="1908175" y="4854575"/>
            <a:ext cx="5688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.place;    E.code := E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.code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91557" name="Rectangle 37"/>
          <p:cNvSpPr>
            <a:spLocks noChangeArrowheads="1"/>
          </p:cNvSpPr>
          <p:nvPr/>
        </p:nvSpPr>
        <p:spPr bwMode="auto">
          <a:xfrm>
            <a:off x="1908175" y="5327650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id.place;   E.code := ‘’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491558" name="Rectangle 38"/>
          <p:cNvSpPr>
            <a:spLocks noChangeArrowheads="1"/>
          </p:cNvSpPr>
          <p:nvPr/>
        </p:nvSpPr>
        <p:spPr bwMode="auto">
          <a:xfrm>
            <a:off x="1908175" y="5843588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E.place:= num.val;   E.code := ‘’</a:t>
            </a:r>
            <a:endParaRPr lang="zh-CN" altLang="en-US" sz="24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620713"/>
            <a:ext cx="7772400" cy="792162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赋值语句翻译的实现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612775" y="1628775"/>
            <a:ext cx="7986713" cy="4678363"/>
          </a:xfrm>
        </p:spPr>
        <p:txBody>
          <a:bodyPr lIns="92075" tIns="46038" rIns="92075" bIns="46038"/>
          <a:lstStyle/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(1) 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找出分析中使用的产生式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(2)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 根据产生式的语义规则，计算式子中的各属性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(3)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 反复使用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(1) 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(2) 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，最后得到代码生成语句生成的中间代码序列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组成语句的翻译结果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结果：开始符号的属性 </a:t>
            </a:r>
            <a:r>
              <a:rPr lang="en-US" altLang="zh-CN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S.code</a:t>
            </a:r>
            <a:endParaRPr lang="zh-CN" altLang="en-US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65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EA2583C-E756-41EB-897B-68F39B5702D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65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F83D1EC-5189-4C49-B00C-9F74207B2D12}" type="slidenum">
              <a:rPr lang="zh-CN" altLang="en-US"/>
              <a:pPr eaLnBrk="1" hangingPunct="1"/>
              <a:t>48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7793037" cy="928688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表达式翻译中的其它问题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682625" y="1700213"/>
            <a:ext cx="7207250" cy="4114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临时变量空间的统计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了解需求、及时释放</a:t>
            </a:r>
          </a:p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运算合法性检查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利用符号表保存的标识符的类型</a:t>
            </a:r>
          </a:p>
          <a:p>
            <a:pPr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类型自动转换</a:t>
            </a:r>
          </a:p>
          <a:p>
            <a:pPr lvl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填加专用指令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itr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rti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75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9AE8EC3-C0FB-4119-BD24-6E2D5FAE0225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75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8180A2D-326F-43F6-AEE4-7CE016A9B755}" type="slidenum">
              <a:rPr lang="zh-CN" altLang="en-US"/>
              <a:pPr eaLnBrk="1" hangingPunct="1"/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6985000" cy="89535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类型转换： </a:t>
            </a:r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itr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rti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628775"/>
            <a:ext cx="8964612" cy="4392613"/>
          </a:xfrm>
        </p:spPr>
        <p:txBody>
          <a:bodyPr lIns="92075" tIns="46038" rIns="92075" bIns="46038"/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S→id:=E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  {S.code := E.code || {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if id.type=E.type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then gen( id.place':='E.place ) else 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if id.type=real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then gen(id.place’:=‘ </a:t>
            </a:r>
            <a:r>
              <a:rPr lang="en-US" altLang="zh-CN" sz="22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itr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( E.place) else gen(id.place’:=‘</a:t>
            </a:r>
            <a:r>
              <a:rPr lang="en-US" altLang="zh-CN" sz="22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rti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( E.place)}}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E→E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+E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  { E.place := newtemp;  E.code := 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.code || 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.code ||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{</a:t>
            </a:r>
            <a:r>
              <a:rPr lang="en-US" altLang="zh-CN" sz="22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E.type:=E</a:t>
            </a:r>
            <a:r>
              <a:rPr lang="en-US" altLang="zh-CN" sz="2200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.type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;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if</a:t>
            </a:r>
            <a:r>
              <a:rPr lang="en-US" altLang="zh-CN" sz="22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2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.type=E</a:t>
            </a:r>
            <a:r>
              <a:rPr lang="en-US" altLang="zh-CN" sz="22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.type 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then gen(E.place':='E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.place'+'E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.place)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	else{ 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if E</a:t>
            </a:r>
            <a:r>
              <a:rPr lang="en-US" altLang="zh-CN" sz="2200" b="1" baseline="-25000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.type=real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 then gen(E.place':='E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.place'+‘</a:t>
            </a:r>
            <a:r>
              <a:rPr lang="en-US" altLang="zh-CN" sz="22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itr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(E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.place))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			        else gen(E.place':='</a:t>
            </a:r>
            <a:r>
              <a:rPr lang="en-US" altLang="zh-CN" sz="22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itr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(E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.place)'+‘E</a:t>
            </a:r>
            <a:r>
              <a:rPr lang="en-US" altLang="zh-CN" sz="2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.place);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	        E.type=real}}}</a:t>
            </a:r>
          </a:p>
        </p:txBody>
      </p:sp>
      <p:sp>
        <p:nvSpPr>
          <p:cNvPr id="6861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662D06A-3C97-44A2-A417-A263910B505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86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959B654-7B5C-4E7F-9B15-3791B6537EAA}" type="slidenum">
              <a:rPr lang="zh-CN" altLang="en-US"/>
              <a:pPr eaLnBrk="1" hangingPunct="1"/>
              <a:t>50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2625" y="476250"/>
            <a:ext cx="6934200" cy="765175"/>
          </a:xfrm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7.5 控制语句的翻译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555750"/>
            <a:ext cx="7127875" cy="4465638"/>
          </a:xfrm>
        </p:spPr>
        <p:txBody>
          <a:bodyPr lIns="92075" tIns="46038" rIns="92075" bIns="46038"/>
          <a:lstStyle/>
          <a:p>
            <a:pPr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高级语言的控制结构</a:t>
            </a:r>
          </a:p>
          <a:p>
            <a:pPr lvl="1"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顺序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begin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语句; … ；语句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end</a:t>
            </a:r>
          </a:p>
          <a:p>
            <a:pPr lvl="1"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条件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if-then-else、if-then</a:t>
            </a:r>
          </a:p>
          <a:p>
            <a:pPr lvl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	switch、case</a:t>
            </a:r>
          </a:p>
          <a:p>
            <a:pPr lvl="1"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循环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while-do、do-while  </a:t>
            </a:r>
          </a:p>
          <a:p>
            <a:pPr lvl="1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    for、repeat-until</a:t>
            </a:r>
          </a:p>
          <a:p>
            <a:pPr>
              <a:spcBef>
                <a:spcPct val="1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三地址码</a:t>
            </a:r>
          </a:p>
          <a:p>
            <a:pPr lvl="1">
              <a:spcBef>
                <a:spcPct val="1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goto  n 			(j,_,_,n)</a:t>
            </a:r>
          </a:p>
          <a:p>
            <a:pPr lvl="1">
              <a:spcBef>
                <a:spcPct val="1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x relop y goto n	          (jrelop,x,y,n)</a:t>
            </a:r>
          </a:p>
        </p:txBody>
      </p:sp>
      <p:sp>
        <p:nvSpPr>
          <p:cNvPr id="696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123EC10-7FCF-4008-B74B-2CA3FA95EE78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696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10967F8-A229-499C-AB37-C9C5EC096A4F}" type="slidenum">
              <a:rPr lang="zh-CN" altLang="en-US"/>
              <a:pPr eaLnBrk="1" hangingPunct="1"/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5976937" cy="1303337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布尔表达式的翻译</a:t>
            </a:r>
            <a:endParaRPr lang="zh-CN" altLang="en-US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557338"/>
            <a:ext cx="8208962" cy="4681537"/>
          </a:xfrm>
        </p:spPr>
        <p:txBody>
          <a:bodyPr/>
          <a:lstStyle/>
          <a:p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基本文法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E→E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or 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|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and 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| not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| (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)  | 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relop 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|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id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处理方式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数值表示法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与算术表达式的处理类似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2"/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真：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E.place=1</a:t>
            </a:r>
          </a:p>
          <a:p>
            <a:pPr lvl="2"/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假：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E.place=0</a:t>
            </a:r>
          </a:p>
          <a:p>
            <a:pPr lvl="2"/>
            <a:r>
              <a:rPr lang="en-US" altLang="zh-CN" sz="2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newtemp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申请临时工作单元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作为条件控制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2"/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真出口：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E.true</a:t>
            </a:r>
          </a:p>
          <a:p>
            <a:pPr lvl="2"/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假出口：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E.false</a:t>
            </a:r>
          </a:p>
          <a:p>
            <a:pPr lvl="2"/>
            <a:r>
              <a:rPr lang="en-US" altLang="zh-CN" sz="2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newlab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申请新标号</a:t>
            </a:r>
          </a:p>
        </p:txBody>
      </p:sp>
      <p:sp>
        <p:nvSpPr>
          <p:cNvPr id="706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E4EE55E-722D-462A-8057-A5C70A6C4BB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706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176852-D5B7-4C53-AE4A-03C6F9C54DAE}" type="slidenum">
              <a:rPr lang="zh-CN" altLang="en-US"/>
              <a:pPr eaLnBrk="1" hangingPunct="1"/>
              <a:t>52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549275"/>
            <a:ext cx="6838950" cy="7620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数值表示法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使用综合属性</a:t>
            </a:r>
            <a:endParaRPr lang="en-US" altLang="zh-CN" sz="28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5900"/>
            <a:ext cx="8064500" cy="4835525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or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{E.place := newtemp;                 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E.code :=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gen(E.place':='E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.place'or'E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.place)}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and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{E.place := newtemp;                  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E.code :=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			    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gen(E.place':='E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.place‘and'E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.place)}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not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{E.place := newtemp;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 	   E.code :=E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   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gen(E.place':= ' ' not'E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.place)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}</a:t>
            </a:r>
          </a:p>
        </p:txBody>
      </p:sp>
      <p:sp>
        <p:nvSpPr>
          <p:cNvPr id="7168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12D7F5C-7DF7-419A-A490-5E2383BBF61F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716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C4AAAD4-D0B4-4140-88AD-0C2A04130A43}" type="slidenum">
              <a:rPr lang="zh-CN" altLang="en-US"/>
              <a:pPr eaLnBrk="1" hangingPunct="1"/>
              <a:t>53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6954838" cy="1252538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数值表示法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使用综合属性</a:t>
            </a:r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485900"/>
            <a:ext cx="7848600" cy="460851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(E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   {E.place:=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.place;   E.code:=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.code}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relop id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    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	 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{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E.place := newtemp; E.code:=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gen(' if' id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relop id</a:t>
            </a:r>
            <a:r>
              <a:rPr lang="en-US" altLang="zh-CN" sz="24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'goto' nextstat+3)||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gen(E.place ':=' '0') || 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		gen('goto'  nextstat+2)||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		gen( E.place ':=' '1')}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 → id   {E.place:= id.place;   E.code:= ' ‘}</a:t>
            </a:r>
          </a:p>
        </p:txBody>
      </p:sp>
      <p:sp>
        <p:nvSpPr>
          <p:cNvPr id="727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7942F89-89A0-484D-86BE-8F693AA5359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727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438635B-328B-4054-A090-FA19CB876264}" type="slidenum">
              <a:rPr lang="zh-CN" altLang="en-US"/>
              <a:pPr eaLnBrk="1" hangingPunct="1"/>
              <a:t>54</a:t>
            </a:fld>
            <a:endParaRPr lang="en-US" altLang="zh-CN"/>
          </a:p>
        </p:txBody>
      </p:sp>
      <p:grpSp>
        <p:nvGrpSpPr>
          <p:cNvPr id="72714" name="Group 10"/>
          <p:cNvGrpSpPr>
            <a:grpSpLocks/>
          </p:cNvGrpSpPr>
          <p:nvPr/>
        </p:nvGrpSpPr>
        <p:grpSpPr bwMode="auto">
          <a:xfrm>
            <a:off x="8172450" y="3500438"/>
            <a:ext cx="866775" cy="1801812"/>
            <a:chOff x="5148" y="2205"/>
            <a:chExt cx="546" cy="1135"/>
          </a:xfrm>
        </p:grpSpPr>
        <p:sp>
          <p:nvSpPr>
            <p:cNvPr id="72711" name="AutoShape 7"/>
            <p:cNvSpPr>
              <a:spLocks/>
            </p:cNvSpPr>
            <p:nvPr/>
          </p:nvSpPr>
          <p:spPr bwMode="auto">
            <a:xfrm>
              <a:off x="5148" y="2205"/>
              <a:ext cx="91" cy="1134"/>
            </a:xfrm>
            <a:prstGeom prst="rightBrace">
              <a:avLst>
                <a:gd name="adj1" fmla="val 103846"/>
                <a:gd name="adj2" fmla="val 50000"/>
              </a:avLst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5148" y="2251"/>
              <a:ext cx="546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zh-CN" altLang="en-US" sz="2800" b="1">
                  <a:solidFill>
                    <a:schemeClr val="tx2"/>
                  </a:solidFill>
                  <a:ea typeface="华文新魏" pitchFamily="2" charset="-122"/>
                </a:rPr>
                <a:t>目标</a:t>
              </a:r>
            </a:p>
            <a:p>
              <a:pPr algn="ctr">
                <a:lnSpc>
                  <a:spcPct val="80000"/>
                </a:lnSpc>
              </a:pPr>
              <a:r>
                <a:rPr lang="zh-CN" altLang="en-US" sz="2800" b="1">
                  <a:solidFill>
                    <a:srgbClr val="A50021"/>
                  </a:solidFill>
                  <a:ea typeface="华文新魏" pitchFamily="2" charset="-122"/>
                </a:rPr>
                <a:t>代码结构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416800" cy="714375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>
                <a:latin typeface="Times New Roman" pitchFamily="18" charset="0"/>
                <a:ea typeface="华文新魏" pitchFamily="2" charset="-122"/>
              </a:rPr>
              <a:t>&lt;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b or c</a:t>
            </a:r>
            <a:r>
              <a:rPr lang="en-US" altLang="zh-CN">
                <a:latin typeface="Times New Roman" pitchFamily="18" charset="0"/>
                <a:ea typeface="华文新魏" pitchFamily="2" charset="-122"/>
              </a:rPr>
              <a:t>&lt;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d and e&lt;f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idx="1"/>
          </p:nvPr>
        </p:nvSpPr>
        <p:spPr>
          <a:xfrm>
            <a:off x="765175" y="1441450"/>
            <a:ext cx="3662363" cy="4795838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100 if  a&lt;b goto 103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101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102 goto 104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103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=1 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104 if c&lt;d goto 107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105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=0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106 goto 108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107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=1</a:t>
            </a:r>
          </a:p>
        </p:txBody>
      </p:sp>
      <p:sp>
        <p:nvSpPr>
          <p:cNvPr id="737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441C914-DD1F-4A63-A29E-FBB129EEEC5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737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4FEFF94-1C84-4384-8269-D776334DBE00}" type="slidenum">
              <a:rPr lang="zh-CN" altLang="en-US"/>
              <a:pPr eaLnBrk="1" hangingPunct="1"/>
              <a:t>55</a:t>
            </a:fld>
            <a:endParaRPr lang="en-US" altLang="zh-CN"/>
          </a:p>
        </p:txBody>
      </p:sp>
      <p:sp>
        <p:nvSpPr>
          <p:cNvPr id="501764" name="Rectangle 4"/>
          <p:cNvSpPr>
            <a:spLocks noChangeArrowheads="1"/>
          </p:cNvSpPr>
          <p:nvPr/>
        </p:nvSpPr>
        <p:spPr bwMode="auto">
          <a:xfrm>
            <a:off x="5148263" y="1441450"/>
            <a:ext cx="344646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108 if e&lt;f goto 111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109 t</a:t>
            </a:r>
            <a:r>
              <a:rPr lang="en-US" altLang="zh-CN" sz="2800" b="1" baseline="-2500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=0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110 goto 112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111 t</a:t>
            </a:r>
            <a:r>
              <a:rPr lang="en-US" altLang="zh-CN" sz="2800" b="1" baseline="-2500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=1 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112 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=t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2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and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endParaRPr lang="en-US" altLang="zh-CN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113 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5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=t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or t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4</a:t>
            </a:r>
            <a:endParaRPr lang="en-US" altLang="zh-CN" sz="28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3735" name="Rectangle 5"/>
          <p:cNvSpPr>
            <a:spLocks noChangeArrowheads="1"/>
          </p:cNvSpPr>
          <p:nvPr/>
        </p:nvSpPr>
        <p:spPr bwMode="auto">
          <a:xfrm>
            <a:off x="2266950" y="5099050"/>
            <a:ext cx="6842125" cy="1552575"/>
          </a:xfrm>
          <a:prstGeom prst="rect">
            <a:avLst/>
          </a:prstGeom>
          <a:solidFill>
            <a:srgbClr val="00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gen(' if' id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.place relop id</a:t>
            </a:r>
            <a:r>
              <a:rPr lang="en-US" altLang="zh-CN" sz="2400" b="1" baseline="-25000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.place 'goto' nextstat+3)||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gen(E.place ':=' '0') || 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gen('goto'  nextstat+2)||</a:t>
            </a:r>
          </a:p>
          <a:p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gen( E.place ':=' '1')}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06413"/>
            <a:ext cx="7564437" cy="11938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8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1403350" y="4508500"/>
            <a:ext cx="6408738" cy="1655763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.true :=E.true; 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.false :=newlab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;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.true :=E.true; 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.false :=E.false;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E.code :=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gen(E</a:t>
            </a:r>
            <a:r>
              <a:rPr lang="en-US" altLang="zh-CN" sz="2400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.false’:’)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||E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                </a:t>
            </a:r>
          </a:p>
        </p:txBody>
      </p:sp>
      <p:sp>
        <p:nvSpPr>
          <p:cNvPr id="8090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5C9A408-FB7A-46E2-BBDB-5C47BBF29A4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09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FCE5D58-2718-4A24-ABAD-F3DED33FFBA5}" type="slidenum">
              <a:rPr lang="zh-CN" altLang="en-US"/>
              <a:pPr eaLnBrk="1" hangingPunct="1"/>
              <a:t>56</a:t>
            </a:fld>
            <a:endParaRPr lang="en-US" altLang="zh-CN"/>
          </a:p>
        </p:txBody>
      </p:sp>
      <p:sp>
        <p:nvSpPr>
          <p:cNvPr id="333831" name="Line 7"/>
          <p:cNvSpPr>
            <a:spLocks noChangeShapeType="1"/>
          </p:cNvSpPr>
          <p:nvPr/>
        </p:nvSpPr>
        <p:spPr bwMode="auto">
          <a:xfrm>
            <a:off x="5435600" y="3041650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32" name="Rectangle 8"/>
          <p:cNvSpPr>
            <a:spLocks noChangeArrowheads="1"/>
          </p:cNvSpPr>
          <p:nvPr/>
        </p:nvSpPr>
        <p:spPr bwMode="auto">
          <a:xfrm>
            <a:off x="4211638" y="1844675"/>
            <a:ext cx="120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33" name="Rectangle 9"/>
          <p:cNvSpPr>
            <a:spLocks noChangeArrowheads="1"/>
          </p:cNvSpPr>
          <p:nvPr/>
        </p:nvSpPr>
        <p:spPr bwMode="auto">
          <a:xfrm>
            <a:off x="5507038" y="2105025"/>
            <a:ext cx="132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34" name="Rectangle 10"/>
          <p:cNvSpPr>
            <a:spLocks noChangeArrowheads="1"/>
          </p:cNvSpPr>
          <p:nvPr/>
        </p:nvSpPr>
        <p:spPr bwMode="auto">
          <a:xfrm>
            <a:off x="5507038" y="3141663"/>
            <a:ext cx="132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35" name="Rectangle 11"/>
          <p:cNvSpPr>
            <a:spLocks noChangeArrowheads="1"/>
          </p:cNvSpPr>
          <p:nvPr/>
        </p:nvSpPr>
        <p:spPr bwMode="auto">
          <a:xfrm>
            <a:off x="7019925" y="2465388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5435600" y="1962150"/>
            <a:ext cx="1439863" cy="2519363"/>
            <a:chOff x="2517" y="1236"/>
            <a:chExt cx="907" cy="1587"/>
          </a:xfrm>
        </p:grpSpPr>
        <p:sp>
          <p:nvSpPr>
            <p:cNvPr id="80923" name="Line 13"/>
            <p:cNvSpPr>
              <a:spLocks noChangeShapeType="1"/>
            </p:cNvSpPr>
            <p:nvPr/>
          </p:nvSpPr>
          <p:spPr bwMode="auto">
            <a:xfrm>
              <a:off x="3424" y="1236"/>
              <a:ext cx="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4" name="Line 14"/>
            <p:cNvSpPr>
              <a:spLocks noChangeShapeType="1"/>
            </p:cNvSpPr>
            <p:nvPr/>
          </p:nvSpPr>
          <p:spPr bwMode="auto">
            <a:xfrm>
              <a:off x="2517" y="1236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5" name="Line 15"/>
            <p:cNvSpPr>
              <a:spLocks noChangeShapeType="1"/>
            </p:cNvSpPr>
            <p:nvPr/>
          </p:nvSpPr>
          <p:spPr bwMode="auto">
            <a:xfrm>
              <a:off x="2517" y="123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926" name="Line 16"/>
            <p:cNvSpPr>
              <a:spLocks noChangeShapeType="1"/>
            </p:cNvSpPr>
            <p:nvPr/>
          </p:nvSpPr>
          <p:spPr bwMode="auto">
            <a:xfrm>
              <a:off x="2517" y="259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3841" name="Rectangle 17"/>
          <p:cNvSpPr>
            <a:spLocks noChangeArrowheads="1"/>
          </p:cNvSpPr>
          <p:nvPr/>
        </p:nvSpPr>
        <p:spPr bwMode="auto">
          <a:xfrm>
            <a:off x="4283075" y="4005263"/>
            <a:ext cx="1004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42" name="Rectangle 18"/>
          <p:cNvSpPr>
            <a:spLocks noChangeArrowheads="1"/>
          </p:cNvSpPr>
          <p:nvPr/>
        </p:nvSpPr>
        <p:spPr bwMode="auto">
          <a:xfrm>
            <a:off x="3563938" y="2565400"/>
            <a:ext cx="110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43" name="Rectangle 19"/>
          <p:cNvSpPr>
            <a:spLocks noChangeArrowheads="1"/>
          </p:cNvSpPr>
          <p:nvPr/>
        </p:nvSpPr>
        <p:spPr bwMode="auto">
          <a:xfrm>
            <a:off x="3536950" y="3429000"/>
            <a:ext cx="110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44" name="Line 20"/>
          <p:cNvSpPr>
            <a:spLocks noChangeShapeType="1"/>
          </p:cNvSpPr>
          <p:nvPr/>
        </p:nvSpPr>
        <p:spPr bwMode="auto">
          <a:xfrm>
            <a:off x="4787900" y="2852738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45" name="Line 21"/>
          <p:cNvSpPr>
            <a:spLocks noChangeShapeType="1"/>
          </p:cNvSpPr>
          <p:nvPr/>
        </p:nvSpPr>
        <p:spPr bwMode="auto">
          <a:xfrm>
            <a:off x="4787900" y="2852738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46" name="Line 22"/>
          <p:cNvSpPr>
            <a:spLocks noChangeShapeType="1"/>
          </p:cNvSpPr>
          <p:nvPr/>
        </p:nvSpPr>
        <p:spPr bwMode="auto">
          <a:xfrm>
            <a:off x="4787900" y="36449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47" name="Line 23"/>
          <p:cNvSpPr>
            <a:spLocks noChangeShapeType="1"/>
          </p:cNvSpPr>
          <p:nvPr/>
        </p:nvSpPr>
        <p:spPr bwMode="auto">
          <a:xfrm>
            <a:off x="6732588" y="2924175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48" name="Line 24"/>
          <p:cNvSpPr>
            <a:spLocks noChangeShapeType="1"/>
          </p:cNvSpPr>
          <p:nvPr/>
        </p:nvSpPr>
        <p:spPr bwMode="auto">
          <a:xfrm>
            <a:off x="7596188" y="2924175"/>
            <a:ext cx="0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49" name="Line 25"/>
          <p:cNvSpPr>
            <a:spLocks noChangeShapeType="1"/>
          </p:cNvSpPr>
          <p:nvPr/>
        </p:nvSpPr>
        <p:spPr bwMode="auto">
          <a:xfrm flipH="1">
            <a:off x="6877050" y="3141663"/>
            <a:ext cx="935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50" name="Rectangle 26"/>
          <p:cNvSpPr>
            <a:spLocks noChangeArrowheads="1"/>
          </p:cNvSpPr>
          <p:nvPr/>
        </p:nvSpPr>
        <p:spPr bwMode="auto">
          <a:xfrm>
            <a:off x="7019925" y="34290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51" name="Rectangle 27"/>
          <p:cNvSpPr>
            <a:spLocks noChangeArrowheads="1"/>
          </p:cNvSpPr>
          <p:nvPr/>
        </p:nvSpPr>
        <p:spPr bwMode="auto">
          <a:xfrm>
            <a:off x="7043738" y="4149725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3852" name="Line 28"/>
          <p:cNvSpPr>
            <a:spLocks noChangeShapeType="1"/>
          </p:cNvSpPr>
          <p:nvPr/>
        </p:nvSpPr>
        <p:spPr bwMode="auto">
          <a:xfrm>
            <a:off x="6659563" y="3933825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3853" name="Line 29"/>
          <p:cNvSpPr>
            <a:spLocks noChangeShapeType="1"/>
          </p:cNvSpPr>
          <p:nvPr/>
        </p:nvSpPr>
        <p:spPr bwMode="auto">
          <a:xfrm>
            <a:off x="7596188" y="3933825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21" name="Rectangle 31"/>
          <p:cNvSpPr>
            <a:spLocks noChangeArrowheads="1"/>
          </p:cNvSpPr>
          <p:nvPr/>
        </p:nvSpPr>
        <p:spPr bwMode="auto">
          <a:xfrm>
            <a:off x="611188" y="2852738"/>
            <a:ext cx="2881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E→E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 or E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endParaRPr lang="zh-CN" altLang="en-US" sz="3200" b="1" baseline="-25000">
              <a:latin typeface="Times New Roman" pitchFamily="18" charset="0"/>
            </a:endParaRPr>
          </a:p>
        </p:txBody>
      </p:sp>
      <p:sp>
        <p:nvSpPr>
          <p:cNvPr id="333856" name="Rectangle 32"/>
          <p:cNvSpPr>
            <a:spLocks noChangeArrowheads="1"/>
          </p:cNvSpPr>
          <p:nvPr/>
        </p:nvSpPr>
        <p:spPr bwMode="auto">
          <a:xfrm>
            <a:off x="7812088" y="2857500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</a:rPr>
              <a:t>newlab</a:t>
            </a:r>
            <a:endParaRPr lang="zh-CN" altLang="en-US" sz="2400" b="1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06413"/>
            <a:ext cx="7564437" cy="11938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8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1923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886CC0D-65E3-4ADC-9403-5C1F32D31D2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19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38D3908-9F97-46CD-8451-B21E81DE3F7A}" type="slidenum">
              <a:rPr lang="zh-CN" altLang="en-US"/>
              <a:pPr eaLnBrk="1" hangingPunct="1"/>
              <a:t>57</a:t>
            </a:fld>
            <a:endParaRPr lang="en-US" altLang="zh-CN"/>
          </a:p>
        </p:txBody>
      </p:sp>
      <p:sp>
        <p:nvSpPr>
          <p:cNvPr id="497668" name="Rectangle 4"/>
          <p:cNvSpPr>
            <a:spLocks noChangeArrowheads="1"/>
          </p:cNvSpPr>
          <p:nvPr/>
        </p:nvSpPr>
        <p:spPr bwMode="auto">
          <a:xfrm>
            <a:off x="1404938" y="4508500"/>
            <a:ext cx="6119812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40000"/>
              </a:lnSpc>
            </a:pP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.true:=newlab;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  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.false:= E.false;</a:t>
            </a:r>
          </a:p>
          <a:p>
            <a:pPr marL="342900" indent="-342900">
              <a:lnSpc>
                <a:spcPct val="14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.true :=E.true;   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.false:=E.false;</a:t>
            </a:r>
          </a:p>
          <a:p>
            <a:pPr marL="342900" indent="-342900">
              <a:lnSpc>
                <a:spcPct val="14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E.code := 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.code || 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gen(E</a:t>
            </a:r>
            <a:r>
              <a:rPr lang="en-US" altLang="zh-CN" sz="2400" b="1" baseline="-2500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.true’:’)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 ||E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.code </a:t>
            </a:r>
          </a:p>
        </p:txBody>
      </p:sp>
      <p:sp>
        <p:nvSpPr>
          <p:cNvPr id="81926" name="Rectangle 7"/>
          <p:cNvSpPr>
            <a:spLocks noChangeArrowheads="1"/>
          </p:cNvSpPr>
          <p:nvPr/>
        </p:nvSpPr>
        <p:spPr bwMode="auto">
          <a:xfrm>
            <a:off x="611188" y="2849563"/>
            <a:ext cx="28813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E→E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and E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endParaRPr lang="zh-CN" altLang="en-US" sz="3200" b="1" baseline="-25000">
              <a:latin typeface="Times New Roman" pitchFamily="18" charset="0"/>
            </a:endParaRPr>
          </a:p>
        </p:txBody>
      </p:sp>
      <p:sp>
        <p:nvSpPr>
          <p:cNvPr id="497672" name="Line 8"/>
          <p:cNvSpPr>
            <a:spLocks noChangeShapeType="1"/>
          </p:cNvSpPr>
          <p:nvPr/>
        </p:nvSpPr>
        <p:spPr bwMode="auto">
          <a:xfrm>
            <a:off x="5435600" y="3041650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73" name="Rectangle 9"/>
          <p:cNvSpPr>
            <a:spLocks noChangeArrowheads="1"/>
          </p:cNvSpPr>
          <p:nvPr/>
        </p:nvSpPr>
        <p:spPr bwMode="auto">
          <a:xfrm>
            <a:off x="4211638" y="1844675"/>
            <a:ext cx="120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74" name="Rectangle 10"/>
          <p:cNvSpPr>
            <a:spLocks noChangeArrowheads="1"/>
          </p:cNvSpPr>
          <p:nvPr/>
        </p:nvSpPr>
        <p:spPr bwMode="auto">
          <a:xfrm>
            <a:off x="5507038" y="2105025"/>
            <a:ext cx="132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75" name="Rectangle 11"/>
          <p:cNvSpPr>
            <a:spLocks noChangeArrowheads="1"/>
          </p:cNvSpPr>
          <p:nvPr/>
        </p:nvSpPr>
        <p:spPr bwMode="auto">
          <a:xfrm>
            <a:off x="5507038" y="3141663"/>
            <a:ext cx="132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76" name="Rectangle 12"/>
          <p:cNvSpPr>
            <a:spLocks noChangeArrowheads="1"/>
          </p:cNvSpPr>
          <p:nvPr/>
        </p:nvSpPr>
        <p:spPr bwMode="auto">
          <a:xfrm>
            <a:off x="7019925" y="2465388"/>
            <a:ext cx="1106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435600" y="1962150"/>
            <a:ext cx="1439863" cy="2519363"/>
            <a:chOff x="2517" y="1236"/>
            <a:chExt cx="907" cy="1587"/>
          </a:xfrm>
        </p:grpSpPr>
        <p:sp>
          <p:nvSpPr>
            <p:cNvPr id="81947" name="Line 14"/>
            <p:cNvSpPr>
              <a:spLocks noChangeShapeType="1"/>
            </p:cNvSpPr>
            <p:nvPr/>
          </p:nvSpPr>
          <p:spPr bwMode="auto">
            <a:xfrm>
              <a:off x="3424" y="1236"/>
              <a:ext cx="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8" name="Line 15"/>
            <p:cNvSpPr>
              <a:spLocks noChangeShapeType="1"/>
            </p:cNvSpPr>
            <p:nvPr/>
          </p:nvSpPr>
          <p:spPr bwMode="auto">
            <a:xfrm>
              <a:off x="2517" y="1236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49" name="Line 16"/>
            <p:cNvSpPr>
              <a:spLocks noChangeShapeType="1"/>
            </p:cNvSpPr>
            <p:nvPr/>
          </p:nvSpPr>
          <p:spPr bwMode="auto">
            <a:xfrm>
              <a:off x="2517" y="123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50" name="Line 17"/>
            <p:cNvSpPr>
              <a:spLocks noChangeShapeType="1"/>
            </p:cNvSpPr>
            <p:nvPr/>
          </p:nvSpPr>
          <p:spPr bwMode="auto">
            <a:xfrm>
              <a:off x="2517" y="259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7682" name="Rectangle 18"/>
          <p:cNvSpPr>
            <a:spLocks noChangeArrowheads="1"/>
          </p:cNvSpPr>
          <p:nvPr/>
        </p:nvSpPr>
        <p:spPr bwMode="auto">
          <a:xfrm>
            <a:off x="4283075" y="4005263"/>
            <a:ext cx="1055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83" name="Rectangle 19"/>
          <p:cNvSpPr>
            <a:spLocks noChangeArrowheads="1"/>
          </p:cNvSpPr>
          <p:nvPr/>
        </p:nvSpPr>
        <p:spPr bwMode="auto">
          <a:xfrm>
            <a:off x="3563938" y="2565400"/>
            <a:ext cx="1157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84" name="Rectangle 20"/>
          <p:cNvSpPr>
            <a:spLocks noChangeArrowheads="1"/>
          </p:cNvSpPr>
          <p:nvPr/>
        </p:nvSpPr>
        <p:spPr bwMode="auto">
          <a:xfrm>
            <a:off x="3536950" y="3429000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85" name="Line 21"/>
          <p:cNvSpPr>
            <a:spLocks noChangeShapeType="1"/>
          </p:cNvSpPr>
          <p:nvPr/>
        </p:nvSpPr>
        <p:spPr bwMode="auto">
          <a:xfrm>
            <a:off x="4787900" y="2852738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86" name="Line 22"/>
          <p:cNvSpPr>
            <a:spLocks noChangeShapeType="1"/>
          </p:cNvSpPr>
          <p:nvPr/>
        </p:nvSpPr>
        <p:spPr bwMode="auto">
          <a:xfrm>
            <a:off x="4787900" y="2852738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87" name="Line 23"/>
          <p:cNvSpPr>
            <a:spLocks noChangeShapeType="1"/>
          </p:cNvSpPr>
          <p:nvPr/>
        </p:nvSpPr>
        <p:spPr bwMode="auto">
          <a:xfrm>
            <a:off x="4787900" y="36449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88" name="Line 24"/>
          <p:cNvSpPr>
            <a:spLocks noChangeShapeType="1"/>
          </p:cNvSpPr>
          <p:nvPr/>
        </p:nvSpPr>
        <p:spPr bwMode="auto">
          <a:xfrm>
            <a:off x="6732588" y="2924175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89" name="Line 25"/>
          <p:cNvSpPr>
            <a:spLocks noChangeShapeType="1"/>
          </p:cNvSpPr>
          <p:nvPr/>
        </p:nvSpPr>
        <p:spPr bwMode="auto">
          <a:xfrm>
            <a:off x="7596188" y="2924175"/>
            <a:ext cx="0" cy="217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90" name="Line 26"/>
          <p:cNvSpPr>
            <a:spLocks noChangeShapeType="1"/>
          </p:cNvSpPr>
          <p:nvPr/>
        </p:nvSpPr>
        <p:spPr bwMode="auto">
          <a:xfrm flipH="1">
            <a:off x="6877050" y="3141663"/>
            <a:ext cx="1008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91" name="Rectangle 27"/>
          <p:cNvSpPr>
            <a:spLocks noChangeArrowheads="1"/>
          </p:cNvSpPr>
          <p:nvPr/>
        </p:nvSpPr>
        <p:spPr bwMode="auto">
          <a:xfrm>
            <a:off x="7019925" y="3429000"/>
            <a:ext cx="118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 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92" name="Rectangle 28"/>
          <p:cNvSpPr>
            <a:spLocks noChangeArrowheads="1"/>
          </p:cNvSpPr>
          <p:nvPr/>
        </p:nvSpPr>
        <p:spPr bwMode="auto">
          <a:xfrm>
            <a:off x="7043738" y="4149725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 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7693" name="Line 29"/>
          <p:cNvSpPr>
            <a:spLocks noChangeShapeType="1"/>
          </p:cNvSpPr>
          <p:nvPr/>
        </p:nvSpPr>
        <p:spPr bwMode="auto">
          <a:xfrm>
            <a:off x="6659563" y="3933825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94" name="Line 30"/>
          <p:cNvSpPr>
            <a:spLocks noChangeShapeType="1"/>
          </p:cNvSpPr>
          <p:nvPr/>
        </p:nvSpPr>
        <p:spPr bwMode="auto">
          <a:xfrm>
            <a:off x="7596188" y="3933825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7695" name="Rectangle 31"/>
          <p:cNvSpPr>
            <a:spLocks noChangeArrowheads="1"/>
          </p:cNvSpPr>
          <p:nvPr/>
        </p:nvSpPr>
        <p:spPr bwMode="auto">
          <a:xfrm>
            <a:off x="7812088" y="2857500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</a:rPr>
              <a:t>newlab</a:t>
            </a:r>
            <a:endParaRPr lang="zh-CN" altLang="en-US" sz="2400" b="1">
              <a:solidFill>
                <a:schemeClr val="hlink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06413"/>
            <a:ext cx="7564437" cy="11938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8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2947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715EC0F-3C27-45DB-8943-ECEA4D807C5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29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5FCD967-CD37-44B4-B58F-06F5DFDAC4F7}" type="slidenum">
              <a:rPr lang="zh-CN" altLang="en-US"/>
              <a:pPr eaLnBrk="1" hangingPunct="1"/>
              <a:t>58</a:t>
            </a:fld>
            <a:endParaRPr lang="en-US" altLang="zh-CN"/>
          </a:p>
        </p:txBody>
      </p:sp>
      <p:sp>
        <p:nvSpPr>
          <p:cNvPr id="498693" name="Rectangle 5"/>
          <p:cNvSpPr>
            <a:spLocks noChangeArrowheads="1"/>
          </p:cNvSpPr>
          <p:nvPr/>
        </p:nvSpPr>
        <p:spPr bwMode="auto">
          <a:xfrm>
            <a:off x="1476375" y="4868863"/>
            <a:ext cx="5622925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4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.true:=E.false;  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.false:=E.true 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E.code :=E</a:t>
            </a:r>
            <a:r>
              <a:rPr lang="en-US" altLang="zh-CN" sz="24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.code</a:t>
            </a:r>
          </a:p>
        </p:txBody>
      </p:sp>
      <p:sp>
        <p:nvSpPr>
          <p:cNvPr id="82950" name="Rectangle 7"/>
          <p:cNvSpPr>
            <a:spLocks noChangeArrowheads="1"/>
          </p:cNvSpPr>
          <p:nvPr/>
        </p:nvSpPr>
        <p:spPr bwMode="auto">
          <a:xfrm>
            <a:off x="815975" y="3019425"/>
            <a:ext cx="2460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 → not E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endParaRPr lang="zh-CN" altLang="en-US" sz="3200" b="1" baseline="-25000">
              <a:latin typeface="Times New Roman" pitchFamily="18" charset="0"/>
            </a:endParaRPr>
          </a:p>
        </p:txBody>
      </p:sp>
      <p:sp>
        <p:nvSpPr>
          <p:cNvPr id="498697" name="Rectangle 9"/>
          <p:cNvSpPr>
            <a:spLocks noChangeArrowheads="1"/>
          </p:cNvSpPr>
          <p:nvPr/>
        </p:nvSpPr>
        <p:spPr bwMode="auto">
          <a:xfrm>
            <a:off x="4211638" y="1844675"/>
            <a:ext cx="120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8698" name="Rectangle 10"/>
          <p:cNvSpPr>
            <a:spLocks noChangeArrowheads="1"/>
          </p:cNvSpPr>
          <p:nvPr/>
        </p:nvSpPr>
        <p:spPr bwMode="auto">
          <a:xfrm>
            <a:off x="5508625" y="2781300"/>
            <a:ext cx="132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8700" name="Rectangle 12"/>
          <p:cNvSpPr>
            <a:spLocks noChangeArrowheads="1"/>
          </p:cNvSpPr>
          <p:nvPr/>
        </p:nvSpPr>
        <p:spPr bwMode="auto">
          <a:xfrm>
            <a:off x="7019925" y="3284538"/>
            <a:ext cx="118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 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435600" y="1962150"/>
            <a:ext cx="1439863" cy="2519363"/>
            <a:chOff x="2517" y="1236"/>
            <a:chExt cx="907" cy="1587"/>
          </a:xfrm>
        </p:grpSpPr>
        <p:sp>
          <p:nvSpPr>
            <p:cNvPr id="82962" name="Line 14"/>
            <p:cNvSpPr>
              <a:spLocks noChangeShapeType="1"/>
            </p:cNvSpPr>
            <p:nvPr/>
          </p:nvSpPr>
          <p:spPr bwMode="auto">
            <a:xfrm>
              <a:off x="3424" y="1236"/>
              <a:ext cx="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3" name="Line 15"/>
            <p:cNvSpPr>
              <a:spLocks noChangeShapeType="1"/>
            </p:cNvSpPr>
            <p:nvPr/>
          </p:nvSpPr>
          <p:spPr bwMode="auto">
            <a:xfrm>
              <a:off x="2517" y="1236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4" name="Line 16"/>
            <p:cNvSpPr>
              <a:spLocks noChangeShapeType="1"/>
            </p:cNvSpPr>
            <p:nvPr/>
          </p:nvSpPr>
          <p:spPr bwMode="auto">
            <a:xfrm>
              <a:off x="2517" y="123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65" name="Line 17"/>
            <p:cNvSpPr>
              <a:spLocks noChangeShapeType="1"/>
            </p:cNvSpPr>
            <p:nvPr/>
          </p:nvSpPr>
          <p:spPr bwMode="auto">
            <a:xfrm>
              <a:off x="2517" y="259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8706" name="Rectangle 18"/>
          <p:cNvSpPr>
            <a:spLocks noChangeArrowheads="1"/>
          </p:cNvSpPr>
          <p:nvPr/>
        </p:nvSpPr>
        <p:spPr bwMode="auto">
          <a:xfrm>
            <a:off x="4283075" y="4005263"/>
            <a:ext cx="1004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8707" name="Rectangle 19"/>
          <p:cNvSpPr>
            <a:spLocks noChangeArrowheads="1"/>
          </p:cNvSpPr>
          <p:nvPr/>
        </p:nvSpPr>
        <p:spPr bwMode="auto">
          <a:xfrm>
            <a:off x="3563938" y="3357563"/>
            <a:ext cx="1233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 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8709" name="Line 21"/>
          <p:cNvSpPr>
            <a:spLocks noChangeShapeType="1"/>
          </p:cNvSpPr>
          <p:nvPr/>
        </p:nvSpPr>
        <p:spPr bwMode="auto">
          <a:xfrm>
            <a:off x="4787900" y="386080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8710" name="Line 22"/>
          <p:cNvSpPr>
            <a:spLocks noChangeShapeType="1"/>
          </p:cNvSpPr>
          <p:nvPr/>
        </p:nvSpPr>
        <p:spPr bwMode="auto">
          <a:xfrm>
            <a:off x="4787900" y="38608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8712" name="Line 24"/>
          <p:cNvSpPr>
            <a:spLocks noChangeShapeType="1"/>
          </p:cNvSpPr>
          <p:nvPr/>
        </p:nvSpPr>
        <p:spPr bwMode="auto">
          <a:xfrm>
            <a:off x="6732588" y="38608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8716" name="Rectangle 28"/>
          <p:cNvSpPr>
            <a:spLocks noChangeArrowheads="1"/>
          </p:cNvSpPr>
          <p:nvPr/>
        </p:nvSpPr>
        <p:spPr bwMode="auto">
          <a:xfrm>
            <a:off x="7043738" y="4149725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98718" name="Line 30"/>
          <p:cNvSpPr>
            <a:spLocks noChangeShapeType="1"/>
          </p:cNvSpPr>
          <p:nvPr/>
        </p:nvSpPr>
        <p:spPr bwMode="auto">
          <a:xfrm>
            <a:off x="7596188" y="38608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221537" cy="936625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4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1403350" y="4868863"/>
            <a:ext cx="5400675" cy="1296987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.true:=E.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true; 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.false:=E. false</a:t>
            </a:r>
          </a:p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E.code :=E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</a:t>
            </a:r>
          </a:p>
        </p:txBody>
      </p:sp>
      <p:sp>
        <p:nvSpPr>
          <p:cNvPr id="8397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59FDC5-E00E-4DC8-978F-6E618D43006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39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FD63109-1325-47D8-A678-17C039787452}" type="slidenum">
              <a:rPr lang="zh-CN" altLang="en-US"/>
              <a:pPr eaLnBrk="1" hangingPunct="1"/>
              <a:t>59</a:t>
            </a:fld>
            <a:endParaRPr lang="en-US" altLang="zh-CN"/>
          </a:p>
        </p:txBody>
      </p:sp>
      <p:sp>
        <p:nvSpPr>
          <p:cNvPr id="83974" name="Rectangle 6"/>
          <p:cNvSpPr>
            <a:spLocks noChangeArrowheads="1"/>
          </p:cNvSpPr>
          <p:nvPr/>
        </p:nvSpPr>
        <p:spPr bwMode="auto">
          <a:xfrm>
            <a:off x="776288" y="2997200"/>
            <a:ext cx="23558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 → ( E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 )</a:t>
            </a:r>
            <a:endParaRPr lang="zh-CN" altLang="en-US" sz="3200" b="1">
              <a:latin typeface="Times New Roman" pitchFamily="18" charset="0"/>
            </a:endParaRPr>
          </a:p>
        </p:txBody>
      </p:sp>
      <p:sp>
        <p:nvSpPr>
          <p:cNvPr id="334855" name="Rectangle 7"/>
          <p:cNvSpPr>
            <a:spLocks noChangeArrowheads="1"/>
          </p:cNvSpPr>
          <p:nvPr/>
        </p:nvSpPr>
        <p:spPr bwMode="auto">
          <a:xfrm>
            <a:off x="4211638" y="1844675"/>
            <a:ext cx="1200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4856" name="Rectangle 8"/>
          <p:cNvSpPr>
            <a:spLocks noChangeArrowheads="1"/>
          </p:cNvSpPr>
          <p:nvPr/>
        </p:nvSpPr>
        <p:spPr bwMode="auto">
          <a:xfrm>
            <a:off x="5508625" y="2781300"/>
            <a:ext cx="132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4857" name="Rectangle 9"/>
          <p:cNvSpPr>
            <a:spLocks noChangeArrowheads="1"/>
          </p:cNvSpPr>
          <p:nvPr/>
        </p:nvSpPr>
        <p:spPr bwMode="auto">
          <a:xfrm>
            <a:off x="7019925" y="3284538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435600" y="1962150"/>
            <a:ext cx="1439863" cy="2519363"/>
            <a:chOff x="2517" y="1236"/>
            <a:chExt cx="907" cy="1587"/>
          </a:xfrm>
        </p:grpSpPr>
        <p:sp>
          <p:nvSpPr>
            <p:cNvPr id="83986" name="Line 11"/>
            <p:cNvSpPr>
              <a:spLocks noChangeShapeType="1"/>
            </p:cNvSpPr>
            <p:nvPr/>
          </p:nvSpPr>
          <p:spPr bwMode="auto">
            <a:xfrm>
              <a:off x="3424" y="1236"/>
              <a:ext cx="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7" name="Line 12"/>
            <p:cNvSpPr>
              <a:spLocks noChangeShapeType="1"/>
            </p:cNvSpPr>
            <p:nvPr/>
          </p:nvSpPr>
          <p:spPr bwMode="auto">
            <a:xfrm>
              <a:off x="2517" y="1236"/>
              <a:ext cx="0" cy="15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8" name="Line 13"/>
            <p:cNvSpPr>
              <a:spLocks noChangeShapeType="1"/>
            </p:cNvSpPr>
            <p:nvPr/>
          </p:nvSpPr>
          <p:spPr bwMode="auto">
            <a:xfrm>
              <a:off x="2517" y="123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9" name="Line 14"/>
            <p:cNvSpPr>
              <a:spLocks noChangeShapeType="1"/>
            </p:cNvSpPr>
            <p:nvPr/>
          </p:nvSpPr>
          <p:spPr bwMode="auto">
            <a:xfrm>
              <a:off x="2517" y="2596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4863" name="Rectangle 15"/>
          <p:cNvSpPr>
            <a:spLocks noChangeArrowheads="1"/>
          </p:cNvSpPr>
          <p:nvPr/>
        </p:nvSpPr>
        <p:spPr bwMode="auto">
          <a:xfrm>
            <a:off x="4283075" y="4005263"/>
            <a:ext cx="1004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4864" name="Rectangle 16"/>
          <p:cNvSpPr>
            <a:spLocks noChangeArrowheads="1"/>
          </p:cNvSpPr>
          <p:nvPr/>
        </p:nvSpPr>
        <p:spPr bwMode="auto">
          <a:xfrm>
            <a:off x="3563938" y="3357563"/>
            <a:ext cx="110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.true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4865" name="Line 17"/>
          <p:cNvSpPr>
            <a:spLocks noChangeShapeType="1"/>
          </p:cNvSpPr>
          <p:nvPr/>
        </p:nvSpPr>
        <p:spPr bwMode="auto">
          <a:xfrm>
            <a:off x="4787900" y="3860800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6" name="Line 18"/>
          <p:cNvSpPr>
            <a:spLocks noChangeShapeType="1"/>
          </p:cNvSpPr>
          <p:nvPr/>
        </p:nvSpPr>
        <p:spPr bwMode="auto">
          <a:xfrm>
            <a:off x="4787900" y="38608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7" name="Line 19"/>
          <p:cNvSpPr>
            <a:spLocks noChangeShapeType="1"/>
          </p:cNvSpPr>
          <p:nvPr/>
        </p:nvSpPr>
        <p:spPr bwMode="auto">
          <a:xfrm>
            <a:off x="6732588" y="3860800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4868" name="Rectangle 20"/>
          <p:cNvSpPr>
            <a:spLocks noChangeArrowheads="1"/>
          </p:cNvSpPr>
          <p:nvPr/>
        </p:nvSpPr>
        <p:spPr bwMode="auto">
          <a:xfrm>
            <a:off x="7043738" y="4149725"/>
            <a:ext cx="1055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E.false</a:t>
            </a:r>
            <a:endParaRPr lang="zh-CN" altLang="en-US" sz="24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4869" name="Line 21"/>
          <p:cNvSpPr>
            <a:spLocks noChangeShapeType="1"/>
          </p:cNvSpPr>
          <p:nvPr/>
        </p:nvSpPr>
        <p:spPr bwMode="auto">
          <a:xfrm>
            <a:off x="7596188" y="38608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221537" cy="936625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4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4995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CECE477-8CF4-40AB-A5AC-93373117D79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49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10B51EA-12BB-4A28-806E-14715A93D8AF}" type="slidenum">
              <a:rPr lang="zh-CN" altLang="en-US"/>
              <a:pPr eaLnBrk="1" hangingPunct="1"/>
              <a:t>60</a:t>
            </a:fld>
            <a:endParaRPr lang="en-US" altLang="zh-CN"/>
          </a:p>
        </p:txBody>
      </p:sp>
      <p:sp>
        <p:nvSpPr>
          <p:cNvPr id="499716" name="Rectangle 4"/>
          <p:cNvSpPr>
            <a:spLocks noChangeArrowheads="1"/>
          </p:cNvSpPr>
          <p:nvPr/>
        </p:nvSpPr>
        <p:spPr bwMode="auto">
          <a:xfrm>
            <a:off x="1331913" y="4581525"/>
            <a:ext cx="7507287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E.code:=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gen('if' id</a:t>
            </a:r>
            <a:r>
              <a:rPr lang="en-US" altLang="zh-CN" sz="2400" b="1" baseline="-2500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relop id</a:t>
            </a:r>
            <a:r>
              <a:rPr lang="en-US" altLang="zh-CN" sz="2400" b="1" baseline="-2500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'goto'  E.true)||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		   gen('goto' E.false)</a:t>
            </a:r>
          </a:p>
        </p:txBody>
      </p:sp>
      <p:sp>
        <p:nvSpPr>
          <p:cNvPr id="84998" name="Rectangle 7"/>
          <p:cNvSpPr>
            <a:spLocks noChangeArrowheads="1"/>
          </p:cNvSpPr>
          <p:nvPr/>
        </p:nvSpPr>
        <p:spPr bwMode="auto">
          <a:xfrm>
            <a:off x="611188" y="2276475"/>
            <a:ext cx="3744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 → id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 relop id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endParaRPr lang="zh-CN" altLang="en-US" sz="3200" b="1" baseline="-25000">
              <a:latin typeface="Times New Roman" pitchFamily="18" charset="0"/>
            </a:endParaRPr>
          </a:p>
        </p:txBody>
      </p:sp>
      <p:sp>
        <p:nvSpPr>
          <p:cNvPr id="84999" name="Text Box 8"/>
          <p:cNvSpPr txBox="1">
            <a:spLocks noChangeArrowheads="1"/>
          </p:cNvSpPr>
          <p:nvPr/>
        </p:nvSpPr>
        <p:spPr bwMode="auto">
          <a:xfrm>
            <a:off x="2771775" y="3213100"/>
            <a:ext cx="5761038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if  id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.place relop id</a:t>
            </a:r>
            <a:r>
              <a:rPr lang="en-US" altLang="zh-CN" sz="24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.place goto  E.true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goto E.false</a:t>
            </a:r>
          </a:p>
        </p:txBody>
      </p:sp>
      <p:sp>
        <p:nvSpPr>
          <p:cNvPr id="85002" name="Text Box 10"/>
          <p:cNvSpPr txBox="1">
            <a:spLocks noChangeArrowheads="1"/>
          </p:cNvSpPr>
          <p:nvPr/>
        </p:nvSpPr>
        <p:spPr bwMode="auto">
          <a:xfrm>
            <a:off x="2016125" y="3213100"/>
            <a:ext cx="6111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221537" cy="936625"/>
          </a:xfrm>
        </p:spPr>
        <p:txBody>
          <a:bodyPr/>
          <a:lstStyle/>
          <a:p>
            <a:r>
              <a:rPr lang="zh-CN" altLang="en-US" sz="40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  <a:endParaRPr lang="en-US" altLang="zh-CN" sz="2400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6019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947417-D674-4EB9-AD70-C6468F04C66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60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DD7974E-96A1-4A5E-958C-4C5F61E07808}" type="slidenum">
              <a:rPr lang="zh-CN" altLang="en-US"/>
              <a:pPr eaLnBrk="1" hangingPunct="1"/>
              <a:t>61</a:t>
            </a:fld>
            <a:endParaRPr lang="en-US" altLang="zh-CN"/>
          </a:p>
        </p:txBody>
      </p:sp>
      <p:sp>
        <p:nvSpPr>
          <p:cNvPr id="500741" name="Rectangle 5"/>
          <p:cNvSpPr>
            <a:spLocks noChangeArrowheads="1"/>
          </p:cNvSpPr>
          <p:nvPr/>
        </p:nvSpPr>
        <p:spPr bwMode="auto">
          <a:xfrm>
            <a:off x="1331913" y="4797425"/>
            <a:ext cx="6211887" cy="122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E.code:=</a:t>
            </a: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gen( 'if' id.place 'goto'  E.true)||</a:t>
            </a:r>
          </a:p>
          <a:p>
            <a:pPr marL="342900" indent="-342900">
              <a:lnSpc>
                <a:spcPct val="150000"/>
              </a:lnSpc>
            </a:pPr>
            <a:r>
              <a:rPr lang="en-US" altLang="zh-CN" sz="2400" b="1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		   gen( 'goto' E.false) </a:t>
            </a:r>
          </a:p>
        </p:txBody>
      </p:sp>
      <p:sp>
        <p:nvSpPr>
          <p:cNvPr id="86022" name="Rectangle 7"/>
          <p:cNvSpPr>
            <a:spLocks noChangeArrowheads="1"/>
          </p:cNvSpPr>
          <p:nvPr/>
        </p:nvSpPr>
        <p:spPr bwMode="auto">
          <a:xfrm>
            <a:off x="962025" y="3187700"/>
            <a:ext cx="1522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E → id</a:t>
            </a:r>
            <a:endParaRPr lang="zh-CN" altLang="en-US" sz="2400" b="1">
              <a:latin typeface="Times New Roman" pitchFamily="18" charset="0"/>
            </a:endParaRPr>
          </a:p>
        </p:txBody>
      </p:sp>
      <p:sp>
        <p:nvSpPr>
          <p:cNvPr id="86023" name="Rectangle 8"/>
          <p:cNvSpPr>
            <a:spLocks noChangeArrowheads="1"/>
          </p:cNvSpPr>
          <p:nvPr/>
        </p:nvSpPr>
        <p:spPr bwMode="auto">
          <a:xfrm>
            <a:off x="3744913" y="3108325"/>
            <a:ext cx="4572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if id.place goto  E.true</a:t>
            </a:r>
          </a:p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goto E.false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2987675" y="3068638"/>
            <a:ext cx="6111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目标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765175"/>
            <a:ext cx="7426325" cy="906463"/>
          </a:xfrm>
          <a:noFill/>
        </p:spPr>
        <p:txBody>
          <a:bodyPr lIns="92075" tIns="46038" rIns="92075" bIns="46038"/>
          <a:lstStyle/>
          <a:p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真假出口表示法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使用继承属性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4437063"/>
            <a:ext cx="8964612" cy="1935162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E.code := E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.code ||  E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2.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code </a:t>
            </a:r>
          </a:p>
          <a:p>
            <a:pPr marL="533400" indent="-53340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    || gen( </a:t>
            </a: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'if' E</a:t>
            </a:r>
            <a:r>
              <a:rPr lang="en-US" altLang="zh-CN" sz="28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relop E</a:t>
            </a:r>
            <a:r>
              <a:rPr lang="en-US" altLang="zh-CN" sz="2800" b="1" baseline="-25000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.place 'goto‘ E.true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) </a:t>
            </a:r>
          </a:p>
          <a:p>
            <a:pPr marL="533400" indent="-533400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|| gen( </a:t>
            </a: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'goto' E.false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)</a:t>
            </a:r>
          </a:p>
        </p:txBody>
      </p:sp>
      <p:sp>
        <p:nvSpPr>
          <p:cNvPr id="8704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025D4C-9C98-4AAC-8053-680CA03A8324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70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BA73876-A2AD-4CBF-AEE8-EBC7267E5CCC}" type="slidenum">
              <a:rPr lang="zh-CN" altLang="en-US"/>
              <a:pPr eaLnBrk="1" hangingPunct="1"/>
              <a:t>62</a:t>
            </a:fld>
            <a:endParaRPr lang="en-US" altLang="zh-CN"/>
          </a:p>
        </p:txBody>
      </p:sp>
      <p:sp>
        <p:nvSpPr>
          <p:cNvPr id="87046" name="Rectangle 4"/>
          <p:cNvSpPr>
            <a:spLocks noChangeArrowheads="1"/>
          </p:cNvSpPr>
          <p:nvPr/>
        </p:nvSpPr>
        <p:spPr bwMode="auto">
          <a:xfrm>
            <a:off x="900113" y="2997200"/>
            <a:ext cx="3384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latin typeface="Times New Roman" pitchFamily="18" charset="0"/>
              </a:rPr>
              <a:t>E → E</a:t>
            </a:r>
            <a:r>
              <a:rPr lang="en-US" altLang="zh-CN" sz="3200" b="1" baseline="-25000">
                <a:latin typeface="Times New Roman" pitchFamily="18" charset="0"/>
              </a:rPr>
              <a:t>1</a:t>
            </a:r>
            <a:r>
              <a:rPr lang="en-US" altLang="zh-CN" sz="3200" b="1">
                <a:latin typeface="Times New Roman" pitchFamily="18" charset="0"/>
              </a:rPr>
              <a:t> relop E</a:t>
            </a:r>
            <a:r>
              <a:rPr lang="en-US" altLang="zh-CN" sz="3200" b="1" baseline="-25000">
                <a:latin typeface="Times New Roman" pitchFamily="18" charset="0"/>
              </a:rPr>
              <a:t>2</a:t>
            </a:r>
            <a:endParaRPr lang="zh-CN" altLang="en-US" sz="3200" b="1" baseline="-25000">
              <a:latin typeface="Times New Roman" pitchFamily="18" charset="0"/>
            </a:endParaRPr>
          </a:p>
        </p:txBody>
      </p:sp>
      <p:sp>
        <p:nvSpPr>
          <p:cNvPr id="335877" name="Line 5"/>
          <p:cNvSpPr>
            <a:spLocks noChangeShapeType="1"/>
          </p:cNvSpPr>
          <p:nvPr/>
        </p:nvSpPr>
        <p:spPr bwMode="auto">
          <a:xfrm>
            <a:off x="4716463" y="2565400"/>
            <a:ext cx="3816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5878" name="Rectangle 6"/>
          <p:cNvSpPr>
            <a:spLocks noChangeArrowheads="1"/>
          </p:cNvSpPr>
          <p:nvPr/>
        </p:nvSpPr>
        <p:spPr bwMode="auto">
          <a:xfrm>
            <a:off x="3419475" y="1916113"/>
            <a:ext cx="120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5879" name="Rectangle 7"/>
          <p:cNvSpPr>
            <a:spLocks noChangeArrowheads="1"/>
          </p:cNvSpPr>
          <p:nvPr/>
        </p:nvSpPr>
        <p:spPr bwMode="auto">
          <a:xfrm>
            <a:off x="4787900" y="1916113"/>
            <a:ext cx="132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5880" name="Rectangle 8"/>
          <p:cNvSpPr>
            <a:spLocks noChangeArrowheads="1"/>
          </p:cNvSpPr>
          <p:nvPr/>
        </p:nvSpPr>
        <p:spPr bwMode="auto">
          <a:xfrm>
            <a:off x="4787900" y="2636838"/>
            <a:ext cx="132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E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.code</a:t>
            </a:r>
            <a:endParaRPr lang="zh-CN" altLang="en-US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4716463" y="1844675"/>
            <a:ext cx="3816350" cy="2592388"/>
            <a:chOff x="2971" y="1162"/>
            <a:chExt cx="2404" cy="1633"/>
          </a:xfrm>
        </p:grpSpPr>
        <p:sp>
          <p:nvSpPr>
            <p:cNvPr id="87054" name="Line 11"/>
            <p:cNvSpPr>
              <a:spLocks noChangeShapeType="1"/>
            </p:cNvSpPr>
            <p:nvPr/>
          </p:nvSpPr>
          <p:spPr bwMode="auto">
            <a:xfrm>
              <a:off x="5375" y="1162"/>
              <a:ext cx="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5" name="Line 12"/>
            <p:cNvSpPr>
              <a:spLocks noChangeShapeType="1"/>
            </p:cNvSpPr>
            <p:nvPr/>
          </p:nvSpPr>
          <p:spPr bwMode="auto">
            <a:xfrm>
              <a:off x="2971" y="1162"/>
              <a:ext cx="0" cy="16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6" name="Line 13"/>
            <p:cNvSpPr>
              <a:spLocks noChangeShapeType="1"/>
            </p:cNvSpPr>
            <p:nvPr/>
          </p:nvSpPr>
          <p:spPr bwMode="auto">
            <a:xfrm>
              <a:off x="2971" y="1162"/>
              <a:ext cx="24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057" name="Line 14"/>
            <p:cNvSpPr>
              <a:spLocks noChangeShapeType="1"/>
            </p:cNvSpPr>
            <p:nvPr/>
          </p:nvSpPr>
          <p:spPr bwMode="auto">
            <a:xfrm>
              <a:off x="2971" y="2017"/>
              <a:ext cx="24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5902" name="Rectangle 30"/>
          <p:cNvSpPr>
            <a:spLocks noChangeArrowheads="1"/>
          </p:cNvSpPr>
          <p:nvPr/>
        </p:nvSpPr>
        <p:spPr bwMode="auto">
          <a:xfrm>
            <a:off x="4711700" y="3278188"/>
            <a:ext cx="374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if E</a:t>
            </a:r>
            <a:r>
              <a:rPr lang="en-US" altLang="zh-CN" b="1" baseline="-25000">
                <a:solidFill>
                  <a:srgbClr val="000099"/>
                </a:solidFill>
                <a:latin typeface="Times New Roman" pitchFamily="18" charset="0"/>
              </a:rPr>
              <a:t>1</a:t>
            </a: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.place relop E</a:t>
            </a:r>
            <a:r>
              <a:rPr lang="en-US" altLang="zh-CN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.place goto E.true</a:t>
            </a:r>
            <a:endParaRPr lang="zh-CN" altLang="en-US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335903" name="Rectangle 31"/>
          <p:cNvSpPr>
            <a:spLocks noChangeArrowheads="1"/>
          </p:cNvSpPr>
          <p:nvPr/>
        </p:nvSpPr>
        <p:spPr bwMode="auto">
          <a:xfrm>
            <a:off x="4716463" y="3789363"/>
            <a:ext cx="137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goto  E.false</a:t>
            </a:r>
            <a:endParaRPr lang="zh-CN" altLang="en-US" b="1">
              <a:solidFill>
                <a:srgbClr val="000099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416800" cy="714375"/>
          </a:xfrm>
        </p:spPr>
        <p:txBody>
          <a:bodyPr/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>
                <a:latin typeface="Times New Roman" pitchFamily="18" charset="0"/>
                <a:ea typeface="华文新魏" pitchFamily="2" charset="-122"/>
              </a:rPr>
              <a:t>&lt;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b or c</a:t>
            </a:r>
            <a:r>
              <a:rPr lang="en-US" altLang="zh-CN">
                <a:latin typeface="Times New Roman" pitchFamily="18" charset="0"/>
                <a:ea typeface="华文新魏" pitchFamily="2" charset="-122"/>
              </a:rPr>
              <a:t>&lt;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d and e&lt;f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557338"/>
            <a:ext cx="7694612" cy="4795837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 a&lt;b goto 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Etrue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 L1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L1:if c&lt;d goto L2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 </a:t>
            </a: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Efalse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L2:if e&lt;f goto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Etrue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 </a:t>
            </a: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Efalse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Efalse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、 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Etrue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表示整个表达式的真假出口，它们的“值”在此或者在此之后被确定，到那时再返回去填写</a:t>
            </a:r>
            <a:endParaRPr lang="en-US" altLang="zh-CN" sz="2800" b="1" smtClean="0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806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58748BE-70AF-49E0-B10C-BF8C2949A6E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80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C395F8F-C395-44C2-948B-F53AB494D4B0}" type="slidenum">
              <a:rPr lang="zh-CN" altLang="en-US"/>
              <a:pPr eaLnBrk="1" hangingPunct="1"/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6481762" cy="1143000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  4+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a&gt;b-c and d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>
          <a:xfrm>
            <a:off x="682625" y="1628775"/>
            <a:ext cx="7632700" cy="46085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t1=4+a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t2=b-c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t1&gt;t2 goto L1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 </a:t>
            </a: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Efalse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L1: if d goto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 Etrue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 </a:t>
            </a: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Efalse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Efalse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Etrue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表示整个表达式的真假出口，它们的“值”在此或者在此之后被确定，到那时再返回去填写</a:t>
            </a:r>
            <a:endParaRPr lang="en-US" altLang="zh-CN" sz="2800" b="1" smtClean="0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909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AC0DC51-7D1B-4CAC-AE2F-ADEDB747D040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890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408E430-8941-4B41-8D92-A1620E504188}" type="slidenum">
              <a:rPr lang="zh-CN" altLang="en-US"/>
              <a:pPr eaLnBrk="1" hangingPunct="1"/>
              <a:t>64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838200"/>
            <a:ext cx="3997325" cy="8382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拉链回填技术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16113"/>
            <a:ext cx="5688012" cy="1512887"/>
          </a:xfrm>
        </p:spPr>
        <p:txBody>
          <a:bodyPr lIns="92075" tIns="46038" rIns="92075" bIns="46038"/>
          <a:lstStyle/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一遍扫描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先产生暂时没有填写目标标号的转移指令；     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endParaRPr kumimoji="1"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011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B004714-A45D-4B21-A343-E8817181B8B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01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9B571E2-CEA6-4716-B1B7-A6DE98577CD5}" type="slidenum">
              <a:rPr lang="zh-CN" altLang="en-US"/>
              <a:pPr eaLnBrk="1" hangingPunct="1"/>
              <a:t>65</a:t>
            </a:fld>
            <a:endParaRPr lang="en-US" altLang="zh-CN"/>
          </a:p>
        </p:txBody>
      </p:sp>
      <p:sp>
        <p:nvSpPr>
          <p:cNvPr id="338948" name="Text Box 4"/>
          <p:cNvSpPr txBox="1">
            <a:spLocks noChangeArrowheads="1"/>
          </p:cNvSpPr>
          <p:nvPr/>
        </p:nvSpPr>
        <p:spPr bwMode="auto">
          <a:xfrm>
            <a:off x="6588125" y="115888"/>
            <a:ext cx="230505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en-US" altLang="zh-CN" sz="2400" b="1">
                <a:latin typeface="Times New Roman" pitchFamily="18" charset="0"/>
              </a:rPr>
              <a:t> (j,,,0)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……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r>
              <a:rPr lang="en-US" altLang="zh-CN" sz="2400" b="1">
                <a:latin typeface="Times New Roman" pitchFamily="18" charset="0"/>
              </a:rPr>
              <a:t>(j&lt;,a,b,  0  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……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en-US" altLang="zh-CN" sz="2400" b="1" baseline="-25000">
                <a:latin typeface="Times New Roman" pitchFamily="18" charset="0"/>
              </a:rPr>
              <a:t>3</a:t>
            </a:r>
            <a:r>
              <a:rPr lang="en-US" altLang="zh-CN" sz="2400" b="1">
                <a:latin typeface="Times New Roman" pitchFamily="18" charset="0"/>
              </a:rPr>
              <a:t>(j=,c,d,  0  )</a:t>
            </a:r>
          </a:p>
        </p:txBody>
      </p:sp>
      <p:sp>
        <p:nvSpPr>
          <p:cNvPr id="338951" name="Text Box 7"/>
          <p:cNvSpPr txBox="1">
            <a:spLocks noChangeArrowheads="1"/>
          </p:cNvSpPr>
          <p:nvPr/>
        </p:nvSpPr>
        <p:spPr bwMode="auto">
          <a:xfrm>
            <a:off x="3779838" y="260350"/>
            <a:ext cx="223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Times New Roman" pitchFamily="18" charset="0"/>
              </a:rPr>
              <a:t>E.Turelist n</a:t>
            </a:r>
            <a:r>
              <a:rPr lang="en-US" altLang="zh-CN" sz="2400" b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338952" name="Freeform 8"/>
          <p:cNvSpPr>
            <a:spLocks/>
          </p:cNvSpPr>
          <p:nvPr/>
        </p:nvSpPr>
        <p:spPr bwMode="auto">
          <a:xfrm>
            <a:off x="5580063" y="620713"/>
            <a:ext cx="1008062" cy="1944687"/>
          </a:xfrm>
          <a:custGeom>
            <a:avLst/>
            <a:gdLst>
              <a:gd name="T0" fmla="*/ 0 w 816"/>
              <a:gd name="T1" fmla="*/ 0 h 1270"/>
              <a:gd name="T2" fmla="*/ 136 w 816"/>
              <a:gd name="T3" fmla="*/ 816 h 1270"/>
              <a:gd name="T4" fmla="*/ 816 w 816"/>
              <a:gd name="T5" fmla="*/ 1270 h 1270"/>
              <a:gd name="T6" fmla="*/ 0 60000 65536"/>
              <a:gd name="T7" fmla="*/ 0 60000 65536"/>
              <a:gd name="T8" fmla="*/ 0 60000 65536"/>
              <a:gd name="T9" fmla="*/ 0 w 816"/>
              <a:gd name="T10" fmla="*/ 0 h 1270"/>
              <a:gd name="T11" fmla="*/ 816 w 816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270">
                <a:moveTo>
                  <a:pt x="0" y="0"/>
                </a:moveTo>
                <a:cubicBezTo>
                  <a:pt x="0" y="302"/>
                  <a:pt x="0" y="604"/>
                  <a:pt x="136" y="816"/>
                </a:cubicBezTo>
                <a:cubicBezTo>
                  <a:pt x="272" y="1028"/>
                  <a:pt x="695" y="1194"/>
                  <a:pt x="816" y="127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53" name="Freeform 9"/>
          <p:cNvSpPr>
            <a:spLocks/>
          </p:cNvSpPr>
          <p:nvPr/>
        </p:nvSpPr>
        <p:spPr bwMode="auto">
          <a:xfrm>
            <a:off x="6108700" y="1484313"/>
            <a:ext cx="2135188" cy="1008062"/>
          </a:xfrm>
          <a:custGeom>
            <a:avLst/>
            <a:gdLst>
              <a:gd name="T0" fmla="*/ 1345 w 1345"/>
              <a:gd name="T1" fmla="*/ 635 h 635"/>
              <a:gd name="T2" fmla="*/ 166 w 1345"/>
              <a:gd name="T3" fmla="*/ 272 h 635"/>
              <a:gd name="T4" fmla="*/ 347 w 1345"/>
              <a:gd name="T5" fmla="*/ 0 h 635"/>
              <a:gd name="T6" fmla="*/ 0 60000 65536"/>
              <a:gd name="T7" fmla="*/ 0 60000 65536"/>
              <a:gd name="T8" fmla="*/ 0 60000 65536"/>
              <a:gd name="T9" fmla="*/ 0 w 1345"/>
              <a:gd name="T10" fmla="*/ 0 h 635"/>
              <a:gd name="T11" fmla="*/ 1345 w 13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635">
                <a:moveTo>
                  <a:pt x="1345" y="635"/>
                </a:moveTo>
                <a:cubicBezTo>
                  <a:pt x="838" y="506"/>
                  <a:pt x="332" y="378"/>
                  <a:pt x="166" y="272"/>
                </a:cubicBezTo>
                <a:cubicBezTo>
                  <a:pt x="0" y="166"/>
                  <a:pt x="173" y="83"/>
                  <a:pt x="34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54" name="Freeform 10"/>
          <p:cNvSpPr>
            <a:spLocks/>
          </p:cNvSpPr>
          <p:nvPr/>
        </p:nvSpPr>
        <p:spPr bwMode="auto">
          <a:xfrm>
            <a:off x="5951538" y="404813"/>
            <a:ext cx="2365375" cy="1008062"/>
          </a:xfrm>
          <a:custGeom>
            <a:avLst/>
            <a:gdLst>
              <a:gd name="T0" fmla="*/ 1490 w 1490"/>
              <a:gd name="T1" fmla="*/ 635 h 635"/>
              <a:gd name="T2" fmla="*/ 174 w 1490"/>
              <a:gd name="T3" fmla="*/ 272 h 635"/>
              <a:gd name="T4" fmla="*/ 446 w 1490"/>
              <a:gd name="T5" fmla="*/ 0 h 635"/>
              <a:gd name="T6" fmla="*/ 0 60000 65536"/>
              <a:gd name="T7" fmla="*/ 0 60000 65536"/>
              <a:gd name="T8" fmla="*/ 0 60000 65536"/>
              <a:gd name="T9" fmla="*/ 0 w 1490"/>
              <a:gd name="T10" fmla="*/ 0 h 635"/>
              <a:gd name="T11" fmla="*/ 1490 w 1490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0" h="635">
                <a:moveTo>
                  <a:pt x="1490" y="635"/>
                </a:moveTo>
                <a:cubicBezTo>
                  <a:pt x="919" y="506"/>
                  <a:pt x="348" y="378"/>
                  <a:pt x="174" y="272"/>
                </a:cubicBezTo>
                <a:cubicBezTo>
                  <a:pt x="0" y="166"/>
                  <a:pt x="223" y="83"/>
                  <a:pt x="446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956" name="Rectangle 12"/>
          <p:cNvSpPr>
            <a:spLocks noChangeArrowheads="1"/>
          </p:cNvSpPr>
          <p:nvPr/>
        </p:nvSpPr>
        <p:spPr bwMode="auto">
          <a:xfrm>
            <a:off x="900113" y="3286125"/>
            <a:ext cx="8345487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/>
          <a:lstStyle/>
          <a:p>
            <a:pPr marL="742950" lvl="1" indent="-285750">
              <a:lnSpc>
                <a:spcPct val="90000"/>
              </a:lnSpc>
              <a:buFontTx/>
              <a:buChar char="•"/>
            </a:pP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必须对于每一条这样的指令作记录；</a:t>
            </a:r>
          </a:p>
          <a:p>
            <a:pPr marL="742950" lvl="1" indent="-285750">
              <a:lnSpc>
                <a:spcPct val="90000"/>
              </a:lnSpc>
              <a:buFontTx/>
              <a:buChar char="•"/>
            </a:pP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一旦转移的目标“标号”被确定下来，再将它“</a:t>
            </a:r>
            <a:r>
              <a:rPr kumimoji="1" lang="zh-CN" altLang="en-US" sz="2800" b="1">
                <a:solidFill>
                  <a:srgbClr val="FF2750"/>
                </a:solidFill>
                <a:latin typeface="Times New Roman" pitchFamily="18" charset="0"/>
                <a:ea typeface="华文新魏" pitchFamily="2" charset="-122"/>
              </a:rPr>
              <a:t>回填</a:t>
            </a: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”到相应的指令中</a:t>
            </a:r>
          </a:p>
          <a:p>
            <a:pPr marL="742950" lvl="1" indent="-285750">
              <a:lnSpc>
                <a:spcPct val="90000"/>
              </a:lnSpc>
              <a:buFontTx/>
              <a:buChar char="•"/>
            </a:pP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布尔表达式</a:t>
            </a: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E</a:t>
            </a: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设属性</a:t>
            </a: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E.turelist</a:t>
            </a:r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和</a:t>
            </a: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E.falselist</a:t>
            </a:r>
          </a:p>
          <a:p>
            <a:pPr marL="1143000" lvl="2" indent="-228600">
              <a:lnSpc>
                <a:spcPct val="120000"/>
              </a:lnSpc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E.truelist——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对应真出口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Etrue</a:t>
            </a:r>
            <a:endParaRPr lang="en-US" altLang="zh-CN" sz="2400" b="1">
              <a:latin typeface="Times New Roman" pitchFamily="18" charset="0"/>
              <a:ea typeface="华文新魏" pitchFamily="2" charset="-122"/>
            </a:endParaRPr>
          </a:p>
          <a:p>
            <a:pPr marL="1143000" lvl="2" indent="-228600">
              <a:lnSpc>
                <a:spcPct val="120000"/>
              </a:lnSpc>
              <a:buClr>
                <a:schemeClr val="folHlink"/>
              </a:buClr>
              <a:buSzPct val="50000"/>
              <a:buFont typeface="Wingdings" pitchFamily="2" charset="2"/>
              <a:buChar char="n"/>
            </a:pP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E.falselist——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对应假出口</a:t>
            </a:r>
            <a:r>
              <a:rPr lang="en-US" altLang="zh-CN" sz="24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Efalse</a:t>
            </a:r>
          </a:p>
          <a:p>
            <a:pPr marL="342900" indent="-342900">
              <a:lnSpc>
                <a:spcPct val="90000"/>
              </a:lnSpc>
              <a:buFontTx/>
              <a:buChar char="•"/>
            </a:pPr>
            <a:r>
              <a:rPr kumimoji="1"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两遍扫描</a:t>
            </a:r>
            <a:endParaRPr kumimoji="1" lang="en-US" altLang="zh-CN" sz="3200" b="1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38957" name="Rectangle 13"/>
          <p:cNvSpPr>
            <a:spLocks noChangeArrowheads="1"/>
          </p:cNvSpPr>
          <p:nvPr/>
        </p:nvSpPr>
        <p:spPr bwMode="auto">
          <a:xfrm>
            <a:off x="7885113" y="1171575"/>
            <a:ext cx="455612" cy="457200"/>
          </a:xfrm>
          <a:prstGeom prst="rect">
            <a:avLst/>
          </a:prstGeom>
          <a:solidFill>
            <a:srgbClr val="F3F2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endParaRPr lang="zh-CN" altLang="en-US" sz="2400" b="1" baseline="-25000">
              <a:latin typeface="Times New Roman" pitchFamily="18" charset="0"/>
            </a:endParaRPr>
          </a:p>
        </p:txBody>
      </p:sp>
      <p:sp>
        <p:nvSpPr>
          <p:cNvPr id="338958" name="Rectangle 14"/>
          <p:cNvSpPr>
            <a:spLocks noChangeArrowheads="1"/>
          </p:cNvSpPr>
          <p:nvPr/>
        </p:nvSpPr>
        <p:spPr bwMode="auto">
          <a:xfrm>
            <a:off x="7891463" y="2278063"/>
            <a:ext cx="455612" cy="457200"/>
          </a:xfrm>
          <a:prstGeom prst="rect">
            <a:avLst/>
          </a:prstGeom>
          <a:solidFill>
            <a:srgbClr val="F3F2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n</a:t>
            </a:r>
            <a:r>
              <a:rPr lang="en-US" altLang="zh-CN" sz="2400" b="1" baseline="-25000">
                <a:latin typeface="Times New Roman" pitchFamily="18" charset="0"/>
              </a:rPr>
              <a:t>2</a:t>
            </a:r>
            <a:endParaRPr lang="zh-CN" altLang="en-US" sz="2400" b="1" baseline="-25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697038" y="504825"/>
            <a:ext cx="6307137" cy="1071563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拉链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回填举例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拉链</a:t>
            </a:r>
          </a:p>
        </p:txBody>
      </p:sp>
      <p:sp>
        <p:nvSpPr>
          <p:cNvPr id="376871" name="Rectangle 39"/>
          <p:cNvSpPr>
            <a:spLocks noGrp="1" noChangeArrowheads="1"/>
          </p:cNvSpPr>
          <p:nvPr>
            <p:ph idx="1"/>
          </p:nvPr>
        </p:nvSpPr>
        <p:spPr>
          <a:xfrm>
            <a:off x="622300" y="1628775"/>
            <a:ext cx="7766050" cy="1871663"/>
          </a:xfrm>
        </p:spPr>
        <p:txBody>
          <a:bodyPr/>
          <a:lstStyle/>
          <a:p>
            <a:pPr defTabSz="1046163">
              <a:spcBef>
                <a:spcPct val="0"/>
              </a:spcBef>
              <a:buClrTx/>
              <a:buSzTx/>
              <a:buFontTx/>
              <a:buNone/>
              <a:tabLst>
                <a:tab pos="265113" algn="l"/>
              </a:tabLst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1．</a:t>
            </a:r>
            <a:r>
              <a:rPr kumimoji="1"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makelist(i)：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创建一个仅包含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的新链表，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是四元式数组的一个索引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地址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，或说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是四元式代码序列的一个标号</a:t>
            </a:r>
            <a:endParaRPr kumimoji="1"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114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3479E63-69C5-4650-A982-8E1CF5682BD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11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5B100D5-6B98-4395-8337-7F756C344F33}" type="slidenum">
              <a:rPr lang="zh-CN" altLang="en-US"/>
              <a:pPr eaLnBrk="1" hangingPunct="1"/>
              <a:t>66</a:t>
            </a:fld>
            <a:endParaRPr lang="en-US" altLang="zh-CN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4716463" y="3516313"/>
            <a:ext cx="3671887" cy="2227262"/>
            <a:chOff x="3107" y="2442"/>
            <a:chExt cx="2313" cy="1403"/>
          </a:xfrm>
        </p:grpSpPr>
        <p:sp>
          <p:nvSpPr>
            <p:cNvPr id="91155" name="Freeform 7"/>
            <p:cNvSpPr>
              <a:spLocks/>
            </p:cNvSpPr>
            <p:nvPr/>
          </p:nvSpPr>
          <p:spPr bwMode="auto">
            <a:xfrm>
              <a:off x="3379" y="2760"/>
              <a:ext cx="680" cy="953"/>
            </a:xfrm>
            <a:custGeom>
              <a:avLst/>
              <a:gdLst>
                <a:gd name="T0" fmla="*/ 0 w 816"/>
                <a:gd name="T1" fmla="*/ 0 h 1270"/>
                <a:gd name="T2" fmla="*/ 136 w 816"/>
                <a:gd name="T3" fmla="*/ 816 h 1270"/>
                <a:gd name="T4" fmla="*/ 816 w 816"/>
                <a:gd name="T5" fmla="*/ 1270 h 1270"/>
                <a:gd name="T6" fmla="*/ 0 60000 65536"/>
                <a:gd name="T7" fmla="*/ 0 60000 65536"/>
                <a:gd name="T8" fmla="*/ 0 60000 65536"/>
                <a:gd name="T9" fmla="*/ 0 w 816"/>
                <a:gd name="T10" fmla="*/ 0 h 1270"/>
                <a:gd name="T11" fmla="*/ 816 w 816"/>
                <a:gd name="T12" fmla="*/ 1270 h 12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6" h="1270">
                  <a:moveTo>
                    <a:pt x="0" y="0"/>
                  </a:moveTo>
                  <a:cubicBezTo>
                    <a:pt x="0" y="302"/>
                    <a:pt x="0" y="604"/>
                    <a:pt x="136" y="816"/>
                  </a:cubicBezTo>
                  <a:cubicBezTo>
                    <a:pt x="272" y="1028"/>
                    <a:pt x="695" y="1194"/>
                    <a:pt x="816" y="1270"/>
                  </a:cubicBezTo>
                </a:path>
              </a:pathLst>
            </a:cu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6" name="Freeform 8"/>
            <p:cNvSpPr>
              <a:spLocks/>
            </p:cNvSpPr>
            <p:nvPr/>
          </p:nvSpPr>
          <p:spPr bwMode="auto">
            <a:xfrm>
              <a:off x="3833" y="3158"/>
              <a:ext cx="1134" cy="499"/>
            </a:xfrm>
            <a:custGeom>
              <a:avLst/>
              <a:gdLst>
                <a:gd name="T0" fmla="*/ 1345 w 1345"/>
                <a:gd name="T1" fmla="*/ 635 h 635"/>
                <a:gd name="T2" fmla="*/ 166 w 1345"/>
                <a:gd name="T3" fmla="*/ 272 h 635"/>
                <a:gd name="T4" fmla="*/ 347 w 1345"/>
                <a:gd name="T5" fmla="*/ 0 h 635"/>
                <a:gd name="T6" fmla="*/ 0 60000 65536"/>
                <a:gd name="T7" fmla="*/ 0 60000 65536"/>
                <a:gd name="T8" fmla="*/ 0 60000 65536"/>
                <a:gd name="T9" fmla="*/ 0 w 1345"/>
                <a:gd name="T10" fmla="*/ 0 h 635"/>
                <a:gd name="T11" fmla="*/ 1345 w 1345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5" h="635">
                  <a:moveTo>
                    <a:pt x="1345" y="635"/>
                  </a:moveTo>
                  <a:cubicBezTo>
                    <a:pt x="838" y="506"/>
                    <a:pt x="332" y="378"/>
                    <a:pt x="166" y="272"/>
                  </a:cubicBezTo>
                  <a:cubicBezTo>
                    <a:pt x="0" y="166"/>
                    <a:pt x="173" y="83"/>
                    <a:pt x="347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7" name="Freeform 9"/>
            <p:cNvSpPr>
              <a:spLocks/>
            </p:cNvSpPr>
            <p:nvPr/>
          </p:nvSpPr>
          <p:spPr bwMode="auto">
            <a:xfrm>
              <a:off x="3742" y="2659"/>
              <a:ext cx="1315" cy="454"/>
            </a:xfrm>
            <a:custGeom>
              <a:avLst/>
              <a:gdLst>
                <a:gd name="T0" fmla="*/ 1490 w 1490"/>
                <a:gd name="T1" fmla="*/ 635 h 635"/>
                <a:gd name="T2" fmla="*/ 174 w 1490"/>
                <a:gd name="T3" fmla="*/ 272 h 635"/>
                <a:gd name="T4" fmla="*/ 446 w 1490"/>
                <a:gd name="T5" fmla="*/ 0 h 635"/>
                <a:gd name="T6" fmla="*/ 0 60000 65536"/>
                <a:gd name="T7" fmla="*/ 0 60000 65536"/>
                <a:gd name="T8" fmla="*/ 0 60000 65536"/>
                <a:gd name="T9" fmla="*/ 0 w 1490"/>
                <a:gd name="T10" fmla="*/ 0 h 635"/>
                <a:gd name="T11" fmla="*/ 1490 w 1490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90" h="635">
                  <a:moveTo>
                    <a:pt x="1490" y="635"/>
                  </a:moveTo>
                  <a:cubicBezTo>
                    <a:pt x="919" y="506"/>
                    <a:pt x="348" y="378"/>
                    <a:pt x="174" y="272"/>
                  </a:cubicBezTo>
                  <a:cubicBezTo>
                    <a:pt x="0" y="166"/>
                    <a:pt x="223" y="83"/>
                    <a:pt x="446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158" name="Text Box 5"/>
            <p:cNvSpPr txBox="1">
              <a:spLocks noChangeArrowheads="1"/>
            </p:cNvSpPr>
            <p:nvPr/>
          </p:nvSpPr>
          <p:spPr bwMode="auto">
            <a:xfrm>
              <a:off x="4014" y="2442"/>
              <a:ext cx="1406" cy="1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 (j, , , 0 )</a:t>
              </a:r>
            </a:p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……</a:t>
              </a:r>
            </a:p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(j&lt;,a,b, n</a:t>
              </a:r>
              <a:r>
                <a:rPr lang="en-US" altLang="zh-CN" sz="2800" b="1" baseline="-25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</a:p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……</a:t>
              </a:r>
            </a:p>
            <a:p>
              <a:pPr eaLnBrk="1" hangingPunct="1"/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3</a:t>
              </a:r>
              <a:r>
                <a:rPr lang="en-US" altLang="zh-CN" sz="2800" b="1">
                  <a:latin typeface="Times New Roman" pitchFamily="18" charset="0"/>
                </a:rPr>
                <a:t>(j=,c,d,n</a:t>
              </a:r>
              <a:r>
                <a:rPr lang="en-US" altLang="zh-CN" sz="2800" b="1" baseline="-25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91159" name="Text Box 6"/>
            <p:cNvSpPr txBox="1">
              <a:spLocks noChangeArrowheads="1"/>
            </p:cNvSpPr>
            <p:nvPr/>
          </p:nvSpPr>
          <p:spPr bwMode="auto">
            <a:xfrm>
              <a:off x="3107" y="2442"/>
              <a:ext cx="7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2"/>
                  </a:solidFill>
                  <a:latin typeface="Times New Roman" pitchFamily="18" charset="0"/>
                </a:rPr>
                <a:t>P2: n</a:t>
              </a:r>
              <a:r>
                <a:rPr lang="en-US" altLang="zh-CN" sz="2800" b="1" baseline="-25000">
                  <a:solidFill>
                    <a:schemeClr val="tx2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sp>
        <p:nvSpPr>
          <p:cNvPr id="376844" name="Text Box 12"/>
          <p:cNvSpPr txBox="1">
            <a:spLocks noChangeArrowheads="1"/>
          </p:cNvSpPr>
          <p:nvPr/>
        </p:nvSpPr>
        <p:spPr bwMode="auto">
          <a:xfrm>
            <a:off x="468313" y="3652838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P1:</a:t>
            </a:r>
            <a:endParaRPr lang="en-US" altLang="zh-CN" sz="2800" b="1" baseline="-25000">
              <a:latin typeface="Times New Roman" pitchFamily="18" charset="0"/>
            </a:endParaRPr>
          </a:p>
        </p:txBody>
      </p:sp>
      <p:sp>
        <p:nvSpPr>
          <p:cNvPr id="376845" name="Freeform 13"/>
          <p:cNvSpPr>
            <a:spLocks/>
          </p:cNvSpPr>
          <p:nvPr/>
        </p:nvSpPr>
        <p:spPr bwMode="auto">
          <a:xfrm>
            <a:off x="1331913" y="3941763"/>
            <a:ext cx="792162" cy="69850"/>
          </a:xfrm>
          <a:custGeom>
            <a:avLst/>
            <a:gdLst>
              <a:gd name="T0" fmla="*/ 0 w 816"/>
              <a:gd name="T1" fmla="*/ 0 h 1270"/>
              <a:gd name="T2" fmla="*/ 136 w 816"/>
              <a:gd name="T3" fmla="*/ 816 h 1270"/>
              <a:gd name="T4" fmla="*/ 816 w 816"/>
              <a:gd name="T5" fmla="*/ 1270 h 1270"/>
              <a:gd name="T6" fmla="*/ 0 60000 65536"/>
              <a:gd name="T7" fmla="*/ 0 60000 65536"/>
              <a:gd name="T8" fmla="*/ 0 60000 65536"/>
              <a:gd name="T9" fmla="*/ 0 w 816"/>
              <a:gd name="T10" fmla="*/ 0 h 1270"/>
              <a:gd name="T11" fmla="*/ 816 w 816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270">
                <a:moveTo>
                  <a:pt x="0" y="0"/>
                </a:moveTo>
                <a:cubicBezTo>
                  <a:pt x="0" y="302"/>
                  <a:pt x="0" y="604"/>
                  <a:pt x="136" y="816"/>
                </a:cubicBezTo>
                <a:cubicBezTo>
                  <a:pt x="272" y="1028"/>
                  <a:pt x="695" y="1194"/>
                  <a:pt x="816" y="1270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6846" name="Freeform 14"/>
          <p:cNvSpPr>
            <a:spLocks/>
          </p:cNvSpPr>
          <p:nvPr/>
        </p:nvSpPr>
        <p:spPr bwMode="auto">
          <a:xfrm>
            <a:off x="1692275" y="4940300"/>
            <a:ext cx="1871663" cy="792163"/>
          </a:xfrm>
          <a:custGeom>
            <a:avLst/>
            <a:gdLst>
              <a:gd name="T0" fmla="*/ 1345 w 1345"/>
              <a:gd name="T1" fmla="*/ 635 h 635"/>
              <a:gd name="T2" fmla="*/ 166 w 1345"/>
              <a:gd name="T3" fmla="*/ 272 h 635"/>
              <a:gd name="T4" fmla="*/ 347 w 1345"/>
              <a:gd name="T5" fmla="*/ 0 h 635"/>
              <a:gd name="T6" fmla="*/ 0 60000 65536"/>
              <a:gd name="T7" fmla="*/ 0 60000 65536"/>
              <a:gd name="T8" fmla="*/ 0 60000 65536"/>
              <a:gd name="T9" fmla="*/ 0 w 1345"/>
              <a:gd name="T10" fmla="*/ 0 h 635"/>
              <a:gd name="T11" fmla="*/ 1345 w 13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635">
                <a:moveTo>
                  <a:pt x="1345" y="635"/>
                </a:moveTo>
                <a:cubicBezTo>
                  <a:pt x="838" y="506"/>
                  <a:pt x="332" y="378"/>
                  <a:pt x="166" y="272"/>
                </a:cubicBezTo>
                <a:cubicBezTo>
                  <a:pt x="0" y="166"/>
                  <a:pt x="173" y="83"/>
                  <a:pt x="34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6847" name="Freeform 15"/>
          <p:cNvSpPr>
            <a:spLocks/>
          </p:cNvSpPr>
          <p:nvPr/>
        </p:nvSpPr>
        <p:spPr bwMode="auto">
          <a:xfrm>
            <a:off x="1547813" y="4005263"/>
            <a:ext cx="2087562" cy="792162"/>
          </a:xfrm>
          <a:custGeom>
            <a:avLst/>
            <a:gdLst>
              <a:gd name="T0" fmla="*/ 1490 w 1490"/>
              <a:gd name="T1" fmla="*/ 635 h 635"/>
              <a:gd name="T2" fmla="*/ 174 w 1490"/>
              <a:gd name="T3" fmla="*/ 272 h 635"/>
              <a:gd name="T4" fmla="*/ 446 w 1490"/>
              <a:gd name="T5" fmla="*/ 0 h 635"/>
              <a:gd name="T6" fmla="*/ 0 60000 65536"/>
              <a:gd name="T7" fmla="*/ 0 60000 65536"/>
              <a:gd name="T8" fmla="*/ 0 60000 65536"/>
              <a:gd name="T9" fmla="*/ 0 w 1490"/>
              <a:gd name="T10" fmla="*/ 0 h 635"/>
              <a:gd name="T11" fmla="*/ 1490 w 1490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0" h="635">
                <a:moveTo>
                  <a:pt x="1490" y="635"/>
                </a:moveTo>
                <a:cubicBezTo>
                  <a:pt x="919" y="506"/>
                  <a:pt x="348" y="378"/>
                  <a:pt x="174" y="272"/>
                </a:cubicBezTo>
                <a:cubicBezTo>
                  <a:pt x="0" y="166"/>
                  <a:pt x="223" y="83"/>
                  <a:pt x="446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6858" name="Text Box 26"/>
          <p:cNvSpPr txBox="1">
            <a:spLocks noChangeArrowheads="1"/>
          </p:cNvSpPr>
          <p:nvPr/>
        </p:nvSpPr>
        <p:spPr bwMode="auto">
          <a:xfrm>
            <a:off x="1979613" y="3725863"/>
            <a:ext cx="1944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 (j, , , 0 )</a:t>
            </a:r>
          </a:p>
        </p:txBody>
      </p:sp>
      <p:sp>
        <p:nvSpPr>
          <p:cNvPr id="376860" name="Text Box 28"/>
          <p:cNvSpPr txBox="1">
            <a:spLocks noChangeArrowheads="1"/>
          </p:cNvSpPr>
          <p:nvPr/>
        </p:nvSpPr>
        <p:spPr bwMode="auto">
          <a:xfrm>
            <a:off x="1979613" y="4167188"/>
            <a:ext cx="2232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(j&lt;,a,b, 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376861" name="Freeform 29"/>
          <p:cNvSpPr>
            <a:spLocks/>
          </p:cNvSpPr>
          <p:nvPr/>
        </p:nvSpPr>
        <p:spPr bwMode="auto">
          <a:xfrm>
            <a:off x="1187450" y="3941763"/>
            <a:ext cx="865188" cy="935037"/>
          </a:xfrm>
          <a:custGeom>
            <a:avLst/>
            <a:gdLst>
              <a:gd name="T0" fmla="*/ 0 w 545"/>
              <a:gd name="T1" fmla="*/ 0 h 635"/>
              <a:gd name="T2" fmla="*/ 182 w 545"/>
              <a:gd name="T3" fmla="*/ 453 h 635"/>
              <a:gd name="T4" fmla="*/ 545 w 545"/>
              <a:gd name="T5" fmla="*/ 635 h 635"/>
              <a:gd name="T6" fmla="*/ 0 60000 65536"/>
              <a:gd name="T7" fmla="*/ 0 60000 65536"/>
              <a:gd name="T8" fmla="*/ 0 60000 65536"/>
              <a:gd name="T9" fmla="*/ 0 w 545"/>
              <a:gd name="T10" fmla="*/ 0 h 635"/>
              <a:gd name="T11" fmla="*/ 545 w 5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635">
                <a:moveTo>
                  <a:pt x="0" y="0"/>
                </a:moveTo>
                <a:cubicBezTo>
                  <a:pt x="45" y="173"/>
                  <a:pt x="91" y="347"/>
                  <a:pt x="182" y="453"/>
                </a:cubicBezTo>
                <a:cubicBezTo>
                  <a:pt x="273" y="559"/>
                  <a:pt x="477" y="612"/>
                  <a:pt x="545" y="635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6862" name="Text Box 30"/>
          <p:cNvSpPr txBox="1">
            <a:spLocks noChangeArrowheads="1"/>
          </p:cNvSpPr>
          <p:nvPr/>
        </p:nvSpPr>
        <p:spPr bwMode="auto">
          <a:xfrm>
            <a:off x="1979613" y="5094288"/>
            <a:ext cx="2232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  <a:r>
              <a:rPr lang="en-US" altLang="zh-CN" sz="2800" b="1">
                <a:latin typeface="Times New Roman" pitchFamily="18" charset="0"/>
              </a:rPr>
              <a:t>(j=,c,d,n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376863" name="Text Box 31"/>
          <p:cNvSpPr txBox="1">
            <a:spLocks noChangeArrowheads="1"/>
          </p:cNvSpPr>
          <p:nvPr/>
        </p:nvSpPr>
        <p:spPr bwMode="auto">
          <a:xfrm>
            <a:off x="971550" y="3616325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</a:p>
        </p:txBody>
      </p:sp>
      <p:sp>
        <p:nvSpPr>
          <p:cNvPr id="376864" name="Text Box 32"/>
          <p:cNvSpPr txBox="1">
            <a:spLocks noChangeArrowheads="1"/>
          </p:cNvSpPr>
          <p:nvPr/>
        </p:nvSpPr>
        <p:spPr bwMode="auto">
          <a:xfrm>
            <a:off x="971550" y="3616325"/>
            <a:ext cx="504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</a:p>
        </p:txBody>
      </p:sp>
      <p:sp>
        <p:nvSpPr>
          <p:cNvPr id="376865" name="Freeform 33"/>
          <p:cNvSpPr>
            <a:spLocks/>
          </p:cNvSpPr>
          <p:nvPr/>
        </p:nvSpPr>
        <p:spPr bwMode="auto">
          <a:xfrm>
            <a:off x="1116013" y="3941763"/>
            <a:ext cx="936625" cy="1871662"/>
          </a:xfrm>
          <a:custGeom>
            <a:avLst/>
            <a:gdLst>
              <a:gd name="T0" fmla="*/ 0 w 590"/>
              <a:gd name="T1" fmla="*/ 0 h 1179"/>
              <a:gd name="T2" fmla="*/ 136 w 590"/>
              <a:gd name="T3" fmla="*/ 726 h 1179"/>
              <a:gd name="T4" fmla="*/ 590 w 590"/>
              <a:gd name="T5" fmla="*/ 1179 h 1179"/>
              <a:gd name="T6" fmla="*/ 0 60000 65536"/>
              <a:gd name="T7" fmla="*/ 0 60000 65536"/>
              <a:gd name="T8" fmla="*/ 0 60000 65536"/>
              <a:gd name="T9" fmla="*/ 0 w 590"/>
              <a:gd name="T10" fmla="*/ 0 h 1179"/>
              <a:gd name="T11" fmla="*/ 590 w 590"/>
              <a:gd name="T12" fmla="*/ 1179 h 1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0" h="1179">
                <a:moveTo>
                  <a:pt x="0" y="0"/>
                </a:moveTo>
                <a:cubicBezTo>
                  <a:pt x="19" y="265"/>
                  <a:pt x="38" y="530"/>
                  <a:pt x="136" y="726"/>
                </a:cubicBezTo>
                <a:cubicBezTo>
                  <a:pt x="234" y="922"/>
                  <a:pt x="412" y="1050"/>
                  <a:pt x="590" y="1179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6867" name="Text Box 35"/>
          <p:cNvSpPr txBox="1">
            <a:spLocks noChangeArrowheads="1"/>
          </p:cNvSpPr>
          <p:nvPr/>
        </p:nvSpPr>
        <p:spPr bwMode="auto">
          <a:xfrm>
            <a:off x="971550" y="3616325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7038" y="504825"/>
            <a:ext cx="6045200" cy="1071563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拉链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回填举例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并链</a:t>
            </a:r>
          </a:p>
        </p:txBody>
      </p:sp>
      <p:sp>
        <p:nvSpPr>
          <p:cNvPr id="424982" name="Rectangle 22"/>
          <p:cNvSpPr>
            <a:spLocks noGrp="1" noChangeArrowheads="1"/>
          </p:cNvSpPr>
          <p:nvPr>
            <p:ph idx="1"/>
          </p:nvPr>
        </p:nvSpPr>
        <p:spPr>
          <a:xfrm>
            <a:off x="838200" y="1989138"/>
            <a:ext cx="7766050" cy="1223962"/>
          </a:xfrm>
        </p:spPr>
        <p:txBody>
          <a:bodyPr/>
          <a:lstStyle/>
          <a:p>
            <a:pPr marL="0" indent="0" defTabSz="1046163">
              <a:buFont typeface="Wingdings" pitchFamily="2" charset="2"/>
              <a:buNone/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    2．</a:t>
            </a:r>
            <a:r>
              <a:rPr kumimoji="1"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merge(p1，p2)：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将由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p2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指向的表接在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p1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所指向的链表后，返回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p1</a:t>
            </a:r>
          </a:p>
        </p:txBody>
      </p:sp>
      <p:sp>
        <p:nvSpPr>
          <p:cNvPr id="9216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234F710-8452-4C9E-AE8C-E751E1E55C21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21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C6FD71A-B334-49E2-9B50-AE05AE87C30C}" type="slidenum">
              <a:rPr lang="zh-CN" altLang="en-US"/>
              <a:pPr eaLnBrk="1" hangingPunct="1"/>
              <a:t>67</a:t>
            </a:fld>
            <a:endParaRPr lang="en-US" altLang="zh-CN"/>
          </a:p>
        </p:txBody>
      </p:sp>
      <p:sp>
        <p:nvSpPr>
          <p:cNvPr id="424965" name="Freeform 5"/>
          <p:cNvSpPr>
            <a:spLocks/>
          </p:cNvSpPr>
          <p:nvPr/>
        </p:nvSpPr>
        <p:spPr bwMode="auto">
          <a:xfrm>
            <a:off x="5076825" y="4076700"/>
            <a:ext cx="1079500" cy="1722438"/>
          </a:xfrm>
          <a:custGeom>
            <a:avLst/>
            <a:gdLst>
              <a:gd name="T0" fmla="*/ 0 w 816"/>
              <a:gd name="T1" fmla="*/ 0 h 1270"/>
              <a:gd name="T2" fmla="*/ 136 w 816"/>
              <a:gd name="T3" fmla="*/ 816 h 1270"/>
              <a:gd name="T4" fmla="*/ 816 w 816"/>
              <a:gd name="T5" fmla="*/ 1270 h 1270"/>
              <a:gd name="T6" fmla="*/ 0 60000 65536"/>
              <a:gd name="T7" fmla="*/ 0 60000 65536"/>
              <a:gd name="T8" fmla="*/ 0 60000 65536"/>
              <a:gd name="T9" fmla="*/ 0 w 816"/>
              <a:gd name="T10" fmla="*/ 0 h 1270"/>
              <a:gd name="T11" fmla="*/ 816 w 816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270">
                <a:moveTo>
                  <a:pt x="0" y="0"/>
                </a:moveTo>
                <a:cubicBezTo>
                  <a:pt x="0" y="302"/>
                  <a:pt x="0" y="604"/>
                  <a:pt x="136" y="816"/>
                </a:cubicBezTo>
                <a:cubicBezTo>
                  <a:pt x="272" y="1028"/>
                  <a:pt x="695" y="1194"/>
                  <a:pt x="816" y="1270"/>
                </a:cubicBezTo>
              </a:path>
            </a:pathLst>
          </a:cu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167" name="Group 23"/>
          <p:cNvGrpSpPr>
            <a:grpSpLocks/>
          </p:cNvGrpSpPr>
          <p:nvPr/>
        </p:nvGrpSpPr>
        <p:grpSpPr bwMode="auto">
          <a:xfrm>
            <a:off x="5448300" y="3500438"/>
            <a:ext cx="2868613" cy="2570162"/>
            <a:chOff x="3432" y="2205"/>
            <a:chExt cx="1807" cy="1619"/>
          </a:xfrm>
        </p:grpSpPr>
        <p:sp>
          <p:nvSpPr>
            <p:cNvPr id="92176" name="Freeform 6"/>
            <p:cNvSpPr>
              <a:spLocks/>
            </p:cNvSpPr>
            <p:nvPr/>
          </p:nvSpPr>
          <p:spPr bwMode="auto">
            <a:xfrm>
              <a:off x="3531" y="2976"/>
              <a:ext cx="1299" cy="677"/>
            </a:xfrm>
            <a:custGeom>
              <a:avLst/>
              <a:gdLst>
                <a:gd name="T0" fmla="*/ 1345 w 1345"/>
                <a:gd name="T1" fmla="*/ 635 h 635"/>
                <a:gd name="T2" fmla="*/ 166 w 1345"/>
                <a:gd name="T3" fmla="*/ 272 h 635"/>
                <a:gd name="T4" fmla="*/ 347 w 1345"/>
                <a:gd name="T5" fmla="*/ 0 h 635"/>
                <a:gd name="T6" fmla="*/ 0 60000 65536"/>
                <a:gd name="T7" fmla="*/ 0 60000 65536"/>
                <a:gd name="T8" fmla="*/ 0 60000 65536"/>
                <a:gd name="T9" fmla="*/ 0 w 1345"/>
                <a:gd name="T10" fmla="*/ 0 h 635"/>
                <a:gd name="T11" fmla="*/ 1345 w 1345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5" h="635">
                  <a:moveTo>
                    <a:pt x="1345" y="635"/>
                  </a:moveTo>
                  <a:cubicBezTo>
                    <a:pt x="838" y="506"/>
                    <a:pt x="332" y="378"/>
                    <a:pt x="166" y="272"/>
                  </a:cubicBezTo>
                  <a:cubicBezTo>
                    <a:pt x="0" y="166"/>
                    <a:pt x="173" y="83"/>
                    <a:pt x="347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7" name="Freeform 7"/>
            <p:cNvSpPr>
              <a:spLocks/>
            </p:cNvSpPr>
            <p:nvPr/>
          </p:nvSpPr>
          <p:spPr bwMode="auto">
            <a:xfrm>
              <a:off x="3432" y="2432"/>
              <a:ext cx="1444" cy="540"/>
            </a:xfrm>
            <a:custGeom>
              <a:avLst/>
              <a:gdLst>
                <a:gd name="T0" fmla="*/ 1490 w 1490"/>
                <a:gd name="T1" fmla="*/ 635 h 635"/>
                <a:gd name="T2" fmla="*/ 174 w 1490"/>
                <a:gd name="T3" fmla="*/ 272 h 635"/>
                <a:gd name="T4" fmla="*/ 446 w 1490"/>
                <a:gd name="T5" fmla="*/ 0 h 635"/>
                <a:gd name="T6" fmla="*/ 0 60000 65536"/>
                <a:gd name="T7" fmla="*/ 0 60000 65536"/>
                <a:gd name="T8" fmla="*/ 0 60000 65536"/>
                <a:gd name="T9" fmla="*/ 0 w 1490"/>
                <a:gd name="T10" fmla="*/ 0 h 635"/>
                <a:gd name="T11" fmla="*/ 1490 w 1490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90" h="635">
                  <a:moveTo>
                    <a:pt x="1490" y="635"/>
                  </a:moveTo>
                  <a:cubicBezTo>
                    <a:pt x="919" y="506"/>
                    <a:pt x="348" y="378"/>
                    <a:pt x="174" y="272"/>
                  </a:cubicBezTo>
                  <a:cubicBezTo>
                    <a:pt x="0" y="166"/>
                    <a:pt x="223" y="83"/>
                    <a:pt x="446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178" name="Text Box 9"/>
            <p:cNvSpPr txBox="1">
              <a:spLocks noChangeArrowheads="1"/>
            </p:cNvSpPr>
            <p:nvPr/>
          </p:nvSpPr>
          <p:spPr bwMode="auto">
            <a:xfrm>
              <a:off x="3833" y="2205"/>
              <a:ext cx="1406" cy="1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 (j,,,0)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800" b="1">
                  <a:latin typeface="Times New Roman" pitchFamily="18" charset="0"/>
                </a:rPr>
                <a:t>……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(j&lt;,a,b, n</a:t>
              </a:r>
              <a:r>
                <a:rPr lang="en-US" altLang="zh-CN" sz="2800" b="1" baseline="-25000">
                  <a:latin typeface="Times New Roman" pitchFamily="18" charset="0"/>
                </a:rPr>
                <a:t>1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800" b="1">
                  <a:latin typeface="Times New Roman" pitchFamily="18" charset="0"/>
                </a:rPr>
                <a:t>……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800" b="1">
                  <a:latin typeface="Times New Roman" pitchFamily="18" charset="0"/>
                </a:rPr>
                <a:t>n</a:t>
              </a:r>
              <a:r>
                <a:rPr lang="en-US" altLang="zh-CN" sz="2800" b="1" baseline="-25000">
                  <a:latin typeface="Times New Roman" pitchFamily="18" charset="0"/>
                </a:rPr>
                <a:t>3</a:t>
              </a:r>
              <a:r>
                <a:rPr lang="en-US" altLang="zh-CN" sz="2800" b="1">
                  <a:latin typeface="Times New Roman" pitchFamily="18" charset="0"/>
                </a:rPr>
                <a:t>(j=,c,d,n</a:t>
              </a:r>
              <a:r>
                <a:rPr lang="en-US" altLang="zh-CN" sz="2800" b="1" baseline="-25000">
                  <a:latin typeface="Times New Roman" pitchFamily="18" charset="0"/>
                </a:rPr>
                <a:t>2</a:t>
              </a:r>
              <a:r>
                <a:rPr lang="en-US" altLang="zh-CN" sz="2800" b="1">
                  <a:latin typeface="Times New Roman" pitchFamily="18" charset="0"/>
                </a:rPr>
                <a:t>)</a:t>
              </a:r>
            </a:p>
          </p:txBody>
        </p:sp>
      </p:grpSp>
      <p:sp>
        <p:nvSpPr>
          <p:cNvPr id="424971" name="Text Box 11"/>
          <p:cNvSpPr txBox="1">
            <a:spLocks noChangeArrowheads="1"/>
          </p:cNvSpPr>
          <p:nvPr/>
        </p:nvSpPr>
        <p:spPr bwMode="auto">
          <a:xfrm>
            <a:off x="4645025" y="3571875"/>
            <a:ext cx="1366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0099"/>
                </a:solidFill>
                <a:latin typeface="Times New Roman" pitchFamily="18" charset="0"/>
              </a:rPr>
              <a:t>P2: n</a:t>
            </a:r>
            <a:r>
              <a:rPr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92169" name="Text Box 12"/>
          <p:cNvSpPr txBox="1">
            <a:spLocks noChangeArrowheads="1"/>
          </p:cNvSpPr>
          <p:nvPr/>
        </p:nvSpPr>
        <p:spPr bwMode="auto">
          <a:xfrm>
            <a:off x="2197100" y="3716338"/>
            <a:ext cx="2232025" cy="257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 (j, ,  ,  0  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(j&lt;,a,b, 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  <a:r>
              <a:rPr lang="en-US" altLang="zh-CN" sz="2800" b="1">
                <a:latin typeface="Times New Roman" pitchFamily="18" charset="0"/>
              </a:rPr>
              <a:t>(j=,c,d,n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92170" name="Text Box 13"/>
          <p:cNvSpPr txBox="1">
            <a:spLocks noChangeArrowheads="1"/>
          </p:cNvSpPr>
          <p:nvPr/>
        </p:nvSpPr>
        <p:spPr bwMode="auto">
          <a:xfrm>
            <a:off x="541338" y="3716338"/>
            <a:ext cx="1293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P1: 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</a:p>
        </p:txBody>
      </p:sp>
      <p:sp>
        <p:nvSpPr>
          <p:cNvPr id="92171" name="Freeform 14"/>
          <p:cNvSpPr>
            <a:spLocks/>
          </p:cNvSpPr>
          <p:nvPr/>
        </p:nvSpPr>
        <p:spPr bwMode="auto">
          <a:xfrm>
            <a:off x="1189038" y="4221163"/>
            <a:ext cx="1079500" cy="1865312"/>
          </a:xfrm>
          <a:custGeom>
            <a:avLst/>
            <a:gdLst>
              <a:gd name="T0" fmla="*/ 0 w 816"/>
              <a:gd name="T1" fmla="*/ 0 h 1270"/>
              <a:gd name="T2" fmla="*/ 136 w 816"/>
              <a:gd name="T3" fmla="*/ 816 h 1270"/>
              <a:gd name="T4" fmla="*/ 816 w 816"/>
              <a:gd name="T5" fmla="*/ 1270 h 1270"/>
              <a:gd name="T6" fmla="*/ 0 60000 65536"/>
              <a:gd name="T7" fmla="*/ 0 60000 65536"/>
              <a:gd name="T8" fmla="*/ 0 60000 65536"/>
              <a:gd name="T9" fmla="*/ 0 w 816"/>
              <a:gd name="T10" fmla="*/ 0 h 1270"/>
              <a:gd name="T11" fmla="*/ 816 w 816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270">
                <a:moveTo>
                  <a:pt x="0" y="0"/>
                </a:moveTo>
                <a:cubicBezTo>
                  <a:pt x="0" y="302"/>
                  <a:pt x="0" y="604"/>
                  <a:pt x="136" y="816"/>
                </a:cubicBezTo>
                <a:cubicBezTo>
                  <a:pt x="272" y="1028"/>
                  <a:pt x="695" y="1194"/>
                  <a:pt x="816" y="1270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2" name="Freeform 15"/>
          <p:cNvSpPr>
            <a:spLocks/>
          </p:cNvSpPr>
          <p:nvPr/>
        </p:nvSpPr>
        <p:spPr bwMode="auto">
          <a:xfrm>
            <a:off x="1717675" y="4868863"/>
            <a:ext cx="2062163" cy="1146175"/>
          </a:xfrm>
          <a:custGeom>
            <a:avLst/>
            <a:gdLst>
              <a:gd name="T0" fmla="*/ 1345 w 1345"/>
              <a:gd name="T1" fmla="*/ 635 h 635"/>
              <a:gd name="T2" fmla="*/ 166 w 1345"/>
              <a:gd name="T3" fmla="*/ 272 h 635"/>
              <a:gd name="T4" fmla="*/ 347 w 1345"/>
              <a:gd name="T5" fmla="*/ 0 h 635"/>
              <a:gd name="T6" fmla="*/ 0 60000 65536"/>
              <a:gd name="T7" fmla="*/ 0 60000 65536"/>
              <a:gd name="T8" fmla="*/ 0 60000 65536"/>
              <a:gd name="T9" fmla="*/ 0 w 1345"/>
              <a:gd name="T10" fmla="*/ 0 h 635"/>
              <a:gd name="T11" fmla="*/ 1345 w 13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635">
                <a:moveTo>
                  <a:pt x="1345" y="635"/>
                </a:moveTo>
                <a:cubicBezTo>
                  <a:pt x="838" y="506"/>
                  <a:pt x="332" y="378"/>
                  <a:pt x="166" y="272"/>
                </a:cubicBezTo>
                <a:cubicBezTo>
                  <a:pt x="0" y="166"/>
                  <a:pt x="173" y="83"/>
                  <a:pt x="34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3" name="Freeform 16"/>
          <p:cNvSpPr>
            <a:spLocks/>
          </p:cNvSpPr>
          <p:nvPr/>
        </p:nvSpPr>
        <p:spPr bwMode="auto">
          <a:xfrm>
            <a:off x="1560513" y="4005263"/>
            <a:ext cx="2290762" cy="1001712"/>
          </a:xfrm>
          <a:custGeom>
            <a:avLst/>
            <a:gdLst>
              <a:gd name="T0" fmla="*/ 1490 w 1490"/>
              <a:gd name="T1" fmla="*/ 635 h 635"/>
              <a:gd name="T2" fmla="*/ 174 w 1490"/>
              <a:gd name="T3" fmla="*/ 272 h 635"/>
              <a:gd name="T4" fmla="*/ 446 w 1490"/>
              <a:gd name="T5" fmla="*/ 0 h 635"/>
              <a:gd name="T6" fmla="*/ 0 60000 65536"/>
              <a:gd name="T7" fmla="*/ 0 60000 65536"/>
              <a:gd name="T8" fmla="*/ 0 60000 65536"/>
              <a:gd name="T9" fmla="*/ 0 w 1490"/>
              <a:gd name="T10" fmla="*/ 0 h 635"/>
              <a:gd name="T11" fmla="*/ 1490 w 1490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0" h="635">
                <a:moveTo>
                  <a:pt x="1490" y="635"/>
                </a:moveTo>
                <a:cubicBezTo>
                  <a:pt x="919" y="506"/>
                  <a:pt x="348" y="378"/>
                  <a:pt x="174" y="272"/>
                </a:cubicBezTo>
                <a:cubicBezTo>
                  <a:pt x="0" y="166"/>
                  <a:pt x="223" y="83"/>
                  <a:pt x="446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77" name="Freeform 17"/>
          <p:cNvSpPr>
            <a:spLocks/>
          </p:cNvSpPr>
          <p:nvPr/>
        </p:nvSpPr>
        <p:spPr bwMode="auto">
          <a:xfrm>
            <a:off x="3635375" y="4070350"/>
            <a:ext cx="2520950" cy="1800225"/>
          </a:xfrm>
          <a:custGeom>
            <a:avLst/>
            <a:gdLst>
              <a:gd name="T0" fmla="*/ 0 w 907"/>
              <a:gd name="T1" fmla="*/ 0 h 1089"/>
              <a:gd name="T2" fmla="*/ 363 w 907"/>
              <a:gd name="T3" fmla="*/ 363 h 1089"/>
              <a:gd name="T4" fmla="*/ 545 w 907"/>
              <a:gd name="T5" fmla="*/ 953 h 1089"/>
              <a:gd name="T6" fmla="*/ 907 w 907"/>
              <a:gd name="T7" fmla="*/ 1089 h 1089"/>
              <a:gd name="T8" fmla="*/ 0 60000 65536"/>
              <a:gd name="T9" fmla="*/ 0 60000 65536"/>
              <a:gd name="T10" fmla="*/ 0 60000 65536"/>
              <a:gd name="T11" fmla="*/ 0 60000 65536"/>
              <a:gd name="T12" fmla="*/ 0 w 907"/>
              <a:gd name="T13" fmla="*/ 0 h 1089"/>
              <a:gd name="T14" fmla="*/ 907 w 907"/>
              <a:gd name="T15" fmla="*/ 1089 h 10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7" h="1089">
                <a:moveTo>
                  <a:pt x="0" y="0"/>
                </a:moveTo>
                <a:cubicBezTo>
                  <a:pt x="136" y="102"/>
                  <a:pt x="272" y="204"/>
                  <a:pt x="363" y="363"/>
                </a:cubicBezTo>
                <a:cubicBezTo>
                  <a:pt x="454" y="522"/>
                  <a:pt x="454" y="832"/>
                  <a:pt x="545" y="953"/>
                </a:cubicBezTo>
                <a:cubicBezTo>
                  <a:pt x="636" y="1074"/>
                  <a:pt x="771" y="1081"/>
                  <a:pt x="907" y="108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4981" name="Rectangle 21"/>
          <p:cNvSpPr>
            <a:spLocks noChangeArrowheads="1"/>
          </p:cNvSpPr>
          <p:nvPr/>
        </p:nvSpPr>
        <p:spPr bwMode="auto">
          <a:xfrm>
            <a:off x="3421063" y="3709988"/>
            <a:ext cx="503237" cy="519112"/>
          </a:xfrm>
          <a:prstGeom prst="rect">
            <a:avLst/>
          </a:prstGeom>
          <a:solidFill>
            <a:srgbClr val="F3F2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3</a:t>
            </a:r>
            <a:endParaRPr lang="zh-CN" altLang="en-US" sz="28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98588" y="333375"/>
            <a:ext cx="5913437" cy="107315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拉链</a:t>
            </a:r>
            <a:r>
              <a:rPr lang="zh-CN" altLang="en-US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回填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回填</a:t>
            </a:r>
          </a:p>
        </p:txBody>
      </p:sp>
      <p:sp>
        <p:nvSpPr>
          <p:cNvPr id="426031" name="Rectangle 47"/>
          <p:cNvSpPr>
            <a:spLocks noGrp="1" noChangeArrowheads="1"/>
          </p:cNvSpPr>
          <p:nvPr>
            <p:ph idx="1"/>
          </p:nvPr>
        </p:nvSpPr>
        <p:spPr>
          <a:xfrm>
            <a:off x="539750" y="1727200"/>
            <a:ext cx="7766050" cy="1511300"/>
          </a:xfrm>
        </p:spPr>
        <p:txBody>
          <a:bodyPr/>
          <a:lstStyle/>
          <a:p>
            <a:pPr marL="0" indent="0" defTabSz="1046163">
              <a:lnSpc>
                <a:spcPct val="90000"/>
              </a:lnSpc>
              <a:buFont typeface="Wingdings" pitchFamily="2" charset="2"/>
              <a:buNone/>
              <a:tabLst>
                <a:tab pos="0" algn="l"/>
              </a:tabLst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    3．</a:t>
            </a:r>
            <a:r>
              <a:rPr kumimoji="1"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backpatch(p，i)：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把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作为目标标号回填到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p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所指向的链表中的每一个转移指令中去</a:t>
            </a:r>
            <a:endParaRPr kumimoji="1"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318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6A3C2AB-1D14-4D74-BA43-01A22962DE5E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31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249F80E-0E9A-4E4C-ADD2-5930E105209D}" type="slidenum">
              <a:rPr lang="zh-CN" altLang="en-US"/>
              <a:pPr eaLnBrk="1" hangingPunct="1"/>
              <a:t>68</a:t>
            </a:fld>
            <a:endParaRPr lang="en-US" altLang="zh-CN"/>
          </a:p>
        </p:txBody>
      </p:sp>
      <p:sp>
        <p:nvSpPr>
          <p:cNvPr id="426018" name="Text Box 34"/>
          <p:cNvSpPr txBox="1">
            <a:spLocks noChangeArrowheads="1"/>
          </p:cNvSpPr>
          <p:nvPr/>
        </p:nvSpPr>
        <p:spPr bwMode="auto">
          <a:xfrm>
            <a:off x="1835150" y="3771900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</a:p>
        </p:txBody>
      </p:sp>
      <p:sp>
        <p:nvSpPr>
          <p:cNvPr id="426024" name="Text Box 40"/>
          <p:cNvSpPr txBox="1">
            <a:spLocks noChangeArrowheads="1"/>
          </p:cNvSpPr>
          <p:nvPr/>
        </p:nvSpPr>
        <p:spPr bwMode="auto">
          <a:xfrm>
            <a:off x="1836738" y="3789363"/>
            <a:ext cx="576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2</a:t>
            </a:r>
          </a:p>
        </p:txBody>
      </p:sp>
      <p:sp>
        <p:nvSpPr>
          <p:cNvPr id="426025" name="Text Box 41"/>
          <p:cNvSpPr txBox="1">
            <a:spLocks noChangeArrowheads="1"/>
          </p:cNvSpPr>
          <p:nvPr/>
        </p:nvSpPr>
        <p:spPr bwMode="auto">
          <a:xfrm>
            <a:off x="1835150" y="3771900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3</a:t>
            </a:r>
          </a:p>
        </p:txBody>
      </p:sp>
      <p:sp>
        <p:nvSpPr>
          <p:cNvPr id="426019" name="Text Box 35"/>
          <p:cNvSpPr txBox="1">
            <a:spLocks noChangeArrowheads="1"/>
          </p:cNvSpPr>
          <p:nvPr/>
        </p:nvSpPr>
        <p:spPr bwMode="auto">
          <a:xfrm>
            <a:off x="1835150" y="3771900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</a:p>
        </p:txBody>
      </p:sp>
      <p:sp>
        <p:nvSpPr>
          <p:cNvPr id="426020" name="Text Box 36"/>
          <p:cNvSpPr txBox="1">
            <a:spLocks noChangeArrowheads="1"/>
          </p:cNvSpPr>
          <p:nvPr/>
        </p:nvSpPr>
        <p:spPr bwMode="auto">
          <a:xfrm>
            <a:off x="1835150" y="3771900"/>
            <a:ext cx="57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</a:p>
        </p:txBody>
      </p:sp>
      <p:sp>
        <p:nvSpPr>
          <p:cNvPr id="425990" name="Freeform 6"/>
          <p:cNvSpPr>
            <a:spLocks/>
          </p:cNvSpPr>
          <p:nvPr/>
        </p:nvSpPr>
        <p:spPr bwMode="auto">
          <a:xfrm>
            <a:off x="5364163" y="4868863"/>
            <a:ext cx="1944687" cy="720725"/>
          </a:xfrm>
          <a:custGeom>
            <a:avLst/>
            <a:gdLst>
              <a:gd name="T0" fmla="*/ 1345 w 1345"/>
              <a:gd name="T1" fmla="*/ 635 h 635"/>
              <a:gd name="T2" fmla="*/ 166 w 1345"/>
              <a:gd name="T3" fmla="*/ 272 h 635"/>
              <a:gd name="T4" fmla="*/ 347 w 1345"/>
              <a:gd name="T5" fmla="*/ 0 h 635"/>
              <a:gd name="T6" fmla="*/ 0 60000 65536"/>
              <a:gd name="T7" fmla="*/ 0 60000 65536"/>
              <a:gd name="T8" fmla="*/ 0 60000 65536"/>
              <a:gd name="T9" fmla="*/ 0 w 1345"/>
              <a:gd name="T10" fmla="*/ 0 h 635"/>
              <a:gd name="T11" fmla="*/ 1345 w 13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635">
                <a:moveTo>
                  <a:pt x="1345" y="635"/>
                </a:moveTo>
                <a:cubicBezTo>
                  <a:pt x="838" y="506"/>
                  <a:pt x="332" y="378"/>
                  <a:pt x="166" y="272"/>
                </a:cubicBezTo>
                <a:cubicBezTo>
                  <a:pt x="0" y="166"/>
                  <a:pt x="173" y="83"/>
                  <a:pt x="34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1" name="Freeform 7"/>
          <p:cNvSpPr>
            <a:spLocks/>
          </p:cNvSpPr>
          <p:nvPr/>
        </p:nvSpPr>
        <p:spPr bwMode="auto">
          <a:xfrm>
            <a:off x="5292725" y="4005263"/>
            <a:ext cx="2087563" cy="719137"/>
          </a:xfrm>
          <a:custGeom>
            <a:avLst/>
            <a:gdLst>
              <a:gd name="T0" fmla="*/ 1490 w 1490"/>
              <a:gd name="T1" fmla="*/ 635 h 635"/>
              <a:gd name="T2" fmla="*/ 174 w 1490"/>
              <a:gd name="T3" fmla="*/ 272 h 635"/>
              <a:gd name="T4" fmla="*/ 446 w 1490"/>
              <a:gd name="T5" fmla="*/ 0 h 635"/>
              <a:gd name="T6" fmla="*/ 0 60000 65536"/>
              <a:gd name="T7" fmla="*/ 0 60000 65536"/>
              <a:gd name="T8" fmla="*/ 0 60000 65536"/>
              <a:gd name="T9" fmla="*/ 0 w 1490"/>
              <a:gd name="T10" fmla="*/ 0 h 635"/>
              <a:gd name="T11" fmla="*/ 1490 w 1490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0" h="635">
                <a:moveTo>
                  <a:pt x="1490" y="635"/>
                </a:moveTo>
                <a:cubicBezTo>
                  <a:pt x="919" y="506"/>
                  <a:pt x="348" y="378"/>
                  <a:pt x="174" y="272"/>
                </a:cubicBezTo>
                <a:cubicBezTo>
                  <a:pt x="0" y="166"/>
                  <a:pt x="223" y="83"/>
                  <a:pt x="446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7" name="Text Box 9"/>
          <p:cNvSpPr txBox="1">
            <a:spLocks noChangeArrowheads="1"/>
          </p:cNvSpPr>
          <p:nvPr/>
        </p:nvSpPr>
        <p:spPr bwMode="auto">
          <a:xfrm>
            <a:off x="5795963" y="3651250"/>
            <a:ext cx="22320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 (j,,,      )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(j&lt;,a,b,     )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3</a:t>
            </a:r>
            <a:r>
              <a:rPr lang="en-US" altLang="zh-CN" sz="2800" b="1">
                <a:latin typeface="Times New Roman" pitchFamily="18" charset="0"/>
              </a:rPr>
              <a:t>(j=,c,d,    </a:t>
            </a:r>
            <a:r>
              <a:rPr lang="en-US" altLang="zh-CN" sz="2800" b="1" baseline="-25000">
                <a:latin typeface="Times New Roman" pitchFamily="18" charset="0"/>
              </a:rPr>
              <a:t> </a:t>
            </a:r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93198" name="Text Box 12"/>
          <p:cNvSpPr txBox="1">
            <a:spLocks noChangeArrowheads="1"/>
          </p:cNvSpPr>
          <p:nvPr/>
        </p:nvSpPr>
        <p:spPr bwMode="auto">
          <a:xfrm>
            <a:off x="2987675" y="3795713"/>
            <a:ext cx="2232025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 (j, , ,     )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(j&lt;,a,b,    )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……</a:t>
            </a:r>
          </a:p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  <a:r>
              <a:rPr lang="en-US" altLang="zh-CN" sz="2800" b="1">
                <a:latin typeface="Times New Roman" pitchFamily="18" charset="0"/>
              </a:rPr>
              <a:t>(j=,c,d,    )</a:t>
            </a:r>
          </a:p>
        </p:txBody>
      </p:sp>
      <p:sp>
        <p:nvSpPr>
          <p:cNvPr id="93199" name="Text Box 13"/>
          <p:cNvSpPr txBox="1">
            <a:spLocks noChangeArrowheads="1"/>
          </p:cNvSpPr>
          <p:nvPr/>
        </p:nvSpPr>
        <p:spPr bwMode="auto">
          <a:xfrm>
            <a:off x="1331913" y="3795713"/>
            <a:ext cx="935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P1:</a:t>
            </a:r>
            <a:endParaRPr lang="en-US" altLang="zh-CN" sz="2800" b="1" baseline="-25000">
              <a:latin typeface="Times New Roman" pitchFamily="18" charset="0"/>
            </a:endParaRPr>
          </a:p>
        </p:txBody>
      </p:sp>
      <p:sp>
        <p:nvSpPr>
          <p:cNvPr id="425998" name="Freeform 14"/>
          <p:cNvSpPr>
            <a:spLocks/>
          </p:cNvSpPr>
          <p:nvPr/>
        </p:nvSpPr>
        <p:spPr bwMode="auto">
          <a:xfrm>
            <a:off x="1979613" y="4148138"/>
            <a:ext cx="1079500" cy="1736725"/>
          </a:xfrm>
          <a:custGeom>
            <a:avLst/>
            <a:gdLst>
              <a:gd name="T0" fmla="*/ 0 w 816"/>
              <a:gd name="T1" fmla="*/ 0 h 1270"/>
              <a:gd name="T2" fmla="*/ 136 w 816"/>
              <a:gd name="T3" fmla="*/ 816 h 1270"/>
              <a:gd name="T4" fmla="*/ 816 w 816"/>
              <a:gd name="T5" fmla="*/ 1270 h 1270"/>
              <a:gd name="T6" fmla="*/ 0 60000 65536"/>
              <a:gd name="T7" fmla="*/ 0 60000 65536"/>
              <a:gd name="T8" fmla="*/ 0 60000 65536"/>
              <a:gd name="T9" fmla="*/ 0 w 816"/>
              <a:gd name="T10" fmla="*/ 0 h 1270"/>
              <a:gd name="T11" fmla="*/ 816 w 816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1270">
                <a:moveTo>
                  <a:pt x="0" y="0"/>
                </a:moveTo>
                <a:cubicBezTo>
                  <a:pt x="0" y="302"/>
                  <a:pt x="0" y="604"/>
                  <a:pt x="136" y="816"/>
                </a:cubicBezTo>
                <a:cubicBezTo>
                  <a:pt x="272" y="1028"/>
                  <a:pt x="695" y="1194"/>
                  <a:pt x="816" y="1270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5999" name="Freeform 15"/>
          <p:cNvSpPr>
            <a:spLocks/>
          </p:cNvSpPr>
          <p:nvPr/>
        </p:nvSpPr>
        <p:spPr bwMode="auto">
          <a:xfrm>
            <a:off x="2627313" y="5013325"/>
            <a:ext cx="1944687" cy="719138"/>
          </a:xfrm>
          <a:custGeom>
            <a:avLst/>
            <a:gdLst>
              <a:gd name="T0" fmla="*/ 1345 w 1345"/>
              <a:gd name="T1" fmla="*/ 635 h 635"/>
              <a:gd name="T2" fmla="*/ 166 w 1345"/>
              <a:gd name="T3" fmla="*/ 272 h 635"/>
              <a:gd name="T4" fmla="*/ 347 w 1345"/>
              <a:gd name="T5" fmla="*/ 0 h 635"/>
              <a:gd name="T6" fmla="*/ 0 60000 65536"/>
              <a:gd name="T7" fmla="*/ 0 60000 65536"/>
              <a:gd name="T8" fmla="*/ 0 60000 65536"/>
              <a:gd name="T9" fmla="*/ 0 w 1345"/>
              <a:gd name="T10" fmla="*/ 0 h 635"/>
              <a:gd name="T11" fmla="*/ 1345 w 1345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635">
                <a:moveTo>
                  <a:pt x="1345" y="635"/>
                </a:moveTo>
                <a:cubicBezTo>
                  <a:pt x="838" y="506"/>
                  <a:pt x="332" y="378"/>
                  <a:pt x="166" y="272"/>
                </a:cubicBezTo>
                <a:cubicBezTo>
                  <a:pt x="0" y="166"/>
                  <a:pt x="173" y="83"/>
                  <a:pt x="34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0" name="Freeform 16"/>
          <p:cNvSpPr>
            <a:spLocks/>
          </p:cNvSpPr>
          <p:nvPr/>
        </p:nvSpPr>
        <p:spPr bwMode="auto">
          <a:xfrm>
            <a:off x="2484438" y="4148138"/>
            <a:ext cx="2159000" cy="720725"/>
          </a:xfrm>
          <a:custGeom>
            <a:avLst/>
            <a:gdLst>
              <a:gd name="T0" fmla="*/ 1490 w 1490"/>
              <a:gd name="T1" fmla="*/ 635 h 635"/>
              <a:gd name="T2" fmla="*/ 174 w 1490"/>
              <a:gd name="T3" fmla="*/ 272 h 635"/>
              <a:gd name="T4" fmla="*/ 446 w 1490"/>
              <a:gd name="T5" fmla="*/ 0 h 635"/>
              <a:gd name="T6" fmla="*/ 0 60000 65536"/>
              <a:gd name="T7" fmla="*/ 0 60000 65536"/>
              <a:gd name="T8" fmla="*/ 0 60000 65536"/>
              <a:gd name="T9" fmla="*/ 0 w 1490"/>
              <a:gd name="T10" fmla="*/ 0 h 635"/>
              <a:gd name="T11" fmla="*/ 1490 w 1490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90" h="635">
                <a:moveTo>
                  <a:pt x="1490" y="635"/>
                </a:moveTo>
                <a:cubicBezTo>
                  <a:pt x="919" y="506"/>
                  <a:pt x="348" y="378"/>
                  <a:pt x="174" y="272"/>
                </a:cubicBezTo>
                <a:cubicBezTo>
                  <a:pt x="0" y="166"/>
                  <a:pt x="223" y="83"/>
                  <a:pt x="446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1" name="Freeform 17"/>
          <p:cNvSpPr>
            <a:spLocks/>
          </p:cNvSpPr>
          <p:nvPr/>
        </p:nvSpPr>
        <p:spPr bwMode="auto">
          <a:xfrm>
            <a:off x="4500563" y="4221163"/>
            <a:ext cx="1366837" cy="1519237"/>
          </a:xfrm>
          <a:custGeom>
            <a:avLst/>
            <a:gdLst>
              <a:gd name="T0" fmla="*/ 0 w 907"/>
              <a:gd name="T1" fmla="*/ 0 h 1089"/>
              <a:gd name="T2" fmla="*/ 363 w 907"/>
              <a:gd name="T3" fmla="*/ 363 h 1089"/>
              <a:gd name="T4" fmla="*/ 545 w 907"/>
              <a:gd name="T5" fmla="*/ 953 h 1089"/>
              <a:gd name="T6" fmla="*/ 907 w 907"/>
              <a:gd name="T7" fmla="*/ 1089 h 1089"/>
              <a:gd name="T8" fmla="*/ 0 60000 65536"/>
              <a:gd name="T9" fmla="*/ 0 60000 65536"/>
              <a:gd name="T10" fmla="*/ 0 60000 65536"/>
              <a:gd name="T11" fmla="*/ 0 60000 65536"/>
              <a:gd name="T12" fmla="*/ 0 w 907"/>
              <a:gd name="T13" fmla="*/ 0 h 1089"/>
              <a:gd name="T14" fmla="*/ 907 w 907"/>
              <a:gd name="T15" fmla="*/ 1089 h 10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7" h="1089">
                <a:moveTo>
                  <a:pt x="0" y="0"/>
                </a:moveTo>
                <a:cubicBezTo>
                  <a:pt x="136" y="102"/>
                  <a:pt x="272" y="204"/>
                  <a:pt x="363" y="363"/>
                </a:cubicBezTo>
                <a:cubicBezTo>
                  <a:pt x="454" y="522"/>
                  <a:pt x="454" y="832"/>
                  <a:pt x="545" y="953"/>
                </a:cubicBezTo>
                <a:cubicBezTo>
                  <a:pt x="636" y="1074"/>
                  <a:pt x="771" y="1081"/>
                  <a:pt x="907" y="1089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05" name="Rectangle 21"/>
          <p:cNvSpPr>
            <a:spLocks noChangeArrowheads="1"/>
          </p:cNvSpPr>
          <p:nvPr/>
        </p:nvSpPr>
        <p:spPr bwMode="auto">
          <a:xfrm>
            <a:off x="4429125" y="5503863"/>
            <a:ext cx="503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endParaRPr lang="zh-CN" altLang="en-US" sz="2800" b="1" baseline="-25000">
              <a:latin typeface="Times New Roman" pitchFamily="18" charset="0"/>
            </a:endParaRPr>
          </a:p>
        </p:txBody>
      </p:sp>
      <p:sp>
        <p:nvSpPr>
          <p:cNvPr id="426006" name="Rectangle 22"/>
          <p:cNvSpPr>
            <a:spLocks noChangeArrowheads="1"/>
          </p:cNvSpPr>
          <p:nvPr/>
        </p:nvSpPr>
        <p:spPr bwMode="auto">
          <a:xfrm>
            <a:off x="4429125" y="4602163"/>
            <a:ext cx="503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endParaRPr lang="zh-CN" altLang="en-US" sz="2800" b="1" baseline="-25000">
              <a:latin typeface="Times New Roman" pitchFamily="18" charset="0"/>
            </a:endParaRPr>
          </a:p>
        </p:txBody>
      </p:sp>
      <p:sp>
        <p:nvSpPr>
          <p:cNvPr id="426007" name="Rectangle 23"/>
          <p:cNvSpPr>
            <a:spLocks noChangeArrowheads="1"/>
          </p:cNvSpPr>
          <p:nvPr/>
        </p:nvSpPr>
        <p:spPr bwMode="auto">
          <a:xfrm>
            <a:off x="4140200" y="3773488"/>
            <a:ext cx="503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3</a:t>
            </a:r>
            <a:endParaRPr lang="zh-CN" altLang="en-US" sz="2800" b="1" baseline="-25000">
              <a:latin typeface="Times New Roman" pitchFamily="18" charset="0"/>
            </a:endParaRPr>
          </a:p>
        </p:txBody>
      </p:sp>
      <p:sp>
        <p:nvSpPr>
          <p:cNvPr id="426008" name="Rectangle 24"/>
          <p:cNvSpPr>
            <a:spLocks noChangeArrowheads="1"/>
          </p:cNvSpPr>
          <p:nvPr/>
        </p:nvSpPr>
        <p:spPr bwMode="auto">
          <a:xfrm>
            <a:off x="7165975" y="5359400"/>
            <a:ext cx="50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2</a:t>
            </a:r>
            <a:endParaRPr lang="zh-CN" altLang="en-US" sz="2800" b="1" baseline="-25000">
              <a:latin typeface="Times New Roman" pitchFamily="18" charset="0"/>
            </a:endParaRPr>
          </a:p>
        </p:txBody>
      </p:sp>
      <p:sp>
        <p:nvSpPr>
          <p:cNvPr id="426009" name="Rectangle 25"/>
          <p:cNvSpPr>
            <a:spLocks noChangeArrowheads="1"/>
          </p:cNvSpPr>
          <p:nvPr/>
        </p:nvSpPr>
        <p:spPr bwMode="auto">
          <a:xfrm>
            <a:off x="7237413" y="4457700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1</a:t>
            </a:r>
            <a:endParaRPr lang="zh-CN" altLang="en-US" sz="2800" b="1" baseline="-25000">
              <a:latin typeface="Times New Roman" pitchFamily="18" charset="0"/>
            </a:endParaRPr>
          </a:p>
        </p:txBody>
      </p:sp>
      <p:sp>
        <p:nvSpPr>
          <p:cNvPr id="426010" name="Rectangle 26"/>
          <p:cNvSpPr>
            <a:spLocks noChangeArrowheads="1"/>
          </p:cNvSpPr>
          <p:nvPr/>
        </p:nvSpPr>
        <p:spPr bwMode="auto">
          <a:xfrm>
            <a:off x="4519613" y="4638675"/>
            <a:ext cx="282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26011" name="Rectangle 27"/>
          <p:cNvSpPr>
            <a:spLocks noChangeArrowheads="1"/>
          </p:cNvSpPr>
          <p:nvPr/>
        </p:nvSpPr>
        <p:spPr bwMode="auto">
          <a:xfrm>
            <a:off x="6946900" y="37020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0</a:t>
            </a:r>
            <a:endParaRPr lang="zh-CN" altLang="en-US" sz="2800" b="1">
              <a:latin typeface="Times New Roman" pitchFamily="18" charset="0"/>
            </a:endParaRPr>
          </a:p>
        </p:txBody>
      </p:sp>
      <p:sp>
        <p:nvSpPr>
          <p:cNvPr id="426012" name="Rectangle 28"/>
          <p:cNvSpPr>
            <a:spLocks noChangeArrowheads="1"/>
          </p:cNvSpPr>
          <p:nvPr/>
        </p:nvSpPr>
        <p:spPr bwMode="auto">
          <a:xfrm>
            <a:off x="4500563" y="5503863"/>
            <a:ext cx="282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426013" name="Rectangle 29"/>
          <p:cNvSpPr>
            <a:spLocks noChangeArrowheads="1"/>
          </p:cNvSpPr>
          <p:nvPr/>
        </p:nvSpPr>
        <p:spPr bwMode="auto">
          <a:xfrm>
            <a:off x="7018338" y="3702050"/>
            <a:ext cx="282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426014" name="Rectangle 30"/>
          <p:cNvSpPr>
            <a:spLocks noChangeArrowheads="1"/>
          </p:cNvSpPr>
          <p:nvPr/>
        </p:nvSpPr>
        <p:spPr bwMode="auto">
          <a:xfrm>
            <a:off x="7310438" y="4457700"/>
            <a:ext cx="282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426015" name="Rectangle 31"/>
          <p:cNvSpPr>
            <a:spLocks noChangeArrowheads="1"/>
          </p:cNvSpPr>
          <p:nvPr/>
        </p:nvSpPr>
        <p:spPr bwMode="auto">
          <a:xfrm>
            <a:off x="7237413" y="5359400"/>
            <a:ext cx="282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426016" name="Rectangle 32"/>
          <p:cNvSpPr>
            <a:spLocks noChangeArrowheads="1"/>
          </p:cNvSpPr>
          <p:nvPr/>
        </p:nvSpPr>
        <p:spPr bwMode="auto">
          <a:xfrm>
            <a:off x="4213225" y="3824288"/>
            <a:ext cx="282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endParaRPr lang="en-US" altLang="zh-CN" sz="2800">
              <a:latin typeface="Times New Roman" pitchFamily="18" charset="0"/>
            </a:endParaRPr>
          </a:p>
        </p:txBody>
      </p:sp>
      <p:sp>
        <p:nvSpPr>
          <p:cNvPr id="426017" name="Text Box 33"/>
          <p:cNvSpPr txBox="1">
            <a:spLocks noChangeArrowheads="1"/>
          </p:cNvSpPr>
          <p:nvPr/>
        </p:nvSpPr>
        <p:spPr bwMode="auto">
          <a:xfrm>
            <a:off x="1836738" y="3789363"/>
            <a:ext cx="576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n</a:t>
            </a:r>
            <a:r>
              <a:rPr lang="en-US" altLang="zh-CN" sz="2800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426022" name="Freeform 38"/>
          <p:cNvSpPr>
            <a:spLocks/>
          </p:cNvSpPr>
          <p:nvPr/>
        </p:nvSpPr>
        <p:spPr bwMode="auto">
          <a:xfrm>
            <a:off x="2051050" y="4221163"/>
            <a:ext cx="1008063" cy="725487"/>
          </a:xfrm>
          <a:custGeom>
            <a:avLst/>
            <a:gdLst>
              <a:gd name="T0" fmla="*/ 0 w 680"/>
              <a:gd name="T1" fmla="*/ 0 h 453"/>
              <a:gd name="T2" fmla="*/ 181 w 680"/>
              <a:gd name="T3" fmla="*/ 363 h 453"/>
              <a:gd name="T4" fmla="*/ 680 w 680"/>
              <a:gd name="T5" fmla="*/ 453 h 453"/>
              <a:gd name="T6" fmla="*/ 0 60000 65536"/>
              <a:gd name="T7" fmla="*/ 0 60000 65536"/>
              <a:gd name="T8" fmla="*/ 0 60000 65536"/>
              <a:gd name="T9" fmla="*/ 0 w 680"/>
              <a:gd name="T10" fmla="*/ 0 h 453"/>
              <a:gd name="T11" fmla="*/ 680 w 680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0" h="453">
                <a:moveTo>
                  <a:pt x="0" y="0"/>
                </a:moveTo>
                <a:cubicBezTo>
                  <a:pt x="34" y="144"/>
                  <a:pt x="68" y="288"/>
                  <a:pt x="181" y="363"/>
                </a:cubicBezTo>
                <a:cubicBezTo>
                  <a:pt x="294" y="438"/>
                  <a:pt x="487" y="445"/>
                  <a:pt x="680" y="453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3" name="Freeform 39"/>
          <p:cNvSpPr>
            <a:spLocks/>
          </p:cNvSpPr>
          <p:nvPr/>
        </p:nvSpPr>
        <p:spPr bwMode="auto">
          <a:xfrm>
            <a:off x="2195513" y="4076700"/>
            <a:ext cx="865187" cy="73025"/>
          </a:xfrm>
          <a:custGeom>
            <a:avLst/>
            <a:gdLst>
              <a:gd name="T0" fmla="*/ 0 w 409"/>
              <a:gd name="T1" fmla="*/ 0 h 1"/>
              <a:gd name="T2" fmla="*/ 409 w 409"/>
              <a:gd name="T3" fmla="*/ 0 h 1"/>
              <a:gd name="T4" fmla="*/ 0 60000 65536"/>
              <a:gd name="T5" fmla="*/ 0 60000 65536"/>
              <a:gd name="T6" fmla="*/ 0 w 409"/>
              <a:gd name="T7" fmla="*/ 0 h 1"/>
              <a:gd name="T8" fmla="*/ 409 w 40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09" h="1">
                <a:moveTo>
                  <a:pt x="0" y="0"/>
                </a:moveTo>
                <a:cubicBezTo>
                  <a:pt x="159" y="0"/>
                  <a:pt x="318" y="0"/>
                  <a:pt x="409" y="0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7" name="Freeform 43"/>
          <p:cNvSpPr>
            <a:spLocks/>
          </p:cNvSpPr>
          <p:nvPr/>
        </p:nvSpPr>
        <p:spPr bwMode="auto">
          <a:xfrm>
            <a:off x="2124075" y="3644900"/>
            <a:ext cx="3743325" cy="2189163"/>
          </a:xfrm>
          <a:custGeom>
            <a:avLst/>
            <a:gdLst>
              <a:gd name="T0" fmla="*/ 0 w 2404"/>
              <a:gd name="T1" fmla="*/ 234 h 1428"/>
              <a:gd name="T2" fmla="*/ 998 w 2404"/>
              <a:gd name="T3" fmla="*/ 98 h 1428"/>
              <a:gd name="T4" fmla="*/ 1679 w 2404"/>
              <a:gd name="T5" fmla="*/ 189 h 1428"/>
              <a:gd name="T6" fmla="*/ 1996 w 2404"/>
              <a:gd name="T7" fmla="*/ 1232 h 1428"/>
              <a:gd name="T8" fmla="*/ 2404 w 2404"/>
              <a:gd name="T9" fmla="*/ 1368 h 14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04"/>
              <a:gd name="T16" fmla="*/ 0 h 1428"/>
              <a:gd name="T17" fmla="*/ 2404 w 2404"/>
              <a:gd name="T18" fmla="*/ 1428 h 14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04" h="1428">
                <a:moveTo>
                  <a:pt x="0" y="234"/>
                </a:moveTo>
                <a:cubicBezTo>
                  <a:pt x="359" y="169"/>
                  <a:pt x="718" y="105"/>
                  <a:pt x="998" y="98"/>
                </a:cubicBezTo>
                <a:cubicBezTo>
                  <a:pt x="1278" y="91"/>
                  <a:pt x="1513" y="0"/>
                  <a:pt x="1679" y="189"/>
                </a:cubicBezTo>
                <a:cubicBezTo>
                  <a:pt x="1845" y="378"/>
                  <a:pt x="1875" y="1036"/>
                  <a:pt x="1996" y="1232"/>
                </a:cubicBezTo>
                <a:cubicBezTo>
                  <a:pt x="2117" y="1428"/>
                  <a:pt x="2260" y="1398"/>
                  <a:pt x="2404" y="1368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8" name="Freeform 44"/>
          <p:cNvSpPr>
            <a:spLocks/>
          </p:cNvSpPr>
          <p:nvPr/>
        </p:nvSpPr>
        <p:spPr bwMode="auto">
          <a:xfrm>
            <a:off x="2124075" y="3644900"/>
            <a:ext cx="3816350" cy="1158875"/>
          </a:xfrm>
          <a:custGeom>
            <a:avLst/>
            <a:gdLst>
              <a:gd name="T0" fmla="*/ 0 w 2404"/>
              <a:gd name="T1" fmla="*/ 233 h 778"/>
              <a:gd name="T2" fmla="*/ 362 w 2404"/>
              <a:gd name="T3" fmla="*/ 52 h 778"/>
              <a:gd name="T4" fmla="*/ 1088 w 2404"/>
              <a:gd name="T5" fmla="*/ 7 h 778"/>
              <a:gd name="T6" fmla="*/ 1678 w 2404"/>
              <a:gd name="T7" fmla="*/ 97 h 778"/>
              <a:gd name="T8" fmla="*/ 1950 w 2404"/>
              <a:gd name="T9" fmla="*/ 415 h 778"/>
              <a:gd name="T10" fmla="*/ 2041 w 2404"/>
              <a:gd name="T11" fmla="*/ 596 h 778"/>
              <a:gd name="T12" fmla="*/ 2404 w 2404"/>
              <a:gd name="T13" fmla="*/ 778 h 77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04"/>
              <a:gd name="T22" fmla="*/ 0 h 778"/>
              <a:gd name="T23" fmla="*/ 2404 w 2404"/>
              <a:gd name="T24" fmla="*/ 778 h 77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04" h="778">
                <a:moveTo>
                  <a:pt x="0" y="233"/>
                </a:moveTo>
                <a:cubicBezTo>
                  <a:pt x="90" y="161"/>
                  <a:pt x="181" y="90"/>
                  <a:pt x="362" y="52"/>
                </a:cubicBezTo>
                <a:cubicBezTo>
                  <a:pt x="543" y="14"/>
                  <a:pt x="869" y="0"/>
                  <a:pt x="1088" y="7"/>
                </a:cubicBezTo>
                <a:cubicBezTo>
                  <a:pt x="1307" y="14"/>
                  <a:pt x="1534" y="29"/>
                  <a:pt x="1678" y="97"/>
                </a:cubicBezTo>
                <a:cubicBezTo>
                  <a:pt x="1822" y="165"/>
                  <a:pt x="1890" y="332"/>
                  <a:pt x="1950" y="415"/>
                </a:cubicBezTo>
                <a:cubicBezTo>
                  <a:pt x="2010" y="498"/>
                  <a:pt x="1965" y="536"/>
                  <a:pt x="2041" y="596"/>
                </a:cubicBezTo>
                <a:cubicBezTo>
                  <a:pt x="2117" y="656"/>
                  <a:pt x="2260" y="717"/>
                  <a:pt x="2404" y="778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6029" name="Text Box 45"/>
          <p:cNvSpPr txBox="1">
            <a:spLocks noChangeArrowheads="1"/>
          </p:cNvSpPr>
          <p:nvPr/>
        </p:nvSpPr>
        <p:spPr bwMode="auto">
          <a:xfrm>
            <a:off x="1835150" y="3827463"/>
            <a:ext cx="43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itchFamily="18" charset="0"/>
              </a:rPr>
              <a:t>0</a:t>
            </a:r>
            <a:endParaRPr lang="en-US" altLang="zh-CN" sz="2800" b="1" baseline="-25000">
              <a:latin typeface="Times New Roman" pitchFamily="18" charset="0"/>
            </a:endParaRPr>
          </a:p>
        </p:txBody>
      </p:sp>
      <p:sp>
        <p:nvSpPr>
          <p:cNvPr id="426030" name="Freeform 46"/>
          <p:cNvSpPr>
            <a:spLocks/>
          </p:cNvSpPr>
          <p:nvPr/>
        </p:nvSpPr>
        <p:spPr bwMode="auto">
          <a:xfrm>
            <a:off x="2124075" y="3284538"/>
            <a:ext cx="3816350" cy="792162"/>
          </a:xfrm>
          <a:custGeom>
            <a:avLst/>
            <a:gdLst>
              <a:gd name="T0" fmla="*/ 0 w 2404"/>
              <a:gd name="T1" fmla="*/ 326 h 371"/>
              <a:gd name="T2" fmla="*/ 544 w 2404"/>
              <a:gd name="T3" fmla="*/ 53 h 371"/>
              <a:gd name="T4" fmla="*/ 1451 w 2404"/>
              <a:gd name="T5" fmla="*/ 53 h 371"/>
              <a:gd name="T6" fmla="*/ 2404 w 2404"/>
              <a:gd name="T7" fmla="*/ 371 h 371"/>
              <a:gd name="T8" fmla="*/ 0 60000 65536"/>
              <a:gd name="T9" fmla="*/ 0 60000 65536"/>
              <a:gd name="T10" fmla="*/ 0 60000 65536"/>
              <a:gd name="T11" fmla="*/ 0 60000 65536"/>
              <a:gd name="T12" fmla="*/ 0 w 2404"/>
              <a:gd name="T13" fmla="*/ 0 h 371"/>
              <a:gd name="T14" fmla="*/ 2404 w 2404"/>
              <a:gd name="T15" fmla="*/ 371 h 3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4" h="371">
                <a:moveTo>
                  <a:pt x="0" y="326"/>
                </a:moveTo>
                <a:cubicBezTo>
                  <a:pt x="151" y="212"/>
                  <a:pt x="302" y="98"/>
                  <a:pt x="544" y="53"/>
                </a:cubicBezTo>
                <a:cubicBezTo>
                  <a:pt x="786" y="8"/>
                  <a:pt x="1141" y="0"/>
                  <a:pt x="1451" y="53"/>
                </a:cubicBezTo>
                <a:cubicBezTo>
                  <a:pt x="1761" y="106"/>
                  <a:pt x="2082" y="238"/>
                  <a:pt x="2404" y="371"/>
                </a:cubicBezTo>
              </a:path>
            </a:pathLst>
          </a:custGeom>
          <a:noFill/>
          <a:ln w="28575">
            <a:solidFill>
              <a:srgbClr val="CC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064500" cy="974725"/>
          </a:xfrm>
        </p:spPr>
        <p:txBody>
          <a:bodyPr/>
          <a:lstStyle/>
          <a:p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 → if  C  then  S</a:t>
            </a:r>
            <a:r>
              <a:rPr lang="en-US" altLang="zh-CN" sz="40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的代码结构译</a:t>
            </a:r>
          </a:p>
        </p:txBody>
      </p:sp>
      <p:sp>
        <p:nvSpPr>
          <p:cNvPr id="94211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00A73A9-4FAB-4979-B26C-15F69A0DEDA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42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AF8E207-A496-4D2A-A9D2-06E7BFDFB491}" type="slidenum">
              <a:rPr lang="zh-CN" altLang="en-US"/>
              <a:pPr eaLnBrk="1" hangingPunct="1"/>
              <a:t>69</a:t>
            </a:fld>
            <a:endParaRPr lang="en-US" altLang="zh-CN"/>
          </a:p>
        </p:txBody>
      </p:sp>
      <p:sp>
        <p:nvSpPr>
          <p:cNvPr id="343048" name="Line 8"/>
          <p:cNvSpPr>
            <a:spLocks noChangeShapeType="1"/>
          </p:cNvSpPr>
          <p:nvPr/>
        </p:nvSpPr>
        <p:spPr bwMode="auto">
          <a:xfrm flipH="1">
            <a:off x="4659313" y="19177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49" name="Line 9"/>
          <p:cNvSpPr>
            <a:spLocks noChangeShapeType="1"/>
          </p:cNvSpPr>
          <p:nvPr/>
        </p:nvSpPr>
        <p:spPr bwMode="auto">
          <a:xfrm flipH="1">
            <a:off x="4659313" y="1917700"/>
            <a:ext cx="1587" cy="282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984500" y="1963738"/>
            <a:ext cx="2362200" cy="457200"/>
            <a:chOff x="1916" y="1488"/>
            <a:chExt cx="1488" cy="288"/>
          </a:xfrm>
        </p:grpSpPr>
        <p:sp>
          <p:nvSpPr>
            <p:cNvPr id="94231" name="Line 10"/>
            <p:cNvSpPr>
              <a:spLocks noChangeShapeType="1"/>
            </p:cNvSpPr>
            <p:nvPr/>
          </p:nvSpPr>
          <p:spPr bwMode="auto">
            <a:xfrm>
              <a:off x="2636" y="1632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32" name="Rectangle 11"/>
            <p:cNvSpPr>
              <a:spLocks noChangeArrowheads="1"/>
            </p:cNvSpPr>
            <p:nvPr/>
          </p:nvSpPr>
          <p:spPr bwMode="auto">
            <a:xfrm>
              <a:off x="1916" y="1488"/>
              <a:ext cx="7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</p:grpSp>
      <p:sp>
        <p:nvSpPr>
          <p:cNvPr id="343052" name="Rectangle 12"/>
          <p:cNvSpPr>
            <a:spLocks noChangeArrowheads="1"/>
          </p:cNvSpPr>
          <p:nvPr/>
        </p:nvSpPr>
        <p:spPr bwMode="auto">
          <a:xfrm>
            <a:off x="3822700" y="1465263"/>
            <a:ext cx="102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C.true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136900" y="5580063"/>
            <a:ext cx="2209800" cy="457200"/>
            <a:chOff x="2544" y="2064"/>
            <a:chExt cx="1392" cy="288"/>
          </a:xfrm>
        </p:grpSpPr>
        <p:sp>
          <p:nvSpPr>
            <p:cNvPr id="94229" name="Rectangle 14"/>
            <p:cNvSpPr>
              <a:spLocks noChangeArrowheads="1"/>
            </p:cNvSpPr>
            <p:nvPr/>
          </p:nvSpPr>
          <p:spPr bwMode="auto">
            <a:xfrm>
              <a:off x="2544" y="2064"/>
              <a:ext cx="6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4230" name="Line 15"/>
            <p:cNvSpPr>
              <a:spLocks noChangeShapeType="1"/>
            </p:cNvSpPr>
            <p:nvPr/>
          </p:nvSpPr>
          <p:spPr bwMode="auto">
            <a:xfrm>
              <a:off x="3216" y="2256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5346700" y="1617663"/>
            <a:ext cx="1524000" cy="4724400"/>
            <a:chOff x="3404" y="1200"/>
            <a:chExt cx="960" cy="2976"/>
          </a:xfrm>
        </p:grpSpPr>
        <p:sp>
          <p:nvSpPr>
            <p:cNvPr id="94225" name="Text Box 5"/>
            <p:cNvSpPr txBox="1">
              <a:spLocks noChangeArrowheads="1"/>
            </p:cNvSpPr>
            <p:nvPr/>
          </p:nvSpPr>
          <p:spPr bwMode="auto">
            <a:xfrm>
              <a:off x="3404" y="1200"/>
              <a:ext cx="960" cy="300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4226" name="Text Box 16"/>
            <p:cNvSpPr txBox="1">
              <a:spLocks noChangeArrowheads="1"/>
            </p:cNvSpPr>
            <p:nvPr/>
          </p:nvSpPr>
          <p:spPr bwMode="auto">
            <a:xfrm>
              <a:off x="3404" y="1488"/>
              <a:ext cx="960" cy="2370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en-US" altLang="zh-CN" sz="2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en-US" altLang="zh-CN" sz="2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en-US" altLang="zh-CN" sz="2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en-US" altLang="zh-CN" sz="2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2400" b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94227" name="Line 17"/>
            <p:cNvSpPr>
              <a:spLocks noChangeShapeType="1"/>
            </p:cNvSpPr>
            <p:nvPr/>
          </p:nvSpPr>
          <p:spPr bwMode="auto">
            <a:xfrm>
              <a:off x="4364" y="3696"/>
              <a:ext cx="0" cy="432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228" name="Line 18"/>
            <p:cNvSpPr>
              <a:spLocks noChangeShapeType="1"/>
            </p:cNvSpPr>
            <p:nvPr/>
          </p:nvSpPr>
          <p:spPr bwMode="auto">
            <a:xfrm>
              <a:off x="3404" y="3744"/>
              <a:ext cx="0" cy="432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3060" name="Rectangle 20"/>
          <p:cNvSpPr>
            <a:spLocks noChangeArrowheads="1"/>
          </p:cNvSpPr>
          <p:nvPr/>
        </p:nvSpPr>
        <p:spPr bwMode="auto">
          <a:xfrm>
            <a:off x="7099300" y="1541463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C.false</a:t>
            </a:r>
          </a:p>
        </p:txBody>
      </p:sp>
      <p:sp>
        <p:nvSpPr>
          <p:cNvPr id="343061" name="Line 21"/>
          <p:cNvSpPr>
            <a:spLocks noChangeShapeType="1"/>
          </p:cNvSpPr>
          <p:nvPr/>
        </p:nvSpPr>
        <p:spPr bwMode="auto">
          <a:xfrm>
            <a:off x="6794500" y="1922463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62" name="Line 22"/>
          <p:cNvSpPr>
            <a:spLocks noChangeShapeType="1"/>
          </p:cNvSpPr>
          <p:nvPr/>
        </p:nvSpPr>
        <p:spPr bwMode="auto">
          <a:xfrm>
            <a:off x="7178675" y="1917700"/>
            <a:ext cx="0" cy="403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63" name="Line 23"/>
          <p:cNvSpPr>
            <a:spLocks noChangeShapeType="1"/>
          </p:cNvSpPr>
          <p:nvPr/>
        </p:nvSpPr>
        <p:spPr bwMode="auto">
          <a:xfrm flipH="1">
            <a:off x="6718300" y="596106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66" name="Text Box 26"/>
          <p:cNvSpPr txBox="1">
            <a:spLocks noChangeArrowheads="1"/>
          </p:cNvSpPr>
          <p:nvPr/>
        </p:nvSpPr>
        <p:spPr bwMode="auto">
          <a:xfrm>
            <a:off x="627063" y="3357563"/>
            <a:ext cx="3743325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属性</a:t>
            </a:r>
            <a:r>
              <a:rPr lang="en-US" altLang="zh-CN" sz="2800" b="1"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继承</a:t>
            </a:r>
            <a:r>
              <a:rPr lang="en-US" altLang="zh-CN" sz="2800" b="1">
                <a:latin typeface="华文新魏" pitchFamily="2" charset="-122"/>
                <a:ea typeface="华文新魏" pitchFamily="2" charset="-122"/>
              </a:rPr>
              <a:t>) :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C.true; C.false; C.code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S.begin; S.next; S.code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549275"/>
            <a:ext cx="8064500" cy="1276350"/>
          </a:xfrm>
        </p:spPr>
        <p:txBody>
          <a:bodyPr/>
          <a:lstStyle/>
          <a:p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en-US" altLang="zh-CN" sz="4800" b="1" smtClean="0">
                <a:latin typeface="Times New Roman" pitchFamily="18" charset="0"/>
                <a:ea typeface="华文新魏" pitchFamily="2" charset="-122"/>
              </a:rPr>
              <a:t>if a&gt;b then a=a+a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916113"/>
            <a:ext cx="5111750" cy="29892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			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a&gt;b goto C.true</a:t>
            </a:r>
            <a:endParaRPr lang="en-US" altLang="zh-CN" b="1" i="1" smtClean="0">
              <a:latin typeface="Times New Roman" pitchFamily="18" charset="0"/>
              <a:ea typeface="华文新魏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	goto C.false</a:t>
            </a:r>
            <a:endParaRPr lang="en-US" altLang="zh-CN" b="1" i="1" smtClean="0">
              <a:latin typeface="Times New Roman" pitchFamily="18" charset="0"/>
              <a:ea typeface="华文新魏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.begin: 	t1:=a+a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	a:=t1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S.next:</a:t>
            </a:r>
          </a:p>
        </p:txBody>
      </p:sp>
      <p:sp>
        <p:nvSpPr>
          <p:cNvPr id="9523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CE94CAD-B5DC-451B-9582-01AE55237129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52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92CC2F-0372-40ED-BCDE-C1E45BE326B9}" type="slidenum">
              <a:rPr lang="zh-CN" altLang="en-US"/>
              <a:pPr eaLnBrk="1" hangingPunct="1"/>
              <a:t>70</a:t>
            </a:fld>
            <a:endParaRPr lang="en-US" altLang="zh-CN"/>
          </a:p>
        </p:txBody>
      </p:sp>
      <p:grpSp>
        <p:nvGrpSpPr>
          <p:cNvPr id="95245" name="Group 13"/>
          <p:cNvGrpSpPr>
            <a:grpSpLocks/>
          </p:cNvGrpSpPr>
          <p:nvPr/>
        </p:nvGrpSpPr>
        <p:grpSpPr bwMode="auto">
          <a:xfrm>
            <a:off x="5867400" y="1941513"/>
            <a:ext cx="2520950" cy="519112"/>
            <a:chOff x="3696" y="1570"/>
            <a:chExt cx="1588" cy="327"/>
          </a:xfrm>
        </p:grpSpPr>
        <p:sp>
          <p:nvSpPr>
            <p:cNvPr id="95239" name="Rectangle 7"/>
            <p:cNvSpPr>
              <a:spLocks noChangeArrowheads="1"/>
            </p:cNvSpPr>
            <p:nvPr/>
          </p:nvSpPr>
          <p:spPr bwMode="auto">
            <a:xfrm>
              <a:off x="4388" y="1570"/>
              <a:ext cx="8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sz="2800" b="1" baseline="-25000">
                  <a:solidFill>
                    <a:schemeClr val="hlink"/>
                  </a:solidFill>
                  <a:latin typeface="Times New Roman" pitchFamily="18" charset="0"/>
                </a:rPr>
                <a:t>1</a:t>
              </a:r>
              <a:r>
                <a:rPr lang="en-US" altLang="zh-CN" sz="2800" b="1">
                  <a:solidFill>
                    <a:schemeClr val="hlink"/>
                  </a:solidFill>
                  <a:latin typeface="Times New Roman" pitchFamily="18" charset="0"/>
                </a:rPr>
                <a:t>.begin</a:t>
              </a:r>
              <a:endParaRPr lang="zh-CN" altLang="en-US" sz="2800" b="1">
                <a:latin typeface="Times New Roman" pitchFamily="18" charset="0"/>
              </a:endParaRPr>
            </a:p>
          </p:txBody>
        </p:sp>
        <p:sp>
          <p:nvSpPr>
            <p:cNvPr id="95242" name="Line 10"/>
            <p:cNvSpPr>
              <a:spLocks noChangeShapeType="1"/>
            </p:cNvSpPr>
            <p:nvPr/>
          </p:nvSpPr>
          <p:spPr bwMode="auto">
            <a:xfrm>
              <a:off x="3696" y="1752"/>
              <a:ext cx="72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244" name="Group 12"/>
          <p:cNvGrpSpPr>
            <a:grpSpLocks/>
          </p:cNvGrpSpPr>
          <p:nvPr/>
        </p:nvGrpSpPr>
        <p:grpSpPr bwMode="auto">
          <a:xfrm>
            <a:off x="4787900" y="2590800"/>
            <a:ext cx="3284538" cy="519113"/>
            <a:chOff x="3016" y="1979"/>
            <a:chExt cx="2069" cy="327"/>
          </a:xfrm>
        </p:grpSpPr>
        <p:sp>
          <p:nvSpPr>
            <p:cNvPr id="95241" name="Rectangle 9"/>
            <p:cNvSpPr>
              <a:spLocks noChangeArrowheads="1"/>
            </p:cNvSpPr>
            <p:nvPr/>
          </p:nvSpPr>
          <p:spPr bwMode="auto">
            <a:xfrm>
              <a:off x="4377" y="1979"/>
              <a:ext cx="7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solidFill>
                    <a:schemeClr val="hlink"/>
                  </a:solidFill>
                  <a:latin typeface="Times New Roman" pitchFamily="18" charset="0"/>
                </a:rPr>
                <a:t>S.next</a:t>
              </a:r>
              <a:endParaRPr lang="zh-CN" altLang="en-US" sz="2800" b="1">
                <a:latin typeface="Times New Roman" pitchFamily="18" charset="0"/>
              </a:endParaRPr>
            </a:p>
          </p:txBody>
        </p:sp>
        <p:sp>
          <p:nvSpPr>
            <p:cNvPr id="95243" name="Line 11"/>
            <p:cNvSpPr>
              <a:spLocks noChangeShapeType="1"/>
            </p:cNvSpPr>
            <p:nvPr/>
          </p:nvSpPr>
          <p:spPr bwMode="auto">
            <a:xfrm>
              <a:off x="3016" y="2160"/>
              <a:ext cx="140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5262" name="Group 30"/>
          <p:cNvGrpSpPr>
            <a:grpSpLocks/>
          </p:cNvGrpSpPr>
          <p:nvPr/>
        </p:nvGrpSpPr>
        <p:grpSpPr bwMode="auto">
          <a:xfrm>
            <a:off x="6084888" y="4005263"/>
            <a:ext cx="2413000" cy="2301875"/>
            <a:chOff x="3833" y="2614"/>
            <a:chExt cx="1520" cy="1450"/>
          </a:xfrm>
        </p:grpSpPr>
        <p:sp>
          <p:nvSpPr>
            <p:cNvPr id="95247" name="Text Box 7"/>
            <p:cNvSpPr txBox="1">
              <a:spLocks noChangeArrowheads="1"/>
            </p:cNvSpPr>
            <p:nvPr/>
          </p:nvSpPr>
          <p:spPr bwMode="auto">
            <a:xfrm>
              <a:off x="4364" y="2614"/>
              <a:ext cx="584" cy="210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5248" name="Line 8"/>
            <p:cNvSpPr>
              <a:spLocks noChangeShapeType="1"/>
            </p:cNvSpPr>
            <p:nvPr/>
          </p:nvSpPr>
          <p:spPr bwMode="auto">
            <a:xfrm flipH="1">
              <a:off x="4101" y="2713"/>
              <a:ext cx="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49" name="Line 9"/>
            <p:cNvSpPr>
              <a:spLocks noChangeShapeType="1"/>
            </p:cNvSpPr>
            <p:nvPr/>
          </p:nvSpPr>
          <p:spPr bwMode="auto">
            <a:xfrm>
              <a:off x="4101" y="2713"/>
              <a:ext cx="0" cy="1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0" name="Line 10"/>
            <p:cNvSpPr>
              <a:spLocks noChangeShapeType="1"/>
            </p:cNvSpPr>
            <p:nvPr/>
          </p:nvSpPr>
          <p:spPr bwMode="auto">
            <a:xfrm>
              <a:off x="3897" y="2838"/>
              <a:ext cx="4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1" name="Rectangle 11"/>
            <p:cNvSpPr>
              <a:spLocks noChangeArrowheads="1"/>
            </p:cNvSpPr>
            <p:nvPr/>
          </p:nvSpPr>
          <p:spPr bwMode="auto">
            <a:xfrm>
              <a:off x="3833" y="2795"/>
              <a:ext cx="5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5252" name="Rectangle 12"/>
            <p:cNvSpPr>
              <a:spLocks noChangeArrowheads="1"/>
            </p:cNvSpPr>
            <p:nvPr/>
          </p:nvSpPr>
          <p:spPr bwMode="auto">
            <a:xfrm>
              <a:off x="3859" y="2642"/>
              <a:ext cx="4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C.true</a:t>
              </a:r>
            </a:p>
          </p:txBody>
        </p:sp>
        <p:sp>
          <p:nvSpPr>
            <p:cNvPr id="95253" name="Rectangle 13"/>
            <p:cNvSpPr>
              <a:spLocks noChangeArrowheads="1"/>
            </p:cNvSpPr>
            <p:nvPr/>
          </p:nvSpPr>
          <p:spPr bwMode="auto">
            <a:xfrm>
              <a:off x="3924" y="3704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5254" name="Line 14"/>
            <p:cNvSpPr>
              <a:spLocks noChangeShapeType="1"/>
            </p:cNvSpPr>
            <p:nvPr/>
          </p:nvSpPr>
          <p:spPr bwMode="auto">
            <a:xfrm>
              <a:off x="3926" y="3885"/>
              <a:ext cx="4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Text Box 15"/>
            <p:cNvSpPr txBox="1">
              <a:spLocks noChangeArrowheads="1"/>
            </p:cNvSpPr>
            <p:nvPr/>
          </p:nvSpPr>
          <p:spPr bwMode="auto">
            <a:xfrm>
              <a:off x="4364" y="2826"/>
              <a:ext cx="584" cy="1014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en-US" altLang="zh-CN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95256" name="Line 16"/>
            <p:cNvSpPr>
              <a:spLocks noChangeShapeType="1"/>
            </p:cNvSpPr>
            <p:nvPr/>
          </p:nvSpPr>
          <p:spPr bwMode="auto">
            <a:xfrm>
              <a:off x="4948" y="3840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Line 17"/>
            <p:cNvSpPr>
              <a:spLocks noChangeShapeType="1"/>
            </p:cNvSpPr>
            <p:nvPr/>
          </p:nvSpPr>
          <p:spPr bwMode="auto">
            <a:xfrm>
              <a:off x="4364" y="3840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8" name="Rectangle 18"/>
            <p:cNvSpPr>
              <a:spLocks noChangeArrowheads="1"/>
            </p:cNvSpPr>
            <p:nvPr/>
          </p:nvSpPr>
          <p:spPr bwMode="auto">
            <a:xfrm>
              <a:off x="4910" y="2664"/>
              <a:ext cx="4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C.false</a:t>
              </a:r>
            </a:p>
          </p:txBody>
        </p:sp>
        <p:sp>
          <p:nvSpPr>
            <p:cNvPr id="95259" name="Line 19"/>
            <p:cNvSpPr>
              <a:spLocks noChangeShapeType="1"/>
            </p:cNvSpPr>
            <p:nvPr/>
          </p:nvSpPr>
          <p:spPr bwMode="auto">
            <a:xfrm>
              <a:off x="4919" y="2713"/>
              <a:ext cx="1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0" name="Line 20"/>
            <p:cNvSpPr>
              <a:spLocks noChangeShapeType="1"/>
            </p:cNvSpPr>
            <p:nvPr/>
          </p:nvSpPr>
          <p:spPr bwMode="auto">
            <a:xfrm flipH="1">
              <a:off x="5058" y="2713"/>
              <a:ext cx="7" cy="1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61" name="Line 21"/>
            <p:cNvSpPr>
              <a:spLocks noChangeShapeType="1"/>
            </p:cNvSpPr>
            <p:nvPr/>
          </p:nvSpPr>
          <p:spPr bwMode="auto">
            <a:xfrm flipH="1">
              <a:off x="4921" y="3885"/>
              <a:ext cx="1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5263" name="Text Box 31"/>
          <p:cNvSpPr txBox="1">
            <a:spLocks noChangeArrowheads="1"/>
          </p:cNvSpPr>
          <p:nvPr/>
        </p:nvSpPr>
        <p:spPr bwMode="auto">
          <a:xfrm>
            <a:off x="2339975" y="4941888"/>
            <a:ext cx="3095625" cy="1066800"/>
          </a:xfrm>
          <a:prstGeom prst="rect">
            <a:avLst/>
          </a:prstGeom>
          <a:solidFill>
            <a:srgbClr val="00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3200" b="1" baseline="-2500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.next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：需要？定位在何处？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7015162" cy="1203325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if C then S</a:t>
            </a:r>
            <a:r>
              <a:rPr lang="en-US" altLang="zh-CN" b="1" baseline="-25000" smtClean="0">
                <a:solidFill>
                  <a:schemeClr val="tx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的属性文法</a:t>
            </a:r>
            <a:endParaRPr lang="en-US" altLang="zh-CN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792288"/>
            <a:ext cx="8204200" cy="242887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 → if C then S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C.true := newlab;     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C.false:= S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.next := S.next;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S.code := C.code ||gen( C.true':' ) ||S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.code</a:t>
            </a:r>
          </a:p>
        </p:txBody>
      </p:sp>
      <p:sp>
        <p:nvSpPr>
          <p:cNvPr id="9626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08B7F25-86F3-47A0-BE8E-46289447BDE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62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6670BB2-0C4E-4DA6-B703-2BB4D5630F18}" type="slidenum">
              <a:rPr lang="zh-CN" altLang="en-US"/>
              <a:pPr eaLnBrk="1" hangingPunct="1"/>
              <a:t>71</a:t>
            </a:fld>
            <a:endParaRPr lang="en-US" altLang="zh-CN"/>
          </a:p>
        </p:txBody>
      </p:sp>
      <p:sp>
        <p:nvSpPr>
          <p:cNvPr id="345092" name="Rectangle 4"/>
          <p:cNvSpPr>
            <a:spLocks noChangeArrowheads="1"/>
          </p:cNvSpPr>
          <p:nvPr/>
        </p:nvSpPr>
        <p:spPr bwMode="auto">
          <a:xfrm>
            <a:off x="611188" y="4425950"/>
            <a:ext cx="5410200" cy="561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语义过程</a:t>
            </a:r>
            <a:r>
              <a:rPr kumimoji="1" lang="en-US" altLang="zh-CN" sz="2800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newlab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产生新的标号</a:t>
            </a:r>
          </a:p>
        </p:txBody>
      </p:sp>
      <p:sp>
        <p:nvSpPr>
          <p:cNvPr id="345093" name="Text Box 5"/>
          <p:cNvSpPr txBox="1">
            <a:spLocks noChangeArrowheads="1"/>
          </p:cNvSpPr>
          <p:nvPr/>
        </p:nvSpPr>
        <p:spPr bwMode="auto">
          <a:xfrm>
            <a:off x="609600" y="5111750"/>
            <a:ext cx="48768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例：</a:t>
            </a:r>
            <a:r>
              <a:rPr kumimoji="1" lang="en-US" altLang="zh-CN" sz="2400" b="1">
                <a:latin typeface="Times New Roman" pitchFamily="18" charset="0"/>
              </a:rPr>
              <a:t>if a&gt;b then if b&gt;c then a=b+c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例</a:t>
            </a:r>
            <a:r>
              <a:rPr kumimoji="1" lang="zh-CN" altLang="en-US" sz="2400" b="1">
                <a:latin typeface="Times New Roman" pitchFamily="18" charset="0"/>
              </a:rPr>
              <a:t>：</a:t>
            </a:r>
            <a:r>
              <a:rPr kumimoji="1" lang="en-US" altLang="zh-CN" sz="2400" b="1">
                <a:latin typeface="Times New Roman" pitchFamily="18" charset="0"/>
              </a:rPr>
              <a:t>if a&gt;b and b&gt;c then a=b+c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372225" y="1339850"/>
            <a:ext cx="2413000" cy="2301875"/>
            <a:chOff x="204" y="2567"/>
            <a:chExt cx="1520" cy="1450"/>
          </a:xfrm>
        </p:grpSpPr>
        <p:sp>
          <p:nvSpPr>
            <p:cNvPr id="96265" name="Text Box 7"/>
            <p:cNvSpPr txBox="1">
              <a:spLocks noChangeArrowheads="1"/>
            </p:cNvSpPr>
            <p:nvPr/>
          </p:nvSpPr>
          <p:spPr bwMode="auto">
            <a:xfrm>
              <a:off x="735" y="2567"/>
              <a:ext cx="584" cy="210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6266" name="Line 8"/>
            <p:cNvSpPr>
              <a:spLocks noChangeShapeType="1"/>
            </p:cNvSpPr>
            <p:nvPr/>
          </p:nvSpPr>
          <p:spPr bwMode="auto">
            <a:xfrm flipH="1">
              <a:off x="472" y="2666"/>
              <a:ext cx="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7" name="Line 9"/>
            <p:cNvSpPr>
              <a:spLocks noChangeShapeType="1"/>
            </p:cNvSpPr>
            <p:nvPr/>
          </p:nvSpPr>
          <p:spPr bwMode="auto">
            <a:xfrm>
              <a:off x="472" y="2666"/>
              <a:ext cx="0" cy="1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8" name="Line 10"/>
            <p:cNvSpPr>
              <a:spLocks noChangeShapeType="1"/>
            </p:cNvSpPr>
            <p:nvPr/>
          </p:nvSpPr>
          <p:spPr bwMode="auto">
            <a:xfrm>
              <a:off x="268" y="2791"/>
              <a:ext cx="4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69" name="Rectangle 11"/>
            <p:cNvSpPr>
              <a:spLocks noChangeArrowheads="1"/>
            </p:cNvSpPr>
            <p:nvPr/>
          </p:nvSpPr>
          <p:spPr bwMode="auto">
            <a:xfrm>
              <a:off x="204" y="2876"/>
              <a:ext cx="5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6270" name="Rectangle 12"/>
            <p:cNvSpPr>
              <a:spLocks noChangeArrowheads="1"/>
            </p:cNvSpPr>
            <p:nvPr/>
          </p:nvSpPr>
          <p:spPr bwMode="auto">
            <a:xfrm>
              <a:off x="230" y="2595"/>
              <a:ext cx="4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C.true</a:t>
              </a:r>
            </a:p>
          </p:txBody>
        </p:sp>
        <p:sp>
          <p:nvSpPr>
            <p:cNvPr id="96271" name="Rectangle 13"/>
            <p:cNvSpPr>
              <a:spLocks noChangeArrowheads="1"/>
            </p:cNvSpPr>
            <p:nvPr/>
          </p:nvSpPr>
          <p:spPr bwMode="auto">
            <a:xfrm>
              <a:off x="295" y="3657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6272" name="Line 14"/>
            <p:cNvSpPr>
              <a:spLocks noChangeShapeType="1"/>
            </p:cNvSpPr>
            <p:nvPr/>
          </p:nvSpPr>
          <p:spPr bwMode="auto">
            <a:xfrm>
              <a:off x="297" y="3838"/>
              <a:ext cx="4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3" name="Text Box 15"/>
            <p:cNvSpPr txBox="1">
              <a:spLocks noChangeArrowheads="1"/>
            </p:cNvSpPr>
            <p:nvPr/>
          </p:nvSpPr>
          <p:spPr bwMode="auto">
            <a:xfrm>
              <a:off x="735" y="2779"/>
              <a:ext cx="584" cy="1014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en-US" altLang="zh-CN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96274" name="Line 16"/>
            <p:cNvSpPr>
              <a:spLocks noChangeShapeType="1"/>
            </p:cNvSpPr>
            <p:nvPr/>
          </p:nvSpPr>
          <p:spPr bwMode="auto">
            <a:xfrm>
              <a:off x="1319" y="3793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5" name="Line 17"/>
            <p:cNvSpPr>
              <a:spLocks noChangeShapeType="1"/>
            </p:cNvSpPr>
            <p:nvPr/>
          </p:nvSpPr>
          <p:spPr bwMode="auto">
            <a:xfrm>
              <a:off x="735" y="3793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6" name="Rectangle 18"/>
            <p:cNvSpPr>
              <a:spLocks noChangeArrowheads="1"/>
            </p:cNvSpPr>
            <p:nvPr/>
          </p:nvSpPr>
          <p:spPr bwMode="auto">
            <a:xfrm>
              <a:off x="1281" y="2617"/>
              <a:ext cx="4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C.false</a:t>
              </a:r>
            </a:p>
          </p:txBody>
        </p:sp>
        <p:sp>
          <p:nvSpPr>
            <p:cNvPr id="96277" name="Line 19"/>
            <p:cNvSpPr>
              <a:spLocks noChangeShapeType="1"/>
            </p:cNvSpPr>
            <p:nvPr/>
          </p:nvSpPr>
          <p:spPr bwMode="auto">
            <a:xfrm>
              <a:off x="1290" y="2666"/>
              <a:ext cx="1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8" name="Line 20"/>
            <p:cNvSpPr>
              <a:spLocks noChangeShapeType="1"/>
            </p:cNvSpPr>
            <p:nvPr/>
          </p:nvSpPr>
          <p:spPr bwMode="auto">
            <a:xfrm flipH="1">
              <a:off x="1429" y="2666"/>
              <a:ext cx="7" cy="1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279" name="Line 21"/>
            <p:cNvSpPr>
              <a:spLocks noChangeShapeType="1"/>
            </p:cNvSpPr>
            <p:nvPr/>
          </p:nvSpPr>
          <p:spPr bwMode="auto">
            <a:xfrm flipH="1">
              <a:off x="1292" y="3838"/>
              <a:ext cx="1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04813"/>
            <a:ext cx="8569325" cy="838200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S→if C then S</a:t>
            </a:r>
            <a:r>
              <a:rPr lang="en-US" altLang="zh-CN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else S</a:t>
            </a:r>
            <a:r>
              <a:rPr lang="en-US" altLang="zh-CN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的代码结构</a:t>
            </a:r>
            <a:endParaRPr lang="en-US" altLang="zh-CN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7283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5BF793F-0425-4458-9F68-0CBB48F674BC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7448B28-7CC2-4CA2-ACF3-F6E40F17CF59}" type="slidenum">
              <a:rPr lang="zh-CN" altLang="en-US"/>
              <a:pPr eaLnBrk="1" hangingPunct="1"/>
              <a:t>72</a:t>
            </a:fld>
            <a:endParaRPr lang="en-US" altLang="zh-CN"/>
          </a:p>
        </p:txBody>
      </p:sp>
      <p:sp>
        <p:nvSpPr>
          <p:cNvPr id="346157" name="Text Box 45"/>
          <p:cNvSpPr txBox="1">
            <a:spLocks noChangeArrowheads="1"/>
          </p:cNvSpPr>
          <p:nvPr/>
        </p:nvSpPr>
        <p:spPr bwMode="auto">
          <a:xfrm>
            <a:off x="395288" y="2997200"/>
            <a:ext cx="3743325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属性</a:t>
            </a:r>
            <a:r>
              <a:rPr lang="en-US" altLang="zh-CN" sz="2800" b="1"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>
                <a:latin typeface="华文新魏" pitchFamily="2" charset="-122"/>
                <a:ea typeface="华文新魏" pitchFamily="2" charset="-122"/>
              </a:rPr>
              <a:t>继承</a:t>
            </a:r>
            <a:r>
              <a:rPr lang="en-US" altLang="zh-CN" sz="2800" b="1">
                <a:latin typeface="华文新魏" pitchFamily="2" charset="-122"/>
                <a:ea typeface="华文新魏" pitchFamily="2" charset="-122"/>
              </a:rPr>
              <a:t>)</a:t>
            </a:r>
            <a:r>
              <a:rPr lang="en-US" altLang="zh-CN"/>
              <a:t> </a:t>
            </a:r>
            <a:r>
              <a:rPr lang="en-US" altLang="zh-CN" sz="2800" b="1"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C.true; C.false; C.code </a:t>
            </a:r>
          </a:p>
          <a:p>
            <a:pPr eaLnBrk="1" hangingPunct="1">
              <a:spcBef>
                <a:spcPct val="40000"/>
              </a:spcBef>
            </a:pPr>
            <a:r>
              <a:rPr kumimoji="1" lang="en-US" altLang="zh-CN" sz="2800" b="1">
                <a:latin typeface="Times New Roman" pitchFamily="18" charset="0"/>
                <a:ea typeface="华文新魏" pitchFamily="2" charset="-122"/>
              </a:rPr>
              <a:t>S.begin; S.next; S.code</a:t>
            </a:r>
          </a:p>
        </p:txBody>
      </p:sp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5491163" y="1636713"/>
            <a:ext cx="1524000" cy="476250"/>
          </a:xfrm>
          <a:prstGeom prst="rect">
            <a:avLst/>
          </a:prstGeom>
          <a:noFill/>
          <a:ln w="1905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C.code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128963" y="1484313"/>
            <a:ext cx="2438400" cy="1066800"/>
            <a:chOff x="2448" y="672"/>
            <a:chExt cx="1536" cy="672"/>
          </a:xfrm>
        </p:grpSpPr>
        <p:sp>
          <p:nvSpPr>
            <p:cNvPr id="97309" name="Line 9"/>
            <p:cNvSpPr>
              <a:spLocks noChangeShapeType="1"/>
            </p:cNvSpPr>
            <p:nvPr/>
          </p:nvSpPr>
          <p:spPr bwMode="auto">
            <a:xfrm flipH="1">
              <a:off x="3504" y="960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0" name="Line 10"/>
            <p:cNvSpPr>
              <a:spLocks noChangeShapeType="1"/>
            </p:cNvSpPr>
            <p:nvPr/>
          </p:nvSpPr>
          <p:spPr bwMode="auto">
            <a:xfrm>
              <a:off x="3504" y="96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1" name="Line 11"/>
            <p:cNvSpPr>
              <a:spLocks noChangeShapeType="1"/>
            </p:cNvSpPr>
            <p:nvPr/>
          </p:nvSpPr>
          <p:spPr bwMode="auto">
            <a:xfrm>
              <a:off x="3168" y="1200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2" name="Rectangle 12"/>
            <p:cNvSpPr>
              <a:spLocks noChangeArrowheads="1"/>
            </p:cNvSpPr>
            <p:nvPr/>
          </p:nvSpPr>
          <p:spPr bwMode="auto">
            <a:xfrm>
              <a:off x="2448" y="1056"/>
              <a:ext cx="7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7313" name="Rectangle 13"/>
            <p:cNvSpPr>
              <a:spLocks noChangeArrowheads="1"/>
            </p:cNvSpPr>
            <p:nvPr/>
          </p:nvSpPr>
          <p:spPr bwMode="auto">
            <a:xfrm>
              <a:off x="2976" y="672"/>
              <a:ext cx="6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C.true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3281363" y="5599113"/>
            <a:ext cx="2209800" cy="457200"/>
            <a:chOff x="2544" y="2064"/>
            <a:chExt cx="1392" cy="288"/>
          </a:xfrm>
        </p:grpSpPr>
        <p:sp>
          <p:nvSpPr>
            <p:cNvPr id="97307" name="Rectangle 15"/>
            <p:cNvSpPr>
              <a:spLocks noChangeArrowheads="1"/>
            </p:cNvSpPr>
            <p:nvPr/>
          </p:nvSpPr>
          <p:spPr bwMode="auto">
            <a:xfrm>
              <a:off x="2544" y="2064"/>
              <a:ext cx="6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7308" name="Line 16"/>
            <p:cNvSpPr>
              <a:spLocks noChangeShapeType="1"/>
            </p:cNvSpPr>
            <p:nvPr/>
          </p:nvSpPr>
          <p:spPr bwMode="auto">
            <a:xfrm>
              <a:off x="3216" y="2256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6129" name="Text Box 17"/>
          <p:cNvSpPr txBox="1">
            <a:spLocks noChangeArrowheads="1"/>
          </p:cNvSpPr>
          <p:nvPr/>
        </p:nvSpPr>
        <p:spPr bwMode="auto">
          <a:xfrm>
            <a:off x="5491163" y="2093913"/>
            <a:ext cx="1524000" cy="3762375"/>
          </a:xfrm>
          <a:prstGeom prst="rect">
            <a:avLst/>
          </a:prstGeom>
          <a:noFill/>
          <a:ln w="1905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zh-CN" altLang="en-US" sz="2400" b="1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1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itchFamily="18" charset="0"/>
              </a:rPr>
              <a:t>.code</a:t>
            </a:r>
          </a:p>
          <a:p>
            <a:pPr>
              <a:spcBef>
                <a:spcPct val="50000"/>
              </a:spcBef>
            </a:pPr>
            <a:endParaRPr kumimoji="1" lang="en-US" altLang="zh-CN" sz="2400" b="1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2400" b="1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2400" b="1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en-US" altLang="zh-CN" sz="2400" b="1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2400" b="1">
              <a:solidFill>
                <a:schemeClr val="tx2"/>
              </a:solidFill>
              <a:latin typeface="Times New Roman" pitchFamily="18" charset="0"/>
            </a:endParaRPr>
          </a:p>
        </p:txBody>
      </p:sp>
      <p:sp>
        <p:nvSpPr>
          <p:cNvPr id="346130" name="Line 18"/>
          <p:cNvSpPr>
            <a:spLocks noChangeShapeType="1"/>
          </p:cNvSpPr>
          <p:nvPr/>
        </p:nvSpPr>
        <p:spPr bwMode="auto">
          <a:xfrm>
            <a:off x="7015163" y="5599113"/>
            <a:ext cx="0" cy="68580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31" name="Line 19"/>
          <p:cNvSpPr>
            <a:spLocks noChangeShapeType="1"/>
          </p:cNvSpPr>
          <p:nvPr/>
        </p:nvSpPr>
        <p:spPr bwMode="auto">
          <a:xfrm>
            <a:off x="5491163" y="5675313"/>
            <a:ext cx="0" cy="68580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33" name="Rectangle 21"/>
          <p:cNvSpPr>
            <a:spLocks noChangeArrowheads="1"/>
          </p:cNvSpPr>
          <p:nvPr/>
        </p:nvSpPr>
        <p:spPr bwMode="auto">
          <a:xfrm>
            <a:off x="7243763" y="1560513"/>
            <a:ext cx="1073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en-US" altLang="zh-CN" sz="2400" b="1">
                <a:latin typeface="Times New Roman" pitchFamily="18" charset="0"/>
              </a:rPr>
              <a:t>C.false</a:t>
            </a:r>
          </a:p>
        </p:txBody>
      </p:sp>
      <p:sp>
        <p:nvSpPr>
          <p:cNvPr id="346134" name="Line 22"/>
          <p:cNvSpPr>
            <a:spLocks noChangeShapeType="1"/>
          </p:cNvSpPr>
          <p:nvPr/>
        </p:nvSpPr>
        <p:spPr bwMode="auto">
          <a:xfrm>
            <a:off x="6948488" y="19177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35" name="Line 23"/>
          <p:cNvSpPr>
            <a:spLocks noChangeShapeType="1"/>
          </p:cNvSpPr>
          <p:nvPr/>
        </p:nvSpPr>
        <p:spPr bwMode="auto">
          <a:xfrm flipH="1">
            <a:off x="7307263" y="1917700"/>
            <a:ext cx="0" cy="2447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36" name="Line 24"/>
          <p:cNvSpPr>
            <a:spLocks noChangeShapeType="1"/>
          </p:cNvSpPr>
          <p:nvPr/>
        </p:nvSpPr>
        <p:spPr bwMode="auto">
          <a:xfrm flipH="1">
            <a:off x="6862763" y="59578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51" name="Text Box 39"/>
          <p:cNvSpPr txBox="1">
            <a:spLocks noChangeArrowheads="1"/>
          </p:cNvSpPr>
          <p:nvPr/>
        </p:nvSpPr>
        <p:spPr bwMode="auto">
          <a:xfrm>
            <a:off x="7380288" y="393382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rgbClr val="990033"/>
                </a:solidFill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solidFill>
                  <a:srgbClr val="990033"/>
                </a:solidFill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rgbClr val="990033"/>
                </a:solidFill>
                <a:latin typeface="Times New Roman" pitchFamily="18" charset="0"/>
              </a:rPr>
              <a:t>.begin</a:t>
            </a:r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3281363" y="4859338"/>
            <a:ext cx="1143000" cy="881062"/>
            <a:chOff x="144" y="3237"/>
            <a:chExt cx="720" cy="555"/>
          </a:xfrm>
        </p:grpSpPr>
        <p:sp>
          <p:nvSpPr>
            <p:cNvPr id="97305" name="Text Box 41"/>
            <p:cNvSpPr txBox="1">
              <a:spLocks noChangeArrowheads="1"/>
            </p:cNvSpPr>
            <p:nvPr/>
          </p:nvSpPr>
          <p:spPr bwMode="auto">
            <a:xfrm>
              <a:off x="144" y="350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rgbClr val="990033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rgbClr val="990033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2400" b="1">
                  <a:solidFill>
                    <a:srgbClr val="990033"/>
                  </a:solidFill>
                  <a:latin typeface="Times New Roman" pitchFamily="18" charset="0"/>
                </a:rPr>
                <a:t>.next</a:t>
              </a:r>
            </a:p>
          </p:txBody>
        </p:sp>
        <p:sp>
          <p:nvSpPr>
            <p:cNvPr id="97306" name="Rectangle 42"/>
            <p:cNvSpPr>
              <a:spLocks noChangeArrowheads="1"/>
            </p:cNvSpPr>
            <p:nvPr/>
          </p:nvSpPr>
          <p:spPr bwMode="auto">
            <a:xfrm>
              <a:off x="146" y="3237"/>
              <a:ext cx="6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rgbClr val="990033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rgbClr val="990033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>
                  <a:solidFill>
                    <a:srgbClr val="990033"/>
                  </a:solidFill>
                  <a:latin typeface="Times New Roman" pitchFamily="18" charset="0"/>
                </a:rPr>
                <a:t>.next</a:t>
              </a:r>
            </a:p>
          </p:txBody>
        </p:sp>
      </p:grpSp>
      <p:sp>
        <p:nvSpPr>
          <p:cNvPr id="346140" name="Text Box 28"/>
          <p:cNvSpPr txBox="1">
            <a:spLocks noChangeArrowheads="1"/>
          </p:cNvSpPr>
          <p:nvPr/>
        </p:nvSpPr>
        <p:spPr bwMode="auto">
          <a:xfrm>
            <a:off x="5507038" y="3883025"/>
            <a:ext cx="1524000" cy="409575"/>
          </a:xfrm>
          <a:prstGeom prst="rect">
            <a:avLst/>
          </a:prstGeom>
          <a:solidFill>
            <a:srgbClr val="000099"/>
          </a:solidFill>
          <a:ln w="1270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goto S.next</a:t>
            </a:r>
          </a:p>
        </p:txBody>
      </p:sp>
      <p:sp>
        <p:nvSpPr>
          <p:cNvPr id="346141" name="Text Box 29"/>
          <p:cNvSpPr txBox="1">
            <a:spLocks noChangeArrowheads="1"/>
          </p:cNvSpPr>
          <p:nvPr/>
        </p:nvSpPr>
        <p:spPr bwMode="auto">
          <a:xfrm>
            <a:off x="5507038" y="4292600"/>
            <a:ext cx="1524000" cy="1565275"/>
          </a:xfrm>
          <a:prstGeom prst="rect">
            <a:avLst/>
          </a:prstGeom>
          <a:solidFill>
            <a:srgbClr val="000099"/>
          </a:solidFill>
          <a:ln w="12700">
            <a:solidFill>
              <a:srgbClr val="FFCC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endParaRPr kumimoji="1" lang="zh-CN" altLang="en-US" sz="2400">
              <a:solidFill>
                <a:schemeClr val="bg1"/>
              </a:solidFill>
              <a:latin typeface="Times New Roman" pitchFamily="18" charset="0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.code</a:t>
            </a:r>
          </a:p>
          <a:p>
            <a:pPr eaLnBrk="0" hangingPunct="0">
              <a:spcBef>
                <a:spcPct val="50000"/>
              </a:spcBef>
              <a:defRPr/>
            </a:pPr>
            <a:endParaRPr kumimoji="1" lang="zh-CN" altLang="en-US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346143" name="Line 31"/>
          <p:cNvSpPr>
            <a:spLocks noChangeShapeType="1"/>
          </p:cNvSpPr>
          <p:nvPr/>
        </p:nvSpPr>
        <p:spPr bwMode="auto">
          <a:xfrm>
            <a:off x="4932363" y="4149725"/>
            <a:ext cx="0" cy="175260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44" name="Line 32"/>
          <p:cNvSpPr>
            <a:spLocks noChangeShapeType="1"/>
          </p:cNvSpPr>
          <p:nvPr/>
        </p:nvSpPr>
        <p:spPr bwMode="auto">
          <a:xfrm>
            <a:off x="4932363" y="4149725"/>
            <a:ext cx="600075" cy="0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48" name="Line 36"/>
          <p:cNvSpPr>
            <a:spLocks noChangeShapeType="1"/>
          </p:cNvSpPr>
          <p:nvPr/>
        </p:nvSpPr>
        <p:spPr bwMode="auto">
          <a:xfrm flipH="1">
            <a:off x="7019925" y="4365625"/>
            <a:ext cx="877888" cy="3175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65" name="Line 53"/>
          <p:cNvSpPr>
            <a:spLocks noChangeShapeType="1"/>
          </p:cNvSpPr>
          <p:nvPr/>
        </p:nvSpPr>
        <p:spPr bwMode="auto">
          <a:xfrm flipH="1">
            <a:off x="7307263" y="4365625"/>
            <a:ext cx="0" cy="1584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Rectangle 4"/>
          <p:cNvSpPr>
            <a:spLocks noGrp="1" noChangeArrowheads="1"/>
          </p:cNvSpPr>
          <p:nvPr>
            <p:ph type="title"/>
          </p:nvPr>
        </p:nvSpPr>
        <p:spPr>
          <a:xfrm>
            <a:off x="71438" y="115888"/>
            <a:ext cx="6588125" cy="792162"/>
          </a:xfrm>
        </p:spPr>
        <p:txBody>
          <a:bodyPr/>
          <a:lstStyle/>
          <a:p>
            <a:r>
              <a:rPr lang="en-US" altLang="zh-CN" sz="32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S→if C then S</a:t>
            </a:r>
            <a:r>
              <a:rPr lang="en-US" altLang="zh-CN" sz="32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32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else S</a:t>
            </a:r>
            <a:r>
              <a:rPr lang="en-US" altLang="zh-CN" sz="32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的属性文法</a:t>
            </a:r>
          </a:p>
        </p:txBody>
      </p:sp>
      <p:sp>
        <p:nvSpPr>
          <p:cNvPr id="98307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196975"/>
            <a:ext cx="8839200" cy="29527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S → if C then S</a:t>
            </a:r>
            <a:r>
              <a:rPr lang="en-US" altLang="zh-CN" sz="2800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	C.true := newlab;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    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				S</a:t>
            </a:r>
            <a:r>
              <a:rPr lang="en-US" altLang="zh-CN" sz="2800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.next := 		      S.next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；</a:t>
            </a: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                              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S.code := C.code || gen( C.true':' ) ||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                               	S</a:t>
            </a:r>
            <a:r>
              <a:rPr lang="en-US" altLang="zh-CN" sz="2800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.code                                    	</a:t>
            </a:r>
          </a:p>
        </p:txBody>
      </p:sp>
      <p:sp>
        <p:nvSpPr>
          <p:cNvPr id="9830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A604674-E2F7-41B5-9222-6F4D60CDF28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83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4F1BDC4-553E-4EC2-9DA5-DB8C83FD345A}" type="slidenum">
              <a:rPr lang="zh-CN" altLang="en-US"/>
              <a:pPr eaLnBrk="1" hangingPunct="1"/>
              <a:t>73</a:t>
            </a:fld>
            <a:endParaRPr lang="en-US" altLang="zh-CN"/>
          </a:p>
        </p:txBody>
      </p:sp>
      <p:sp>
        <p:nvSpPr>
          <p:cNvPr id="432131" name="Rectangle 3"/>
          <p:cNvSpPr>
            <a:spLocks noChangeArrowheads="1"/>
          </p:cNvSpPr>
          <p:nvPr/>
        </p:nvSpPr>
        <p:spPr bwMode="auto">
          <a:xfrm>
            <a:off x="4211638" y="3716338"/>
            <a:ext cx="441166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gen( C.false':' ) || S</a:t>
            </a:r>
            <a:r>
              <a:rPr lang="en-US" altLang="zh-CN" sz="2800" b="1" baseline="-2500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.code</a:t>
            </a:r>
          </a:p>
        </p:txBody>
      </p:sp>
      <p:sp>
        <p:nvSpPr>
          <p:cNvPr id="432141" name="Text Box 13"/>
          <p:cNvSpPr txBox="1">
            <a:spLocks noChangeArrowheads="1"/>
          </p:cNvSpPr>
          <p:nvPr/>
        </p:nvSpPr>
        <p:spPr bwMode="auto">
          <a:xfrm>
            <a:off x="4716463" y="2168525"/>
            <a:ext cx="1655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C.false:=</a:t>
            </a:r>
          </a:p>
        </p:txBody>
      </p:sp>
      <p:sp>
        <p:nvSpPr>
          <p:cNvPr id="98312" name="Line 44"/>
          <p:cNvSpPr>
            <a:spLocks noChangeShapeType="1"/>
          </p:cNvSpPr>
          <p:nvPr/>
        </p:nvSpPr>
        <p:spPr bwMode="auto">
          <a:xfrm>
            <a:off x="8383588" y="2074863"/>
            <a:ext cx="254000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144463" y="3860800"/>
            <a:ext cx="2843212" cy="2497138"/>
            <a:chOff x="3969" y="164"/>
            <a:chExt cx="1791" cy="1573"/>
          </a:xfrm>
        </p:grpSpPr>
        <p:sp>
          <p:nvSpPr>
            <p:cNvPr id="98334" name="Text Box 15"/>
            <p:cNvSpPr txBox="1">
              <a:spLocks noChangeArrowheads="1"/>
            </p:cNvSpPr>
            <p:nvPr/>
          </p:nvSpPr>
          <p:spPr bwMode="auto">
            <a:xfrm>
              <a:off x="4538" y="164"/>
              <a:ext cx="653" cy="204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8335" name="Line 18"/>
            <p:cNvSpPr>
              <a:spLocks noChangeShapeType="1"/>
            </p:cNvSpPr>
            <p:nvPr/>
          </p:nvSpPr>
          <p:spPr bwMode="auto">
            <a:xfrm flipH="1" flipV="1">
              <a:off x="4413" y="269"/>
              <a:ext cx="1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6" name="Line 19"/>
            <p:cNvSpPr>
              <a:spLocks noChangeShapeType="1"/>
            </p:cNvSpPr>
            <p:nvPr/>
          </p:nvSpPr>
          <p:spPr bwMode="auto">
            <a:xfrm>
              <a:off x="4413" y="269"/>
              <a:ext cx="0" cy="1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7" name="Line 20"/>
            <p:cNvSpPr>
              <a:spLocks noChangeShapeType="1"/>
            </p:cNvSpPr>
            <p:nvPr/>
          </p:nvSpPr>
          <p:spPr bwMode="auto">
            <a:xfrm>
              <a:off x="4025" y="374"/>
              <a:ext cx="5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8" name="Rectangle 21"/>
            <p:cNvSpPr>
              <a:spLocks noChangeArrowheads="1"/>
            </p:cNvSpPr>
            <p:nvPr/>
          </p:nvSpPr>
          <p:spPr bwMode="auto">
            <a:xfrm>
              <a:off x="4025" y="342"/>
              <a:ext cx="5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8339" name="Rectangle 22"/>
            <p:cNvSpPr>
              <a:spLocks noChangeArrowheads="1"/>
            </p:cNvSpPr>
            <p:nvPr/>
          </p:nvSpPr>
          <p:spPr bwMode="auto">
            <a:xfrm>
              <a:off x="4025" y="185"/>
              <a:ext cx="4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C.true</a:t>
              </a:r>
            </a:p>
          </p:txBody>
        </p:sp>
        <p:sp>
          <p:nvSpPr>
            <p:cNvPr id="98340" name="Rectangle 24"/>
            <p:cNvSpPr>
              <a:spLocks noChangeArrowheads="1"/>
            </p:cNvSpPr>
            <p:nvPr/>
          </p:nvSpPr>
          <p:spPr bwMode="auto">
            <a:xfrm>
              <a:off x="3970" y="1545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8341" name="Line 25"/>
            <p:cNvSpPr>
              <a:spLocks noChangeShapeType="1"/>
            </p:cNvSpPr>
            <p:nvPr/>
          </p:nvSpPr>
          <p:spPr bwMode="auto">
            <a:xfrm>
              <a:off x="4037" y="1600"/>
              <a:ext cx="4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2" name="Text Box 26"/>
            <p:cNvSpPr txBox="1">
              <a:spLocks noChangeArrowheads="1"/>
            </p:cNvSpPr>
            <p:nvPr/>
          </p:nvSpPr>
          <p:spPr bwMode="auto">
            <a:xfrm>
              <a:off x="4538" y="357"/>
              <a:ext cx="650" cy="607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98343" name="Line 27"/>
            <p:cNvSpPr>
              <a:spLocks noChangeShapeType="1"/>
            </p:cNvSpPr>
            <p:nvPr/>
          </p:nvSpPr>
          <p:spPr bwMode="auto">
            <a:xfrm>
              <a:off x="5188" y="1575"/>
              <a:ext cx="0" cy="15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4" name="Line 28"/>
            <p:cNvSpPr>
              <a:spLocks noChangeShapeType="1"/>
            </p:cNvSpPr>
            <p:nvPr/>
          </p:nvSpPr>
          <p:spPr bwMode="auto">
            <a:xfrm>
              <a:off x="4524" y="1575"/>
              <a:ext cx="0" cy="15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5" name="Rectangle 30"/>
            <p:cNvSpPr>
              <a:spLocks noChangeArrowheads="1"/>
            </p:cNvSpPr>
            <p:nvPr/>
          </p:nvSpPr>
          <p:spPr bwMode="auto">
            <a:xfrm>
              <a:off x="5260" y="185"/>
              <a:ext cx="4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990033"/>
                  </a:solidFill>
                  <a:latin typeface="Times New Roman" pitchFamily="18" charset="0"/>
                </a:rPr>
                <a:t>C.false</a:t>
              </a:r>
            </a:p>
          </p:txBody>
        </p:sp>
        <p:sp>
          <p:nvSpPr>
            <p:cNvPr id="98346" name="Line 31"/>
            <p:cNvSpPr>
              <a:spLocks noChangeShapeType="1"/>
            </p:cNvSpPr>
            <p:nvPr/>
          </p:nvSpPr>
          <p:spPr bwMode="auto">
            <a:xfrm flipV="1">
              <a:off x="5133" y="269"/>
              <a:ext cx="1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7" name="Line 32"/>
            <p:cNvSpPr>
              <a:spLocks noChangeShapeType="1"/>
            </p:cNvSpPr>
            <p:nvPr/>
          </p:nvSpPr>
          <p:spPr bwMode="auto">
            <a:xfrm flipH="1">
              <a:off x="5300" y="269"/>
              <a:ext cx="0" cy="8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48" name="Line 33"/>
            <p:cNvSpPr>
              <a:spLocks noChangeShapeType="1"/>
            </p:cNvSpPr>
            <p:nvPr/>
          </p:nvSpPr>
          <p:spPr bwMode="auto">
            <a:xfrm flipH="1" flipV="1">
              <a:off x="5188" y="1105"/>
              <a:ext cx="232" cy="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165" name="Text Box 37"/>
            <p:cNvSpPr txBox="1">
              <a:spLocks noChangeArrowheads="1"/>
            </p:cNvSpPr>
            <p:nvPr/>
          </p:nvSpPr>
          <p:spPr bwMode="auto">
            <a:xfrm>
              <a:off x="4524" y="844"/>
              <a:ext cx="664" cy="200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rgbClr val="FFCC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goto S.next</a:t>
              </a:r>
            </a:p>
          </p:txBody>
        </p:sp>
        <p:sp>
          <p:nvSpPr>
            <p:cNvPr id="432166" name="Text Box 38"/>
            <p:cNvSpPr txBox="1">
              <a:spLocks noChangeArrowheads="1"/>
            </p:cNvSpPr>
            <p:nvPr/>
          </p:nvSpPr>
          <p:spPr bwMode="auto">
            <a:xfrm>
              <a:off x="4524" y="1052"/>
              <a:ext cx="664" cy="535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rgbClr val="FFCC00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>
                <a:solidFill>
                  <a:schemeClr val="bg1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2</a:t>
              </a:r>
              <a:r>
                <a:rPr kumimoji="1" lang="en-US" altLang="zh-CN"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.code</a:t>
              </a:r>
              <a:endParaRPr kumimoji="1" lang="en-US" altLang="zh-CN" sz="1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  <a:p>
              <a:endParaRPr kumimoji="1" lang="zh-CN" altLang="en-US" sz="1400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98351" name="Line 40"/>
            <p:cNvSpPr>
              <a:spLocks noChangeShapeType="1"/>
            </p:cNvSpPr>
            <p:nvPr/>
          </p:nvSpPr>
          <p:spPr bwMode="auto">
            <a:xfrm>
              <a:off x="4413" y="948"/>
              <a:ext cx="0" cy="6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2" name="Line 41"/>
            <p:cNvSpPr>
              <a:spLocks noChangeShapeType="1"/>
            </p:cNvSpPr>
            <p:nvPr/>
          </p:nvSpPr>
          <p:spPr bwMode="auto">
            <a:xfrm>
              <a:off x="4413" y="948"/>
              <a:ext cx="1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3" name="Text Box 47"/>
            <p:cNvSpPr txBox="1">
              <a:spLocks noChangeArrowheads="1"/>
            </p:cNvSpPr>
            <p:nvPr/>
          </p:nvSpPr>
          <p:spPr bwMode="auto">
            <a:xfrm>
              <a:off x="3969" y="1389"/>
              <a:ext cx="49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990033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990033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400" b="1">
                  <a:solidFill>
                    <a:srgbClr val="990033"/>
                  </a:solidFill>
                  <a:latin typeface="Times New Roman" pitchFamily="18" charset="0"/>
                </a:rPr>
                <a:t>.next</a:t>
              </a:r>
            </a:p>
          </p:txBody>
        </p:sp>
        <p:sp>
          <p:nvSpPr>
            <p:cNvPr id="98354" name="Rectangle 48"/>
            <p:cNvSpPr>
              <a:spLocks noChangeArrowheads="1"/>
            </p:cNvSpPr>
            <p:nvPr/>
          </p:nvSpPr>
          <p:spPr bwMode="auto">
            <a:xfrm>
              <a:off x="3969" y="1288"/>
              <a:ext cx="4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folHlink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folHlink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chemeClr val="folHlink"/>
                  </a:solidFill>
                  <a:latin typeface="Times New Roman" pitchFamily="18" charset="0"/>
                </a:rPr>
                <a:t>.next</a:t>
              </a:r>
            </a:p>
          </p:txBody>
        </p:sp>
        <p:sp>
          <p:nvSpPr>
            <p:cNvPr id="98355" name="Text Box 49"/>
            <p:cNvSpPr txBox="1">
              <a:spLocks noChangeArrowheads="1"/>
            </p:cNvSpPr>
            <p:nvPr/>
          </p:nvSpPr>
          <p:spPr bwMode="auto">
            <a:xfrm>
              <a:off x="5191" y="1117"/>
              <a:ext cx="5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990033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990033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400" b="1">
                  <a:solidFill>
                    <a:srgbClr val="990033"/>
                  </a:solidFill>
                  <a:latin typeface="Times New Roman" pitchFamily="18" charset="0"/>
                </a:rPr>
                <a:t>.begin</a:t>
              </a:r>
            </a:p>
          </p:txBody>
        </p:sp>
      </p:grpSp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2987675" y="4005263"/>
            <a:ext cx="2413000" cy="2301875"/>
            <a:chOff x="204" y="2567"/>
            <a:chExt cx="1520" cy="1450"/>
          </a:xfrm>
        </p:grpSpPr>
        <p:sp>
          <p:nvSpPr>
            <p:cNvPr id="98319" name="Text Box 52"/>
            <p:cNvSpPr txBox="1">
              <a:spLocks noChangeArrowheads="1"/>
            </p:cNvSpPr>
            <p:nvPr/>
          </p:nvSpPr>
          <p:spPr bwMode="auto">
            <a:xfrm>
              <a:off x="735" y="2567"/>
              <a:ext cx="584" cy="210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8320" name="Line 53"/>
            <p:cNvSpPr>
              <a:spLocks noChangeShapeType="1"/>
            </p:cNvSpPr>
            <p:nvPr/>
          </p:nvSpPr>
          <p:spPr bwMode="auto">
            <a:xfrm flipH="1">
              <a:off x="472" y="2666"/>
              <a:ext cx="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1" name="Line 54"/>
            <p:cNvSpPr>
              <a:spLocks noChangeShapeType="1"/>
            </p:cNvSpPr>
            <p:nvPr/>
          </p:nvSpPr>
          <p:spPr bwMode="auto">
            <a:xfrm>
              <a:off x="472" y="2666"/>
              <a:ext cx="0" cy="1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Line 55"/>
            <p:cNvSpPr>
              <a:spLocks noChangeShapeType="1"/>
            </p:cNvSpPr>
            <p:nvPr/>
          </p:nvSpPr>
          <p:spPr bwMode="auto">
            <a:xfrm>
              <a:off x="268" y="2791"/>
              <a:ext cx="46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3" name="Rectangle 56"/>
            <p:cNvSpPr>
              <a:spLocks noChangeArrowheads="1"/>
            </p:cNvSpPr>
            <p:nvPr/>
          </p:nvSpPr>
          <p:spPr bwMode="auto">
            <a:xfrm>
              <a:off x="204" y="2876"/>
              <a:ext cx="50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8324" name="Rectangle 57"/>
            <p:cNvSpPr>
              <a:spLocks noChangeArrowheads="1"/>
            </p:cNvSpPr>
            <p:nvPr/>
          </p:nvSpPr>
          <p:spPr bwMode="auto">
            <a:xfrm>
              <a:off x="230" y="2595"/>
              <a:ext cx="4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C.true</a:t>
              </a:r>
            </a:p>
          </p:txBody>
        </p:sp>
        <p:sp>
          <p:nvSpPr>
            <p:cNvPr id="98325" name="Rectangle 58"/>
            <p:cNvSpPr>
              <a:spLocks noChangeArrowheads="1"/>
            </p:cNvSpPr>
            <p:nvPr/>
          </p:nvSpPr>
          <p:spPr bwMode="auto">
            <a:xfrm>
              <a:off x="295" y="3657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8326" name="Line 59"/>
            <p:cNvSpPr>
              <a:spLocks noChangeShapeType="1"/>
            </p:cNvSpPr>
            <p:nvPr/>
          </p:nvSpPr>
          <p:spPr bwMode="auto">
            <a:xfrm>
              <a:off x="297" y="3838"/>
              <a:ext cx="4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7" name="Text Box 60"/>
            <p:cNvSpPr txBox="1">
              <a:spLocks noChangeArrowheads="1"/>
            </p:cNvSpPr>
            <p:nvPr/>
          </p:nvSpPr>
          <p:spPr bwMode="auto">
            <a:xfrm>
              <a:off x="735" y="2779"/>
              <a:ext cx="584" cy="1014"/>
            </a:xfrm>
            <a:prstGeom prst="rect">
              <a:avLst/>
            </a:prstGeom>
            <a:noFill/>
            <a:ln w="28575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000099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en-US" altLang="zh-CN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rgbClr val="000099"/>
                </a:solidFill>
                <a:latin typeface="Times New Roman" pitchFamily="18" charset="0"/>
              </a:endParaRPr>
            </a:p>
          </p:txBody>
        </p:sp>
        <p:sp>
          <p:nvSpPr>
            <p:cNvPr id="98328" name="Line 61"/>
            <p:cNvSpPr>
              <a:spLocks noChangeShapeType="1"/>
            </p:cNvSpPr>
            <p:nvPr/>
          </p:nvSpPr>
          <p:spPr bwMode="auto">
            <a:xfrm>
              <a:off x="1319" y="3793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9" name="Line 62"/>
            <p:cNvSpPr>
              <a:spLocks noChangeShapeType="1"/>
            </p:cNvSpPr>
            <p:nvPr/>
          </p:nvSpPr>
          <p:spPr bwMode="auto">
            <a:xfrm>
              <a:off x="735" y="3793"/>
              <a:ext cx="0" cy="224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0" name="Rectangle 63"/>
            <p:cNvSpPr>
              <a:spLocks noChangeArrowheads="1"/>
            </p:cNvSpPr>
            <p:nvPr/>
          </p:nvSpPr>
          <p:spPr bwMode="auto">
            <a:xfrm>
              <a:off x="1281" y="2617"/>
              <a:ext cx="4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000099"/>
                  </a:solidFill>
                  <a:latin typeface="Times New Roman" pitchFamily="18" charset="0"/>
                </a:rPr>
                <a:t>C.false</a:t>
              </a:r>
            </a:p>
          </p:txBody>
        </p:sp>
        <p:sp>
          <p:nvSpPr>
            <p:cNvPr id="98331" name="Line 64"/>
            <p:cNvSpPr>
              <a:spLocks noChangeShapeType="1"/>
            </p:cNvSpPr>
            <p:nvPr/>
          </p:nvSpPr>
          <p:spPr bwMode="auto">
            <a:xfrm>
              <a:off x="1290" y="2666"/>
              <a:ext cx="1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2" name="Line 65"/>
            <p:cNvSpPr>
              <a:spLocks noChangeShapeType="1"/>
            </p:cNvSpPr>
            <p:nvPr/>
          </p:nvSpPr>
          <p:spPr bwMode="auto">
            <a:xfrm flipH="1">
              <a:off x="1429" y="2666"/>
              <a:ext cx="7" cy="1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3" name="Line 66"/>
            <p:cNvSpPr>
              <a:spLocks noChangeShapeType="1"/>
            </p:cNvSpPr>
            <p:nvPr/>
          </p:nvSpPr>
          <p:spPr bwMode="auto">
            <a:xfrm flipH="1">
              <a:off x="1292" y="3838"/>
              <a:ext cx="1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2199" name="Rectangle 71"/>
          <p:cNvSpPr>
            <a:spLocks noChangeArrowheads="1"/>
          </p:cNvSpPr>
          <p:nvPr/>
        </p:nvSpPr>
        <p:spPr bwMode="auto">
          <a:xfrm>
            <a:off x="1187450" y="1628775"/>
            <a:ext cx="11430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</a:rPr>
              <a:t>else S</a:t>
            </a:r>
            <a:r>
              <a:rPr lang="en-US" altLang="zh-CN" sz="2800" b="1" baseline="-25000">
                <a:solidFill>
                  <a:srgbClr val="CC0066"/>
                </a:solidFill>
                <a:latin typeface="Times New Roman" pitchFamily="18" charset="0"/>
              </a:rPr>
              <a:t>2</a:t>
            </a:r>
            <a:endParaRPr lang="en-US" altLang="zh-CN" sz="2800" b="1">
              <a:solidFill>
                <a:srgbClr val="CC0066"/>
              </a:solidFill>
              <a:latin typeface="Times New Roman" pitchFamily="18" charset="0"/>
            </a:endParaRPr>
          </a:p>
        </p:txBody>
      </p:sp>
      <p:sp>
        <p:nvSpPr>
          <p:cNvPr id="432200" name="Rectangle 72"/>
          <p:cNvSpPr>
            <a:spLocks noChangeArrowheads="1"/>
          </p:cNvSpPr>
          <p:nvPr/>
        </p:nvSpPr>
        <p:spPr bwMode="auto">
          <a:xfrm>
            <a:off x="4716463" y="2176463"/>
            <a:ext cx="1655762" cy="604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</a:rPr>
              <a:t>S</a:t>
            </a:r>
            <a:r>
              <a:rPr lang="en-US" altLang="zh-CN" sz="2800" b="1" baseline="-25000">
                <a:solidFill>
                  <a:srgbClr val="CC0066"/>
                </a:solidFill>
                <a:latin typeface="Times New Roman" pitchFamily="18" charset="0"/>
              </a:rPr>
              <a:t>2</a:t>
            </a: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</a:rPr>
              <a:t>.next :=</a:t>
            </a:r>
          </a:p>
        </p:txBody>
      </p:sp>
      <p:sp>
        <p:nvSpPr>
          <p:cNvPr id="432201" name="Rectangle 73"/>
          <p:cNvSpPr>
            <a:spLocks noChangeArrowheads="1"/>
          </p:cNvSpPr>
          <p:nvPr/>
        </p:nvSpPr>
        <p:spPr bwMode="auto">
          <a:xfrm>
            <a:off x="5076825" y="3141663"/>
            <a:ext cx="35004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</a:rPr>
              <a:t>|| gen( 'goto' S.next ) ||</a:t>
            </a:r>
          </a:p>
        </p:txBody>
      </p:sp>
      <p:sp>
        <p:nvSpPr>
          <p:cNvPr id="432202" name="Rectangle 74"/>
          <p:cNvSpPr>
            <a:spLocks noChangeArrowheads="1"/>
          </p:cNvSpPr>
          <p:nvPr/>
        </p:nvSpPr>
        <p:spPr bwMode="auto">
          <a:xfrm>
            <a:off x="2987675" y="1628775"/>
            <a:ext cx="28384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rgbClr val="CC0066"/>
                </a:solidFill>
                <a:latin typeface="Times New Roman" pitchFamily="18" charset="0"/>
              </a:rPr>
              <a:t>C.false :=newlab;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04813"/>
            <a:ext cx="7466013" cy="1119187"/>
          </a:xfrm>
        </p:spPr>
        <p:txBody>
          <a:bodyPr/>
          <a:lstStyle/>
          <a:p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if a&gt;b then a=a+c else a=a+b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28775"/>
            <a:ext cx="7772400" cy="4267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if a&gt;b goto L1	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(C.true, S</a:t>
            </a:r>
            <a:r>
              <a:rPr lang="en-US" altLang="zh-CN" sz="2800" b="1" i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.begin)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		goto L2  		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(C.false ,S</a:t>
            </a:r>
            <a:r>
              <a:rPr lang="en-US" altLang="zh-CN" sz="2800" b="1" i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.begin)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L1: 	t1:=a+c 		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(C.true, S</a:t>
            </a:r>
            <a:r>
              <a:rPr lang="en-US" altLang="zh-CN" sz="2800" b="1" i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i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.begin)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a:=t1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goto S.next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L2:	t2:=a+b		 (</a:t>
            </a:r>
            <a:r>
              <a:rPr lang="en-US" altLang="zh-CN" sz="2800" b="1" i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C.false, S</a:t>
            </a:r>
            <a:r>
              <a:rPr lang="en-US" altLang="zh-CN" sz="2800" b="1" i="1" baseline="-25000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i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.begin)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CC0066"/>
                </a:solidFill>
                <a:latin typeface="Times New Roman" pitchFamily="18" charset="0"/>
                <a:ea typeface="华文新魏" pitchFamily="2" charset="-122"/>
              </a:rPr>
              <a:t>		a:=t2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S.next:</a:t>
            </a:r>
          </a:p>
        </p:txBody>
      </p:sp>
      <p:sp>
        <p:nvSpPr>
          <p:cNvPr id="99332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A4AA37E-9FF6-4DF9-B5C5-618AA1AA383D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93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0C70849-D6DA-43F2-A7E9-DDBFECE91D19}" type="slidenum">
              <a:rPr lang="zh-CN" altLang="en-US"/>
              <a:pPr eaLnBrk="1" hangingPunct="1"/>
              <a:t>74</a:t>
            </a:fld>
            <a:endParaRPr lang="en-US" altLang="zh-CN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6156325" y="3505200"/>
            <a:ext cx="2879725" cy="2497138"/>
            <a:chOff x="4014" y="164"/>
            <a:chExt cx="1814" cy="1573"/>
          </a:xfrm>
        </p:grpSpPr>
        <p:sp>
          <p:nvSpPr>
            <p:cNvPr id="99335" name="Text Box 29"/>
            <p:cNvSpPr txBox="1">
              <a:spLocks noChangeArrowheads="1"/>
            </p:cNvSpPr>
            <p:nvPr/>
          </p:nvSpPr>
          <p:spPr bwMode="auto">
            <a:xfrm>
              <a:off x="4583" y="164"/>
              <a:ext cx="653" cy="204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C.code</a:t>
              </a:r>
            </a:p>
          </p:txBody>
        </p:sp>
        <p:sp>
          <p:nvSpPr>
            <p:cNvPr id="99336" name="Line 30"/>
            <p:cNvSpPr>
              <a:spLocks noChangeShapeType="1"/>
            </p:cNvSpPr>
            <p:nvPr/>
          </p:nvSpPr>
          <p:spPr bwMode="auto">
            <a:xfrm flipH="1" flipV="1">
              <a:off x="4458" y="269"/>
              <a:ext cx="1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37" name="Line 31"/>
            <p:cNvSpPr>
              <a:spLocks noChangeShapeType="1"/>
            </p:cNvSpPr>
            <p:nvPr/>
          </p:nvSpPr>
          <p:spPr bwMode="auto">
            <a:xfrm>
              <a:off x="4458" y="269"/>
              <a:ext cx="0" cy="1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38" name="Line 32"/>
            <p:cNvSpPr>
              <a:spLocks noChangeShapeType="1"/>
            </p:cNvSpPr>
            <p:nvPr/>
          </p:nvSpPr>
          <p:spPr bwMode="auto">
            <a:xfrm>
              <a:off x="4070" y="374"/>
              <a:ext cx="5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39" name="Rectangle 33"/>
            <p:cNvSpPr>
              <a:spLocks noChangeArrowheads="1"/>
            </p:cNvSpPr>
            <p:nvPr/>
          </p:nvSpPr>
          <p:spPr bwMode="auto">
            <a:xfrm>
              <a:off x="4070" y="342"/>
              <a:ext cx="50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99340" name="Rectangle 34"/>
            <p:cNvSpPr>
              <a:spLocks noChangeArrowheads="1"/>
            </p:cNvSpPr>
            <p:nvPr/>
          </p:nvSpPr>
          <p:spPr bwMode="auto">
            <a:xfrm>
              <a:off x="4070" y="185"/>
              <a:ext cx="4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C.true</a:t>
              </a:r>
            </a:p>
          </p:txBody>
        </p:sp>
        <p:sp>
          <p:nvSpPr>
            <p:cNvPr id="99341" name="Rectangle 35"/>
            <p:cNvSpPr>
              <a:spLocks noChangeArrowheads="1"/>
            </p:cNvSpPr>
            <p:nvPr/>
          </p:nvSpPr>
          <p:spPr bwMode="auto">
            <a:xfrm>
              <a:off x="4015" y="1545"/>
              <a:ext cx="4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99342" name="Line 36"/>
            <p:cNvSpPr>
              <a:spLocks noChangeShapeType="1"/>
            </p:cNvSpPr>
            <p:nvPr/>
          </p:nvSpPr>
          <p:spPr bwMode="auto">
            <a:xfrm>
              <a:off x="4082" y="1600"/>
              <a:ext cx="4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3" name="Text Box 37"/>
            <p:cNvSpPr txBox="1">
              <a:spLocks noChangeArrowheads="1"/>
            </p:cNvSpPr>
            <p:nvPr/>
          </p:nvSpPr>
          <p:spPr bwMode="auto">
            <a:xfrm>
              <a:off x="4583" y="357"/>
              <a:ext cx="650" cy="607"/>
            </a:xfrm>
            <a:prstGeom prst="rect">
              <a:avLst/>
            </a:prstGeom>
            <a:noFill/>
            <a:ln w="19050">
              <a:solidFill>
                <a:srgbClr val="990033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chemeClr val="tx2"/>
                </a:solidFill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chemeClr val="tx2"/>
                  </a:solidFill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400" b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  <p:sp>
          <p:nvSpPr>
            <p:cNvPr id="99344" name="Line 38"/>
            <p:cNvSpPr>
              <a:spLocks noChangeShapeType="1"/>
            </p:cNvSpPr>
            <p:nvPr/>
          </p:nvSpPr>
          <p:spPr bwMode="auto">
            <a:xfrm>
              <a:off x="5233" y="1575"/>
              <a:ext cx="0" cy="15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5" name="Line 39"/>
            <p:cNvSpPr>
              <a:spLocks noChangeShapeType="1"/>
            </p:cNvSpPr>
            <p:nvPr/>
          </p:nvSpPr>
          <p:spPr bwMode="auto">
            <a:xfrm>
              <a:off x="4569" y="1575"/>
              <a:ext cx="0" cy="156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6" name="Rectangle 40"/>
            <p:cNvSpPr>
              <a:spLocks noChangeArrowheads="1"/>
            </p:cNvSpPr>
            <p:nvPr/>
          </p:nvSpPr>
          <p:spPr bwMode="auto">
            <a:xfrm>
              <a:off x="5305" y="185"/>
              <a:ext cx="44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latin typeface="Times New Roman" pitchFamily="18" charset="0"/>
                </a:rPr>
                <a:t>C.false</a:t>
              </a:r>
            </a:p>
          </p:txBody>
        </p:sp>
        <p:sp>
          <p:nvSpPr>
            <p:cNvPr id="99347" name="Line 41"/>
            <p:cNvSpPr>
              <a:spLocks noChangeShapeType="1"/>
            </p:cNvSpPr>
            <p:nvPr/>
          </p:nvSpPr>
          <p:spPr bwMode="auto">
            <a:xfrm flipV="1">
              <a:off x="5178" y="269"/>
              <a:ext cx="1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8" name="Line 42"/>
            <p:cNvSpPr>
              <a:spLocks noChangeShapeType="1"/>
            </p:cNvSpPr>
            <p:nvPr/>
          </p:nvSpPr>
          <p:spPr bwMode="auto">
            <a:xfrm flipH="1">
              <a:off x="5345" y="269"/>
              <a:ext cx="0" cy="8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49" name="Line 43"/>
            <p:cNvSpPr>
              <a:spLocks noChangeShapeType="1"/>
            </p:cNvSpPr>
            <p:nvPr/>
          </p:nvSpPr>
          <p:spPr bwMode="auto">
            <a:xfrm flipH="1">
              <a:off x="5233" y="1105"/>
              <a:ext cx="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9350" name="Group 44"/>
            <p:cNvGrpSpPr>
              <a:grpSpLocks/>
            </p:cNvGrpSpPr>
            <p:nvPr/>
          </p:nvGrpSpPr>
          <p:grpSpPr bwMode="auto">
            <a:xfrm>
              <a:off x="4569" y="844"/>
              <a:ext cx="664" cy="811"/>
              <a:chOff x="1584" y="2566"/>
              <a:chExt cx="960" cy="1037"/>
            </a:xfrm>
          </p:grpSpPr>
          <p:sp>
            <p:nvSpPr>
              <p:cNvPr id="347181" name="Text Box 45"/>
              <p:cNvSpPr txBox="1">
                <a:spLocks noChangeArrowheads="1"/>
              </p:cNvSpPr>
              <p:nvPr/>
            </p:nvSpPr>
            <p:spPr bwMode="auto">
              <a:xfrm>
                <a:off x="1584" y="2566"/>
                <a:ext cx="960" cy="25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rgbClr val="FFCC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14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goto S.next</a:t>
                </a:r>
              </a:p>
            </p:txBody>
          </p:sp>
          <p:sp>
            <p:nvSpPr>
              <p:cNvPr id="347182" name="Text Box 46"/>
              <p:cNvSpPr txBox="1">
                <a:spLocks noChangeArrowheads="1"/>
              </p:cNvSpPr>
              <p:nvPr/>
            </p:nvSpPr>
            <p:spPr bwMode="auto">
              <a:xfrm>
                <a:off x="1584" y="2832"/>
                <a:ext cx="960" cy="771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rgbClr val="FFCC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endParaRPr kumimoji="1" lang="zh-CN" altLang="en-US" sz="1400">
                  <a:solidFill>
                    <a:schemeClr val="bg1"/>
                  </a:solidFill>
                  <a:latin typeface="Times New Roman" pitchFamily="18" charset="0"/>
                </a:endParaRPr>
              </a:p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14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S</a:t>
                </a:r>
                <a:r>
                  <a:rPr kumimoji="1" lang="en-US" altLang="zh-CN" sz="1400" b="1" baseline="-2500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2</a:t>
                </a:r>
                <a:r>
                  <a:rPr kumimoji="1" lang="en-US" altLang="zh-CN" sz="14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itchFamily="18" charset="0"/>
                  </a:rPr>
                  <a:t>.code</a:t>
                </a:r>
              </a:p>
              <a:p>
                <a:pPr eaLnBrk="0" hangingPunct="0">
                  <a:spcBef>
                    <a:spcPct val="50000"/>
                  </a:spcBef>
                  <a:defRPr/>
                </a:pPr>
                <a:endParaRPr kumimoji="1" lang="zh-CN" altLang="en-US" sz="1400" b="1">
                  <a:solidFill>
                    <a:schemeClr val="bg1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99351" name="Line 47"/>
            <p:cNvSpPr>
              <a:spLocks noChangeShapeType="1"/>
            </p:cNvSpPr>
            <p:nvPr/>
          </p:nvSpPr>
          <p:spPr bwMode="auto">
            <a:xfrm>
              <a:off x="4458" y="948"/>
              <a:ext cx="0" cy="6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2" name="Line 48"/>
            <p:cNvSpPr>
              <a:spLocks noChangeShapeType="1"/>
            </p:cNvSpPr>
            <p:nvPr/>
          </p:nvSpPr>
          <p:spPr bwMode="auto">
            <a:xfrm>
              <a:off x="4458" y="948"/>
              <a:ext cx="11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353" name="Text Box 49"/>
            <p:cNvSpPr txBox="1">
              <a:spLocks noChangeArrowheads="1"/>
            </p:cNvSpPr>
            <p:nvPr/>
          </p:nvSpPr>
          <p:spPr bwMode="auto">
            <a:xfrm>
              <a:off x="4014" y="1389"/>
              <a:ext cx="49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.next</a:t>
              </a:r>
            </a:p>
          </p:txBody>
        </p:sp>
        <p:sp>
          <p:nvSpPr>
            <p:cNvPr id="99354" name="Rectangle 50"/>
            <p:cNvSpPr>
              <a:spLocks noChangeArrowheads="1"/>
            </p:cNvSpPr>
            <p:nvPr/>
          </p:nvSpPr>
          <p:spPr bwMode="auto">
            <a:xfrm>
              <a:off x="4014" y="1288"/>
              <a:ext cx="4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A50021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.next</a:t>
              </a:r>
            </a:p>
          </p:txBody>
        </p:sp>
        <p:sp>
          <p:nvSpPr>
            <p:cNvPr id="99355" name="Text Box 51"/>
            <p:cNvSpPr txBox="1">
              <a:spLocks noChangeArrowheads="1"/>
            </p:cNvSpPr>
            <p:nvPr/>
          </p:nvSpPr>
          <p:spPr bwMode="auto">
            <a:xfrm>
              <a:off x="5259" y="1106"/>
              <a:ext cx="5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solidFill>
                    <a:srgbClr val="A50021"/>
                  </a:solidFill>
                  <a:latin typeface="Times New Roman" pitchFamily="18" charset="0"/>
                </a:rPr>
                <a:t>2</a:t>
              </a:r>
              <a:r>
                <a:rPr kumimoji="1" lang="en-US" altLang="zh-CN" sz="1400" b="1">
                  <a:solidFill>
                    <a:srgbClr val="A50021"/>
                  </a:solidFill>
                  <a:latin typeface="Times New Roman" pitchFamily="18" charset="0"/>
                </a:rPr>
                <a:t>.begin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848600" cy="1047750"/>
          </a:xfrm>
        </p:spPr>
        <p:txBody>
          <a:bodyPr/>
          <a:lstStyle/>
          <a:p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 → while  C  do S</a:t>
            </a:r>
            <a:r>
              <a:rPr lang="en-US" altLang="zh-CN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的代码结构</a:t>
            </a:r>
            <a:endParaRPr lang="en-US" altLang="zh-CN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997200"/>
            <a:ext cx="3810000" cy="17287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属性设置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继承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800" b="1" smtClean="0">
                <a:latin typeface="Times New Roman" pitchFamily="18" charset="0"/>
              </a:rPr>
              <a:t>C.true; C.false; C.code </a:t>
            </a:r>
          </a:p>
          <a:p>
            <a:pPr>
              <a:buFont typeface="Wingdings" pitchFamily="2" charset="2"/>
              <a:buNone/>
            </a:pPr>
            <a:r>
              <a:rPr kumimoji="1" lang="en-US" altLang="zh-CN" sz="2800" b="1" smtClean="0">
                <a:latin typeface="Times New Roman" pitchFamily="18" charset="0"/>
              </a:rPr>
              <a:t>S.begin; S.next; S.code</a:t>
            </a:r>
          </a:p>
        </p:txBody>
      </p:sp>
      <p:sp>
        <p:nvSpPr>
          <p:cNvPr id="10035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7B976B6-1980-4D6C-A583-F10F9BFB8B2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03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2686A28-2013-4A4A-8866-8AAC915234F1}" type="slidenum">
              <a:rPr lang="zh-CN" altLang="en-US"/>
              <a:pPr eaLnBrk="1" hangingPunct="1"/>
              <a:t>75</a:t>
            </a:fld>
            <a:endParaRPr lang="en-US" altLang="zh-CN"/>
          </a:p>
        </p:txBody>
      </p:sp>
      <p:sp>
        <p:nvSpPr>
          <p:cNvPr id="349190" name="Text Box 6"/>
          <p:cNvSpPr txBox="1">
            <a:spLocks noChangeArrowheads="1"/>
          </p:cNvSpPr>
          <p:nvPr/>
        </p:nvSpPr>
        <p:spPr bwMode="auto">
          <a:xfrm>
            <a:off x="5867400" y="2054225"/>
            <a:ext cx="1905000" cy="1017588"/>
          </a:xfrm>
          <a:prstGeom prst="rect">
            <a:avLst/>
          </a:prstGeom>
          <a:noFill/>
          <a:ln w="1270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100000"/>
              </a:spcBef>
            </a:pPr>
            <a:r>
              <a:rPr kumimoji="1" lang="en-US" altLang="zh-CN" sz="2400" b="1">
                <a:latin typeface="Times New Roman" pitchFamily="18" charset="0"/>
              </a:rPr>
              <a:t>C.code</a:t>
            </a:r>
          </a:p>
          <a:p>
            <a:pPr>
              <a:spcBef>
                <a:spcPct val="50000"/>
              </a:spcBef>
            </a:pPr>
            <a:endParaRPr kumimoji="1" lang="zh-CN" altLang="en-US" sz="2400" b="1">
              <a:latin typeface="Times New Roman" pitchFamily="18" charset="0"/>
            </a:endParaRPr>
          </a:p>
        </p:txBody>
      </p:sp>
      <p:sp>
        <p:nvSpPr>
          <p:cNvPr id="349191" name="Text Box 7"/>
          <p:cNvSpPr txBox="1">
            <a:spLocks noChangeArrowheads="1"/>
          </p:cNvSpPr>
          <p:nvPr/>
        </p:nvSpPr>
        <p:spPr bwMode="auto">
          <a:xfrm>
            <a:off x="5867400" y="3073400"/>
            <a:ext cx="1905000" cy="2238375"/>
          </a:xfrm>
          <a:prstGeom prst="rect">
            <a:avLst/>
          </a:prstGeom>
          <a:noFill/>
          <a:ln w="1270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kumimoji="1" lang="zh-CN" altLang="en-US" sz="800" b="1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800" b="1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800" b="1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  <a:p>
            <a:pPr>
              <a:spcBef>
                <a:spcPct val="50000"/>
              </a:spcBef>
            </a:pPr>
            <a:endParaRPr kumimoji="1" lang="en-US" altLang="zh-CN" sz="2400" b="1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sz="2400" b="1">
              <a:latin typeface="Times New Roman" pitchFamily="18" charset="0"/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867400" y="4652963"/>
            <a:ext cx="1905000" cy="1544637"/>
            <a:chOff x="4128" y="2064"/>
            <a:chExt cx="1200" cy="672"/>
          </a:xfrm>
        </p:grpSpPr>
        <p:sp>
          <p:nvSpPr>
            <p:cNvPr id="100386" name="Line 9"/>
            <p:cNvSpPr>
              <a:spLocks noChangeShapeType="1"/>
            </p:cNvSpPr>
            <p:nvPr/>
          </p:nvSpPr>
          <p:spPr bwMode="auto">
            <a:xfrm>
              <a:off x="5328" y="2064"/>
              <a:ext cx="0" cy="672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87" name="Line 10"/>
            <p:cNvSpPr>
              <a:spLocks noChangeShapeType="1"/>
            </p:cNvSpPr>
            <p:nvPr/>
          </p:nvSpPr>
          <p:spPr bwMode="auto">
            <a:xfrm>
              <a:off x="4128" y="2064"/>
              <a:ext cx="0" cy="672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9195" name="Text Box 11"/>
          <p:cNvSpPr txBox="1">
            <a:spLocks noChangeArrowheads="1"/>
          </p:cNvSpPr>
          <p:nvPr/>
        </p:nvSpPr>
        <p:spPr bwMode="auto">
          <a:xfrm>
            <a:off x="5867400" y="4846638"/>
            <a:ext cx="1905000" cy="469900"/>
          </a:xfrm>
          <a:prstGeom prst="rect">
            <a:avLst/>
          </a:prstGeom>
          <a:noFill/>
          <a:ln w="12700">
            <a:solidFill>
              <a:srgbClr val="990033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goto S.begin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191000" y="2409825"/>
            <a:ext cx="1828800" cy="1295400"/>
            <a:chOff x="2640" y="1152"/>
            <a:chExt cx="1152" cy="816"/>
          </a:xfrm>
        </p:grpSpPr>
        <p:sp>
          <p:nvSpPr>
            <p:cNvPr id="100380" name="Rectangle 13"/>
            <p:cNvSpPr>
              <a:spLocks noChangeArrowheads="1"/>
            </p:cNvSpPr>
            <p:nvPr/>
          </p:nvSpPr>
          <p:spPr bwMode="auto">
            <a:xfrm>
              <a:off x="3024" y="1152"/>
              <a:ext cx="6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C.true</a:t>
              </a:r>
            </a:p>
          </p:txBody>
        </p:sp>
        <p:grpSp>
          <p:nvGrpSpPr>
            <p:cNvPr id="100381" name="Group 14"/>
            <p:cNvGrpSpPr>
              <a:grpSpLocks/>
            </p:cNvGrpSpPr>
            <p:nvPr/>
          </p:nvGrpSpPr>
          <p:grpSpPr bwMode="auto">
            <a:xfrm>
              <a:off x="2976" y="1536"/>
              <a:ext cx="816" cy="144"/>
              <a:chOff x="2976" y="1536"/>
              <a:chExt cx="816" cy="144"/>
            </a:xfrm>
          </p:grpSpPr>
          <p:sp>
            <p:nvSpPr>
              <p:cNvPr id="100383" name="Line 15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4" name="Line 16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85" name="Line 17"/>
              <p:cNvSpPr>
                <a:spLocks noChangeShapeType="1"/>
              </p:cNvSpPr>
              <p:nvPr/>
            </p:nvSpPr>
            <p:spPr bwMode="auto">
              <a:xfrm>
                <a:off x="2976" y="1680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0382" name="Rectangle 18"/>
            <p:cNvSpPr>
              <a:spLocks noChangeArrowheads="1"/>
            </p:cNvSpPr>
            <p:nvPr/>
          </p:nvSpPr>
          <p:spPr bwMode="auto">
            <a:xfrm>
              <a:off x="2640" y="1680"/>
              <a:ext cx="7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419600" y="2457450"/>
            <a:ext cx="4502150" cy="3276600"/>
            <a:chOff x="2784" y="1152"/>
            <a:chExt cx="2836" cy="2064"/>
          </a:xfrm>
        </p:grpSpPr>
        <p:grpSp>
          <p:nvGrpSpPr>
            <p:cNvPr id="100371" name="Group 20"/>
            <p:cNvGrpSpPr>
              <a:grpSpLocks/>
            </p:cNvGrpSpPr>
            <p:nvPr/>
          </p:nvGrpSpPr>
          <p:grpSpPr bwMode="auto">
            <a:xfrm>
              <a:off x="4752" y="1152"/>
              <a:ext cx="868" cy="1872"/>
              <a:chOff x="4752" y="1152"/>
              <a:chExt cx="868" cy="1872"/>
            </a:xfrm>
          </p:grpSpPr>
          <p:sp>
            <p:nvSpPr>
              <p:cNvPr id="100375" name="Rectangle 21"/>
              <p:cNvSpPr>
                <a:spLocks noChangeArrowheads="1"/>
              </p:cNvSpPr>
              <p:nvPr/>
            </p:nvSpPr>
            <p:spPr bwMode="auto">
              <a:xfrm>
                <a:off x="4944" y="1152"/>
                <a:ext cx="6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chemeClr val="tx2"/>
                    </a:solidFill>
                    <a:latin typeface="Times New Roman" pitchFamily="18" charset="0"/>
                  </a:rPr>
                  <a:t>C.false</a:t>
                </a:r>
              </a:p>
            </p:txBody>
          </p:sp>
          <p:grpSp>
            <p:nvGrpSpPr>
              <p:cNvPr id="100376" name="Group 22"/>
              <p:cNvGrpSpPr>
                <a:grpSpLocks/>
              </p:cNvGrpSpPr>
              <p:nvPr/>
            </p:nvGrpSpPr>
            <p:grpSpPr bwMode="auto">
              <a:xfrm>
                <a:off x="4752" y="1488"/>
                <a:ext cx="384" cy="1536"/>
                <a:chOff x="4752" y="1488"/>
                <a:chExt cx="384" cy="1536"/>
              </a:xfrm>
            </p:grpSpPr>
            <p:sp>
              <p:nvSpPr>
                <p:cNvPr id="100377" name="Line 23"/>
                <p:cNvSpPr>
                  <a:spLocks noChangeShapeType="1"/>
                </p:cNvSpPr>
                <p:nvPr/>
              </p:nvSpPr>
              <p:spPr bwMode="auto">
                <a:xfrm>
                  <a:off x="4752" y="1488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378" name="Line 24"/>
                <p:cNvSpPr>
                  <a:spLocks noChangeShapeType="1"/>
                </p:cNvSpPr>
                <p:nvPr/>
              </p:nvSpPr>
              <p:spPr bwMode="auto">
                <a:xfrm>
                  <a:off x="5136" y="1488"/>
                  <a:ext cx="0" cy="15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0379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4752" y="3024"/>
                  <a:ext cx="38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0372" name="Group 26"/>
            <p:cNvGrpSpPr>
              <a:grpSpLocks/>
            </p:cNvGrpSpPr>
            <p:nvPr/>
          </p:nvGrpSpPr>
          <p:grpSpPr bwMode="auto">
            <a:xfrm>
              <a:off x="2784" y="2928"/>
              <a:ext cx="1008" cy="288"/>
              <a:chOff x="2784" y="2928"/>
              <a:chExt cx="1008" cy="288"/>
            </a:xfrm>
          </p:grpSpPr>
          <p:sp>
            <p:nvSpPr>
              <p:cNvPr id="100373" name="Rectangle 27"/>
              <p:cNvSpPr>
                <a:spLocks noChangeArrowheads="1"/>
              </p:cNvSpPr>
              <p:nvPr/>
            </p:nvSpPr>
            <p:spPr bwMode="auto">
              <a:xfrm>
                <a:off x="2784" y="2928"/>
                <a:ext cx="6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en-US" altLang="zh-CN" sz="2400" b="1">
                    <a:solidFill>
                      <a:schemeClr val="tx2"/>
                    </a:solidFill>
                    <a:latin typeface="Times New Roman" pitchFamily="18" charset="0"/>
                  </a:rPr>
                  <a:t>S.next</a:t>
                </a:r>
              </a:p>
            </p:txBody>
          </p:sp>
          <p:sp>
            <p:nvSpPr>
              <p:cNvPr id="100374" name="Line 28"/>
              <p:cNvSpPr>
                <a:spLocks noChangeShapeType="1"/>
              </p:cNvSpPr>
              <p:nvPr/>
            </p:nvSpPr>
            <p:spPr bwMode="auto">
              <a:xfrm>
                <a:off x="3408" y="302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4191000" y="1825625"/>
            <a:ext cx="1752600" cy="457200"/>
            <a:chOff x="2640" y="816"/>
            <a:chExt cx="1104" cy="288"/>
          </a:xfrm>
        </p:grpSpPr>
        <p:sp>
          <p:nvSpPr>
            <p:cNvPr id="100369" name="Rectangle 30"/>
            <p:cNvSpPr>
              <a:spLocks noChangeArrowheads="1"/>
            </p:cNvSpPr>
            <p:nvPr/>
          </p:nvSpPr>
          <p:spPr bwMode="auto">
            <a:xfrm>
              <a:off x="2640" y="816"/>
              <a:ext cx="7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S.begin</a:t>
              </a:r>
            </a:p>
          </p:txBody>
        </p:sp>
        <p:sp>
          <p:nvSpPr>
            <p:cNvPr id="100370" name="Line 31"/>
            <p:cNvSpPr>
              <a:spLocks noChangeShapeType="1"/>
            </p:cNvSpPr>
            <p:nvPr/>
          </p:nvSpPr>
          <p:spPr bwMode="auto">
            <a:xfrm>
              <a:off x="3360" y="1008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5724525" y="2205038"/>
            <a:ext cx="215900" cy="2736850"/>
            <a:chOff x="3651" y="1434"/>
            <a:chExt cx="136" cy="1724"/>
          </a:xfrm>
        </p:grpSpPr>
        <p:sp>
          <p:nvSpPr>
            <p:cNvPr id="100367" name="Line 33"/>
            <p:cNvSpPr>
              <a:spLocks noChangeShapeType="1"/>
            </p:cNvSpPr>
            <p:nvPr/>
          </p:nvSpPr>
          <p:spPr bwMode="auto">
            <a:xfrm flipV="1">
              <a:off x="3651" y="1434"/>
              <a:ext cx="0" cy="172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368" name="Line 34"/>
            <p:cNvSpPr>
              <a:spLocks noChangeShapeType="1"/>
            </p:cNvSpPr>
            <p:nvPr/>
          </p:nvSpPr>
          <p:spPr bwMode="auto">
            <a:xfrm>
              <a:off x="3651" y="3158"/>
              <a:ext cx="1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8001000" cy="1143000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 x &gt; y do z := x + 1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773238"/>
            <a:ext cx="6537325" cy="4114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L1:if x&gt;y 	L2		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C.true,S</a:t>
            </a:r>
            <a:r>
              <a:rPr lang="en-US" altLang="zh-CN" sz="2800" b="1" i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.begin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  goto 	Lnext		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C.false,S.next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L2:t1=x+1			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800" b="1" i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.begin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  z=t1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  goto L1			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S.begin</a:t>
            </a:r>
          </a:p>
          <a:p>
            <a:pPr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Lnext:</a:t>
            </a:r>
          </a:p>
        </p:txBody>
      </p:sp>
      <p:sp>
        <p:nvSpPr>
          <p:cNvPr id="10138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B3FCA4-E23B-43D6-856D-E97AD6FB380A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13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C22203B-C7D0-40CA-A13C-D70EB6B87A2B}" type="slidenum">
              <a:rPr lang="zh-CN" altLang="en-US"/>
              <a:pPr eaLnBrk="1" hangingPunct="1"/>
              <a:t>76</a:t>
            </a:fld>
            <a:endParaRPr lang="en-US" altLang="zh-CN"/>
          </a:p>
        </p:txBody>
      </p:sp>
      <p:grpSp>
        <p:nvGrpSpPr>
          <p:cNvPr id="101382" name="Group 4"/>
          <p:cNvGrpSpPr>
            <a:grpSpLocks/>
          </p:cNvGrpSpPr>
          <p:nvPr/>
        </p:nvGrpSpPr>
        <p:grpSpPr bwMode="auto">
          <a:xfrm>
            <a:off x="6156325" y="2854325"/>
            <a:ext cx="2763838" cy="2952750"/>
            <a:chOff x="96" y="2205"/>
            <a:chExt cx="1741" cy="1860"/>
          </a:xfrm>
        </p:grpSpPr>
        <p:sp>
          <p:nvSpPr>
            <p:cNvPr id="101383" name="Text Box 5"/>
            <p:cNvSpPr txBox="1">
              <a:spLocks noChangeArrowheads="1"/>
            </p:cNvSpPr>
            <p:nvPr/>
          </p:nvSpPr>
          <p:spPr bwMode="auto">
            <a:xfrm>
              <a:off x="838" y="2299"/>
              <a:ext cx="690" cy="455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kumimoji="1" lang="en-US" altLang="zh-CN" sz="1600" b="1">
                  <a:latin typeface="Times New Roman" pitchFamily="18" charset="0"/>
                </a:rPr>
                <a:t>C.code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</p:txBody>
        </p:sp>
        <p:sp>
          <p:nvSpPr>
            <p:cNvPr id="101384" name="Text Box 6"/>
            <p:cNvSpPr txBox="1">
              <a:spLocks noChangeArrowheads="1"/>
            </p:cNvSpPr>
            <p:nvPr/>
          </p:nvSpPr>
          <p:spPr bwMode="auto">
            <a:xfrm>
              <a:off x="838" y="2748"/>
              <a:ext cx="690" cy="686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600" b="1">
                  <a:latin typeface="Times New Roman" pitchFamily="18" charset="0"/>
                </a:rPr>
                <a:t>S</a:t>
              </a:r>
              <a:r>
                <a:rPr kumimoji="1" lang="en-US" altLang="zh-CN" sz="1600" b="1" baseline="-25000">
                  <a:latin typeface="Times New Roman" pitchFamily="18" charset="0"/>
                </a:rPr>
                <a:t>1</a:t>
              </a:r>
              <a:r>
                <a:rPr kumimoji="1" lang="en-US" altLang="zh-CN" sz="1600" b="1"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</p:txBody>
        </p:sp>
        <p:grpSp>
          <p:nvGrpSpPr>
            <p:cNvPr id="101385" name="Group 7"/>
            <p:cNvGrpSpPr>
              <a:grpSpLocks/>
            </p:cNvGrpSpPr>
            <p:nvPr/>
          </p:nvGrpSpPr>
          <p:grpSpPr bwMode="auto">
            <a:xfrm>
              <a:off x="838" y="3645"/>
              <a:ext cx="690" cy="420"/>
              <a:chOff x="4128" y="2064"/>
              <a:chExt cx="1200" cy="672"/>
            </a:xfrm>
          </p:grpSpPr>
          <p:sp>
            <p:nvSpPr>
              <p:cNvPr id="101402" name="Line 8"/>
              <p:cNvSpPr>
                <a:spLocks noChangeShapeType="1"/>
              </p:cNvSpPr>
              <p:nvPr/>
            </p:nvSpPr>
            <p:spPr bwMode="auto">
              <a:xfrm>
                <a:off x="5328" y="2064"/>
                <a:ext cx="0" cy="672"/>
              </a:xfrm>
              <a:prstGeom prst="line">
                <a:avLst/>
              </a:prstGeom>
              <a:noFill/>
              <a:ln w="19050">
                <a:solidFill>
                  <a:srgbClr val="CC0066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3" name="Line 9"/>
              <p:cNvSpPr>
                <a:spLocks noChangeShapeType="1"/>
              </p:cNvSpPr>
              <p:nvPr/>
            </p:nvSpPr>
            <p:spPr bwMode="auto">
              <a:xfrm>
                <a:off x="4128" y="2064"/>
                <a:ext cx="0" cy="672"/>
              </a:xfrm>
              <a:prstGeom prst="line">
                <a:avLst/>
              </a:prstGeom>
              <a:noFill/>
              <a:ln w="19050">
                <a:solidFill>
                  <a:srgbClr val="CC0066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386" name="Text Box 10"/>
            <p:cNvSpPr txBox="1">
              <a:spLocks noChangeArrowheads="1"/>
            </p:cNvSpPr>
            <p:nvPr/>
          </p:nvSpPr>
          <p:spPr bwMode="auto">
            <a:xfrm>
              <a:off x="838" y="3437"/>
              <a:ext cx="690" cy="185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200" b="1">
                  <a:latin typeface="Times New Roman" pitchFamily="18" charset="0"/>
                </a:rPr>
                <a:t>goto S.begin</a:t>
              </a:r>
            </a:p>
          </p:txBody>
        </p:sp>
        <p:sp>
          <p:nvSpPr>
            <p:cNvPr id="101387" name="Rectangle 11"/>
            <p:cNvSpPr>
              <a:spLocks noChangeArrowheads="1"/>
            </p:cNvSpPr>
            <p:nvPr/>
          </p:nvSpPr>
          <p:spPr bwMode="auto">
            <a:xfrm>
              <a:off x="425" y="2492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folHlink"/>
                  </a:solidFill>
                  <a:latin typeface="Times New Roman" pitchFamily="18" charset="0"/>
                </a:rPr>
                <a:t>C.true</a:t>
              </a:r>
            </a:p>
          </p:txBody>
        </p:sp>
        <p:grpSp>
          <p:nvGrpSpPr>
            <p:cNvPr id="101388" name="Group 12"/>
            <p:cNvGrpSpPr>
              <a:grpSpLocks/>
            </p:cNvGrpSpPr>
            <p:nvPr/>
          </p:nvGrpSpPr>
          <p:grpSpPr bwMode="auto">
            <a:xfrm>
              <a:off x="621" y="2659"/>
              <a:ext cx="273" cy="149"/>
              <a:chOff x="2976" y="1536"/>
              <a:chExt cx="816" cy="144"/>
            </a:xfrm>
          </p:grpSpPr>
          <p:sp>
            <p:nvSpPr>
              <p:cNvPr id="101399" name="Line 13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0" name="Line 14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01" name="Line 15"/>
              <p:cNvSpPr>
                <a:spLocks noChangeShapeType="1"/>
              </p:cNvSpPr>
              <p:nvPr/>
            </p:nvSpPr>
            <p:spPr bwMode="auto">
              <a:xfrm>
                <a:off x="2976" y="1680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389" name="Rectangle 16"/>
            <p:cNvSpPr>
              <a:spLocks noChangeArrowheads="1"/>
            </p:cNvSpPr>
            <p:nvPr/>
          </p:nvSpPr>
          <p:spPr bwMode="auto">
            <a:xfrm>
              <a:off x="96" y="2659"/>
              <a:ext cx="5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6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101390" name="Rectangle 17"/>
            <p:cNvSpPr>
              <a:spLocks noChangeArrowheads="1"/>
            </p:cNvSpPr>
            <p:nvPr/>
          </p:nvSpPr>
          <p:spPr bwMode="auto">
            <a:xfrm>
              <a:off x="1347" y="2478"/>
              <a:ext cx="4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C.false</a:t>
              </a:r>
            </a:p>
          </p:txBody>
        </p:sp>
        <p:grpSp>
          <p:nvGrpSpPr>
            <p:cNvPr id="101391" name="Group 18"/>
            <p:cNvGrpSpPr>
              <a:grpSpLocks/>
            </p:cNvGrpSpPr>
            <p:nvPr/>
          </p:nvGrpSpPr>
          <p:grpSpPr bwMode="auto">
            <a:xfrm>
              <a:off x="1483" y="2659"/>
              <a:ext cx="136" cy="1085"/>
              <a:chOff x="4752" y="1488"/>
              <a:chExt cx="384" cy="1536"/>
            </a:xfrm>
          </p:grpSpPr>
          <p:sp>
            <p:nvSpPr>
              <p:cNvPr id="101396" name="Line 19"/>
              <p:cNvSpPr>
                <a:spLocks noChangeShapeType="1"/>
              </p:cNvSpPr>
              <p:nvPr/>
            </p:nvSpPr>
            <p:spPr bwMode="auto">
              <a:xfrm>
                <a:off x="4752" y="148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97" name="Line 20"/>
              <p:cNvSpPr>
                <a:spLocks noChangeShapeType="1"/>
              </p:cNvSpPr>
              <p:nvPr/>
            </p:nvSpPr>
            <p:spPr bwMode="auto">
              <a:xfrm>
                <a:off x="5136" y="1488"/>
                <a:ext cx="0" cy="15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98" name="Line 21"/>
              <p:cNvSpPr>
                <a:spLocks noChangeShapeType="1"/>
              </p:cNvSpPr>
              <p:nvPr/>
            </p:nvSpPr>
            <p:spPr bwMode="auto">
              <a:xfrm flipH="1">
                <a:off x="4752" y="302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1392" name="Rectangle 22"/>
            <p:cNvSpPr>
              <a:spLocks noChangeArrowheads="1"/>
            </p:cNvSpPr>
            <p:nvPr/>
          </p:nvSpPr>
          <p:spPr bwMode="auto">
            <a:xfrm>
              <a:off x="250" y="3657"/>
              <a:ext cx="45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101393" name="Line 23"/>
            <p:cNvSpPr>
              <a:spLocks noChangeShapeType="1"/>
            </p:cNvSpPr>
            <p:nvPr/>
          </p:nvSpPr>
          <p:spPr bwMode="auto">
            <a:xfrm flipV="1">
              <a:off x="712" y="3729"/>
              <a:ext cx="136" cy="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4" name="Rectangle 24"/>
            <p:cNvSpPr>
              <a:spLocks noChangeArrowheads="1"/>
            </p:cNvSpPr>
            <p:nvPr/>
          </p:nvSpPr>
          <p:spPr bwMode="auto">
            <a:xfrm>
              <a:off x="167" y="2205"/>
              <a:ext cx="5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S.begin</a:t>
              </a:r>
            </a:p>
          </p:txBody>
        </p:sp>
        <p:sp>
          <p:nvSpPr>
            <p:cNvPr id="101395" name="Line 25"/>
            <p:cNvSpPr>
              <a:spLocks noChangeShapeType="1"/>
            </p:cNvSpPr>
            <p:nvPr/>
          </p:nvSpPr>
          <p:spPr bwMode="auto">
            <a:xfrm flipV="1">
              <a:off x="666" y="2291"/>
              <a:ext cx="220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333375"/>
            <a:ext cx="7559675" cy="1150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S → while  C  do S</a:t>
            </a:r>
            <a:r>
              <a:rPr lang="en-US" altLang="zh-CN" sz="4000" b="1" baseline="-2500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4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的属性文法</a:t>
            </a:r>
            <a:endParaRPr lang="en-US" altLang="zh-CN" sz="4000" b="1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1773238"/>
            <a:ext cx="7777162" cy="316865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 → while C do S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S.begin := newlab;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	   C.true := S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.begin := newlab;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	   C.false := S.next; 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	 S.code := gen( S.begin':' ) || C.code ||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   		gen( C.true':' ) || S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.code ||                                    					gen( 'goto'S.begin )</a:t>
            </a:r>
          </a:p>
        </p:txBody>
      </p:sp>
      <p:sp>
        <p:nvSpPr>
          <p:cNvPr id="102404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EF6CC7D-E632-4B0C-94EF-DF2E71761A53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24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077746A-BC6D-4F48-8179-975853A28464}" type="slidenum">
              <a:rPr lang="zh-CN" altLang="en-US"/>
              <a:pPr eaLnBrk="1" hangingPunct="1"/>
              <a:t>77</a:t>
            </a:fld>
            <a:endParaRPr lang="en-US" altLang="zh-CN"/>
          </a:p>
        </p:txBody>
      </p:sp>
      <p:grpSp>
        <p:nvGrpSpPr>
          <p:cNvPr id="102406" name="Group 32"/>
          <p:cNvGrpSpPr>
            <a:grpSpLocks/>
          </p:cNvGrpSpPr>
          <p:nvPr/>
        </p:nvGrpSpPr>
        <p:grpSpPr bwMode="auto">
          <a:xfrm>
            <a:off x="179388" y="3068638"/>
            <a:ext cx="2763837" cy="2952750"/>
            <a:chOff x="96" y="2205"/>
            <a:chExt cx="1741" cy="1860"/>
          </a:xfrm>
        </p:grpSpPr>
        <p:sp>
          <p:nvSpPr>
            <p:cNvPr id="102409" name="Text Box 6"/>
            <p:cNvSpPr txBox="1">
              <a:spLocks noChangeArrowheads="1"/>
            </p:cNvSpPr>
            <p:nvPr/>
          </p:nvSpPr>
          <p:spPr bwMode="auto">
            <a:xfrm>
              <a:off x="838" y="2299"/>
              <a:ext cx="690" cy="455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100000"/>
                </a:spcBef>
              </a:pPr>
              <a:r>
                <a:rPr kumimoji="1" lang="en-US" altLang="zh-CN" sz="1600" b="1">
                  <a:latin typeface="Times New Roman" pitchFamily="18" charset="0"/>
                </a:rPr>
                <a:t>C.code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</p:txBody>
        </p:sp>
        <p:sp>
          <p:nvSpPr>
            <p:cNvPr id="102410" name="Text Box 7"/>
            <p:cNvSpPr txBox="1">
              <a:spLocks noChangeArrowheads="1"/>
            </p:cNvSpPr>
            <p:nvPr/>
          </p:nvSpPr>
          <p:spPr bwMode="auto">
            <a:xfrm>
              <a:off x="838" y="2748"/>
              <a:ext cx="690" cy="686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en-US" altLang="zh-CN" sz="1600" b="1">
                  <a:latin typeface="Times New Roman" pitchFamily="18" charset="0"/>
                </a:rPr>
                <a:t>S</a:t>
              </a:r>
              <a:r>
                <a:rPr kumimoji="1" lang="en-US" altLang="zh-CN" sz="1600" b="1" baseline="-25000">
                  <a:latin typeface="Times New Roman" pitchFamily="18" charset="0"/>
                </a:rPr>
                <a:t>1</a:t>
              </a:r>
              <a:r>
                <a:rPr kumimoji="1" lang="en-US" altLang="zh-CN" sz="1600" b="1">
                  <a:latin typeface="Times New Roman" pitchFamily="18" charset="0"/>
                </a:rPr>
                <a:t>.code</a:t>
              </a:r>
            </a:p>
            <a:p>
              <a:pPr>
                <a:spcBef>
                  <a:spcPct val="50000"/>
                </a:spcBef>
              </a:pPr>
              <a:endParaRPr kumimoji="1" lang="zh-CN" altLang="en-US" sz="1600" b="1">
                <a:latin typeface="Times New Roman" pitchFamily="18" charset="0"/>
              </a:endParaRPr>
            </a:p>
          </p:txBody>
        </p:sp>
        <p:grpSp>
          <p:nvGrpSpPr>
            <p:cNvPr id="102411" name="Group 8"/>
            <p:cNvGrpSpPr>
              <a:grpSpLocks/>
            </p:cNvGrpSpPr>
            <p:nvPr/>
          </p:nvGrpSpPr>
          <p:grpSpPr bwMode="auto">
            <a:xfrm>
              <a:off x="838" y="3645"/>
              <a:ext cx="690" cy="420"/>
              <a:chOff x="4128" y="2064"/>
              <a:chExt cx="1200" cy="672"/>
            </a:xfrm>
          </p:grpSpPr>
          <p:sp>
            <p:nvSpPr>
              <p:cNvPr id="102428" name="Line 9"/>
              <p:cNvSpPr>
                <a:spLocks noChangeShapeType="1"/>
              </p:cNvSpPr>
              <p:nvPr/>
            </p:nvSpPr>
            <p:spPr bwMode="auto">
              <a:xfrm>
                <a:off x="5328" y="2064"/>
                <a:ext cx="0" cy="672"/>
              </a:xfrm>
              <a:prstGeom prst="line">
                <a:avLst/>
              </a:prstGeom>
              <a:noFill/>
              <a:ln w="19050">
                <a:solidFill>
                  <a:srgbClr val="CC0066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9" name="Line 10"/>
              <p:cNvSpPr>
                <a:spLocks noChangeShapeType="1"/>
              </p:cNvSpPr>
              <p:nvPr/>
            </p:nvSpPr>
            <p:spPr bwMode="auto">
              <a:xfrm>
                <a:off x="4128" y="2064"/>
                <a:ext cx="0" cy="672"/>
              </a:xfrm>
              <a:prstGeom prst="line">
                <a:avLst/>
              </a:prstGeom>
              <a:noFill/>
              <a:ln w="19050">
                <a:solidFill>
                  <a:srgbClr val="CC0066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412" name="Text Box 11"/>
            <p:cNvSpPr txBox="1">
              <a:spLocks noChangeArrowheads="1"/>
            </p:cNvSpPr>
            <p:nvPr/>
          </p:nvSpPr>
          <p:spPr bwMode="auto">
            <a:xfrm>
              <a:off x="838" y="3437"/>
              <a:ext cx="690" cy="185"/>
            </a:xfrm>
            <a:prstGeom prst="rect">
              <a:avLst/>
            </a:prstGeom>
            <a:noFill/>
            <a:ln w="19050">
              <a:solidFill>
                <a:srgbClr val="CC0066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1200" b="1">
                  <a:latin typeface="Times New Roman" pitchFamily="18" charset="0"/>
                </a:rPr>
                <a:t>goto S.begin</a:t>
              </a:r>
            </a:p>
          </p:txBody>
        </p:sp>
        <p:sp>
          <p:nvSpPr>
            <p:cNvPr id="102413" name="Rectangle 13"/>
            <p:cNvSpPr>
              <a:spLocks noChangeArrowheads="1"/>
            </p:cNvSpPr>
            <p:nvPr/>
          </p:nvSpPr>
          <p:spPr bwMode="auto">
            <a:xfrm>
              <a:off x="425" y="2492"/>
              <a:ext cx="46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C.true</a:t>
              </a:r>
            </a:p>
          </p:txBody>
        </p:sp>
        <p:grpSp>
          <p:nvGrpSpPr>
            <p:cNvPr id="102414" name="Group 14"/>
            <p:cNvGrpSpPr>
              <a:grpSpLocks/>
            </p:cNvGrpSpPr>
            <p:nvPr/>
          </p:nvGrpSpPr>
          <p:grpSpPr bwMode="auto">
            <a:xfrm>
              <a:off x="621" y="2659"/>
              <a:ext cx="273" cy="149"/>
              <a:chOff x="2976" y="1536"/>
              <a:chExt cx="816" cy="144"/>
            </a:xfrm>
          </p:grpSpPr>
          <p:sp>
            <p:nvSpPr>
              <p:cNvPr id="102425" name="Line 15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6" name="Line 16"/>
              <p:cNvSpPr>
                <a:spLocks noChangeShapeType="1"/>
              </p:cNvSpPr>
              <p:nvPr/>
            </p:nvSpPr>
            <p:spPr bwMode="auto">
              <a:xfrm>
                <a:off x="3408" y="1536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7" name="Line 17"/>
              <p:cNvSpPr>
                <a:spLocks noChangeShapeType="1"/>
              </p:cNvSpPr>
              <p:nvPr/>
            </p:nvSpPr>
            <p:spPr bwMode="auto">
              <a:xfrm>
                <a:off x="2976" y="1680"/>
                <a:ext cx="81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415" name="Rectangle 18"/>
            <p:cNvSpPr>
              <a:spLocks noChangeArrowheads="1"/>
            </p:cNvSpPr>
            <p:nvPr/>
          </p:nvSpPr>
          <p:spPr bwMode="auto">
            <a:xfrm>
              <a:off x="96" y="2659"/>
              <a:ext cx="5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</a:t>
              </a:r>
              <a:r>
                <a:rPr kumimoji="1" lang="en-US" altLang="zh-CN" sz="1600" b="1" baseline="-25000">
                  <a:solidFill>
                    <a:schemeClr val="tx2"/>
                  </a:solidFill>
                  <a:latin typeface="Times New Roman" pitchFamily="18" charset="0"/>
                </a:rPr>
                <a:t>1</a:t>
              </a:r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.begin</a:t>
              </a:r>
            </a:p>
          </p:txBody>
        </p:sp>
        <p:sp>
          <p:nvSpPr>
            <p:cNvPr id="102416" name="Rectangle 21"/>
            <p:cNvSpPr>
              <a:spLocks noChangeArrowheads="1"/>
            </p:cNvSpPr>
            <p:nvPr/>
          </p:nvSpPr>
          <p:spPr bwMode="auto">
            <a:xfrm>
              <a:off x="1347" y="2478"/>
              <a:ext cx="49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C.false</a:t>
              </a:r>
            </a:p>
          </p:txBody>
        </p:sp>
        <p:grpSp>
          <p:nvGrpSpPr>
            <p:cNvPr id="102417" name="Group 22"/>
            <p:cNvGrpSpPr>
              <a:grpSpLocks/>
            </p:cNvGrpSpPr>
            <p:nvPr/>
          </p:nvGrpSpPr>
          <p:grpSpPr bwMode="auto">
            <a:xfrm>
              <a:off x="1483" y="2659"/>
              <a:ext cx="136" cy="1085"/>
              <a:chOff x="4752" y="1488"/>
              <a:chExt cx="384" cy="1536"/>
            </a:xfrm>
          </p:grpSpPr>
          <p:sp>
            <p:nvSpPr>
              <p:cNvPr id="102422" name="Line 23"/>
              <p:cNvSpPr>
                <a:spLocks noChangeShapeType="1"/>
              </p:cNvSpPr>
              <p:nvPr/>
            </p:nvSpPr>
            <p:spPr bwMode="auto">
              <a:xfrm>
                <a:off x="4752" y="1488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3" name="Line 24"/>
              <p:cNvSpPr>
                <a:spLocks noChangeShapeType="1"/>
              </p:cNvSpPr>
              <p:nvPr/>
            </p:nvSpPr>
            <p:spPr bwMode="auto">
              <a:xfrm>
                <a:off x="5136" y="1488"/>
                <a:ext cx="0" cy="15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24" name="Line 25"/>
              <p:cNvSpPr>
                <a:spLocks noChangeShapeType="1"/>
              </p:cNvSpPr>
              <p:nvPr/>
            </p:nvSpPr>
            <p:spPr bwMode="auto">
              <a:xfrm flipH="1">
                <a:off x="4752" y="3024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2418" name="Rectangle 27"/>
            <p:cNvSpPr>
              <a:spLocks noChangeArrowheads="1"/>
            </p:cNvSpPr>
            <p:nvPr/>
          </p:nvSpPr>
          <p:spPr bwMode="auto">
            <a:xfrm>
              <a:off x="250" y="3657"/>
              <a:ext cx="45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S.next</a:t>
              </a:r>
            </a:p>
          </p:txBody>
        </p:sp>
        <p:sp>
          <p:nvSpPr>
            <p:cNvPr id="102419" name="Line 28"/>
            <p:cNvSpPr>
              <a:spLocks noChangeShapeType="1"/>
            </p:cNvSpPr>
            <p:nvPr/>
          </p:nvSpPr>
          <p:spPr bwMode="auto">
            <a:xfrm flipV="1">
              <a:off x="712" y="3729"/>
              <a:ext cx="136" cy="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0" name="Rectangle 30"/>
            <p:cNvSpPr>
              <a:spLocks noChangeArrowheads="1"/>
            </p:cNvSpPr>
            <p:nvPr/>
          </p:nvSpPr>
          <p:spPr bwMode="auto">
            <a:xfrm>
              <a:off x="167" y="2205"/>
              <a:ext cx="51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en-US" altLang="zh-CN" sz="1600" b="1">
                  <a:solidFill>
                    <a:schemeClr val="tx2"/>
                  </a:solidFill>
                  <a:latin typeface="Times New Roman" pitchFamily="18" charset="0"/>
                </a:rPr>
                <a:t>S.begin</a:t>
              </a:r>
            </a:p>
          </p:txBody>
        </p:sp>
        <p:sp>
          <p:nvSpPr>
            <p:cNvPr id="102421" name="Line 31"/>
            <p:cNvSpPr>
              <a:spLocks noChangeShapeType="1"/>
            </p:cNvSpPr>
            <p:nvPr/>
          </p:nvSpPr>
          <p:spPr bwMode="auto">
            <a:xfrm flipV="1">
              <a:off x="666" y="2291"/>
              <a:ext cx="220" cy="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2292" name="Rectangle 36"/>
          <p:cNvSpPr>
            <a:spLocks noChangeArrowheads="1"/>
          </p:cNvSpPr>
          <p:nvPr/>
        </p:nvSpPr>
        <p:spPr bwMode="auto">
          <a:xfrm>
            <a:off x="4716463" y="5368925"/>
            <a:ext cx="20018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>
                <a:solidFill>
                  <a:srgbClr val="CC0066"/>
                </a:solidFill>
                <a:latin typeface="Times New Roman" pitchFamily="18" charset="0"/>
              </a:rPr>
              <a:t>S</a:t>
            </a:r>
            <a:r>
              <a:rPr lang="en-US" altLang="zh-CN" sz="3600" b="1" baseline="-25000">
                <a:solidFill>
                  <a:srgbClr val="CC0066"/>
                </a:solidFill>
                <a:latin typeface="Times New Roman" pitchFamily="18" charset="0"/>
              </a:rPr>
              <a:t>1</a:t>
            </a:r>
            <a:r>
              <a:rPr lang="en-US" altLang="zh-CN" sz="3600" b="1">
                <a:solidFill>
                  <a:srgbClr val="CC0066"/>
                </a:solidFill>
                <a:latin typeface="Times New Roman" pitchFamily="18" charset="0"/>
              </a:rPr>
              <a:t>.next</a:t>
            </a:r>
            <a:r>
              <a:rPr lang="zh-CN" altLang="en-US" sz="3600" b="1">
                <a:solidFill>
                  <a:srgbClr val="CC0066"/>
                </a:solidFill>
                <a:latin typeface="Times New Roman" pitchFamily="18" charset="0"/>
              </a:rPr>
              <a:t>？</a:t>
            </a:r>
            <a:endParaRPr lang="zh-CN" altLang="en-US" sz="3600" b="1">
              <a:latin typeface="Times New Roman" pitchFamily="18" charset="0"/>
            </a:endParaRPr>
          </a:p>
        </p:txBody>
      </p:sp>
      <p:sp>
        <p:nvSpPr>
          <p:cNvPr id="352293" name="Rectangle 37"/>
          <p:cNvSpPr>
            <a:spLocks noChangeArrowheads="1"/>
          </p:cNvSpPr>
          <p:nvPr/>
        </p:nvSpPr>
        <p:spPr bwMode="auto">
          <a:xfrm>
            <a:off x="5076825" y="1819275"/>
            <a:ext cx="2449513" cy="457200"/>
          </a:xfrm>
          <a:prstGeom prst="rect">
            <a:avLst/>
          </a:prstGeom>
          <a:solidFill>
            <a:srgbClr val="F7F4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C0066"/>
                </a:solidFill>
                <a:latin typeface="Times New Roman" pitchFamily="18" charset="0"/>
              </a:rPr>
              <a:t>S</a:t>
            </a:r>
            <a:r>
              <a:rPr lang="en-US" altLang="zh-CN" sz="2400" b="1" baseline="-25000">
                <a:solidFill>
                  <a:srgbClr val="CC0066"/>
                </a:solidFill>
                <a:latin typeface="Times New Roman" pitchFamily="18" charset="0"/>
              </a:rPr>
              <a:t>1</a:t>
            </a:r>
            <a:r>
              <a:rPr lang="en-US" altLang="zh-CN" sz="2400" b="1">
                <a:solidFill>
                  <a:srgbClr val="CC0066"/>
                </a:solidFill>
                <a:latin typeface="Times New Roman" pitchFamily="18" charset="0"/>
              </a:rPr>
              <a:t>.next </a:t>
            </a:r>
            <a:r>
              <a:rPr lang="en-US" altLang="zh-CN" sz="2400" b="1">
                <a:latin typeface="Times New Roman" pitchFamily="18" charset="0"/>
              </a:rPr>
              <a:t>:= newlab</a:t>
            </a:r>
            <a:endParaRPr lang="zh-CN" altLang="en-US" sz="24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20713"/>
            <a:ext cx="7091363" cy="107156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：翻译下列语句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981200"/>
            <a:ext cx="7772400" cy="4648200"/>
          </a:xfrm>
        </p:spPr>
        <p:txBody>
          <a:bodyPr lIns="92075" tIns="46038" rIns="92075" bIns="46038"/>
          <a:lstStyle/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  a &lt; b  do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    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endParaRPr lang="en-US" altLang="zh-CN" b="1" smtClean="0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if  c &lt; 5  then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E</a:t>
            </a:r>
            <a:r>
              <a:rPr lang="en-US" altLang="zh-CN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2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S</a:t>
            </a:r>
            <a:r>
              <a:rPr lang="en-US" altLang="zh-CN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while x &gt; y do z := x + 1;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else</a:t>
            </a:r>
          </a:p>
          <a:p>
            <a:pPr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b="1" baseline="-25000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x := y</a:t>
            </a:r>
          </a:p>
        </p:txBody>
      </p:sp>
      <p:sp>
        <p:nvSpPr>
          <p:cNvPr id="10342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7083C6F-3FFD-4EC6-B10E-3E9D414D9D97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34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A609300-F066-4FFE-9836-8823E6043281}" type="slidenum">
              <a:rPr lang="zh-CN" altLang="en-US"/>
              <a:pPr eaLnBrk="1" hangingPunct="1"/>
              <a:t>78</a:t>
            </a:fld>
            <a:endParaRPr lang="en-US" altLang="zh-CN"/>
          </a:p>
        </p:txBody>
      </p:sp>
      <p:sp>
        <p:nvSpPr>
          <p:cNvPr id="103430" name="AutoShape 4"/>
          <p:cNvSpPr>
            <a:spLocks/>
          </p:cNvSpPr>
          <p:nvPr/>
        </p:nvSpPr>
        <p:spPr bwMode="auto">
          <a:xfrm>
            <a:off x="762000" y="3505200"/>
            <a:ext cx="228600" cy="2514600"/>
          </a:xfrm>
          <a:prstGeom prst="leftBrace">
            <a:avLst>
              <a:gd name="adj1" fmla="val 9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1" name="Text Box 5"/>
          <p:cNvSpPr txBox="1">
            <a:spLocks noChangeArrowheads="1"/>
          </p:cNvSpPr>
          <p:nvPr/>
        </p:nvSpPr>
        <p:spPr bwMode="auto">
          <a:xfrm>
            <a:off x="304800" y="44958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Times New Roman" pitchFamily="18" charset="0"/>
              </a:rPr>
              <a:t>3</a:t>
            </a:r>
            <a:endParaRPr kumimoji="1" lang="en-US" altLang="zh-CN" sz="3200" b="1">
              <a:solidFill>
                <a:schemeClr val="tx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609600" cy="6096000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zh-CN" altLang="en-US" sz="3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生成的三地址码序列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219200"/>
            <a:ext cx="4343400" cy="5638800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L1:  if a &lt; b  goto L2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990033"/>
                </a:solidFill>
                <a:latin typeface="Times New Roman" pitchFamily="18" charset="0"/>
                <a:ea typeface="华文新魏" pitchFamily="2" charset="-122"/>
              </a:rPr>
              <a:t>     goto Lnext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L2:  if c &lt; 5  goto L3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    goto L4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L3:  if x &gt; y  goto L5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goto L1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L5: 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:= x + 1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z := t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goto L3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L4:  x := 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goto L1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Lnext:</a:t>
            </a:r>
          </a:p>
        </p:txBody>
      </p:sp>
      <p:sp>
        <p:nvSpPr>
          <p:cNvPr id="104452" name="AutoShape 4"/>
          <p:cNvSpPr>
            <a:spLocks/>
          </p:cNvSpPr>
          <p:nvPr/>
        </p:nvSpPr>
        <p:spPr bwMode="auto">
          <a:xfrm>
            <a:off x="5867400" y="1447800"/>
            <a:ext cx="76200" cy="685800"/>
          </a:xfrm>
          <a:prstGeom prst="righ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6384925" y="1565275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E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</p:txBody>
      </p:sp>
      <p:sp>
        <p:nvSpPr>
          <p:cNvPr id="104454" name="AutoShape 6"/>
          <p:cNvSpPr>
            <a:spLocks/>
          </p:cNvSpPr>
          <p:nvPr/>
        </p:nvSpPr>
        <p:spPr bwMode="auto">
          <a:xfrm>
            <a:off x="5410200" y="2438400"/>
            <a:ext cx="76200" cy="457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5775325" y="2403475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E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</p:txBody>
      </p:sp>
      <p:sp>
        <p:nvSpPr>
          <p:cNvPr id="104456" name="AutoShape 8"/>
          <p:cNvSpPr>
            <a:spLocks/>
          </p:cNvSpPr>
          <p:nvPr/>
        </p:nvSpPr>
        <p:spPr bwMode="auto">
          <a:xfrm>
            <a:off x="5334000" y="3276600"/>
            <a:ext cx="152400" cy="2057400"/>
          </a:xfrm>
          <a:prstGeom prst="rightBrace">
            <a:avLst>
              <a:gd name="adj1" fmla="val 11250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5791200" y="3810000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</p:txBody>
      </p:sp>
      <p:sp>
        <p:nvSpPr>
          <p:cNvPr id="104458" name="AutoShape 10"/>
          <p:cNvSpPr>
            <a:spLocks/>
          </p:cNvSpPr>
          <p:nvPr/>
        </p:nvSpPr>
        <p:spPr bwMode="auto">
          <a:xfrm>
            <a:off x="5410200" y="5562600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59" name="Text Box 11"/>
          <p:cNvSpPr txBox="1">
            <a:spLocks noChangeArrowheads="1"/>
          </p:cNvSpPr>
          <p:nvPr/>
        </p:nvSpPr>
        <p:spPr bwMode="auto">
          <a:xfrm>
            <a:off x="5791200" y="5486400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</p:txBody>
      </p:sp>
      <p:sp>
        <p:nvSpPr>
          <p:cNvPr id="104460" name="AutoShape 12"/>
          <p:cNvSpPr>
            <a:spLocks/>
          </p:cNvSpPr>
          <p:nvPr/>
        </p:nvSpPr>
        <p:spPr bwMode="auto">
          <a:xfrm>
            <a:off x="7010400" y="2438400"/>
            <a:ext cx="381000" cy="3352800"/>
          </a:xfrm>
          <a:prstGeom prst="rightBrace">
            <a:avLst>
              <a:gd name="adj1" fmla="val 7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61" name="Text Box 13"/>
          <p:cNvSpPr txBox="1">
            <a:spLocks noChangeArrowheads="1"/>
          </p:cNvSpPr>
          <p:nvPr/>
        </p:nvSpPr>
        <p:spPr bwMode="auto">
          <a:xfrm>
            <a:off x="7543800" y="3962400"/>
            <a:ext cx="1123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kumimoji="1" lang="en-US" altLang="zh-CN" sz="2400" b="1" baseline="-25000">
                <a:latin typeface="Times New Roman" pitchFamily="18" charset="0"/>
              </a:rPr>
              <a:t>3</a:t>
            </a:r>
            <a:r>
              <a:rPr kumimoji="1" lang="en-US" altLang="zh-CN" sz="2400" b="1">
                <a:latin typeface="Times New Roman" pitchFamily="18" charset="0"/>
              </a:rPr>
              <a:t>.code</a:t>
            </a:r>
          </a:p>
        </p:txBody>
      </p:sp>
      <p:sp>
        <p:nvSpPr>
          <p:cNvPr id="354318" name="Rectangle 14"/>
          <p:cNvSpPr>
            <a:spLocks noChangeArrowheads="1"/>
          </p:cNvSpPr>
          <p:nvPr/>
        </p:nvSpPr>
        <p:spPr bwMode="auto">
          <a:xfrm>
            <a:off x="277813" y="476250"/>
            <a:ext cx="8686800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 a&lt;b do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if c&lt;5 then</a:t>
            </a:r>
            <a:r>
              <a:rPr kumimoji="1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while x&gt;y do z:=x+1</a:t>
            </a:r>
            <a:r>
              <a:rPr kumimoji="1"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else x:=y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控制结构翻译中的其他问题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分层结构的记录</a:t>
            </a:r>
          </a:p>
          <a:p>
            <a:pPr lvl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涉及变量的作用域</a:t>
            </a:r>
          </a:p>
          <a:p>
            <a:pPr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转移目标的先引用后定义</a:t>
            </a:r>
          </a:p>
          <a:p>
            <a:pPr lvl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使用回填技术</a:t>
            </a:r>
          </a:p>
          <a:p>
            <a:pPr lvl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涉及循环语句、条件语句、转移标号</a:t>
            </a:r>
          </a:p>
        </p:txBody>
      </p:sp>
      <p:sp>
        <p:nvSpPr>
          <p:cNvPr id="105476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331243-6974-4139-8446-C8ABB48AE1AB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54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93D984A-38FC-4113-94B9-6023A83D4B38}" type="slidenum">
              <a:rPr lang="zh-CN" altLang="en-US"/>
              <a:pPr eaLnBrk="1" hangingPunct="1"/>
              <a:t>80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990600"/>
            <a:ext cx="6011862" cy="685800"/>
          </a:xfrm>
        </p:spPr>
        <p:txBody>
          <a:bodyPr/>
          <a:lstStyle/>
          <a:p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实验</a:t>
            </a:r>
            <a:r>
              <a:rPr lang="en-US" altLang="zh-CN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题目</a:t>
            </a:r>
            <a:endParaRPr lang="zh-CN" altLang="en-US" b="1" smtClean="0">
              <a:solidFill>
                <a:schemeClr val="tx1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17713"/>
            <a:ext cx="7772400" cy="4114800"/>
          </a:xfrm>
        </p:spPr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在第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四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章上机题的基础上，补充以下的语义处理功能，形成一个将源程序翻译成三地址代码序列的翻译程序：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将表达式、赋值语句翻译成三地址代码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条件语句、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循环语句翻译成三地址代码</a:t>
            </a:r>
          </a:p>
        </p:txBody>
      </p:sp>
      <p:sp>
        <p:nvSpPr>
          <p:cNvPr id="108548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3797D29-A792-4248-9FD5-7B7C72D55B22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1085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D57AC3-688E-4CA3-B02A-0A35B295C840}" type="slidenum">
              <a:rPr lang="zh-CN" altLang="en-US"/>
              <a:pPr eaLnBrk="1" hangingPunct="1"/>
              <a:t>81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实验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：词法分析器的设计与实现</a:t>
            </a:r>
            <a:endParaRPr lang="en-US" altLang="zh-CN" sz="40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基本要求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标识符、十进制整数、八进制整数  、十六进制整数 、运算符和分隔符 、关键字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从键盘读入数据，分析出一个单词</a:t>
            </a:r>
          </a:p>
          <a:p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附加要求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加后缀标识符、允许实数</a:t>
            </a:r>
          </a:p>
          <a:p>
            <a:pPr lvl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作为一个独立的程序，从文件中读取源程序</a:t>
            </a:r>
          </a:p>
        </p:txBody>
      </p:sp>
      <p:sp>
        <p:nvSpPr>
          <p:cNvPr id="135172" name="日期占位符 3"/>
          <p:cNvSpPr txBox="1">
            <a:spLocks noGrp="1"/>
          </p:cNvSpPr>
          <p:nvPr/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DDA65D6-2F0B-4385-BD40-155E1D860F96}" type="datetime1">
              <a:rPr lang="zh-CN" altLang="en-US" sz="1400"/>
              <a:pPr eaLnBrk="1" hangingPunct="1"/>
              <a:t>2017/2/24</a:t>
            </a:fld>
            <a:endParaRPr lang="en-US" altLang="zh-CN" sz="1400"/>
          </a:p>
        </p:txBody>
      </p:sp>
      <p:sp>
        <p:nvSpPr>
          <p:cNvPr id="135173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53029623-01E1-43EE-9535-A053F6B16FB9}" type="slidenum">
              <a:rPr lang="zh-CN" altLang="en-US" sz="1400"/>
              <a:pPr algn="r" eaLnBrk="1" hangingPunct="1"/>
              <a:t>82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42988" y="420688"/>
            <a:ext cx="7785100" cy="109855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实验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：语法分析器的设计与实现</a:t>
            </a:r>
            <a:endParaRPr lang="en-US" altLang="zh-CN" sz="40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1828800"/>
            <a:ext cx="8305800" cy="4624388"/>
          </a:xfrm>
        </p:spPr>
        <p:txBody>
          <a:bodyPr/>
          <a:lstStyle/>
          <a:p>
            <a:pPr lvl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给定下列文法：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id=E; 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C then S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C then S else S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 C do S	(for, repeat)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E&gt;E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E&gt;=E 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E&lt;E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E&lt;=E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E&lt;&gt;E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E=E</a:t>
            </a:r>
          </a:p>
        </p:txBody>
      </p:sp>
      <p:sp>
        <p:nvSpPr>
          <p:cNvPr id="136196" name="日期占位符 3"/>
          <p:cNvSpPr txBox="1">
            <a:spLocks noGrp="1"/>
          </p:cNvSpPr>
          <p:nvPr/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87CBAAA-C508-4C63-8D5C-C9C2BD45F18D}" type="datetime1">
              <a:rPr lang="zh-CN" altLang="en-US" sz="1400"/>
              <a:pPr eaLnBrk="1" hangingPunct="1"/>
              <a:t>2017/2/24</a:t>
            </a:fld>
            <a:endParaRPr lang="en-US" altLang="zh-CN" sz="1400"/>
          </a:p>
        </p:txBody>
      </p:sp>
      <p:sp>
        <p:nvSpPr>
          <p:cNvPr id="136197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F13AB2FC-9BCC-4169-A3E0-85590FF8E41D}" type="slidenum">
              <a:rPr lang="zh-CN" altLang="en-US" sz="1400"/>
              <a:pPr algn="r" eaLnBrk="1" hangingPunct="1"/>
              <a:t>83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50938" y="990600"/>
            <a:ext cx="7742237" cy="685800"/>
          </a:xfrm>
        </p:spPr>
        <p:txBody>
          <a:bodyPr/>
          <a:lstStyle/>
          <a:p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实验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：中间代码的生成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2017713"/>
            <a:ext cx="7772400" cy="4114800"/>
          </a:xfrm>
        </p:spPr>
        <p:txBody>
          <a:bodyPr/>
          <a:lstStyle/>
          <a:p>
            <a:pPr marL="444500" indent="-444500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补充语义处理功能，形成一个将源程序翻译成三地址码序列的翻译程序：</a:t>
            </a:r>
          </a:p>
          <a:p>
            <a:pPr marL="990600" lvl="1" indent="-366713">
              <a:spcBef>
                <a:spcPct val="40000"/>
              </a:spcBef>
              <a:buSzTx/>
              <a:buFont typeface="Wingdings" pitchFamily="2" charset="2"/>
              <a:buAutoNum type="arabicPeriod"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将表达式、赋值语句翻译成三地址码</a:t>
            </a:r>
          </a:p>
          <a:p>
            <a:pPr marL="990600" lvl="1" indent="-366713">
              <a:spcBef>
                <a:spcPct val="40000"/>
              </a:spcBef>
              <a:buSzTx/>
              <a:buFont typeface="Wingdings" pitchFamily="2" charset="2"/>
              <a:buAutoNum type="arabicPeriod"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if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条件语句、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while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循环语句翻译成三地址码</a:t>
            </a:r>
          </a:p>
        </p:txBody>
      </p:sp>
      <p:sp>
        <p:nvSpPr>
          <p:cNvPr id="137220" name="日期占位符 3"/>
          <p:cNvSpPr txBox="1">
            <a:spLocks noGrp="1"/>
          </p:cNvSpPr>
          <p:nvPr/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1D6A1A3-732C-4DAB-9A44-629136EFD046}" type="datetime1">
              <a:rPr lang="zh-CN" altLang="en-US" sz="1400"/>
              <a:pPr eaLnBrk="1" hangingPunct="1"/>
              <a:t>2017/2/24</a:t>
            </a:fld>
            <a:endParaRPr lang="en-US" altLang="zh-CN" sz="1400"/>
          </a:p>
        </p:txBody>
      </p:sp>
      <p:sp>
        <p:nvSpPr>
          <p:cNvPr id="137221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4CA9CF02-58F0-4380-87FD-913D6995C0F7}" type="slidenum">
              <a:rPr lang="zh-CN" altLang="en-US" sz="1400"/>
              <a:pPr algn="r" eaLnBrk="1" hangingPunct="1"/>
              <a:t>84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12编译原理-4</Template>
  <TotalTime>6336</TotalTime>
  <Words>4465</Words>
  <Application>Microsoft Office PowerPoint</Application>
  <PresentationFormat>全屏显示(4:3)</PresentationFormat>
  <Paragraphs>1303</Paragraphs>
  <Slides>84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5" baseType="lpstr">
      <vt:lpstr>Monotype Sorts</vt:lpstr>
      <vt:lpstr>华文新魏</vt:lpstr>
      <vt:lpstr>楷体_GB2312</vt:lpstr>
      <vt:lpstr>宋体</vt:lpstr>
      <vt:lpstr>Arial</vt:lpstr>
      <vt:lpstr>Symbol</vt:lpstr>
      <vt:lpstr>Tahoma</vt:lpstr>
      <vt:lpstr>Times New Roman</vt:lpstr>
      <vt:lpstr>Wingdings</vt:lpstr>
      <vt:lpstr>诗情画意</vt:lpstr>
      <vt:lpstr>剪辑</vt:lpstr>
      <vt:lpstr>编译原理 (Principles of Compiling)</vt:lpstr>
      <vt:lpstr>第7章 语义分析和 中间代码生成</vt:lpstr>
      <vt:lpstr>7.1  中间代码</vt:lpstr>
      <vt:lpstr>常用的中间代码(语言)</vt:lpstr>
      <vt:lpstr>常用的中间代码(语言)</vt:lpstr>
      <vt:lpstr>常用的中间代码(语言)</vt:lpstr>
      <vt:lpstr>PowerPoint 演示文稿</vt:lpstr>
      <vt:lpstr>构造语法结构树的属性文法</vt:lpstr>
      <vt:lpstr>构造语法结构树的属性文法 (S-属性文法)</vt:lpstr>
      <vt:lpstr>例 ：a:=b*(-c)+b*(-34)的语法结构树      ——直观描述</vt:lpstr>
      <vt:lpstr>构造语法结构树的属性文法 ——数组存储形式</vt:lpstr>
      <vt:lpstr>生成后缀式的属性文法(逆波兰表示)</vt:lpstr>
      <vt:lpstr>生成后缀式的属性文法</vt:lpstr>
      <vt:lpstr>生成三地址码的属性文法</vt:lpstr>
      <vt:lpstr>生成三地址码的属性文法</vt:lpstr>
      <vt:lpstr>生成三地址码的属性文法</vt:lpstr>
      <vt:lpstr>生成三地址码的属性文法</vt:lpstr>
      <vt:lpstr>生成三地址码的属性文法</vt:lpstr>
      <vt:lpstr>生成三地址码的属性文法</vt:lpstr>
      <vt:lpstr>例   a:=-c+b*34的中间代码生成过程</vt:lpstr>
      <vt:lpstr>例   a:=-c+b*34的中间代码生成过程</vt:lpstr>
      <vt:lpstr>7.2 说明语句的翻译</vt:lpstr>
      <vt:lpstr>要关心的问题</vt:lpstr>
      <vt:lpstr>变量说明的翻译</vt:lpstr>
      <vt:lpstr>例 ：相对地址举例</vt:lpstr>
      <vt:lpstr>文法描述</vt:lpstr>
      <vt:lpstr>属性、过程、与全局量</vt:lpstr>
      <vt:lpstr>说明语句的翻译模式</vt:lpstr>
      <vt:lpstr>例  x:real; i:integer 的翻译</vt:lpstr>
      <vt:lpstr>例   x:real; i:integer 的翻译</vt:lpstr>
      <vt:lpstr>7.3  组合数据说明的翻译</vt:lpstr>
      <vt:lpstr>数组的引用与分配策略</vt:lpstr>
      <vt:lpstr>数组说明的翻译</vt:lpstr>
      <vt:lpstr>静态数组分配要完成的工作</vt:lpstr>
      <vt:lpstr>动态数组分配要完成的工作</vt:lpstr>
      <vt:lpstr>PowerPoint 演示文稿</vt:lpstr>
      <vt:lpstr>数组元素的引用</vt:lpstr>
      <vt:lpstr>数组元素地址计算-按行存放</vt:lpstr>
      <vt:lpstr>数组元素地址计算-按行存放</vt:lpstr>
      <vt:lpstr>数组元素地址计算-按行存放</vt:lpstr>
      <vt:lpstr>属性设置</vt:lpstr>
      <vt:lpstr>PowerPoint 演示文稿</vt:lpstr>
      <vt:lpstr>记录说明的翻译</vt:lpstr>
      <vt:lpstr>记录说明的翻译</vt:lpstr>
      <vt:lpstr>7.4 赋值语句的翻译</vt:lpstr>
      <vt:lpstr>赋值语句翻译的实现</vt:lpstr>
      <vt:lpstr>赋值语句翻译的实现    ——生成三地址码的属性文法</vt:lpstr>
      <vt:lpstr>赋值语句翻译的实现</vt:lpstr>
      <vt:lpstr>表达式翻译中的其它问题</vt:lpstr>
      <vt:lpstr>类型转换： itr，rti</vt:lpstr>
      <vt:lpstr>7.5 控制语句的翻译</vt:lpstr>
      <vt:lpstr>布尔表达式的翻译</vt:lpstr>
      <vt:lpstr>数值表示法——使用综合属性</vt:lpstr>
      <vt:lpstr>数值表示法——使用综合属性</vt:lpstr>
      <vt:lpstr>例   a&lt;b or c&lt;d and e&lt;f</vt:lpstr>
      <vt:lpstr>真假出口表示法——使用继承属性</vt:lpstr>
      <vt:lpstr>真假出口表示法——使用继承属性</vt:lpstr>
      <vt:lpstr>真假出口表示法——使用继承属性</vt:lpstr>
      <vt:lpstr>真假出口表示法——使用继承属性</vt:lpstr>
      <vt:lpstr>真假出口表示法——使用继承属性</vt:lpstr>
      <vt:lpstr>真假出口表示法——使用继承属性</vt:lpstr>
      <vt:lpstr>真假出口表示法——使用继承属性</vt:lpstr>
      <vt:lpstr>例   a&lt;b or c&lt;d and e&lt;f</vt:lpstr>
      <vt:lpstr>例   4+a&gt;b-c and d</vt:lpstr>
      <vt:lpstr>拉链回填技术</vt:lpstr>
      <vt:lpstr>拉链回填举例——拉链</vt:lpstr>
      <vt:lpstr>拉链回填举例——并链</vt:lpstr>
      <vt:lpstr>拉链回填——回填</vt:lpstr>
      <vt:lpstr>S → if  C  then  S1  的代码结构译</vt:lpstr>
      <vt:lpstr>例：if a&gt;b then a=a+a</vt:lpstr>
      <vt:lpstr>if C then S1的属性文法</vt:lpstr>
      <vt:lpstr>S→if C then S1 else S2的代码结构</vt:lpstr>
      <vt:lpstr>S→if C then S1 else S2的属性文法</vt:lpstr>
      <vt:lpstr>例：if a&gt;b then a=a+c else a=a+b</vt:lpstr>
      <vt:lpstr>S → while  C  do S1的代码结构</vt:lpstr>
      <vt:lpstr>例： while x &gt; y do z := x + 1</vt:lpstr>
      <vt:lpstr>S → while  C  do S1的属性文法</vt:lpstr>
      <vt:lpstr>例 ：翻译下列语句</vt:lpstr>
      <vt:lpstr>生成的三地址码序列</vt:lpstr>
      <vt:lpstr>控制结构翻译中的其他问题</vt:lpstr>
      <vt:lpstr>实验3题目</vt:lpstr>
      <vt:lpstr>实验1：词法分析器的设计与实现</vt:lpstr>
      <vt:lpstr>实验2：语法分析器的设计与实现</vt:lpstr>
      <vt:lpstr>实验3：中间代码的生成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jzl</dc:creator>
  <cp:lastModifiedBy>Admin</cp:lastModifiedBy>
  <cp:revision>249</cp:revision>
  <cp:lastPrinted>1601-01-01T00:00:00Z</cp:lastPrinted>
  <dcterms:created xsi:type="dcterms:W3CDTF">2003-07-09T14:46:46Z</dcterms:created>
  <dcterms:modified xsi:type="dcterms:W3CDTF">2017-02-24T00:45:09Z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