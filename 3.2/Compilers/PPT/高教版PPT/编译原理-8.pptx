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2"/>
  </p:notesMasterIdLst>
  <p:handoutMasterIdLst>
    <p:handoutMasterId r:id="rId33"/>
  </p:handoutMasterIdLst>
  <p:sldIdLst>
    <p:sldId id="460" r:id="rId2"/>
    <p:sldId id="499" r:id="rId3"/>
    <p:sldId id="500" r:id="rId4"/>
    <p:sldId id="501" r:id="rId5"/>
    <p:sldId id="502" r:id="rId6"/>
    <p:sldId id="503" r:id="rId7"/>
    <p:sldId id="504" r:id="rId8"/>
    <p:sldId id="505" r:id="rId9"/>
    <p:sldId id="506" r:id="rId10"/>
    <p:sldId id="507" r:id="rId11"/>
    <p:sldId id="508" r:id="rId12"/>
    <p:sldId id="509" r:id="rId13"/>
    <p:sldId id="510" r:id="rId14"/>
    <p:sldId id="511" r:id="rId15"/>
    <p:sldId id="512" r:id="rId16"/>
    <p:sldId id="513" r:id="rId17"/>
    <p:sldId id="514" r:id="rId18"/>
    <p:sldId id="515" r:id="rId19"/>
    <p:sldId id="516" r:id="rId20"/>
    <p:sldId id="517" r:id="rId21"/>
    <p:sldId id="518" r:id="rId22"/>
    <p:sldId id="519" r:id="rId23"/>
    <p:sldId id="520" r:id="rId24"/>
    <p:sldId id="521" r:id="rId25"/>
    <p:sldId id="522" r:id="rId26"/>
    <p:sldId id="523" r:id="rId27"/>
    <p:sldId id="524" r:id="rId28"/>
    <p:sldId id="525" r:id="rId29"/>
    <p:sldId id="526" r:id="rId30"/>
    <p:sldId id="527"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9999"/>
    <a:srgbClr val="FFFFCC"/>
    <a:srgbClr val="99FFCC"/>
    <a:srgbClr val="3399FF"/>
    <a:srgbClr val="FFFF00"/>
    <a:srgbClr val="CC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39" autoAdjust="0"/>
  </p:normalViewPr>
  <p:slideViewPr>
    <p:cSldViewPr>
      <p:cViewPr varScale="1">
        <p:scale>
          <a:sx n="108" d="100"/>
          <a:sy n="108" d="100"/>
        </p:scale>
        <p:origin x="1242" y="108"/>
      </p:cViewPr>
      <p:guideLst>
        <p:guide orient="horz" pos="2160"/>
        <p:guide pos="2880"/>
      </p:guideLst>
    </p:cSldViewPr>
  </p:slideViewPr>
  <p:outlineViewPr>
    <p:cViewPr>
      <p:scale>
        <a:sx n="25" d="100"/>
        <a:sy n="25" d="100"/>
      </p:scale>
      <p:origin x="0" y="-1113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zh-CN" altLang="en-US"/>
          </a:p>
        </p:txBody>
      </p:sp>
      <p:sp>
        <p:nvSpPr>
          <p:cNvPr id="3993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993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3993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16DDA60-EDE3-4321-9965-5DECB955EFD1}" type="slidenum">
              <a:rPr lang="zh-CN" altLang="en-US"/>
              <a:pPr>
                <a:defRPr/>
              </a:pPr>
              <a:t>‹#›</a:t>
            </a:fld>
            <a:endParaRPr lang="en-US" altLang="zh-CN"/>
          </a:p>
        </p:txBody>
      </p:sp>
    </p:spTree>
    <p:extLst>
      <p:ext uri="{BB962C8B-B14F-4D97-AF65-F5344CB8AC3E}">
        <p14:creationId xmlns:p14="http://schemas.microsoft.com/office/powerpoint/2010/main" val="800965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3287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87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287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3287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EFB740E-98D6-4382-B8DC-6D63694CFF69}" type="slidenum">
              <a:rPr lang="zh-CN" altLang="en-US"/>
              <a:pPr>
                <a:defRPr/>
              </a:pPr>
              <a:t>‹#›</a:t>
            </a:fld>
            <a:endParaRPr lang="en-US" altLang="zh-CN"/>
          </a:p>
        </p:txBody>
      </p:sp>
    </p:spTree>
    <p:extLst>
      <p:ext uri="{BB962C8B-B14F-4D97-AF65-F5344CB8AC3E}">
        <p14:creationId xmlns:p14="http://schemas.microsoft.com/office/powerpoint/2010/main" val="1538558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D425FA-AF7D-403F-A4B9-D8534435B346}" type="slidenum">
              <a:rPr lang="en-US" altLang="zh-CN"/>
              <a:pPr/>
              <a:t>3</a:t>
            </a:fld>
            <a:endParaRPr lang="en-US" altLang="zh-CN"/>
          </a:p>
        </p:txBody>
      </p:sp>
      <p:sp>
        <p:nvSpPr>
          <p:cNvPr id="2376706" name="Rectangle 2"/>
          <p:cNvSpPr>
            <a:spLocks noGrp="1" noRot="1" noChangeAspect="1" noChangeArrowheads="1" noTextEdit="1"/>
          </p:cNvSpPr>
          <p:nvPr>
            <p:ph type="sldImg"/>
          </p:nvPr>
        </p:nvSpPr>
        <p:spPr>
          <a:ln/>
        </p:spPr>
      </p:sp>
      <p:sp>
        <p:nvSpPr>
          <p:cNvPr id="237670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747347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573891-7958-44F4-89AC-8CA4C596E8CF}" type="slidenum">
              <a:rPr lang="en-US" altLang="zh-CN"/>
              <a:pPr/>
              <a:t>4</a:t>
            </a:fld>
            <a:endParaRPr lang="en-US" altLang="zh-CN"/>
          </a:p>
        </p:txBody>
      </p:sp>
      <p:sp>
        <p:nvSpPr>
          <p:cNvPr id="2918402" name="Rectangle 2"/>
          <p:cNvSpPr>
            <a:spLocks noGrp="1" noRot="1" noChangeAspect="1" noChangeArrowheads="1" noTextEdit="1"/>
          </p:cNvSpPr>
          <p:nvPr>
            <p:ph type="sldImg"/>
          </p:nvPr>
        </p:nvSpPr>
        <p:spPr>
          <a:ln/>
        </p:spPr>
      </p:sp>
      <p:sp>
        <p:nvSpPr>
          <p:cNvPr id="29184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180442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D51711-4414-4E81-9669-3B5CA97D0806}" type="slidenum">
              <a:rPr lang="en-US" altLang="zh-CN"/>
              <a:pPr/>
              <a:t>5</a:t>
            </a:fld>
            <a:endParaRPr lang="en-US" altLang="zh-CN"/>
          </a:p>
        </p:txBody>
      </p:sp>
      <p:sp>
        <p:nvSpPr>
          <p:cNvPr id="2378754" name="Rectangle 2"/>
          <p:cNvSpPr>
            <a:spLocks noGrp="1" noRot="1" noChangeAspect="1" noChangeArrowheads="1" noTextEdit="1"/>
          </p:cNvSpPr>
          <p:nvPr>
            <p:ph type="sldImg"/>
          </p:nvPr>
        </p:nvSpPr>
        <p:spPr>
          <a:ln/>
        </p:spPr>
      </p:sp>
      <p:sp>
        <p:nvSpPr>
          <p:cNvPr id="23787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069161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379BC6-CA6E-4EF9-A9B1-B272231068DA}" type="slidenum">
              <a:rPr lang="en-US" altLang="zh-CN"/>
              <a:pPr/>
              <a:t>6</a:t>
            </a:fld>
            <a:endParaRPr lang="en-US" altLang="zh-CN"/>
          </a:p>
        </p:txBody>
      </p:sp>
      <p:sp>
        <p:nvSpPr>
          <p:cNvPr id="2380802" name="Rectangle 2"/>
          <p:cNvSpPr>
            <a:spLocks noGrp="1" noRot="1" noChangeAspect="1" noChangeArrowheads="1" noTextEdit="1"/>
          </p:cNvSpPr>
          <p:nvPr>
            <p:ph type="sldImg"/>
          </p:nvPr>
        </p:nvSpPr>
        <p:spPr>
          <a:ln/>
        </p:spPr>
      </p:sp>
      <p:sp>
        <p:nvSpPr>
          <p:cNvPr id="23808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215500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0A4827-CFFF-443D-863E-74F747FD38FD}" type="slidenum">
              <a:rPr lang="en-US" altLang="zh-CN"/>
              <a:pPr/>
              <a:t>7</a:t>
            </a:fld>
            <a:endParaRPr lang="en-US" altLang="zh-CN"/>
          </a:p>
        </p:txBody>
      </p:sp>
      <p:sp>
        <p:nvSpPr>
          <p:cNvPr id="2382850" name="Rectangle 2"/>
          <p:cNvSpPr>
            <a:spLocks noGrp="1" noRot="1" noChangeAspect="1" noChangeArrowheads="1" noTextEdit="1"/>
          </p:cNvSpPr>
          <p:nvPr>
            <p:ph type="sldImg"/>
          </p:nvPr>
        </p:nvSpPr>
        <p:spPr>
          <a:ln/>
        </p:spPr>
      </p:sp>
      <p:sp>
        <p:nvSpPr>
          <p:cNvPr id="23828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033772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40AE40-DC99-4FCE-B8F5-73DAB05CCAD9}" type="slidenum">
              <a:rPr lang="en-US" altLang="zh-CN"/>
              <a:pPr/>
              <a:t>8</a:t>
            </a:fld>
            <a:endParaRPr lang="en-US" altLang="zh-CN"/>
          </a:p>
        </p:txBody>
      </p:sp>
      <p:sp>
        <p:nvSpPr>
          <p:cNvPr id="2384898" name="Rectangle 2"/>
          <p:cNvSpPr>
            <a:spLocks noGrp="1" noRot="1" noChangeAspect="1" noChangeArrowheads="1" noTextEdit="1"/>
          </p:cNvSpPr>
          <p:nvPr>
            <p:ph type="sldImg"/>
          </p:nvPr>
        </p:nvSpPr>
        <p:spPr>
          <a:ln/>
        </p:spPr>
      </p:sp>
      <p:sp>
        <p:nvSpPr>
          <p:cNvPr id="23848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721683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9F49F7-84AF-481B-9474-3FC0645655FB}" type="slidenum">
              <a:rPr lang="en-US" altLang="zh-CN"/>
              <a:pPr/>
              <a:t>9</a:t>
            </a:fld>
            <a:endParaRPr lang="en-US" altLang="zh-CN"/>
          </a:p>
        </p:txBody>
      </p:sp>
      <p:sp>
        <p:nvSpPr>
          <p:cNvPr id="2386946" name="Rectangle 2"/>
          <p:cNvSpPr>
            <a:spLocks noGrp="1" noRot="1" noChangeAspect="1" noChangeArrowheads="1" noTextEdit="1"/>
          </p:cNvSpPr>
          <p:nvPr>
            <p:ph type="sldImg"/>
          </p:nvPr>
        </p:nvSpPr>
        <p:spPr>
          <a:ln/>
        </p:spPr>
      </p:sp>
      <p:sp>
        <p:nvSpPr>
          <p:cNvPr id="23869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31728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315073-731A-4455-9772-BEE4E4A70E1B}" type="slidenum">
              <a:rPr lang="en-US" altLang="zh-CN"/>
              <a:pPr/>
              <a:t>10</a:t>
            </a:fld>
            <a:endParaRPr lang="en-US" altLang="zh-CN"/>
          </a:p>
        </p:txBody>
      </p:sp>
      <p:sp>
        <p:nvSpPr>
          <p:cNvPr id="2388994" name="Rectangle 2"/>
          <p:cNvSpPr>
            <a:spLocks noGrp="1" noRot="1" noChangeAspect="1" noChangeArrowheads="1" noTextEdit="1"/>
          </p:cNvSpPr>
          <p:nvPr>
            <p:ph type="sldImg"/>
          </p:nvPr>
        </p:nvSpPr>
        <p:spPr>
          <a:ln/>
        </p:spPr>
      </p:sp>
      <p:sp>
        <p:nvSpPr>
          <p:cNvPr id="23889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904834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22DE55-5F2A-4139-B9EC-F59BE68AB042}" type="slidenum">
              <a:rPr lang="en-US" altLang="zh-CN"/>
              <a:pPr/>
              <a:t>11</a:t>
            </a:fld>
            <a:endParaRPr lang="en-US" altLang="zh-CN"/>
          </a:p>
        </p:txBody>
      </p:sp>
      <p:sp>
        <p:nvSpPr>
          <p:cNvPr id="2920450" name="Rectangle 2"/>
          <p:cNvSpPr>
            <a:spLocks noGrp="1" noRot="1" noChangeAspect="1" noChangeArrowheads="1" noTextEdit="1"/>
          </p:cNvSpPr>
          <p:nvPr>
            <p:ph type="sldImg"/>
          </p:nvPr>
        </p:nvSpPr>
        <p:spPr>
          <a:ln/>
        </p:spPr>
      </p:sp>
      <p:sp>
        <p:nvSpPr>
          <p:cNvPr id="29204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3003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271477-6319-472A-8E3C-3CB88776D82C}" type="slidenum">
              <a:rPr lang="en-US" altLang="zh-CN"/>
              <a:pPr/>
              <a:t>12</a:t>
            </a:fld>
            <a:endParaRPr lang="en-US" altLang="zh-CN"/>
          </a:p>
        </p:txBody>
      </p:sp>
      <p:sp>
        <p:nvSpPr>
          <p:cNvPr id="2391042" name="Rectangle 2"/>
          <p:cNvSpPr>
            <a:spLocks noGrp="1" noRot="1" noChangeAspect="1" noChangeArrowheads="1" noTextEdit="1"/>
          </p:cNvSpPr>
          <p:nvPr>
            <p:ph type="sldImg"/>
          </p:nvPr>
        </p:nvSpPr>
        <p:spPr>
          <a:ln/>
        </p:spPr>
      </p:sp>
      <p:sp>
        <p:nvSpPr>
          <p:cNvPr id="23910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14488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8A4EFC-5B00-4D60-BEB9-D9E58D8E11E4}" type="slidenum">
              <a:rPr lang="en-US" altLang="zh-CN"/>
              <a:pPr/>
              <a:t>13</a:t>
            </a:fld>
            <a:endParaRPr lang="en-US" altLang="zh-CN"/>
          </a:p>
        </p:txBody>
      </p:sp>
      <p:sp>
        <p:nvSpPr>
          <p:cNvPr id="2975746" name="Rectangle 2"/>
          <p:cNvSpPr>
            <a:spLocks noGrp="1" noRot="1" noChangeAspect="1" noChangeArrowheads="1" noTextEdit="1"/>
          </p:cNvSpPr>
          <p:nvPr>
            <p:ph type="sldImg"/>
          </p:nvPr>
        </p:nvSpPr>
        <p:spPr>
          <a:ln/>
        </p:spPr>
      </p:sp>
      <p:sp>
        <p:nvSpPr>
          <p:cNvPr id="29757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231425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6613C0-A237-4370-8F94-B4E31C0F77A8}" type="slidenum">
              <a:rPr lang="en-US" altLang="zh-CN"/>
              <a:pPr/>
              <a:t>14</a:t>
            </a:fld>
            <a:endParaRPr lang="en-US" altLang="zh-CN"/>
          </a:p>
        </p:txBody>
      </p:sp>
      <p:sp>
        <p:nvSpPr>
          <p:cNvPr id="2393090" name="Rectangle 2"/>
          <p:cNvSpPr>
            <a:spLocks noGrp="1" noRot="1" noChangeAspect="1" noChangeArrowheads="1" noTextEdit="1"/>
          </p:cNvSpPr>
          <p:nvPr>
            <p:ph type="sldImg"/>
          </p:nvPr>
        </p:nvSpPr>
        <p:spPr>
          <a:ln/>
        </p:spPr>
      </p:sp>
      <p:sp>
        <p:nvSpPr>
          <p:cNvPr id="23930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174511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F3C0EF-DE07-49B7-873B-23CB739B0E20}" type="slidenum">
              <a:rPr lang="en-US" altLang="zh-CN"/>
              <a:pPr/>
              <a:t>15</a:t>
            </a:fld>
            <a:endParaRPr lang="en-US" altLang="zh-CN"/>
          </a:p>
        </p:txBody>
      </p:sp>
      <p:sp>
        <p:nvSpPr>
          <p:cNvPr id="2395138" name="Rectangle 2"/>
          <p:cNvSpPr>
            <a:spLocks noGrp="1" noRot="1" noChangeAspect="1" noChangeArrowheads="1" noTextEdit="1"/>
          </p:cNvSpPr>
          <p:nvPr>
            <p:ph type="sldImg"/>
          </p:nvPr>
        </p:nvSpPr>
        <p:spPr>
          <a:ln/>
        </p:spPr>
      </p:sp>
      <p:sp>
        <p:nvSpPr>
          <p:cNvPr id="239513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741107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8EB33B-50C3-4107-83CA-A9323A19DEBE}" type="slidenum">
              <a:rPr lang="en-US" altLang="zh-CN"/>
              <a:pPr/>
              <a:t>16</a:t>
            </a:fld>
            <a:endParaRPr lang="en-US" altLang="zh-CN"/>
          </a:p>
        </p:txBody>
      </p:sp>
      <p:sp>
        <p:nvSpPr>
          <p:cNvPr id="2397186" name="Rectangle 2"/>
          <p:cNvSpPr>
            <a:spLocks noGrp="1" noRot="1" noChangeAspect="1" noChangeArrowheads="1" noTextEdit="1"/>
          </p:cNvSpPr>
          <p:nvPr>
            <p:ph type="sldImg"/>
          </p:nvPr>
        </p:nvSpPr>
        <p:spPr>
          <a:ln/>
        </p:spPr>
      </p:sp>
      <p:sp>
        <p:nvSpPr>
          <p:cNvPr id="239718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854385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C0271A-08FA-43E4-B7C3-12DF20D7F543}" type="slidenum">
              <a:rPr lang="en-US" altLang="zh-CN"/>
              <a:pPr/>
              <a:t>17</a:t>
            </a:fld>
            <a:endParaRPr lang="en-US" altLang="zh-CN"/>
          </a:p>
        </p:txBody>
      </p:sp>
      <p:sp>
        <p:nvSpPr>
          <p:cNvPr id="2399234" name="Rectangle 2"/>
          <p:cNvSpPr>
            <a:spLocks noGrp="1" noRot="1" noChangeAspect="1" noChangeArrowheads="1" noTextEdit="1"/>
          </p:cNvSpPr>
          <p:nvPr>
            <p:ph type="sldImg"/>
          </p:nvPr>
        </p:nvSpPr>
        <p:spPr>
          <a:ln/>
        </p:spPr>
      </p:sp>
      <p:sp>
        <p:nvSpPr>
          <p:cNvPr id="239923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058844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DA96DE-EB9E-4E1C-9708-402D5D59111A}" type="slidenum">
              <a:rPr lang="en-US" altLang="zh-CN"/>
              <a:pPr/>
              <a:t>18</a:t>
            </a:fld>
            <a:endParaRPr lang="en-US" altLang="zh-CN"/>
          </a:p>
        </p:txBody>
      </p:sp>
      <p:sp>
        <p:nvSpPr>
          <p:cNvPr id="2401282" name="Rectangle 2"/>
          <p:cNvSpPr>
            <a:spLocks noGrp="1" noRot="1" noChangeAspect="1" noChangeArrowheads="1" noTextEdit="1"/>
          </p:cNvSpPr>
          <p:nvPr>
            <p:ph type="sldImg"/>
          </p:nvPr>
        </p:nvSpPr>
        <p:spPr>
          <a:ln/>
        </p:spPr>
      </p:sp>
      <p:sp>
        <p:nvSpPr>
          <p:cNvPr id="240128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1331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974204-B309-4A6B-A774-F31AF114BDF1}" type="slidenum">
              <a:rPr lang="en-US" altLang="zh-CN"/>
              <a:pPr/>
              <a:t>19</a:t>
            </a:fld>
            <a:endParaRPr lang="en-US" altLang="zh-CN"/>
          </a:p>
        </p:txBody>
      </p:sp>
      <p:sp>
        <p:nvSpPr>
          <p:cNvPr id="2403330" name="Rectangle 2"/>
          <p:cNvSpPr>
            <a:spLocks noGrp="1" noRot="1" noChangeAspect="1" noChangeArrowheads="1" noTextEdit="1"/>
          </p:cNvSpPr>
          <p:nvPr>
            <p:ph type="sldImg"/>
          </p:nvPr>
        </p:nvSpPr>
        <p:spPr>
          <a:ln/>
        </p:spPr>
      </p:sp>
      <p:sp>
        <p:nvSpPr>
          <p:cNvPr id="240333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342373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BBD0EE-D860-4EDF-B66D-85378FADDDFF}" type="slidenum">
              <a:rPr lang="en-US" altLang="zh-CN"/>
              <a:pPr/>
              <a:t>20</a:t>
            </a:fld>
            <a:endParaRPr lang="en-US" altLang="zh-CN"/>
          </a:p>
        </p:txBody>
      </p:sp>
      <p:sp>
        <p:nvSpPr>
          <p:cNvPr id="2405378" name="Rectangle 2"/>
          <p:cNvSpPr>
            <a:spLocks noGrp="1" noRot="1" noChangeAspect="1" noChangeArrowheads="1" noTextEdit="1"/>
          </p:cNvSpPr>
          <p:nvPr>
            <p:ph type="sldImg"/>
          </p:nvPr>
        </p:nvSpPr>
        <p:spPr>
          <a:ln/>
        </p:spPr>
      </p:sp>
      <p:sp>
        <p:nvSpPr>
          <p:cNvPr id="24053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115188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3A1AC6-2D19-4747-8AFD-1C64CE138467}" type="slidenum">
              <a:rPr lang="en-US" altLang="zh-CN"/>
              <a:pPr/>
              <a:t>21</a:t>
            </a:fld>
            <a:endParaRPr lang="en-US" altLang="zh-CN"/>
          </a:p>
        </p:txBody>
      </p:sp>
      <p:sp>
        <p:nvSpPr>
          <p:cNvPr id="2407426" name="Rectangle 2"/>
          <p:cNvSpPr>
            <a:spLocks noGrp="1" noRot="1" noChangeAspect="1" noChangeArrowheads="1" noTextEdit="1"/>
          </p:cNvSpPr>
          <p:nvPr>
            <p:ph type="sldImg"/>
          </p:nvPr>
        </p:nvSpPr>
        <p:spPr>
          <a:ln/>
        </p:spPr>
      </p:sp>
      <p:sp>
        <p:nvSpPr>
          <p:cNvPr id="24074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80467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C3998-CB93-43B1-9FBE-D76E1B1ABC7F}" type="slidenum">
              <a:rPr lang="en-US" altLang="zh-CN"/>
              <a:pPr/>
              <a:t>22</a:t>
            </a:fld>
            <a:endParaRPr lang="en-US" altLang="zh-CN"/>
          </a:p>
        </p:txBody>
      </p:sp>
      <p:sp>
        <p:nvSpPr>
          <p:cNvPr id="2409474" name="Rectangle 2"/>
          <p:cNvSpPr>
            <a:spLocks noGrp="1" noRot="1" noChangeAspect="1" noChangeArrowheads="1" noTextEdit="1"/>
          </p:cNvSpPr>
          <p:nvPr>
            <p:ph type="sldImg"/>
          </p:nvPr>
        </p:nvSpPr>
        <p:spPr>
          <a:ln/>
        </p:spPr>
      </p:sp>
      <p:sp>
        <p:nvSpPr>
          <p:cNvPr id="240947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26829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2826D4-E65B-4620-93A4-6434380152DB}" type="slidenum">
              <a:rPr lang="en-US" altLang="zh-CN"/>
              <a:pPr/>
              <a:t>23</a:t>
            </a:fld>
            <a:endParaRPr lang="en-US" altLang="zh-CN"/>
          </a:p>
        </p:txBody>
      </p:sp>
      <p:sp>
        <p:nvSpPr>
          <p:cNvPr id="2953218" name="Rectangle 2"/>
          <p:cNvSpPr>
            <a:spLocks noGrp="1" noRot="1" noChangeAspect="1" noChangeArrowheads="1" noTextEdit="1"/>
          </p:cNvSpPr>
          <p:nvPr>
            <p:ph type="sldImg"/>
          </p:nvPr>
        </p:nvSpPr>
        <p:spPr>
          <a:ln/>
        </p:spPr>
      </p:sp>
      <p:sp>
        <p:nvSpPr>
          <p:cNvPr id="29532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2256585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9CB5A5-8277-4C71-BA09-EB7E00FD0FD4}" type="slidenum">
              <a:rPr lang="en-US" altLang="zh-CN"/>
              <a:pPr/>
              <a:t>24</a:t>
            </a:fld>
            <a:endParaRPr lang="en-US" altLang="zh-CN"/>
          </a:p>
        </p:txBody>
      </p:sp>
      <p:sp>
        <p:nvSpPr>
          <p:cNvPr id="2411522" name="Rectangle 2"/>
          <p:cNvSpPr>
            <a:spLocks noGrp="1" noRot="1" noChangeAspect="1" noChangeArrowheads="1" noTextEdit="1"/>
          </p:cNvSpPr>
          <p:nvPr>
            <p:ph type="sldImg"/>
          </p:nvPr>
        </p:nvSpPr>
        <p:spPr>
          <a:ln/>
        </p:spPr>
      </p:sp>
      <p:sp>
        <p:nvSpPr>
          <p:cNvPr id="24115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59364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F2FF07-7A6C-46CF-A526-C84C9ACB19DE}" type="slidenum">
              <a:rPr lang="en-US" altLang="zh-CN"/>
              <a:pPr/>
              <a:t>25</a:t>
            </a:fld>
            <a:endParaRPr lang="en-US" altLang="zh-CN"/>
          </a:p>
        </p:txBody>
      </p:sp>
      <p:sp>
        <p:nvSpPr>
          <p:cNvPr id="2413570" name="Rectangle 2"/>
          <p:cNvSpPr>
            <a:spLocks noGrp="1" noRot="1" noChangeAspect="1" noChangeArrowheads="1" noTextEdit="1"/>
          </p:cNvSpPr>
          <p:nvPr>
            <p:ph type="sldImg"/>
          </p:nvPr>
        </p:nvSpPr>
        <p:spPr>
          <a:ln/>
        </p:spPr>
      </p:sp>
      <p:sp>
        <p:nvSpPr>
          <p:cNvPr id="24135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069628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69A767-D833-4B21-B677-3AA679BCC885}" type="slidenum">
              <a:rPr lang="en-US" altLang="zh-CN"/>
              <a:pPr/>
              <a:t>26</a:t>
            </a:fld>
            <a:endParaRPr lang="en-US" altLang="zh-CN"/>
          </a:p>
        </p:txBody>
      </p:sp>
      <p:sp>
        <p:nvSpPr>
          <p:cNvPr id="2415618" name="Rectangle 2"/>
          <p:cNvSpPr>
            <a:spLocks noGrp="1" noRot="1" noChangeAspect="1" noChangeArrowheads="1" noTextEdit="1"/>
          </p:cNvSpPr>
          <p:nvPr>
            <p:ph type="sldImg"/>
          </p:nvPr>
        </p:nvSpPr>
        <p:spPr>
          <a:ln/>
        </p:spPr>
      </p:sp>
      <p:sp>
        <p:nvSpPr>
          <p:cNvPr id="24156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841755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0AC8E5-1C0F-4032-B366-BC100F9BEB6F}" type="slidenum">
              <a:rPr lang="en-US" altLang="zh-CN"/>
              <a:pPr/>
              <a:t>27</a:t>
            </a:fld>
            <a:endParaRPr lang="en-US" altLang="zh-CN"/>
          </a:p>
        </p:txBody>
      </p:sp>
      <p:sp>
        <p:nvSpPr>
          <p:cNvPr id="2417666" name="Rectangle 2"/>
          <p:cNvSpPr>
            <a:spLocks noGrp="1" noRot="1" noChangeAspect="1" noChangeArrowheads="1" noTextEdit="1"/>
          </p:cNvSpPr>
          <p:nvPr>
            <p:ph type="sldImg"/>
          </p:nvPr>
        </p:nvSpPr>
        <p:spPr>
          <a:ln/>
        </p:spPr>
      </p:sp>
      <p:sp>
        <p:nvSpPr>
          <p:cNvPr id="241766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589089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E486BD-15B1-4C02-9D1C-96A9D2F956CC}" type="slidenum">
              <a:rPr lang="en-US" altLang="zh-CN"/>
              <a:pPr/>
              <a:t>28</a:t>
            </a:fld>
            <a:endParaRPr lang="en-US" altLang="zh-CN"/>
          </a:p>
        </p:txBody>
      </p:sp>
      <p:sp>
        <p:nvSpPr>
          <p:cNvPr id="2419714" name="Rectangle 2"/>
          <p:cNvSpPr>
            <a:spLocks noGrp="1" noRot="1" noChangeAspect="1" noChangeArrowheads="1" noTextEdit="1"/>
          </p:cNvSpPr>
          <p:nvPr>
            <p:ph type="sldImg"/>
          </p:nvPr>
        </p:nvSpPr>
        <p:spPr>
          <a:ln/>
        </p:spPr>
      </p:sp>
      <p:sp>
        <p:nvSpPr>
          <p:cNvPr id="24197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93700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2105E3-0CCE-47A0-83E0-A37DFFA0CE78}" type="slidenum">
              <a:rPr lang="en-US" altLang="zh-CN"/>
              <a:pPr/>
              <a:t>29</a:t>
            </a:fld>
            <a:endParaRPr lang="en-US" altLang="zh-CN"/>
          </a:p>
        </p:txBody>
      </p:sp>
      <p:sp>
        <p:nvSpPr>
          <p:cNvPr id="2421762" name="Rectangle 2"/>
          <p:cNvSpPr>
            <a:spLocks noGrp="1" noRot="1" noChangeAspect="1" noChangeArrowheads="1" noTextEdit="1"/>
          </p:cNvSpPr>
          <p:nvPr>
            <p:ph type="sldImg"/>
          </p:nvPr>
        </p:nvSpPr>
        <p:spPr>
          <a:ln/>
        </p:spPr>
      </p:sp>
      <p:sp>
        <p:nvSpPr>
          <p:cNvPr id="24217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458896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6E02E3-63E5-4337-81C4-996520951756}" type="slidenum">
              <a:rPr lang="en-US" altLang="zh-CN"/>
              <a:pPr/>
              <a:t>30</a:t>
            </a:fld>
            <a:endParaRPr lang="en-US" altLang="zh-CN"/>
          </a:p>
        </p:txBody>
      </p:sp>
      <p:sp>
        <p:nvSpPr>
          <p:cNvPr id="2877442" name="Rectangle 2"/>
          <p:cNvSpPr>
            <a:spLocks noGrp="1" noRot="1" noChangeAspect="1" noChangeArrowheads="1" noTextEdit="1"/>
          </p:cNvSpPr>
          <p:nvPr>
            <p:ph type="sldImg"/>
          </p:nvPr>
        </p:nvSpPr>
        <p:spPr>
          <a:ln/>
        </p:spPr>
      </p:sp>
      <p:sp>
        <p:nvSpPr>
          <p:cNvPr id="28774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94655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611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smtClean="0"/>
              <a:t>单击此处编辑母版标题样式</a:t>
            </a:r>
            <a:endParaRPr lang="zh-CN" altLang="en-US"/>
          </a:p>
        </p:txBody>
      </p:sp>
      <p:sp>
        <p:nvSpPr>
          <p:cNvPr id="34611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253FE72-D0EC-42FD-AF5B-20AFF69D3F0D}"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DA6346E-9113-4E7C-992E-5D320361FA45}" type="slidenum">
              <a:rPr lang="zh-CN" altLang="en-US"/>
              <a:pPr>
                <a:defRPr/>
              </a:pPr>
              <a:t>‹#›</a:t>
            </a:fld>
            <a:endParaRPr lang="en-US" altLang="zh-CN"/>
          </a:p>
        </p:txBody>
      </p:sp>
    </p:spTree>
    <p:extLst>
      <p:ext uri="{BB962C8B-B14F-4D97-AF65-F5344CB8AC3E}">
        <p14:creationId xmlns:p14="http://schemas.microsoft.com/office/powerpoint/2010/main" val="158145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74F26E3-542C-426E-B0A2-EF925FB1FC3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133331-7F63-4B9E-875E-062A44C5F090}" type="slidenum">
              <a:rPr lang="zh-CN" altLang="en-US"/>
              <a:pPr>
                <a:defRPr/>
              </a:pPr>
              <a:t>‹#›</a:t>
            </a:fld>
            <a:endParaRPr lang="en-US" altLang="zh-CN"/>
          </a:p>
        </p:txBody>
      </p:sp>
    </p:spTree>
    <p:extLst>
      <p:ext uri="{BB962C8B-B14F-4D97-AF65-F5344CB8AC3E}">
        <p14:creationId xmlns:p14="http://schemas.microsoft.com/office/powerpoint/2010/main" val="112012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F35F79F7-48E8-4AA1-A8C5-16BA0F90D9E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80F1FCD-B8FA-422A-B47A-9F4A54D4A476}" type="slidenum">
              <a:rPr lang="zh-CN" altLang="en-US"/>
              <a:pPr>
                <a:defRPr/>
              </a:pPr>
              <a:t>‹#›</a:t>
            </a:fld>
            <a:endParaRPr lang="en-US" altLang="zh-CN"/>
          </a:p>
        </p:txBody>
      </p:sp>
    </p:spTree>
    <p:extLst>
      <p:ext uri="{BB962C8B-B14F-4D97-AF65-F5344CB8AC3E}">
        <p14:creationId xmlns:p14="http://schemas.microsoft.com/office/powerpoint/2010/main" val="286143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037CCED0-3222-466C-BE7D-E16D1DABCEA6}"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8E5063-7393-4AC3-B969-AE1573CB3802}" type="slidenum">
              <a:rPr lang="zh-CN" altLang="en-US"/>
              <a:pPr>
                <a:defRPr/>
              </a:pPr>
              <a:t>‹#›</a:t>
            </a:fld>
            <a:endParaRPr lang="en-US" altLang="zh-CN"/>
          </a:p>
        </p:txBody>
      </p:sp>
    </p:spTree>
    <p:extLst>
      <p:ext uri="{BB962C8B-B14F-4D97-AF65-F5344CB8AC3E}">
        <p14:creationId xmlns:p14="http://schemas.microsoft.com/office/powerpoint/2010/main" val="288754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CFA604AA-45FF-4B0C-AC64-3929012D0CCB}"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C34DC2-7A5A-4238-8435-45C2B6E31675}" type="slidenum">
              <a:rPr lang="zh-CN" altLang="en-US"/>
              <a:pPr>
                <a:defRPr/>
              </a:pPr>
              <a:t>‹#›</a:t>
            </a:fld>
            <a:endParaRPr lang="en-US" altLang="zh-CN"/>
          </a:p>
        </p:txBody>
      </p:sp>
    </p:spTree>
    <p:extLst>
      <p:ext uri="{BB962C8B-B14F-4D97-AF65-F5344CB8AC3E}">
        <p14:creationId xmlns:p14="http://schemas.microsoft.com/office/powerpoint/2010/main" val="98687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71B34FCB-CBAC-4183-9483-6E1BD1D45952}"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67C442-137D-49F9-BFF6-B32FF323B732}" type="slidenum">
              <a:rPr lang="zh-CN" altLang="en-US"/>
              <a:pPr>
                <a:defRPr/>
              </a:pPr>
              <a:t>‹#›</a:t>
            </a:fld>
            <a:endParaRPr lang="en-US" altLang="zh-CN"/>
          </a:p>
        </p:txBody>
      </p:sp>
    </p:spTree>
    <p:extLst>
      <p:ext uri="{BB962C8B-B14F-4D97-AF65-F5344CB8AC3E}">
        <p14:creationId xmlns:p14="http://schemas.microsoft.com/office/powerpoint/2010/main" val="199975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E982EDB-7BF8-4A5C-93B5-A56F66152FAE}"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BDC7CE6-81EC-404A-8A85-FFB6C8FE4823}" type="slidenum">
              <a:rPr lang="zh-CN" altLang="en-US"/>
              <a:pPr>
                <a:defRPr/>
              </a:pPr>
              <a:t>‹#›</a:t>
            </a:fld>
            <a:endParaRPr lang="en-US" altLang="zh-CN"/>
          </a:p>
        </p:txBody>
      </p:sp>
    </p:spTree>
    <p:extLst>
      <p:ext uri="{BB962C8B-B14F-4D97-AF65-F5344CB8AC3E}">
        <p14:creationId xmlns:p14="http://schemas.microsoft.com/office/powerpoint/2010/main" val="1983968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1006BC9-7732-4877-854F-B2D2FECBF825}"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6C67C5F-3580-4041-A110-1DE8500103D9}" type="slidenum">
              <a:rPr lang="zh-CN" altLang="en-US"/>
              <a:pPr>
                <a:defRPr/>
              </a:pPr>
              <a:t>‹#›</a:t>
            </a:fld>
            <a:endParaRPr lang="en-US" altLang="zh-CN"/>
          </a:p>
        </p:txBody>
      </p:sp>
    </p:spTree>
    <p:extLst>
      <p:ext uri="{BB962C8B-B14F-4D97-AF65-F5344CB8AC3E}">
        <p14:creationId xmlns:p14="http://schemas.microsoft.com/office/powerpoint/2010/main" val="2018834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0264EE0-4591-47F1-8D62-75D0D766C1DC}"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BCA80D-4718-488A-8FD6-CB70E5F6AE9B}" type="slidenum">
              <a:rPr lang="zh-CN" altLang="en-US"/>
              <a:pPr>
                <a:defRPr/>
              </a:pPr>
              <a:t>‹#›</a:t>
            </a:fld>
            <a:endParaRPr lang="en-US" altLang="zh-CN"/>
          </a:p>
        </p:txBody>
      </p:sp>
    </p:spTree>
    <p:extLst>
      <p:ext uri="{BB962C8B-B14F-4D97-AF65-F5344CB8AC3E}">
        <p14:creationId xmlns:p14="http://schemas.microsoft.com/office/powerpoint/2010/main" val="417463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2292C845-B506-42E0-9D15-E1E696FDD0A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F534A9-B071-444A-A1AE-5D0037B2C7D8}" type="slidenum">
              <a:rPr lang="zh-CN" altLang="en-US"/>
              <a:pPr>
                <a:defRPr/>
              </a:pPr>
              <a:t>‹#›</a:t>
            </a:fld>
            <a:endParaRPr lang="en-US" altLang="zh-CN"/>
          </a:p>
        </p:txBody>
      </p:sp>
    </p:spTree>
    <p:extLst>
      <p:ext uri="{BB962C8B-B14F-4D97-AF65-F5344CB8AC3E}">
        <p14:creationId xmlns:p14="http://schemas.microsoft.com/office/powerpoint/2010/main" val="863992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6BE66D8-A3A4-4F5B-8A16-DAFD6E0B31C3}"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BE3214-D9D0-48DA-8E12-7C84DBDDDDB5}" type="slidenum">
              <a:rPr lang="zh-CN" altLang="en-US"/>
              <a:pPr>
                <a:defRPr/>
              </a:pPr>
              <a:t>‹#›</a:t>
            </a:fld>
            <a:endParaRPr lang="en-US" altLang="zh-CN"/>
          </a:p>
        </p:txBody>
      </p:sp>
    </p:spTree>
    <p:extLst>
      <p:ext uri="{BB962C8B-B14F-4D97-AF65-F5344CB8AC3E}">
        <p14:creationId xmlns:p14="http://schemas.microsoft.com/office/powerpoint/2010/main" val="300088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defRPr/>
            </a:pPr>
            <a:fld id="{A69ABAD5-F3B1-402A-AD0B-F2CE7160418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DBF3B48-EBB0-4D16-933E-8C9765A4081C}" type="slidenum">
              <a:rPr lang="zh-CN" altLang="en-US"/>
              <a:pPr>
                <a:defRPr/>
              </a:pPr>
              <a:t>‹#›</a:t>
            </a:fld>
            <a:endParaRPr lang="en-US" altLang="zh-CN"/>
          </a:p>
        </p:txBody>
      </p:sp>
    </p:spTree>
    <p:extLst>
      <p:ext uri="{BB962C8B-B14F-4D97-AF65-F5344CB8AC3E}">
        <p14:creationId xmlns:p14="http://schemas.microsoft.com/office/powerpoint/2010/main" val="2818943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1162050" y="6243638"/>
            <a:ext cx="1905000" cy="457200"/>
          </a:xfrm>
        </p:spPr>
        <p:txBody>
          <a:bodyPr/>
          <a:lstStyle>
            <a:lvl1pPr>
              <a:defRPr/>
            </a:lvl1pPr>
          </a:lstStyle>
          <a:p>
            <a:pPr>
              <a:defRPr/>
            </a:pPr>
            <a:fld id="{57B2C022-CB24-4BA1-AF52-2C1017ED1647}" type="datetime1">
              <a:rPr lang="zh-CN" altLang="en-US"/>
              <a:pPr>
                <a:defRPr/>
              </a:pPr>
              <a:t>2017/2/24</a:t>
            </a:fld>
            <a:endParaRPr lang="en-US" altLang="zh-CN"/>
          </a:p>
        </p:txBody>
      </p:sp>
      <p:sp>
        <p:nvSpPr>
          <p:cNvPr id="4" name="页脚占位符 3"/>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7042150" y="6243638"/>
            <a:ext cx="1905000" cy="457200"/>
          </a:xfrm>
        </p:spPr>
        <p:txBody>
          <a:bodyPr/>
          <a:lstStyle>
            <a:lvl1pPr>
              <a:defRPr/>
            </a:lvl1pPr>
          </a:lstStyle>
          <a:p>
            <a:pPr>
              <a:defRPr/>
            </a:pPr>
            <a:fld id="{CD94D0BB-82A3-4BD4-9946-83C7D315A0EF}" type="slidenum">
              <a:rPr lang="zh-CN" altLang="en-US"/>
              <a:pPr>
                <a:defRPr/>
              </a:pPr>
              <a:t>‹#›</a:t>
            </a:fld>
            <a:endParaRPr lang="en-US" altLang="zh-CN"/>
          </a:p>
        </p:txBody>
      </p:sp>
    </p:spTree>
    <p:extLst>
      <p:ext uri="{BB962C8B-B14F-4D97-AF65-F5344CB8AC3E}">
        <p14:creationId xmlns:p14="http://schemas.microsoft.com/office/powerpoint/2010/main" val="1432524486"/>
      </p:ext>
    </p:extLst>
  </p:cSld>
  <p:clrMapOvr>
    <a:masterClrMapping/>
  </p:clrMapOvr>
  <p:transition/>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075"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4509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88219C38-A3D1-4E52-B4CC-4EA23219BA93}" type="datetime1">
              <a:rPr lang="zh-CN" altLang="en-US"/>
              <a:pPr>
                <a:defRPr/>
              </a:pPr>
              <a:t>2017/2/24</a:t>
            </a:fld>
            <a:endParaRPr lang="en-US" altLang="zh-CN"/>
          </a:p>
        </p:txBody>
      </p:sp>
      <p:sp>
        <p:nvSpPr>
          <p:cNvPr id="3450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34509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E7D6CDD-CADD-4448-9501-B16368E6BE9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8"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30" r:id="rId13"/>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11.wmf"/><Relationship Id="rId4"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6.emf"/><Relationship Id="rId4"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4.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9.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6.bin"/><Relationship Id="rId5" Type="http://schemas.openxmlformats.org/officeDocument/2006/relationships/image" Target="../media/image18.emf"/><Relationship Id="rId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21.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18.bin"/><Relationship Id="rId5" Type="http://schemas.openxmlformats.org/officeDocument/2006/relationships/image" Target="../media/image20.emf"/><Relationship Id="rId4" Type="http://schemas.openxmlformats.org/officeDocument/2006/relationships/oleObject" Target="../embeddings/oleObject1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2.emf"/><Relationship Id="rId4"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3.emf"/><Relationship Id="rId4" Type="http://schemas.openxmlformats.org/officeDocument/2006/relationships/oleObject" Target="../embeddings/oleObject20.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7E1E14F-AE74-465E-843F-437A693BA94B}" type="slidenum">
              <a:rPr lang="zh-CN" altLang="en-US"/>
              <a:pPr eaLnBrk="1" hangingPunct="1"/>
              <a:t>1</a:t>
            </a:fld>
            <a:endParaRPr lang="en-US" altLang="zh-CN"/>
          </a:p>
        </p:txBody>
      </p:sp>
      <p:sp>
        <p:nvSpPr>
          <p:cNvPr id="1028" name="Rectangle 2"/>
          <p:cNvSpPr>
            <a:spLocks noGrp="1" noRot="1" noChangeArrowheads="1"/>
          </p:cNvSpPr>
          <p:nvPr>
            <p:ph type="ctrTitle"/>
          </p:nvPr>
        </p:nvSpPr>
        <p:spPr>
          <a:xfrm>
            <a:off x="1187450" y="1143000"/>
            <a:ext cx="6965950" cy="1524000"/>
          </a:xfrm>
        </p:spPr>
        <p:txBody>
          <a:bodyPr/>
          <a:lstStyle/>
          <a:p>
            <a:pPr eaLnBrk="1" hangingPunct="1"/>
            <a:r>
              <a:rPr lang="zh-CN" altLang="en-US" sz="6000" b="1" dirty="0" smtClean="0">
                <a:latin typeface="Times New Roman" panose="02020603050405020304" pitchFamily="18" charset="0"/>
                <a:ea typeface="华文新魏" panose="02010800040101010101" pitchFamily="2" charset="-122"/>
                <a:cs typeface="Times New Roman" panose="02020603050405020304" pitchFamily="18" charset="0"/>
              </a:rPr>
              <a:t>编译原理</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br>
            <a:r>
              <a:rPr lang="en-US" altLang="zh-CN" b="1" dirty="0" smtClean="0">
                <a:latin typeface="Times New Roman" panose="02020603050405020304" pitchFamily="18" charset="0"/>
                <a:ea typeface="华文新魏" panose="02010800040101010101" pitchFamily="2" charset="-122"/>
                <a:cs typeface="Times New Roman" panose="02020603050405020304" pitchFamily="18" charset="0"/>
              </a:rPr>
              <a:t>(Principles of Compiling)</a:t>
            </a:r>
            <a:endPar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1026" name="Object 3">
            <a:hlinkClick r:id="" action="ppaction://ole?verb=0"/>
          </p:cNvPr>
          <p:cNvGraphicFramePr>
            <a:graphicFrameLocks/>
          </p:cNvGraphicFramePr>
          <p:nvPr/>
        </p:nvGraphicFramePr>
        <p:xfrm>
          <a:off x="7235825" y="2997200"/>
          <a:ext cx="1219200" cy="2438400"/>
        </p:xfrm>
        <a:graphic>
          <a:graphicData uri="http://schemas.openxmlformats.org/presentationml/2006/ole">
            <mc:AlternateContent xmlns:mc="http://schemas.openxmlformats.org/markup-compatibility/2006">
              <mc:Choice xmlns:v="urn:schemas-microsoft-com:vml" Requires="v">
                <p:oleObj spid="_x0000_s82949" name="剪辑" r:id="rId3" imgW="2641320" imgH="4586040" progId="MS_ClipArt_Gallery.2">
                  <p:embed/>
                </p:oleObj>
              </mc:Choice>
              <mc:Fallback>
                <p:oleObj name="剪辑" r:id="rId3" imgW="2641320" imgH="4586040"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 Box 4"/>
          <p:cNvSpPr txBox="1">
            <a:spLocks noChangeArrowheads="1"/>
          </p:cNvSpPr>
          <p:nvPr/>
        </p:nvSpPr>
        <p:spPr bwMode="auto">
          <a:xfrm>
            <a:off x="1476375" y="3500438"/>
            <a:ext cx="60483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a:latin typeface="Times New Roman" pitchFamily="18" charset="0"/>
                <a:ea typeface="华文新魏" pitchFamily="2" charset="-122"/>
              </a:rPr>
              <a:t>：</a:t>
            </a:r>
            <a:r>
              <a:rPr lang="zh-CN" altLang="en-US" sz="2800" b="1"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a:t>
            </a:r>
            <a:r>
              <a:rPr lang="zh-CN" altLang="en-US" sz="2800" b="1" dirty="0">
                <a:latin typeface="Times New Roman" pitchFamily="18" charset="0"/>
                <a:ea typeface="华文新魏" pitchFamily="2" charset="-122"/>
              </a:rPr>
              <a:t>信</a:t>
            </a:r>
            <a:r>
              <a:rPr lang="zh-CN" altLang="en-US" sz="2800" b="1" dirty="0" smtClean="0">
                <a:latin typeface="Times New Roman" pitchFamily="18" charset="0"/>
                <a:ea typeface="华文新魏" pitchFamily="2" charset="-122"/>
              </a:rPr>
              <a:t>北</a:t>
            </a:r>
            <a:r>
              <a:rPr lang="en-US" altLang="zh-CN" sz="2800" b="1" dirty="0" smtClean="0">
                <a:latin typeface="Times New Roman" pitchFamily="18" charset="0"/>
                <a:ea typeface="华文新魏" pitchFamily="2" charset="-122"/>
              </a:rPr>
              <a:t>212</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en-US" altLang="zh-CN" sz="2800" b="1" dirty="0" smtClean="0">
                <a:latin typeface="Times New Roman" pitchFamily="18" charset="0"/>
                <a:ea typeface="华文新魏" pitchFamily="2" charset="-122"/>
              </a:rPr>
              <a:t>67392397</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Email：jiangzl@bjut.edu.cn</a:t>
            </a:r>
          </a:p>
        </p:txBody>
      </p:sp>
      <p:pic>
        <p:nvPicPr>
          <p:cNvPr id="103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4813"/>
            <a:ext cx="1619250"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740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437210B-52D3-4988-9286-9971F41FAB2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E9966F3-15A7-4F50-A1CE-79C07A4162BC}" type="slidenum">
              <a:rPr lang="en-US" altLang="zh-CN"/>
              <a:pPr/>
              <a:t>2</a:t>
            </a:fld>
            <a:endParaRPr lang="en-US" altLang="zh-CN"/>
          </a:p>
        </p:txBody>
      </p:sp>
      <p:sp>
        <p:nvSpPr>
          <p:cNvPr id="2374658"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符号表管理 </a:t>
            </a:r>
          </a:p>
        </p:txBody>
      </p:sp>
      <p:sp>
        <p:nvSpPr>
          <p:cNvPr id="2374659" name="Rectangle 3"/>
          <p:cNvSpPr>
            <a:spLocks noGrp="1" noChangeArrowheads="1"/>
          </p:cNvSpPr>
          <p:nvPr>
            <p:ph type="body" idx="1"/>
          </p:nvPr>
        </p:nvSpPr>
        <p:spPr>
          <a:xfrm>
            <a:off x="373063" y="1412875"/>
            <a:ext cx="8520112" cy="4713288"/>
          </a:xfrm>
        </p:spPr>
        <p:txBody>
          <a:bodyPr/>
          <a:lstStyle/>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符号表的作用</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符号表中存放的信息</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符号表的组织结构</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符号表与作用域</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Tree>
    <p:extLst>
      <p:ext uri="{BB962C8B-B14F-4D97-AF65-F5344CB8AC3E}">
        <p14:creationId xmlns:p14="http://schemas.microsoft.com/office/powerpoint/2010/main" val="4149319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4659">
                                            <p:txEl>
                                              <p:pRg st="0" end="0"/>
                                            </p:txEl>
                                          </p:spTgt>
                                        </p:tgtEl>
                                        <p:attrNameLst>
                                          <p:attrName>style.visibility</p:attrName>
                                        </p:attrNameLst>
                                      </p:cBhvr>
                                      <p:to>
                                        <p:strVal val="visible"/>
                                      </p:to>
                                    </p:set>
                                    <p:animEffect transition="in" filter="blinds(horizontal)">
                                      <p:cBhvr>
                                        <p:cTn id="7" dur="500"/>
                                        <p:tgtEl>
                                          <p:spTgt spid="2374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74659">
                                            <p:txEl>
                                              <p:pRg st="1" end="1"/>
                                            </p:txEl>
                                          </p:spTgt>
                                        </p:tgtEl>
                                        <p:attrNameLst>
                                          <p:attrName>style.visibility</p:attrName>
                                        </p:attrNameLst>
                                      </p:cBhvr>
                                      <p:to>
                                        <p:strVal val="visible"/>
                                      </p:to>
                                    </p:set>
                                    <p:animEffect transition="in" filter="blinds(horizontal)">
                                      <p:cBhvr>
                                        <p:cTn id="12" dur="500"/>
                                        <p:tgtEl>
                                          <p:spTgt spid="2374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74659">
                                            <p:txEl>
                                              <p:pRg st="2" end="2"/>
                                            </p:txEl>
                                          </p:spTgt>
                                        </p:tgtEl>
                                        <p:attrNameLst>
                                          <p:attrName>style.visibility</p:attrName>
                                        </p:attrNameLst>
                                      </p:cBhvr>
                                      <p:to>
                                        <p:strVal val="visible"/>
                                      </p:to>
                                    </p:set>
                                    <p:animEffect transition="in" filter="blinds(horizontal)">
                                      <p:cBhvr>
                                        <p:cTn id="17" dur="500"/>
                                        <p:tgtEl>
                                          <p:spTgt spid="23746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74659">
                                            <p:txEl>
                                              <p:pRg st="3" end="3"/>
                                            </p:txEl>
                                          </p:spTgt>
                                        </p:tgtEl>
                                        <p:attrNameLst>
                                          <p:attrName>style.visibility</p:attrName>
                                        </p:attrNameLst>
                                      </p:cBhvr>
                                      <p:to>
                                        <p:strVal val="visible"/>
                                      </p:to>
                                    </p:set>
                                    <p:animEffect transition="in" filter="blinds(horizontal)">
                                      <p:cBhvr>
                                        <p:cTn id="22" dur="500"/>
                                        <p:tgtEl>
                                          <p:spTgt spid="23746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74659">
                                            <p:txEl>
                                              <p:pRg st="4" end="4"/>
                                            </p:txEl>
                                          </p:spTgt>
                                        </p:tgtEl>
                                        <p:attrNameLst>
                                          <p:attrName>style.visibility</p:attrName>
                                        </p:attrNameLst>
                                      </p:cBhvr>
                                      <p:to>
                                        <p:strVal val="visible"/>
                                      </p:to>
                                    </p:set>
                                    <p:animEffect transition="in" filter="blinds(horizontal)">
                                      <p:cBhvr>
                                        <p:cTn id="27" dur="500"/>
                                        <p:tgtEl>
                                          <p:spTgt spid="23746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465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474781A-D047-49C8-9DCB-339F94C465F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53EF107-605D-4007-B958-8BFF6920C933}" type="slidenum">
              <a:rPr lang="en-US" altLang="zh-CN"/>
              <a:pPr/>
              <a:t>3</a:t>
            </a:fld>
            <a:endParaRPr lang="en-US" altLang="zh-CN"/>
          </a:p>
        </p:txBody>
      </p:sp>
      <p:sp>
        <p:nvSpPr>
          <p:cNvPr id="2375682" name="Rectangle 2"/>
          <p:cNvSpPr>
            <a:spLocks noGrp="1" noChangeArrowheads="1"/>
          </p:cNvSpPr>
          <p:nvPr>
            <p:ph type="title"/>
          </p:nvPr>
        </p:nvSpPr>
        <p:spPr>
          <a:xfrm>
            <a:off x="468313" y="620713"/>
            <a:ext cx="8212137" cy="720725"/>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8.1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符号表的作用</a:t>
            </a:r>
          </a:p>
        </p:txBody>
      </p:sp>
      <p:sp>
        <p:nvSpPr>
          <p:cNvPr id="2375683" name="Rectangle 3"/>
          <p:cNvSpPr>
            <a:spLocks noGrp="1" noChangeArrowheads="1"/>
          </p:cNvSpPr>
          <p:nvPr>
            <p:ph type="body" idx="1"/>
          </p:nvPr>
        </p:nvSpPr>
        <p:spPr>
          <a:xfrm>
            <a:off x="120650" y="1700213"/>
            <a:ext cx="8915400" cy="4824412"/>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编译的各个阶段都有可能会用到符号表中登记的信息</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协助进行</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语义检查</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如检查一个名字的引用和之前的声明是否相符</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和中间代码生成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在目标代码生成阶段，当需要为名字</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分配地址</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时，符号表中的信息将是地址分配的主要依据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编译器用符号表来记录、收集和查找出现在源程序中的各种名字及其</a:t>
            </a:r>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语义信息</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280303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5683">
                                            <p:txEl>
                                              <p:pRg st="0" end="0"/>
                                            </p:txEl>
                                          </p:spTgt>
                                        </p:tgtEl>
                                        <p:attrNameLst>
                                          <p:attrName>style.visibility</p:attrName>
                                        </p:attrNameLst>
                                      </p:cBhvr>
                                      <p:to>
                                        <p:strVal val="visible"/>
                                      </p:to>
                                    </p:set>
                                    <p:animEffect transition="in" filter="blinds(horizontal)">
                                      <p:cBhvr>
                                        <p:cTn id="7" dur="500"/>
                                        <p:tgtEl>
                                          <p:spTgt spid="23756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75683">
                                            <p:txEl>
                                              <p:pRg st="1" end="1"/>
                                            </p:txEl>
                                          </p:spTgt>
                                        </p:tgtEl>
                                        <p:attrNameLst>
                                          <p:attrName>style.visibility</p:attrName>
                                        </p:attrNameLst>
                                      </p:cBhvr>
                                      <p:to>
                                        <p:strVal val="visible"/>
                                      </p:to>
                                    </p:set>
                                    <p:animEffect transition="in" filter="blinds(horizontal)">
                                      <p:cBhvr>
                                        <p:cTn id="10" dur="500"/>
                                        <p:tgtEl>
                                          <p:spTgt spid="237568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75683">
                                            <p:txEl>
                                              <p:pRg st="2" end="2"/>
                                            </p:txEl>
                                          </p:spTgt>
                                        </p:tgtEl>
                                        <p:attrNameLst>
                                          <p:attrName>style.visibility</p:attrName>
                                        </p:attrNameLst>
                                      </p:cBhvr>
                                      <p:to>
                                        <p:strVal val="visible"/>
                                      </p:to>
                                    </p:set>
                                    <p:animEffect transition="in" filter="blinds(horizontal)">
                                      <p:cBhvr>
                                        <p:cTn id="13" dur="500"/>
                                        <p:tgtEl>
                                          <p:spTgt spid="237568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75683">
                                            <p:txEl>
                                              <p:pRg st="3" end="3"/>
                                            </p:txEl>
                                          </p:spTgt>
                                        </p:tgtEl>
                                        <p:attrNameLst>
                                          <p:attrName>style.visibility</p:attrName>
                                        </p:attrNameLst>
                                      </p:cBhvr>
                                      <p:to>
                                        <p:strVal val="visible"/>
                                      </p:to>
                                    </p:set>
                                    <p:animEffect transition="in" filter="blinds(horizontal)">
                                      <p:cBhvr>
                                        <p:cTn id="16" dur="500"/>
                                        <p:tgtEl>
                                          <p:spTgt spid="2375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68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8057C5D-39A0-4F4D-AE4B-458E5185C8F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3562CCD-047B-441F-9B4D-5DBA27896973}" type="slidenum">
              <a:rPr lang="en-US" altLang="zh-CN"/>
              <a:pPr/>
              <a:t>4</a:t>
            </a:fld>
            <a:endParaRPr lang="en-US" altLang="zh-CN"/>
          </a:p>
        </p:txBody>
      </p:sp>
      <p:sp>
        <p:nvSpPr>
          <p:cNvPr id="2917378" name="Rectangle 2"/>
          <p:cNvSpPr>
            <a:spLocks noGrp="1" noChangeArrowheads="1"/>
          </p:cNvSpPr>
          <p:nvPr>
            <p:ph type="title"/>
          </p:nvPr>
        </p:nvSpPr>
        <p:spPr>
          <a:xfrm>
            <a:off x="468313" y="836613"/>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符号表的作用</a:t>
            </a:r>
          </a:p>
        </p:txBody>
      </p:sp>
      <p:sp>
        <p:nvSpPr>
          <p:cNvPr id="2917379" name="Rectangle 3"/>
          <p:cNvSpPr>
            <a:spLocks noGrp="1" noChangeArrowheads="1"/>
          </p:cNvSpPr>
          <p:nvPr>
            <p:ph type="body" idx="1"/>
          </p:nvPr>
        </p:nvSpPr>
        <p:spPr>
          <a:xfrm>
            <a:off x="120650" y="2708275"/>
            <a:ext cx="8915400" cy="381635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符号表是以名字为关键字来记录其信息的数据结构，其上支持的两个最基本操作应该是填加表项和查找表项，这两个操作必须是高效的 </a:t>
            </a:r>
          </a:p>
        </p:txBody>
      </p:sp>
    </p:spTree>
    <p:extLst>
      <p:ext uri="{BB962C8B-B14F-4D97-AF65-F5344CB8AC3E}">
        <p14:creationId xmlns:p14="http://schemas.microsoft.com/office/powerpoint/2010/main" val="1728147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17379">
                                            <p:txEl>
                                              <p:pRg st="0" end="0"/>
                                            </p:txEl>
                                          </p:spTgt>
                                        </p:tgtEl>
                                        <p:attrNameLst>
                                          <p:attrName>style.visibility</p:attrName>
                                        </p:attrNameLst>
                                      </p:cBhvr>
                                      <p:to>
                                        <p:strVal val="visible"/>
                                      </p:to>
                                    </p:set>
                                    <p:animEffect transition="in" filter="blinds(horizontal)">
                                      <p:cBhvr>
                                        <p:cTn id="7" dur="500"/>
                                        <p:tgtEl>
                                          <p:spTgt spid="29173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737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1C787F4C-F2B5-410A-A014-17457061AE63}"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9019DDCC-9C4B-4D57-868A-E4A31A7142DF}" type="slidenum">
              <a:rPr lang="en-US" altLang="zh-CN"/>
              <a:pPr/>
              <a:t>5</a:t>
            </a:fld>
            <a:endParaRPr lang="en-US" altLang="zh-CN"/>
          </a:p>
        </p:txBody>
      </p:sp>
      <p:sp>
        <p:nvSpPr>
          <p:cNvPr id="2377730" name="Rectangle 2"/>
          <p:cNvSpPr>
            <a:spLocks noGrp="1" noChangeArrowheads="1"/>
          </p:cNvSpPr>
          <p:nvPr>
            <p:ph type="title"/>
          </p:nvPr>
        </p:nvSpPr>
        <p:spPr>
          <a:xfrm>
            <a:off x="458788" y="44450"/>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符号表中存放的信息</a:t>
            </a:r>
          </a:p>
        </p:txBody>
      </p:sp>
      <p:sp>
        <p:nvSpPr>
          <p:cNvPr id="2377731" name="Rectangle 3"/>
          <p:cNvSpPr>
            <a:spLocks noGrp="1" noChangeArrowheads="1"/>
          </p:cNvSpPr>
          <p:nvPr>
            <p:ph type="body" idx="1"/>
          </p:nvPr>
        </p:nvSpPr>
        <p:spPr>
          <a:xfrm>
            <a:off x="228600" y="765175"/>
            <a:ext cx="8736013" cy="360045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记录源程序中出现的各种名字及其属性信息是符号表的首要任务。</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显然同一个名字在一段程序中应该表示同一个对象，即同一个符号表中不能出现相同的名字，因此名字可以作为符号表的关键字。于是，每一个符号表表项中需要存放的基本信息就是符号的名字及其属性 。</a:t>
            </a:r>
          </a:p>
        </p:txBody>
      </p:sp>
      <p:sp>
        <p:nvSpPr>
          <p:cNvPr id="2377732" name="Rectangle 4"/>
          <p:cNvSpPr>
            <a:spLocks noChangeArrowheads="1"/>
          </p:cNvSpPr>
          <p:nvPr/>
        </p:nvSpPr>
        <p:spPr bwMode="auto">
          <a:xfrm>
            <a:off x="0" y="2824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77733" name="Object 5"/>
          <p:cNvGraphicFramePr>
            <a:graphicFrameLocks noChangeAspect="1"/>
          </p:cNvGraphicFramePr>
          <p:nvPr/>
        </p:nvGraphicFramePr>
        <p:xfrm>
          <a:off x="2195513" y="4292600"/>
          <a:ext cx="5184775" cy="1971675"/>
        </p:xfrm>
        <a:graphic>
          <a:graphicData uri="http://schemas.openxmlformats.org/presentationml/2006/ole">
            <mc:AlternateContent xmlns:mc="http://schemas.openxmlformats.org/markup-compatibility/2006">
              <mc:Choice xmlns:v="urn:schemas-microsoft-com:vml" Requires="v">
                <p:oleObj spid="_x0000_s83971" name="Visio" r:id="rId4" imgW="2579060" imgH="979695" progId="Visio.Drawing.11">
                  <p:embed/>
                </p:oleObj>
              </mc:Choice>
              <mc:Fallback>
                <p:oleObj name="Visio" r:id="rId4" imgW="2579060" imgH="979695" progId="Visio.Drawing.11">
                  <p:embed/>
                  <p:pic>
                    <p:nvPicPr>
                      <p:cNvPr id="237773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4292600"/>
                        <a:ext cx="5184775" cy="197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77734" name="Rectangle 6"/>
          <p:cNvSpPr>
            <a:spLocks noChangeArrowheads="1"/>
          </p:cNvSpPr>
          <p:nvPr/>
        </p:nvSpPr>
        <p:spPr bwMode="auto">
          <a:xfrm>
            <a:off x="3400425" y="6297613"/>
            <a:ext cx="286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000" b="1"/>
              <a:t>图</a:t>
            </a:r>
            <a:r>
              <a:rPr kumimoji="1" lang="en-US" altLang="zh-CN" sz="2000" b="1"/>
              <a:t>8.1 </a:t>
            </a:r>
            <a:r>
              <a:rPr kumimoji="1" lang="zh-CN" altLang="en-US" sz="2000" b="1"/>
              <a:t>符号表的基本格式</a:t>
            </a:r>
          </a:p>
        </p:txBody>
      </p:sp>
    </p:spTree>
    <p:extLst>
      <p:ext uri="{BB962C8B-B14F-4D97-AF65-F5344CB8AC3E}">
        <p14:creationId xmlns:p14="http://schemas.microsoft.com/office/powerpoint/2010/main" val="374705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7731">
                                            <p:txEl>
                                              <p:pRg st="0" end="0"/>
                                            </p:txEl>
                                          </p:spTgt>
                                        </p:tgtEl>
                                        <p:attrNameLst>
                                          <p:attrName>style.visibility</p:attrName>
                                        </p:attrNameLst>
                                      </p:cBhvr>
                                      <p:to>
                                        <p:strVal val="visible"/>
                                      </p:to>
                                    </p:set>
                                    <p:animEffect transition="in" filter="blinds(horizontal)">
                                      <p:cBhvr>
                                        <p:cTn id="7" dur="500"/>
                                        <p:tgtEl>
                                          <p:spTgt spid="2377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77731">
                                            <p:txEl>
                                              <p:pRg st="1" end="1"/>
                                            </p:txEl>
                                          </p:spTgt>
                                        </p:tgtEl>
                                        <p:attrNameLst>
                                          <p:attrName>style.visibility</p:attrName>
                                        </p:attrNameLst>
                                      </p:cBhvr>
                                      <p:to>
                                        <p:strVal val="visible"/>
                                      </p:to>
                                    </p:set>
                                    <p:animEffect transition="in" filter="blinds(horizontal)">
                                      <p:cBhvr>
                                        <p:cTn id="12" dur="500"/>
                                        <p:tgtEl>
                                          <p:spTgt spid="23777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773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5AF747-F600-4E71-838B-8F598F07D0E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2960835-C0CD-4743-834D-3564599F8B46}" type="slidenum">
              <a:rPr lang="en-US" altLang="zh-CN"/>
              <a:pPr/>
              <a:t>6</a:t>
            </a:fld>
            <a:endParaRPr lang="en-US" altLang="zh-CN"/>
          </a:p>
        </p:txBody>
      </p:sp>
      <p:sp>
        <p:nvSpPr>
          <p:cNvPr id="2379778"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符号表中的名字</a:t>
            </a:r>
          </a:p>
        </p:txBody>
      </p:sp>
      <p:sp>
        <p:nvSpPr>
          <p:cNvPr id="2379779" name="Rectangle 3"/>
          <p:cNvSpPr>
            <a:spLocks noGrp="1" noChangeArrowheads="1"/>
          </p:cNvSpPr>
          <p:nvPr>
            <p:ph type="body" idx="1"/>
          </p:nvPr>
        </p:nvSpPr>
        <p:spPr>
          <a:xfrm>
            <a:off x="228600" y="908050"/>
            <a:ext cx="8736013" cy="5545138"/>
          </a:xfrm>
        </p:spPr>
        <p:txBody>
          <a:bodyPr/>
          <a:lstStyle/>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名字字段长度固定</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名字项的长度大小取决于标识符允许的最大长度</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不适于标识符长度变化范围较大的语言</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空间浪费 </a:t>
            </a:r>
          </a:p>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名字字段长度可变</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标识符的长度没有限制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符号表上的操作复杂而低效 </a:t>
            </a:r>
          </a:p>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引入一个单独的字符串表，将符号表中的全部标识符集中放在这个字符串表中，而在符号表表项的名字部分只要给出相应标识符的首字符在字符串表中的位置即可 </a:t>
            </a:r>
          </a:p>
        </p:txBody>
      </p:sp>
    </p:spTree>
    <p:extLst>
      <p:ext uri="{BB962C8B-B14F-4D97-AF65-F5344CB8AC3E}">
        <p14:creationId xmlns:p14="http://schemas.microsoft.com/office/powerpoint/2010/main" val="4461186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9779">
                                            <p:txEl>
                                              <p:pRg st="0" end="0"/>
                                            </p:txEl>
                                          </p:spTgt>
                                        </p:tgtEl>
                                        <p:attrNameLst>
                                          <p:attrName>style.visibility</p:attrName>
                                        </p:attrNameLst>
                                      </p:cBhvr>
                                      <p:to>
                                        <p:strVal val="visible"/>
                                      </p:to>
                                    </p:set>
                                    <p:animEffect transition="in" filter="blinds(horizontal)">
                                      <p:cBhvr>
                                        <p:cTn id="7" dur="500"/>
                                        <p:tgtEl>
                                          <p:spTgt spid="23797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79779">
                                            <p:txEl>
                                              <p:pRg st="1" end="1"/>
                                            </p:txEl>
                                          </p:spTgt>
                                        </p:tgtEl>
                                        <p:attrNameLst>
                                          <p:attrName>style.visibility</p:attrName>
                                        </p:attrNameLst>
                                      </p:cBhvr>
                                      <p:to>
                                        <p:strVal val="visible"/>
                                      </p:to>
                                    </p:set>
                                    <p:animEffect transition="in" filter="blinds(horizontal)">
                                      <p:cBhvr>
                                        <p:cTn id="10" dur="500"/>
                                        <p:tgtEl>
                                          <p:spTgt spid="237977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79779">
                                            <p:txEl>
                                              <p:pRg st="2" end="2"/>
                                            </p:txEl>
                                          </p:spTgt>
                                        </p:tgtEl>
                                        <p:attrNameLst>
                                          <p:attrName>style.visibility</p:attrName>
                                        </p:attrNameLst>
                                      </p:cBhvr>
                                      <p:to>
                                        <p:strVal val="visible"/>
                                      </p:to>
                                    </p:set>
                                    <p:animEffect transition="in" filter="blinds(horizontal)">
                                      <p:cBhvr>
                                        <p:cTn id="13" dur="500"/>
                                        <p:tgtEl>
                                          <p:spTgt spid="237977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79779">
                                            <p:txEl>
                                              <p:pRg st="3" end="3"/>
                                            </p:txEl>
                                          </p:spTgt>
                                        </p:tgtEl>
                                        <p:attrNameLst>
                                          <p:attrName>style.visibility</p:attrName>
                                        </p:attrNameLst>
                                      </p:cBhvr>
                                      <p:to>
                                        <p:strVal val="visible"/>
                                      </p:to>
                                    </p:set>
                                    <p:animEffect transition="in" filter="blinds(horizontal)">
                                      <p:cBhvr>
                                        <p:cTn id="16" dur="500"/>
                                        <p:tgtEl>
                                          <p:spTgt spid="237977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379779">
                                            <p:txEl>
                                              <p:pRg st="4" end="4"/>
                                            </p:txEl>
                                          </p:spTgt>
                                        </p:tgtEl>
                                        <p:attrNameLst>
                                          <p:attrName>style.visibility</p:attrName>
                                        </p:attrNameLst>
                                      </p:cBhvr>
                                      <p:to>
                                        <p:strVal val="visible"/>
                                      </p:to>
                                    </p:set>
                                    <p:animEffect transition="in" filter="blinds(horizontal)">
                                      <p:cBhvr>
                                        <p:cTn id="21" dur="500"/>
                                        <p:tgtEl>
                                          <p:spTgt spid="237977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379779">
                                            <p:txEl>
                                              <p:pRg st="5" end="5"/>
                                            </p:txEl>
                                          </p:spTgt>
                                        </p:tgtEl>
                                        <p:attrNameLst>
                                          <p:attrName>style.visibility</p:attrName>
                                        </p:attrNameLst>
                                      </p:cBhvr>
                                      <p:to>
                                        <p:strVal val="visible"/>
                                      </p:to>
                                    </p:set>
                                    <p:animEffect transition="in" filter="blinds(horizontal)">
                                      <p:cBhvr>
                                        <p:cTn id="24" dur="500"/>
                                        <p:tgtEl>
                                          <p:spTgt spid="2379779">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379779">
                                            <p:txEl>
                                              <p:pRg st="6" end="6"/>
                                            </p:txEl>
                                          </p:spTgt>
                                        </p:tgtEl>
                                        <p:attrNameLst>
                                          <p:attrName>style.visibility</p:attrName>
                                        </p:attrNameLst>
                                      </p:cBhvr>
                                      <p:to>
                                        <p:strVal val="visible"/>
                                      </p:to>
                                    </p:set>
                                    <p:animEffect transition="in" filter="blinds(horizontal)">
                                      <p:cBhvr>
                                        <p:cTn id="27" dur="500"/>
                                        <p:tgtEl>
                                          <p:spTgt spid="237977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79779">
                                            <p:txEl>
                                              <p:pRg st="7" end="7"/>
                                            </p:txEl>
                                          </p:spTgt>
                                        </p:tgtEl>
                                        <p:attrNameLst>
                                          <p:attrName>style.visibility</p:attrName>
                                        </p:attrNameLst>
                                      </p:cBhvr>
                                      <p:to>
                                        <p:strVal val="visible"/>
                                      </p:to>
                                    </p:set>
                                    <p:animEffect transition="in" filter="blinds(horizontal)">
                                      <p:cBhvr>
                                        <p:cTn id="32" dur="500"/>
                                        <p:tgtEl>
                                          <p:spTgt spid="23797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977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FC9AAB74-3B41-4130-B1A5-B6839B201B09}"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3AC8BF6A-EE3B-445E-BFC0-C32202531C54}" type="slidenum">
              <a:rPr lang="en-US" altLang="zh-CN"/>
              <a:pPr/>
              <a:t>7</a:t>
            </a:fld>
            <a:endParaRPr lang="en-US" altLang="zh-CN"/>
          </a:p>
        </p:txBody>
      </p:sp>
      <p:sp>
        <p:nvSpPr>
          <p:cNvPr id="2381826"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符号表中的名字</a:t>
            </a:r>
          </a:p>
        </p:txBody>
      </p:sp>
      <p:sp>
        <p:nvSpPr>
          <p:cNvPr id="2381827" name="Rectangle 3"/>
          <p:cNvSpPr>
            <a:spLocks noChangeArrowheads="1"/>
          </p:cNvSpPr>
          <p:nvPr/>
        </p:nvSpPr>
        <p:spPr bwMode="auto">
          <a:xfrm>
            <a:off x="0" y="2560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81828" name="Object 4"/>
          <p:cNvGraphicFramePr>
            <a:graphicFrameLocks noChangeAspect="1"/>
          </p:cNvGraphicFramePr>
          <p:nvPr/>
        </p:nvGraphicFramePr>
        <p:xfrm>
          <a:off x="611188" y="1341438"/>
          <a:ext cx="7956550" cy="3587750"/>
        </p:xfrm>
        <a:graphic>
          <a:graphicData uri="http://schemas.openxmlformats.org/presentationml/2006/ole">
            <mc:AlternateContent xmlns:mc="http://schemas.openxmlformats.org/markup-compatibility/2006">
              <mc:Choice xmlns:v="urn:schemas-microsoft-com:vml" Requires="v">
                <p:oleObj spid="_x0000_s84995" name="Visio" r:id="rId4" imgW="3344009" imgH="1510869" progId="Visio.Drawing.11">
                  <p:embed/>
                </p:oleObj>
              </mc:Choice>
              <mc:Fallback>
                <p:oleObj name="Visio" r:id="rId4" imgW="3344009" imgH="1510869" progId="Visio.Drawing.11">
                  <p:embed/>
                  <p:pic>
                    <p:nvPicPr>
                      <p:cNvPr id="238182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1341438"/>
                        <a:ext cx="7956550" cy="358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1829" name="Rectangle 5"/>
          <p:cNvSpPr>
            <a:spLocks noChangeArrowheads="1"/>
          </p:cNvSpPr>
          <p:nvPr/>
        </p:nvSpPr>
        <p:spPr bwMode="auto">
          <a:xfrm>
            <a:off x="2617788" y="5516563"/>
            <a:ext cx="3910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228600" algn="l"/>
              </a:tabLst>
              <a:defRPr kumimoji="1" sz="2400">
                <a:solidFill>
                  <a:schemeClr val="tx1"/>
                </a:solidFill>
                <a:latin typeface="Times New Roman" panose="02020603050405020304" pitchFamily="18" charset="0"/>
                <a:ea typeface="宋体" panose="02010600030101010101" pitchFamily="2" charset="-122"/>
              </a:defRPr>
            </a:lvl1pPr>
            <a:lvl2pPr>
              <a:tabLst>
                <a:tab pos="228600" algn="l"/>
              </a:tabLst>
              <a:defRPr kumimoji="1" sz="2400">
                <a:solidFill>
                  <a:schemeClr val="tx1"/>
                </a:solidFill>
                <a:latin typeface="Times New Roman" panose="02020603050405020304" pitchFamily="18" charset="0"/>
                <a:ea typeface="宋体" panose="02010600030101010101" pitchFamily="2" charset="-122"/>
              </a:defRPr>
            </a:lvl2pPr>
            <a:lvl3pPr>
              <a:tabLst>
                <a:tab pos="228600" algn="l"/>
              </a:tabLst>
              <a:defRPr kumimoji="1" sz="2400">
                <a:solidFill>
                  <a:schemeClr val="tx1"/>
                </a:solidFill>
                <a:latin typeface="Times New Roman" panose="02020603050405020304" pitchFamily="18" charset="0"/>
                <a:ea typeface="宋体" panose="02010600030101010101" pitchFamily="2" charset="-122"/>
              </a:defRPr>
            </a:lvl3pPr>
            <a:lvl4pPr>
              <a:tabLst>
                <a:tab pos="228600" algn="l"/>
              </a:tabLst>
              <a:defRPr kumimoji="1" sz="2400">
                <a:solidFill>
                  <a:schemeClr val="tx1"/>
                </a:solidFill>
                <a:latin typeface="Times New Roman" panose="02020603050405020304" pitchFamily="18" charset="0"/>
                <a:ea typeface="宋体" panose="02010600030101010101" pitchFamily="2" charset="-122"/>
              </a:defRPr>
            </a:lvl4pPr>
            <a:lvl5pPr>
              <a:tabLst>
                <a:tab pos="2286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9pPr>
          </a:lstStyle>
          <a:p>
            <a:pPr algn="ctr">
              <a:buFontTx/>
              <a:buAutoNum type="alphaLcParenBoth"/>
            </a:pPr>
            <a:r>
              <a:rPr lang="zh-CN" altLang="en-US" b="1"/>
              <a:t>标识符长度放在符号表中</a:t>
            </a:r>
          </a:p>
        </p:txBody>
      </p:sp>
    </p:spTree>
    <p:extLst>
      <p:ext uri="{BB962C8B-B14F-4D97-AF65-F5344CB8AC3E}">
        <p14:creationId xmlns:p14="http://schemas.microsoft.com/office/powerpoint/2010/main" val="5983722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7A2E47EC-2C2C-4E7F-BFB7-D515773D7543}"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CE4D572A-B808-4FC0-8E24-273897544A07}" type="slidenum">
              <a:rPr lang="en-US" altLang="zh-CN"/>
              <a:pPr/>
              <a:t>8</a:t>
            </a:fld>
            <a:endParaRPr lang="en-US" altLang="zh-CN"/>
          </a:p>
        </p:txBody>
      </p:sp>
      <p:sp>
        <p:nvSpPr>
          <p:cNvPr id="2383874"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符号表中的名字</a:t>
            </a:r>
          </a:p>
        </p:txBody>
      </p:sp>
      <p:sp>
        <p:nvSpPr>
          <p:cNvPr id="2383875" name="Rectangle 3"/>
          <p:cNvSpPr>
            <a:spLocks noChangeArrowheads="1"/>
          </p:cNvSpPr>
          <p:nvPr/>
        </p:nvSpPr>
        <p:spPr bwMode="auto">
          <a:xfrm>
            <a:off x="0" y="2560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83876" name="Rectangle 4"/>
          <p:cNvSpPr>
            <a:spLocks noChangeArrowheads="1"/>
          </p:cNvSpPr>
          <p:nvPr/>
        </p:nvSpPr>
        <p:spPr bwMode="auto">
          <a:xfrm>
            <a:off x="0" y="2609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83877" name="Object 5"/>
          <p:cNvGraphicFramePr>
            <a:graphicFrameLocks noChangeAspect="1"/>
          </p:cNvGraphicFramePr>
          <p:nvPr/>
        </p:nvGraphicFramePr>
        <p:xfrm>
          <a:off x="395288" y="1484313"/>
          <a:ext cx="8532812" cy="2879725"/>
        </p:xfrm>
        <a:graphic>
          <a:graphicData uri="http://schemas.openxmlformats.org/presentationml/2006/ole">
            <mc:AlternateContent xmlns:mc="http://schemas.openxmlformats.org/markup-compatibility/2006">
              <mc:Choice xmlns:v="urn:schemas-microsoft-com:vml" Requires="v">
                <p:oleObj spid="_x0000_s86019" name="Visio" r:id="rId4" imgW="4172052" imgH="1411743" progId="Visio.Drawing.11">
                  <p:embed/>
                </p:oleObj>
              </mc:Choice>
              <mc:Fallback>
                <p:oleObj name="Visio" r:id="rId4" imgW="4172052" imgH="1411743" progId="Visio.Drawing.11">
                  <p:embed/>
                  <p:pic>
                    <p:nvPicPr>
                      <p:cNvPr id="238387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1484313"/>
                        <a:ext cx="8532812" cy="287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3878" name="Rectangle 6"/>
          <p:cNvSpPr>
            <a:spLocks noChangeArrowheads="1"/>
          </p:cNvSpPr>
          <p:nvPr/>
        </p:nvSpPr>
        <p:spPr bwMode="auto">
          <a:xfrm>
            <a:off x="2579688" y="4957763"/>
            <a:ext cx="3986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b="1"/>
              <a:t>(</a:t>
            </a:r>
            <a:r>
              <a:rPr kumimoji="1" lang="en-US" altLang="zh-CN" b="1" i="1"/>
              <a:t>b</a:t>
            </a:r>
            <a:r>
              <a:rPr kumimoji="1" lang="en-US" altLang="zh-CN" b="1"/>
              <a:t>) </a:t>
            </a:r>
            <a:r>
              <a:rPr kumimoji="1" lang="zh-CN" altLang="en-US" b="1"/>
              <a:t>标识符长度放在字符串中</a:t>
            </a:r>
          </a:p>
        </p:txBody>
      </p:sp>
    </p:spTree>
    <p:extLst>
      <p:ext uri="{BB962C8B-B14F-4D97-AF65-F5344CB8AC3E}">
        <p14:creationId xmlns:p14="http://schemas.microsoft.com/office/powerpoint/2010/main" val="35515510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21F637C3-AC76-495A-ACA0-9CAC303F353C}"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6249DAC8-2DE9-4E2E-BDAE-DD21EBC6F532}" type="slidenum">
              <a:rPr lang="en-US" altLang="zh-CN"/>
              <a:pPr/>
              <a:t>9</a:t>
            </a:fld>
            <a:endParaRPr lang="en-US" altLang="zh-CN"/>
          </a:p>
        </p:txBody>
      </p:sp>
      <p:sp>
        <p:nvSpPr>
          <p:cNvPr id="2385922"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8.1.1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符号表中的名字</a:t>
            </a:r>
          </a:p>
        </p:txBody>
      </p:sp>
      <p:sp>
        <p:nvSpPr>
          <p:cNvPr id="2385923" name="Rectangle 3"/>
          <p:cNvSpPr>
            <a:spLocks noChangeArrowheads="1"/>
          </p:cNvSpPr>
          <p:nvPr/>
        </p:nvSpPr>
        <p:spPr bwMode="auto">
          <a:xfrm>
            <a:off x="0" y="2560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85924" name="Rectangle 4"/>
          <p:cNvSpPr>
            <a:spLocks noChangeArrowheads="1"/>
          </p:cNvSpPr>
          <p:nvPr/>
        </p:nvSpPr>
        <p:spPr bwMode="auto">
          <a:xfrm>
            <a:off x="0" y="2620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85925" name="Object 5"/>
          <p:cNvGraphicFramePr>
            <a:graphicFrameLocks noChangeAspect="1"/>
          </p:cNvGraphicFramePr>
          <p:nvPr/>
        </p:nvGraphicFramePr>
        <p:xfrm>
          <a:off x="179388" y="1557338"/>
          <a:ext cx="8748712" cy="2906712"/>
        </p:xfrm>
        <a:graphic>
          <a:graphicData uri="http://schemas.openxmlformats.org/presentationml/2006/ole">
            <mc:AlternateContent xmlns:mc="http://schemas.openxmlformats.org/markup-compatibility/2006">
              <mc:Choice xmlns:v="urn:schemas-microsoft-com:vml" Requires="v">
                <p:oleObj spid="_x0000_s87043" name="Visio" r:id="rId4" imgW="4172052" imgH="1390069" progId="Visio.Drawing.11">
                  <p:embed/>
                </p:oleObj>
              </mc:Choice>
              <mc:Fallback>
                <p:oleObj name="Visio" r:id="rId4" imgW="4172052" imgH="1390069" progId="Visio.Drawing.11">
                  <p:embed/>
                  <p:pic>
                    <p:nvPicPr>
                      <p:cNvPr id="238592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557338"/>
                        <a:ext cx="8748712" cy="290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5926" name="Rectangle 6"/>
          <p:cNvSpPr>
            <a:spLocks noChangeArrowheads="1"/>
          </p:cNvSpPr>
          <p:nvPr/>
        </p:nvSpPr>
        <p:spPr bwMode="auto">
          <a:xfrm>
            <a:off x="2681288" y="5030788"/>
            <a:ext cx="3781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a:t>(</a:t>
            </a:r>
            <a:r>
              <a:rPr kumimoji="1" lang="en-US" altLang="zh-CN" i="1"/>
              <a:t>c</a:t>
            </a:r>
            <a:r>
              <a:rPr kumimoji="1" lang="en-US" altLang="zh-CN"/>
              <a:t>) </a:t>
            </a:r>
            <a:r>
              <a:rPr kumimoji="1" lang="zh-CN" altLang="en-US"/>
              <a:t>用’</a:t>
            </a:r>
            <a:r>
              <a:rPr kumimoji="1" lang="en-US" altLang="zh-CN"/>
              <a:t>\0’</a:t>
            </a:r>
            <a:r>
              <a:rPr kumimoji="1" lang="zh-CN" altLang="en-US"/>
              <a:t>表示标识符的结束</a:t>
            </a:r>
          </a:p>
        </p:txBody>
      </p:sp>
    </p:spTree>
    <p:extLst>
      <p:ext uri="{BB962C8B-B14F-4D97-AF65-F5344CB8AC3E}">
        <p14:creationId xmlns:p14="http://schemas.microsoft.com/office/powerpoint/2010/main" val="34504906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885DA60-D8A1-4AD7-8668-56635A16740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3CEEADD-DD6C-4178-BD76-04063E72C77A}" type="slidenum">
              <a:rPr lang="en-US" altLang="zh-CN"/>
              <a:pPr/>
              <a:t>10</a:t>
            </a:fld>
            <a:endParaRPr lang="en-US" altLang="zh-CN"/>
          </a:p>
        </p:txBody>
      </p:sp>
      <p:sp>
        <p:nvSpPr>
          <p:cNvPr id="2387970"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符号表中的属性</a:t>
            </a:r>
          </a:p>
        </p:txBody>
      </p:sp>
      <p:sp>
        <p:nvSpPr>
          <p:cNvPr id="2387971" name="Rectangle 3"/>
          <p:cNvSpPr>
            <a:spLocks noGrp="1" noChangeArrowheads="1"/>
          </p:cNvSpPr>
          <p:nvPr>
            <p:ph type="body" idx="1"/>
          </p:nvPr>
        </p:nvSpPr>
        <p:spPr>
          <a:xfrm>
            <a:off x="228600" y="1628775"/>
            <a:ext cx="8736013" cy="4537075"/>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符号所表达的含义不同，符号表中需要存放的属性也就不同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数组名字需要存放的属性信息应该包括数组的维数、各维的维长等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函数</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或过程</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的名字应该存放其参数个数、各参数的类型、返回值的类型等 </a:t>
            </a:r>
          </a:p>
        </p:txBody>
      </p:sp>
    </p:spTree>
    <p:extLst>
      <p:ext uri="{BB962C8B-B14F-4D97-AF65-F5344CB8AC3E}">
        <p14:creationId xmlns:p14="http://schemas.microsoft.com/office/powerpoint/2010/main" val="5128495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87971">
                                            <p:txEl>
                                              <p:pRg st="0" end="0"/>
                                            </p:txEl>
                                          </p:spTgt>
                                        </p:tgtEl>
                                        <p:attrNameLst>
                                          <p:attrName>style.visibility</p:attrName>
                                        </p:attrNameLst>
                                      </p:cBhvr>
                                      <p:to>
                                        <p:strVal val="visible"/>
                                      </p:to>
                                    </p:set>
                                    <p:animEffect transition="in" filter="blinds(horizontal)">
                                      <p:cBhvr>
                                        <p:cTn id="7" dur="500"/>
                                        <p:tgtEl>
                                          <p:spTgt spid="238797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87971">
                                            <p:txEl>
                                              <p:pRg st="1" end="1"/>
                                            </p:txEl>
                                          </p:spTgt>
                                        </p:tgtEl>
                                        <p:attrNameLst>
                                          <p:attrName>style.visibility</p:attrName>
                                        </p:attrNameLst>
                                      </p:cBhvr>
                                      <p:to>
                                        <p:strVal val="visible"/>
                                      </p:to>
                                    </p:set>
                                    <p:animEffect transition="in" filter="blinds(horizontal)">
                                      <p:cBhvr>
                                        <p:cTn id="10" dur="500"/>
                                        <p:tgtEl>
                                          <p:spTgt spid="238797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87971">
                                            <p:txEl>
                                              <p:pRg st="2" end="2"/>
                                            </p:txEl>
                                          </p:spTgt>
                                        </p:tgtEl>
                                        <p:attrNameLst>
                                          <p:attrName>style.visibility</p:attrName>
                                        </p:attrNameLst>
                                      </p:cBhvr>
                                      <p:to>
                                        <p:strVal val="visible"/>
                                      </p:to>
                                    </p:set>
                                    <p:animEffect transition="in" filter="blinds(horizontal)">
                                      <p:cBhvr>
                                        <p:cTn id="13" dur="500"/>
                                        <p:tgtEl>
                                          <p:spTgt spid="23879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797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7046217-869A-4CCD-9C13-614CE2060DC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308603C-BCE7-43F3-882B-F0EED10AD36A}" type="slidenum">
              <a:rPr lang="en-US" altLang="zh-CN"/>
              <a:pPr/>
              <a:t>11</a:t>
            </a:fld>
            <a:endParaRPr lang="en-US" altLang="zh-CN"/>
          </a:p>
        </p:txBody>
      </p:sp>
      <p:sp>
        <p:nvSpPr>
          <p:cNvPr id="2919426"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符号表中的属性</a:t>
            </a:r>
          </a:p>
        </p:txBody>
      </p:sp>
      <p:sp>
        <p:nvSpPr>
          <p:cNvPr id="2919427" name="Rectangle 3"/>
          <p:cNvSpPr>
            <a:spLocks noGrp="1" noChangeArrowheads="1"/>
          </p:cNvSpPr>
          <p:nvPr>
            <p:ph type="body" idx="1"/>
          </p:nvPr>
        </p:nvSpPr>
        <p:spPr>
          <a:xfrm>
            <a:off x="228600" y="1773238"/>
            <a:ext cx="8736013" cy="4392612"/>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建立多个符号表来管理源程序中出现的各种符号，如常数表、变量表、函数表、数组表等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可能出现不同种类符号出现重名的问题 </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建立一张共用的大表来管理各种符号，此时需要在符号表中增设一个标志来表明符号的种属</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不同种类符号所需存放属性信息在数量上的差异将会造成符号表的空间浪费  </a:t>
            </a:r>
          </a:p>
        </p:txBody>
      </p:sp>
    </p:spTree>
    <p:extLst>
      <p:ext uri="{BB962C8B-B14F-4D97-AF65-F5344CB8AC3E}">
        <p14:creationId xmlns:p14="http://schemas.microsoft.com/office/powerpoint/2010/main" val="1455315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19427">
                                            <p:txEl>
                                              <p:pRg st="0" end="0"/>
                                            </p:txEl>
                                          </p:spTgt>
                                        </p:tgtEl>
                                        <p:attrNameLst>
                                          <p:attrName>style.visibility</p:attrName>
                                        </p:attrNameLst>
                                      </p:cBhvr>
                                      <p:to>
                                        <p:strVal val="visible"/>
                                      </p:to>
                                    </p:set>
                                    <p:animEffect transition="in" filter="blinds(horizontal)">
                                      <p:cBhvr>
                                        <p:cTn id="7" dur="500"/>
                                        <p:tgtEl>
                                          <p:spTgt spid="291942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19427">
                                            <p:txEl>
                                              <p:pRg st="1" end="1"/>
                                            </p:txEl>
                                          </p:spTgt>
                                        </p:tgtEl>
                                        <p:attrNameLst>
                                          <p:attrName>style.visibility</p:attrName>
                                        </p:attrNameLst>
                                      </p:cBhvr>
                                      <p:to>
                                        <p:strVal val="visible"/>
                                      </p:to>
                                    </p:set>
                                    <p:animEffect transition="in" filter="blinds(horizontal)">
                                      <p:cBhvr>
                                        <p:cTn id="10" dur="500"/>
                                        <p:tgtEl>
                                          <p:spTgt spid="291942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19427">
                                            <p:txEl>
                                              <p:pRg st="2" end="2"/>
                                            </p:txEl>
                                          </p:spTgt>
                                        </p:tgtEl>
                                        <p:attrNameLst>
                                          <p:attrName>style.visibility</p:attrName>
                                        </p:attrNameLst>
                                      </p:cBhvr>
                                      <p:to>
                                        <p:strVal val="visible"/>
                                      </p:to>
                                    </p:set>
                                    <p:animEffect transition="in" filter="blinds(horizontal)">
                                      <p:cBhvr>
                                        <p:cTn id="15" dur="500"/>
                                        <p:tgtEl>
                                          <p:spTgt spid="291942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919427">
                                            <p:txEl>
                                              <p:pRg st="3" end="3"/>
                                            </p:txEl>
                                          </p:spTgt>
                                        </p:tgtEl>
                                        <p:attrNameLst>
                                          <p:attrName>style.visibility</p:attrName>
                                        </p:attrNameLst>
                                      </p:cBhvr>
                                      <p:to>
                                        <p:strVal val="visible"/>
                                      </p:to>
                                    </p:set>
                                    <p:animEffect transition="in" filter="blinds(horizontal)">
                                      <p:cBhvr>
                                        <p:cTn id="18" dur="500"/>
                                        <p:tgtEl>
                                          <p:spTgt spid="2919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942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D4140681-5D77-474B-8FF1-1718982973F0}"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499244A3-504B-4332-AF28-A0F20FF4D4DB}" type="slidenum">
              <a:rPr lang="en-US" altLang="zh-CN"/>
              <a:pPr/>
              <a:t>12</a:t>
            </a:fld>
            <a:endParaRPr lang="en-US" altLang="zh-CN"/>
          </a:p>
        </p:txBody>
      </p:sp>
      <p:sp>
        <p:nvSpPr>
          <p:cNvPr id="2390018" name="Rectangle 2"/>
          <p:cNvSpPr>
            <a:spLocks noGrp="1" noChangeArrowheads="1"/>
          </p:cNvSpPr>
          <p:nvPr>
            <p:ph type="title"/>
          </p:nvPr>
        </p:nvSpPr>
        <p:spPr>
          <a:xfrm>
            <a:off x="458788" y="44450"/>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符号表中的属性</a:t>
            </a:r>
          </a:p>
        </p:txBody>
      </p:sp>
      <p:sp>
        <p:nvSpPr>
          <p:cNvPr id="2390019" name="Rectangle 3"/>
          <p:cNvSpPr>
            <a:spLocks noChangeArrowheads="1"/>
          </p:cNvSpPr>
          <p:nvPr/>
        </p:nvSpPr>
        <p:spPr bwMode="auto">
          <a:xfrm>
            <a:off x="0" y="2762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0020" name="Object 4"/>
          <p:cNvGraphicFramePr>
            <a:graphicFrameLocks noChangeAspect="1"/>
          </p:cNvGraphicFramePr>
          <p:nvPr/>
        </p:nvGraphicFramePr>
        <p:xfrm>
          <a:off x="179388" y="1484313"/>
          <a:ext cx="8964612" cy="2643187"/>
        </p:xfrm>
        <a:graphic>
          <a:graphicData uri="http://schemas.openxmlformats.org/presentationml/2006/ole">
            <mc:AlternateContent xmlns:mc="http://schemas.openxmlformats.org/markup-compatibility/2006">
              <mc:Choice xmlns:v="urn:schemas-microsoft-com:vml" Requires="v">
                <p:oleObj spid="_x0000_s88067" name="Visio" r:id="rId4" imgW="5730312" imgH="1184593" progId="Visio.Drawing.11">
                  <p:embed/>
                </p:oleObj>
              </mc:Choice>
              <mc:Fallback>
                <p:oleObj name="Visio" r:id="rId4" imgW="5730312" imgH="1184593" progId="Visio.Drawing.11">
                  <p:embed/>
                  <p:pic>
                    <p:nvPicPr>
                      <p:cNvPr id="23900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484313"/>
                        <a:ext cx="8964612" cy="264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90021" name="Rectangle 5"/>
          <p:cNvSpPr>
            <a:spLocks noChangeArrowheads="1"/>
          </p:cNvSpPr>
          <p:nvPr/>
        </p:nvSpPr>
        <p:spPr bwMode="auto">
          <a:xfrm>
            <a:off x="539750" y="5167313"/>
            <a:ext cx="7777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kumimoji="1" lang="zh-CN" altLang="en-US" sz="2800" b="1">
                <a:ea typeface="楷体_GB2312" pitchFamily="49" charset="-122"/>
              </a:rPr>
              <a:t>图</a:t>
            </a:r>
            <a:r>
              <a:rPr kumimoji="1" lang="en-US" altLang="zh-CN" sz="2800" b="1">
                <a:ea typeface="楷体_GB2312" pitchFamily="49" charset="-122"/>
              </a:rPr>
              <a:t>8.3 </a:t>
            </a:r>
            <a:r>
              <a:rPr kumimoji="1" lang="zh-CN" altLang="en-US" sz="2800" b="1">
                <a:ea typeface="楷体_GB2312" pitchFamily="49" charset="-122"/>
              </a:rPr>
              <a:t>多种符号共用符号表的一种实现结构</a:t>
            </a:r>
          </a:p>
        </p:txBody>
      </p:sp>
      <p:sp>
        <p:nvSpPr>
          <p:cNvPr id="2390022" name="Rectangle 6"/>
          <p:cNvSpPr>
            <a:spLocks noChangeArrowheads="1"/>
          </p:cNvSpPr>
          <p:nvPr/>
        </p:nvSpPr>
        <p:spPr bwMode="auto">
          <a:xfrm>
            <a:off x="0" y="2773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45387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33B4C564-4F68-4A4B-B556-B64EFFDFAB29}"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6C28DD5F-3FDE-43F1-ABA9-FC91892CAC63}" type="slidenum">
              <a:rPr lang="en-US" altLang="zh-CN"/>
              <a:pPr/>
              <a:t>13</a:t>
            </a:fld>
            <a:endParaRPr lang="en-US" altLang="zh-CN"/>
          </a:p>
        </p:txBody>
      </p:sp>
      <p:sp>
        <p:nvSpPr>
          <p:cNvPr id="2974722" name="Rectangle 2"/>
          <p:cNvSpPr>
            <a:spLocks noGrp="1" noChangeArrowheads="1"/>
          </p:cNvSpPr>
          <p:nvPr>
            <p:ph type="title"/>
          </p:nvPr>
        </p:nvSpPr>
        <p:spPr>
          <a:xfrm>
            <a:off x="458788" y="44450"/>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符号表中的属性</a:t>
            </a:r>
          </a:p>
        </p:txBody>
      </p:sp>
      <p:sp>
        <p:nvSpPr>
          <p:cNvPr id="2974723" name="Rectangle 3"/>
          <p:cNvSpPr>
            <a:spLocks noChangeArrowheads="1"/>
          </p:cNvSpPr>
          <p:nvPr/>
        </p:nvSpPr>
        <p:spPr bwMode="auto">
          <a:xfrm>
            <a:off x="0" y="2762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974727" name="Object 7"/>
          <p:cNvGraphicFramePr>
            <a:graphicFrameLocks noChangeAspect="1"/>
          </p:cNvGraphicFramePr>
          <p:nvPr/>
        </p:nvGraphicFramePr>
        <p:xfrm>
          <a:off x="395288" y="1484313"/>
          <a:ext cx="8459787" cy="3095625"/>
        </p:xfrm>
        <a:graphic>
          <a:graphicData uri="http://schemas.openxmlformats.org/presentationml/2006/ole">
            <mc:AlternateContent xmlns:mc="http://schemas.openxmlformats.org/markup-compatibility/2006">
              <mc:Choice xmlns:v="urn:schemas-microsoft-com:vml" Requires="v">
                <p:oleObj spid="_x0000_s89091" name="Visio" r:id="rId4" imgW="4603583" imgH="1066683" progId="Visio.Drawing.11">
                  <p:embed/>
                </p:oleObj>
              </mc:Choice>
              <mc:Fallback>
                <p:oleObj name="Visio" r:id="rId4" imgW="4603583" imgH="1066683" progId="Visio.Drawing.11">
                  <p:embed/>
                  <p:pic>
                    <p:nvPicPr>
                      <p:cNvPr id="297472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1484313"/>
                        <a:ext cx="8459787" cy="309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4728" name="Rectangle 8"/>
          <p:cNvSpPr>
            <a:spLocks noChangeArrowheads="1"/>
          </p:cNvSpPr>
          <p:nvPr/>
        </p:nvSpPr>
        <p:spPr bwMode="auto">
          <a:xfrm>
            <a:off x="1177925" y="5456238"/>
            <a:ext cx="6789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800" b="1">
                <a:ea typeface="楷体_GB2312" pitchFamily="49" charset="-122"/>
              </a:rPr>
              <a:t>图</a:t>
            </a:r>
            <a:r>
              <a:rPr kumimoji="1" lang="en-US" altLang="zh-CN" sz="2800" b="1">
                <a:ea typeface="楷体_GB2312" pitchFamily="49" charset="-122"/>
              </a:rPr>
              <a:t>8.4 </a:t>
            </a:r>
            <a:r>
              <a:rPr kumimoji="1" lang="zh-CN" altLang="en-US" sz="2800" b="1">
                <a:ea typeface="楷体_GB2312" pitchFamily="49" charset="-122"/>
              </a:rPr>
              <a:t>用扩展属性链组织函数形参的符号表</a:t>
            </a:r>
          </a:p>
        </p:txBody>
      </p:sp>
    </p:spTree>
    <p:extLst>
      <p:ext uri="{BB962C8B-B14F-4D97-AF65-F5344CB8AC3E}">
        <p14:creationId xmlns:p14="http://schemas.microsoft.com/office/powerpoint/2010/main" val="29895315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6E8694B-F37B-44B1-B738-429377311493}"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D3CBAE7-9456-434F-8D69-4660D90CA1B2}" type="slidenum">
              <a:rPr lang="en-US" altLang="zh-CN"/>
              <a:pPr/>
              <a:t>14</a:t>
            </a:fld>
            <a:endParaRPr lang="en-US" altLang="zh-CN"/>
          </a:p>
        </p:txBody>
      </p:sp>
      <p:sp>
        <p:nvSpPr>
          <p:cNvPr id="2392066" name="Rectangle 2"/>
          <p:cNvSpPr>
            <a:spLocks noGrp="1" noChangeArrowheads="1"/>
          </p:cNvSpPr>
          <p:nvPr>
            <p:ph type="title"/>
          </p:nvPr>
        </p:nvSpPr>
        <p:spPr>
          <a:xfrm>
            <a:off x="458788"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8.1.3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符号的地址属性</a:t>
            </a:r>
          </a:p>
        </p:txBody>
      </p:sp>
      <p:sp>
        <p:nvSpPr>
          <p:cNvPr id="2392067" name="Rectangle 3"/>
          <p:cNvSpPr>
            <a:spLocks noGrp="1" noChangeArrowheads="1"/>
          </p:cNvSpPr>
          <p:nvPr>
            <p:ph type="body" idx="1"/>
          </p:nvPr>
        </p:nvSpPr>
        <p:spPr>
          <a:xfrm>
            <a:off x="228600" y="908050"/>
            <a:ext cx="8736013" cy="5257800"/>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如果采用静态存储分配策略，则符号</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绑定的地址等于静态分配的基址</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base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加上符号</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的偏移量</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offset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p>
          <a:p>
            <a:r>
              <a:rPr lang="zh-CN" altLang="en-US" b="1">
                <a:latin typeface="Times New Roman" panose="02020603050405020304" pitchFamily="18" charset="0"/>
                <a:ea typeface="华文新魏" panose="02010800040101010101" pitchFamily="2" charset="-122"/>
                <a:cs typeface="Times New Roman" panose="02020603050405020304" pitchFamily="18" charset="0"/>
              </a:rPr>
              <a:t>如果采用的是栈式存储分配或堆式存储分配等动态分配策略，则符号是在程序执行过程中和地址动态绑定的。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如栈式存储分配时，</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的地址是以栈指针</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sp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为基址加上</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相对于活动记录起始地址的偏移量</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offset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i </a:t>
            </a:r>
          </a:p>
          <a:p>
            <a:r>
              <a:rPr lang="zh-CN" altLang="en-US" b="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符号表中各符号的地址属性就是该符号相对于第一个符号的偏移地址 </a:t>
            </a:r>
          </a:p>
        </p:txBody>
      </p:sp>
    </p:spTree>
    <p:extLst>
      <p:ext uri="{BB962C8B-B14F-4D97-AF65-F5344CB8AC3E}">
        <p14:creationId xmlns:p14="http://schemas.microsoft.com/office/powerpoint/2010/main" val="2780476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92067">
                                            <p:txEl>
                                              <p:pRg st="0" end="0"/>
                                            </p:txEl>
                                          </p:spTgt>
                                        </p:tgtEl>
                                        <p:attrNameLst>
                                          <p:attrName>style.visibility</p:attrName>
                                        </p:attrNameLst>
                                      </p:cBhvr>
                                      <p:to>
                                        <p:strVal val="visible"/>
                                      </p:to>
                                    </p:set>
                                    <p:animEffect transition="in" filter="blinds(horizontal)">
                                      <p:cBhvr>
                                        <p:cTn id="7" dur="500"/>
                                        <p:tgtEl>
                                          <p:spTgt spid="2392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92067">
                                            <p:txEl>
                                              <p:pRg st="1" end="1"/>
                                            </p:txEl>
                                          </p:spTgt>
                                        </p:tgtEl>
                                        <p:attrNameLst>
                                          <p:attrName>style.visibility</p:attrName>
                                        </p:attrNameLst>
                                      </p:cBhvr>
                                      <p:to>
                                        <p:strVal val="visible"/>
                                      </p:to>
                                    </p:set>
                                    <p:animEffect transition="in" filter="blinds(horizontal)">
                                      <p:cBhvr>
                                        <p:cTn id="12" dur="500"/>
                                        <p:tgtEl>
                                          <p:spTgt spid="239206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392067">
                                            <p:txEl>
                                              <p:pRg st="2" end="2"/>
                                            </p:txEl>
                                          </p:spTgt>
                                        </p:tgtEl>
                                        <p:attrNameLst>
                                          <p:attrName>style.visibility</p:attrName>
                                        </p:attrNameLst>
                                      </p:cBhvr>
                                      <p:to>
                                        <p:strVal val="visible"/>
                                      </p:to>
                                    </p:set>
                                    <p:animEffect transition="in" filter="blinds(horizontal)">
                                      <p:cBhvr>
                                        <p:cTn id="15" dur="500"/>
                                        <p:tgtEl>
                                          <p:spTgt spid="239206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392067">
                                            <p:txEl>
                                              <p:pRg st="3" end="3"/>
                                            </p:txEl>
                                          </p:spTgt>
                                        </p:tgtEl>
                                        <p:attrNameLst>
                                          <p:attrName>style.visibility</p:attrName>
                                        </p:attrNameLst>
                                      </p:cBhvr>
                                      <p:to>
                                        <p:strVal val="visible"/>
                                      </p:to>
                                    </p:set>
                                    <p:animEffect transition="in" filter="blinds(horizontal)">
                                      <p:cBhvr>
                                        <p:cTn id="20" dur="500"/>
                                        <p:tgtEl>
                                          <p:spTgt spid="23920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206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053F8909-F988-410B-9900-3B59B4F76B5F}" type="datetime1">
              <a:rPr lang="zh-CN" altLang="en-US"/>
              <a:pPr/>
              <a:t>2017/2/24</a:t>
            </a:fld>
            <a:endParaRPr lang="en-US" altLang="zh-CN"/>
          </a:p>
        </p:txBody>
      </p:sp>
      <p:sp>
        <p:nvSpPr>
          <p:cNvPr id="10" name="灯片编号占位符 5"/>
          <p:cNvSpPr>
            <a:spLocks noGrp="1"/>
          </p:cNvSpPr>
          <p:nvPr>
            <p:ph type="sldNum" sz="quarter" idx="12"/>
          </p:nvPr>
        </p:nvSpPr>
        <p:spPr/>
        <p:txBody>
          <a:bodyPr/>
          <a:lstStyle/>
          <a:p>
            <a:fld id="{B816C31C-D920-4ACF-8C0F-75C8FEDE72FF}" type="slidenum">
              <a:rPr lang="en-US" altLang="zh-CN"/>
              <a:pPr/>
              <a:t>15</a:t>
            </a:fld>
            <a:endParaRPr lang="en-US" altLang="zh-CN"/>
          </a:p>
        </p:txBody>
      </p:sp>
      <p:sp>
        <p:nvSpPr>
          <p:cNvPr id="2394114" name="Rectangle 2"/>
          <p:cNvSpPr>
            <a:spLocks noGrp="1" noChangeArrowheads="1"/>
          </p:cNvSpPr>
          <p:nvPr>
            <p:ph type="title"/>
          </p:nvPr>
        </p:nvSpPr>
        <p:spPr>
          <a:xfrm>
            <a:off x="458788" y="115888"/>
            <a:ext cx="8212137" cy="1225550"/>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8.3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符号表的组织结构</a:t>
            </a:r>
            <a:br>
              <a:rPr lang="zh-CN" altLang="en-US" b="1">
                <a:latin typeface="Times New Roman" panose="02020603050405020304" pitchFamily="18" charset="0"/>
                <a:ea typeface="华文新魏" panose="02010800040101010101" pitchFamily="2" charset="-122"/>
                <a:cs typeface="Times New Roman" panose="02020603050405020304" pitchFamily="18" charset="0"/>
              </a:rPr>
            </a:br>
            <a:r>
              <a:rPr lang="en-US" altLang="zh-CN" b="1">
                <a:latin typeface="Times New Roman" panose="02020603050405020304" pitchFamily="18" charset="0"/>
                <a:ea typeface="华文新魏" panose="02010800040101010101" pitchFamily="2" charset="-122"/>
                <a:cs typeface="Times New Roman" panose="02020603050405020304" pitchFamily="18" charset="0"/>
              </a:rPr>
              <a:t>8.3.1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符号表的线性表实现 </a:t>
            </a:r>
          </a:p>
        </p:txBody>
      </p:sp>
      <p:sp>
        <p:nvSpPr>
          <p:cNvPr id="2394115" name="Rectangle 3"/>
          <p:cNvSpPr>
            <a:spLocks noGrp="1" noChangeArrowheads="1"/>
          </p:cNvSpPr>
          <p:nvPr>
            <p:ph type="body" idx="1"/>
          </p:nvPr>
        </p:nvSpPr>
        <p:spPr>
          <a:xfrm>
            <a:off x="228600" y="1555750"/>
            <a:ext cx="8736013" cy="4465638"/>
          </a:xfrm>
        </p:spPr>
        <p:txBody>
          <a:bodyPr/>
          <a:lstStyle/>
          <a:p>
            <a:r>
              <a:rPr lang="zh-CN" altLang="en-US" b="1">
                <a:latin typeface="Times New Roman" panose="02020603050405020304" pitchFamily="18" charset="0"/>
                <a:ea typeface="华文新魏" panose="02010800040101010101" pitchFamily="2" charset="-122"/>
                <a:cs typeface="Times New Roman" panose="02020603050405020304" pitchFamily="18" charset="0"/>
              </a:rPr>
              <a:t>用线性表实现符号表较为直观</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数组实现：插入</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个符号、执行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次查找操作的时间复杂度为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 O(</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有序数组实现：插入</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个符号、执行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次查找操作的时间复杂度为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log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pt-BR" altLang="zh-CN" b="1">
                <a:latin typeface="Times New Roman" panose="02020603050405020304" pitchFamily="18" charset="0"/>
                <a:ea typeface="华文新魏" panose="02010800040101010101" pitchFamily="2" charset="-122"/>
                <a:cs typeface="Times New Roman" panose="02020603050405020304" pitchFamily="18" charset="0"/>
              </a:rPr>
              <a:t>          </a:t>
            </a:r>
          </a:p>
          <a:p>
            <a:pPr lvl="1">
              <a:buFontTx/>
              <a:buNone/>
            </a:pPr>
            <a:r>
              <a:rPr lang="en-US" altLang="zh-CN" b="1">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)log </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+O(</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2) </a:t>
            </a:r>
          </a:p>
          <a:p>
            <a:pPr lvl="1"/>
            <a:r>
              <a:rPr lang="zh-CN" altLang="en-US" b="1">
                <a:latin typeface="Times New Roman" panose="02020603050405020304" pitchFamily="18" charset="0"/>
                <a:ea typeface="华文新魏" panose="02010800040101010101" pitchFamily="2" charset="-122"/>
                <a:cs typeface="Times New Roman" panose="02020603050405020304" pitchFamily="18" charset="0"/>
              </a:rPr>
              <a:t>有序符号表结构只有在下面的情况下才能取得较好效果：和插入操作次数相比，符号表表项上的查找操作次数占绝对多数，即</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&gt;&gt;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394116" name="Rectangle 4"/>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4117" name="Object 5"/>
          <p:cNvGraphicFramePr>
            <a:graphicFrameLocks noChangeAspect="1"/>
          </p:cNvGraphicFramePr>
          <p:nvPr/>
        </p:nvGraphicFramePr>
        <p:xfrm>
          <a:off x="6227763" y="3573463"/>
          <a:ext cx="1008062" cy="420687"/>
        </p:xfrm>
        <a:graphic>
          <a:graphicData uri="http://schemas.openxmlformats.org/presentationml/2006/ole">
            <mc:AlternateContent xmlns:mc="http://schemas.openxmlformats.org/markup-compatibility/2006">
              <mc:Choice xmlns:v="urn:schemas-microsoft-com:vml" Requires="v">
                <p:oleObj spid="_x0000_s90116" name="Equation" r:id="rId4" imgW="545863" imgH="228501" progId="Equation.DSMT4">
                  <p:embed/>
                </p:oleObj>
              </mc:Choice>
              <mc:Fallback>
                <p:oleObj name="Equation" r:id="rId4" imgW="545863" imgH="228501" progId="Equation.DSMT4">
                  <p:embed/>
                  <p:pic>
                    <p:nvPicPr>
                      <p:cNvPr id="239411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3573463"/>
                        <a:ext cx="1008062"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94118" name="Rectangle 6"/>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4119" name="Object 7"/>
          <p:cNvGraphicFramePr>
            <a:graphicFrameLocks noChangeAspect="1"/>
          </p:cNvGraphicFramePr>
          <p:nvPr/>
        </p:nvGraphicFramePr>
        <p:xfrm>
          <a:off x="7524750" y="3573463"/>
          <a:ext cx="611188" cy="434975"/>
        </p:xfrm>
        <a:graphic>
          <a:graphicData uri="http://schemas.openxmlformats.org/presentationml/2006/ole">
            <mc:AlternateContent xmlns:mc="http://schemas.openxmlformats.org/markup-compatibility/2006">
              <mc:Choice xmlns:v="urn:schemas-microsoft-com:vml" Requires="v">
                <p:oleObj spid="_x0000_s90117" name="Equation" r:id="rId6" imgW="317362" imgH="228501" progId="Equation.DSMT4">
                  <p:embed/>
                </p:oleObj>
              </mc:Choice>
              <mc:Fallback>
                <p:oleObj name="Equation" r:id="rId6" imgW="317362" imgH="228501" progId="Equation.DSMT4">
                  <p:embed/>
                  <p:pic>
                    <p:nvPicPr>
                      <p:cNvPr id="239411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4750" y="3573463"/>
                        <a:ext cx="6111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68389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6D9F258F-16A6-46D4-95B8-8D7D6C1848F7}"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302A66AC-2879-4486-8DBE-E6A67D62ECB7}" type="slidenum">
              <a:rPr lang="en-US" altLang="zh-CN"/>
              <a:pPr/>
              <a:t>16</a:t>
            </a:fld>
            <a:endParaRPr lang="en-US" altLang="zh-CN"/>
          </a:p>
        </p:txBody>
      </p:sp>
      <p:sp>
        <p:nvSpPr>
          <p:cNvPr id="2396162" name="Rectangle 2"/>
          <p:cNvSpPr>
            <a:spLocks noGrp="1" noChangeArrowheads="1"/>
          </p:cNvSpPr>
          <p:nvPr>
            <p:ph type="title"/>
          </p:nvPr>
        </p:nvSpPr>
        <p:spPr>
          <a:xfrm>
            <a:off x="468313" y="115888"/>
            <a:ext cx="8212137" cy="865187"/>
          </a:xfrm>
        </p:spPr>
        <p:txBody>
          <a:bodyPr/>
          <a:lstStyle/>
          <a:p>
            <a:r>
              <a:rPr lang="en-US" altLang="zh-CN" sz="4800" b="1">
                <a:latin typeface="Times New Roman" panose="02020603050405020304" pitchFamily="18" charset="0"/>
                <a:ea typeface="华文新魏" panose="02010800040101010101" pitchFamily="2" charset="-122"/>
                <a:cs typeface="Times New Roman" panose="02020603050405020304" pitchFamily="18" charset="0"/>
              </a:rPr>
              <a:t>8.3.2 </a:t>
            </a:r>
            <a:r>
              <a:rPr lang="zh-CN" altLang="en-US" sz="4800" b="1">
                <a:latin typeface="Times New Roman" panose="02020603050405020304" pitchFamily="18" charset="0"/>
                <a:ea typeface="华文新魏" panose="02010800040101010101" pitchFamily="2" charset="-122"/>
                <a:cs typeface="Times New Roman" panose="02020603050405020304" pitchFamily="18" charset="0"/>
              </a:rPr>
              <a:t>符号表的散列表实现 </a:t>
            </a:r>
          </a:p>
        </p:txBody>
      </p:sp>
      <p:sp>
        <p:nvSpPr>
          <p:cNvPr id="2396163" name="Rectangle 3"/>
          <p:cNvSpPr>
            <a:spLocks noGrp="1" noChangeArrowheads="1"/>
          </p:cNvSpPr>
          <p:nvPr>
            <p:ph type="body" idx="1"/>
          </p:nvPr>
        </p:nvSpPr>
        <p:spPr>
          <a:xfrm>
            <a:off x="301625" y="1125538"/>
            <a:ext cx="8591550" cy="2016125"/>
          </a:xfrm>
        </p:spPr>
        <p:txBody>
          <a:bodyPr/>
          <a:lstStyle/>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引入散列表不仅可以提高</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lookup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操作的效率，同时也可以提高</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insert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操作的效率，所以在许多实际编译器的符号表实现中均采用了散列技术</a:t>
            </a:r>
          </a:p>
        </p:txBody>
      </p:sp>
      <p:sp>
        <p:nvSpPr>
          <p:cNvPr id="2396164"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6165" name="Object 5"/>
          <p:cNvGraphicFramePr>
            <a:graphicFrameLocks noChangeAspect="1"/>
          </p:cNvGraphicFramePr>
          <p:nvPr/>
        </p:nvGraphicFramePr>
        <p:xfrm>
          <a:off x="1409700" y="3068638"/>
          <a:ext cx="6907213" cy="3024187"/>
        </p:xfrm>
        <a:graphic>
          <a:graphicData uri="http://schemas.openxmlformats.org/presentationml/2006/ole">
            <mc:AlternateContent xmlns:mc="http://schemas.openxmlformats.org/markup-compatibility/2006">
              <mc:Choice xmlns:v="urn:schemas-microsoft-com:vml" Requires="v">
                <p:oleObj spid="_x0000_s91139" name="Visio" r:id="rId4" imgW="3811718" imgH="1669816" progId="Visio.Drawing.11">
                  <p:embed/>
                </p:oleObj>
              </mc:Choice>
              <mc:Fallback>
                <p:oleObj name="Visio" r:id="rId4" imgW="3811718" imgH="1669816" progId="Visio.Drawing.11">
                  <p:embed/>
                  <p:pic>
                    <p:nvPicPr>
                      <p:cNvPr id="239616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9700" y="3068638"/>
                        <a:ext cx="6907213" cy="302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96166" name="Rectangle 6"/>
          <p:cNvSpPr>
            <a:spLocks noChangeArrowheads="1"/>
          </p:cNvSpPr>
          <p:nvPr/>
        </p:nvSpPr>
        <p:spPr bwMode="auto">
          <a:xfrm>
            <a:off x="2413000" y="6237288"/>
            <a:ext cx="431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8.6 </a:t>
            </a:r>
            <a:r>
              <a:rPr kumimoji="1" lang="zh-CN" altLang="en-US" b="1"/>
              <a:t>一个符号表的散列表实现</a:t>
            </a:r>
          </a:p>
        </p:txBody>
      </p:sp>
    </p:spTree>
    <p:extLst>
      <p:ext uri="{BB962C8B-B14F-4D97-AF65-F5344CB8AC3E}">
        <p14:creationId xmlns:p14="http://schemas.microsoft.com/office/powerpoint/2010/main" val="16346351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7A4EEBB7-E696-4E03-90A2-B45F3DBF5A8C}" type="datetime1">
              <a:rPr lang="zh-CN" altLang="en-US"/>
              <a:pPr/>
              <a:t>2017/2/24</a:t>
            </a:fld>
            <a:endParaRPr lang="en-US" altLang="zh-CN"/>
          </a:p>
        </p:txBody>
      </p:sp>
      <p:sp>
        <p:nvSpPr>
          <p:cNvPr id="11" name="灯片编号占位符 5"/>
          <p:cNvSpPr>
            <a:spLocks noGrp="1"/>
          </p:cNvSpPr>
          <p:nvPr>
            <p:ph type="sldNum" sz="quarter" idx="12"/>
          </p:nvPr>
        </p:nvSpPr>
        <p:spPr/>
        <p:txBody>
          <a:bodyPr/>
          <a:lstStyle/>
          <a:p>
            <a:fld id="{761EEF53-0B26-462F-87C5-5E53B0C236C0}" type="slidenum">
              <a:rPr lang="en-US" altLang="zh-CN"/>
              <a:pPr/>
              <a:t>17</a:t>
            </a:fld>
            <a:endParaRPr lang="en-US" altLang="zh-CN"/>
          </a:p>
        </p:txBody>
      </p:sp>
      <p:sp>
        <p:nvSpPr>
          <p:cNvPr id="2398210" name="Rectangle 2"/>
          <p:cNvSpPr>
            <a:spLocks noGrp="1" noChangeArrowheads="1"/>
          </p:cNvSpPr>
          <p:nvPr>
            <p:ph type="title"/>
          </p:nvPr>
        </p:nvSpPr>
        <p:spPr>
          <a:xfrm>
            <a:off x="468313" y="115888"/>
            <a:ext cx="8212137" cy="865187"/>
          </a:xfrm>
        </p:spPr>
        <p:txBody>
          <a:bodyPr/>
          <a:lstStyle/>
          <a:p>
            <a:r>
              <a:rPr lang="en-US" altLang="zh-CN" sz="4800" b="1">
                <a:latin typeface="Times New Roman" panose="02020603050405020304" pitchFamily="18" charset="0"/>
                <a:ea typeface="华文新魏" panose="02010800040101010101" pitchFamily="2" charset="-122"/>
                <a:cs typeface="Times New Roman" panose="02020603050405020304" pitchFamily="18" charset="0"/>
              </a:rPr>
              <a:t>8.3.2 </a:t>
            </a:r>
            <a:r>
              <a:rPr lang="zh-CN" altLang="en-US" sz="4800" b="1">
                <a:latin typeface="Times New Roman" panose="02020603050405020304" pitchFamily="18" charset="0"/>
                <a:ea typeface="华文新魏" panose="02010800040101010101" pitchFamily="2" charset="-122"/>
                <a:cs typeface="Times New Roman" panose="02020603050405020304" pitchFamily="18" charset="0"/>
              </a:rPr>
              <a:t>符号表的散列表实现 </a:t>
            </a:r>
          </a:p>
        </p:txBody>
      </p:sp>
      <p:sp>
        <p:nvSpPr>
          <p:cNvPr id="2398211" name="Rectangle 3"/>
          <p:cNvSpPr>
            <a:spLocks noGrp="1" noChangeArrowheads="1"/>
          </p:cNvSpPr>
          <p:nvPr>
            <p:ph type="body" idx="1"/>
          </p:nvPr>
        </p:nvSpPr>
        <p:spPr>
          <a:xfrm>
            <a:off x="301625" y="1125538"/>
            <a:ext cx="8591550" cy="4895850"/>
          </a:xfrm>
        </p:spPr>
        <p:txBody>
          <a:bodyPr/>
          <a:lstStyle/>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引入散列表不仅可以提高</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lookup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操作的效率，同时也可以提高</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insert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操作的效率，所以在许多实际编译器的符号表实现中均采用了散列技术</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插入</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个符号，查找</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个符号的</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lookup</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操作和</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insert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操作的时间复杂度</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还将与</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m</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有关，记为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m</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m</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m</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 </a:t>
            </a:r>
          </a:p>
          <a:p>
            <a:pPr lvl="1">
              <a:lnSpc>
                <a:spcPct val="90000"/>
              </a:lnSpc>
            </a:pPr>
            <a:r>
              <a:rPr lang="pt-BR" altLang="zh-CN" b="1" i="1">
                <a:latin typeface="Times New Roman" panose="02020603050405020304" pitchFamily="18" charset="0"/>
                <a:ea typeface="华文新魏" panose="02010800040101010101" pitchFamily="2" charset="-122"/>
                <a:cs typeface="Times New Roman" panose="02020603050405020304" pitchFamily="18" charset="0"/>
              </a:rPr>
              <a:t>S</a:t>
            </a:r>
            <a:r>
              <a:rPr lang="pt-BR" altLang="zh-CN" b="1">
                <a:latin typeface="Times New Roman" panose="02020603050405020304" pitchFamily="18" charset="0"/>
                <a:ea typeface="华文新魏" panose="02010800040101010101" pitchFamily="2" charset="-122"/>
                <a:cs typeface="Times New Roman" panose="02020603050405020304" pitchFamily="18" charset="0"/>
              </a:rPr>
              <a:t>(</a:t>
            </a:r>
            <a:r>
              <a:rPr lang="pt-BR"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pt-BR" altLang="zh-CN" b="1">
                <a:latin typeface="Times New Roman" panose="02020603050405020304" pitchFamily="18" charset="0"/>
                <a:ea typeface="华文新魏" panose="02010800040101010101" pitchFamily="2" charset="-122"/>
                <a:cs typeface="Times New Roman" panose="02020603050405020304" pitchFamily="18" charset="0"/>
              </a:rPr>
              <a:t>,</a:t>
            </a:r>
            <a:r>
              <a:rPr lang="pt-BR" altLang="zh-CN" b="1" i="1">
                <a:latin typeface="Times New Roman" panose="02020603050405020304" pitchFamily="18" charset="0"/>
                <a:ea typeface="华文新魏" panose="02010800040101010101" pitchFamily="2" charset="-122"/>
                <a:cs typeface="Times New Roman" panose="02020603050405020304" pitchFamily="18" charset="0"/>
              </a:rPr>
              <a:t>m</a:t>
            </a:r>
            <a:r>
              <a:rPr lang="pt-BR" altLang="zh-CN" b="1">
                <a:latin typeface="Times New Roman" panose="02020603050405020304" pitchFamily="18" charset="0"/>
                <a:ea typeface="华文新魏" panose="02010800040101010101" pitchFamily="2" charset="-122"/>
                <a:cs typeface="Times New Roman" panose="02020603050405020304" pitchFamily="18" charset="0"/>
              </a:rPr>
              <a:t>)=O(</a:t>
            </a:r>
            <a:r>
              <a:rPr lang="pt-BR" altLang="zh-CN" b="1" i="1">
                <a:latin typeface="Times New Roman" panose="02020603050405020304" pitchFamily="18" charset="0"/>
                <a:ea typeface="华文新魏" panose="02010800040101010101" pitchFamily="2" charset="-122"/>
                <a:cs typeface="Times New Roman" panose="02020603050405020304" pitchFamily="18" charset="0"/>
              </a:rPr>
              <a:t>n</a:t>
            </a:r>
            <a:r>
              <a:rPr lang="pt-BR" altLang="zh-CN" b="1">
                <a:latin typeface="Times New Roman" panose="02020603050405020304" pitchFamily="18" charset="0"/>
                <a:ea typeface="华文新魏" panose="02010800040101010101" pitchFamily="2" charset="-122"/>
                <a:cs typeface="Times New Roman" panose="02020603050405020304" pitchFamily="18" charset="0"/>
              </a:rPr>
              <a:t>) </a:t>
            </a:r>
          </a:p>
          <a:p>
            <a:pPr lvl="1">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散列函数应在满足            的前提下，使</a:t>
            </a:r>
          </a:p>
          <a:p>
            <a:pPr lvl="1">
              <a:lnSpc>
                <a:spcPct val="90000"/>
              </a:lnSpc>
              <a:buFontTx/>
              <a:buNone/>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达到最小 </a:t>
            </a:r>
          </a:p>
        </p:txBody>
      </p:sp>
      <p:sp>
        <p:nvSpPr>
          <p:cNvPr id="2398212"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98213"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8214" name="Object 6"/>
          <p:cNvGraphicFramePr>
            <a:graphicFrameLocks noChangeAspect="1"/>
          </p:cNvGraphicFramePr>
          <p:nvPr/>
        </p:nvGraphicFramePr>
        <p:xfrm>
          <a:off x="4032250" y="4652963"/>
          <a:ext cx="971550" cy="415925"/>
        </p:xfrm>
        <a:graphic>
          <a:graphicData uri="http://schemas.openxmlformats.org/presentationml/2006/ole">
            <mc:AlternateContent xmlns:mc="http://schemas.openxmlformats.org/markup-compatibility/2006">
              <mc:Choice xmlns:v="urn:schemas-microsoft-com:vml" Requires="v">
                <p:oleObj spid="_x0000_s92164" name="Equation" r:id="rId4" imgW="571252" imgH="241195" progId="Equation.DSMT4">
                  <p:embed/>
                </p:oleObj>
              </mc:Choice>
              <mc:Fallback>
                <p:oleObj name="Equation" r:id="rId4" imgW="571252" imgH="241195" progId="Equation.DSMT4">
                  <p:embed/>
                  <p:pic>
                    <p:nvPicPr>
                      <p:cNvPr id="239821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0" y="4652963"/>
                        <a:ext cx="971550"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98215" name="Rectangle 7"/>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398216" name="Object 8"/>
          <p:cNvGraphicFramePr>
            <a:graphicFrameLocks noChangeAspect="1"/>
          </p:cNvGraphicFramePr>
          <p:nvPr/>
        </p:nvGraphicFramePr>
        <p:xfrm>
          <a:off x="7308850" y="4652963"/>
          <a:ext cx="1619250" cy="441325"/>
        </p:xfrm>
        <a:graphic>
          <a:graphicData uri="http://schemas.openxmlformats.org/presentationml/2006/ole">
            <mc:AlternateContent xmlns:mc="http://schemas.openxmlformats.org/markup-compatibility/2006">
              <mc:Choice xmlns:v="urn:schemas-microsoft-com:vml" Requires="v">
                <p:oleObj spid="_x0000_s92165" name="Equation" r:id="rId6" imgW="901309" imgH="241195" progId="Equation.DSMT4">
                  <p:embed/>
                </p:oleObj>
              </mc:Choice>
              <mc:Fallback>
                <p:oleObj name="Equation" r:id="rId6" imgW="901309" imgH="241195" progId="Equation.DSMT4">
                  <p:embed/>
                  <p:pic>
                    <p:nvPicPr>
                      <p:cNvPr id="239821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8850" y="4652963"/>
                        <a:ext cx="161925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662746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F8050ECD-42B2-4C25-A2F4-B473A62F4526}" type="datetime1">
              <a:rPr lang="zh-CN" altLang="en-US"/>
              <a:pPr/>
              <a:t>2017/2/24</a:t>
            </a:fld>
            <a:endParaRPr lang="en-US" altLang="zh-CN"/>
          </a:p>
        </p:txBody>
      </p:sp>
      <p:sp>
        <p:nvSpPr>
          <p:cNvPr id="11" name="灯片编号占位符 5"/>
          <p:cNvSpPr>
            <a:spLocks noGrp="1"/>
          </p:cNvSpPr>
          <p:nvPr>
            <p:ph type="sldNum" sz="quarter" idx="12"/>
          </p:nvPr>
        </p:nvSpPr>
        <p:spPr/>
        <p:txBody>
          <a:bodyPr/>
          <a:lstStyle/>
          <a:p>
            <a:fld id="{107E85A9-4901-45E6-A0C3-AD9A1BD2A2C0}" type="slidenum">
              <a:rPr lang="en-US" altLang="zh-CN"/>
              <a:pPr/>
              <a:t>18</a:t>
            </a:fld>
            <a:endParaRPr lang="en-US" altLang="zh-CN"/>
          </a:p>
        </p:txBody>
      </p:sp>
      <p:sp>
        <p:nvSpPr>
          <p:cNvPr id="2400258" name="Rectangle 2"/>
          <p:cNvSpPr>
            <a:spLocks noGrp="1" noChangeArrowheads="1"/>
          </p:cNvSpPr>
          <p:nvPr>
            <p:ph type="title"/>
          </p:nvPr>
        </p:nvSpPr>
        <p:spPr>
          <a:xfrm>
            <a:off x="468313" y="115888"/>
            <a:ext cx="8212137" cy="8651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符号表与作用域 </a:t>
            </a:r>
          </a:p>
        </p:txBody>
      </p:sp>
      <p:sp>
        <p:nvSpPr>
          <p:cNvPr id="2400259" name="Rectangle 3"/>
          <p:cNvSpPr>
            <a:spLocks noGrp="1" noChangeArrowheads="1"/>
          </p:cNvSpPr>
          <p:nvPr>
            <p:ph type="body" idx="1"/>
          </p:nvPr>
        </p:nvSpPr>
        <p:spPr>
          <a:xfrm>
            <a:off x="301625" y="1125538"/>
            <a:ext cx="8591550" cy="5256212"/>
          </a:xfrm>
        </p:spPr>
        <p:txBody>
          <a:bodyPr/>
          <a:lstStyle/>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int main()</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int abc;</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abc = 1;</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int abc;</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abc = 2;</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printf(“abc is %d\n”, abc);</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   printf(“abc is %d\n”, abc);</a:t>
            </a:r>
          </a:p>
          <a:p>
            <a:pPr marL="609600" indent="-609600">
              <a:lnSpc>
                <a:spcPct val="90000"/>
              </a:lnSpc>
              <a:buFontTx/>
              <a:buNone/>
            </a:pP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a:t>
            </a:r>
          </a:p>
        </p:txBody>
      </p:sp>
      <p:sp>
        <p:nvSpPr>
          <p:cNvPr id="2400260"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0261"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0262"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0263" name="Rectangle 7"/>
          <p:cNvSpPr>
            <a:spLocks noChangeArrowheads="1"/>
          </p:cNvSpPr>
          <p:nvPr/>
        </p:nvSpPr>
        <p:spPr bwMode="auto">
          <a:xfrm>
            <a:off x="1843088" y="6092825"/>
            <a:ext cx="545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8.8 </a:t>
            </a:r>
            <a:r>
              <a:rPr kumimoji="1" lang="zh-CN" altLang="en-US" b="1"/>
              <a:t>一个具有程序块结构的</a:t>
            </a:r>
            <a:r>
              <a:rPr kumimoji="1" lang="en-US" altLang="zh-CN" b="1"/>
              <a:t>C</a:t>
            </a:r>
            <a:r>
              <a:rPr kumimoji="1" lang="zh-CN" altLang="en-US" b="1"/>
              <a:t>语言程序</a:t>
            </a:r>
          </a:p>
        </p:txBody>
      </p:sp>
      <p:sp>
        <p:nvSpPr>
          <p:cNvPr id="2400264" name="Rectangle 8"/>
          <p:cNvSpPr>
            <a:spLocks noChangeArrowheads="1"/>
          </p:cNvSpPr>
          <p:nvPr/>
        </p:nvSpPr>
        <p:spPr bwMode="auto">
          <a:xfrm>
            <a:off x="4124325" y="1836738"/>
            <a:ext cx="49117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600" b="1">
                <a:solidFill>
                  <a:srgbClr val="FF0000"/>
                </a:solidFill>
                <a:ea typeface="楷体_GB2312" pitchFamily="49" charset="-122"/>
              </a:rPr>
              <a:t>运行结果为：</a:t>
            </a:r>
          </a:p>
          <a:p>
            <a:r>
              <a:rPr lang="zh-CN" altLang="en-US" sz="2600" b="1">
                <a:solidFill>
                  <a:srgbClr val="FF0000"/>
                </a:solidFill>
                <a:ea typeface="楷体_GB2312" pitchFamily="49" charset="-122"/>
              </a:rPr>
              <a:t>    </a:t>
            </a:r>
            <a:r>
              <a:rPr lang="en-US" altLang="zh-CN" sz="2600" b="1">
                <a:solidFill>
                  <a:srgbClr val="FF0000"/>
                </a:solidFill>
                <a:ea typeface="楷体_GB2312" pitchFamily="49" charset="-122"/>
              </a:rPr>
              <a:t>abc is 2</a:t>
            </a:r>
          </a:p>
          <a:p>
            <a:r>
              <a:rPr lang="en-US" altLang="zh-CN" sz="2600" b="1">
                <a:solidFill>
                  <a:srgbClr val="FF0000"/>
                </a:solidFill>
                <a:ea typeface="楷体_GB2312" pitchFamily="49" charset="-122"/>
              </a:rPr>
              <a:t>    abc is 1</a:t>
            </a:r>
          </a:p>
          <a:p>
            <a:r>
              <a:rPr lang="zh-CN" altLang="en-US" sz="2600" b="1">
                <a:solidFill>
                  <a:srgbClr val="FF0000"/>
                </a:solidFill>
                <a:ea typeface="楷体_GB2312" pitchFamily="49" charset="-122"/>
              </a:rPr>
              <a:t>说明</a:t>
            </a:r>
            <a:r>
              <a:rPr lang="en-US" altLang="zh-CN" sz="2600" b="1">
                <a:solidFill>
                  <a:srgbClr val="FF0000"/>
                </a:solidFill>
                <a:ea typeface="楷体_GB2312" pitchFamily="49" charset="-122"/>
              </a:rPr>
              <a:t>abc</a:t>
            </a:r>
            <a:r>
              <a:rPr lang="zh-CN" altLang="en-US" sz="2600" b="1">
                <a:solidFill>
                  <a:srgbClr val="FF0000"/>
                </a:solidFill>
                <a:ea typeface="楷体_GB2312" pitchFamily="49" charset="-122"/>
              </a:rPr>
              <a:t>在不同的范围内有效。</a:t>
            </a:r>
          </a:p>
          <a:p>
            <a:r>
              <a:rPr lang="zh-CN" altLang="en-US" sz="2600" b="1">
                <a:solidFill>
                  <a:srgbClr val="FF0000"/>
                </a:solidFill>
                <a:ea typeface="楷体_GB2312" pitchFamily="49" charset="-122"/>
              </a:rPr>
              <a:t>这个有效范围就是符号的作用域</a:t>
            </a:r>
            <a:r>
              <a:rPr lang="zh-CN" altLang="en-US" sz="2600">
                <a:solidFill>
                  <a:srgbClr val="FF0000"/>
                </a:solidFill>
                <a:ea typeface="楷体_GB2312" pitchFamily="49" charset="-122"/>
              </a:rPr>
              <a:t> </a:t>
            </a:r>
          </a:p>
        </p:txBody>
      </p:sp>
    </p:spTree>
    <p:extLst>
      <p:ext uri="{BB962C8B-B14F-4D97-AF65-F5344CB8AC3E}">
        <p14:creationId xmlns:p14="http://schemas.microsoft.com/office/powerpoint/2010/main" val="596153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D039762D-E99C-4AE4-B2B9-E6D66489537E}" type="datetime1">
              <a:rPr lang="zh-CN" altLang="en-US"/>
              <a:pPr/>
              <a:t>2017/2/24</a:t>
            </a:fld>
            <a:endParaRPr lang="en-US" altLang="zh-CN"/>
          </a:p>
        </p:txBody>
      </p:sp>
      <p:sp>
        <p:nvSpPr>
          <p:cNvPr id="11" name="灯片编号占位符 5"/>
          <p:cNvSpPr>
            <a:spLocks noGrp="1"/>
          </p:cNvSpPr>
          <p:nvPr>
            <p:ph type="sldNum" sz="quarter" idx="12"/>
          </p:nvPr>
        </p:nvSpPr>
        <p:spPr/>
        <p:txBody>
          <a:bodyPr/>
          <a:lstStyle/>
          <a:p>
            <a:fld id="{F4C638B0-A2F3-40FD-B38E-9805D940E2B3}" type="slidenum">
              <a:rPr lang="en-US" altLang="zh-CN"/>
              <a:pPr/>
              <a:t>19</a:t>
            </a:fld>
            <a:endParaRPr lang="en-US" altLang="zh-CN"/>
          </a:p>
        </p:txBody>
      </p:sp>
      <p:sp>
        <p:nvSpPr>
          <p:cNvPr id="2402306" name="Rectangle 2"/>
          <p:cNvSpPr>
            <a:spLocks noGrp="1" noChangeArrowheads="1"/>
          </p:cNvSpPr>
          <p:nvPr>
            <p:ph type="title"/>
          </p:nvPr>
        </p:nvSpPr>
        <p:spPr>
          <a:xfrm>
            <a:off x="468313" y="115888"/>
            <a:ext cx="8212137" cy="8651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程序块结构的符号表 </a:t>
            </a:r>
          </a:p>
        </p:txBody>
      </p:sp>
      <p:sp>
        <p:nvSpPr>
          <p:cNvPr id="2402307" name="Rectangle 3"/>
          <p:cNvSpPr>
            <a:spLocks noGrp="1" noChangeArrowheads="1"/>
          </p:cNvSpPr>
          <p:nvPr>
            <p:ph type="body" idx="1"/>
          </p:nvPr>
        </p:nvSpPr>
        <p:spPr>
          <a:xfrm>
            <a:off x="301625" y="908050"/>
            <a:ext cx="8591550" cy="5762625"/>
          </a:xfrm>
        </p:spPr>
        <p:txBody>
          <a:bodyPr/>
          <a:lstStyle/>
          <a:p>
            <a:pPr>
              <a:lnSpc>
                <a:spcPct val="90000"/>
              </a:lnSpc>
              <a:buFontTx/>
              <a:buNone/>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变量的作用域满足最近嵌套原则</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(1)   int main()</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(2)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(3)      int a=0;</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(4)      int b=0;</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(5)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(6)          int b=1;</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(7)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(8)              int a=2;</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(9)              printf(“%d  %d\n”, a, b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(10)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(11)         {</a:t>
            </a:r>
          </a:p>
          <a:p>
            <a:pPr>
              <a:buFontTx/>
              <a:buNone/>
            </a:pP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(12)             int b=3;</a:t>
            </a:r>
            <a:endParaRPr lang="pt-BR" altLang="zh-CN" sz="1600" b="1">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(13)             printf(“%d  %d\n”, a, b);</a:t>
            </a: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(14)         }</a:t>
            </a: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(15)         printf(“%d  %d\n”, a, b);</a:t>
            </a: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(16)     }</a:t>
            </a: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(17)     printf(“%d  %d\n”, a, b);</a:t>
            </a:r>
          </a:p>
          <a:p>
            <a:pPr>
              <a:buFontTx/>
              <a:buNone/>
            </a:pPr>
            <a:r>
              <a:rPr lang="pt-BR" altLang="zh-CN" sz="1600" b="1">
                <a:latin typeface="Times New Roman" panose="02020603050405020304" pitchFamily="18" charset="0"/>
                <a:ea typeface="华文新魏" panose="02010800040101010101" pitchFamily="2" charset="-122"/>
                <a:cs typeface="Times New Roman" panose="02020603050405020304" pitchFamily="18" charset="0"/>
              </a:rPr>
              <a:t>(18)  }</a:t>
            </a:r>
            <a:r>
              <a:rPr lang="en-US" altLang="zh-CN" sz="1600" b="1">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402308"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2309"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2310"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2311" name="Rectangle 7"/>
          <p:cNvSpPr>
            <a:spLocks noChangeArrowheads="1"/>
          </p:cNvSpPr>
          <p:nvPr/>
        </p:nvSpPr>
        <p:spPr bwMode="auto">
          <a:xfrm>
            <a:off x="0" y="1943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2312" name="Rectangle 8"/>
          <p:cNvSpPr>
            <a:spLocks noChangeArrowheads="1"/>
          </p:cNvSpPr>
          <p:nvPr/>
        </p:nvSpPr>
        <p:spPr bwMode="auto">
          <a:xfrm>
            <a:off x="3635375" y="6021388"/>
            <a:ext cx="446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286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图</a:t>
            </a:r>
            <a:r>
              <a:rPr lang="en-US" altLang="zh-CN" b="1"/>
              <a:t>8.10 </a:t>
            </a:r>
            <a:r>
              <a:rPr lang="zh-CN" altLang="en-US" b="1"/>
              <a:t>一个</a:t>
            </a:r>
            <a:r>
              <a:rPr lang="en-US" altLang="zh-CN" b="1"/>
              <a:t>C</a:t>
            </a:r>
            <a:r>
              <a:rPr lang="zh-CN" altLang="en-US" b="1"/>
              <a:t>语言程序块实例</a:t>
            </a:r>
          </a:p>
        </p:txBody>
      </p:sp>
    </p:spTree>
    <p:extLst>
      <p:ext uri="{BB962C8B-B14F-4D97-AF65-F5344CB8AC3E}">
        <p14:creationId xmlns:p14="http://schemas.microsoft.com/office/powerpoint/2010/main" val="38463289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half" idx="10"/>
          </p:nvPr>
        </p:nvSpPr>
        <p:spPr/>
        <p:txBody>
          <a:bodyPr/>
          <a:lstStyle/>
          <a:p>
            <a:fld id="{7EE7F3EB-E776-4627-B43C-28D38E586146}" type="datetime1">
              <a:rPr lang="zh-CN" altLang="en-US"/>
              <a:pPr/>
              <a:t>2017/2/24</a:t>
            </a:fld>
            <a:endParaRPr lang="en-US" altLang="zh-CN"/>
          </a:p>
        </p:txBody>
      </p:sp>
      <p:sp>
        <p:nvSpPr>
          <p:cNvPr id="12" name="灯片编号占位符 5"/>
          <p:cNvSpPr>
            <a:spLocks noGrp="1"/>
          </p:cNvSpPr>
          <p:nvPr>
            <p:ph type="sldNum" sz="quarter" idx="12"/>
          </p:nvPr>
        </p:nvSpPr>
        <p:spPr/>
        <p:txBody>
          <a:bodyPr/>
          <a:lstStyle/>
          <a:p>
            <a:fld id="{2688F3A0-DD29-4CCB-ADAB-9B3570F4EA60}" type="slidenum">
              <a:rPr lang="en-US" altLang="zh-CN"/>
              <a:pPr/>
              <a:t>20</a:t>
            </a:fld>
            <a:endParaRPr lang="en-US" altLang="zh-CN"/>
          </a:p>
        </p:txBody>
      </p:sp>
      <p:sp>
        <p:nvSpPr>
          <p:cNvPr id="2404354" name="Rectangle 2"/>
          <p:cNvSpPr>
            <a:spLocks noGrp="1" noChangeArrowheads="1"/>
          </p:cNvSpPr>
          <p:nvPr>
            <p:ph type="title"/>
          </p:nvPr>
        </p:nvSpPr>
        <p:spPr>
          <a:xfrm>
            <a:off x="468313" y="115888"/>
            <a:ext cx="8212137"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8.4.1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程序块结构的符号表 </a:t>
            </a:r>
          </a:p>
        </p:txBody>
      </p:sp>
      <p:sp>
        <p:nvSpPr>
          <p:cNvPr id="2404355" name="Rectangle 3"/>
          <p:cNvSpPr>
            <a:spLocks noGrp="1" noChangeArrowheads="1"/>
          </p:cNvSpPr>
          <p:nvPr>
            <p:ph type="body" idx="1"/>
          </p:nvPr>
        </p:nvSpPr>
        <p:spPr>
          <a:xfrm>
            <a:off x="301625" y="908050"/>
            <a:ext cx="8591550" cy="4895850"/>
          </a:xfrm>
        </p:spPr>
        <p:txBody>
          <a:bodyPr/>
          <a:lstStyle/>
          <a:p>
            <a:pPr>
              <a:lnSpc>
                <a:spcPct val="90000"/>
              </a:lnSpc>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为每个程序块建立一个符号表，程序块内的符号记录在该程序块所对应的符号表中</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还要建立起这些符号表之间的联系</a:t>
            </a:r>
            <a:r>
              <a:rPr lang="en-US" altLang="zh-CN" b="1">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以刻画出符号的嵌套作用域 </a:t>
            </a:r>
          </a:p>
        </p:txBody>
      </p:sp>
      <p:sp>
        <p:nvSpPr>
          <p:cNvPr id="2404356"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4357"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4358"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4359" name="Rectangle 7"/>
          <p:cNvSpPr>
            <a:spLocks noChangeArrowheads="1"/>
          </p:cNvSpPr>
          <p:nvPr/>
        </p:nvSpPr>
        <p:spPr bwMode="auto">
          <a:xfrm>
            <a:off x="0" y="2043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04360" name="Object 8"/>
          <p:cNvGraphicFramePr>
            <a:graphicFrameLocks noChangeAspect="1"/>
          </p:cNvGraphicFramePr>
          <p:nvPr/>
        </p:nvGraphicFramePr>
        <p:xfrm>
          <a:off x="1952625" y="2636838"/>
          <a:ext cx="5067300" cy="3702050"/>
        </p:xfrm>
        <a:graphic>
          <a:graphicData uri="http://schemas.openxmlformats.org/presentationml/2006/ole">
            <mc:AlternateContent xmlns:mc="http://schemas.openxmlformats.org/markup-compatibility/2006">
              <mc:Choice xmlns:v="urn:schemas-microsoft-com:vml" Requires="v">
                <p:oleObj spid="_x0000_s93187" name="Visio" r:id="rId4" imgW="3478591" imgH="2542872" progId="Visio.Drawing.11">
                  <p:embed/>
                </p:oleObj>
              </mc:Choice>
              <mc:Fallback>
                <p:oleObj name="Visio" r:id="rId4" imgW="3478591" imgH="2542872" progId="Visio.Drawing.11">
                  <p:embed/>
                  <p:pic>
                    <p:nvPicPr>
                      <p:cNvPr id="240436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625" y="2636838"/>
                        <a:ext cx="5067300" cy="370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04361" name="Rectangle 9"/>
          <p:cNvSpPr>
            <a:spLocks noChangeArrowheads="1"/>
          </p:cNvSpPr>
          <p:nvPr/>
        </p:nvSpPr>
        <p:spPr bwMode="auto">
          <a:xfrm>
            <a:off x="1917700" y="6399213"/>
            <a:ext cx="5310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8.11 </a:t>
            </a:r>
            <a:r>
              <a:rPr kumimoji="1" lang="zh-CN" altLang="en-US" b="1"/>
              <a:t>图</a:t>
            </a:r>
            <a:r>
              <a:rPr kumimoji="1" lang="en-US" altLang="zh-CN" b="1"/>
              <a:t>8.10</a:t>
            </a:r>
            <a:r>
              <a:rPr kumimoji="1" lang="zh-CN" altLang="en-US" b="1"/>
              <a:t>中的程序所对应的符号表</a:t>
            </a:r>
          </a:p>
        </p:txBody>
      </p:sp>
    </p:spTree>
    <p:extLst>
      <p:ext uri="{BB962C8B-B14F-4D97-AF65-F5344CB8AC3E}">
        <p14:creationId xmlns:p14="http://schemas.microsoft.com/office/powerpoint/2010/main" val="27666127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half" idx="10"/>
          </p:nvPr>
        </p:nvSpPr>
        <p:spPr/>
        <p:txBody>
          <a:bodyPr/>
          <a:lstStyle/>
          <a:p>
            <a:fld id="{513201CA-5CD8-439C-ADE7-F403B16CE441}" type="datetime1">
              <a:rPr lang="zh-CN" altLang="en-US"/>
              <a:pPr/>
              <a:t>2017/2/24</a:t>
            </a:fld>
            <a:endParaRPr lang="en-US" altLang="zh-CN"/>
          </a:p>
        </p:txBody>
      </p:sp>
      <p:sp>
        <p:nvSpPr>
          <p:cNvPr id="12" name="灯片编号占位符 5"/>
          <p:cNvSpPr>
            <a:spLocks noGrp="1"/>
          </p:cNvSpPr>
          <p:nvPr>
            <p:ph type="sldNum" sz="quarter" idx="12"/>
          </p:nvPr>
        </p:nvSpPr>
        <p:spPr/>
        <p:txBody>
          <a:bodyPr/>
          <a:lstStyle/>
          <a:p>
            <a:fld id="{1DA71B44-22D0-46E2-904F-9AE59FBAC8F2}" type="slidenum">
              <a:rPr lang="en-US" altLang="zh-CN"/>
              <a:pPr/>
              <a:t>21</a:t>
            </a:fld>
            <a:endParaRPr lang="en-US" altLang="zh-CN"/>
          </a:p>
        </p:txBody>
      </p:sp>
      <p:sp>
        <p:nvSpPr>
          <p:cNvPr id="2406402" name="Rectangle 2"/>
          <p:cNvSpPr>
            <a:spLocks noGrp="1" noChangeArrowheads="1"/>
          </p:cNvSpPr>
          <p:nvPr>
            <p:ph type="title"/>
          </p:nvPr>
        </p:nvSpPr>
        <p:spPr>
          <a:xfrm>
            <a:off x="468313"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8.4.2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程序块结构符号表的其他实现 </a:t>
            </a:r>
          </a:p>
        </p:txBody>
      </p:sp>
      <p:sp>
        <p:nvSpPr>
          <p:cNvPr id="2406403" name="Rectangle 3"/>
          <p:cNvSpPr>
            <a:spLocks noGrp="1" noChangeArrowheads="1"/>
          </p:cNvSpPr>
          <p:nvPr>
            <p:ph type="body" idx="1"/>
          </p:nvPr>
        </p:nvSpPr>
        <p:spPr>
          <a:xfrm>
            <a:off x="301625" y="1052513"/>
            <a:ext cx="8591550" cy="4824412"/>
          </a:xfrm>
        </p:spPr>
        <p:txBody>
          <a:bodyPr/>
          <a:lstStyle/>
          <a:p>
            <a:pPr>
              <a:lnSpc>
                <a:spcPct val="90000"/>
              </a:lnSpc>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将所有块的符号表放在一个大数组中，然后再引入一个程序块表来描述各程序块的符号表在大数组中的位置及其相互关系 </a:t>
            </a:r>
          </a:p>
        </p:txBody>
      </p:sp>
      <p:sp>
        <p:nvSpPr>
          <p:cNvPr id="2406404"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6405"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6406"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6407" name="Rectangle 7"/>
          <p:cNvSpPr>
            <a:spLocks noChangeArrowheads="1"/>
          </p:cNvSpPr>
          <p:nvPr/>
        </p:nvSpPr>
        <p:spPr bwMode="auto">
          <a:xfrm>
            <a:off x="0" y="242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06408" name="Object 8"/>
          <p:cNvGraphicFramePr>
            <a:graphicFrameLocks noChangeAspect="1"/>
          </p:cNvGraphicFramePr>
          <p:nvPr/>
        </p:nvGraphicFramePr>
        <p:xfrm>
          <a:off x="231775" y="2205038"/>
          <a:ext cx="8443913" cy="3527425"/>
        </p:xfrm>
        <a:graphic>
          <a:graphicData uri="http://schemas.openxmlformats.org/presentationml/2006/ole">
            <mc:AlternateContent xmlns:mc="http://schemas.openxmlformats.org/markup-compatibility/2006">
              <mc:Choice xmlns:v="urn:schemas-microsoft-com:vml" Requires="v">
                <p:oleObj spid="_x0000_s94211" name="Visio" r:id="rId4" imgW="4270745" imgH="1785415" progId="Visio.Drawing.11">
                  <p:embed/>
                </p:oleObj>
              </mc:Choice>
              <mc:Fallback>
                <p:oleObj name="Visio" r:id="rId4" imgW="4270745" imgH="1785415" progId="Visio.Drawing.11">
                  <p:embed/>
                  <p:pic>
                    <p:nvPicPr>
                      <p:cNvPr id="240640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775" y="2205038"/>
                        <a:ext cx="8443913" cy="352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06409" name="Rectangle 9"/>
          <p:cNvSpPr>
            <a:spLocks noChangeArrowheads="1"/>
          </p:cNvSpPr>
          <p:nvPr/>
        </p:nvSpPr>
        <p:spPr bwMode="auto">
          <a:xfrm>
            <a:off x="2224088" y="5949950"/>
            <a:ext cx="4697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8.12 </a:t>
            </a:r>
            <a:r>
              <a:rPr kumimoji="1" lang="zh-CN" altLang="en-US" b="1"/>
              <a:t>图</a:t>
            </a:r>
            <a:r>
              <a:rPr kumimoji="1" lang="en-US" altLang="zh-CN" b="1"/>
              <a:t>8.10</a:t>
            </a:r>
            <a:r>
              <a:rPr kumimoji="1" lang="zh-CN" altLang="en-US" b="1"/>
              <a:t>的另一种符号表结构</a:t>
            </a:r>
          </a:p>
        </p:txBody>
      </p:sp>
    </p:spTree>
    <p:extLst>
      <p:ext uri="{BB962C8B-B14F-4D97-AF65-F5344CB8AC3E}">
        <p14:creationId xmlns:p14="http://schemas.microsoft.com/office/powerpoint/2010/main" val="39637654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9899E1F0-C2D5-4DA0-9B40-457A40413684}"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BBC4A1C7-ED4C-4562-BEC5-3896F79350BB}" type="slidenum">
              <a:rPr lang="en-US" altLang="zh-CN"/>
              <a:pPr/>
              <a:t>22</a:t>
            </a:fld>
            <a:endParaRPr lang="en-US" altLang="zh-CN"/>
          </a:p>
        </p:txBody>
      </p:sp>
      <p:sp>
        <p:nvSpPr>
          <p:cNvPr id="2408450" name="Rectangle 2"/>
          <p:cNvSpPr>
            <a:spLocks noGrp="1" noChangeArrowheads="1"/>
          </p:cNvSpPr>
          <p:nvPr>
            <p:ph type="title"/>
          </p:nvPr>
        </p:nvSpPr>
        <p:spPr>
          <a:xfrm>
            <a:off x="468313" y="115888"/>
            <a:ext cx="8212137" cy="865187"/>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8.4.2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程序块结构符号表的其他实现 </a:t>
            </a:r>
          </a:p>
        </p:txBody>
      </p:sp>
      <p:sp>
        <p:nvSpPr>
          <p:cNvPr id="2408451" name="Rectangle 3"/>
          <p:cNvSpPr>
            <a:spLocks noGrp="1" noChangeArrowheads="1"/>
          </p:cNvSpPr>
          <p:nvPr>
            <p:ph type="body" idx="1"/>
          </p:nvPr>
        </p:nvSpPr>
        <p:spPr>
          <a:xfrm>
            <a:off x="301625" y="1412875"/>
            <a:ext cx="8591550" cy="4537075"/>
          </a:xfrm>
        </p:spPr>
        <p:txBody>
          <a:bodyPr/>
          <a:lstStyle/>
          <a:p>
            <a:pPr>
              <a:lnSpc>
                <a:spcPct val="90000"/>
              </a:lnSpc>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将符号所属程序块的编号放在符号表表项中。查找某个符号的名字</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name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时，只有当</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name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和符号表中的名字字符串完全匹配，且符号表表项中的块编号和当前处理的块编号完全相同时才算查找成功，否则要新建一个名字为</a:t>
            </a:r>
            <a:r>
              <a:rPr lang="en-US" altLang="zh-CN" b="1" i="1">
                <a:latin typeface="Times New Roman" panose="02020603050405020304" pitchFamily="18" charset="0"/>
                <a:ea typeface="华文新魏" panose="02010800040101010101" pitchFamily="2" charset="-122"/>
                <a:cs typeface="Times New Roman" panose="02020603050405020304" pitchFamily="18" charset="0"/>
              </a:rPr>
              <a:t>name</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且块号为当前块编号的符号表表项。 </a:t>
            </a:r>
          </a:p>
          <a:p>
            <a:pPr lvl="1">
              <a:lnSpc>
                <a:spcPct val="90000"/>
              </a:lnSpc>
              <a:spcBef>
                <a:spcPct val="0"/>
              </a:spcBef>
            </a:pPr>
            <a:r>
              <a:rPr lang="zh-CN" altLang="en-US" b="1">
                <a:latin typeface="Times New Roman" panose="02020603050405020304" pitchFamily="18" charset="0"/>
                <a:ea typeface="华文新魏" panose="02010800040101010101" pitchFamily="2" charset="-122"/>
                <a:cs typeface="Times New Roman" panose="02020603050405020304" pitchFamily="18" charset="0"/>
              </a:rPr>
              <a:t>程序块编号可以通过在语法制导定义中的块开始处和块结束处添加适当的语义规则计算得出。 </a:t>
            </a:r>
          </a:p>
        </p:txBody>
      </p:sp>
      <p:sp>
        <p:nvSpPr>
          <p:cNvPr id="2408452"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8453"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8454"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35644056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0D453A69-4BAC-42AC-8D68-AF92F321772C}"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73C98584-BE34-4C88-A423-C2D0C8138CAD}" type="slidenum">
              <a:rPr lang="en-US" altLang="zh-CN"/>
              <a:pPr/>
              <a:t>23</a:t>
            </a:fld>
            <a:endParaRPr lang="en-US" altLang="zh-CN"/>
          </a:p>
        </p:txBody>
      </p:sp>
      <p:sp>
        <p:nvSpPr>
          <p:cNvPr id="2952194" name="Rectangle 2"/>
          <p:cNvSpPr>
            <a:spLocks noGrp="1" noChangeArrowheads="1"/>
          </p:cNvSpPr>
          <p:nvPr>
            <p:ph type="title"/>
          </p:nvPr>
        </p:nvSpPr>
        <p:spPr>
          <a:xfrm>
            <a:off x="468313" y="115888"/>
            <a:ext cx="8212137" cy="865187"/>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8.4.2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程序块结构符号表的其他实现 </a:t>
            </a:r>
          </a:p>
        </p:txBody>
      </p:sp>
      <p:sp>
        <p:nvSpPr>
          <p:cNvPr id="2952195" name="Rectangle 3"/>
          <p:cNvSpPr>
            <a:spLocks noGrp="1" noChangeArrowheads="1"/>
          </p:cNvSpPr>
          <p:nvPr>
            <p:ph type="body" idx="1"/>
          </p:nvPr>
        </p:nvSpPr>
        <p:spPr>
          <a:xfrm>
            <a:off x="301625" y="1628775"/>
            <a:ext cx="8591550" cy="5040313"/>
          </a:xfrm>
        </p:spPr>
        <p:txBody>
          <a:bodyPr/>
          <a:lstStyle/>
          <a:p>
            <a:pPr>
              <a:lnSpc>
                <a:spcPct val="90000"/>
              </a:lnSpc>
              <a:spcBef>
                <a:spcPct val="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程序块满足最近嵌套原则</a:t>
            </a:r>
          </a:p>
          <a:p>
            <a:pPr lvl="1">
              <a:lnSpc>
                <a:spcPct val="90000"/>
              </a:lnSpc>
              <a:spcBef>
                <a:spcPct val="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内层程序块中的局部变量只有全部处理完成之后才进入外层块</a:t>
            </a:r>
          </a:p>
          <a:p>
            <a:pPr lvl="1">
              <a:lnSpc>
                <a:spcPct val="90000"/>
              </a:lnSpc>
              <a:spcBef>
                <a:spcPct val="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一旦进入外层程序块，内层块的局部变量就不会再使用了，可以从符号表中将这些符号删除</a:t>
            </a:r>
          </a:p>
          <a:p>
            <a:pPr lvl="1">
              <a:lnSpc>
                <a:spcPct val="90000"/>
              </a:lnSpc>
              <a:spcBef>
                <a:spcPct val="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符号表中最前面的符号一定是当前正在处理的块中的局部变量</a:t>
            </a:r>
          </a:p>
          <a:p>
            <a:pPr lvl="1">
              <a:lnSpc>
                <a:spcPct val="90000"/>
              </a:lnSpc>
              <a:spcBef>
                <a:spcPct val="0"/>
              </a:spcBef>
            </a:pPr>
            <a:r>
              <a:rPr lang="zh-CN" altLang="en-US" sz="2600" b="1">
                <a:latin typeface="Times New Roman" panose="02020603050405020304" pitchFamily="18" charset="0"/>
                <a:ea typeface="华文新魏" panose="02010800040101010101" pitchFamily="2" charset="-122"/>
                <a:cs typeface="Times New Roman" panose="02020603050405020304" pitchFamily="18" charset="0"/>
              </a:rPr>
              <a:t>符号表表项中可以不用存放块编号，而是根据符号表表项在符号表中的位置来判断。 </a:t>
            </a:r>
          </a:p>
        </p:txBody>
      </p:sp>
      <p:sp>
        <p:nvSpPr>
          <p:cNvPr id="2952196"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52197"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52198"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8792761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3"/>
          <p:cNvSpPr>
            <a:spLocks noGrp="1"/>
          </p:cNvSpPr>
          <p:nvPr>
            <p:ph type="dt" sz="half" idx="10"/>
          </p:nvPr>
        </p:nvSpPr>
        <p:spPr/>
        <p:txBody>
          <a:bodyPr/>
          <a:lstStyle/>
          <a:p>
            <a:fld id="{85B58910-5962-44C7-A5C5-665C23311F98}" type="datetime1">
              <a:rPr lang="zh-CN" altLang="en-US"/>
              <a:pPr/>
              <a:t>2017/2/24</a:t>
            </a:fld>
            <a:endParaRPr lang="en-US" altLang="zh-CN"/>
          </a:p>
        </p:txBody>
      </p:sp>
      <p:sp>
        <p:nvSpPr>
          <p:cNvPr id="14" name="灯片编号占位符 5"/>
          <p:cNvSpPr>
            <a:spLocks noGrp="1"/>
          </p:cNvSpPr>
          <p:nvPr>
            <p:ph type="sldNum" sz="quarter" idx="12"/>
          </p:nvPr>
        </p:nvSpPr>
        <p:spPr/>
        <p:txBody>
          <a:bodyPr/>
          <a:lstStyle/>
          <a:p>
            <a:fld id="{0C90806D-EB7F-4C4D-92F9-C6B8431C4696}" type="slidenum">
              <a:rPr lang="en-US" altLang="zh-CN"/>
              <a:pPr/>
              <a:t>24</a:t>
            </a:fld>
            <a:endParaRPr lang="en-US" altLang="zh-CN"/>
          </a:p>
        </p:txBody>
      </p:sp>
      <p:sp>
        <p:nvSpPr>
          <p:cNvPr id="2410498" name="Rectangle 2"/>
          <p:cNvSpPr>
            <a:spLocks noGrp="1" noChangeArrowheads="1"/>
          </p:cNvSpPr>
          <p:nvPr>
            <p:ph type="title"/>
          </p:nvPr>
        </p:nvSpPr>
        <p:spPr>
          <a:xfrm>
            <a:off x="468313"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8.4.2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程序块结构符号表的其他实现 </a:t>
            </a:r>
          </a:p>
        </p:txBody>
      </p:sp>
      <p:sp>
        <p:nvSpPr>
          <p:cNvPr id="2410499" name="Rectangle 3"/>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0500" name="Rectangle 4"/>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0501"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10502" name="Object 6"/>
          <p:cNvGraphicFramePr>
            <a:graphicFrameLocks noChangeAspect="1"/>
          </p:cNvGraphicFramePr>
          <p:nvPr/>
        </p:nvGraphicFramePr>
        <p:xfrm>
          <a:off x="1943100" y="836613"/>
          <a:ext cx="4716463" cy="2189162"/>
        </p:xfrm>
        <a:graphic>
          <a:graphicData uri="http://schemas.openxmlformats.org/presentationml/2006/ole">
            <mc:AlternateContent xmlns:mc="http://schemas.openxmlformats.org/markup-compatibility/2006">
              <mc:Choice xmlns:v="urn:schemas-microsoft-com:vml" Requires="v">
                <p:oleObj spid="_x0000_s95236" name="Visio" r:id="rId4" imgW="1903781" imgH="883633" progId="Visio.Drawing.11">
                  <p:embed/>
                </p:oleObj>
              </mc:Choice>
              <mc:Fallback>
                <p:oleObj name="Visio" r:id="rId4" imgW="1903781" imgH="883633" progId="Visio.Drawing.11">
                  <p:embed/>
                  <p:pic>
                    <p:nvPicPr>
                      <p:cNvPr id="241050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3100" y="836613"/>
                        <a:ext cx="4716463" cy="218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10503" name="Object 7"/>
          <p:cNvGraphicFramePr>
            <a:graphicFrameLocks noChangeAspect="1"/>
          </p:cNvGraphicFramePr>
          <p:nvPr/>
        </p:nvGraphicFramePr>
        <p:xfrm>
          <a:off x="755650" y="3786188"/>
          <a:ext cx="7777163" cy="2019300"/>
        </p:xfrm>
        <a:graphic>
          <a:graphicData uri="http://schemas.openxmlformats.org/presentationml/2006/ole">
            <mc:AlternateContent xmlns:mc="http://schemas.openxmlformats.org/markup-compatibility/2006">
              <mc:Choice xmlns:v="urn:schemas-microsoft-com:vml" Requires="v">
                <p:oleObj spid="_x0000_s95237" name="Visio" r:id="rId6" imgW="3343477" imgH="868788" progId="Visio.Drawing.11">
                  <p:embed/>
                </p:oleObj>
              </mc:Choice>
              <mc:Fallback>
                <p:oleObj name="Visio" r:id="rId6" imgW="3343477" imgH="868788" progId="Visio.Drawing.11">
                  <p:embed/>
                  <p:pic>
                    <p:nvPicPr>
                      <p:cNvPr id="2410503"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3786188"/>
                        <a:ext cx="7777163" cy="201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10504" name="Rectangle 8"/>
          <p:cNvSpPr>
            <a:spLocks noChangeArrowheads="1"/>
          </p:cNvSpPr>
          <p:nvPr/>
        </p:nvSpPr>
        <p:spPr bwMode="auto">
          <a:xfrm>
            <a:off x="0" y="2141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0505" name="Rectangle 9"/>
          <p:cNvSpPr>
            <a:spLocks noChangeArrowheads="1"/>
          </p:cNvSpPr>
          <p:nvPr/>
        </p:nvSpPr>
        <p:spPr bwMode="auto">
          <a:xfrm>
            <a:off x="2606675" y="3094038"/>
            <a:ext cx="403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b="1"/>
              <a:t>(</a:t>
            </a:r>
            <a:r>
              <a:rPr kumimoji="1" lang="en-US" altLang="zh-CN" b="1" i="1"/>
              <a:t>a</a:t>
            </a:r>
            <a:r>
              <a:rPr kumimoji="1" lang="en-US" altLang="zh-CN" b="1"/>
              <a:t>) </a:t>
            </a:r>
            <a:r>
              <a:rPr kumimoji="1" lang="zh-CN" altLang="en-US" b="1"/>
              <a:t>处理到语句</a:t>
            </a:r>
            <a:r>
              <a:rPr kumimoji="1" lang="en-US" altLang="zh-CN" b="1"/>
              <a:t>(5)</a:t>
            </a:r>
            <a:r>
              <a:rPr kumimoji="1" lang="zh-CN" altLang="en-US" b="1"/>
              <a:t>时的符号表</a:t>
            </a:r>
          </a:p>
        </p:txBody>
      </p:sp>
      <p:sp>
        <p:nvSpPr>
          <p:cNvPr id="2410506" name="Rectangle 10"/>
          <p:cNvSpPr>
            <a:spLocks noChangeArrowheads="1"/>
          </p:cNvSpPr>
          <p:nvPr/>
        </p:nvSpPr>
        <p:spPr bwMode="auto">
          <a:xfrm>
            <a:off x="2554288" y="5949950"/>
            <a:ext cx="403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b="1"/>
              <a:t>(</a:t>
            </a:r>
            <a:r>
              <a:rPr kumimoji="1" lang="en-US" altLang="zh-CN" b="1" i="1"/>
              <a:t>b</a:t>
            </a:r>
            <a:r>
              <a:rPr kumimoji="1" lang="en-US" altLang="zh-CN" b="1"/>
              <a:t>) </a:t>
            </a:r>
            <a:r>
              <a:rPr kumimoji="1" lang="zh-CN" altLang="en-US" b="1"/>
              <a:t>处理到语句</a:t>
            </a:r>
            <a:r>
              <a:rPr kumimoji="1" lang="en-US" altLang="zh-CN" b="1"/>
              <a:t>(7)</a:t>
            </a:r>
            <a:r>
              <a:rPr kumimoji="1" lang="zh-CN" altLang="en-US" b="1"/>
              <a:t>时的符号表</a:t>
            </a:r>
          </a:p>
        </p:txBody>
      </p:sp>
      <p:sp>
        <p:nvSpPr>
          <p:cNvPr id="2410507" name="Rectangle 11"/>
          <p:cNvSpPr>
            <a:spLocks noChangeArrowheads="1"/>
          </p:cNvSpPr>
          <p:nvPr/>
        </p:nvSpPr>
        <p:spPr bwMode="auto">
          <a:xfrm>
            <a:off x="107950" y="1001713"/>
            <a:ext cx="1511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kumimoji="1" lang="zh-CN" altLang="en-US" b="1">
                <a:solidFill>
                  <a:srgbClr val="FF0000"/>
                </a:solidFill>
              </a:rPr>
              <a:t>对图</a:t>
            </a:r>
            <a:r>
              <a:rPr kumimoji="1" lang="en-US" altLang="zh-CN" b="1">
                <a:solidFill>
                  <a:srgbClr val="FF0000"/>
                </a:solidFill>
              </a:rPr>
              <a:t>8.10</a:t>
            </a:r>
            <a:r>
              <a:rPr kumimoji="1" lang="zh-CN" altLang="en-US" b="1">
                <a:solidFill>
                  <a:srgbClr val="FF0000"/>
                </a:solidFill>
              </a:rPr>
              <a:t>中的程序</a:t>
            </a:r>
          </a:p>
        </p:txBody>
      </p:sp>
    </p:spTree>
    <p:extLst>
      <p:ext uri="{BB962C8B-B14F-4D97-AF65-F5344CB8AC3E}">
        <p14:creationId xmlns:p14="http://schemas.microsoft.com/office/powerpoint/2010/main" val="13089728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3"/>
          <p:cNvSpPr>
            <a:spLocks noGrp="1"/>
          </p:cNvSpPr>
          <p:nvPr>
            <p:ph type="dt" sz="half" idx="10"/>
          </p:nvPr>
        </p:nvSpPr>
        <p:spPr/>
        <p:txBody>
          <a:bodyPr/>
          <a:lstStyle/>
          <a:p>
            <a:fld id="{51DD8109-8435-4026-A7DC-86A005422D07}" type="datetime1">
              <a:rPr lang="zh-CN" altLang="en-US"/>
              <a:pPr/>
              <a:t>2017/2/24</a:t>
            </a:fld>
            <a:endParaRPr lang="en-US" altLang="zh-CN"/>
          </a:p>
        </p:txBody>
      </p:sp>
      <p:sp>
        <p:nvSpPr>
          <p:cNvPr id="14" name="灯片编号占位符 5"/>
          <p:cNvSpPr>
            <a:spLocks noGrp="1"/>
          </p:cNvSpPr>
          <p:nvPr>
            <p:ph type="sldNum" sz="quarter" idx="12"/>
          </p:nvPr>
        </p:nvSpPr>
        <p:spPr/>
        <p:txBody>
          <a:bodyPr/>
          <a:lstStyle/>
          <a:p>
            <a:fld id="{BC721948-A263-48FF-9262-4ECC7549688A}" type="slidenum">
              <a:rPr lang="en-US" altLang="zh-CN"/>
              <a:pPr/>
              <a:t>25</a:t>
            </a:fld>
            <a:endParaRPr lang="en-US" altLang="zh-CN"/>
          </a:p>
        </p:txBody>
      </p:sp>
      <p:sp>
        <p:nvSpPr>
          <p:cNvPr id="2412546" name="Rectangle 2"/>
          <p:cNvSpPr>
            <a:spLocks noGrp="1" noChangeArrowheads="1"/>
          </p:cNvSpPr>
          <p:nvPr>
            <p:ph type="title"/>
          </p:nvPr>
        </p:nvSpPr>
        <p:spPr>
          <a:xfrm>
            <a:off x="468313" y="115888"/>
            <a:ext cx="8212137" cy="720725"/>
          </a:xfrm>
        </p:spPr>
        <p:txBody>
          <a:bodyPr/>
          <a:lstStyle/>
          <a:p>
            <a:r>
              <a:rPr lang="en-US" altLang="zh-CN" sz="4000" b="1">
                <a:latin typeface="Times New Roman" panose="02020603050405020304" pitchFamily="18" charset="0"/>
                <a:ea typeface="华文新魏" panose="02010800040101010101" pitchFamily="2" charset="-122"/>
                <a:cs typeface="Times New Roman" panose="02020603050405020304" pitchFamily="18" charset="0"/>
              </a:rPr>
              <a:t>8.4.2 </a:t>
            </a:r>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程序块结构符号表的其他实现 </a:t>
            </a:r>
          </a:p>
        </p:txBody>
      </p:sp>
      <p:sp>
        <p:nvSpPr>
          <p:cNvPr id="2412547" name="Rectangle 3"/>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2548" name="Rectangle 4"/>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2549"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2550" name="Rectangle 6"/>
          <p:cNvSpPr>
            <a:spLocks noChangeArrowheads="1"/>
          </p:cNvSpPr>
          <p:nvPr/>
        </p:nvSpPr>
        <p:spPr bwMode="auto">
          <a:xfrm>
            <a:off x="3059113" y="955675"/>
            <a:ext cx="295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kumimoji="1" lang="zh-CN" altLang="en-US" b="1">
                <a:solidFill>
                  <a:srgbClr val="FF0000"/>
                </a:solidFill>
              </a:rPr>
              <a:t>对图</a:t>
            </a:r>
            <a:r>
              <a:rPr kumimoji="1" lang="en-US" altLang="zh-CN" b="1">
                <a:solidFill>
                  <a:srgbClr val="FF0000"/>
                </a:solidFill>
              </a:rPr>
              <a:t>8.10</a:t>
            </a:r>
            <a:r>
              <a:rPr kumimoji="1" lang="zh-CN" altLang="en-US" b="1">
                <a:solidFill>
                  <a:srgbClr val="FF0000"/>
                </a:solidFill>
              </a:rPr>
              <a:t>中的程序</a:t>
            </a:r>
          </a:p>
        </p:txBody>
      </p:sp>
      <p:graphicFrame>
        <p:nvGraphicFramePr>
          <p:cNvPr id="2412551" name="Object 7"/>
          <p:cNvGraphicFramePr>
            <a:graphicFrameLocks noChangeAspect="1"/>
          </p:cNvGraphicFramePr>
          <p:nvPr/>
        </p:nvGraphicFramePr>
        <p:xfrm>
          <a:off x="1152525" y="1500188"/>
          <a:ext cx="6875463" cy="1784350"/>
        </p:xfrm>
        <a:graphic>
          <a:graphicData uri="http://schemas.openxmlformats.org/presentationml/2006/ole">
            <mc:AlternateContent xmlns:mc="http://schemas.openxmlformats.org/markup-compatibility/2006">
              <mc:Choice xmlns:v="urn:schemas-microsoft-com:vml" Requires="v">
                <p:oleObj spid="_x0000_s96260" name="Visio" r:id="rId4" imgW="3343477" imgH="868788" progId="Visio.Drawing.11">
                  <p:embed/>
                </p:oleObj>
              </mc:Choice>
              <mc:Fallback>
                <p:oleObj name="Visio" r:id="rId4" imgW="3343477" imgH="868788" progId="Visio.Drawing.11">
                  <p:embed/>
                  <p:pic>
                    <p:nvPicPr>
                      <p:cNvPr id="241255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525" y="1500188"/>
                        <a:ext cx="6875463"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12552" name="Object 8"/>
          <p:cNvGraphicFramePr>
            <a:graphicFrameLocks noChangeAspect="1"/>
          </p:cNvGraphicFramePr>
          <p:nvPr/>
        </p:nvGraphicFramePr>
        <p:xfrm>
          <a:off x="144463" y="3976688"/>
          <a:ext cx="8748712" cy="1612900"/>
        </p:xfrm>
        <a:graphic>
          <a:graphicData uri="http://schemas.openxmlformats.org/presentationml/2006/ole">
            <mc:AlternateContent xmlns:mc="http://schemas.openxmlformats.org/markup-compatibility/2006">
              <mc:Choice xmlns:v="urn:schemas-microsoft-com:vml" Requires="v">
                <p:oleObj spid="_x0000_s96261" name="Visio" r:id="rId6" imgW="4711527" imgH="868788" progId="Visio.Drawing.11">
                  <p:embed/>
                </p:oleObj>
              </mc:Choice>
              <mc:Fallback>
                <p:oleObj name="Visio" r:id="rId6" imgW="4711527" imgH="868788" progId="Visio.Drawing.11">
                  <p:embed/>
                  <p:pic>
                    <p:nvPicPr>
                      <p:cNvPr id="2412552"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463" y="3976688"/>
                        <a:ext cx="8748712"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12553" name="Rectangle 9"/>
          <p:cNvSpPr>
            <a:spLocks noChangeArrowheads="1"/>
          </p:cNvSpPr>
          <p:nvPr/>
        </p:nvSpPr>
        <p:spPr bwMode="auto">
          <a:xfrm>
            <a:off x="0" y="2149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2554" name="Rectangle 10"/>
          <p:cNvSpPr>
            <a:spLocks noChangeArrowheads="1"/>
          </p:cNvSpPr>
          <p:nvPr/>
        </p:nvSpPr>
        <p:spPr bwMode="auto">
          <a:xfrm>
            <a:off x="2627313" y="3403600"/>
            <a:ext cx="4017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b="1"/>
              <a:t>(</a:t>
            </a:r>
            <a:r>
              <a:rPr kumimoji="1" lang="en-US" altLang="zh-CN" b="1" i="1"/>
              <a:t>c</a:t>
            </a:r>
            <a:r>
              <a:rPr kumimoji="1" lang="en-US" altLang="zh-CN" b="1"/>
              <a:t>) </a:t>
            </a:r>
            <a:r>
              <a:rPr kumimoji="1" lang="zh-CN" altLang="en-US" b="1"/>
              <a:t>处理到语句</a:t>
            </a:r>
            <a:r>
              <a:rPr kumimoji="1" lang="en-US" altLang="zh-CN" b="1"/>
              <a:t>(9)</a:t>
            </a:r>
            <a:r>
              <a:rPr kumimoji="1" lang="zh-CN" altLang="en-US" b="1"/>
              <a:t>时的符号表</a:t>
            </a:r>
          </a:p>
        </p:txBody>
      </p:sp>
      <p:sp>
        <p:nvSpPr>
          <p:cNvPr id="2412555" name="Rectangle 11"/>
          <p:cNvSpPr>
            <a:spLocks noChangeArrowheads="1"/>
          </p:cNvSpPr>
          <p:nvPr/>
        </p:nvSpPr>
        <p:spPr bwMode="auto">
          <a:xfrm>
            <a:off x="2478088" y="5734050"/>
            <a:ext cx="418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b="1"/>
              <a:t>(</a:t>
            </a:r>
            <a:r>
              <a:rPr kumimoji="1" lang="en-US" altLang="zh-CN" b="1" i="1"/>
              <a:t>d</a:t>
            </a:r>
            <a:r>
              <a:rPr kumimoji="1" lang="en-US" altLang="zh-CN" b="1"/>
              <a:t>) </a:t>
            </a:r>
            <a:r>
              <a:rPr kumimoji="1" lang="zh-CN" altLang="en-US" b="1"/>
              <a:t>处理到语句</a:t>
            </a:r>
            <a:r>
              <a:rPr kumimoji="1" lang="en-US" altLang="zh-CN" b="1"/>
              <a:t>(13)</a:t>
            </a:r>
            <a:r>
              <a:rPr kumimoji="1" lang="zh-CN" altLang="en-US" b="1"/>
              <a:t>时的符号表</a:t>
            </a:r>
          </a:p>
        </p:txBody>
      </p:sp>
    </p:spTree>
    <p:extLst>
      <p:ext uri="{BB962C8B-B14F-4D97-AF65-F5344CB8AC3E}">
        <p14:creationId xmlns:p14="http://schemas.microsoft.com/office/powerpoint/2010/main" val="28638908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half" idx="10"/>
          </p:nvPr>
        </p:nvSpPr>
        <p:spPr/>
        <p:txBody>
          <a:bodyPr/>
          <a:lstStyle/>
          <a:p>
            <a:fld id="{F1DEED7E-E42A-4C7D-B490-E5578BEB3DDE}" type="datetime1">
              <a:rPr lang="zh-CN" altLang="en-US"/>
              <a:pPr/>
              <a:t>2017/2/24</a:t>
            </a:fld>
            <a:endParaRPr lang="en-US" altLang="zh-CN"/>
          </a:p>
        </p:txBody>
      </p:sp>
      <p:sp>
        <p:nvSpPr>
          <p:cNvPr id="12" name="灯片编号占位符 5"/>
          <p:cNvSpPr>
            <a:spLocks noGrp="1"/>
          </p:cNvSpPr>
          <p:nvPr>
            <p:ph type="sldNum" sz="quarter" idx="12"/>
          </p:nvPr>
        </p:nvSpPr>
        <p:spPr/>
        <p:txBody>
          <a:bodyPr/>
          <a:lstStyle/>
          <a:p>
            <a:fld id="{388E2D18-D9CE-4FF3-A960-4A3B710579DC}" type="slidenum">
              <a:rPr lang="en-US" altLang="zh-CN"/>
              <a:pPr/>
              <a:t>26</a:t>
            </a:fld>
            <a:endParaRPr lang="en-US" altLang="zh-CN"/>
          </a:p>
        </p:txBody>
      </p:sp>
      <p:sp>
        <p:nvSpPr>
          <p:cNvPr id="2414594" name="Rectangle 2"/>
          <p:cNvSpPr>
            <a:spLocks noGrp="1" noChangeArrowheads="1"/>
          </p:cNvSpPr>
          <p:nvPr>
            <p:ph type="title"/>
          </p:nvPr>
        </p:nvSpPr>
        <p:spPr>
          <a:xfrm>
            <a:off x="468313" y="115888"/>
            <a:ext cx="8212137" cy="8651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8.4.3 C</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语言的符号表 </a:t>
            </a:r>
          </a:p>
        </p:txBody>
      </p:sp>
      <p:sp>
        <p:nvSpPr>
          <p:cNvPr id="2414595" name="Rectangle 3"/>
          <p:cNvSpPr>
            <a:spLocks noGrp="1" noChangeArrowheads="1"/>
          </p:cNvSpPr>
          <p:nvPr>
            <p:ph type="body" idx="1"/>
          </p:nvPr>
        </p:nvSpPr>
        <p:spPr>
          <a:xfrm>
            <a:off x="301625" y="908050"/>
            <a:ext cx="8591550" cy="5761038"/>
          </a:xfrm>
        </p:spPr>
        <p:txBody>
          <a:bodyPr/>
          <a:lstStyle/>
          <a:p>
            <a:pPr>
              <a:lnSpc>
                <a:spcPct val="90000"/>
              </a:lnSpc>
              <a:spcBef>
                <a:spcPct val="0"/>
              </a:spcBef>
            </a:pP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如果采取将每个函数分别编译成目标代码然后连接装配成一个可执行程序的处理方式，则每个函数中的符号经一遍处理即可，而且源程序中的多个函数是一个接一个处理的，不会出现交叉，此时可以按图</a:t>
            </a:r>
            <a:r>
              <a:rPr lang="en-US" altLang="zh-CN" sz="2800" b="1">
                <a:latin typeface="Times New Roman" panose="02020603050405020304" pitchFamily="18" charset="0"/>
                <a:ea typeface="华文新魏" panose="02010800040101010101" pitchFamily="2" charset="-122"/>
                <a:cs typeface="Times New Roman" panose="02020603050405020304" pitchFamily="18" charset="0"/>
              </a:rPr>
              <a:t>8.16</a:t>
            </a:r>
            <a:r>
              <a:rPr lang="zh-CN" altLang="en-US" sz="2800" b="1">
                <a:latin typeface="Times New Roman" panose="02020603050405020304" pitchFamily="18" charset="0"/>
                <a:ea typeface="华文新魏" panose="02010800040101010101" pitchFamily="2" charset="-122"/>
                <a:cs typeface="Times New Roman" panose="02020603050405020304" pitchFamily="18" charset="0"/>
              </a:rPr>
              <a:t>的方式组织符号表。 </a:t>
            </a:r>
          </a:p>
        </p:txBody>
      </p:sp>
      <p:sp>
        <p:nvSpPr>
          <p:cNvPr id="2414596"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4597"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4598"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4599" name="Rectangle 7"/>
          <p:cNvSpPr>
            <a:spLocks noChangeArrowheads="1"/>
          </p:cNvSpPr>
          <p:nvPr/>
        </p:nvSpPr>
        <p:spPr bwMode="auto">
          <a:xfrm>
            <a:off x="0" y="2408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14600" name="Object 8"/>
          <p:cNvGraphicFramePr>
            <a:graphicFrameLocks noChangeAspect="1"/>
          </p:cNvGraphicFramePr>
          <p:nvPr/>
        </p:nvGraphicFramePr>
        <p:xfrm>
          <a:off x="1258888" y="2924175"/>
          <a:ext cx="6564312" cy="3295650"/>
        </p:xfrm>
        <a:graphic>
          <a:graphicData uri="http://schemas.openxmlformats.org/presentationml/2006/ole">
            <mc:AlternateContent xmlns:mc="http://schemas.openxmlformats.org/markup-compatibility/2006">
              <mc:Choice xmlns:v="urn:schemas-microsoft-com:vml" Requires="v">
                <p:oleObj spid="_x0000_s97283" name="Visio" r:id="rId4" imgW="3610858" imgH="1814025" progId="Visio.Drawing.11">
                  <p:embed/>
                </p:oleObj>
              </mc:Choice>
              <mc:Fallback>
                <p:oleObj name="Visio" r:id="rId4" imgW="3610858" imgH="1814025" progId="Visio.Drawing.11">
                  <p:embed/>
                  <p:pic>
                    <p:nvPicPr>
                      <p:cNvPr id="241460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924175"/>
                        <a:ext cx="6564312" cy="329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14601" name="Rectangle 9"/>
          <p:cNvSpPr>
            <a:spLocks noChangeArrowheads="1"/>
          </p:cNvSpPr>
          <p:nvPr/>
        </p:nvSpPr>
        <p:spPr bwMode="auto">
          <a:xfrm>
            <a:off x="2265363" y="6308725"/>
            <a:ext cx="4613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286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a:t>图</a:t>
            </a:r>
            <a:r>
              <a:rPr lang="en-US" altLang="zh-CN" b="1"/>
              <a:t>8.16 </a:t>
            </a:r>
            <a:r>
              <a:rPr lang="zh-CN" altLang="en-US" b="1"/>
              <a:t>一个完整</a:t>
            </a:r>
            <a:r>
              <a:rPr lang="en-US" altLang="zh-CN" b="1"/>
              <a:t>C</a:t>
            </a:r>
            <a:r>
              <a:rPr lang="zh-CN" altLang="en-US" b="1"/>
              <a:t>程序的符号表</a:t>
            </a:r>
          </a:p>
        </p:txBody>
      </p:sp>
    </p:spTree>
    <p:extLst>
      <p:ext uri="{BB962C8B-B14F-4D97-AF65-F5344CB8AC3E}">
        <p14:creationId xmlns:p14="http://schemas.microsoft.com/office/powerpoint/2010/main" val="40402244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A0918626-1FF4-4547-A129-9FD05127BABE}" type="datetime1">
              <a:rPr lang="zh-CN" altLang="en-US"/>
              <a:pPr/>
              <a:t>2017/2/24</a:t>
            </a:fld>
            <a:endParaRPr lang="en-US" altLang="zh-CN"/>
          </a:p>
        </p:txBody>
      </p:sp>
      <p:sp>
        <p:nvSpPr>
          <p:cNvPr id="10" name="灯片编号占位符 5"/>
          <p:cNvSpPr>
            <a:spLocks noGrp="1"/>
          </p:cNvSpPr>
          <p:nvPr>
            <p:ph type="sldNum" sz="quarter" idx="12"/>
          </p:nvPr>
        </p:nvSpPr>
        <p:spPr/>
        <p:txBody>
          <a:bodyPr/>
          <a:lstStyle/>
          <a:p>
            <a:fld id="{2379C429-8DEF-4F81-953A-EA905C5F0518}" type="slidenum">
              <a:rPr lang="en-US" altLang="zh-CN"/>
              <a:pPr/>
              <a:t>27</a:t>
            </a:fld>
            <a:endParaRPr lang="en-US" altLang="zh-CN"/>
          </a:p>
        </p:txBody>
      </p:sp>
      <p:sp>
        <p:nvSpPr>
          <p:cNvPr id="2416642" name="Rectangle 2"/>
          <p:cNvSpPr>
            <a:spLocks noGrp="1" noChangeArrowheads="1"/>
          </p:cNvSpPr>
          <p:nvPr>
            <p:ph type="title"/>
          </p:nvPr>
        </p:nvSpPr>
        <p:spPr>
          <a:xfrm>
            <a:off x="468313" y="115888"/>
            <a:ext cx="8212137" cy="865187"/>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嵌套过程的符号表 </a:t>
            </a:r>
          </a:p>
        </p:txBody>
      </p:sp>
      <p:sp>
        <p:nvSpPr>
          <p:cNvPr id="2416643" name="Rectangle 3"/>
          <p:cNvSpPr>
            <a:spLocks noGrp="1" noChangeArrowheads="1"/>
          </p:cNvSpPr>
          <p:nvPr>
            <p:ph type="body" idx="1"/>
          </p:nvPr>
        </p:nvSpPr>
        <p:spPr>
          <a:xfrm>
            <a:off x="301625" y="1052513"/>
            <a:ext cx="8591550" cy="5113337"/>
          </a:xfrm>
        </p:spPr>
        <p:txBody>
          <a:bodyPr/>
          <a:lstStyle/>
          <a:p>
            <a:pPr marL="609600" indent="-609600">
              <a:spcBef>
                <a:spcPct val="0"/>
              </a:spcBef>
              <a:buFontTx/>
              <a:buNone/>
            </a:pPr>
            <a:r>
              <a:rPr lang="en-US" altLang="zh-CN" sz="3600" b="1" dirty="0">
                <a:latin typeface="Times New Roman" panose="02020603050405020304" pitchFamily="18" charset="0"/>
                <a:ea typeface="华文新魏" panose="02010800040101010101" pitchFamily="2" charset="-122"/>
                <a:cs typeface="Times New Roman" panose="02020603050405020304" pitchFamily="18" charset="0"/>
              </a:rPr>
              <a:t>Pascal</a:t>
            </a:r>
            <a:r>
              <a:rPr lang="zh-CN" altLang="en-US" sz="3600" b="1" dirty="0">
                <a:latin typeface="Times New Roman" panose="02020603050405020304" pitchFamily="18" charset="0"/>
                <a:ea typeface="华文新魏" panose="02010800040101010101" pitchFamily="2" charset="-122"/>
                <a:cs typeface="Times New Roman" panose="02020603050405020304" pitchFamily="18" charset="0"/>
              </a:rPr>
              <a:t>等允许在过程中嵌套定义其它过程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program sort(input, output);</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procedure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readarray</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begin … end{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readarray</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procedure exchange(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j : integer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begin … end{ exchange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procedure quicksort( m, n : integer );</a:t>
            </a:r>
            <a:endParaRPr lang="fr-FR" altLang="zh-CN" sz="2800" b="1" dirty="0">
              <a:latin typeface="Times New Roman" panose="02020603050405020304" pitchFamily="18" charset="0"/>
              <a:ea typeface="华文新魏" panose="02010800040101010101" pitchFamily="2" charset="-122"/>
              <a:cs typeface="Times New Roman" panose="02020603050405020304" pitchFamily="18" charset="0"/>
            </a:endParaRPr>
          </a:p>
          <a:p>
            <a:pPr marL="609600" indent="-609600">
              <a:spcBef>
                <a:spcPct val="0"/>
              </a:spcBef>
              <a:buFontTx/>
              <a:buNone/>
            </a:pPr>
            <a:r>
              <a:rPr lang="fr-FR" altLang="zh-CN" sz="2800" b="1" dirty="0">
                <a:latin typeface="Times New Roman" panose="02020603050405020304" pitchFamily="18" charset="0"/>
                <a:ea typeface="华文新魏" panose="02010800040101010101" pitchFamily="2" charset="-122"/>
                <a:cs typeface="Times New Roman" panose="02020603050405020304" pitchFamily="18" charset="0"/>
              </a:rPr>
              <a:t>     function partition( x, y : integer );</a:t>
            </a:r>
          </a:p>
          <a:p>
            <a:pPr marL="609600" indent="-609600">
              <a:spcBef>
                <a:spcPct val="0"/>
              </a:spcBef>
              <a:buFontTx/>
              <a:buNone/>
            </a:pPr>
            <a:r>
              <a:rPr lang="fr-FR"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begin … end{ partition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begin … end{ quicksort };</a:t>
            </a:r>
          </a:p>
          <a:p>
            <a:pPr marL="609600" indent="-609600">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begin … end{ sort };</a:t>
            </a:r>
          </a:p>
        </p:txBody>
      </p:sp>
      <p:sp>
        <p:nvSpPr>
          <p:cNvPr id="2416644" name="Rectangle 4"/>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645"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646" name="Rectangle 6"/>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647" name="Rectangle 7"/>
          <p:cNvSpPr>
            <a:spLocks noChangeArrowheads="1"/>
          </p:cNvSpPr>
          <p:nvPr/>
        </p:nvSpPr>
        <p:spPr bwMode="auto">
          <a:xfrm>
            <a:off x="0" y="2408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6697357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03071A00-2129-419C-897E-EBB08E029851}" type="datetime1">
              <a:rPr lang="zh-CN" altLang="en-US"/>
              <a:pPr/>
              <a:t>2017/2/24</a:t>
            </a:fld>
            <a:endParaRPr lang="en-US" altLang="zh-CN"/>
          </a:p>
        </p:txBody>
      </p:sp>
      <p:sp>
        <p:nvSpPr>
          <p:cNvPr id="11" name="灯片编号占位符 5"/>
          <p:cNvSpPr>
            <a:spLocks noGrp="1"/>
          </p:cNvSpPr>
          <p:nvPr>
            <p:ph type="sldNum" sz="quarter" idx="12"/>
          </p:nvPr>
        </p:nvSpPr>
        <p:spPr/>
        <p:txBody>
          <a:bodyPr/>
          <a:lstStyle/>
          <a:p>
            <a:fld id="{B7655106-14D3-4221-905E-C29CE45C9918}" type="slidenum">
              <a:rPr lang="en-US" altLang="zh-CN"/>
              <a:pPr/>
              <a:t>28</a:t>
            </a:fld>
            <a:endParaRPr lang="en-US" altLang="zh-CN"/>
          </a:p>
        </p:txBody>
      </p:sp>
      <p:sp>
        <p:nvSpPr>
          <p:cNvPr id="2418690" name="Rectangle 2"/>
          <p:cNvSpPr>
            <a:spLocks noGrp="1" noChangeArrowheads="1"/>
          </p:cNvSpPr>
          <p:nvPr>
            <p:ph type="title"/>
          </p:nvPr>
        </p:nvSpPr>
        <p:spPr>
          <a:xfrm>
            <a:off x="468313" y="115888"/>
            <a:ext cx="8212137" cy="792162"/>
          </a:xfrm>
        </p:spPr>
        <p:txBody>
          <a:bodyPr/>
          <a:lstStyle/>
          <a:p>
            <a:r>
              <a:rPr lang="en-US" altLang="zh-CN" b="1">
                <a:latin typeface="Times New Roman" panose="02020603050405020304" pitchFamily="18" charset="0"/>
                <a:ea typeface="华文新魏" panose="02010800040101010101" pitchFamily="2" charset="-122"/>
                <a:cs typeface="Times New Roman" panose="02020603050405020304" pitchFamily="18" charset="0"/>
              </a:rPr>
              <a:t>8.4.4 </a:t>
            </a:r>
            <a:r>
              <a:rPr lang="zh-CN" altLang="en-US" b="1">
                <a:latin typeface="Times New Roman" panose="02020603050405020304" pitchFamily="18" charset="0"/>
                <a:ea typeface="华文新魏" panose="02010800040101010101" pitchFamily="2" charset="-122"/>
                <a:cs typeface="Times New Roman" panose="02020603050405020304" pitchFamily="18" charset="0"/>
              </a:rPr>
              <a:t>嵌套过程的符号表 </a:t>
            </a:r>
          </a:p>
        </p:txBody>
      </p:sp>
      <p:sp>
        <p:nvSpPr>
          <p:cNvPr id="2418691" name="Rectangle 3"/>
          <p:cNvSpPr>
            <a:spLocks noChangeArrowheads="1"/>
          </p:cNvSpPr>
          <p:nvPr/>
        </p:nvSpPr>
        <p:spPr bwMode="auto">
          <a:xfrm>
            <a:off x="0" y="2481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8692" name="Rectangle 4"/>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8693" name="Rectangle 5"/>
          <p:cNvSpPr>
            <a:spLocks noChangeArrowheads="1"/>
          </p:cNvSpPr>
          <p:nvPr/>
        </p:nvSpPr>
        <p:spPr bwMode="auto">
          <a:xfrm>
            <a:off x="0" y="3306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8694" name="Rectangle 6"/>
          <p:cNvSpPr>
            <a:spLocks noChangeArrowheads="1"/>
          </p:cNvSpPr>
          <p:nvPr/>
        </p:nvSpPr>
        <p:spPr bwMode="auto">
          <a:xfrm>
            <a:off x="0" y="2408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8695" name="Rectangle 7"/>
          <p:cNvSpPr>
            <a:spLocks noChangeArrowheads="1"/>
          </p:cNvSpPr>
          <p:nvPr/>
        </p:nvSpPr>
        <p:spPr bwMode="auto">
          <a:xfrm>
            <a:off x="0" y="2027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418696" name="Object 8"/>
          <p:cNvGraphicFramePr>
            <a:graphicFrameLocks noChangeAspect="1"/>
          </p:cNvGraphicFramePr>
          <p:nvPr/>
        </p:nvGraphicFramePr>
        <p:xfrm>
          <a:off x="144463" y="836613"/>
          <a:ext cx="8820150" cy="5491162"/>
        </p:xfrm>
        <a:graphic>
          <a:graphicData uri="http://schemas.openxmlformats.org/presentationml/2006/ole">
            <mc:AlternateContent xmlns:mc="http://schemas.openxmlformats.org/markup-compatibility/2006">
              <mc:Choice xmlns:v="urn:schemas-microsoft-com:vml" Requires="v">
                <p:oleObj spid="_x0000_s98307" name="Visio" r:id="rId4" imgW="4503732" imgH="2806725" progId="Visio.Drawing.11">
                  <p:embed/>
                </p:oleObj>
              </mc:Choice>
              <mc:Fallback>
                <p:oleObj name="Visio" r:id="rId4" imgW="4503732" imgH="2806725" progId="Visio.Drawing.11">
                  <p:embed/>
                  <p:pic>
                    <p:nvPicPr>
                      <p:cNvPr id="241869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63" y="836613"/>
                        <a:ext cx="8820150" cy="549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852912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A626FEA-B2AC-45CD-B24C-86EBCCE3868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AABE7F1-2308-4EF7-AA6F-53F5392D3651}" type="slidenum">
              <a:rPr lang="en-US" altLang="zh-CN"/>
              <a:pPr/>
              <a:t>29</a:t>
            </a:fld>
            <a:endParaRPr lang="en-US" altLang="zh-CN"/>
          </a:p>
        </p:txBody>
      </p:sp>
      <p:sp>
        <p:nvSpPr>
          <p:cNvPr id="2420738" name="Rectangle 2"/>
          <p:cNvSpPr>
            <a:spLocks noGrp="1" noChangeArrowheads="1"/>
          </p:cNvSpPr>
          <p:nvPr>
            <p:ph type="title"/>
          </p:nvPr>
        </p:nvSpPr>
        <p:spPr>
          <a:xfrm>
            <a:off x="458788" y="115888"/>
            <a:ext cx="8212137" cy="576262"/>
          </a:xfrm>
        </p:spPr>
        <p:txBody>
          <a:bodyPr/>
          <a:lstStyle/>
          <a:p>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420739" name="Rectangle 3"/>
          <p:cNvSpPr>
            <a:spLocks noGrp="1" noChangeArrowheads="1"/>
          </p:cNvSpPr>
          <p:nvPr>
            <p:ph type="body" idx="1"/>
          </p:nvPr>
        </p:nvSpPr>
        <p:spPr>
          <a:xfrm>
            <a:off x="107950" y="836613"/>
            <a:ext cx="8964613" cy="5545137"/>
          </a:xfrm>
        </p:spPr>
        <p:txBody>
          <a:bodyPr/>
          <a:lstStyle/>
          <a:p>
            <a:pPr marL="609600" indent="-609600"/>
            <a:r>
              <a:rPr lang="zh-CN" altLang="en-US" sz="2900" b="1">
                <a:latin typeface="Times New Roman" panose="02020603050405020304" pitchFamily="18" charset="0"/>
                <a:ea typeface="华文新魏" panose="02010800040101010101" pitchFamily="2" charset="-122"/>
                <a:cs typeface="Times New Roman" panose="02020603050405020304" pitchFamily="18" charset="0"/>
              </a:rPr>
              <a:t>符号表用来存放编译器各阶段收集来的各种名字的类型和特征等有关信息，并供编译程序用于语法检查、语义检查、生成中间代码及生成目标代码等；</a:t>
            </a:r>
          </a:p>
          <a:p>
            <a:pPr marL="609600" indent="-609600"/>
            <a:r>
              <a:rPr lang="zh-CN" altLang="en-US" sz="2900" b="1">
                <a:latin typeface="Times New Roman" panose="02020603050405020304" pitchFamily="18" charset="0"/>
                <a:ea typeface="华文新魏" panose="02010800040101010101" pitchFamily="2" charset="-122"/>
                <a:cs typeface="Times New Roman" panose="02020603050405020304" pitchFamily="18" charset="0"/>
              </a:rPr>
              <a:t>源程序中会出现各种各样的名字，如函数名、函数参数名、函数中的局部变量名、全局变量名、数组名、结构名、文件名等，相应的属性可以是种属、类型、地址等</a:t>
            </a:r>
            <a:r>
              <a:rPr lang="en-US" altLang="zh-CN" sz="2900" b="1">
                <a:latin typeface="Times New Roman" panose="02020603050405020304" pitchFamily="18" charset="0"/>
                <a:ea typeface="华文新魏" panose="02010800040101010101" pitchFamily="2" charset="-122"/>
                <a:cs typeface="Times New Roman" panose="02020603050405020304" pitchFamily="18" charset="0"/>
              </a:rPr>
              <a:t>;</a:t>
            </a:r>
          </a:p>
          <a:p>
            <a:pPr marL="609600" indent="-609600"/>
            <a:r>
              <a:rPr lang="zh-CN" altLang="en-US" sz="2900" b="1">
                <a:latin typeface="Times New Roman" panose="02020603050405020304" pitchFamily="18" charset="0"/>
                <a:ea typeface="华文新魏" panose="02010800040101010101" pitchFamily="2" charset="-122"/>
                <a:cs typeface="Times New Roman" panose="02020603050405020304" pitchFamily="18" charset="0"/>
              </a:rPr>
              <a:t>根据符号所需的属性个数和类型的不同，可以组成不同的符号表，也可以组成统一的符号表，在组成统一符号表时，需要采用恰当的组织结构，以便可以对其进行高效处理</a:t>
            </a:r>
            <a:r>
              <a:rPr lang="en-US" altLang="zh-CN" sz="2900" b="1">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24316971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331E249-B610-4FFA-8738-B77009451DA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2C15484-F374-4752-ACCE-539E8B084318}" type="slidenum">
              <a:rPr lang="en-US" altLang="zh-CN"/>
              <a:pPr/>
              <a:t>30</a:t>
            </a:fld>
            <a:endParaRPr lang="en-US" altLang="zh-CN"/>
          </a:p>
        </p:txBody>
      </p:sp>
      <p:sp>
        <p:nvSpPr>
          <p:cNvPr id="2876418" name="Rectangle 2"/>
          <p:cNvSpPr>
            <a:spLocks noGrp="1" noChangeArrowheads="1"/>
          </p:cNvSpPr>
          <p:nvPr>
            <p:ph type="title"/>
          </p:nvPr>
        </p:nvSpPr>
        <p:spPr>
          <a:xfrm>
            <a:off x="468313" y="476250"/>
            <a:ext cx="8212137" cy="865188"/>
          </a:xfrm>
        </p:spPr>
        <p:txBody>
          <a:bodyPr/>
          <a:lstStyle/>
          <a:p>
            <a:r>
              <a:rPr lang="zh-CN" altLang="en-US" sz="4000" b="1">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876419" name="Rectangle 3"/>
          <p:cNvSpPr>
            <a:spLocks noGrp="1" noChangeArrowheads="1"/>
          </p:cNvSpPr>
          <p:nvPr>
            <p:ph type="body" idx="1"/>
          </p:nvPr>
        </p:nvSpPr>
        <p:spPr>
          <a:xfrm>
            <a:off x="107950" y="1628775"/>
            <a:ext cx="8964613" cy="4752975"/>
          </a:xfrm>
        </p:spPr>
        <p:txBody>
          <a:bodyPr/>
          <a:lstStyle/>
          <a:p>
            <a:pPr marL="609600" indent="-609600"/>
            <a:r>
              <a:rPr lang="zh-CN" altLang="en-US" sz="3300" b="1" dirty="0">
                <a:latin typeface="Times New Roman" panose="02020603050405020304" pitchFamily="18" charset="0"/>
                <a:ea typeface="华文新魏" panose="02010800040101010101" pitchFamily="2" charset="-122"/>
                <a:cs typeface="Times New Roman" panose="02020603050405020304" pitchFamily="18" charset="0"/>
              </a:rPr>
              <a:t>随着程序规模的扩大，符号名的数量会很大，因而必须关注符号表的组织和高效管理。无序线性符号表、有序线性符号表、散列表示符号表具有不同性能的组织形式</a:t>
            </a:r>
            <a:r>
              <a:rPr lang="en-US" altLang="zh-CN" sz="3300" b="1" dirty="0">
                <a:latin typeface="Times New Roman" panose="02020603050405020304" pitchFamily="18" charset="0"/>
                <a:ea typeface="华文新魏" panose="02010800040101010101" pitchFamily="2" charset="-122"/>
                <a:cs typeface="Times New Roman" panose="02020603050405020304" pitchFamily="18" charset="0"/>
              </a:rPr>
              <a:t>;</a:t>
            </a:r>
          </a:p>
          <a:p>
            <a:pPr marL="609600" indent="-609600"/>
            <a:r>
              <a:rPr lang="zh-CN" altLang="en-US" sz="3300" b="1" dirty="0">
                <a:latin typeface="Times New Roman" panose="02020603050405020304" pitchFamily="18" charset="0"/>
                <a:ea typeface="华文新魏" panose="02010800040101010101" pitchFamily="2" charset="-122"/>
                <a:cs typeface="Times New Roman" panose="02020603050405020304" pitchFamily="18" charset="0"/>
              </a:rPr>
              <a:t>符号表管理中必须关注到语言所规定的符号的作用域，特别是在嵌套结构的程序中，符号的作用域是分层的</a:t>
            </a:r>
            <a:r>
              <a:rPr lang="en-US" altLang="zh-CN" sz="3300" b="1" dirty="0">
                <a:latin typeface="Times New Roman" panose="02020603050405020304" pitchFamily="18" charset="0"/>
                <a:ea typeface="华文新魏" panose="02010800040101010101" pitchFamily="2" charset="-122"/>
                <a:cs typeface="Times New Roman" panose="02020603050405020304" pitchFamily="18" charset="0"/>
              </a:rPr>
              <a:t>;</a:t>
            </a:r>
          </a:p>
          <a:p>
            <a:pPr marL="609600" indent="-609600"/>
            <a:r>
              <a:rPr lang="en-US" altLang="zh-CN" sz="33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3300" b="1" dirty="0">
                <a:latin typeface="Times New Roman" panose="02020603050405020304" pitchFamily="18" charset="0"/>
                <a:ea typeface="华文新魏" panose="02010800040101010101" pitchFamily="2" charset="-122"/>
                <a:cs typeface="Times New Roman" panose="02020603050405020304" pitchFamily="18" charset="0"/>
              </a:rPr>
              <a:t>语言符号表的管理。</a:t>
            </a:r>
          </a:p>
        </p:txBody>
      </p:sp>
    </p:spTree>
    <p:extLst>
      <p:ext uri="{BB962C8B-B14F-4D97-AF65-F5344CB8AC3E}">
        <p14:creationId xmlns:p14="http://schemas.microsoft.com/office/powerpoint/2010/main" val="2748467042"/>
      </p:ext>
    </p:extLst>
  </p:cSld>
  <p:clrMapOvr>
    <a:masterClrMapping/>
  </p:clrMapOvr>
  <p:timing>
    <p:tnLst>
      <p:par>
        <p:cTn id="1" dur="indefinite" restart="never" nodeType="tmRoot"/>
      </p:par>
    </p:tn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12编译原理-5</Template>
  <TotalTime>3775</TotalTime>
  <Words>2109</Words>
  <Application>Microsoft Office PowerPoint</Application>
  <PresentationFormat>全屏显示(4:3)</PresentationFormat>
  <Paragraphs>271</Paragraphs>
  <Slides>30</Slides>
  <Notes>28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42" baseType="lpstr">
      <vt:lpstr>华文新魏</vt:lpstr>
      <vt:lpstr>楷体_GB2312</vt:lpstr>
      <vt:lpstr>宋体</vt:lpstr>
      <vt:lpstr>Arial</vt:lpstr>
      <vt:lpstr>Symbol</vt:lpstr>
      <vt:lpstr>Tahoma</vt:lpstr>
      <vt:lpstr>Times New Roman</vt:lpstr>
      <vt:lpstr>Wingdings</vt:lpstr>
      <vt:lpstr>诗情画意</vt:lpstr>
      <vt:lpstr>剪辑</vt:lpstr>
      <vt:lpstr>Visio</vt:lpstr>
      <vt:lpstr>Equation</vt:lpstr>
      <vt:lpstr>编译原理 (Principles of Compiling)</vt:lpstr>
      <vt:lpstr>第8章 符号表管理 </vt:lpstr>
      <vt:lpstr>8.1 符号表的作用</vt:lpstr>
      <vt:lpstr>8.1 符号表的作用</vt:lpstr>
      <vt:lpstr>8.2 符号表中存放的信息</vt:lpstr>
      <vt:lpstr>8.1.1 符号表中的名字</vt:lpstr>
      <vt:lpstr>8.1.1 符号表中的名字</vt:lpstr>
      <vt:lpstr>8.1.1 符号表中的名字</vt:lpstr>
      <vt:lpstr>8.1.1 符号表中的名字</vt:lpstr>
      <vt:lpstr>8.1.2 符号表中的属性</vt:lpstr>
      <vt:lpstr>8.1.2 符号表中的属性</vt:lpstr>
      <vt:lpstr>8.1.2 符号表中的属性</vt:lpstr>
      <vt:lpstr>8.1.2 符号表中的属性</vt:lpstr>
      <vt:lpstr>8.1.3 符号的地址属性</vt:lpstr>
      <vt:lpstr>8.3 符号表的组织结构 8.3.1 符号表的线性表实现 </vt:lpstr>
      <vt:lpstr>8.3.2 符号表的散列表实现 </vt:lpstr>
      <vt:lpstr>8.3.2 符号表的散列表实现 </vt:lpstr>
      <vt:lpstr>8.4 符号表与作用域 </vt:lpstr>
      <vt:lpstr>8.4.1 程序块结构的符号表 </vt:lpstr>
      <vt:lpstr>8.4.1 程序块结构的符号表 </vt:lpstr>
      <vt:lpstr>8.4.2 程序块结构符号表的其他实现 </vt:lpstr>
      <vt:lpstr>8.4.2 程序块结构符号表的其他实现 </vt:lpstr>
      <vt:lpstr>8.4.2 程序块结构符号表的其他实现 </vt:lpstr>
      <vt:lpstr>8.4.2 程序块结构符号表的其他实现 </vt:lpstr>
      <vt:lpstr>8.4.2 程序块结构符号表的其他实现 </vt:lpstr>
      <vt:lpstr>8.4.3 C语言的符号表 </vt:lpstr>
      <vt:lpstr>8.4.4 嵌套过程的符号表 </vt:lpstr>
      <vt:lpstr>8.4.4 嵌套过程的符号表 </vt:lpstr>
      <vt:lpstr>本章小结</vt:lpstr>
      <vt:lpstr>本章小结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177</cp:revision>
  <cp:lastPrinted>1601-01-01T00:00:00Z</cp:lastPrinted>
  <dcterms:created xsi:type="dcterms:W3CDTF">2003-07-09T14:46:46Z</dcterms:created>
  <dcterms:modified xsi:type="dcterms:W3CDTF">2017-02-24T00:44:55Z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