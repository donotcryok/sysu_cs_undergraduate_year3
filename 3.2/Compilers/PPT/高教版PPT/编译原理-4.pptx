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0" r:id="rId1"/>
  </p:sldMasterIdLst>
  <p:notesMasterIdLst>
    <p:notesMasterId r:id="rId94"/>
  </p:notesMasterIdLst>
  <p:handoutMasterIdLst>
    <p:handoutMasterId r:id="rId95"/>
  </p:handoutMasterIdLst>
  <p:sldIdLst>
    <p:sldId id="484" r:id="rId2"/>
    <p:sldId id="457" r:id="rId3"/>
    <p:sldId id="439" r:id="rId4"/>
    <p:sldId id="440" r:id="rId5"/>
    <p:sldId id="441" r:id="rId6"/>
    <p:sldId id="442" r:id="rId7"/>
    <p:sldId id="443" r:id="rId8"/>
    <p:sldId id="444" r:id="rId9"/>
    <p:sldId id="445" r:id="rId10"/>
    <p:sldId id="446" r:id="rId11"/>
    <p:sldId id="447" r:id="rId12"/>
    <p:sldId id="448" r:id="rId13"/>
    <p:sldId id="381" r:id="rId14"/>
    <p:sldId id="307" r:id="rId15"/>
    <p:sldId id="308" r:id="rId16"/>
    <p:sldId id="310" r:id="rId17"/>
    <p:sldId id="311" r:id="rId18"/>
    <p:sldId id="312" r:id="rId19"/>
    <p:sldId id="451" r:id="rId20"/>
    <p:sldId id="314" r:id="rId21"/>
    <p:sldId id="315" r:id="rId22"/>
    <p:sldId id="316" r:id="rId23"/>
    <p:sldId id="304" r:id="rId24"/>
    <p:sldId id="465" r:id="rId25"/>
    <p:sldId id="305" r:id="rId26"/>
    <p:sldId id="318" r:id="rId27"/>
    <p:sldId id="466" r:id="rId28"/>
    <p:sldId id="317" r:id="rId29"/>
    <p:sldId id="319" r:id="rId30"/>
    <p:sldId id="320" r:id="rId31"/>
    <p:sldId id="467" r:id="rId32"/>
    <p:sldId id="321" r:id="rId33"/>
    <p:sldId id="397" r:id="rId34"/>
    <p:sldId id="322" r:id="rId35"/>
    <p:sldId id="486" r:id="rId36"/>
    <p:sldId id="487" r:id="rId37"/>
    <p:sldId id="488" r:id="rId38"/>
    <p:sldId id="489" r:id="rId39"/>
    <p:sldId id="490" r:id="rId40"/>
    <p:sldId id="491" r:id="rId41"/>
    <p:sldId id="492" r:id="rId42"/>
    <p:sldId id="493" r:id="rId43"/>
    <p:sldId id="494" r:id="rId44"/>
    <p:sldId id="495" r:id="rId45"/>
    <p:sldId id="496" r:id="rId46"/>
    <p:sldId id="497" r:id="rId47"/>
    <p:sldId id="498" r:id="rId48"/>
    <p:sldId id="499" r:id="rId49"/>
    <p:sldId id="500" r:id="rId50"/>
    <p:sldId id="501" r:id="rId51"/>
    <p:sldId id="502" r:id="rId52"/>
    <p:sldId id="503" r:id="rId53"/>
    <p:sldId id="504" r:id="rId54"/>
    <p:sldId id="505" r:id="rId55"/>
    <p:sldId id="506" r:id="rId56"/>
    <p:sldId id="507" r:id="rId57"/>
    <p:sldId id="508" r:id="rId58"/>
    <p:sldId id="509" r:id="rId59"/>
    <p:sldId id="510" r:id="rId60"/>
    <p:sldId id="511" r:id="rId61"/>
    <p:sldId id="512" r:id="rId62"/>
    <p:sldId id="514" r:id="rId63"/>
    <p:sldId id="515" r:id="rId64"/>
    <p:sldId id="516" r:id="rId65"/>
    <p:sldId id="517" r:id="rId66"/>
    <p:sldId id="518" r:id="rId67"/>
    <p:sldId id="519" r:id="rId68"/>
    <p:sldId id="520" r:id="rId69"/>
    <p:sldId id="521" r:id="rId70"/>
    <p:sldId id="522" r:id="rId71"/>
    <p:sldId id="523" r:id="rId72"/>
    <p:sldId id="524" r:id="rId73"/>
    <p:sldId id="533" r:id="rId74"/>
    <p:sldId id="534" r:id="rId75"/>
    <p:sldId id="535" r:id="rId76"/>
    <p:sldId id="536" r:id="rId77"/>
    <p:sldId id="537" r:id="rId78"/>
    <p:sldId id="538" r:id="rId79"/>
    <p:sldId id="539" r:id="rId80"/>
    <p:sldId id="540" r:id="rId81"/>
    <p:sldId id="541" r:id="rId82"/>
    <p:sldId id="542" r:id="rId83"/>
    <p:sldId id="543" r:id="rId84"/>
    <p:sldId id="544" r:id="rId85"/>
    <p:sldId id="545" r:id="rId86"/>
    <p:sldId id="546" r:id="rId87"/>
    <p:sldId id="547" r:id="rId88"/>
    <p:sldId id="548" r:id="rId89"/>
    <p:sldId id="549" r:id="rId90"/>
    <p:sldId id="550" r:id="rId91"/>
    <p:sldId id="552" r:id="rId92"/>
    <p:sldId id="553" r:id="rId93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宋体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宋体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宋体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宋体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宋体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Tahoma" pitchFamily="34" charset="0"/>
        <a:ea typeface="宋体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Tahoma" pitchFamily="34" charset="0"/>
        <a:ea typeface="宋体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Tahoma" pitchFamily="34" charset="0"/>
        <a:ea typeface="宋体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Tahoma" pitchFamily="34" charset="0"/>
        <a:ea typeface="宋体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66"/>
    <a:srgbClr val="CC0000"/>
    <a:srgbClr val="00FF00"/>
    <a:srgbClr val="B2B2B2"/>
    <a:srgbClr val="FFCC66"/>
    <a:srgbClr val="993366"/>
    <a:srgbClr val="A4A242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566" autoAdjust="0"/>
    <p:restoredTop sz="94636" autoAdjust="0"/>
  </p:normalViewPr>
  <p:slideViewPr>
    <p:cSldViewPr>
      <p:cViewPr varScale="1">
        <p:scale>
          <a:sx n="119" d="100"/>
          <a:sy n="119" d="100"/>
        </p:scale>
        <p:origin x="912" y="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6" Type="http://schemas.openxmlformats.org/officeDocument/2006/relationships/slide" Target="slides/slide75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97" Type="http://schemas.openxmlformats.org/officeDocument/2006/relationships/viewProps" Target="view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87" Type="http://schemas.openxmlformats.org/officeDocument/2006/relationships/slide" Target="slides/slide86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90" Type="http://schemas.openxmlformats.org/officeDocument/2006/relationships/slide" Target="slides/slide89.xml"/><Relationship Id="rId95" Type="http://schemas.openxmlformats.org/officeDocument/2006/relationships/handoutMaster" Target="handoutMasters/handoutMaster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slide" Target="slides/slide92.xml"/><Relationship Id="rId98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notesMaster" Target="notesMasters/notesMaster1.xml"/><Relationship Id="rId9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90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7990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7990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7990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</a:defRPr>
            </a:lvl1pPr>
          </a:lstStyle>
          <a:p>
            <a:pPr>
              <a:defRPr/>
            </a:pPr>
            <a:fld id="{D5310AC7-0EF7-45DA-8A96-D7EEC820916E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7499902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82" name="Rectangle 1026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27683" name="Rectangle 1027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12644" name="Rectangle 1028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27685" name="Rectangle 1029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 smtClean="0"/>
              <a:t>单击此处编辑母版文本样式</a:t>
            </a:r>
          </a:p>
          <a:p>
            <a:pPr lvl="1"/>
            <a:r>
              <a:rPr lang="zh-CN" altLang="en-US" noProof="0" smtClean="0"/>
              <a:t>第二级</a:t>
            </a:r>
          </a:p>
          <a:p>
            <a:pPr lvl="2"/>
            <a:r>
              <a:rPr lang="zh-CN" altLang="en-US" noProof="0" smtClean="0"/>
              <a:t>第三级</a:t>
            </a:r>
          </a:p>
          <a:p>
            <a:pPr lvl="3"/>
            <a:r>
              <a:rPr lang="zh-CN" altLang="en-US" noProof="0" smtClean="0"/>
              <a:t>第四级</a:t>
            </a:r>
          </a:p>
          <a:p>
            <a:pPr lvl="4"/>
            <a:r>
              <a:rPr lang="zh-CN" altLang="en-US" noProof="0" smtClean="0"/>
              <a:t>第五级</a:t>
            </a:r>
          </a:p>
        </p:txBody>
      </p:sp>
      <p:sp>
        <p:nvSpPr>
          <p:cNvPr id="327686" name="Rectangle 1030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27687" name="Rectangle 1031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96F97896-58B1-49BA-8F52-275FFDB9528B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0616904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D84C64C2-7EE8-4228-8994-78C17E47DCAD}" type="slidenum">
              <a:rPr lang="zh-CN" altLang="en-US" smtClean="0"/>
              <a:pPr eaLnBrk="1" hangingPunct="1"/>
              <a:t>91</a:t>
            </a:fld>
            <a:endParaRPr lang="en-US" altLang="zh-CN" smtClean="0"/>
          </a:p>
        </p:txBody>
      </p:sp>
      <p:sp>
        <p:nvSpPr>
          <p:cNvPr id="1136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solidFill>
            <a:srgbClr val="FFFFFF"/>
          </a:solidFill>
          <a:ln/>
        </p:spPr>
      </p:sp>
      <p:sp>
        <p:nvSpPr>
          <p:cNvPr id="113668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r>
              <a:rPr lang="zh-CN" altLang="en-US" smtClean="0"/>
              <a:t>	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114" name="Rectangle 2"/>
          <p:cNvSpPr>
            <a:spLocks noGrp="1" noRot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46115" name="Rectangle 3"/>
          <p:cNvSpPr>
            <a:spLocks noGrp="1" noRot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8379B11-6FDC-439D-BE80-BC4B7B9B0E66}" type="datetime1">
              <a:rPr lang="zh-CN" altLang="en-US"/>
              <a:pPr>
                <a:defRPr/>
              </a:pPr>
              <a:t>2017/2/24</a:t>
            </a:fld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CB1612C-2892-4488-83E0-409CE600C22C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307906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5076FEE-0177-4E7D-99EE-5E6843268FAC}" type="datetime1">
              <a:rPr lang="zh-CN" altLang="en-US"/>
              <a:pPr>
                <a:defRPr/>
              </a:pPr>
              <a:t>2017/2/24</a:t>
            </a:fld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126A4EC-8D64-482B-A17C-31C656DE9D8D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631111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3BFBA93-096B-4EEB-96B9-266E4C55850F}" type="datetime1">
              <a:rPr lang="zh-CN" altLang="en-US"/>
              <a:pPr>
                <a:defRPr/>
              </a:pPr>
              <a:t>2017/2/24</a:t>
            </a:fld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A399F1-BFF5-4D5A-92E7-2D5A8E78A604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101086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01625" y="1905000"/>
            <a:ext cx="4194175" cy="41941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05000"/>
            <a:ext cx="4194175" cy="41941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E3A5A19-9163-45F2-BD23-B7887A90DE88}" type="datetime1">
              <a:rPr lang="zh-CN" altLang="en-US"/>
              <a:pPr>
                <a:defRPr/>
              </a:pPr>
              <a:t>2017/2/24</a:t>
            </a:fld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0385F97-3161-4194-8484-A430B878B992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024237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61E9694-D6F4-47F0-B3DB-431EF84C6C4B}" type="datetime1">
              <a:rPr lang="zh-CN" altLang="en-US"/>
              <a:pPr>
                <a:defRPr/>
              </a:pPr>
              <a:t>2017/2/24</a:t>
            </a:fld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3405023-EE1B-4A6E-91D6-9FECF5141D80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021264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4132243-7EFA-477B-A884-60F964E83A0A}" type="datetime1">
              <a:rPr lang="zh-CN" altLang="en-US"/>
              <a:pPr>
                <a:defRPr/>
              </a:pPr>
              <a:t>2017/2/24</a:t>
            </a:fld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D5D2E95-EB78-4CF6-91C1-6F9D18C4E662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707862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2E36667-91FF-40D0-96F4-CD9C0BB6330E}" type="datetime1">
              <a:rPr lang="zh-CN" altLang="en-US"/>
              <a:pPr>
                <a:defRPr/>
              </a:pPr>
              <a:t>2017/2/24</a:t>
            </a:fld>
            <a:endParaRPr lang="en-US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11108D4-905E-4BEB-8EAE-53A6F0D6347D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944101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A7CDDC0-CCF9-4310-9F7B-4C2112498EA7}" type="datetime1">
              <a:rPr lang="zh-CN" altLang="en-US"/>
              <a:pPr>
                <a:defRPr/>
              </a:pPr>
              <a:t>2017/2/24</a:t>
            </a:fld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1E8C5F-CC17-4682-B772-79540CA5BAB7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84483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 smtClean="0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A97271E-9873-47BF-8828-26724186E0B5}" type="datetime1">
              <a:rPr lang="zh-CN" altLang="en-US"/>
              <a:pPr>
                <a:defRPr/>
              </a:pPr>
              <a:t>2017/2/24</a:t>
            </a:fld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174508A-E1A4-4C15-BAB0-07D62E85B706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446616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09C5E13-D7A1-43B8-A02B-D9FBF89A6DCF}" type="datetime1">
              <a:rPr lang="zh-CN" altLang="en-US"/>
              <a:pPr>
                <a:defRPr/>
              </a:pPr>
              <a:t>2017/2/24</a:t>
            </a:fld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930549E-BA13-43A7-A651-552E4C8AB5A0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245365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707188" y="609600"/>
            <a:ext cx="2135187" cy="548957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01625" y="609600"/>
            <a:ext cx="6253163" cy="548957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4257604-3789-4A6B-BA4F-51EC1D6EF6A8}" type="datetime1">
              <a:rPr lang="zh-CN" altLang="en-US"/>
              <a:pPr>
                <a:defRPr/>
              </a:pPr>
              <a:t>2017/2/24</a:t>
            </a:fld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277BE3E-BF09-4695-835E-E8A9B4EE2DB8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931542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01625" y="609600"/>
            <a:ext cx="8540750" cy="11430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301625" y="1905000"/>
            <a:ext cx="8540750" cy="4194175"/>
          </a:xfrm>
        </p:spPr>
        <p:txBody>
          <a:bodyPr/>
          <a:lstStyle/>
          <a:p>
            <a:pPr lvl="0"/>
            <a:r>
              <a:rPr lang="zh-CN" altLang="en-US" noProof="0" smtClean="0"/>
              <a:t>单击图标添加表格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A9CFDB4-3C71-4708-82E2-E96E691CC534}" type="datetime1">
              <a:rPr lang="zh-CN" altLang="en-US"/>
              <a:pPr>
                <a:defRPr/>
              </a:pPr>
              <a:t>2017/2/24</a:t>
            </a:fld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EDEB557-F8F7-40AC-87FF-CAA59A246C97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274284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4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Rot="1" noChangeArrowheads="1"/>
          </p:cNvSpPr>
          <p:nvPr>
            <p:ph type="title"/>
          </p:nvPr>
        </p:nvSpPr>
        <p:spPr bwMode="auto">
          <a:xfrm>
            <a:off x="301625" y="609600"/>
            <a:ext cx="854075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5123" name="Rectangle 3"/>
          <p:cNvSpPr>
            <a:spLocks noGrp="1" noRot="1" noChangeArrowheads="1"/>
          </p:cNvSpPr>
          <p:nvPr>
            <p:ph type="body" idx="1"/>
          </p:nvPr>
        </p:nvSpPr>
        <p:spPr bwMode="auto">
          <a:xfrm>
            <a:off x="301625" y="1905000"/>
            <a:ext cx="8540750" cy="419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345092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301625" y="6245225"/>
            <a:ext cx="2289175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fld id="{518FC5E1-127F-4651-9FC8-825B8CB3D040}" type="datetime1">
              <a:rPr lang="zh-CN" altLang="en-US"/>
              <a:pPr>
                <a:defRPr/>
              </a:pPr>
              <a:t>2017/2/24</a:t>
            </a:fld>
            <a:endParaRPr lang="en-US" altLang="zh-CN"/>
          </a:p>
        </p:txBody>
      </p:sp>
      <p:sp>
        <p:nvSpPr>
          <p:cNvPr id="345093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45094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289175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D1CB183D-293F-4ECF-A60A-7F95D5A765B5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8" r:id="rId1"/>
    <p:sldLayoutId id="2147483727" r:id="rId2"/>
    <p:sldLayoutId id="2147483728" r:id="rId3"/>
    <p:sldLayoutId id="2147483729" r:id="rId4"/>
    <p:sldLayoutId id="2147483730" r:id="rId5"/>
    <p:sldLayoutId id="2147483731" r:id="rId6"/>
    <p:sldLayoutId id="2147483732" r:id="rId7"/>
    <p:sldLayoutId id="2147483733" r:id="rId8"/>
    <p:sldLayoutId id="2147483734" r:id="rId9"/>
    <p:sldLayoutId id="2147483735" r:id="rId10"/>
    <p:sldLayoutId id="2147483736" r:id="rId11"/>
    <p:sldLayoutId id="2147483737" r:id="rId12"/>
  </p:sldLayoutIdLst>
  <p:hf hdr="0" ft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75000"/>
        <a:buFont typeface="Wingdings" pitchFamily="2" charset="2"/>
        <a:buChar char="v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5000"/>
        <a:buFont typeface="Wingdings" pitchFamily="2" charset="2"/>
        <a:buChar char="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85000"/>
        <a:buFont typeface="Wingdings" pitchFamily="2" charset="2"/>
        <a:buChar char="v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90000"/>
        <a:buFont typeface="Wingdings" pitchFamily="2" charset="2"/>
        <a:buChar char="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85000"/>
        <a:buFont typeface="Wingdings" pitchFamily="2" charset="2"/>
        <a:buChar char="v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chemeClr val="hlink"/>
        </a:buClr>
        <a:buSzPct val="85000"/>
        <a:buFont typeface="Wingdings" pitchFamily="2" charset="2"/>
        <a:buChar char="v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lr>
          <a:schemeClr val="hlink"/>
        </a:buClr>
        <a:buSzPct val="85000"/>
        <a:buFont typeface="Wingdings" pitchFamily="2" charset="2"/>
        <a:buChar char="v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lr>
          <a:schemeClr val="hlink"/>
        </a:buClr>
        <a:buSzPct val="85000"/>
        <a:buFont typeface="Wingdings" pitchFamily="2" charset="2"/>
        <a:buChar char="v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lr>
          <a:schemeClr val="hlink"/>
        </a:buClr>
        <a:buSzPct val="85000"/>
        <a:buFont typeface="Wingdings" pitchFamily="2" charset="2"/>
        <a:buChar char="v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3.wmf"/><Relationship Id="rId4" Type="http://schemas.openxmlformats.org/officeDocument/2006/relationships/oleObject" Target="../embeddings/oleObject1.bin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3.wmf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>
            <a:spLocks noGrp="1" noChangeArrowheads="1"/>
          </p:cNvSpPr>
          <p:nvPr>
            <p:ph type="dt" sz="half" idx="4294967295"/>
          </p:nvPr>
        </p:nvSpPr>
        <p:spPr>
          <a:xfrm>
            <a:off x="301625" y="6245225"/>
            <a:ext cx="2289175" cy="476250"/>
          </a:xfrm>
          <a:prstGeom prst="rect">
            <a:avLst/>
          </a:prstGeom>
        </p:spPr>
        <p:txBody>
          <a:bodyPr/>
          <a:lstStyle/>
          <a:p>
            <a:fld id="{DDBC1D5D-22E5-4978-95BB-77EC19692485}" type="datetime1">
              <a:rPr lang="zh-CN" altLang="en-US"/>
              <a:pPr/>
              <a:t>2017/2/24</a:t>
            </a:fld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4294967295"/>
          </p:nvPr>
        </p:nvSpPr>
        <p:spPr>
          <a:xfrm>
            <a:off x="6553200" y="6245225"/>
            <a:ext cx="2289175" cy="476250"/>
          </a:xfrm>
          <a:prstGeom prst="rect">
            <a:avLst/>
          </a:prstGeom>
        </p:spPr>
        <p:txBody>
          <a:bodyPr/>
          <a:lstStyle/>
          <a:p>
            <a:fld id="{40C4311D-AC21-404A-8F49-F618F45B8246}" type="slidenum">
              <a:rPr lang="zh-CN" altLang="en-US"/>
              <a:pPr/>
              <a:t>1</a:t>
            </a:fld>
            <a:endParaRPr lang="en-US" altLang="zh-CN"/>
          </a:p>
        </p:txBody>
      </p:sp>
      <p:pic>
        <p:nvPicPr>
          <p:cNvPr id="336902" name="Picture 6" descr="A29058编译原理(正确)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5494338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336900" name="Object 4">
            <a:hlinkClick r:id="" action="ppaction://ole?verb=0"/>
          </p:cNvPr>
          <p:cNvGraphicFramePr>
            <a:graphicFrameLocks/>
          </p:cNvGraphicFramePr>
          <p:nvPr/>
        </p:nvGraphicFramePr>
        <p:xfrm>
          <a:off x="6372225" y="3798888"/>
          <a:ext cx="1219200" cy="2438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1076" name="剪辑" r:id="rId4" imgW="2641320" imgH="4586040" progId="MS_ClipArt_Gallery.2">
                  <p:embed/>
                </p:oleObj>
              </mc:Choice>
              <mc:Fallback>
                <p:oleObj name="剪辑" r:id="rId4" imgW="2641320" imgH="4586040" progId="MS_ClipArt_Gallery.2">
                  <p:embed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72225" y="3798888"/>
                        <a:ext cx="1219200" cy="2438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6901" name="Text Box 5"/>
          <p:cNvSpPr txBox="1">
            <a:spLocks noChangeArrowheads="1"/>
          </p:cNvSpPr>
          <p:nvPr/>
        </p:nvSpPr>
        <p:spPr bwMode="auto">
          <a:xfrm>
            <a:off x="5076056" y="631825"/>
            <a:ext cx="3959994" cy="23760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</a:pPr>
            <a:r>
              <a:rPr lang="zh-CN" altLang="en-US" sz="2800" b="1" dirty="0">
                <a:latin typeface="Times New Roman" pitchFamily="18" charset="0"/>
                <a:ea typeface="华文新魏" pitchFamily="2" charset="-122"/>
              </a:rPr>
              <a:t>主讲：</a:t>
            </a:r>
            <a:r>
              <a:rPr lang="zh-CN" altLang="en-US" sz="2800" b="1" dirty="0" smtClean="0">
                <a:latin typeface="Times New Roman" pitchFamily="18" charset="0"/>
                <a:ea typeface="华文新魏" pitchFamily="2" charset="-122"/>
              </a:rPr>
              <a:t>蒋宗礼、姜守旭</a:t>
            </a:r>
            <a:endParaRPr lang="zh-CN" altLang="en-US" sz="2800" b="1" dirty="0">
              <a:latin typeface="Times New Roman" pitchFamily="18" charset="0"/>
              <a:ea typeface="华文新魏" pitchFamily="2" charset="-122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</a:pPr>
            <a:r>
              <a:rPr lang="zh-CN" altLang="en-US" sz="2800" b="1" dirty="0">
                <a:latin typeface="Times New Roman" pitchFamily="18" charset="0"/>
                <a:ea typeface="华文新魏" pitchFamily="2" charset="-122"/>
              </a:rPr>
              <a:t>办公室</a:t>
            </a:r>
            <a:r>
              <a:rPr lang="zh-CN" altLang="en-US" sz="2800" b="1" dirty="0" smtClean="0">
                <a:latin typeface="Times New Roman" pitchFamily="18" charset="0"/>
                <a:ea typeface="华文新魏" pitchFamily="2" charset="-122"/>
              </a:rPr>
              <a:t>：信北</a:t>
            </a:r>
            <a:r>
              <a:rPr lang="en-US" altLang="zh-CN" sz="2800" b="1" dirty="0" smtClean="0">
                <a:latin typeface="Times New Roman" pitchFamily="18" charset="0"/>
                <a:ea typeface="华文新魏" pitchFamily="2" charset="-122"/>
              </a:rPr>
              <a:t>212</a:t>
            </a:r>
            <a:endParaRPr lang="zh-CN" altLang="en-US" sz="2800" b="1" dirty="0">
              <a:latin typeface="Times New Roman" pitchFamily="18" charset="0"/>
              <a:ea typeface="华文新魏" pitchFamily="2" charset="-122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</a:pPr>
            <a:r>
              <a:rPr lang="zh-CN" altLang="en-US" sz="2800" b="1" dirty="0">
                <a:latin typeface="Times New Roman" pitchFamily="18" charset="0"/>
                <a:ea typeface="华文新魏" pitchFamily="2" charset="-122"/>
              </a:rPr>
              <a:t>电话：</a:t>
            </a:r>
            <a:r>
              <a:rPr lang="zh-CN" altLang="en-US" sz="2800" b="1" dirty="0" smtClean="0">
                <a:latin typeface="Times New Roman" pitchFamily="18" charset="0"/>
                <a:ea typeface="华文新魏" pitchFamily="2" charset="-122"/>
              </a:rPr>
              <a:t>67392</a:t>
            </a:r>
            <a:r>
              <a:rPr lang="en-US" altLang="zh-CN" sz="2800" b="1" dirty="0" smtClean="0">
                <a:latin typeface="Times New Roman" pitchFamily="18" charset="0"/>
                <a:ea typeface="华文新魏" pitchFamily="2" charset="-122"/>
              </a:rPr>
              <a:t>397</a:t>
            </a:r>
            <a:endParaRPr lang="en-US" altLang="zh-CN" sz="2800" b="1" dirty="0">
              <a:latin typeface="Times New Roman" pitchFamily="18" charset="0"/>
              <a:ea typeface="华文新魏" pitchFamily="2" charset="-122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</a:pPr>
            <a:r>
              <a:rPr lang="en-US" altLang="zh-CN" sz="2800" b="1" dirty="0">
                <a:latin typeface="Times New Roman" pitchFamily="18" charset="0"/>
                <a:ea typeface="华文新魏" pitchFamily="2" charset="-122"/>
              </a:rPr>
              <a:t>jiangzl@bjut.edu.cn</a:t>
            </a: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</a:pPr>
            <a:r>
              <a:rPr lang="zh-CN" altLang="en-US" sz="2800" b="1" dirty="0">
                <a:latin typeface="Times New Roman" pitchFamily="18" charset="0"/>
                <a:ea typeface="华文新魏" pitchFamily="2" charset="-122"/>
              </a:rPr>
              <a:t>答疑</a:t>
            </a:r>
            <a:r>
              <a:rPr lang="zh-CN" altLang="en-US" sz="2800" b="1" dirty="0" smtClean="0">
                <a:latin typeface="Times New Roman" pitchFamily="18" charset="0"/>
                <a:ea typeface="华文新魏" pitchFamily="2" charset="-122"/>
              </a:rPr>
              <a:t>：信北</a:t>
            </a:r>
            <a:r>
              <a:rPr lang="en-US" altLang="zh-CN" sz="2800" b="1" dirty="0" smtClean="0">
                <a:latin typeface="Times New Roman" pitchFamily="18" charset="0"/>
                <a:ea typeface="华文新魏" pitchFamily="2" charset="-122"/>
              </a:rPr>
              <a:t>212</a:t>
            </a:r>
          </a:p>
        </p:txBody>
      </p:sp>
    </p:spTree>
    <p:extLst>
      <p:ext uri="{BB962C8B-B14F-4D97-AF65-F5344CB8AC3E}">
        <p14:creationId xmlns:p14="http://schemas.microsoft.com/office/powerpoint/2010/main" val="20146703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0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一个不大不小的问题</a:t>
            </a:r>
          </a:p>
        </p:txBody>
      </p:sp>
      <p:sp>
        <p:nvSpPr>
          <p:cNvPr id="473090" name="Rectangle 2"/>
          <p:cNvSpPr>
            <a:spLocks noGrp="1" noChangeArrowheads="1"/>
          </p:cNvSpPr>
          <p:nvPr>
            <p:ph idx="1"/>
          </p:nvPr>
        </p:nvSpPr>
        <p:spPr>
          <a:xfrm>
            <a:off x="5076825" y="4365625"/>
            <a:ext cx="3455988" cy="1008063"/>
          </a:xfrm>
        </p:spPr>
        <p:txBody>
          <a:bodyPr lIns="92075" tIns="46038" rIns="92075" bIns="46038"/>
          <a:lstStyle/>
          <a:p>
            <a:pPr marL="0" indent="457200" eaLnBrk="1" hangingPunct="1">
              <a:buFont typeface="Wingdings" pitchFamily="2" charset="2"/>
              <a:buNone/>
            </a:pPr>
            <a:r>
              <a:rPr lang="en-US" altLang="zh-CN" sz="4800" b="1" smtClean="0">
                <a:solidFill>
                  <a:srgbClr val="993366"/>
                </a:solidFill>
                <a:latin typeface="Times New Roman" pitchFamily="18" charset="0"/>
                <a:ea typeface="华文新魏" pitchFamily="2" charset="-122"/>
              </a:rPr>
              <a:t>88+pin*d</a:t>
            </a:r>
          </a:p>
        </p:txBody>
      </p:sp>
      <p:sp>
        <p:nvSpPr>
          <p:cNvPr id="7172" name="日期占位符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3DC72478-409F-4A72-B4BD-87F559C3BDBD}" type="datetime1">
              <a:rPr lang="zh-CN" altLang="en-US" smtClean="0"/>
              <a:pPr eaLnBrk="1" hangingPunct="1"/>
              <a:t>2017/2/24</a:t>
            </a:fld>
            <a:endParaRPr lang="en-US" altLang="zh-CN" smtClean="0"/>
          </a:p>
        </p:txBody>
      </p:sp>
      <p:sp>
        <p:nvSpPr>
          <p:cNvPr id="7173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10BD70E8-7A36-443F-829B-99BC4C7F4DF9}" type="slidenum">
              <a:rPr lang="zh-CN" altLang="en-US" smtClean="0"/>
              <a:pPr eaLnBrk="1" hangingPunct="1"/>
              <a:t>2</a:t>
            </a:fld>
            <a:endParaRPr lang="en-US" altLang="zh-CN" smtClean="0"/>
          </a:p>
        </p:txBody>
      </p:sp>
      <p:sp>
        <p:nvSpPr>
          <p:cNvPr id="473091" name="Rectangle 3"/>
          <p:cNvSpPr>
            <a:spLocks noChangeArrowheads="1"/>
          </p:cNvSpPr>
          <p:nvPr/>
        </p:nvSpPr>
        <p:spPr bwMode="auto">
          <a:xfrm>
            <a:off x="611188" y="4073525"/>
            <a:ext cx="59055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3200" b="1">
                <a:latin typeface="Times New Roman" pitchFamily="18" charset="0"/>
              </a:rPr>
              <a:t>88</a:t>
            </a:r>
            <a:endParaRPr lang="zh-CN" altLang="en-US" sz="3200" b="1">
              <a:latin typeface="Times New Roman" pitchFamily="18" charset="0"/>
            </a:endParaRPr>
          </a:p>
        </p:txBody>
      </p:sp>
      <p:sp>
        <p:nvSpPr>
          <p:cNvPr id="473092" name="Rectangle 4"/>
          <p:cNvSpPr>
            <a:spLocks noChangeArrowheads="1"/>
          </p:cNvSpPr>
          <p:nvPr/>
        </p:nvSpPr>
        <p:spPr bwMode="auto">
          <a:xfrm>
            <a:off x="1979613" y="2925763"/>
            <a:ext cx="415925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3200" b="1">
                <a:latin typeface="Times New Roman" pitchFamily="18" charset="0"/>
              </a:rPr>
              <a:t>+</a:t>
            </a:r>
            <a:endParaRPr lang="zh-CN" altLang="en-US" sz="3200" b="1">
              <a:latin typeface="Times New Roman" pitchFamily="18" charset="0"/>
            </a:endParaRPr>
          </a:p>
        </p:txBody>
      </p:sp>
      <p:sp>
        <p:nvSpPr>
          <p:cNvPr id="473093" name="Rectangle 5"/>
          <p:cNvSpPr>
            <a:spLocks noChangeArrowheads="1"/>
          </p:cNvSpPr>
          <p:nvPr/>
        </p:nvSpPr>
        <p:spPr bwMode="auto">
          <a:xfrm>
            <a:off x="2289175" y="5284788"/>
            <a:ext cx="747713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3200" b="1">
                <a:latin typeface="Times New Roman" pitchFamily="18" charset="0"/>
              </a:rPr>
              <a:t>pin</a:t>
            </a:r>
            <a:endParaRPr lang="zh-CN" altLang="en-US" sz="3200" b="1">
              <a:latin typeface="Times New Roman" pitchFamily="18" charset="0"/>
            </a:endParaRPr>
          </a:p>
        </p:txBody>
      </p:sp>
      <p:sp>
        <p:nvSpPr>
          <p:cNvPr id="473094" name="Rectangle 6"/>
          <p:cNvSpPr>
            <a:spLocks noChangeArrowheads="1"/>
          </p:cNvSpPr>
          <p:nvPr/>
        </p:nvSpPr>
        <p:spPr bwMode="auto">
          <a:xfrm>
            <a:off x="3490913" y="4078288"/>
            <a:ext cx="38735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3200" b="1">
                <a:latin typeface="Times New Roman" pitchFamily="18" charset="0"/>
              </a:rPr>
              <a:t>*</a:t>
            </a:r>
            <a:endParaRPr lang="zh-CN" altLang="en-US" sz="3200" b="1">
              <a:latin typeface="Times New Roman" pitchFamily="18" charset="0"/>
            </a:endParaRPr>
          </a:p>
        </p:txBody>
      </p:sp>
      <p:sp>
        <p:nvSpPr>
          <p:cNvPr id="473095" name="Rectangle 7"/>
          <p:cNvSpPr>
            <a:spLocks noChangeArrowheads="1"/>
          </p:cNvSpPr>
          <p:nvPr/>
        </p:nvSpPr>
        <p:spPr bwMode="auto">
          <a:xfrm>
            <a:off x="4643438" y="5373688"/>
            <a:ext cx="409575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3200" b="1">
                <a:latin typeface="Times New Roman" pitchFamily="18" charset="0"/>
              </a:rPr>
              <a:t>d</a:t>
            </a:r>
            <a:endParaRPr lang="zh-CN" altLang="en-US" sz="3200" b="1">
              <a:latin typeface="Times New Roman" pitchFamily="18" charset="0"/>
            </a:endParaRPr>
          </a:p>
        </p:txBody>
      </p:sp>
      <p:sp>
        <p:nvSpPr>
          <p:cNvPr id="473096" name="Line 8"/>
          <p:cNvSpPr>
            <a:spLocks noChangeShapeType="1"/>
          </p:cNvSpPr>
          <p:nvPr/>
        </p:nvSpPr>
        <p:spPr bwMode="auto">
          <a:xfrm flipH="1">
            <a:off x="1116013" y="3354388"/>
            <a:ext cx="935037" cy="792162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73097" name="Line 9"/>
          <p:cNvSpPr>
            <a:spLocks noChangeShapeType="1"/>
          </p:cNvSpPr>
          <p:nvPr/>
        </p:nvSpPr>
        <p:spPr bwMode="auto">
          <a:xfrm>
            <a:off x="2266950" y="3354388"/>
            <a:ext cx="1223963" cy="792162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73098" name="Line 10"/>
          <p:cNvSpPr>
            <a:spLocks noChangeShapeType="1"/>
          </p:cNvSpPr>
          <p:nvPr/>
        </p:nvSpPr>
        <p:spPr bwMode="auto">
          <a:xfrm flipH="1">
            <a:off x="2771775" y="4362450"/>
            <a:ext cx="792163" cy="10795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73099" name="Line 11"/>
          <p:cNvSpPr>
            <a:spLocks noChangeShapeType="1"/>
          </p:cNvSpPr>
          <p:nvPr/>
        </p:nvSpPr>
        <p:spPr bwMode="auto">
          <a:xfrm>
            <a:off x="3779838" y="4433888"/>
            <a:ext cx="1079500" cy="108108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73100" name="Line 12"/>
          <p:cNvSpPr>
            <a:spLocks noChangeShapeType="1"/>
          </p:cNvSpPr>
          <p:nvPr/>
        </p:nvSpPr>
        <p:spPr bwMode="auto">
          <a:xfrm>
            <a:off x="5942013" y="5084763"/>
            <a:ext cx="0" cy="792162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73101" name="Line 13"/>
          <p:cNvSpPr>
            <a:spLocks noChangeShapeType="1"/>
          </p:cNvSpPr>
          <p:nvPr/>
        </p:nvSpPr>
        <p:spPr bwMode="auto">
          <a:xfrm>
            <a:off x="6445250" y="5084763"/>
            <a:ext cx="0" cy="792162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73102" name="Line 14"/>
          <p:cNvSpPr>
            <a:spLocks noChangeShapeType="1"/>
          </p:cNvSpPr>
          <p:nvPr/>
        </p:nvSpPr>
        <p:spPr bwMode="auto">
          <a:xfrm>
            <a:off x="7021513" y="5084763"/>
            <a:ext cx="0" cy="792162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73103" name="Line 15"/>
          <p:cNvSpPr>
            <a:spLocks noChangeShapeType="1"/>
          </p:cNvSpPr>
          <p:nvPr/>
        </p:nvSpPr>
        <p:spPr bwMode="auto">
          <a:xfrm>
            <a:off x="7597775" y="5084763"/>
            <a:ext cx="0" cy="792162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73104" name="Line 16"/>
          <p:cNvSpPr>
            <a:spLocks noChangeShapeType="1"/>
          </p:cNvSpPr>
          <p:nvPr/>
        </p:nvSpPr>
        <p:spPr bwMode="auto">
          <a:xfrm>
            <a:off x="7958138" y="5084763"/>
            <a:ext cx="0" cy="792162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73111" name="Rectangle 23"/>
          <p:cNvSpPr>
            <a:spLocks noChangeArrowheads="1"/>
          </p:cNvSpPr>
          <p:nvPr/>
        </p:nvSpPr>
        <p:spPr bwMode="auto">
          <a:xfrm>
            <a:off x="1046163" y="1916113"/>
            <a:ext cx="7847012" cy="1008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/>
          <a:p>
            <a: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zh-CN" altLang="en-US" sz="4800" b="1">
                <a:solidFill>
                  <a:srgbClr val="993366"/>
                </a:solidFill>
                <a:latin typeface="Times New Roman" pitchFamily="18" charset="0"/>
                <a:ea typeface="华文新魏" pitchFamily="2" charset="-122"/>
              </a:rPr>
              <a:t>词法分析器如何处理</a:t>
            </a:r>
            <a:r>
              <a:rPr lang="en-US" altLang="zh-CN" sz="4800" b="1">
                <a:solidFill>
                  <a:srgbClr val="993366"/>
                </a:solidFill>
                <a:latin typeface="Times New Roman" pitchFamily="18" charset="0"/>
                <a:ea typeface="华文新魏" pitchFamily="2" charset="-122"/>
              </a:rPr>
              <a:t>88pin ?</a:t>
            </a:r>
          </a:p>
        </p:txBody>
      </p:sp>
      <p:sp>
        <p:nvSpPr>
          <p:cNvPr id="473112" name="Text Box 24"/>
          <p:cNvSpPr txBox="1">
            <a:spLocks noChangeArrowheads="1"/>
          </p:cNvSpPr>
          <p:nvPr/>
        </p:nvSpPr>
        <p:spPr bwMode="auto">
          <a:xfrm>
            <a:off x="5149850" y="3213100"/>
            <a:ext cx="3455988" cy="1066800"/>
          </a:xfrm>
          <a:prstGeom prst="rect">
            <a:avLst/>
          </a:prstGeom>
          <a:solidFill>
            <a:srgbClr val="00666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3200" b="1">
                <a:solidFill>
                  <a:schemeClr val="bg1"/>
                </a:solidFill>
                <a:ea typeface="华文新魏" pitchFamily="2" charset="-122"/>
              </a:rPr>
              <a:t>研究我们自己分析这个表达式的过程</a:t>
            </a:r>
          </a:p>
        </p:txBody>
      </p:sp>
      <p:sp>
        <p:nvSpPr>
          <p:cNvPr id="473113" name="Line 25"/>
          <p:cNvSpPr>
            <a:spLocks noChangeShapeType="1"/>
          </p:cNvSpPr>
          <p:nvPr/>
        </p:nvSpPr>
        <p:spPr bwMode="auto">
          <a:xfrm>
            <a:off x="8316913" y="5084763"/>
            <a:ext cx="0" cy="792162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idx="1"/>
          </p:nvPr>
        </p:nvSpPr>
        <p:spPr>
          <a:xfrm>
            <a:off x="5219700" y="2924175"/>
            <a:ext cx="3743325" cy="1081088"/>
          </a:xfrm>
        </p:spPr>
        <p:txBody>
          <a:bodyPr lIns="92075" tIns="46038" rIns="92075" bIns="46038"/>
          <a:lstStyle/>
          <a:p>
            <a:pPr marL="0" indent="457200" eaLnBrk="1" hangingPunct="1"/>
            <a:r>
              <a:rPr lang="en-US" altLang="zh-CN" sz="4800" b="1" smtClean="0">
                <a:solidFill>
                  <a:srgbClr val="993366"/>
                </a:solidFill>
                <a:latin typeface="Times New Roman" pitchFamily="18" charset="0"/>
                <a:ea typeface="华文新魏" pitchFamily="2" charset="-122"/>
              </a:rPr>
              <a:t>88+pin*d</a:t>
            </a:r>
          </a:p>
        </p:txBody>
      </p:sp>
      <p:sp>
        <p:nvSpPr>
          <p:cNvPr id="8195" name="日期占位符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18DDE5FF-C1AB-488A-824C-F435D44D8628}" type="datetime1">
              <a:rPr lang="zh-CN" altLang="en-US" smtClean="0"/>
              <a:pPr eaLnBrk="1" hangingPunct="1"/>
              <a:t>2017/2/24</a:t>
            </a:fld>
            <a:endParaRPr lang="en-US" altLang="zh-CN" smtClean="0"/>
          </a:p>
        </p:txBody>
      </p:sp>
      <p:sp>
        <p:nvSpPr>
          <p:cNvPr id="8196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C297EA41-99A0-4780-B8DB-92883599CE18}" type="slidenum">
              <a:rPr lang="zh-CN" altLang="en-US" smtClean="0"/>
              <a:pPr eaLnBrk="1" hangingPunct="1"/>
              <a:t>3</a:t>
            </a:fld>
            <a:endParaRPr lang="en-US" altLang="zh-CN" smtClean="0"/>
          </a:p>
        </p:txBody>
      </p:sp>
      <p:sp>
        <p:nvSpPr>
          <p:cNvPr id="451587" name="Rectangle 3"/>
          <p:cNvSpPr>
            <a:spLocks noChangeArrowheads="1"/>
          </p:cNvSpPr>
          <p:nvPr/>
        </p:nvSpPr>
        <p:spPr bwMode="auto">
          <a:xfrm>
            <a:off x="684213" y="5446713"/>
            <a:ext cx="59055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3200" b="1">
                <a:latin typeface="Times New Roman" pitchFamily="18" charset="0"/>
              </a:rPr>
              <a:t>88</a:t>
            </a:r>
            <a:endParaRPr lang="zh-CN" altLang="en-US" sz="3200" b="1">
              <a:latin typeface="Times New Roman" pitchFamily="18" charset="0"/>
            </a:endParaRPr>
          </a:p>
        </p:txBody>
      </p:sp>
      <p:sp>
        <p:nvSpPr>
          <p:cNvPr id="451588" name="Rectangle 4"/>
          <p:cNvSpPr>
            <a:spLocks noChangeArrowheads="1"/>
          </p:cNvSpPr>
          <p:nvPr/>
        </p:nvSpPr>
        <p:spPr bwMode="auto">
          <a:xfrm>
            <a:off x="1895475" y="3287713"/>
            <a:ext cx="415925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3200" b="1">
                <a:latin typeface="Times New Roman" pitchFamily="18" charset="0"/>
              </a:rPr>
              <a:t>+</a:t>
            </a:r>
            <a:endParaRPr lang="zh-CN" altLang="en-US" sz="3200" b="1">
              <a:latin typeface="Times New Roman" pitchFamily="18" charset="0"/>
            </a:endParaRPr>
          </a:p>
        </p:txBody>
      </p:sp>
      <p:sp>
        <p:nvSpPr>
          <p:cNvPr id="451589" name="Rectangle 5"/>
          <p:cNvSpPr>
            <a:spLocks noChangeArrowheads="1"/>
          </p:cNvSpPr>
          <p:nvPr/>
        </p:nvSpPr>
        <p:spPr bwMode="auto">
          <a:xfrm>
            <a:off x="2327275" y="5519738"/>
            <a:ext cx="747713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3200" b="1">
                <a:latin typeface="Times New Roman" pitchFamily="18" charset="0"/>
              </a:rPr>
              <a:t>pin</a:t>
            </a:r>
            <a:endParaRPr lang="zh-CN" altLang="en-US" sz="3200" b="1">
              <a:latin typeface="Times New Roman" pitchFamily="18" charset="0"/>
            </a:endParaRPr>
          </a:p>
        </p:txBody>
      </p:sp>
      <p:sp>
        <p:nvSpPr>
          <p:cNvPr id="451590" name="Rectangle 6"/>
          <p:cNvSpPr>
            <a:spLocks noChangeArrowheads="1"/>
          </p:cNvSpPr>
          <p:nvPr/>
        </p:nvSpPr>
        <p:spPr bwMode="auto">
          <a:xfrm>
            <a:off x="3479800" y="4224338"/>
            <a:ext cx="38735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3200" b="1">
                <a:latin typeface="Times New Roman" pitchFamily="18" charset="0"/>
              </a:rPr>
              <a:t>*</a:t>
            </a:r>
            <a:endParaRPr lang="zh-CN" altLang="en-US" sz="3200" b="1">
              <a:latin typeface="Times New Roman" pitchFamily="18" charset="0"/>
            </a:endParaRPr>
          </a:p>
        </p:txBody>
      </p:sp>
      <p:sp>
        <p:nvSpPr>
          <p:cNvPr id="451591" name="Rectangle 7"/>
          <p:cNvSpPr>
            <a:spLocks noChangeArrowheads="1"/>
          </p:cNvSpPr>
          <p:nvPr/>
        </p:nvSpPr>
        <p:spPr bwMode="auto">
          <a:xfrm>
            <a:off x="4344988" y="5592763"/>
            <a:ext cx="409575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3200" b="1">
                <a:latin typeface="Times New Roman" pitchFamily="18" charset="0"/>
              </a:rPr>
              <a:t>d</a:t>
            </a:r>
            <a:endParaRPr lang="zh-CN" altLang="en-US" sz="3200" b="1">
              <a:latin typeface="Times New Roman" pitchFamily="18" charset="0"/>
            </a:endParaRPr>
          </a:p>
        </p:txBody>
      </p:sp>
      <p:sp>
        <p:nvSpPr>
          <p:cNvPr id="451592" name="Line 8"/>
          <p:cNvSpPr>
            <a:spLocks noChangeShapeType="1"/>
          </p:cNvSpPr>
          <p:nvPr/>
        </p:nvSpPr>
        <p:spPr bwMode="auto">
          <a:xfrm flipH="1">
            <a:off x="1104900" y="2492375"/>
            <a:ext cx="935038" cy="792163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51593" name="Line 9"/>
          <p:cNvSpPr>
            <a:spLocks noChangeShapeType="1"/>
          </p:cNvSpPr>
          <p:nvPr/>
        </p:nvSpPr>
        <p:spPr bwMode="auto">
          <a:xfrm>
            <a:off x="2255838" y="2492375"/>
            <a:ext cx="1223962" cy="792163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51594" name="Line 10"/>
          <p:cNvSpPr>
            <a:spLocks noChangeShapeType="1"/>
          </p:cNvSpPr>
          <p:nvPr/>
        </p:nvSpPr>
        <p:spPr bwMode="auto">
          <a:xfrm flipH="1">
            <a:off x="2832100" y="3500438"/>
            <a:ext cx="720725" cy="86518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51595" name="Line 11"/>
          <p:cNvSpPr>
            <a:spLocks noChangeShapeType="1"/>
          </p:cNvSpPr>
          <p:nvPr/>
        </p:nvSpPr>
        <p:spPr bwMode="auto">
          <a:xfrm>
            <a:off x="3768725" y="3571875"/>
            <a:ext cx="792163" cy="79375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51596" name="Line 12"/>
          <p:cNvSpPr>
            <a:spLocks noChangeShapeType="1"/>
          </p:cNvSpPr>
          <p:nvPr/>
        </p:nvSpPr>
        <p:spPr bwMode="auto">
          <a:xfrm>
            <a:off x="6084888" y="3716338"/>
            <a:ext cx="0" cy="792162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51597" name="Line 13"/>
          <p:cNvSpPr>
            <a:spLocks noChangeShapeType="1"/>
          </p:cNvSpPr>
          <p:nvPr/>
        </p:nvSpPr>
        <p:spPr bwMode="auto">
          <a:xfrm>
            <a:off x="6588125" y="3716338"/>
            <a:ext cx="0" cy="792162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51598" name="Line 14"/>
          <p:cNvSpPr>
            <a:spLocks noChangeShapeType="1"/>
          </p:cNvSpPr>
          <p:nvPr/>
        </p:nvSpPr>
        <p:spPr bwMode="auto">
          <a:xfrm>
            <a:off x="7164388" y="3716338"/>
            <a:ext cx="0" cy="792162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51599" name="Line 15"/>
          <p:cNvSpPr>
            <a:spLocks noChangeShapeType="1"/>
          </p:cNvSpPr>
          <p:nvPr/>
        </p:nvSpPr>
        <p:spPr bwMode="auto">
          <a:xfrm>
            <a:off x="7740650" y="3716338"/>
            <a:ext cx="0" cy="792162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51600" name="Line 16"/>
          <p:cNvSpPr>
            <a:spLocks noChangeShapeType="1"/>
          </p:cNvSpPr>
          <p:nvPr/>
        </p:nvSpPr>
        <p:spPr bwMode="auto">
          <a:xfrm>
            <a:off x="8101013" y="3716338"/>
            <a:ext cx="0" cy="792162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51601" name="Line 17"/>
          <p:cNvSpPr>
            <a:spLocks noChangeShapeType="1"/>
          </p:cNvSpPr>
          <p:nvPr/>
        </p:nvSpPr>
        <p:spPr bwMode="auto">
          <a:xfrm>
            <a:off x="8532813" y="3716338"/>
            <a:ext cx="0" cy="792162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51602" name="Text Box 18"/>
          <p:cNvSpPr txBox="1">
            <a:spLocks noChangeArrowheads="1"/>
          </p:cNvSpPr>
          <p:nvPr/>
        </p:nvSpPr>
        <p:spPr bwMode="auto">
          <a:xfrm>
            <a:off x="8316913" y="3068638"/>
            <a:ext cx="576262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3200" b="1">
                <a:latin typeface="Arial" charset="0"/>
              </a:rPr>
              <a:t>#</a:t>
            </a:r>
          </a:p>
        </p:txBody>
      </p:sp>
      <p:sp>
        <p:nvSpPr>
          <p:cNvPr id="451603" name="Rectangle 19"/>
          <p:cNvSpPr>
            <a:spLocks noChangeArrowheads="1"/>
          </p:cNvSpPr>
          <p:nvPr/>
        </p:nvSpPr>
        <p:spPr bwMode="auto">
          <a:xfrm>
            <a:off x="1042988" y="765175"/>
            <a:ext cx="7921625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altLang="zh-CN" sz="4000" b="1">
                <a:latin typeface="Times New Roman" pitchFamily="18" charset="0"/>
              </a:rPr>
              <a:t>E→E+E | E-E | E*E | E/E | (E) | id</a:t>
            </a:r>
            <a:endParaRPr lang="zh-CN" altLang="en-US" sz="4000" b="1">
              <a:latin typeface="Times New Roman" pitchFamily="18" charset="0"/>
            </a:endParaRPr>
          </a:p>
        </p:txBody>
      </p:sp>
      <p:sp>
        <p:nvSpPr>
          <p:cNvPr id="451604" name="Rectangle 20"/>
          <p:cNvSpPr>
            <a:spLocks noChangeArrowheads="1"/>
          </p:cNvSpPr>
          <p:nvPr/>
        </p:nvSpPr>
        <p:spPr bwMode="auto">
          <a:xfrm>
            <a:off x="792163" y="3211513"/>
            <a:ext cx="455612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3200" b="1">
                <a:latin typeface="Times New Roman" pitchFamily="18" charset="0"/>
              </a:rPr>
              <a:t>E</a:t>
            </a:r>
            <a:endParaRPr lang="zh-CN" altLang="en-US" sz="3200" b="1">
              <a:latin typeface="Times New Roman" pitchFamily="18" charset="0"/>
            </a:endParaRPr>
          </a:p>
        </p:txBody>
      </p:sp>
      <p:sp>
        <p:nvSpPr>
          <p:cNvPr id="451605" name="Rectangle 21"/>
          <p:cNvSpPr>
            <a:spLocks noChangeArrowheads="1"/>
          </p:cNvSpPr>
          <p:nvPr/>
        </p:nvSpPr>
        <p:spPr bwMode="auto">
          <a:xfrm>
            <a:off x="2543175" y="4292600"/>
            <a:ext cx="455613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3200" b="1">
                <a:latin typeface="Times New Roman" pitchFamily="18" charset="0"/>
              </a:rPr>
              <a:t>E</a:t>
            </a:r>
            <a:endParaRPr lang="zh-CN" altLang="en-US" sz="3200" b="1">
              <a:latin typeface="Times New Roman" pitchFamily="18" charset="0"/>
            </a:endParaRPr>
          </a:p>
        </p:txBody>
      </p:sp>
      <p:sp>
        <p:nvSpPr>
          <p:cNvPr id="451606" name="Rectangle 22"/>
          <p:cNvSpPr>
            <a:spLocks noChangeArrowheads="1"/>
          </p:cNvSpPr>
          <p:nvPr/>
        </p:nvSpPr>
        <p:spPr bwMode="auto">
          <a:xfrm>
            <a:off x="4343400" y="4295775"/>
            <a:ext cx="455613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3200" b="1">
                <a:latin typeface="Times New Roman" pitchFamily="18" charset="0"/>
              </a:rPr>
              <a:t>E</a:t>
            </a:r>
            <a:endParaRPr lang="zh-CN" altLang="en-US" sz="3200" b="1">
              <a:latin typeface="Times New Roman" pitchFamily="18" charset="0"/>
            </a:endParaRPr>
          </a:p>
        </p:txBody>
      </p:sp>
      <p:sp>
        <p:nvSpPr>
          <p:cNvPr id="451607" name="Line 23"/>
          <p:cNvSpPr>
            <a:spLocks noChangeShapeType="1"/>
          </p:cNvSpPr>
          <p:nvPr/>
        </p:nvSpPr>
        <p:spPr bwMode="auto">
          <a:xfrm flipH="1">
            <a:off x="960438" y="3716338"/>
            <a:ext cx="11112" cy="180022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51610" name="Line 26"/>
          <p:cNvSpPr>
            <a:spLocks noChangeShapeType="1"/>
          </p:cNvSpPr>
          <p:nvPr/>
        </p:nvSpPr>
        <p:spPr bwMode="auto">
          <a:xfrm>
            <a:off x="4560888" y="4724400"/>
            <a:ext cx="0" cy="93662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51611" name="Line 27"/>
          <p:cNvSpPr>
            <a:spLocks noChangeShapeType="1"/>
          </p:cNvSpPr>
          <p:nvPr/>
        </p:nvSpPr>
        <p:spPr bwMode="auto">
          <a:xfrm>
            <a:off x="2760663" y="4724400"/>
            <a:ext cx="0" cy="93662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51613" name="Rectangle 29"/>
          <p:cNvSpPr>
            <a:spLocks noChangeArrowheads="1"/>
          </p:cNvSpPr>
          <p:nvPr/>
        </p:nvSpPr>
        <p:spPr bwMode="auto">
          <a:xfrm>
            <a:off x="3408363" y="3144838"/>
            <a:ext cx="455612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3200" b="1">
                <a:latin typeface="Times New Roman" pitchFamily="18" charset="0"/>
              </a:rPr>
              <a:t>E</a:t>
            </a:r>
            <a:endParaRPr lang="zh-CN" altLang="en-US" sz="3200" b="1">
              <a:latin typeface="Times New Roman" pitchFamily="18" charset="0"/>
            </a:endParaRPr>
          </a:p>
        </p:txBody>
      </p:sp>
      <p:sp>
        <p:nvSpPr>
          <p:cNvPr id="451614" name="Rectangle 30"/>
          <p:cNvSpPr>
            <a:spLocks noChangeArrowheads="1"/>
          </p:cNvSpPr>
          <p:nvPr/>
        </p:nvSpPr>
        <p:spPr bwMode="auto">
          <a:xfrm>
            <a:off x="1895475" y="2208213"/>
            <a:ext cx="455613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3200" b="1">
                <a:latin typeface="Times New Roman" pitchFamily="18" charset="0"/>
              </a:rPr>
              <a:t>E</a:t>
            </a:r>
            <a:endParaRPr lang="zh-CN" altLang="en-US" sz="3200" b="1">
              <a:latin typeface="Times New Roman" pitchFamily="18" charset="0"/>
            </a:endParaRPr>
          </a:p>
        </p:txBody>
      </p:sp>
      <p:sp>
        <p:nvSpPr>
          <p:cNvPr id="451615" name="Line 31"/>
          <p:cNvSpPr>
            <a:spLocks noChangeShapeType="1"/>
          </p:cNvSpPr>
          <p:nvPr/>
        </p:nvSpPr>
        <p:spPr bwMode="auto">
          <a:xfrm>
            <a:off x="2111375" y="2636838"/>
            <a:ext cx="0" cy="792162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51616" name="Line 32"/>
          <p:cNvSpPr>
            <a:spLocks noChangeShapeType="1"/>
          </p:cNvSpPr>
          <p:nvPr/>
        </p:nvSpPr>
        <p:spPr bwMode="auto">
          <a:xfrm>
            <a:off x="3624263" y="3644900"/>
            <a:ext cx="0" cy="6477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51617" name="Text Box 33"/>
          <p:cNvSpPr txBox="1">
            <a:spLocks noChangeArrowheads="1"/>
          </p:cNvSpPr>
          <p:nvPr/>
        </p:nvSpPr>
        <p:spPr bwMode="auto">
          <a:xfrm>
            <a:off x="5437188" y="4797425"/>
            <a:ext cx="3095625" cy="1373188"/>
          </a:xfrm>
          <a:prstGeom prst="rect">
            <a:avLst/>
          </a:prstGeom>
          <a:solidFill>
            <a:srgbClr val="00666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solidFill>
                  <a:schemeClr val="bg1"/>
                </a:solidFill>
                <a:ea typeface="华文新魏" pitchFamily="2" charset="-122"/>
              </a:rPr>
              <a:t>如何使计算机知道到此结束，并能采用统一判定标准？</a:t>
            </a:r>
          </a:p>
        </p:txBody>
      </p:sp>
      <p:sp>
        <p:nvSpPr>
          <p:cNvPr id="8225" name="Text Box 34"/>
          <p:cNvSpPr txBox="1">
            <a:spLocks noChangeArrowheads="1"/>
          </p:cNvSpPr>
          <p:nvPr/>
        </p:nvSpPr>
        <p:spPr bwMode="auto">
          <a:xfrm>
            <a:off x="5076825" y="1930400"/>
            <a:ext cx="3887788" cy="1066800"/>
          </a:xfrm>
          <a:prstGeom prst="rect">
            <a:avLst/>
          </a:prstGeom>
          <a:solidFill>
            <a:srgbClr val="00666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zh-CN" altLang="en-US" sz="3200" b="1">
                <a:solidFill>
                  <a:schemeClr val="bg1"/>
                </a:solidFill>
                <a:ea typeface="华文新魏" pitchFamily="2" charset="-122"/>
              </a:rPr>
              <a:t>探讨如何使机器完成这个表达式的分析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610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152400"/>
            <a:ext cx="7772400" cy="685800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zh-CN" altLang="en-US" b="1" dirty="0">
                <a:latin typeface="Times New Roman" pitchFamily="18" charset="0"/>
                <a:ea typeface="华文新魏" pitchFamily="2" charset="-122"/>
              </a:rPr>
              <a:t>编译程序总体结构</a:t>
            </a:r>
          </a:p>
        </p:txBody>
      </p:sp>
      <p:grpSp>
        <p:nvGrpSpPr>
          <p:cNvPr id="9219" name="Group 3"/>
          <p:cNvGrpSpPr>
            <a:grpSpLocks/>
          </p:cNvGrpSpPr>
          <p:nvPr/>
        </p:nvGrpSpPr>
        <p:grpSpPr bwMode="auto">
          <a:xfrm>
            <a:off x="860425" y="914400"/>
            <a:ext cx="7194550" cy="5791200"/>
            <a:chOff x="542" y="576"/>
            <a:chExt cx="4532" cy="3648"/>
          </a:xfrm>
        </p:grpSpPr>
        <p:sp>
          <p:nvSpPr>
            <p:cNvPr id="9220" name="AutoShape 4"/>
            <p:cNvSpPr>
              <a:spLocks noChangeArrowheads="1"/>
            </p:cNvSpPr>
            <p:nvPr/>
          </p:nvSpPr>
          <p:spPr bwMode="auto">
            <a:xfrm>
              <a:off x="2640" y="3312"/>
              <a:ext cx="192" cy="240"/>
            </a:xfrm>
            <a:prstGeom prst="downArrow">
              <a:avLst>
                <a:gd name="adj1" fmla="val 50000"/>
                <a:gd name="adj2" fmla="val 31250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2075" tIns="46038" rIns="92075" bIns="46038" anchor="ctr"/>
            <a:lstStyle/>
            <a:p>
              <a:endParaRPr lang="zh-CN" altLang="en-US"/>
            </a:p>
          </p:txBody>
        </p:sp>
        <p:sp>
          <p:nvSpPr>
            <p:cNvPr id="452613" name="Rectangle 5"/>
            <p:cNvSpPr>
              <a:spLocks noChangeArrowheads="1"/>
            </p:cNvSpPr>
            <p:nvPr/>
          </p:nvSpPr>
          <p:spPr bwMode="auto">
            <a:xfrm>
              <a:off x="2832" y="3312"/>
              <a:ext cx="768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lIns="92075" tIns="46038" rIns="92075" bIns="46038"/>
            <a:lstStyle/>
            <a:p>
              <a:pPr marL="342900" indent="-342900" eaLnBrk="0" hangingPunct="0">
                <a:spcBef>
                  <a:spcPct val="20000"/>
                </a:spcBef>
                <a:buClr>
                  <a:schemeClr val="tx2"/>
                </a:buClr>
                <a:buSzPct val="75000"/>
                <a:buFont typeface="Monotype Sorts" pitchFamily="2" charset="2"/>
                <a:buNone/>
                <a:defRPr/>
              </a:pPr>
              <a:r>
                <a:rPr kumimoji="1" lang="zh-CN" altLang="en-US" sz="1600" b="1">
                  <a:solidFill>
                    <a:schemeClr val="folHlink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华文新魏" pitchFamily="2" charset="-122"/>
                  <a:ea typeface="华文新魏" pitchFamily="2" charset="-122"/>
                </a:rPr>
                <a:t>中间代码</a:t>
              </a:r>
            </a:p>
          </p:txBody>
        </p:sp>
        <p:sp>
          <p:nvSpPr>
            <p:cNvPr id="452614" name="Rectangle 6"/>
            <p:cNvSpPr>
              <a:spLocks noChangeArrowheads="1"/>
            </p:cNvSpPr>
            <p:nvPr/>
          </p:nvSpPr>
          <p:spPr bwMode="auto">
            <a:xfrm>
              <a:off x="1872" y="3552"/>
              <a:ext cx="1824" cy="38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lIns="92075" tIns="46038" rIns="92075" bIns="46038"/>
            <a:lstStyle/>
            <a:p>
              <a:pPr marL="342900" indent="-342900" eaLnBrk="0" hangingPunct="0">
                <a:spcBef>
                  <a:spcPct val="20000"/>
                </a:spcBef>
                <a:buClr>
                  <a:schemeClr val="tx2"/>
                </a:buClr>
                <a:buSzPct val="75000"/>
                <a:buFont typeface="Monotype Sorts" pitchFamily="2" charset="2"/>
                <a:buNone/>
                <a:defRPr/>
              </a:pPr>
              <a:r>
                <a:rPr kumimoji="1" lang="zh-CN" altLang="en-US" sz="28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华文新魏" pitchFamily="2" charset="-122"/>
                  <a:ea typeface="华文新魏" pitchFamily="2" charset="-122"/>
                </a:rPr>
                <a:t>目标代码生成器</a:t>
              </a:r>
            </a:p>
          </p:txBody>
        </p:sp>
        <p:sp>
          <p:nvSpPr>
            <p:cNvPr id="452615" name="Rectangle 7"/>
            <p:cNvSpPr>
              <a:spLocks noChangeArrowheads="1"/>
            </p:cNvSpPr>
            <p:nvPr/>
          </p:nvSpPr>
          <p:spPr bwMode="auto">
            <a:xfrm>
              <a:off x="2112" y="2880"/>
              <a:ext cx="1296" cy="38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lIns="92075" tIns="46038" rIns="92075" bIns="46038"/>
            <a:lstStyle/>
            <a:p>
              <a:pPr marL="342900" indent="-342900" eaLnBrk="0" hangingPunct="0">
                <a:spcBef>
                  <a:spcPct val="20000"/>
                </a:spcBef>
                <a:buClr>
                  <a:schemeClr val="tx2"/>
                </a:buClr>
                <a:buSzPct val="75000"/>
                <a:buFont typeface="Monotype Sorts" pitchFamily="2" charset="2"/>
                <a:buNone/>
                <a:defRPr/>
              </a:pPr>
              <a:r>
                <a:rPr kumimoji="1" lang="zh-CN" altLang="en-US" sz="28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华文新魏" pitchFamily="2" charset="-122"/>
                  <a:ea typeface="华文新魏" pitchFamily="2" charset="-122"/>
                </a:rPr>
                <a:t>代码优化器</a:t>
              </a:r>
            </a:p>
          </p:txBody>
        </p:sp>
        <p:sp>
          <p:nvSpPr>
            <p:cNvPr id="452616" name="Rectangle 8"/>
            <p:cNvSpPr>
              <a:spLocks noChangeArrowheads="1"/>
            </p:cNvSpPr>
            <p:nvPr/>
          </p:nvSpPr>
          <p:spPr bwMode="auto">
            <a:xfrm>
              <a:off x="1488" y="2208"/>
              <a:ext cx="2832" cy="38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lIns="92075" tIns="46038" rIns="92075" bIns="46038"/>
            <a:lstStyle/>
            <a:p>
              <a:pPr marL="342900" indent="-342900" eaLnBrk="0" hangingPunct="0">
                <a:spcBef>
                  <a:spcPct val="20000"/>
                </a:spcBef>
                <a:buClr>
                  <a:schemeClr val="tx2"/>
                </a:buClr>
                <a:buSzPct val="75000"/>
                <a:buFont typeface="Monotype Sorts" pitchFamily="2" charset="2"/>
                <a:buNone/>
                <a:defRPr/>
              </a:pPr>
              <a:r>
                <a:rPr kumimoji="1" lang="zh-CN" altLang="en-US" sz="28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华文新魏" pitchFamily="2" charset="-122"/>
                  <a:ea typeface="华文新魏" pitchFamily="2" charset="-122"/>
                </a:rPr>
                <a:t>语义分析与中间代码生成器</a:t>
              </a:r>
            </a:p>
          </p:txBody>
        </p:sp>
        <p:sp>
          <p:nvSpPr>
            <p:cNvPr id="452617" name="Rectangle 9"/>
            <p:cNvSpPr>
              <a:spLocks noChangeArrowheads="1"/>
            </p:cNvSpPr>
            <p:nvPr/>
          </p:nvSpPr>
          <p:spPr bwMode="auto">
            <a:xfrm>
              <a:off x="2112" y="1488"/>
              <a:ext cx="1296" cy="384"/>
            </a:xfrm>
            <a:prstGeom prst="rect">
              <a:avLst/>
            </a:prstGeom>
            <a:solidFill>
              <a:srgbClr val="00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lIns="92075" tIns="46038" rIns="92075" bIns="46038"/>
            <a:lstStyle/>
            <a:p>
              <a:pPr marL="342900" indent="-342900" eaLnBrk="0" hangingPunct="0">
                <a:spcBef>
                  <a:spcPct val="20000"/>
                </a:spcBef>
                <a:buClr>
                  <a:schemeClr val="tx2"/>
                </a:buClr>
                <a:buSzPct val="75000"/>
                <a:buFont typeface="Monotype Sorts" pitchFamily="2" charset="2"/>
                <a:buNone/>
                <a:defRPr/>
              </a:pPr>
              <a:r>
                <a:rPr kumimoji="1" lang="zh-CN" altLang="en-US" sz="2800" b="1">
                  <a:solidFill>
                    <a:schemeClr val="hlink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华文新魏" pitchFamily="2" charset="-122"/>
                  <a:ea typeface="华文新魏" pitchFamily="2" charset="-122"/>
                </a:rPr>
                <a:t>语法分析器</a:t>
              </a:r>
            </a:p>
          </p:txBody>
        </p:sp>
        <p:grpSp>
          <p:nvGrpSpPr>
            <p:cNvPr id="9226" name="Group 10"/>
            <p:cNvGrpSpPr>
              <a:grpSpLocks/>
            </p:cNvGrpSpPr>
            <p:nvPr/>
          </p:nvGrpSpPr>
          <p:grpSpPr bwMode="auto">
            <a:xfrm>
              <a:off x="542" y="1008"/>
              <a:ext cx="1570" cy="2880"/>
              <a:chOff x="542" y="1104"/>
              <a:chExt cx="1570" cy="2880"/>
            </a:xfrm>
          </p:grpSpPr>
          <p:sp>
            <p:nvSpPr>
              <p:cNvPr id="452619" name="Text Box 11" descr="羊皮纸"/>
              <p:cNvSpPr txBox="1">
                <a:spLocks noChangeArrowheads="1"/>
              </p:cNvSpPr>
              <p:nvPr/>
            </p:nvSpPr>
            <p:spPr bwMode="auto">
              <a:xfrm>
                <a:off x="542" y="1104"/>
                <a:ext cx="418" cy="2880"/>
              </a:xfrm>
              <a:prstGeom prst="rect">
                <a:avLst/>
              </a:prstGeom>
              <a:blipFill dpi="0" rotWithShape="1">
                <a:blip r:embed="rId2"/>
                <a:srcRect/>
                <a:tile tx="0" ty="0" sx="100000" sy="100000" flip="none" algn="tl"/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vert="eaVert" lIns="92075" tIns="46038" rIns="92075" bIns="46038">
                <a:spAutoFit/>
              </a:bodyPr>
              <a:lstStyle/>
              <a:p>
                <a:pPr algn="ctr" eaLnBrk="0" hangingPunct="0">
                  <a:lnSpc>
                    <a:spcPct val="110000"/>
                  </a:lnSpc>
                  <a:spcBef>
                    <a:spcPct val="50000"/>
                  </a:spcBef>
                  <a:buClr>
                    <a:schemeClr val="folHlink"/>
                  </a:buClr>
                  <a:buSzPct val="75000"/>
                  <a:buFont typeface="Monotype Sorts" pitchFamily="2" charset="2"/>
                  <a:buNone/>
                  <a:defRPr/>
                </a:pPr>
                <a:r>
                  <a:rPr kumimoji="1" lang="zh-CN" altLang="en-US" sz="2800" b="1">
                    <a:effectLst>
                      <a:outerShdw blurRad="38100" dist="38100" dir="2700000" algn="tl">
                        <a:srgbClr val="FFFFFF"/>
                      </a:outerShdw>
                    </a:effectLst>
                    <a:latin typeface="华文新魏" pitchFamily="2" charset="-122"/>
                    <a:ea typeface="华文新魏" pitchFamily="2" charset="-122"/>
                  </a:rPr>
                  <a:t>表    格    管    理</a:t>
                </a:r>
              </a:p>
            </p:txBody>
          </p:sp>
          <p:sp>
            <p:nvSpPr>
              <p:cNvPr id="9248" name="Line 12"/>
              <p:cNvSpPr>
                <a:spLocks noChangeShapeType="1"/>
              </p:cNvSpPr>
              <p:nvPr/>
            </p:nvSpPr>
            <p:spPr bwMode="auto">
              <a:xfrm>
                <a:off x="960" y="1152"/>
                <a:ext cx="115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triangle" w="med" len="med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92075" tIns="46038" rIns="92075" bIns="46038"/>
              <a:lstStyle/>
              <a:p>
                <a:endParaRPr lang="zh-CN" altLang="en-US"/>
              </a:p>
            </p:txBody>
          </p:sp>
          <p:sp>
            <p:nvSpPr>
              <p:cNvPr id="9249" name="Line 13"/>
              <p:cNvSpPr>
                <a:spLocks noChangeShapeType="1"/>
              </p:cNvSpPr>
              <p:nvPr/>
            </p:nvSpPr>
            <p:spPr bwMode="auto">
              <a:xfrm>
                <a:off x="960" y="1824"/>
                <a:ext cx="115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triangle" w="med" len="med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92075" tIns="46038" rIns="92075" bIns="46038"/>
              <a:lstStyle/>
              <a:p>
                <a:endParaRPr lang="zh-CN" altLang="en-US"/>
              </a:p>
            </p:txBody>
          </p:sp>
          <p:sp>
            <p:nvSpPr>
              <p:cNvPr id="9250" name="Line 14"/>
              <p:cNvSpPr>
                <a:spLocks noChangeShapeType="1"/>
              </p:cNvSpPr>
              <p:nvPr/>
            </p:nvSpPr>
            <p:spPr bwMode="auto">
              <a:xfrm>
                <a:off x="960" y="2496"/>
                <a:ext cx="52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triangle" w="med" len="med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92075" tIns="46038" rIns="92075" bIns="46038"/>
              <a:lstStyle/>
              <a:p>
                <a:endParaRPr lang="zh-CN" altLang="en-US"/>
              </a:p>
            </p:txBody>
          </p:sp>
          <p:sp>
            <p:nvSpPr>
              <p:cNvPr id="9251" name="Line 15"/>
              <p:cNvSpPr>
                <a:spLocks noChangeShapeType="1"/>
              </p:cNvSpPr>
              <p:nvPr/>
            </p:nvSpPr>
            <p:spPr bwMode="auto">
              <a:xfrm>
                <a:off x="960" y="3168"/>
                <a:ext cx="115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triangle" w="med" len="med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92075" tIns="46038" rIns="92075" bIns="46038"/>
              <a:lstStyle/>
              <a:p>
                <a:endParaRPr lang="zh-CN" altLang="en-US"/>
              </a:p>
            </p:txBody>
          </p:sp>
          <p:sp>
            <p:nvSpPr>
              <p:cNvPr id="9252" name="Line 16"/>
              <p:cNvSpPr>
                <a:spLocks noChangeShapeType="1"/>
              </p:cNvSpPr>
              <p:nvPr/>
            </p:nvSpPr>
            <p:spPr bwMode="auto">
              <a:xfrm>
                <a:off x="1008" y="3840"/>
                <a:ext cx="81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triangle" w="med" len="med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92075" tIns="46038" rIns="92075" bIns="46038"/>
              <a:lstStyle/>
              <a:p>
                <a:endParaRPr lang="zh-CN" altLang="en-US"/>
              </a:p>
            </p:txBody>
          </p:sp>
        </p:grpSp>
        <p:grpSp>
          <p:nvGrpSpPr>
            <p:cNvPr id="9227" name="Group 17"/>
            <p:cNvGrpSpPr>
              <a:grpSpLocks/>
            </p:cNvGrpSpPr>
            <p:nvPr/>
          </p:nvGrpSpPr>
          <p:grpSpPr bwMode="auto">
            <a:xfrm>
              <a:off x="3408" y="912"/>
              <a:ext cx="1666" cy="2976"/>
              <a:chOff x="3408" y="1008"/>
              <a:chExt cx="1666" cy="2976"/>
            </a:xfrm>
          </p:grpSpPr>
          <p:grpSp>
            <p:nvGrpSpPr>
              <p:cNvPr id="9240" name="Group 18"/>
              <p:cNvGrpSpPr>
                <a:grpSpLocks/>
              </p:cNvGrpSpPr>
              <p:nvPr/>
            </p:nvGrpSpPr>
            <p:grpSpPr bwMode="auto">
              <a:xfrm>
                <a:off x="3408" y="1008"/>
                <a:ext cx="1666" cy="2976"/>
                <a:chOff x="3408" y="1008"/>
                <a:chExt cx="1666" cy="2976"/>
              </a:xfrm>
            </p:grpSpPr>
            <p:sp>
              <p:nvSpPr>
                <p:cNvPr id="452627" name="Text Box 19" descr="羊皮纸"/>
                <p:cNvSpPr txBox="1">
                  <a:spLocks noChangeArrowheads="1"/>
                </p:cNvSpPr>
                <p:nvPr/>
              </p:nvSpPr>
              <p:spPr bwMode="auto">
                <a:xfrm>
                  <a:off x="4656" y="1008"/>
                  <a:ext cx="418" cy="2976"/>
                </a:xfrm>
                <a:prstGeom prst="rect">
                  <a:avLst/>
                </a:prstGeom>
                <a:blipFill dpi="0" rotWithShape="1">
                  <a:blip r:embed="rId2"/>
                  <a:srcRect/>
                  <a:tile tx="0" ty="0" sx="100000" sy="100000" flip="none" algn="tl"/>
                </a:blipFill>
                <a:ln w="9525" algn="ctr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vert="eaVert" lIns="92075" tIns="46038" rIns="92075" bIns="46038">
                  <a:spAutoFit/>
                </a:bodyPr>
                <a:lstStyle/>
                <a:p>
                  <a:pPr algn="ctr" eaLnBrk="0" hangingPunct="0">
                    <a:lnSpc>
                      <a:spcPct val="110000"/>
                    </a:lnSpc>
                    <a:spcBef>
                      <a:spcPct val="50000"/>
                    </a:spcBef>
                    <a:buClr>
                      <a:schemeClr val="folHlink"/>
                    </a:buClr>
                    <a:buSzPct val="75000"/>
                    <a:buFont typeface="Monotype Sorts" pitchFamily="2" charset="2"/>
                    <a:buNone/>
                    <a:defRPr/>
                  </a:pPr>
                  <a:r>
                    <a:rPr kumimoji="1" lang="zh-CN" altLang="en-US" sz="2800" b="1">
                      <a:effectLst>
                        <a:outerShdw blurRad="38100" dist="38100" dir="2700000" algn="tl">
                          <a:srgbClr val="FFFFFF"/>
                        </a:outerShdw>
                      </a:effectLst>
                      <a:latin typeface="华文新魏" pitchFamily="2" charset="-122"/>
                      <a:ea typeface="华文新魏" pitchFamily="2" charset="-122"/>
                    </a:rPr>
                    <a:t>出    错    处    理</a:t>
                  </a:r>
                </a:p>
              </p:txBody>
            </p:sp>
            <p:sp>
              <p:nvSpPr>
                <p:cNvPr id="9243" name="Line 20"/>
                <p:cNvSpPr>
                  <a:spLocks noChangeShapeType="1"/>
                </p:cNvSpPr>
                <p:nvPr/>
              </p:nvSpPr>
              <p:spPr bwMode="auto">
                <a:xfrm>
                  <a:off x="3456" y="1824"/>
                  <a:ext cx="1152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 type="triangle" w="med" len="med"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92075" tIns="46038" rIns="92075" bIns="46038"/>
                <a:lstStyle/>
                <a:p>
                  <a:endParaRPr lang="zh-CN" altLang="en-US"/>
                </a:p>
              </p:txBody>
            </p:sp>
            <p:sp>
              <p:nvSpPr>
                <p:cNvPr id="9244" name="Line 21"/>
                <p:cNvSpPr>
                  <a:spLocks noChangeShapeType="1"/>
                </p:cNvSpPr>
                <p:nvPr/>
              </p:nvSpPr>
              <p:spPr bwMode="auto">
                <a:xfrm>
                  <a:off x="3408" y="1104"/>
                  <a:ext cx="1152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 type="triangle" w="med" len="med"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92075" tIns="46038" rIns="92075" bIns="46038"/>
                <a:lstStyle/>
                <a:p>
                  <a:endParaRPr lang="zh-CN" altLang="en-US"/>
                </a:p>
              </p:txBody>
            </p:sp>
            <p:sp>
              <p:nvSpPr>
                <p:cNvPr id="9245" name="Line 22"/>
                <p:cNvSpPr>
                  <a:spLocks noChangeShapeType="1"/>
                </p:cNvSpPr>
                <p:nvPr/>
              </p:nvSpPr>
              <p:spPr bwMode="auto">
                <a:xfrm>
                  <a:off x="3408" y="3168"/>
                  <a:ext cx="1152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 type="triangle" w="med" len="med"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92075" tIns="46038" rIns="92075" bIns="46038"/>
                <a:lstStyle/>
                <a:p>
                  <a:endParaRPr lang="zh-CN" altLang="en-US"/>
                </a:p>
              </p:txBody>
            </p:sp>
            <p:sp>
              <p:nvSpPr>
                <p:cNvPr id="9246" name="Line 23"/>
                <p:cNvSpPr>
                  <a:spLocks noChangeShapeType="1"/>
                </p:cNvSpPr>
                <p:nvPr/>
              </p:nvSpPr>
              <p:spPr bwMode="auto">
                <a:xfrm>
                  <a:off x="4320" y="2544"/>
                  <a:ext cx="288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 type="triangle" w="med" len="med"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92075" tIns="46038" rIns="92075" bIns="46038"/>
                <a:lstStyle/>
                <a:p>
                  <a:endParaRPr lang="zh-CN" altLang="en-US"/>
                </a:p>
              </p:txBody>
            </p:sp>
          </p:grpSp>
          <p:sp>
            <p:nvSpPr>
              <p:cNvPr id="9241" name="Line 24"/>
              <p:cNvSpPr>
                <a:spLocks noChangeShapeType="1"/>
              </p:cNvSpPr>
              <p:nvPr/>
            </p:nvSpPr>
            <p:spPr bwMode="auto">
              <a:xfrm>
                <a:off x="3744" y="3888"/>
                <a:ext cx="81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triangle" w="med" len="med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92075" tIns="46038" rIns="92075" bIns="46038"/>
              <a:lstStyle/>
              <a:p>
                <a:endParaRPr lang="zh-CN" altLang="en-US"/>
              </a:p>
            </p:txBody>
          </p:sp>
        </p:grpSp>
        <p:sp>
          <p:nvSpPr>
            <p:cNvPr id="452633" name="Rectangle 25"/>
            <p:cNvSpPr>
              <a:spLocks noChangeArrowheads="1"/>
            </p:cNvSpPr>
            <p:nvPr/>
          </p:nvSpPr>
          <p:spPr bwMode="auto">
            <a:xfrm>
              <a:off x="2832" y="2640"/>
              <a:ext cx="768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lIns="92075" tIns="46038" rIns="92075" bIns="46038"/>
            <a:lstStyle/>
            <a:p>
              <a:pPr marL="342900" indent="-342900" eaLnBrk="0" hangingPunct="0">
                <a:spcBef>
                  <a:spcPct val="20000"/>
                </a:spcBef>
                <a:buClr>
                  <a:schemeClr val="tx2"/>
                </a:buClr>
                <a:buSzPct val="75000"/>
                <a:buFont typeface="Monotype Sorts" pitchFamily="2" charset="2"/>
                <a:buNone/>
                <a:defRPr/>
              </a:pPr>
              <a:r>
                <a:rPr kumimoji="1" lang="zh-CN" altLang="en-US" sz="1600" b="1">
                  <a:solidFill>
                    <a:schemeClr val="folHlink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华文新魏" pitchFamily="2" charset="-122"/>
                  <a:ea typeface="华文新魏" pitchFamily="2" charset="-122"/>
                </a:rPr>
                <a:t>中间代码</a:t>
              </a:r>
            </a:p>
          </p:txBody>
        </p:sp>
        <p:sp>
          <p:nvSpPr>
            <p:cNvPr id="9229" name="AutoShape 26"/>
            <p:cNvSpPr>
              <a:spLocks noChangeArrowheads="1"/>
            </p:cNvSpPr>
            <p:nvPr/>
          </p:nvSpPr>
          <p:spPr bwMode="auto">
            <a:xfrm>
              <a:off x="2640" y="2640"/>
              <a:ext cx="192" cy="240"/>
            </a:xfrm>
            <a:prstGeom prst="downArrow">
              <a:avLst>
                <a:gd name="adj1" fmla="val 50000"/>
                <a:gd name="adj2" fmla="val 31250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2075" tIns="46038" rIns="92075" bIns="46038" anchor="ctr"/>
            <a:lstStyle/>
            <a:p>
              <a:endParaRPr lang="zh-CN" altLang="en-US"/>
            </a:p>
          </p:txBody>
        </p:sp>
        <p:sp>
          <p:nvSpPr>
            <p:cNvPr id="9230" name="AutoShape 27"/>
            <p:cNvSpPr>
              <a:spLocks noChangeArrowheads="1"/>
            </p:cNvSpPr>
            <p:nvPr/>
          </p:nvSpPr>
          <p:spPr bwMode="auto">
            <a:xfrm>
              <a:off x="2640" y="3984"/>
              <a:ext cx="192" cy="240"/>
            </a:xfrm>
            <a:prstGeom prst="downArrow">
              <a:avLst>
                <a:gd name="adj1" fmla="val 50000"/>
                <a:gd name="adj2" fmla="val 31250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2075" tIns="46038" rIns="92075" bIns="46038" anchor="ctr"/>
            <a:lstStyle/>
            <a:p>
              <a:endParaRPr lang="zh-CN" altLang="en-US"/>
            </a:p>
          </p:txBody>
        </p:sp>
        <p:sp>
          <p:nvSpPr>
            <p:cNvPr id="452636" name="Rectangle 28"/>
            <p:cNvSpPr>
              <a:spLocks noChangeArrowheads="1"/>
            </p:cNvSpPr>
            <p:nvPr/>
          </p:nvSpPr>
          <p:spPr bwMode="auto">
            <a:xfrm>
              <a:off x="2784" y="3978"/>
              <a:ext cx="768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lIns="92075" tIns="46038" rIns="92075" bIns="46038"/>
            <a:lstStyle/>
            <a:p>
              <a:pPr marL="342900" indent="-342900" eaLnBrk="0" hangingPunct="0">
                <a:spcBef>
                  <a:spcPct val="20000"/>
                </a:spcBef>
                <a:buClr>
                  <a:schemeClr val="tx2"/>
                </a:buClr>
                <a:buSzPct val="75000"/>
                <a:buFont typeface="Monotype Sorts" pitchFamily="2" charset="2"/>
                <a:buNone/>
                <a:defRPr/>
              </a:pPr>
              <a:r>
                <a:rPr kumimoji="1" lang="zh-CN" altLang="en-US" sz="1600" b="1">
                  <a:solidFill>
                    <a:schemeClr val="folHlink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华文新魏" pitchFamily="2" charset="-122"/>
                  <a:ea typeface="华文新魏" pitchFamily="2" charset="-122"/>
                </a:rPr>
                <a:t>目标代码</a:t>
              </a:r>
            </a:p>
          </p:txBody>
        </p:sp>
        <p:sp>
          <p:nvSpPr>
            <p:cNvPr id="9232" name="AutoShape 29"/>
            <p:cNvSpPr>
              <a:spLocks noChangeArrowheads="1"/>
            </p:cNvSpPr>
            <p:nvPr/>
          </p:nvSpPr>
          <p:spPr bwMode="auto">
            <a:xfrm>
              <a:off x="2640" y="1920"/>
              <a:ext cx="192" cy="240"/>
            </a:xfrm>
            <a:prstGeom prst="downArrow">
              <a:avLst>
                <a:gd name="adj1" fmla="val 50000"/>
                <a:gd name="adj2" fmla="val 31250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2075" tIns="46038" rIns="92075" bIns="46038" anchor="ctr"/>
            <a:lstStyle/>
            <a:p>
              <a:endParaRPr lang="zh-CN" altLang="en-US"/>
            </a:p>
          </p:txBody>
        </p:sp>
        <p:sp>
          <p:nvSpPr>
            <p:cNvPr id="452638" name="Rectangle 30"/>
            <p:cNvSpPr>
              <a:spLocks noChangeArrowheads="1"/>
            </p:cNvSpPr>
            <p:nvPr/>
          </p:nvSpPr>
          <p:spPr bwMode="auto">
            <a:xfrm>
              <a:off x="2880" y="1920"/>
              <a:ext cx="768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lIns="92075" tIns="46038" rIns="92075" bIns="46038"/>
            <a:lstStyle/>
            <a:p>
              <a:pPr marL="342900" indent="-342900" eaLnBrk="0" hangingPunct="0">
                <a:spcBef>
                  <a:spcPct val="20000"/>
                </a:spcBef>
                <a:buClr>
                  <a:schemeClr val="tx2"/>
                </a:buClr>
                <a:buSzPct val="75000"/>
                <a:buFont typeface="Monotype Sorts" pitchFamily="2" charset="2"/>
                <a:buNone/>
                <a:defRPr/>
              </a:pPr>
              <a:r>
                <a:rPr kumimoji="1" lang="zh-CN" altLang="en-US" sz="1600" b="1">
                  <a:solidFill>
                    <a:schemeClr val="folHlink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华文新魏" pitchFamily="2" charset="-122"/>
                  <a:ea typeface="华文新魏" pitchFamily="2" charset="-122"/>
                </a:rPr>
                <a:t>语法单位</a:t>
              </a:r>
            </a:p>
          </p:txBody>
        </p:sp>
        <p:sp>
          <p:nvSpPr>
            <p:cNvPr id="9234" name="AutoShape 31"/>
            <p:cNvSpPr>
              <a:spLocks noChangeArrowheads="1"/>
            </p:cNvSpPr>
            <p:nvPr/>
          </p:nvSpPr>
          <p:spPr bwMode="auto">
            <a:xfrm>
              <a:off x="2640" y="1248"/>
              <a:ext cx="192" cy="240"/>
            </a:xfrm>
            <a:prstGeom prst="downArrow">
              <a:avLst>
                <a:gd name="adj1" fmla="val 50000"/>
                <a:gd name="adj2" fmla="val 31250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2075" tIns="46038" rIns="92075" bIns="46038" anchor="ctr"/>
            <a:lstStyle/>
            <a:p>
              <a:endParaRPr lang="zh-CN" altLang="en-US"/>
            </a:p>
          </p:txBody>
        </p:sp>
        <p:sp>
          <p:nvSpPr>
            <p:cNvPr id="452640" name="Rectangle 32"/>
            <p:cNvSpPr>
              <a:spLocks noChangeArrowheads="1"/>
            </p:cNvSpPr>
            <p:nvPr/>
          </p:nvSpPr>
          <p:spPr bwMode="auto">
            <a:xfrm>
              <a:off x="2880" y="1248"/>
              <a:ext cx="768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lIns="92075" tIns="46038" rIns="92075" bIns="46038"/>
            <a:lstStyle/>
            <a:p>
              <a:pPr marL="342900" indent="-342900" eaLnBrk="0" hangingPunct="0">
                <a:spcBef>
                  <a:spcPct val="20000"/>
                </a:spcBef>
                <a:buClr>
                  <a:schemeClr val="tx2"/>
                </a:buClr>
                <a:buSzPct val="75000"/>
                <a:buFont typeface="Monotype Sorts" pitchFamily="2" charset="2"/>
                <a:buNone/>
                <a:defRPr/>
              </a:pPr>
              <a:r>
                <a:rPr kumimoji="1" lang="zh-CN" altLang="en-US" sz="1600" b="1">
                  <a:solidFill>
                    <a:schemeClr val="folHlink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华文新魏" pitchFamily="2" charset="-122"/>
                  <a:ea typeface="华文新魏" pitchFamily="2" charset="-122"/>
                </a:rPr>
                <a:t>单词符号</a:t>
              </a:r>
            </a:p>
          </p:txBody>
        </p:sp>
        <p:sp>
          <p:nvSpPr>
            <p:cNvPr id="452641" name="Rectangle 33"/>
            <p:cNvSpPr>
              <a:spLocks noChangeArrowheads="1"/>
            </p:cNvSpPr>
            <p:nvPr/>
          </p:nvSpPr>
          <p:spPr bwMode="auto">
            <a:xfrm>
              <a:off x="2112" y="816"/>
              <a:ext cx="1296" cy="38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lIns="92075" tIns="46038" rIns="92075" bIns="46038"/>
            <a:lstStyle/>
            <a:p>
              <a:pPr marL="342900" indent="-342900" eaLnBrk="0" hangingPunct="0">
                <a:spcBef>
                  <a:spcPct val="20000"/>
                </a:spcBef>
                <a:buClr>
                  <a:schemeClr val="tx2"/>
                </a:buClr>
                <a:buSzPct val="75000"/>
                <a:buFont typeface="Monotype Sorts" pitchFamily="2" charset="2"/>
                <a:buNone/>
                <a:defRPr/>
              </a:pPr>
              <a:r>
                <a:rPr kumimoji="1" lang="zh-CN" altLang="en-US" sz="28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华文新魏" pitchFamily="2" charset="-122"/>
                  <a:ea typeface="华文新魏" pitchFamily="2" charset="-122"/>
                </a:rPr>
                <a:t>词法分析器</a:t>
              </a:r>
            </a:p>
          </p:txBody>
        </p:sp>
        <p:sp>
          <p:nvSpPr>
            <p:cNvPr id="9237" name="AutoShape 34"/>
            <p:cNvSpPr>
              <a:spLocks noChangeArrowheads="1"/>
            </p:cNvSpPr>
            <p:nvPr/>
          </p:nvSpPr>
          <p:spPr bwMode="auto">
            <a:xfrm>
              <a:off x="2640" y="576"/>
              <a:ext cx="192" cy="240"/>
            </a:xfrm>
            <a:prstGeom prst="downArrow">
              <a:avLst>
                <a:gd name="adj1" fmla="val 50000"/>
                <a:gd name="adj2" fmla="val 31250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2075" tIns="46038" rIns="92075" bIns="46038" anchor="ctr"/>
            <a:lstStyle/>
            <a:p>
              <a:endParaRPr lang="zh-CN" altLang="en-US"/>
            </a:p>
          </p:txBody>
        </p:sp>
        <p:sp>
          <p:nvSpPr>
            <p:cNvPr id="452643" name="Rectangle 35"/>
            <p:cNvSpPr>
              <a:spLocks noChangeArrowheads="1"/>
            </p:cNvSpPr>
            <p:nvPr/>
          </p:nvSpPr>
          <p:spPr bwMode="auto">
            <a:xfrm>
              <a:off x="2832" y="576"/>
              <a:ext cx="768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lIns="92075" tIns="46038" rIns="92075" bIns="46038"/>
            <a:lstStyle/>
            <a:p>
              <a:pPr marL="342900" indent="-342900" eaLnBrk="0" hangingPunct="0">
                <a:spcBef>
                  <a:spcPct val="20000"/>
                </a:spcBef>
                <a:buClr>
                  <a:schemeClr val="tx2"/>
                </a:buClr>
                <a:buSzPct val="75000"/>
                <a:buFont typeface="Monotype Sorts" pitchFamily="2" charset="2"/>
                <a:buNone/>
                <a:defRPr/>
              </a:pPr>
              <a:r>
                <a:rPr kumimoji="1" lang="zh-CN" altLang="en-US" sz="1600" b="1">
                  <a:solidFill>
                    <a:schemeClr val="folHlink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华文新魏" pitchFamily="2" charset="-122"/>
                  <a:ea typeface="华文新魏" pitchFamily="2" charset="-122"/>
                </a:rPr>
                <a:t>源程序</a:t>
              </a:r>
            </a:p>
          </p:txBody>
        </p:sp>
        <p:sp>
          <p:nvSpPr>
            <p:cNvPr id="9239" name="Line 36"/>
            <p:cNvSpPr>
              <a:spLocks noChangeShapeType="1"/>
            </p:cNvSpPr>
            <p:nvPr/>
          </p:nvSpPr>
          <p:spPr bwMode="auto">
            <a:xfrm>
              <a:off x="2592" y="2208"/>
              <a:ext cx="0" cy="384"/>
            </a:xfrm>
            <a:prstGeom prst="line">
              <a:avLst/>
            </a:prstGeom>
            <a:noFill/>
            <a:ln w="38100">
              <a:solidFill>
                <a:srgbClr val="FF99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2075" tIns="46038" rIns="92075" bIns="46038"/>
            <a:lstStyle/>
            <a:p>
              <a:endParaRPr lang="zh-CN" altLang="en-US"/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187450" y="1066800"/>
            <a:ext cx="6508750" cy="1905000"/>
          </a:xfrm>
        </p:spPr>
        <p:txBody>
          <a:bodyPr/>
          <a:lstStyle/>
          <a:p>
            <a:pPr eaLnBrk="1" hangingPunct="1"/>
            <a:r>
              <a:rPr lang="zh-CN" altLang="en-US" sz="5400" b="1" smtClean="0">
                <a:latin typeface="Times New Roman" pitchFamily="18" charset="0"/>
                <a:ea typeface="华文新魏" pitchFamily="2" charset="-122"/>
              </a:rPr>
              <a:t>第4章 </a:t>
            </a:r>
            <a:br>
              <a:rPr lang="zh-CN" altLang="en-US" sz="5400" b="1" smtClean="0">
                <a:latin typeface="Times New Roman" pitchFamily="18" charset="0"/>
                <a:ea typeface="华文新魏" pitchFamily="2" charset="-122"/>
              </a:rPr>
            </a:br>
            <a:r>
              <a:rPr lang="zh-CN" altLang="en-US" sz="5400" b="1" smtClean="0">
                <a:latin typeface="Times New Roman" pitchFamily="18" charset="0"/>
                <a:ea typeface="华文新魏" pitchFamily="2" charset="-122"/>
              </a:rPr>
              <a:t>自顶向下的语法分析</a:t>
            </a:r>
            <a:endParaRPr lang="en-US" altLang="zh-CN" sz="5400" b="1" smtClean="0">
              <a:latin typeface="Times New Roman" pitchFamily="18" charset="0"/>
              <a:ea typeface="华文新魏" pitchFamily="2" charset="-122"/>
            </a:endParaRP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685800" y="3505200"/>
            <a:ext cx="6838950" cy="2587625"/>
          </a:xfrm>
          <a:noFill/>
        </p:spPr>
        <p:txBody>
          <a:bodyPr/>
          <a:lstStyle/>
          <a:p>
            <a:pPr algn="l" eaLnBrk="1" hangingPunct="1"/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语法分析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(Syntax Analysis)</a:t>
            </a:r>
          </a:p>
          <a:p>
            <a:pPr algn="l" eaLnBrk="1" hangingPunct="1">
              <a:spcBef>
                <a:spcPct val="40000"/>
              </a:spcBef>
            </a:pPr>
            <a:r>
              <a:rPr lang="zh-CN" altLang="en-US" sz="2800" b="1" smtClean="0">
                <a:latin typeface="Times New Roman" pitchFamily="18" charset="0"/>
                <a:ea typeface="华文新魏" pitchFamily="2" charset="-122"/>
              </a:rPr>
              <a:t>    文法的改造问题</a:t>
            </a:r>
            <a:endParaRPr lang="en-US" altLang="zh-CN" sz="2800" b="1" i="1" smtClean="0">
              <a:latin typeface="Times New Roman" pitchFamily="18" charset="0"/>
              <a:ea typeface="华文新魏" pitchFamily="2" charset="-122"/>
            </a:endParaRPr>
          </a:p>
          <a:p>
            <a:pPr algn="l" eaLnBrk="1" hangingPunct="1">
              <a:spcBef>
                <a:spcPct val="40000"/>
              </a:spcBef>
            </a:pPr>
            <a:r>
              <a:rPr lang="zh-CN" altLang="en-US" sz="2800" b="1" smtClean="0">
                <a:latin typeface="Times New Roman" pitchFamily="18" charset="0"/>
                <a:ea typeface="华文新魏" pitchFamily="2" charset="-122"/>
              </a:rPr>
              <a:t>    自顶向下</a:t>
            </a:r>
            <a:r>
              <a:rPr lang="en-US" altLang="zh-CN" sz="2000" b="1" smtClean="0">
                <a:latin typeface="Times New Roman" pitchFamily="18" charset="0"/>
                <a:ea typeface="华文新魏" pitchFamily="2" charset="-122"/>
              </a:rPr>
              <a:t>(Top Down)</a:t>
            </a:r>
            <a:r>
              <a:rPr lang="zh-CN" altLang="en-US" sz="2800" b="1" smtClean="0">
                <a:latin typeface="Times New Roman" pitchFamily="18" charset="0"/>
                <a:ea typeface="华文新魏" pitchFamily="2" charset="-122"/>
              </a:rPr>
              <a:t>分析：推导</a:t>
            </a:r>
            <a:r>
              <a:rPr lang="en-US" altLang="zh-CN" sz="2000" b="1" smtClean="0">
                <a:latin typeface="Times New Roman" pitchFamily="18" charset="0"/>
                <a:ea typeface="华文新魏" pitchFamily="2" charset="-122"/>
              </a:rPr>
              <a:t>(Derivation)</a:t>
            </a:r>
          </a:p>
          <a:p>
            <a:pPr algn="l" eaLnBrk="1" hangingPunct="1">
              <a:spcBef>
                <a:spcPct val="40000"/>
              </a:spcBef>
            </a:pP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     LL</a:t>
            </a:r>
            <a:r>
              <a:rPr lang="zh-CN" altLang="en-US" sz="2800" b="1" smtClean="0">
                <a:latin typeface="Times New Roman" pitchFamily="18" charset="0"/>
                <a:ea typeface="华文新魏" pitchFamily="2" charset="-122"/>
              </a:rPr>
              <a:t>分析法，递归子程序法</a:t>
            </a:r>
          </a:p>
        </p:txBody>
      </p:sp>
      <p:sp>
        <p:nvSpPr>
          <p:cNvPr id="1029" name="Rectangle 14"/>
          <p:cNvSpPr>
            <a:spLocks noGrp="1" noChangeArrowheads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D406ABA6-8BFA-4E0F-BEA6-E1275F014B3B}" type="datetime1">
              <a:rPr lang="zh-CN" altLang="en-US" smtClean="0"/>
              <a:pPr eaLnBrk="1" hangingPunct="1"/>
              <a:t>2017/2/24</a:t>
            </a:fld>
            <a:endParaRPr lang="en-US" altLang="zh-CN" smtClean="0"/>
          </a:p>
        </p:txBody>
      </p:sp>
      <p:sp>
        <p:nvSpPr>
          <p:cNvPr id="1030" name="Rectangle 16"/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9AB9B55D-0CBF-4F8C-8739-BF729BC2B6EF}" type="slidenum">
              <a:rPr lang="zh-CN" altLang="en-US" smtClean="0"/>
              <a:pPr eaLnBrk="1" hangingPunct="1"/>
              <a:t>5</a:t>
            </a:fld>
            <a:endParaRPr lang="en-US" altLang="zh-CN" smtClean="0"/>
          </a:p>
        </p:txBody>
      </p:sp>
      <p:graphicFrame>
        <p:nvGraphicFramePr>
          <p:cNvPr id="1026" name="Object 3">
            <a:hlinkClick r:id="" action="ppaction://ole?verb=0"/>
          </p:cNvPr>
          <p:cNvGraphicFramePr>
            <a:graphicFrameLocks/>
          </p:cNvGraphicFramePr>
          <p:nvPr/>
        </p:nvGraphicFramePr>
        <p:xfrm>
          <a:off x="7235825" y="2997200"/>
          <a:ext cx="1219200" cy="2438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5" name="剪辑" r:id="rId3" imgW="2641320" imgH="4586040" progId="MS_ClipArt_Gallery.2">
                  <p:embed/>
                </p:oleObj>
              </mc:Choice>
              <mc:Fallback>
                <p:oleObj name="剪辑" r:id="rId3" imgW="2641320" imgH="4586040" progId="MS_ClipArt_Gallery.2">
                  <p:embed/>
                  <p:pic>
                    <p:nvPicPr>
                      <p:cNvPr id="0" name="Object 3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35825" y="2997200"/>
                        <a:ext cx="1219200" cy="2438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658" name="Rectangle 2"/>
          <p:cNvSpPr>
            <a:spLocks noGrp="1" noChangeArrowheads="1"/>
          </p:cNvSpPr>
          <p:nvPr>
            <p:ph type="title"/>
          </p:nvPr>
        </p:nvSpPr>
        <p:spPr>
          <a:xfrm>
            <a:off x="1116013" y="620713"/>
            <a:ext cx="6057900" cy="1009650"/>
          </a:xfrm>
        </p:spPr>
        <p:txBody>
          <a:bodyPr lIns="92075" tIns="46038" rIns="92075" bIns="46038"/>
          <a:lstStyle/>
          <a:p>
            <a:pPr eaLnBrk="1" hangingPunct="1">
              <a:defRPr/>
            </a:pPr>
            <a:r>
              <a:rPr lang="zh-CN" altLang="en-US" b="1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4.1  语法分析的任务</a:t>
            </a:r>
          </a:p>
        </p:txBody>
      </p:sp>
      <p:sp>
        <p:nvSpPr>
          <p:cNvPr id="454659" name="Rectangle 3"/>
          <p:cNvSpPr>
            <a:spLocks noGrp="1" noChangeArrowheads="1"/>
          </p:cNvSpPr>
          <p:nvPr>
            <p:ph idx="1"/>
          </p:nvPr>
        </p:nvSpPr>
        <p:spPr>
          <a:xfrm>
            <a:off x="900113" y="1916113"/>
            <a:ext cx="7775575" cy="4392612"/>
          </a:xfrm>
        </p:spPr>
        <p:txBody>
          <a:bodyPr lIns="92075" tIns="46038" rIns="92075" bIns="46038"/>
          <a:lstStyle/>
          <a:p>
            <a:pPr marL="0" indent="457200" eaLnBrk="1" hangingPunct="1"/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语法分析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(Syntax Analysis)</a:t>
            </a:r>
          </a:p>
          <a:p>
            <a:pPr marL="922338" lvl="1" eaLnBrk="1" hangingPunct="1"/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检查扫描器输出的单词序列是否符合该语言的文法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——</a:t>
            </a: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组成句子，并分析组成此句子的语法成分</a:t>
            </a:r>
          </a:p>
          <a:p>
            <a:pPr marL="0" indent="457200" eaLnBrk="1" hangingPunct="1"/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完成语法分析的程序叫做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(</a:t>
            </a: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语法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)</a:t>
            </a: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分析器</a:t>
            </a:r>
          </a:p>
          <a:p>
            <a:pPr marL="922338" lvl="1" eaLnBrk="1" hangingPunct="1"/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Parser</a:t>
            </a:r>
          </a:p>
          <a:p>
            <a:pPr marL="922338" lvl="1" eaLnBrk="1" hangingPunct="1"/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Syntax Analyzer</a:t>
            </a:r>
            <a:endParaRPr lang="zh-CN" altLang="en-US" b="1" smtClean="0">
              <a:latin typeface="Times New Roman" pitchFamily="18" charset="0"/>
              <a:ea typeface="华文新魏" pitchFamily="2" charset="-122"/>
            </a:endParaRPr>
          </a:p>
        </p:txBody>
      </p:sp>
      <p:sp>
        <p:nvSpPr>
          <p:cNvPr id="10244" name="日期占位符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0BB49FAD-09B4-465F-8413-DE98843D82AB}" type="datetime1">
              <a:rPr lang="zh-CN" altLang="en-US" smtClean="0"/>
              <a:pPr eaLnBrk="1" hangingPunct="1"/>
              <a:t>2017/2/24</a:t>
            </a:fld>
            <a:endParaRPr lang="en-US" altLang="zh-CN" smtClean="0"/>
          </a:p>
        </p:txBody>
      </p:sp>
      <p:sp>
        <p:nvSpPr>
          <p:cNvPr id="10245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5E0B16E8-6D74-471B-81D4-28D615EE101E}" type="slidenum">
              <a:rPr lang="zh-CN" altLang="en-US" smtClean="0"/>
              <a:pPr eaLnBrk="1" hangingPunct="1"/>
              <a:t>6</a:t>
            </a:fld>
            <a:endParaRPr lang="en-US" altLang="zh-CN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682" name="Rectangle 2"/>
          <p:cNvSpPr>
            <a:spLocks noGrp="1" noChangeArrowheads="1"/>
          </p:cNvSpPr>
          <p:nvPr>
            <p:ph type="title"/>
          </p:nvPr>
        </p:nvSpPr>
        <p:spPr>
          <a:xfrm>
            <a:off x="900113" y="549275"/>
            <a:ext cx="6551612" cy="1143000"/>
          </a:xfrm>
        </p:spPr>
        <p:txBody>
          <a:bodyPr lIns="92075" tIns="46038" rIns="92075" bIns="46038"/>
          <a:lstStyle/>
          <a:p>
            <a:pPr eaLnBrk="1" hangingPunct="1">
              <a:defRPr/>
            </a:pPr>
            <a:r>
              <a:rPr lang="zh-CN" altLang="en-US" b="1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4.1  语法分析的任务</a:t>
            </a:r>
          </a:p>
        </p:txBody>
      </p:sp>
      <p:sp>
        <p:nvSpPr>
          <p:cNvPr id="11267" name="日期占位符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D6C067ED-5CA0-4516-88BF-CE74BE54D53D}" type="datetime1">
              <a:rPr lang="zh-CN" altLang="en-US" smtClean="0"/>
              <a:pPr eaLnBrk="1" hangingPunct="1"/>
              <a:t>2017/2/24</a:t>
            </a:fld>
            <a:endParaRPr lang="en-US" altLang="zh-CN" smtClean="0"/>
          </a:p>
        </p:txBody>
      </p:sp>
      <p:sp>
        <p:nvSpPr>
          <p:cNvPr id="11268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B2CA047C-1241-4CBF-B14F-30B0BAD8F74C}" type="slidenum">
              <a:rPr lang="zh-CN" altLang="en-US" smtClean="0"/>
              <a:pPr eaLnBrk="1" hangingPunct="1"/>
              <a:t>7</a:t>
            </a:fld>
            <a:endParaRPr lang="en-US" altLang="zh-CN" smtClean="0"/>
          </a:p>
        </p:txBody>
      </p:sp>
      <p:sp>
        <p:nvSpPr>
          <p:cNvPr id="455683" name="Rectangle 3"/>
          <p:cNvSpPr>
            <a:spLocks noChangeArrowheads="1"/>
          </p:cNvSpPr>
          <p:nvPr/>
        </p:nvSpPr>
        <p:spPr bwMode="auto">
          <a:xfrm>
            <a:off x="6477000" y="2924175"/>
            <a:ext cx="1695450" cy="4572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 eaLnBrk="0" hangingPunct="0">
              <a:defRPr/>
            </a:pPr>
            <a:r>
              <a:rPr kumimoji="1" lang="zh-CN" altLang="en-US" sz="32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扫描器</a:t>
            </a:r>
          </a:p>
        </p:txBody>
      </p:sp>
      <p:sp>
        <p:nvSpPr>
          <p:cNvPr id="455684" name="Rectangle 4"/>
          <p:cNvSpPr>
            <a:spLocks noChangeArrowheads="1"/>
          </p:cNvSpPr>
          <p:nvPr/>
        </p:nvSpPr>
        <p:spPr bwMode="auto">
          <a:xfrm>
            <a:off x="6477000" y="4048125"/>
            <a:ext cx="1624013" cy="533400"/>
          </a:xfrm>
          <a:prstGeom prst="rect">
            <a:avLst/>
          </a:prstGeom>
          <a:solidFill>
            <a:srgbClr val="006666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 eaLnBrk="0" hangingPunct="0">
              <a:defRPr/>
            </a:pPr>
            <a:r>
              <a:rPr kumimoji="1" lang="zh-CN" altLang="en-US" sz="3200" b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华文新魏" pitchFamily="2" charset="-122"/>
              </a:rPr>
              <a:t>分析器</a:t>
            </a:r>
          </a:p>
        </p:txBody>
      </p:sp>
      <p:sp>
        <p:nvSpPr>
          <p:cNvPr id="455685" name="Rectangle 5"/>
          <p:cNvSpPr>
            <a:spLocks noChangeArrowheads="1"/>
          </p:cNvSpPr>
          <p:nvPr/>
        </p:nvSpPr>
        <p:spPr bwMode="auto">
          <a:xfrm>
            <a:off x="6324600" y="5343525"/>
            <a:ext cx="1992313" cy="5334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 eaLnBrk="0" hangingPunct="0">
              <a:defRPr/>
            </a:pPr>
            <a:r>
              <a:rPr kumimoji="1" lang="zh-CN" altLang="en-US" sz="32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语义处理</a:t>
            </a:r>
          </a:p>
        </p:txBody>
      </p:sp>
      <p:sp>
        <p:nvSpPr>
          <p:cNvPr id="455686" name="Line 6"/>
          <p:cNvSpPr>
            <a:spLocks noChangeShapeType="1"/>
          </p:cNvSpPr>
          <p:nvPr/>
        </p:nvSpPr>
        <p:spPr bwMode="auto">
          <a:xfrm flipH="1">
            <a:off x="7235825" y="3381375"/>
            <a:ext cx="3175" cy="69532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55687" name="Line 7"/>
          <p:cNvSpPr>
            <a:spLocks noChangeShapeType="1"/>
          </p:cNvSpPr>
          <p:nvPr/>
        </p:nvSpPr>
        <p:spPr bwMode="auto">
          <a:xfrm flipH="1">
            <a:off x="7235825" y="4657725"/>
            <a:ext cx="3175" cy="660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55688" name="Rectangle 8"/>
          <p:cNvSpPr>
            <a:spLocks noChangeArrowheads="1"/>
          </p:cNvSpPr>
          <p:nvPr/>
        </p:nvSpPr>
        <p:spPr bwMode="auto">
          <a:xfrm>
            <a:off x="7164388" y="3414713"/>
            <a:ext cx="16065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 eaLnBrk="0" hangingPunct="0"/>
            <a:r>
              <a:rPr kumimoji="1" lang="zh-CN" altLang="en-US" sz="2800" b="1">
                <a:solidFill>
                  <a:srgbClr val="CC0000"/>
                </a:solidFill>
                <a:latin typeface="Times New Roman" pitchFamily="18" charset="0"/>
                <a:ea typeface="华文新魏" pitchFamily="2" charset="-122"/>
              </a:rPr>
              <a:t>单词符号</a:t>
            </a:r>
          </a:p>
        </p:txBody>
      </p:sp>
      <p:sp>
        <p:nvSpPr>
          <p:cNvPr id="455689" name="Rectangle 9"/>
          <p:cNvSpPr>
            <a:spLocks noChangeArrowheads="1"/>
          </p:cNvSpPr>
          <p:nvPr/>
        </p:nvSpPr>
        <p:spPr bwMode="auto">
          <a:xfrm>
            <a:off x="7162800" y="4679950"/>
            <a:ext cx="16065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 eaLnBrk="0" hangingPunct="0"/>
            <a:r>
              <a:rPr kumimoji="1" lang="zh-CN" altLang="en-US" sz="2800" b="1">
                <a:solidFill>
                  <a:srgbClr val="CC0000"/>
                </a:solidFill>
                <a:latin typeface="Times New Roman" pitchFamily="18" charset="0"/>
                <a:ea typeface="华文新魏" pitchFamily="2" charset="-122"/>
              </a:rPr>
              <a:t>语法单位</a:t>
            </a:r>
          </a:p>
        </p:txBody>
      </p:sp>
      <p:sp>
        <p:nvSpPr>
          <p:cNvPr id="455690" name="Line 10"/>
          <p:cNvSpPr>
            <a:spLocks noChangeShapeType="1"/>
          </p:cNvSpPr>
          <p:nvPr/>
        </p:nvSpPr>
        <p:spPr bwMode="auto">
          <a:xfrm flipH="1">
            <a:off x="7235825" y="2325688"/>
            <a:ext cx="3175" cy="59848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55691" name="Rectangle 11"/>
          <p:cNvSpPr>
            <a:spLocks noChangeArrowheads="1"/>
          </p:cNvSpPr>
          <p:nvPr/>
        </p:nvSpPr>
        <p:spPr bwMode="auto">
          <a:xfrm>
            <a:off x="6604000" y="1901825"/>
            <a:ext cx="12509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 eaLnBrk="0" hangingPunct="0"/>
            <a:r>
              <a:rPr kumimoji="1" lang="zh-CN" altLang="en-US" sz="2800" b="1">
                <a:latin typeface="Times New Roman" pitchFamily="18" charset="0"/>
                <a:ea typeface="华文新魏" pitchFamily="2" charset="-122"/>
              </a:rPr>
              <a:t>源程序</a:t>
            </a:r>
          </a:p>
        </p:txBody>
      </p:sp>
      <p:sp>
        <p:nvSpPr>
          <p:cNvPr id="455692" name="Rectangle 12"/>
          <p:cNvSpPr>
            <a:spLocks noChangeArrowheads="1"/>
          </p:cNvSpPr>
          <p:nvPr/>
        </p:nvSpPr>
        <p:spPr bwMode="auto">
          <a:xfrm>
            <a:off x="1042988" y="1989138"/>
            <a:ext cx="4824412" cy="417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/>
          <a:lstStyle/>
          <a:p>
            <a:pPr marL="342900" indent="-342900" eaLnBrk="0" hangingPunct="0">
              <a:lnSpc>
                <a:spcPct val="90000"/>
              </a:lnSpc>
              <a:spcBef>
                <a:spcPct val="50000"/>
              </a:spcBef>
              <a:buClr>
                <a:schemeClr val="tx2"/>
              </a:buClr>
              <a:buSzPct val="75000"/>
              <a:buFont typeface="Monotype Sorts" pitchFamily="2" charset="2"/>
              <a:buChar char="n"/>
              <a:defRPr/>
            </a:pPr>
            <a:r>
              <a:rPr kumimoji="1" lang="zh-CN" altLang="en-US" sz="3200" b="1">
                <a:latin typeface="Times New Roman" pitchFamily="18" charset="0"/>
                <a:ea typeface="华文新魏" pitchFamily="2" charset="-122"/>
              </a:rPr>
              <a:t>输入：</a:t>
            </a:r>
            <a:r>
              <a:rPr kumimoji="1" lang="en-US" altLang="zh-CN" sz="3200" b="1">
                <a:latin typeface="Times New Roman" pitchFamily="18" charset="0"/>
                <a:ea typeface="华文新魏" pitchFamily="2" charset="-122"/>
              </a:rPr>
              <a:t>Token</a:t>
            </a:r>
            <a:r>
              <a:rPr kumimoji="1" lang="zh-CN" altLang="en-US" sz="3200" b="1">
                <a:latin typeface="Times New Roman" pitchFamily="18" charset="0"/>
                <a:ea typeface="华文新魏" pitchFamily="2" charset="-122"/>
              </a:rPr>
              <a:t>序列</a:t>
            </a:r>
          </a:p>
          <a:p>
            <a:pPr marL="342900" indent="-342900" eaLnBrk="0" hangingPunct="0">
              <a:lnSpc>
                <a:spcPct val="90000"/>
              </a:lnSpc>
              <a:spcBef>
                <a:spcPct val="50000"/>
              </a:spcBef>
              <a:buClr>
                <a:schemeClr val="tx2"/>
              </a:buClr>
              <a:buSzPct val="75000"/>
              <a:buFont typeface="Monotype Sorts" pitchFamily="2" charset="2"/>
              <a:buChar char="n"/>
              <a:defRPr/>
            </a:pPr>
            <a:r>
              <a:rPr kumimoji="1" lang="zh-CN" altLang="en-US" sz="3200" b="1">
                <a:latin typeface="Times New Roman" pitchFamily="18" charset="0"/>
                <a:ea typeface="华文新魏" pitchFamily="2" charset="-122"/>
              </a:rPr>
              <a:t>输出</a:t>
            </a:r>
          </a:p>
          <a:p>
            <a:pPr marL="742950" lvl="1" indent="-285750" eaLnBrk="0" hangingPunct="0">
              <a:lnSpc>
                <a:spcPct val="90000"/>
              </a:lnSpc>
              <a:spcBef>
                <a:spcPct val="20000"/>
              </a:spcBef>
              <a:buClr>
                <a:srgbClr val="CC0000"/>
              </a:buClr>
              <a:buSzPct val="75000"/>
              <a:buFont typeface="Monotype Sorts" pitchFamily="2" charset="2"/>
              <a:buChar char="u"/>
              <a:defRPr/>
            </a:pPr>
            <a:r>
              <a:rPr kumimoji="1" lang="zh-CN" altLang="en-US" sz="28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语法成分及组成</a:t>
            </a:r>
          </a:p>
          <a:p>
            <a:pPr marL="742950" lvl="1" indent="-285750" eaLnBrk="0" hangingPunct="0">
              <a:lnSpc>
                <a:spcPct val="90000"/>
              </a:lnSpc>
              <a:spcBef>
                <a:spcPct val="20000"/>
              </a:spcBef>
              <a:buClr>
                <a:srgbClr val="CC0000"/>
              </a:buClr>
              <a:buSzPct val="75000"/>
              <a:buFont typeface="Monotype Sorts" pitchFamily="2" charset="2"/>
              <a:buChar char="u"/>
              <a:defRPr/>
            </a:pPr>
            <a:r>
              <a:rPr kumimoji="1" lang="zh-CN" altLang="en-US" sz="28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表现形式：语法树</a:t>
            </a:r>
          </a:p>
          <a:p>
            <a:pPr marL="742950" lvl="1" indent="-285750" eaLnBrk="0" hangingPunct="0">
              <a:lnSpc>
                <a:spcPct val="90000"/>
              </a:lnSpc>
              <a:spcBef>
                <a:spcPct val="20000"/>
              </a:spcBef>
              <a:buClr>
                <a:srgbClr val="CC0000"/>
              </a:buClr>
              <a:buSzPct val="75000"/>
              <a:buFont typeface="Monotype Sorts" pitchFamily="2" charset="2"/>
              <a:buChar char="u"/>
              <a:defRPr/>
            </a:pPr>
            <a:r>
              <a:rPr kumimoji="1" lang="zh-CN" altLang="en-US" sz="28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错误报告</a:t>
            </a:r>
            <a:endParaRPr kumimoji="1" lang="en-US" altLang="zh-CN" sz="2800" b="1">
              <a:effectLst>
                <a:outerShdw blurRad="38100" dist="38100" dir="2700000" algn="tl">
                  <a:srgbClr val="C0C0C0"/>
                </a:outerShdw>
              </a:effectLst>
              <a:latin typeface="Times New Roman" pitchFamily="18" charset="0"/>
              <a:ea typeface="华文新魏" pitchFamily="2" charset="-122"/>
            </a:endParaRPr>
          </a:p>
          <a:p>
            <a:pPr marL="342900" indent="-342900" eaLnBrk="0" hangingPunct="0">
              <a:lnSpc>
                <a:spcPct val="90000"/>
              </a:lnSpc>
              <a:spcBef>
                <a:spcPct val="50000"/>
              </a:spcBef>
              <a:buClr>
                <a:schemeClr val="tx2"/>
              </a:buClr>
              <a:buSzPct val="75000"/>
              <a:buFont typeface="Monotype Sorts" pitchFamily="2" charset="2"/>
              <a:buChar char="n"/>
              <a:defRPr/>
            </a:pPr>
            <a:r>
              <a:rPr kumimoji="1" lang="zh-CN" altLang="en-US" sz="3200" b="1">
                <a:latin typeface="Times New Roman" pitchFamily="18" charset="0"/>
                <a:ea typeface="华文新魏" pitchFamily="2" charset="-122"/>
              </a:rPr>
              <a:t>出错处理:定位、续编译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56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556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5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4556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5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4556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56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4556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5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4556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5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4556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2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56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4556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3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56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4556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3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5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4556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56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4556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569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500"/>
                                        <p:tgtEl>
                                          <p:spTgt spid="45569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569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45569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569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5" dur="500"/>
                                        <p:tgtEl>
                                          <p:spTgt spid="45569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569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8" dur="500"/>
                                        <p:tgtEl>
                                          <p:spTgt spid="45569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569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3" dur="500"/>
                                        <p:tgtEl>
                                          <p:spTgt spid="45569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5683" grpId="0" animBg="1" autoUpdateAnimBg="0"/>
      <p:bldP spid="455684" grpId="0" animBg="1" autoUpdateAnimBg="0"/>
      <p:bldP spid="455685" grpId="0" animBg="1" autoUpdateAnimBg="0"/>
      <p:bldP spid="455686" grpId="0" animBg="1"/>
      <p:bldP spid="455687" grpId="0" animBg="1"/>
      <p:bldP spid="455688" grpId="0" autoUpdateAnimBg="0"/>
      <p:bldP spid="455689" grpId="0" autoUpdateAnimBg="0"/>
      <p:bldP spid="455690" grpId="0" animBg="1"/>
      <p:bldP spid="455691" grpId="0" autoUpdateAnimBg="0"/>
      <p:bldP spid="455692" grpId="0" build="p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>
          <a:xfrm>
            <a:off x="301625" y="341313"/>
            <a:ext cx="8540750" cy="1143000"/>
          </a:xfrm>
        </p:spPr>
        <p:txBody>
          <a:bodyPr/>
          <a:lstStyle/>
          <a:p>
            <a:pPr eaLnBrk="1" hangingPunct="1"/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语法分析方法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idx="1"/>
          </p:nvPr>
        </p:nvSpPr>
        <p:spPr>
          <a:xfrm>
            <a:off x="900113" y="1524000"/>
            <a:ext cx="8054975" cy="619125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E→E+E|E-E|E*E|E/E|(E)|id  </a:t>
            </a: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：</a:t>
            </a:r>
            <a:r>
              <a:rPr lang="en-US" altLang="zh-CN" b="1" smtClean="0">
                <a:solidFill>
                  <a:srgbClr val="000099"/>
                </a:solidFill>
                <a:latin typeface="Times New Roman" pitchFamily="18" charset="0"/>
                <a:ea typeface="华文新魏" pitchFamily="2" charset="-122"/>
              </a:rPr>
              <a:t>id+id*id</a:t>
            </a:r>
          </a:p>
        </p:txBody>
      </p:sp>
      <p:sp>
        <p:nvSpPr>
          <p:cNvPr id="12292" name="日期占位符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E33932C1-90BA-4CD2-A631-2BE370E51E02}" type="datetime1">
              <a:rPr lang="zh-CN" altLang="en-US" smtClean="0"/>
              <a:pPr eaLnBrk="1" hangingPunct="1"/>
              <a:t>2017/2/24</a:t>
            </a:fld>
            <a:endParaRPr lang="en-US" altLang="zh-CN" smtClean="0"/>
          </a:p>
        </p:txBody>
      </p:sp>
      <p:sp>
        <p:nvSpPr>
          <p:cNvPr id="12293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53D898A1-E09A-4D17-B87C-22056C3A45F7}" type="slidenum">
              <a:rPr lang="zh-CN" altLang="en-US" smtClean="0"/>
              <a:pPr eaLnBrk="1" hangingPunct="1"/>
              <a:t>8</a:t>
            </a:fld>
            <a:endParaRPr lang="en-US" altLang="zh-CN" smtClean="0"/>
          </a:p>
        </p:txBody>
      </p:sp>
      <p:sp>
        <p:nvSpPr>
          <p:cNvPr id="456708" name="Text Box 4"/>
          <p:cNvSpPr txBox="1">
            <a:spLocks noChangeArrowheads="1"/>
          </p:cNvSpPr>
          <p:nvPr/>
        </p:nvSpPr>
        <p:spPr bwMode="auto">
          <a:xfrm>
            <a:off x="2124075" y="2189163"/>
            <a:ext cx="700088" cy="561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lnSpc>
                <a:spcPct val="110000"/>
              </a:lnSpc>
              <a:spcBef>
                <a:spcPct val="50000"/>
              </a:spcBef>
              <a:buClr>
                <a:schemeClr val="folHlink"/>
              </a:buClr>
              <a:buSzPct val="75000"/>
              <a:buFont typeface="Monotype Sorts" pitchFamily="2" charset="2"/>
              <a:buNone/>
            </a:pPr>
            <a:r>
              <a:rPr kumimoji="1" lang="en-US" altLang="zh-CN" sz="2800" b="1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E</a:t>
            </a:r>
          </a:p>
        </p:txBody>
      </p:sp>
      <p:grpSp>
        <p:nvGrpSpPr>
          <p:cNvPr id="2" name="Group 5"/>
          <p:cNvGrpSpPr>
            <a:grpSpLocks/>
          </p:cNvGrpSpPr>
          <p:nvPr/>
        </p:nvGrpSpPr>
        <p:grpSpPr bwMode="auto">
          <a:xfrm>
            <a:off x="1100138" y="2646363"/>
            <a:ext cx="2847975" cy="1400175"/>
            <a:chOff x="317" y="1949"/>
            <a:chExt cx="1794" cy="882"/>
          </a:xfrm>
        </p:grpSpPr>
        <p:sp>
          <p:nvSpPr>
            <p:cNvPr id="456710" name="Text Box 6"/>
            <p:cNvSpPr txBox="1">
              <a:spLocks noChangeArrowheads="1"/>
            </p:cNvSpPr>
            <p:nvPr/>
          </p:nvSpPr>
          <p:spPr bwMode="auto">
            <a:xfrm>
              <a:off x="962" y="2477"/>
              <a:ext cx="441" cy="3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lIns="92075" tIns="46038" rIns="92075" bIns="46038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>
                <a:lnSpc>
                  <a:spcPct val="110000"/>
                </a:lnSpc>
                <a:spcBef>
                  <a:spcPct val="50000"/>
                </a:spcBef>
                <a:buClr>
                  <a:schemeClr val="folHlink"/>
                </a:buClr>
                <a:buSzPct val="75000"/>
                <a:buFont typeface="Monotype Sorts" pitchFamily="2" charset="2"/>
                <a:buNone/>
              </a:pPr>
              <a:r>
                <a:rPr kumimoji="1" lang="zh-CN" altLang="en-US" sz="28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宋体" pitchFamily="2" charset="-122"/>
                </a:rPr>
                <a:t>+</a:t>
              </a:r>
            </a:p>
          </p:txBody>
        </p:sp>
        <p:grpSp>
          <p:nvGrpSpPr>
            <p:cNvPr id="12342" name="Group 7"/>
            <p:cNvGrpSpPr>
              <a:grpSpLocks/>
            </p:cNvGrpSpPr>
            <p:nvPr/>
          </p:nvGrpSpPr>
          <p:grpSpPr bwMode="auto">
            <a:xfrm>
              <a:off x="317" y="1949"/>
              <a:ext cx="1794" cy="834"/>
              <a:chOff x="317" y="1949"/>
              <a:chExt cx="1794" cy="834"/>
            </a:xfrm>
          </p:grpSpPr>
          <p:sp>
            <p:nvSpPr>
              <p:cNvPr id="12343" name="Line 8"/>
              <p:cNvSpPr>
                <a:spLocks noChangeShapeType="1"/>
              </p:cNvSpPr>
              <p:nvPr/>
            </p:nvSpPr>
            <p:spPr bwMode="auto">
              <a:xfrm flipV="1">
                <a:off x="405" y="1949"/>
                <a:ext cx="647" cy="624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92075" tIns="46038" rIns="92075" bIns="46038"/>
              <a:lstStyle/>
              <a:p>
                <a:endParaRPr lang="zh-CN" altLang="en-US"/>
              </a:p>
            </p:txBody>
          </p:sp>
          <p:sp>
            <p:nvSpPr>
              <p:cNvPr id="12344" name="Line 9"/>
              <p:cNvSpPr>
                <a:spLocks noChangeShapeType="1"/>
              </p:cNvSpPr>
              <p:nvPr/>
            </p:nvSpPr>
            <p:spPr bwMode="auto">
              <a:xfrm flipH="1" flipV="1">
                <a:off x="1111" y="1949"/>
                <a:ext cx="588" cy="57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92075" tIns="46038" rIns="92075" bIns="46038"/>
              <a:lstStyle/>
              <a:p>
                <a:endParaRPr lang="zh-CN" altLang="en-US"/>
              </a:p>
            </p:txBody>
          </p:sp>
          <p:sp>
            <p:nvSpPr>
              <p:cNvPr id="12345" name="Line 10"/>
              <p:cNvSpPr>
                <a:spLocks noChangeShapeType="1"/>
              </p:cNvSpPr>
              <p:nvPr/>
            </p:nvSpPr>
            <p:spPr bwMode="auto">
              <a:xfrm flipV="1">
                <a:off x="1082" y="1949"/>
                <a:ext cx="0" cy="67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92075" tIns="46038" rIns="92075" bIns="46038"/>
              <a:lstStyle/>
              <a:p>
                <a:endParaRPr lang="zh-CN" altLang="en-US"/>
              </a:p>
            </p:txBody>
          </p:sp>
          <p:sp>
            <p:nvSpPr>
              <p:cNvPr id="456715" name="Text Box 11"/>
              <p:cNvSpPr txBox="1">
                <a:spLocks noChangeArrowheads="1"/>
              </p:cNvSpPr>
              <p:nvPr/>
            </p:nvSpPr>
            <p:spPr bwMode="auto">
              <a:xfrm>
                <a:off x="317" y="2429"/>
                <a:ext cx="441" cy="35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lIns="92075" tIns="46038" rIns="92075" bIns="46038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9pPr>
              </a:lstStyle>
              <a:p>
                <a:pPr>
                  <a:lnSpc>
                    <a:spcPct val="110000"/>
                  </a:lnSpc>
                  <a:spcBef>
                    <a:spcPct val="50000"/>
                  </a:spcBef>
                  <a:buClr>
                    <a:schemeClr val="folHlink"/>
                  </a:buClr>
                  <a:buSzPct val="75000"/>
                  <a:buFont typeface="Monotype Sorts" pitchFamily="2" charset="2"/>
                  <a:buNone/>
                </a:pPr>
                <a:r>
                  <a:rPr kumimoji="1" lang="en-US" altLang="zh-CN" sz="2800" b="1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宋体" pitchFamily="2" charset="-122"/>
                  </a:rPr>
                  <a:t>E</a:t>
                </a:r>
              </a:p>
            </p:txBody>
          </p:sp>
          <p:sp>
            <p:nvSpPr>
              <p:cNvPr id="456716" name="Text Box 12"/>
              <p:cNvSpPr txBox="1">
                <a:spLocks noChangeArrowheads="1"/>
              </p:cNvSpPr>
              <p:nvPr/>
            </p:nvSpPr>
            <p:spPr bwMode="auto">
              <a:xfrm>
                <a:off x="1670" y="2381"/>
                <a:ext cx="441" cy="35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lIns="92075" tIns="46038" rIns="92075" bIns="46038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9pPr>
              </a:lstStyle>
              <a:p>
                <a:pPr>
                  <a:lnSpc>
                    <a:spcPct val="110000"/>
                  </a:lnSpc>
                  <a:spcBef>
                    <a:spcPct val="50000"/>
                  </a:spcBef>
                  <a:buClr>
                    <a:schemeClr val="folHlink"/>
                  </a:buClr>
                  <a:buSzPct val="75000"/>
                  <a:buFont typeface="Monotype Sorts" pitchFamily="2" charset="2"/>
                  <a:buNone/>
                </a:pPr>
                <a:r>
                  <a:rPr kumimoji="1" lang="en-US" altLang="zh-CN" sz="2800" b="1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宋体" pitchFamily="2" charset="-122"/>
                  </a:rPr>
                  <a:t>E</a:t>
                </a:r>
              </a:p>
            </p:txBody>
          </p:sp>
        </p:grpSp>
      </p:grpSp>
      <p:grpSp>
        <p:nvGrpSpPr>
          <p:cNvPr id="4" name="Group 13"/>
          <p:cNvGrpSpPr>
            <a:grpSpLocks/>
          </p:cNvGrpSpPr>
          <p:nvPr/>
        </p:nvGrpSpPr>
        <p:grpSpPr bwMode="auto">
          <a:xfrm>
            <a:off x="1054100" y="3865563"/>
            <a:ext cx="700088" cy="1019175"/>
            <a:chOff x="288" y="2717"/>
            <a:chExt cx="441" cy="642"/>
          </a:xfrm>
        </p:grpSpPr>
        <p:sp>
          <p:nvSpPr>
            <p:cNvPr id="12339" name="Line 14"/>
            <p:cNvSpPr>
              <a:spLocks noChangeShapeType="1"/>
            </p:cNvSpPr>
            <p:nvPr/>
          </p:nvSpPr>
          <p:spPr bwMode="auto">
            <a:xfrm flipV="1">
              <a:off x="463" y="2717"/>
              <a:ext cx="0" cy="43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2075" tIns="46038" rIns="92075" bIns="46038"/>
            <a:lstStyle/>
            <a:p>
              <a:endParaRPr lang="zh-CN" altLang="en-US"/>
            </a:p>
          </p:txBody>
        </p:sp>
        <p:sp>
          <p:nvSpPr>
            <p:cNvPr id="456719" name="Text Box 15"/>
            <p:cNvSpPr txBox="1">
              <a:spLocks noChangeArrowheads="1"/>
            </p:cNvSpPr>
            <p:nvPr/>
          </p:nvSpPr>
          <p:spPr bwMode="auto">
            <a:xfrm>
              <a:off x="288" y="3005"/>
              <a:ext cx="441" cy="3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lIns="92075" tIns="46038" rIns="92075" bIns="46038">
              <a:spAutoFit/>
            </a:bodyPr>
            <a:lstStyle/>
            <a:p>
              <a:pPr eaLnBrk="0" hangingPunct="0">
                <a:lnSpc>
                  <a:spcPct val="110000"/>
                </a:lnSpc>
                <a:spcBef>
                  <a:spcPct val="50000"/>
                </a:spcBef>
                <a:buClr>
                  <a:schemeClr val="folHlink"/>
                </a:buClr>
                <a:buSzPct val="75000"/>
                <a:buFont typeface="Monotype Sorts" pitchFamily="2" charset="2"/>
                <a:buNone/>
                <a:defRPr/>
              </a:pPr>
              <a:r>
                <a:rPr kumimoji="1" lang="en-US" altLang="zh-CN" sz="28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宋体" pitchFamily="2" charset="-122"/>
                </a:rPr>
                <a:t>id</a:t>
              </a:r>
            </a:p>
          </p:txBody>
        </p:sp>
      </p:grpSp>
      <p:grpSp>
        <p:nvGrpSpPr>
          <p:cNvPr id="5" name="Group 16"/>
          <p:cNvGrpSpPr>
            <a:grpSpLocks/>
          </p:cNvGrpSpPr>
          <p:nvPr/>
        </p:nvGrpSpPr>
        <p:grpSpPr bwMode="auto">
          <a:xfrm>
            <a:off x="2360613" y="3865563"/>
            <a:ext cx="2427287" cy="1171575"/>
            <a:chOff x="1111" y="2717"/>
            <a:chExt cx="1529" cy="738"/>
          </a:xfrm>
        </p:grpSpPr>
        <p:sp>
          <p:nvSpPr>
            <p:cNvPr id="12333" name="Line 17"/>
            <p:cNvSpPr>
              <a:spLocks noChangeShapeType="1"/>
            </p:cNvSpPr>
            <p:nvPr/>
          </p:nvSpPr>
          <p:spPr bwMode="auto">
            <a:xfrm flipV="1">
              <a:off x="1170" y="2717"/>
              <a:ext cx="559" cy="43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2075" tIns="46038" rIns="92075" bIns="46038"/>
            <a:lstStyle/>
            <a:p>
              <a:endParaRPr lang="zh-CN" altLang="en-US"/>
            </a:p>
          </p:txBody>
        </p:sp>
        <p:sp>
          <p:nvSpPr>
            <p:cNvPr id="12334" name="Line 18"/>
            <p:cNvSpPr>
              <a:spLocks noChangeShapeType="1"/>
            </p:cNvSpPr>
            <p:nvPr/>
          </p:nvSpPr>
          <p:spPr bwMode="auto">
            <a:xfrm>
              <a:off x="1729" y="2717"/>
              <a:ext cx="0" cy="52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2075" tIns="46038" rIns="92075" bIns="46038"/>
            <a:lstStyle/>
            <a:p>
              <a:endParaRPr lang="zh-CN" altLang="en-US"/>
            </a:p>
          </p:txBody>
        </p:sp>
        <p:sp>
          <p:nvSpPr>
            <p:cNvPr id="12335" name="Line 19"/>
            <p:cNvSpPr>
              <a:spLocks noChangeShapeType="1"/>
            </p:cNvSpPr>
            <p:nvPr/>
          </p:nvSpPr>
          <p:spPr bwMode="auto">
            <a:xfrm>
              <a:off x="1758" y="2717"/>
              <a:ext cx="471" cy="52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2075" tIns="46038" rIns="92075" bIns="46038"/>
            <a:lstStyle/>
            <a:p>
              <a:endParaRPr lang="zh-CN" altLang="en-US"/>
            </a:p>
          </p:txBody>
        </p:sp>
        <p:sp>
          <p:nvSpPr>
            <p:cNvPr id="456724" name="Text Box 20"/>
            <p:cNvSpPr txBox="1">
              <a:spLocks noChangeArrowheads="1"/>
            </p:cNvSpPr>
            <p:nvPr/>
          </p:nvSpPr>
          <p:spPr bwMode="auto">
            <a:xfrm>
              <a:off x="1111" y="3035"/>
              <a:ext cx="441" cy="3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lIns="92075" tIns="46038" rIns="92075" bIns="46038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>
                <a:lnSpc>
                  <a:spcPct val="110000"/>
                </a:lnSpc>
                <a:spcBef>
                  <a:spcPct val="50000"/>
                </a:spcBef>
                <a:buClr>
                  <a:schemeClr val="folHlink"/>
                </a:buClr>
                <a:buSzPct val="75000"/>
                <a:buFont typeface="Monotype Sorts" pitchFamily="2" charset="2"/>
                <a:buNone/>
              </a:pPr>
              <a:r>
                <a:rPr kumimoji="1" lang="en-US" altLang="zh-CN" sz="28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宋体" pitchFamily="2" charset="-122"/>
                </a:rPr>
                <a:t>E</a:t>
              </a:r>
            </a:p>
          </p:txBody>
        </p:sp>
        <p:sp>
          <p:nvSpPr>
            <p:cNvPr id="456725" name="Text Box 21"/>
            <p:cNvSpPr txBox="1">
              <a:spLocks noChangeArrowheads="1"/>
            </p:cNvSpPr>
            <p:nvPr/>
          </p:nvSpPr>
          <p:spPr bwMode="auto">
            <a:xfrm>
              <a:off x="2199" y="3053"/>
              <a:ext cx="441" cy="3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lIns="92075" tIns="46038" rIns="92075" bIns="46038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>
                <a:lnSpc>
                  <a:spcPct val="110000"/>
                </a:lnSpc>
                <a:spcBef>
                  <a:spcPct val="50000"/>
                </a:spcBef>
                <a:buClr>
                  <a:schemeClr val="folHlink"/>
                </a:buClr>
                <a:buSzPct val="75000"/>
                <a:buFont typeface="Monotype Sorts" pitchFamily="2" charset="2"/>
                <a:buNone/>
              </a:pPr>
              <a:r>
                <a:rPr kumimoji="1" lang="en-US" altLang="zh-CN" sz="28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宋体" pitchFamily="2" charset="-122"/>
                </a:rPr>
                <a:t>E</a:t>
              </a:r>
            </a:p>
          </p:txBody>
        </p:sp>
        <p:sp>
          <p:nvSpPr>
            <p:cNvPr id="456726" name="Text Box 22"/>
            <p:cNvSpPr txBox="1">
              <a:spLocks noChangeArrowheads="1"/>
            </p:cNvSpPr>
            <p:nvPr/>
          </p:nvSpPr>
          <p:spPr bwMode="auto">
            <a:xfrm>
              <a:off x="1597" y="3101"/>
              <a:ext cx="441" cy="3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lIns="92075" tIns="46038" rIns="92075" bIns="46038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>
                <a:lnSpc>
                  <a:spcPct val="110000"/>
                </a:lnSpc>
                <a:spcBef>
                  <a:spcPct val="50000"/>
                </a:spcBef>
                <a:buClr>
                  <a:schemeClr val="folHlink"/>
                </a:buClr>
                <a:buSzPct val="75000"/>
                <a:buFont typeface="Monotype Sorts" pitchFamily="2" charset="2"/>
                <a:buNone/>
              </a:pPr>
              <a:r>
                <a:rPr kumimoji="1" lang="zh-CN" altLang="en-US" sz="28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宋体" pitchFamily="2" charset="-122"/>
                </a:rPr>
                <a:t>*</a:t>
              </a:r>
            </a:p>
          </p:txBody>
        </p:sp>
      </p:grpSp>
      <p:grpSp>
        <p:nvGrpSpPr>
          <p:cNvPr id="6" name="Group 23"/>
          <p:cNvGrpSpPr>
            <a:grpSpLocks/>
          </p:cNvGrpSpPr>
          <p:nvPr/>
        </p:nvGrpSpPr>
        <p:grpSpPr bwMode="auto">
          <a:xfrm>
            <a:off x="3924300" y="4856163"/>
            <a:ext cx="700088" cy="1247775"/>
            <a:chOff x="2096" y="3341"/>
            <a:chExt cx="441" cy="786"/>
          </a:xfrm>
        </p:grpSpPr>
        <p:sp>
          <p:nvSpPr>
            <p:cNvPr id="12331" name="Line 24"/>
            <p:cNvSpPr>
              <a:spLocks noChangeShapeType="1"/>
            </p:cNvSpPr>
            <p:nvPr/>
          </p:nvSpPr>
          <p:spPr bwMode="auto">
            <a:xfrm>
              <a:off x="2323" y="3341"/>
              <a:ext cx="0" cy="57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2075" tIns="46038" rIns="92075" bIns="46038"/>
            <a:lstStyle/>
            <a:p>
              <a:endParaRPr lang="zh-CN" altLang="en-US"/>
            </a:p>
          </p:txBody>
        </p:sp>
        <p:sp>
          <p:nvSpPr>
            <p:cNvPr id="456729" name="Text Box 25"/>
            <p:cNvSpPr txBox="1">
              <a:spLocks noChangeArrowheads="1"/>
            </p:cNvSpPr>
            <p:nvPr/>
          </p:nvSpPr>
          <p:spPr bwMode="auto">
            <a:xfrm>
              <a:off x="2096" y="3773"/>
              <a:ext cx="441" cy="3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lIns="92075" tIns="46038" rIns="92075" bIns="46038">
              <a:spAutoFit/>
            </a:bodyPr>
            <a:lstStyle/>
            <a:p>
              <a:pPr eaLnBrk="0" hangingPunct="0">
                <a:lnSpc>
                  <a:spcPct val="110000"/>
                </a:lnSpc>
                <a:spcBef>
                  <a:spcPct val="50000"/>
                </a:spcBef>
                <a:buClr>
                  <a:schemeClr val="folHlink"/>
                </a:buClr>
                <a:buSzPct val="75000"/>
                <a:buFont typeface="Monotype Sorts" pitchFamily="2" charset="2"/>
                <a:buNone/>
                <a:defRPr/>
              </a:pPr>
              <a:r>
                <a:rPr kumimoji="1" lang="en-US" altLang="zh-CN" sz="2800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宋体" pitchFamily="2" charset="-122"/>
                </a:rPr>
                <a:t>id</a:t>
              </a:r>
            </a:p>
          </p:txBody>
        </p:sp>
      </p:grpSp>
      <p:grpSp>
        <p:nvGrpSpPr>
          <p:cNvPr id="7" name="Group 26"/>
          <p:cNvGrpSpPr>
            <a:grpSpLocks/>
          </p:cNvGrpSpPr>
          <p:nvPr/>
        </p:nvGrpSpPr>
        <p:grpSpPr bwMode="auto">
          <a:xfrm>
            <a:off x="2216150" y="4932363"/>
            <a:ext cx="700088" cy="1171575"/>
            <a:chOff x="994" y="3389"/>
            <a:chExt cx="441" cy="738"/>
          </a:xfrm>
        </p:grpSpPr>
        <p:sp>
          <p:nvSpPr>
            <p:cNvPr id="12329" name="Line 27"/>
            <p:cNvSpPr>
              <a:spLocks noChangeShapeType="1"/>
            </p:cNvSpPr>
            <p:nvPr/>
          </p:nvSpPr>
          <p:spPr bwMode="auto">
            <a:xfrm flipH="1">
              <a:off x="1170" y="3389"/>
              <a:ext cx="0" cy="48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2075" tIns="46038" rIns="92075" bIns="46038"/>
            <a:lstStyle/>
            <a:p>
              <a:endParaRPr lang="zh-CN" altLang="en-US"/>
            </a:p>
          </p:txBody>
        </p:sp>
        <p:sp>
          <p:nvSpPr>
            <p:cNvPr id="456732" name="Text Box 28"/>
            <p:cNvSpPr txBox="1">
              <a:spLocks noChangeArrowheads="1"/>
            </p:cNvSpPr>
            <p:nvPr/>
          </p:nvSpPr>
          <p:spPr bwMode="auto">
            <a:xfrm>
              <a:off x="994" y="3773"/>
              <a:ext cx="441" cy="3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lIns="92075" tIns="46038" rIns="92075" bIns="46038">
              <a:spAutoFit/>
            </a:bodyPr>
            <a:lstStyle/>
            <a:p>
              <a:pPr eaLnBrk="0" hangingPunct="0">
                <a:lnSpc>
                  <a:spcPct val="110000"/>
                </a:lnSpc>
                <a:spcBef>
                  <a:spcPct val="50000"/>
                </a:spcBef>
                <a:buClr>
                  <a:schemeClr val="folHlink"/>
                </a:buClr>
                <a:buSzPct val="75000"/>
                <a:buFont typeface="Monotype Sorts" pitchFamily="2" charset="2"/>
                <a:buNone/>
                <a:defRPr/>
              </a:pPr>
              <a:r>
                <a:rPr kumimoji="1" lang="en-US" altLang="zh-CN" sz="28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宋体" pitchFamily="2" charset="-122"/>
                </a:rPr>
                <a:t>id</a:t>
              </a:r>
            </a:p>
          </p:txBody>
        </p:sp>
      </p:grpSp>
      <p:grpSp>
        <p:nvGrpSpPr>
          <p:cNvPr id="8" name="Group 54"/>
          <p:cNvGrpSpPr>
            <a:grpSpLocks/>
          </p:cNvGrpSpPr>
          <p:nvPr/>
        </p:nvGrpSpPr>
        <p:grpSpPr bwMode="auto">
          <a:xfrm>
            <a:off x="4643438" y="3408363"/>
            <a:ext cx="468312" cy="2263775"/>
            <a:chOff x="3061" y="2458"/>
            <a:chExt cx="295" cy="1426"/>
          </a:xfrm>
        </p:grpSpPr>
        <p:sp>
          <p:nvSpPr>
            <p:cNvPr id="12327" name="Line 30"/>
            <p:cNvSpPr>
              <a:spLocks noChangeShapeType="1"/>
            </p:cNvSpPr>
            <p:nvPr/>
          </p:nvSpPr>
          <p:spPr bwMode="auto">
            <a:xfrm flipH="1" flipV="1">
              <a:off x="3149" y="2746"/>
              <a:ext cx="3" cy="1138"/>
            </a:xfrm>
            <a:prstGeom prst="line">
              <a:avLst/>
            </a:prstGeom>
            <a:noFill/>
            <a:ln w="28575">
              <a:solidFill>
                <a:schemeClr val="fol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2075" tIns="46038" rIns="92075" bIns="46038"/>
            <a:lstStyle/>
            <a:p>
              <a:endParaRPr lang="zh-CN" altLang="en-US"/>
            </a:p>
          </p:txBody>
        </p:sp>
        <p:sp>
          <p:nvSpPr>
            <p:cNvPr id="456735" name="Text Box 31"/>
            <p:cNvSpPr txBox="1">
              <a:spLocks noChangeArrowheads="1"/>
            </p:cNvSpPr>
            <p:nvPr/>
          </p:nvSpPr>
          <p:spPr bwMode="auto">
            <a:xfrm>
              <a:off x="3061" y="2458"/>
              <a:ext cx="295" cy="3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lIns="92075" tIns="46038" rIns="92075" bIns="46038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>
                <a:lnSpc>
                  <a:spcPct val="110000"/>
                </a:lnSpc>
                <a:spcBef>
                  <a:spcPct val="50000"/>
                </a:spcBef>
                <a:buClr>
                  <a:schemeClr val="folHlink"/>
                </a:buClr>
                <a:buSzPct val="75000"/>
                <a:buFont typeface="Monotype Sorts" pitchFamily="2" charset="2"/>
                <a:buNone/>
              </a:pPr>
              <a:r>
                <a:rPr kumimoji="1" lang="en-US" altLang="zh-CN" sz="2800" b="1">
                  <a:solidFill>
                    <a:srgbClr val="0033CC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宋体" pitchFamily="2" charset="-122"/>
                </a:rPr>
                <a:t>E</a:t>
              </a:r>
            </a:p>
          </p:txBody>
        </p:sp>
      </p:grpSp>
      <p:sp>
        <p:nvSpPr>
          <p:cNvPr id="456736" name="Text Box 32"/>
          <p:cNvSpPr txBox="1">
            <a:spLocks noChangeArrowheads="1"/>
          </p:cNvSpPr>
          <p:nvPr/>
        </p:nvSpPr>
        <p:spPr bwMode="auto">
          <a:xfrm>
            <a:off x="5311775" y="5599113"/>
            <a:ext cx="700088" cy="561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lnSpc>
                <a:spcPct val="110000"/>
              </a:lnSpc>
              <a:spcBef>
                <a:spcPct val="50000"/>
              </a:spcBef>
              <a:buClr>
                <a:schemeClr val="folHlink"/>
              </a:buClr>
              <a:buSzPct val="75000"/>
              <a:buFont typeface="Monotype Sorts" pitchFamily="2" charset="2"/>
              <a:buNone/>
            </a:pPr>
            <a:r>
              <a:rPr kumimoji="1" lang="zh-CN" altLang="en-US" sz="2800" b="1">
                <a:solidFill>
                  <a:srgbClr val="00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+</a:t>
            </a:r>
          </a:p>
        </p:txBody>
      </p:sp>
      <p:grpSp>
        <p:nvGrpSpPr>
          <p:cNvPr id="9" name="Group 56"/>
          <p:cNvGrpSpPr>
            <a:grpSpLocks/>
          </p:cNvGrpSpPr>
          <p:nvPr/>
        </p:nvGrpSpPr>
        <p:grpSpPr bwMode="auto">
          <a:xfrm>
            <a:off x="6227763" y="3332163"/>
            <a:ext cx="1497012" cy="2411412"/>
            <a:chOff x="4059" y="2410"/>
            <a:chExt cx="943" cy="1519"/>
          </a:xfrm>
        </p:grpSpPr>
        <p:sp>
          <p:nvSpPr>
            <p:cNvPr id="12323" name="Line 34"/>
            <p:cNvSpPr>
              <a:spLocks noChangeShapeType="1"/>
            </p:cNvSpPr>
            <p:nvPr/>
          </p:nvSpPr>
          <p:spPr bwMode="auto">
            <a:xfrm flipV="1">
              <a:off x="4059" y="2746"/>
              <a:ext cx="443" cy="457"/>
            </a:xfrm>
            <a:prstGeom prst="line">
              <a:avLst/>
            </a:prstGeom>
            <a:noFill/>
            <a:ln w="28575">
              <a:solidFill>
                <a:schemeClr val="fol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2075" tIns="46038" rIns="92075" bIns="46038"/>
            <a:lstStyle/>
            <a:p>
              <a:endParaRPr lang="zh-CN" altLang="en-US"/>
            </a:p>
          </p:txBody>
        </p:sp>
        <p:sp>
          <p:nvSpPr>
            <p:cNvPr id="12324" name="Line 35"/>
            <p:cNvSpPr>
              <a:spLocks noChangeShapeType="1"/>
            </p:cNvSpPr>
            <p:nvPr/>
          </p:nvSpPr>
          <p:spPr bwMode="auto">
            <a:xfrm flipH="1">
              <a:off x="4513" y="2750"/>
              <a:ext cx="0" cy="1179"/>
            </a:xfrm>
            <a:prstGeom prst="line">
              <a:avLst/>
            </a:prstGeom>
            <a:noFill/>
            <a:ln w="28575">
              <a:solidFill>
                <a:schemeClr val="fol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2075" tIns="46038" rIns="92075" bIns="46038"/>
            <a:lstStyle/>
            <a:p>
              <a:endParaRPr lang="zh-CN" altLang="en-US"/>
            </a:p>
          </p:txBody>
        </p:sp>
        <p:sp>
          <p:nvSpPr>
            <p:cNvPr id="12325" name="Line 36"/>
            <p:cNvSpPr>
              <a:spLocks noChangeShapeType="1"/>
            </p:cNvSpPr>
            <p:nvPr/>
          </p:nvSpPr>
          <p:spPr bwMode="auto">
            <a:xfrm>
              <a:off x="4531" y="2746"/>
              <a:ext cx="471" cy="528"/>
            </a:xfrm>
            <a:prstGeom prst="line">
              <a:avLst/>
            </a:prstGeom>
            <a:noFill/>
            <a:ln w="28575">
              <a:solidFill>
                <a:schemeClr val="fol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2075" tIns="46038" rIns="92075" bIns="46038"/>
            <a:lstStyle/>
            <a:p>
              <a:endParaRPr lang="zh-CN" altLang="en-US"/>
            </a:p>
          </p:txBody>
        </p:sp>
        <p:sp>
          <p:nvSpPr>
            <p:cNvPr id="456741" name="Text Box 37"/>
            <p:cNvSpPr txBox="1">
              <a:spLocks noChangeArrowheads="1"/>
            </p:cNvSpPr>
            <p:nvPr/>
          </p:nvSpPr>
          <p:spPr bwMode="auto">
            <a:xfrm>
              <a:off x="4377" y="2410"/>
              <a:ext cx="441" cy="3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lIns="92075" tIns="46038" rIns="92075" bIns="46038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>
                <a:lnSpc>
                  <a:spcPct val="110000"/>
                </a:lnSpc>
                <a:spcBef>
                  <a:spcPct val="50000"/>
                </a:spcBef>
                <a:buClr>
                  <a:schemeClr val="folHlink"/>
                </a:buClr>
                <a:buSzPct val="75000"/>
                <a:buFont typeface="Monotype Sorts" pitchFamily="2" charset="2"/>
                <a:buNone/>
              </a:pPr>
              <a:r>
                <a:rPr kumimoji="1" lang="en-US" altLang="zh-CN" sz="2800" b="1">
                  <a:solidFill>
                    <a:srgbClr val="0033CC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宋体" pitchFamily="2" charset="-122"/>
                </a:rPr>
                <a:t>E</a:t>
              </a:r>
            </a:p>
          </p:txBody>
        </p:sp>
      </p:grpSp>
      <p:grpSp>
        <p:nvGrpSpPr>
          <p:cNvPr id="10" name="Group 55"/>
          <p:cNvGrpSpPr>
            <a:grpSpLocks/>
          </p:cNvGrpSpPr>
          <p:nvPr/>
        </p:nvGrpSpPr>
        <p:grpSpPr bwMode="auto">
          <a:xfrm>
            <a:off x="6032500" y="4370388"/>
            <a:ext cx="700088" cy="1323975"/>
            <a:chOff x="3936" y="3064"/>
            <a:chExt cx="441" cy="834"/>
          </a:xfrm>
        </p:grpSpPr>
        <p:sp>
          <p:nvSpPr>
            <p:cNvPr id="12321" name="Line 39"/>
            <p:cNvSpPr>
              <a:spLocks noChangeShapeType="1"/>
            </p:cNvSpPr>
            <p:nvPr/>
          </p:nvSpPr>
          <p:spPr bwMode="auto">
            <a:xfrm flipH="1">
              <a:off x="4014" y="3418"/>
              <a:ext cx="0" cy="480"/>
            </a:xfrm>
            <a:prstGeom prst="line">
              <a:avLst/>
            </a:prstGeom>
            <a:noFill/>
            <a:ln w="28575">
              <a:solidFill>
                <a:schemeClr val="fol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2075" tIns="46038" rIns="92075" bIns="46038"/>
            <a:lstStyle/>
            <a:p>
              <a:endParaRPr lang="zh-CN" altLang="en-US"/>
            </a:p>
          </p:txBody>
        </p:sp>
        <p:sp>
          <p:nvSpPr>
            <p:cNvPr id="456744" name="Text Box 40"/>
            <p:cNvSpPr txBox="1">
              <a:spLocks noChangeArrowheads="1"/>
            </p:cNvSpPr>
            <p:nvPr/>
          </p:nvSpPr>
          <p:spPr bwMode="auto">
            <a:xfrm>
              <a:off x="3936" y="3064"/>
              <a:ext cx="441" cy="3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lIns="92075" tIns="46038" rIns="92075" bIns="46038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>
                <a:lnSpc>
                  <a:spcPct val="110000"/>
                </a:lnSpc>
                <a:spcBef>
                  <a:spcPct val="50000"/>
                </a:spcBef>
                <a:buClr>
                  <a:schemeClr val="folHlink"/>
                </a:buClr>
                <a:buSzPct val="75000"/>
                <a:buFont typeface="Monotype Sorts" pitchFamily="2" charset="2"/>
                <a:buNone/>
              </a:pPr>
              <a:r>
                <a:rPr kumimoji="1" lang="en-US" altLang="zh-CN" sz="2800" b="1">
                  <a:solidFill>
                    <a:srgbClr val="0033CC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宋体" pitchFamily="2" charset="-122"/>
                </a:rPr>
                <a:t>E</a:t>
              </a:r>
            </a:p>
          </p:txBody>
        </p:sp>
      </p:grpSp>
      <p:grpSp>
        <p:nvGrpSpPr>
          <p:cNvPr id="11" name="Group 41"/>
          <p:cNvGrpSpPr>
            <a:grpSpLocks/>
          </p:cNvGrpSpPr>
          <p:nvPr/>
        </p:nvGrpSpPr>
        <p:grpSpPr bwMode="auto">
          <a:xfrm>
            <a:off x="7596188" y="4375150"/>
            <a:ext cx="700087" cy="1371600"/>
            <a:chOff x="4921" y="3082"/>
            <a:chExt cx="441" cy="864"/>
          </a:xfrm>
        </p:grpSpPr>
        <p:sp>
          <p:nvSpPr>
            <p:cNvPr id="12319" name="Line 42"/>
            <p:cNvSpPr>
              <a:spLocks noChangeShapeType="1"/>
            </p:cNvSpPr>
            <p:nvPr/>
          </p:nvSpPr>
          <p:spPr bwMode="auto">
            <a:xfrm>
              <a:off x="4980" y="3370"/>
              <a:ext cx="0" cy="576"/>
            </a:xfrm>
            <a:prstGeom prst="line">
              <a:avLst/>
            </a:prstGeom>
            <a:noFill/>
            <a:ln w="28575">
              <a:solidFill>
                <a:schemeClr val="fol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2075" tIns="46038" rIns="92075" bIns="46038"/>
            <a:lstStyle/>
            <a:p>
              <a:endParaRPr lang="zh-CN" altLang="en-US"/>
            </a:p>
          </p:txBody>
        </p:sp>
        <p:sp>
          <p:nvSpPr>
            <p:cNvPr id="456747" name="Text Box 43"/>
            <p:cNvSpPr txBox="1">
              <a:spLocks noChangeArrowheads="1"/>
            </p:cNvSpPr>
            <p:nvPr/>
          </p:nvSpPr>
          <p:spPr bwMode="auto">
            <a:xfrm>
              <a:off x="4921" y="3082"/>
              <a:ext cx="441" cy="3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lIns="92075" tIns="46038" rIns="92075" bIns="46038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>
                <a:lnSpc>
                  <a:spcPct val="110000"/>
                </a:lnSpc>
                <a:spcBef>
                  <a:spcPct val="50000"/>
                </a:spcBef>
                <a:buClr>
                  <a:schemeClr val="folHlink"/>
                </a:buClr>
                <a:buSzPct val="75000"/>
                <a:buFont typeface="Monotype Sorts" pitchFamily="2" charset="2"/>
                <a:buNone/>
              </a:pPr>
              <a:r>
                <a:rPr kumimoji="1" lang="en-US" altLang="zh-CN" sz="2800" b="1">
                  <a:solidFill>
                    <a:srgbClr val="0033CC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宋体" pitchFamily="2" charset="-122"/>
                </a:rPr>
                <a:t>E</a:t>
              </a:r>
            </a:p>
          </p:txBody>
        </p:sp>
      </p:grpSp>
      <p:sp>
        <p:nvSpPr>
          <p:cNvPr id="456748" name="Text Box 44"/>
          <p:cNvSpPr txBox="1">
            <a:spLocks noChangeArrowheads="1"/>
          </p:cNvSpPr>
          <p:nvPr/>
        </p:nvSpPr>
        <p:spPr bwMode="auto">
          <a:xfrm>
            <a:off x="4572000" y="5541963"/>
            <a:ext cx="700088" cy="561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>
            <a:spAutoFit/>
          </a:bodyPr>
          <a:lstStyle/>
          <a:p>
            <a:pPr eaLnBrk="0" hangingPunct="0">
              <a:lnSpc>
                <a:spcPct val="110000"/>
              </a:lnSpc>
              <a:spcBef>
                <a:spcPct val="50000"/>
              </a:spcBef>
              <a:buClr>
                <a:schemeClr val="folHlink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800" b="1">
                <a:solidFill>
                  <a:srgbClr val="00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id</a:t>
            </a:r>
          </a:p>
        </p:txBody>
      </p:sp>
      <p:sp>
        <p:nvSpPr>
          <p:cNvPr id="456749" name="Text Box 45"/>
          <p:cNvSpPr txBox="1">
            <a:spLocks noChangeArrowheads="1"/>
          </p:cNvSpPr>
          <p:nvPr/>
        </p:nvSpPr>
        <p:spPr bwMode="auto">
          <a:xfrm>
            <a:off x="6751638" y="5599113"/>
            <a:ext cx="700087" cy="561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lnSpc>
                <a:spcPct val="110000"/>
              </a:lnSpc>
              <a:spcBef>
                <a:spcPct val="50000"/>
              </a:spcBef>
              <a:buClr>
                <a:schemeClr val="folHlink"/>
              </a:buClr>
              <a:buSzPct val="75000"/>
              <a:buFont typeface="Monotype Sorts" pitchFamily="2" charset="2"/>
              <a:buNone/>
            </a:pPr>
            <a:r>
              <a:rPr kumimoji="1" lang="zh-CN" altLang="en-US" sz="2800" b="1">
                <a:solidFill>
                  <a:srgbClr val="00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*</a:t>
            </a:r>
          </a:p>
        </p:txBody>
      </p:sp>
      <p:sp>
        <p:nvSpPr>
          <p:cNvPr id="456750" name="Text Box 46"/>
          <p:cNvSpPr txBox="1">
            <a:spLocks noChangeArrowheads="1"/>
          </p:cNvSpPr>
          <p:nvPr/>
        </p:nvSpPr>
        <p:spPr bwMode="auto">
          <a:xfrm>
            <a:off x="7451725" y="5541963"/>
            <a:ext cx="700088" cy="561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>
            <a:spAutoFit/>
          </a:bodyPr>
          <a:lstStyle/>
          <a:p>
            <a:pPr eaLnBrk="0" hangingPunct="0">
              <a:lnSpc>
                <a:spcPct val="110000"/>
              </a:lnSpc>
              <a:spcBef>
                <a:spcPct val="50000"/>
              </a:spcBef>
              <a:buClr>
                <a:schemeClr val="folHlink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800" b="1">
                <a:solidFill>
                  <a:srgbClr val="00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id</a:t>
            </a:r>
          </a:p>
        </p:txBody>
      </p:sp>
      <p:sp>
        <p:nvSpPr>
          <p:cNvPr id="456751" name="Text Box 47"/>
          <p:cNvSpPr txBox="1">
            <a:spLocks noChangeArrowheads="1"/>
          </p:cNvSpPr>
          <p:nvPr/>
        </p:nvSpPr>
        <p:spPr bwMode="auto">
          <a:xfrm>
            <a:off x="5888038" y="5541963"/>
            <a:ext cx="700087" cy="561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>
            <a:spAutoFit/>
          </a:bodyPr>
          <a:lstStyle/>
          <a:p>
            <a:pPr eaLnBrk="0" hangingPunct="0">
              <a:lnSpc>
                <a:spcPct val="110000"/>
              </a:lnSpc>
              <a:spcBef>
                <a:spcPct val="50000"/>
              </a:spcBef>
              <a:buClr>
                <a:schemeClr val="folHlink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800" b="1">
                <a:solidFill>
                  <a:srgbClr val="00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id</a:t>
            </a:r>
          </a:p>
        </p:txBody>
      </p:sp>
      <p:grpSp>
        <p:nvGrpSpPr>
          <p:cNvPr id="12" name="Group 53"/>
          <p:cNvGrpSpPr>
            <a:grpSpLocks/>
          </p:cNvGrpSpPr>
          <p:nvPr/>
        </p:nvGrpSpPr>
        <p:grpSpPr bwMode="auto">
          <a:xfrm>
            <a:off x="4829175" y="2214563"/>
            <a:ext cx="2054225" cy="3516312"/>
            <a:chOff x="3178" y="1706"/>
            <a:chExt cx="1294" cy="2215"/>
          </a:xfrm>
        </p:grpSpPr>
        <p:sp>
          <p:nvSpPr>
            <p:cNvPr id="12315" name="Line 49"/>
            <p:cNvSpPr>
              <a:spLocks noChangeShapeType="1"/>
            </p:cNvSpPr>
            <p:nvPr/>
          </p:nvSpPr>
          <p:spPr bwMode="auto">
            <a:xfrm flipV="1">
              <a:off x="3178" y="1942"/>
              <a:ext cx="647" cy="624"/>
            </a:xfrm>
            <a:prstGeom prst="line">
              <a:avLst/>
            </a:prstGeom>
            <a:noFill/>
            <a:ln w="28575">
              <a:solidFill>
                <a:schemeClr val="fol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2075" tIns="46038" rIns="92075" bIns="46038"/>
            <a:lstStyle/>
            <a:p>
              <a:endParaRPr lang="zh-CN" altLang="en-US"/>
            </a:p>
          </p:txBody>
        </p:sp>
        <p:sp>
          <p:nvSpPr>
            <p:cNvPr id="12316" name="Line 50"/>
            <p:cNvSpPr>
              <a:spLocks noChangeShapeType="1"/>
            </p:cNvSpPr>
            <p:nvPr/>
          </p:nvSpPr>
          <p:spPr bwMode="auto">
            <a:xfrm flipH="1" flipV="1">
              <a:off x="3884" y="1942"/>
              <a:ext cx="588" cy="576"/>
            </a:xfrm>
            <a:prstGeom prst="line">
              <a:avLst/>
            </a:prstGeom>
            <a:noFill/>
            <a:ln w="28575">
              <a:solidFill>
                <a:schemeClr val="fol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2075" tIns="46038" rIns="92075" bIns="46038"/>
            <a:lstStyle/>
            <a:p>
              <a:endParaRPr lang="zh-CN" altLang="en-US"/>
            </a:p>
          </p:txBody>
        </p:sp>
        <p:sp>
          <p:nvSpPr>
            <p:cNvPr id="12317" name="Line 51"/>
            <p:cNvSpPr>
              <a:spLocks noChangeShapeType="1"/>
            </p:cNvSpPr>
            <p:nvPr/>
          </p:nvSpPr>
          <p:spPr bwMode="auto">
            <a:xfrm flipV="1">
              <a:off x="3606" y="2024"/>
              <a:ext cx="227" cy="1897"/>
            </a:xfrm>
            <a:prstGeom prst="line">
              <a:avLst/>
            </a:prstGeom>
            <a:noFill/>
            <a:ln w="28575">
              <a:solidFill>
                <a:schemeClr val="fol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2075" tIns="46038" rIns="92075" bIns="46038"/>
            <a:lstStyle/>
            <a:p>
              <a:endParaRPr lang="zh-CN" altLang="en-US"/>
            </a:p>
          </p:txBody>
        </p:sp>
        <p:sp>
          <p:nvSpPr>
            <p:cNvPr id="456756" name="Text Box 52"/>
            <p:cNvSpPr txBox="1">
              <a:spLocks noChangeArrowheads="1"/>
            </p:cNvSpPr>
            <p:nvPr/>
          </p:nvSpPr>
          <p:spPr bwMode="auto">
            <a:xfrm>
              <a:off x="3760" y="1706"/>
              <a:ext cx="441" cy="3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lIns="92075" tIns="46038" rIns="92075" bIns="46038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>
                <a:lnSpc>
                  <a:spcPct val="110000"/>
                </a:lnSpc>
                <a:spcBef>
                  <a:spcPct val="50000"/>
                </a:spcBef>
                <a:buClr>
                  <a:schemeClr val="folHlink"/>
                </a:buClr>
                <a:buSzPct val="75000"/>
                <a:buFont typeface="Monotype Sorts" pitchFamily="2" charset="2"/>
                <a:buNone/>
              </a:pPr>
              <a:r>
                <a:rPr kumimoji="1" lang="en-US" altLang="zh-CN" sz="2800" b="1">
                  <a:solidFill>
                    <a:srgbClr val="0033CC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宋体" pitchFamily="2" charset="-122"/>
                </a:rPr>
                <a:t>E</a:t>
              </a:r>
            </a:p>
          </p:txBody>
        </p:sp>
      </p:grpSp>
      <p:sp>
        <p:nvSpPr>
          <p:cNvPr id="456763" name="Rectangle 59"/>
          <p:cNvSpPr>
            <a:spLocks noChangeArrowheads="1"/>
          </p:cNvSpPr>
          <p:nvPr/>
        </p:nvSpPr>
        <p:spPr bwMode="auto">
          <a:xfrm>
            <a:off x="0" y="2151063"/>
            <a:ext cx="1809750" cy="579437"/>
          </a:xfrm>
          <a:prstGeom prst="rect">
            <a:avLst/>
          </a:prstGeom>
          <a:solidFill>
            <a:srgbClr val="00666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3200" b="1">
                <a:solidFill>
                  <a:schemeClr val="bg1"/>
                </a:solidFill>
                <a:ea typeface="华文新魏" pitchFamily="2" charset="-122"/>
              </a:rPr>
              <a:t>自顶向下</a:t>
            </a:r>
          </a:p>
        </p:txBody>
      </p:sp>
      <p:sp>
        <p:nvSpPr>
          <p:cNvPr id="456764" name="Rectangle 60"/>
          <p:cNvSpPr>
            <a:spLocks noChangeArrowheads="1"/>
          </p:cNvSpPr>
          <p:nvPr/>
        </p:nvSpPr>
        <p:spPr bwMode="auto">
          <a:xfrm>
            <a:off x="7164388" y="2143125"/>
            <a:ext cx="1809750" cy="579438"/>
          </a:xfrm>
          <a:prstGeom prst="rect">
            <a:avLst/>
          </a:prstGeom>
          <a:solidFill>
            <a:srgbClr val="00666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3200" b="1">
                <a:solidFill>
                  <a:schemeClr val="bg1"/>
                </a:solidFill>
                <a:ea typeface="华文新魏" pitchFamily="2" charset="-122"/>
              </a:rPr>
              <a:t>自底向上</a:t>
            </a:r>
          </a:p>
        </p:txBody>
      </p:sp>
      <p:sp>
        <p:nvSpPr>
          <p:cNvPr id="456765" name="AutoShape 61"/>
          <p:cNvSpPr>
            <a:spLocks noChangeArrowheads="1"/>
          </p:cNvSpPr>
          <p:nvPr/>
        </p:nvSpPr>
        <p:spPr bwMode="auto">
          <a:xfrm>
            <a:off x="682625" y="2719388"/>
            <a:ext cx="360363" cy="3168650"/>
          </a:xfrm>
          <a:prstGeom prst="downArrow">
            <a:avLst>
              <a:gd name="adj1" fmla="val 50000"/>
              <a:gd name="adj2" fmla="val 219823"/>
            </a:avLst>
          </a:prstGeom>
          <a:solidFill>
            <a:srgbClr val="006666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vert="eaVert" wrap="none" anchor="ctr"/>
          <a:lstStyle/>
          <a:p>
            <a:endParaRPr lang="zh-CN" altLang="en-US"/>
          </a:p>
        </p:txBody>
      </p:sp>
      <p:sp>
        <p:nvSpPr>
          <p:cNvPr id="456766" name="AutoShape 62"/>
          <p:cNvSpPr>
            <a:spLocks noChangeArrowheads="1"/>
          </p:cNvSpPr>
          <p:nvPr/>
        </p:nvSpPr>
        <p:spPr bwMode="auto">
          <a:xfrm>
            <a:off x="8027988" y="2647950"/>
            <a:ext cx="360362" cy="3311525"/>
          </a:xfrm>
          <a:prstGeom prst="upArrow">
            <a:avLst>
              <a:gd name="adj1" fmla="val 50000"/>
              <a:gd name="adj2" fmla="val 229736"/>
            </a:avLst>
          </a:prstGeom>
          <a:solidFill>
            <a:srgbClr val="006666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vert="eaVert" wrap="none" anchor="ctr"/>
          <a:lstStyle/>
          <a:p>
            <a:endParaRPr lang="zh-CN" altLang="en-US"/>
          </a:p>
        </p:txBody>
      </p:sp>
      <p:sp>
        <p:nvSpPr>
          <p:cNvPr id="456767" name="Line 63"/>
          <p:cNvSpPr>
            <a:spLocks noChangeShapeType="1"/>
          </p:cNvSpPr>
          <p:nvPr/>
        </p:nvSpPr>
        <p:spPr bwMode="auto">
          <a:xfrm>
            <a:off x="4572000" y="1998663"/>
            <a:ext cx="71438" cy="4105275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16"/>
          <p:cNvSpPr>
            <a:spLocks noGrp="1" noChangeArrowheads="1"/>
          </p:cNvSpPr>
          <p:nvPr>
            <p:ph type="title"/>
          </p:nvPr>
        </p:nvSpPr>
        <p:spPr>
          <a:xfrm>
            <a:off x="301625" y="260350"/>
            <a:ext cx="8540750" cy="1143000"/>
          </a:xfrm>
          <a:noFill/>
        </p:spPr>
        <p:txBody>
          <a:bodyPr/>
          <a:lstStyle/>
          <a:p>
            <a:pPr eaLnBrk="1" hangingPunct="1"/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语法分析方法</a:t>
            </a:r>
          </a:p>
        </p:txBody>
      </p:sp>
      <p:sp>
        <p:nvSpPr>
          <p:cNvPr id="13315" name="日期占位符 3"/>
          <p:cNvSpPr>
            <a:spLocks noGrp="1"/>
          </p:cNvSpPr>
          <p:nvPr>
            <p:ph type="dt" sz="quarter" idx="10"/>
          </p:nvPr>
        </p:nvSpPr>
        <p:spPr>
          <a:xfrm>
            <a:off x="301625" y="6408738"/>
            <a:ext cx="2289175" cy="4762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7F937729-4D56-4C44-9129-98C8A074B857}" type="datetime1">
              <a:rPr lang="zh-CN" altLang="en-US" smtClean="0"/>
              <a:pPr eaLnBrk="1" hangingPunct="1"/>
              <a:t>2017/2/24</a:t>
            </a:fld>
            <a:endParaRPr lang="en-US" altLang="zh-CN" smtClean="0"/>
          </a:p>
        </p:txBody>
      </p:sp>
      <p:sp>
        <p:nvSpPr>
          <p:cNvPr id="1331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553200" y="6408738"/>
            <a:ext cx="2289175" cy="4762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2B81752C-6A06-4CFA-A939-2870416822A0}" type="slidenum">
              <a:rPr lang="zh-CN" altLang="en-US" smtClean="0"/>
              <a:pPr eaLnBrk="1" hangingPunct="1"/>
              <a:t>9</a:t>
            </a:fld>
            <a:endParaRPr lang="en-US" altLang="zh-CN" smtClean="0"/>
          </a:p>
        </p:txBody>
      </p:sp>
      <p:sp>
        <p:nvSpPr>
          <p:cNvPr id="457731" name="Rectangle 3"/>
          <p:cNvSpPr>
            <a:spLocks noChangeArrowheads="1"/>
          </p:cNvSpPr>
          <p:nvPr/>
        </p:nvSpPr>
        <p:spPr bwMode="auto">
          <a:xfrm>
            <a:off x="2771775" y="2446338"/>
            <a:ext cx="2520950" cy="1511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/>
          <a:lstStyle/>
          <a:p>
            <a:pPr>
              <a:lnSpc>
                <a:spcPct val="110000"/>
              </a:lnSpc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/>
            </a:pPr>
            <a:r>
              <a:rPr lang="zh-CN" altLang="en-US" sz="3600" b="1">
                <a:latin typeface="Times New Roman" pitchFamily="18" charset="0"/>
                <a:ea typeface="华文新魏" pitchFamily="2" charset="-122"/>
              </a:rPr>
              <a:t>自顶向下</a:t>
            </a:r>
          </a:p>
          <a:p>
            <a:pPr marL="198438" lvl="1">
              <a:lnSpc>
                <a:spcPct val="110000"/>
              </a:lnSpc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None/>
              <a:defRPr/>
            </a:pPr>
            <a:r>
              <a:rPr kumimoji="1" lang="en-US" altLang="zh-CN" sz="3200" b="1">
                <a:solidFill>
                  <a:srgbClr val="99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Top Down</a:t>
            </a:r>
            <a:endParaRPr lang="en-US" altLang="zh-CN" sz="3200" b="1">
              <a:latin typeface="Times New Roman" pitchFamily="18" charset="0"/>
              <a:ea typeface="华文新魏" pitchFamily="2" charset="-122"/>
            </a:endParaRPr>
          </a:p>
        </p:txBody>
      </p:sp>
      <p:sp>
        <p:nvSpPr>
          <p:cNvPr id="457732" name="AutoShape 4"/>
          <p:cNvSpPr>
            <a:spLocks/>
          </p:cNvSpPr>
          <p:nvPr/>
        </p:nvSpPr>
        <p:spPr bwMode="auto">
          <a:xfrm>
            <a:off x="5292725" y="2492375"/>
            <a:ext cx="231775" cy="1296988"/>
          </a:xfrm>
          <a:prstGeom prst="leftBrace">
            <a:avLst>
              <a:gd name="adj1" fmla="val 46632"/>
              <a:gd name="adj2" fmla="val 50000"/>
            </a:avLst>
          </a:prstGeom>
          <a:noFill/>
          <a:ln w="571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2075" tIns="46038" rIns="92075" bIns="46038" anchor="ctr"/>
          <a:lstStyle/>
          <a:p>
            <a:endParaRPr lang="zh-CN" altLang="en-US"/>
          </a:p>
        </p:txBody>
      </p:sp>
      <p:sp>
        <p:nvSpPr>
          <p:cNvPr id="457733" name="Rectangle 5"/>
          <p:cNvSpPr>
            <a:spLocks noChangeArrowheads="1"/>
          </p:cNvSpPr>
          <p:nvPr/>
        </p:nvSpPr>
        <p:spPr bwMode="auto">
          <a:xfrm>
            <a:off x="2843213" y="4678363"/>
            <a:ext cx="2592387" cy="1366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/>
          <a:lstStyle/>
          <a:p>
            <a:pPr>
              <a:lnSpc>
                <a:spcPct val="110000"/>
              </a:lnSpc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/>
            </a:pPr>
            <a:r>
              <a:rPr lang="zh-CN" altLang="en-US" sz="3600" b="1">
                <a:latin typeface="Times New Roman" pitchFamily="18" charset="0"/>
                <a:ea typeface="华文新魏" pitchFamily="2" charset="-122"/>
              </a:rPr>
              <a:t>自底向上</a:t>
            </a: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  <a:defRPr/>
            </a:pPr>
            <a:r>
              <a:rPr kumimoji="1" lang="en-US" altLang="zh-CN" sz="3200" b="1">
                <a:solidFill>
                  <a:srgbClr val="99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Bottom Up</a:t>
            </a:r>
            <a:endParaRPr lang="en-US" altLang="zh-CN" sz="3200" b="1">
              <a:latin typeface="Times New Roman" pitchFamily="18" charset="0"/>
              <a:ea typeface="华文新魏" pitchFamily="2" charset="-122"/>
            </a:endParaRPr>
          </a:p>
        </p:txBody>
      </p:sp>
      <p:sp>
        <p:nvSpPr>
          <p:cNvPr id="457734" name="AutoShape 6"/>
          <p:cNvSpPr>
            <a:spLocks/>
          </p:cNvSpPr>
          <p:nvPr/>
        </p:nvSpPr>
        <p:spPr bwMode="auto">
          <a:xfrm>
            <a:off x="5292725" y="4749800"/>
            <a:ext cx="215900" cy="1223963"/>
          </a:xfrm>
          <a:prstGeom prst="leftBrace">
            <a:avLst>
              <a:gd name="adj1" fmla="val 47243"/>
              <a:gd name="adj2" fmla="val 50000"/>
            </a:avLst>
          </a:prstGeom>
          <a:noFill/>
          <a:ln w="571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2075" tIns="46038" rIns="92075" bIns="46038" anchor="ctr"/>
          <a:lstStyle/>
          <a:p>
            <a:endParaRPr lang="zh-CN" altLang="en-US"/>
          </a:p>
        </p:txBody>
      </p:sp>
      <p:sp>
        <p:nvSpPr>
          <p:cNvPr id="457735" name="AutoShape 7"/>
          <p:cNvSpPr>
            <a:spLocks noChangeArrowheads="1"/>
          </p:cNvSpPr>
          <p:nvPr/>
        </p:nvSpPr>
        <p:spPr bwMode="auto">
          <a:xfrm>
            <a:off x="179388" y="1652588"/>
            <a:ext cx="3252787" cy="1152525"/>
          </a:xfrm>
          <a:prstGeom prst="wedgeEllipseCallout">
            <a:avLst>
              <a:gd name="adj1" fmla="val 64884"/>
              <a:gd name="adj2" fmla="val 41324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algn="ctr"/>
            <a:r>
              <a:rPr lang="zh-CN" altLang="en-US" sz="3200" b="1">
                <a:latin typeface="Times New Roman" pitchFamily="18" charset="0"/>
                <a:ea typeface="华文新魏" pitchFamily="2" charset="-122"/>
              </a:rPr>
              <a:t>文法产生</a:t>
            </a:r>
          </a:p>
          <a:p>
            <a:pPr algn="ctr"/>
            <a:r>
              <a:rPr lang="zh-CN" altLang="en-US" sz="3200" b="1">
                <a:latin typeface="Times New Roman" pitchFamily="18" charset="0"/>
                <a:ea typeface="华文新魏" pitchFamily="2" charset="-122"/>
              </a:rPr>
              <a:t>语言</a:t>
            </a:r>
          </a:p>
        </p:txBody>
      </p:sp>
      <p:sp>
        <p:nvSpPr>
          <p:cNvPr id="457736" name="AutoShape 8"/>
          <p:cNvSpPr>
            <a:spLocks noChangeArrowheads="1"/>
          </p:cNvSpPr>
          <p:nvPr/>
        </p:nvSpPr>
        <p:spPr bwMode="auto">
          <a:xfrm>
            <a:off x="179388" y="3741738"/>
            <a:ext cx="3311525" cy="1079500"/>
          </a:xfrm>
          <a:prstGeom prst="wedgeEllipseCallout">
            <a:avLst>
              <a:gd name="adj1" fmla="val 60162"/>
              <a:gd name="adj2" fmla="val 53088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algn="ctr"/>
            <a:r>
              <a:rPr lang="zh-CN" altLang="en-US" sz="3200" b="1">
                <a:latin typeface="Times New Roman" pitchFamily="18" charset="0"/>
                <a:ea typeface="华文新魏" pitchFamily="2" charset="-122"/>
              </a:rPr>
              <a:t>自动机识别语言</a:t>
            </a:r>
          </a:p>
        </p:txBody>
      </p:sp>
      <p:sp>
        <p:nvSpPr>
          <p:cNvPr id="457737" name="Rectangle 9"/>
          <p:cNvSpPr>
            <a:spLocks noChangeArrowheads="1"/>
          </p:cNvSpPr>
          <p:nvPr/>
        </p:nvSpPr>
        <p:spPr bwMode="auto">
          <a:xfrm>
            <a:off x="5508625" y="2373313"/>
            <a:ext cx="262255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3200" b="1">
                <a:latin typeface="Times New Roman" pitchFamily="18" charset="0"/>
                <a:ea typeface="华文新魏" pitchFamily="2" charset="-122"/>
              </a:rPr>
              <a:t>递归子程序法</a:t>
            </a:r>
          </a:p>
        </p:txBody>
      </p:sp>
      <p:sp>
        <p:nvSpPr>
          <p:cNvPr id="457738" name="Rectangle 10"/>
          <p:cNvSpPr>
            <a:spLocks noChangeArrowheads="1"/>
          </p:cNvSpPr>
          <p:nvPr/>
        </p:nvSpPr>
        <p:spPr bwMode="auto">
          <a:xfrm>
            <a:off x="5508625" y="3222625"/>
            <a:ext cx="3502025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3200" b="1">
                <a:latin typeface="Times New Roman" pitchFamily="18" charset="0"/>
                <a:ea typeface="华文新魏" pitchFamily="2" charset="-122"/>
              </a:rPr>
              <a:t>预测分析法</a:t>
            </a:r>
            <a:r>
              <a:rPr lang="en-US" altLang="zh-CN" sz="3200" b="1">
                <a:latin typeface="Times New Roman" pitchFamily="18" charset="0"/>
                <a:ea typeface="华文新魏" pitchFamily="2" charset="-122"/>
              </a:rPr>
              <a:t>(LL(1))</a:t>
            </a:r>
            <a:endParaRPr lang="zh-CN" altLang="en-US" sz="3200" b="1">
              <a:latin typeface="Times New Roman" pitchFamily="18" charset="0"/>
              <a:ea typeface="华文新魏" pitchFamily="2" charset="-122"/>
            </a:endParaRPr>
          </a:p>
        </p:txBody>
      </p:sp>
      <p:sp>
        <p:nvSpPr>
          <p:cNvPr id="457739" name="Rectangle 11"/>
          <p:cNvSpPr>
            <a:spLocks noChangeArrowheads="1"/>
          </p:cNvSpPr>
          <p:nvPr/>
        </p:nvSpPr>
        <p:spPr bwMode="auto">
          <a:xfrm>
            <a:off x="5508625" y="4389438"/>
            <a:ext cx="302895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3200" b="1">
                <a:latin typeface="Times New Roman" pitchFamily="18" charset="0"/>
                <a:ea typeface="华文新魏" pitchFamily="2" charset="-122"/>
              </a:rPr>
              <a:t>算符优先分析法</a:t>
            </a:r>
          </a:p>
        </p:txBody>
      </p:sp>
      <p:sp>
        <p:nvSpPr>
          <p:cNvPr id="457740" name="Rectangle 12"/>
          <p:cNvSpPr>
            <a:spLocks noChangeArrowheads="1"/>
          </p:cNvSpPr>
          <p:nvPr/>
        </p:nvSpPr>
        <p:spPr bwMode="auto">
          <a:xfrm>
            <a:off x="5578475" y="5181600"/>
            <a:ext cx="3241675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altLang="zh-CN" sz="3200" b="1">
                <a:latin typeface="Times New Roman" pitchFamily="18" charset="0"/>
                <a:ea typeface="华文新魏" pitchFamily="2" charset="-122"/>
              </a:rPr>
              <a:t>LR(0)、SLR(1)</a:t>
            </a:r>
          </a:p>
          <a:p>
            <a:r>
              <a:rPr lang="en-US" altLang="zh-CN" sz="3200" b="1">
                <a:latin typeface="Times New Roman" pitchFamily="18" charset="0"/>
                <a:ea typeface="华文新魏" pitchFamily="2" charset="-122"/>
              </a:rPr>
              <a:t>[LR(1)、LALR]</a:t>
            </a:r>
            <a:endParaRPr lang="zh-CN" altLang="en-US" sz="3200" b="1">
              <a:latin typeface="Times New Roman" pitchFamily="18" charset="0"/>
              <a:ea typeface="华文新魏" pitchFamily="2" charset="-122"/>
            </a:endParaRPr>
          </a:p>
        </p:txBody>
      </p:sp>
      <p:sp>
        <p:nvSpPr>
          <p:cNvPr id="457741" name="Text Box 13"/>
          <p:cNvSpPr txBox="1">
            <a:spLocks noChangeArrowheads="1"/>
          </p:cNvSpPr>
          <p:nvPr/>
        </p:nvSpPr>
        <p:spPr bwMode="auto">
          <a:xfrm>
            <a:off x="1042988" y="5181600"/>
            <a:ext cx="1366837" cy="579438"/>
          </a:xfrm>
          <a:prstGeom prst="rect">
            <a:avLst/>
          </a:prstGeom>
          <a:solidFill>
            <a:srgbClr val="006666"/>
          </a:solidFill>
          <a:ln w="9525">
            <a:miter lim="800000"/>
            <a:headEnd/>
            <a:tailEnd/>
          </a:ln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rgbClr val="006666"/>
            </a:extrusionClr>
          </a:sp3d>
        </p:spPr>
        <p:txBody>
          <a:bodyPr>
            <a:spAutoFit/>
            <a:flatTx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3200" b="1">
                <a:solidFill>
                  <a:schemeClr val="bg1"/>
                </a:solidFill>
                <a:latin typeface="Times New Roman" pitchFamily="18" charset="0"/>
                <a:ea typeface="华文新魏" pitchFamily="2" charset="-122"/>
              </a:rPr>
              <a:t>归约</a:t>
            </a:r>
            <a:r>
              <a:rPr lang="en-US" altLang="zh-CN" sz="3200" b="1">
                <a:solidFill>
                  <a:schemeClr val="bg1"/>
                </a:solidFill>
                <a:latin typeface="Times New Roman" pitchFamily="18" charset="0"/>
                <a:ea typeface="华文新魏" pitchFamily="2" charset="-122"/>
              </a:rPr>
              <a:t>!</a:t>
            </a:r>
          </a:p>
        </p:txBody>
      </p:sp>
      <p:sp>
        <p:nvSpPr>
          <p:cNvPr id="457742" name="Text Box 14"/>
          <p:cNvSpPr txBox="1">
            <a:spLocks noChangeArrowheads="1"/>
          </p:cNvSpPr>
          <p:nvPr/>
        </p:nvSpPr>
        <p:spPr bwMode="auto">
          <a:xfrm>
            <a:off x="611188" y="3021013"/>
            <a:ext cx="2232025" cy="579437"/>
          </a:xfrm>
          <a:prstGeom prst="rect">
            <a:avLst/>
          </a:prstGeom>
          <a:solidFill>
            <a:srgbClr val="006666"/>
          </a:solidFill>
          <a:ln w="9525">
            <a:miter lim="800000"/>
            <a:headEnd/>
            <a:tailEnd/>
          </a:ln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rgbClr val="006666"/>
            </a:extrusionClr>
          </a:sp3d>
        </p:spPr>
        <p:txBody>
          <a:bodyPr>
            <a:spAutoFit/>
            <a:flatTx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3200" b="1">
                <a:solidFill>
                  <a:schemeClr val="bg1"/>
                </a:solidFill>
                <a:latin typeface="Times New Roman" pitchFamily="18" charset="0"/>
                <a:ea typeface="华文新魏" pitchFamily="2" charset="-122"/>
              </a:rPr>
              <a:t>推导</a:t>
            </a:r>
            <a:r>
              <a:rPr lang="en-US" altLang="zh-CN" sz="3200" b="1">
                <a:solidFill>
                  <a:schemeClr val="bg1"/>
                </a:solidFill>
                <a:latin typeface="Times New Roman" pitchFamily="18" charset="0"/>
                <a:ea typeface="华文新魏" pitchFamily="2" charset="-122"/>
              </a:rPr>
              <a:t>/</a:t>
            </a:r>
            <a:r>
              <a:rPr lang="zh-CN" altLang="en-US" sz="3200" b="1">
                <a:solidFill>
                  <a:schemeClr val="bg1"/>
                </a:solidFill>
                <a:latin typeface="Times New Roman" pitchFamily="18" charset="0"/>
                <a:ea typeface="华文新魏" pitchFamily="2" charset="-122"/>
              </a:rPr>
              <a:t>派生</a:t>
            </a:r>
            <a:r>
              <a:rPr lang="en-US" altLang="zh-CN" sz="3200" b="1">
                <a:solidFill>
                  <a:schemeClr val="bg1"/>
                </a:solidFill>
                <a:latin typeface="Times New Roman" pitchFamily="18" charset="0"/>
                <a:ea typeface="华文新魏" pitchFamily="2" charset="-122"/>
              </a:rPr>
              <a:t>!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900113" y="333375"/>
            <a:ext cx="7632700" cy="1368425"/>
          </a:xfrm>
          <a:noFill/>
        </p:spPr>
        <p:txBody>
          <a:bodyPr lIns="92075" tIns="46038" rIns="92075" bIns="46038"/>
          <a:lstStyle/>
          <a:p>
            <a:pPr eaLnBrk="1" hangingPunct="1"/>
            <a:r>
              <a:rPr lang="zh-CN" altLang="en-US" b="1" smtClean="0">
                <a:solidFill>
                  <a:srgbClr val="000099"/>
                </a:solidFill>
                <a:latin typeface="Times New Roman" pitchFamily="18" charset="0"/>
                <a:ea typeface="华文新魏" pitchFamily="2" charset="-122"/>
              </a:rPr>
              <a:t>4.2  自顶向下分析面临的问题与</a:t>
            </a:r>
            <a:r>
              <a:rPr lang="en-US" altLang="zh-CN" b="1" smtClean="0">
                <a:solidFill>
                  <a:srgbClr val="000099"/>
                </a:solidFill>
                <a:latin typeface="Times New Roman" pitchFamily="18" charset="0"/>
                <a:ea typeface="华文新魏" pitchFamily="2" charset="-122"/>
              </a:rPr>
              <a:t>CFG</a:t>
            </a:r>
            <a:r>
              <a:rPr lang="zh-CN" altLang="en-US" b="1" smtClean="0">
                <a:solidFill>
                  <a:srgbClr val="000099"/>
                </a:solidFill>
                <a:latin typeface="Times New Roman" pitchFamily="18" charset="0"/>
                <a:ea typeface="华文新魏" pitchFamily="2" charset="-122"/>
              </a:rPr>
              <a:t>的改造</a:t>
            </a:r>
          </a:p>
        </p:txBody>
      </p:sp>
      <p:sp>
        <p:nvSpPr>
          <p:cNvPr id="458755" name="Rectangle 3"/>
          <p:cNvSpPr>
            <a:spLocks noGrp="1" noChangeArrowheads="1"/>
          </p:cNvSpPr>
          <p:nvPr>
            <p:ph idx="1"/>
          </p:nvPr>
        </p:nvSpPr>
        <p:spPr>
          <a:xfrm>
            <a:off x="395288" y="1989138"/>
            <a:ext cx="8520112" cy="3040062"/>
          </a:xfrm>
        </p:spPr>
        <p:txBody>
          <a:bodyPr lIns="92075" tIns="46038" rIns="92075" bIns="46038"/>
          <a:lstStyle/>
          <a:p>
            <a:pPr eaLnBrk="1" hangingPunct="1">
              <a:buFont typeface="Wingdings" pitchFamily="2" charset="2"/>
              <a:buNone/>
            </a:pPr>
            <a:r>
              <a:rPr lang="zh-CN" altLang="en-US" b="1" smtClean="0">
                <a:solidFill>
                  <a:srgbClr val="000099"/>
                </a:solidFill>
                <a:latin typeface="Times New Roman" pitchFamily="18" charset="0"/>
                <a:ea typeface="华文新魏" pitchFamily="2" charset="-122"/>
              </a:rPr>
              <a:t>一、自顶向下的分析</a:t>
            </a:r>
          </a:p>
          <a:p>
            <a:pPr eaLnBrk="1" hangingPunct="1"/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从文法开始符号出发，寻求所给输入符号串的最左推导</a:t>
            </a:r>
          </a:p>
          <a:p>
            <a:pPr eaLnBrk="1" hangingPunct="1"/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从树根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S</a:t>
            </a: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开始，构造所给输入符号串的语法树</a:t>
            </a:r>
          </a:p>
          <a:p>
            <a:pPr eaLnBrk="1" hangingPunct="1"/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例：设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G</a:t>
            </a: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为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S→xAy A→**|*，</a:t>
            </a: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输入串：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x**y</a:t>
            </a:r>
          </a:p>
        </p:txBody>
      </p:sp>
      <p:sp>
        <p:nvSpPr>
          <p:cNvPr id="14340" name="日期占位符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BC3E0CAB-3AEA-47FC-B7F0-C89E8BDAE8EF}" type="datetime1">
              <a:rPr lang="zh-CN" altLang="en-US" smtClean="0"/>
              <a:pPr eaLnBrk="1" hangingPunct="1"/>
              <a:t>2017/2/24</a:t>
            </a:fld>
            <a:endParaRPr lang="en-US" altLang="zh-CN" smtClean="0"/>
          </a:p>
        </p:txBody>
      </p:sp>
      <p:sp>
        <p:nvSpPr>
          <p:cNvPr id="14341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7165E583-2EBC-4C0B-97A2-396E7758E1A0}" type="slidenum">
              <a:rPr lang="zh-CN" altLang="en-US" smtClean="0"/>
              <a:pPr eaLnBrk="1" hangingPunct="1"/>
              <a:t>10</a:t>
            </a:fld>
            <a:endParaRPr lang="en-US" altLang="zh-CN" smtClean="0"/>
          </a:p>
        </p:txBody>
      </p:sp>
      <p:sp>
        <p:nvSpPr>
          <p:cNvPr id="458756" name="Text Box 4"/>
          <p:cNvSpPr txBox="1">
            <a:spLocks noChangeArrowheads="1"/>
          </p:cNvSpPr>
          <p:nvPr/>
        </p:nvSpPr>
        <p:spPr bwMode="auto">
          <a:xfrm>
            <a:off x="1219200" y="5029200"/>
            <a:ext cx="2971800" cy="628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>
            <a:spAutoFit/>
          </a:bodyPr>
          <a:lstStyle/>
          <a:p>
            <a:pPr eaLnBrk="0" hangingPunct="0">
              <a:lnSpc>
                <a:spcPct val="110000"/>
              </a:lnSpc>
              <a:spcBef>
                <a:spcPct val="50000"/>
              </a:spcBef>
              <a:buClr>
                <a:schemeClr val="folHlink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800" b="1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S</a:t>
            </a:r>
            <a:r>
              <a:rPr kumimoji="1" lang="en-US" altLang="zh-CN" sz="32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sym typeface="Symbol" pitchFamily="18" charset="2"/>
              </a:rPr>
              <a:t>x</a:t>
            </a:r>
            <a:r>
              <a:rPr kumimoji="1" lang="en-US" altLang="zh-CN" sz="3200" b="1">
                <a:solidFill>
                  <a:srgbClr val="99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sym typeface="Symbol" pitchFamily="18" charset="2"/>
              </a:rPr>
              <a:t>A</a:t>
            </a:r>
            <a:r>
              <a:rPr kumimoji="1" lang="en-US" altLang="zh-CN" sz="32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sym typeface="Symbol" pitchFamily="18" charset="2"/>
              </a:rPr>
              <a:t>y</a:t>
            </a:r>
          </a:p>
        </p:txBody>
      </p:sp>
      <p:sp>
        <p:nvSpPr>
          <p:cNvPr id="458757" name="Text Box 5"/>
          <p:cNvSpPr txBox="1">
            <a:spLocks noChangeArrowheads="1"/>
          </p:cNvSpPr>
          <p:nvPr/>
        </p:nvSpPr>
        <p:spPr bwMode="auto">
          <a:xfrm>
            <a:off x="1219200" y="5486400"/>
            <a:ext cx="2971800" cy="628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>
            <a:spAutoFit/>
          </a:bodyPr>
          <a:lstStyle/>
          <a:p>
            <a:pPr eaLnBrk="0" hangingPunct="0">
              <a:lnSpc>
                <a:spcPct val="110000"/>
              </a:lnSpc>
              <a:spcBef>
                <a:spcPct val="50000"/>
              </a:spcBef>
              <a:buClr>
                <a:schemeClr val="folHlink"/>
              </a:buClr>
              <a:buSzPct val="75000"/>
              <a:buFont typeface="Monotype Sorts" pitchFamily="2" charset="2"/>
              <a:buNone/>
              <a:defRPr/>
            </a:pPr>
            <a:r>
              <a:rPr kumimoji="1" lang="zh-CN" altLang="en-US" sz="2800" b="1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 </a:t>
            </a:r>
            <a:r>
              <a:rPr kumimoji="1" lang="zh-CN" altLang="en-US" sz="32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sym typeface="Symbol" pitchFamily="18" charset="2"/>
              </a:rPr>
              <a:t></a:t>
            </a:r>
            <a:r>
              <a:rPr kumimoji="1" lang="en-US" altLang="zh-CN" sz="32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sym typeface="Symbol" pitchFamily="18" charset="2"/>
              </a:rPr>
              <a:t>x</a:t>
            </a:r>
            <a:r>
              <a:rPr kumimoji="1" lang="en-US" altLang="zh-CN" sz="3200" b="1">
                <a:solidFill>
                  <a:srgbClr val="99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sym typeface="Symbol" pitchFamily="18" charset="2"/>
              </a:rPr>
              <a:t>**</a:t>
            </a:r>
            <a:r>
              <a:rPr kumimoji="1" lang="en-US" altLang="zh-CN" sz="32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sym typeface="Symbol" pitchFamily="18" charset="2"/>
              </a:rPr>
              <a:t>y</a:t>
            </a:r>
          </a:p>
        </p:txBody>
      </p:sp>
      <p:sp>
        <p:nvSpPr>
          <p:cNvPr id="458758" name="Text Box 6"/>
          <p:cNvSpPr txBox="1">
            <a:spLocks noChangeArrowheads="1"/>
          </p:cNvSpPr>
          <p:nvPr/>
        </p:nvSpPr>
        <p:spPr bwMode="auto">
          <a:xfrm>
            <a:off x="6324600" y="4953000"/>
            <a:ext cx="609600" cy="561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lnSpc>
                <a:spcPct val="110000"/>
              </a:lnSpc>
              <a:spcBef>
                <a:spcPct val="50000"/>
              </a:spcBef>
              <a:buClr>
                <a:schemeClr val="folHlink"/>
              </a:buClr>
              <a:buSzPct val="75000"/>
              <a:buFont typeface="Monotype Sorts" pitchFamily="2" charset="2"/>
              <a:buNone/>
            </a:pPr>
            <a:r>
              <a:rPr kumimoji="1" lang="en-US" altLang="zh-CN" sz="2800" b="1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S</a:t>
            </a:r>
          </a:p>
        </p:txBody>
      </p:sp>
      <p:grpSp>
        <p:nvGrpSpPr>
          <p:cNvPr id="2" name="Group 7"/>
          <p:cNvGrpSpPr>
            <a:grpSpLocks/>
          </p:cNvGrpSpPr>
          <p:nvPr/>
        </p:nvGrpSpPr>
        <p:grpSpPr bwMode="auto">
          <a:xfrm>
            <a:off x="5334000" y="5410200"/>
            <a:ext cx="2590800" cy="790575"/>
            <a:chOff x="2880" y="3120"/>
            <a:chExt cx="1632" cy="498"/>
          </a:xfrm>
        </p:grpSpPr>
        <p:sp>
          <p:nvSpPr>
            <p:cNvPr id="14353" name="Line 8"/>
            <p:cNvSpPr>
              <a:spLocks noChangeShapeType="1"/>
            </p:cNvSpPr>
            <p:nvPr/>
          </p:nvSpPr>
          <p:spPr bwMode="auto">
            <a:xfrm flipH="1">
              <a:off x="3072" y="3120"/>
              <a:ext cx="480" cy="24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2075" tIns="46038" rIns="92075" bIns="46038"/>
            <a:lstStyle/>
            <a:p>
              <a:endParaRPr lang="zh-CN" altLang="en-US"/>
            </a:p>
          </p:txBody>
        </p:sp>
        <p:sp>
          <p:nvSpPr>
            <p:cNvPr id="458761" name="Text Box 9"/>
            <p:cNvSpPr txBox="1">
              <a:spLocks noChangeArrowheads="1"/>
            </p:cNvSpPr>
            <p:nvPr/>
          </p:nvSpPr>
          <p:spPr bwMode="auto">
            <a:xfrm>
              <a:off x="2880" y="3168"/>
              <a:ext cx="336" cy="3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lIns="92075" tIns="46038" rIns="92075" bIns="46038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>
                <a:lnSpc>
                  <a:spcPct val="110000"/>
                </a:lnSpc>
                <a:spcBef>
                  <a:spcPct val="50000"/>
                </a:spcBef>
                <a:buClr>
                  <a:schemeClr val="folHlink"/>
                </a:buClr>
                <a:buSzPct val="75000"/>
                <a:buFont typeface="Monotype Sorts" pitchFamily="2" charset="2"/>
                <a:buNone/>
              </a:pPr>
              <a:r>
                <a:rPr kumimoji="1" lang="en-US" altLang="zh-CN" sz="28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宋体" pitchFamily="2" charset="-122"/>
                </a:rPr>
                <a:t>x</a:t>
              </a:r>
            </a:p>
          </p:txBody>
        </p:sp>
        <p:sp>
          <p:nvSpPr>
            <p:cNvPr id="14355" name="Line 10"/>
            <p:cNvSpPr>
              <a:spLocks noChangeShapeType="1"/>
            </p:cNvSpPr>
            <p:nvPr/>
          </p:nvSpPr>
          <p:spPr bwMode="auto">
            <a:xfrm flipH="1">
              <a:off x="3648" y="3120"/>
              <a:ext cx="0" cy="28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2075" tIns="46038" rIns="92075" bIns="46038"/>
            <a:lstStyle/>
            <a:p>
              <a:endParaRPr lang="zh-CN" altLang="en-US"/>
            </a:p>
          </p:txBody>
        </p:sp>
        <p:sp>
          <p:nvSpPr>
            <p:cNvPr id="458763" name="Text Box 11"/>
            <p:cNvSpPr txBox="1">
              <a:spLocks noChangeArrowheads="1"/>
            </p:cNvSpPr>
            <p:nvPr/>
          </p:nvSpPr>
          <p:spPr bwMode="auto">
            <a:xfrm>
              <a:off x="3552" y="3264"/>
              <a:ext cx="336" cy="3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lIns="92075" tIns="46038" rIns="92075" bIns="46038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>
                <a:lnSpc>
                  <a:spcPct val="110000"/>
                </a:lnSpc>
                <a:spcBef>
                  <a:spcPct val="50000"/>
                </a:spcBef>
                <a:buClr>
                  <a:schemeClr val="folHlink"/>
                </a:buClr>
                <a:buSzPct val="75000"/>
                <a:buFont typeface="Monotype Sorts" pitchFamily="2" charset="2"/>
                <a:buNone/>
              </a:pPr>
              <a:r>
                <a:rPr kumimoji="1" lang="en-US" altLang="zh-CN" sz="28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宋体" pitchFamily="2" charset="-122"/>
                </a:rPr>
                <a:t>A</a:t>
              </a:r>
            </a:p>
          </p:txBody>
        </p:sp>
        <p:sp>
          <p:nvSpPr>
            <p:cNvPr id="14357" name="Line 12"/>
            <p:cNvSpPr>
              <a:spLocks noChangeShapeType="1"/>
            </p:cNvSpPr>
            <p:nvPr/>
          </p:nvSpPr>
          <p:spPr bwMode="auto">
            <a:xfrm>
              <a:off x="3696" y="3120"/>
              <a:ext cx="528" cy="19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2075" tIns="46038" rIns="92075" bIns="46038"/>
            <a:lstStyle/>
            <a:p>
              <a:endParaRPr lang="zh-CN" altLang="en-US"/>
            </a:p>
          </p:txBody>
        </p:sp>
        <p:sp>
          <p:nvSpPr>
            <p:cNvPr id="458765" name="Text Box 13"/>
            <p:cNvSpPr txBox="1">
              <a:spLocks noChangeArrowheads="1"/>
            </p:cNvSpPr>
            <p:nvPr/>
          </p:nvSpPr>
          <p:spPr bwMode="auto">
            <a:xfrm>
              <a:off x="4176" y="3120"/>
              <a:ext cx="336" cy="3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lIns="92075" tIns="46038" rIns="92075" bIns="46038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>
                <a:lnSpc>
                  <a:spcPct val="110000"/>
                </a:lnSpc>
                <a:spcBef>
                  <a:spcPct val="50000"/>
                </a:spcBef>
                <a:buClr>
                  <a:schemeClr val="folHlink"/>
                </a:buClr>
                <a:buSzPct val="75000"/>
                <a:buFont typeface="Monotype Sorts" pitchFamily="2" charset="2"/>
                <a:buNone/>
              </a:pPr>
              <a:r>
                <a:rPr kumimoji="1" lang="en-US" altLang="zh-CN" sz="28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宋体" pitchFamily="2" charset="-122"/>
                </a:rPr>
                <a:t>y</a:t>
              </a:r>
            </a:p>
          </p:txBody>
        </p:sp>
      </p:grpSp>
      <p:grpSp>
        <p:nvGrpSpPr>
          <p:cNvPr id="3" name="Group 14"/>
          <p:cNvGrpSpPr>
            <a:grpSpLocks/>
          </p:cNvGrpSpPr>
          <p:nvPr/>
        </p:nvGrpSpPr>
        <p:grpSpPr bwMode="auto">
          <a:xfrm>
            <a:off x="5791200" y="5943600"/>
            <a:ext cx="1752600" cy="762000"/>
            <a:chOff x="3168" y="3456"/>
            <a:chExt cx="1104" cy="480"/>
          </a:xfrm>
        </p:grpSpPr>
        <p:grpSp>
          <p:nvGrpSpPr>
            <p:cNvPr id="14347" name="Group 15"/>
            <p:cNvGrpSpPr>
              <a:grpSpLocks/>
            </p:cNvGrpSpPr>
            <p:nvPr/>
          </p:nvGrpSpPr>
          <p:grpSpPr bwMode="auto">
            <a:xfrm rot="-3104475">
              <a:off x="3807" y="3375"/>
              <a:ext cx="384" cy="546"/>
              <a:chOff x="3504" y="3552"/>
              <a:chExt cx="384" cy="546"/>
            </a:xfrm>
          </p:grpSpPr>
          <p:sp>
            <p:nvSpPr>
              <p:cNvPr id="14351" name="Line 16"/>
              <p:cNvSpPr>
                <a:spLocks noChangeShapeType="1"/>
              </p:cNvSpPr>
              <p:nvPr/>
            </p:nvSpPr>
            <p:spPr bwMode="auto">
              <a:xfrm flipH="1">
                <a:off x="3648" y="3552"/>
                <a:ext cx="0" cy="33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92075" tIns="46038" rIns="92075" bIns="46038"/>
              <a:lstStyle/>
              <a:p>
                <a:endParaRPr lang="zh-CN" altLang="en-US"/>
              </a:p>
            </p:txBody>
          </p:sp>
          <p:sp>
            <p:nvSpPr>
              <p:cNvPr id="458769" name="Text Box 17"/>
              <p:cNvSpPr txBox="1">
                <a:spLocks noChangeArrowheads="1"/>
              </p:cNvSpPr>
              <p:nvPr/>
            </p:nvSpPr>
            <p:spPr bwMode="auto">
              <a:xfrm>
                <a:off x="3504" y="3742"/>
                <a:ext cx="384" cy="35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lIns="92075" tIns="46038" rIns="92075" bIns="46038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9pPr>
              </a:lstStyle>
              <a:p>
                <a:pPr>
                  <a:lnSpc>
                    <a:spcPct val="110000"/>
                  </a:lnSpc>
                  <a:spcBef>
                    <a:spcPct val="50000"/>
                  </a:spcBef>
                  <a:buClr>
                    <a:schemeClr val="folHlink"/>
                  </a:buClr>
                  <a:buSzPct val="75000"/>
                  <a:buFont typeface="Monotype Sorts" pitchFamily="2" charset="2"/>
                  <a:buNone/>
                </a:pPr>
                <a:r>
                  <a:rPr kumimoji="1" lang="zh-CN" altLang="en-US" sz="2800" b="1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宋体" pitchFamily="2" charset="-122"/>
                  </a:rPr>
                  <a:t>*</a:t>
                </a:r>
              </a:p>
            </p:txBody>
          </p:sp>
        </p:grpSp>
        <p:grpSp>
          <p:nvGrpSpPr>
            <p:cNvPr id="14348" name="Group 18"/>
            <p:cNvGrpSpPr>
              <a:grpSpLocks/>
            </p:cNvGrpSpPr>
            <p:nvPr/>
          </p:nvGrpSpPr>
          <p:grpSpPr bwMode="auto">
            <a:xfrm rot="2973774">
              <a:off x="3249" y="3471"/>
              <a:ext cx="384" cy="546"/>
              <a:chOff x="3504" y="3552"/>
              <a:chExt cx="384" cy="546"/>
            </a:xfrm>
          </p:grpSpPr>
          <p:sp>
            <p:nvSpPr>
              <p:cNvPr id="14349" name="Line 19"/>
              <p:cNvSpPr>
                <a:spLocks noChangeShapeType="1"/>
              </p:cNvSpPr>
              <p:nvPr/>
            </p:nvSpPr>
            <p:spPr bwMode="auto">
              <a:xfrm flipH="1">
                <a:off x="3648" y="3552"/>
                <a:ext cx="0" cy="33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92075" tIns="46038" rIns="92075" bIns="46038"/>
              <a:lstStyle/>
              <a:p>
                <a:endParaRPr lang="zh-CN" altLang="en-US"/>
              </a:p>
            </p:txBody>
          </p:sp>
          <p:sp>
            <p:nvSpPr>
              <p:cNvPr id="458772" name="Text Box 20"/>
              <p:cNvSpPr txBox="1">
                <a:spLocks noChangeArrowheads="1"/>
              </p:cNvSpPr>
              <p:nvPr/>
            </p:nvSpPr>
            <p:spPr bwMode="auto">
              <a:xfrm>
                <a:off x="3503" y="3745"/>
                <a:ext cx="384" cy="35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lIns="92075" tIns="46038" rIns="92075" bIns="46038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9pPr>
              </a:lstStyle>
              <a:p>
                <a:pPr>
                  <a:lnSpc>
                    <a:spcPct val="110000"/>
                  </a:lnSpc>
                  <a:spcBef>
                    <a:spcPct val="50000"/>
                  </a:spcBef>
                  <a:buClr>
                    <a:schemeClr val="folHlink"/>
                  </a:buClr>
                  <a:buSzPct val="75000"/>
                  <a:buFont typeface="Monotype Sorts" pitchFamily="2" charset="2"/>
                  <a:buNone/>
                </a:pPr>
                <a:r>
                  <a:rPr kumimoji="1" lang="zh-CN" altLang="en-US" sz="2800" b="1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宋体" pitchFamily="2" charset="-122"/>
                  </a:rPr>
                  <a:t>*</a:t>
                </a:r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>
          <a:xfrm>
            <a:off x="90488" y="188913"/>
            <a:ext cx="5202237" cy="998537"/>
          </a:xfrm>
        </p:spPr>
        <p:txBody>
          <a:bodyPr/>
          <a:lstStyle/>
          <a:p>
            <a:pPr eaLnBrk="1" hangingPunct="1"/>
            <a:r>
              <a:rPr lang="zh-CN" altLang="en-US" b="1" smtClean="0">
                <a:solidFill>
                  <a:srgbClr val="000099"/>
                </a:solidFill>
                <a:latin typeface="Times New Roman" pitchFamily="18" charset="0"/>
                <a:ea typeface="华文新魏" pitchFamily="2" charset="-122"/>
              </a:rPr>
              <a:t>二、重要概念回顾</a:t>
            </a:r>
          </a:p>
        </p:txBody>
      </p:sp>
      <p:sp>
        <p:nvSpPr>
          <p:cNvPr id="459779" name="Rectangle 3"/>
          <p:cNvSpPr>
            <a:spLocks noGrp="1" noChangeArrowheads="1"/>
          </p:cNvSpPr>
          <p:nvPr>
            <p:ph idx="1"/>
          </p:nvPr>
        </p:nvSpPr>
        <p:spPr>
          <a:xfrm>
            <a:off x="179388" y="1905000"/>
            <a:ext cx="6337300" cy="2100263"/>
          </a:xfrm>
        </p:spPr>
        <p:txBody>
          <a:bodyPr/>
          <a:lstStyle/>
          <a:p>
            <a:pPr eaLnBrk="1" hangingPunct="1"/>
            <a:r>
              <a:rPr lang="zh-CN" altLang="en-US" sz="2800" b="1" smtClean="0">
                <a:solidFill>
                  <a:schemeClr val="hlink"/>
                </a:solidFill>
                <a:latin typeface="Times New Roman" pitchFamily="18" charset="0"/>
                <a:ea typeface="华文新魏" pitchFamily="2" charset="-122"/>
              </a:rPr>
              <a:t>推导</a:t>
            </a:r>
            <a:r>
              <a:rPr lang="zh-CN" altLang="en-US" sz="2800" b="1" smtClean="0">
                <a:latin typeface="Times New Roman" pitchFamily="18" charset="0"/>
                <a:ea typeface="华文新魏" pitchFamily="2" charset="-122"/>
              </a:rPr>
              <a:t>: </a:t>
            </a: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αAβ</a:t>
            </a:r>
            <a:r>
              <a:rPr lang="en-US" altLang="zh-CN" sz="2800" b="1" smtClean="0">
                <a:latin typeface="Times New Roman" pitchFamily="18" charset="0"/>
                <a:ea typeface="华文新魏" pitchFamily="2" charset="-122"/>
                <a:sym typeface="Symbol" pitchFamily="18" charset="2"/>
              </a:rPr>
              <a:t></a:t>
            </a: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αγβ (</a:t>
            </a:r>
            <a:r>
              <a:rPr lang="zh-CN" altLang="en-US" sz="2800" b="1" smtClean="0">
                <a:latin typeface="Times New Roman" pitchFamily="18" charset="0"/>
                <a:ea typeface="华文新魏" pitchFamily="2" charset="-122"/>
              </a:rPr>
              <a:t>依据</a:t>
            </a: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:A→γ)</a:t>
            </a:r>
          </a:p>
          <a:p>
            <a:pPr eaLnBrk="1" hangingPunct="1"/>
            <a:r>
              <a:rPr lang="zh-CN" altLang="en-US" sz="2800" b="1" smtClean="0">
                <a:solidFill>
                  <a:schemeClr val="hlink"/>
                </a:solidFill>
                <a:latin typeface="Times New Roman" pitchFamily="18" charset="0"/>
                <a:ea typeface="华文新魏" pitchFamily="2" charset="-122"/>
              </a:rPr>
              <a:t>最左</a:t>
            </a:r>
            <a:r>
              <a:rPr lang="en-US" altLang="zh-CN" sz="2800" b="1" smtClean="0">
                <a:solidFill>
                  <a:schemeClr val="hlink"/>
                </a:solidFill>
                <a:latin typeface="Times New Roman" pitchFamily="18" charset="0"/>
                <a:ea typeface="华文新魏" pitchFamily="2" charset="-122"/>
              </a:rPr>
              <a:t>(Left-most)</a:t>
            </a:r>
            <a:r>
              <a:rPr lang="zh-CN" altLang="en-US" sz="2800" b="1" smtClean="0">
                <a:solidFill>
                  <a:schemeClr val="hlink"/>
                </a:solidFill>
                <a:latin typeface="Times New Roman" pitchFamily="18" charset="0"/>
                <a:ea typeface="华文新魏" pitchFamily="2" charset="-122"/>
              </a:rPr>
              <a:t>推导</a:t>
            </a:r>
            <a:r>
              <a:rPr lang="zh-CN" altLang="en-US" sz="2800" b="1" smtClean="0">
                <a:latin typeface="Times New Roman" pitchFamily="18" charset="0"/>
                <a:ea typeface="华文新魏" pitchFamily="2" charset="-122"/>
              </a:rPr>
              <a:t>——最左分析</a:t>
            </a:r>
          </a:p>
          <a:p>
            <a:pPr lvl="1" eaLnBrk="1" hangingPunct="1"/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左句型</a:t>
            </a:r>
          </a:p>
          <a:p>
            <a:pPr lvl="1" eaLnBrk="1" hangingPunct="1"/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最左推导对应最右归约</a:t>
            </a:r>
            <a:endParaRPr lang="zh-CN" altLang="en-US" sz="2400" b="1" smtClean="0">
              <a:latin typeface="Times New Roman" pitchFamily="18" charset="0"/>
              <a:ea typeface="华文新魏" pitchFamily="2" charset="-122"/>
            </a:endParaRPr>
          </a:p>
        </p:txBody>
      </p:sp>
      <p:sp>
        <p:nvSpPr>
          <p:cNvPr id="15364" name="日期占位符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6CC7E240-5CEA-4AC3-903F-8D61D6234E86}" type="datetime1">
              <a:rPr lang="zh-CN" altLang="en-US" smtClean="0"/>
              <a:pPr eaLnBrk="1" hangingPunct="1"/>
              <a:t>2017/2/24</a:t>
            </a:fld>
            <a:endParaRPr lang="en-US" altLang="zh-CN" smtClean="0"/>
          </a:p>
        </p:txBody>
      </p:sp>
      <p:sp>
        <p:nvSpPr>
          <p:cNvPr id="15365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B106EE5B-7BEF-43BB-8C60-2DD94F39D3CF}" type="slidenum">
              <a:rPr lang="zh-CN" altLang="en-US" smtClean="0"/>
              <a:pPr eaLnBrk="1" hangingPunct="1"/>
              <a:t>11</a:t>
            </a:fld>
            <a:endParaRPr lang="en-US" altLang="zh-CN" smtClean="0"/>
          </a:p>
        </p:txBody>
      </p:sp>
      <p:sp>
        <p:nvSpPr>
          <p:cNvPr id="459780" name="Text Box 4"/>
          <p:cNvSpPr txBox="1">
            <a:spLocks noChangeArrowheads="1"/>
          </p:cNvSpPr>
          <p:nvPr/>
        </p:nvSpPr>
        <p:spPr bwMode="auto">
          <a:xfrm>
            <a:off x="6624638" y="1484313"/>
            <a:ext cx="2268537" cy="22923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90000"/>
              </a:lnSpc>
            </a:pPr>
            <a:r>
              <a:rPr kumimoji="1" lang="zh-CN" altLang="en-US" sz="3200" b="1">
                <a:latin typeface="Times New Roman" pitchFamily="18" charset="0"/>
              </a:rPr>
              <a:t> </a:t>
            </a:r>
            <a:r>
              <a:rPr kumimoji="1" lang="en-US" altLang="zh-CN" sz="3200" b="1">
                <a:latin typeface="Times New Roman" pitchFamily="18" charset="0"/>
              </a:rPr>
              <a:t>E</a:t>
            </a:r>
            <a:r>
              <a:rPr kumimoji="1" lang="en-US" altLang="zh-CN" sz="3200" b="1">
                <a:latin typeface="Times New Roman" pitchFamily="18" charset="0"/>
                <a:sym typeface="Symbol" pitchFamily="18" charset="2"/>
              </a:rPr>
              <a:t>E+E </a:t>
            </a:r>
          </a:p>
          <a:p>
            <a:pPr eaLnBrk="1" fontAlgn="ctr" hangingPunct="1">
              <a:lnSpc>
                <a:spcPct val="90000"/>
              </a:lnSpc>
            </a:pPr>
            <a:r>
              <a:rPr kumimoji="1" lang="en-US" altLang="zh-CN" sz="3200" b="1">
                <a:latin typeface="Times New Roman" pitchFamily="18" charset="0"/>
                <a:sym typeface="Symbol" pitchFamily="18" charset="2"/>
              </a:rPr>
              <a:t>a</a:t>
            </a:r>
            <a:r>
              <a:rPr kumimoji="1" lang="en-US" altLang="zh-CN" sz="3200" b="1" baseline="-25000">
                <a:latin typeface="Times New Roman" pitchFamily="18" charset="0"/>
                <a:sym typeface="Symbol" pitchFamily="18" charset="2"/>
              </a:rPr>
              <a:t>1</a:t>
            </a:r>
            <a:r>
              <a:rPr kumimoji="1" lang="en-US" altLang="zh-CN" sz="3200" b="1">
                <a:latin typeface="Times New Roman" pitchFamily="18" charset="0"/>
                <a:sym typeface="Symbol" pitchFamily="18" charset="2"/>
              </a:rPr>
              <a:t>+E</a:t>
            </a:r>
          </a:p>
          <a:p>
            <a:pPr eaLnBrk="1" fontAlgn="ctr" hangingPunct="1">
              <a:lnSpc>
                <a:spcPct val="90000"/>
              </a:lnSpc>
            </a:pPr>
            <a:r>
              <a:rPr kumimoji="1" lang="en-US" altLang="zh-CN" sz="3200" b="1">
                <a:latin typeface="Times New Roman" pitchFamily="18" charset="0"/>
                <a:sym typeface="Symbol" pitchFamily="18" charset="2"/>
              </a:rPr>
              <a:t>a</a:t>
            </a:r>
            <a:r>
              <a:rPr kumimoji="1" lang="en-US" altLang="zh-CN" sz="3200" b="1" baseline="-25000">
                <a:latin typeface="Times New Roman" pitchFamily="18" charset="0"/>
                <a:sym typeface="Symbol" pitchFamily="18" charset="2"/>
              </a:rPr>
              <a:t>1</a:t>
            </a:r>
            <a:r>
              <a:rPr kumimoji="1" lang="en-US" altLang="zh-CN" sz="3200" b="1">
                <a:latin typeface="Times New Roman" pitchFamily="18" charset="0"/>
                <a:sym typeface="Symbol" pitchFamily="18" charset="2"/>
              </a:rPr>
              <a:t>+E*E</a:t>
            </a:r>
          </a:p>
          <a:p>
            <a:pPr eaLnBrk="1" fontAlgn="ctr" hangingPunct="1">
              <a:lnSpc>
                <a:spcPct val="90000"/>
              </a:lnSpc>
            </a:pPr>
            <a:r>
              <a:rPr kumimoji="1" lang="en-US" altLang="zh-CN" sz="3200" b="1">
                <a:latin typeface="Times New Roman" pitchFamily="18" charset="0"/>
                <a:sym typeface="Symbol" pitchFamily="18" charset="2"/>
              </a:rPr>
              <a:t>a</a:t>
            </a:r>
            <a:r>
              <a:rPr kumimoji="1" lang="en-US" altLang="zh-CN" sz="3200" b="1" baseline="-25000">
                <a:latin typeface="Times New Roman" pitchFamily="18" charset="0"/>
                <a:sym typeface="Symbol" pitchFamily="18" charset="2"/>
              </a:rPr>
              <a:t>1</a:t>
            </a:r>
            <a:r>
              <a:rPr kumimoji="1" lang="en-US" altLang="zh-CN" sz="3200" b="1">
                <a:latin typeface="Times New Roman" pitchFamily="18" charset="0"/>
                <a:sym typeface="Symbol" pitchFamily="18" charset="2"/>
              </a:rPr>
              <a:t>+a</a:t>
            </a:r>
            <a:r>
              <a:rPr kumimoji="1" lang="en-US" altLang="zh-CN" sz="3200" b="1" baseline="-25000">
                <a:latin typeface="Times New Roman" pitchFamily="18" charset="0"/>
                <a:sym typeface="Symbol" pitchFamily="18" charset="2"/>
              </a:rPr>
              <a:t>2</a:t>
            </a:r>
            <a:r>
              <a:rPr kumimoji="1" lang="en-US" altLang="zh-CN" sz="3200" b="1">
                <a:latin typeface="Times New Roman" pitchFamily="18" charset="0"/>
                <a:sym typeface="Symbol" pitchFamily="18" charset="2"/>
              </a:rPr>
              <a:t>*E</a:t>
            </a:r>
          </a:p>
          <a:p>
            <a:pPr eaLnBrk="1" fontAlgn="ctr" hangingPunct="1">
              <a:lnSpc>
                <a:spcPct val="90000"/>
              </a:lnSpc>
            </a:pPr>
            <a:r>
              <a:rPr kumimoji="1" lang="en-US" altLang="zh-CN" sz="3200" b="1">
                <a:latin typeface="Times New Roman" pitchFamily="18" charset="0"/>
                <a:sym typeface="Symbol" pitchFamily="18" charset="2"/>
              </a:rPr>
              <a:t>a</a:t>
            </a:r>
            <a:r>
              <a:rPr kumimoji="1" lang="en-US" altLang="zh-CN" sz="3200" b="1" baseline="-25000">
                <a:latin typeface="Times New Roman" pitchFamily="18" charset="0"/>
                <a:sym typeface="Symbol" pitchFamily="18" charset="2"/>
              </a:rPr>
              <a:t>1</a:t>
            </a:r>
            <a:r>
              <a:rPr kumimoji="1" lang="en-US" altLang="zh-CN" sz="3200" b="1">
                <a:latin typeface="Times New Roman" pitchFamily="18" charset="0"/>
                <a:sym typeface="Symbol" pitchFamily="18" charset="2"/>
              </a:rPr>
              <a:t>+a</a:t>
            </a:r>
            <a:r>
              <a:rPr kumimoji="1" lang="en-US" altLang="zh-CN" sz="3200" b="1" baseline="-25000">
                <a:latin typeface="Times New Roman" pitchFamily="18" charset="0"/>
                <a:sym typeface="Symbol" pitchFamily="18" charset="2"/>
              </a:rPr>
              <a:t>2</a:t>
            </a:r>
            <a:r>
              <a:rPr kumimoji="1" lang="en-US" altLang="zh-CN" sz="3200" b="1">
                <a:latin typeface="Times New Roman" pitchFamily="18" charset="0"/>
                <a:sym typeface="Symbol" pitchFamily="18" charset="2"/>
              </a:rPr>
              <a:t>*a</a:t>
            </a:r>
            <a:r>
              <a:rPr kumimoji="1" lang="en-US" altLang="zh-CN" sz="3200" b="1" baseline="-25000">
                <a:latin typeface="Times New Roman" pitchFamily="18" charset="0"/>
                <a:sym typeface="Symbol" pitchFamily="18" charset="2"/>
              </a:rPr>
              <a:t>3</a:t>
            </a:r>
          </a:p>
        </p:txBody>
      </p:sp>
      <p:sp>
        <p:nvSpPr>
          <p:cNvPr id="459781" name="Text Box 5"/>
          <p:cNvSpPr txBox="1">
            <a:spLocks noChangeArrowheads="1"/>
          </p:cNvSpPr>
          <p:nvPr/>
        </p:nvSpPr>
        <p:spPr bwMode="auto">
          <a:xfrm>
            <a:off x="6659563" y="4076700"/>
            <a:ext cx="2089150" cy="22923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90000"/>
              </a:lnSpc>
            </a:pPr>
            <a:r>
              <a:rPr kumimoji="1" lang="zh-CN" altLang="en-US" sz="3200" b="1">
                <a:latin typeface="Times New Roman" pitchFamily="18" charset="0"/>
              </a:rPr>
              <a:t> </a:t>
            </a:r>
            <a:r>
              <a:rPr kumimoji="1" lang="en-US" altLang="zh-CN" sz="3200" b="1">
                <a:latin typeface="Times New Roman" pitchFamily="18" charset="0"/>
              </a:rPr>
              <a:t>E</a:t>
            </a:r>
            <a:r>
              <a:rPr kumimoji="1" lang="en-US" altLang="zh-CN" sz="3200" b="1">
                <a:latin typeface="Times New Roman" pitchFamily="18" charset="0"/>
                <a:sym typeface="Symbol" pitchFamily="18" charset="2"/>
              </a:rPr>
              <a:t>E+E</a:t>
            </a:r>
          </a:p>
          <a:p>
            <a:pPr eaLnBrk="1" fontAlgn="ctr" hangingPunct="1">
              <a:lnSpc>
                <a:spcPct val="90000"/>
              </a:lnSpc>
            </a:pPr>
            <a:r>
              <a:rPr kumimoji="1" lang="en-US" altLang="zh-CN" sz="3200" b="1">
                <a:latin typeface="Times New Roman" pitchFamily="18" charset="0"/>
                <a:sym typeface="Symbol" pitchFamily="18" charset="2"/>
              </a:rPr>
              <a:t>E+E*E</a:t>
            </a:r>
          </a:p>
          <a:p>
            <a:pPr eaLnBrk="1" fontAlgn="ctr" hangingPunct="1">
              <a:lnSpc>
                <a:spcPct val="90000"/>
              </a:lnSpc>
            </a:pPr>
            <a:r>
              <a:rPr kumimoji="1" lang="en-US" altLang="zh-CN" sz="3200" b="1">
                <a:latin typeface="Times New Roman" pitchFamily="18" charset="0"/>
                <a:sym typeface="Symbol" pitchFamily="18" charset="2"/>
              </a:rPr>
              <a:t>E+E*a</a:t>
            </a:r>
            <a:r>
              <a:rPr kumimoji="1" lang="en-US" altLang="zh-CN" sz="3200" b="1" baseline="-25000">
                <a:latin typeface="Times New Roman" pitchFamily="18" charset="0"/>
                <a:sym typeface="Symbol" pitchFamily="18" charset="2"/>
              </a:rPr>
              <a:t>3</a:t>
            </a:r>
            <a:endParaRPr kumimoji="1" lang="en-US" altLang="zh-CN" sz="3200" b="1">
              <a:latin typeface="Times New Roman" pitchFamily="18" charset="0"/>
              <a:sym typeface="Symbol" pitchFamily="18" charset="2"/>
            </a:endParaRPr>
          </a:p>
          <a:p>
            <a:pPr eaLnBrk="1" fontAlgn="ctr" hangingPunct="1">
              <a:lnSpc>
                <a:spcPct val="90000"/>
              </a:lnSpc>
            </a:pPr>
            <a:r>
              <a:rPr kumimoji="1" lang="en-US" altLang="zh-CN" sz="3200" b="1">
                <a:latin typeface="Times New Roman" pitchFamily="18" charset="0"/>
                <a:sym typeface="Symbol" pitchFamily="18" charset="2"/>
              </a:rPr>
              <a:t>E+a</a:t>
            </a:r>
            <a:r>
              <a:rPr kumimoji="1" lang="en-US" altLang="zh-CN" sz="3200" b="1" baseline="-25000">
                <a:latin typeface="Times New Roman" pitchFamily="18" charset="0"/>
                <a:sym typeface="Symbol" pitchFamily="18" charset="2"/>
              </a:rPr>
              <a:t>2</a:t>
            </a:r>
            <a:r>
              <a:rPr kumimoji="1" lang="en-US" altLang="zh-CN" sz="3200" b="1">
                <a:latin typeface="Times New Roman" pitchFamily="18" charset="0"/>
                <a:sym typeface="Symbol" pitchFamily="18" charset="2"/>
              </a:rPr>
              <a:t>*a</a:t>
            </a:r>
            <a:r>
              <a:rPr kumimoji="1" lang="en-US" altLang="zh-CN" sz="3200" b="1" baseline="-25000">
                <a:latin typeface="Times New Roman" pitchFamily="18" charset="0"/>
                <a:sym typeface="Symbol" pitchFamily="18" charset="2"/>
              </a:rPr>
              <a:t>3</a:t>
            </a:r>
            <a:endParaRPr kumimoji="1" lang="en-US" altLang="zh-CN" sz="3200" b="1">
              <a:latin typeface="Times New Roman" pitchFamily="18" charset="0"/>
              <a:sym typeface="Symbol" pitchFamily="18" charset="2"/>
            </a:endParaRPr>
          </a:p>
          <a:p>
            <a:pPr eaLnBrk="1" fontAlgn="ctr" hangingPunct="1">
              <a:lnSpc>
                <a:spcPct val="90000"/>
              </a:lnSpc>
            </a:pPr>
            <a:r>
              <a:rPr kumimoji="1" lang="en-US" altLang="zh-CN" sz="3200" b="1">
                <a:latin typeface="Times New Roman" pitchFamily="18" charset="0"/>
                <a:sym typeface="Symbol" pitchFamily="18" charset="2"/>
              </a:rPr>
              <a:t>a</a:t>
            </a:r>
            <a:r>
              <a:rPr kumimoji="1" lang="en-US" altLang="zh-CN" sz="3200" b="1" baseline="-25000">
                <a:latin typeface="Times New Roman" pitchFamily="18" charset="0"/>
                <a:sym typeface="Symbol" pitchFamily="18" charset="2"/>
              </a:rPr>
              <a:t>1</a:t>
            </a:r>
            <a:r>
              <a:rPr kumimoji="1" lang="en-US" altLang="zh-CN" sz="3200" b="1">
                <a:latin typeface="Times New Roman" pitchFamily="18" charset="0"/>
                <a:sym typeface="Symbol" pitchFamily="18" charset="2"/>
              </a:rPr>
              <a:t>+a</a:t>
            </a:r>
            <a:r>
              <a:rPr kumimoji="1" lang="en-US" altLang="zh-CN" sz="3200" b="1" baseline="-25000">
                <a:latin typeface="Times New Roman" pitchFamily="18" charset="0"/>
                <a:sym typeface="Symbol" pitchFamily="18" charset="2"/>
              </a:rPr>
              <a:t>2</a:t>
            </a:r>
            <a:r>
              <a:rPr kumimoji="1" lang="en-US" altLang="zh-CN" sz="3200" b="1">
                <a:latin typeface="Times New Roman" pitchFamily="18" charset="0"/>
                <a:sym typeface="Symbol" pitchFamily="18" charset="2"/>
              </a:rPr>
              <a:t>*a</a:t>
            </a:r>
            <a:r>
              <a:rPr kumimoji="1" lang="en-US" altLang="zh-CN" sz="3200" b="1" baseline="-25000">
                <a:latin typeface="Times New Roman" pitchFamily="18" charset="0"/>
                <a:sym typeface="Symbol" pitchFamily="18" charset="2"/>
              </a:rPr>
              <a:t>3</a:t>
            </a:r>
          </a:p>
        </p:txBody>
      </p:sp>
      <p:sp>
        <p:nvSpPr>
          <p:cNvPr id="459782" name="Rectangle 6"/>
          <p:cNvSpPr>
            <a:spLocks noChangeArrowheads="1"/>
          </p:cNvSpPr>
          <p:nvPr/>
        </p:nvSpPr>
        <p:spPr bwMode="auto">
          <a:xfrm>
            <a:off x="179388" y="3933825"/>
            <a:ext cx="6480175" cy="1582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</a:pPr>
            <a:r>
              <a:rPr lang="zh-CN" altLang="en-US" sz="2800" b="1">
                <a:solidFill>
                  <a:schemeClr val="hlink"/>
                </a:solidFill>
                <a:latin typeface="Times New Roman" pitchFamily="18" charset="0"/>
                <a:ea typeface="华文新魏" pitchFamily="2" charset="-122"/>
              </a:rPr>
              <a:t>最右</a:t>
            </a:r>
            <a:r>
              <a:rPr lang="en-US" altLang="zh-CN" sz="2800" b="1">
                <a:solidFill>
                  <a:schemeClr val="hlink"/>
                </a:solidFill>
                <a:latin typeface="Times New Roman" pitchFamily="18" charset="0"/>
                <a:ea typeface="华文新魏" pitchFamily="2" charset="-122"/>
              </a:rPr>
              <a:t>(Right-most)</a:t>
            </a:r>
            <a:r>
              <a:rPr lang="zh-CN" altLang="en-US" sz="2800" b="1">
                <a:solidFill>
                  <a:schemeClr val="hlink"/>
                </a:solidFill>
                <a:latin typeface="Times New Roman" pitchFamily="18" charset="0"/>
                <a:ea typeface="华文新魏" pitchFamily="2" charset="-122"/>
              </a:rPr>
              <a:t>推导</a:t>
            </a:r>
            <a:r>
              <a:rPr lang="zh-CN" altLang="en-US" sz="2800" b="1">
                <a:latin typeface="Times New Roman" pitchFamily="18" charset="0"/>
                <a:ea typeface="华文新魏" pitchFamily="2" charset="-122"/>
              </a:rPr>
              <a:t>——最右分析</a:t>
            </a:r>
          </a:p>
          <a:p>
            <a:pPr marL="742950" lvl="1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</a:pPr>
            <a:r>
              <a:rPr lang="zh-CN" altLang="en-US" sz="2800" b="1">
                <a:latin typeface="Times New Roman" pitchFamily="18" charset="0"/>
                <a:ea typeface="华文新魏" pitchFamily="2" charset="-122"/>
              </a:rPr>
              <a:t>规范推导、规范句型</a:t>
            </a:r>
            <a:r>
              <a:rPr lang="en-US" altLang="zh-CN" sz="2800" b="1">
                <a:latin typeface="Times New Roman" pitchFamily="18" charset="0"/>
                <a:ea typeface="华文新魏" pitchFamily="2" charset="-122"/>
              </a:rPr>
              <a:t>(</a:t>
            </a:r>
            <a:r>
              <a:rPr lang="zh-CN" altLang="en-US" sz="2800" b="1">
                <a:latin typeface="Times New Roman" pitchFamily="18" charset="0"/>
                <a:ea typeface="华文新魏" pitchFamily="2" charset="-122"/>
              </a:rPr>
              <a:t>右句型</a:t>
            </a:r>
            <a:r>
              <a:rPr lang="en-US" altLang="zh-CN" sz="2800" b="1">
                <a:latin typeface="Times New Roman" pitchFamily="18" charset="0"/>
                <a:ea typeface="华文新魏" pitchFamily="2" charset="-122"/>
              </a:rPr>
              <a:t>)</a:t>
            </a:r>
          </a:p>
          <a:p>
            <a:pPr marL="742950" lvl="1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</a:pPr>
            <a:r>
              <a:rPr lang="zh-CN" altLang="en-US" sz="2800" b="1">
                <a:latin typeface="Times New Roman" pitchFamily="18" charset="0"/>
                <a:ea typeface="华文新魏" pitchFamily="2" charset="-122"/>
              </a:rPr>
              <a:t>最右推导对应最左归约</a:t>
            </a:r>
            <a:r>
              <a:rPr lang="en-US" altLang="zh-CN" sz="2800" b="1">
                <a:latin typeface="Times New Roman" pitchFamily="18" charset="0"/>
                <a:ea typeface="华文新魏" pitchFamily="2" charset="-122"/>
              </a:rPr>
              <a:t>(</a:t>
            </a:r>
            <a:r>
              <a:rPr lang="zh-CN" altLang="en-US" sz="2800" b="1">
                <a:latin typeface="Times New Roman" pitchFamily="18" charset="0"/>
                <a:ea typeface="华文新魏" pitchFamily="2" charset="-122"/>
              </a:rPr>
              <a:t>规范归约</a:t>
            </a:r>
            <a:r>
              <a:rPr lang="en-US" altLang="zh-CN" sz="2800" b="1">
                <a:latin typeface="Times New Roman" pitchFamily="18" charset="0"/>
                <a:ea typeface="华文新魏" pitchFamily="2" charset="-122"/>
              </a:rPr>
              <a:t>)</a:t>
            </a:r>
            <a:endParaRPr lang="en-US" altLang="zh-CN" sz="2400" b="1">
              <a:latin typeface="Times New Roman" pitchFamily="18" charset="0"/>
              <a:ea typeface="华文新魏" pitchFamily="2" charset="-122"/>
            </a:endParaRPr>
          </a:p>
        </p:txBody>
      </p:sp>
      <p:sp>
        <p:nvSpPr>
          <p:cNvPr id="459783" name="Rectangle 7"/>
          <p:cNvSpPr>
            <a:spLocks noChangeArrowheads="1"/>
          </p:cNvSpPr>
          <p:nvPr/>
        </p:nvSpPr>
        <p:spPr bwMode="auto">
          <a:xfrm>
            <a:off x="250825" y="5516563"/>
            <a:ext cx="6769100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</a:pPr>
            <a:r>
              <a:rPr lang="zh-CN" altLang="en-US" sz="2800" b="1">
                <a:solidFill>
                  <a:schemeClr val="hlink"/>
                </a:solidFill>
                <a:latin typeface="Times New Roman" pitchFamily="18" charset="0"/>
                <a:ea typeface="华文新魏" pitchFamily="2" charset="-122"/>
              </a:rPr>
              <a:t>二义性</a:t>
            </a:r>
            <a:r>
              <a:rPr lang="en-US" altLang="zh-CN" sz="2800" b="1">
                <a:latin typeface="Times New Roman" pitchFamily="18" charset="0"/>
                <a:ea typeface="华文新魏" pitchFamily="2" charset="-122"/>
              </a:rPr>
              <a:t>(</a:t>
            </a:r>
            <a:r>
              <a:rPr lang="zh-CN" altLang="en-US" sz="2800" b="1">
                <a:latin typeface="Times New Roman" pitchFamily="18" charset="0"/>
                <a:ea typeface="华文新魏" pitchFamily="2" charset="-122"/>
              </a:rPr>
              <a:t>先天二义性语言、二义性文法</a:t>
            </a:r>
            <a:r>
              <a:rPr lang="en-US" altLang="zh-CN" sz="2800" b="1">
                <a:latin typeface="Times New Roman" pitchFamily="18" charset="0"/>
                <a:ea typeface="华文新魏" pitchFamily="2" charset="-122"/>
              </a:rPr>
              <a:t>)</a:t>
            </a:r>
          </a:p>
        </p:txBody>
      </p:sp>
      <p:sp>
        <p:nvSpPr>
          <p:cNvPr id="459784" name="Rectangle 8"/>
          <p:cNvSpPr>
            <a:spLocks noChangeArrowheads="1"/>
          </p:cNvSpPr>
          <p:nvPr/>
        </p:nvSpPr>
        <p:spPr bwMode="auto">
          <a:xfrm>
            <a:off x="4822825" y="836613"/>
            <a:ext cx="4213225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altLang="zh-CN" sz="3200" b="1">
                <a:latin typeface="Times New Roman" pitchFamily="18" charset="0"/>
              </a:rPr>
              <a:t>E→E+E | E*E | (E) | id</a:t>
            </a:r>
            <a:endParaRPr lang="zh-CN" altLang="en-US" sz="3200" b="1">
              <a:latin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02" name="Rectangle 2"/>
          <p:cNvSpPr>
            <a:spLocks noGrp="1" noChangeArrowheads="1"/>
          </p:cNvSpPr>
          <p:nvPr>
            <p:ph type="title"/>
          </p:nvPr>
        </p:nvSpPr>
        <p:spPr>
          <a:xfrm>
            <a:off x="1042988" y="260350"/>
            <a:ext cx="6621462" cy="1289050"/>
          </a:xfrm>
        </p:spPr>
        <p:txBody>
          <a:bodyPr/>
          <a:lstStyle/>
          <a:p>
            <a:pPr eaLnBrk="1" hangingPunct="1"/>
            <a:r>
              <a:rPr lang="zh-CN" altLang="en-US" sz="4800" b="1" smtClean="0">
                <a:solidFill>
                  <a:srgbClr val="000099"/>
                </a:solidFill>
                <a:latin typeface="Times New Roman" pitchFamily="18" charset="0"/>
                <a:ea typeface="华文新魏" pitchFamily="2" charset="-122"/>
              </a:rPr>
              <a:t>三、重要问题</a:t>
            </a:r>
            <a:r>
              <a:rPr lang="zh-CN" altLang="en-US" sz="3600" b="1" smtClean="0">
                <a:solidFill>
                  <a:srgbClr val="000099"/>
                </a:solidFill>
                <a:latin typeface="Times New Roman" pitchFamily="18" charset="0"/>
                <a:ea typeface="华文新魏" pitchFamily="2" charset="-122"/>
              </a:rPr>
              <a:t>——虚假匹配</a:t>
            </a:r>
          </a:p>
        </p:txBody>
      </p:sp>
      <p:sp>
        <p:nvSpPr>
          <p:cNvPr id="460803" name="Rectangle 3"/>
          <p:cNvSpPr>
            <a:spLocks noGrp="1" noChangeArrowheads="1"/>
          </p:cNvSpPr>
          <p:nvPr>
            <p:ph idx="1"/>
          </p:nvPr>
        </p:nvSpPr>
        <p:spPr>
          <a:xfrm>
            <a:off x="3027363" y="2636838"/>
            <a:ext cx="2913062" cy="769937"/>
          </a:xfrm>
        </p:spPr>
        <p:txBody>
          <a:bodyPr/>
          <a:lstStyle/>
          <a:p>
            <a:pPr marL="0" indent="0" eaLnBrk="1" hangingPunct="1">
              <a:buFont typeface="Wingdings" pitchFamily="2" charset="2"/>
              <a:buNone/>
            </a:pPr>
            <a:r>
              <a:rPr lang="zh-CN" altLang="en-US" sz="3600" b="1" smtClean="0">
                <a:solidFill>
                  <a:srgbClr val="993366"/>
                </a:solidFill>
                <a:latin typeface="Times New Roman" pitchFamily="18" charset="0"/>
                <a:ea typeface="华文新魏" pitchFamily="2" charset="-122"/>
                <a:sym typeface="Symbol" pitchFamily="18" charset="2"/>
              </a:rPr>
              <a:t></a:t>
            </a:r>
            <a:r>
              <a:rPr lang="en-US" altLang="zh-CN" sz="3600" b="1" smtClean="0">
                <a:solidFill>
                  <a:srgbClr val="993366"/>
                </a:solidFill>
                <a:latin typeface="Times New Roman" pitchFamily="18" charset="0"/>
                <a:ea typeface="华文新魏" pitchFamily="2" charset="-122"/>
                <a:sym typeface="Symbol" pitchFamily="18" charset="2"/>
              </a:rPr>
              <a:t>x*y</a:t>
            </a:r>
            <a:endParaRPr lang="en-US" altLang="zh-CN" b="1" smtClean="0">
              <a:solidFill>
                <a:srgbClr val="993366"/>
              </a:solidFill>
              <a:latin typeface="Times New Roman" pitchFamily="18" charset="0"/>
              <a:ea typeface="华文新魏" pitchFamily="2" charset="-122"/>
              <a:sym typeface="Symbol" pitchFamily="18" charset="2"/>
            </a:endParaRPr>
          </a:p>
        </p:txBody>
      </p:sp>
      <p:sp>
        <p:nvSpPr>
          <p:cNvPr id="16388" name="日期占位符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7D2495C2-D3EA-4575-8665-0FD615E23A6D}" type="datetime1">
              <a:rPr lang="zh-CN" altLang="en-US" smtClean="0"/>
              <a:pPr eaLnBrk="1" hangingPunct="1"/>
              <a:t>2017/2/24</a:t>
            </a:fld>
            <a:endParaRPr lang="en-US" altLang="zh-CN" smtClean="0"/>
          </a:p>
        </p:txBody>
      </p:sp>
      <p:sp>
        <p:nvSpPr>
          <p:cNvPr id="16389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68BFD6CE-0892-4F52-936D-7ED2183B2A76}" type="slidenum">
              <a:rPr lang="zh-CN" altLang="en-US" smtClean="0"/>
              <a:pPr eaLnBrk="1" hangingPunct="1"/>
              <a:t>12</a:t>
            </a:fld>
            <a:endParaRPr lang="en-US" altLang="zh-CN" smtClean="0"/>
          </a:p>
        </p:txBody>
      </p:sp>
      <p:sp>
        <p:nvSpPr>
          <p:cNvPr id="460804" name="Text Box 4"/>
          <p:cNvSpPr txBox="1">
            <a:spLocks noChangeArrowheads="1"/>
          </p:cNvSpPr>
          <p:nvPr/>
        </p:nvSpPr>
        <p:spPr bwMode="auto">
          <a:xfrm>
            <a:off x="6781800" y="1905000"/>
            <a:ext cx="609600" cy="561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lnSpc>
                <a:spcPct val="110000"/>
              </a:lnSpc>
              <a:spcBef>
                <a:spcPct val="50000"/>
              </a:spcBef>
              <a:buClr>
                <a:schemeClr val="folHlink"/>
              </a:buClr>
              <a:buSzPct val="75000"/>
              <a:buFont typeface="Monotype Sorts" pitchFamily="2" charset="2"/>
              <a:buNone/>
            </a:pPr>
            <a:r>
              <a:rPr kumimoji="1" lang="en-US" altLang="zh-CN" sz="28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S</a:t>
            </a:r>
          </a:p>
        </p:txBody>
      </p:sp>
      <p:grpSp>
        <p:nvGrpSpPr>
          <p:cNvPr id="2" name="Group 5"/>
          <p:cNvGrpSpPr>
            <a:grpSpLocks/>
          </p:cNvGrpSpPr>
          <p:nvPr/>
        </p:nvGrpSpPr>
        <p:grpSpPr bwMode="auto">
          <a:xfrm>
            <a:off x="5791200" y="2362200"/>
            <a:ext cx="2590800" cy="790575"/>
            <a:chOff x="2880" y="3120"/>
            <a:chExt cx="1632" cy="498"/>
          </a:xfrm>
        </p:grpSpPr>
        <p:sp>
          <p:nvSpPr>
            <p:cNvPr id="16425" name="Line 6"/>
            <p:cNvSpPr>
              <a:spLocks noChangeShapeType="1"/>
            </p:cNvSpPr>
            <p:nvPr/>
          </p:nvSpPr>
          <p:spPr bwMode="auto">
            <a:xfrm flipH="1">
              <a:off x="3072" y="3120"/>
              <a:ext cx="480" cy="24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2075" tIns="46038" rIns="92075" bIns="46038"/>
            <a:lstStyle/>
            <a:p>
              <a:endParaRPr lang="zh-CN" altLang="en-US"/>
            </a:p>
          </p:txBody>
        </p:sp>
        <p:sp>
          <p:nvSpPr>
            <p:cNvPr id="460807" name="Text Box 7"/>
            <p:cNvSpPr txBox="1">
              <a:spLocks noChangeArrowheads="1"/>
            </p:cNvSpPr>
            <p:nvPr/>
          </p:nvSpPr>
          <p:spPr bwMode="auto">
            <a:xfrm>
              <a:off x="2880" y="3168"/>
              <a:ext cx="336" cy="3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lIns="92075" tIns="46038" rIns="92075" bIns="46038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>
                <a:lnSpc>
                  <a:spcPct val="110000"/>
                </a:lnSpc>
                <a:spcBef>
                  <a:spcPct val="50000"/>
                </a:spcBef>
                <a:buClr>
                  <a:schemeClr val="folHlink"/>
                </a:buClr>
                <a:buSzPct val="75000"/>
                <a:buFont typeface="Monotype Sorts" pitchFamily="2" charset="2"/>
                <a:buNone/>
              </a:pPr>
              <a:r>
                <a:rPr kumimoji="1" lang="en-US" altLang="zh-CN" sz="28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</a:rPr>
                <a:t>x</a:t>
              </a:r>
            </a:p>
          </p:txBody>
        </p:sp>
        <p:sp>
          <p:nvSpPr>
            <p:cNvPr id="16427" name="Line 8"/>
            <p:cNvSpPr>
              <a:spLocks noChangeShapeType="1"/>
            </p:cNvSpPr>
            <p:nvPr/>
          </p:nvSpPr>
          <p:spPr bwMode="auto">
            <a:xfrm flipH="1">
              <a:off x="3648" y="3120"/>
              <a:ext cx="0" cy="28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2075" tIns="46038" rIns="92075" bIns="46038"/>
            <a:lstStyle/>
            <a:p>
              <a:endParaRPr lang="zh-CN" altLang="en-US"/>
            </a:p>
          </p:txBody>
        </p:sp>
        <p:sp>
          <p:nvSpPr>
            <p:cNvPr id="460809" name="Text Box 9"/>
            <p:cNvSpPr txBox="1">
              <a:spLocks noChangeArrowheads="1"/>
            </p:cNvSpPr>
            <p:nvPr/>
          </p:nvSpPr>
          <p:spPr bwMode="auto">
            <a:xfrm>
              <a:off x="3552" y="3264"/>
              <a:ext cx="336" cy="3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lIns="92075" tIns="46038" rIns="92075" bIns="46038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>
                <a:lnSpc>
                  <a:spcPct val="110000"/>
                </a:lnSpc>
                <a:spcBef>
                  <a:spcPct val="50000"/>
                </a:spcBef>
                <a:buClr>
                  <a:schemeClr val="folHlink"/>
                </a:buClr>
                <a:buSzPct val="75000"/>
                <a:buFont typeface="Monotype Sorts" pitchFamily="2" charset="2"/>
                <a:buNone/>
              </a:pPr>
              <a:r>
                <a:rPr kumimoji="1" lang="en-US" altLang="zh-CN" sz="28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</a:rPr>
                <a:t>A</a:t>
              </a:r>
            </a:p>
          </p:txBody>
        </p:sp>
        <p:sp>
          <p:nvSpPr>
            <p:cNvPr id="16429" name="Line 10"/>
            <p:cNvSpPr>
              <a:spLocks noChangeShapeType="1"/>
            </p:cNvSpPr>
            <p:nvPr/>
          </p:nvSpPr>
          <p:spPr bwMode="auto">
            <a:xfrm>
              <a:off x="3696" y="3120"/>
              <a:ext cx="528" cy="19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2075" tIns="46038" rIns="92075" bIns="46038"/>
            <a:lstStyle/>
            <a:p>
              <a:endParaRPr lang="zh-CN" altLang="en-US"/>
            </a:p>
          </p:txBody>
        </p:sp>
        <p:sp>
          <p:nvSpPr>
            <p:cNvPr id="460811" name="Text Box 11"/>
            <p:cNvSpPr txBox="1">
              <a:spLocks noChangeArrowheads="1"/>
            </p:cNvSpPr>
            <p:nvPr/>
          </p:nvSpPr>
          <p:spPr bwMode="auto">
            <a:xfrm>
              <a:off x="4176" y="3120"/>
              <a:ext cx="336" cy="3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lIns="92075" tIns="46038" rIns="92075" bIns="46038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>
                <a:lnSpc>
                  <a:spcPct val="110000"/>
                </a:lnSpc>
                <a:spcBef>
                  <a:spcPct val="50000"/>
                </a:spcBef>
                <a:buClr>
                  <a:schemeClr val="folHlink"/>
                </a:buClr>
                <a:buSzPct val="75000"/>
                <a:buFont typeface="Monotype Sorts" pitchFamily="2" charset="2"/>
                <a:buNone/>
              </a:pPr>
              <a:r>
                <a:rPr kumimoji="1" lang="en-US" altLang="zh-CN" sz="28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</a:rPr>
                <a:t>y</a:t>
              </a:r>
            </a:p>
          </p:txBody>
        </p:sp>
      </p:grpSp>
      <p:grpSp>
        <p:nvGrpSpPr>
          <p:cNvPr id="3" name="Group 12"/>
          <p:cNvGrpSpPr>
            <a:grpSpLocks/>
          </p:cNvGrpSpPr>
          <p:nvPr/>
        </p:nvGrpSpPr>
        <p:grpSpPr bwMode="auto">
          <a:xfrm rot="-80559">
            <a:off x="6781800" y="3019425"/>
            <a:ext cx="609600" cy="866775"/>
            <a:chOff x="3504" y="3552"/>
            <a:chExt cx="384" cy="546"/>
          </a:xfrm>
        </p:grpSpPr>
        <p:sp>
          <p:nvSpPr>
            <p:cNvPr id="16423" name="Line 13"/>
            <p:cNvSpPr>
              <a:spLocks noChangeShapeType="1"/>
            </p:cNvSpPr>
            <p:nvPr/>
          </p:nvSpPr>
          <p:spPr bwMode="auto">
            <a:xfrm flipH="1">
              <a:off x="3648" y="3552"/>
              <a:ext cx="0" cy="33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2075" tIns="46038" rIns="92075" bIns="46038"/>
            <a:lstStyle/>
            <a:p>
              <a:endParaRPr lang="zh-CN" altLang="en-US"/>
            </a:p>
          </p:txBody>
        </p:sp>
        <p:sp>
          <p:nvSpPr>
            <p:cNvPr id="460814" name="Text Box 14"/>
            <p:cNvSpPr txBox="1">
              <a:spLocks noChangeArrowheads="1"/>
            </p:cNvSpPr>
            <p:nvPr/>
          </p:nvSpPr>
          <p:spPr bwMode="auto">
            <a:xfrm>
              <a:off x="3504" y="3742"/>
              <a:ext cx="384" cy="3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lIns="92075" tIns="46038" rIns="92075" bIns="46038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>
                <a:lnSpc>
                  <a:spcPct val="110000"/>
                </a:lnSpc>
                <a:spcBef>
                  <a:spcPct val="50000"/>
                </a:spcBef>
                <a:buClr>
                  <a:schemeClr val="folHlink"/>
                </a:buClr>
                <a:buSzPct val="75000"/>
                <a:buFont typeface="Monotype Sorts" pitchFamily="2" charset="2"/>
                <a:buNone/>
              </a:pPr>
              <a:r>
                <a:rPr kumimoji="1" lang="zh-CN" altLang="en-US" sz="28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</a:rPr>
                <a:t>*</a:t>
              </a:r>
            </a:p>
          </p:txBody>
        </p:sp>
      </p:grpSp>
      <p:sp>
        <p:nvSpPr>
          <p:cNvPr id="460815" name="Text Box 15"/>
          <p:cNvSpPr txBox="1">
            <a:spLocks noChangeArrowheads="1"/>
          </p:cNvSpPr>
          <p:nvPr/>
        </p:nvSpPr>
        <p:spPr bwMode="auto">
          <a:xfrm>
            <a:off x="6781800" y="4419600"/>
            <a:ext cx="609600" cy="561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lnSpc>
                <a:spcPct val="110000"/>
              </a:lnSpc>
              <a:spcBef>
                <a:spcPct val="50000"/>
              </a:spcBef>
              <a:buClr>
                <a:schemeClr val="folHlink"/>
              </a:buClr>
              <a:buSzPct val="75000"/>
              <a:buFont typeface="Monotype Sorts" pitchFamily="2" charset="2"/>
              <a:buNone/>
            </a:pPr>
            <a:r>
              <a:rPr kumimoji="1" lang="en-US" altLang="zh-CN" sz="28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S</a:t>
            </a:r>
          </a:p>
        </p:txBody>
      </p:sp>
      <p:grpSp>
        <p:nvGrpSpPr>
          <p:cNvPr id="4" name="Group 16"/>
          <p:cNvGrpSpPr>
            <a:grpSpLocks/>
          </p:cNvGrpSpPr>
          <p:nvPr/>
        </p:nvGrpSpPr>
        <p:grpSpPr bwMode="auto">
          <a:xfrm>
            <a:off x="5791200" y="4876800"/>
            <a:ext cx="2590800" cy="790575"/>
            <a:chOff x="2880" y="3120"/>
            <a:chExt cx="1632" cy="498"/>
          </a:xfrm>
        </p:grpSpPr>
        <p:sp>
          <p:nvSpPr>
            <p:cNvPr id="16417" name="Line 17"/>
            <p:cNvSpPr>
              <a:spLocks noChangeShapeType="1"/>
            </p:cNvSpPr>
            <p:nvPr/>
          </p:nvSpPr>
          <p:spPr bwMode="auto">
            <a:xfrm flipH="1">
              <a:off x="3072" y="3120"/>
              <a:ext cx="480" cy="24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2075" tIns="46038" rIns="92075" bIns="46038"/>
            <a:lstStyle/>
            <a:p>
              <a:endParaRPr lang="zh-CN" altLang="en-US"/>
            </a:p>
          </p:txBody>
        </p:sp>
        <p:sp>
          <p:nvSpPr>
            <p:cNvPr id="460818" name="Text Box 18"/>
            <p:cNvSpPr txBox="1">
              <a:spLocks noChangeArrowheads="1"/>
            </p:cNvSpPr>
            <p:nvPr/>
          </p:nvSpPr>
          <p:spPr bwMode="auto">
            <a:xfrm>
              <a:off x="2880" y="3168"/>
              <a:ext cx="336" cy="3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lIns="92075" tIns="46038" rIns="92075" bIns="46038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>
                <a:lnSpc>
                  <a:spcPct val="110000"/>
                </a:lnSpc>
                <a:spcBef>
                  <a:spcPct val="50000"/>
                </a:spcBef>
                <a:buClr>
                  <a:schemeClr val="folHlink"/>
                </a:buClr>
                <a:buSzPct val="75000"/>
                <a:buFont typeface="Monotype Sorts" pitchFamily="2" charset="2"/>
                <a:buNone/>
              </a:pPr>
              <a:r>
                <a:rPr kumimoji="1" lang="en-US" altLang="zh-CN" sz="28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</a:rPr>
                <a:t>x</a:t>
              </a:r>
            </a:p>
          </p:txBody>
        </p:sp>
        <p:sp>
          <p:nvSpPr>
            <p:cNvPr id="16419" name="Line 19"/>
            <p:cNvSpPr>
              <a:spLocks noChangeShapeType="1"/>
            </p:cNvSpPr>
            <p:nvPr/>
          </p:nvSpPr>
          <p:spPr bwMode="auto">
            <a:xfrm flipH="1">
              <a:off x="3648" y="3120"/>
              <a:ext cx="0" cy="28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2075" tIns="46038" rIns="92075" bIns="46038"/>
            <a:lstStyle/>
            <a:p>
              <a:endParaRPr lang="zh-CN" altLang="en-US"/>
            </a:p>
          </p:txBody>
        </p:sp>
        <p:sp>
          <p:nvSpPr>
            <p:cNvPr id="460820" name="Text Box 20"/>
            <p:cNvSpPr txBox="1">
              <a:spLocks noChangeArrowheads="1"/>
            </p:cNvSpPr>
            <p:nvPr/>
          </p:nvSpPr>
          <p:spPr bwMode="auto">
            <a:xfrm>
              <a:off x="3552" y="3264"/>
              <a:ext cx="336" cy="3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lIns="92075" tIns="46038" rIns="92075" bIns="46038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>
                <a:lnSpc>
                  <a:spcPct val="110000"/>
                </a:lnSpc>
                <a:spcBef>
                  <a:spcPct val="50000"/>
                </a:spcBef>
                <a:buClr>
                  <a:schemeClr val="folHlink"/>
                </a:buClr>
                <a:buSzPct val="75000"/>
                <a:buFont typeface="Monotype Sorts" pitchFamily="2" charset="2"/>
                <a:buNone/>
              </a:pPr>
              <a:r>
                <a:rPr kumimoji="1" lang="en-US" altLang="zh-CN" sz="28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</a:rPr>
                <a:t>A</a:t>
              </a:r>
            </a:p>
          </p:txBody>
        </p:sp>
        <p:sp>
          <p:nvSpPr>
            <p:cNvPr id="16421" name="Line 21"/>
            <p:cNvSpPr>
              <a:spLocks noChangeShapeType="1"/>
            </p:cNvSpPr>
            <p:nvPr/>
          </p:nvSpPr>
          <p:spPr bwMode="auto">
            <a:xfrm>
              <a:off x="3696" y="3120"/>
              <a:ext cx="528" cy="19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2075" tIns="46038" rIns="92075" bIns="46038"/>
            <a:lstStyle/>
            <a:p>
              <a:endParaRPr lang="zh-CN" altLang="en-US"/>
            </a:p>
          </p:txBody>
        </p:sp>
        <p:sp>
          <p:nvSpPr>
            <p:cNvPr id="460822" name="Text Box 22"/>
            <p:cNvSpPr txBox="1">
              <a:spLocks noChangeArrowheads="1"/>
            </p:cNvSpPr>
            <p:nvPr/>
          </p:nvSpPr>
          <p:spPr bwMode="auto">
            <a:xfrm>
              <a:off x="4176" y="3120"/>
              <a:ext cx="336" cy="3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lIns="92075" tIns="46038" rIns="92075" bIns="46038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>
                <a:lnSpc>
                  <a:spcPct val="110000"/>
                </a:lnSpc>
                <a:spcBef>
                  <a:spcPct val="50000"/>
                </a:spcBef>
                <a:buClr>
                  <a:schemeClr val="folHlink"/>
                </a:buClr>
                <a:buSzPct val="75000"/>
                <a:buFont typeface="Monotype Sorts" pitchFamily="2" charset="2"/>
                <a:buNone/>
              </a:pPr>
              <a:r>
                <a:rPr kumimoji="1" lang="en-US" altLang="zh-CN" sz="28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</a:rPr>
                <a:t>y</a:t>
              </a:r>
            </a:p>
          </p:txBody>
        </p:sp>
      </p:grpSp>
      <p:grpSp>
        <p:nvGrpSpPr>
          <p:cNvPr id="5" name="Group 23"/>
          <p:cNvGrpSpPr>
            <a:grpSpLocks/>
          </p:cNvGrpSpPr>
          <p:nvPr/>
        </p:nvGrpSpPr>
        <p:grpSpPr bwMode="auto">
          <a:xfrm>
            <a:off x="6248400" y="5486400"/>
            <a:ext cx="1600200" cy="762000"/>
            <a:chOff x="3696" y="3456"/>
            <a:chExt cx="1008" cy="480"/>
          </a:xfrm>
        </p:grpSpPr>
        <p:grpSp>
          <p:nvGrpSpPr>
            <p:cNvPr id="16411" name="Group 24"/>
            <p:cNvGrpSpPr>
              <a:grpSpLocks/>
            </p:cNvGrpSpPr>
            <p:nvPr/>
          </p:nvGrpSpPr>
          <p:grpSpPr bwMode="auto">
            <a:xfrm rot="2860287">
              <a:off x="3777" y="3471"/>
              <a:ext cx="384" cy="546"/>
              <a:chOff x="3504" y="3552"/>
              <a:chExt cx="384" cy="546"/>
            </a:xfrm>
          </p:grpSpPr>
          <p:sp>
            <p:nvSpPr>
              <p:cNvPr id="16415" name="Line 25"/>
              <p:cNvSpPr>
                <a:spLocks noChangeShapeType="1"/>
              </p:cNvSpPr>
              <p:nvPr/>
            </p:nvSpPr>
            <p:spPr bwMode="auto">
              <a:xfrm flipH="1">
                <a:off x="3648" y="3552"/>
                <a:ext cx="0" cy="33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92075" tIns="46038" rIns="92075" bIns="46038"/>
              <a:lstStyle/>
              <a:p>
                <a:endParaRPr lang="zh-CN" altLang="en-US"/>
              </a:p>
            </p:txBody>
          </p:sp>
          <p:sp>
            <p:nvSpPr>
              <p:cNvPr id="460826" name="Text Box 26"/>
              <p:cNvSpPr txBox="1">
                <a:spLocks noChangeArrowheads="1"/>
              </p:cNvSpPr>
              <p:nvPr/>
            </p:nvSpPr>
            <p:spPr bwMode="auto">
              <a:xfrm>
                <a:off x="3504" y="3744"/>
                <a:ext cx="384" cy="35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lIns="92075" tIns="46038" rIns="92075" bIns="46038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9pPr>
              </a:lstStyle>
              <a:p>
                <a:pPr>
                  <a:lnSpc>
                    <a:spcPct val="110000"/>
                  </a:lnSpc>
                  <a:spcBef>
                    <a:spcPct val="50000"/>
                  </a:spcBef>
                  <a:buClr>
                    <a:schemeClr val="folHlink"/>
                  </a:buClr>
                  <a:buSzPct val="75000"/>
                  <a:buFont typeface="Monotype Sorts" pitchFamily="2" charset="2"/>
                  <a:buNone/>
                </a:pPr>
                <a:r>
                  <a:rPr kumimoji="1" lang="zh-CN" altLang="en-US" sz="2800" b="1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itchFamily="18" charset="0"/>
                  </a:rPr>
                  <a:t>*</a:t>
                </a:r>
              </a:p>
            </p:txBody>
          </p:sp>
        </p:grpSp>
        <p:grpSp>
          <p:nvGrpSpPr>
            <p:cNvPr id="16412" name="Group 27"/>
            <p:cNvGrpSpPr>
              <a:grpSpLocks/>
            </p:cNvGrpSpPr>
            <p:nvPr/>
          </p:nvGrpSpPr>
          <p:grpSpPr bwMode="auto">
            <a:xfrm rot="-2913464">
              <a:off x="4239" y="3375"/>
              <a:ext cx="384" cy="546"/>
              <a:chOff x="3504" y="3552"/>
              <a:chExt cx="384" cy="546"/>
            </a:xfrm>
          </p:grpSpPr>
          <p:sp>
            <p:nvSpPr>
              <p:cNvPr id="16413" name="Line 28"/>
              <p:cNvSpPr>
                <a:spLocks noChangeShapeType="1"/>
              </p:cNvSpPr>
              <p:nvPr/>
            </p:nvSpPr>
            <p:spPr bwMode="auto">
              <a:xfrm flipH="1">
                <a:off x="3648" y="3552"/>
                <a:ext cx="0" cy="33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92075" tIns="46038" rIns="92075" bIns="46038"/>
              <a:lstStyle/>
              <a:p>
                <a:endParaRPr lang="zh-CN" altLang="en-US"/>
              </a:p>
            </p:txBody>
          </p:sp>
          <p:sp>
            <p:nvSpPr>
              <p:cNvPr id="460829" name="Text Box 29"/>
              <p:cNvSpPr txBox="1">
                <a:spLocks noChangeArrowheads="1"/>
              </p:cNvSpPr>
              <p:nvPr/>
            </p:nvSpPr>
            <p:spPr bwMode="auto">
              <a:xfrm>
                <a:off x="3505" y="3742"/>
                <a:ext cx="384" cy="35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lIns="92075" tIns="46038" rIns="92075" bIns="46038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9pPr>
              </a:lstStyle>
              <a:p>
                <a:pPr>
                  <a:lnSpc>
                    <a:spcPct val="110000"/>
                  </a:lnSpc>
                  <a:spcBef>
                    <a:spcPct val="50000"/>
                  </a:spcBef>
                  <a:buClr>
                    <a:schemeClr val="folHlink"/>
                  </a:buClr>
                  <a:buSzPct val="75000"/>
                  <a:buFont typeface="Monotype Sorts" pitchFamily="2" charset="2"/>
                  <a:buNone/>
                </a:pPr>
                <a:r>
                  <a:rPr kumimoji="1" lang="zh-CN" altLang="en-US" sz="2800" b="1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itchFamily="18" charset="0"/>
                  </a:rPr>
                  <a:t>*</a:t>
                </a:r>
              </a:p>
            </p:txBody>
          </p:sp>
        </p:grpSp>
      </p:grpSp>
      <p:sp>
        <p:nvSpPr>
          <p:cNvPr id="460830" name="Rectangle 30"/>
          <p:cNvSpPr>
            <a:spLocks noChangeArrowheads="1"/>
          </p:cNvSpPr>
          <p:nvPr/>
        </p:nvSpPr>
        <p:spPr bwMode="auto">
          <a:xfrm>
            <a:off x="3200400" y="4267200"/>
            <a:ext cx="762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/>
          <a:lstStyle/>
          <a:p>
            <a:pPr marL="342900" indent="-342900" eaLnBrk="0" hangingPunct="0"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8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S </a:t>
            </a:r>
            <a:endParaRPr kumimoji="1" lang="en-US" altLang="zh-CN" sz="2800" b="1">
              <a:effectLst>
                <a:outerShdw blurRad="38100" dist="38100" dir="2700000" algn="tl">
                  <a:srgbClr val="C0C0C0"/>
                </a:outerShdw>
              </a:effectLst>
              <a:latin typeface="Times New Roman" pitchFamily="18" charset="0"/>
              <a:sym typeface="Symbol" pitchFamily="18" charset="2"/>
            </a:endParaRPr>
          </a:p>
        </p:txBody>
      </p:sp>
      <p:sp>
        <p:nvSpPr>
          <p:cNvPr id="460831" name="Rectangle 31"/>
          <p:cNvSpPr>
            <a:spLocks noChangeArrowheads="1"/>
          </p:cNvSpPr>
          <p:nvPr/>
        </p:nvSpPr>
        <p:spPr bwMode="auto">
          <a:xfrm>
            <a:off x="179388" y="3597275"/>
            <a:ext cx="2667000" cy="1195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eaLnBrk="0" hangingPunct="0">
              <a:lnSpc>
                <a:spcPct val="110000"/>
              </a:lnSpc>
              <a:spcBef>
                <a:spcPct val="20000"/>
              </a:spcBef>
              <a:buClr>
                <a:schemeClr val="folHlink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800" b="1">
                <a:latin typeface="Times New Roman" pitchFamily="18" charset="0"/>
              </a:rPr>
              <a:t>S→xAy A→**|*</a:t>
            </a:r>
          </a:p>
          <a:p>
            <a:pPr eaLnBrk="0" hangingPunct="0">
              <a:lnSpc>
                <a:spcPct val="110000"/>
              </a:lnSpc>
              <a:spcBef>
                <a:spcPct val="20000"/>
              </a:spcBef>
              <a:buClr>
                <a:schemeClr val="folHlink"/>
              </a:buClr>
              <a:buSzPct val="75000"/>
              <a:buFont typeface="Monotype Sorts" pitchFamily="2" charset="2"/>
              <a:buNone/>
              <a:defRPr/>
            </a:pPr>
            <a:r>
              <a:rPr kumimoji="1" lang="zh-CN" altLang="en-US" sz="28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输入串</a:t>
            </a:r>
            <a:r>
              <a:rPr kumimoji="1" lang="en-US" altLang="zh-CN" sz="32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x * * y</a:t>
            </a:r>
            <a:endParaRPr kumimoji="1" lang="en-US" altLang="zh-CN" sz="3200" b="1">
              <a:latin typeface="Times New Roman" pitchFamily="18" charset="0"/>
            </a:endParaRPr>
          </a:p>
        </p:txBody>
      </p:sp>
      <p:sp>
        <p:nvSpPr>
          <p:cNvPr id="460832" name="Rectangle 32"/>
          <p:cNvSpPr>
            <a:spLocks noChangeArrowheads="1"/>
          </p:cNvSpPr>
          <p:nvPr/>
        </p:nvSpPr>
        <p:spPr bwMode="auto">
          <a:xfrm>
            <a:off x="3116263" y="1703388"/>
            <a:ext cx="409575" cy="57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None/>
            </a:pPr>
            <a:r>
              <a:rPr kumimoji="1" lang="en-US" altLang="zh-CN" sz="32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S</a:t>
            </a:r>
          </a:p>
        </p:txBody>
      </p:sp>
      <p:sp>
        <p:nvSpPr>
          <p:cNvPr id="460833" name="Rectangle 33"/>
          <p:cNvSpPr>
            <a:spLocks noChangeArrowheads="1"/>
          </p:cNvSpPr>
          <p:nvPr/>
        </p:nvSpPr>
        <p:spPr bwMode="auto">
          <a:xfrm>
            <a:off x="3057525" y="2209800"/>
            <a:ext cx="1285875" cy="628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eaLnBrk="0" hangingPunct="0">
              <a:lnSpc>
                <a:spcPct val="110000"/>
              </a:lnSpc>
              <a:spcBef>
                <a:spcPct val="20000"/>
              </a:spcBef>
              <a:buClr>
                <a:schemeClr val="folHlink"/>
              </a:buClr>
              <a:buSzPct val="75000"/>
              <a:buFont typeface="Monotype Sorts" pitchFamily="2" charset="2"/>
              <a:buNone/>
              <a:defRPr/>
            </a:pPr>
            <a:r>
              <a:rPr kumimoji="1" lang="zh-CN" altLang="en-US" sz="32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sym typeface="Symbol" pitchFamily="18" charset="2"/>
              </a:rPr>
              <a:t></a:t>
            </a:r>
            <a:r>
              <a:rPr kumimoji="1" lang="en-US" altLang="zh-CN" sz="32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sym typeface="Symbol" pitchFamily="18" charset="2"/>
              </a:rPr>
              <a:t>xAy</a:t>
            </a:r>
          </a:p>
        </p:txBody>
      </p:sp>
      <p:sp>
        <p:nvSpPr>
          <p:cNvPr id="460834" name="Rectangle 34"/>
          <p:cNvSpPr>
            <a:spLocks noChangeArrowheads="1"/>
          </p:cNvSpPr>
          <p:nvPr/>
        </p:nvSpPr>
        <p:spPr bwMode="auto">
          <a:xfrm>
            <a:off x="3200400" y="5334000"/>
            <a:ext cx="20574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>
            <a:spAutoFit/>
          </a:bodyPr>
          <a:lstStyle/>
          <a:p>
            <a:pPr eaLnBrk="0" hangingPunct="0"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zh-CN" altLang="en-US" sz="28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sym typeface="Symbol" pitchFamily="18" charset="2"/>
              </a:rPr>
              <a:t></a:t>
            </a:r>
            <a:r>
              <a:rPr kumimoji="1" lang="en-US" altLang="zh-CN" sz="28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sym typeface="Symbol" pitchFamily="18" charset="2"/>
              </a:rPr>
              <a:t>x**y</a:t>
            </a:r>
            <a:endParaRPr kumimoji="1" lang="zh-CN" altLang="en-US" sz="2400" b="1">
              <a:effectLst>
                <a:outerShdw blurRad="38100" dist="38100" dir="2700000" algn="tl">
                  <a:srgbClr val="C0C0C0"/>
                </a:outerShdw>
              </a:effectLst>
              <a:latin typeface="Times New Roman" pitchFamily="18" charset="0"/>
              <a:ea typeface="华文新魏" pitchFamily="2" charset="-122"/>
              <a:sym typeface="Symbol" pitchFamily="18" charset="2"/>
            </a:endParaRPr>
          </a:p>
        </p:txBody>
      </p:sp>
      <p:sp>
        <p:nvSpPr>
          <p:cNvPr id="460835" name="Rectangle 35"/>
          <p:cNvSpPr>
            <a:spLocks noChangeArrowheads="1"/>
          </p:cNvSpPr>
          <p:nvPr/>
        </p:nvSpPr>
        <p:spPr bwMode="auto">
          <a:xfrm>
            <a:off x="3195638" y="4724400"/>
            <a:ext cx="1147762" cy="561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eaLnBrk="0" hangingPunct="0">
              <a:lnSpc>
                <a:spcPct val="110000"/>
              </a:lnSpc>
              <a:spcBef>
                <a:spcPct val="20000"/>
              </a:spcBef>
              <a:buClr>
                <a:schemeClr val="folHlink"/>
              </a:buClr>
              <a:buSzPct val="75000"/>
              <a:buFont typeface="Monotype Sorts" pitchFamily="2" charset="2"/>
              <a:buNone/>
              <a:defRPr/>
            </a:pPr>
            <a:r>
              <a:rPr kumimoji="1" lang="zh-CN" altLang="en-US" sz="28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sym typeface="Symbol" pitchFamily="18" charset="2"/>
              </a:rPr>
              <a:t></a:t>
            </a:r>
            <a:r>
              <a:rPr kumimoji="1" lang="en-US" altLang="zh-CN" sz="28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sym typeface="Symbol" pitchFamily="18" charset="2"/>
              </a:rPr>
              <a:t>xAy</a:t>
            </a:r>
          </a:p>
        </p:txBody>
      </p:sp>
      <p:sp>
        <p:nvSpPr>
          <p:cNvPr id="460842" name="Line 42"/>
          <p:cNvSpPr>
            <a:spLocks noChangeShapeType="1"/>
          </p:cNvSpPr>
          <p:nvPr/>
        </p:nvSpPr>
        <p:spPr bwMode="auto">
          <a:xfrm flipH="1" flipV="1">
            <a:off x="2051050" y="4797425"/>
            <a:ext cx="0" cy="7207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2075" tIns="46038" rIns="92075" bIns="46038"/>
          <a:lstStyle/>
          <a:p>
            <a:endParaRPr lang="zh-CN" altLang="en-US"/>
          </a:p>
        </p:txBody>
      </p:sp>
      <p:sp>
        <p:nvSpPr>
          <p:cNvPr id="460843" name="Line 43"/>
          <p:cNvSpPr>
            <a:spLocks noChangeShapeType="1"/>
          </p:cNvSpPr>
          <p:nvPr/>
        </p:nvSpPr>
        <p:spPr bwMode="auto">
          <a:xfrm flipV="1">
            <a:off x="1763713" y="4797425"/>
            <a:ext cx="0" cy="71913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60844" name="Line 44"/>
          <p:cNvSpPr>
            <a:spLocks noChangeShapeType="1"/>
          </p:cNvSpPr>
          <p:nvPr/>
        </p:nvSpPr>
        <p:spPr bwMode="auto">
          <a:xfrm flipV="1">
            <a:off x="1470025" y="4797425"/>
            <a:ext cx="6350" cy="7207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60845" name="Line 45"/>
          <p:cNvSpPr>
            <a:spLocks noChangeShapeType="1"/>
          </p:cNvSpPr>
          <p:nvPr/>
        </p:nvSpPr>
        <p:spPr bwMode="auto">
          <a:xfrm flipH="1" flipV="1">
            <a:off x="2339975" y="4797425"/>
            <a:ext cx="0" cy="7207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2075" tIns="46038" rIns="92075" bIns="46038"/>
          <a:lstStyle/>
          <a:p>
            <a:endParaRPr lang="zh-CN" altLang="en-US"/>
          </a:p>
        </p:txBody>
      </p:sp>
      <p:sp>
        <p:nvSpPr>
          <p:cNvPr id="460846" name="Rectangle 46"/>
          <p:cNvSpPr>
            <a:spLocks noChangeArrowheads="1"/>
          </p:cNvSpPr>
          <p:nvPr/>
        </p:nvSpPr>
        <p:spPr bwMode="auto">
          <a:xfrm>
            <a:off x="3132138" y="5949950"/>
            <a:ext cx="2057400" cy="4206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>
            <a:spAutoFit/>
          </a:bodyPr>
          <a:lstStyle/>
          <a:p>
            <a:pPr eaLnBrk="0" hangingPunct="0"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zh-CN" altLang="en-US" sz="24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  <a:sym typeface="Symbol" pitchFamily="18" charset="2"/>
              </a:rPr>
              <a:t>匹配成功</a:t>
            </a:r>
          </a:p>
        </p:txBody>
      </p:sp>
      <p:sp>
        <p:nvSpPr>
          <p:cNvPr id="460847" name="Line 47"/>
          <p:cNvSpPr>
            <a:spLocks noChangeShapeType="1"/>
          </p:cNvSpPr>
          <p:nvPr/>
        </p:nvSpPr>
        <p:spPr bwMode="auto">
          <a:xfrm flipH="1" flipV="1">
            <a:off x="2051050" y="4797425"/>
            <a:ext cx="0" cy="7207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2075" tIns="46038" rIns="92075" bIns="46038"/>
          <a:lstStyle/>
          <a:p>
            <a:endParaRPr lang="zh-CN" altLang="en-US"/>
          </a:p>
        </p:txBody>
      </p:sp>
      <p:sp>
        <p:nvSpPr>
          <p:cNvPr id="460848" name="Line 48"/>
          <p:cNvSpPr>
            <a:spLocks noChangeShapeType="1"/>
          </p:cNvSpPr>
          <p:nvPr/>
        </p:nvSpPr>
        <p:spPr bwMode="auto">
          <a:xfrm flipV="1">
            <a:off x="1763713" y="4797425"/>
            <a:ext cx="0" cy="71913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60849" name="Line 49"/>
          <p:cNvSpPr>
            <a:spLocks noChangeShapeType="1"/>
          </p:cNvSpPr>
          <p:nvPr/>
        </p:nvSpPr>
        <p:spPr bwMode="auto">
          <a:xfrm flipV="1">
            <a:off x="1470025" y="4797425"/>
            <a:ext cx="6350" cy="7207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60850" name="Rectangle 50"/>
          <p:cNvSpPr>
            <a:spLocks noChangeArrowheads="1"/>
          </p:cNvSpPr>
          <p:nvPr/>
        </p:nvSpPr>
        <p:spPr bwMode="auto">
          <a:xfrm>
            <a:off x="2916238" y="3213100"/>
            <a:ext cx="2913062" cy="865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8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zh-CN" altLang="en-US" sz="2800" b="1">
                <a:solidFill>
                  <a:srgbClr val="993366"/>
                </a:solidFill>
                <a:latin typeface="Times New Roman" pitchFamily="18" charset="0"/>
                <a:ea typeface="华文新魏" pitchFamily="2" charset="-122"/>
                <a:sym typeface="Symbol" pitchFamily="18" charset="2"/>
              </a:rPr>
              <a:t>发现不匹配,需要回退</a:t>
            </a:r>
            <a:r>
              <a:rPr lang="en-US" altLang="zh-CN" sz="2800" b="1">
                <a:solidFill>
                  <a:srgbClr val="993366"/>
                </a:solidFill>
                <a:latin typeface="Times New Roman" pitchFamily="18" charset="0"/>
                <a:ea typeface="华文新魏" pitchFamily="2" charset="-122"/>
                <a:sym typeface="Symbol" pitchFamily="18" charset="2"/>
              </a:rPr>
              <a:t>(</a:t>
            </a:r>
            <a:r>
              <a:rPr lang="zh-CN" altLang="en-US" sz="2800" b="1">
                <a:solidFill>
                  <a:srgbClr val="993366"/>
                </a:solidFill>
                <a:latin typeface="Times New Roman" pitchFamily="18" charset="0"/>
                <a:ea typeface="华文新魏" pitchFamily="2" charset="-122"/>
                <a:sym typeface="Symbol" pitchFamily="18" charset="2"/>
              </a:rPr>
              <a:t>回溯</a:t>
            </a:r>
            <a:r>
              <a:rPr lang="en-US" altLang="zh-CN" sz="2800" b="1">
                <a:solidFill>
                  <a:srgbClr val="993366"/>
                </a:solidFill>
                <a:latin typeface="Times New Roman" pitchFamily="18" charset="0"/>
                <a:ea typeface="华文新魏" pitchFamily="2" charset="-122"/>
                <a:sym typeface="Symbol" pitchFamily="18" charset="2"/>
              </a:rPr>
              <a:t>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570" name="Rectangle 2"/>
          <p:cNvSpPr>
            <a:spLocks noGrp="1" noChangeArrowheads="1"/>
          </p:cNvSpPr>
          <p:nvPr>
            <p:ph type="title"/>
          </p:nvPr>
        </p:nvSpPr>
        <p:spPr>
          <a:xfrm>
            <a:off x="971550" y="115888"/>
            <a:ext cx="7772400" cy="1143000"/>
          </a:xfrm>
          <a:noFill/>
        </p:spPr>
        <p:txBody>
          <a:bodyPr lIns="92075" tIns="46038" rIns="92075" bIns="46038"/>
          <a:lstStyle/>
          <a:p>
            <a:pPr eaLnBrk="1" hangingPunct="1"/>
            <a:r>
              <a:rPr lang="zh-CN" altLang="en-US" sz="4800" b="1" smtClean="0">
                <a:solidFill>
                  <a:srgbClr val="000099"/>
                </a:solidFill>
                <a:latin typeface="Times New Roman" pitchFamily="18" charset="0"/>
                <a:ea typeface="华文新魏" pitchFamily="2" charset="-122"/>
              </a:rPr>
              <a:t>三、重要问题</a:t>
            </a:r>
            <a:r>
              <a:rPr lang="zh-CN" altLang="en-US" sz="3200" b="1" smtClean="0">
                <a:solidFill>
                  <a:srgbClr val="000099"/>
                </a:solidFill>
                <a:latin typeface="Times New Roman" pitchFamily="18" charset="0"/>
                <a:ea typeface="华文新魏" pitchFamily="2" charset="-122"/>
              </a:rPr>
              <a:t>——二义性及其消除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idx="1"/>
          </p:nvPr>
        </p:nvSpPr>
        <p:spPr>
          <a:xfrm>
            <a:off x="395288" y="1412875"/>
            <a:ext cx="8489950" cy="1047750"/>
          </a:xfrm>
        </p:spPr>
        <p:txBody>
          <a:bodyPr lIns="92075" tIns="46038" rIns="92075" bIns="46038"/>
          <a:lstStyle/>
          <a:p>
            <a:pPr algn="just" eaLnBrk="1" hangingPunct="1"/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E→E+E|E-E|E*E|E/E|(E)|id</a:t>
            </a: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对同一句子存在两棵语法分析树，哪个是对的？</a:t>
            </a:r>
            <a:endParaRPr lang="en-US" altLang="zh-CN" b="1" smtClean="0">
              <a:latin typeface="Times New Roman" pitchFamily="18" charset="0"/>
              <a:ea typeface="华文新魏" pitchFamily="2" charset="-122"/>
            </a:endParaRPr>
          </a:p>
        </p:txBody>
      </p:sp>
      <p:sp>
        <p:nvSpPr>
          <p:cNvPr id="17412" name="日期占位符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DF9E30E5-45AB-4BB7-A551-75A047C2E357}" type="datetime1">
              <a:rPr lang="zh-CN" altLang="en-US" smtClean="0"/>
              <a:pPr eaLnBrk="1" hangingPunct="1"/>
              <a:t>2017/2/24</a:t>
            </a:fld>
            <a:endParaRPr lang="en-US" altLang="zh-CN" smtClean="0"/>
          </a:p>
        </p:txBody>
      </p:sp>
      <p:sp>
        <p:nvSpPr>
          <p:cNvPr id="17413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1A88977B-1202-4C98-A712-C0944EA6D9AF}" type="slidenum">
              <a:rPr lang="zh-CN" altLang="en-US" smtClean="0"/>
              <a:pPr eaLnBrk="1" hangingPunct="1"/>
              <a:t>13</a:t>
            </a:fld>
            <a:endParaRPr lang="en-US" altLang="zh-CN" smtClean="0"/>
          </a:p>
        </p:txBody>
      </p:sp>
      <p:grpSp>
        <p:nvGrpSpPr>
          <p:cNvPr id="17414" name="Group 4"/>
          <p:cNvGrpSpPr>
            <a:grpSpLocks/>
          </p:cNvGrpSpPr>
          <p:nvPr/>
        </p:nvGrpSpPr>
        <p:grpSpPr bwMode="auto">
          <a:xfrm>
            <a:off x="4800600" y="2276475"/>
            <a:ext cx="3810000" cy="3990975"/>
            <a:chOff x="1008" y="1371"/>
            <a:chExt cx="4032" cy="2514"/>
          </a:xfrm>
        </p:grpSpPr>
        <p:grpSp>
          <p:nvGrpSpPr>
            <p:cNvPr id="17437" name="Group 5"/>
            <p:cNvGrpSpPr>
              <a:grpSpLocks/>
            </p:cNvGrpSpPr>
            <p:nvPr/>
          </p:nvGrpSpPr>
          <p:grpSpPr bwMode="auto">
            <a:xfrm>
              <a:off x="1008" y="1371"/>
              <a:ext cx="4032" cy="2514"/>
              <a:chOff x="720" y="1344"/>
              <a:chExt cx="4032" cy="2514"/>
            </a:xfrm>
          </p:grpSpPr>
          <p:sp>
            <p:nvSpPr>
              <p:cNvPr id="365574" name="Text Box 6"/>
              <p:cNvSpPr txBox="1">
                <a:spLocks noChangeArrowheads="1"/>
              </p:cNvSpPr>
              <p:nvPr/>
            </p:nvSpPr>
            <p:spPr bwMode="auto">
              <a:xfrm>
                <a:off x="2976" y="1344"/>
                <a:ext cx="719" cy="35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lIns="92075" tIns="46038" rIns="92075" bIns="46038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9pPr>
              </a:lstStyle>
              <a:p>
                <a:pPr>
                  <a:lnSpc>
                    <a:spcPct val="110000"/>
                  </a:lnSpc>
                  <a:spcBef>
                    <a:spcPct val="50000"/>
                  </a:spcBef>
                  <a:buClr>
                    <a:schemeClr val="folHlink"/>
                  </a:buClr>
                  <a:buSzPct val="75000"/>
                  <a:buFont typeface="Monotype Sorts" pitchFamily="2" charset="2"/>
                  <a:buNone/>
                </a:pPr>
                <a:r>
                  <a:rPr kumimoji="1" lang="en-US" altLang="zh-CN" sz="2800" b="1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itchFamily="18" charset="0"/>
                  </a:rPr>
                  <a:t>E</a:t>
                </a:r>
              </a:p>
            </p:txBody>
          </p:sp>
          <p:sp>
            <p:nvSpPr>
              <p:cNvPr id="365575" name="Text Box 7"/>
              <p:cNvSpPr txBox="1">
                <a:spLocks noChangeArrowheads="1"/>
              </p:cNvSpPr>
              <p:nvPr/>
            </p:nvSpPr>
            <p:spPr bwMode="auto">
              <a:xfrm>
                <a:off x="1824" y="2112"/>
                <a:ext cx="721" cy="35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lIns="92075" tIns="46038" rIns="92075" bIns="46038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9pPr>
              </a:lstStyle>
              <a:p>
                <a:pPr>
                  <a:lnSpc>
                    <a:spcPct val="110000"/>
                  </a:lnSpc>
                  <a:spcBef>
                    <a:spcPct val="50000"/>
                  </a:spcBef>
                  <a:buClr>
                    <a:schemeClr val="folHlink"/>
                  </a:buClr>
                  <a:buSzPct val="75000"/>
                  <a:buFont typeface="Monotype Sorts" pitchFamily="2" charset="2"/>
                  <a:buNone/>
                </a:pPr>
                <a:r>
                  <a:rPr kumimoji="1" lang="en-US" altLang="zh-CN" sz="2800" b="1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itchFamily="18" charset="0"/>
                  </a:rPr>
                  <a:t>E</a:t>
                </a:r>
              </a:p>
            </p:txBody>
          </p:sp>
          <p:sp>
            <p:nvSpPr>
              <p:cNvPr id="365576" name="Text Box 8"/>
              <p:cNvSpPr txBox="1">
                <a:spLocks noChangeArrowheads="1"/>
              </p:cNvSpPr>
              <p:nvPr/>
            </p:nvSpPr>
            <p:spPr bwMode="auto">
              <a:xfrm>
                <a:off x="2976" y="2160"/>
                <a:ext cx="719" cy="35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lIns="92075" tIns="46038" rIns="92075" bIns="46038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9pPr>
              </a:lstStyle>
              <a:p>
                <a:pPr>
                  <a:lnSpc>
                    <a:spcPct val="110000"/>
                  </a:lnSpc>
                  <a:spcBef>
                    <a:spcPct val="50000"/>
                  </a:spcBef>
                  <a:buClr>
                    <a:schemeClr val="folHlink"/>
                  </a:buClr>
                  <a:buSzPct val="75000"/>
                  <a:buFont typeface="Monotype Sorts" pitchFamily="2" charset="2"/>
                  <a:buNone/>
                </a:pPr>
                <a:r>
                  <a:rPr kumimoji="1" lang="zh-CN" altLang="en-US" sz="2800" b="1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itchFamily="18" charset="0"/>
                  </a:rPr>
                  <a:t>*</a:t>
                </a:r>
              </a:p>
            </p:txBody>
          </p:sp>
          <p:sp>
            <p:nvSpPr>
              <p:cNvPr id="365577" name="Text Box 9"/>
              <p:cNvSpPr txBox="1">
                <a:spLocks noChangeArrowheads="1"/>
              </p:cNvSpPr>
              <p:nvPr/>
            </p:nvSpPr>
            <p:spPr bwMode="auto">
              <a:xfrm>
                <a:off x="4031" y="2064"/>
                <a:ext cx="721" cy="35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lIns="92075" tIns="46038" rIns="92075" bIns="46038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9pPr>
              </a:lstStyle>
              <a:p>
                <a:pPr>
                  <a:lnSpc>
                    <a:spcPct val="110000"/>
                  </a:lnSpc>
                  <a:spcBef>
                    <a:spcPct val="50000"/>
                  </a:spcBef>
                  <a:buClr>
                    <a:schemeClr val="folHlink"/>
                  </a:buClr>
                  <a:buSzPct val="75000"/>
                  <a:buFont typeface="Monotype Sorts" pitchFamily="2" charset="2"/>
                  <a:buNone/>
                </a:pPr>
                <a:r>
                  <a:rPr kumimoji="1" lang="en-US" altLang="zh-CN" sz="2800" b="1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itchFamily="18" charset="0"/>
                  </a:rPr>
                  <a:t>E</a:t>
                </a:r>
              </a:p>
            </p:txBody>
          </p:sp>
          <p:sp>
            <p:nvSpPr>
              <p:cNvPr id="365578" name="Text Box 10"/>
              <p:cNvSpPr txBox="1">
                <a:spLocks noChangeArrowheads="1"/>
              </p:cNvSpPr>
              <p:nvPr/>
            </p:nvSpPr>
            <p:spPr bwMode="auto">
              <a:xfrm>
                <a:off x="4031" y="2640"/>
                <a:ext cx="721" cy="35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lIns="92075" tIns="46038" rIns="92075" bIns="46038">
                <a:spAutoFit/>
              </a:bodyPr>
              <a:lstStyle/>
              <a:p>
                <a:pPr eaLnBrk="0" hangingPunct="0">
                  <a:lnSpc>
                    <a:spcPct val="110000"/>
                  </a:lnSpc>
                  <a:spcBef>
                    <a:spcPct val="50000"/>
                  </a:spcBef>
                  <a:buClr>
                    <a:schemeClr val="folHlink"/>
                  </a:buClr>
                  <a:buSzPct val="75000"/>
                  <a:buFont typeface="Monotype Sorts" pitchFamily="2" charset="2"/>
                  <a:buNone/>
                  <a:defRPr/>
                </a:pPr>
                <a:r>
                  <a:rPr kumimoji="1" lang="en-US" altLang="zh-CN" sz="2800" b="1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itchFamily="18" charset="0"/>
                  </a:rPr>
                  <a:t>id</a:t>
                </a:r>
              </a:p>
            </p:txBody>
          </p:sp>
          <p:sp>
            <p:nvSpPr>
              <p:cNvPr id="365579" name="Text Box 11"/>
              <p:cNvSpPr txBox="1">
                <a:spLocks noChangeArrowheads="1"/>
              </p:cNvSpPr>
              <p:nvPr/>
            </p:nvSpPr>
            <p:spPr bwMode="auto">
              <a:xfrm>
                <a:off x="912" y="2766"/>
                <a:ext cx="721" cy="35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lIns="92075" tIns="46038" rIns="92075" bIns="46038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9pPr>
              </a:lstStyle>
              <a:p>
                <a:pPr>
                  <a:lnSpc>
                    <a:spcPct val="110000"/>
                  </a:lnSpc>
                  <a:spcBef>
                    <a:spcPct val="50000"/>
                  </a:spcBef>
                  <a:buClr>
                    <a:schemeClr val="folHlink"/>
                  </a:buClr>
                  <a:buSzPct val="75000"/>
                  <a:buFont typeface="Monotype Sorts" pitchFamily="2" charset="2"/>
                  <a:buNone/>
                </a:pPr>
                <a:r>
                  <a:rPr kumimoji="1" lang="en-US" altLang="zh-CN" sz="2800" b="1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itchFamily="18" charset="0"/>
                  </a:rPr>
                  <a:t>E</a:t>
                </a:r>
              </a:p>
            </p:txBody>
          </p:sp>
          <p:sp>
            <p:nvSpPr>
              <p:cNvPr id="365580" name="Text Box 12"/>
              <p:cNvSpPr txBox="1">
                <a:spLocks noChangeArrowheads="1"/>
              </p:cNvSpPr>
              <p:nvPr/>
            </p:nvSpPr>
            <p:spPr bwMode="auto">
              <a:xfrm>
                <a:off x="2687" y="2784"/>
                <a:ext cx="721" cy="35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lIns="92075" tIns="46038" rIns="92075" bIns="46038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9pPr>
              </a:lstStyle>
              <a:p>
                <a:pPr>
                  <a:lnSpc>
                    <a:spcPct val="110000"/>
                  </a:lnSpc>
                  <a:spcBef>
                    <a:spcPct val="50000"/>
                  </a:spcBef>
                  <a:buClr>
                    <a:schemeClr val="folHlink"/>
                  </a:buClr>
                  <a:buSzPct val="75000"/>
                  <a:buFont typeface="Monotype Sorts" pitchFamily="2" charset="2"/>
                  <a:buNone/>
                </a:pPr>
                <a:r>
                  <a:rPr kumimoji="1" lang="en-US" altLang="zh-CN" sz="2800" b="1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itchFamily="18" charset="0"/>
                  </a:rPr>
                  <a:t>E</a:t>
                </a:r>
              </a:p>
            </p:txBody>
          </p:sp>
          <p:sp>
            <p:nvSpPr>
              <p:cNvPr id="365581" name="Text Box 13"/>
              <p:cNvSpPr txBox="1">
                <a:spLocks noChangeArrowheads="1"/>
              </p:cNvSpPr>
              <p:nvPr/>
            </p:nvSpPr>
            <p:spPr bwMode="auto">
              <a:xfrm>
                <a:off x="1728" y="2832"/>
                <a:ext cx="721" cy="35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lIns="92075" tIns="46038" rIns="92075" bIns="46038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9pPr>
              </a:lstStyle>
              <a:p>
                <a:pPr>
                  <a:lnSpc>
                    <a:spcPct val="110000"/>
                  </a:lnSpc>
                  <a:spcBef>
                    <a:spcPct val="50000"/>
                  </a:spcBef>
                  <a:buClr>
                    <a:schemeClr val="folHlink"/>
                  </a:buClr>
                  <a:buSzPct val="75000"/>
                  <a:buFont typeface="Monotype Sorts" pitchFamily="2" charset="2"/>
                  <a:buNone/>
                </a:pPr>
                <a:r>
                  <a:rPr kumimoji="1" lang="zh-CN" altLang="en-US" sz="2800" b="1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itchFamily="18" charset="0"/>
                  </a:rPr>
                  <a:t>+</a:t>
                </a:r>
              </a:p>
            </p:txBody>
          </p:sp>
          <p:sp>
            <p:nvSpPr>
              <p:cNvPr id="365582" name="Text Box 14"/>
              <p:cNvSpPr txBox="1">
                <a:spLocks noChangeArrowheads="1"/>
              </p:cNvSpPr>
              <p:nvPr/>
            </p:nvSpPr>
            <p:spPr bwMode="auto">
              <a:xfrm>
                <a:off x="2687" y="3504"/>
                <a:ext cx="721" cy="35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lIns="92075" tIns="46038" rIns="92075" bIns="46038">
                <a:spAutoFit/>
              </a:bodyPr>
              <a:lstStyle/>
              <a:p>
                <a:pPr eaLnBrk="0" hangingPunct="0">
                  <a:lnSpc>
                    <a:spcPct val="110000"/>
                  </a:lnSpc>
                  <a:spcBef>
                    <a:spcPct val="50000"/>
                  </a:spcBef>
                  <a:buClr>
                    <a:schemeClr val="folHlink"/>
                  </a:buClr>
                  <a:buSzPct val="75000"/>
                  <a:buFont typeface="Monotype Sorts" pitchFamily="2" charset="2"/>
                  <a:buNone/>
                  <a:defRPr/>
                </a:pPr>
                <a:r>
                  <a:rPr kumimoji="1" lang="en-US" altLang="zh-CN" sz="2800" b="1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itchFamily="18" charset="0"/>
                  </a:rPr>
                  <a:t>id</a:t>
                </a:r>
              </a:p>
            </p:txBody>
          </p:sp>
          <p:sp>
            <p:nvSpPr>
              <p:cNvPr id="365583" name="Text Box 15"/>
              <p:cNvSpPr txBox="1">
                <a:spLocks noChangeArrowheads="1"/>
              </p:cNvSpPr>
              <p:nvPr/>
            </p:nvSpPr>
            <p:spPr bwMode="auto">
              <a:xfrm>
                <a:off x="720" y="3504"/>
                <a:ext cx="721" cy="35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lIns="92075" tIns="46038" rIns="92075" bIns="46038">
                <a:spAutoFit/>
              </a:bodyPr>
              <a:lstStyle/>
              <a:p>
                <a:pPr eaLnBrk="0" hangingPunct="0">
                  <a:lnSpc>
                    <a:spcPct val="110000"/>
                  </a:lnSpc>
                  <a:spcBef>
                    <a:spcPct val="50000"/>
                  </a:spcBef>
                  <a:buClr>
                    <a:schemeClr val="folHlink"/>
                  </a:buClr>
                  <a:buSzPct val="75000"/>
                  <a:buFont typeface="Monotype Sorts" pitchFamily="2" charset="2"/>
                  <a:buNone/>
                  <a:defRPr/>
                </a:pPr>
                <a:r>
                  <a:rPr kumimoji="1" lang="en-US" altLang="zh-CN" sz="2800" b="1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itchFamily="18" charset="0"/>
                  </a:rPr>
                  <a:t>id</a:t>
                </a:r>
              </a:p>
            </p:txBody>
          </p:sp>
        </p:grpSp>
        <p:grpSp>
          <p:nvGrpSpPr>
            <p:cNvPr id="17438" name="Group 16"/>
            <p:cNvGrpSpPr>
              <a:grpSpLocks/>
            </p:cNvGrpSpPr>
            <p:nvPr/>
          </p:nvGrpSpPr>
          <p:grpSpPr bwMode="auto">
            <a:xfrm>
              <a:off x="1296" y="1632"/>
              <a:ext cx="3168" cy="2016"/>
              <a:chOff x="1296" y="1632"/>
              <a:chExt cx="3168" cy="2016"/>
            </a:xfrm>
          </p:grpSpPr>
          <p:sp>
            <p:nvSpPr>
              <p:cNvPr id="17439" name="Line 17"/>
              <p:cNvSpPr>
                <a:spLocks noChangeShapeType="1"/>
              </p:cNvSpPr>
              <p:nvPr/>
            </p:nvSpPr>
            <p:spPr bwMode="auto">
              <a:xfrm flipH="1">
                <a:off x="1296" y="3120"/>
                <a:ext cx="0" cy="48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92075" tIns="46038" rIns="92075" bIns="46038"/>
              <a:lstStyle/>
              <a:p>
                <a:endParaRPr lang="zh-CN" altLang="en-US"/>
              </a:p>
            </p:txBody>
          </p:sp>
          <p:sp>
            <p:nvSpPr>
              <p:cNvPr id="17440" name="Line 18"/>
              <p:cNvSpPr>
                <a:spLocks noChangeShapeType="1"/>
              </p:cNvSpPr>
              <p:nvPr/>
            </p:nvSpPr>
            <p:spPr bwMode="auto">
              <a:xfrm>
                <a:off x="3072" y="3072"/>
                <a:ext cx="0" cy="57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92075" tIns="46038" rIns="92075" bIns="46038"/>
              <a:lstStyle/>
              <a:p>
                <a:endParaRPr lang="zh-CN" altLang="en-US"/>
              </a:p>
            </p:txBody>
          </p:sp>
          <p:sp>
            <p:nvSpPr>
              <p:cNvPr id="17441" name="Line 19"/>
              <p:cNvSpPr>
                <a:spLocks noChangeShapeType="1"/>
              </p:cNvSpPr>
              <p:nvPr/>
            </p:nvSpPr>
            <p:spPr bwMode="auto">
              <a:xfrm flipV="1">
                <a:off x="1296" y="2448"/>
                <a:ext cx="912" cy="43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92075" tIns="46038" rIns="92075" bIns="46038"/>
              <a:lstStyle/>
              <a:p>
                <a:endParaRPr lang="zh-CN" altLang="en-US"/>
              </a:p>
            </p:txBody>
          </p:sp>
          <p:sp>
            <p:nvSpPr>
              <p:cNvPr id="17442" name="Line 20"/>
              <p:cNvSpPr>
                <a:spLocks noChangeShapeType="1"/>
              </p:cNvSpPr>
              <p:nvPr/>
            </p:nvSpPr>
            <p:spPr bwMode="auto">
              <a:xfrm>
                <a:off x="2208" y="2448"/>
                <a:ext cx="0" cy="528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92075" tIns="46038" rIns="92075" bIns="46038"/>
              <a:lstStyle/>
              <a:p>
                <a:endParaRPr lang="zh-CN" altLang="en-US"/>
              </a:p>
            </p:txBody>
          </p:sp>
          <p:sp>
            <p:nvSpPr>
              <p:cNvPr id="17443" name="Line 21"/>
              <p:cNvSpPr>
                <a:spLocks noChangeShapeType="1"/>
              </p:cNvSpPr>
              <p:nvPr/>
            </p:nvSpPr>
            <p:spPr bwMode="auto">
              <a:xfrm>
                <a:off x="2256" y="2448"/>
                <a:ext cx="768" cy="528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92075" tIns="46038" rIns="92075" bIns="46038"/>
              <a:lstStyle/>
              <a:p>
                <a:endParaRPr lang="zh-CN" altLang="en-US"/>
              </a:p>
            </p:txBody>
          </p:sp>
          <p:sp>
            <p:nvSpPr>
              <p:cNvPr id="17444" name="Line 22"/>
              <p:cNvSpPr>
                <a:spLocks noChangeShapeType="1"/>
              </p:cNvSpPr>
              <p:nvPr/>
            </p:nvSpPr>
            <p:spPr bwMode="auto">
              <a:xfrm flipV="1">
                <a:off x="4464" y="2352"/>
                <a:ext cx="0" cy="43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92075" tIns="46038" rIns="92075" bIns="46038"/>
              <a:lstStyle/>
              <a:p>
                <a:endParaRPr lang="zh-CN" altLang="en-US"/>
              </a:p>
            </p:txBody>
          </p:sp>
          <p:sp>
            <p:nvSpPr>
              <p:cNvPr id="17445" name="Line 23"/>
              <p:cNvSpPr>
                <a:spLocks noChangeShapeType="1"/>
              </p:cNvSpPr>
              <p:nvPr/>
            </p:nvSpPr>
            <p:spPr bwMode="auto">
              <a:xfrm flipV="1">
                <a:off x="2256" y="1632"/>
                <a:ext cx="1056" cy="624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92075" tIns="46038" rIns="92075" bIns="46038"/>
              <a:lstStyle/>
              <a:p>
                <a:endParaRPr lang="zh-CN" altLang="en-US"/>
              </a:p>
            </p:txBody>
          </p:sp>
          <p:sp>
            <p:nvSpPr>
              <p:cNvPr id="17446" name="Line 24"/>
              <p:cNvSpPr>
                <a:spLocks noChangeShapeType="1"/>
              </p:cNvSpPr>
              <p:nvPr/>
            </p:nvSpPr>
            <p:spPr bwMode="auto">
              <a:xfrm flipH="1" flipV="1">
                <a:off x="3408" y="1632"/>
                <a:ext cx="960" cy="57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92075" tIns="46038" rIns="92075" bIns="46038"/>
              <a:lstStyle/>
              <a:p>
                <a:endParaRPr lang="zh-CN" altLang="en-US"/>
              </a:p>
            </p:txBody>
          </p:sp>
          <p:sp>
            <p:nvSpPr>
              <p:cNvPr id="17447" name="Line 25"/>
              <p:cNvSpPr>
                <a:spLocks noChangeShapeType="1"/>
              </p:cNvSpPr>
              <p:nvPr/>
            </p:nvSpPr>
            <p:spPr bwMode="auto">
              <a:xfrm flipV="1">
                <a:off x="3360" y="1632"/>
                <a:ext cx="0" cy="67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92075" tIns="46038" rIns="92075" bIns="46038"/>
              <a:lstStyle/>
              <a:p>
                <a:endParaRPr lang="zh-CN" altLang="en-US"/>
              </a:p>
            </p:txBody>
          </p:sp>
        </p:grpSp>
      </p:grpSp>
      <p:grpSp>
        <p:nvGrpSpPr>
          <p:cNvPr id="17415" name="Group 26"/>
          <p:cNvGrpSpPr>
            <a:grpSpLocks/>
          </p:cNvGrpSpPr>
          <p:nvPr/>
        </p:nvGrpSpPr>
        <p:grpSpPr bwMode="auto">
          <a:xfrm>
            <a:off x="457200" y="2352675"/>
            <a:ext cx="3733800" cy="3914775"/>
            <a:chOff x="1296" y="1296"/>
            <a:chExt cx="3840" cy="2466"/>
          </a:xfrm>
        </p:grpSpPr>
        <p:grpSp>
          <p:nvGrpSpPr>
            <p:cNvPr id="17416" name="Group 27"/>
            <p:cNvGrpSpPr>
              <a:grpSpLocks/>
            </p:cNvGrpSpPr>
            <p:nvPr/>
          </p:nvGrpSpPr>
          <p:grpSpPr bwMode="auto">
            <a:xfrm>
              <a:off x="1440" y="1584"/>
              <a:ext cx="3072" cy="1968"/>
              <a:chOff x="1440" y="1584"/>
              <a:chExt cx="3072" cy="1968"/>
            </a:xfrm>
          </p:grpSpPr>
          <p:sp>
            <p:nvSpPr>
              <p:cNvPr id="17428" name="Line 28"/>
              <p:cNvSpPr>
                <a:spLocks noChangeShapeType="1"/>
              </p:cNvSpPr>
              <p:nvPr/>
            </p:nvSpPr>
            <p:spPr bwMode="auto">
              <a:xfrm flipH="1">
                <a:off x="2736" y="3024"/>
                <a:ext cx="0" cy="48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92075" tIns="46038" rIns="92075" bIns="46038"/>
              <a:lstStyle/>
              <a:p>
                <a:endParaRPr lang="zh-CN" altLang="en-US"/>
              </a:p>
            </p:txBody>
          </p:sp>
          <p:sp>
            <p:nvSpPr>
              <p:cNvPr id="17429" name="Line 29"/>
              <p:cNvSpPr>
                <a:spLocks noChangeShapeType="1"/>
              </p:cNvSpPr>
              <p:nvPr/>
            </p:nvSpPr>
            <p:spPr bwMode="auto">
              <a:xfrm>
                <a:off x="4512" y="2976"/>
                <a:ext cx="0" cy="57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92075" tIns="46038" rIns="92075" bIns="46038"/>
              <a:lstStyle/>
              <a:p>
                <a:endParaRPr lang="zh-CN" altLang="en-US"/>
              </a:p>
            </p:txBody>
          </p:sp>
          <p:sp>
            <p:nvSpPr>
              <p:cNvPr id="17430" name="Line 30"/>
              <p:cNvSpPr>
                <a:spLocks noChangeShapeType="1"/>
              </p:cNvSpPr>
              <p:nvPr/>
            </p:nvSpPr>
            <p:spPr bwMode="auto">
              <a:xfrm flipV="1">
                <a:off x="2736" y="2352"/>
                <a:ext cx="912" cy="43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92075" tIns="46038" rIns="92075" bIns="46038"/>
              <a:lstStyle/>
              <a:p>
                <a:endParaRPr lang="zh-CN" altLang="en-US"/>
              </a:p>
            </p:txBody>
          </p:sp>
          <p:sp>
            <p:nvSpPr>
              <p:cNvPr id="17431" name="Line 31"/>
              <p:cNvSpPr>
                <a:spLocks noChangeShapeType="1"/>
              </p:cNvSpPr>
              <p:nvPr/>
            </p:nvSpPr>
            <p:spPr bwMode="auto">
              <a:xfrm>
                <a:off x="3648" y="2352"/>
                <a:ext cx="0" cy="528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92075" tIns="46038" rIns="92075" bIns="46038"/>
              <a:lstStyle/>
              <a:p>
                <a:endParaRPr lang="zh-CN" altLang="en-US"/>
              </a:p>
            </p:txBody>
          </p:sp>
          <p:sp>
            <p:nvSpPr>
              <p:cNvPr id="17432" name="Line 32"/>
              <p:cNvSpPr>
                <a:spLocks noChangeShapeType="1"/>
              </p:cNvSpPr>
              <p:nvPr/>
            </p:nvSpPr>
            <p:spPr bwMode="auto">
              <a:xfrm>
                <a:off x="3696" y="2352"/>
                <a:ext cx="768" cy="528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92075" tIns="46038" rIns="92075" bIns="46038"/>
              <a:lstStyle/>
              <a:p>
                <a:endParaRPr lang="zh-CN" altLang="en-US"/>
              </a:p>
            </p:txBody>
          </p:sp>
          <p:sp>
            <p:nvSpPr>
              <p:cNvPr id="17433" name="Line 33"/>
              <p:cNvSpPr>
                <a:spLocks noChangeShapeType="1"/>
              </p:cNvSpPr>
              <p:nvPr/>
            </p:nvSpPr>
            <p:spPr bwMode="auto">
              <a:xfrm flipV="1">
                <a:off x="1440" y="2352"/>
                <a:ext cx="0" cy="43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92075" tIns="46038" rIns="92075" bIns="46038"/>
              <a:lstStyle/>
              <a:p>
                <a:endParaRPr lang="zh-CN" altLang="en-US"/>
              </a:p>
            </p:txBody>
          </p:sp>
          <p:sp>
            <p:nvSpPr>
              <p:cNvPr id="17434" name="Line 34"/>
              <p:cNvSpPr>
                <a:spLocks noChangeShapeType="1"/>
              </p:cNvSpPr>
              <p:nvPr/>
            </p:nvSpPr>
            <p:spPr bwMode="auto">
              <a:xfrm flipV="1">
                <a:off x="1488" y="1584"/>
                <a:ext cx="1056" cy="624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92075" tIns="46038" rIns="92075" bIns="46038"/>
              <a:lstStyle/>
              <a:p>
                <a:endParaRPr lang="zh-CN" altLang="en-US"/>
              </a:p>
            </p:txBody>
          </p:sp>
          <p:sp>
            <p:nvSpPr>
              <p:cNvPr id="17435" name="Line 35"/>
              <p:cNvSpPr>
                <a:spLocks noChangeShapeType="1"/>
              </p:cNvSpPr>
              <p:nvPr/>
            </p:nvSpPr>
            <p:spPr bwMode="auto">
              <a:xfrm flipH="1" flipV="1">
                <a:off x="2640" y="1584"/>
                <a:ext cx="960" cy="57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92075" tIns="46038" rIns="92075" bIns="46038"/>
              <a:lstStyle/>
              <a:p>
                <a:endParaRPr lang="zh-CN" altLang="en-US"/>
              </a:p>
            </p:txBody>
          </p:sp>
          <p:sp>
            <p:nvSpPr>
              <p:cNvPr id="17436" name="Line 36"/>
              <p:cNvSpPr>
                <a:spLocks noChangeShapeType="1"/>
              </p:cNvSpPr>
              <p:nvPr/>
            </p:nvSpPr>
            <p:spPr bwMode="auto">
              <a:xfrm flipV="1">
                <a:off x="2592" y="1584"/>
                <a:ext cx="0" cy="67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92075" tIns="46038" rIns="92075" bIns="46038"/>
              <a:lstStyle/>
              <a:p>
                <a:endParaRPr lang="zh-CN" altLang="en-US"/>
              </a:p>
            </p:txBody>
          </p:sp>
        </p:grpSp>
        <p:grpSp>
          <p:nvGrpSpPr>
            <p:cNvPr id="17417" name="Group 37"/>
            <p:cNvGrpSpPr>
              <a:grpSpLocks/>
            </p:cNvGrpSpPr>
            <p:nvPr/>
          </p:nvGrpSpPr>
          <p:grpSpPr bwMode="auto">
            <a:xfrm>
              <a:off x="1296" y="1296"/>
              <a:ext cx="3840" cy="2466"/>
              <a:chOff x="1008" y="1296"/>
              <a:chExt cx="3840" cy="2466"/>
            </a:xfrm>
          </p:grpSpPr>
          <p:sp>
            <p:nvSpPr>
              <p:cNvPr id="365606" name="Text Box 38"/>
              <p:cNvSpPr txBox="1">
                <a:spLocks noChangeArrowheads="1"/>
              </p:cNvSpPr>
              <p:nvPr/>
            </p:nvSpPr>
            <p:spPr bwMode="auto">
              <a:xfrm>
                <a:off x="2208" y="1296"/>
                <a:ext cx="720" cy="35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lIns="92075" tIns="46038" rIns="92075" bIns="46038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9pPr>
              </a:lstStyle>
              <a:p>
                <a:pPr>
                  <a:lnSpc>
                    <a:spcPct val="110000"/>
                  </a:lnSpc>
                  <a:spcBef>
                    <a:spcPct val="50000"/>
                  </a:spcBef>
                  <a:buClr>
                    <a:schemeClr val="folHlink"/>
                  </a:buClr>
                  <a:buSzPct val="75000"/>
                  <a:buFont typeface="Monotype Sorts" pitchFamily="2" charset="2"/>
                  <a:buNone/>
                </a:pPr>
                <a:r>
                  <a:rPr kumimoji="1" lang="en-US" altLang="zh-CN" sz="2800" b="1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itchFamily="18" charset="0"/>
                  </a:rPr>
                  <a:t>E</a:t>
                </a:r>
              </a:p>
            </p:txBody>
          </p:sp>
          <p:sp>
            <p:nvSpPr>
              <p:cNvPr id="365607" name="Text Box 39"/>
              <p:cNvSpPr txBox="1">
                <a:spLocks noChangeArrowheads="1"/>
              </p:cNvSpPr>
              <p:nvPr/>
            </p:nvSpPr>
            <p:spPr bwMode="auto">
              <a:xfrm>
                <a:off x="1055" y="2064"/>
                <a:ext cx="720" cy="35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lIns="92075" tIns="46038" rIns="92075" bIns="46038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9pPr>
              </a:lstStyle>
              <a:p>
                <a:pPr>
                  <a:lnSpc>
                    <a:spcPct val="110000"/>
                  </a:lnSpc>
                  <a:spcBef>
                    <a:spcPct val="50000"/>
                  </a:spcBef>
                  <a:buClr>
                    <a:schemeClr val="folHlink"/>
                  </a:buClr>
                  <a:buSzPct val="75000"/>
                  <a:buFont typeface="Monotype Sorts" pitchFamily="2" charset="2"/>
                  <a:buNone/>
                </a:pPr>
                <a:r>
                  <a:rPr kumimoji="1" lang="en-US" altLang="zh-CN" sz="2800" b="1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itchFamily="18" charset="0"/>
                  </a:rPr>
                  <a:t>E</a:t>
                </a:r>
              </a:p>
            </p:txBody>
          </p:sp>
          <p:sp>
            <p:nvSpPr>
              <p:cNvPr id="365608" name="Text Box 40"/>
              <p:cNvSpPr txBox="1">
                <a:spLocks noChangeArrowheads="1"/>
              </p:cNvSpPr>
              <p:nvPr/>
            </p:nvSpPr>
            <p:spPr bwMode="auto">
              <a:xfrm>
                <a:off x="2208" y="2112"/>
                <a:ext cx="720" cy="35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lIns="92075" tIns="46038" rIns="92075" bIns="46038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9pPr>
              </a:lstStyle>
              <a:p>
                <a:pPr>
                  <a:lnSpc>
                    <a:spcPct val="110000"/>
                  </a:lnSpc>
                  <a:spcBef>
                    <a:spcPct val="50000"/>
                  </a:spcBef>
                  <a:buClr>
                    <a:schemeClr val="folHlink"/>
                  </a:buClr>
                  <a:buSzPct val="75000"/>
                  <a:buFont typeface="Monotype Sorts" pitchFamily="2" charset="2"/>
                  <a:buNone/>
                </a:pPr>
                <a:r>
                  <a:rPr kumimoji="1" lang="zh-CN" altLang="en-US" sz="2800" b="1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itchFamily="18" charset="0"/>
                  </a:rPr>
                  <a:t>+</a:t>
                </a:r>
              </a:p>
            </p:txBody>
          </p:sp>
          <p:sp>
            <p:nvSpPr>
              <p:cNvPr id="365609" name="Text Box 41"/>
              <p:cNvSpPr txBox="1">
                <a:spLocks noChangeArrowheads="1"/>
              </p:cNvSpPr>
              <p:nvPr/>
            </p:nvSpPr>
            <p:spPr bwMode="auto">
              <a:xfrm>
                <a:off x="3264" y="2016"/>
                <a:ext cx="720" cy="35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lIns="92075" tIns="46038" rIns="92075" bIns="46038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9pPr>
              </a:lstStyle>
              <a:p>
                <a:pPr>
                  <a:lnSpc>
                    <a:spcPct val="110000"/>
                  </a:lnSpc>
                  <a:spcBef>
                    <a:spcPct val="50000"/>
                  </a:spcBef>
                  <a:buClr>
                    <a:schemeClr val="folHlink"/>
                  </a:buClr>
                  <a:buSzPct val="75000"/>
                  <a:buFont typeface="Monotype Sorts" pitchFamily="2" charset="2"/>
                  <a:buNone/>
                </a:pPr>
                <a:r>
                  <a:rPr kumimoji="1" lang="en-US" altLang="zh-CN" sz="2800" b="1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itchFamily="18" charset="0"/>
                  </a:rPr>
                  <a:t>E</a:t>
                </a:r>
              </a:p>
            </p:txBody>
          </p:sp>
          <p:sp>
            <p:nvSpPr>
              <p:cNvPr id="365610" name="Text Box 42"/>
              <p:cNvSpPr txBox="1">
                <a:spLocks noChangeArrowheads="1"/>
              </p:cNvSpPr>
              <p:nvPr/>
            </p:nvSpPr>
            <p:spPr bwMode="auto">
              <a:xfrm>
                <a:off x="2352" y="2670"/>
                <a:ext cx="720" cy="35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lIns="92075" tIns="46038" rIns="92075" bIns="46038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9pPr>
              </a:lstStyle>
              <a:p>
                <a:pPr>
                  <a:lnSpc>
                    <a:spcPct val="110000"/>
                  </a:lnSpc>
                  <a:spcBef>
                    <a:spcPct val="50000"/>
                  </a:spcBef>
                  <a:buClr>
                    <a:schemeClr val="folHlink"/>
                  </a:buClr>
                  <a:buSzPct val="75000"/>
                  <a:buFont typeface="Monotype Sorts" pitchFamily="2" charset="2"/>
                  <a:buNone/>
                </a:pPr>
                <a:r>
                  <a:rPr kumimoji="1" lang="en-US" altLang="zh-CN" sz="2800" b="1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itchFamily="18" charset="0"/>
                  </a:rPr>
                  <a:t>E</a:t>
                </a:r>
              </a:p>
            </p:txBody>
          </p:sp>
          <p:sp>
            <p:nvSpPr>
              <p:cNvPr id="365611" name="Text Box 43"/>
              <p:cNvSpPr txBox="1">
                <a:spLocks noChangeArrowheads="1"/>
              </p:cNvSpPr>
              <p:nvPr/>
            </p:nvSpPr>
            <p:spPr bwMode="auto">
              <a:xfrm>
                <a:off x="4128" y="2688"/>
                <a:ext cx="720" cy="35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lIns="92075" tIns="46038" rIns="92075" bIns="46038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9pPr>
              </a:lstStyle>
              <a:p>
                <a:pPr>
                  <a:lnSpc>
                    <a:spcPct val="110000"/>
                  </a:lnSpc>
                  <a:spcBef>
                    <a:spcPct val="50000"/>
                  </a:spcBef>
                  <a:buClr>
                    <a:schemeClr val="folHlink"/>
                  </a:buClr>
                  <a:buSzPct val="75000"/>
                  <a:buFont typeface="Monotype Sorts" pitchFamily="2" charset="2"/>
                  <a:buNone/>
                </a:pPr>
                <a:r>
                  <a:rPr kumimoji="1" lang="en-US" altLang="zh-CN" sz="2800" b="1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itchFamily="18" charset="0"/>
                  </a:rPr>
                  <a:t>E</a:t>
                </a:r>
              </a:p>
            </p:txBody>
          </p:sp>
          <p:sp>
            <p:nvSpPr>
              <p:cNvPr id="365612" name="Text Box 44"/>
              <p:cNvSpPr txBox="1">
                <a:spLocks noChangeArrowheads="1"/>
              </p:cNvSpPr>
              <p:nvPr/>
            </p:nvSpPr>
            <p:spPr bwMode="auto">
              <a:xfrm>
                <a:off x="1008" y="2640"/>
                <a:ext cx="720" cy="35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lIns="92075" tIns="46038" rIns="92075" bIns="46038">
                <a:spAutoFit/>
              </a:bodyPr>
              <a:lstStyle/>
              <a:p>
                <a:pPr eaLnBrk="0" hangingPunct="0">
                  <a:lnSpc>
                    <a:spcPct val="110000"/>
                  </a:lnSpc>
                  <a:spcBef>
                    <a:spcPct val="50000"/>
                  </a:spcBef>
                  <a:buClr>
                    <a:schemeClr val="folHlink"/>
                  </a:buClr>
                  <a:buSzPct val="75000"/>
                  <a:buFont typeface="Monotype Sorts" pitchFamily="2" charset="2"/>
                  <a:buNone/>
                  <a:defRPr/>
                </a:pPr>
                <a:r>
                  <a:rPr kumimoji="1" lang="en-US" altLang="zh-CN" sz="2800" b="1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itchFamily="18" charset="0"/>
                  </a:rPr>
                  <a:t>id</a:t>
                </a:r>
              </a:p>
            </p:txBody>
          </p:sp>
          <p:sp>
            <p:nvSpPr>
              <p:cNvPr id="365613" name="Text Box 45"/>
              <p:cNvSpPr txBox="1">
                <a:spLocks noChangeArrowheads="1"/>
              </p:cNvSpPr>
              <p:nvPr/>
            </p:nvSpPr>
            <p:spPr bwMode="auto">
              <a:xfrm>
                <a:off x="3264" y="2736"/>
                <a:ext cx="720" cy="35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lIns="92075" tIns="46038" rIns="92075" bIns="46038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9pPr>
              </a:lstStyle>
              <a:p>
                <a:pPr>
                  <a:lnSpc>
                    <a:spcPct val="110000"/>
                  </a:lnSpc>
                  <a:spcBef>
                    <a:spcPct val="50000"/>
                  </a:spcBef>
                  <a:buClr>
                    <a:schemeClr val="folHlink"/>
                  </a:buClr>
                  <a:buSzPct val="75000"/>
                  <a:buFont typeface="Monotype Sorts" pitchFamily="2" charset="2"/>
                  <a:buNone/>
                </a:pPr>
                <a:r>
                  <a:rPr kumimoji="1" lang="zh-CN" altLang="en-US" sz="2800" b="1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itchFamily="18" charset="0"/>
                  </a:rPr>
                  <a:t>*</a:t>
                </a:r>
              </a:p>
            </p:txBody>
          </p:sp>
          <p:sp>
            <p:nvSpPr>
              <p:cNvPr id="365614" name="Text Box 46"/>
              <p:cNvSpPr txBox="1">
                <a:spLocks noChangeArrowheads="1"/>
              </p:cNvSpPr>
              <p:nvPr/>
            </p:nvSpPr>
            <p:spPr bwMode="auto">
              <a:xfrm>
                <a:off x="4128" y="3408"/>
                <a:ext cx="720" cy="35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lIns="92075" tIns="46038" rIns="92075" bIns="46038">
                <a:spAutoFit/>
              </a:bodyPr>
              <a:lstStyle/>
              <a:p>
                <a:pPr eaLnBrk="0" hangingPunct="0">
                  <a:lnSpc>
                    <a:spcPct val="110000"/>
                  </a:lnSpc>
                  <a:spcBef>
                    <a:spcPct val="50000"/>
                  </a:spcBef>
                  <a:buClr>
                    <a:schemeClr val="folHlink"/>
                  </a:buClr>
                  <a:buSzPct val="75000"/>
                  <a:buFont typeface="Monotype Sorts" pitchFamily="2" charset="2"/>
                  <a:buNone/>
                  <a:defRPr/>
                </a:pPr>
                <a:r>
                  <a:rPr kumimoji="1" lang="en-US" altLang="zh-CN" sz="2800" b="1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itchFamily="18" charset="0"/>
                  </a:rPr>
                  <a:t>id</a:t>
                </a:r>
              </a:p>
            </p:txBody>
          </p:sp>
          <p:sp>
            <p:nvSpPr>
              <p:cNvPr id="365615" name="Text Box 47"/>
              <p:cNvSpPr txBox="1">
                <a:spLocks noChangeArrowheads="1"/>
              </p:cNvSpPr>
              <p:nvPr/>
            </p:nvSpPr>
            <p:spPr bwMode="auto">
              <a:xfrm>
                <a:off x="2161" y="3408"/>
                <a:ext cx="720" cy="35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lIns="92075" tIns="46038" rIns="92075" bIns="46038">
                <a:spAutoFit/>
              </a:bodyPr>
              <a:lstStyle/>
              <a:p>
                <a:pPr eaLnBrk="0" hangingPunct="0">
                  <a:lnSpc>
                    <a:spcPct val="110000"/>
                  </a:lnSpc>
                  <a:spcBef>
                    <a:spcPct val="50000"/>
                  </a:spcBef>
                  <a:buClr>
                    <a:schemeClr val="folHlink"/>
                  </a:buClr>
                  <a:buSzPct val="75000"/>
                  <a:buFont typeface="Monotype Sorts" pitchFamily="2" charset="2"/>
                  <a:buNone/>
                  <a:defRPr/>
                </a:pPr>
                <a:r>
                  <a:rPr kumimoji="1" lang="en-US" altLang="zh-CN" sz="2800" b="1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itchFamily="18" charset="0"/>
                  </a:rPr>
                  <a:t>id</a:t>
                </a:r>
              </a:p>
            </p:txBody>
          </p:sp>
        </p:grpSp>
      </p:grp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>
          <a:xfrm>
            <a:off x="900113" y="188913"/>
            <a:ext cx="8064500" cy="1050925"/>
          </a:xfrm>
        </p:spPr>
        <p:txBody>
          <a:bodyPr/>
          <a:lstStyle/>
          <a:p>
            <a:pPr eaLnBrk="1" hangingPunct="1"/>
            <a:r>
              <a:rPr lang="zh-CN" altLang="en-US" sz="4800" b="1" smtClean="0">
                <a:solidFill>
                  <a:srgbClr val="000099"/>
                </a:solidFill>
                <a:latin typeface="Times New Roman" pitchFamily="18" charset="0"/>
                <a:ea typeface="华文新魏" pitchFamily="2" charset="-122"/>
              </a:rPr>
              <a:t>三、重要问题</a:t>
            </a:r>
            <a:r>
              <a:rPr lang="zh-CN" altLang="en-US" sz="3200" b="1" smtClean="0">
                <a:solidFill>
                  <a:srgbClr val="000099"/>
                </a:solidFill>
                <a:latin typeface="Times New Roman" pitchFamily="18" charset="0"/>
                <a:ea typeface="华文新魏" pitchFamily="2" charset="-122"/>
              </a:rPr>
              <a:t>——二义性及其消除</a:t>
            </a:r>
          </a:p>
        </p:txBody>
      </p:sp>
      <p:sp>
        <p:nvSpPr>
          <p:cNvPr id="18435" name="Rectangle 3"/>
          <p:cNvSpPr>
            <a:spLocks noGrp="1" noChangeArrowheads="1"/>
          </p:cNvSpPr>
          <p:nvPr>
            <p:ph idx="1"/>
          </p:nvPr>
        </p:nvSpPr>
        <p:spPr>
          <a:xfrm>
            <a:off x="539750" y="1484313"/>
            <a:ext cx="8077200" cy="4327525"/>
          </a:xfrm>
        </p:spPr>
        <p:txBody>
          <a:bodyPr/>
          <a:lstStyle/>
          <a:p>
            <a:pPr eaLnBrk="1" hangingPunct="1">
              <a:spcBef>
                <a:spcPct val="50000"/>
              </a:spcBef>
              <a:buFont typeface="Wingdings" pitchFamily="2" charset="2"/>
              <a:buNone/>
            </a:pPr>
            <a:r>
              <a:rPr lang="zh-CN" altLang="en-US" sz="2800" b="1" smtClean="0">
                <a:latin typeface="Times New Roman" pitchFamily="18" charset="0"/>
                <a:ea typeface="华文新魏" pitchFamily="2" charset="-122"/>
              </a:rPr>
              <a:t>二义性文法</a:t>
            </a:r>
          </a:p>
          <a:p>
            <a:pPr lvl="1" eaLnBrk="1" hangingPunct="1">
              <a:spcBef>
                <a:spcPct val="50000"/>
              </a:spcBef>
            </a:pP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E→E+E|E-E|E*E|E/E|(E)|id</a:t>
            </a:r>
          </a:p>
          <a:p>
            <a:pPr eaLnBrk="1" hangingPunct="1">
              <a:spcBef>
                <a:spcPct val="50000"/>
              </a:spcBef>
              <a:buFont typeface="Wingdings" pitchFamily="2" charset="2"/>
              <a:buNone/>
            </a:pPr>
            <a:r>
              <a:rPr lang="zh-CN" altLang="en-US" sz="2800" b="1" smtClean="0">
                <a:latin typeface="Times New Roman" pitchFamily="18" charset="0"/>
                <a:ea typeface="华文新魏" pitchFamily="2" charset="-122"/>
              </a:rPr>
              <a:t>非二义性文法</a:t>
            </a:r>
          </a:p>
          <a:p>
            <a:pPr lvl="1" eaLnBrk="1" hangingPunct="1">
              <a:spcBef>
                <a:spcPct val="50000"/>
              </a:spcBef>
            </a:pP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E→E+T|E-T|T			</a:t>
            </a:r>
            <a:r>
              <a:rPr lang="en-US" altLang="zh-CN" b="1" smtClean="0">
                <a:solidFill>
                  <a:srgbClr val="0000CC"/>
                </a:solidFill>
                <a:latin typeface="Times New Roman" pitchFamily="18" charset="0"/>
                <a:ea typeface="华文新魏" pitchFamily="2" charset="-122"/>
              </a:rPr>
              <a:t>Expression</a:t>
            </a:r>
          </a:p>
          <a:p>
            <a:pPr lvl="1" eaLnBrk="1" hangingPunct="1">
              <a:spcBef>
                <a:spcPct val="50000"/>
              </a:spcBef>
            </a:pP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T→T*F|T/F|F			</a:t>
            </a:r>
            <a:r>
              <a:rPr lang="en-US" altLang="zh-CN" b="1" smtClean="0">
                <a:solidFill>
                  <a:srgbClr val="0000CC"/>
                </a:solidFill>
                <a:latin typeface="Times New Roman" pitchFamily="18" charset="0"/>
                <a:ea typeface="华文新魏" pitchFamily="2" charset="-122"/>
              </a:rPr>
              <a:t>Term</a:t>
            </a:r>
          </a:p>
          <a:p>
            <a:pPr lvl="1" eaLnBrk="1" hangingPunct="1">
              <a:spcBef>
                <a:spcPct val="50000"/>
              </a:spcBef>
            </a:pP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F→(E)|id				</a:t>
            </a:r>
            <a:r>
              <a:rPr lang="en-US" altLang="zh-CN" b="1" smtClean="0">
                <a:solidFill>
                  <a:srgbClr val="0000CC"/>
                </a:solidFill>
                <a:latin typeface="Times New Roman" pitchFamily="18" charset="0"/>
                <a:ea typeface="华文新魏" pitchFamily="2" charset="-122"/>
              </a:rPr>
              <a:t>Factor</a:t>
            </a:r>
          </a:p>
          <a:p>
            <a:pPr eaLnBrk="1" hangingPunct="1">
              <a:spcBef>
                <a:spcPct val="50000"/>
              </a:spcBef>
              <a:buFont typeface="Wingdings" pitchFamily="2" charset="2"/>
              <a:buNone/>
            </a:pPr>
            <a:r>
              <a:rPr lang="zh-CN" altLang="en-US" sz="2800" b="1" smtClean="0">
                <a:latin typeface="Times New Roman" pitchFamily="18" charset="0"/>
                <a:ea typeface="华文新魏" pitchFamily="2" charset="-122"/>
              </a:rPr>
              <a:t>改造方法：引入语法变量，使文法含有更多的信息</a:t>
            </a:r>
          </a:p>
        </p:txBody>
      </p:sp>
      <p:sp>
        <p:nvSpPr>
          <p:cNvPr id="18436" name="日期占位符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24D09493-F52C-4362-8915-8538B2F7CDEB}" type="datetime1">
              <a:rPr lang="zh-CN" altLang="en-US" smtClean="0"/>
              <a:pPr eaLnBrk="1" hangingPunct="1"/>
              <a:t>2017/2/24</a:t>
            </a:fld>
            <a:endParaRPr lang="en-US" altLang="zh-CN" smtClean="0"/>
          </a:p>
        </p:txBody>
      </p:sp>
      <p:sp>
        <p:nvSpPr>
          <p:cNvPr id="18437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923EEAF6-86BF-4F69-8464-1B9EF5E0006E}" type="slidenum">
              <a:rPr lang="zh-CN" altLang="en-US" smtClean="0"/>
              <a:pPr eaLnBrk="1" hangingPunct="1"/>
              <a:t>14</a:t>
            </a:fld>
            <a:endParaRPr lang="en-US" altLang="zh-CN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>
          <a:xfrm>
            <a:off x="900113" y="223838"/>
            <a:ext cx="8001000" cy="973137"/>
          </a:xfrm>
        </p:spPr>
        <p:txBody>
          <a:bodyPr/>
          <a:lstStyle/>
          <a:p>
            <a:pPr eaLnBrk="1" hangingPunct="1"/>
            <a:r>
              <a:rPr lang="zh-CN" altLang="en-US" sz="4800" b="1" smtClean="0">
                <a:solidFill>
                  <a:srgbClr val="000099"/>
                </a:solidFill>
                <a:latin typeface="Times New Roman" pitchFamily="18" charset="0"/>
                <a:ea typeface="华文新魏" pitchFamily="2" charset="-122"/>
              </a:rPr>
              <a:t>三、重要问题</a:t>
            </a:r>
            <a:r>
              <a:rPr lang="zh-CN" altLang="en-US" sz="3200" b="1" smtClean="0">
                <a:solidFill>
                  <a:srgbClr val="000099"/>
                </a:solidFill>
                <a:latin typeface="Times New Roman" pitchFamily="18" charset="0"/>
                <a:ea typeface="华文新魏" pitchFamily="2" charset="-122"/>
              </a:rPr>
              <a:t>——二义性及其消除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idx="1"/>
          </p:nvPr>
        </p:nvSpPr>
        <p:spPr>
          <a:xfrm>
            <a:off x="971550" y="3357563"/>
            <a:ext cx="7767638" cy="3132137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zh-CN" altLang="en-US" sz="2800" b="1" smtClean="0">
                <a:latin typeface="Times New Roman" pitchFamily="18" charset="0"/>
                <a:ea typeface="华文新魏" pitchFamily="2" charset="-122"/>
              </a:rPr>
              <a:t>设执行下列语句前</a:t>
            </a: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b=0,</a:t>
            </a:r>
          </a:p>
          <a:p>
            <a:pPr eaLnBrk="1" hangingPunct="1">
              <a:buFont typeface="Wingdings" pitchFamily="2" charset="2"/>
              <a:buNone/>
            </a:pPr>
            <a:r>
              <a:rPr lang="zh-CN" altLang="en-US" sz="2800" b="1" smtClean="0">
                <a:latin typeface="Times New Roman" pitchFamily="18" charset="0"/>
                <a:ea typeface="华文新魏" pitchFamily="2" charset="-122"/>
              </a:rPr>
              <a:t>理解</a:t>
            </a: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1</a:t>
            </a:r>
            <a:r>
              <a:rPr lang="zh-CN" altLang="en-US" sz="2800" b="1" smtClean="0">
                <a:latin typeface="Times New Roman" pitchFamily="18" charset="0"/>
                <a:ea typeface="华文新魏" pitchFamily="2" charset="-122"/>
              </a:rPr>
              <a:t>：</a:t>
            </a: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if a≠0 then </a:t>
            </a:r>
            <a:r>
              <a:rPr lang="en-US" altLang="zh-CN" sz="2800" b="1" smtClean="0">
                <a:solidFill>
                  <a:schemeClr val="hlink"/>
                </a:solidFill>
                <a:latin typeface="Times New Roman" pitchFamily="18" charset="0"/>
                <a:ea typeface="华文新魏" pitchFamily="2" charset="-122"/>
              </a:rPr>
              <a:t>if a&gt;0 then b=1 else b=-1</a:t>
            </a:r>
          </a:p>
          <a:p>
            <a:pPr eaLnBrk="1" hangingPunct="1">
              <a:buFont typeface="Wingdings" pitchFamily="2" charset="2"/>
              <a:buNone/>
            </a:pPr>
            <a:r>
              <a:rPr lang="zh-CN" altLang="en-US" sz="2800" b="1" smtClean="0">
                <a:latin typeface="Times New Roman" pitchFamily="18" charset="0"/>
                <a:ea typeface="华文新魏" pitchFamily="2" charset="-122"/>
              </a:rPr>
              <a:t>当</a:t>
            </a: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a=1</a:t>
            </a:r>
            <a:r>
              <a:rPr lang="zh-CN" altLang="en-US" sz="2800" b="1" smtClean="0">
                <a:latin typeface="Times New Roman" pitchFamily="18" charset="0"/>
                <a:ea typeface="华文新魏" pitchFamily="2" charset="-122"/>
              </a:rPr>
              <a:t>时,执行后</a:t>
            </a: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b=1;</a:t>
            </a:r>
            <a:r>
              <a:rPr lang="zh-CN" altLang="en-US" sz="2800" b="1" smtClean="0">
                <a:latin typeface="Times New Roman" pitchFamily="18" charset="0"/>
                <a:ea typeface="华文新魏" pitchFamily="2" charset="-122"/>
              </a:rPr>
              <a:t>当</a:t>
            </a: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a=-1</a:t>
            </a:r>
            <a:r>
              <a:rPr lang="zh-CN" altLang="en-US" sz="2800" b="1" smtClean="0">
                <a:latin typeface="Times New Roman" pitchFamily="18" charset="0"/>
                <a:ea typeface="华文新魏" pitchFamily="2" charset="-122"/>
              </a:rPr>
              <a:t>时，执行后</a:t>
            </a: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b=-1</a:t>
            </a:r>
          </a:p>
          <a:p>
            <a:pPr eaLnBrk="1" hangingPunct="1">
              <a:spcBef>
                <a:spcPct val="60000"/>
              </a:spcBef>
              <a:buFont typeface="Wingdings" pitchFamily="2" charset="2"/>
              <a:buNone/>
            </a:pPr>
            <a:r>
              <a:rPr lang="zh-CN" altLang="en-US" sz="2800" b="1" smtClean="0">
                <a:solidFill>
                  <a:srgbClr val="000099"/>
                </a:solidFill>
                <a:latin typeface="Times New Roman" pitchFamily="18" charset="0"/>
                <a:ea typeface="华文新魏" pitchFamily="2" charset="-122"/>
              </a:rPr>
              <a:t>理解</a:t>
            </a:r>
            <a:r>
              <a:rPr lang="en-US" altLang="zh-CN" sz="2800" b="1" smtClean="0">
                <a:solidFill>
                  <a:srgbClr val="000099"/>
                </a:solidFill>
                <a:latin typeface="Times New Roman" pitchFamily="18" charset="0"/>
                <a:ea typeface="华文新魏" pitchFamily="2" charset="-122"/>
              </a:rPr>
              <a:t>2</a:t>
            </a:r>
            <a:r>
              <a:rPr lang="zh-CN" altLang="en-US" sz="2800" b="1" smtClean="0">
                <a:solidFill>
                  <a:srgbClr val="000099"/>
                </a:solidFill>
                <a:latin typeface="Times New Roman" pitchFamily="18" charset="0"/>
                <a:ea typeface="华文新魏" pitchFamily="2" charset="-122"/>
              </a:rPr>
              <a:t>：</a:t>
            </a:r>
            <a:r>
              <a:rPr lang="en-US" altLang="zh-CN" sz="2800" b="1" smtClean="0">
                <a:solidFill>
                  <a:srgbClr val="000099"/>
                </a:solidFill>
                <a:latin typeface="Times New Roman" pitchFamily="18" charset="0"/>
                <a:ea typeface="华文新魏" pitchFamily="2" charset="-122"/>
              </a:rPr>
              <a:t> if a≠0 then </a:t>
            </a:r>
            <a:r>
              <a:rPr lang="en-US" altLang="zh-CN" sz="2800" b="1" smtClean="0">
                <a:solidFill>
                  <a:schemeClr val="hlink"/>
                </a:solidFill>
                <a:latin typeface="Times New Roman" pitchFamily="18" charset="0"/>
                <a:ea typeface="华文新魏" pitchFamily="2" charset="-122"/>
              </a:rPr>
              <a:t>if a&gt;0 then b=1</a:t>
            </a:r>
            <a:r>
              <a:rPr lang="en-US" altLang="zh-CN" sz="2800" b="1" smtClean="0">
                <a:solidFill>
                  <a:srgbClr val="000099"/>
                </a:solidFill>
                <a:latin typeface="Times New Roman" pitchFamily="18" charset="0"/>
                <a:ea typeface="华文新魏" pitchFamily="2" charset="-122"/>
              </a:rPr>
              <a:t> else b=-1</a:t>
            </a:r>
          </a:p>
          <a:p>
            <a:pPr eaLnBrk="1" hangingPunct="1">
              <a:buFont typeface="Wingdings" pitchFamily="2" charset="2"/>
              <a:buNone/>
            </a:pPr>
            <a:r>
              <a:rPr lang="zh-CN" altLang="en-US" sz="2800" b="1" smtClean="0">
                <a:solidFill>
                  <a:srgbClr val="000099"/>
                </a:solidFill>
                <a:latin typeface="Times New Roman" pitchFamily="18" charset="0"/>
                <a:ea typeface="华文新魏" pitchFamily="2" charset="-122"/>
              </a:rPr>
              <a:t>当</a:t>
            </a:r>
            <a:r>
              <a:rPr lang="en-US" altLang="zh-CN" sz="2800" b="1" smtClean="0">
                <a:solidFill>
                  <a:srgbClr val="000099"/>
                </a:solidFill>
                <a:latin typeface="Times New Roman" pitchFamily="18" charset="0"/>
                <a:ea typeface="华文新魏" pitchFamily="2" charset="-122"/>
              </a:rPr>
              <a:t>a=1</a:t>
            </a:r>
            <a:r>
              <a:rPr lang="zh-CN" altLang="en-US" sz="2800" b="1" smtClean="0">
                <a:solidFill>
                  <a:srgbClr val="000099"/>
                </a:solidFill>
                <a:latin typeface="Times New Roman" pitchFamily="18" charset="0"/>
                <a:ea typeface="华文新魏" pitchFamily="2" charset="-122"/>
              </a:rPr>
              <a:t>时,执行后</a:t>
            </a:r>
            <a:r>
              <a:rPr lang="en-US" altLang="zh-CN" sz="2800" b="1" smtClean="0">
                <a:solidFill>
                  <a:srgbClr val="000099"/>
                </a:solidFill>
                <a:latin typeface="Times New Roman" pitchFamily="18" charset="0"/>
                <a:ea typeface="华文新魏" pitchFamily="2" charset="-122"/>
              </a:rPr>
              <a:t>b=1;</a:t>
            </a:r>
            <a:r>
              <a:rPr lang="zh-CN" altLang="en-US" sz="2800" b="1" smtClean="0">
                <a:solidFill>
                  <a:srgbClr val="000099"/>
                </a:solidFill>
                <a:latin typeface="Times New Roman" pitchFamily="18" charset="0"/>
                <a:ea typeface="华文新魏" pitchFamily="2" charset="-122"/>
              </a:rPr>
              <a:t>当</a:t>
            </a:r>
            <a:r>
              <a:rPr lang="en-US" altLang="zh-CN" sz="2800" b="1" smtClean="0">
                <a:solidFill>
                  <a:srgbClr val="000099"/>
                </a:solidFill>
                <a:latin typeface="Times New Roman" pitchFamily="18" charset="0"/>
                <a:ea typeface="华文新魏" pitchFamily="2" charset="-122"/>
              </a:rPr>
              <a:t>a=-1</a:t>
            </a:r>
            <a:r>
              <a:rPr lang="zh-CN" altLang="en-US" sz="2800" b="1" smtClean="0">
                <a:solidFill>
                  <a:srgbClr val="000099"/>
                </a:solidFill>
                <a:latin typeface="Times New Roman" pitchFamily="18" charset="0"/>
                <a:ea typeface="华文新魏" pitchFamily="2" charset="-122"/>
              </a:rPr>
              <a:t>时，执行后</a:t>
            </a:r>
            <a:r>
              <a:rPr lang="en-US" altLang="zh-CN" sz="2800" b="1" smtClean="0">
                <a:solidFill>
                  <a:srgbClr val="000099"/>
                </a:solidFill>
                <a:latin typeface="Times New Roman" pitchFamily="18" charset="0"/>
                <a:ea typeface="华文新魏" pitchFamily="2" charset="-122"/>
              </a:rPr>
              <a:t>b=0</a:t>
            </a:r>
          </a:p>
        </p:txBody>
      </p:sp>
      <p:sp>
        <p:nvSpPr>
          <p:cNvPr id="19460" name="日期占位符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10520EDF-E026-40F2-923E-6507ED612EC0}" type="datetime1">
              <a:rPr lang="zh-CN" altLang="en-US" smtClean="0"/>
              <a:pPr eaLnBrk="1" hangingPunct="1"/>
              <a:t>2017/2/24</a:t>
            </a:fld>
            <a:endParaRPr lang="en-US" altLang="zh-CN" smtClean="0"/>
          </a:p>
        </p:txBody>
      </p:sp>
      <p:sp>
        <p:nvSpPr>
          <p:cNvPr id="19461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BE609B86-39FB-43D1-B3DE-BA4F6C6F62E2}" type="slidenum">
              <a:rPr lang="zh-CN" altLang="en-US" smtClean="0"/>
              <a:pPr eaLnBrk="1" hangingPunct="1"/>
              <a:t>15</a:t>
            </a:fld>
            <a:endParaRPr lang="en-US" altLang="zh-CN" smtClean="0"/>
          </a:p>
        </p:txBody>
      </p:sp>
      <p:sp>
        <p:nvSpPr>
          <p:cNvPr id="19462" name="Rectangle 4"/>
          <p:cNvSpPr>
            <a:spLocks noChangeArrowheads="1"/>
          </p:cNvSpPr>
          <p:nvPr/>
        </p:nvSpPr>
        <p:spPr bwMode="auto">
          <a:xfrm>
            <a:off x="2555875" y="1484313"/>
            <a:ext cx="3455988" cy="1373187"/>
          </a:xfrm>
          <a:prstGeom prst="rect">
            <a:avLst/>
          </a:prstGeom>
          <a:solidFill>
            <a:srgbClr val="00666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altLang="zh-CN" sz="2800" b="1">
                <a:solidFill>
                  <a:schemeClr val="bg1"/>
                </a:solidFill>
                <a:latin typeface="Times New Roman" pitchFamily="18" charset="0"/>
              </a:rPr>
              <a:t>S→if E then S</a:t>
            </a:r>
          </a:p>
          <a:p>
            <a:r>
              <a:rPr lang="en-US" altLang="zh-CN" sz="2800" b="1">
                <a:solidFill>
                  <a:schemeClr val="bg1"/>
                </a:solidFill>
                <a:latin typeface="Times New Roman" pitchFamily="18" charset="0"/>
              </a:rPr>
              <a:t>S→if E then S else S</a:t>
            </a:r>
          </a:p>
          <a:p>
            <a:r>
              <a:rPr lang="en-US" altLang="zh-CN" sz="2800" b="1">
                <a:solidFill>
                  <a:schemeClr val="bg1"/>
                </a:solidFill>
                <a:latin typeface="Times New Roman" pitchFamily="18" charset="0"/>
              </a:rPr>
              <a:t>S→other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>
          <a:xfrm>
            <a:off x="1066800" y="188913"/>
            <a:ext cx="7753350" cy="719137"/>
          </a:xfrm>
        </p:spPr>
        <p:txBody>
          <a:bodyPr/>
          <a:lstStyle/>
          <a:p>
            <a:pPr eaLnBrk="1" hangingPunct="1"/>
            <a:r>
              <a:rPr lang="zh-CN" altLang="en-US" b="1" smtClean="0">
                <a:solidFill>
                  <a:srgbClr val="000099"/>
                </a:solidFill>
                <a:latin typeface="Times New Roman" pitchFamily="18" charset="0"/>
                <a:ea typeface="华文新魏" pitchFamily="2" charset="-122"/>
              </a:rPr>
              <a:t>一个句子有两棵不同的语法树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idx="1"/>
          </p:nvPr>
        </p:nvSpPr>
        <p:spPr>
          <a:xfrm>
            <a:off x="1938338" y="1219200"/>
            <a:ext cx="7026275" cy="5257800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zh-CN" altLang="en-US" sz="2800" b="1" smtClean="0">
                <a:latin typeface="Times New Roman" pitchFamily="18" charset="0"/>
                <a:ea typeface="华文新魏" pitchFamily="2" charset="-122"/>
              </a:rPr>
              <a:t>				</a:t>
            </a: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S</a:t>
            </a:r>
          </a:p>
          <a:p>
            <a:pPr eaLnBrk="1" hangingPunct="1">
              <a:buFont typeface="Wingdings" pitchFamily="2" charset="2"/>
              <a:buNone/>
            </a:pPr>
            <a:endParaRPr lang="en-US" altLang="zh-CN" sz="2800" b="1" smtClean="0">
              <a:latin typeface="Times New Roman" pitchFamily="18" charset="0"/>
              <a:ea typeface="华文新魏" pitchFamily="2" charset="-122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					S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		E	             E		S	        S	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if    a≠0 then   if   a&gt;0 then  b=1  else    b=-1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					S</a:t>
            </a:r>
          </a:p>
          <a:p>
            <a:pPr eaLnBrk="1" hangingPunct="1">
              <a:buFont typeface="Wingdings" pitchFamily="2" charset="2"/>
              <a:buNone/>
            </a:pPr>
            <a:endParaRPr lang="en-US" altLang="zh-CN" sz="2800" b="1" smtClean="0">
              <a:latin typeface="Times New Roman" pitchFamily="18" charset="0"/>
              <a:ea typeface="华文新魏" pitchFamily="2" charset="-122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					S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		E   		     E		S	       S	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if    a≠0 then   if    a&gt;0 then b=1 else    b=-1</a:t>
            </a:r>
          </a:p>
        </p:txBody>
      </p:sp>
      <p:sp>
        <p:nvSpPr>
          <p:cNvPr id="20484" name="Line 27"/>
          <p:cNvSpPr>
            <a:spLocks noChangeShapeType="1"/>
          </p:cNvSpPr>
          <p:nvPr/>
        </p:nvSpPr>
        <p:spPr bwMode="auto">
          <a:xfrm>
            <a:off x="4910138" y="1600200"/>
            <a:ext cx="838200" cy="838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2075" tIns="46038" rIns="92075" bIns="46038"/>
          <a:lstStyle/>
          <a:p>
            <a:endParaRPr lang="zh-CN" altLang="en-US"/>
          </a:p>
        </p:txBody>
      </p:sp>
      <p:grpSp>
        <p:nvGrpSpPr>
          <p:cNvPr id="20485" name="Group 33"/>
          <p:cNvGrpSpPr>
            <a:grpSpLocks/>
          </p:cNvGrpSpPr>
          <p:nvPr/>
        </p:nvGrpSpPr>
        <p:grpSpPr bwMode="auto">
          <a:xfrm>
            <a:off x="2166938" y="1447800"/>
            <a:ext cx="6210300" cy="4572000"/>
            <a:chOff x="336" y="912"/>
            <a:chExt cx="3912" cy="2880"/>
          </a:xfrm>
        </p:grpSpPr>
        <p:sp>
          <p:nvSpPr>
            <p:cNvPr id="20487" name="Line 4"/>
            <p:cNvSpPr>
              <a:spLocks noChangeShapeType="1"/>
            </p:cNvSpPr>
            <p:nvPr/>
          </p:nvSpPr>
          <p:spPr bwMode="auto">
            <a:xfrm flipH="1">
              <a:off x="1872" y="3264"/>
              <a:ext cx="672" cy="48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2075" tIns="46038" rIns="92075" bIns="46038"/>
            <a:lstStyle/>
            <a:p>
              <a:endParaRPr lang="zh-CN" altLang="en-US"/>
            </a:p>
          </p:txBody>
        </p:sp>
        <p:sp>
          <p:nvSpPr>
            <p:cNvPr id="20488" name="Line 5"/>
            <p:cNvSpPr>
              <a:spLocks noChangeShapeType="1"/>
            </p:cNvSpPr>
            <p:nvPr/>
          </p:nvSpPr>
          <p:spPr bwMode="auto">
            <a:xfrm flipH="1">
              <a:off x="2208" y="3600"/>
              <a:ext cx="96" cy="19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2075" tIns="46038" rIns="92075" bIns="46038"/>
            <a:lstStyle/>
            <a:p>
              <a:endParaRPr lang="zh-CN" altLang="en-US"/>
            </a:p>
          </p:txBody>
        </p:sp>
        <p:sp>
          <p:nvSpPr>
            <p:cNvPr id="20489" name="Line 6"/>
            <p:cNvSpPr>
              <a:spLocks noChangeShapeType="1"/>
            </p:cNvSpPr>
            <p:nvPr/>
          </p:nvSpPr>
          <p:spPr bwMode="auto">
            <a:xfrm flipH="1">
              <a:off x="3168" y="3552"/>
              <a:ext cx="0" cy="24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2075" tIns="46038" rIns="92075" bIns="46038"/>
            <a:lstStyle/>
            <a:p>
              <a:endParaRPr lang="zh-CN" altLang="en-US"/>
            </a:p>
          </p:txBody>
        </p:sp>
        <p:sp>
          <p:nvSpPr>
            <p:cNvPr id="20490" name="Line 7"/>
            <p:cNvSpPr>
              <a:spLocks noChangeShapeType="1"/>
            </p:cNvSpPr>
            <p:nvPr/>
          </p:nvSpPr>
          <p:spPr bwMode="auto">
            <a:xfrm flipH="1">
              <a:off x="2400" y="3312"/>
              <a:ext cx="240" cy="19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2075" tIns="46038" rIns="92075" bIns="46038"/>
            <a:lstStyle/>
            <a:p>
              <a:endParaRPr lang="zh-CN" altLang="en-US"/>
            </a:p>
          </p:txBody>
        </p:sp>
        <p:sp>
          <p:nvSpPr>
            <p:cNvPr id="20491" name="Line 8"/>
            <p:cNvSpPr>
              <a:spLocks noChangeShapeType="1"/>
            </p:cNvSpPr>
            <p:nvPr/>
          </p:nvSpPr>
          <p:spPr bwMode="auto">
            <a:xfrm flipH="1">
              <a:off x="4176" y="3600"/>
              <a:ext cx="0" cy="14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2075" tIns="46038" rIns="92075" bIns="46038"/>
            <a:lstStyle/>
            <a:p>
              <a:endParaRPr lang="zh-CN" altLang="en-US"/>
            </a:p>
          </p:txBody>
        </p:sp>
        <p:sp>
          <p:nvSpPr>
            <p:cNvPr id="20492" name="Line 9"/>
            <p:cNvSpPr>
              <a:spLocks noChangeShapeType="1"/>
            </p:cNvSpPr>
            <p:nvPr/>
          </p:nvSpPr>
          <p:spPr bwMode="auto">
            <a:xfrm flipH="1">
              <a:off x="864" y="3600"/>
              <a:ext cx="0" cy="14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2075" tIns="46038" rIns="92075" bIns="46038"/>
            <a:lstStyle/>
            <a:p>
              <a:endParaRPr lang="zh-CN" altLang="en-US"/>
            </a:p>
          </p:txBody>
        </p:sp>
        <p:sp>
          <p:nvSpPr>
            <p:cNvPr id="20493" name="Line 10"/>
            <p:cNvSpPr>
              <a:spLocks noChangeShapeType="1"/>
            </p:cNvSpPr>
            <p:nvPr/>
          </p:nvSpPr>
          <p:spPr bwMode="auto">
            <a:xfrm>
              <a:off x="2640" y="3264"/>
              <a:ext cx="48" cy="52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2075" tIns="46038" rIns="92075" bIns="46038"/>
            <a:lstStyle/>
            <a:p>
              <a:endParaRPr lang="zh-CN" altLang="en-US"/>
            </a:p>
          </p:txBody>
        </p:sp>
        <p:sp>
          <p:nvSpPr>
            <p:cNvPr id="20494" name="Line 11"/>
            <p:cNvSpPr>
              <a:spLocks noChangeShapeType="1"/>
            </p:cNvSpPr>
            <p:nvPr/>
          </p:nvSpPr>
          <p:spPr bwMode="auto">
            <a:xfrm>
              <a:off x="2640" y="3216"/>
              <a:ext cx="480" cy="24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2075" tIns="46038" rIns="92075" bIns="46038"/>
            <a:lstStyle/>
            <a:p>
              <a:endParaRPr lang="zh-CN" altLang="en-US"/>
            </a:p>
          </p:txBody>
        </p:sp>
        <p:sp>
          <p:nvSpPr>
            <p:cNvPr id="20495" name="Line 12"/>
            <p:cNvSpPr>
              <a:spLocks noChangeShapeType="1"/>
            </p:cNvSpPr>
            <p:nvPr/>
          </p:nvSpPr>
          <p:spPr bwMode="auto">
            <a:xfrm flipH="1">
              <a:off x="912" y="2592"/>
              <a:ext cx="1632" cy="81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2075" tIns="46038" rIns="92075" bIns="46038"/>
            <a:lstStyle/>
            <a:p>
              <a:endParaRPr lang="zh-CN" altLang="en-US"/>
            </a:p>
          </p:txBody>
        </p:sp>
        <p:sp>
          <p:nvSpPr>
            <p:cNvPr id="20496" name="Line 13"/>
            <p:cNvSpPr>
              <a:spLocks noChangeShapeType="1"/>
            </p:cNvSpPr>
            <p:nvPr/>
          </p:nvSpPr>
          <p:spPr bwMode="auto">
            <a:xfrm flipH="1" flipV="1">
              <a:off x="2640" y="2592"/>
              <a:ext cx="1488" cy="86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2075" tIns="46038" rIns="92075" bIns="46038"/>
            <a:lstStyle/>
            <a:p>
              <a:endParaRPr lang="zh-CN" altLang="en-US"/>
            </a:p>
          </p:txBody>
        </p:sp>
        <p:sp>
          <p:nvSpPr>
            <p:cNvPr id="20497" name="Line 14"/>
            <p:cNvSpPr>
              <a:spLocks noChangeShapeType="1"/>
            </p:cNvSpPr>
            <p:nvPr/>
          </p:nvSpPr>
          <p:spPr bwMode="auto">
            <a:xfrm>
              <a:off x="2592" y="2640"/>
              <a:ext cx="48" cy="43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2075" tIns="46038" rIns="92075" bIns="46038"/>
            <a:lstStyle/>
            <a:p>
              <a:endParaRPr lang="zh-CN" altLang="en-US"/>
            </a:p>
          </p:txBody>
        </p:sp>
        <p:sp>
          <p:nvSpPr>
            <p:cNvPr id="20498" name="Line 15"/>
            <p:cNvSpPr>
              <a:spLocks noChangeShapeType="1"/>
            </p:cNvSpPr>
            <p:nvPr/>
          </p:nvSpPr>
          <p:spPr bwMode="auto">
            <a:xfrm>
              <a:off x="2640" y="2640"/>
              <a:ext cx="960" cy="115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2075" tIns="46038" rIns="92075" bIns="46038"/>
            <a:lstStyle/>
            <a:p>
              <a:endParaRPr lang="zh-CN" altLang="en-US"/>
            </a:p>
          </p:txBody>
        </p:sp>
        <p:sp>
          <p:nvSpPr>
            <p:cNvPr id="20499" name="Freeform 16"/>
            <p:cNvSpPr>
              <a:spLocks/>
            </p:cNvSpPr>
            <p:nvPr/>
          </p:nvSpPr>
          <p:spPr bwMode="auto">
            <a:xfrm>
              <a:off x="384" y="2544"/>
              <a:ext cx="2160" cy="1200"/>
            </a:xfrm>
            <a:custGeom>
              <a:avLst/>
              <a:gdLst>
                <a:gd name="T0" fmla="*/ 0 w 2160"/>
                <a:gd name="T1" fmla="*/ 1200 h 1200"/>
                <a:gd name="T2" fmla="*/ 624 w 2160"/>
                <a:gd name="T3" fmla="*/ 480 h 1200"/>
                <a:gd name="T4" fmla="*/ 2160 w 2160"/>
                <a:gd name="T5" fmla="*/ 0 h 1200"/>
                <a:gd name="T6" fmla="*/ 0 60000 65536"/>
                <a:gd name="T7" fmla="*/ 0 60000 65536"/>
                <a:gd name="T8" fmla="*/ 0 60000 65536"/>
                <a:gd name="T9" fmla="*/ 0 w 2160"/>
                <a:gd name="T10" fmla="*/ 0 h 1200"/>
                <a:gd name="T11" fmla="*/ 2160 w 2160"/>
                <a:gd name="T12" fmla="*/ 1200 h 12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" h="1200">
                  <a:moveTo>
                    <a:pt x="0" y="1200"/>
                  </a:moveTo>
                  <a:cubicBezTo>
                    <a:pt x="132" y="940"/>
                    <a:pt x="264" y="680"/>
                    <a:pt x="624" y="480"/>
                  </a:cubicBezTo>
                  <a:cubicBezTo>
                    <a:pt x="984" y="280"/>
                    <a:pt x="1572" y="140"/>
                    <a:pt x="2160" y="0"/>
                  </a:cubicBezTo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2075" tIns="46038" rIns="92075" bIns="46038"/>
            <a:lstStyle/>
            <a:p>
              <a:endParaRPr lang="zh-CN" altLang="en-US"/>
            </a:p>
          </p:txBody>
        </p:sp>
        <p:sp>
          <p:nvSpPr>
            <p:cNvPr id="20500" name="Line 29"/>
            <p:cNvSpPr>
              <a:spLocks noChangeShapeType="1"/>
            </p:cNvSpPr>
            <p:nvPr/>
          </p:nvSpPr>
          <p:spPr bwMode="auto">
            <a:xfrm flipV="1">
              <a:off x="1392" y="2640"/>
              <a:ext cx="1152" cy="115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2075" tIns="46038" rIns="92075" bIns="46038"/>
            <a:lstStyle/>
            <a:p>
              <a:endParaRPr lang="zh-CN" altLang="en-US"/>
            </a:p>
          </p:txBody>
        </p:sp>
        <p:grpSp>
          <p:nvGrpSpPr>
            <p:cNvPr id="20501" name="Group 32"/>
            <p:cNvGrpSpPr>
              <a:grpSpLocks/>
            </p:cNvGrpSpPr>
            <p:nvPr/>
          </p:nvGrpSpPr>
          <p:grpSpPr bwMode="auto">
            <a:xfrm>
              <a:off x="336" y="912"/>
              <a:ext cx="3912" cy="1296"/>
              <a:chOff x="336" y="912"/>
              <a:chExt cx="3912" cy="1296"/>
            </a:xfrm>
          </p:grpSpPr>
          <p:sp>
            <p:nvSpPr>
              <p:cNvPr id="20502" name="Line 17"/>
              <p:cNvSpPr>
                <a:spLocks noChangeShapeType="1"/>
              </p:cNvSpPr>
              <p:nvPr/>
            </p:nvSpPr>
            <p:spPr bwMode="auto">
              <a:xfrm flipH="1">
                <a:off x="3168" y="1968"/>
                <a:ext cx="0" cy="19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92075" tIns="46038" rIns="92075" bIns="46038"/>
              <a:lstStyle/>
              <a:p>
                <a:endParaRPr lang="zh-CN" altLang="en-US"/>
              </a:p>
            </p:txBody>
          </p:sp>
          <p:sp>
            <p:nvSpPr>
              <p:cNvPr id="20503" name="Line 18"/>
              <p:cNvSpPr>
                <a:spLocks noChangeShapeType="1"/>
              </p:cNvSpPr>
              <p:nvPr/>
            </p:nvSpPr>
            <p:spPr bwMode="auto">
              <a:xfrm flipH="1">
                <a:off x="864" y="2016"/>
                <a:ext cx="0" cy="19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92075" tIns="46038" rIns="92075" bIns="46038"/>
              <a:lstStyle/>
              <a:p>
                <a:endParaRPr lang="zh-CN" altLang="en-US"/>
              </a:p>
            </p:txBody>
          </p:sp>
          <p:sp>
            <p:nvSpPr>
              <p:cNvPr id="20504" name="Line 19"/>
              <p:cNvSpPr>
                <a:spLocks noChangeShapeType="1"/>
              </p:cNvSpPr>
              <p:nvPr/>
            </p:nvSpPr>
            <p:spPr bwMode="auto">
              <a:xfrm flipH="1">
                <a:off x="2208" y="1968"/>
                <a:ext cx="0" cy="19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92075" tIns="46038" rIns="92075" bIns="46038"/>
              <a:lstStyle/>
              <a:p>
                <a:endParaRPr lang="zh-CN" altLang="en-US"/>
              </a:p>
            </p:txBody>
          </p:sp>
          <p:sp>
            <p:nvSpPr>
              <p:cNvPr id="20505" name="Line 20"/>
              <p:cNvSpPr>
                <a:spLocks noChangeShapeType="1"/>
              </p:cNvSpPr>
              <p:nvPr/>
            </p:nvSpPr>
            <p:spPr bwMode="auto">
              <a:xfrm flipH="1">
                <a:off x="4224" y="2016"/>
                <a:ext cx="0" cy="19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92075" tIns="46038" rIns="92075" bIns="46038"/>
              <a:lstStyle/>
              <a:p>
                <a:endParaRPr lang="zh-CN" altLang="en-US"/>
              </a:p>
            </p:txBody>
          </p:sp>
          <p:sp>
            <p:nvSpPr>
              <p:cNvPr id="20506" name="Line 21"/>
              <p:cNvSpPr>
                <a:spLocks noChangeShapeType="1"/>
              </p:cNvSpPr>
              <p:nvPr/>
            </p:nvSpPr>
            <p:spPr bwMode="auto">
              <a:xfrm>
                <a:off x="2592" y="1680"/>
                <a:ext cx="0" cy="48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92075" tIns="46038" rIns="92075" bIns="46038"/>
              <a:lstStyle/>
              <a:p>
                <a:endParaRPr lang="zh-CN" altLang="en-US"/>
              </a:p>
            </p:txBody>
          </p:sp>
          <p:sp>
            <p:nvSpPr>
              <p:cNvPr id="20507" name="Line 22"/>
              <p:cNvSpPr>
                <a:spLocks noChangeShapeType="1"/>
              </p:cNvSpPr>
              <p:nvPr/>
            </p:nvSpPr>
            <p:spPr bwMode="auto">
              <a:xfrm>
                <a:off x="2640" y="1680"/>
                <a:ext cx="480" cy="144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92075" tIns="46038" rIns="92075" bIns="46038"/>
              <a:lstStyle/>
              <a:p>
                <a:endParaRPr lang="zh-CN" altLang="en-US"/>
              </a:p>
            </p:txBody>
          </p:sp>
          <p:sp>
            <p:nvSpPr>
              <p:cNvPr id="20508" name="Line 23"/>
              <p:cNvSpPr>
                <a:spLocks noChangeShapeType="1"/>
              </p:cNvSpPr>
              <p:nvPr/>
            </p:nvSpPr>
            <p:spPr bwMode="auto">
              <a:xfrm flipH="1">
                <a:off x="2304" y="1632"/>
                <a:ext cx="240" cy="19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92075" tIns="46038" rIns="92075" bIns="46038"/>
              <a:lstStyle/>
              <a:p>
                <a:endParaRPr lang="zh-CN" altLang="en-US"/>
              </a:p>
            </p:txBody>
          </p:sp>
          <p:sp>
            <p:nvSpPr>
              <p:cNvPr id="20509" name="Freeform 24"/>
              <p:cNvSpPr>
                <a:spLocks/>
              </p:cNvSpPr>
              <p:nvPr/>
            </p:nvSpPr>
            <p:spPr bwMode="auto">
              <a:xfrm>
                <a:off x="1824" y="1632"/>
                <a:ext cx="720" cy="528"/>
              </a:xfrm>
              <a:custGeom>
                <a:avLst/>
                <a:gdLst>
                  <a:gd name="T0" fmla="*/ 0 w 720"/>
                  <a:gd name="T1" fmla="*/ 528 h 528"/>
                  <a:gd name="T2" fmla="*/ 192 w 720"/>
                  <a:gd name="T3" fmla="*/ 144 h 528"/>
                  <a:gd name="T4" fmla="*/ 720 w 720"/>
                  <a:gd name="T5" fmla="*/ 0 h 528"/>
                  <a:gd name="T6" fmla="*/ 0 60000 65536"/>
                  <a:gd name="T7" fmla="*/ 0 60000 65536"/>
                  <a:gd name="T8" fmla="*/ 0 60000 65536"/>
                  <a:gd name="T9" fmla="*/ 0 w 720"/>
                  <a:gd name="T10" fmla="*/ 0 h 528"/>
                  <a:gd name="T11" fmla="*/ 720 w 720"/>
                  <a:gd name="T12" fmla="*/ 528 h 528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720" h="528">
                    <a:moveTo>
                      <a:pt x="0" y="528"/>
                    </a:moveTo>
                    <a:cubicBezTo>
                      <a:pt x="36" y="380"/>
                      <a:pt x="72" y="232"/>
                      <a:pt x="192" y="144"/>
                    </a:cubicBezTo>
                    <a:cubicBezTo>
                      <a:pt x="312" y="56"/>
                      <a:pt x="516" y="28"/>
                      <a:pt x="720" y="0"/>
                    </a:cubicBezTo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92075" tIns="46038" rIns="92075" bIns="46038"/>
              <a:lstStyle/>
              <a:p>
                <a:endParaRPr lang="zh-CN" altLang="en-US"/>
              </a:p>
            </p:txBody>
          </p:sp>
          <p:sp>
            <p:nvSpPr>
              <p:cNvPr id="20510" name="Line 25"/>
              <p:cNvSpPr>
                <a:spLocks noChangeShapeType="1"/>
              </p:cNvSpPr>
              <p:nvPr/>
            </p:nvSpPr>
            <p:spPr bwMode="auto">
              <a:xfrm flipH="1">
                <a:off x="1392" y="1056"/>
                <a:ext cx="624" cy="115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92075" tIns="46038" rIns="92075" bIns="46038"/>
              <a:lstStyle/>
              <a:p>
                <a:endParaRPr lang="zh-CN" altLang="en-US"/>
              </a:p>
            </p:txBody>
          </p:sp>
          <p:sp>
            <p:nvSpPr>
              <p:cNvPr id="20511" name="Line 26"/>
              <p:cNvSpPr>
                <a:spLocks noChangeShapeType="1"/>
              </p:cNvSpPr>
              <p:nvPr/>
            </p:nvSpPr>
            <p:spPr bwMode="auto">
              <a:xfrm flipH="1">
                <a:off x="960" y="1056"/>
                <a:ext cx="1008" cy="81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92075" tIns="46038" rIns="92075" bIns="46038"/>
              <a:lstStyle/>
              <a:p>
                <a:endParaRPr lang="zh-CN" altLang="en-US"/>
              </a:p>
            </p:txBody>
          </p:sp>
          <p:sp>
            <p:nvSpPr>
              <p:cNvPr id="20512" name="Line 28"/>
              <p:cNvSpPr>
                <a:spLocks noChangeShapeType="1"/>
              </p:cNvSpPr>
              <p:nvPr/>
            </p:nvSpPr>
            <p:spPr bwMode="auto">
              <a:xfrm flipV="1">
                <a:off x="336" y="912"/>
                <a:ext cx="1680" cy="120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92075" tIns="46038" rIns="92075" bIns="46038"/>
              <a:lstStyle/>
              <a:p>
                <a:endParaRPr lang="zh-CN" altLang="en-US"/>
              </a:p>
            </p:txBody>
          </p:sp>
          <p:sp>
            <p:nvSpPr>
              <p:cNvPr id="20513" name="Freeform 30"/>
              <p:cNvSpPr>
                <a:spLocks/>
              </p:cNvSpPr>
              <p:nvPr/>
            </p:nvSpPr>
            <p:spPr bwMode="auto">
              <a:xfrm>
                <a:off x="2688" y="1632"/>
                <a:ext cx="1008" cy="528"/>
              </a:xfrm>
              <a:custGeom>
                <a:avLst/>
                <a:gdLst>
                  <a:gd name="T0" fmla="*/ 1008 w 1008"/>
                  <a:gd name="T1" fmla="*/ 528 h 528"/>
                  <a:gd name="T2" fmla="*/ 720 w 1008"/>
                  <a:gd name="T3" fmla="*/ 192 h 528"/>
                  <a:gd name="T4" fmla="*/ 0 w 1008"/>
                  <a:gd name="T5" fmla="*/ 0 h 528"/>
                  <a:gd name="T6" fmla="*/ 0 60000 65536"/>
                  <a:gd name="T7" fmla="*/ 0 60000 65536"/>
                  <a:gd name="T8" fmla="*/ 0 60000 65536"/>
                  <a:gd name="T9" fmla="*/ 0 w 1008"/>
                  <a:gd name="T10" fmla="*/ 0 h 528"/>
                  <a:gd name="T11" fmla="*/ 1008 w 1008"/>
                  <a:gd name="T12" fmla="*/ 528 h 528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008" h="528">
                    <a:moveTo>
                      <a:pt x="1008" y="528"/>
                    </a:moveTo>
                    <a:cubicBezTo>
                      <a:pt x="948" y="404"/>
                      <a:pt x="888" y="280"/>
                      <a:pt x="720" y="192"/>
                    </a:cubicBezTo>
                    <a:cubicBezTo>
                      <a:pt x="552" y="104"/>
                      <a:pt x="276" y="52"/>
                      <a:pt x="0" y="0"/>
                    </a:cubicBezTo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92075" tIns="46038" rIns="92075" bIns="46038"/>
              <a:lstStyle/>
              <a:p>
                <a:endParaRPr lang="zh-CN" altLang="en-US"/>
              </a:p>
            </p:txBody>
          </p:sp>
          <p:sp>
            <p:nvSpPr>
              <p:cNvPr id="20514" name="Freeform 31"/>
              <p:cNvSpPr>
                <a:spLocks/>
              </p:cNvSpPr>
              <p:nvPr/>
            </p:nvSpPr>
            <p:spPr bwMode="auto">
              <a:xfrm>
                <a:off x="2640" y="1632"/>
                <a:ext cx="1608" cy="192"/>
              </a:xfrm>
              <a:custGeom>
                <a:avLst/>
                <a:gdLst>
                  <a:gd name="T0" fmla="*/ 1584 w 1608"/>
                  <a:gd name="T1" fmla="*/ 192 h 192"/>
                  <a:gd name="T2" fmla="*/ 1344 w 1608"/>
                  <a:gd name="T3" fmla="*/ 144 h 192"/>
                  <a:gd name="T4" fmla="*/ 0 w 1608"/>
                  <a:gd name="T5" fmla="*/ 0 h 192"/>
                  <a:gd name="T6" fmla="*/ 0 60000 65536"/>
                  <a:gd name="T7" fmla="*/ 0 60000 65536"/>
                  <a:gd name="T8" fmla="*/ 0 60000 65536"/>
                  <a:gd name="T9" fmla="*/ 0 w 1608"/>
                  <a:gd name="T10" fmla="*/ 0 h 192"/>
                  <a:gd name="T11" fmla="*/ 1608 w 1608"/>
                  <a:gd name="T12" fmla="*/ 192 h 192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608" h="192">
                    <a:moveTo>
                      <a:pt x="1584" y="192"/>
                    </a:moveTo>
                    <a:cubicBezTo>
                      <a:pt x="1596" y="184"/>
                      <a:pt x="1608" y="176"/>
                      <a:pt x="1344" y="144"/>
                    </a:cubicBezTo>
                    <a:cubicBezTo>
                      <a:pt x="1080" y="112"/>
                      <a:pt x="216" y="24"/>
                      <a:pt x="0" y="0"/>
                    </a:cubicBezTo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92075" tIns="46038" rIns="92075" bIns="46038"/>
              <a:lstStyle/>
              <a:p>
                <a:endParaRPr lang="zh-CN" altLang="en-US"/>
              </a:p>
            </p:txBody>
          </p:sp>
        </p:grpSp>
      </p:grpSp>
      <p:sp>
        <p:nvSpPr>
          <p:cNvPr id="20486" name="Rectangle 34"/>
          <p:cNvSpPr>
            <a:spLocks noChangeArrowheads="1"/>
          </p:cNvSpPr>
          <p:nvPr/>
        </p:nvSpPr>
        <p:spPr bwMode="auto">
          <a:xfrm>
            <a:off x="179388" y="908050"/>
            <a:ext cx="3455987" cy="1373188"/>
          </a:xfrm>
          <a:prstGeom prst="rect">
            <a:avLst/>
          </a:prstGeom>
          <a:solidFill>
            <a:srgbClr val="00666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altLang="zh-CN" sz="2800" b="1">
                <a:solidFill>
                  <a:schemeClr val="bg1"/>
                </a:solidFill>
                <a:latin typeface="Times New Roman" pitchFamily="18" charset="0"/>
              </a:rPr>
              <a:t>S→if E then S</a:t>
            </a:r>
          </a:p>
          <a:p>
            <a:r>
              <a:rPr lang="en-US" altLang="zh-CN" sz="2800" b="1">
                <a:solidFill>
                  <a:schemeClr val="bg1"/>
                </a:solidFill>
                <a:latin typeface="Times New Roman" pitchFamily="18" charset="0"/>
              </a:rPr>
              <a:t>S→if E then S else S</a:t>
            </a:r>
          </a:p>
          <a:p>
            <a:r>
              <a:rPr lang="en-US" altLang="zh-CN" sz="2800" b="1">
                <a:solidFill>
                  <a:schemeClr val="bg1"/>
                </a:solidFill>
                <a:latin typeface="Times New Roman" pitchFamily="18" charset="0"/>
              </a:rPr>
              <a:t>S→other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>
          <a:xfrm>
            <a:off x="395288" y="188913"/>
            <a:ext cx="7981950" cy="685800"/>
          </a:xfrm>
        </p:spPr>
        <p:txBody>
          <a:bodyPr/>
          <a:lstStyle/>
          <a:p>
            <a:pPr eaLnBrk="1" hangingPunct="1"/>
            <a:r>
              <a:rPr lang="zh-CN" altLang="en-US" sz="4000" b="1" smtClean="0">
                <a:solidFill>
                  <a:srgbClr val="000099"/>
                </a:solidFill>
                <a:latin typeface="Times New Roman" pitchFamily="18" charset="0"/>
                <a:ea typeface="华文新魏" pitchFamily="2" charset="-122"/>
              </a:rPr>
              <a:t>三、重要问题——二义性及其消除</a:t>
            </a:r>
          </a:p>
        </p:txBody>
      </p:sp>
      <p:sp>
        <p:nvSpPr>
          <p:cNvPr id="288771" name="Rectangle 3"/>
          <p:cNvSpPr>
            <a:spLocks noGrp="1" noChangeArrowheads="1"/>
          </p:cNvSpPr>
          <p:nvPr>
            <p:ph idx="1"/>
          </p:nvPr>
        </p:nvSpPr>
        <p:spPr>
          <a:xfrm>
            <a:off x="381000" y="1981200"/>
            <a:ext cx="8439150" cy="3124200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zh-CN" altLang="en-US" sz="2800" b="1" smtClean="0">
                <a:solidFill>
                  <a:schemeClr val="hlink"/>
                </a:solidFill>
                <a:latin typeface="Times New Roman" pitchFamily="18" charset="0"/>
                <a:ea typeface="华文新魏" pitchFamily="2" charset="-122"/>
              </a:rPr>
              <a:t>1.重写文法</a:t>
            </a:r>
            <a:endParaRPr lang="en-US" altLang="zh-CN" sz="2800" b="1" smtClean="0">
              <a:latin typeface="Times New Roman" pitchFamily="18" charset="0"/>
              <a:ea typeface="华文新魏" pitchFamily="2" charset="-122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800" smtClean="0">
                <a:latin typeface="Times New Roman" pitchFamily="18" charset="0"/>
                <a:ea typeface="华文新魏" pitchFamily="2" charset="-122"/>
              </a:rPr>
              <a:t>S</a:t>
            </a: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→U|M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U→if E then S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U→if E then M else U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M→if E then M else M|other</a:t>
            </a:r>
          </a:p>
          <a:p>
            <a:pPr eaLnBrk="1" hangingPunct="1">
              <a:buFont typeface="Wingdings" pitchFamily="2" charset="2"/>
              <a:buNone/>
            </a:pPr>
            <a:r>
              <a:rPr lang="zh-CN" altLang="en-US" sz="2800" b="1" smtClean="0">
                <a:solidFill>
                  <a:schemeClr val="hlink"/>
                </a:solidFill>
                <a:latin typeface="Times New Roman" pitchFamily="18" charset="0"/>
                <a:ea typeface="华文新魏" pitchFamily="2" charset="-122"/>
              </a:rPr>
              <a:t>2.设置一个规则——要求</a:t>
            </a:r>
            <a:r>
              <a:rPr lang="en-US" altLang="zh-CN" sz="2800" b="1" smtClean="0">
                <a:solidFill>
                  <a:schemeClr val="hlink"/>
                </a:solidFill>
                <a:latin typeface="Times New Roman" pitchFamily="18" charset="0"/>
                <a:ea typeface="华文新魏" pitchFamily="2" charset="-122"/>
              </a:rPr>
              <a:t>“</a:t>
            </a:r>
            <a:r>
              <a:rPr lang="zh-CN" altLang="en-US" sz="2800" b="1" smtClean="0">
                <a:solidFill>
                  <a:schemeClr val="hlink"/>
                </a:solidFill>
                <a:latin typeface="Times New Roman" pitchFamily="18" charset="0"/>
                <a:ea typeface="华文新魏" pitchFamily="2" charset="-122"/>
              </a:rPr>
              <a:t>就近</a:t>
            </a:r>
            <a:r>
              <a:rPr lang="en-US" altLang="zh-CN" sz="2800" b="1" smtClean="0">
                <a:solidFill>
                  <a:schemeClr val="hlink"/>
                </a:solidFill>
                <a:latin typeface="Times New Roman" pitchFamily="18" charset="0"/>
                <a:ea typeface="华文新魏" pitchFamily="2" charset="-122"/>
              </a:rPr>
              <a:t>/</a:t>
            </a:r>
            <a:r>
              <a:rPr lang="zh-CN" altLang="en-US" sz="2800" b="1" smtClean="0">
                <a:solidFill>
                  <a:schemeClr val="hlink"/>
                </a:solidFill>
                <a:latin typeface="Times New Roman" pitchFamily="18" charset="0"/>
                <a:ea typeface="华文新魏" pitchFamily="2" charset="-122"/>
              </a:rPr>
              <a:t>最长” 匹配</a:t>
            </a:r>
          </a:p>
        </p:txBody>
      </p:sp>
      <p:sp>
        <p:nvSpPr>
          <p:cNvPr id="21508" name="日期占位符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F14C562E-4C1D-44C1-AA7A-C879946163C5}" type="datetime1">
              <a:rPr lang="zh-CN" altLang="en-US" smtClean="0"/>
              <a:pPr eaLnBrk="1" hangingPunct="1"/>
              <a:t>2017/2/24</a:t>
            </a:fld>
            <a:endParaRPr lang="en-US" altLang="zh-CN" smtClean="0"/>
          </a:p>
        </p:txBody>
      </p:sp>
      <p:sp>
        <p:nvSpPr>
          <p:cNvPr id="21509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72E906A4-F414-4D69-9C04-C9AF91BD2F4F}" type="slidenum">
              <a:rPr lang="zh-CN" altLang="en-US" smtClean="0"/>
              <a:pPr eaLnBrk="1" hangingPunct="1"/>
              <a:t>17</a:t>
            </a:fld>
            <a:endParaRPr lang="en-US" altLang="zh-CN" smtClean="0"/>
          </a:p>
        </p:txBody>
      </p:sp>
      <p:sp>
        <p:nvSpPr>
          <p:cNvPr id="288772" name="AutoShape 4"/>
          <p:cNvSpPr>
            <a:spLocks/>
          </p:cNvSpPr>
          <p:nvPr/>
        </p:nvSpPr>
        <p:spPr bwMode="auto">
          <a:xfrm>
            <a:off x="5943600" y="2819400"/>
            <a:ext cx="152400" cy="1600200"/>
          </a:xfrm>
          <a:prstGeom prst="rightBrace">
            <a:avLst>
              <a:gd name="adj1" fmla="val 87500"/>
              <a:gd name="adj2" fmla="val 50000"/>
            </a:avLst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2075" tIns="46038" rIns="92075" bIns="46038" anchor="ctr"/>
          <a:lstStyle/>
          <a:p>
            <a:endParaRPr lang="zh-CN" altLang="en-US"/>
          </a:p>
        </p:txBody>
      </p:sp>
      <p:sp>
        <p:nvSpPr>
          <p:cNvPr id="288773" name="AutoShape 5"/>
          <p:cNvSpPr>
            <a:spLocks/>
          </p:cNvSpPr>
          <p:nvPr/>
        </p:nvSpPr>
        <p:spPr bwMode="auto">
          <a:xfrm>
            <a:off x="3505200" y="5257800"/>
            <a:ext cx="203200" cy="1143000"/>
          </a:xfrm>
          <a:prstGeom prst="rightBrace">
            <a:avLst>
              <a:gd name="adj1" fmla="val 46875"/>
              <a:gd name="adj2" fmla="val 50000"/>
            </a:avLst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2075" tIns="46038" rIns="92075" bIns="46038" anchor="ctr"/>
          <a:lstStyle/>
          <a:p>
            <a:endParaRPr lang="zh-CN" altLang="en-US"/>
          </a:p>
        </p:txBody>
      </p:sp>
      <p:sp>
        <p:nvSpPr>
          <p:cNvPr id="288774" name="Text Box 6"/>
          <p:cNvSpPr txBox="1">
            <a:spLocks noChangeArrowheads="1"/>
          </p:cNvSpPr>
          <p:nvPr/>
        </p:nvSpPr>
        <p:spPr bwMode="auto">
          <a:xfrm>
            <a:off x="6019800" y="3324225"/>
            <a:ext cx="2513013" cy="561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>
            <a:spAutoFit/>
          </a:bodyPr>
          <a:lstStyle/>
          <a:p>
            <a:pPr eaLnBrk="0" hangingPunct="0">
              <a:lnSpc>
                <a:spcPct val="110000"/>
              </a:lnSpc>
              <a:spcBef>
                <a:spcPct val="20000"/>
              </a:spcBef>
              <a:buClr>
                <a:schemeClr val="folHlink"/>
              </a:buClr>
              <a:buSzPct val="75000"/>
              <a:buFont typeface="Monotype Sorts" pitchFamily="2" charset="2"/>
              <a:buNone/>
              <a:defRPr/>
            </a:pPr>
            <a:r>
              <a:rPr kumimoji="1" lang="zh-CN" altLang="en-US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  <a:cs typeface="Times New Roman" pitchFamily="18" charset="0"/>
              </a:rPr>
              <a:t>改造1：</a:t>
            </a:r>
            <a:r>
              <a:rPr kumimoji="1" lang="en-US" altLang="zh-CN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  <a:cs typeface="Times New Roman" pitchFamily="18" charset="0"/>
              </a:rPr>
              <a:t>match</a:t>
            </a:r>
          </a:p>
        </p:txBody>
      </p:sp>
      <p:sp>
        <p:nvSpPr>
          <p:cNvPr id="288775" name="Text Box 7"/>
          <p:cNvSpPr txBox="1">
            <a:spLocks noChangeArrowheads="1"/>
          </p:cNvSpPr>
          <p:nvPr/>
        </p:nvSpPr>
        <p:spPr bwMode="auto">
          <a:xfrm>
            <a:off x="3708400" y="5486400"/>
            <a:ext cx="4070350" cy="561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>
            <a:spAutoFit/>
          </a:bodyPr>
          <a:lstStyle/>
          <a:p>
            <a:pPr eaLnBrk="0" hangingPunct="0">
              <a:lnSpc>
                <a:spcPct val="110000"/>
              </a:lnSpc>
              <a:spcBef>
                <a:spcPct val="20000"/>
              </a:spcBef>
              <a:buClr>
                <a:schemeClr val="folHlink"/>
              </a:buClr>
              <a:buSzPct val="75000"/>
              <a:buFont typeface="Monotype Sorts" pitchFamily="2" charset="2"/>
              <a:buNone/>
              <a:defRPr/>
            </a:pPr>
            <a:r>
              <a:rPr kumimoji="1" lang="zh-CN" altLang="en-US" sz="2800" b="1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  <a:cs typeface="Times New Roman" pitchFamily="18" charset="0"/>
              </a:rPr>
              <a:t>改造2：</a:t>
            </a:r>
            <a:r>
              <a:rPr kumimoji="1" lang="en-US" altLang="zh-CN" sz="2800" b="1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  <a:cs typeface="Times New Roman" pitchFamily="18" charset="0"/>
              </a:rPr>
              <a:t>left factoring?</a:t>
            </a:r>
          </a:p>
        </p:txBody>
      </p:sp>
      <p:sp>
        <p:nvSpPr>
          <p:cNvPr id="288776" name="Text Box 8"/>
          <p:cNvSpPr txBox="1">
            <a:spLocks noChangeArrowheads="1"/>
          </p:cNvSpPr>
          <p:nvPr/>
        </p:nvSpPr>
        <p:spPr bwMode="auto">
          <a:xfrm>
            <a:off x="457200" y="5029200"/>
            <a:ext cx="3200400" cy="1600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>
            <a:spAutoFit/>
          </a:bodyPr>
          <a:lstStyle/>
          <a:p>
            <a:pPr eaLnBrk="0" hangingPunct="0"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3200" b="1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S→TS|CS</a:t>
            </a:r>
          </a:p>
          <a:p>
            <a:pPr eaLnBrk="0" hangingPunct="0"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3200" b="1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C→if E then</a:t>
            </a:r>
          </a:p>
          <a:p>
            <a:pPr eaLnBrk="0" hangingPunct="0"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320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T </a:t>
            </a:r>
            <a:r>
              <a:rPr kumimoji="1" lang="en-US" altLang="zh-CN" sz="3200" b="1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→CS else</a:t>
            </a:r>
            <a:endParaRPr kumimoji="1" lang="en-US" altLang="zh-CN" sz="2800" b="1">
              <a:solidFill>
                <a:srgbClr val="000099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itchFamily="18" charset="0"/>
            </a:endParaRPr>
          </a:p>
        </p:txBody>
      </p:sp>
      <p:sp>
        <p:nvSpPr>
          <p:cNvPr id="288778" name="Text Box 10"/>
          <p:cNvSpPr txBox="1">
            <a:spLocks noChangeArrowheads="1"/>
          </p:cNvSpPr>
          <p:nvPr/>
        </p:nvSpPr>
        <p:spPr bwMode="auto">
          <a:xfrm>
            <a:off x="3817938" y="5994400"/>
            <a:ext cx="4537075" cy="561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>
            <a:spAutoFit/>
          </a:bodyPr>
          <a:lstStyle/>
          <a:p>
            <a:pPr eaLnBrk="0" hangingPunct="0">
              <a:lnSpc>
                <a:spcPct val="110000"/>
              </a:lnSpc>
              <a:spcBef>
                <a:spcPct val="20000"/>
              </a:spcBef>
              <a:buClr>
                <a:schemeClr val="folHlink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800" b="1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C—Condition          T—else</a:t>
            </a:r>
          </a:p>
        </p:txBody>
      </p:sp>
      <p:sp>
        <p:nvSpPr>
          <p:cNvPr id="288779" name="Text Box 11"/>
          <p:cNvSpPr txBox="1">
            <a:spLocks noChangeArrowheads="1"/>
          </p:cNvSpPr>
          <p:nvPr/>
        </p:nvSpPr>
        <p:spPr bwMode="auto">
          <a:xfrm>
            <a:off x="323850" y="836613"/>
            <a:ext cx="8388350" cy="1076325"/>
          </a:xfrm>
          <a:prstGeom prst="rect">
            <a:avLst/>
          </a:prstGeom>
          <a:solidFill>
            <a:srgbClr val="006666"/>
          </a:solidFill>
          <a:ln w="9525">
            <a:solidFill>
              <a:schemeClr val="folHlink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3200" b="1">
                <a:solidFill>
                  <a:schemeClr val="bg1"/>
                </a:solidFill>
                <a:latin typeface="Times New Roman" pitchFamily="18" charset="0"/>
                <a:ea typeface="华文新魏" pitchFamily="2" charset="-122"/>
              </a:rPr>
              <a:t>每个</a:t>
            </a:r>
            <a:r>
              <a:rPr lang="en-US" altLang="zh-CN" sz="3200" b="1">
                <a:solidFill>
                  <a:schemeClr val="bg1"/>
                </a:solidFill>
                <a:latin typeface="Times New Roman" pitchFamily="18" charset="0"/>
                <a:ea typeface="华文新魏" pitchFamily="2" charset="-122"/>
              </a:rPr>
              <a:t>else</a:t>
            </a:r>
            <a:r>
              <a:rPr lang="zh-CN" altLang="en-US" sz="3200" b="1">
                <a:solidFill>
                  <a:schemeClr val="bg1"/>
                </a:solidFill>
                <a:latin typeface="Times New Roman" pitchFamily="18" charset="0"/>
                <a:ea typeface="华文新魏" pitchFamily="2" charset="-122"/>
              </a:rPr>
              <a:t>与前面最近的没有配对的</a:t>
            </a:r>
            <a:r>
              <a:rPr lang="en-US" altLang="zh-CN" sz="3200" b="1">
                <a:solidFill>
                  <a:schemeClr val="bg1"/>
                </a:solidFill>
                <a:latin typeface="Times New Roman" pitchFamily="18" charset="0"/>
                <a:ea typeface="华文新魏" pitchFamily="2" charset="-122"/>
              </a:rPr>
              <a:t>then</a:t>
            </a:r>
            <a:r>
              <a:rPr lang="zh-CN" altLang="en-US" sz="3200" b="1">
                <a:solidFill>
                  <a:schemeClr val="bg1"/>
                </a:solidFill>
                <a:latin typeface="Times New Roman" pitchFamily="18" charset="0"/>
                <a:ea typeface="华文新魏" pitchFamily="2" charset="-122"/>
              </a:rPr>
              <a:t>配对，即出现在</a:t>
            </a:r>
            <a:r>
              <a:rPr lang="en-US" altLang="zh-CN" sz="3200" b="1">
                <a:solidFill>
                  <a:schemeClr val="bg1"/>
                </a:solidFill>
                <a:latin typeface="Times New Roman" pitchFamily="18" charset="0"/>
                <a:ea typeface="华文新魏" pitchFamily="2" charset="-122"/>
              </a:rPr>
              <a:t>then</a:t>
            </a:r>
            <a:r>
              <a:rPr lang="zh-CN" altLang="en-US" sz="3200" b="1">
                <a:solidFill>
                  <a:schemeClr val="bg1"/>
                </a:solidFill>
                <a:latin typeface="Times New Roman" pitchFamily="18" charset="0"/>
                <a:ea typeface="华文新魏" pitchFamily="2" charset="-122"/>
              </a:rPr>
              <a:t>和</a:t>
            </a:r>
            <a:r>
              <a:rPr lang="en-US" altLang="zh-CN" sz="3200" b="1">
                <a:solidFill>
                  <a:schemeClr val="bg1"/>
                </a:solidFill>
                <a:latin typeface="Times New Roman" pitchFamily="18" charset="0"/>
                <a:ea typeface="华文新魏" pitchFamily="2" charset="-122"/>
              </a:rPr>
              <a:t>else</a:t>
            </a:r>
            <a:r>
              <a:rPr lang="zh-CN" altLang="en-US" sz="3200" b="1">
                <a:solidFill>
                  <a:schemeClr val="bg1"/>
                </a:solidFill>
                <a:latin typeface="Times New Roman" pitchFamily="18" charset="0"/>
                <a:ea typeface="华文新魏" pitchFamily="2" charset="-122"/>
              </a:rPr>
              <a:t>之间的语句必须是配对的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>
          <a:xfrm>
            <a:off x="1066800" y="228600"/>
            <a:ext cx="6705600" cy="685800"/>
          </a:xfrm>
        </p:spPr>
        <p:txBody>
          <a:bodyPr/>
          <a:lstStyle/>
          <a:p>
            <a:pPr eaLnBrk="1" hangingPunct="1"/>
            <a:r>
              <a:rPr lang="zh-CN" altLang="en-US" sz="4000" b="1" smtClean="0">
                <a:solidFill>
                  <a:srgbClr val="000099"/>
                </a:solidFill>
                <a:latin typeface="Times New Roman" pitchFamily="18" charset="0"/>
                <a:ea typeface="华文新魏" pitchFamily="2" charset="-122"/>
              </a:rPr>
              <a:t>按照“改造1”构造的语法树</a:t>
            </a:r>
          </a:p>
        </p:txBody>
      </p:sp>
      <p:sp>
        <p:nvSpPr>
          <p:cNvPr id="289796" name="Line 4"/>
          <p:cNvSpPr>
            <a:spLocks noChangeShapeType="1"/>
          </p:cNvSpPr>
          <p:nvPr/>
        </p:nvSpPr>
        <p:spPr bwMode="auto">
          <a:xfrm flipV="1">
            <a:off x="4392613" y="5229225"/>
            <a:ext cx="0" cy="830263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2075" tIns="46038" rIns="92075" bIns="46038"/>
          <a:lstStyle/>
          <a:p>
            <a:endParaRPr lang="zh-CN" altLang="en-US"/>
          </a:p>
        </p:txBody>
      </p:sp>
      <p:sp>
        <p:nvSpPr>
          <p:cNvPr id="289797" name="Line 5"/>
          <p:cNvSpPr>
            <a:spLocks noChangeShapeType="1"/>
          </p:cNvSpPr>
          <p:nvPr/>
        </p:nvSpPr>
        <p:spPr bwMode="auto">
          <a:xfrm flipV="1">
            <a:off x="6507163" y="5302250"/>
            <a:ext cx="0" cy="28733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2075" tIns="46038" rIns="92075" bIns="46038"/>
          <a:lstStyle/>
          <a:p>
            <a:endParaRPr lang="zh-CN" altLang="en-US"/>
          </a:p>
        </p:txBody>
      </p:sp>
      <p:sp>
        <p:nvSpPr>
          <p:cNvPr id="289798" name="Line 6"/>
          <p:cNvSpPr>
            <a:spLocks noChangeShapeType="1"/>
          </p:cNvSpPr>
          <p:nvPr/>
        </p:nvSpPr>
        <p:spPr bwMode="auto">
          <a:xfrm flipH="1" flipV="1">
            <a:off x="8523288" y="5373688"/>
            <a:ext cx="0" cy="2159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2075" tIns="46038" rIns="92075" bIns="46038"/>
          <a:lstStyle/>
          <a:p>
            <a:endParaRPr lang="zh-CN" altLang="en-US"/>
          </a:p>
        </p:txBody>
      </p:sp>
      <p:sp>
        <p:nvSpPr>
          <p:cNvPr id="289799" name="Line 7"/>
          <p:cNvSpPr>
            <a:spLocks noChangeShapeType="1"/>
          </p:cNvSpPr>
          <p:nvPr/>
        </p:nvSpPr>
        <p:spPr bwMode="auto">
          <a:xfrm flipV="1">
            <a:off x="4537075" y="4294188"/>
            <a:ext cx="1727200" cy="719137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2075" tIns="46038" rIns="92075" bIns="46038"/>
          <a:lstStyle/>
          <a:p>
            <a:endParaRPr lang="zh-CN" altLang="en-US"/>
          </a:p>
        </p:txBody>
      </p:sp>
      <p:sp>
        <p:nvSpPr>
          <p:cNvPr id="289800" name="Line 8"/>
          <p:cNvSpPr>
            <a:spLocks noChangeShapeType="1"/>
          </p:cNvSpPr>
          <p:nvPr/>
        </p:nvSpPr>
        <p:spPr bwMode="auto">
          <a:xfrm flipV="1">
            <a:off x="5473700" y="4365625"/>
            <a:ext cx="863600" cy="172878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2075" tIns="46038" rIns="92075" bIns="46038"/>
          <a:lstStyle/>
          <a:p>
            <a:endParaRPr lang="zh-CN" altLang="en-US"/>
          </a:p>
        </p:txBody>
      </p:sp>
      <p:sp>
        <p:nvSpPr>
          <p:cNvPr id="289801" name="Line 9"/>
          <p:cNvSpPr>
            <a:spLocks noChangeShapeType="1"/>
          </p:cNvSpPr>
          <p:nvPr/>
        </p:nvSpPr>
        <p:spPr bwMode="auto">
          <a:xfrm flipH="1" flipV="1">
            <a:off x="6624638" y="4294188"/>
            <a:ext cx="762000" cy="1828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2075" tIns="46038" rIns="92075" bIns="46038"/>
          <a:lstStyle/>
          <a:p>
            <a:endParaRPr lang="zh-CN" altLang="en-US"/>
          </a:p>
        </p:txBody>
      </p:sp>
      <p:sp>
        <p:nvSpPr>
          <p:cNvPr id="289802" name="Line 10"/>
          <p:cNvSpPr>
            <a:spLocks noChangeShapeType="1"/>
          </p:cNvSpPr>
          <p:nvPr/>
        </p:nvSpPr>
        <p:spPr bwMode="auto">
          <a:xfrm flipH="1" flipV="1">
            <a:off x="6481763" y="4294188"/>
            <a:ext cx="0" cy="7905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2075" tIns="46038" rIns="92075" bIns="46038"/>
          <a:lstStyle/>
          <a:p>
            <a:endParaRPr lang="zh-CN" altLang="en-US"/>
          </a:p>
        </p:txBody>
      </p:sp>
      <p:sp>
        <p:nvSpPr>
          <p:cNvPr id="289803" name="Freeform 11"/>
          <p:cNvSpPr>
            <a:spLocks/>
          </p:cNvSpPr>
          <p:nvPr/>
        </p:nvSpPr>
        <p:spPr bwMode="auto">
          <a:xfrm>
            <a:off x="3529013" y="4221163"/>
            <a:ext cx="2808287" cy="1800225"/>
          </a:xfrm>
          <a:custGeom>
            <a:avLst/>
            <a:gdLst>
              <a:gd name="T0" fmla="*/ 2808287 w 1664"/>
              <a:gd name="T1" fmla="*/ 0 h 1248"/>
              <a:gd name="T2" fmla="*/ 459047 w 1664"/>
              <a:gd name="T3" fmla="*/ 484676 h 1248"/>
              <a:gd name="T4" fmla="*/ 54006 w 1664"/>
              <a:gd name="T5" fmla="*/ 1800225 h 1248"/>
              <a:gd name="T6" fmla="*/ 0 60000 65536"/>
              <a:gd name="T7" fmla="*/ 0 60000 65536"/>
              <a:gd name="T8" fmla="*/ 0 60000 65536"/>
              <a:gd name="T9" fmla="*/ 0 w 1664"/>
              <a:gd name="T10" fmla="*/ 0 h 1248"/>
              <a:gd name="T11" fmla="*/ 1664 w 1664"/>
              <a:gd name="T12" fmla="*/ 1248 h 124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664" h="1248">
                <a:moveTo>
                  <a:pt x="1664" y="0"/>
                </a:moveTo>
                <a:cubicBezTo>
                  <a:pt x="1104" y="64"/>
                  <a:pt x="544" y="128"/>
                  <a:pt x="272" y="336"/>
                </a:cubicBezTo>
                <a:cubicBezTo>
                  <a:pt x="0" y="544"/>
                  <a:pt x="64" y="1096"/>
                  <a:pt x="32" y="1248"/>
                </a:cubicBezTo>
              </a:path>
            </a:pathLst>
          </a:cu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2075" tIns="46038" rIns="92075" bIns="46038"/>
          <a:lstStyle/>
          <a:p>
            <a:endParaRPr lang="zh-CN" altLang="en-US"/>
          </a:p>
        </p:txBody>
      </p:sp>
      <p:sp>
        <p:nvSpPr>
          <p:cNvPr id="289804" name="Line 12"/>
          <p:cNvSpPr>
            <a:spLocks noChangeShapeType="1"/>
          </p:cNvSpPr>
          <p:nvPr/>
        </p:nvSpPr>
        <p:spPr bwMode="auto">
          <a:xfrm>
            <a:off x="6624638" y="4221163"/>
            <a:ext cx="1773237" cy="787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2075" tIns="46038" rIns="92075" bIns="46038"/>
          <a:lstStyle/>
          <a:p>
            <a:endParaRPr lang="zh-CN" altLang="en-US"/>
          </a:p>
        </p:txBody>
      </p:sp>
      <p:sp>
        <p:nvSpPr>
          <p:cNvPr id="289805" name="Line 13"/>
          <p:cNvSpPr>
            <a:spLocks noChangeShapeType="1"/>
          </p:cNvSpPr>
          <p:nvPr/>
        </p:nvSpPr>
        <p:spPr bwMode="auto">
          <a:xfrm flipV="1">
            <a:off x="6481763" y="3502025"/>
            <a:ext cx="0" cy="50323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2075" tIns="46038" rIns="92075" bIns="46038"/>
          <a:lstStyle/>
          <a:p>
            <a:endParaRPr lang="zh-CN" altLang="en-US"/>
          </a:p>
        </p:txBody>
      </p:sp>
      <p:sp>
        <p:nvSpPr>
          <p:cNvPr id="289806" name="Line 14"/>
          <p:cNvSpPr>
            <a:spLocks noChangeShapeType="1"/>
          </p:cNvSpPr>
          <p:nvPr/>
        </p:nvSpPr>
        <p:spPr bwMode="auto">
          <a:xfrm flipV="1">
            <a:off x="1873250" y="2781300"/>
            <a:ext cx="3095625" cy="20161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2075" tIns="46038" rIns="92075" bIns="46038"/>
          <a:lstStyle/>
          <a:p>
            <a:endParaRPr lang="zh-CN" altLang="en-US"/>
          </a:p>
        </p:txBody>
      </p:sp>
      <p:sp>
        <p:nvSpPr>
          <p:cNvPr id="289807" name="Line 15"/>
          <p:cNvSpPr>
            <a:spLocks noChangeShapeType="1"/>
          </p:cNvSpPr>
          <p:nvPr/>
        </p:nvSpPr>
        <p:spPr bwMode="auto">
          <a:xfrm flipV="1">
            <a:off x="1728788" y="5229225"/>
            <a:ext cx="0" cy="86518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2075" tIns="46038" rIns="92075" bIns="46038"/>
          <a:lstStyle/>
          <a:p>
            <a:endParaRPr lang="zh-CN" altLang="en-US"/>
          </a:p>
        </p:txBody>
      </p:sp>
      <p:sp>
        <p:nvSpPr>
          <p:cNvPr id="289808" name="Line 16"/>
          <p:cNvSpPr>
            <a:spLocks noChangeShapeType="1"/>
          </p:cNvSpPr>
          <p:nvPr/>
        </p:nvSpPr>
        <p:spPr bwMode="auto">
          <a:xfrm flipV="1">
            <a:off x="2808288" y="2852738"/>
            <a:ext cx="2160587" cy="316865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2075" tIns="46038" rIns="92075" bIns="46038"/>
          <a:lstStyle/>
          <a:p>
            <a:endParaRPr lang="zh-CN" altLang="en-US"/>
          </a:p>
        </p:txBody>
      </p:sp>
      <p:sp>
        <p:nvSpPr>
          <p:cNvPr id="289809" name="Line 17"/>
          <p:cNvSpPr>
            <a:spLocks noChangeShapeType="1"/>
          </p:cNvSpPr>
          <p:nvPr/>
        </p:nvSpPr>
        <p:spPr bwMode="auto">
          <a:xfrm>
            <a:off x="5256213" y="2781300"/>
            <a:ext cx="1152525" cy="50323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2075" tIns="46038" rIns="92075" bIns="46038"/>
          <a:lstStyle/>
          <a:p>
            <a:endParaRPr lang="zh-CN" altLang="en-US"/>
          </a:p>
        </p:txBody>
      </p:sp>
      <p:sp>
        <p:nvSpPr>
          <p:cNvPr id="289810" name="Line 18"/>
          <p:cNvSpPr>
            <a:spLocks noChangeShapeType="1"/>
          </p:cNvSpPr>
          <p:nvPr/>
        </p:nvSpPr>
        <p:spPr bwMode="auto">
          <a:xfrm flipV="1">
            <a:off x="5113338" y="2205038"/>
            <a:ext cx="0" cy="376237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2075" tIns="46038" rIns="92075" bIns="46038"/>
          <a:lstStyle/>
          <a:p>
            <a:endParaRPr lang="zh-CN" altLang="en-US"/>
          </a:p>
        </p:txBody>
      </p:sp>
      <p:sp>
        <p:nvSpPr>
          <p:cNvPr id="289811" name="Freeform 19"/>
          <p:cNvSpPr>
            <a:spLocks/>
          </p:cNvSpPr>
          <p:nvPr/>
        </p:nvSpPr>
        <p:spPr bwMode="auto">
          <a:xfrm>
            <a:off x="720725" y="2781300"/>
            <a:ext cx="4248150" cy="3313113"/>
          </a:xfrm>
          <a:custGeom>
            <a:avLst/>
            <a:gdLst>
              <a:gd name="T0" fmla="*/ 159487 w 2344"/>
              <a:gd name="T1" fmla="*/ 3313113 h 2208"/>
              <a:gd name="T2" fmla="*/ 681444 w 2344"/>
              <a:gd name="T3" fmla="*/ 1872629 h 2208"/>
              <a:gd name="T4" fmla="*/ 4248150 w 2344"/>
              <a:gd name="T5" fmla="*/ 0 h 2208"/>
              <a:gd name="T6" fmla="*/ 0 60000 65536"/>
              <a:gd name="T7" fmla="*/ 0 60000 65536"/>
              <a:gd name="T8" fmla="*/ 0 60000 65536"/>
              <a:gd name="T9" fmla="*/ 0 w 2344"/>
              <a:gd name="T10" fmla="*/ 0 h 2208"/>
              <a:gd name="T11" fmla="*/ 2344 w 2344"/>
              <a:gd name="T12" fmla="*/ 2208 h 220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344" h="2208">
                <a:moveTo>
                  <a:pt x="88" y="2208"/>
                </a:moveTo>
                <a:cubicBezTo>
                  <a:pt x="44" y="1912"/>
                  <a:pt x="0" y="1616"/>
                  <a:pt x="376" y="1248"/>
                </a:cubicBezTo>
                <a:cubicBezTo>
                  <a:pt x="752" y="880"/>
                  <a:pt x="1548" y="440"/>
                  <a:pt x="2344" y="0"/>
                </a:cubicBezTo>
              </a:path>
            </a:pathLst>
          </a:cu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2075" tIns="46038" rIns="92075" bIns="46038"/>
          <a:lstStyle/>
          <a:p>
            <a:endParaRPr lang="zh-CN" altLang="en-US"/>
          </a:p>
        </p:txBody>
      </p:sp>
      <p:sp>
        <p:nvSpPr>
          <p:cNvPr id="289814" name="Rectangle 22"/>
          <p:cNvSpPr>
            <a:spLocks noChangeArrowheads="1"/>
          </p:cNvSpPr>
          <p:nvPr/>
        </p:nvSpPr>
        <p:spPr bwMode="auto">
          <a:xfrm>
            <a:off x="720725" y="6003925"/>
            <a:ext cx="82486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2400" b="1">
                <a:latin typeface="Times New Roman" pitchFamily="18" charset="0"/>
              </a:rPr>
              <a:t>if    a≠0       then      if      a&gt;0       then       b=1      else        b=-1</a:t>
            </a:r>
            <a:endParaRPr lang="zh-CN" altLang="en-US" sz="2400" b="1">
              <a:latin typeface="Times New Roman" pitchFamily="18" charset="0"/>
            </a:endParaRPr>
          </a:p>
        </p:txBody>
      </p:sp>
      <p:sp>
        <p:nvSpPr>
          <p:cNvPr id="289815" name="Rectangle 23"/>
          <p:cNvSpPr>
            <a:spLocks noChangeArrowheads="1"/>
          </p:cNvSpPr>
          <p:nvPr/>
        </p:nvSpPr>
        <p:spPr bwMode="auto">
          <a:xfrm>
            <a:off x="8208963" y="4995863"/>
            <a:ext cx="471487" cy="38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lnSpc>
                <a:spcPct val="8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en-US" altLang="zh-CN" sz="2400" b="1">
                <a:latin typeface="Times New Roman" pitchFamily="18" charset="0"/>
              </a:rPr>
              <a:t>M</a:t>
            </a:r>
          </a:p>
        </p:txBody>
      </p:sp>
      <p:sp>
        <p:nvSpPr>
          <p:cNvPr id="289816" name="Rectangle 24"/>
          <p:cNvSpPr>
            <a:spLocks noChangeArrowheads="1"/>
          </p:cNvSpPr>
          <p:nvPr/>
        </p:nvSpPr>
        <p:spPr bwMode="auto">
          <a:xfrm>
            <a:off x="6242050" y="4949825"/>
            <a:ext cx="4714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2400" b="1">
                <a:latin typeface="Times New Roman" pitchFamily="18" charset="0"/>
              </a:rPr>
              <a:t>M</a:t>
            </a:r>
            <a:endParaRPr lang="zh-CN" altLang="en-US" sz="2400" b="1">
              <a:latin typeface="Times New Roman" pitchFamily="18" charset="0"/>
            </a:endParaRPr>
          </a:p>
        </p:txBody>
      </p:sp>
      <p:sp>
        <p:nvSpPr>
          <p:cNvPr id="289817" name="Rectangle 25"/>
          <p:cNvSpPr>
            <a:spLocks noChangeArrowheads="1"/>
          </p:cNvSpPr>
          <p:nvPr/>
        </p:nvSpPr>
        <p:spPr bwMode="auto">
          <a:xfrm>
            <a:off x="4176713" y="4797425"/>
            <a:ext cx="3714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altLang="zh-CN" sz="2400" b="1">
                <a:latin typeface="Times New Roman" pitchFamily="18" charset="0"/>
              </a:rPr>
              <a:t>E</a:t>
            </a:r>
            <a:endParaRPr lang="zh-CN" altLang="en-US" sz="2400" b="1">
              <a:latin typeface="Times New Roman" pitchFamily="18" charset="0"/>
            </a:endParaRPr>
          </a:p>
        </p:txBody>
      </p:sp>
      <p:sp>
        <p:nvSpPr>
          <p:cNvPr id="289818" name="Rectangle 26"/>
          <p:cNvSpPr>
            <a:spLocks noChangeArrowheads="1"/>
          </p:cNvSpPr>
          <p:nvPr/>
        </p:nvSpPr>
        <p:spPr bwMode="auto">
          <a:xfrm>
            <a:off x="1584325" y="4805363"/>
            <a:ext cx="3873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2400" b="1">
                <a:latin typeface="Times New Roman" pitchFamily="18" charset="0"/>
              </a:rPr>
              <a:t>E</a:t>
            </a:r>
            <a:endParaRPr lang="zh-CN" altLang="en-US" sz="2400" b="1">
              <a:latin typeface="Times New Roman" pitchFamily="18" charset="0"/>
            </a:endParaRPr>
          </a:p>
        </p:txBody>
      </p:sp>
      <p:sp>
        <p:nvSpPr>
          <p:cNvPr id="289819" name="Rectangle 27"/>
          <p:cNvSpPr>
            <a:spLocks noChangeArrowheads="1"/>
          </p:cNvSpPr>
          <p:nvPr/>
        </p:nvSpPr>
        <p:spPr bwMode="auto">
          <a:xfrm>
            <a:off x="6242050" y="3941763"/>
            <a:ext cx="4714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2400" b="1">
                <a:latin typeface="Times New Roman" pitchFamily="18" charset="0"/>
              </a:rPr>
              <a:t>M</a:t>
            </a:r>
            <a:endParaRPr lang="zh-CN" altLang="en-US" sz="2400" b="1">
              <a:latin typeface="Times New Roman" pitchFamily="18" charset="0"/>
            </a:endParaRPr>
          </a:p>
        </p:txBody>
      </p:sp>
      <p:sp>
        <p:nvSpPr>
          <p:cNvPr id="289820" name="Rectangle 28"/>
          <p:cNvSpPr>
            <a:spLocks noChangeArrowheads="1"/>
          </p:cNvSpPr>
          <p:nvPr/>
        </p:nvSpPr>
        <p:spPr bwMode="auto">
          <a:xfrm>
            <a:off x="6264275" y="3149600"/>
            <a:ext cx="3540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2400" b="1">
                <a:latin typeface="Times New Roman" pitchFamily="18" charset="0"/>
              </a:rPr>
              <a:t>S</a:t>
            </a:r>
            <a:endParaRPr lang="zh-CN" altLang="en-US" sz="2400" b="1">
              <a:latin typeface="Times New Roman" pitchFamily="18" charset="0"/>
            </a:endParaRPr>
          </a:p>
        </p:txBody>
      </p:sp>
      <p:sp>
        <p:nvSpPr>
          <p:cNvPr id="289821" name="Rectangle 29"/>
          <p:cNvSpPr>
            <a:spLocks noChangeArrowheads="1"/>
          </p:cNvSpPr>
          <p:nvPr/>
        </p:nvSpPr>
        <p:spPr bwMode="auto">
          <a:xfrm>
            <a:off x="4897438" y="2571750"/>
            <a:ext cx="404812" cy="38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lnSpc>
                <a:spcPct val="8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en-US" altLang="zh-CN" sz="2400" b="1">
                <a:latin typeface="Times New Roman" pitchFamily="18" charset="0"/>
              </a:rPr>
              <a:t>U</a:t>
            </a:r>
          </a:p>
        </p:txBody>
      </p:sp>
      <p:sp>
        <p:nvSpPr>
          <p:cNvPr id="289822" name="Rectangle 30"/>
          <p:cNvSpPr>
            <a:spLocks noChangeArrowheads="1"/>
          </p:cNvSpPr>
          <p:nvPr/>
        </p:nvSpPr>
        <p:spPr bwMode="auto">
          <a:xfrm>
            <a:off x="4922838" y="1852613"/>
            <a:ext cx="3540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2400" b="1">
                <a:latin typeface="Times New Roman" pitchFamily="18" charset="0"/>
              </a:rPr>
              <a:t>S</a:t>
            </a:r>
            <a:endParaRPr lang="zh-CN" altLang="en-US" sz="2400" b="1">
              <a:latin typeface="Times New Roman" pitchFamily="18" charset="0"/>
            </a:endParaRPr>
          </a:p>
        </p:txBody>
      </p:sp>
      <p:sp>
        <p:nvSpPr>
          <p:cNvPr id="289824" name="Rectangle 32"/>
          <p:cNvSpPr>
            <a:spLocks noChangeArrowheads="1"/>
          </p:cNvSpPr>
          <p:nvPr/>
        </p:nvSpPr>
        <p:spPr bwMode="auto">
          <a:xfrm>
            <a:off x="6073775" y="5595938"/>
            <a:ext cx="7048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kumimoji="1" lang="en-US" altLang="zh-CN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other</a:t>
            </a:r>
            <a:endParaRPr kumimoji="1" lang="zh-CN" altLang="en-US" b="1">
              <a:effectLst>
                <a:outerShdw blurRad="38100" dist="38100" dir="2700000" algn="tl">
                  <a:srgbClr val="C0C0C0"/>
                </a:outerShdw>
              </a:effectLst>
              <a:latin typeface="Times New Roman" pitchFamily="18" charset="0"/>
            </a:endParaRPr>
          </a:p>
        </p:txBody>
      </p:sp>
      <p:sp>
        <p:nvSpPr>
          <p:cNvPr id="289825" name="Rectangle 33"/>
          <p:cNvSpPr>
            <a:spLocks noChangeArrowheads="1"/>
          </p:cNvSpPr>
          <p:nvPr/>
        </p:nvSpPr>
        <p:spPr bwMode="auto">
          <a:xfrm>
            <a:off x="8091488" y="5524500"/>
            <a:ext cx="7048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kumimoji="1" lang="en-US" altLang="zh-CN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other</a:t>
            </a:r>
            <a:endParaRPr kumimoji="1" lang="zh-CN" altLang="en-US" b="1">
              <a:effectLst>
                <a:outerShdw blurRad="38100" dist="38100" dir="2700000" algn="tl">
                  <a:srgbClr val="C0C0C0"/>
                </a:outerShdw>
              </a:effectLst>
              <a:latin typeface="Times New Roman" pitchFamily="18" charset="0"/>
            </a:endParaRPr>
          </a:p>
        </p:txBody>
      </p:sp>
      <p:sp>
        <p:nvSpPr>
          <p:cNvPr id="289826" name="Line 34"/>
          <p:cNvSpPr>
            <a:spLocks noChangeShapeType="1"/>
          </p:cNvSpPr>
          <p:nvPr/>
        </p:nvSpPr>
        <p:spPr bwMode="auto">
          <a:xfrm>
            <a:off x="6507163" y="5878513"/>
            <a:ext cx="0" cy="287337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89827" name="Line 35"/>
          <p:cNvSpPr>
            <a:spLocks noChangeShapeType="1"/>
          </p:cNvSpPr>
          <p:nvPr/>
        </p:nvSpPr>
        <p:spPr bwMode="auto">
          <a:xfrm>
            <a:off x="8523288" y="5805488"/>
            <a:ext cx="0" cy="287337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656" name="Rectangle 36"/>
          <p:cNvSpPr>
            <a:spLocks noChangeArrowheads="1"/>
          </p:cNvSpPr>
          <p:nvPr/>
        </p:nvSpPr>
        <p:spPr bwMode="auto">
          <a:xfrm>
            <a:off x="215900" y="985838"/>
            <a:ext cx="4572000" cy="1816100"/>
          </a:xfrm>
          <a:prstGeom prst="rect">
            <a:avLst/>
          </a:prstGeom>
          <a:solidFill>
            <a:srgbClr val="00666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altLang="zh-CN" sz="2800" b="1">
                <a:solidFill>
                  <a:schemeClr val="bg1"/>
                </a:solidFill>
                <a:latin typeface="Times New Roman" pitchFamily="18" charset="0"/>
              </a:rPr>
              <a:t>S→U|M</a:t>
            </a:r>
          </a:p>
          <a:p>
            <a:r>
              <a:rPr lang="en-US" altLang="zh-CN" sz="2800" b="1">
                <a:solidFill>
                  <a:schemeClr val="bg1"/>
                </a:solidFill>
                <a:latin typeface="Times New Roman" pitchFamily="18" charset="0"/>
              </a:rPr>
              <a:t>U→if E then S</a:t>
            </a:r>
          </a:p>
          <a:p>
            <a:r>
              <a:rPr lang="en-US" altLang="zh-CN" sz="2800" b="1">
                <a:solidFill>
                  <a:schemeClr val="bg1"/>
                </a:solidFill>
                <a:latin typeface="Times New Roman" pitchFamily="18" charset="0"/>
              </a:rPr>
              <a:t>U→if E then M else U</a:t>
            </a:r>
          </a:p>
          <a:p>
            <a:r>
              <a:rPr lang="en-US" altLang="zh-CN" sz="2800" b="1">
                <a:solidFill>
                  <a:schemeClr val="bg1"/>
                </a:solidFill>
                <a:latin typeface="Times New Roman" pitchFamily="18" charset="0"/>
              </a:rPr>
              <a:t>M→if E then M else M|other</a:t>
            </a:r>
            <a:endParaRPr lang="zh-CN" altLang="en-US" sz="2800" b="1">
              <a:solidFill>
                <a:schemeClr val="bg1"/>
              </a:solidFill>
              <a:latin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>
          <a:xfrm>
            <a:off x="1066800" y="228600"/>
            <a:ext cx="7537450" cy="1184275"/>
          </a:xfrm>
        </p:spPr>
        <p:txBody>
          <a:bodyPr/>
          <a:lstStyle/>
          <a:p>
            <a:pPr eaLnBrk="1" hangingPunct="1"/>
            <a:r>
              <a:rPr lang="zh-CN" altLang="en-US" sz="4000" b="1" smtClean="0">
                <a:solidFill>
                  <a:srgbClr val="000099"/>
                </a:solidFill>
                <a:latin typeface="Times New Roman" pitchFamily="18" charset="0"/>
                <a:ea typeface="华文新魏" pitchFamily="2" charset="-122"/>
              </a:rPr>
              <a:t>按照“改造1”构造的语法树</a:t>
            </a:r>
          </a:p>
        </p:txBody>
      </p:sp>
      <p:sp>
        <p:nvSpPr>
          <p:cNvPr id="27651" name="日期占位符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6F69ACEA-B126-4D9D-9015-E209C1C5C1CF}" type="datetime1">
              <a:rPr lang="zh-CN" altLang="en-US" smtClean="0"/>
              <a:pPr eaLnBrk="1" hangingPunct="1"/>
              <a:t>2017/2/24</a:t>
            </a:fld>
            <a:endParaRPr lang="en-US" altLang="zh-CN" smtClean="0"/>
          </a:p>
        </p:txBody>
      </p:sp>
      <p:sp>
        <p:nvSpPr>
          <p:cNvPr id="27652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6E33732D-26C8-46BB-AC89-32326B346323}" type="slidenum">
              <a:rPr lang="zh-CN" altLang="en-US" smtClean="0"/>
              <a:pPr eaLnBrk="1" hangingPunct="1"/>
              <a:t>19</a:t>
            </a:fld>
            <a:endParaRPr lang="en-US" altLang="zh-CN" smtClean="0"/>
          </a:p>
        </p:txBody>
      </p:sp>
      <p:sp>
        <p:nvSpPr>
          <p:cNvPr id="27653" name="Line 3"/>
          <p:cNvSpPr>
            <a:spLocks noChangeShapeType="1"/>
          </p:cNvSpPr>
          <p:nvPr/>
        </p:nvSpPr>
        <p:spPr bwMode="auto">
          <a:xfrm flipV="1">
            <a:off x="4186238" y="5589588"/>
            <a:ext cx="25400" cy="325437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2075" tIns="46038" rIns="92075" bIns="46038"/>
          <a:lstStyle/>
          <a:p>
            <a:endParaRPr lang="zh-CN" altLang="en-US"/>
          </a:p>
        </p:txBody>
      </p:sp>
      <p:sp>
        <p:nvSpPr>
          <p:cNvPr id="27654" name="Line 4"/>
          <p:cNvSpPr>
            <a:spLocks noChangeShapeType="1"/>
          </p:cNvSpPr>
          <p:nvPr/>
        </p:nvSpPr>
        <p:spPr bwMode="auto">
          <a:xfrm flipV="1">
            <a:off x="6300788" y="5157788"/>
            <a:ext cx="0" cy="287337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2075" tIns="46038" rIns="92075" bIns="46038"/>
          <a:lstStyle/>
          <a:p>
            <a:endParaRPr lang="zh-CN" altLang="en-US"/>
          </a:p>
        </p:txBody>
      </p:sp>
      <p:sp>
        <p:nvSpPr>
          <p:cNvPr id="27655" name="Line 5"/>
          <p:cNvSpPr>
            <a:spLocks noChangeShapeType="1"/>
          </p:cNvSpPr>
          <p:nvPr/>
        </p:nvSpPr>
        <p:spPr bwMode="auto">
          <a:xfrm flipH="1" flipV="1">
            <a:off x="8316913" y="5229225"/>
            <a:ext cx="0" cy="2159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2075" tIns="46038" rIns="92075" bIns="46038"/>
          <a:lstStyle/>
          <a:p>
            <a:endParaRPr lang="zh-CN" altLang="en-US"/>
          </a:p>
        </p:txBody>
      </p:sp>
      <p:sp>
        <p:nvSpPr>
          <p:cNvPr id="27656" name="Line 12"/>
          <p:cNvSpPr>
            <a:spLocks noChangeShapeType="1"/>
          </p:cNvSpPr>
          <p:nvPr/>
        </p:nvSpPr>
        <p:spPr bwMode="auto">
          <a:xfrm flipH="1" flipV="1">
            <a:off x="5940425" y="4724400"/>
            <a:ext cx="360363" cy="2159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2075" tIns="46038" rIns="92075" bIns="46038"/>
          <a:lstStyle/>
          <a:p>
            <a:endParaRPr lang="zh-CN" altLang="en-US"/>
          </a:p>
        </p:txBody>
      </p:sp>
      <p:sp>
        <p:nvSpPr>
          <p:cNvPr id="27657" name="Line 14"/>
          <p:cNvSpPr>
            <a:spLocks noChangeShapeType="1"/>
          </p:cNvSpPr>
          <p:nvPr/>
        </p:nvSpPr>
        <p:spPr bwMode="auto">
          <a:xfrm flipH="1" flipV="1">
            <a:off x="1476375" y="5445125"/>
            <a:ext cx="0" cy="5048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2075" tIns="46038" rIns="92075" bIns="46038"/>
          <a:lstStyle/>
          <a:p>
            <a:endParaRPr lang="zh-CN" altLang="en-US"/>
          </a:p>
        </p:txBody>
      </p:sp>
      <p:sp>
        <p:nvSpPr>
          <p:cNvPr id="27658" name="Rectangle 20"/>
          <p:cNvSpPr>
            <a:spLocks noChangeArrowheads="1"/>
          </p:cNvSpPr>
          <p:nvPr/>
        </p:nvSpPr>
        <p:spPr bwMode="auto">
          <a:xfrm>
            <a:off x="514350" y="5859463"/>
            <a:ext cx="8305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altLang="zh-CN" sz="2800" b="1">
                <a:latin typeface="Times New Roman" pitchFamily="18" charset="0"/>
              </a:rPr>
              <a:t>if    a≠0    then   if      a&gt;0     then    b=1   else      b=-1</a:t>
            </a:r>
            <a:endParaRPr lang="zh-CN" altLang="en-US" sz="2800" b="1">
              <a:latin typeface="Times New Roman" pitchFamily="18" charset="0"/>
            </a:endParaRPr>
          </a:p>
        </p:txBody>
      </p:sp>
      <p:sp>
        <p:nvSpPr>
          <p:cNvPr id="27659" name="Rectangle 21"/>
          <p:cNvSpPr>
            <a:spLocks noChangeArrowheads="1"/>
          </p:cNvSpPr>
          <p:nvPr/>
        </p:nvSpPr>
        <p:spPr bwMode="auto">
          <a:xfrm>
            <a:off x="8002588" y="4851400"/>
            <a:ext cx="471487" cy="38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lnSpc>
                <a:spcPct val="8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en-US" altLang="zh-CN" sz="2400" b="1">
                <a:latin typeface="Times New Roman" pitchFamily="18" charset="0"/>
              </a:rPr>
              <a:t>M</a:t>
            </a:r>
          </a:p>
        </p:txBody>
      </p:sp>
      <p:sp>
        <p:nvSpPr>
          <p:cNvPr id="27660" name="Rectangle 22"/>
          <p:cNvSpPr>
            <a:spLocks noChangeArrowheads="1"/>
          </p:cNvSpPr>
          <p:nvPr/>
        </p:nvSpPr>
        <p:spPr bwMode="auto">
          <a:xfrm>
            <a:off x="6035675" y="4805363"/>
            <a:ext cx="4714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2400" b="1">
                <a:latin typeface="Times New Roman" pitchFamily="18" charset="0"/>
              </a:rPr>
              <a:t>M</a:t>
            </a:r>
            <a:endParaRPr lang="zh-CN" altLang="en-US" sz="2400" b="1">
              <a:latin typeface="Times New Roman" pitchFamily="18" charset="0"/>
            </a:endParaRPr>
          </a:p>
        </p:txBody>
      </p:sp>
      <p:sp>
        <p:nvSpPr>
          <p:cNvPr id="27661" name="Rectangle 23"/>
          <p:cNvSpPr>
            <a:spLocks noChangeArrowheads="1"/>
          </p:cNvSpPr>
          <p:nvPr/>
        </p:nvSpPr>
        <p:spPr bwMode="auto">
          <a:xfrm>
            <a:off x="3995738" y="5229225"/>
            <a:ext cx="3714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altLang="zh-CN" sz="2400" b="1">
                <a:latin typeface="Times New Roman" pitchFamily="18" charset="0"/>
              </a:rPr>
              <a:t>E</a:t>
            </a:r>
            <a:endParaRPr lang="zh-CN" altLang="en-US" sz="2400" b="1">
              <a:latin typeface="Times New Roman" pitchFamily="18" charset="0"/>
            </a:endParaRPr>
          </a:p>
        </p:txBody>
      </p:sp>
      <p:sp>
        <p:nvSpPr>
          <p:cNvPr id="27662" name="Rectangle 24"/>
          <p:cNvSpPr>
            <a:spLocks noChangeArrowheads="1"/>
          </p:cNvSpPr>
          <p:nvPr/>
        </p:nvSpPr>
        <p:spPr bwMode="auto">
          <a:xfrm>
            <a:off x="1331913" y="5021263"/>
            <a:ext cx="3873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2400" b="1">
                <a:latin typeface="Times New Roman" pitchFamily="18" charset="0"/>
              </a:rPr>
              <a:t>E</a:t>
            </a:r>
            <a:endParaRPr lang="zh-CN" altLang="en-US" sz="2400" b="1">
              <a:latin typeface="Times New Roman" pitchFamily="18" charset="0"/>
            </a:endParaRPr>
          </a:p>
        </p:txBody>
      </p:sp>
      <p:sp>
        <p:nvSpPr>
          <p:cNvPr id="27663" name="Rectangle 26"/>
          <p:cNvSpPr>
            <a:spLocks noChangeArrowheads="1"/>
          </p:cNvSpPr>
          <p:nvPr/>
        </p:nvSpPr>
        <p:spPr bwMode="auto">
          <a:xfrm>
            <a:off x="5651500" y="4445000"/>
            <a:ext cx="3540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2400" b="1">
                <a:latin typeface="Times New Roman" pitchFamily="18" charset="0"/>
              </a:rPr>
              <a:t>S</a:t>
            </a:r>
            <a:endParaRPr lang="zh-CN" altLang="en-US" sz="2400" b="1">
              <a:latin typeface="Times New Roman" pitchFamily="18" charset="0"/>
            </a:endParaRPr>
          </a:p>
        </p:txBody>
      </p:sp>
      <p:sp>
        <p:nvSpPr>
          <p:cNvPr id="27664" name="Rectangle 27"/>
          <p:cNvSpPr>
            <a:spLocks noChangeArrowheads="1"/>
          </p:cNvSpPr>
          <p:nvPr/>
        </p:nvSpPr>
        <p:spPr bwMode="auto">
          <a:xfrm>
            <a:off x="4787900" y="4227513"/>
            <a:ext cx="404813" cy="38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lnSpc>
                <a:spcPct val="8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en-US" altLang="zh-CN" sz="2400" b="1">
                <a:latin typeface="Times New Roman" pitchFamily="18" charset="0"/>
              </a:rPr>
              <a:t>U</a:t>
            </a:r>
          </a:p>
        </p:txBody>
      </p:sp>
      <p:sp>
        <p:nvSpPr>
          <p:cNvPr id="463901" name="Rectangle 29"/>
          <p:cNvSpPr>
            <a:spLocks noChangeArrowheads="1"/>
          </p:cNvSpPr>
          <p:nvPr/>
        </p:nvSpPr>
        <p:spPr bwMode="auto">
          <a:xfrm>
            <a:off x="5867400" y="5300663"/>
            <a:ext cx="93662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kumimoji="1" lang="en-US" altLang="zh-CN" sz="24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other</a:t>
            </a:r>
            <a:endParaRPr kumimoji="1" lang="zh-CN" altLang="en-US" sz="2400" b="1">
              <a:effectLst>
                <a:outerShdw blurRad="38100" dist="38100" dir="2700000" algn="tl">
                  <a:srgbClr val="C0C0C0"/>
                </a:outerShdw>
              </a:effectLst>
              <a:latin typeface="Times New Roman" pitchFamily="18" charset="0"/>
            </a:endParaRPr>
          </a:p>
        </p:txBody>
      </p:sp>
      <p:sp>
        <p:nvSpPr>
          <p:cNvPr id="463902" name="Rectangle 30"/>
          <p:cNvSpPr>
            <a:spLocks noChangeArrowheads="1"/>
          </p:cNvSpPr>
          <p:nvPr/>
        </p:nvSpPr>
        <p:spPr bwMode="auto">
          <a:xfrm>
            <a:off x="7885113" y="5300663"/>
            <a:ext cx="11049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kumimoji="1" lang="en-US" altLang="zh-CN" sz="24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other</a:t>
            </a:r>
            <a:endParaRPr kumimoji="1" lang="zh-CN" altLang="en-US" sz="2400" b="1">
              <a:effectLst>
                <a:outerShdw blurRad="38100" dist="38100" dir="2700000" algn="tl">
                  <a:srgbClr val="C0C0C0"/>
                </a:outerShdw>
              </a:effectLst>
              <a:latin typeface="Times New Roman" pitchFamily="18" charset="0"/>
            </a:endParaRPr>
          </a:p>
        </p:txBody>
      </p:sp>
      <p:sp>
        <p:nvSpPr>
          <p:cNvPr id="27667" name="Line 31"/>
          <p:cNvSpPr>
            <a:spLocks noChangeShapeType="1"/>
          </p:cNvSpPr>
          <p:nvPr/>
        </p:nvSpPr>
        <p:spPr bwMode="auto">
          <a:xfrm>
            <a:off x="6300788" y="5734050"/>
            <a:ext cx="0" cy="28733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7668" name="Line 32"/>
          <p:cNvSpPr>
            <a:spLocks noChangeShapeType="1"/>
          </p:cNvSpPr>
          <p:nvPr/>
        </p:nvSpPr>
        <p:spPr bwMode="auto">
          <a:xfrm>
            <a:off x="8316913" y="5661025"/>
            <a:ext cx="0" cy="28733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7669" name="Line 33"/>
          <p:cNvSpPr>
            <a:spLocks noChangeShapeType="1"/>
          </p:cNvSpPr>
          <p:nvPr/>
        </p:nvSpPr>
        <p:spPr bwMode="auto">
          <a:xfrm flipV="1">
            <a:off x="3348038" y="4365625"/>
            <a:ext cx="1511300" cy="1655763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7670" name="Line 34"/>
          <p:cNvSpPr>
            <a:spLocks noChangeShapeType="1"/>
          </p:cNvSpPr>
          <p:nvPr/>
        </p:nvSpPr>
        <p:spPr bwMode="auto">
          <a:xfrm flipV="1">
            <a:off x="4284663" y="4437063"/>
            <a:ext cx="574675" cy="865187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7671" name="Line 35"/>
          <p:cNvSpPr>
            <a:spLocks noChangeShapeType="1"/>
          </p:cNvSpPr>
          <p:nvPr/>
        </p:nvSpPr>
        <p:spPr bwMode="auto">
          <a:xfrm flipH="1" flipV="1">
            <a:off x="5076825" y="4437063"/>
            <a:ext cx="142875" cy="15843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7672" name="Line 36"/>
          <p:cNvSpPr>
            <a:spLocks noChangeShapeType="1"/>
          </p:cNvSpPr>
          <p:nvPr/>
        </p:nvSpPr>
        <p:spPr bwMode="auto">
          <a:xfrm>
            <a:off x="5148263" y="4365625"/>
            <a:ext cx="719137" cy="28733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7673" name="Line 39"/>
          <p:cNvSpPr>
            <a:spLocks noChangeShapeType="1"/>
          </p:cNvSpPr>
          <p:nvPr/>
        </p:nvSpPr>
        <p:spPr bwMode="auto">
          <a:xfrm flipV="1">
            <a:off x="1547813" y="4005263"/>
            <a:ext cx="1511300" cy="1077912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7674" name="Line 40"/>
          <p:cNvSpPr>
            <a:spLocks noChangeShapeType="1"/>
          </p:cNvSpPr>
          <p:nvPr/>
        </p:nvSpPr>
        <p:spPr bwMode="auto">
          <a:xfrm flipV="1">
            <a:off x="2484438" y="4005263"/>
            <a:ext cx="574675" cy="2016125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651" name="Text Box 41"/>
          <p:cNvSpPr txBox="1">
            <a:spLocks noChangeArrowheads="1"/>
          </p:cNvSpPr>
          <p:nvPr/>
        </p:nvSpPr>
        <p:spPr bwMode="auto">
          <a:xfrm>
            <a:off x="6011863" y="2781300"/>
            <a:ext cx="2447925" cy="1554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3200" b="1">
                <a:solidFill>
                  <a:schemeClr val="hlink"/>
                </a:solidFill>
                <a:latin typeface="Times New Roman" pitchFamily="18" charset="0"/>
                <a:ea typeface="华文新魏" pitchFamily="2" charset="-122"/>
              </a:rPr>
              <a:t>then</a:t>
            </a:r>
            <a:r>
              <a:rPr lang="zh-CN" altLang="en-US" sz="3200" b="1">
                <a:solidFill>
                  <a:schemeClr val="hlink"/>
                </a:solidFill>
                <a:latin typeface="Times New Roman" pitchFamily="18" charset="0"/>
                <a:ea typeface="华文新魏" pitchFamily="2" charset="-122"/>
              </a:rPr>
              <a:t>与</a:t>
            </a:r>
            <a:r>
              <a:rPr lang="en-US" altLang="zh-CN" sz="3200" b="1">
                <a:solidFill>
                  <a:schemeClr val="hlink"/>
                </a:solidFill>
                <a:latin typeface="Times New Roman" pitchFamily="18" charset="0"/>
                <a:ea typeface="华文新魏" pitchFamily="2" charset="-122"/>
              </a:rPr>
              <a:t>else</a:t>
            </a:r>
            <a:r>
              <a:rPr lang="zh-CN" altLang="en-US" sz="3200" b="1">
                <a:solidFill>
                  <a:schemeClr val="hlink"/>
                </a:solidFill>
                <a:latin typeface="Times New Roman" pitchFamily="18" charset="0"/>
                <a:ea typeface="华文新魏" pitchFamily="2" charset="-122"/>
              </a:rPr>
              <a:t>之间为</a:t>
            </a:r>
            <a:r>
              <a:rPr lang="en-US" altLang="zh-CN" sz="3200" b="1">
                <a:solidFill>
                  <a:schemeClr val="hlink"/>
                </a:solidFill>
                <a:latin typeface="Times New Roman" pitchFamily="18" charset="0"/>
                <a:ea typeface="华文新魏" pitchFamily="2" charset="-122"/>
              </a:rPr>
              <a:t>U</a:t>
            </a:r>
            <a:r>
              <a:rPr lang="zh-CN" altLang="en-US" sz="3200" b="1">
                <a:solidFill>
                  <a:schemeClr val="hlink"/>
                </a:solidFill>
                <a:latin typeface="Times New Roman" pitchFamily="18" charset="0"/>
                <a:ea typeface="华文新魏" pitchFamily="2" charset="-122"/>
              </a:rPr>
              <a:t>，无法走下去</a:t>
            </a:r>
          </a:p>
        </p:txBody>
      </p:sp>
      <p:sp>
        <p:nvSpPr>
          <p:cNvPr id="27676" name="Freeform 42"/>
          <p:cNvSpPr>
            <a:spLocks/>
          </p:cNvSpPr>
          <p:nvPr/>
        </p:nvSpPr>
        <p:spPr bwMode="auto">
          <a:xfrm>
            <a:off x="755650" y="4005263"/>
            <a:ext cx="2303463" cy="1871662"/>
          </a:xfrm>
          <a:custGeom>
            <a:avLst/>
            <a:gdLst>
              <a:gd name="T0" fmla="*/ 0 w 1406"/>
              <a:gd name="T1" fmla="*/ 1871662 h 1088"/>
              <a:gd name="T2" fmla="*/ 445620 w 1406"/>
              <a:gd name="T3" fmla="*/ 779286 h 1088"/>
              <a:gd name="T4" fmla="*/ 2303463 w 1406"/>
              <a:gd name="T5" fmla="*/ 0 h 1088"/>
              <a:gd name="T6" fmla="*/ 0 60000 65536"/>
              <a:gd name="T7" fmla="*/ 0 60000 65536"/>
              <a:gd name="T8" fmla="*/ 0 60000 65536"/>
              <a:gd name="T9" fmla="*/ 0 w 1406"/>
              <a:gd name="T10" fmla="*/ 0 h 1088"/>
              <a:gd name="T11" fmla="*/ 1406 w 1406"/>
              <a:gd name="T12" fmla="*/ 1088 h 108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406" h="1088">
                <a:moveTo>
                  <a:pt x="0" y="1088"/>
                </a:moveTo>
                <a:cubicBezTo>
                  <a:pt x="19" y="861"/>
                  <a:pt x="38" y="634"/>
                  <a:pt x="272" y="453"/>
                </a:cubicBezTo>
                <a:cubicBezTo>
                  <a:pt x="506" y="272"/>
                  <a:pt x="956" y="136"/>
                  <a:pt x="1406" y="0"/>
                </a:cubicBezTo>
              </a:path>
            </a:pathLst>
          </a:cu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7677" name="Line 43"/>
          <p:cNvSpPr>
            <a:spLocks noChangeShapeType="1"/>
          </p:cNvSpPr>
          <p:nvPr/>
        </p:nvSpPr>
        <p:spPr bwMode="auto">
          <a:xfrm flipH="1" flipV="1">
            <a:off x="4211638" y="4292600"/>
            <a:ext cx="647700" cy="71438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7678" name="Rectangle 44"/>
          <p:cNvSpPr>
            <a:spLocks noChangeArrowheads="1"/>
          </p:cNvSpPr>
          <p:nvPr/>
        </p:nvSpPr>
        <p:spPr bwMode="auto">
          <a:xfrm>
            <a:off x="3924300" y="4013200"/>
            <a:ext cx="3540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2400" b="1">
                <a:latin typeface="Times New Roman" pitchFamily="18" charset="0"/>
              </a:rPr>
              <a:t>S</a:t>
            </a:r>
            <a:endParaRPr lang="zh-CN" altLang="en-US" sz="2400" b="1">
              <a:latin typeface="Times New Roman" pitchFamily="18" charset="0"/>
            </a:endParaRPr>
          </a:p>
        </p:txBody>
      </p:sp>
      <p:sp>
        <p:nvSpPr>
          <p:cNvPr id="27679" name="Line 45"/>
          <p:cNvSpPr>
            <a:spLocks noChangeShapeType="1"/>
          </p:cNvSpPr>
          <p:nvPr/>
        </p:nvSpPr>
        <p:spPr bwMode="auto">
          <a:xfrm flipH="1" flipV="1">
            <a:off x="3132138" y="4005263"/>
            <a:ext cx="792162" cy="2159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7680" name="Rectangle 46"/>
          <p:cNvSpPr>
            <a:spLocks noChangeArrowheads="1"/>
          </p:cNvSpPr>
          <p:nvPr/>
        </p:nvSpPr>
        <p:spPr bwMode="auto">
          <a:xfrm>
            <a:off x="2916238" y="3700463"/>
            <a:ext cx="4048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2400" b="1">
                <a:latin typeface="Times New Roman" pitchFamily="18" charset="0"/>
              </a:rPr>
              <a:t>U</a:t>
            </a:r>
            <a:endParaRPr lang="zh-CN" altLang="en-US" sz="2400" b="1">
              <a:latin typeface="Times New Roman" pitchFamily="18" charset="0"/>
            </a:endParaRPr>
          </a:p>
        </p:txBody>
      </p:sp>
      <p:sp>
        <p:nvSpPr>
          <p:cNvPr id="27681" name="Rectangle 51"/>
          <p:cNvSpPr>
            <a:spLocks noChangeArrowheads="1"/>
          </p:cNvSpPr>
          <p:nvPr/>
        </p:nvSpPr>
        <p:spPr bwMode="auto">
          <a:xfrm>
            <a:off x="611188" y="1412875"/>
            <a:ext cx="4824412" cy="1800225"/>
          </a:xfrm>
          <a:prstGeom prst="rect">
            <a:avLst/>
          </a:prstGeom>
          <a:solidFill>
            <a:srgbClr val="00666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altLang="zh-CN" sz="2800" b="1">
                <a:solidFill>
                  <a:schemeClr val="bg1"/>
                </a:solidFill>
                <a:latin typeface="Times New Roman" pitchFamily="18" charset="0"/>
              </a:rPr>
              <a:t>S→U|M</a:t>
            </a:r>
          </a:p>
          <a:p>
            <a:r>
              <a:rPr lang="en-US" altLang="zh-CN" sz="2800" b="1">
                <a:solidFill>
                  <a:schemeClr val="bg1"/>
                </a:solidFill>
                <a:latin typeface="Times New Roman" pitchFamily="18" charset="0"/>
              </a:rPr>
              <a:t>U→if E then S</a:t>
            </a:r>
          </a:p>
          <a:p>
            <a:r>
              <a:rPr lang="en-US" altLang="zh-CN" sz="2800" b="1">
                <a:solidFill>
                  <a:schemeClr val="bg1"/>
                </a:solidFill>
                <a:latin typeface="Times New Roman" pitchFamily="18" charset="0"/>
              </a:rPr>
              <a:t>U→if E then M else U</a:t>
            </a:r>
          </a:p>
          <a:p>
            <a:r>
              <a:rPr lang="en-US" altLang="zh-CN" sz="2800" b="1">
                <a:solidFill>
                  <a:schemeClr val="bg1"/>
                </a:solidFill>
                <a:latin typeface="Times New Roman" pitchFamily="18" charset="0"/>
              </a:rPr>
              <a:t>M→if E then M else M|other</a:t>
            </a:r>
            <a:endParaRPr lang="zh-CN" altLang="en-US" sz="2800" b="1">
              <a:solidFill>
                <a:schemeClr val="bg1"/>
              </a:solidFill>
              <a:latin typeface="Times New Roman" pitchFamily="18" charset="0"/>
            </a:endParaRPr>
          </a:p>
        </p:txBody>
      </p:sp>
      <p:grpSp>
        <p:nvGrpSpPr>
          <p:cNvPr id="2" name="Group 41"/>
          <p:cNvGrpSpPr>
            <a:grpSpLocks/>
          </p:cNvGrpSpPr>
          <p:nvPr/>
        </p:nvGrpSpPr>
        <p:grpSpPr bwMode="auto">
          <a:xfrm>
            <a:off x="2268538" y="1052513"/>
            <a:ext cx="6261100" cy="1871662"/>
            <a:chOff x="1429" y="663"/>
            <a:chExt cx="3944" cy="1179"/>
          </a:xfrm>
        </p:grpSpPr>
        <p:sp>
          <p:nvSpPr>
            <p:cNvPr id="27685" name="AutoShape 47"/>
            <p:cNvSpPr>
              <a:spLocks noChangeArrowheads="1"/>
            </p:cNvSpPr>
            <p:nvPr/>
          </p:nvSpPr>
          <p:spPr bwMode="auto">
            <a:xfrm>
              <a:off x="3696" y="663"/>
              <a:ext cx="1677" cy="953"/>
            </a:xfrm>
            <a:prstGeom prst="wedgeRoundRectCallout">
              <a:avLst>
                <a:gd name="adj1" fmla="val -146602"/>
                <a:gd name="adj2" fmla="val 52412"/>
                <a:gd name="adj3" fmla="val 16667"/>
              </a:avLst>
            </a:prstGeom>
            <a:solidFill>
              <a:srgbClr val="9933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ctr"/>
              <a:r>
                <a:rPr lang="en-US" altLang="zh-CN" sz="2800" b="1">
                  <a:solidFill>
                    <a:schemeClr val="bg1"/>
                  </a:solidFill>
                  <a:latin typeface="Times New Roman" pitchFamily="18" charset="0"/>
                  <a:ea typeface="华文新魏" pitchFamily="2" charset="-122"/>
                </a:rPr>
                <a:t>then</a:t>
              </a:r>
              <a:r>
                <a:rPr lang="zh-CN" altLang="en-US" sz="2800" b="1">
                  <a:solidFill>
                    <a:schemeClr val="bg1"/>
                  </a:solidFill>
                  <a:latin typeface="Times New Roman" pitchFamily="18" charset="0"/>
                  <a:ea typeface="华文新魏" pitchFamily="2" charset="-122"/>
                </a:rPr>
                <a:t>与</a:t>
              </a:r>
              <a:r>
                <a:rPr lang="en-US" altLang="zh-CN" sz="2800" b="1">
                  <a:solidFill>
                    <a:schemeClr val="bg1"/>
                  </a:solidFill>
                  <a:latin typeface="Times New Roman" pitchFamily="18" charset="0"/>
                  <a:ea typeface="华文新魏" pitchFamily="2" charset="-122"/>
                </a:rPr>
                <a:t>else</a:t>
              </a:r>
              <a:r>
                <a:rPr lang="zh-CN" altLang="en-US" sz="2800" b="1">
                  <a:solidFill>
                    <a:schemeClr val="bg1"/>
                  </a:solidFill>
                  <a:latin typeface="Times New Roman" pitchFamily="18" charset="0"/>
                  <a:ea typeface="华文新魏" pitchFamily="2" charset="-122"/>
                </a:rPr>
                <a:t>之间一定是</a:t>
              </a:r>
              <a:r>
                <a:rPr lang="en-US" altLang="zh-CN" sz="2800" b="1">
                  <a:solidFill>
                    <a:schemeClr val="bg1"/>
                  </a:solidFill>
                  <a:latin typeface="Times New Roman" pitchFamily="18" charset="0"/>
                  <a:ea typeface="华文新魏" pitchFamily="2" charset="-122"/>
                </a:rPr>
                <a:t>M</a:t>
              </a:r>
              <a:r>
                <a:rPr lang="zh-CN" altLang="en-US" sz="2800" b="1">
                  <a:solidFill>
                    <a:schemeClr val="bg1"/>
                  </a:solidFill>
                  <a:latin typeface="Times New Roman" pitchFamily="18" charset="0"/>
                  <a:ea typeface="华文新魏" pitchFamily="2" charset="-122"/>
                </a:rPr>
                <a:t>，</a:t>
              </a:r>
            </a:p>
            <a:p>
              <a:pPr algn="ctr"/>
              <a:r>
                <a:rPr lang="zh-CN" altLang="en-US" sz="2800" b="1">
                  <a:solidFill>
                    <a:schemeClr val="bg1"/>
                  </a:solidFill>
                  <a:latin typeface="Times New Roman" pitchFamily="18" charset="0"/>
                  <a:ea typeface="华文新魏" pitchFamily="2" charset="-122"/>
                </a:rPr>
                <a:t>否则无法匹配</a:t>
              </a:r>
            </a:p>
          </p:txBody>
        </p:sp>
        <p:sp>
          <p:nvSpPr>
            <p:cNvPr id="27686" name="Freeform 39"/>
            <p:cNvSpPr>
              <a:spLocks/>
            </p:cNvSpPr>
            <p:nvPr/>
          </p:nvSpPr>
          <p:spPr bwMode="auto">
            <a:xfrm>
              <a:off x="1429" y="1434"/>
              <a:ext cx="635" cy="136"/>
            </a:xfrm>
            <a:custGeom>
              <a:avLst/>
              <a:gdLst>
                <a:gd name="T0" fmla="*/ 0 w 635"/>
                <a:gd name="T1" fmla="*/ 136 h 136"/>
                <a:gd name="T2" fmla="*/ 317 w 635"/>
                <a:gd name="T3" fmla="*/ 0 h 136"/>
                <a:gd name="T4" fmla="*/ 635 w 635"/>
                <a:gd name="T5" fmla="*/ 136 h 136"/>
                <a:gd name="T6" fmla="*/ 0 60000 65536"/>
                <a:gd name="T7" fmla="*/ 0 60000 65536"/>
                <a:gd name="T8" fmla="*/ 0 60000 65536"/>
                <a:gd name="T9" fmla="*/ 0 w 635"/>
                <a:gd name="T10" fmla="*/ 0 h 136"/>
                <a:gd name="T11" fmla="*/ 635 w 635"/>
                <a:gd name="T12" fmla="*/ 136 h 1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635" h="136">
                  <a:moveTo>
                    <a:pt x="0" y="136"/>
                  </a:moveTo>
                  <a:cubicBezTo>
                    <a:pt x="105" y="68"/>
                    <a:pt x="211" y="0"/>
                    <a:pt x="317" y="0"/>
                  </a:cubicBezTo>
                  <a:cubicBezTo>
                    <a:pt x="423" y="0"/>
                    <a:pt x="529" y="68"/>
                    <a:pt x="635" y="136"/>
                  </a:cubicBezTo>
                </a:path>
              </a:pathLst>
            </a:custGeom>
            <a:noFill/>
            <a:ln w="38100">
              <a:solidFill>
                <a:srgbClr val="993366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687" name="Freeform 40"/>
            <p:cNvSpPr>
              <a:spLocks/>
            </p:cNvSpPr>
            <p:nvPr/>
          </p:nvSpPr>
          <p:spPr bwMode="auto">
            <a:xfrm>
              <a:off x="1474" y="1706"/>
              <a:ext cx="635" cy="136"/>
            </a:xfrm>
            <a:custGeom>
              <a:avLst/>
              <a:gdLst>
                <a:gd name="T0" fmla="*/ 0 w 635"/>
                <a:gd name="T1" fmla="*/ 136 h 136"/>
                <a:gd name="T2" fmla="*/ 317 w 635"/>
                <a:gd name="T3" fmla="*/ 0 h 136"/>
                <a:gd name="T4" fmla="*/ 635 w 635"/>
                <a:gd name="T5" fmla="*/ 136 h 136"/>
                <a:gd name="T6" fmla="*/ 0 60000 65536"/>
                <a:gd name="T7" fmla="*/ 0 60000 65536"/>
                <a:gd name="T8" fmla="*/ 0 60000 65536"/>
                <a:gd name="T9" fmla="*/ 0 w 635"/>
                <a:gd name="T10" fmla="*/ 0 h 136"/>
                <a:gd name="T11" fmla="*/ 635 w 635"/>
                <a:gd name="T12" fmla="*/ 136 h 1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635" h="136">
                  <a:moveTo>
                    <a:pt x="0" y="136"/>
                  </a:moveTo>
                  <a:cubicBezTo>
                    <a:pt x="105" y="68"/>
                    <a:pt x="211" y="0"/>
                    <a:pt x="317" y="0"/>
                  </a:cubicBezTo>
                  <a:cubicBezTo>
                    <a:pt x="423" y="0"/>
                    <a:pt x="529" y="68"/>
                    <a:pt x="635" y="136"/>
                  </a:cubicBezTo>
                </a:path>
              </a:pathLst>
            </a:custGeom>
            <a:noFill/>
            <a:ln w="38100">
              <a:solidFill>
                <a:srgbClr val="993366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6666" name="Freeform 42"/>
          <p:cNvSpPr>
            <a:spLocks/>
          </p:cNvSpPr>
          <p:nvPr/>
        </p:nvSpPr>
        <p:spPr bwMode="auto">
          <a:xfrm>
            <a:off x="2627313" y="3213100"/>
            <a:ext cx="3529012" cy="2879725"/>
          </a:xfrm>
          <a:custGeom>
            <a:avLst/>
            <a:gdLst>
              <a:gd name="T0" fmla="*/ 0 w 2132"/>
              <a:gd name="T1" fmla="*/ 1542 h 1542"/>
              <a:gd name="T2" fmla="*/ 998 w 2132"/>
              <a:gd name="T3" fmla="*/ 454 h 1542"/>
              <a:gd name="T4" fmla="*/ 2132 w 2132"/>
              <a:gd name="T5" fmla="*/ 0 h 1542"/>
              <a:gd name="T6" fmla="*/ 0 60000 65536"/>
              <a:gd name="T7" fmla="*/ 0 60000 65536"/>
              <a:gd name="T8" fmla="*/ 0 60000 65536"/>
              <a:gd name="T9" fmla="*/ 0 w 2132"/>
              <a:gd name="T10" fmla="*/ 0 h 1542"/>
              <a:gd name="T11" fmla="*/ 2132 w 2132"/>
              <a:gd name="T12" fmla="*/ 1542 h 154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32" h="1542">
                <a:moveTo>
                  <a:pt x="0" y="1542"/>
                </a:moveTo>
                <a:cubicBezTo>
                  <a:pt x="321" y="1126"/>
                  <a:pt x="643" y="711"/>
                  <a:pt x="998" y="454"/>
                </a:cubicBezTo>
                <a:cubicBezTo>
                  <a:pt x="1353" y="197"/>
                  <a:pt x="1742" y="98"/>
                  <a:pt x="2132" y="0"/>
                </a:cubicBezTo>
              </a:path>
            </a:pathLst>
          </a:custGeom>
          <a:noFill/>
          <a:ln w="38100">
            <a:solidFill>
              <a:srgbClr val="993366"/>
            </a:solidFill>
            <a:prstDash val="dash"/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667" name="Freeform 43"/>
          <p:cNvSpPr>
            <a:spLocks/>
          </p:cNvSpPr>
          <p:nvPr/>
        </p:nvSpPr>
        <p:spPr bwMode="auto">
          <a:xfrm>
            <a:off x="7019925" y="3213100"/>
            <a:ext cx="720725" cy="2879725"/>
          </a:xfrm>
          <a:custGeom>
            <a:avLst/>
            <a:gdLst>
              <a:gd name="T0" fmla="*/ 182 w 257"/>
              <a:gd name="T1" fmla="*/ 0 h 1224"/>
              <a:gd name="T2" fmla="*/ 227 w 257"/>
              <a:gd name="T3" fmla="*/ 635 h 1224"/>
              <a:gd name="T4" fmla="*/ 0 w 257"/>
              <a:gd name="T5" fmla="*/ 1224 h 1224"/>
              <a:gd name="T6" fmla="*/ 0 60000 65536"/>
              <a:gd name="T7" fmla="*/ 0 60000 65536"/>
              <a:gd name="T8" fmla="*/ 0 60000 65536"/>
              <a:gd name="T9" fmla="*/ 0 w 257"/>
              <a:gd name="T10" fmla="*/ 0 h 1224"/>
              <a:gd name="T11" fmla="*/ 257 w 257"/>
              <a:gd name="T12" fmla="*/ 1224 h 122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57" h="1224">
                <a:moveTo>
                  <a:pt x="182" y="0"/>
                </a:moveTo>
                <a:cubicBezTo>
                  <a:pt x="219" y="215"/>
                  <a:pt x="257" y="431"/>
                  <a:pt x="227" y="635"/>
                </a:cubicBezTo>
                <a:cubicBezTo>
                  <a:pt x="197" y="839"/>
                  <a:pt x="38" y="1133"/>
                  <a:pt x="0" y="1224"/>
                </a:cubicBezTo>
              </a:path>
            </a:pathLst>
          </a:custGeom>
          <a:noFill/>
          <a:ln w="38100">
            <a:solidFill>
              <a:srgbClr val="993366"/>
            </a:solidFill>
            <a:prstDash val="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>
          <a:xfrm>
            <a:off x="1116013" y="214313"/>
            <a:ext cx="7045325" cy="823912"/>
          </a:xfrm>
        </p:spPr>
        <p:txBody>
          <a:bodyPr/>
          <a:lstStyle/>
          <a:p>
            <a:pPr eaLnBrk="1" hangingPunct="1"/>
            <a:r>
              <a:rPr lang="zh-CN" altLang="en-US" sz="4000" b="1" smtClean="0">
                <a:solidFill>
                  <a:srgbClr val="000099"/>
                </a:solidFill>
                <a:latin typeface="Times New Roman" pitchFamily="18" charset="0"/>
                <a:ea typeface="华文新魏" pitchFamily="2" charset="-122"/>
              </a:rPr>
              <a:t>按照“改造2”构造的语法树</a:t>
            </a:r>
          </a:p>
        </p:txBody>
      </p:sp>
      <p:sp>
        <p:nvSpPr>
          <p:cNvPr id="28675" name="Rectangle 3"/>
          <p:cNvSpPr>
            <a:spLocks noGrp="1" noChangeArrowheads="1"/>
          </p:cNvSpPr>
          <p:nvPr>
            <p:ph idx="1"/>
          </p:nvPr>
        </p:nvSpPr>
        <p:spPr>
          <a:xfrm>
            <a:off x="609600" y="1447800"/>
            <a:ext cx="8305800" cy="4648200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zh-CN" altLang="en-US" sz="2800" b="1" smtClean="0">
                <a:latin typeface="Times New Roman" pitchFamily="18" charset="0"/>
                <a:ea typeface="华文新魏" pitchFamily="2" charset="-122"/>
              </a:rPr>
              <a:t>					</a:t>
            </a: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S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							S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						T(</a:t>
            </a:r>
            <a:r>
              <a:rPr lang="zh-CN" altLang="en-US" sz="2800" b="1" smtClean="0">
                <a:latin typeface="Times New Roman" pitchFamily="18" charset="0"/>
                <a:ea typeface="华文新魏" pitchFamily="2" charset="-122"/>
              </a:rPr>
              <a:t>就近</a:t>
            </a: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/</a:t>
            </a:r>
            <a:r>
              <a:rPr lang="zh-CN" altLang="en-US" sz="2800" b="1" smtClean="0">
                <a:latin typeface="Times New Roman" pitchFamily="18" charset="0"/>
                <a:ea typeface="华文新魏" pitchFamily="2" charset="-122"/>
              </a:rPr>
              <a:t>最长</a:t>
            </a: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)</a:t>
            </a:r>
          </a:p>
          <a:p>
            <a:pPr eaLnBrk="1" hangingPunct="1">
              <a:buFont typeface="Wingdings" pitchFamily="2" charset="2"/>
              <a:buNone/>
            </a:pPr>
            <a:endParaRPr lang="zh-CN" altLang="en-US" sz="2800" b="1" smtClean="0">
              <a:latin typeface="Times New Roman" pitchFamily="18" charset="0"/>
              <a:ea typeface="华文新魏" pitchFamily="2" charset="-122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zh-CN" altLang="en-US" sz="2800" b="1" smtClean="0">
                <a:latin typeface="Times New Roman" pitchFamily="18" charset="0"/>
                <a:ea typeface="华文新魏" pitchFamily="2" charset="-122"/>
              </a:rPr>
              <a:t>		</a:t>
            </a: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C			C</a:t>
            </a:r>
          </a:p>
          <a:p>
            <a:pPr eaLnBrk="1" hangingPunct="1">
              <a:buFont typeface="Wingdings" pitchFamily="2" charset="2"/>
              <a:buNone/>
            </a:pPr>
            <a:endParaRPr lang="en-US" altLang="zh-CN" sz="2800" b="1" smtClean="0">
              <a:latin typeface="Times New Roman" pitchFamily="18" charset="0"/>
              <a:ea typeface="华文新魏" pitchFamily="2" charset="-122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		E			E		S		S</a:t>
            </a:r>
          </a:p>
          <a:p>
            <a:pPr eaLnBrk="1" hangingPunct="1">
              <a:buFont typeface="Wingdings" pitchFamily="2" charset="2"/>
              <a:buNone/>
            </a:pPr>
            <a:endParaRPr lang="en-US" altLang="zh-CN" sz="2800" b="1" smtClean="0">
              <a:latin typeface="Times New Roman" pitchFamily="18" charset="0"/>
              <a:ea typeface="华文新魏" pitchFamily="2" charset="-122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If     a≠0    then      if  a&gt;0    then    b=1    else    b=-1</a:t>
            </a:r>
          </a:p>
        </p:txBody>
      </p:sp>
      <p:sp>
        <p:nvSpPr>
          <p:cNvPr id="28676" name="日期占位符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DC651DBE-6BA5-47BE-B573-3E8AD9448561}" type="datetime1">
              <a:rPr lang="zh-CN" altLang="en-US" smtClean="0"/>
              <a:pPr eaLnBrk="1" hangingPunct="1"/>
              <a:t>2017/2/24</a:t>
            </a:fld>
            <a:endParaRPr lang="en-US" altLang="zh-CN" smtClean="0"/>
          </a:p>
        </p:txBody>
      </p:sp>
      <p:sp>
        <p:nvSpPr>
          <p:cNvPr id="28677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CDA27D5D-9BF6-4023-9E1D-0D0EF4898FE1}" type="slidenum">
              <a:rPr lang="zh-CN" altLang="en-US" smtClean="0"/>
              <a:pPr eaLnBrk="1" hangingPunct="1"/>
              <a:t>20</a:t>
            </a:fld>
            <a:endParaRPr lang="en-US" altLang="zh-CN" smtClean="0"/>
          </a:p>
        </p:txBody>
      </p:sp>
      <p:sp>
        <p:nvSpPr>
          <p:cNvPr id="28678" name="Line 4"/>
          <p:cNvSpPr>
            <a:spLocks noChangeShapeType="1"/>
          </p:cNvSpPr>
          <p:nvPr/>
        </p:nvSpPr>
        <p:spPr bwMode="auto">
          <a:xfrm flipV="1">
            <a:off x="4495800" y="4953000"/>
            <a:ext cx="0" cy="685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2075" tIns="46038" rIns="92075" bIns="46038"/>
          <a:lstStyle/>
          <a:p>
            <a:endParaRPr lang="zh-CN" altLang="en-US"/>
          </a:p>
        </p:txBody>
      </p:sp>
      <p:sp>
        <p:nvSpPr>
          <p:cNvPr id="28679" name="Line 5"/>
          <p:cNvSpPr>
            <a:spLocks noChangeShapeType="1"/>
          </p:cNvSpPr>
          <p:nvPr/>
        </p:nvSpPr>
        <p:spPr bwMode="auto">
          <a:xfrm flipV="1">
            <a:off x="6324600" y="4953000"/>
            <a:ext cx="0" cy="7620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2075" tIns="46038" rIns="92075" bIns="46038"/>
          <a:lstStyle/>
          <a:p>
            <a:endParaRPr lang="zh-CN" altLang="en-US"/>
          </a:p>
        </p:txBody>
      </p:sp>
      <p:sp>
        <p:nvSpPr>
          <p:cNvPr id="28680" name="Line 6"/>
          <p:cNvSpPr>
            <a:spLocks noChangeShapeType="1"/>
          </p:cNvSpPr>
          <p:nvPr/>
        </p:nvSpPr>
        <p:spPr bwMode="auto">
          <a:xfrm flipV="1">
            <a:off x="8077200" y="4876800"/>
            <a:ext cx="0" cy="7620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2075" tIns="46038" rIns="92075" bIns="46038"/>
          <a:lstStyle/>
          <a:p>
            <a:endParaRPr lang="zh-CN" altLang="en-US"/>
          </a:p>
        </p:txBody>
      </p:sp>
      <p:sp>
        <p:nvSpPr>
          <p:cNvPr id="28681" name="Line 7"/>
          <p:cNvSpPr>
            <a:spLocks noChangeShapeType="1"/>
          </p:cNvSpPr>
          <p:nvPr/>
        </p:nvSpPr>
        <p:spPr bwMode="auto">
          <a:xfrm flipV="1">
            <a:off x="3810000" y="3810000"/>
            <a:ext cx="533400" cy="19050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2075" tIns="46038" rIns="92075" bIns="46038"/>
          <a:lstStyle/>
          <a:p>
            <a:endParaRPr lang="zh-CN" altLang="en-US"/>
          </a:p>
        </p:txBody>
      </p:sp>
      <p:sp>
        <p:nvSpPr>
          <p:cNvPr id="28682" name="Line 8"/>
          <p:cNvSpPr>
            <a:spLocks noChangeShapeType="1"/>
          </p:cNvSpPr>
          <p:nvPr/>
        </p:nvSpPr>
        <p:spPr bwMode="auto">
          <a:xfrm flipH="1" flipV="1">
            <a:off x="4572000" y="3886200"/>
            <a:ext cx="762000" cy="19050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2075" tIns="46038" rIns="92075" bIns="46038"/>
          <a:lstStyle/>
          <a:p>
            <a:endParaRPr lang="zh-CN" altLang="en-US"/>
          </a:p>
        </p:txBody>
      </p:sp>
      <p:sp>
        <p:nvSpPr>
          <p:cNvPr id="28683" name="Line 9"/>
          <p:cNvSpPr>
            <a:spLocks noChangeShapeType="1"/>
          </p:cNvSpPr>
          <p:nvPr/>
        </p:nvSpPr>
        <p:spPr bwMode="auto">
          <a:xfrm flipH="1" flipV="1">
            <a:off x="5410200" y="2819400"/>
            <a:ext cx="1828800" cy="2895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2075" tIns="46038" rIns="92075" bIns="46038"/>
          <a:lstStyle/>
          <a:p>
            <a:endParaRPr lang="zh-CN" altLang="en-US"/>
          </a:p>
        </p:txBody>
      </p:sp>
      <p:sp>
        <p:nvSpPr>
          <p:cNvPr id="28684" name="Line 10"/>
          <p:cNvSpPr>
            <a:spLocks noChangeShapeType="1"/>
          </p:cNvSpPr>
          <p:nvPr/>
        </p:nvSpPr>
        <p:spPr bwMode="auto">
          <a:xfrm flipH="1" flipV="1">
            <a:off x="5410200" y="2895600"/>
            <a:ext cx="838200" cy="1752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2075" tIns="46038" rIns="92075" bIns="46038"/>
          <a:lstStyle/>
          <a:p>
            <a:endParaRPr lang="zh-CN" altLang="en-US"/>
          </a:p>
        </p:txBody>
      </p:sp>
      <p:sp>
        <p:nvSpPr>
          <p:cNvPr id="28685" name="Line 11"/>
          <p:cNvSpPr>
            <a:spLocks noChangeShapeType="1"/>
          </p:cNvSpPr>
          <p:nvPr/>
        </p:nvSpPr>
        <p:spPr bwMode="auto">
          <a:xfrm>
            <a:off x="6324600" y="2286000"/>
            <a:ext cx="1676400" cy="2362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2075" tIns="46038" rIns="92075" bIns="46038"/>
          <a:lstStyle/>
          <a:p>
            <a:endParaRPr lang="zh-CN" altLang="en-US"/>
          </a:p>
        </p:txBody>
      </p:sp>
      <p:sp>
        <p:nvSpPr>
          <p:cNvPr id="28686" name="Line 12"/>
          <p:cNvSpPr>
            <a:spLocks noChangeShapeType="1"/>
          </p:cNvSpPr>
          <p:nvPr/>
        </p:nvSpPr>
        <p:spPr bwMode="auto">
          <a:xfrm flipH="1" flipV="1">
            <a:off x="1828800" y="3886200"/>
            <a:ext cx="990600" cy="1828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2075" tIns="46038" rIns="92075" bIns="46038"/>
          <a:lstStyle/>
          <a:p>
            <a:endParaRPr lang="zh-CN" altLang="en-US"/>
          </a:p>
        </p:txBody>
      </p:sp>
      <p:sp>
        <p:nvSpPr>
          <p:cNvPr id="28687" name="Line 13"/>
          <p:cNvSpPr>
            <a:spLocks noChangeShapeType="1"/>
          </p:cNvSpPr>
          <p:nvPr/>
        </p:nvSpPr>
        <p:spPr bwMode="auto">
          <a:xfrm flipV="1">
            <a:off x="1752600" y="4953000"/>
            <a:ext cx="0" cy="685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2075" tIns="46038" rIns="92075" bIns="46038"/>
          <a:lstStyle/>
          <a:p>
            <a:endParaRPr lang="zh-CN" altLang="en-US"/>
          </a:p>
        </p:txBody>
      </p:sp>
      <p:sp>
        <p:nvSpPr>
          <p:cNvPr id="28688" name="Line 14"/>
          <p:cNvSpPr>
            <a:spLocks noChangeShapeType="1"/>
          </p:cNvSpPr>
          <p:nvPr/>
        </p:nvSpPr>
        <p:spPr bwMode="auto">
          <a:xfrm flipV="1">
            <a:off x="1905000" y="1752600"/>
            <a:ext cx="2438400" cy="1981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2075" tIns="46038" rIns="92075" bIns="46038"/>
          <a:lstStyle/>
          <a:p>
            <a:endParaRPr lang="zh-CN" altLang="en-US"/>
          </a:p>
        </p:txBody>
      </p:sp>
      <p:sp>
        <p:nvSpPr>
          <p:cNvPr id="28689" name="Line 15"/>
          <p:cNvSpPr>
            <a:spLocks noChangeShapeType="1"/>
          </p:cNvSpPr>
          <p:nvPr/>
        </p:nvSpPr>
        <p:spPr bwMode="auto">
          <a:xfrm flipV="1">
            <a:off x="5486400" y="2286000"/>
            <a:ext cx="685800" cy="3810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2075" tIns="46038" rIns="92075" bIns="46038"/>
          <a:lstStyle/>
          <a:p>
            <a:endParaRPr lang="zh-CN" altLang="en-US"/>
          </a:p>
        </p:txBody>
      </p:sp>
      <p:sp>
        <p:nvSpPr>
          <p:cNvPr id="28690" name="Line 16"/>
          <p:cNvSpPr>
            <a:spLocks noChangeShapeType="1"/>
          </p:cNvSpPr>
          <p:nvPr/>
        </p:nvSpPr>
        <p:spPr bwMode="auto">
          <a:xfrm flipH="1" flipV="1">
            <a:off x="4495800" y="1752600"/>
            <a:ext cx="1676400" cy="3810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2075" tIns="46038" rIns="92075" bIns="46038"/>
          <a:lstStyle/>
          <a:p>
            <a:endParaRPr lang="zh-CN" altLang="en-US"/>
          </a:p>
        </p:txBody>
      </p:sp>
      <p:sp>
        <p:nvSpPr>
          <p:cNvPr id="28691" name="Line 17"/>
          <p:cNvSpPr>
            <a:spLocks noChangeShapeType="1"/>
          </p:cNvSpPr>
          <p:nvPr/>
        </p:nvSpPr>
        <p:spPr bwMode="auto">
          <a:xfrm flipV="1">
            <a:off x="4495800" y="3962400"/>
            <a:ext cx="0" cy="685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2075" tIns="46038" rIns="92075" bIns="46038"/>
          <a:lstStyle/>
          <a:p>
            <a:endParaRPr lang="zh-CN" altLang="en-US"/>
          </a:p>
        </p:txBody>
      </p:sp>
      <p:sp>
        <p:nvSpPr>
          <p:cNvPr id="28692" name="Line 18"/>
          <p:cNvSpPr>
            <a:spLocks noChangeShapeType="1"/>
          </p:cNvSpPr>
          <p:nvPr/>
        </p:nvSpPr>
        <p:spPr bwMode="auto">
          <a:xfrm flipV="1">
            <a:off x="914400" y="3886200"/>
            <a:ext cx="762000" cy="1752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2075" tIns="46038" rIns="92075" bIns="46038"/>
          <a:lstStyle/>
          <a:p>
            <a:endParaRPr lang="zh-CN" altLang="en-US"/>
          </a:p>
        </p:txBody>
      </p:sp>
      <p:sp>
        <p:nvSpPr>
          <p:cNvPr id="28693" name="Line 19"/>
          <p:cNvSpPr>
            <a:spLocks noChangeShapeType="1"/>
          </p:cNvSpPr>
          <p:nvPr/>
        </p:nvSpPr>
        <p:spPr bwMode="auto">
          <a:xfrm flipV="1">
            <a:off x="1752600" y="3886200"/>
            <a:ext cx="0" cy="7620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2075" tIns="46038" rIns="92075" bIns="46038"/>
          <a:lstStyle/>
          <a:p>
            <a:endParaRPr lang="zh-CN" altLang="en-US"/>
          </a:p>
        </p:txBody>
      </p:sp>
      <p:sp>
        <p:nvSpPr>
          <p:cNvPr id="28694" name="Line 20"/>
          <p:cNvSpPr>
            <a:spLocks noChangeShapeType="1"/>
          </p:cNvSpPr>
          <p:nvPr/>
        </p:nvSpPr>
        <p:spPr bwMode="auto">
          <a:xfrm flipV="1">
            <a:off x="4572000" y="2819400"/>
            <a:ext cx="685800" cy="838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2075" tIns="46038" rIns="92075" bIns="46038"/>
          <a:lstStyle/>
          <a:p>
            <a:endParaRPr lang="zh-CN" altLang="en-US"/>
          </a:p>
        </p:txBody>
      </p:sp>
      <p:sp>
        <p:nvSpPr>
          <p:cNvPr id="291861" name="Text Box 21"/>
          <p:cNvSpPr txBox="1">
            <a:spLocks noChangeArrowheads="1"/>
          </p:cNvSpPr>
          <p:nvPr/>
        </p:nvSpPr>
        <p:spPr bwMode="auto">
          <a:xfrm>
            <a:off x="152400" y="1143000"/>
            <a:ext cx="2819400" cy="1600200"/>
          </a:xfrm>
          <a:prstGeom prst="rect">
            <a:avLst/>
          </a:prstGeom>
          <a:solidFill>
            <a:srgbClr val="006666"/>
          </a:solidFill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>
            <a:spAutoFit/>
          </a:bodyPr>
          <a:lstStyle/>
          <a:p>
            <a:pPr eaLnBrk="0" hangingPunct="0"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3200" b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S→TS|CS</a:t>
            </a:r>
          </a:p>
          <a:p>
            <a:pPr eaLnBrk="0" hangingPunct="0"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3200" b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C→if E then</a:t>
            </a:r>
          </a:p>
          <a:p>
            <a:pPr eaLnBrk="0" hangingPunct="0"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320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T </a:t>
            </a:r>
            <a:r>
              <a:rPr kumimoji="1" lang="en-US" altLang="zh-CN" sz="3200" b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→CS else</a:t>
            </a:r>
            <a:endParaRPr kumimoji="1" lang="en-US" altLang="zh-CN" sz="2800" b="1"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3"/>
          <p:cNvSpPr>
            <a:spLocks noGrp="1" noChangeArrowheads="1"/>
          </p:cNvSpPr>
          <p:nvPr>
            <p:ph idx="1"/>
          </p:nvPr>
        </p:nvSpPr>
        <p:spPr>
          <a:xfrm>
            <a:off x="381000" y="1341438"/>
            <a:ext cx="8534400" cy="4732337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zh-CN" altLang="en-US" sz="2800" b="1" smtClean="0">
                <a:latin typeface="Times New Roman" pitchFamily="18" charset="0"/>
                <a:ea typeface="华文新魏" pitchFamily="2" charset="-122"/>
              </a:rPr>
              <a:t>							</a:t>
            </a: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S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						T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						S</a:t>
            </a:r>
            <a:endParaRPr lang="zh-CN" altLang="en-US" sz="2800" b="1" smtClean="0">
              <a:solidFill>
                <a:schemeClr val="folHlink"/>
              </a:solidFill>
              <a:latin typeface="Times New Roman" pitchFamily="18" charset="0"/>
              <a:ea typeface="华文新魏" pitchFamily="2" charset="-122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zh-CN" altLang="en-US" sz="2800" b="1" smtClean="0">
                <a:solidFill>
                  <a:schemeClr val="folHlink"/>
                </a:solidFill>
                <a:latin typeface="Times New Roman" pitchFamily="18" charset="0"/>
                <a:ea typeface="华文新魏" pitchFamily="2" charset="-122"/>
              </a:rPr>
              <a:t>                                                       </a:t>
            </a:r>
          </a:p>
          <a:p>
            <a:pPr eaLnBrk="1" hangingPunct="1">
              <a:buFont typeface="Wingdings" pitchFamily="2" charset="2"/>
              <a:buNone/>
            </a:pPr>
            <a:r>
              <a:rPr lang="zh-CN" altLang="en-US" sz="2800" b="1" smtClean="0">
                <a:latin typeface="Times New Roman" pitchFamily="18" charset="0"/>
                <a:ea typeface="华文新魏" pitchFamily="2" charset="-122"/>
              </a:rPr>
              <a:t>		</a:t>
            </a: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C			C</a:t>
            </a:r>
          </a:p>
          <a:p>
            <a:pPr eaLnBrk="1" hangingPunct="1">
              <a:buFont typeface="Wingdings" pitchFamily="2" charset="2"/>
              <a:buNone/>
            </a:pPr>
            <a:endParaRPr lang="en-US" altLang="zh-CN" sz="2800" b="1" smtClean="0">
              <a:latin typeface="Times New Roman" pitchFamily="18" charset="0"/>
              <a:ea typeface="华文新魏" pitchFamily="2" charset="-122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		E			E		  S		S</a:t>
            </a:r>
          </a:p>
          <a:p>
            <a:pPr eaLnBrk="1" hangingPunct="1">
              <a:buFont typeface="Wingdings" pitchFamily="2" charset="2"/>
              <a:buNone/>
            </a:pPr>
            <a:endParaRPr lang="en-US" altLang="zh-CN" sz="2800" b="1" smtClean="0">
              <a:latin typeface="Times New Roman" pitchFamily="18" charset="0"/>
              <a:ea typeface="华文新魏" pitchFamily="2" charset="-122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If     a≠0    then    if     a&gt;0    then     b=1    else   b=-1</a:t>
            </a:r>
            <a:endParaRPr lang="en-US" altLang="zh-CN" sz="2800" smtClean="0">
              <a:latin typeface="Times New Roman" pitchFamily="18" charset="0"/>
              <a:ea typeface="华文新魏" pitchFamily="2" charset="-122"/>
            </a:endParaRPr>
          </a:p>
        </p:txBody>
      </p:sp>
      <p:sp>
        <p:nvSpPr>
          <p:cNvPr id="29699" name="日期占位符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F2C4E477-19DE-4EDC-ADEC-F37236C2FA1F}" type="datetime1">
              <a:rPr lang="zh-CN" altLang="en-US" smtClean="0"/>
              <a:pPr eaLnBrk="1" hangingPunct="1"/>
              <a:t>2017/2/24</a:t>
            </a:fld>
            <a:endParaRPr lang="en-US" altLang="zh-CN" smtClean="0"/>
          </a:p>
        </p:txBody>
      </p:sp>
      <p:sp>
        <p:nvSpPr>
          <p:cNvPr id="29700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FB717D2E-9D21-42FD-9218-BDCDFC8996A2}" type="slidenum">
              <a:rPr lang="zh-CN" altLang="en-US" smtClean="0"/>
              <a:pPr eaLnBrk="1" hangingPunct="1"/>
              <a:t>21</a:t>
            </a:fld>
            <a:endParaRPr lang="en-US" altLang="zh-CN" smtClean="0"/>
          </a:p>
        </p:txBody>
      </p:sp>
      <p:sp>
        <p:nvSpPr>
          <p:cNvPr id="29701" name="Line 4"/>
          <p:cNvSpPr>
            <a:spLocks noChangeShapeType="1"/>
          </p:cNvSpPr>
          <p:nvPr/>
        </p:nvSpPr>
        <p:spPr bwMode="auto">
          <a:xfrm flipH="1">
            <a:off x="685800" y="3779838"/>
            <a:ext cx="762000" cy="1828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2075" tIns="46038" rIns="92075" bIns="46038"/>
          <a:lstStyle/>
          <a:p>
            <a:endParaRPr lang="zh-CN" altLang="en-US"/>
          </a:p>
        </p:txBody>
      </p:sp>
      <p:sp>
        <p:nvSpPr>
          <p:cNvPr id="29702" name="Line 5"/>
          <p:cNvSpPr>
            <a:spLocks noChangeShapeType="1"/>
          </p:cNvSpPr>
          <p:nvPr/>
        </p:nvSpPr>
        <p:spPr bwMode="auto">
          <a:xfrm flipH="1">
            <a:off x="1447800" y="4846638"/>
            <a:ext cx="0" cy="838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2075" tIns="46038" rIns="92075" bIns="46038"/>
          <a:lstStyle/>
          <a:p>
            <a:endParaRPr lang="zh-CN" altLang="en-US"/>
          </a:p>
        </p:txBody>
      </p:sp>
      <p:sp>
        <p:nvSpPr>
          <p:cNvPr id="29703" name="Line 6"/>
          <p:cNvSpPr>
            <a:spLocks noChangeShapeType="1"/>
          </p:cNvSpPr>
          <p:nvPr/>
        </p:nvSpPr>
        <p:spPr bwMode="auto">
          <a:xfrm>
            <a:off x="1676400" y="3779838"/>
            <a:ext cx="838200" cy="19050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2075" tIns="46038" rIns="92075" bIns="46038"/>
          <a:lstStyle/>
          <a:p>
            <a:endParaRPr lang="zh-CN" altLang="en-US"/>
          </a:p>
        </p:txBody>
      </p:sp>
      <p:sp>
        <p:nvSpPr>
          <p:cNvPr id="29704" name="Line 7"/>
          <p:cNvSpPr>
            <a:spLocks noChangeShapeType="1"/>
          </p:cNvSpPr>
          <p:nvPr/>
        </p:nvSpPr>
        <p:spPr bwMode="auto">
          <a:xfrm>
            <a:off x="5181600" y="2713038"/>
            <a:ext cx="990600" cy="19050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2075" tIns="46038" rIns="92075" bIns="46038"/>
          <a:lstStyle/>
          <a:p>
            <a:endParaRPr lang="zh-CN" altLang="en-US"/>
          </a:p>
        </p:txBody>
      </p:sp>
      <p:sp>
        <p:nvSpPr>
          <p:cNvPr id="29705" name="Line 8"/>
          <p:cNvSpPr>
            <a:spLocks noChangeShapeType="1"/>
          </p:cNvSpPr>
          <p:nvPr/>
        </p:nvSpPr>
        <p:spPr bwMode="auto">
          <a:xfrm flipH="1">
            <a:off x="4267200" y="2789238"/>
            <a:ext cx="762000" cy="7620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2075" tIns="46038" rIns="92075" bIns="46038"/>
          <a:lstStyle/>
          <a:p>
            <a:endParaRPr lang="zh-CN" altLang="en-US"/>
          </a:p>
        </p:txBody>
      </p:sp>
      <p:sp>
        <p:nvSpPr>
          <p:cNvPr id="29706" name="Line 9"/>
          <p:cNvSpPr>
            <a:spLocks noChangeShapeType="1"/>
          </p:cNvSpPr>
          <p:nvPr/>
        </p:nvSpPr>
        <p:spPr bwMode="auto">
          <a:xfrm>
            <a:off x="6248400" y="4846638"/>
            <a:ext cx="0" cy="838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2075" tIns="46038" rIns="92075" bIns="46038"/>
          <a:lstStyle/>
          <a:p>
            <a:endParaRPr lang="zh-CN" altLang="en-US"/>
          </a:p>
        </p:txBody>
      </p:sp>
      <p:sp>
        <p:nvSpPr>
          <p:cNvPr id="29707" name="Line 10"/>
          <p:cNvSpPr>
            <a:spLocks noChangeShapeType="1"/>
          </p:cNvSpPr>
          <p:nvPr/>
        </p:nvSpPr>
        <p:spPr bwMode="auto">
          <a:xfrm>
            <a:off x="4343400" y="3703638"/>
            <a:ext cx="914400" cy="1981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2075" tIns="46038" rIns="92075" bIns="46038"/>
          <a:lstStyle/>
          <a:p>
            <a:endParaRPr lang="zh-CN" altLang="en-US"/>
          </a:p>
        </p:txBody>
      </p:sp>
      <p:sp>
        <p:nvSpPr>
          <p:cNvPr id="29708" name="Line 11"/>
          <p:cNvSpPr>
            <a:spLocks noChangeShapeType="1"/>
          </p:cNvSpPr>
          <p:nvPr/>
        </p:nvSpPr>
        <p:spPr bwMode="auto">
          <a:xfrm flipH="1">
            <a:off x="4267200" y="3779838"/>
            <a:ext cx="0" cy="7620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2075" tIns="46038" rIns="92075" bIns="46038"/>
          <a:lstStyle/>
          <a:p>
            <a:endParaRPr lang="zh-CN" altLang="en-US"/>
          </a:p>
        </p:txBody>
      </p:sp>
      <p:sp>
        <p:nvSpPr>
          <p:cNvPr id="29709" name="Line 12"/>
          <p:cNvSpPr>
            <a:spLocks noChangeShapeType="1"/>
          </p:cNvSpPr>
          <p:nvPr/>
        </p:nvSpPr>
        <p:spPr bwMode="auto">
          <a:xfrm flipH="1">
            <a:off x="4267200" y="4846638"/>
            <a:ext cx="0" cy="7620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2075" tIns="46038" rIns="92075" bIns="46038"/>
          <a:lstStyle/>
          <a:p>
            <a:endParaRPr lang="zh-CN" altLang="en-US"/>
          </a:p>
        </p:txBody>
      </p:sp>
      <p:sp>
        <p:nvSpPr>
          <p:cNvPr id="29710" name="Line 13"/>
          <p:cNvSpPr>
            <a:spLocks noChangeShapeType="1"/>
          </p:cNvSpPr>
          <p:nvPr/>
        </p:nvSpPr>
        <p:spPr bwMode="auto">
          <a:xfrm flipH="1">
            <a:off x="3429000" y="3703638"/>
            <a:ext cx="762000" cy="1981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2075" tIns="46038" rIns="92075" bIns="46038"/>
          <a:lstStyle/>
          <a:p>
            <a:endParaRPr lang="zh-CN" altLang="en-US"/>
          </a:p>
        </p:txBody>
      </p:sp>
      <p:sp>
        <p:nvSpPr>
          <p:cNvPr id="29711" name="Line 14"/>
          <p:cNvSpPr>
            <a:spLocks noChangeShapeType="1"/>
          </p:cNvSpPr>
          <p:nvPr/>
        </p:nvSpPr>
        <p:spPr bwMode="auto">
          <a:xfrm flipH="1">
            <a:off x="1447800" y="3856038"/>
            <a:ext cx="76200" cy="7620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2075" tIns="46038" rIns="92075" bIns="46038"/>
          <a:lstStyle/>
          <a:p>
            <a:endParaRPr lang="zh-CN" altLang="en-US"/>
          </a:p>
        </p:txBody>
      </p:sp>
      <p:sp>
        <p:nvSpPr>
          <p:cNvPr id="29712" name="Line 15"/>
          <p:cNvSpPr>
            <a:spLocks noChangeShapeType="1"/>
          </p:cNvSpPr>
          <p:nvPr/>
        </p:nvSpPr>
        <p:spPr bwMode="auto">
          <a:xfrm flipH="1">
            <a:off x="1600200" y="2103438"/>
            <a:ext cx="3429000" cy="1447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2075" tIns="46038" rIns="92075" bIns="46038"/>
          <a:lstStyle/>
          <a:p>
            <a:endParaRPr lang="zh-CN" altLang="en-US"/>
          </a:p>
        </p:txBody>
      </p:sp>
      <p:sp>
        <p:nvSpPr>
          <p:cNvPr id="29713" name="Line 16"/>
          <p:cNvSpPr>
            <a:spLocks noChangeShapeType="1"/>
          </p:cNvSpPr>
          <p:nvPr/>
        </p:nvSpPr>
        <p:spPr bwMode="auto">
          <a:xfrm flipH="1">
            <a:off x="7848600" y="4846638"/>
            <a:ext cx="0" cy="838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2075" tIns="46038" rIns="92075" bIns="46038"/>
          <a:lstStyle/>
          <a:p>
            <a:endParaRPr lang="zh-CN" altLang="en-US"/>
          </a:p>
        </p:txBody>
      </p:sp>
      <p:sp>
        <p:nvSpPr>
          <p:cNvPr id="29714" name="Freeform 17"/>
          <p:cNvSpPr>
            <a:spLocks/>
          </p:cNvSpPr>
          <p:nvPr/>
        </p:nvSpPr>
        <p:spPr bwMode="auto">
          <a:xfrm>
            <a:off x="5181600" y="2103438"/>
            <a:ext cx="2057400" cy="3657600"/>
          </a:xfrm>
          <a:custGeom>
            <a:avLst/>
            <a:gdLst>
              <a:gd name="T0" fmla="*/ 0 w 1728"/>
              <a:gd name="T1" fmla="*/ 0 h 1584"/>
              <a:gd name="T2" fmla="*/ 1371600 w 1728"/>
              <a:gd name="T3" fmla="*/ 665018 h 1584"/>
              <a:gd name="T4" fmla="*/ 2057400 w 1728"/>
              <a:gd name="T5" fmla="*/ 3657600 h 1584"/>
              <a:gd name="T6" fmla="*/ 0 60000 65536"/>
              <a:gd name="T7" fmla="*/ 0 60000 65536"/>
              <a:gd name="T8" fmla="*/ 0 60000 65536"/>
              <a:gd name="T9" fmla="*/ 0 w 1728"/>
              <a:gd name="T10" fmla="*/ 0 h 1584"/>
              <a:gd name="T11" fmla="*/ 1728 w 1728"/>
              <a:gd name="T12" fmla="*/ 1584 h 158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728" h="1584">
                <a:moveTo>
                  <a:pt x="0" y="0"/>
                </a:moveTo>
                <a:cubicBezTo>
                  <a:pt x="432" y="12"/>
                  <a:pt x="864" y="24"/>
                  <a:pt x="1152" y="288"/>
                </a:cubicBezTo>
                <a:cubicBezTo>
                  <a:pt x="1440" y="552"/>
                  <a:pt x="1648" y="1368"/>
                  <a:pt x="1728" y="1584"/>
                </a:cubicBezTo>
              </a:path>
            </a:pathLst>
          </a:cu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2075" tIns="46038" rIns="92075" bIns="46038"/>
          <a:lstStyle/>
          <a:p>
            <a:endParaRPr lang="zh-CN" altLang="en-US"/>
          </a:p>
        </p:txBody>
      </p:sp>
      <p:sp>
        <p:nvSpPr>
          <p:cNvPr id="29715" name="Line 18"/>
          <p:cNvSpPr>
            <a:spLocks noChangeShapeType="1"/>
          </p:cNvSpPr>
          <p:nvPr/>
        </p:nvSpPr>
        <p:spPr bwMode="auto">
          <a:xfrm>
            <a:off x="5105400" y="2255838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2075" tIns="46038" rIns="92075" bIns="46038"/>
          <a:lstStyle/>
          <a:p>
            <a:endParaRPr lang="zh-CN" altLang="en-US"/>
          </a:p>
        </p:txBody>
      </p:sp>
      <p:sp>
        <p:nvSpPr>
          <p:cNvPr id="29716" name="Line 19"/>
          <p:cNvSpPr>
            <a:spLocks noChangeShapeType="1"/>
          </p:cNvSpPr>
          <p:nvPr/>
        </p:nvSpPr>
        <p:spPr bwMode="auto">
          <a:xfrm flipH="1">
            <a:off x="5257800" y="1722438"/>
            <a:ext cx="7620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2075" tIns="46038" rIns="92075" bIns="46038"/>
          <a:lstStyle/>
          <a:p>
            <a:endParaRPr lang="zh-CN" altLang="en-US"/>
          </a:p>
        </p:txBody>
      </p:sp>
      <p:sp>
        <p:nvSpPr>
          <p:cNvPr id="29717" name="Line 20"/>
          <p:cNvSpPr>
            <a:spLocks noChangeShapeType="1"/>
          </p:cNvSpPr>
          <p:nvPr/>
        </p:nvSpPr>
        <p:spPr bwMode="auto">
          <a:xfrm>
            <a:off x="6172200" y="1722438"/>
            <a:ext cx="1676400" cy="2819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2075" tIns="46038" rIns="92075" bIns="46038"/>
          <a:lstStyle/>
          <a:p>
            <a:endParaRPr lang="zh-CN" altLang="en-US"/>
          </a:p>
        </p:txBody>
      </p:sp>
      <p:sp>
        <p:nvSpPr>
          <p:cNvPr id="292885" name="Text Box 21"/>
          <p:cNvSpPr txBox="1">
            <a:spLocks noChangeArrowheads="1"/>
          </p:cNvSpPr>
          <p:nvPr/>
        </p:nvSpPr>
        <p:spPr bwMode="auto">
          <a:xfrm>
            <a:off x="250825" y="1052513"/>
            <a:ext cx="2667000" cy="1600200"/>
          </a:xfrm>
          <a:prstGeom prst="rect">
            <a:avLst/>
          </a:prstGeom>
          <a:solidFill>
            <a:srgbClr val="006666"/>
          </a:solidFill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>
            <a:spAutoFit/>
          </a:bodyPr>
          <a:lstStyle/>
          <a:p>
            <a:pPr eaLnBrk="0" hangingPunct="0"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3200" b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S→TS|CS</a:t>
            </a:r>
          </a:p>
          <a:p>
            <a:pPr eaLnBrk="0" hangingPunct="0"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3200" b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C→if E then</a:t>
            </a:r>
          </a:p>
          <a:p>
            <a:pPr eaLnBrk="0" hangingPunct="0"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320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T </a:t>
            </a:r>
            <a:r>
              <a:rPr kumimoji="1" lang="en-US" altLang="zh-CN" sz="3200" b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→CS else</a:t>
            </a:r>
            <a:endParaRPr kumimoji="1" lang="en-US" altLang="zh-CN" sz="2800" b="1"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imes New Roman" pitchFamily="18" charset="0"/>
            </a:endParaRPr>
          </a:p>
        </p:txBody>
      </p:sp>
      <p:sp>
        <p:nvSpPr>
          <p:cNvPr id="292886" name="Text Box 22"/>
          <p:cNvSpPr txBox="1">
            <a:spLocks noChangeArrowheads="1"/>
          </p:cNvSpPr>
          <p:nvPr/>
        </p:nvSpPr>
        <p:spPr bwMode="auto">
          <a:xfrm>
            <a:off x="6692900" y="1390650"/>
            <a:ext cx="2343150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>
            <a:spAutoFit/>
          </a:bodyPr>
          <a:lstStyle/>
          <a:p>
            <a:pPr algn="ctr" eaLnBrk="0" hangingPunct="0"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zh-CN" altLang="en-US" sz="2800" b="1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新魏" pitchFamily="2" charset="-122"/>
                <a:ea typeface="华文新魏" pitchFamily="2" charset="-122"/>
              </a:rPr>
              <a:t>这个改造还含有</a:t>
            </a:r>
            <a:r>
              <a:rPr kumimoji="1" lang="zh-CN" altLang="en-US" sz="2800" b="1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华文新魏" pitchFamily="2" charset="-122"/>
              </a:rPr>
              <a:t>“</a:t>
            </a:r>
            <a:r>
              <a:rPr kumimoji="1" lang="zh-CN" altLang="en-US" sz="2800" b="1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新魏" pitchFamily="2" charset="-122"/>
                <a:ea typeface="华文新魏" pitchFamily="2" charset="-122"/>
              </a:rPr>
              <a:t>隐藏的</a:t>
            </a:r>
            <a:r>
              <a:rPr kumimoji="1" lang="zh-CN" altLang="en-US" sz="2800" b="1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华文新魏" pitchFamily="2" charset="-122"/>
              </a:rPr>
              <a:t>”</a:t>
            </a:r>
            <a:r>
              <a:rPr kumimoji="1" lang="zh-CN" altLang="en-US" sz="2800" b="1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新魏" pitchFamily="2" charset="-122"/>
                <a:ea typeface="华文新魏" pitchFamily="2" charset="-122"/>
              </a:rPr>
              <a:t>公共左因子</a:t>
            </a:r>
          </a:p>
        </p:txBody>
      </p:sp>
      <p:sp>
        <p:nvSpPr>
          <p:cNvPr id="26" name="Rectangle 2"/>
          <p:cNvSpPr txBox="1">
            <a:spLocks noChangeArrowheads="1"/>
          </p:cNvSpPr>
          <p:nvPr/>
        </p:nvSpPr>
        <p:spPr bwMode="auto">
          <a:xfrm>
            <a:off x="1116013" y="214313"/>
            <a:ext cx="7045325" cy="823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defRPr/>
            </a:pPr>
            <a:r>
              <a:rPr lang="zh-CN" altLang="en-US" sz="4000" b="1" kern="0">
                <a:solidFill>
                  <a:srgbClr val="000099"/>
                </a:solidFill>
                <a:latin typeface="Times New Roman" pitchFamily="18" charset="0"/>
                <a:ea typeface="华文新魏" pitchFamily="2" charset="-122"/>
                <a:cs typeface="+mj-cs"/>
              </a:rPr>
              <a:t>按照“改造2”构造的语法树</a:t>
            </a:r>
            <a:endParaRPr lang="zh-CN" altLang="en-US" sz="4000" b="1" kern="0" dirty="0">
              <a:solidFill>
                <a:srgbClr val="000099"/>
              </a:solidFill>
              <a:latin typeface="Times New Roman" pitchFamily="18" charset="0"/>
              <a:ea typeface="华文新魏" pitchFamily="2" charset="-122"/>
              <a:cs typeface="+mj-cs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4211638" y="2781300"/>
            <a:ext cx="2286000" cy="519113"/>
          </a:xfrm>
          <a:prstGeom prst="rect">
            <a:avLst/>
          </a:prstGeom>
        </p:spPr>
        <p:txBody>
          <a:bodyPr>
            <a:spAutoFit/>
          </a:bodyPr>
          <a:lstStyle/>
          <a:p>
            <a:pPr marL="342900" indent="-342900">
              <a:spcBef>
                <a:spcPct val="20000"/>
              </a:spcBef>
              <a:buClr>
                <a:srgbClr val="DC5900"/>
              </a:buClr>
              <a:buSzPct val="75000"/>
              <a:defRPr/>
            </a:pPr>
            <a:r>
              <a:rPr kumimoji="1" lang="en-US" altLang="zh-CN" sz="2800" b="1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  <a:cs typeface="Times New Roman" pitchFamily="18" charset="0"/>
              </a:rPr>
              <a:t>(</a:t>
            </a:r>
            <a:r>
              <a:rPr kumimoji="1" lang="zh-CN" altLang="en-US" sz="2800" b="1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  <a:cs typeface="Times New Roman" pitchFamily="18" charset="0"/>
              </a:rPr>
              <a:t>非就近</a:t>
            </a:r>
            <a:r>
              <a:rPr kumimoji="1" lang="en-US" altLang="zh-CN" sz="2800" b="1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  <a:cs typeface="Times New Roman" pitchFamily="18" charset="0"/>
              </a:rPr>
              <a:t>/</a:t>
            </a:r>
            <a:r>
              <a:rPr kumimoji="1" lang="zh-CN" altLang="en-US" sz="2800" b="1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  <a:cs typeface="Times New Roman" pitchFamily="18" charset="0"/>
              </a:rPr>
              <a:t>最长</a:t>
            </a:r>
            <a:r>
              <a:rPr kumimoji="1" lang="en-US" altLang="zh-CN" sz="2800" b="1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  <a:cs typeface="Times New Roman" pitchFamily="18" charset="0"/>
              </a:rPr>
              <a:t>)</a:t>
            </a:r>
            <a:endParaRPr kumimoji="1" lang="zh-CN" altLang="en-US" sz="2800" b="1">
              <a:solidFill>
                <a:srgbClr val="000099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itchFamily="18" charset="0"/>
              <a:ea typeface="华文新魏" pitchFamily="2" charset="-122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>
          <a:xfrm>
            <a:off x="611188" y="476250"/>
            <a:ext cx="8101012" cy="685800"/>
          </a:xfrm>
        </p:spPr>
        <p:txBody>
          <a:bodyPr/>
          <a:lstStyle/>
          <a:p>
            <a:pPr eaLnBrk="1" hangingPunct="1"/>
            <a:r>
              <a:rPr lang="zh-CN" altLang="en-US" sz="4000" b="1" smtClean="0">
                <a:solidFill>
                  <a:srgbClr val="000099"/>
                </a:solidFill>
                <a:latin typeface="Times New Roman" pitchFamily="18" charset="0"/>
                <a:ea typeface="华文新魏" pitchFamily="2" charset="-122"/>
              </a:rPr>
              <a:t>三、重要问题</a:t>
            </a:r>
            <a:r>
              <a:rPr lang="zh-CN" altLang="en-US" sz="2000" b="1" smtClean="0">
                <a:solidFill>
                  <a:srgbClr val="000099"/>
                </a:solidFill>
                <a:latin typeface="Times New Roman" pitchFamily="18" charset="0"/>
                <a:ea typeface="华文新魏" pitchFamily="2" charset="-122"/>
              </a:rPr>
              <a:t>——二义性及其消除</a:t>
            </a:r>
            <a:endParaRPr lang="en-US" altLang="zh-CN" sz="2000" b="1" smtClean="0">
              <a:solidFill>
                <a:srgbClr val="000099"/>
              </a:solidFill>
              <a:latin typeface="Times New Roman" pitchFamily="18" charset="0"/>
              <a:ea typeface="华文新魏" pitchFamily="2" charset="-122"/>
            </a:endParaRPr>
          </a:p>
        </p:txBody>
      </p:sp>
      <p:sp>
        <p:nvSpPr>
          <p:cNvPr id="30723" name="日期占位符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9C6DF274-FFB8-464E-B682-458CC92DB132}" type="datetime1">
              <a:rPr lang="zh-CN" altLang="en-US" smtClean="0"/>
              <a:pPr eaLnBrk="1" hangingPunct="1"/>
              <a:t>2017/2/24</a:t>
            </a:fld>
            <a:endParaRPr lang="en-US" altLang="zh-CN" smtClean="0"/>
          </a:p>
        </p:txBody>
      </p:sp>
      <p:sp>
        <p:nvSpPr>
          <p:cNvPr id="30724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484D1EDA-F863-4D3D-86BA-384B244EBE7D}" type="slidenum">
              <a:rPr lang="zh-CN" altLang="en-US" smtClean="0"/>
              <a:pPr eaLnBrk="1" hangingPunct="1"/>
              <a:t>22</a:t>
            </a:fld>
            <a:endParaRPr lang="en-US" altLang="zh-CN" smtClean="0"/>
          </a:p>
        </p:txBody>
      </p:sp>
      <p:sp>
        <p:nvSpPr>
          <p:cNvPr id="293892" name="Line 4"/>
          <p:cNvSpPr>
            <a:spLocks noChangeShapeType="1"/>
          </p:cNvSpPr>
          <p:nvPr/>
        </p:nvSpPr>
        <p:spPr bwMode="auto">
          <a:xfrm flipH="1">
            <a:off x="1046163" y="4913313"/>
            <a:ext cx="268287" cy="6318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2075" tIns="46038" rIns="92075" bIns="46038"/>
          <a:lstStyle/>
          <a:p>
            <a:endParaRPr lang="zh-CN" altLang="en-US"/>
          </a:p>
        </p:txBody>
      </p:sp>
      <p:sp>
        <p:nvSpPr>
          <p:cNvPr id="293893" name="Line 5"/>
          <p:cNvSpPr>
            <a:spLocks noChangeShapeType="1"/>
          </p:cNvSpPr>
          <p:nvPr/>
        </p:nvSpPr>
        <p:spPr bwMode="auto">
          <a:xfrm>
            <a:off x="1390650" y="4913313"/>
            <a:ext cx="160338" cy="6318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2075" tIns="46038" rIns="92075" bIns="46038"/>
          <a:lstStyle/>
          <a:p>
            <a:endParaRPr lang="zh-CN" altLang="en-US"/>
          </a:p>
        </p:txBody>
      </p:sp>
      <p:sp>
        <p:nvSpPr>
          <p:cNvPr id="293894" name="Line 6"/>
          <p:cNvSpPr>
            <a:spLocks noChangeShapeType="1"/>
          </p:cNvSpPr>
          <p:nvPr/>
        </p:nvSpPr>
        <p:spPr bwMode="auto">
          <a:xfrm>
            <a:off x="1466850" y="4913313"/>
            <a:ext cx="587375" cy="7747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2075" tIns="46038" rIns="92075" bIns="46038"/>
          <a:lstStyle/>
          <a:p>
            <a:endParaRPr lang="zh-CN" altLang="en-US"/>
          </a:p>
        </p:txBody>
      </p:sp>
      <p:sp>
        <p:nvSpPr>
          <p:cNvPr id="293895" name="Line 7"/>
          <p:cNvSpPr>
            <a:spLocks noChangeShapeType="1"/>
          </p:cNvSpPr>
          <p:nvPr/>
        </p:nvSpPr>
        <p:spPr bwMode="auto">
          <a:xfrm flipH="1">
            <a:off x="2559050" y="4913313"/>
            <a:ext cx="279400" cy="703262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2075" tIns="46038" rIns="92075" bIns="46038"/>
          <a:lstStyle/>
          <a:p>
            <a:endParaRPr lang="zh-CN" altLang="en-US"/>
          </a:p>
        </p:txBody>
      </p:sp>
      <p:sp>
        <p:nvSpPr>
          <p:cNvPr id="293896" name="Line 8"/>
          <p:cNvSpPr>
            <a:spLocks noChangeShapeType="1"/>
          </p:cNvSpPr>
          <p:nvPr/>
        </p:nvSpPr>
        <p:spPr bwMode="auto">
          <a:xfrm flipH="1">
            <a:off x="2846388" y="4913313"/>
            <a:ext cx="68262" cy="7747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2075" tIns="46038" rIns="92075" bIns="46038"/>
          <a:lstStyle/>
          <a:p>
            <a:endParaRPr lang="zh-CN" altLang="en-US"/>
          </a:p>
        </p:txBody>
      </p:sp>
      <p:sp>
        <p:nvSpPr>
          <p:cNvPr id="293897" name="Line 9"/>
          <p:cNvSpPr>
            <a:spLocks noChangeShapeType="1"/>
          </p:cNvSpPr>
          <p:nvPr/>
        </p:nvSpPr>
        <p:spPr bwMode="auto">
          <a:xfrm>
            <a:off x="2990850" y="4837113"/>
            <a:ext cx="431800" cy="8509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2075" tIns="46038" rIns="92075" bIns="46038"/>
          <a:lstStyle/>
          <a:p>
            <a:endParaRPr lang="zh-CN" altLang="en-US"/>
          </a:p>
        </p:txBody>
      </p:sp>
      <p:sp>
        <p:nvSpPr>
          <p:cNvPr id="293898" name="Line 10"/>
          <p:cNvSpPr>
            <a:spLocks noChangeShapeType="1"/>
          </p:cNvSpPr>
          <p:nvPr/>
        </p:nvSpPr>
        <p:spPr bwMode="auto">
          <a:xfrm flipH="1">
            <a:off x="4862513" y="4913313"/>
            <a:ext cx="109537" cy="703262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2075" tIns="46038" rIns="92075" bIns="46038"/>
          <a:lstStyle/>
          <a:p>
            <a:endParaRPr lang="zh-CN" altLang="en-US"/>
          </a:p>
        </p:txBody>
      </p:sp>
      <p:sp>
        <p:nvSpPr>
          <p:cNvPr id="293899" name="Line 11"/>
          <p:cNvSpPr>
            <a:spLocks noChangeShapeType="1"/>
          </p:cNvSpPr>
          <p:nvPr/>
        </p:nvSpPr>
        <p:spPr bwMode="auto">
          <a:xfrm flipH="1">
            <a:off x="7239000" y="4913313"/>
            <a:ext cx="95250" cy="7747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2075" tIns="46038" rIns="92075" bIns="46038"/>
          <a:lstStyle/>
          <a:p>
            <a:endParaRPr lang="zh-CN" altLang="en-US"/>
          </a:p>
        </p:txBody>
      </p:sp>
      <p:sp>
        <p:nvSpPr>
          <p:cNvPr id="293900" name="Line 12"/>
          <p:cNvSpPr>
            <a:spLocks noChangeShapeType="1"/>
          </p:cNvSpPr>
          <p:nvPr/>
        </p:nvSpPr>
        <p:spPr bwMode="auto">
          <a:xfrm>
            <a:off x="5048250" y="4913313"/>
            <a:ext cx="174625" cy="703262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2075" tIns="46038" rIns="92075" bIns="46038"/>
          <a:lstStyle/>
          <a:p>
            <a:endParaRPr lang="zh-CN" altLang="en-US"/>
          </a:p>
        </p:txBody>
      </p:sp>
      <p:sp>
        <p:nvSpPr>
          <p:cNvPr id="293901" name="Line 13"/>
          <p:cNvSpPr>
            <a:spLocks noChangeShapeType="1"/>
          </p:cNvSpPr>
          <p:nvPr/>
        </p:nvSpPr>
        <p:spPr bwMode="auto">
          <a:xfrm>
            <a:off x="7334250" y="4989513"/>
            <a:ext cx="193675" cy="627062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2075" tIns="46038" rIns="92075" bIns="46038"/>
          <a:lstStyle/>
          <a:p>
            <a:endParaRPr lang="zh-CN" altLang="en-US"/>
          </a:p>
        </p:txBody>
      </p:sp>
      <p:sp>
        <p:nvSpPr>
          <p:cNvPr id="293902" name="Line 14"/>
          <p:cNvSpPr>
            <a:spLocks noChangeShapeType="1"/>
          </p:cNvSpPr>
          <p:nvPr/>
        </p:nvSpPr>
        <p:spPr bwMode="auto">
          <a:xfrm>
            <a:off x="7410450" y="4913313"/>
            <a:ext cx="692150" cy="7747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2075" tIns="46038" rIns="92075" bIns="46038"/>
          <a:lstStyle/>
          <a:p>
            <a:endParaRPr lang="zh-CN" altLang="en-US"/>
          </a:p>
        </p:txBody>
      </p:sp>
      <p:sp>
        <p:nvSpPr>
          <p:cNvPr id="293903" name="Line 15"/>
          <p:cNvSpPr>
            <a:spLocks noChangeShapeType="1"/>
          </p:cNvSpPr>
          <p:nvPr/>
        </p:nvSpPr>
        <p:spPr bwMode="auto">
          <a:xfrm>
            <a:off x="5048250" y="4913313"/>
            <a:ext cx="679450" cy="7747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2075" tIns="46038" rIns="92075" bIns="46038"/>
          <a:lstStyle/>
          <a:p>
            <a:endParaRPr lang="zh-CN" altLang="en-US"/>
          </a:p>
        </p:txBody>
      </p:sp>
      <p:sp>
        <p:nvSpPr>
          <p:cNvPr id="293904" name="Line 16"/>
          <p:cNvSpPr>
            <a:spLocks noChangeShapeType="1"/>
          </p:cNvSpPr>
          <p:nvPr/>
        </p:nvSpPr>
        <p:spPr bwMode="auto">
          <a:xfrm flipH="1">
            <a:off x="2990850" y="3998913"/>
            <a:ext cx="381000" cy="685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2075" tIns="46038" rIns="92075" bIns="46038"/>
          <a:lstStyle/>
          <a:p>
            <a:endParaRPr lang="zh-CN" altLang="en-US"/>
          </a:p>
        </p:txBody>
      </p:sp>
      <p:sp>
        <p:nvSpPr>
          <p:cNvPr id="293905" name="Line 17"/>
          <p:cNvSpPr>
            <a:spLocks noChangeShapeType="1"/>
          </p:cNvSpPr>
          <p:nvPr/>
        </p:nvSpPr>
        <p:spPr bwMode="auto">
          <a:xfrm flipH="1">
            <a:off x="7410450" y="3998913"/>
            <a:ext cx="381000" cy="685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2075" tIns="46038" rIns="92075" bIns="46038"/>
          <a:lstStyle/>
          <a:p>
            <a:endParaRPr lang="zh-CN" altLang="en-US"/>
          </a:p>
        </p:txBody>
      </p:sp>
      <p:sp>
        <p:nvSpPr>
          <p:cNvPr id="293906" name="Line 18"/>
          <p:cNvSpPr>
            <a:spLocks noChangeShapeType="1"/>
          </p:cNvSpPr>
          <p:nvPr/>
        </p:nvSpPr>
        <p:spPr bwMode="auto">
          <a:xfrm flipH="1">
            <a:off x="5124450" y="3998913"/>
            <a:ext cx="381000" cy="685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2075" tIns="46038" rIns="92075" bIns="46038"/>
          <a:lstStyle/>
          <a:p>
            <a:endParaRPr lang="zh-CN" altLang="en-US"/>
          </a:p>
        </p:txBody>
      </p:sp>
      <p:sp>
        <p:nvSpPr>
          <p:cNvPr id="293907" name="Line 19"/>
          <p:cNvSpPr>
            <a:spLocks noChangeShapeType="1"/>
          </p:cNvSpPr>
          <p:nvPr/>
        </p:nvSpPr>
        <p:spPr bwMode="auto">
          <a:xfrm>
            <a:off x="3448050" y="3922713"/>
            <a:ext cx="479425" cy="1693862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2075" tIns="46038" rIns="92075" bIns="46038"/>
          <a:lstStyle/>
          <a:p>
            <a:endParaRPr lang="zh-CN" altLang="en-US"/>
          </a:p>
        </p:txBody>
      </p:sp>
      <p:sp>
        <p:nvSpPr>
          <p:cNvPr id="293908" name="Line 20"/>
          <p:cNvSpPr>
            <a:spLocks noChangeShapeType="1"/>
          </p:cNvSpPr>
          <p:nvPr/>
        </p:nvSpPr>
        <p:spPr bwMode="auto">
          <a:xfrm>
            <a:off x="5657850" y="3922713"/>
            <a:ext cx="644525" cy="17653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2075" tIns="46038" rIns="92075" bIns="46038"/>
          <a:lstStyle/>
          <a:p>
            <a:endParaRPr lang="zh-CN" altLang="en-US"/>
          </a:p>
        </p:txBody>
      </p:sp>
      <p:sp>
        <p:nvSpPr>
          <p:cNvPr id="293909" name="Line 21"/>
          <p:cNvSpPr>
            <a:spLocks noChangeShapeType="1"/>
          </p:cNvSpPr>
          <p:nvPr/>
        </p:nvSpPr>
        <p:spPr bwMode="auto">
          <a:xfrm>
            <a:off x="7943850" y="3998913"/>
            <a:ext cx="663575" cy="1614487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2075" tIns="46038" rIns="92075" bIns="46038"/>
          <a:lstStyle/>
          <a:p>
            <a:endParaRPr lang="zh-CN" altLang="en-US"/>
          </a:p>
        </p:txBody>
      </p:sp>
      <p:sp>
        <p:nvSpPr>
          <p:cNvPr id="293910" name="Line 22"/>
          <p:cNvSpPr>
            <a:spLocks noChangeShapeType="1"/>
          </p:cNvSpPr>
          <p:nvPr/>
        </p:nvSpPr>
        <p:spPr bwMode="auto">
          <a:xfrm flipH="1" flipV="1">
            <a:off x="3524250" y="3922713"/>
            <a:ext cx="977900" cy="17653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2075" tIns="46038" rIns="92075" bIns="46038"/>
          <a:lstStyle/>
          <a:p>
            <a:endParaRPr lang="zh-CN" altLang="en-US"/>
          </a:p>
        </p:txBody>
      </p:sp>
      <p:sp>
        <p:nvSpPr>
          <p:cNvPr id="293911" name="Line 23"/>
          <p:cNvSpPr>
            <a:spLocks noChangeShapeType="1"/>
          </p:cNvSpPr>
          <p:nvPr/>
        </p:nvSpPr>
        <p:spPr bwMode="auto">
          <a:xfrm flipH="1" flipV="1">
            <a:off x="5734050" y="3998913"/>
            <a:ext cx="1001713" cy="16891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2075" tIns="46038" rIns="92075" bIns="46038"/>
          <a:lstStyle/>
          <a:p>
            <a:endParaRPr lang="zh-CN" altLang="en-US"/>
          </a:p>
        </p:txBody>
      </p:sp>
      <p:sp>
        <p:nvSpPr>
          <p:cNvPr id="293912" name="Line 24"/>
          <p:cNvSpPr>
            <a:spLocks noChangeShapeType="1"/>
          </p:cNvSpPr>
          <p:nvPr/>
        </p:nvSpPr>
        <p:spPr bwMode="auto">
          <a:xfrm flipH="1">
            <a:off x="5734050" y="2949575"/>
            <a:ext cx="712788" cy="74453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2075" tIns="46038" rIns="92075" bIns="46038"/>
          <a:lstStyle/>
          <a:p>
            <a:endParaRPr lang="zh-CN" altLang="en-US"/>
          </a:p>
        </p:txBody>
      </p:sp>
      <p:sp>
        <p:nvSpPr>
          <p:cNvPr id="293913" name="Line 25"/>
          <p:cNvSpPr>
            <a:spLocks noChangeShapeType="1"/>
          </p:cNvSpPr>
          <p:nvPr/>
        </p:nvSpPr>
        <p:spPr bwMode="auto">
          <a:xfrm>
            <a:off x="6591300" y="3021013"/>
            <a:ext cx="1066800" cy="838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2075" tIns="46038" rIns="92075" bIns="46038"/>
          <a:lstStyle/>
          <a:p>
            <a:endParaRPr lang="zh-CN" altLang="en-US"/>
          </a:p>
        </p:txBody>
      </p:sp>
      <p:sp>
        <p:nvSpPr>
          <p:cNvPr id="293914" name="Line 26"/>
          <p:cNvSpPr>
            <a:spLocks noChangeShapeType="1"/>
          </p:cNvSpPr>
          <p:nvPr/>
        </p:nvSpPr>
        <p:spPr bwMode="auto">
          <a:xfrm flipH="1">
            <a:off x="3448050" y="2376488"/>
            <a:ext cx="1343025" cy="13176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2075" tIns="46038" rIns="92075" bIns="46038"/>
          <a:lstStyle/>
          <a:p>
            <a:endParaRPr lang="zh-CN" altLang="en-US"/>
          </a:p>
        </p:txBody>
      </p:sp>
      <p:sp>
        <p:nvSpPr>
          <p:cNvPr id="293915" name="Line 27"/>
          <p:cNvSpPr>
            <a:spLocks noChangeShapeType="1"/>
          </p:cNvSpPr>
          <p:nvPr/>
        </p:nvSpPr>
        <p:spPr bwMode="auto">
          <a:xfrm>
            <a:off x="5078413" y="2376488"/>
            <a:ext cx="1368425" cy="500062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2075" tIns="46038" rIns="92075" bIns="46038"/>
          <a:lstStyle/>
          <a:p>
            <a:endParaRPr lang="zh-CN" altLang="en-US"/>
          </a:p>
        </p:txBody>
      </p:sp>
      <p:sp>
        <p:nvSpPr>
          <p:cNvPr id="293916" name="Line 28"/>
          <p:cNvSpPr>
            <a:spLocks noChangeShapeType="1"/>
          </p:cNvSpPr>
          <p:nvPr/>
        </p:nvSpPr>
        <p:spPr bwMode="auto">
          <a:xfrm flipH="1">
            <a:off x="1390650" y="1800225"/>
            <a:ext cx="2103438" cy="280828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2075" tIns="46038" rIns="92075" bIns="46038"/>
          <a:lstStyle/>
          <a:p>
            <a:endParaRPr lang="zh-CN" altLang="en-US"/>
          </a:p>
        </p:txBody>
      </p:sp>
      <p:sp>
        <p:nvSpPr>
          <p:cNvPr id="293917" name="Line 29"/>
          <p:cNvSpPr>
            <a:spLocks noChangeShapeType="1"/>
          </p:cNvSpPr>
          <p:nvPr/>
        </p:nvSpPr>
        <p:spPr bwMode="auto">
          <a:xfrm>
            <a:off x="3708400" y="1773238"/>
            <a:ext cx="1103313" cy="5048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2075" tIns="46038" rIns="92075" bIns="46038"/>
          <a:lstStyle/>
          <a:p>
            <a:endParaRPr lang="zh-CN" altLang="en-US"/>
          </a:p>
        </p:txBody>
      </p:sp>
      <p:sp>
        <p:nvSpPr>
          <p:cNvPr id="293918" name="Text Box 30"/>
          <p:cNvSpPr txBox="1">
            <a:spLocks noChangeArrowheads="1"/>
          </p:cNvSpPr>
          <p:nvPr/>
        </p:nvSpPr>
        <p:spPr bwMode="auto">
          <a:xfrm>
            <a:off x="107950" y="1581150"/>
            <a:ext cx="2447925" cy="1416050"/>
          </a:xfrm>
          <a:prstGeom prst="rect">
            <a:avLst/>
          </a:prstGeom>
          <a:solidFill>
            <a:srgbClr val="006666"/>
          </a:solidFill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>
            <a:spAutoFit/>
          </a:bodyPr>
          <a:lstStyle/>
          <a:p>
            <a:pPr eaLnBrk="0" hangingPunct="0"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800" b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S→TS|CS</a:t>
            </a:r>
          </a:p>
          <a:p>
            <a:pPr eaLnBrk="0" hangingPunct="0"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800" b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C→if E then</a:t>
            </a:r>
          </a:p>
          <a:p>
            <a:pPr eaLnBrk="0" hangingPunct="0"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80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T </a:t>
            </a:r>
            <a:r>
              <a:rPr kumimoji="1" lang="en-US" altLang="zh-CN" sz="2800" b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→CS else</a:t>
            </a:r>
          </a:p>
        </p:txBody>
      </p:sp>
      <p:sp>
        <p:nvSpPr>
          <p:cNvPr id="293919" name="Rectangle 31"/>
          <p:cNvSpPr>
            <a:spLocks noChangeArrowheads="1"/>
          </p:cNvSpPr>
          <p:nvPr/>
        </p:nvSpPr>
        <p:spPr bwMode="auto">
          <a:xfrm>
            <a:off x="3422650" y="1395413"/>
            <a:ext cx="38258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2800" b="1">
                <a:latin typeface="Times New Roman" pitchFamily="18" charset="0"/>
              </a:rPr>
              <a:t>S</a:t>
            </a:r>
            <a:endParaRPr lang="zh-CN" altLang="en-US" sz="2800" b="1">
              <a:latin typeface="Times New Roman" pitchFamily="18" charset="0"/>
            </a:endParaRPr>
          </a:p>
        </p:txBody>
      </p:sp>
      <p:sp>
        <p:nvSpPr>
          <p:cNvPr id="293920" name="Rectangle 32"/>
          <p:cNvSpPr>
            <a:spLocks noChangeArrowheads="1"/>
          </p:cNvSpPr>
          <p:nvPr/>
        </p:nvSpPr>
        <p:spPr bwMode="auto">
          <a:xfrm>
            <a:off x="4791075" y="2043113"/>
            <a:ext cx="38258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2800" b="1">
                <a:latin typeface="Times New Roman" pitchFamily="18" charset="0"/>
              </a:rPr>
              <a:t>S</a:t>
            </a:r>
            <a:endParaRPr lang="zh-CN" altLang="en-US" sz="2800" b="1">
              <a:latin typeface="Times New Roman" pitchFamily="18" charset="0"/>
            </a:endParaRPr>
          </a:p>
        </p:txBody>
      </p:sp>
      <p:sp>
        <p:nvSpPr>
          <p:cNvPr id="293921" name="Rectangle 33"/>
          <p:cNvSpPr>
            <a:spLocks noChangeArrowheads="1"/>
          </p:cNvSpPr>
          <p:nvPr/>
        </p:nvSpPr>
        <p:spPr bwMode="auto">
          <a:xfrm>
            <a:off x="6302375" y="2619375"/>
            <a:ext cx="38258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2800" b="1">
                <a:latin typeface="Times New Roman" pitchFamily="18" charset="0"/>
              </a:rPr>
              <a:t>S</a:t>
            </a:r>
            <a:endParaRPr lang="zh-CN" altLang="en-US" sz="2800" b="1">
              <a:latin typeface="Times New Roman" pitchFamily="18" charset="0"/>
            </a:endParaRPr>
          </a:p>
        </p:txBody>
      </p:sp>
      <p:sp>
        <p:nvSpPr>
          <p:cNvPr id="293922" name="Rectangle 34"/>
          <p:cNvSpPr>
            <a:spLocks noChangeArrowheads="1"/>
          </p:cNvSpPr>
          <p:nvPr/>
        </p:nvSpPr>
        <p:spPr bwMode="auto">
          <a:xfrm>
            <a:off x="2846388" y="3489325"/>
            <a:ext cx="145891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2800" b="1">
                <a:latin typeface="Times New Roman" pitchFamily="18" charset="0"/>
                <a:ea typeface="华文新魏" pitchFamily="2" charset="-122"/>
              </a:rPr>
              <a:t>T (</a:t>
            </a:r>
            <a:r>
              <a:rPr lang="zh-CN" altLang="en-US" sz="2800" b="1">
                <a:latin typeface="Times New Roman" pitchFamily="18" charset="0"/>
                <a:ea typeface="华文新魏" pitchFamily="2" charset="-122"/>
              </a:rPr>
              <a:t>就近</a:t>
            </a:r>
            <a:r>
              <a:rPr lang="en-US" altLang="zh-CN" sz="2800" b="1">
                <a:latin typeface="Times New Roman" pitchFamily="18" charset="0"/>
                <a:ea typeface="华文新魏" pitchFamily="2" charset="-122"/>
              </a:rPr>
              <a:t>)</a:t>
            </a:r>
          </a:p>
        </p:txBody>
      </p:sp>
      <p:sp>
        <p:nvSpPr>
          <p:cNvPr id="293923" name="Rectangle 35"/>
          <p:cNvSpPr>
            <a:spLocks noChangeArrowheads="1"/>
          </p:cNvSpPr>
          <p:nvPr/>
        </p:nvSpPr>
        <p:spPr bwMode="auto">
          <a:xfrm>
            <a:off x="5078413" y="3560763"/>
            <a:ext cx="145891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2800" b="1">
                <a:latin typeface="Times New Roman" pitchFamily="18" charset="0"/>
                <a:ea typeface="华文新魏" pitchFamily="2" charset="-122"/>
              </a:rPr>
              <a:t>T (</a:t>
            </a:r>
            <a:r>
              <a:rPr lang="zh-CN" altLang="en-US" sz="2800" b="1">
                <a:latin typeface="Times New Roman" pitchFamily="18" charset="0"/>
                <a:ea typeface="华文新魏" pitchFamily="2" charset="-122"/>
              </a:rPr>
              <a:t>就近</a:t>
            </a:r>
            <a:r>
              <a:rPr lang="en-US" altLang="zh-CN" sz="2800" b="1">
                <a:latin typeface="Times New Roman" pitchFamily="18" charset="0"/>
                <a:ea typeface="华文新魏" pitchFamily="2" charset="-122"/>
              </a:rPr>
              <a:t>)</a:t>
            </a:r>
          </a:p>
        </p:txBody>
      </p:sp>
      <p:sp>
        <p:nvSpPr>
          <p:cNvPr id="293924" name="Rectangle 36"/>
          <p:cNvSpPr>
            <a:spLocks noChangeArrowheads="1"/>
          </p:cNvSpPr>
          <p:nvPr/>
        </p:nvSpPr>
        <p:spPr bwMode="auto">
          <a:xfrm>
            <a:off x="7670800" y="3627438"/>
            <a:ext cx="38258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2800" b="1">
                <a:latin typeface="Times New Roman" pitchFamily="18" charset="0"/>
              </a:rPr>
              <a:t>S</a:t>
            </a:r>
            <a:endParaRPr lang="zh-CN" altLang="en-US" sz="2800" b="1">
              <a:latin typeface="Times New Roman" pitchFamily="18" charset="0"/>
            </a:endParaRPr>
          </a:p>
        </p:txBody>
      </p:sp>
      <p:sp>
        <p:nvSpPr>
          <p:cNvPr id="293925" name="Rectangle 37"/>
          <p:cNvSpPr>
            <a:spLocks noChangeArrowheads="1"/>
          </p:cNvSpPr>
          <p:nvPr/>
        </p:nvSpPr>
        <p:spPr bwMode="auto">
          <a:xfrm>
            <a:off x="2774950" y="4541838"/>
            <a:ext cx="4048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2400" b="1">
                <a:latin typeface="Times New Roman" pitchFamily="18" charset="0"/>
              </a:rPr>
              <a:t>C</a:t>
            </a:r>
            <a:endParaRPr lang="zh-CN" altLang="en-US" sz="2400" b="1">
              <a:latin typeface="Times New Roman" pitchFamily="18" charset="0"/>
            </a:endParaRPr>
          </a:p>
        </p:txBody>
      </p:sp>
      <p:sp>
        <p:nvSpPr>
          <p:cNvPr id="293926" name="Rectangle 38"/>
          <p:cNvSpPr>
            <a:spLocks noChangeArrowheads="1"/>
          </p:cNvSpPr>
          <p:nvPr/>
        </p:nvSpPr>
        <p:spPr bwMode="auto">
          <a:xfrm>
            <a:off x="4862513" y="4541838"/>
            <a:ext cx="4048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2400" b="1">
                <a:latin typeface="Times New Roman" pitchFamily="18" charset="0"/>
              </a:rPr>
              <a:t>C</a:t>
            </a:r>
            <a:endParaRPr lang="zh-CN" altLang="en-US" sz="2400" b="1">
              <a:latin typeface="Times New Roman" pitchFamily="18" charset="0"/>
            </a:endParaRPr>
          </a:p>
        </p:txBody>
      </p:sp>
      <p:sp>
        <p:nvSpPr>
          <p:cNvPr id="293927" name="Rectangle 39"/>
          <p:cNvSpPr>
            <a:spLocks noChangeArrowheads="1"/>
          </p:cNvSpPr>
          <p:nvPr/>
        </p:nvSpPr>
        <p:spPr bwMode="auto">
          <a:xfrm>
            <a:off x="7239000" y="4541838"/>
            <a:ext cx="4048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2400" b="1">
                <a:latin typeface="Times New Roman" pitchFamily="18" charset="0"/>
              </a:rPr>
              <a:t>C</a:t>
            </a:r>
            <a:endParaRPr lang="zh-CN" altLang="en-US" sz="2400" b="1">
              <a:latin typeface="Times New Roman" pitchFamily="18" charset="0"/>
            </a:endParaRPr>
          </a:p>
        </p:txBody>
      </p:sp>
      <p:sp>
        <p:nvSpPr>
          <p:cNvPr id="293928" name="Rectangle 40"/>
          <p:cNvSpPr>
            <a:spLocks noChangeArrowheads="1"/>
          </p:cNvSpPr>
          <p:nvPr/>
        </p:nvSpPr>
        <p:spPr bwMode="auto">
          <a:xfrm>
            <a:off x="1190625" y="4548188"/>
            <a:ext cx="404813" cy="420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en-US" altLang="zh-CN" sz="2400" b="1">
                <a:latin typeface="Times New Roman" pitchFamily="18" charset="0"/>
              </a:rPr>
              <a:t>C</a:t>
            </a:r>
          </a:p>
        </p:txBody>
      </p:sp>
      <p:sp>
        <p:nvSpPr>
          <p:cNvPr id="293929" name="Rectangle 41"/>
          <p:cNvSpPr>
            <a:spLocks noChangeArrowheads="1"/>
          </p:cNvSpPr>
          <p:nvPr/>
        </p:nvSpPr>
        <p:spPr bwMode="auto">
          <a:xfrm>
            <a:off x="903288" y="5545138"/>
            <a:ext cx="7989887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en-US" altLang="zh-CN" sz="2800" b="1">
                <a:latin typeface="Times New Roman" pitchFamily="18" charset="0"/>
              </a:rPr>
              <a:t>if  E then if E then S else if E then S else if E then  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602" name="Rectangle 2"/>
          <p:cNvSpPr>
            <a:spLocks noGrp="1" noChangeArrowheads="1"/>
          </p:cNvSpPr>
          <p:nvPr>
            <p:ph type="title"/>
          </p:nvPr>
        </p:nvSpPr>
        <p:spPr>
          <a:xfrm>
            <a:off x="827088" y="188913"/>
            <a:ext cx="7777162" cy="1003300"/>
          </a:xfrm>
        </p:spPr>
        <p:txBody>
          <a:bodyPr/>
          <a:lstStyle/>
          <a:p>
            <a:pPr eaLnBrk="1" hangingPunct="1"/>
            <a:r>
              <a:rPr lang="zh-CN" altLang="en-US" sz="4000" b="1" smtClean="0">
                <a:solidFill>
                  <a:srgbClr val="000099"/>
                </a:solidFill>
                <a:latin typeface="Times New Roman" pitchFamily="18" charset="0"/>
                <a:ea typeface="华文新魏" pitchFamily="2" charset="-122"/>
              </a:rPr>
              <a:t>三、重要问题</a:t>
            </a:r>
            <a:r>
              <a:rPr lang="zh-CN" altLang="en-US" sz="2000" b="1" smtClean="0">
                <a:solidFill>
                  <a:srgbClr val="000099"/>
                </a:solidFill>
                <a:latin typeface="Times New Roman" pitchFamily="18" charset="0"/>
                <a:ea typeface="华文新魏" pitchFamily="2" charset="-122"/>
              </a:rPr>
              <a:t>——左递归及其消除</a:t>
            </a:r>
          </a:p>
        </p:txBody>
      </p:sp>
      <p:sp>
        <p:nvSpPr>
          <p:cNvPr id="281603" name="Rectangle 3"/>
          <p:cNvSpPr>
            <a:spLocks noGrp="1" noChangeArrowheads="1"/>
          </p:cNvSpPr>
          <p:nvPr>
            <p:ph idx="1"/>
          </p:nvPr>
        </p:nvSpPr>
        <p:spPr>
          <a:xfrm>
            <a:off x="971550" y="1414463"/>
            <a:ext cx="7772400" cy="685800"/>
          </a:xfrm>
        </p:spPr>
        <p:txBody>
          <a:bodyPr/>
          <a:lstStyle/>
          <a:p>
            <a:pPr eaLnBrk="1" hangingPunct="1"/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例：文法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S→Say|* </a:t>
            </a: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与它的句子*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ayay</a:t>
            </a:r>
          </a:p>
        </p:txBody>
      </p:sp>
      <p:sp>
        <p:nvSpPr>
          <p:cNvPr id="31748" name="日期占位符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CA6AFD04-929C-4740-AEAB-838623310E32}" type="datetime1">
              <a:rPr lang="zh-CN" altLang="en-US" smtClean="0"/>
              <a:pPr eaLnBrk="1" hangingPunct="1"/>
              <a:t>2017/2/24</a:t>
            </a:fld>
            <a:endParaRPr lang="en-US" altLang="zh-CN" smtClean="0"/>
          </a:p>
        </p:txBody>
      </p:sp>
      <p:sp>
        <p:nvSpPr>
          <p:cNvPr id="31749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BA15F38D-8C6A-47D8-A27A-40D8314524A3}" type="slidenum">
              <a:rPr lang="zh-CN" altLang="en-US" smtClean="0"/>
              <a:pPr eaLnBrk="1" hangingPunct="1"/>
              <a:t>23</a:t>
            </a:fld>
            <a:endParaRPr lang="en-US" altLang="zh-CN" smtClean="0"/>
          </a:p>
        </p:txBody>
      </p:sp>
      <p:sp>
        <p:nvSpPr>
          <p:cNvPr id="281605" name="Line 5"/>
          <p:cNvSpPr>
            <a:spLocks noChangeShapeType="1"/>
          </p:cNvSpPr>
          <p:nvPr/>
        </p:nvSpPr>
        <p:spPr bwMode="auto">
          <a:xfrm flipV="1">
            <a:off x="1187450" y="4367213"/>
            <a:ext cx="0" cy="609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2075" tIns="46038" rIns="92075" bIns="46038"/>
          <a:lstStyle/>
          <a:p>
            <a:endParaRPr lang="zh-CN" altLang="en-US"/>
          </a:p>
        </p:txBody>
      </p:sp>
      <p:sp>
        <p:nvSpPr>
          <p:cNvPr id="281606" name="Rectangle 6"/>
          <p:cNvSpPr>
            <a:spLocks noChangeArrowheads="1"/>
          </p:cNvSpPr>
          <p:nvPr/>
        </p:nvSpPr>
        <p:spPr bwMode="auto">
          <a:xfrm>
            <a:off x="3203575" y="2133600"/>
            <a:ext cx="1711325" cy="628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>
            <a:spAutoFit/>
          </a:bodyPr>
          <a:lstStyle/>
          <a:p>
            <a:pPr eaLnBrk="0" hangingPunct="0">
              <a:lnSpc>
                <a:spcPct val="110000"/>
              </a:lnSpc>
              <a:spcBef>
                <a:spcPct val="20000"/>
              </a:spcBef>
              <a:buClr>
                <a:schemeClr val="folHlink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3200" b="1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S</a:t>
            </a:r>
            <a:r>
              <a:rPr kumimoji="1" lang="en-US" altLang="zh-CN" sz="32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sym typeface="Symbol" pitchFamily="18" charset="2"/>
              </a:rPr>
              <a:t>*</a:t>
            </a:r>
            <a:endParaRPr kumimoji="1" lang="zh-CN" altLang="en-US" sz="3200" b="1">
              <a:effectLst>
                <a:outerShdw blurRad="38100" dist="38100" dir="2700000" algn="tl">
                  <a:srgbClr val="C0C0C0"/>
                </a:outerShdw>
              </a:effectLst>
              <a:latin typeface="Times New Roman" pitchFamily="18" charset="0"/>
              <a:ea typeface="华文新魏" pitchFamily="2" charset="-122"/>
              <a:sym typeface="Symbol" pitchFamily="18" charset="2"/>
            </a:endParaRPr>
          </a:p>
        </p:txBody>
      </p:sp>
      <p:sp>
        <p:nvSpPr>
          <p:cNvPr id="281607" name="Rectangle 7"/>
          <p:cNvSpPr>
            <a:spLocks noChangeArrowheads="1"/>
          </p:cNvSpPr>
          <p:nvPr/>
        </p:nvSpPr>
        <p:spPr bwMode="auto">
          <a:xfrm>
            <a:off x="3203575" y="2781300"/>
            <a:ext cx="3352800" cy="3162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>
            <a:spAutoFit/>
          </a:bodyPr>
          <a:lstStyle/>
          <a:p>
            <a:pPr eaLnBrk="0" hangingPunct="0">
              <a:lnSpc>
                <a:spcPct val="110000"/>
              </a:lnSpc>
              <a:spcBef>
                <a:spcPct val="20000"/>
              </a:spcBef>
              <a:buClr>
                <a:schemeClr val="folHlink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3200" b="1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S</a:t>
            </a:r>
            <a:r>
              <a:rPr kumimoji="1" lang="en-US" altLang="zh-CN" sz="32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sym typeface="Symbol" pitchFamily="18" charset="2"/>
              </a:rPr>
              <a:t>Say</a:t>
            </a:r>
          </a:p>
          <a:p>
            <a:pPr eaLnBrk="0" hangingPunct="0">
              <a:lnSpc>
                <a:spcPct val="110000"/>
              </a:lnSpc>
              <a:spcBef>
                <a:spcPct val="20000"/>
              </a:spcBef>
              <a:buClr>
                <a:schemeClr val="folHlink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32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sym typeface="Symbol" pitchFamily="18" charset="2"/>
              </a:rPr>
              <a:t>Sayay</a:t>
            </a:r>
          </a:p>
          <a:p>
            <a:pPr eaLnBrk="0" hangingPunct="0">
              <a:lnSpc>
                <a:spcPct val="110000"/>
              </a:lnSpc>
              <a:spcBef>
                <a:spcPct val="20000"/>
              </a:spcBef>
              <a:buClr>
                <a:schemeClr val="folHlink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32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sym typeface="Symbol" pitchFamily="18" charset="2"/>
              </a:rPr>
              <a:t>Sayayay</a:t>
            </a:r>
          </a:p>
          <a:p>
            <a:pPr eaLnBrk="0" hangingPunct="0">
              <a:lnSpc>
                <a:spcPct val="110000"/>
              </a:lnSpc>
              <a:spcBef>
                <a:spcPct val="20000"/>
              </a:spcBef>
              <a:buClr>
                <a:schemeClr val="folHlink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32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sym typeface="Symbol" pitchFamily="18" charset="2"/>
              </a:rPr>
              <a:t>……</a:t>
            </a:r>
          </a:p>
          <a:p>
            <a:pPr eaLnBrk="0" hangingPunct="0">
              <a:lnSpc>
                <a:spcPct val="110000"/>
              </a:lnSpc>
              <a:spcBef>
                <a:spcPct val="20000"/>
              </a:spcBef>
              <a:buClr>
                <a:schemeClr val="folHlink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32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sym typeface="Symbol" pitchFamily="18" charset="2"/>
              </a:rPr>
              <a:t>Sayay……ayay</a:t>
            </a:r>
          </a:p>
        </p:txBody>
      </p:sp>
      <p:sp>
        <p:nvSpPr>
          <p:cNvPr id="281608" name="Rectangle 8"/>
          <p:cNvSpPr>
            <a:spLocks noChangeArrowheads="1"/>
          </p:cNvSpPr>
          <p:nvPr/>
        </p:nvSpPr>
        <p:spPr bwMode="auto">
          <a:xfrm>
            <a:off x="6019800" y="3540125"/>
            <a:ext cx="2873375" cy="1431925"/>
          </a:xfrm>
          <a:prstGeom prst="rect">
            <a:avLst/>
          </a:prstGeom>
          <a:solidFill>
            <a:srgbClr val="006666"/>
          </a:solidFill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>
            <a:spAutoFit/>
          </a:bodyPr>
          <a:lstStyle/>
          <a:p>
            <a:pPr algn="ctr" eaLnBrk="0" hangingPunct="0">
              <a:lnSpc>
                <a:spcPct val="110000"/>
              </a:lnSpc>
              <a:spcBef>
                <a:spcPct val="20000"/>
              </a:spcBef>
              <a:buClr>
                <a:schemeClr val="folHlink"/>
              </a:buClr>
              <a:buSzPct val="75000"/>
              <a:buFont typeface="Monotype Sorts" pitchFamily="2" charset="2"/>
              <a:buNone/>
              <a:defRPr/>
            </a:pPr>
            <a:r>
              <a:rPr kumimoji="1" lang="zh-CN" altLang="en-US" sz="4000" b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  <a:ea typeface="华文新魏" pitchFamily="2" charset="-122"/>
              </a:rPr>
              <a:t>陷入一个无限循环！</a:t>
            </a:r>
            <a:endParaRPr kumimoji="1" lang="zh-CN" altLang="en-US" sz="4000" b="1"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imes New Roman" pitchFamily="18" charset="0"/>
              <a:ea typeface="华文新魏" pitchFamily="2" charset="-122"/>
              <a:sym typeface="Symbol" pitchFamily="18" charset="2"/>
            </a:endParaRPr>
          </a:p>
        </p:txBody>
      </p:sp>
      <p:sp>
        <p:nvSpPr>
          <p:cNvPr id="281609" name="Rectangle 9"/>
          <p:cNvSpPr>
            <a:spLocks noChangeArrowheads="1"/>
          </p:cNvSpPr>
          <p:nvPr/>
        </p:nvSpPr>
        <p:spPr bwMode="auto">
          <a:xfrm>
            <a:off x="395288" y="2566988"/>
            <a:ext cx="2305050" cy="1895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>
            <a:spAutoFit/>
          </a:bodyPr>
          <a:lstStyle/>
          <a:p>
            <a:pPr eaLnBrk="0" hangingPunct="0">
              <a:lnSpc>
                <a:spcPct val="110000"/>
              </a:lnSpc>
              <a:spcBef>
                <a:spcPct val="20000"/>
              </a:spcBef>
              <a:buClr>
                <a:schemeClr val="folHlink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3200" b="1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S</a:t>
            </a:r>
            <a:r>
              <a:rPr kumimoji="1" lang="en-US" altLang="zh-CN" sz="32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sym typeface="Symbol" pitchFamily="18" charset="2"/>
              </a:rPr>
              <a:t>Say</a:t>
            </a:r>
          </a:p>
          <a:p>
            <a:pPr eaLnBrk="0" hangingPunct="0">
              <a:lnSpc>
                <a:spcPct val="110000"/>
              </a:lnSpc>
              <a:spcBef>
                <a:spcPct val="20000"/>
              </a:spcBef>
              <a:buClr>
                <a:schemeClr val="folHlink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32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sym typeface="Symbol" pitchFamily="18" charset="2"/>
              </a:rPr>
              <a:t>  Sayay</a:t>
            </a:r>
          </a:p>
          <a:p>
            <a:pPr eaLnBrk="0" hangingPunct="0">
              <a:lnSpc>
                <a:spcPct val="110000"/>
              </a:lnSpc>
              <a:spcBef>
                <a:spcPct val="20000"/>
              </a:spcBef>
              <a:buClr>
                <a:schemeClr val="folHlink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32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sym typeface="Symbol" pitchFamily="18" charset="2"/>
              </a:rPr>
              <a:t>  *ayay</a:t>
            </a:r>
          </a:p>
        </p:txBody>
      </p:sp>
      <p:sp>
        <p:nvSpPr>
          <p:cNvPr id="281610" name="Rectangle 10"/>
          <p:cNvSpPr>
            <a:spLocks noChangeArrowheads="1"/>
          </p:cNvSpPr>
          <p:nvPr/>
        </p:nvSpPr>
        <p:spPr bwMode="auto">
          <a:xfrm>
            <a:off x="4500563" y="2060575"/>
            <a:ext cx="2036762" cy="762000"/>
          </a:xfrm>
          <a:prstGeom prst="rect">
            <a:avLst/>
          </a:prstGeom>
          <a:solidFill>
            <a:srgbClr val="006666"/>
          </a:solidFill>
          <a:ln w="9525" algn="ctr">
            <a:noFill/>
            <a:miter lim="800000"/>
            <a:headEnd/>
            <a:tailEnd/>
          </a:ln>
          <a:effectLst/>
        </p:spPr>
        <p:txBody>
          <a:bodyPr lIns="92075" tIns="46038" rIns="92075" bIns="46038">
            <a:spAutoFit/>
          </a:bodyPr>
          <a:lstStyle/>
          <a:p>
            <a:pPr algn="ctr" eaLnBrk="0" hangingPunct="0">
              <a:lnSpc>
                <a:spcPct val="110000"/>
              </a:lnSpc>
              <a:spcBef>
                <a:spcPct val="20000"/>
              </a:spcBef>
              <a:buClr>
                <a:schemeClr val="folHlink"/>
              </a:buClr>
              <a:buSzPct val="75000"/>
              <a:buFont typeface="Monotype Sorts" pitchFamily="2" charset="2"/>
              <a:buNone/>
              <a:defRPr/>
            </a:pPr>
            <a:r>
              <a:rPr kumimoji="1" lang="zh-CN" altLang="en-US" sz="4000" b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  <a:ea typeface="华文新魏" pitchFamily="2" charset="-122"/>
                <a:sym typeface="Symbol" pitchFamily="18" charset="2"/>
              </a:rPr>
              <a:t>不对！</a:t>
            </a:r>
          </a:p>
        </p:txBody>
      </p:sp>
      <p:sp>
        <p:nvSpPr>
          <p:cNvPr id="30733" name="Text Box 13"/>
          <p:cNvSpPr txBox="1">
            <a:spLocks noChangeArrowheads="1"/>
          </p:cNvSpPr>
          <p:nvPr/>
        </p:nvSpPr>
        <p:spPr bwMode="auto">
          <a:xfrm>
            <a:off x="250825" y="5229225"/>
            <a:ext cx="2376488" cy="762000"/>
          </a:xfrm>
          <a:prstGeom prst="rect">
            <a:avLst/>
          </a:prstGeom>
          <a:solidFill>
            <a:srgbClr val="006666"/>
          </a:solidFill>
          <a:ln w="9525" algn="ctr">
            <a:noFill/>
            <a:miter lim="800000"/>
            <a:headEnd/>
            <a:tailEnd/>
          </a:ln>
          <a:effectLst/>
        </p:spPr>
        <p:txBody>
          <a:bodyPr lIns="92075" tIns="46038" rIns="92075" bIns="46038">
            <a:spAutoFit/>
          </a:bodyPr>
          <a:lstStyle/>
          <a:p>
            <a:pPr algn="ctr" eaLnBrk="0" hangingPunct="0">
              <a:lnSpc>
                <a:spcPct val="110000"/>
              </a:lnSpc>
              <a:spcBef>
                <a:spcPct val="20000"/>
              </a:spcBef>
              <a:buClr>
                <a:schemeClr val="folHlink"/>
              </a:buClr>
              <a:buSzPct val="75000"/>
              <a:buFont typeface="Monotype Sorts" pitchFamily="2" charset="2"/>
              <a:buNone/>
              <a:defRPr/>
            </a:pPr>
            <a:r>
              <a:rPr kumimoji="1" lang="zh-CN" altLang="en-US" sz="4000" b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  <a:ea typeface="华文新魏" pitchFamily="2" charset="-122"/>
              </a:rPr>
              <a:t>理想派生</a:t>
            </a:r>
          </a:p>
        </p:txBody>
      </p:sp>
      <p:sp>
        <p:nvSpPr>
          <p:cNvPr id="30734" name="Text Box 14"/>
          <p:cNvSpPr txBox="1">
            <a:spLocks noChangeArrowheads="1"/>
          </p:cNvSpPr>
          <p:nvPr/>
        </p:nvSpPr>
        <p:spPr bwMode="auto">
          <a:xfrm>
            <a:off x="3635375" y="6021388"/>
            <a:ext cx="2376488" cy="762000"/>
          </a:xfrm>
          <a:prstGeom prst="rect">
            <a:avLst/>
          </a:prstGeom>
          <a:solidFill>
            <a:srgbClr val="006666"/>
          </a:solidFill>
          <a:ln w="9525" algn="ctr">
            <a:noFill/>
            <a:miter lim="800000"/>
            <a:headEnd/>
            <a:tailEnd/>
          </a:ln>
          <a:effectLst/>
        </p:spPr>
        <p:txBody>
          <a:bodyPr lIns="92075" tIns="46038" rIns="92075" bIns="46038">
            <a:spAutoFit/>
          </a:bodyPr>
          <a:lstStyle/>
          <a:p>
            <a:pPr algn="ctr" eaLnBrk="0" hangingPunct="0">
              <a:lnSpc>
                <a:spcPct val="110000"/>
              </a:lnSpc>
              <a:spcBef>
                <a:spcPct val="20000"/>
              </a:spcBef>
              <a:buClr>
                <a:schemeClr val="folHlink"/>
              </a:buClr>
              <a:buSzPct val="75000"/>
              <a:buFont typeface="Monotype Sorts" pitchFamily="2" charset="2"/>
              <a:buNone/>
              <a:defRPr/>
            </a:pPr>
            <a:r>
              <a:rPr kumimoji="1" lang="zh-CN" altLang="en-US" sz="4000" b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  <a:ea typeface="华文新魏" pitchFamily="2" charset="-122"/>
              </a:rPr>
              <a:t>很难做到</a:t>
            </a:r>
          </a:p>
        </p:txBody>
      </p:sp>
      <p:sp>
        <p:nvSpPr>
          <p:cNvPr id="2" name="Line 5"/>
          <p:cNvSpPr>
            <a:spLocks noChangeShapeType="1"/>
          </p:cNvSpPr>
          <p:nvPr/>
        </p:nvSpPr>
        <p:spPr bwMode="auto">
          <a:xfrm flipV="1">
            <a:off x="1403350" y="4365625"/>
            <a:ext cx="0" cy="609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2075" tIns="46038" rIns="92075" bIns="46038"/>
          <a:lstStyle/>
          <a:p>
            <a:endParaRPr lang="zh-CN" altLang="en-US"/>
          </a:p>
        </p:txBody>
      </p:sp>
      <p:sp>
        <p:nvSpPr>
          <p:cNvPr id="3" name="Line 5"/>
          <p:cNvSpPr>
            <a:spLocks noChangeShapeType="1"/>
          </p:cNvSpPr>
          <p:nvPr/>
        </p:nvSpPr>
        <p:spPr bwMode="auto">
          <a:xfrm flipV="1">
            <a:off x="1619250" y="4365625"/>
            <a:ext cx="0" cy="609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2075" tIns="46038" rIns="92075" bIns="46038"/>
          <a:lstStyle/>
          <a:p>
            <a:endParaRPr lang="zh-CN" altLang="en-US"/>
          </a:p>
        </p:txBody>
      </p:sp>
      <p:sp>
        <p:nvSpPr>
          <p:cNvPr id="4" name="Line 5"/>
          <p:cNvSpPr>
            <a:spLocks noChangeShapeType="1"/>
          </p:cNvSpPr>
          <p:nvPr/>
        </p:nvSpPr>
        <p:spPr bwMode="auto">
          <a:xfrm flipV="1">
            <a:off x="1835150" y="4365625"/>
            <a:ext cx="0" cy="609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2075" tIns="46038" rIns="92075" bIns="46038"/>
          <a:lstStyle/>
          <a:p>
            <a:endParaRPr lang="zh-CN" altLang="en-US"/>
          </a:p>
        </p:txBody>
      </p:sp>
      <p:sp>
        <p:nvSpPr>
          <p:cNvPr id="5" name="Line 5"/>
          <p:cNvSpPr>
            <a:spLocks noChangeShapeType="1"/>
          </p:cNvSpPr>
          <p:nvPr/>
        </p:nvSpPr>
        <p:spPr bwMode="auto">
          <a:xfrm flipV="1">
            <a:off x="2051050" y="4365625"/>
            <a:ext cx="0" cy="609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2075" tIns="46038" rIns="92075" bIns="46038"/>
          <a:lstStyle/>
          <a:p>
            <a:endParaRPr lang="zh-CN" altLang="en-US"/>
          </a:p>
        </p:txBody>
      </p:sp>
      <p:sp>
        <p:nvSpPr>
          <p:cNvPr id="6" name="Line 5"/>
          <p:cNvSpPr>
            <a:spLocks noChangeShapeType="1"/>
          </p:cNvSpPr>
          <p:nvPr/>
        </p:nvSpPr>
        <p:spPr bwMode="auto">
          <a:xfrm flipV="1">
            <a:off x="2268538" y="4365625"/>
            <a:ext cx="0" cy="609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2075" tIns="46038" rIns="92075" bIns="46038"/>
          <a:lstStyle/>
          <a:p>
            <a:endParaRPr lang="zh-CN" altLang="en-US"/>
          </a:p>
        </p:txBody>
      </p:sp>
      <p:sp>
        <p:nvSpPr>
          <p:cNvPr id="7" name="Line 5"/>
          <p:cNvSpPr>
            <a:spLocks noChangeShapeType="1"/>
          </p:cNvSpPr>
          <p:nvPr/>
        </p:nvSpPr>
        <p:spPr bwMode="auto">
          <a:xfrm flipV="1">
            <a:off x="6804025" y="1917700"/>
            <a:ext cx="0" cy="609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2075" tIns="46038" rIns="92075" bIns="46038"/>
          <a:lstStyle/>
          <a:p>
            <a:endParaRPr lang="zh-CN" altLang="en-US"/>
          </a:p>
        </p:txBody>
      </p:sp>
      <p:sp>
        <p:nvSpPr>
          <p:cNvPr id="8" name="Line 5"/>
          <p:cNvSpPr>
            <a:spLocks noChangeShapeType="1"/>
          </p:cNvSpPr>
          <p:nvPr/>
        </p:nvSpPr>
        <p:spPr bwMode="auto">
          <a:xfrm flipV="1">
            <a:off x="7019925" y="1916113"/>
            <a:ext cx="0" cy="609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2075" tIns="46038" rIns="92075" bIns="46038"/>
          <a:lstStyle/>
          <a:p>
            <a:endParaRPr lang="zh-CN" altLang="en-US"/>
          </a:p>
        </p:txBody>
      </p:sp>
      <p:sp>
        <p:nvSpPr>
          <p:cNvPr id="9" name="Line 5"/>
          <p:cNvSpPr>
            <a:spLocks noChangeShapeType="1"/>
          </p:cNvSpPr>
          <p:nvPr/>
        </p:nvSpPr>
        <p:spPr bwMode="auto">
          <a:xfrm flipV="1">
            <a:off x="7235825" y="1916113"/>
            <a:ext cx="0" cy="609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2075" tIns="46038" rIns="92075" bIns="46038"/>
          <a:lstStyle/>
          <a:p>
            <a:endParaRPr lang="zh-CN" altLang="en-US"/>
          </a:p>
        </p:txBody>
      </p:sp>
      <p:sp>
        <p:nvSpPr>
          <p:cNvPr id="10" name="Line 5"/>
          <p:cNvSpPr>
            <a:spLocks noChangeShapeType="1"/>
          </p:cNvSpPr>
          <p:nvPr/>
        </p:nvSpPr>
        <p:spPr bwMode="auto">
          <a:xfrm flipV="1">
            <a:off x="7451725" y="1916113"/>
            <a:ext cx="0" cy="609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2075" tIns="46038" rIns="92075" bIns="46038"/>
          <a:lstStyle/>
          <a:p>
            <a:endParaRPr lang="zh-CN" altLang="en-US"/>
          </a:p>
        </p:txBody>
      </p:sp>
      <p:sp>
        <p:nvSpPr>
          <p:cNvPr id="11" name="Line 5"/>
          <p:cNvSpPr>
            <a:spLocks noChangeShapeType="1"/>
          </p:cNvSpPr>
          <p:nvPr/>
        </p:nvSpPr>
        <p:spPr bwMode="auto">
          <a:xfrm flipV="1">
            <a:off x="7667625" y="1916113"/>
            <a:ext cx="0" cy="609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2075" tIns="46038" rIns="92075" bIns="46038"/>
          <a:lstStyle/>
          <a:p>
            <a:endParaRPr lang="zh-CN" altLang="en-US"/>
          </a:p>
        </p:txBody>
      </p:sp>
      <p:sp>
        <p:nvSpPr>
          <p:cNvPr id="12" name="Line 5"/>
          <p:cNvSpPr>
            <a:spLocks noChangeShapeType="1"/>
          </p:cNvSpPr>
          <p:nvPr/>
        </p:nvSpPr>
        <p:spPr bwMode="auto">
          <a:xfrm flipV="1">
            <a:off x="7885113" y="1916113"/>
            <a:ext cx="0" cy="609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2075" tIns="46038" rIns="92075" bIns="46038"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>
          <a:xfrm>
            <a:off x="900113" y="260350"/>
            <a:ext cx="7981950" cy="1079500"/>
          </a:xfrm>
        </p:spPr>
        <p:txBody>
          <a:bodyPr/>
          <a:lstStyle/>
          <a:p>
            <a:pPr eaLnBrk="1" hangingPunct="1"/>
            <a:r>
              <a:rPr lang="zh-CN" altLang="en-US" b="1" smtClean="0">
                <a:solidFill>
                  <a:srgbClr val="000099"/>
                </a:solidFill>
                <a:latin typeface="Times New Roman" pitchFamily="18" charset="0"/>
                <a:ea typeface="华文新魏" pitchFamily="2" charset="-122"/>
              </a:rPr>
              <a:t>三、重要问题</a:t>
            </a:r>
            <a:r>
              <a:rPr lang="zh-CN" altLang="en-US" sz="2400" b="1" smtClean="0">
                <a:solidFill>
                  <a:srgbClr val="000099"/>
                </a:solidFill>
                <a:latin typeface="Times New Roman" pitchFamily="18" charset="0"/>
                <a:ea typeface="华文新魏" pitchFamily="2" charset="-122"/>
              </a:rPr>
              <a:t>——左递归及其消除</a:t>
            </a:r>
          </a:p>
        </p:txBody>
      </p:sp>
      <p:sp>
        <p:nvSpPr>
          <p:cNvPr id="32771" name="Rectangle 3"/>
          <p:cNvSpPr>
            <a:spLocks noGrp="1" noChangeArrowheads="1"/>
          </p:cNvSpPr>
          <p:nvPr>
            <p:ph idx="1"/>
          </p:nvPr>
        </p:nvSpPr>
        <p:spPr>
          <a:xfrm>
            <a:off x="468313" y="1484313"/>
            <a:ext cx="7921625" cy="576262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无法根据左递归文法进行自顶向下的分析</a:t>
            </a:r>
            <a:endParaRPr lang="en-US" altLang="zh-CN" b="1" smtClean="0">
              <a:latin typeface="Times New Roman" pitchFamily="18" charset="0"/>
              <a:ea typeface="华文新魏" pitchFamily="2" charset="-122"/>
            </a:endParaRPr>
          </a:p>
        </p:txBody>
      </p:sp>
      <p:sp>
        <p:nvSpPr>
          <p:cNvPr id="32772" name="日期占位符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6102C81F-D7C6-463C-8AE4-4FC37009B2F7}" type="datetime1">
              <a:rPr lang="zh-CN" altLang="en-US" smtClean="0"/>
              <a:pPr eaLnBrk="1" hangingPunct="1"/>
              <a:t>2017/2/24</a:t>
            </a:fld>
            <a:endParaRPr lang="en-US" altLang="zh-CN" smtClean="0"/>
          </a:p>
        </p:txBody>
      </p:sp>
      <p:sp>
        <p:nvSpPr>
          <p:cNvPr id="32773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CEBE93DF-D1DA-4F26-A625-3F1F499D74DF}" type="slidenum">
              <a:rPr lang="zh-CN" altLang="en-US" smtClean="0"/>
              <a:pPr eaLnBrk="1" hangingPunct="1"/>
              <a:t>24</a:t>
            </a:fld>
            <a:endParaRPr lang="en-US" altLang="zh-CN" smtClean="0"/>
          </a:p>
        </p:txBody>
      </p:sp>
      <p:sp>
        <p:nvSpPr>
          <p:cNvPr id="32774" name="Line 4"/>
          <p:cNvSpPr>
            <a:spLocks noChangeShapeType="1"/>
          </p:cNvSpPr>
          <p:nvPr/>
        </p:nvSpPr>
        <p:spPr bwMode="auto">
          <a:xfrm flipV="1">
            <a:off x="7523163" y="4051300"/>
            <a:ext cx="0" cy="685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2075" tIns="46038" rIns="92075" bIns="46038"/>
          <a:lstStyle/>
          <a:p>
            <a:endParaRPr lang="zh-CN" altLang="en-US"/>
          </a:p>
        </p:txBody>
      </p:sp>
      <p:sp>
        <p:nvSpPr>
          <p:cNvPr id="32775" name="Line 5"/>
          <p:cNvSpPr>
            <a:spLocks noChangeShapeType="1"/>
          </p:cNvSpPr>
          <p:nvPr/>
        </p:nvSpPr>
        <p:spPr bwMode="auto">
          <a:xfrm flipV="1">
            <a:off x="4932363" y="4005263"/>
            <a:ext cx="0" cy="685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2075" tIns="46038" rIns="92075" bIns="46038"/>
          <a:lstStyle/>
          <a:p>
            <a:endParaRPr lang="zh-CN" altLang="en-US"/>
          </a:p>
        </p:txBody>
      </p:sp>
      <p:sp>
        <p:nvSpPr>
          <p:cNvPr id="493574" name="Rectangle 6"/>
          <p:cNvSpPr>
            <a:spLocks noChangeArrowheads="1"/>
          </p:cNvSpPr>
          <p:nvPr/>
        </p:nvSpPr>
        <p:spPr bwMode="auto">
          <a:xfrm>
            <a:off x="827088" y="2636838"/>
            <a:ext cx="3024187" cy="1311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>
            <a:spAutoFit/>
          </a:bodyPr>
          <a:lstStyle/>
          <a:p>
            <a:pPr eaLnBrk="0" hangingPunct="0">
              <a:spcBef>
                <a:spcPct val="50000"/>
              </a:spcBef>
              <a:buClr>
                <a:schemeClr val="tx2"/>
              </a:buClr>
              <a:buSzPct val="75000"/>
              <a:buFont typeface="Monotype Sorts" pitchFamily="2" charset="2"/>
              <a:buChar char="n"/>
              <a:defRPr/>
            </a:pPr>
            <a:r>
              <a:rPr kumimoji="1" lang="zh-CN" altLang="en-US" sz="32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直接左递归</a:t>
            </a:r>
            <a:endParaRPr kumimoji="1" lang="zh-CN" altLang="en-US" sz="3200" b="1">
              <a:effectLst>
                <a:outerShdw blurRad="38100" dist="38100" dir="2700000" algn="tl">
                  <a:srgbClr val="C0C0C0"/>
                </a:outerShdw>
              </a:effectLst>
              <a:latin typeface="Times New Roman" pitchFamily="18" charset="0"/>
            </a:endParaRPr>
          </a:p>
          <a:p>
            <a:pPr lvl="1" eaLnBrk="0" hangingPunct="0">
              <a:spcBef>
                <a:spcPct val="50000"/>
              </a:spcBef>
              <a:buClr>
                <a:schemeClr val="folHlink"/>
              </a:buClr>
              <a:buSzPct val="75000"/>
              <a:buFont typeface="Monotype Sorts" pitchFamily="2" charset="2"/>
              <a:buChar char="u"/>
              <a:defRPr/>
            </a:pPr>
            <a:r>
              <a:rPr kumimoji="1" lang="en-US" altLang="zh-CN" sz="32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A</a:t>
            </a:r>
            <a:r>
              <a:rPr kumimoji="1" lang="en-US" altLang="zh-CN" sz="32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sym typeface="Symbol" pitchFamily="18" charset="2"/>
              </a:rPr>
              <a:t></a:t>
            </a:r>
            <a:r>
              <a:rPr kumimoji="1" lang="en-US" altLang="zh-CN" sz="32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Aα</a:t>
            </a:r>
          </a:p>
        </p:txBody>
      </p:sp>
      <p:sp>
        <p:nvSpPr>
          <p:cNvPr id="493575" name="Rectangle 7"/>
          <p:cNvSpPr>
            <a:spLocks noChangeArrowheads="1"/>
          </p:cNvSpPr>
          <p:nvPr/>
        </p:nvSpPr>
        <p:spPr bwMode="auto">
          <a:xfrm>
            <a:off x="827088" y="4797425"/>
            <a:ext cx="3024187" cy="1311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>
            <a:spAutoFit/>
          </a:bodyPr>
          <a:lstStyle/>
          <a:p>
            <a:pPr eaLnBrk="0" hangingPunct="0">
              <a:spcBef>
                <a:spcPct val="50000"/>
              </a:spcBef>
              <a:buClr>
                <a:schemeClr val="tx2"/>
              </a:buClr>
              <a:buSzPct val="75000"/>
              <a:buFont typeface="Monotype Sorts" pitchFamily="2" charset="2"/>
              <a:buChar char="n"/>
              <a:defRPr/>
            </a:pPr>
            <a:r>
              <a:rPr kumimoji="1" lang="zh-CN" altLang="en-US" sz="32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间接左递归</a:t>
            </a:r>
            <a:endParaRPr kumimoji="1" lang="zh-CN" altLang="en-US" sz="3200" b="1">
              <a:effectLst>
                <a:outerShdw blurRad="38100" dist="38100" dir="2700000" algn="tl">
                  <a:srgbClr val="C0C0C0"/>
                </a:outerShdw>
              </a:effectLst>
              <a:latin typeface="Times New Roman" pitchFamily="18" charset="0"/>
            </a:endParaRPr>
          </a:p>
          <a:p>
            <a:pPr lvl="1" eaLnBrk="0" hangingPunct="0">
              <a:spcBef>
                <a:spcPct val="50000"/>
              </a:spcBef>
              <a:buClr>
                <a:schemeClr val="folHlink"/>
              </a:buClr>
              <a:buSzPct val="75000"/>
              <a:buFont typeface="Monotype Sorts" pitchFamily="2" charset="2"/>
              <a:buChar char="u"/>
              <a:defRPr/>
            </a:pPr>
            <a:r>
              <a:rPr kumimoji="1" lang="en-US" altLang="zh-CN" sz="32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A</a:t>
            </a:r>
            <a:r>
              <a:rPr kumimoji="1" lang="en-US" altLang="zh-CN" sz="32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sym typeface="Symbol" pitchFamily="18" charset="2"/>
              </a:rPr>
              <a:t></a:t>
            </a:r>
            <a:r>
              <a:rPr kumimoji="1" lang="en-US" altLang="zh-CN" sz="2800" b="1" baseline="3000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+</a:t>
            </a:r>
            <a:r>
              <a:rPr kumimoji="1" lang="en-US" altLang="zh-CN" sz="2800" baseline="30000">
                <a:sym typeface="Symbol" pitchFamily="18" charset="2"/>
              </a:rPr>
              <a:t> </a:t>
            </a:r>
            <a:r>
              <a:rPr kumimoji="1" lang="en-US" altLang="zh-CN" sz="32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Aα</a:t>
            </a:r>
          </a:p>
        </p:txBody>
      </p:sp>
      <p:sp>
        <p:nvSpPr>
          <p:cNvPr id="32778" name="Rectangle 8"/>
          <p:cNvSpPr>
            <a:spLocks noChangeArrowheads="1"/>
          </p:cNvSpPr>
          <p:nvPr/>
        </p:nvSpPr>
        <p:spPr bwMode="auto">
          <a:xfrm>
            <a:off x="4716463" y="3598863"/>
            <a:ext cx="4413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2800" b="1">
                <a:latin typeface="Times New Roman" pitchFamily="18" charset="0"/>
              </a:rPr>
              <a:t>A</a:t>
            </a:r>
            <a:endParaRPr lang="zh-CN" altLang="en-US" sz="2800" b="1">
              <a:latin typeface="Times New Roman" pitchFamily="18" charset="0"/>
            </a:endParaRPr>
          </a:p>
        </p:txBody>
      </p:sp>
      <p:sp>
        <p:nvSpPr>
          <p:cNvPr id="32779" name="Rectangle 9"/>
          <p:cNvSpPr>
            <a:spLocks noChangeArrowheads="1"/>
          </p:cNvSpPr>
          <p:nvPr/>
        </p:nvSpPr>
        <p:spPr bwMode="auto">
          <a:xfrm>
            <a:off x="5938838" y="3644900"/>
            <a:ext cx="276066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en-US" altLang="zh-CN" sz="2800" b="1">
                <a:latin typeface="Times New Roman" pitchFamily="18" charset="0"/>
              </a:rPr>
              <a:t>a</a:t>
            </a:r>
            <a:r>
              <a:rPr lang="en-US" altLang="zh-CN" sz="2800" b="1" baseline="-25000">
                <a:latin typeface="Times New Roman" pitchFamily="18" charset="0"/>
              </a:rPr>
              <a:t>1</a:t>
            </a:r>
            <a:r>
              <a:rPr lang="en-US" altLang="zh-CN" sz="2800" b="1">
                <a:latin typeface="Times New Roman" pitchFamily="18" charset="0"/>
              </a:rPr>
              <a:t>a</a:t>
            </a:r>
            <a:r>
              <a:rPr lang="en-US" altLang="zh-CN" sz="2800" b="1" baseline="-25000">
                <a:latin typeface="Times New Roman" pitchFamily="18" charset="0"/>
              </a:rPr>
              <a:t>2</a:t>
            </a:r>
            <a:r>
              <a:rPr lang="en-US" altLang="zh-CN" sz="2800" b="1">
                <a:latin typeface="Times New Roman" pitchFamily="18" charset="0"/>
              </a:rPr>
              <a:t>……a</a:t>
            </a:r>
            <a:r>
              <a:rPr lang="en-US" altLang="zh-CN" sz="2800" b="1" baseline="-25000">
                <a:latin typeface="Times New Roman" pitchFamily="18" charset="0"/>
              </a:rPr>
              <a:t>i</a:t>
            </a:r>
            <a:r>
              <a:rPr lang="en-US" altLang="zh-CN" sz="2800" b="1">
                <a:latin typeface="Times New Roman" pitchFamily="18" charset="0"/>
              </a:rPr>
              <a:t>……a</a:t>
            </a:r>
            <a:r>
              <a:rPr lang="en-US" altLang="zh-CN" sz="2800" b="1" baseline="-25000">
                <a:latin typeface="Times New Roman" pitchFamily="18" charset="0"/>
              </a:rPr>
              <a:t>n</a:t>
            </a:r>
          </a:p>
        </p:txBody>
      </p:sp>
      <p:sp>
        <p:nvSpPr>
          <p:cNvPr id="32780" name="Rectangle 10"/>
          <p:cNvSpPr>
            <a:spLocks noChangeArrowheads="1"/>
          </p:cNvSpPr>
          <p:nvPr/>
        </p:nvSpPr>
        <p:spPr bwMode="auto">
          <a:xfrm>
            <a:off x="6804025" y="4627563"/>
            <a:ext cx="14033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2400" b="1">
                <a:ea typeface="华文新魏" pitchFamily="2" charset="-122"/>
              </a:rPr>
              <a:t>输入指针</a:t>
            </a:r>
          </a:p>
        </p:txBody>
      </p:sp>
      <p:sp>
        <p:nvSpPr>
          <p:cNvPr id="32781" name="Rectangle 11"/>
          <p:cNvSpPr>
            <a:spLocks noChangeArrowheads="1"/>
          </p:cNvSpPr>
          <p:nvPr/>
        </p:nvSpPr>
        <p:spPr bwMode="auto">
          <a:xfrm>
            <a:off x="3924300" y="4581525"/>
            <a:ext cx="2016125" cy="731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/>
            <a:r>
              <a:rPr lang="zh-CN" altLang="en-US" sz="2400" b="1">
                <a:latin typeface="Times New Roman" pitchFamily="18" charset="0"/>
                <a:ea typeface="华文新魏" pitchFamily="2" charset="-122"/>
              </a:rPr>
              <a:t>当前变量</a:t>
            </a:r>
          </a:p>
          <a:p>
            <a:pPr algn="ctr"/>
            <a:r>
              <a:rPr lang="zh-CN" altLang="en-US" b="1">
                <a:latin typeface="Times New Roman" pitchFamily="18" charset="0"/>
                <a:ea typeface="华文新魏" pitchFamily="2" charset="-122"/>
              </a:rPr>
              <a:t> </a:t>
            </a:r>
            <a:r>
              <a:rPr lang="en-US" altLang="zh-CN" b="1">
                <a:latin typeface="Times New Roman" pitchFamily="18" charset="0"/>
                <a:ea typeface="华文新魏" pitchFamily="2" charset="-122"/>
              </a:rPr>
              <a:t>(</a:t>
            </a:r>
            <a:r>
              <a:rPr lang="zh-CN" altLang="en-US" b="1">
                <a:latin typeface="Times New Roman" pitchFamily="18" charset="0"/>
                <a:ea typeface="华文新魏" pitchFamily="2" charset="-122"/>
              </a:rPr>
              <a:t>栈顶、最左变量</a:t>
            </a:r>
            <a:r>
              <a:rPr lang="en-US" altLang="zh-CN" b="1">
                <a:latin typeface="Times New Roman" pitchFamily="18" charset="0"/>
                <a:ea typeface="华文新魏" pitchFamily="2" charset="-122"/>
              </a:rPr>
              <a:t>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>
          <a:xfrm>
            <a:off x="858838" y="260350"/>
            <a:ext cx="7458075" cy="963613"/>
          </a:xfrm>
        </p:spPr>
        <p:txBody>
          <a:bodyPr/>
          <a:lstStyle/>
          <a:p>
            <a:pPr eaLnBrk="1" hangingPunct="1"/>
            <a:r>
              <a:rPr lang="zh-CN" altLang="en-US" sz="4000" b="1" smtClean="0">
                <a:solidFill>
                  <a:srgbClr val="000099"/>
                </a:solidFill>
                <a:latin typeface="Times New Roman" pitchFamily="18" charset="0"/>
                <a:ea typeface="华文新魏" pitchFamily="2" charset="-122"/>
              </a:rPr>
              <a:t>三、重要问题</a:t>
            </a:r>
            <a:r>
              <a:rPr lang="zh-CN" altLang="en-US" sz="2400" b="1" smtClean="0">
                <a:solidFill>
                  <a:srgbClr val="000099"/>
                </a:solidFill>
                <a:latin typeface="Times New Roman" pitchFamily="18" charset="0"/>
                <a:ea typeface="华文新魏" pitchFamily="2" charset="-122"/>
              </a:rPr>
              <a:t>——左递归及其消除</a:t>
            </a:r>
          </a:p>
        </p:txBody>
      </p:sp>
      <p:sp>
        <p:nvSpPr>
          <p:cNvPr id="282627" name="Rectangle 3"/>
          <p:cNvSpPr>
            <a:spLocks noGrp="1" noChangeArrowheads="1"/>
          </p:cNvSpPr>
          <p:nvPr>
            <p:ph idx="1"/>
          </p:nvPr>
        </p:nvSpPr>
        <p:spPr>
          <a:xfrm>
            <a:off x="900113" y="2060575"/>
            <a:ext cx="8029575" cy="4537075"/>
          </a:xfrm>
        </p:spPr>
        <p:txBody>
          <a:bodyPr/>
          <a:lstStyle/>
          <a:p>
            <a:pPr eaLnBrk="1" hangingPunct="1">
              <a:spcBef>
                <a:spcPct val="50000"/>
              </a:spcBef>
            </a:pP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例 简单算术表达式的文法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——</a:t>
            </a: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左递归</a:t>
            </a:r>
          </a:p>
          <a:p>
            <a:pPr lvl="1" eaLnBrk="1" hangingPunct="1">
              <a:spcBef>
                <a:spcPct val="50000"/>
              </a:spcBef>
            </a:pP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E→E+T|E-T|T|-E</a:t>
            </a:r>
          </a:p>
          <a:p>
            <a:pPr lvl="1" eaLnBrk="1" hangingPunct="1">
              <a:spcBef>
                <a:spcPct val="50000"/>
              </a:spcBef>
            </a:pP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T→T*F|T/F|F</a:t>
            </a:r>
          </a:p>
          <a:p>
            <a:pPr lvl="1" eaLnBrk="1" hangingPunct="1">
              <a:spcBef>
                <a:spcPct val="50000"/>
              </a:spcBef>
            </a:pP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F→(E) | id</a:t>
            </a:r>
          </a:p>
        </p:txBody>
      </p:sp>
      <p:sp>
        <p:nvSpPr>
          <p:cNvPr id="33796" name="日期占位符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35C65300-8235-42BF-AB8C-CB316DD55DE7}" type="datetime1">
              <a:rPr lang="zh-CN" altLang="en-US" smtClean="0"/>
              <a:pPr eaLnBrk="1" hangingPunct="1"/>
              <a:t>2017/2/24</a:t>
            </a:fld>
            <a:endParaRPr lang="en-US" altLang="zh-CN" smtClean="0"/>
          </a:p>
        </p:txBody>
      </p:sp>
      <p:sp>
        <p:nvSpPr>
          <p:cNvPr id="33797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C46D4E22-FE1A-4B04-9B10-2B562C80FBBF}" type="slidenum">
              <a:rPr lang="zh-CN" altLang="en-US" smtClean="0"/>
              <a:pPr eaLnBrk="1" hangingPunct="1"/>
              <a:t>25</a:t>
            </a:fld>
            <a:endParaRPr lang="en-US" altLang="zh-CN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>
          <a:xfrm>
            <a:off x="1042988" y="836613"/>
            <a:ext cx="7416800" cy="774700"/>
          </a:xfrm>
          <a:noFill/>
        </p:spPr>
        <p:txBody>
          <a:bodyPr lIns="92075" tIns="46038" rIns="92075" bIns="46038"/>
          <a:lstStyle/>
          <a:p>
            <a:pPr eaLnBrk="1" hangingPunct="1"/>
            <a:r>
              <a:rPr lang="zh-CN" altLang="en-US" b="1" smtClean="0">
                <a:solidFill>
                  <a:srgbClr val="000099"/>
                </a:solidFill>
                <a:latin typeface="Times New Roman" pitchFamily="18" charset="0"/>
                <a:ea typeface="华文新魏" pitchFamily="2" charset="-122"/>
              </a:rPr>
              <a:t>例：</a:t>
            </a:r>
            <a:r>
              <a:rPr lang="zh-CN" altLang="en-US" sz="3600" b="1" smtClean="0">
                <a:solidFill>
                  <a:srgbClr val="000099"/>
                </a:solidFill>
                <a:latin typeface="Times New Roman" pitchFamily="18" charset="0"/>
                <a:ea typeface="华文新魏" pitchFamily="2" charset="-122"/>
              </a:rPr>
              <a:t>表达式文法直接左递归的消除</a:t>
            </a:r>
            <a:endParaRPr lang="zh-CN" altLang="en-US" b="1" smtClean="0">
              <a:solidFill>
                <a:srgbClr val="000099"/>
              </a:solidFill>
              <a:latin typeface="Times New Roman" pitchFamily="18" charset="0"/>
              <a:ea typeface="华文新魏" pitchFamily="2" charset="-122"/>
            </a:endParaRPr>
          </a:p>
        </p:txBody>
      </p:sp>
      <p:sp>
        <p:nvSpPr>
          <p:cNvPr id="295939" name="Rectangle 3"/>
          <p:cNvSpPr>
            <a:spLocks noGrp="1" noChangeArrowheads="1"/>
          </p:cNvSpPr>
          <p:nvPr>
            <p:ph idx="1"/>
          </p:nvPr>
        </p:nvSpPr>
        <p:spPr>
          <a:xfrm>
            <a:off x="1116013" y="2636838"/>
            <a:ext cx="3173412" cy="2749550"/>
          </a:xfrm>
        </p:spPr>
        <p:txBody>
          <a:bodyPr lIns="92075" tIns="46038" rIns="92075" bIns="46038"/>
          <a:lstStyle/>
          <a:p>
            <a:pPr eaLnBrk="1" hangingPunct="1">
              <a:spcBef>
                <a:spcPct val="150000"/>
              </a:spcBef>
              <a:buFont typeface="Wingdings" pitchFamily="2" charset="2"/>
              <a:buNone/>
            </a:pP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E→E+T|E-T|</a:t>
            </a:r>
            <a:r>
              <a:rPr lang="en-US" altLang="zh-CN" sz="2800" b="1" smtClean="0">
                <a:solidFill>
                  <a:srgbClr val="993366"/>
                </a:solidFill>
                <a:latin typeface="Times New Roman" pitchFamily="18" charset="0"/>
                <a:ea typeface="华文新魏" pitchFamily="2" charset="-122"/>
              </a:rPr>
              <a:t>T</a:t>
            </a: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|</a:t>
            </a:r>
            <a:r>
              <a:rPr lang="en-US" altLang="zh-CN" sz="2800" b="1" smtClean="0">
                <a:solidFill>
                  <a:srgbClr val="993366"/>
                </a:solidFill>
                <a:latin typeface="Times New Roman" pitchFamily="18" charset="0"/>
                <a:ea typeface="华文新魏" pitchFamily="2" charset="-122"/>
              </a:rPr>
              <a:t>-E</a:t>
            </a:r>
          </a:p>
          <a:p>
            <a:pPr eaLnBrk="1" hangingPunct="1">
              <a:spcBef>
                <a:spcPct val="150000"/>
              </a:spcBef>
              <a:buFont typeface="Wingdings" pitchFamily="2" charset="2"/>
              <a:buNone/>
            </a:pP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T→T*F|T/F|</a:t>
            </a:r>
            <a:r>
              <a:rPr lang="en-US" altLang="zh-CN" sz="2800" b="1" smtClean="0">
                <a:solidFill>
                  <a:srgbClr val="993366"/>
                </a:solidFill>
                <a:latin typeface="Times New Roman" pitchFamily="18" charset="0"/>
                <a:ea typeface="华文新魏" pitchFamily="2" charset="-122"/>
              </a:rPr>
              <a:t>F</a:t>
            </a:r>
          </a:p>
          <a:p>
            <a:pPr eaLnBrk="1" hangingPunct="1">
              <a:spcBef>
                <a:spcPct val="150000"/>
              </a:spcBef>
              <a:buFont typeface="Wingdings" pitchFamily="2" charset="2"/>
              <a:buNone/>
            </a:pP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F→</a:t>
            </a:r>
            <a:r>
              <a:rPr lang="en-US" altLang="zh-CN" sz="2800" b="1" smtClean="0">
                <a:solidFill>
                  <a:srgbClr val="993366"/>
                </a:solidFill>
                <a:latin typeface="Times New Roman" pitchFamily="18" charset="0"/>
                <a:ea typeface="华文新魏" pitchFamily="2" charset="-122"/>
              </a:rPr>
              <a:t>(E)</a:t>
            </a: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 | </a:t>
            </a:r>
            <a:r>
              <a:rPr lang="en-US" altLang="zh-CN" sz="2800" b="1" smtClean="0">
                <a:solidFill>
                  <a:srgbClr val="993366"/>
                </a:solidFill>
                <a:latin typeface="Times New Roman" pitchFamily="18" charset="0"/>
                <a:ea typeface="华文新魏" pitchFamily="2" charset="-122"/>
              </a:rPr>
              <a:t>id</a:t>
            </a:r>
          </a:p>
        </p:txBody>
      </p:sp>
      <p:sp>
        <p:nvSpPr>
          <p:cNvPr id="34820" name="日期占位符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9FA9D54C-E8F3-4886-8CB7-DA28BB7A8370}" type="datetime1">
              <a:rPr lang="zh-CN" altLang="en-US" smtClean="0"/>
              <a:pPr eaLnBrk="1" hangingPunct="1"/>
              <a:t>2017/2/24</a:t>
            </a:fld>
            <a:endParaRPr lang="en-US" altLang="zh-CN" smtClean="0"/>
          </a:p>
        </p:txBody>
      </p:sp>
      <p:sp>
        <p:nvSpPr>
          <p:cNvPr id="34821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6CF18064-D7D7-45F3-8185-732FE9C0F437}" type="slidenum">
              <a:rPr lang="zh-CN" altLang="en-US" smtClean="0"/>
              <a:pPr eaLnBrk="1" hangingPunct="1"/>
              <a:t>26</a:t>
            </a:fld>
            <a:endParaRPr lang="en-US" altLang="zh-CN" smtClean="0"/>
          </a:p>
        </p:txBody>
      </p:sp>
      <p:sp>
        <p:nvSpPr>
          <p:cNvPr id="295940" name="Rectangle 4"/>
          <p:cNvSpPr>
            <a:spLocks noChangeArrowheads="1"/>
          </p:cNvSpPr>
          <p:nvPr/>
        </p:nvSpPr>
        <p:spPr bwMode="auto">
          <a:xfrm>
            <a:off x="5029200" y="2514600"/>
            <a:ext cx="3790950" cy="3200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/>
          <a:lstStyle/>
          <a:p>
            <a:pPr marL="342900" indent="-342900">
              <a:lnSpc>
                <a:spcPct val="12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2800" b="1">
                <a:latin typeface="Times New Roman" pitchFamily="18" charset="0"/>
              </a:rPr>
              <a:t>E→</a:t>
            </a:r>
            <a:r>
              <a:rPr lang="en-US" altLang="zh-CN" sz="2800" b="1">
                <a:solidFill>
                  <a:srgbClr val="993366"/>
                </a:solidFill>
                <a:latin typeface="Times New Roman" pitchFamily="18" charset="0"/>
              </a:rPr>
              <a:t>T</a:t>
            </a:r>
            <a:r>
              <a:rPr lang="en-US" altLang="zh-CN" sz="2800" b="1">
                <a:latin typeface="Times New Roman" pitchFamily="18" charset="0"/>
              </a:rPr>
              <a:t>E</a:t>
            </a:r>
            <a:r>
              <a:rPr kumimoji="1" lang="en-US" altLang="zh-CN" sz="2800" b="1">
                <a:effectLst>
                  <a:outerShdw blurRad="38100" dist="38100" dir="2700000" algn="tl">
                    <a:srgbClr val="C0C0C0"/>
                  </a:outerShdw>
                </a:effectLst>
              </a:rPr>
              <a:t>'</a:t>
            </a:r>
            <a:r>
              <a:rPr lang="en-US" altLang="zh-CN" sz="2800" b="1">
                <a:latin typeface="Times New Roman" pitchFamily="18" charset="0"/>
                <a:ea typeface="华文新魏" pitchFamily="2" charset="-122"/>
              </a:rPr>
              <a:t>| </a:t>
            </a:r>
            <a:r>
              <a:rPr lang="en-US" altLang="zh-CN" sz="2800" b="1">
                <a:solidFill>
                  <a:srgbClr val="993366"/>
                </a:solidFill>
                <a:latin typeface="Times New Roman" pitchFamily="18" charset="0"/>
                <a:ea typeface="华文新魏" pitchFamily="2" charset="-122"/>
              </a:rPr>
              <a:t>-E</a:t>
            </a:r>
            <a:r>
              <a:rPr lang="en-US" altLang="zh-CN" sz="2800" b="1">
                <a:latin typeface="Times New Roman" pitchFamily="18" charset="0"/>
              </a:rPr>
              <a:t>E</a:t>
            </a:r>
            <a:r>
              <a:rPr kumimoji="1" lang="en-US" altLang="zh-CN" sz="2800" b="1">
                <a:effectLst>
                  <a:outerShdw blurRad="38100" dist="38100" dir="2700000" algn="tl">
                    <a:srgbClr val="C0C0C0"/>
                  </a:outerShdw>
                </a:effectLst>
              </a:rPr>
              <a:t>'</a:t>
            </a:r>
            <a:endParaRPr lang="en-US" altLang="zh-CN" sz="2800" b="1">
              <a:latin typeface="Times New Roman" pitchFamily="18" charset="0"/>
            </a:endParaRPr>
          </a:p>
          <a:p>
            <a:pPr marL="342900" indent="-342900">
              <a:lnSpc>
                <a:spcPct val="12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2800" b="1">
                <a:latin typeface="Times New Roman" pitchFamily="18" charset="0"/>
              </a:rPr>
              <a:t>E</a:t>
            </a:r>
            <a:r>
              <a:rPr kumimoji="1" lang="en-US" altLang="zh-CN" sz="2800" b="1">
                <a:effectLst>
                  <a:outerShdw blurRad="38100" dist="38100" dir="2700000" algn="tl">
                    <a:srgbClr val="C0C0C0"/>
                  </a:outerShdw>
                </a:effectLst>
              </a:rPr>
              <a:t>'</a:t>
            </a:r>
            <a:r>
              <a:rPr lang="en-US" altLang="zh-CN" sz="2800" b="1">
                <a:latin typeface="Times New Roman" pitchFamily="18" charset="0"/>
              </a:rPr>
              <a:t>→+TE</a:t>
            </a:r>
            <a:r>
              <a:rPr kumimoji="1" lang="en-US" altLang="zh-CN" sz="2800" b="1">
                <a:effectLst>
                  <a:outerShdw blurRad="38100" dist="38100" dir="2700000" algn="tl">
                    <a:srgbClr val="C0C0C0"/>
                  </a:outerShdw>
                </a:effectLst>
              </a:rPr>
              <a:t>'</a:t>
            </a:r>
            <a:r>
              <a:rPr lang="en-US" altLang="zh-CN" sz="2800" b="1">
                <a:latin typeface="Times New Roman" pitchFamily="18" charset="0"/>
              </a:rPr>
              <a:t>| -TE</a:t>
            </a:r>
            <a:r>
              <a:rPr kumimoji="1" lang="en-US" altLang="zh-CN" sz="2800" b="1">
                <a:effectLst>
                  <a:outerShdw blurRad="38100" dist="38100" dir="2700000" algn="tl">
                    <a:srgbClr val="C0C0C0"/>
                  </a:outerShdw>
                </a:effectLst>
              </a:rPr>
              <a:t>'</a:t>
            </a:r>
            <a:r>
              <a:rPr lang="en-US" altLang="zh-CN" sz="2800" b="1">
                <a:latin typeface="Times New Roman" pitchFamily="18" charset="0"/>
              </a:rPr>
              <a:t>|ε</a:t>
            </a:r>
          </a:p>
          <a:p>
            <a:pPr marL="342900" indent="-342900">
              <a:lnSpc>
                <a:spcPct val="12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2800" b="1">
                <a:latin typeface="Times New Roman" pitchFamily="18" charset="0"/>
              </a:rPr>
              <a:t>T→</a:t>
            </a:r>
            <a:r>
              <a:rPr lang="en-US" altLang="zh-CN" sz="2800" b="1">
                <a:solidFill>
                  <a:srgbClr val="993366"/>
                </a:solidFill>
                <a:latin typeface="Times New Roman" pitchFamily="18" charset="0"/>
              </a:rPr>
              <a:t>F</a:t>
            </a:r>
            <a:r>
              <a:rPr lang="en-US" altLang="zh-CN" sz="2800" b="1">
                <a:latin typeface="Times New Roman" pitchFamily="18" charset="0"/>
              </a:rPr>
              <a:t>T</a:t>
            </a:r>
            <a:r>
              <a:rPr kumimoji="1" lang="en-US" altLang="zh-CN" sz="2800" b="1">
                <a:effectLst>
                  <a:outerShdw blurRad="38100" dist="38100" dir="2700000" algn="tl">
                    <a:srgbClr val="C0C0C0"/>
                  </a:outerShdw>
                </a:effectLst>
              </a:rPr>
              <a:t>'</a:t>
            </a:r>
            <a:r>
              <a:rPr lang="en-US" altLang="zh-CN" sz="2800" b="1">
                <a:latin typeface="Times New Roman" pitchFamily="18" charset="0"/>
              </a:rPr>
              <a:t> </a:t>
            </a:r>
          </a:p>
          <a:p>
            <a:pPr marL="342900" indent="-342900">
              <a:lnSpc>
                <a:spcPct val="12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2800" b="1">
                <a:latin typeface="Times New Roman" pitchFamily="18" charset="0"/>
              </a:rPr>
              <a:t>T’→*FT</a:t>
            </a:r>
            <a:r>
              <a:rPr kumimoji="1" lang="en-US" altLang="zh-CN" sz="2800" b="1">
                <a:effectLst>
                  <a:outerShdw blurRad="38100" dist="38100" dir="2700000" algn="tl">
                    <a:srgbClr val="C0C0C0"/>
                  </a:outerShdw>
                </a:effectLst>
              </a:rPr>
              <a:t>'</a:t>
            </a:r>
            <a:r>
              <a:rPr lang="en-US" altLang="zh-CN" sz="2800" b="1">
                <a:latin typeface="Times New Roman" pitchFamily="18" charset="0"/>
              </a:rPr>
              <a:t>| /FT</a:t>
            </a:r>
            <a:r>
              <a:rPr kumimoji="1" lang="en-US" altLang="zh-CN" sz="2800" b="1">
                <a:effectLst>
                  <a:outerShdw blurRad="38100" dist="38100" dir="2700000" algn="tl">
                    <a:srgbClr val="C0C0C0"/>
                  </a:outerShdw>
                </a:effectLst>
              </a:rPr>
              <a:t>'</a:t>
            </a:r>
            <a:r>
              <a:rPr lang="en-US" altLang="zh-CN" sz="2800" b="1">
                <a:latin typeface="Times New Roman" pitchFamily="18" charset="0"/>
              </a:rPr>
              <a:t>|ε</a:t>
            </a:r>
          </a:p>
          <a:p>
            <a:pPr marL="342900" indent="-342900">
              <a:lnSpc>
                <a:spcPct val="12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2800" b="1">
                <a:latin typeface="Times New Roman" pitchFamily="18" charset="0"/>
              </a:rPr>
              <a:t>F→</a:t>
            </a:r>
            <a:r>
              <a:rPr lang="en-US" altLang="zh-CN" sz="2800" b="1">
                <a:solidFill>
                  <a:srgbClr val="993366"/>
                </a:solidFill>
                <a:latin typeface="Times New Roman" pitchFamily="18" charset="0"/>
              </a:rPr>
              <a:t>( E )</a:t>
            </a:r>
            <a:r>
              <a:rPr lang="en-US" altLang="zh-CN" sz="2800" b="1">
                <a:latin typeface="Times New Roman" pitchFamily="18" charset="0"/>
              </a:rPr>
              <a:t> |</a:t>
            </a:r>
            <a:r>
              <a:rPr lang="en-US" altLang="zh-CN" sz="2800" b="1">
                <a:solidFill>
                  <a:srgbClr val="993366"/>
                </a:solidFill>
                <a:latin typeface="Times New Roman" pitchFamily="18" charset="0"/>
              </a:rPr>
              <a:t> id</a:t>
            </a:r>
          </a:p>
        </p:txBody>
      </p:sp>
      <p:sp>
        <p:nvSpPr>
          <p:cNvPr id="295941" name="AutoShape 5"/>
          <p:cNvSpPr>
            <a:spLocks noChangeArrowheads="1"/>
          </p:cNvSpPr>
          <p:nvPr/>
        </p:nvSpPr>
        <p:spPr bwMode="auto">
          <a:xfrm>
            <a:off x="3708400" y="3357563"/>
            <a:ext cx="1346200" cy="1447800"/>
          </a:xfrm>
          <a:prstGeom prst="rightArrow">
            <a:avLst>
              <a:gd name="adj1" fmla="val 50000"/>
              <a:gd name="adj2" fmla="val 25000"/>
            </a:avLst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>
          <a:xfrm>
            <a:off x="858838" y="260350"/>
            <a:ext cx="7458075" cy="963613"/>
          </a:xfrm>
        </p:spPr>
        <p:txBody>
          <a:bodyPr/>
          <a:lstStyle/>
          <a:p>
            <a:pPr eaLnBrk="1" hangingPunct="1"/>
            <a:r>
              <a:rPr lang="zh-CN" altLang="en-US" sz="4000" b="1" smtClean="0">
                <a:solidFill>
                  <a:srgbClr val="000099"/>
                </a:solidFill>
                <a:latin typeface="Times New Roman" pitchFamily="18" charset="0"/>
                <a:ea typeface="华文新魏" pitchFamily="2" charset="-122"/>
              </a:rPr>
              <a:t>三、重要问题</a:t>
            </a:r>
            <a:r>
              <a:rPr lang="zh-CN" altLang="en-US" sz="2400" b="1" smtClean="0">
                <a:solidFill>
                  <a:srgbClr val="000099"/>
                </a:solidFill>
                <a:latin typeface="Times New Roman" pitchFamily="18" charset="0"/>
                <a:ea typeface="华文新魏" pitchFamily="2" charset="-122"/>
              </a:rPr>
              <a:t>——左递归及其消除</a:t>
            </a:r>
          </a:p>
        </p:txBody>
      </p:sp>
      <p:sp>
        <p:nvSpPr>
          <p:cNvPr id="494595" name="Rectangle 3"/>
          <p:cNvSpPr>
            <a:spLocks noGrp="1" noChangeArrowheads="1"/>
          </p:cNvSpPr>
          <p:nvPr>
            <p:ph idx="1"/>
          </p:nvPr>
        </p:nvSpPr>
        <p:spPr>
          <a:xfrm>
            <a:off x="900113" y="1628775"/>
            <a:ext cx="8029575" cy="4537075"/>
          </a:xfrm>
        </p:spPr>
        <p:txBody>
          <a:bodyPr/>
          <a:lstStyle/>
          <a:p>
            <a:pPr eaLnBrk="1" hangingPunct="1">
              <a:spcBef>
                <a:spcPct val="50000"/>
              </a:spcBef>
            </a:pP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思考：如何理解和处理下列文法</a:t>
            </a:r>
          </a:p>
          <a:p>
            <a:pPr lvl="1" eaLnBrk="1" hangingPunct="1">
              <a:spcBef>
                <a:spcPct val="50000"/>
              </a:spcBef>
              <a:buFont typeface="Wingdings" pitchFamily="2" charset="2"/>
              <a:buNone/>
            </a:pP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E→E+T|E-T|T|-E</a:t>
            </a:r>
          </a:p>
          <a:p>
            <a:pPr lvl="1" eaLnBrk="1" hangingPunct="1">
              <a:spcBef>
                <a:spcPct val="50000"/>
              </a:spcBef>
              <a:buFont typeface="Wingdings" pitchFamily="2" charset="2"/>
              <a:buNone/>
            </a:pP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T→T*F|T/F|F</a:t>
            </a:r>
          </a:p>
          <a:p>
            <a:pPr lvl="1" eaLnBrk="1" hangingPunct="1">
              <a:spcBef>
                <a:spcPct val="50000"/>
              </a:spcBef>
              <a:buFont typeface="Wingdings" pitchFamily="2" charset="2"/>
              <a:buNone/>
            </a:pP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F→F↑P|P</a:t>
            </a:r>
          </a:p>
          <a:p>
            <a:pPr lvl="1" eaLnBrk="1" hangingPunct="1">
              <a:spcBef>
                <a:spcPct val="50000"/>
              </a:spcBef>
              <a:buFont typeface="Wingdings" pitchFamily="2" charset="2"/>
              <a:buNone/>
            </a:pP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P→(E)|id|const|FUN(L)</a:t>
            </a:r>
          </a:p>
          <a:p>
            <a:pPr lvl="1" eaLnBrk="1" hangingPunct="1">
              <a:spcBef>
                <a:spcPct val="50000"/>
              </a:spcBef>
              <a:buFont typeface="Wingdings" pitchFamily="2" charset="2"/>
              <a:buNone/>
            </a:pP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FUN→ abs | sin | cos | ln | log | exp | sqrt</a:t>
            </a:r>
          </a:p>
          <a:p>
            <a:pPr lvl="1" eaLnBrk="1" hangingPunct="1">
              <a:spcBef>
                <a:spcPct val="50000"/>
              </a:spcBef>
              <a:buFont typeface="Wingdings" pitchFamily="2" charset="2"/>
              <a:buNone/>
            </a:pP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L→E|E,L</a:t>
            </a:r>
          </a:p>
        </p:txBody>
      </p:sp>
      <p:sp>
        <p:nvSpPr>
          <p:cNvPr id="35844" name="日期占位符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EF632519-1C53-4967-84E1-7C401C7A2849}" type="datetime1">
              <a:rPr lang="zh-CN" altLang="en-US" smtClean="0"/>
              <a:pPr eaLnBrk="1" hangingPunct="1"/>
              <a:t>2017/2/24</a:t>
            </a:fld>
            <a:endParaRPr lang="en-US" altLang="zh-CN" smtClean="0"/>
          </a:p>
        </p:txBody>
      </p:sp>
      <p:sp>
        <p:nvSpPr>
          <p:cNvPr id="35845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1A976DE1-E5E1-4B83-8C37-3665E6A3CBFC}" type="slidenum">
              <a:rPr lang="zh-CN" altLang="en-US" smtClean="0"/>
              <a:pPr eaLnBrk="1" hangingPunct="1"/>
              <a:t>27</a:t>
            </a:fld>
            <a:endParaRPr lang="en-US" altLang="zh-CN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>
          <a:xfrm>
            <a:off x="900113" y="260350"/>
            <a:ext cx="7981950" cy="935038"/>
          </a:xfrm>
        </p:spPr>
        <p:txBody>
          <a:bodyPr/>
          <a:lstStyle/>
          <a:p>
            <a:pPr eaLnBrk="1" hangingPunct="1"/>
            <a:r>
              <a:rPr lang="zh-CN" altLang="en-US" b="1" smtClean="0">
                <a:solidFill>
                  <a:srgbClr val="000099"/>
                </a:solidFill>
                <a:latin typeface="Times New Roman" pitchFamily="18" charset="0"/>
                <a:ea typeface="华文新魏" pitchFamily="2" charset="-122"/>
              </a:rPr>
              <a:t>三、重要问题</a:t>
            </a:r>
            <a:r>
              <a:rPr lang="zh-CN" altLang="en-US" sz="2400" b="1" smtClean="0">
                <a:solidFill>
                  <a:srgbClr val="000099"/>
                </a:solidFill>
                <a:latin typeface="Times New Roman" pitchFamily="18" charset="0"/>
                <a:ea typeface="华文新魏" pitchFamily="2" charset="-122"/>
              </a:rPr>
              <a:t>——左递归及其消除</a:t>
            </a:r>
          </a:p>
        </p:txBody>
      </p:sp>
      <p:sp>
        <p:nvSpPr>
          <p:cNvPr id="294919" name="Rectangle 7"/>
          <p:cNvSpPr>
            <a:spLocks noGrp="1" noChangeArrowheads="1"/>
          </p:cNvSpPr>
          <p:nvPr>
            <p:ph idx="1"/>
          </p:nvPr>
        </p:nvSpPr>
        <p:spPr>
          <a:xfrm>
            <a:off x="1042988" y="1916113"/>
            <a:ext cx="7772400" cy="4114800"/>
          </a:xfrm>
        </p:spPr>
        <p:txBody>
          <a:bodyPr/>
          <a:lstStyle/>
          <a:p>
            <a:pPr eaLnBrk="1" hangingPunct="1">
              <a:defRPr/>
            </a:pPr>
            <a:r>
              <a:rPr kumimoji="1" lang="zh-CN" altLang="en-US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左递归的消除方法</a:t>
            </a:r>
          </a:p>
          <a:p>
            <a:pPr lvl="1" eaLnBrk="1" hangingPunct="1">
              <a:defRPr/>
            </a:pPr>
            <a:r>
              <a:rPr kumimoji="1" lang="zh-CN" altLang="en-US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将</a:t>
            </a:r>
            <a:r>
              <a:rPr kumimoji="1" lang="en-US" altLang="zh-CN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A→Aα|β</a:t>
            </a:r>
            <a:r>
              <a:rPr kumimoji="1" lang="zh-CN" altLang="en-US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替换为</a:t>
            </a:r>
          </a:p>
          <a:p>
            <a:pPr lvl="1" eaLnBrk="1" hangingPunct="1">
              <a:buFont typeface="Wingdings" pitchFamily="2" charset="2"/>
              <a:buNone/>
              <a:defRPr/>
            </a:pPr>
            <a:r>
              <a:rPr kumimoji="1" lang="en-US" altLang="zh-CN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			A→βA</a:t>
            </a:r>
            <a:r>
              <a:rPr kumimoji="1" lang="en-US" altLang="zh-CN" sz="2400" b="1">
                <a:effectLst>
                  <a:outerShdw blurRad="38100" dist="38100" dir="2700000" algn="tl">
                    <a:srgbClr val="C0C0C0"/>
                  </a:outerShdw>
                </a:effectLst>
              </a:rPr>
              <a:t>'</a:t>
            </a:r>
            <a:endParaRPr kumimoji="1" lang="en-US" altLang="zh-CN" b="1">
              <a:effectLst>
                <a:outerShdw blurRad="38100" dist="38100" dir="2700000" algn="tl">
                  <a:srgbClr val="C0C0C0"/>
                </a:outerShdw>
              </a:effectLst>
              <a:latin typeface="Times New Roman" pitchFamily="18" charset="0"/>
              <a:ea typeface="华文新魏" pitchFamily="2" charset="-122"/>
            </a:endParaRPr>
          </a:p>
          <a:p>
            <a:pPr lvl="1" eaLnBrk="1" hangingPunct="1">
              <a:buFont typeface="Wingdings" pitchFamily="2" charset="2"/>
              <a:buNone/>
              <a:defRPr/>
            </a:pPr>
            <a:r>
              <a:rPr kumimoji="1" lang="zh-CN" altLang="en-US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			</a:t>
            </a:r>
            <a:r>
              <a:rPr kumimoji="1" lang="en-US" altLang="zh-CN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A′→αA</a:t>
            </a:r>
            <a:r>
              <a:rPr kumimoji="1" lang="en-US" altLang="zh-CN" sz="2400" b="1">
                <a:effectLst>
                  <a:outerShdw blurRad="38100" dist="38100" dir="2700000" algn="tl">
                    <a:srgbClr val="C0C0C0"/>
                  </a:outerShdw>
                </a:effectLst>
              </a:rPr>
              <a:t>'</a:t>
            </a:r>
            <a:r>
              <a:rPr kumimoji="1" lang="en-US" altLang="zh-CN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｜ε</a:t>
            </a:r>
          </a:p>
          <a:p>
            <a:pPr eaLnBrk="1" hangingPunct="1">
              <a:defRPr/>
            </a:pPr>
            <a:endParaRPr lang="zh-CN" altLang="en-US">
              <a:latin typeface="Times New Roman" pitchFamily="18" charset="0"/>
              <a:ea typeface="华文新魏" pitchFamily="2" charset="-122"/>
            </a:endParaRPr>
          </a:p>
        </p:txBody>
      </p:sp>
      <p:sp>
        <p:nvSpPr>
          <p:cNvPr id="36868" name="日期占位符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5AB88E78-9095-45CC-BD89-0E5C8DF2486A}" type="datetime1">
              <a:rPr lang="zh-CN" altLang="en-US" smtClean="0"/>
              <a:pPr eaLnBrk="1" hangingPunct="1"/>
              <a:t>2017/2/24</a:t>
            </a:fld>
            <a:endParaRPr lang="en-US" altLang="zh-CN" smtClean="0"/>
          </a:p>
        </p:txBody>
      </p:sp>
      <p:sp>
        <p:nvSpPr>
          <p:cNvPr id="36869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706A763C-C698-47B0-B973-EA84DF2CE0A4}" type="slidenum">
              <a:rPr lang="zh-CN" altLang="en-US" smtClean="0"/>
              <a:pPr eaLnBrk="1" hangingPunct="1"/>
              <a:t>28</a:t>
            </a:fld>
            <a:endParaRPr lang="en-US" altLang="zh-CN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title"/>
          </p:nvPr>
        </p:nvSpPr>
        <p:spPr>
          <a:xfrm>
            <a:off x="900113" y="333375"/>
            <a:ext cx="7127875" cy="685800"/>
          </a:xfrm>
          <a:noFill/>
        </p:spPr>
        <p:txBody>
          <a:bodyPr/>
          <a:lstStyle/>
          <a:p>
            <a:pPr eaLnBrk="1" hangingPunct="1"/>
            <a:r>
              <a:rPr lang="zh-CN" altLang="en-US" sz="4000" b="1" smtClean="0">
                <a:solidFill>
                  <a:srgbClr val="000099"/>
                </a:solidFill>
                <a:latin typeface="Times New Roman" pitchFamily="18" charset="0"/>
                <a:ea typeface="华文新魏" pitchFamily="2" charset="-122"/>
              </a:rPr>
              <a:t>例： 间接左递归的消除</a:t>
            </a:r>
          </a:p>
        </p:txBody>
      </p:sp>
      <p:sp>
        <p:nvSpPr>
          <p:cNvPr id="296963" name="Rectangle 3"/>
          <p:cNvSpPr>
            <a:spLocks noGrp="1" noChangeArrowheads="1"/>
          </p:cNvSpPr>
          <p:nvPr>
            <p:ph idx="1"/>
          </p:nvPr>
        </p:nvSpPr>
        <p:spPr>
          <a:xfrm>
            <a:off x="685800" y="1414463"/>
            <a:ext cx="8458200" cy="4894262"/>
          </a:xfrm>
        </p:spPr>
        <p:txBody>
          <a:bodyPr lIns="92075" tIns="46038" rIns="92075" bIns="46038"/>
          <a:lstStyle/>
          <a:p>
            <a:pPr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CN" sz="3600" b="1" dirty="0" err="1">
                <a:latin typeface="Times New Roman" pitchFamily="18" charset="0"/>
                <a:ea typeface="华文新魏" pitchFamily="2" charset="-122"/>
              </a:rPr>
              <a:t>S→Ac|c</a:t>
            </a:r>
            <a:r>
              <a:rPr lang="en-US" altLang="zh-CN" b="1" dirty="0">
                <a:latin typeface="Times New Roman" pitchFamily="18" charset="0"/>
                <a:ea typeface="华文新魏" pitchFamily="2" charset="-122"/>
              </a:rPr>
              <a:t> 		</a:t>
            </a:r>
            <a:r>
              <a:rPr lang="en-US" altLang="zh-CN" b="1" dirty="0" err="1">
                <a:latin typeface="Times New Roman" pitchFamily="18" charset="0"/>
                <a:ea typeface="华文新魏" pitchFamily="2" charset="-122"/>
              </a:rPr>
              <a:t>A→Bb|b</a:t>
            </a:r>
            <a:r>
              <a:rPr lang="en-US" altLang="zh-CN" b="1" dirty="0">
                <a:latin typeface="Times New Roman" pitchFamily="18" charset="0"/>
                <a:ea typeface="华文新魏" pitchFamily="2" charset="-122"/>
              </a:rPr>
              <a:t> 		</a:t>
            </a:r>
            <a:r>
              <a:rPr lang="en-US" altLang="zh-CN" b="1" dirty="0" err="1">
                <a:latin typeface="Times New Roman" pitchFamily="18" charset="0"/>
                <a:ea typeface="华文新魏" pitchFamily="2" charset="-122"/>
              </a:rPr>
              <a:t>B→Sa|a</a:t>
            </a:r>
            <a:endParaRPr lang="en-US" altLang="zh-CN" b="1" dirty="0">
              <a:latin typeface="Times New Roman" pitchFamily="18" charset="0"/>
              <a:ea typeface="华文新魏" pitchFamily="2" charset="-122"/>
            </a:endParaRP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zh-CN" altLang="en-US" b="1" dirty="0">
                <a:latin typeface="Times New Roman" pitchFamily="18" charset="0"/>
                <a:ea typeface="华文新魏" pitchFamily="2" charset="-122"/>
              </a:rPr>
              <a:t>将</a:t>
            </a:r>
            <a:r>
              <a:rPr lang="en-US" altLang="zh-CN" b="1" dirty="0">
                <a:latin typeface="Times New Roman" pitchFamily="18" charset="0"/>
                <a:ea typeface="华文新魏" pitchFamily="2" charset="-122"/>
              </a:rPr>
              <a:t>B</a:t>
            </a:r>
            <a:r>
              <a:rPr lang="zh-CN" altLang="en-US" b="1" dirty="0">
                <a:latin typeface="Times New Roman" pitchFamily="18" charset="0"/>
                <a:ea typeface="华文新魏" pitchFamily="2" charset="-122"/>
              </a:rPr>
              <a:t>的定义</a:t>
            </a:r>
            <a:r>
              <a:rPr lang="zh-CN" altLang="zh-CN" b="1" dirty="0">
                <a:latin typeface="Times New Roman" pitchFamily="18" charset="0"/>
                <a:ea typeface="华文新魏" pitchFamily="2" charset="-122"/>
              </a:rPr>
              <a:t>代入</a:t>
            </a:r>
            <a:r>
              <a:rPr lang="en-US" altLang="zh-CN" b="1" dirty="0">
                <a:latin typeface="Times New Roman" pitchFamily="18" charset="0"/>
                <a:ea typeface="华文新魏" pitchFamily="2" charset="-122"/>
              </a:rPr>
              <a:t>A</a:t>
            </a:r>
            <a:r>
              <a:rPr lang="zh-CN" altLang="en-US" b="1" dirty="0">
                <a:latin typeface="Times New Roman" pitchFamily="18" charset="0"/>
                <a:ea typeface="华文新魏" pitchFamily="2" charset="-122"/>
              </a:rPr>
              <a:t>产生式得：</a:t>
            </a:r>
            <a:r>
              <a:rPr lang="en-US" altLang="zh-CN" b="1" dirty="0" err="1">
                <a:latin typeface="Times New Roman" pitchFamily="18" charset="0"/>
                <a:ea typeface="华文新魏" pitchFamily="2" charset="-122"/>
              </a:rPr>
              <a:t>A→Sab|ab|b</a:t>
            </a:r>
            <a:endParaRPr lang="en-US" altLang="zh-CN" b="1" dirty="0">
              <a:latin typeface="Times New Roman" pitchFamily="18" charset="0"/>
              <a:ea typeface="华文新魏" pitchFamily="2" charset="-122"/>
            </a:endParaRP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zh-CN" altLang="en-US" b="1" dirty="0">
                <a:latin typeface="Times New Roman" pitchFamily="18" charset="0"/>
                <a:ea typeface="华文新魏" pitchFamily="2" charset="-122"/>
              </a:rPr>
              <a:t>将</a:t>
            </a:r>
            <a:r>
              <a:rPr lang="en-US" altLang="zh-CN" b="1" dirty="0">
                <a:latin typeface="Times New Roman" pitchFamily="18" charset="0"/>
                <a:ea typeface="华文新魏" pitchFamily="2" charset="-122"/>
              </a:rPr>
              <a:t>A</a:t>
            </a:r>
            <a:r>
              <a:rPr lang="zh-CN" altLang="en-US" b="1" dirty="0">
                <a:latin typeface="Times New Roman" pitchFamily="18" charset="0"/>
                <a:ea typeface="华文新魏" pitchFamily="2" charset="-122"/>
              </a:rPr>
              <a:t>的定义</a:t>
            </a:r>
            <a:r>
              <a:rPr lang="zh-CN" altLang="zh-CN" b="1" dirty="0">
                <a:latin typeface="Times New Roman" pitchFamily="18" charset="0"/>
                <a:ea typeface="华文新魏" pitchFamily="2" charset="-122"/>
              </a:rPr>
              <a:t>代入</a:t>
            </a:r>
            <a:r>
              <a:rPr lang="en-US" altLang="zh-CN" b="1" dirty="0">
                <a:latin typeface="Times New Roman" pitchFamily="18" charset="0"/>
                <a:ea typeface="华文新魏" pitchFamily="2" charset="-122"/>
              </a:rPr>
              <a:t>S</a:t>
            </a:r>
            <a:r>
              <a:rPr lang="zh-CN" altLang="en-US" b="1" dirty="0">
                <a:latin typeface="Times New Roman" pitchFamily="18" charset="0"/>
                <a:ea typeface="华文新魏" pitchFamily="2" charset="-122"/>
              </a:rPr>
              <a:t>产生式得: </a:t>
            </a:r>
            <a:r>
              <a:rPr lang="en-US" altLang="zh-CN" b="1" dirty="0" err="1">
                <a:latin typeface="Times New Roman" pitchFamily="18" charset="0"/>
                <a:ea typeface="华文新魏" pitchFamily="2" charset="-122"/>
              </a:rPr>
              <a:t>S→Sabc|abc|bc|c</a:t>
            </a:r>
            <a:endParaRPr lang="en-US" altLang="zh-CN" b="1" dirty="0">
              <a:latin typeface="Times New Roman" pitchFamily="18" charset="0"/>
              <a:ea typeface="华文新魏" pitchFamily="2" charset="-122"/>
            </a:endParaRP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zh-CN" altLang="en-US" b="1" dirty="0">
                <a:latin typeface="Times New Roman" pitchFamily="18" charset="0"/>
                <a:ea typeface="华文新魏" pitchFamily="2" charset="-122"/>
              </a:rPr>
              <a:t>消除直接左递归：	</a:t>
            </a:r>
            <a:r>
              <a:rPr lang="en-US" altLang="zh-CN" b="1" dirty="0" err="1">
                <a:latin typeface="Times New Roman" pitchFamily="18" charset="0"/>
                <a:ea typeface="华文新魏" pitchFamily="2" charset="-122"/>
              </a:rPr>
              <a:t>S→abcS</a:t>
            </a:r>
            <a:r>
              <a:rPr kumimoji="1" lang="en-US" altLang="zh-CN" sz="2800" b="1" dirty="0" err="1">
                <a:effectLst>
                  <a:outerShdw blurRad="38100" dist="38100" dir="2700000" algn="tl">
                    <a:srgbClr val="C0C0C0"/>
                  </a:outerShdw>
                </a:effectLst>
              </a:rPr>
              <a:t>'</a:t>
            </a:r>
            <a:r>
              <a:rPr lang="en-US" altLang="zh-CN" b="1" dirty="0" err="1">
                <a:latin typeface="Times New Roman" pitchFamily="18" charset="0"/>
                <a:ea typeface="华文新魏" pitchFamily="2" charset="-122"/>
              </a:rPr>
              <a:t>|bcS</a:t>
            </a:r>
            <a:r>
              <a:rPr kumimoji="1" lang="en-US" altLang="zh-CN" sz="2800" b="1" dirty="0" err="1">
                <a:effectLst>
                  <a:outerShdw blurRad="38100" dist="38100" dir="2700000" algn="tl">
                    <a:srgbClr val="C0C0C0"/>
                  </a:outerShdw>
                </a:effectLst>
              </a:rPr>
              <a:t>'</a:t>
            </a:r>
            <a:r>
              <a:rPr lang="en-US" altLang="zh-CN" b="1" dirty="0" err="1">
                <a:latin typeface="Times New Roman" pitchFamily="18" charset="0"/>
                <a:ea typeface="华文新魏" pitchFamily="2" charset="-122"/>
              </a:rPr>
              <a:t>|cS</a:t>
            </a:r>
            <a:r>
              <a:rPr kumimoji="1" lang="en-US" altLang="zh-CN" sz="28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'</a:t>
            </a:r>
            <a:endParaRPr lang="en-US" altLang="zh-CN" b="1" dirty="0">
              <a:latin typeface="Times New Roman" pitchFamily="18" charset="0"/>
              <a:ea typeface="华文新魏" pitchFamily="2" charset="-122"/>
            </a:endParaRP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CN" b="1" dirty="0">
                <a:latin typeface="Times New Roman" pitchFamily="18" charset="0"/>
                <a:ea typeface="华文新魏" pitchFamily="2" charset="-122"/>
              </a:rPr>
              <a:t>　				</a:t>
            </a:r>
            <a:r>
              <a:rPr lang="en-US" altLang="zh-CN" b="1" dirty="0" err="1">
                <a:latin typeface="Times New Roman" pitchFamily="18" charset="0"/>
                <a:ea typeface="华文新魏" pitchFamily="2" charset="-122"/>
              </a:rPr>
              <a:t>S</a:t>
            </a:r>
            <a:r>
              <a:rPr kumimoji="1" lang="en-US" altLang="zh-CN" sz="2800" b="1" dirty="0" err="1">
                <a:effectLst>
                  <a:outerShdw blurRad="38100" dist="38100" dir="2700000" algn="tl">
                    <a:srgbClr val="C0C0C0"/>
                  </a:outerShdw>
                </a:effectLst>
              </a:rPr>
              <a:t>'</a:t>
            </a:r>
            <a:r>
              <a:rPr lang="en-US" altLang="zh-CN" b="1" dirty="0" err="1">
                <a:latin typeface="Times New Roman" pitchFamily="18" charset="0"/>
                <a:ea typeface="华文新魏" pitchFamily="2" charset="-122"/>
              </a:rPr>
              <a:t>→abcS</a:t>
            </a:r>
            <a:r>
              <a:rPr kumimoji="1" lang="en-US" altLang="zh-CN" sz="2800" b="1" dirty="0" err="1">
                <a:effectLst>
                  <a:outerShdw blurRad="38100" dist="38100" dir="2700000" algn="tl">
                    <a:srgbClr val="C0C0C0"/>
                  </a:outerShdw>
                </a:effectLst>
              </a:rPr>
              <a:t>'</a:t>
            </a:r>
            <a:r>
              <a:rPr lang="en-US" altLang="zh-CN" b="1" dirty="0" err="1">
                <a:latin typeface="Times New Roman" pitchFamily="18" charset="0"/>
                <a:ea typeface="华文新魏" pitchFamily="2" charset="-122"/>
              </a:rPr>
              <a:t>|ε</a:t>
            </a:r>
            <a:endParaRPr lang="en-US" altLang="zh-CN" b="1" dirty="0">
              <a:latin typeface="Times New Roman" pitchFamily="18" charset="0"/>
              <a:ea typeface="华文新魏" pitchFamily="2" charset="-122"/>
            </a:endParaRP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zh-CN" altLang="en-US" b="1" dirty="0">
                <a:latin typeface="Times New Roman" pitchFamily="18" charset="0"/>
                <a:ea typeface="华文新魏" pitchFamily="2" charset="-122"/>
              </a:rPr>
              <a:t>删除“多余的”产生式</a:t>
            </a:r>
            <a:r>
              <a:rPr lang="zh-CN" altLang="en-US" b="1" dirty="0" smtClean="0">
                <a:latin typeface="Times New Roman" pitchFamily="18" charset="0"/>
                <a:ea typeface="华文新魏" pitchFamily="2" charset="-122"/>
              </a:rPr>
              <a:t>：</a:t>
            </a:r>
            <a:endParaRPr lang="en-US" altLang="zh-CN" b="1" dirty="0" smtClean="0">
              <a:latin typeface="Times New Roman" pitchFamily="18" charset="0"/>
              <a:ea typeface="华文新魏" pitchFamily="2" charset="-122"/>
            </a:endParaRP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CN" b="1" dirty="0" smtClean="0">
                <a:solidFill>
                  <a:schemeClr val="folHlink"/>
                </a:solidFill>
                <a:latin typeface="Times New Roman" pitchFamily="18" charset="0"/>
                <a:ea typeface="华文新魏" pitchFamily="2" charset="-122"/>
              </a:rPr>
              <a:t>                                </a:t>
            </a:r>
            <a:r>
              <a:rPr lang="en-US" altLang="zh-CN" b="1" dirty="0" err="1" smtClean="0">
                <a:solidFill>
                  <a:schemeClr val="folHlink"/>
                </a:solidFill>
                <a:latin typeface="Times New Roman" pitchFamily="18" charset="0"/>
                <a:ea typeface="华文新魏" pitchFamily="2" charset="-122"/>
              </a:rPr>
              <a:t>A</a:t>
            </a:r>
            <a:r>
              <a:rPr lang="en-US" altLang="zh-CN" b="1" dirty="0" err="1">
                <a:solidFill>
                  <a:schemeClr val="folHlink"/>
                </a:solidFill>
                <a:latin typeface="Times New Roman" pitchFamily="18" charset="0"/>
                <a:ea typeface="华文新魏" pitchFamily="2" charset="-122"/>
              </a:rPr>
              <a:t>→Sab|ab|b</a:t>
            </a:r>
            <a:r>
              <a:rPr lang="zh-CN" altLang="en-US" b="1" dirty="0">
                <a:solidFill>
                  <a:schemeClr val="folHlink"/>
                </a:solidFill>
                <a:latin typeface="Times New Roman" pitchFamily="18" charset="0"/>
                <a:ea typeface="华文新魏" pitchFamily="2" charset="-122"/>
              </a:rPr>
              <a:t>和</a:t>
            </a:r>
            <a:r>
              <a:rPr lang="en-US" altLang="zh-CN" b="1" dirty="0" err="1">
                <a:solidFill>
                  <a:schemeClr val="folHlink"/>
                </a:solidFill>
                <a:latin typeface="Times New Roman" pitchFamily="18" charset="0"/>
                <a:ea typeface="华文新魏" pitchFamily="2" charset="-122"/>
              </a:rPr>
              <a:t>B→Sa|a</a:t>
            </a:r>
            <a:r>
              <a:rPr lang="en-US" altLang="zh-CN" b="1" dirty="0">
                <a:latin typeface="Times New Roman" pitchFamily="18" charset="0"/>
                <a:ea typeface="华文新魏" pitchFamily="2" charset="-122"/>
              </a:rPr>
              <a:t> 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zh-CN" altLang="en-US" b="1" dirty="0">
                <a:latin typeface="Times New Roman" pitchFamily="18" charset="0"/>
                <a:ea typeface="华文新魏" pitchFamily="2" charset="-122"/>
              </a:rPr>
              <a:t>结果：	</a:t>
            </a:r>
            <a:r>
              <a:rPr lang="en-US" altLang="zh-CN" b="1" dirty="0" err="1">
                <a:latin typeface="Times New Roman" pitchFamily="18" charset="0"/>
                <a:ea typeface="华文新魏" pitchFamily="2" charset="-122"/>
              </a:rPr>
              <a:t>S→abcS</a:t>
            </a:r>
            <a:r>
              <a:rPr kumimoji="1" lang="en-US" altLang="zh-CN" sz="2800" b="1" dirty="0" err="1">
                <a:effectLst>
                  <a:outerShdw blurRad="38100" dist="38100" dir="2700000" algn="tl">
                    <a:srgbClr val="C0C0C0"/>
                  </a:outerShdw>
                </a:effectLst>
              </a:rPr>
              <a:t>'</a:t>
            </a:r>
            <a:r>
              <a:rPr lang="en-US" altLang="zh-CN" b="1" dirty="0" err="1">
                <a:latin typeface="Times New Roman" pitchFamily="18" charset="0"/>
                <a:ea typeface="华文新魏" pitchFamily="2" charset="-122"/>
              </a:rPr>
              <a:t>|bcS</a:t>
            </a:r>
            <a:r>
              <a:rPr kumimoji="1" lang="en-US" altLang="zh-CN" sz="2800" b="1" dirty="0" err="1">
                <a:effectLst>
                  <a:outerShdw blurRad="38100" dist="38100" dir="2700000" algn="tl">
                    <a:srgbClr val="C0C0C0"/>
                  </a:outerShdw>
                </a:effectLst>
              </a:rPr>
              <a:t>'</a:t>
            </a:r>
            <a:r>
              <a:rPr lang="en-US" altLang="zh-CN" b="1" dirty="0" err="1">
                <a:latin typeface="Times New Roman" pitchFamily="18" charset="0"/>
                <a:ea typeface="华文新魏" pitchFamily="2" charset="-122"/>
              </a:rPr>
              <a:t>|cS</a:t>
            </a:r>
            <a:r>
              <a:rPr kumimoji="1" lang="en-US" altLang="zh-CN" sz="28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'</a:t>
            </a:r>
            <a:endParaRPr lang="en-US" altLang="zh-CN" b="1" dirty="0">
              <a:latin typeface="Times New Roman" pitchFamily="18" charset="0"/>
              <a:ea typeface="华文新魏" pitchFamily="2" charset="-122"/>
            </a:endParaRP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CN" b="1" dirty="0">
                <a:latin typeface="Times New Roman" pitchFamily="18" charset="0"/>
                <a:ea typeface="华文新魏" pitchFamily="2" charset="-122"/>
              </a:rPr>
              <a:t>　		</a:t>
            </a:r>
            <a:r>
              <a:rPr lang="en-US" altLang="zh-CN" b="1" dirty="0" err="1">
                <a:latin typeface="Times New Roman" pitchFamily="18" charset="0"/>
                <a:ea typeface="华文新魏" pitchFamily="2" charset="-122"/>
              </a:rPr>
              <a:t>S</a:t>
            </a:r>
            <a:r>
              <a:rPr kumimoji="1" lang="en-US" altLang="zh-CN" sz="2800" b="1" dirty="0" err="1">
                <a:effectLst>
                  <a:outerShdw blurRad="38100" dist="38100" dir="2700000" algn="tl">
                    <a:srgbClr val="C0C0C0"/>
                  </a:outerShdw>
                </a:effectLst>
              </a:rPr>
              <a:t>'</a:t>
            </a:r>
            <a:r>
              <a:rPr lang="en-US" altLang="zh-CN" b="1" dirty="0" err="1">
                <a:latin typeface="Times New Roman" pitchFamily="18" charset="0"/>
                <a:ea typeface="华文新魏" pitchFamily="2" charset="-122"/>
              </a:rPr>
              <a:t>→abcS</a:t>
            </a:r>
            <a:r>
              <a:rPr kumimoji="1" lang="en-US" altLang="zh-CN" sz="2800" b="1" dirty="0" err="1">
                <a:effectLst>
                  <a:outerShdw blurRad="38100" dist="38100" dir="2700000" algn="tl">
                    <a:srgbClr val="C0C0C0"/>
                  </a:outerShdw>
                </a:effectLst>
              </a:rPr>
              <a:t>'</a:t>
            </a:r>
            <a:r>
              <a:rPr lang="en-US" altLang="zh-CN" b="1" dirty="0" err="1">
                <a:latin typeface="Times New Roman" pitchFamily="18" charset="0"/>
                <a:ea typeface="华文新魏" pitchFamily="2" charset="-122"/>
              </a:rPr>
              <a:t>|ε</a:t>
            </a:r>
            <a:r>
              <a:rPr lang="en-US" altLang="zh-CN" b="1" dirty="0">
                <a:latin typeface="Times New Roman" pitchFamily="18" charset="0"/>
                <a:ea typeface="华文新魏" pitchFamily="2" charset="-122"/>
              </a:rPr>
              <a:t>	</a:t>
            </a:r>
          </a:p>
        </p:txBody>
      </p:sp>
      <p:sp>
        <p:nvSpPr>
          <p:cNvPr id="37892" name="日期占位符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CBC618E6-20D3-4301-A22A-6AD6A60CA17B}" type="datetime1">
              <a:rPr lang="zh-CN" altLang="en-US" smtClean="0"/>
              <a:pPr eaLnBrk="1" hangingPunct="1"/>
              <a:t>2017/2/24</a:t>
            </a:fld>
            <a:endParaRPr lang="en-US" altLang="zh-CN" smtClean="0"/>
          </a:p>
        </p:txBody>
      </p:sp>
      <p:sp>
        <p:nvSpPr>
          <p:cNvPr id="37893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925AA922-0231-4387-86D4-0C2221A0266A}" type="slidenum">
              <a:rPr lang="zh-CN" altLang="en-US" smtClean="0"/>
              <a:pPr eaLnBrk="1" hangingPunct="1"/>
              <a:t>29</a:t>
            </a:fld>
            <a:endParaRPr lang="en-US" altLang="zh-CN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>
          <a:xfrm>
            <a:off x="971550" y="236538"/>
            <a:ext cx="5937250" cy="1008062"/>
          </a:xfrm>
        </p:spPr>
        <p:txBody>
          <a:bodyPr/>
          <a:lstStyle/>
          <a:p>
            <a:pPr eaLnBrk="1" hangingPunct="1"/>
            <a:r>
              <a:rPr lang="zh-CN" altLang="en-US" sz="4000" b="1" smtClean="0">
                <a:solidFill>
                  <a:srgbClr val="000099"/>
                </a:solidFill>
                <a:latin typeface="Times New Roman" pitchFamily="18" charset="0"/>
                <a:ea typeface="华文新魏" pitchFamily="2" charset="-122"/>
              </a:rPr>
              <a:t>消除左递归的一般方法</a:t>
            </a:r>
          </a:p>
        </p:txBody>
      </p:sp>
      <p:sp>
        <p:nvSpPr>
          <p:cNvPr id="297987" name="Rectangle 3"/>
          <p:cNvSpPr>
            <a:spLocks noGrp="1" noChangeArrowheads="1"/>
          </p:cNvSpPr>
          <p:nvPr>
            <p:ph idx="1"/>
          </p:nvPr>
        </p:nvSpPr>
        <p:spPr>
          <a:xfrm>
            <a:off x="685800" y="1557338"/>
            <a:ext cx="7772400" cy="4818062"/>
          </a:xfrm>
        </p:spPr>
        <p:txBody>
          <a:bodyPr/>
          <a:lstStyle/>
          <a:p>
            <a:pPr eaLnBrk="1" hangingPunct="1">
              <a:lnSpc>
                <a:spcPct val="90000"/>
              </a:lnSpc>
              <a:defRPr/>
            </a:pPr>
            <a:r>
              <a:rPr lang="zh-CN" altLang="en-US" b="1" dirty="0">
                <a:latin typeface="Times New Roman" pitchFamily="18" charset="0"/>
                <a:ea typeface="华文新魏" pitchFamily="2" charset="-122"/>
              </a:rPr>
              <a:t>对产生式组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altLang="zh-CN" b="1" dirty="0">
                <a:latin typeface="Times New Roman" pitchFamily="18" charset="0"/>
                <a:ea typeface="华文新魏" pitchFamily="2" charset="-122"/>
              </a:rPr>
              <a:t>A→Aα</a:t>
            </a:r>
            <a:r>
              <a:rPr lang="en-US" altLang="zh-CN" b="1" baseline="-30000" dirty="0">
                <a:latin typeface="Times New Roman" pitchFamily="18" charset="0"/>
                <a:ea typeface="华文新魏" pitchFamily="2" charset="-122"/>
              </a:rPr>
              <a:t>1</a:t>
            </a:r>
            <a:r>
              <a:rPr lang="en-US" altLang="zh-CN" b="1" dirty="0">
                <a:latin typeface="Times New Roman" pitchFamily="18" charset="0"/>
                <a:ea typeface="华文新魏" pitchFamily="2" charset="-122"/>
              </a:rPr>
              <a:t>|Aα</a:t>
            </a:r>
            <a:r>
              <a:rPr lang="en-US" altLang="zh-CN" b="1" baseline="-30000" dirty="0">
                <a:latin typeface="Times New Roman" pitchFamily="18" charset="0"/>
                <a:ea typeface="华文新魏" pitchFamily="2" charset="-122"/>
              </a:rPr>
              <a:t>2</a:t>
            </a:r>
            <a:r>
              <a:rPr lang="en-US" altLang="zh-CN" b="1" dirty="0">
                <a:latin typeface="Times New Roman" pitchFamily="18" charset="0"/>
                <a:ea typeface="华文新魏" pitchFamily="2" charset="-122"/>
              </a:rPr>
              <a:t>|…|Aα</a:t>
            </a:r>
            <a:r>
              <a:rPr lang="en-US" altLang="zh-CN" b="1" baseline="-30000" dirty="0">
                <a:latin typeface="Times New Roman" pitchFamily="18" charset="0"/>
                <a:ea typeface="华文新魏" pitchFamily="2" charset="-122"/>
              </a:rPr>
              <a:t>n</a:t>
            </a:r>
            <a:r>
              <a:rPr lang="en-US" altLang="zh-CN" b="1" dirty="0">
                <a:latin typeface="Times New Roman" pitchFamily="18" charset="0"/>
                <a:ea typeface="华文新魏" pitchFamily="2" charset="-122"/>
              </a:rPr>
              <a:t>|β</a:t>
            </a:r>
            <a:r>
              <a:rPr lang="en-US" altLang="zh-CN" b="1" baseline="-30000" dirty="0">
                <a:latin typeface="Times New Roman" pitchFamily="18" charset="0"/>
                <a:ea typeface="华文新魏" pitchFamily="2" charset="-122"/>
              </a:rPr>
              <a:t>1</a:t>
            </a:r>
            <a:r>
              <a:rPr lang="en-US" altLang="zh-CN" b="1" dirty="0">
                <a:latin typeface="Times New Roman" pitchFamily="18" charset="0"/>
                <a:ea typeface="华文新魏" pitchFamily="2" charset="-122"/>
              </a:rPr>
              <a:t>|β</a:t>
            </a:r>
            <a:r>
              <a:rPr lang="en-US" altLang="zh-CN" b="1" baseline="-30000" dirty="0">
                <a:latin typeface="Times New Roman" pitchFamily="18" charset="0"/>
                <a:ea typeface="华文新魏" pitchFamily="2" charset="-122"/>
              </a:rPr>
              <a:t>2</a:t>
            </a:r>
            <a:r>
              <a:rPr lang="en-US" altLang="zh-CN" b="1" dirty="0">
                <a:latin typeface="Times New Roman" pitchFamily="18" charset="0"/>
                <a:ea typeface="华文新魏" pitchFamily="2" charset="-122"/>
              </a:rPr>
              <a:t>|…|</a:t>
            </a:r>
            <a:r>
              <a:rPr lang="en-US" altLang="zh-CN" b="1" dirty="0" err="1">
                <a:latin typeface="Times New Roman" pitchFamily="18" charset="0"/>
                <a:ea typeface="华文新魏" pitchFamily="2" charset="-122"/>
              </a:rPr>
              <a:t>β</a:t>
            </a:r>
            <a:r>
              <a:rPr lang="en-US" altLang="zh-CN" b="1" baseline="-30000" dirty="0" err="1">
                <a:latin typeface="Times New Roman" pitchFamily="18" charset="0"/>
                <a:ea typeface="华文新魏" pitchFamily="2" charset="-122"/>
              </a:rPr>
              <a:t>m</a:t>
            </a:r>
            <a:r>
              <a:rPr lang="en-US" altLang="zh-CN" b="1" dirty="0">
                <a:latin typeface="Times New Roman" pitchFamily="18" charset="0"/>
                <a:ea typeface="华文新魏" pitchFamily="2" charset="-122"/>
              </a:rPr>
              <a:t> 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zh-CN" altLang="en-US" b="1" dirty="0">
                <a:latin typeface="Times New Roman" pitchFamily="18" charset="0"/>
                <a:ea typeface="华文新魏" pitchFamily="2" charset="-122"/>
              </a:rPr>
              <a:t>用如下产生式组替换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altLang="zh-CN" b="1" dirty="0">
                <a:latin typeface="Times New Roman" pitchFamily="18" charset="0"/>
                <a:ea typeface="华文新魏" pitchFamily="2" charset="-122"/>
              </a:rPr>
              <a:t>A</a:t>
            </a:r>
            <a:r>
              <a:rPr lang="en-US" altLang="zh-CN" b="1" dirty="0">
                <a:latin typeface="Times New Roman" pitchFamily="18" charset="0"/>
                <a:ea typeface="华文新魏" pitchFamily="2" charset="-122"/>
                <a:sym typeface="Symbol" pitchFamily="18" charset="2"/>
              </a:rPr>
              <a:t></a:t>
            </a:r>
            <a:r>
              <a:rPr lang="en-US" altLang="zh-CN" b="1" dirty="0">
                <a:latin typeface="Times New Roman" pitchFamily="18" charset="0"/>
                <a:ea typeface="华文新魏" pitchFamily="2" charset="-122"/>
              </a:rPr>
              <a:t>β</a:t>
            </a:r>
            <a:r>
              <a:rPr lang="en-US" altLang="zh-CN" b="1" baseline="-30000" dirty="0">
                <a:latin typeface="Times New Roman" pitchFamily="18" charset="0"/>
                <a:ea typeface="华文新魏" pitchFamily="2" charset="-122"/>
              </a:rPr>
              <a:t>1 </a:t>
            </a:r>
            <a:r>
              <a:rPr lang="en-US" altLang="zh-CN" b="1" dirty="0">
                <a:latin typeface="Times New Roman" pitchFamily="18" charset="0"/>
                <a:ea typeface="华文新魏" pitchFamily="2" charset="-122"/>
              </a:rPr>
              <a:t>B|β</a:t>
            </a:r>
            <a:r>
              <a:rPr lang="en-US" altLang="zh-CN" b="1" baseline="-30000" dirty="0">
                <a:latin typeface="Times New Roman" pitchFamily="18" charset="0"/>
                <a:ea typeface="华文新魏" pitchFamily="2" charset="-122"/>
              </a:rPr>
              <a:t>2 </a:t>
            </a:r>
            <a:r>
              <a:rPr lang="en-US" altLang="zh-CN" b="1" dirty="0">
                <a:latin typeface="Times New Roman" pitchFamily="18" charset="0"/>
                <a:ea typeface="华文新魏" pitchFamily="2" charset="-122"/>
              </a:rPr>
              <a:t>B</a:t>
            </a:r>
            <a:r>
              <a:rPr lang="en-US" altLang="zh-CN" b="1" baseline="-30000" dirty="0">
                <a:latin typeface="Times New Roman" pitchFamily="18" charset="0"/>
                <a:ea typeface="华文新魏" pitchFamily="2" charset="-122"/>
              </a:rPr>
              <a:t> </a:t>
            </a:r>
            <a:r>
              <a:rPr lang="en-US" altLang="zh-CN" b="1" dirty="0">
                <a:latin typeface="Times New Roman" pitchFamily="18" charset="0"/>
                <a:ea typeface="华文新魏" pitchFamily="2" charset="-122"/>
              </a:rPr>
              <a:t>|…|</a:t>
            </a:r>
            <a:r>
              <a:rPr lang="en-US" altLang="zh-CN" b="1" dirty="0" err="1">
                <a:latin typeface="Times New Roman" pitchFamily="18" charset="0"/>
                <a:ea typeface="华文新魏" pitchFamily="2" charset="-122"/>
              </a:rPr>
              <a:t>β</a:t>
            </a:r>
            <a:r>
              <a:rPr lang="en-US" altLang="zh-CN" b="1" baseline="-30000" dirty="0" err="1">
                <a:latin typeface="Times New Roman" pitchFamily="18" charset="0"/>
                <a:ea typeface="华文新魏" pitchFamily="2" charset="-122"/>
              </a:rPr>
              <a:t>m</a:t>
            </a:r>
            <a:r>
              <a:rPr lang="en-US" altLang="zh-CN" b="1" baseline="-30000" dirty="0">
                <a:latin typeface="Times New Roman" pitchFamily="18" charset="0"/>
                <a:ea typeface="华文新魏" pitchFamily="2" charset="-122"/>
              </a:rPr>
              <a:t> </a:t>
            </a:r>
            <a:r>
              <a:rPr lang="en-US" altLang="zh-CN" b="1" dirty="0">
                <a:latin typeface="Times New Roman" pitchFamily="18" charset="0"/>
                <a:ea typeface="华文新魏" pitchFamily="2" charset="-122"/>
              </a:rPr>
              <a:t>B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altLang="zh-CN" b="1" dirty="0">
                <a:latin typeface="Times New Roman" pitchFamily="18" charset="0"/>
                <a:ea typeface="华文新魏" pitchFamily="2" charset="-122"/>
              </a:rPr>
              <a:t>B</a:t>
            </a:r>
            <a:r>
              <a:rPr lang="en-US" altLang="zh-CN" b="1" dirty="0">
                <a:latin typeface="Times New Roman" pitchFamily="18" charset="0"/>
                <a:ea typeface="华文新魏" pitchFamily="2" charset="-122"/>
                <a:sym typeface="Symbol" pitchFamily="18" charset="2"/>
              </a:rPr>
              <a:t></a:t>
            </a:r>
            <a:r>
              <a:rPr lang="en-US" altLang="zh-CN" b="1" dirty="0">
                <a:latin typeface="Times New Roman" pitchFamily="18" charset="0"/>
                <a:ea typeface="华文新魏" pitchFamily="2" charset="-122"/>
              </a:rPr>
              <a:t>α</a:t>
            </a:r>
            <a:r>
              <a:rPr lang="en-US" altLang="zh-CN" b="1" baseline="-30000" dirty="0">
                <a:latin typeface="Times New Roman" pitchFamily="18" charset="0"/>
                <a:ea typeface="华文新魏" pitchFamily="2" charset="-122"/>
              </a:rPr>
              <a:t>1 </a:t>
            </a:r>
            <a:r>
              <a:rPr lang="en-US" altLang="zh-CN" b="1" dirty="0">
                <a:latin typeface="Times New Roman" pitchFamily="18" charset="0"/>
                <a:ea typeface="华文新魏" pitchFamily="2" charset="-122"/>
              </a:rPr>
              <a:t>B|α</a:t>
            </a:r>
            <a:r>
              <a:rPr lang="en-US" altLang="zh-CN" b="1" baseline="-30000" dirty="0">
                <a:latin typeface="Times New Roman" pitchFamily="18" charset="0"/>
                <a:ea typeface="华文新魏" pitchFamily="2" charset="-122"/>
              </a:rPr>
              <a:t>2 </a:t>
            </a:r>
            <a:r>
              <a:rPr lang="en-US" altLang="zh-CN" b="1" dirty="0">
                <a:latin typeface="Times New Roman" pitchFamily="18" charset="0"/>
                <a:ea typeface="华文新魏" pitchFamily="2" charset="-122"/>
              </a:rPr>
              <a:t>B</a:t>
            </a:r>
            <a:r>
              <a:rPr lang="en-US" altLang="zh-CN" b="1" baseline="-30000" dirty="0">
                <a:latin typeface="Times New Roman" pitchFamily="18" charset="0"/>
                <a:ea typeface="华文新魏" pitchFamily="2" charset="-122"/>
              </a:rPr>
              <a:t> </a:t>
            </a:r>
            <a:r>
              <a:rPr lang="en-US" altLang="zh-CN" b="1" dirty="0">
                <a:latin typeface="Times New Roman" pitchFamily="18" charset="0"/>
                <a:ea typeface="华文新魏" pitchFamily="2" charset="-122"/>
              </a:rPr>
              <a:t>|…|</a:t>
            </a:r>
            <a:r>
              <a:rPr lang="en-US" altLang="zh-CN" b="1" dirty="0" err="1">
                <a:latin typeface="Times New Roman" pitchFamily="18" charset="0"/>
                <a:ea typeface="华文新魏" pitchFamily="2" charset="-122"/>
              </a:rPr>
              <a:t>α</a:t>
            </a:r>
            <a:r>
              <a:rPr lang="en-US" altLang="zh-CN" b="1" baseline="-30000" dirty="0" err="1">
                <a:latin typeface="Times New Roman" pitchFamily="18" charset="0"/>
                <a:ea typeface="华文新魏" pitchFamily="2" charset="-122"/>
              </a:rPr>
              <a:t>n</a:t>
            </a:r>
            <a:r>
              <a:rPr lang="en-US" altLang="zh-CN" b="1" baseline="-30000" dirty="0">
                <a:latin typeface="Times New Roman" pitchFamily="18" charset="0"/>
                <a:ea typeface="华文新魏" pitchFamily="2" charset="-122"/>
              </a:rPr>
              <a:t> </a:t>
            </a:r>
            <a:r>
              <a:rPr lang="en-US" altLang="zh-CN" b="1" dirty="0" err="1">
                <a:latin typeface="Times New Roman" pitchFamily="18" charset="0"/>
                <a:ea typeface="华文新魏" pitchFamily="2" charset="-122"/>
              </a:rPr>
              <a:t>B|ε</a:t>
            </a:r>
            <a:endParaRPr lang="en-US" altLang="zh-CN" b="1" dirty="0">
              <a:latin typeface="Times New Roman" pitchFamily="18" charset="0"/>
              <a:ea typeface="华文新魏" pitchFamily="2" charset="-122"/>
            </a:endParaRPr>
          </a:p>
          <a:p>
            <a:pPr lvl="1" eaLnBrk="1" hangingPunct="1">
              <a:lnSpc>
                <a:spcPct val="90000"/>
              </a:lnSpc>
              <a:defRPr/>
            </a:pPr>
            <a:r>
              <a:rPr lang="zh-CN" altLang="en-US" b="1" dirty="0">
                <a:latin typeface="Times New Roman" pitchFamily="18" charset="0"/>
                <a:ea typeface="华文新魏" pitchFamily="2" charset="-122"/>
              </a:rPr>
              <a:t>其中：</a:t>
            </a:r>
            <a:r>
              <a:rPr lang="en-US" altLang="zh-CN" b="1" dirty="0">
                <a:latin typeface="Times New Roman" pitchFamily="18" charset="0"/>
                <a:ea typeface="华文新魏" pitchFamily="2" charset="-122"/>
              </a:rPr>
              <a:t>B</a:t>
            </a:r>
            <a:r>
              <a:rPr lang="zh-CN" altLang="en-US" b="1" dirty="0">
                <a:latin typeface="Times New Roman" pitchFamily="18" charset="0"/>
                <a:ea typeface="华文新魏" pitchFamily="2" charset="-122"/>
              </a:rPr>
              <a:t>为新变量，相当于</a:t>
            </a:r>
            <a:r>
              <a:rPr lang="en-US" altLang="zh-CN" b="1" dirty="0">
                <a:latin typeface="Times New Roman" pitchFamily="18" charset="0"/>
                <a:ea typeface="华文新魏" pitchFamily="2" charset="-122"/>
              </a:rPr>
              <a:t>A</a:t>
            </a:r>
            <a:r>
              <a:rPr kumimoji="1" lang="en-US" altLang="zh-CN" sz="24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'</a:t>
            </a:r>
            <a:endParaRPr lang="en-US" altLang="zh-CN" b="1" dirty="0">
              <a:latin typeface="Times New Roman" pitchFamily="18" charset="0"/>
              <a:ea typeface="华文新魏" pitchFamily="2" charset="-122"/>
              <a:cs typeface="Times New Roman" pitchFamily="18" charset="0"/>
            </a:endParaRPr>
          </a:p>
          <a:p>
            <a:pPr eaLnBrk="1" hangingPunct="1">
              <a:lnSpc>
                <a:spcPct val="90000"/>
              </a:lnSpc>
              <a:defRPr/>
            </a:pPr>
            <a:r>
              <a:rPr lang="zh-CN" altLang="en-US" b="1" dirty="0">
                <a:latin typeface="Times New Roman" pitchFamily="18" charset="0"/>
                <a:ea typeface="华文新魏" pitchFamily="2" charset="-122"/>
              </a:rPr>
              <a:t>消除左递归的算法见</a:t>
            </a:r>
            <a:r>
              <a:rPr lang="en-US" altLang="zh-CN" b="1" dirty="0">
                <a:latin typeface="Times New Roman" pitchFamily="18" charset="0"/>
                <a:ea typeface="华文新魏" pitchFamily="2" charset="-122"/>
              </a:rPr>
              <a:t>P125</a:t>
            </a:r>
            <a:r>
              <a:rPr lang="zh-CN" altLang="en-US" b="1" dirty="0">
                <a:latin typeface="Times New Roman" pitchFamily="18" charset="0"/>
                <a:ea typeface="华文新魏" pitchFamily="2" charset="-122"/>
              </a:rPr>
              <a:t>的算法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zh-CN" altLang="en-US" b="1" dirty="0">
                <a:solidFill>
                  <a:srgbClr val="993366"/>
                </a:solidFill>
                <a:latin typeface="Times New Roman" pitchFamily="18" charset="0"/>
                <a:ea typeface="华文新魏" pitchFamily="2" charset="-122"/>
              </a:rPr>
              <a:t>为非终结符编号，再采用代入法将间接左递归变为直接左递归，消除直接左递归</a:t>
            </a:r>
          </a:p>
        </p:txBody>
      </p:sp>
      <p:sp>
        <p:nvSpPr>
          <p:cNvPr id="38916" name="日期占位符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B077C41F-D348-4FE2-846D-65E1C4ED81D7}" type="datetime1">
              <a:rPr lang="zh-CN" altLang="en-US" smtClean="0"/>
              <a:pPr eaLnBrk="1" hangingPunct="1"/>
              <a:t>2017/2/24</a:t>
            </a:fld>
            <a:endParaRPr lang="en-US" altLang="zh-CN" smtClean="0"/>
          </a:p>
        </p:txBody>
      </p:sp>
      <p:sp>
        <p:nvSpPr>
          <p:cNvPr id="38917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00E69283-66DE-4A46-9963-A88DE21261C5}" type="slidenum">
              <a:rPr lang="zh-CN" altLang="en-US" smtClean="0"/>
              <a:pPr eaLnBrk="1" hangingPunct="1"/>
              <a:t>30</a:t>
            </a:fld>
            <a:endParaRPr lang="en-US" altLang="zh-CN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>
          <a:xfrm>
            <a:off x="971550" y="188913"/>
            <a:ext cx="5937250" cy="1008062"/>
          </a:xfrm>
        </p:spPr>
        <p:txBody>
          <a:bodyPr/>
          <a:lstStyle/>
          <a:p>
            <a:pPr eaLnBrk="1" hangingPunct="1"/>
            <a:r>
              <a:rPr lang="zh-CN" altLang="en-US" sz="4000" b="1" smtClean="0">
                <a:solidFill>
                  <a:srgbClr val="000099"/>
                </a:solidFill>
                <a:latin typeface="Times New Roman" pitchFamily="18" charset="0"/>
                <a:ea typeface="华文新魏" pitchFamily="2" charset="-122"/>
              </a:rPr>
              <a:t>消除左递归的一般方法</a:t>
            </a:r>
          </a:p>
        </p:txBody>
      </p:sp>
      <p:sp>
        <p:nvSpPr>
          <p:cNvPr id="495619" name="Rectangle 3"/>
          <p:cNvSpPr>
            <a:spLocks noGrp="1" noChangeArrowheads="1"/>
          </p:cNvSpPr>
          <p:nvPr>
            <p:ph idx="1"/>
          </p:nvPr>
        </p:nvSpPr>
        <p:spPr>
          <a:xfrm>
            <a:off x="685800" y="1585913"/>
            <a:ext cx="6838950" cy="4459287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b="1" dirty="0">
                <a:latin typeface="Times New Roman" pitchFamily="18" charset="0"/>
                <a:ea typeface="华文新魏" pitchFamily="2" charset="-122"/>
              </a:rPr>
              <a:t>或者对产生式组</a:t>
            </a:r>
          </a:p>
          <a:p>
            <a:pPr lvl="1" eaLnBrk="1" hangingPunct="1">
              <a:defRPr/>
            </a:pPr>
            <a:r>
              <a:rPr lang="en-US" altLang="zh-CN" b="1" dirty="0">
                <a:latin typeface="Times New Roman" pitchFamily="18" charset="0"/>
                <a:ea typeface="华文新魏" pitchFamily="2" charset="-122"/>
              </a:rPr>
              <a:t>A→Aα</a:t>
            </a:r>
            <a:r>
              <a:rPr lang="en-US" altLang="zh-CN" b="1" baseline="-30000" dirty="0">
                <a:latin typeface="Times New Roman" pitchFamily="18" charset="0"/>
                <a:ea typeface="华文新魏" pitchFamily="2" charset="-122"/>
              </a:rPr>
              <a:t>1</a:t>
            </a:r>
            <a:r>
              <a:rPr lang="en-US" altLang="zh-CN" b="1" dirty="0">
                <a:latin typeface="Times New Roman" pitchFamily="18" charset="0"/>
                <a:ea typeface="华文新魏" pitchFamily="2" charset="-122"/>
              </a:rPr>
              <a:t>|Aα</a:t>
            </a:r>
            <a:r>
              <a:rPr lang="en-US" altLang="zh-CN" b="1" baseline="-30000" dirty="0">
                <a:latin typeface="Times New Roman" pitchFamily="18" charset="0"/>
                <a:ea typeface="华文新魏" pitchFamily="2" charset="-122"/>
              </a:rPr>
              <a:t>2</a:t>
            </a:r>
            <a:r>
              <a:rPr lang="en-US" altLang="zh-CN" b="1" dirty="0">
                <a:latin typeface="Times New Roman" pitchFamily="18" charset="0"/>
                <a:ea typeface="华文新魏" pitchFamily="2" charset="-122"/>
              </a:rPr>
              <a:t>|…|Aα</a:t>
            </a:r>
            <a:r>
              <a:rPr lang="en-US" altLang="zh-CN" b="1" baseline="-30000" dirty="0">
                <a:latin typeface="Times New Roman" pitchFamily="18" charset="0"/>
                <a:ea typeface="华文新魏" pitchFamily="2" charset="-122"/>
              </a:rPr>
              <a:t>n</a:t>
            </a:r>
            <a:r>
              <a:rPr lang="en-US" altLang="zh-CN" b="1" dirty="0">
                <a:latin typeface="Times New Roman" pitchFamily="18" charset="0"/>
                <a:ea typeface="华文新魏" pitchFamily="2" charset="-122"/>
              </a:rPr>
              <a:t>|β</a:t>
            </a:r>
            <a:r>
              <a:rPr lang="en-US" altLang="zh-CN" b="1" baseline="-30000" dirty="0">
                <a:latin typeface="Times New Roman" pitchFamily="18" charset="0"/>
                <a:ea typeface="华文新魏" pitchFamily="2" charset="-122"/>
              </a:rPr>
              <a:t>1</a:t>
            </a:r>
            <a:r>
              <a:rPr lang="en-US" altLang="zh-CN" b="1" dirty="0">
                <a:latin typeface="Times New Roman" pitchFamily="18" charset="0"/>
                <a:ea typeface="华文新魏" pitchFamily="2" charset="-122"/>
              </a:rPr>
              <a:t>|β</a:t>
            </a:r>
            <a:r>
              <a:rPr lang="en-US" altLang="zh-CN" b="1" baseline="-30000" dirty="0">
                <a:latin typeface="Times New Roman" pitchFamily="18" charset="0"/>
                <a:ea typeface="华文新魏" pitchFamily="2" charset="-122"/>
              </a:rPr>
              <a:t>2</a:t>
            </a:r>
            <a:r>
              <a:rPr lang="en-US" altLang="zh-CN" b="1" dirty="0">
                <a:latin typeface="Times New Roman" pitchFamily="18" charset="0"/>
                <a:ea typeface="华文新魏" pitchFamily="2" charset="-122"/>
              </a:rPr>
              <a:t>|…|</a:t>
            </a:r>
            <a:r>
              <a:rPr lang="en-US" altLang="zh-CN" b="1" dirty="0" err="1">
                <a:latin typeface="Times New Roman" pitchFamily="18" charset="0"/>
                <a:ea typeface="华文新魏" pitchFamily="2" charset="-122"/>
              </a:rPr>
              <a:t>β</a:t>
            </a:r>
            <a:r>
              <a:rPr lang="en-US" altLang="zh-CN" b="1" baseline="-30000" dirty="0" err="1">
                <a:latin typeface="Times New Roman" pitchFamily="18" charset="0"/>
                <a:ea typeface="华文新魏" pitchFamily="2" charset="-122"/>
              </a:rPr>
              <a:t>m</a:t>
            </a:r>
            <a:r>
              <a:rPr lang="en-US" altLang="zh-CN" b="1" dirty="0">
                <a:latin typeface="Times New Roman" pitchFamily="18" charset="0"/>
                <a:ea typeface="华文新魏" pitchFamily="2" charset="-122"/>
              </a:rPr>
              <a:t> </a:t>
            </a:r>
          </a:p>
          <a:p>
            <a:pPr eaLnBrk="1" hangingPunct="1">
              <a:defRPr/>
            </a:pPr>
            <a:r>
              <a:rPr lang="zh-CN" altLang="en-US" b="1" dirty="0">
                <a:latin typeface="Times New Roman" pitchFamily="18" charset="0"/>
                <a:ea typeface="华文新魏" pitchFamily="2" charset="-122"/>
              </a:rPr>
              <a:t>用如下产生式组替换</a:t>
            </a:r>
          </a:p>
          <a:p>
            <a:pPr lvl="1" eaLnBrk="1" hangingPunct="1">
              <a:defRPr/>
            </a:pPr>
            <a:r>
              <a:rPr lang="en-US" altLang="zh-CN" b="1" dirty="0">
                <a:latin typeface="Times New Roman" pitchFamily="18" charset="0"/>
                <a:ea typeface="华文新魏" pitchFamily="2" charset="-122"/>
              </a:rPr>
              <a:t>A→β</a:t>
            </a:r>
            <a:r>
              <a:rPr lang="en-US" altLang="zh-CN" b="1" baseline="-30000" dirty="0">
                <a:latin typeface="Times New Roman" pitchFamily="18" charset="0"/>
                <a:ea typeface="华文新魏" pitchFamily="2" charset="-122"/>
              </a:rPr>
              <a:t>1</a:t>
            </a:r>
            <a:r>
              <a:rPr lang="en-US" altLang="zh-CN" b="1" dirty="0">
                <a:latin typeface="Times New Roman" pitchFamily="18" charset="0"/>
                <a:ea typeface="华文新魏" pitchFamily="2" charset="-122"/>
              </a:rPr>
              <a:t>|β</a:t>
            </a:r>
            <a:r>
              <a:rPr lang="en-US" altLang="zh-CN" b="1" baseline="-30000" dirty="0">
                <a:latin typeface="Times New Roman" pitchFamily="18" charset="0"/>
                <a:ea typeface="华文新魏" pitchFamily="2" charset="-122"/>
              </a:rPr>
              <a:t>2</a:t>
            </a:r>
            <a:r>
              <a:rPr lang="en-US" altLang="zh-CN" b="1" dirty="0">
                <a:latin typeface="Times New Roman" pitchFamily="18" charset="0"/>
                <a:ea typeface="华文新魏" pitchFamily="2" charset="-122"/>
              </a:rPr>
              <a:t>|…|</a:t>
            </a:r>
            <a:r>
              <a:rPr lang="en-US" altLang="zh-CN" b="1" dirty="0" err="1">
                <a:latin typeface="Times New Roman" pitchFamily="18" charset="0"/>
                <a:ea typeface="华文新魏" pitchFamily="2" charset="-122"/>
              </a:rPr>
              <a:t>β</a:t>
            </a:r>
            <a:r>
              <a:rPr lang="en-US" altLang="zh-CN" b="1" baseline="-30000" dirty="0" err="1">
                <a:latin typeface="Times New Roman" pitchFamily="18" charset="0"/>
                <a:ea typeface="华文新魏" pitchFamily="2" charset="-122"/>
              </a:rPr>
              <a:t>m</a:t>
            </a:r>
            <a:r>
              <a:rPr lang="en-US" altLang="zh-CN" b="1" dirty="0">
                <a:latin typeface="Times New Roman" pitchFamily="18" charset="0"/>
                <a:ea typeface="华文新魏" pitchFamily="2" charset="-122"/>
              </a:rPr>
              <a:t> </a:t>
            </a:r>
          </a:p>
          <a:p>
            <a:pPr lvl="1" eaLnBrk="1" hangingPunct="1">
              <a:defRPr/>
            </a:pPr>
            <a:r>
              <a:rPr lang="en-US" altLang="zh-CN" b="1" dirty="0">
                <a:latin typeface="Times New Roman" pitchFamily="18" charset="0"/>
                <a:ea typeface="华文新魏" pitchFamily="2" charset="-122"/>
              </a:rPr>
              <a:t>A→β</a:t>
            </a:r>
            <a:r>
              <a:rPr lang="en-US" altLang="zh-CN" b="1" baseline="-30000" dirty="0">
                <a:latin typeface="Times New Roman" pitchFamily="18" charset="0"/>
                <a:ea typeface="华文新魏" pitchFamily="2" charset="-122"/>
              </a:rPr>
              <a:t>1 </a:t>
            </a:r>
            <a:r>
              <a:rPr lang="en-US" altLang="zh-CN" b="1" dirty="0">
                <a:latin typeface="Times New Roman" pitchFamily="18" charset="0"/>
                <a:ea typeface="华文新魏" pitchFamily="2" charset="-122"/>
              </a:rPr>
              <a:t>B|β</a:t>
            </a:r>
            <a:r>
              <a:rPr lang="en-US" altLang="zh-CN" b="1" baseline="-30000" dirty="0">
                <a:latin typeface="Times New Roman" pitchFamily="18" charset="0"/>
                <a:ea typeface="华文新魏" pitchFamily="2" charset="-122"/>
              </a:rPr>
              <a:t>2 </a:t>
            </a:r>
            <a:r>
              <a:rPr lang="en-US" altLang="zh-CN" b="1" dirty="0">
                <a:latin typeface="Times New Roman" pitchFamily="18" charset="0"/>
                <a:ea typeface="华文新魏" pitchFamily="2" charset="-122"/>
              </a:rPr>
              <a:t>B</a:t>
            </a:r>
            <a:r>
              <a:rPr lang="en-US" altLang="zh-CN" b="1" baseline="-30000" dirty="0">
                <a:latin typeface="Times New Roman" pitchFamily="18" charset="0"/>
                <a:ea typeface="华文新魏" pitchFamily="2" charset="-122"/>
              </a:rPr>
              <a:t> </a:t>
            </a:r>
            <a:r>
              <a:rPr lang="en-US" altLang="zh-CN" b="1" dirty="0">
                <a:latin typeface="Times New Roman" pitchFamily="18" charset="0"/>
                <a:ea typeface="华文新魏" pitchFamily="2" charset="-122"/>
              </a:rPr>
              <a:t>|…|</a:t>
            </a:r>
            <a:r>
              <a:rPr lang="en-US" altLang="zh-CN" b="1" dirty="0" err="1">
                <a:latin typeface="Times New Roman" pitchFamily="18" charset="0"/>
                <a:ea typeface="华文新魏" pitchFamily="2" charset="-122"/>
              </a:rPr>
              <a:t>β</a:t>
            </a:r>
            <a:r>
              <a:rPr lang="en-US" altLang="zh-CN" b="1" baseline="-30000" dirty="0" err="1">
                <a:latin typeface="Times New Roman" pitchFamily="18" charset="0"/>
                <a:ea typeface="华文新魏" pitchFamily="2" charset="-122"/>
              </a:rPr>
              <a:t>m</a:t>
            </a:r>
            <a:r>
              <a:rPr lang="en-US" altLang="zh-CN" b="1" baseline="-30000" dirty="0">
                <a:latin typeface="Times New Roman" pitchFamily="18" charset="0"/>
                <a:ea typeface="华文新魏" pitchFamily="2" charset="-122"/>
              </a:rPr>
              <a:t> </a:t>
            </a:r>
            <a:r>
              <a:rPr lang="en-US" altLang="zh-CN" b="1" dirty="0">
                <a:latin typeface="Times New Roman" pitchFamily="18" charset="0"/>
                <a:ea typeface="华文新魏" pitchFamily="2" charset="-122"/>
              </a:rPr>
              <a:t>B</a:t>
            </a:r>
          </a:p>
          <a:p>
            <a:pPr lvl="1" eaLnBrk="1" hangingPunct="1">
              <a:defRPr/>
            </a:pPr>
            <a:r>
              <a:rPr lang="en-US" altLang="zh-CN" b="1" dirty="0">
                <a:latin typeface="Times New Roman" pitchFamily="18" charset="0"/>
                <a:ea typeface="华文新魏" pitchFamily="2" charset="-122"/>
              </a:rPr>
              <a:t>B→α</a:t>
            </a:r>
            <a:r>
              <a:rPr lang="en-US" altLang="zh-CN" b="1" baseline="-30000" dirty="0">
                <a:latin typeface="Times New Roman" pitchFamily="18" charset="0"/>
                <a:ea typeface="华文新魏" pitchFamily="2" charset="-122"/>
              </a:rPr>
              <a:t>1 </a:t>
            </a:r>
            <a:r>
              <a:rPr lang="en-US" altLang="zh-CN" b="1" dirty="0">
                <a:latin typeface="Times New Roman" pitchFamily="18" charset="0"/>
                <a:ea typeface="华文新魏" pitchFamily="2" charset="-122"/>
              </a:rPr>
              <a:t>|α</a:t>
            </a:r>
            <a:r>
              <a:rPr lang="en-US" altLang="zh-CN" b="1" baseline="-30000" dirty="0">
                <a:latin typeface="Times New Roman" pitchFamily="18" charset="0"/>
                <a:ea typeface="华文新魏" pitchFamily="2" charset="-122"/>
              </a:rPr>
              <a:t>2  </a:t>
            </a:r>
            <a:r>
              <a:rPr lang="en-US" altLang="zh-CN" b="1" dirty="0">
                <a:latin typeface="Times New Roman" pitchFamily="18" charset="0"/>
                <a:ea typeface="华文新魏" pitchFamily="2" charset="-122"/>
              </a:rPr>
              <a:t>|…|</a:t>
            </a:r>
            <a:r>
              <a:rPr lang="en-US" altLang="zh-CN" b="1" dirty="0" err="1">
                <a:latin typeface="Times New Roman" pitchFamily="18" charset="0"/>
                <a:ea typeface="华文新魏" pitchFamily="2" charset="-122"/>
              </a:rPr>
              <a:t>α</a:t>
            </a:r>
            <a:r>
              <a:rPr lang="en-US" altLang="zh-CN" b="1" baseline="-30000" dirty="0" err="1">
                <a:latin typeface="Times New Roman" pitchFamily="18" charset="0"/>
                <a:ea typeface="华文新魏" pitchFamily="2" charset="-122"/>
              </a:rPr>
              <a:t>n</a:t>
            </a:r>
            <a:endParaRPr lang="en-US" altLang="zh-CN" b="1" dirty="0">
              <a:latin typeface="Times New Roman" pitchFamily="18" charset="0"/>
              <a:ea typeface="华文新魏" pitchFamily="2" charset="-122"/>
            </a:endParaRPr>
          </a:p>
          <a:p>
            <a:pPr lvl="1" eaLnBrk="1" hangingPunct="1">
              <a:defRPr/>
            </a:pPr>
            <a:r>
              <a:rPr lang="en-US" altLang="zh-CN" b="1" dirty="0">
                <a:latin typeface="Times New Roman" pitchFamily="18" charset="0"/>
                <a:ea typeface="华文新魏" pitchFamily="2" charset="-122"/>
              </a:rPr>
              <a:t>B→α</a:t>
            </a:r>
            <a:r>
              <a:rPr lang="en-US" altLang="zh-CN" b="1" baseline="-30000" dirty="0">
                <a:latin typeface="Times New Roman" pitchFamily="18" charset="0"/>
                <a:ea typeface="华文新魏" pitchFamily="2" charset="-122"/>
              </a:rPr>
              <a:t>1 </a:t>
            </a:r>
            <a:r>
              <a:rPr lang="en-US" altLang="zh-CN" b="1" dirty="0">
                <a:latin typeface="Times New Roman" pitchFamily="18" charset="0"/>
                <a:ea typeface="华文新魏" pitchFamily="2" charset="-122"/>
              </a:rPr>
              <a:t>B|α</a:t>
            </a:r>
            <a:r>
              <a:rPr lang="en-US" altLang="zh-CN" b="1" baseline="-30000" dirty="0">
                <a:latin typeface="Times New Roman" pitchFamily="18" charset="0"/>
                <a:ea typeface="华文新魏" pitchFamily="2" charset="-122"/>
              </a:rPr>
              <a:t>2 </a:t>
            </a:r>
            <a:r>
              <a:rPr lang="en-US" altLang="zh-CN" b="1" dirty="0">
                <a:latin typeface="Times New Roman" pitchFamily="18" charset="0"/>
                <a:ea typeface="华文新魏" pitchFamily="2" charset="-122"/>
              </a:rPr>
              <a:t>B</a:t>
            </a:r>
            <a:r>
              <a:rPr lang="en-US" altLang="zh-CN" b="1" baseline="-30000" dirty="0">
                <a:latin typeface="Times New Roman" pitchFamily="18" charset="0"/>
                <a:ea typeface="华文新魏" pitchFamily="2" charset="-122"/>
              </a:rPr>
              <a:t> </a:t>
            </a:r>
            <a:r>
              <a:rPr lang="en-US" altLang="zh-CN" b="1" dirty="0">
                <a:latin typeface="Times New Roman" pitchFamily="18" charset="0"/>
                <a:ea typeface="华文新魏" pitchFamily="2" charset="-122"/>
              </a:rPr>
              <a:t>|…|</a:t>
            </a:r>
            <a:r>
              <a:rPr lang="en-US" altLang="zh-CN" b="1" dirty="0" err="1">
                <a:latin typeface="Times New Roman" pitchFamily="18" charset="0"/>
                <a:ea typeface="华文新魏" pitchFamily="2" charset="-122"/>
              </a:rPr>
              <a:t>α</a:t>
            </a:r>
            <a:r>
              <a:rPr lang="en-US" altLang="zh-CN" b="1" baseline="-30000" dirty="0" err="1">
                <a:latin typeface="Times New Roman" pitchFamily="18" charset="0"/>
                <a:ea typeface="华文新魏" pitchFamily="2" charset="-122"/>
              </a:rPr>
              <a:t>n</a:t>
            </a:r>
            <a:r>
              <a:rPr lang="en-US" altLang="zh-CN" b="1" baseline="-30000" dirty="0">
                <a:latin typeface="Times New Roman" pitchFamily="18" charset="0"/>
                <a:ea typeface="华文新魏" pitchFamily="2" charset="-122"/>
              </a:rPr>
              <a:t> </a:t>
            </a:r>
            <a:r>
              <a:rPr lang="en-US" altLang="zh-CN" b="1" dirty="0">
                <a:latin typeface="Times New Roman" pitchFamily="18" charset="0"/>
                <a:ea typeface="华文新魏" pitchFamily="2" charset="-122"/>
              </a:rPr>
              <a:t>B</a:t>
            </a:r>
          </a:p>
          <a:p>
            <a:pPr lvl="1" eaLnBrk="1" hangingPunct="1">
              <a:defRPr/>
            </a:pPr>
            <a:r>
              <a:rPr lang="zh-CN" altLang="en-US" b="1" dirty="0">
                <a:latin typeface="Times New Roman" pitchFamily="18" charset="0"/>
                <a:ea typeface="华文新魏" pitchFamily="2" charset="-122"/>
              </a:rPr>
              <a:t>其中：</a:t>
            </a:r>
            <a:r>
              <a:rPr lang="en-US" altLang="zh-CN" b="1" dirty="0">
                <a:latin typeface="Times New Roman" pitchFamily="18" charset="0"/>
                <a:ea typeface="华文新魏" pitchFamily="2" charset="-122"/>
              </a:rPr>
              <a:t>B</a:t>
            </a:r>
            <a:r>
              <a:rPr lang="zh-CN" altLang="en-US" b="1" dirty="0">
                <a:latin typeface="Times New Roman" pitchFamily="18" charset="0"/>
                <a:ea typeface="华文新魏" pitchFamily="2" charset="-122"/>
              </a:rPr>
              <a:t>为新变量，相当于</a:t>
            </a:r>
            <a:r>
              <a:rPr lang="en-US" altLang="zh-CN" b="1" dirty="0">
                <a:latin typeface="Times New Roman" pitchFamily="18" charset="0"/>
                <a:ea typeface="华文新魏" pitchFamily="2" charset="-122"/>
              </a:rPr>
              <a:t>A</a:t>
            </a:r>
            <a:r>
              <a:rPr kumimoji="1" lang="en-US" altLang="zh-CN" sz="24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'</a:t>
            </a:r>
          </a:p>
        </p:txBody>
      </p:sp>
      <p:sp>
        <p:nvSpPr>
          <p:cNvPr id="39940" name="日期占位符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38374828-2E0D-45B0-8ED2-1D4811E50BEB}" type="datetime1">
              <a:rPr lang="zh-CN" altLang="en-US" smtClean="0"/>
              <a:pPr eaLnBrk="1" hangingPunct="1"/>
              <a:t>2017/2/24</a:t>
            </a:fld>
            <a:endParaRPr lang="en-US" altLang="zh-CN" smtClean="0"/>
          </a:p>
        </p:txBody>
      </p:sp>
      <p:sp>
        <p:nvSpPr>
          <p:cNvPr id="39941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76D2E5AB-87FF-47E3-8C00-76104A30DEEC}" type="slidenum">
              <a:rPr lang="zh-CN" altLang="en-US" smtClean="0"/>
              <a:pPr eaLnBrk="1" hangingPunct="1"/>
              <a:t>31</a:t>
            </a:fld>
            <a:endParaRPr lang="en-US" altLang="zh-CN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010" name="Rectangle 2"/>
          <p:cNvSpPr>
            <a:spLocks noGrp="1" noChangeArrowheads="1"/>
          </p:cNvSpPr>
          <p:nvPr>
            <p:ph type="title"/>
          </p:nvPr>
        </p:nvSpPr>
        <p:spPr>
          <a:xfrm>
            <a:off x="684213" y="476250"/>
            <a:ext cx="8243887" cy="931863"/>
          </a:xfrm>
          <a:noFill/>
        </p:spPr>
        <p:txBody>
          <a:bodyPr lIns="92075" tIns="46038" rIns="92075" bIns="46038"/>
          <a:lstStyle/>
          <a:p>
            <a:pPr eaLnBrk="1" hangingPunct="1"/>
            <a:r>
              <a:rPr lang="zh-CN" altLang="en-US" sz="4000" b="1" smtClean="0">
                <a:solidFill>
                  <a:srgbClr val="000099"/>
                </a:solidFill>
                <a:latin typeface="Times New Roman" pitchFamily="18" charset="0"/>
                <a:ea typeface="华文新魏" pitchFamily="2" charset="-122"/>
              </a:rPr>
              <a:t>三、重要问题</a:t>
            </a:r>
            <a:r>
              <a:rPr lang="zh-CN" altLang="en-US" sz="2400" b="1" smtClean="0">
                <a:solidFill>
                  <a:srgbClr val="000099"/>
                </a:solidFill>
                <a:latin typeface="Times New Roman" pitchFamily="18" charset="0"/>
                <a:ea typeface="华文新魏" pitchFamily="2" charset="-122"/>
              </a:rPr>
              <a:t>——提取左因子</a:t>
            </a:r>
            <a:r>
              <a:rPr lang="en-US" altLang="zh-CN" sz="2400" b="1" smtClean="0">
                <a:solidFill>
                  <a:srgbClr val="000099"/>
                </a:solidFill>
                <a:latin typeface="Times New Roman" pitchFamily="18" charset="0"/>
                <a:ea typeface="华文新魏" pitchFamily="2" charset="-122"/>
              </a:rPr>
              <a:t>(left factoring)</a:t>
            </a:r>
          </a:p>
        </p:txBody>
      </p:sp>
      <p:sp>
        <p:nvSpPr>
          <p:cNvPr id="299011" name="Rectangle 3"/>
          <p:cNvSpPr>
            <a:spLocks noGrp="1" noChangeArrowheads="1"/>
          </p:cNvSpPr>
          <p:nvPr>
            <p:ph idx="1"/>
          </p:nvPr>
        </p:nvSpPr>
        <p:spPr>
          <a:xfrm>
            <a:off x="827088" y="1616075"/>
            <a:ext cx="7850187" cy="4543425"/>
          </a:xfrm>
        </p:spPr>
        <p:txBody>
          <a:bodyPr lIns="92075" tIns="46038" rIns="92075" bIns="46038"/>
          <a:lstStyle/>
          <a:p>
            <a:pPr eaLnBrk="1" hangingPunct="1"/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例：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if</a:t>
            </a: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语句的原始文法</a:t>
            </a:r>
          </a:p>
          <a:p>
            <a:pPr lvl="1" eaLnBrk="1" hangingPunct="1"/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S→ </a:t>
            </a:r>
            <a:r>
              <a:rPr lang="en-US" altLang="zh-CN" b="1" smtClean="0">
                <a:solidFill>
                  <a:srgbClr val="993366"/>
                </a:solidFill>
                <a:latin typeface="Times New Roman" pitchFamily="18" charset="0"/>
                <a:ea typeface="华文新魏" pitchFamily="2" charset="-122"/>
              </a:rPr>
              <a:t>if E then S </a:t>
            </a:r>
          </a:p>
          <a:p>
            <a:pPr lvl="1" eaLnBrk="1" hangingPunct="1">
              <a:buFont typeface="Wingdings" pitchFamily="2" charset="2"/>
              <a:buNone/>
            </a:pP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  		    |</a:t>
            </a:r>
            <a:r>
              <a:rPr lang="en-US" altLang="zh-CN" b="1" smtClean="0">
                <a:solidFill>
                  <a:srgbClr val="993366"/>
                </a:solidFill>
                <a:latin typeface="Times New Roman" pitchFamily="18" charset="0"/>
                <a:ea typeface="华文新魏" pitchFamily="2" charset="-122"/>
              </a:rPr>
              <a:t>if E then S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 else S </a:t>
            </a:r>
          </a:p>
          <a:p>
            <a:pPr lvl="1" eaLnBrk="1" hangingPunct="1">
              <a:buFont typeface="Wingdings" pitchFamily="2" charset="2"/>
              <a:buNone/>
            </a:pP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         |other</a:t>
            </a:r>
          </a:p>
          <a:p>
            <a:pPr eaLnBrk="1" hangingPunct="1"/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遇到 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if </a:t>
            </a: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时难以判断用哪一个产生式进行匹配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(</a:t>
            </a: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推导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)</a:t>
            </a:r>
          </a:p>
          <a:p>
            <a:pPr eaLnBrk="1" hangingPunct="1"/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存在左因子 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if E then S</a:t>
            </a:r>
          </a:p>
        </p:txBody>
      </p:sp>
      <p:sp>
        <p:nvSpPr>
          <p:cNvPr id="40964" name="日期占位符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69E08D15-C70A-499E-B6D1-F72DFA67B44D}" type="datetime1">
              <a:rPr lang="zh-CN" altLang="en-US" smtClean="0"/>
              <a:pPr eaLnBrk="1" hangingPunct="1"/>
              <a:t>2017/2/24</a:t>
            </a:fld>
            <a:endParaRPr lang="en-US" altLang="zh-CN" smtClean="0"/>
          </a:p>
        </p:txBody>
      </p:sp>
      <p:sp>
        <p:nvSpPr>
          <p:cNvPr id="40965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E9AB77E6-8D44-4BD1-B226-BAF4601B5371}" type="slidenum">
              <a:rPr lang="zh-CN" altLang="en-US" smtClean="0"/>
              <a:pPr eaLnBrk="1" hangingPunct="1"/>
              <a:t>32</a:t>
            </a:fld>
            <a:endParaRPr lang="en-US" altLang="zh-CN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>
          <a:xfrm>
            <a:off x="827088" y="214313"/>
            <a:ext cx="8116887" cy="1462087"/>
          </a:xfrm>
        </p:spPr>
        <p:txBody>
          <a:bodyPr/>
          <a:lstStyle/>
          <a:p>
            <a:pPr eaLnBrk="1" hangingPunct="1"/>
            <a:r>
              <a:rPr lang="zh-CN" altLang="en-US" sz="4000" b="1" smtClean="0">
                <a:solidFill>
                  <a:srgbClr val="000099"/>
                </a:solidFill>
                <a:latin typeface="Times New Roman" pitchFamily="18" charset="0"/>
                <a:ea typeface="华文新魏" pitchFamily="2" charset="-122"/>
              </a:rPr>
              <a:t>三、重要问题</a:t>
            </a:r>
            <a:r>
              <a:rPr lang="zh-CN" altLang="en-US" sz="2400" b="1" smtClean="0">
                <a:solidFill>
                  <a:srgbClr val="000099"/>
                </a:solidFill>
                <a:latin typeface="Times New Roman" pitchFamily="18" charset="0"/>
                <a:ea typeface="华文新魏" pitchFamily="2" charset="-122"/>
              </a:rPr>
              <a:t>——提取左因子</a:t>
            </a:r>
            <a:r>
              <a:rPr lang="en-US" altLang="zh-CN" sz="2400" b="1" smtClean="0">
                <a:solidFill>
                  <a:srgbClr val="000099"/>
                </a:solidFill>
                <a:latin typeface="Times New Roman" pitchFamily="18" charset="0"/>
                <a:ea typeface="华文新魏" pitchFamily="2" charset="-122"/>
              </a:rPr>
              <a:t>(left factoring)</a:t>
            </a:r>
            <a:endParaRPr lang="zh-CN" altLang="en-US" sz="2400" b="1" smtClean="0">
              <a:solidFill>
                <a:srgbClr val="000099"/>
              </a:solidFill>
              <a:latin typeface="Times New Roman" pitchFamily="18" charset="0"/>
              <a:ea typeface="华文新魏" pitchFamily="2" charset="-122"/>
            </a:endParaRPr>
          </a:p>
        </p:txBody>
      </p:sp>
      <p:sp>
        <p:nvSpPr>
          <p:cNvPr id="38912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提取作因子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if E then S</a:t>
            </a:r>
          </a:p>
          <a:p>
            <a:pPr lvl="1" eaLnBrk="1" hangingPunct="1">
              <a:defRPr/>
            </a:pP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S→ if E then SS’|other</a:t>
            </a:r>
          </a:p>
          <a:p>
            <a:pPr lvl="1" eaLnBrk="1" hangingPunct="1">
              <a:defRPr/>
            </a:pP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S'→ε|else S</a:t>
            </a:r>
          </a:p>
          <a:p>
            <a:pPr eaLnBrk="1" hangingPunct="1">
              <a:defRPr/>
            </a:pP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思考：前面给的那一种写法是否可以？</a:t>
            </a:r>
            <a:endParaRPr lang="en-US" altLang="zh-CN" b="1" smtClean="0">
              <a:latin typeface="Times New Roman" pitchFamily="18" charset="0"/>
              <a:ea typeface="华文新魏" pitchFamily="2" charset="-122"/>
            </a:endParaRPr>
          </a:p>
          <a:p>
            <a:pPr lvl="1" eaLnBrk="1" hangingPunct="1">
              <a:defRPr/>
            </a:pPr>
            <a:r>
              <a:rPr kumimoji="1" lang="en-US" altLang="zh-CN" b="1" smtClean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S→TS | CS </a:t>
            </a:r>
            <a:r>
              <a:rPr lang="en-US" altLang="zh-CN" b="1" smtClean="0">
                <a:latin typeface="Times New Roman" pitchFamily="18" charset="0"/>
              </a:rPr>
              <a:t>| other</a:t>
            </a:r>
            <a:endParaRPr kumimoji="1" lang="en-US" altLang="zh-CN" b="1" smtClean="0">
              <a:solidFill>
                <a:srgbClr val="000099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itchFamily="18" charset="0"/>
            </a:endParaRPr>
          </a:p>
          <a:p>
            <a:pPr lvl="1" eaLnBrk="1" hangingPunct="1">
              <a:defRPr/>
            </a:pPr>
            <a:r>
              <a:rPr kumimoji="1" lang="en-US" altLang="zh-CN" b="1" smtClean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C→if E then</a:t>
            </a:r>
          </a:p>
          <a:p>
            <a:pPr lvl="1" eaLnBrk="1" hangingPunct="1">
              <a:defRPr/>
            </a:pPr>
            <a:r>
              <a:rPr kumimoji="1" lang="en-US" altLang="zh-CN" b="1" smtClean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T</a:t>
            </a:r>
            <a:r>
              <a:rPr kumimoji="1" lang="en-US" altLang="zh-CN" smtClean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 </a:t>
            </a:r>
            <a:r>
              <a:rPr kumimoji="1" lang="en-US" altLang="zh-CN" b="1" smtClean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→CS else</a:t>
            </a:r>
            <a:endParaRPr lang="zh-CN" altLang="en-US" smtClean="0">
              <a:latin typeface="Times New Roman" pitchFamily="18" charset="0"/>
            </a:endParaRPr>
          </a:p>
        </p:txBody>
      </p:sp>
      <p:sp>
        <p:nvSpPr>
          <p:cNvPr id="41988" name="日期占位符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89A23E92-7FF2-428A-A246-9227D3793379}" type="datetime1">
              <a:rPr lang="zh-CN" altLang="en-US" smtClean="0"/>
              <a:pPr eaLnBrk="1" hangingPunct="1"/>
              <a:t>2017/2/24</a:t>
            </a:fld>
            <a:endParaRPr lang="en-US" altLang="zh-CN" smtClean="0"/>
          </a:p>
        </p:txBody>
      </p:sp>
      <p:sp>
        <p:nvSpPr>
          <p:cNvPr id="41989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79601973-53D6-40F4-B037-3CEDD283B8BD}" type="slidenum">
              <a:rPr lang="zh-CN" altLang="en-US" smtClean="0"/>
              <a:pPr eaLnBrk="1" hangingPunct="1"/>
              <a:t>33</a:t>
            </a:fld>
            <a:endParaRPr lang="en-US" altLang="zh-CN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title"/>
          </p:nvPr>
        </p:nvSpPr>
        <p:spPr>
          <a:xfrm>
            <a:off x="900113" y="476250"/>
            <a:ext cx="8243887" cy="868363"/>
          </a:xfrm>
          <a:noFill/>
        </p:spPr>
        <p:txBody>
          <a:bodyPr lIns="92075" tIns="46038" rIns="92075" bIns="46038"/>
          <a:lstStyle/>
          <a:p>
            <a:pPr eaLnBrk="1" hangingPunct="1"/>
            <a:r>
              <a:rPr lang="zh-CN" altLang="en-US" sz="4000" b="1" smtClean="0">
                <a:solidFill>
                  <a:srgbClr val="000099"/>
                </a:solidFill>
                <a:latin typeface="Times New Roman" pitchFamily="18" charset="0"/>
                <a:ea typeface="华文新魏" pitchFamily="2" charset="-122"/>
              </a:rPr>
              <a:t>三、重要问题</a:t>
            </a:r>
            <a:r>
              <a:rPr lang="zh-CN" altLang="en-US" sz="2400" b="1" smtClean="0">
                <a:solidFill>
                  <a:srgbClr val="000099"/>
                </a:solidFill>
                <a:latin typeface="Times New Roman" pitchFamily="18" charset="0"/>
                <a:ea typeface="华文新魏" pitchFamily="2" charset="-122"/>
              </a:rPr>
              <a:t>——提取左因子</a:t>
            </a:r>
            <a:r>
              <a:rPr lang="en-US" altLang="zh-CN" sz="2400" b="1" smtClean="0">
                <a:solidFill>
                  <a:srgbClr val="000099"/>
                </a:solidFill>
                <a:latin typeface="Times New Roman" pitchFamily="18" charset="0"/>
                <a:ea typeface="华文新魏" pitchFamily="2" charset="-122"/>
              </a:rPr>
              <a:t>(left factoring)</a:t>
            </a:r>
            <a:endParaRPr lang="zh-CN" altLang="en-US" sz="2400" b="1" smtClean="0">
              <a:solidFill>
                <a:srgbClr val="000099"/>
              </a:solidFill>
              <a:latin typeface="Times New Roman" pitchFamily="18" charset="0"/>
              <a:ea typeface="华文新魏" pitchFamily="2" charset="-122"/>
            </a:endParaRPr>
          </a:p>
        </p:txBody>
      </p:sp>
      <p:sp>
        <p:nvSpPr>
          <p:cNvPr id="300035" name="Rectangle 3"/>
          <p:cNvSpPr>
            <a:spLocks noGrp="1" noChangeArrowheads="1"/>
          </p:cNvSpPr>
          <p:nvPr>
            <p:ph idx="1"/>
          </p:nvPr>
        </p:nvSpPr>
        <p:spPr>
          <a:xfrm>
            <a:off x="685800" y="1981200"/>
            <a:ext cx="7924800" cy="4191000"/>
          </a:xfrm>
        </p:spPr>
        <p:txBody>
          <a:bodyPr lIns="92075" tIns="46038" rIns="92075" bIns="46038"/>
          <a:lstStyle/>
          <a:p>
            <a:pPr marL="0" indent="0" eaLnBrk="1" hangingPunct="1"/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一般地，将形如 </a:t>
            </a:r>
          </a:p>
          <a:p>
            <a:pPr marL="190500" lvl="1" indent="0" eaLnBrk="1" hangingPunct="1">
              <a:spcBef>
                <a:spcPct val="100000"/>
              </a:spcBef>
              <a:buFont typeface="Wingdings" pitchFamily="2" charset="2"/>
              <a:buNone/>
            </a:pP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A→αβ</a:t>
            </a:r>
            <a:r>
              <a:rPr lang="en-US" altLang="zh-CN" b="1" baseline="-30000" smtClean="0">
                <a:latin typeface="Times New Roman" pitchFamily="18" charset="0"/>
                <a:ea typeface="华文新魏" pitchFamily="2" charset="-122"/>
              </a:rPr>
              <a:t>1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|αβ</a:t>
            </a:r>
            <a:r>
              <a:rPr lang="en-US" altLang="zh-CN" b="1" baseline="-30000" smtClean="0">
                <a:latin typeface="Times New Roman" pitchFamily="18" charset="0"/>
                <a:ea typeface="华文新魏" pitchFamily="2" charset="-122"/>
              </a:rPr>
              <a:t>2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|…|αβ</a:t>
            </a:r>
            <a:r>
              <a:rPr lang="en-US" altLang="zh-CN" b="1" baseline="-30000" smtClean="0">
                <a:latin typeface="Times New Roman" pitchFamily="18" charset="0"/>
                <a:ea typeface="华文新魏" pitchFamily="2" charset="-122"/>
              </a:rPr>
              <a:t>m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 |γ</a:t>
            </a:r>
            <a:r>
              <a:rPr lang="en-US" altLang="zh-CN" b="1" baseline="-25000" smtClean="0">
                <a:latin typeface="Times New Roman" pitchFamily="18" charset="0"/>
                <a:ea typeface="华文新魏" pitchFamily="2" charset="-122"/>
              </a:rPr>
              <a:t>1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|γ</a:t>
            </a:r>
            <a:r>
              <a:rPr lang="en-US" altLang="zh-CN" b="1" baseline="-25000" smtClean="0">
                <a:latin typeface="Times New Roman" pitchFamily="18" charset="0"/>
                <a:ea typeface="华文新魏" pitchFamily="2" charset="-122"/>
              </a:rPr>
              <a:t>2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|… | γ</a:t>
            </a:r>
            <a:r>
              <a:rPr lang="en-US" altLang="zh-CN" b="1" baseline="-25000" smtClean="0">
                <a:latin typeface="Times New Roman" pitchFamily="18" charset="0"/>
                <a:ea typeface="华文新魏" pitchFamily="2" charset="-122"/>
              </a:rPr>
              <a:t>p</a:t>
            </a:r>
            <a:endParaRPr lang="en-US" altLang="zh-CN" b="1" smtClean="0">
              <a:latin typeface="Times New Roman" pitchFamily="18" charset="0"/>
              <a:ea typeface="华文新魏" pitchFamily="2" charset="-122"/>
            </a:endParaRPr>
          </a:p>
          <a:p>
            <a:pPr marL="0" indent="0" eaLnBrk="1" hangingPunct="1">
              <a:spcBef>
                <a:spcPct val="100000"/>
              </a:spcBef>
              <a:buFont typeface="Wingdings" pitchFamily="2" charset="2"/>
              <a:buNone/>
            </a:pP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的规则改写为</a:t>
            </a:r>
          </a:p>
          <a:p>
            <a:pPr marL="190500" lvl="1" indent="0" eaLnBrk="1" hangingPunct="1">
              <a:spcBef>
                <a:spcPct val="100000"/>
              </a:spcBef>
              <a:buFont typeface="Wingdings" pitchFamily="2" charset="2"/>
              <a:buNone/>
            </a:pP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A→αA' |γ</a:t>
            </a:r>
            <a:r>
              <a:rPr lang="en-US" altLang="zh-CN" b="1" baseline="-25000" smtClean="0">
                <a:latin typeface="Times New Roman" pitchFamily="18" charset="0"/>
                <a:ea typeface="华文新魏" pitchFamily="2" charset="-122"/>
              </a:rPr>
              <a:t>1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|γ</a:t>
            </a:r>
            <a:r>
              <a:rPr lang="en-US" altLang="zh-CN" b="1" baseline="-25000" smtClean="0">
                <a:latin typeface="Times New Roman" pitchFamily="18" charset="0"/>
                <a:ea typeface="华文新魏" pitchFamily="2" charset="-122"/>
              </a:rPr>
              <a:t>2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|… | γ</a:t>
            </a:r>
            <a:r>
              <a:rPr lang="en-US" altLang="zh-CN" b="1" baseline="-25000" smtClean="0">
                <a:latin typeface="Times New Roman" pitchFamily="18" charset="0"/>
                <a:ea typeface="华文新魏" pitchFamily="2" charset="-122"/>
              </a:rPr>
              <a:t>p</a:t>
            </a: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和 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A'→β</a:t>
            </a:r>
            <a:r>
              <a:rPr lang="en-US" altLang="zh-CN" sz="3600" b="1" baseline="-25000" smtClean="0">
                <a:latin typeface="Times New Roman" pitchFamily="18" charset="0"/>
                <a:ea typeface="华文新魏" pitchFamily="2" charset="-122"/>
              </a:rPr>
              <a:t>1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|β</a:t>
            </a:r>
            <a:r>
              <a:rPr lang="en-US" altLang="zh-CN" sz="3600" b="1" baseline="-25000" smtClean="0">
                <a:latin typeface="Times New Roman" pitchFamily="18" charset="0"/>
                <a:ea typeface="华文新魏" pitchFamily="2" charset="-122"/>
              </a:rPr>
              <a:t>2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|…|β</a:t>
            </a:r>
            <a:r>
              <a:rPr lang="en-US" altLang="zh-CN" sz="3600" b="1" baseline="-25000" smtClean="0">
                <a:latin typeface="Times New Roman" pitchFamily="18" charset="0"/>
                <a:ea typeface="华文新魏" pitchFamily="2" charset="-122"/>
              </a:rPr>
              <a:t>m</a:t>
            </a:r>
            <a:endParaRPr lang="en-US" altLang="zh-CN" b="1" smtClean="0">
              <a:latin typeface="Times New Roman" pitchFamily="18" charset="0"/>
              <a:ea typeface="华文新魏" pitchFamily="2" charset="-122"/>
            </a:endParaRPr>
          </a:p>
        </p:txBody>
      </p:sp>
      <p:sp>
        <p:nvSpPr>
          <p:cNvPr id="43012" name="日期占位符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8A85617E-041A-4DA6-A28D-60AC4C7B2DFA}" type="datetime1">
              <a:rPr lang="zh-CN" altLang="en-US" smtClean="0"/>
              <a:pPr eaLnBrk="1" hangingPunct="1"/>
              <a:t>2017/2/24</a:t>
            </a:fld>
            <a:endParaRPr lang="en-US" altLang="zh-CN" smtClean="0"/>
          </a:p>
        </p:txBody>
      </p:sp>
      <p:sp>
        <p:nvSpPr>
          <p:cNvPr id="43013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06E5559C-ACB1-4A53-9011-F2AB2A4767D2}" type="slidenum">
              <a:rPr lang="zh-CN" altLang="en-US" smtClean="0"/>
              <a:pPr eaLnBrk="1" hangingPunct="1"/>
              <a:t>34</a:t>
            </a:fld>
            <a:endParaRPr lang="en-US" altLang="zh-CN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ChangeArrowheads="1"/>
          </p:cNvSpPr>
          <p:nvPr>
            <p:ph type="title"/>
          </p:nvPr>
        </p:nvSpPr>
        <p:spPr>
          <a:xfrm>
            <a:off x="900113" y="260350"/>
            <a:ext cx="7597775" cy="1066800"/>
          </a:xfrm>
          <a:noFill/>
        </p:spPr>
        <p:txBody>
          <a:bodyPr lIns="92075" tIns="46038" rIns="92075" bIns="46038"/>
          <a:lstStyle/>
          <a:p>
            <a:pPr eaLnBrk="1" hangingPunct="1"/>
            <a:r>
              <a:rPr lang="zh-CN" altLang="en-US" sz="4000" b="1" smtClean="0">
                <a:solidFill>
                  <a:srgbClr val="000099"/>
                </a:solidFill>
                <a:latin typeface="Times New Roman" pitchFamily="18" charset="0"/>
                <a:ea typeface="华文新魏" pitchFamily="2" charset="-122"/>
              </a:rPr>
              <a:t>四、</a:t>
            </a:r>
            <a:r>
              <a:rPr lang="en-US" altLang="zh-CN" sz="4000" b="1" smtClean="0">
                <a:solidFill>
                  <a:srgbClr val="000099"/>
                </a:solidFill>
                <a:latin typeface="Times New Roman" pitchFamily="18" charset="0"/>
                <a:ea typeface="华文新魏" pitchFamily="2" charset="-122"/>
              </a:rPr>
              <a:t>CFG</a:t>
            </a:r>
            <a:r>
              <a:rPr lang="zh-CN" altLang="en-US" sz="4000" b="1" smtClean="0">
                <a:solidFill>
                  <a:srgbClr val="000099"/>
                </a:solidFill>
                <a:latin typeface="Times New Roman" pitchFamily="18" charset="0"/>
                <a:ea typeface="华文新魏" pitchFamily="2" charset="-122"/>
              </a:rPr>
              <a:t>的使用限制</a:t>
            </a:r>
          </a:p>
        </p:txBody>
      </p:sp>
      <p:sp>
        <p:nvSpPr>
          <p:cNvPr id="301059" name="Rectangle 3"/>
          <p:cNvSpPr>
            <a:spLocks noGrp="1" noChangeArrowheads="1"/>
          </p:cNvSpPr>
          <p:nvPr>
            <p:ph idx="1"/>
          </p:nvPr>
        </p:nvSpPr>
        <p:spPr>
          <a:xfrm>
            <a:off x="609600" y="1628775"/>
            <a:ext cx="8077200" cy="4543425"/>
          </a:xfrm>
        </p:spPr>
        <p:txBody>
          <a:bodyPr lIns="92075" tIns="46038" rIns="92075" bIns="46038"/>
          <a:lstStyle/>
          <a:p>
            <a:pPr eaLnBrk="1" hangingPunct="1">
              <a:lnSpc>
                <a:spcPct val="120000"/>
              </a:lnSpc>
            </a:pP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没有一种方法能够有效地分析所有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CFG</a:t>
            </a: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 </a:t>
            </a:r>
          </a:p>
          <a:p>
            <a:pPr lvl="1" eaLnBrk="1" hangingPunct="1">
              <a:lnSpc>
                <a:spcPct val="120000"/>
              </a:lnSpc>
            </a:pP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存在无法处理的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CFG</a:t>
            </a:r>
          </a:p>
          <a:p>
            <a:pPr eaLnBrk="1" hangingPunct="1">
              <a:lnSpc>
                <a:spcPct val="120000"/>
              </a:lnSpc>
            </a:pP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每种方法能够处理一部分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CFG</a:t>
            </a:r>
          </a:p>
          <a:p>
            <a:pPr lvl="1" eaLnBrk="1" hangingPunct="1">
              <a:lnSpc>
                <a:spcPct val="120000"/>
              </a:lnSpc>
            </a:pP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每种方法都有适用范围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CN" b="1" smtClean="0">
                <a:solidFill>
                  <a:srgbClr val="0000CC"/>
                </a:solidFill>
                <a:latin typeface="Times New Roman" pitchFamily="18" charset="0"/>
                <a:ea typeface="华文新魏" pitchFamily="2" charset="-122"/>
              </a:rPr>
              <a:t>LL</a:t>
            </a: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文法和 </a:t>
            </a:r>
            <a:r>
              <a:rPr lang="en-US" altLang="zh-CN" b="1" smtClean="0">
                <a:solidFill>
                  <a:srgbClr val="0000CC"/>
                </a:solidFill>
                <a:latin typeface="Times New Roman" pitchFamily="18" charset="0"/>
                <a:ea typeface="华文新魏" pitchFamily="2" charset="-122"/>
              </a:rPr>
              <a:t>LR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 </a:t>
            </a: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文法都是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CFG</a:t>
            </a: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的子集</a:t>
            </a:r>
          </a:p>
          <a:p>
            <a:pPr lvl="1" eaLnBrk="1" hangingPunct="1">
              <a:lnSpc>
                <a:spcPct val="110000"/>
              </a:lnSpc>
            </a:pP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无二义性</a:t>
            </a:r>
          </a:p>
          <a:p>
            <a:pPr lvl="1" eaLnBrk="1" hangingPunct="1">
              <a:lnSpc>
                <a:spcPct val="110000"/>
              </a:lnSpc>
            </a:pP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他们是满足不同要求的文法，由此也可以看出，可用不同文法描述同一语言</a:t>
            </a:r>
          </a:p>
        </p:txBody>
      </p:sp>
      <p:sp>
        <p:nvSpPr>
          <p:cNvPr id="44036" name="日期占位符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4F2B9236-5017-4A8E-B293-EE6C9FF0BCFE}" type="datetime1">
              <a:rPr lang="zh-CN" altLang="en-US" smtClean="0"/>
              <a:pPr eaLnBrk="1" hangingPunct="1"/>
              <a:t>2017/2/24</a:t>
            </a:fld>
            <a:endParaRPr lang="en-US" altLang="zh-CN" smtClean="0"/>
          </a:p>
        </p:txBody>
      </p:sp>
      <p:sp>
        <p:nvSpPr>
          <p:cNvPr id="44037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76931A98-A4C8-434F-8EF8-8F287A2BE7D5}" type="slidenum">
              <a:rPr lang="zh-CN" altLang="en-US" smtClean="0"/>
              <a:pPr eaLnBrk="1" hangingPunct="1"/>
              <a:t>35</a:t>
            </a:fld>
            <a:endParaRPr lang="en-US" altLang="zh-CN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title"/>
          </p:nvPr>
        </p:nvSpPr>
        <p:spPr>
          <a:xfrm>
            <a:off x="990600" y="476250"/>
            <a:ext cx="6781800" cy="1123950"/>
          </a:xfrm>
          <a:noFill/>
        </p:spPr>
        <p:txBody>
          <a:bodyPr lIns="92075" tIns="46038" rIns="92075" bIns="46038"/>
          <a:lstStyle/>
          <a:p>
            <a:pPr eaLnBrk="1" hangingPunct="1"/>
            <a:r>
              <a:rPr lang="zh-CN" altLang="en-US" sz="4000" b="1" smtClean="0">
                <a:solidFill>
                  <a:srgbClr val="000099"/>
                </a:solidFill>
                <a:latin typeface="Times New Roman" pitchFamily="18" charset="0"/>
                <a:ea typeface="华文新魏" pitchFamily="2" charset="-122"/>
              </a:rPr>
              <a:t>五、常用文法与分析方法</a:t>
            </a:r>
          </a:p>
        </p:txBody>
      </p:sp>
      <p:sp>
        <p:nvSpPr>
          <p:cNvPr id="302083" name="Rectangle 3"/>
          <p:cNvSpPr>
            <a:spLocks noGrp="1" noChangeArrowheads="1"/>
          </p:cNvSpPr>
          <p:nvPr>
            <p:ph idx="1"/>
          </p:nvPr>
        </p:nvSpPr>
        <p:spPr>
          <a:xfrm>
            <a:off x="971550" y="1989138"/>
            <a:ext cx="7867650" cy="4608512"/>
          </a:xfrm>
        </p:spPr>
        <p:txBody>
          <a:bodyPr lIns="92075" tIns="46038" rIns="92075" bIns="46038"/>
          <a:lstStyle/>
          <a:p>
            <a:pPr eaLnBrk="1" hangingPunct="1">
              <a:lnSpc>
                <a:spcPct val="110000"/>
              </a:lnSpc>
            </a:pPr>
            <a:r>
              <a:rPr lang="zh-CN" altLang="en-US" sz="3000" b="1" smtClean="0">
                <a:latin typeface="Times New Roman" pitchFamily="18" charset="0"/>
                <a:ea typeface="华文新魏" pitchFamily="2" charset="-122"/>
              </a:rPr>
              <a:t>对于不同的文法，可用不同的分析方法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LL</a:t>
            </a: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文法 ── 递归下降分析法、预测分析法</a:t>
            </a:r>
          </a:p>
          <a:p>
            <a:pPr lvl="2" eaLnBrk="1" hangingPunct="1">
              <a:lnSpc>
                <a:spcPct val="110000"/>
              </a:lnSpc>
            </a:pPr>
            <a:r>
              <a:rPr lang="zh-CN" altLang="en-US" sz="2600" b="1" smtClean="0">
                <a:latin typeface="Times New Roman" pitchFamily="18" charset="0"/>
                <a:ea typeface="华文新魏" pitchFamily="2" charset="-122"/>
              </a:rPr>
              <a:t>多用于编译的手工实现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LR</a:t>
            </a: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文法 ── 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LR</a:t>
            </a: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分析法</a:t>
            </a:r>
          </a:p>
          <a:p>
            <a:pPr lvl="2" eaLnBrk="1" hangingPunct="1">
              <a:lnSpc>
                <a:spcPct val="110000"/>
              </a:lnSpc>
            </a:pPr>
            <a:r>
              <a:rPr lang="zh-CN" altLang="en-US" sz="2600" b="1" smtClean="0">
                <a:latin typeface="Times New Roman" pitchFamily="18" charset="0"/>
                <a:ea typeface="华文新魏" pitchFamily="2" charset="-122"/>
              </a:rPr>
              <a:t>多用于编译的自动生成</a:t>
            </a:r>
          </a:p>
        </p:txBody>
      </p:sp>
      <p:sp>
        <p:nvSpPr>
          <p:cNvPr id="45060" name="日期占位符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FF005EF8-9FDA-4D23-87F9-1DFEC4C2049B}" type="datetime1">
              <a:rPr lang="zh-CN" altLang="en-US" smtClean="0"/>
              <a:pPr eaLnBrk="1" hangingPunct="1"/>
              <a:t>2017/2/24</a:t>
            </a:fld>
            <a:endParaRPr lang="en-US" altLang="zh-CN" smtClean="0"/>
          </a:p>
        </p:txBody>
      </p:sp>
      <p:sp>
        <p:nvSpPr>
          <p:cNvPr id="45061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E2FC604C-E26F-49E2-9D1D-DF59F4FB388E}" type="slidenum">
              <a:rPr lang="zh-CN" altLang="en-US" smtClean="0"/>
              <a:pPr eaLnBrk="1" hangingPunct="1"/>
              <a:t>36</a:t>
            </a:fld>
            <a:endParaRPr lang="en-US" altLang="zh-CN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title"/>
          </p:nvPr>
        </p:nvSpPr>
        <p:spPr>
          <a:xfrm>
            <a:off x="971550" y="549275"/>
            <a:ext cx="7507288" cy="1098550"/>
          </a:xfrm>
        </p:spPr>
        <p:txBody>
          <a:bodyPr lIns="92075" tIns="46038" rIns="92075" bIns="46038"/>
          <a:lstStyle/>
          <a:p>
            <a:pPr eaLnBrk="1" hangingPunct="1"/>
            <a:r>
              <a:rPr lang="zh-CN" altLang="en-US" sz="4000" b="1" smtClean="0">
                <a:solidFill>
                  <a:srgbClr val="000099"/>
                </a:solidFill>
                <a:latin typeface="Times New Roman" pitchFamily="18" charset="0"/>
                <a:ea typeface="华文新魏" pitchFamily="2" charset="-122"/>
              </a:rPr>
              <a:t>4.3 自顶向下的分析方法</a:t>
            </a:r>
          </a:p>
        </p:txBody>
      </p:sp>
      <p:sp>
        <p:nvSpPr>
          <p:cNvPr id="303107" name="Rectangle 3"/>
          <p:cNvSpPr>
            <a:spLocks noGrp="1" noChangeArrowheads="1"/>
          </p:cNvSpPr>
          <p:nvPr>
            <p:ph idx="1"/>
          </p:nvPr>
        </p:nvSpPr>
        <p:spPr>
          <a:xfrm>
            <a:off x="395288" y="1557338"/>
            <a:ext cx="8280400" cy="4392612"/>
          </a:xfrm>
        </p:spPr>
        <p:txBody>
          <a:bodyPr/>
          <a:lstStyle/>
          <a:p>
            <a:pPr eaLnBrk="1" hangingPunct="1">
              <a:lnSpc>
                <a:spcPct val="120000"/>
              </a:lnSpc>
              <a:spcBef>
                <a:spcPct val="0"/>
              </a:spcBef>
            </a:pP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回顾</a:t>
            </a:r>
          </a:p>
          <a:p>
            <a:pPr lvl="1" eaLnBrk="1" hangingPunct="1">
              <a:lnSpc>
                <a:spcPct val="120000"/>
              </a:lnSpc>
              <a:spcBef>
                <a:spcPct val="0"/>
              </a:spcBef>
            </a:pP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基本思想</a:t>
            </a:r>
          </a:p>
          <a:p>
            <a:pPr lvl="2" eaLnBrk="1" hangingPunct="1">
              <a:lnSpc>
                <a:spcPct val="120000"/>
              </a:lnSpc>
              <a:spcBef>
                <a:spcPct val="0"/>
              </a:spcBef>
            </a:pP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寻找输入符号串的最左推导</a:t>
            </a:r>
          </a:p>
          <a:p>
            <a:pPr lvl="2" eaLnBrk="1" hangingPunct="1">
              <a:lnSpc>
                <a:spcPct val="120000"/>
              </a:lnSpc>
              <a:spcBef>
                <a:spcPct val="0"/>
              </a:spcBef>
            </a:pP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试图根据当前输入单词确定使用哪个产生式</a:t>
            </a:r>
          </a:p>
          <a:p>
            <a:pPr lvl="1" eaLnBrk="1" hangingPunct="1">
              <a:lnSpc>
                <a:spcPct val="120000"/>
              </a:lnSpc>
              <a:spcBef>
                <a:spcPct val="0"/>
              </a:spcBef>
            </a:pP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基本过程</a:t>
            </a:r>
          </a:p>
          <a:p>
            <a:pPr lvl="2" eaLnBrk="1" hangingPunct="1">
              <a:lnSpc>
                <a:spcPct val="120000"/>
              </a:lnSpc>
              <a:spcBef>
                <a:spcPct val="0"/>
              </a:spcBef>
            </a:pP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从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S</a:t>
            </a: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出发，构造输入符号 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(Token)</a:t>
            </a: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串的最左推导</a:t>
            </a:r>
          </a:p>
          <a:p>
            <a:pPr lvl="2" eaLnBrk="1" hangingPunct="1">
              <a:lnSpc>
                <a:spcPct val="120000"/>
              </a:lnSpc>
              <a:spcBef>
                <a:spcPct val="0"/>
              </a:spcBef>
            </a:pP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从根开始，按与最左推导相对应的顺序，构造输入符号 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(Token)</a:t>
            </a: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串的语法分析树</a:t>
            </a:r>
          </a:p>
        </p:txBody>
      </p:sp>
      <p:sp>
        <p:nvSpPr>
          <p:cNvPr id="46084" name="日期占位符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8917AFD6-0348-4F1E-A2AE-DA5DD8BC3AC3}" type="datetime1">
              <a:rPr lang="zh-CN" altLang="en-US" smtClean="0"/>
              <a:pPr eaLnBrk="1" hangingPunct="1"/>
              <a:t>2017/2/24</a:t>
            </a:fld>
            <a:endParaRPr lang="en-US" altLang="zh-CN" smtClean="0"/>
          </a:p>
        </p:txBody>
      </p:sp>
      <p:sp>
        <p:nvSpPr>
          <p:cNvPr id="46085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D88CDFB7-82F8-49B2-B796-DF114D3E25E9}" type="slidenum">
              <a:rPr lang="zh-CN" altLang="en-US" smtClean="0"/>
              <a:pPr eaLnBrk="1" hangingPunct="1"/>
              <a:t>37</a:t>
            </a:fld>
            <a:endParaRPr lang="en-US" altLang="zh-CN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title"/>
          </p:nvPr>
        </p:nvSpPr>
        <p:spPr>
          <a:xfrm>
            <a:off x="900113" y="765175"/>
            <a:ext cx="7620000" cy="838200"/>
          </a:xfrm>
          <a:noFill/>
        </p:spPr>
        <p:txBody>
          <a:bodyPr lIns="92075" tIns="46038" rIns="92075" bIns="46038"/>
          <a:lstStyle/>
          <a:p>
            <a:pPr eaLnBrk="1" hangingPunct="1"/>
            <a:r>
              <a:rPr lang="zh-CN" altLang="en-US" sz="4000" b="1" smtClean="0">
                <a:solidFill>
                  <a:srgbClr val="000099"/>
                </a:solidFill>
                <a:latin typeface="Times New Roman" pitchFamily="18" charset="0"/>
                <a:ea typeface="华文新魏" pitchFamily="2" charset="-122"/>
              </a:rPr>
              <a:t>例 符号串 </a:t>
            </a:r>
            <a:r>
              <a:rPr lang="en-US" altLang="zh-CN" sz="4000" b="1" smtClean="0">
                <a:solidFill>
                  <a:srgbClr val="000099"/>
                </a:solidFill>
                <a:latin typeface="Times New Roman" pitchFamily="18" charset="0"/>
                <a:ea typeface="华文新魏" pitchFamily="2" charset="-122"/>
              </a:rPr>
              <a:t>id + id * id</a:t>
            </a:r>
            <a:r>
              <a:rPr lang="zh-CN" altLang="en-US" sz="4000" b="1" smtClean="0">
                <a:solidFill>
                  <a:srgbClr val="000099"/>
                </a:solidFill>
                <a:latin typeface="Times New Roman" pitchFamily="18" charset="0"/>
                <a:ea typeface="华文新魏" pitchFamily="2" charset="-122"/>
              </a:rPr>
              <a:t>的分析</a:t>
            </a:r>
          </a:p>
        </p:txBody>
      </p:sp>
      <p:sp>
        <p:nvSpPr>
          <p:cNvPr id="304131" name="Rectangle 3"/>
          <p:cNvSpPr>
            <a:spLocks noGrp="1" noChangeArrowheads="1"/>
          </p:cNvSpPr>
          <p:nvPr>
            <p:ph idx="1"/>
          </p:nvPr>
        </p:nvSpPr>
        <p:spPr>
          <a:xfrm>
            <a:off x="4608513" y="2016125"/>
            <a:ext cx="4032250" cy="3167063"/>
          </a:xfrm>
        </p:spPr>
        <p:txBody>
          <a:bodyPr lIns="92075" tIns="46038" rIns="92075" bIns="46038"/>
          <a:lstStyle/>
          <a:p>
            <a:pPr eaLnBrk="1" hangingPunct="1">
              <a:buFont typeface="Wingdings" pitchFamily="2" charset="2"/>
              <a:buNone/>
              <a:defRPr/>
            </a:pPr>
            <a:r>
              <a:rPr lang="en-US" altLang="zh-CN" b="1">
                <a:latin typeface="Times New Roman" pitchFamily="18" charset="0"/>
                <a:ea typeface="华文新魏" pitchFamily="2" charset="-122"/>
              </a:rPr>
              <a:t>E → T E</a:t>
            </a:r>
            <a:r>
              <a:rPr kumimoji="1" lang="en-US" altLang="zh-CN" sz="2800" b="1">
                <a:effectLst>
                  <a:outerShdw blurRad="38100" dist="38100" dir="2700000" algn="tl">
                    <a:srgbClr val="C0C0C0"/>
                  </a:outerShdw>
                </a:effectLst>
              </a:rPr>
              <a:t>'</a:t>
            </a:r>
            <a:r>
              <a:rPr lang="en-US" altLang="zh-CN" b="1">
                <a:latin typeface="Times New Roman" pitchFamily="18" charset="0"/>
                <a:ea typeface="华文新魏" pitchFamily="2" charset="-122"/>
              </a:rPr>
              <a:t>        </a:t>
            </a:r>
          </a:p>
          <a:p>
            <a:pPr eaLnBrk="1" hangingPunct="1">
              <a:buFont typeface="Wingdings" pitchFamily="2" charset="2"/>
              <a:buNone/>
              <a:defRPr/>
            </a:pPr>
            <a:r>
              <a:rPr lang="en-US" altLang="zh-CN" b="1">
                <a:latin typeface="Times New Roman" pitchFamily="18" charset="0"/>
                <a:ea typeface="华文新魏" pitchFamily="2" charset="-122"/>
              </a:rPr>
              <a:t>E</a:t>
            </a:r>
            <a:r>
              <a:rPr kumimoji="1" lang="en-US" altLang="zh-CN" sz="2800" b="1">
                <a:effectLst>
                  <a:outerShdw blurRad="38100" dist="38100" dir="2700000" algn="tl">
                    <a:srgbClr val="C0C0C0"/>
                  </a:outerShdw>
                </a:effectLst>
              </a:rPr>
              <a:t>'</a:t>
            </a:r>
            <a:r>
              <a:rPr lang="en-US" altLang="zh-CN" b="1">
                <a:latin typeface="Times New Roman" pitchFamily="18" charset="0"/>
                <a:ea typeface="华文新魏" pitchFamily="2" charset="-122"/>
              </a:rPr>
              <a:t>→ + T E</a:t>
            </a:r>
            <a:r>
              <a:rPr kumimoji="1" lang="en-US" altLang="zh-CN" sz="2800" b="1">
                <a:effectLst>
                  <a:outerShdw blurRad="38100" dist="38100" dir="2700000" algn="tl">
                    <a:srgbClr val="C0C0C0"/>
                  </a:outerShdw>
                </a:effectLst>
              </a:rPr>
              <a:t>'</a:t>
            </a:r>
            <a:r>
              <a:rPr lang="en-US" altLang="zh-CN" b="1">
                <a:latin typeface="Times New Roman" pitchFamily="18" charset="0"/>
                <a:ea typeface="华文新魏" pitchFamily="2" charset="-122"/>
              </a:rPr>
              <a:t>｜ε  </a:t>
            </a:r>
          </a:p>
          <a:p>
            <a:pPr eaLnBrk="1" hangingPunct="1">
              <a:buFont typeface="Wingdings" pitchFamily="2" charset="2"/>
              <a:buNone/>
              <a:defRPr/>
            </a:pPr>
            <a:r>
              <a:rPr lang="en-US" altLang="zh-CN" b="1">
                <a:latin typeface="Times New Roman" pitchFamily="18" charset="0"/>
                <a:ea typeface="华文新魏" pitchFamily="2" charset="-122"/>
              </a:rPr>
              <a:t>T → F T</a:t>
            </a:r>
            <a:r>
              <a:rPr kumimoji="1" lang="en-US" altLang="zh-CN" sz="2800" b="1">
                <a:effectLst>
                  <a:outerShdw blurRad="38100" dist="38100" dir="2700000" algn="tl">
                    <a:srgbClr val="C0C0C0"/>
                  </a:outerShdw>
                </a:effectLst>
              </a:rPr>
              <a:t>'</a:t>
            </a:r>
            <a:r>
              <a:rPr lang="en-US" altLang="zh-CN" b="1">
                <a:latin typeface="Times New Roman" pitchFamily="18" charset="0"/>
                <a:ea typeface="华文新魏" pitchFamily="2" charset="-122"/>
              </a:rPr>
              <a:t>        </a:t>
            </a:r>
          </a:p>
          <a:p>
            <a:pPr eaLnBrk="1" hangingPunct="1">
              <a:buFont typeface="Wingdings" pitchFamily="2" charset="2"/>
              <a:buNone/>
              <a:defRPr/>
            </a:pPr>
            <a:r>
              <a:rPr lang="en-US" altLang="zh-CN" b="1">
                <a:latin typeface="Times New Roman" pitchFamily="18" charset="0"/>
                <a:ea typeface="华文新魏" pitchFamily="2" charset="-122"/>
              </a:rPr>
              <a:t>T</a:t>
            </a:r>
            <a:r>
              <a:rPr kumimoji="1" lang="en-US" altLang="zh-CN" sz="2800" b="1">
                <a:effectLst>
                  <a:outerShdw blurRad="38100" dist="38100" dir="2700000" algn="tl">
                    <a:srgbClr val="C0C0C0"/>
                  </a:outerShdw>
                </a:effectLst>
              </a:rPr>
              <a:t>'</a:t>
            </a:r>
            <a:r>
              <a:rPr lang="en-US" altLang="zh-CN" b="1">
                <a:latin typeface="Times New Roman" pitchFamily="18" charset="0"/>
                <a:ea typeface="华文新魏" pitchFamily="2" charset="-122"/>
              </a:rPr>
              <a:t>→ * F T</a:t>
            </a:r>
            <a:r>
              <a:rPr kumimoji="1" lang="en-US" altLang="zh-CN" sz="2800" b="1">
                <a:effectLst>
                  <a:outerShdw blurRad="38100" dist="38100" dir="2700000" algn="tl">
                    <a:srgbClr val="C0C0C0"/>
                  </a:outerShdw>
                </a:effectLst>
              </a:rPr>
              <a:t>'</a:t>
            </a:r>
            <a:r>
              <a:rPr lang="en-US" altLang="zh-CN" b="1">
                <a:latin typeface="Times New Roman" pitchFamily="18" charset="0"/>
                <a:ea typeface="华文新魏" pitchFamily="2" charset="-122"/>
              </a:rPr>
              <a:t>｜ε  </a:t>
            </a:r>
          </a:p>
          <a:p>
            <a:pPr eaLnBrk="1" hangingPunct="1">
              <a:buFont typeface="Wingdings" pitchFamily="2" charset="2"/>
              <a:buNone/>
              <a:defRPr/>
            </a:pPr>
            <a:r>
              <a:rPr lang="en-US" altLang="zh-CN" b="1">
                <a:latin typeface="Times New Roman" pitchFamily="18" charset="0"/>
                <a:ea typeface="华文新魏" pitchFamily="2" charset="-122"/>
              </a:rPr>
              <a:t>F → ( E )｜id</a:t>
            </a:r>
            <a:endParaRPr lang="zh-CN" altLang="en-US" b="1">
              <a:latin typeface="Times New Roman" pitchFamily="18" charset="0"/>
              <a:ea typeface="华文新魏" pitchFamily="2" charset="-122"/>
            </a:endParaRPr>
          </a:p>
        </p:txBody>
      </p:sp>
      <p:sp>
        <p:nvSpPr>
          <p:cNvPr id="47108" name="日期占位符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BB0EEA9A-C6C7-4C22-B329-18F4C79128FE}" type="datetime1">
              <a:rPr lang="zh-CN" altLang="en-US" smtClean="0"/>
              <a:pPr eaLnBrk="1" hangingPunct="1"/>
              <a:t>2017/2/24</a:t>
            </a:fld>
            <a:endParaRPr lang="en-US" altLang="zh-CN" smtClean="0"/>
          </a:p>
        </p:txBody>
      </p:sp>
      <p:sp>
        <p:nvSpPr>
          <p:cNvPr id="47109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3299C422-8072-45D2-884A-4705A2CAD0B6}" type="slidenum">
              <a:rPr lang="zh-CN" altLang="en-US" smtClean="0"/>
              <a:pPr eaLnBrk="1" hangingPunct="1"/>
              <a:t>38</a:t>
            </a:fld>
            <a:endParaRPr lang="en-US" altLang="zh-CN" smtClean="0"/>
          </a:p>
        </p:txBody>
      </p:sp>
      <p:sp>
        <p:nvSpPr>
          <p:cNvPr id="304132" name="Rectangle 4"/>
          <p:cNvSpPr>
            <a:spLocks noChangeArrowheads="1"/>
          </p:cNvSpPr>
          <p:nvPr/>
        </p:nvSpPr>
        <p:spPr bwMode="auto">
          <a:xfrm>
            <a:off x="827088" y="2349500"/>
            <a:ext cx="2819400" cy="180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/>
          <a:p>
            <a:pPr marL="342900" indent="-342900">
              <a:lnSpc>
                <a:spcPct val="12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en-US" altLang="zh-CN" sz="2800" b="1">
                <a:latin typeface="Times New Roman" pitchFamily="18" charset="0"/>
                <a:ea typeface="华文新魏" pitchFamily="2" charset="-122"/>
              </a:rPr>
              <a:t>E → E + T｜T</a:t>
            </a:r>
          </a:p>
          <a:p>
            <a:pPr marL="342900" indent="-342900">
              <a:lnSpc>
                <a:spcPct val="12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en-US" altLang="zh-CN" sz="2800" b="1">
                <a:latin typeface="Times New Roman" pitchFamily="18" charset="0"/>
                <a:ea typeface="华文新魏" pitchFamily="2" charset="-122"/>
              </a:rPr>
              <a:t>T → T * F｜F</a:t>
            </a:r>
          </a:p>
          <a:p>
            <a:pPr marL="342900" indent="-342900">
              <a:lnSpc>
                <a:spcPct val="12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en-US" altLang="zh-CN" sz="2800" b="1">
                <a:latin typeface="Times New Roman" pitchFamily="18" charset="0"/>
                <a:ea typeface="华文新魏" pitchFamily="2" charset="-122"/>
              </a:rPr>
              <a:t>F → ( E )｜id</a:t>
            </a:r>
          </a:p>
        </p:txBody>
      </p:sp>
      <p:sp>
        <p:nvSpPr>
          <p:cNvPr id="47111" name="Rectangle 5"/>
          <p:cNvSpPr>
            <a:spLocks noChangeArrowheads="1"/>
          </p:cNvSpPr>
          <p:nvPr/>
        </p:nvSpPr>
        <p:spPr bwMode="auto">
          <a:xfrm>
            <a:off x="1258888" y="5445125"/>
            <a:ext cx="5873750" cy="53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zh-CN" altLang="en-US" sz="3200" b="1">
                <a:ea typeface="华文新魏" pitchFamily="2" charset="-122"/>
              </a:rPr>
              <a:t>按照最左推导过程，构造语法树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172" name="Text Box 20"/>
          <p:cNvSpPr txBox="1">
            <a:spLocks noChangeArrowheads="1"/>
          </p:cNvSpPr>
          <p:nvPr/>
        </p:nvSpPr>
        <p:spPr bwMode="auto">
          <a:xfrm>
            <a:off x="2627313" y="3860800"/>
            <a:ext cx="54133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r>
              <a:rPr kumimoji="1" lang="en-US" altLang="zh-CN" sz="2800" b="1">
                <a:solidFill>
                  <a:srgbClr val="0000FF"/>
                </a:solidFill>
                <a:latin typeface="宋体" pitchFamily="2" charset="-122"/>
              </a:rPr>
              <a:t>ε</a:t>
            </a:r>
          </a:p>
        </p:txBody>
      </p:sp>
      <p:sp>
        <p:nvSpPr>
          <p:cNvPr id="48131" name="Rectangle 2"/>
          <p:cNvSpPr>
            <a:spLocks noGrp="1" noChangeArrowheads="1"/>
          </p:cNvSpPr>
          <p:nvPr>
            <p:ph type="title"/>
          </p:nvPr>
        </p:nvSpPr>
        <p:spPr>
          <a:xfrm>
            <a:off x="6300788" y="404813"/>
            <a:ext cx="2232025" cy="503237"/>
          </a:xfrm>
          <a:noFill/>
        </p:spPr>
        <p:txBody>
          <a:bodyPr lIns="92075" tIns="46038" rIns="92075" bIns="46038"/>
          <a:lstStyle/>
          <a:p>
            <a:pPr eaLnBrk="1" hangingPunct="1"/>
            <a:r>
              <a:rPr lang="en-US" altLang="zh-CN" sz="2800" b="1" smtClean="0">
                <a:solidFill>
                  <a:schemeClr val="tx1"/>
                </a:solidFill>
                <a:latin typeface="Times New Roman" pitchFamily="18" charset="0"/>
                <a:ea typeface="华文新魏" pitchFamily="2" charset="-122"/>
              </a:rPr>
              <a:t>id + id * id</a:t>
            </a:r>
            <a:endParaRPr lang="zh-CN" altLang="en-US" sz="2800" b="1" smtClean="0">
              <a:solidFill>
                <a:schemeClr val="tx1"/>
              </a:solidFill>
              <a:latin typeface="Times New Roman" pitchFamily="18" charset="0"/>
              <a:ea typeface="华文新魏" pitchFamily="2" charset="-122"/>
            </a:endParaRPr>
          </a:p>
        </p:txBody>
      </p:sp>
      <p:sp>
        <p:nvSpPr>
          <p:cNvPr id="305203" name="Rectangle 51"/>
          <p:cNvSpPr>
            <a:spLocks noGrp="1" noChangeArrowheads="1"/>
          </p:cNvSpPr>
          <p:nvPr>
            <p:ph idx="1"/>
          </p:nvPr>
        </p:nvSpPr>
        <p:spPr>
          <a:xfrm>
            <a:off x="179388" y="4365625"/>
            <a:ext cx="2952750" cy="2349500"/>
          </a:xfrm>
          <a:solidFill>
            <a:srgbClr val="006666"/>
          </a:solidFill>
        </p:spPr>
        <p:txBody>
          <a:bodyPr lIns="92075" tIns="46038" rIns="92075" bIns="46038"/>
          <a:lstStyle/>
          <a:p>
            <a:pPr eaLnBrk="1" hangingPunct="1">
              <a:spcBef>
                <a:spcPct val="0"/>
              </a:spcBef>
              <a:buFont typeface="Wingdings" pitchFamily="2" charset="2"/>
              <a:buNone/>
              <a:defRPr/>
            </a:pPr>
            <a:r>
              <a:rPr lang="en-US" altLang="zh-CN" sz="2800" b="1">
                <a:solidFill>
                  <a:schemeClr val="bg1"/>
                </a:solidFill>
                <a:latin typeface="Times New Roman" pitchFamily="18" charset="0"/>
              </a:rPr>
              <a:t>E → T E</a:t>
            </a:r>
            <a:r>
              <a:rPr kumimoji="1" lang="en-US" altLang="zh-CN" sz="2400" b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'</a:t>
            </a:r>
            <a:r>
              <a:rPr lang="en-US" altLang="zh-CN" sz="2800" b="1">
                <a:solidFill>
                  <a:schemeClr val="bg1"/>
                </a:solidFill>
                <a:latin typeface="Times New Roman" pitchFamily="18" charset="0"/>
              </a:rPr>
              <a:t>        </a:t>
            </a:r>
          </a:p>
          <a:p>
            <a:pPr eaLnBrk="1" hangingPunct="1">
              <a:spcBef>
                <a:spcPct val="0"/>
              </a:spcBef>
              <a:buFont typeface="Wingdings" pitchFamily="2" charset="2"/>
              <a:buNone/>
              <a:defRPr/>
            </a:pPr>
            <a:r>
              <a:rPr lang="en-US" altLang="zh-CN" sz="2800" b="1">
                <a:solidFill>
                  <a:schemeClr val="bg1"/>
                </a:solidFill>
                <a:latin typeface="Times New Roman" pitchFamily="18" charset="0"/>
              </a:rPr>
              <a:t>E</a:t>
            </a:r>
            <a:r>
              <a:rPr kumimoji="1" lang="en-US" altLang="zh-CN" sz="2400" b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'</a:t>
            </a:r>
            <a:r>
              <a:rPr lang="en-US" altLang="zh-CN" sz="2800" b="1">
                <a:solidFill>
                  <a:schemeClr val="bg1"/>
                </a:solidFill>
                <a:latin typeface="Times New Roman" pitchFamily="18" charset="0"/>
              </a:rPr>
              <a:t>→ + T E</a:t>
            </a:r>
            <a:r>
              <a:rPr kumimoji="1" lang="en-US" altLang="zh-CN" sz="2400" b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'</a:t>
            </a:r>
            <a:r>
              <a:rPr lang="en-US" altLang="zh-CN" sz="2800" b="1">
                <a:solidFill>
                  <a:schemeClr val="bg1"/>
                </a:solidFill>
                <a:latin typeface="Times New Roman" pitchFamily="18" charset="0"/>
              </a:rPr>
              <a:t>｜ε  </a:t>
            </a:r>
          </a:p>
          <a:p>
            <a:pPr eaLnBrk="1" hangingPunct="1">
              <a:spcBef>
                <a:spcPct val="0"/>
              </a:spcBef>
              <a:buFont typeface="Wingdings" pitchFamily="2" charset="2"/>
              <a:buNone/>
              <a:defRPr/>
            </a:pPr>
            <a:r>
              <a:rPr lang="en-US" altLang="zh-CN" sz="2800" b="1">
                <a:solidFill>
                  <a:schemeClr val="bg1"/>
                </a:solidFill>
                <a:latin typeface="Times New Roman" pitchFamily="18" charset="0"/>
              </a:rPr>
              <a:t>T → F T</a:t>
            </a:r>
            <a:r>
              <a:rPr kumimoji="1" lang="en-US" altLang="zh-CN" sz="2400" b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'</a:t>
            </a:r>
            <a:r>
              <a:rPr lang="en-US" altLang="zh-CN" sz="2800" b="1">
                <a:solidFill>
                  <a:schemeClr val="bg1"/>
                </a:solidFill>
                <a:latin typeface="Times New Roman" pitchFamily="18" charset="0"/>
              </a:rPr>
              <a:t>        </a:t>
            </a:r>
          </a:p>
          <a:p>
            <a:pPr eaLnBrk="1" hangingPunct="1">
              <a:spcBef>
                <a:spcPct val="0"/>
              </a:spcBef>
              <a:buFont typeface="Wingdings" pitchFamily="2" charset="2"/>
              <a:buNone/>
              <a:defRPr/>
            </a:pPr>
            <a:r>
              <a:rPr lang="en-US" altLang="zh-CN" sz="2800" b="1">
                <a:solidFill>
                  <a:schemeClr val="bg1"/>
                </a:solidFill>
                <a:latin typeface="Times New Roman" pitchFamily="18" charset="0"/>
              </a:rPr>
              <a:t>T</a:t>
            </a:r>
            <a:r>
              <a:rPr kumimoji="1" lang="en-US" altLang="zh-CN" sz="2400" b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'</a:t>
            </a:r>
            <a:r>
              <a:rPr lang="en-US" altLang="zh-CN" sz="2800" b="1">
                <a:solidFill>
                  <a:schemeClr val="bg1"/>
                </a:solidFill>
                <a:latin typeface="Times New Roman" pitchFamily="18" charset="0"/>
              </a:rPr>
              <a:t>→ * F T</a:t>
            </a:r>
            <a:r>
              <a:rPr kumimoji="1" lang="en-US" altLang="zh-CN" sz="2400" b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'</a:t>
            </a:r>
            <a:r>
              <a:rPr lang="en-US" altLang="zh-CN" sz="2800" b="1">
                <a:solidFill>
                  <a:schemeClr val="bg1"/>
                </a:solidFill>
                <a:latin typeface="Times New Roman" pitchFamily="18" charset="0"/>
              </a:rPr>
              <a:t>｜ε  </a:t>
            </a:r>
          </a:p>
          <a:p>
            <a:pPr eaLnBrk="1" hangingPunct="1">
              <a:spcBef>
                <a:spcPct val="0"/>
              </a:spcBef>
              <a:buFont typeface="Wingdings" pitchFamily="2" charset="2"/>
              <a:buNone/>
              <a:defRPr/>
            </a:pPr>
            <a:r>
              <a:rPr lang="en-US" altLang="zh-CN" sz="2800" b="1">
                <a:solidFill>
                  <a:schemeClr val="bg1"/>
                </a:solidFill>
                <a:latin typeface="Times New Roman" pitchFamily="18" charset="0"/>
              </a:rPr>
              <a:t>F → ( E )｜id</a:t>
            </a:r>
            <a:endParaRPr lang="zh-CN" altLang="en-US" sz="2800" b="1">
              <a:solidFill>
                <a:schemeClr val="bg1"/>
              </a:solidFill>
              <a:latin typeface="Times New Roman" pitchFamily="18" charset="0"/>
            </a:endParaRPr>
          </a:p>
        </p:txBody>
      </p:sp>
      <p:sp>
        <p:nvSpPr>
          <p:cNvPr id="305155" name="Text Box 3"/>
          <p:cNvSpPr txBox="1">
            <a:spLocks noChangeArrowheads="1"/>
          </p:cNvSpPr>
          <p:nvPr/>
        </p:nvSpPr>
        <p:spPr bwMode="auto">
          <a:xfrm>
            <a:off x="2747963" y="515938"/>
            <a:ext cx="5397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r>
              <a:rPr kumimoji="1" lang="zh-CN" altLang="en-US" sz="2800" b="1">
                <a:solidFill>
                  <a:srgbClr val="000099"/>
                </a:solidFill>
                <a:latin typeface="Times New Roman" pitchFamily="18" charset="0"/>
              </a:rPr>
              <a:t>Ｅ</a:t>
            </a:r>
          </a:p>
        </p:txBody>
      </p:sp>
      <p:sp>
        <p:nvSpPr>
          <p:cNvPr id="305156" name="Text Box 4"/>
          <p:cNvSpPr txBox="1">
            <a:spLocks noChangeArrowheads="1"/>
          </p:cNvSpPr>
          <p:nvPr/>
        </p:nvSpPr>
        <p:spPr bwMode="auto">
          <a:xfrm>
            <a:off x="1681163" y="1582738"/>
            <a:ext cx="54133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r>
              <a:rPr kumimoji="1" lang="zh-CN" altLang="en-US" sz="2800" b="1">
                <a:solidFill>
                  <a:srgbClr val="0000FF"/>
                </a:solidFill>
                <a:latin typeface="Times New Roman" pitchFamily="18" charset="0"/>
              </a:rPr>
              <a:t>Ｔ</a:t>
            </a:r>
          </a:p>
        </p:txBody>
      </p:sp>
      <p:sp>
        <p:nvSpPr>
          <p:cNvPr id="305157" name="Text Box 5"/>
          <p:cNvSpPr txBox="1">
            <a:spLocks noChangeArrowheads="1"/>
          </p:cNvSpPr>
          <p:nvPr/>
        </p:nvSpPr>
        <p:spPr bwMode="auto">
          <a:xfrm>
            <a:off x="3924300" y="1506538"/>
            <a:ext cx="990600" cy="519112"/>
          </a:xfrm>
          <a:prstGeom prst="rect">
            <a:avLst/>
          </a:prstGeom>
          <a:noFill/>
          <a:ln w="381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eaLnBrk="0" hangingPunct="0">
              <a:defRPr/>
            </a:pPr>
            <a:r>
              <a:rPr kumimoji="1" lang="zh-CN" altLang="en-US" sz="2800" b="1">
                <a:solidFill>
                  <a:srgbClr val="0000FF"/>
                </a:solidFill>
                <a:latin typeface="Times New Roman" pitchFamily="18" charset="0"/>
              </a:rPr>
              <a:t>Ｅ</a:t>
            </a:r>
            <a:r>
              <a:rPr kumimoji="1" lang="en-US" altLang="zh-CN" sz="2800" b="1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'</a:t>
            </a:r>
            <a:endParaRPr kumimoji="1" lang="zh-CN" altLang="en-US" sz="2800" b="1">
              <a:solidFill>
                <a:srgbClr val="0000FF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cxnSp>
        <p:nvCxnSpPr>
          <p:cNvPr id="305158" name="AutoShape 6"/>
          <p:cNvCxnSpPr>
            <a:cxnSpLocks noChangeShapeType="1"/>
            <a:stCxn id="305156" idx="0"/>
            <a:endCxn id="305155" idx="2"/>
          </p:cNvCxnSpPr>
          <p:nvPr/>
        </p:nvCxnSpPr>
        <p:spPr bwMode="auto">
          <a:xfrm flipV="1">
            <a:off x="1952625" y="1035050"/>
            <a:ext cx="1065213" cy="547688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05159" name="AutoShape 7"/>
          <p:cNvCxnSpPr>
            <a:cxnSpLocks noChangeShapeType="1"/>
            <a:endCxn id="305157" idx="0"/>
          </p:cNvCxnSpPr>
          <p:nvPr/>
        </p:nvCxnSpPr>
        <p:spPr bwMode="auto">
          <a:xfrm>
            <a:off x="3130550" y="1049338"/>
            <a:ext cx="1289050" cy="457200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05160" name="Text Box 8"/>
          <p:cNvSpPr txBox="1">
            <a:spLocks noChangeArrowheads="1"/>
          </p:cNvSpPr>
          <p:nvPr/>
        </p:nvSpPr>
        <p:spPr bwMode="auto">
          <a:xfrm>
            <a:off x="1019175" y="2695575"/>
            <a:ext cx="54133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r>
              <a:rPr kumimoji="1" lang="zh-CN" altLang="en-US" sz="2800" b="1">
                <a:solidFill>
                  <a:srgbClr val="0000FF"/>
                </a:solidFill>
                <a:latin typeface="Times New Roman" pitchFamily="18" charset="0"/>
              </a:rPr>
              <a:t>Ｆ</a:t>
            </a:r>
          </a:p>
        </p:txBody>
      </p:sp>
      <p:sp>
        <p:nvSpPr>
          <p:cNvPr id="305161" name="Text Box 9"/>
          <p:cNvSpPr txBox="1">
            <a:spLocks noChangeArrowheads="1"/>
          </p:cNvSpPr>
          <p:nvPr/>
        </p:nvSpPr>
        <p:spPr bwMode="auto">
          <a:xfrm>
            <a:off x="2366963" y="2747963"/>
            <a:ext cx="639762" cy="519112"/>
          </a:xfrm>
          <a:prstGeom prst="rect">
            <a:avLst/>
          </a:prstGeom>
          <a:noFill/>
          <a:ln w="38100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>
            <a:spAutoFit/>
          </a:bodyPr>
          <a:lstStyle/>
          <a:p>
            <a:pPr eaLnBrk="0" hangingPunct="0">
              <a:defRPr/>
            </a:pPr>
            <a:r>
              <a:rPr kumimoji="1" lang="zh-CN" altLang="en-US" sz="2800" b="1">
                <a:solidFill>
                  <a:srgbClr val="0000FF"/>
                </a:solidFill>
                <a:latin typeface="Times New Roman" pitchFamily="18" charset="0"/>
              </a:rPr>
              <a:t>Ｔ</a:t>
            </a:r>
            <a:r>
              <a:rPr kumimoji="1" lang="en-US" altLang="zh-CN" sz="2800" b="1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'</a:t>
            </a:r>
            <a:endParaRPr kumimoji="1" lang="zh-CN" altLang="en-US" sz="2800" b="1">
              <a:solidFill>
                <a:srgbClr val="0000F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itchFamily="18" charset="0"/>
            </a:endParaRPr>
          </a:p>
        </p:txBody>
      </p:sp>
      <p:cxnSp>
        <p:nvCxnSpPr>
          <p:cNvPr id="305162" name="AutoShape 10"/>
          <p:cNvCxnSpPr>
            <a:cxnSpLocks noChangeShapeType="1"/>
            <a:stCxn id="305156" idx="2"/>
            <a:endCxn id="305160" idx="0"/>
          </p:cNvCxnSpPr>
          <p:nvPr/>
        </p:nvCxnSpPr>
        <p:spPr bwMode="auto">
          <a:xfrm flipH="1">
            <a:off x="1290638" y="2101850"/>
            <a:ext cx="661987" cy="593725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05163" name="AutoShape 11"/>
          <p:cNvCxnSpPr>
            <a:cxnSpLocks noChangeShapeType="1"/>
            <a:stCxn id="305156" idx="2"/>
            <a:endCxn id="305161" idx="0"/>
          </p:cNvCxnSpPr>
          <p:nvPr/>
        </p:nvCxnSpPr>
        <p:spPr bwMode="auto">
          <a:xfrm>
            <a:off x="1952625" y="2101850"/>
            <a:ext cx="735013" cy="646113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05164" name="Text Box 12"/>
          <p:cNvSpPr txBox="1">
            <a:spLocks noChangeArrowheads="1"/>
          </p:cNvSpPr>
          <p:nvPr/>
        </p:nvSpPr>
        <p:spPr bwMode="auto">
          <a:xfrm>
            <a:off x="4195763" y="2725738"/>
            <a:ext cx="54133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r>
              <a:rPr kumimoji="1" lang="zh-CN" altLang="en-US" sz="2800" b="1">
                <a:solidFill>
                  <a:srgbClr val="0000FF"/>
                </a:solidFill>
                <a:latin typeface="Times New Roman" pitchFamily="18" charset="0"/>
              </a:rPr>
              <a:t>Ｔ</a:t>
            </a:r>
          </a:p>
        </p:txBody>
      </p:sp>
      <p:sp>
        <p:nvSpPr>
          <p:cNvPr id="305165" name="Text Box 13"/>
          <p:cNvSpPr txBox="1">
            <a:spLocks noChangeArrowheads="1"/>
          </p:cNvSpPr>
          <p:nvPr/>
        </p:nvSpPr>
        <p:spPr bwMode="auto">
          <a:xfrm>
            <a:off x="3205163" y="2801938"/>
            <a:ext cx="54133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r>
              <a:rPr kumimoji="1" lang="zh-CN" altLang="en-US" sz="2800" b="1">
                <a:solidFill>
                  <a:srgbClr val="0000FF"/>
                </a:solidFill>
                <a:latin typeface="Times New Roman" pitchFamily="18" charset="0"/>
              </a:rPr>
              <a:t>＋</a:t>
            </a:r>
          </a:p>
        </p:txBody>
      </p:sp>
      <p:sp>
        <p:nvSpPr>
          <p:cNvPr id="305166" name="Text Box 14"/>
          <p:cNvSpPr txBox="1">
            <a:spLocks noChangeArrowheads="1"/>
          </p:cNvSpPr>
          <p:nvPr/>
        </p:nvSpPr>
        <p:spPr bwMode="auto">
          <a:xfrm>
            <a:off x="5033963" y="2738438"/>
            <a:ext cx="639762" cy="519112"/>
          </a:xfrm>
          <a:prstGeom prst="rect">
            <a:avLst/>
          </a:prstGeom>
          <a:noFill/>
          <a:ln w="38100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>
            <a:spAutoFit/>
          </a:bodyPr>
          <a:lstStyle/>
          <a:p>
            <a:pPr eaLnBrk="0" hangingPunct="0">
              <a:defRPr/>
            </a:pPr>
            <a:r>
              <a:rPr kumimoji="1" lang="zh-CN" altLang="en-US" sz="2800" b="1">
                <a:solidFill>
                  <a:srgbClr val="0000FF"/>
                </a:solidFill>
                <a:latin typeface="Times New Roman" pitchFamily="18" charset="0"/>
              </a:rPr>
              <a:t>Ｅ</a:t>
            </a:r>
            <a:r>
              <a:rPr kumimoji="1" lang="en-US" altLang="zh-CN" sz="2800" b="1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'</a:t>
            </a:r>
            <a:endParaRPr kumimoji="1" lang="zh-CN" altLang="en-US" sz="2800" b="1">
              <a:solidFill>
                <a:srgbClr val="0000FF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cxnSp>
        <p:nvCxnSpPr>
          <p:cNvPr id="305167" name="AutoShape 15"/>
          <p:cNvCxnSpPr>
            <a:cxnSpLocks noChangeShapeType="1"/>
            <a:stCxn id="305165" idx="0"/>
            <a:endCxn id="305157" idx="2"/>
          </p:cNvCxnSpPr>
          <p:nvPr/>
        </p:nvCxnSpPr>
        <p:spPr bwMode="auto">
          <a:xfrm flipV="1">
            <a:off x="3476625" y="2025650"/>
            <a:ext cx="942975" cy="776288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05168" name="AutoShape 16"/>
          <p:cNvCxnSpPr>
            <a:cxnSpLocks noChangeShapeType="1"/>
            <a:stCxn id="305157" idx="2"/>
            <a:endCxn id="305164" idx="0"/>
          </p:cNvCxnSpPr>
          <p:nvPr/>
        </p:nvCxnSpPr>
        <p:spPr bwMode="auto">
          <a:xfrm>
            <a:off x="4419600" y="2025650"/>
            <a:ext cx="47625" cy="700088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05169" name="AutoShape 17"/>
          <p:cNvCxnSpPr>
            <a:cxnSpLocks noChangeShapeType="1"/>
            <a:stCxn id="305157" idx="2"/>
            <a:endCxn id="305166" idx="0"/>
          </p:cNvCxnSpPr>
          <p:nvPr/>
        </p:nvCxnSpPr>
        <p:spPr bwMode="auto">
          <a:xfrm>
            <a:off x="4419600" y="2025650"/>
            <a:ext cx="935038" cy="712788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05170" name="Text Box 18"/>
          <p:cNvSpPr txBox="1">
            <a:spLocks noChangeArrowheads="1"/>
          </p:cNvSpPr>
          <p:nvPr/>
        </p:nvSpPr>
        <p:spPr bwMode="auto">
          <a:xfrm>
            <a:off x="971550" y="3789363"/>
            <a:ext cx="48101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r>
              <a:rPr kumimoji="1" lang="en-US" altLang="zh-CN" sz="2800" b="1">
                <a:solidFill>
                  <a:srgbClr val="000099"/>
                </a:solidFill>
                <a:latin typeface="Times New Roman" pitchFamily="18" charset="0"/>
              </a:rPr>
              <a:t>id</a:t>
            </a:r>
          </a:p>
        </p:txBody>
      </p:sp>
      <p:cxnSp>
        <p:nvCxnSpPr>
          <p:cNvPr id="305171" name="AutoShape 19"/>
          <p:cNvCxnSpPr>
            <a:cxnSpLocks noChangeShapeType="1"/>
          </p:cNvCxnSpPr>
          <p:nvPr/>
        </p:nvCxnSpPr>
        <p:spPr bwMode="auto">
          <a:xfrm>
            <a:off x="1223963" y="3259138"/>
            <a:ext cx="17462" cy="776287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05173" name="AutoShape 21"/>
          <p:cNvCxnSpPr>
            <a:cxnSpLocks noChangeShapeType="1"/>
            <a:stCxn id="305161" idx="2"/>
            <a:endCxn id="305172" idx="0"/>
          </p:cNvCxnSpPr>
          <p:nvPr/>
        </p:nvCxnSpPr>
        <p:spPr bwMode="auto">
          <a:xfrm>
            <a:off x="2687638" y="3267075"/>
            <a:ext cx="211137" cy="593725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05174" name="Text Box 22"/>
          <p:cNvSpPr txBox="1">
            <a:spLocks noChangeArrowheads="1"/>
          </p:cNvSpPr>
          <p:nvPr/>
        </p:nvSpPr>
        <p:spPr bwMode="auto">
          <a:xfrm>
            <a:off x="3509963" y="3868738"/>
            <a:ext cx="54133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r>
              <a:rPr kumimoji="1" lang="zh-CN" altLang="en-US" sz="2800" b="1">
                <a:solidFill>
                  <a:srgbClr val="0000FF"/>
                </a:solidFill>
                <a:latin typeface="Times New Roman" pitchFamily="18" charset="0"/>
              </a:rPr>
              <a:t>Ｆ</a:t>
            </a:r>
          </a:p>
        </p:txBody>
      </p:sp>
      <p:sp>
        <p:nvSpPr>
          <p:cNvPr id="305175" name="Text Box 23"/>
          <p:cNvSpPr txBox="1">
            <a:spLocks noChangeArrowheads="1"/>
          </p:cNvSpPr>
          <p:nvPr/>
        </p:nvSpPr>
        <p:spPr bwMode="auto">
          <a:xfrm>
            <a:off x="4652963" y="3881438"/>
            <a:ext cx="639762" cy="519112"/>
          </a:xfrm>
          <a:prstGeom prst="rect">
            <a:avLst/>
          </a:prstGeom>
          <a:noFill/>
          <a:ln w="38100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>
            <a:spAutoFit/>
          </a:bodyPr>
          <a:lstStyle/>
          <a:p>
            <a:pPr eaLnBrk="0" hangingPunct="0">
              <a:defRPr/>
            </a:pPr>
            <a:r>
              <a:rPr kumimoji="1" lang="zh-CN" altLang="en-US" sz="2800" b="1">
                <a:solidFill>
                  <a:srgbClr val="0000FF"/>
                </a:solidFill>
                <a:latin typeface="Times New Roman" pitchFamily="18" charset="0"/>
              </a:rPr>
              <a:t>Ｔ</a:t>
            </a:r>
            <a:r>
              <a:rPr kumimoji="1" lang="en-US" altLang="zh-CN" sz="2800" b="1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'</a:t>
            </a:r>
            <a:endParaRPr kumimoji="1" lang="zh-CN" altLang="en-US" sz="2800" b="1">
              <a:solidFill>
                <a:srgbClr val="0000FF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cxnSp>
        <p:nvCxnSpPr>
          <p:cNvPr id="305176" name="AutoShape 24"/>
          <p:cNvCxnSpPr>
            <a:cxnSpLocks noChangeShapeType="1"/>
            <a:stCxn id="305164" idx="2"/>
            <a:endCxn id="305174" idx="0"/>
          </p:cNvCxnSpPr>
          <p:nvPr/>
        </p:nvCxnSpPr>
        <p:spPr bwMode="auto">
          <a:xfrm flipH="1">
            <a:off x="3781425" y="3244850"/>
            <a:ext cx="685800" cy="623888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05177" name="AutoShape 25"/>
          <p:cNvCxnSpPr>
            <a:cxnSpLocks noChangeShapeType="1"/>
            <a:stCxn id="305164" idx="2"/>
            <a:endCxn id="305175" idx="0"/>
          </p:cNvCxnSpPr>
          <p:nvPr/>
        </p:nvCxnSpPr>
        <p:spPr bwMode="auto">
          <a:xfrm>
            <a:off x="4467225" y="3244850"/>
            <a:ext cx="506413" cy="636588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05178" name="Text Box 26"/>
          <p:cNvSpPr txBox="1">
            <a:spLocks noChangeArrowheads="1"/>
          </p:cNvSpPr>
          <p:nvPr/>
        </p:nvSpPr>
        <p:spPr bwMode="auto">
          <a:xfrm>
            <a:off x="3082925" y="4951413"/>
            <a:ext cx="48101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r>
              <a:rPr kumimoji="1" lang="en-US" altLang="zh-CN" sz="2800" b="1">
                <a:solidFill>
                  <a:srgbClr val="0000FF"/>
                </a:solidFill>
                <a:latin typeface="Times New Roman" pitchFamily="18" charset="0"/>
              </a:rPr>
              <a:t>id</a:t>
            </a:r>
          </a:p>
        </p:txBody>
      </p:sp>
      <p:cxnSp>
        <p:nvCxnSpPr>
          <p:cNvPr id="305179" name="AutoShape 27"/>
          <p:cNvCxnSpPr>
            <a:cxnSpLocks noChangeShapeType="1"/>
            <a:stCxn id="305174" idx="2"/>
            <a:endCxn id="305178" idx="0"/>
          </p:cNvCxnSpPr>
          <p:nvPr/>
        </p:nvCxnSpPr>
        <p:spPr bwMode="auto">
          <a:xfrm flipH="1">
            <a:off x="3324225" y="4387850"/>
            <a:ext cx="457200" cy="563563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05180" name="Text Box 28"/>
          <p:cNvSpPr txBox="1">
            <a:spLocks noChangeArrowheads="1"/>
          </p:cNvSpPr>
          <p:nvPr/>
        </p:nvSpPr>
        <p:spPr bwMode="auto">
          <a:xfrm>
            <a:off x="5414963" y="3868738"/>
            <a:ext cx="54133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r>
              <a:rPr kumimoji="1" lang="en-US" altLang="zh-CN" sz="2800" b="1">
                <a:solidFill>
                  <a:srgbClr val="0000FF"/>
                </a:solidFill>
                <a:latin typeface="宋体" pitchFamily="2" charset="-122"/>
              </a:rPr>
              <a:t>ε</a:t>
            </a:r>
          </a:p>
        </p:txBody>
      </p:sp>
      <p:cxnSp>
        <p:nvCxnSpPr>
          <p:cNvPr id="305181" name="AutoShape 29"/>
          <p:cNvCxnSpPr>
            <a:cxnSpLocks noChangeShapeType="1"/>
            <a:stCxn id="305166" idx="2"/>
            <a:endCxn id="305180" idx="0"/>
          </p:cNvCxnSpPr>
          <p:nvPr/>
        </p:nvCxnSpPr>
        <p:spPr bwMode="auto">
          <a:xfrm>
            <a:off x="5354638" y="3257550"/>
            <a:ext cx="331787" cy="611188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05182" name="Text Box 30"/>
          <p:cNvSpPr txBox="1">
            <a:spLocks noChangeArrowheads="1"/>
          </p:cNvSpPr>
          <p:nvPr/>
        </p:nvSpPr>
        <p:spPr bwMode="auto">
          <a:xfrm>
            <a:off x="4500563" y="5024438"/>
            <a:ext cx="609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r>
              <a:rPr kumimoji="1" lang="zh-CN" altLang="en-US" sz="2800" b="1">
                <a:solidFill>
                  <a:srgbClr val="0000FF"/>
                </a:solidFill>
                <a:latin typeface="Times New Roman" pitchFamily="18" charset="0"/>
              </a:rPr>
              <a:t>Ｆ</a:t>
            </a:r>
          </a:p>
        </p:txBody>
      </p:sp>
      <p:sp>
        <p:nvSpPr>
          <p:cNvPr id="305183" name="Text Box 31"/>
          <p:cNvSpPr txBox="1">
            <a:spLocks noChangeArrowheads="1"/>
          </p:cNvSpPr>
          <p:nvPr/>
        </p:nvSpPr>
        <p:spPr bwMode="auto">
          <a:xfrm>
            <a:off x="3814763" y="4948238"/>
            <a:ext cx="54133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r>
              <a:rPr kumimoji="1" lang="zh-CN" altLang="en-US" sz="2800" b="1">
                <a:solidFill>
                  <a:srgbClr val="0000FF"/>
                </a:solidFill>
                <a:latin typeface="Times New Roman" pitchFamily="18" charset="0"/>
              </a:rPr>
              <a:t>＊</a:t>
            </a:r>
          </a:p>
        </p:txBody>
      </p:sp>
      <p:sp>
        <p:nvSpPr>
          <p:cNvPr id="305184" name="Text Box 32"/>
          <p:cNvSpPr txBox="1">
            <a:spLocks noChangeArrowheads="1"/>
          </p:cNvSpPr>
          <p:nvPr/>
        </p:nvSpPr>
        <p:spPr bwMode="auto">
          <a:xfrm>
            <a:off x="5186363" y="5037138"/>
            <a:ext cx="639762" cy="519112"/>
          </a:xfrm>
          <a:prstGeom prst="rect">
            <a:avLst/>
          </a:prstGeom>
          <a:noFill/>
          <a:ln w="38100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>
            <a:spAutoFit/>
          </a:bodyPr>
          <a:lstStyle/>
          <a:p>
            <a:pPr eaLnBrk="0" hangingPunct="0">
              <a:defRPr/>
            </a:pPr>
            <a:r>
              <a:rPr kumimoji="1" lang="zh-CN" altLang="en-US" sz="2800" b="1">
                <a:solidFill>
                  <a:srgbClr val="0000FF"/>
                </a:solidFill>
                <a:latin typeface="Times New Roman" pitchFamily="18" charset="0"/>
              </a:rPr>
              <a:t>Ｔ</a:t>
            </a:r>
            <a:r>
              <a:rPr kumimoji="1" lang="en-US" altLang="zh-CN" sz="2800" b="1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'</a:t>
            </a:r>
            <a:endParaRPr kumimoji="1" lang="zh-CN" altLang="en-US" sz="2800" b="1">
              <a:solidFill>
                <a:srgbClr val="0000FF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cxnSp>
        <p:nvCxnSpPr>
          <p:cNvPr id="305185" name="AutoShape 33"/>
          <p:cNvCxnSpPr>
            <a:cxnSpLocks noChangeShapeType="1"/>
            <a:stCxn id="305183" idx="0"/>
            <a:endCxn id="305175" idx="2"/>
          </p:cNvCxnSpPr>
          <p:nvPr/>
        </p:nvCxnSpPr>
        <p:spPr bwMode="auto">
          <a:xfrm flipV="1">
            <a:off x="4086225" y="4400550"/>
            <a:ext cx="887413" cy="547688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05186" name="AutoShape 34"/>
          <p:cNvCxnSpPr>
            <a:cxnSpLocks noChangeShapeType="1"/>
            <a:stCxn id="305175" idx="2"/>
            <a:endCxn id="305182" idx="0"/>
          </p:cNvCxnSpPr>
          <p:nvPr/>
        </p:nvCxnSpPr>
        <p:spPr bwMode="auto">
          <a:xfrm flipH="1">
            <a:off x="4805363" y="4400550"/>
            <a:ext cx="168275" cy="623888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05187" name="AutoShape 35"/>
          <p:cNvCxnSpPr>
            <a:cxnSpLocks noChangeShapeType="1"/>
            <a:stCxn id="305175" idx="2"/>
            <a:endCxn id="305184" idx="0"/>
          </p:cNvCxnSpPr>
          <p:nvPr/>
        </p:nvCxnSpPr>
        <p:spPr bwMode="auto">
          <a:xfrm>
            <a:off x="4973638" y="4400550"/>
            <a:ext cx="533400" cy="636588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05188" name="Text Box 36"/>
          <p:cNvSpPr txBox="1">
            <a:spLocks noChangeArrowheads="1"/>
          </p:cNvSpPr>
          <p:nvPr/>
        </p:nvSpPr>
        <p:spPr bwMode="auto">
          <a:xfrm>
            <a:off x="4500563" y="5895975"/>
            <a:ext cx="48101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r>
              <a:rPr kumimoji="1" lang="en-US" altLang="zh-CN" sz="2800" b="1">
                <a:solidFill>
                  <a:srgbClr val="0000FF"/>
                </a:solidFill>
                <a:latin typeface="Times New Roman" pitchFamily="18" charset="0"/>
              </a:rPr>
              <a:t>id</a:t>
            </a:r>
          </a:p>
        </p:txBody>
      </p:sp>
      <p:cxnSp>
        <p:nvCxnSpPr>
          <p:cNvPr id="305189" name="AutoShape 37"/>
          <p:cNvCxnSpPr>
            <a:cxnSpLocks noChangeShapeType="1"/>
            <a:stCxn id="305182" idx="2"/>
            <a:endCxn id="305188" idx="0"/>
          </p:cNvCxnSpPr>
          <p:nvPr/>
        </p:nvCxnSpPr>
        <p:spPr bwMode="auto">
          <a:xfrm flipH="1">
            <a:off x="4741863" y="5543550"/>
            <a:ext cx="63500" cy="352425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05190" name="Text Box 38"/>
          <p:cNvSpPr txBox="1">
            <a:spLocks noChangeArrowheads="1"/>
          </p:cNvSpPr>
          <p:nvPr/>
        </p:nvSpPr>
        <p:spPr bwMode="auto">
          <a:xfrm>
            <a:off x="5292725" y="5878513"/>
            <a:ext cx="53498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r>
              <a:rPr kumimoji="1" lang="en-US" altLang="zh-CN" sz="2800" b="1">
                <a:solidFill>
                  <a:srgbClr val="0000FF"/>
                </a:solidFill>
                <a:latin typeface="宋体" pitchFamily="2" charset="-122"/>
              </a:rPr>
              <a:t>ε</a:t>
            </a:r>
          </a:p>
        </p:txBody>
      </p:sp>
      <p:cxnSp>
        <p:nvCxnSpPr>
          <p:cNvPr id="305191" name="AutoShape 39"/>
          <p:cNvCxnSpPr>
            <a:cxnSpLocks noChangeShapeType="1"/>
          </p:cNvCxnSpPr>
          <p:nvPr/>
        </p:nvCxnSpPr>
        <p:spPr bwMode="auto">
          <a:xfrm>
            <a:off x="5508625" y="5445125"/>
            <a:ext cx="46038" cy="395288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05192" name="Rectangle 40"/>
          <p:cNvSpPr>
            <a:spLocks noChangeArrowheads="1"/>
          </p:cNvSpPr>
          <p:nvPr/>
        </p:nvSpPr>
        <p:spPr bwMode="auto">
          <a:xfrm>
            <a:off x="6688138" y="1524000"/>
            <a:ext cx="19812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 anchor="ctr"/>
          <a:lstStyle/>
          <a:p>
            <a:pPr eaLnBrk="0" hangingPunct="0">
              <a:defRPr/>
            </a:pPr>
            <a:r>
              <a:rPr kumimoji="1" lang="zh-CN" altLang="en-US" sz="2800" b="1">
                <a:latin typeface="Times New Roman" pitchFamily="18" charset="0"/>
              </a:rPr>
              <a:t>1</a:t>
            </a:r>
            <a:r>
              <a:rPr kumimoji="1" lang="en-US" altLang="zh-CN" sz="2800" b="1">
                <a:latin typeface="Times New Roman" pitchFamily="18" charset="0"/>
              </a:rPr>
              <a:t>. E→TE</a:t>
            </a:r>
            <a:r>
              <a:rPr kumimoji="1" lang="en-US" altLang="zh-CN" sz="2800" b="1">
                <a:effectLst>
                  <a:outerShdw blurRad="38100" dist="38100" dir="2700000" algn="tl">
                    <a:srgbClr val="C0C0C0"/>
                  </a:outerShdw>
                </a:effectLst>
              </a:rPr>
              <a:t>'</a:t>
            </a:r>
          </a:p>
        </p:txBody>
      </p:sp>
      <p:sp>
        <p:nvSpPr>
          <p:cNvPr id="305193" name="Rectangle 41"/>
          <p:cNvSpPr>
            <a:spLocks noChangeArrowheads="1"/>
          </p:cNvSpPr>
          <p:nvPr/>
        </p:nvSpPr>
        <p:spPr bwMode="auto">
          <a:xfrm>
            <a:off x="6688138" y="1905000"/>
            <a:ext cx="19812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 anchor="ctr"/>
          <a:lstStyle/>
          <a:p>
            <a:pPr eaLnBrk="0" hangingPunct="0">
              <a:defRPr/>
            </a:pPr>
            <a:r>
              <a:rPr kumimoji="1" lang="zh-CN" altLang="en-US" sz="2800" b="1">
                <a:latin typeface="Times New Roman" pitchFamily="18" charset="0"/>
              </a:rPr>
              <a:t>2</a:t>
            </a:r>
            <a:r>
              <a:rPr kumimoji="1" lang="en-US" altLang="zh-CN" sz="2800" b="1">
                <a:latin typeface="Times New Roman" pitchFamily="18" charset="0"/>
              </a:rPr>
              <a:t>. T→FT</a:t>
            </a:r>
            <a:r>
              <a:rPr kumimoji="1" lang="en-US" altLang="zh-CN" sz="2800" b="1">
                <a:effectLst>
                  <a:outerShdw blurRad="38100" dist="38100" dir="2700000" algn="tl">
                    <a:srgbClr val="C0C0C0"/>
                  </a:outerShdw>
                </a:effectLst>
              </a:rPr>
              <a:t>'</a:t>
            </a:r>
          </a:p>
        </p:txBody>
      </p:sp>
      <p:sp>
        <p:nvSpPr>
          <p:cNvPr id="305194" name="Rectangle 42"/>
          <p:cNvSpPr>
            <a:spLocks noChangeArrowheads="1"/>
          </p:cNvSpPr>
          <p:nvPr/>
        </p:nvSpPr>
        <p:spPr bwMode="auto">
          <a:xfrm>
            <a:off x="6688138" y="2362200"/>
            <a:ext cx="19812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 anchor="ctr"/>
          <a:lstStyle/>
          <a:p>
            <a:pPr eaLnBrk="0" hangingPunct="0"/>
            <a:r>
              <a:rPr kumimoji="1" lang="zh-CN" altLang="en-US" sz="2800" b="1">
                <a:latin typeface="Times New Roman" pitchFamily="18" charset="0"/>
              </a:rPr>
              <a:t>3</a:t>
            </a:r>
            <a:r>
              <a:rPr kumimoji="1" lang="en-US" altLang="zh-CN" sz="2800" b="1">
                <a:latin typeface="Times New Roman" pitchFamily="18" charset="0"/>
              </a:rPr>
              <a:t>. F→id</a:t>
            </a:r>
          </a:p>
        </p:txBody>
      </p:sp>
      <p:sp>
        <p:nvSpPr>
          <p:cNvPr id="305195" name="Rectangle 43"/>
          <p:cNvSpPr>
            <a:spLocks noChangeArrowheads="1"/>
          </p:cNvSpPr>
          <p:nvPr/>
        </p:nvSpPr>
        <p:spPr bwMode="auto">
          <a:xfrm>
            <a:off x="6688138" y="2819400"/>
            <a:ext cx="19812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 anchor="ctr"/>
          <a:lstStyle/>
          <a:p>
            <a:pPr eaLnBrk="0" hangingPunct="0">
              <a:defRPr/>
            </a:pPr>
            <a:r>
              <a:rPr kumimoji="1" lang="zh-CN" altLang="en-US" sz="2800" b="1">
                <a:latin typeface="Times New Roman" pitchFamily="18" charset="0"/>
              </a:rPr>
              <a:t>4</a:t>
            </a:r>
            <a:r>
              <a:rPr kumimoji="1" lang="en-US" altLang="zh-CN" sz="2800" b="1">
                <a:latin typeface="Times New Roman" pitchFamily="18" charset="0"/>
              </a:rPr>
              <a:t>. T</a:t>
            </a:r>
            <a:r>
              <a:rPr kumimoji="1" lang="en-US" altLang="zh-CN" sz="2800" b="1">
                <a:effectLst>
                  <a:outerShdw blurRad="38100" dist="38100" dir="2700000" algn="tl">
                    <a:srgbClr val="C0C0C0"/>
                  </a:outerShdw>
                </a:effectLst>
              </a:rPr>
              <a:t>'</a:t>
            </a:r>
            <a:r>
              <a:rPr kumimoji="1" lang="en-US" altLang="zh-CN" sz="2800" b="1">
                <a:latin typeface="Times New Roman" pitchFamily="18" charset="0"/>
              </a:rPr>
              <a:t>→ε</a:t>
            </a:r>
          </a:p>
        </p:txBody>
      </p:sp>
      <p:sp>
        <p:nvSpPr>
          <p:cNvPr id="305196" name="Rectangle 44"/>
          <p:cNvSpPr>
            <a:spLocks noChangeArrowheads="1"/>
          </p:cNvSpPr>
          <p:nvPr/>
        </p:nvSpPr>
        <p:spPr bwMode="auto">
          <a:xfrm>
            <a:off x="6688138" y="3276600"/>
            <a:ext cx="21336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 anchor="ctr"/>
          <a:lstStyle/>
          <a:p>
            <a:pPr eaLnBrk="0" hangingPunct="0">
              <a:defRPr/>
            </a:pPr>
            <a:r>
              <a:rPr kumimoji="1" lang="zh-CN" altLang="en-US" sz="2800" b="1">
                <a:latin typeface="Times New Roman" pitchFamily="18" charset="0"/>
              </a:rPr>
              <a:t>5</a:t>
            </a:r>
            <a:r>
              <a:rPr kumimoji="1" lang="en-US" altLang="zh-CN" sz="2800" b="1">
                <a:latin typeface="Times New Roman" pitchFamily="18" charset="0"/>
              </a:rPr>
              <a:t>. E</a:t>
            </a:r>
            <a:r>
              <a:rPr kumimoji="1" lang="en-US" altLang="zh-CN" sz="2800" b="1">
                <a:effectLst>
                  <a:outerShdw blurRad="38100" dist="38100" dir="2700000" algn="tl">
                    <a:srgbClr val="C0C0C0"/>
                  </a:outerShdw>
                </a:effectLst>
              </a:rPr>
              <a:t>'</a:t>
            </a:r>
            <a:r>
              <a:rPr kumimoji="1" lang="en-US" altLang="zh-CN" sz="2800" b="1">
                <a:latin typeface="Times New Roman" pitchFamily="18" charset="0"/>
              </a:rPr>
              <a:t>→+TE</a:t>
            </a:r>
            <a:r>
              <a:rPr kumimoji="1" lang="en-US" altLang="zh-CN" sz="2800" b="1">
                <a:effectLst>
                  <a:outerShdw blurRad="38100" dist="38100" dir="2700000" algn="tl">
                    <a:srgbClr val="C0C0C0"/>
                  </a:outerShdw>
                </a:effectLst>
              </a:rPr>
              <a:t>'</a:t>
            </a:r>
          </a:p>
        </p:txBody>
      </p:sp>
      <p:sp>
        <p:nvSpPr>
          <p:cNvPr id="305197" name="Rectangle 45"/>
          <p:cNvSpPr>
            <a:spLocks noChangeArrowheads="1"/>
          </p:cNvSpPr>
          <p:nvPr/>
        </p:nvSpPr>
        <p:spPr bwMode="auto">
          <a:xfrm>
            <a:off x="6688138" y="3733800"/>
            <a:ext cx="19812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 anchor="ctr"/>
          <a:lstStyle/>
          <a:p>
            <a:pPr eaLnBrk="0" hangingPunct="0">
              <a:defRPr/>
            </a:pPr>
            <a:r>
              <a:rPr kumimoji="1" lang="zh-CN" altLang="en-US" sz="2800" b="1">
                <a:latin typeface="Times New Roman" pitchFamily="18" charset="0"/>
              </a:rPr>
              <a:t>6</a:t>
            </a:r>
            <a:r>
              <a:rPr kumimoji="1" lang="en-US" altLang="zh-CN" sz="2800" b="1">
                <a:latin typeface="Times New Roman" pitchFamily="18" charset="0"/>
              </a:rPr>
              <a:t>. T→FT</a:t>
            </a:r>
            <a:r>
              <a:rPr kumimoji="1" lang="en-US" altLang="zh-CN" sz="2800" b="1">
                <a:effectLst>
                  <a:outerShdw blurRad="38100" dist="38100" dir="2700000" algn="tl">
                    <a:srgbClr val="C0C0C0"/>
                  </a:outerShdw>
                </a:effectLst>
              </a:rPr>
              <a:t>'</a:t>
            </a:r>
          </a:p>
        </p:txBody>
      </p:sp>
      <p:sp>
        <p:nvSpPr>
          <p:cNvPr id="305198" name="Rectangle 46"/>
          <p:cNvSpPr>
            <a:spLocks noChangeArrowheads="1"/>
          </p:cNvSpPr>
          <p:nvPr/>
        </p:nvSpPr>
        <p:spPr bwMode="auto">
          <a:xfrm>
            <a:off x="6688138" y="4191000"/>
            <a:ext cx="19812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 anchor="ctr"/>
          <a:lstStyle/>
          <a:p>
            <a:pPr eaLnBrk="0" hangingPunct="0"/>
            <a:r>
              <a:rPr kumimoji="1" lang="zh-CN" altLang="en-US" sz="2800" b="1">
                <a:latin typeface="Times New Roman" pitchFamily="18" charset="0"/>
              </a:rPr>
              <a:t>7</a:t>
            </a:r>
            <a:r>
              <a:rPr kumimoji="1" lang="en-US" altLang="zh-CN" sz="2800" b="1">
                <a:latin typeface="Times New Roman" pitchFamily="18" charset="0"/>
              </a:rPr>
              <a:t>. F→id</a:t>
            </a:r>
          </a:p>
        </p:txBody>
      </p:sp>
      <p:sp>
        <p:nvSpPr>
          <p:cNvPr id="305199" name="Rectangle 47"/>
          <p:cNvSpPr>
            <a:spLocks noChangeArrowheads="1"/>
          </p:cNvSpPr>
          <p:nvPr/>
        </p:nvSpPr>
        <p:spPr bwMode="auto">
          <a:xfrm>
            <a:off x="6688138" y="4648200"/>
            <a:ext cx="21336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 anchor="ctr"/>
          <a:lstStyle/>
          <a:p>
            <a:pPr eaLnBrk="0" hangingPunct="0">
              <a:defRPr/>
            </a:pPr>
            <a:r>
              <a:rPr kumimoji="1" lang="zh-CN" altLang="en-US" sz="2800" b="1">
                <a:latin typeface="Times New Roman" pitchFamily="18" charset="0"/>
              </a:rPr>
              <a:t>8</a:t>
            </a:r>
            <a:r>
              <a:rPr kumimoji="1" lang="en-US" altLang="zh-CN" sz="2800" b="1">
                <a:latin typeface="Times New Roman" pitchFamily="18" charset="0"/>
              </a:rPr>
              <a:t>. T</a:t>
            </a:r>
            <a:r>
              <a:rPr kumimoji="1" lang="en-US" altLang="zh-CN" sz="2800" b="1">
                <a:effectLst>
                  <a:outerShdw blurRad="38100" dist="38100" dir="2700000" algn="tl">
                    <a:srgbClr val="C0C0C0"/>
                  </a:outerShdw>
                </a:effectLst>
              </a:rPr>
              <a:t>'</a:t>
            </a:r>
            <a:r>
              <a:rPr kumimoji="1" lang="en-US" altLang="zh-CN" sz="2800" b="1">
                <a:latin typeface="Times New Roman" pitchFamily="18" charset="0"/>
              </a:rPr>
              <a:t>→*FT</a:t>
            </a:r>
            <a:r>
              <a:rPr kumimoji="1" lang="en-US" altLang="zh-CN" sz="2800" b="1">
                <a:effectLst>
                  <a:outerShdw blurRad="38100" dist="38100" dir="2700000" algn="tl">
                    <a:srgbClr val="C0C0C0"/>
                  </a:outerShdw>
                </a:effectLst>
              </a:rPr>
              <a:t>'</a:t>
            </a:r>
          </a:p>
        </p:txBody>
      </p:sp>
      <p:sp>
        <p:nvSpPr>
          <p:cNvPr id="305200" name="Rectangle 48"/>
          <p:cNvSpPr>
            <a:spLocks noChangeArrowheads="1"/>
          </p:cNvSpPr>
          <p:nvPr/>
        </p:nvSpPr>
        <p:spPr bwMode="auto">
          <a:xfrm>
            <a:off x="6688138" y="5105400"/>
            <a:ext cx="19812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 anchor="ctr"/>
          <a:lstStyle/>
          <a:p>
            <a:pPr eaLnBrk="0" hangingPunct="0"/>
            <a:r>
              <a:rPr kumimoji="1" lang="zh-CN" altLang="en-US" sz="2800" b="1">
                <a:latin typeface="Times New Roman" pitchFamily="18" charset="0"/>
              </a:rPr>
              <a:t>9</a:t>
            </a:r>
            <a:r>
              <a:rPr kumimoji="1" lang="en-US" altLang="zh-CN" sz="2800" b="1">
                <a:latin typeface="Times New Roman" pitchFamily="18" charset="0"/>
              </a:rPr>
              <a:t>.</a:t>
            </a:r>
            <a:r>
              <a:rPr kumimoji="1" lang="en-US" altLang="zh-CN" sz="2800">
                <a:latin typeface="Times New Roman" pitchFamily="18" charset="0"/>
              </a:rPr>
              <a:t>  </a:t>
            </a:r>
            <a:r>
              <a:rPr kumimoji="1" lang="en-US" altLang="zh-CN" sz="2800" b="1">
                <a:latin typeface="Times New Roman" pitchFamily="18" charset="0"/>
              </a:rPr>
              <a:t>F→id</a:t>
            </a:r>
          </a:p>
        </p:txBody>
      </p:sp>
      <p:sp>
        <p:nvSpPr>
          <p:cNvPr id="305201" name="Rectangle 49"/>
          <p:cNvSpPr>
            <a:spLocks noChangeArrowheads="1"/>
          </p:cNvSpPr>
          <p:nvPr/>
        </p:nvSpPr>
        <p:spPr bwMode="auto">
          <a:xfrm>
            <a:off x="6611938" y="5562600"/>
            <a:ext cx="24384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 anchor="ctr"/>
          <a:lstStyle/>
          <a:p>
            <a:pPr eaLnBrk="0" hangingPunct="0">
              <a:defRPr/>
            </a:pPr>
            <a:r>
              <a:rPr kumimoji="1" lang="zh-CN" altLang="en-US" sz="2800" b="1">
                <a:latin typeface="宋体" pitchFamily="2" charset="-122"/>
              </a:rPr>
              <a:t>10</a:t>
            </a:r>
            <a:r>
              <a:rPr kumimoji="1" lang="en-US" altLang="zh-CN" sz="2800" b="1">
                <a:latin typeface="宋体" pitchFamily="2" charset="-122"/>
              </a:rPr>
              <a:t>.T</a:t>
            </a:r>
            <a:r>
              <a:rPr kumimoji="1" lang="en-US" altLang="zh-CN" sz="2800" b="1">
                <a:effectLst>
                  <a:outerShdw blurRad="38100" dist="38100" dir="2700000" algn="tl">
                    <a:srgbClr val="C0C0C0"/>
                  </a:outerShdw>
                </a:effectLst>
              </a:rPr>
              <a:t>'</a:t>
            </a:r>
            <a:r>
              <a:rPr kumimoji="1" lang="en-US" altLang="zh-CN" sz="2800" b="1">
                <a:latin typeface="宋体" pitchFamily="2" charset="-122"/>
              </a:rPr>
              <a:t>→ε</a:t>
            </a:r>
          </a:p>
        </p:txBody>
      </p:sp>
      <p:sp>
        <p:nvSpPr>
          <p:cNvPr id="305202" name="Rectangle 50"/>
          <p:cNvSpPr>
            <a:spLocks noChangeArrowheads="1"/>
          </p:cNvSpPr>
          <p:nvPr/>
        </p:nvSpPr>
        <p:spPr bwMode="auto">
          <a:xfrm>
            <a:off x="6611938" y="6019800"/>
            <a:ext cx="23622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 anchor="ctr"/>
          <a:lstStyle/>
          <a:p>
            <a:pPr eaLnBrk="0" hangingPunct="0">
              <a:defRPr/>
            </a:pPr>
            <a:r>
              <a:rPr kumimoji="1" lang="zh-CN" altLang="en-US" sz="2800" b="1">
                <a:latin typeface="Times New Roman" pitchFamily="18" charset="0"/>
              </a:rPr>
              <a:t>11</a:t>
            </a:r>
            <a:r>
              <a:rPr kumimoji="1" lang="en-US" altLang="zh-CN" sz="2800" b="1">
                <a:latin typeface="Times New Roman" pitchFamily="18" charset="0"/>
              </a:rPr>
              <a:t>. E</a:t>
            </a:r>
            <a:r>
              <a:rPr kumimoji="1" lang="en-US" altLang="zh-CN" sz="2800" b="1">
                <a:effectLst>
                  <a:outerShdw blurRad="38100" dist="38100" dir="2700000" algn="tl">
                    <a:srgbClr val="C0C0C0"/>
                  </a:outerShdw>
                </a:effectLst>
              </a:rPr>
              <a:t>'</a:t>
            </a:r>
            <a:r>
              <a:rPr kumimoji="1" lang="en-US" altLang="zh-CN" sz="2800" b="1">
                <a:latin typeface="Times New Roman" pitchFamily="18" charset="0"/>
              </a:rPr>
              <a:t>→ε</a:t>
            </a:r>
          </a:p>
        </p:txBody>
      </p:sp>
      <p:sp>
        <p:nvSpPr>
          <p:cNvPr id="305204" name="Line 52"/>
          <p:cNvSpPr>
            <a:spLocks noChangeShapeType="1"/>
          </p:cNvSpPr>
          <p:nvPr/>
        </p:nvSpPr>
        <p:spPr bwMode="auto">
          <a:xfrm flipV="1">
            <a:off x="6732588" y="765175"/>
            <a:ext cx="0" cy="6477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05205" name="Line 53"/>
          <p:cNvSpPr>
            <a:spLocks noChangeShapeType="1"/>
          </p:cNvSpPr>
          <p:nvPr/>
        </p:nvSpPr>
        <p:spPr bwMode="auto">
          <a:xfrm flipV="1">
            <a:off x="7092950" y="765175"/>
            <a:ext cx="0" cy="6477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05206" name="Line 54"/>
          <p:cNvSpPr>
            <a:spLocks noChangeShapeType="1"/>
          </p:cNvSpPr>
          <p:nvPr/>
        </p:nvSpPr>
        <p:spPr bwMode="auto">
          <a:xfrm flipV="1">
            <a:off x="7453313" y="765175"/>
            <a:ext cx="0" cy="6477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05207" name="Line 55"/>
          <p:cNvSpPr>
            <a:spLocks noChangeShapeType="1"/>
          </p:cNvSpPr>
          <p:nvPr/>
        </p:nvSpPr>
        <p:spPr bwMode="auto">
          <a:xfrm flipV="1">
            <a:off x="7761288" y="765175"/>
            <a:ext cx="0" cy="6477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05208" name="Line 56"/>
          <p:cNvSpPr>
            <a:spLocks noChangeShapeType="1"/>
          </p:cNvSpPr>
          <p:nvPr/>
        </p:nvSpPr>
        <p:spPr bwMode="auto">
          <a:xfrm flipV="1">
            <a:off x="8101013" y="765175"/>
            <a:ext cx="0" cy="6477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05209" name="Line 57"/>
          <p:cNvSpPr>
            <a:spLocks noChangeShapeType="1"/>
          </p:cNvSpPr>
          <p:nvPr/>
        </p:nvSpPr>
        <p:spPr bwMode="auto">
          <a:xfrm flipV="1">
            <a:off x="8388350" y="765175"/>
            <a:ext cx="0" cy="6477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05210" name="Rectangle 58"/>
          <p:cNvSpPr>
            <a:spLocks noChangeArrowheads="1"/>
          </p:cNvSpPr>
          <p:nvPr/>
        </p:nvSpPr>
        <p:spPr bwMode="auto">
          <a:xfrm>
            <a:off x="8204200" y="392113"/>
            <a:ext cx="3619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2800" b="1">
                <a:solidFill>
                  <a:srgbClr val="0000CC"/>
                </a:solidFill>
                <a:latin typeface="Times New Roman" pitchFamily="18" charset="0"/>
                <a:ea typeface="华文新魏" pitchFamily="2" charset="-122"/>
              </a:rPr>
              <a:t>#</a:t>
            </a:r>
            <a:endParaRPr lang="zh-CN" altLang="en-US" sz="2800" b="1">
              <a:solidFill>
                <a:srgbClr val="0000CC"/>
              </a:solidFill>
              <a:latin typeface="Times New Roman" pitchFamily="18" charset="0"/>
              <a:ea typeface="华文新魏" pitchFamily="2" charset="-122"/>
            </a:endParaRPr>
          </a:p>
        </p:txBody>
      </p:sp>
      <p:sp>
        <p:nvSpPr>
          <p:cNvPr id="48187" name="Rectangle 59"/>
          <p:cNvSpPr>
            <a:spLocks noChangeArrowheads="1"/>
          </p:cNvSpPr>
          <p:nvPr/>
        </p:nvSpPr>
        <p:spPr bwMode="auto">
          <a:xfrm>
            <a:off x="0" y="0"/>
            <a:ext cx="577215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4000" b="1">
                <a:latin typeface="Times New Roman" pitchFamily="18" charset="0"/>
                <a:ea typeface="华文新魏" pitchFamily="2" charset="-122"/>
              </a:rPr>
              <a:t>最左推导与语法树的生成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title"/>
          </p:nvPr>
        </p:nvSpPr>
        <p:spPr>
          <a:xfrm>
            <a:off x="323850" y="0"/>
            <a:ext cx="6840538" cy="677863"/>
          </a:xfrm>
        </p:spPr>
        <p:txBody>
          <a:bodyPr/>
          <a:lstStyle/>
          <a:p>
            <a:pPr eaLnBrk="1" hangingPunct="1"/>
            <a:r>
              <a:rPr lang="en-US" altLang="zh-CN" sz="3600" b="1" smtClean="0">
                <a:solidFill>
                  <a:srgbClr val="000099"/>
                </a:solidFill>
                <a:latin typeface="Times New Roman" pitchFamily="18" charset="0"/>
                <a:ea typeface="华文新魏" pitchFamily="2" charset="-122"/>
              </a:rPr>
              <a:t>id + id * id #</a:t>
            </a:r>
            <a:r>
              <a:rPr lang="en-US" altLang="zh-CN" sz="2800" b="1" smtClean="0">
                <a:solidFill>
                  <a:schemeClr val="tx1"/>
                </a:solidFill>
                <a:latin typeface="Times New Roman" pitchFamily="18" charset="0"/>
                <a:ea typeface="华文新魏" pitchFamily="2" charset="-122"/>
              </a:rPr>
              <a:t>    </a:t>
            </a:r>
            <a:r>
              <a:rPr lang="zh-CN" altLang="en-US" sz="3600" b="1" smtClean="0">
                <a:solidFill>
                  <a:srgbClr val="000099"/>
                </a:solidFill>
                <a:latin typeface="Times New Roman" pitchFamily="18" charset="0"/>
                <a:ea typeface="华文新魏" pitchFamily="2" charset="-122"/>
              </a:rPr>
              <a:t>的最左推导再现</a:t>
            </a:r>
          </a:p>
        </p:txBody>
      </p:sp>
      <p:sp>
        <p:nvSpPr>
          <p:cNvPr id="306179" name="Rectangle 3"/>
          <p:cNvSpPr>
            <a:spLocks noGrp="1" noChangeArrowheads="1"/>
          </p:cNvSpPr>
          <p:nvPr>
            <p:ph idx="1"/>
          </p:nvPr>
        </p:nvSpPr>
        <p:spPr>
          <a:xfrm>
            <a:off x="323850" y="1196975"/>
            <a:ext cx="5445125" cy="52578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800" smtClean="0">
                <a:latin typeface="Times New Roman" pitchFamily="18" charset="0"/>
                <a:ea typeface="华文新魏" pitchFamily="2" charset="-122"/>
              </a:rPr>
              <a:t>E </a:t>
            </a:r>
            <a:r>
              <a:rPr lang="en-US" altLang="zh-CN" sz="2800" b="1" smtClean="0">
                <a:latin typeface="Times New Roman" pitchFamily="18" charset="0"/>
                <a:ea typeface="华文新魏" pitchFamily="2" charset="-122"/>
                <a:sym typeface="Symbol" pitchFamily="18" charset="2"/>
              </a:rPr>
              <a:t>TE'			E </a:t>
            </a: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→</a:t>
            </a:r>
            <a:r>
              <a:rPr lang="en-US" altLang="zh-CN" sz="2800" b="1" smtClean="0">
                <a:latin typeface="Times New Roman" pitchFamily="18" charset="0"/>
                <a:ea typeface="华文新魏" pitchFamily="2" charset="-122"/>
                <a:sym typeface="Symbol" pitchFamily="18" charset="2"/>
              </a:rPr>
              <a:t>TE'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800" b="1" smtClean="0">
                <a:latin typeface="Times New Roman" pitchFamily="18" charset="0"/>
                <a:ea typeface="华文新魏" pitchFamily="2" charset="-122"/>
                <a:sym typeface="Symbol" pitchFamily="18" charset="2"/>
              </a:rPr>
              <a:t>   FT'E'			T </a:t>
            </a: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→</a:t>
            </a:r>
            <a:r>
              <a:rPr lang="en-US" altLang="zh-CN" sz="2800" b="1" smtClean="0">
                <a:latin typeface="Times New Roman" pitchFamily="18" charset="0"/>
                <a:ea typeface="华文新魏" pitchFamily="2" charset="-122"/>
                <a:sym typeface="Symbol" pitchFamily="18" charset="2"/>
              </a:rPr>
              <a:t>FT'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800" b="1" smtClean="0">
                <a:latin typeface="Times New Roman" pitchFamily="18" charset="0"/>
                <a:ea typeface="华文新魏" pitchFamily="2" charset="-122"/>
                <a:sym typeface="Symbol" pitchFamily="18" charset="2"/>
              </a:rPr>
              <a:t>	idT'E'			F </a:t>
            </a: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→</a:t>
            </a:r>
            <a:r>
              <a:rPr lang="en-US" altLang="zh-CN" sz="2800" b="1" smtClean="0">
                <a:latin typeface="Times New Roman" pitchFamily="18" charset="0"/>
                <a:ea typeface="华文新魏" pitchFamily="2" charset="-122"/>
                <a:sym typeface="Symbol" pitchFamily="18" charset="2"/>
              </a:rPr>
              <a:t>id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800" b="1" smtClean="0">
                <a:latin typeface="Times New Roman" pitchFamily="18" charset="0"/>
                <a:ea typeface="华文新魏" pitchFamily="2" charset="-122"/>
                <a:sym typeface="Symbol" pitchFamily="18" charset="2"/>
              </a:rPr>
              <a:t>   idE'			T'</a:t>
            </a: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→ε</a:t>
            </a:r>
            <a:endParaRPr lang="en-US" altLang="zh-CN" sz="2800" b="1" smtClean="0">
              <a:latin typeface="Times New Roman" pitchFamily="18" charset="0"/>
              <a:ea typeface="华文新魏" pitchFamily="2" charset="-122"/>
              <a:sym typeface="Symbol" pitchFamily="18" charset="2"/>
            </a:endParaRP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800" b="1" smtClean="0">
                <a:latin typeface="Times New Roman" pitchFamily="18" charset="0"/>
                <a:ea typeface="华文新魏" pitchFamily="2" charset="-122"/>
                <a:sym typeface="Symbol" pitchFamily="18" charset="2"/>
              </a:rPr>
              <a:t>   id+TE'			E'</a:t>
            </a: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→</a:t>
            </a:r>
            <a:r>
              <a:rPr lang="en-US" altLang="zh-CN" sz="2800" b="1" smtClean="0">
                <a:latin typeface="Times New Roman" pitchFamily="18" charset="0"/>
                <a:ea typeface="华文新魏" pitchFamily="2" charset="-122"/>
                <a:sym typeface="Symbol" pitchFamily="18" charset="2"/>
              </a:rPr>
              <a:t>+TE'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800" b="1" smtClean="0">
                <a:latin typeface="Times New Roman" pitchFamily="18" charset="0"/>
                <a:ea typeface="华文新魏" pitchFamily="2" charset="-122"/>
                <a:sym typeface="Symbol" pitchFamily="18" charset="2"/>
              </a:rPr>
              <a:t>   id+FT'E'		T </a:t>
            </a: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→</a:t>
            </a:r>
            <a:r>
              <a:rPr lang="en-US" altLang="zh-CN" sz="2800" b="1" smtClean="0">
                <a:latin typeface="Times New Roman" pitchFamily="18" charset="0"/>
                <a:ea typeface="华文新魏" pitchFamily="2" charset="-122"/>
                <a:sym typeface="Symbol" pitchFamily="18" charset="2"/>
              </a:rPr>
              <a:t>FT'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800" b="1" smtClean="0">
                <a:latin typeface="Times New Roman" pitchFamily="18" charset="0"/>
                <a:ea typeface="华文新魏" pitchFamily="2" charset="-122"/>
                <a:sym typeface="Symbol" pitchFamily="18" charset="2"/>
              </a:rPr>
              <a:t>   id+idT'E'		F </a:t>
            </a: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→</a:t>
            </a:r>
            <a:r>
              <a:rPr lang="en-US" altLang="zh-CN" sz="2800" b="1" smtClean="0">
                <a:latin typeface="Times New Roman" pitchFamily="18" charset="0"/>
                <a:ea typeface="华文新魏" pitchFamily="2" charset="-122"/>
                <a:sym typeface="Symbol" pitchFamily="18" charset="2"/>
              </a:rPr>
              <a:t>id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800" b="1" smtClean="0">
                <a:latin typeface="Times New Roman" pitchFamily="18" charset="0"/>
                <a:ea typeface="华文新魏" pitchFamily="2" charset="-122"/>
                <a:sym typeface="Symbol" pitchFamily="18" charset="2"/>
              </a:rPr>
              <a:t>   id+id*FT'E'		T'</a:t>
            </a: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→*FT'</a:t>
            </a:r>
            <a:endParaRPr lang="en-US" altLang="zh-CN" sz="2800" b="1" smtClean="0">
              <a:latin typeface="Times New Roman" pitchFamily="18" charset="0"/>
              <a:ea typeface="华文新魏" pitchFamily="2" charset="-122"/>
              <a:sym typeface="Symbol" pitchFamily="18" charset="2"/>
            </a:endParaRP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800" b="1" smtClean="0">
                <a:latin typeface="Times New Roman" pitchFamily="18" charset="0"/>
                <a:ea typeface="华文新魏" pitchFamily="2" charset="-122"/>
                <a:sym typeface="Symbol" pitchFamily="18" charset="2"/>
              </a:rPr>
              <a:t>   id+id*idT'E'		F </a:t>
            </a: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→</a:t>
            </a:r>
            <a:r>
              <a:rPr lang="en-US" altLang="zh-CN" sz="2800" b="1" smtClean="0">
                <a:latin typeface="Times New Roman" pitchFamily="18" charset="0"/>
                <a:ea typeface="华文新魏" pitchFamily="2" charset="-122"/>
                <a:sym typeface="Symbol" pitchFamily="18" charset="2"/>
              </a:rPr>
              <a:t>id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800" b="1" smtClean="0">
                <a:latin typeface="Times New Roman" pitchFamily="18" charset="0"/>
                <a:ea typeface="华文新魏" pitchFamily="2" charset="-122"/>
                <a:sym typeface="Symbol" pitchFamily="18" charset="2"/>
              </a:rPr>
              <a:t>   id+id*idE'		T'</a:t>
            </a: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→ε</a:t>
            </a:r>
            <a:endParaRPr lang="en-US" altLang="zh-CN" sz="2800" b="1" smtClean="0">
              <a:latin typeface="Times New Roman" pitchFamily="18" charset="0"/>
              <a:ea typeface="华文新魏" pitchFamily="2" charset="-122"/>
              <a:sym typeface="Symbol" pitchFamily="18" charset="2"/>
            </a:endParaRP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800" b="1" smtClean="0">
                <a:latin typeface="Times New Roman" pitchFamily="18" charset="0"/>
                <a:ea typeface="华文新魏" pitchFamily="2" charset="-122"/>
                <a:sym typeface="Symbol" pitchFamily="18" charset="2"/>
              </a:rPr>
              <a:t>   id+id*id 		E'</a:t>
            </a: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→ε</a:t>
            </a:r>
          </a:p>
        </p:txBody>
      </p:sp>
      <p:sp>
        <p:nvSpPr>
          <p:cNvPr id="306180" name="Rectangle 4"/>
          <p:cNvSpPr>
            <a:spLocks noChangeArrowheads="1"/>
          </p:cNvSpPr>
          <p:nvPr/>
        </p:nvSpPr>
        <p:spPr bwMode="auto">
          <a:xfrm>
            <a:off x="6011863" y="1412875"/>
            <a:ext cx="2916237" cy="2520950"/>
          </a:xfrm>
          <a:prstGeom prst="rect">
            <a:avLst/>
          </a:prstGeom>
          <a:solidFill>
            <a:srgbClr val="00666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/>
          <a:p>
            <a: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en-US" altLang="zh-CN" sz="2800" b="1">
                <a:solidFill>
                  <a:schemeClr val="bg1"/>
                </a:solidFill>
                <a:latin typeface="Times New Roman" pitchFamily="18" charset="0"/>
              </a:rPr>
              <a:t>E → T E'        </a:t>
            </a:r>
          </a:p>
          <a:p>
            <a: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en-US" altLang="zh-CN" sz="2800" b="1">
                <a:solidFill>
                  <a:schemeClr val="bg1"/>
                </a:solidFill>
                <a:latin typeface="Times New Roman" pitchFamily="18" charset="0"/>
              </a:rPr>
              <a:t>E'→ + T E'｜ε  </a:t>
            </a:r>
          </a:p>
          <a:p>
            <a: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en-US" altLang="zh-CN" sz="2800" b="1">
                <a:solidFill>
                  <a:schemeClr val="bg1"/>
                </a:solidFill>
                <a:latin typeface="Times New Roman" pitchFamily="18" charset="0"/>
              </a:rPr>
              <a:t>T → F T'        </a:t>
            </a:r>
          </a:p>
          <a:p>
            <a: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en-US" altLang="zh-CN" sz="2800" b="1">
                <a:solidFill>
                  <a:schemeClr val="bg1"/>
                </a:solidFill>
                <a:latin typeface="Times New Roman" pitchFamily="18" charset="0"/>
              </a:rPr>
              <a:t>T'→ * F T'｜ε  </a:t>
            </a:r>
          </a:p>
          <a:p>
            <a: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en-US" altLang="zh-CN" sz="2800" b="1">
                <a:solidFill>
                  <a:schemeClr val="bg1"/>
                </a:solidFill>
                <a:latin typeface="Times New Roman" pitchFamily="18" charset="0"/>
              </a:rPr>
              <a:t>F → ( E )｜id</a:t>
            </a:r>
            <a:endParaRPr lang="zh-CN" altLang="en-US" sz="2800" b="1">
              <a:solidFill>
                <a:schemeClr val="bg1"/>
              </a:solidFill>
              <a:latin typeface="Times New Roman" pitchFamily="18" charset="0"/>
            </a:endParaRPr>
          </a:p>
        </p:txBody>
      </p:sp>
      <p:sp>
        <p:nvSpPr>
          <p:cNvPr id="306181" name="Text Box 5"/>
          <p:cNvSpPr txBox="1">
            <a:spLocks noChangeArrowheads="1"/>
          </p:cNvSpPr>
          <p:nvPr/>
        </p:nvSpPr>
        <p:spPr bwMode="auto">
          <a:xfrm>
            <a:off x="6156325" y="4724400"/>
            <a:ext cx="2663825" cy="1066800"/>
          </a:xfrm>
          <a:prstGeom prst="rect">
            <a:avLst/>
          </a:prstGeom>
          <a:solidFill>
            <a:srgbClr val="00666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3200" b="1">
                <a:solidFill>
                  <a:schemeClr val="bg1"/>
                </a:solidFill>
                <a:ea typeface="华文新魏" pitchFamily="2" charset="-122"/>
              </a:rPr>
              <a:t>分析真的总是这么顺利？</a:t>
            </a:r>
            <a:endParaRPr lang="en-US" altLang="zh-CN" sz="3200" b="1">
              <a:solidFill>
                <a:schemeClr val="bg1"/>
              </a:solidFill>
              <a:ea typeface="华文新魏" pitchFamily="2" charset="-122"/>
            </a:endParaRPr>
          </a:p>
        </p:txBody>
      </p:sp>
      <p:sp>
        <p:nvSpPr>
          <p:cNvPr id="306182" name="Line 6"/>
          <p:cNvSpPr>
            <a:spLocks noChangeShapeType="1"/>
          </p:cNvSpPr>
          <p:nvPr/>
        </p:nvSpPr>
        <p:spPr bwMode="auto">
          <a:xfrm flipV="1">
            <a:off x="900113" y="549275"/>
            <a:ext cx="0" cy="6477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06183" name="Line 7"/>
          <p:cNvSpPr>
            <a:spLocks noChangeShapeType="1"/>
          </p:cNvSpPr>
          <p:nvPr/>
        </p:nvSpPr>
        <p:spPr bwMode="auto">
          <a:xfrm flipV="1">
            <a:off x="1331913" y="549275"/>
            <a:ext cx="0" cy="6477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06184" name="Line 8"/>
          <p:cNvSpPr>
            <a:spLocks noChangeShapeType="1"/>
          </p:cNvSpPr>
          <p:nvPr/>
        </p:nvSpPr>
        <p:spPr bwMode="auto">
          <a:xfrm flipV="1">
            <a:off x="2268538" y="549275"/>
            <a:ext cx="0" cy="6477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06185" name="Line 9"/>
          <p:cNvSpPr>
            <a:spLocks noChangeShapeType="1"/>
          </p:cNvSpPr>
          <p:nvPr/>
        </p:nvSpPr>
        <p:spPr bwMode="auto">
          <a:xfrm flipV="1">
            <a:off x="1763713" y="549275"/>
            <a:ext cx="0" cy="6477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06187" name="Line 11"/>
          <p:cNvSpPr>
            <a:spLocks noChangeShapeType="1"/>
          </p:cNvSpPr>
          <p:nvPr/>
        </p:nvSpPr>
        <p:spPr bwMode="auto">
          <a:xfrm flipV="1">
            <a:off x="3059113" y="549275"/>
            <a:ext cx="0" cy="6477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06188" name="Line 12"/>
          <p:cNvSpPr>
            <a:spLocks noChangeShapeType="1"/>
          </p:cNvSpPr>
          <p:nvPr/>
        </p:nvSpPr>
        <p:spPr bwMode="auto">
          <a:xfrm flipV="1">
            <a:off x="2627313" y="549275"/>
            <a:ext cx="0" cy="6477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ChangeArrowheads="1"/>
          </p:cNvSpPr>
          <p:nvPr>
            <p:ph type="title"/>
          </p:nvPr>
        </p:nvSpPr>
        <p:spPr>
          <a:xfrm>
            <a:off x="935038" y="620713"/>
            <a:ext cx="8208962" cy="977900"/>
          </a:xfrm>
          <a:noFill/>
        </p:spPr>
        <p:txBody>
          <a:bodyPr lIns="92075" tIns="46038" rIns="92075" bIns="46038"/>
          <a:lstStyle/>
          <a:p>
            <a:pPr eaLnBrk="1" hangingPunct="1"/>
            <a:r>
              <a:rPr lang="zh-CN" altLang="en-US" b="1" smtClean="0">
                <a:solidFill>
                  <a:srgbClr val="000099"/>
                </a:solidFill>
                <a:latin typeface="Times New Roman" pitchFamily="18" charset="0"/>
                <a:ea typeface="华文新魏" pitchFamily="2" charset="-122"/>
              </a:rPr>
              <a:t>候选式的确定与回溯</a:t>
            </a:r>
            <a:r>
              <a:rPr lang="en-US" altLang="zh-CN" sz="2800" b="1" smtClean="0">
                <a:solidFill>
                  <a:srgbClr val="000099"/>
                </a:solidFill>
                <a:latin typeface="Times New Roman" pitchFamily="18" charset="0"/>
                <a:ea typeface="华文新魏" pitchFamily="2" charset="-122"/>
              </a:rPr>
              <a:t>(Backtracking)</a:t>
            </a:r>
            <a:endParaRPr lang="zh-CN" altLang="en-US" sz="2800" b="1" smtClean="0">
              <a:solidFill>
                <a:srgbClr val="000099"/>
              </a:solidFill>
              <a:latin typeface="Times New Roman" pitchFamily="18" charset="0"/>
              <a:ea typeface="华文新魏" pitchFamily="2" charset="-122"/>
            </a:endParaRPr>
          </a:p>
        </p:txBody>
      </p:sp>
      <p:sp>
        <p:nvSpPr>
          <p:cNvPr id="50179" name="Rectangle 3"/>
          <p:cNvSpPr>
            <a:spLocks noGrp="1" noChangeArrowheads="1"/>
          </p:cNvSpPr>
          <p:nvPr>
            <p:ph idx="1"/>
          </p:nvPr>
        </p:nvSpPr>
        <p:spPr>
          <a:xfrm>
            <a:off x="533400" y="1905000"/>
            <a:ext cx="8458200" cy="1308100"/>
          </a:xfrm>
        </p:spPr>
        <p:txBody>
          <a:bodyPr lIns="92075" tIns="46038" rIns="92075" bIns="46038"/>
          <a:lstStyle/>
          <a:p>
            <a:pPr eaLnBrk="1" hangingPunct="1">
              <a:lnSpc>
                <a:spcPct val="110000"/>
              </a:lnSpc>
            </a:pP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给定文法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S→cAd	A→eb|a</a:t>
            </a:r>
          </a:p>
          <a:p>
            <a:pPr eaLnBrk="1" hangingPunct="1">
              <a:lnSpc>
                <a:spcPct val="110000"/>
              </a:lnSpc>
              <a:buFont typeface="Wingdings" pitchFamily="2" charset="2"/>
              <a:buNone/>
            </a:pP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    c</a:t>
            </a:r>
            <a:r>
              <a:rPr lang="en-US" altLang="zh-CN" b="1" smtClean="0">
                <a:solidFill>
                  <a:schemeClr val="hlink"/>
                </a:solidFill>
                <a:latin typeface="Times New Roman" pitchFamily="18" charset="0"/>
                <a:ea typeface="华文新魏" pitchFamily="2" charset="-122"/>
              </a:rPr>
              <a:t>a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d</a:t>
            </a: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是该文法定义语言的句子吗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?</a:t>
            </a:r>
          </a:p>
        </p:txBody>
      </p:sp>
      <p:sp>
        <p:nvSpPr>
          <p:cNvPr id="50180" name="日期占位符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938BE451-C99E-48D0-A3F4-359001E501AA}" type="datetime1">
              <a:rPr lang="zh-CN" altLang="en-US" smtClean="0"/>
              <a:pPr eaLnBrk="1" hangingPunct="1"/>
              <a:t>2017/2/24</a:t>
            </a:fld>
            <a:endParaRPr lang="en-US" altLang="zh-CN" smtClean="0"/>
          </a:p>
        </p:txBody>
      </p:sp>
      <p:sp>
        <p:nvSpPr>
          <p:cNvPr id="50181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99305E6D-E15A-4851-A1E7-6633B643A00C}" type="slidenum">
              <a:rPr lang="zh-CN" altLang="en-US" smtClean="0"/>
              <a:pPr eaLnBrk="1" hangingPunct="1"/>
              <a:t>41</a:t>
            </a:fld>
            <a:endParaRPr lang="en-US" altLang="zh-CN" smtClean="0"/>
          </a:p>
        </p:txBody>
      </p:sp>
      <p:grpSp>
        <p:nvGrpSpPr>
          <p:cNvPr id="2" name="Group 13"/>
          <p:cNvGrpSpPr>
            <a:grpSpLocks/>
          </p:cNvGrpSpPr>
          <p:nvPr/>
        </p:nvGrpSpPr>
        <p:grpSpPr bwMode="auto">
          <a:xfrm>
            <a:off x="2339975" y="5084763"/>
            <a:ext cx="387350" cy="1422400"/>
            <a:chOff x="1474" y="3203"/>
            <a:chExt cx="244" cy="896"/>
          </a:xfrm>
        </p:grpSpPr>
        <p:sp>
          <p:nvSpPr>
            <p:cNvPr id="50190" name="Line 8"/>
            <p:cNvSpPr>
              <a:spLocks noChangeShapeType="1"/>
            </p:cNvSpPr>
            <p:nvPr/>
          </p:nvSpPr>
          <p:spPr bwMode="auto">
            <a:xfrm flipH="1">
              <a:off x="1610" y="3203"/>
              <a:ext cx="11" cy="68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2075" tIns="46038" rIns="92075" bIns="46038"/>
            <a:lstStyle/>
            <a:p>
              <a:endParaRPr lang="zh-CN" altLang="en-US"/>
            </a:p>
          </p:txBody>
        </p:sp>
        <p:sp>
          <p:nvSpPr>
            <p:cNvPr id="50191" name="Rectangle 10"/>
            <p:cNvSpPr>
              <a:spLocks noChangeArrowheads="1"/>
            </p:cNvSpPr>
            <p:nvPr/>
          </p:nvSpPr>
          <p:spPr bwMode="auto">
            <a:xfrm>
              <a:off x="1474" y="3734"/>
              <a:ext cx="244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3200" b="1">
                  <a:latin typeface="Times New Roman" pitchFamily="18" charset="0"/>
                </a:rPr>
                <a:t>a</a:t>
              </a:r>
              <a:endParaRPr lang="zh-CN" altLang="en-US" sz="3200" b="1">
                <a:latin typeface="Times New Roman" pitchFamily="18" charset="0"/>
              </a:endParaRPr>
            </a:p>
          </p:txBody>
        </p:sp>
      </p:grpSp>
      <p:grpSp>
        <p:nvGrpSpPr>
          <p:cNvPr id="3" name="Group 12"/>
          <p:cNvGrpSpPr>
            <a:grpSpLocks/>
          </p:cNvGrpSpPr>
          <p:nvPr/>
        </p:nvGrpSpPr>
        <p:grpSpPr bwMode="auto">
          <a:xfrm>
            <a:off x="1476375" y="3295650"/>
            <a:ext cx="2238375" cy="1916113"/>
            <a:chOff x="930" y="2076"/>
            <a:chExt cx="1410" cy="1207"/>
          </a:xfrm>
        </p:grpSpPr>
        <p:sp>
          <p:nvSpPr>
            <p:cNvPr id="50185" name="Line 4"/>
            <p:cNvSpPr>
              <a:spLocks noChangeShapeType="1"/>
            </p:cNvSpPr>
            <p:nvPr/>
          </p:nvSpPr>
          <p:spPr bwMode="auto">
            <a:xfrm flipH="1">
              <a:off x="1066" y="2387"/>
              <a:ext cx="482" cy="63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2075" tIns="46038" rIns="92075" bIns="46038"/>
            <a:lstStyle/>
            <a:p>
              <a:endParaRPr lang="zh-CN" altLang="en-US"/>
            </a:p>
          </p:txBody>
        </p:sp>
        <p:sp>
          <p:nvSpPr>
            <p:cNvPr id="50186" name="Line 5"/>
            <p:cNvSpPr>
              <a:spLocks noChangeShapeType="1"/>
            </p:cNvSpPr>
            <p:nvPr/>
          </p:nvSpPr>
          <p:spPr bwMode="auto">
            <a:xfrm flipH="1">
              <a:off x="1610" y="2432"/>
              <a:ext cx="0" cy="63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2075" tIns="46038" rIns="92075" bIns="46038"/>
            <a:lstStyle/>
            <a:p>
              <a:endParaRPr lang="zh-CN" altLang="en-US"/>
            </a:p>
          </p:txBody>
        </p:sp>
        <p:sp>
          <p:nvSpPr>
            <p:cNvPr id="50187" name="Line 6"/>
            <p:cNvSpPr>
              <a:spLocks noChangeShapeType="1"/>
            </p:cNvSpPr>
            <p:nvPr/>
          </p:nvSpPr>
          <p:spPr bwMode="auto">
            <a:xfrm>
              <a:off x="1701" y="2387"/>
              <a:ext cx="499" cy="68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2075" tIns="46038" rIns="92075" bIns="46038"/>
            <a:lstStyle/>
            <a:p>
              <a:endParaRPr lang="zh-CN" altLang="en-US"/>
            </a:p>
          </p:txBody>
        </p:sp>
        <p:sp>
          <p:nvSpPr>
            <p:cNvPr id="50188" name="Rectangle 9"/>
            <p:cNvSpPr>
              <a:spLocks noChangeArrowheads="1"/>
            </p:cNvSpPr>
            <p:nvPr/>
          </p:nvSpPr>
          <p:spPr bwMode="auto">
            <a:xfrm>
              <a:off x="930" y="2918"/>
              <a:ext cx="1410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3200" b="1">
                  <a:latin typeface="Times New Roman" pitchFamily="18" charset="0"/>
                </a:rPr>
                <a:t>c	A	d</a:t>
              </a:r>
              <a:endParaRPr lang="zh-CN" altLang="en-US" sz="3200" b="1">
                <a:latin typeface="Times New Roman" pitchFamily="18" charset="0"/>
              </a:endParaRPr>
            </a:p>
          </p:txBody>
        </p:sp>
        <p:sp>
          <p:nvSpPr>
            <p:cNvPr id="50189" name="Rectangle 11"/>
            <p:cNvSpPr>
              <a:spLocks noChangeArrowheads="1"/>
            </p:cNvSpPr>
            <p:nvPr/>
          </p:nvSpPr>
          <p:spPr bwMode="auto">
            <a:xfrm>
              <a:off x="1474" y="2076"/>
              <a:ext cx="258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3200" b="1">
                  <a:latin typeface="Times New Roman" pitchFamily="18" charset="0"/>
                </a:rPr>
                <a:t>S</a:t>
              </a:r>
              <a:endParaRPr lang="zh-CN" altLang="en-US" sz="3200" b="1">
                <a:latin typeface="Times New Roman" pitchFamily="18" charset="0"/>
              </a:endParaRPr>
            </a:p>
          </p:txBody>
        </p:sp>
      </p:grpSp>
      <p:sp>
        <p:nvSpPr>
          <p:cNvPr id="362510" name="Text Box 14"/>
          <p:cNvSpPr txBox="1">
            <a:spLocks noChangeArrowheads="1"/>
          </p:cNvSpPr>
          <p:nvPr/>
        </p:nvSpPr>
        <p:spPr bwMode="auto">
          <a:xfrm>
            <a:off x="4643438" y="4149725"/>
            <a:ext cx="4105275" cy="1570038"/>
          </a:xfrm>
          <a:prstGeom prst="rect">
            <a:avLst/>
          </a:prstGeom>
          <a:solidFill>
            <a:srgbClr val="00666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3200" b="1">
                <a:solidFill>
                  <a:schemeClr val="bg1"/>
                </a:solidFill>
                <a:latin typeface="Times New Roman" pitchFamily="18" charset="0"/>
                <a:ea typeface="华文新魏" pitchFamily="2" charset="-122"/>
              </a:rPr>
              <a:t>当需要用</a:t>
            </a:r>
            <a:r>
              <a:rPr lang="en-US" altLang="zh-CN" sz="3200" b="1">
                <a:solidFill>
                  <a:schemeClr val="bg1"/>
                </a:solidFill>
                <a:latin typeface="Times New Roman" pitchFamily="18" charset="0"/>
                <a:ea typeface="华文新魏" pitchFamily="2" charset="-122"/>
              </a:rPr>
              <a:t>A</a:t>
            </a:r>
            <a:r>
              <a:rPr lang="zh-CN" altLang="en-US" sz="3200" b="1">
                <a:solidFill>
                  <a:schemeClr val="bg1"/>
                </a:solidFill>
                <a:latin typeface="Times New Roman" pitchFamily="18" charset="0"/>
                <a:ea typeface="华文新魏" pitchFamily="2" charset="-122"/>
              </a:rPr>
              <a:t>派生时，</a:t>
            </a:r>
            <a:r>
              <a:rPr lang="zh-CN" altLang="en-US" sz="3200" b="1">
                <a:solidFill>
                  <a:srgbClr val="FFFF00"/>
                </a:solidFill>
                <a:latin typeface="Times New Roman" pitchFamily="18" charset="0"/>
                <a:ea typeface="华文新魏" pitchFamily="2" charset="-122"/>
              </a:rPr>
              <a:t>可以</a:t>
            </a:r>
            <a:r>
              <a:rPr lang="zh-CN" altLang="en-US" sz="3200" b="1">
                <a:solidFill>
                  <a:schemeClr val="bg1"/>
                </a:solidFill>
                <a:latin typeface="Times New Roman" pitchFamily="18" charset="0"/>
                <a:ea typeface="华文新魏" pitchFamily="2" charset="-122"/>
              </a:rPr>
              <a:t>根据输入符号</a:t>
            </a:r>
            <a:r>
              <a:rPr lang="en-US" altLang="zh-CN" sz="3200" b="1">
                <a:solidFill>
                  <a:schemeClr val="bg1"/>
                </a:solidFill>
                <a:latin typeface="Times New Roman" pitchFamily="18" charset="0"/>
                <a:ea typeface="华文新魏" pitchFamily="2" charset="-122"/>
              </a:rPr>
              <a:t>a</a:t>
            </a:r>
            <a:r>
              <a:rPr lang="zh-CN" altLang="en-US" sz="3200" b="1">
                <a:solidFill>
                  <a:schemeClr val="bg1"/>
                </a:solidFill>
                <a:latin typeface="Times New Roman" pitchFamily="18" charset="0"/>
                <a:ea typeface="华文新魏" pitchFamily="2" charset="-122"/>
              </a:rPr>
              <a:t>唯一的确定</a:t>
            </a:r>
            <a:r>
              <a:rPr lang="en-US" altLang="zh-CN" sz="3200" b="1">
                <a:solidFill>
                  <a:schemeClr val="bg1"/>
                </a:solidFill>
                <a:latin typeface="Times New Roman" pitchFamily="18" charset="0"/>
                <a:ea typeface="华文新魏" pitchFamily="2" charset="-122"/>
              </a:rPr>
              <a:t>A</a:t>
            </a:r>
            <a:r>
              <a:rPr lang="zh-CN" altLang="en-US" sz="3200" b="1">
                <a:solidFill>
                  <a:schemeClr val="bg1"/>
                </a:solidFill>
                <a:latin typeface="Times New Roman" pitchFamily="18" charset="0"/>
                <a:ea typeface="华文新魏" pitchFamily="2" charset="-122"/>
              </a:rPr>
              <a:t>的候选式</a:t>
            </a:r>
            <a:endParaRPr lang="en-US" altLang="zh-CN" sz="3200" b="1">
              <a:solidFill>
                <a:schemeClr val="bg1"/>
              </a:solidFill>
              <a:latin typeface="Times New Roman" pitchFamily="18" charset="0"/>
              <a:ea typeface="华文新魏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450" name="Rectangle 2"/>
          <p:cNvSpPr>
            <a:spLocks noGrp="1" noChangeArrowheads="1"/>
          </p:cNvSpPr>
          <p:nvPr>
            <p:ph type="title"/>
          </p:nvPr>
        </p:nvSpPr>
        <p:spPr>
          <a:xfrm>
            <a:off x="935038" y="620713"/>
            <a:ext cx="8208962" cy="1049337"/>
          </a:xfrm>
        </p:spPr>
        <p:txBody>
          <a:bodyPr lIns="92075" tIns="46038" rIns="92075" bIns="46038"/>
          <a:lstStyle/>
          <a:p>
            <a:pPr eaLnBrk="1" hangingPunct="1">
              <a:defRPr/>
            </a:pPr>
            <a:r>
              <a:rPr lang="zh-CN" altLang="en-US" b="1" smtClean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候选式的确定与回溯</a:t>
            </a:r>
            <a:r>
              <a:rPr lang="en-US" altLang="zh-CN" sz="2400" b="1" smtClean="0">
                <a:solidFill>
                  <a:srgbClr val="000099"/>
                </a:solidFill>
                <a:latin typeface="Times New Roman" pitchFamily="18" charset="0"/>
                <a:ea typeface="华文新魏" pitchFamily="2" charset="-122"/>
              </a:rPr>
              <a:t>(Backtracking)</a:t>
            </a:r>
            <a:endParaRPr lang="zh-CN" altLang="en-US" sz="2400" b="1" smtClean="0">
              <a:solidFill>
                <a:srgbClr val="000099"/>
              </a:solidFill>
              <a:latin typeface="Times New Roman" pitchFamily="18" charset="0"/>
              <a:ea typeface="华文新魏" pitchFamily="2" charset="-122"/>
            </a:endParaRPr>
          </a:p>
        </p:txBody>
      </p:sp>
      <p:sp>
        <p:nvSpPr>
          <p:cNvPr id="51203" name="Rectangle 3"/>
          <p:cNvSpPr>
            <a:spLocks noGrp="1" noChangeArrowheads="1"/>
          </p:cNvSpPr>
          <p:nvPr>
            <p:ph idx="1"/>
          </p:nvPr>
        </p:nvSpPr>
        <p:spPr>
          <a:xfrm>
            <a:off x="533400" y="1905000"/>
            <a:ext cx="8458200" cy="1379538"/>
          </a:xfrm>
        </p:spPr>
        <p:txBody>
          <a:bodyPr lIns="92075" tIns="46038" rIns="92075" bIns="46038"/>
          <a:lstStyle/>
          <a:p>
            <a:pPr eaLnBrk="1" hangingPunct="1">
              <a:lnSpc>
                <a:spcPct val="110000"/>
              </a:lnSpc>
            </a:pP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给定文法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S→cAd	A→ab|</a:t>
            </a:r>
            <a:r>
              <a:rPr lang="en-US" altLang="zh-CN" b="1" smtClean="0">
                <a:solidFill>
                  <a:schemeClr val="hlink"/>
                </a:solidFill>
                <a:latin typeface="Times New Roman" pitchFamily="18" charset="0"/>
                <a:ea typeface="华文新魏" pitchFamily="2" charset="-122"/>
              </a:rPr>
              <a:t>e</a:t>
            </a:r>
          </a:p>
          <a:p>
            <a:pPr eaLnBrk="1" hangingPunct="1">
              <a:lnSpc>
                <a:spcPct val="110000"/>
              </a:lnSpc>
              <a:buFont typeface="Wingdings" pitchFamily="2" charset="2"/>
              <a:buNone/>
            </a:pP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    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c</a:t>
            </a:r>
            <a:r>
              <a:rPr lang="en-US" altLang="zh-CN" b="1" smtClean="0">
                <a:solidFill>
                  <a:schemeClr val="hlink"/>
                </a:solidFill>
                <a:latin typeface="Times New Roman" pitchFamily="18" charset="0"/>
                <a:ea typeface="华文新魏" pitchFamily="2" charset="-122"/>
              </a:rPr>
              <a:t>a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d</a:t>
            </a: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是该文法定义语言的句子吗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?</a:t>
            </a:r>
            <a:r>
              <a:rPr lang="zh-CN" altLang="en-US" sz="2800" b="1" smtClean="0">
                <a:latin typeface="Times New Roman" pitchFamily="18" charset="0"/>
                <a:ea typeface="华文新魏" pitchFamily="2" charset="-122"/>
              </a:rPr>
              <a:t>	</a:t>
            </a:r>
            <a:endParaRPr lang="en-US" altLang="zh-CN" sz="2800" b="1" smtClean="0">
              <a:latin typeface="Times New Roman" pitchFamily="18" charset="0"/>
              <a:ea typeface="华文新魏" pitchFamily="2" charset="-122"/>
            </a:endParaRPr>
          </a:p>
        </p:txBody>
      </p:sp>
      <p:sp>
        <p:nvSpPr>
          <p:cNvPr id="51204" name="日期占位符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E9C0DCB5-95FD-459C-9308-B599B8F1D61D}" type="datetime1">
              <a:rPr lang="zh-CN" altLang="en-US" smtClean="0"/>
              <a:pPr eaLnBrk="1" hangingPunct="1"/>
              <a:t>2017/2/24</a:t>
            </a:fld>
            <a:endParaRPr lang="en-US" altLang="zh-CN" smtClean="0"/>
          </a:p>
        </p:txBody>
      </p:sp>
      <p:sp>
        <p:nvSpPr>
          <p:cNvPr id="51205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ACACBFFB-FE1F-41F3-A1C4-2E5E76189DD6}" type="slidenum">
              <a:rPr lang="zh-CN" altLang="en-US" smtClean="0"/>
              <a:pPr eaLnBrk="1" hangingPunct="1"/>
              <a:t>42</a:t>
            </a:fld>
            <a:endParaRPr lang="en-US" altLang="zh-CN" smtClean="0"/>
          </a:p>
        </p:txBody>
      </p:sp>
      <p:grpSp>
        <p:nvGrpSpPr>
          <p:cNvPr id="2" name="Group 13"/>
          <p:cNvGrpSpPr>
            <a:grpSpLocks/>
          </p:cNvGrpSpPr>
          <p:nvPr/>
        </p:nvGrpSpPr>
        <p:grpSpPr bwMode="auto">
          <a:xfrm>
            <a:off x="1476375" y="3295650"/>
            <a:ext cx="2238375" cy="1916113"/>
            <a:chOff x="930" y="2076"/>
            <a:chExt cx="1410" cy="1207"/>
          </a:xfrm>
        </p:grpSpPr>
        <p:sp>
          <p:nvSpPr>
            <p:cNvPr id="51213" name="Line 14"/>
            <p:cNvSpPr>
              <a:spLocks noChangeShapeType="1"/>
            </p:cNvSpPr>
            <p:nvPr/>
          </p:nvSpPr>
          <p:spPr bwMode="auto">
            <a:xfrm flipH="1">
              <a:off x="1066" y="2387"/>
              <a:ext cx="482" cy="63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2075" tIns="46038" rIns="92075" bIns="46038"/>
            <a:lstStyle/>
            <a:p>
              <a:endParaRPr lang="zh-CN" altLang="en-US"/>
            </a:p>
          </p:txBody>
        </p:sp>
        <p:sp>
          <p:nvSpPr>
            <p:cNvPr id="51214" name="Line 15"/>
            <p:cNvSpPr>
              <a:spLocks noChangeShapeType="1"/>
            </p:cNvSpPr>
            <p:nvPr/>
          </p:nvSpPr>
          <p:spPr bwMode="auto">
            <a:xfrm flipH="1">
              <a:off x="1610" y="2432"/>
              <a:ext cx="0" cy="63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2075" tIns="46038" rIns="92075" bIns="46038"/>
            <a:lstStyle/>
            <a:p>
              <a:endParaRPr lang="zh-CN" altLang="en-US"/>
            </a:p>
          </p:txBody>
        </p:sp>
        <p:sp>
          <p:nvSpPr>
            <p:cNvPr id="51215" name="Line 16"/>
            <p:cNvSpPr>
              <a:spLocks noChangeShapeType="1"/>
            </p:cNvSpPr>
            <p:nvPr/>
          </p:nvSpPr>
          <p:spPr bwMode="auto">
            <a:xfrm>
              <a:off x="1701" y="2387"/>
              <a:ext cx="499" cy="68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2075" tIns="46038" rIns="92075" bIns="46038"/>
            <a:lstStyle/>
            <a:p>
              <a:endParaRPr lang="zh-CN" altLang="en-US"/>
            </a:p>
          </p:txBody>
        </p:sp>
        <p:sp>
          <p:nvSpPr>
            <p:cNvPr id="51216" name="Rectangle 17"/>
            <p:cNvSpPr>
              <a:spLocks noChangeArrowheads="1"/>
            </p:cNvSpPr>
            <p:nvPr/>
          </p:nvSpPr>
          <p:spPr bwMode="auto">
            <a:xfrm>
              <a:off x="930" y="2918"/>
              <a:ext cx="1410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3200" b="1">
                  <a:latin typeface="Times New Roman" pitchFamily="18" charset="0"/>
                </a:rPr>
                <a:t>c	A	d</a:t>
              </a:r>
              <a:endParaRPr lang="zh-CN" altLang="en-US" sz="3200" b="1">
                <a:latin typeface="Times New Roman" pitchFamily="18" charset="0"/>
              </a:endParaRPr>
            </a:p>
          </p:txBody>
        </p:sp>
        <p:sp>
          <p:nvSpPr>
            <p:cNvPr id="51217" name="Rectangle 18"/>
            <p:cNvSpPr>
              <a:spLocks noChangeArrowheads="1"/>
            </p:cNvSpPr>
            <p:nvPr/>
          </p:nvSpPr>
          <p:spPr bwMode="auto">
            <a:xfrm>
              <a:off x="1474" y="2076"/>
              <a:ext cx="258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3200" b="1">
                  <a:latin typeface="Times New Roman" pitchFamily="18" charset="0"/>
                </a:rPr>
                <a:t>S</a:t>
              </a:r>
              <a:endParaRPr lang="zh-CN" altLang="en-US" sz="3200" b="1">
                <a:latin typeface="Times New Roman" pitchFamily="18" charset="0"/>
              </a:endParaRPr>
            </a:p>
          </p:txBody>
        </p:sp>
      </p:grpSp>
      <p:grpSp>
        <p:nvGrpSpPr>
          <p:cNvPr id="3" name="Group 21"/>
          <p:cNvGrpSpPr>
            <a:grpSpLocks/>
          </p:cNvGrpSpPr>
          <p:nvPr/>
        </p:nvGrpSpPr>
        <p:grpSpPr bwMode="auto">
          <a:xfrm>
            <a:off x="1979613" y="5084763"/>
            <a:ext cx="1201737" cy="1422400"/>
            <a:chOff x="1247" y="3203"/>
            <a:chExt cx="757" cy="896"/>
          </a:xfrm>
        </p:grpSpPr>
        <p:sp>
          <p:nvSpPr>
            <p:cNvPr id="51209" name="Line 7"/>
            <p:cNvSpPr>
              <a:spLocks noChangeShapeType="1"/>
            </p:cNvSpPr>
            <p:nvPr/>
          </p:nvSpPr>
          <p:spPr bwMode="auto">
            <a:xfrm flipH="1" flipV="1">
              <a:off x="1655" y="3203"/>
              <a:ext cx="182" cy="59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2075" tIns="46038" rIns="92075" bIns="46038"/>
            <a:lstStyle/>
            <a:p>
              <a:endParaRPr lang="zh-CN" altLang="en-US"/>
            </a:p>
          </p:txBody>
        </p:sp>
        <p:sp>
          <p:nvSpPr>
            <p:cNvPr id="51210" name="Line 11"/>
            <p:cNvSpPr>
              <a:spLocks noChangeShapeType="1"/>
            </p:cNvSpPr>
            <p:nvPr/>
          </p:nvSpPr>
          <p:spPr bwMode="auto">
            <a:xfrm flipH="1">
              <a:off x="1429" y="3203"/>
              <a:ext cx="192" cy="68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2075" tIns="46038" rIns="92075" bIns="46038"/>
            <a:lstStyle/>
            <a:p>
              <a:endParaRPr lang="zh-CN" altLang="en-US"/>
            </a:p>
          </p:txBody>
        </p:sp>
        <p:sp>
          <p:nvSpPr>
            <p:cNvPr id="51211" name="Rectangle 19"/>
            <p:cNvSpPr>
              <a:spLocks noChangeArrowheads="1"/>
            </p:cNvSpPr>
            <p:nvPr/>
          </p:nvSpPr>
          <p:spPr bwMode="auto">
            <a:xfrm>
              <a:off x="1746" y="3734"/>
              <a:ext cx="258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3200" b="1">
                  <a:latin typeface="Times New Roman" pitchFamily="18" charset="0"/>
                </a:rPr>
                <a:t>b</a:t>
              </a:r>
              <a:endParaRPr lang="zh-CN" altLang="en-US" sz="3200" b="1">
                <a:latin typeface="Times New Roman" pitchFamily="18" charset="0"/>
              </a:endParaRPr>
            </a:p>
          </p:txBody>
        </p:sp>
        <p:sp>
          <p:nvSpPr>
            <p:cNvPr id="51212" name="Rectangle 20"/>
            <p:cNvSpPr>
              <a:spLocks noChangeArrowheads="1"/>
            </p:cNvSpPr>
            <p:nvPr/>
          </p:nvSpPr>
          <p:spPr bwMode="auto">
            <a:xfrm>
              <a:off x="1247" y="3734"/>
              <a:ext cx="244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3200" b="1">
                  <a:latin typeface="Times New Roman" pitchFamily="18" charset="0"/>
                </a:rPr>
                <a:t>a</a:t>
              </a:r>
              <a:endParaRPr lang="zh-CN" altLang="en-US" sz="3200" b="1">
                <a:latin typeface="Times New Roman" pitchFamily="18" charset="0"/>
              </a:endParaRPr>
            </a:p>
          </p:txBody>
        </p:sp>
      </p:grpSp>
      <p:sp>
        <p:nvSpPr>
          <p:cNvPr id="360470" name="Text Box 22"/>
          <p:cNvSpPr txBox="1">
            <a:spLocks noChangeArrowheads="1"/>
          </p:cNvSpPr>
          <p:nvPr/>
        </p:nvSpPr>
        <p:spPr bwMode="auto">
          <a:xfrm>
            <a:off x="4427538" y="3789363"/>
            <a:ext cx="4537075" cy="2041525"/>
          </a:xfrm>
          <a:prstGeom prst="rect">
            <a:avLst/>
          </a:prstGeom>
          <a:solidFill>
            <a:srgbClr val="00666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3200" b="1">
                <a:solidFill>
                  <a:schemeClr val="bg1"/>
                </a:solidFill>
                <a:latin typeface="Times New Roman" pitchFamily="18" charset="0"/>
                <a:ea typeface="华文新魏" pitchFamily="2" charset="-122"/>
              </a:rPr>
              <a:t>出现一次虚假匹配，并且立即发现</a:t>
            </a:r>
            <a:r>
              <a:rPr lang="en-US" altLang="zh-CN" sz="3200" b="1">
                <a:solidFill>
                  <a:schemeClr val="bg1"/>
                </a:solidFill>
                <a:latin typeface="Times New Roman" pitchFamily="18" charset="0"/>
                <a:ea typeface="华文新魏" pitchFamily="2" charset="-122"/>
              </a:rPr>
              <a:t>cad</a:t>
            </a:r>
            <a:r>
              <a:rPr lang="zh-CN" altLang="en-US" sz="3200" b="1">
                <a:solidFill>
                  <a:schemeClr val="bg1"/>
                </a:solidFill>
                <a:latin typeface="Times New Roman" pitchFamily="18" charset="0"/>
                <a:ea typeface="华文新魏" pitchFamily="2" charset="-122"/>
              </a:rPr>
              <a:t>不是合法句子：</a:t>
            </a:r>
            <a:r>
              <a:rPr lang="zh-CN" altLang="en-US" sz="3200" b="1">
                <a:solidFill>
                  <a:srgbClr val="FFFF00"/>
                </a:solidFill>
                <a:latin typeface="Times New Roman" pitchFamily="18" charset="0"/>
                <a:ea typeface="华文新魏" pitchFamily="2" charset="-122"/>
              </a:rPr>
              <a:t>可以</a:t>
            </a:r>
            <a:r>
              <a:rPr lang="zh-CN" altLang="en-US" sz="3200" b="1">
                <a:solidFill>
                  <a:schemeClr val="bg1"/>
                </a:solidFill>
                <a:latin typeface="Times New Roman" pitchFamily="18" charset="0"/>
                <a:ea typeface="华文新魏" pitchFamily="2" charset="-122"/>
              </a:rPr>
              <a:t>根据输入符号</a:t>
            </a:r>
            <a:r>
              <a:rPr lang="en-US" altLang="zh-CN" sz="3200" b="1">
                <a:solidFill>
                  <a:schemeClr val="bg1"/>
                </a:solidFill>
                <a:latin typeface="Times New Roman" pitchFamily="18" charset="0"/>
                <a:ea typeface="华文新魏" pitchFamily="2" charset="-122"/>
              </a:rPr>
              <a:t>a</a:t>
            </a:r>
            <a:r>
              <a:rPr lang="zh-CN" altLang="en-US" sz="3200" b="1">
                <a:solidFill>
                  <a:schemeClr val="bg1"/>
                </a:solidFill>
                <a:latin typeface="Times New Roman" pitchFamily="18" charset="0"/>
                <a:ea typeface="华文新魏" pitchFamily="2" charset="-122"/>
              </a:rPr>
              <a:t>唯一确定</a:t>
            </a:r>
            <a:r>
              <a:rPr lang="en-US" altLang="zh-CN" sz="3200" b="1">
                <a:solidFill>
                  <a:schemeClr val="bg1"/>
                </a:solidFill>
                <a:latin typeface="Times New Roman" pitchFamily="18" charset="0"/>
                <a:ea typeface="华文新魏" pitchFamily="2" charset="-122"/>
              </a:rPr>
              <a:t>A</a:t>
            </a:r>
            <a:r>
              <a:rPr lang="zh-CN" altLang="en-US" sz="3200" b="1">
                <a:solidFill>
                  <a:schemeClr val="bg1"/>
                </a:solidFill>
                <a:latin typeface="Times New Roman" pitchFamily="18" charset="0"/>
                <a:ea typeface="华文新魏" pitchFamily="2" charset="-122"/>
              </a:rPr>
              <a:t>的候选式</a:t>
            </a:r>
            <a:endParaRPr lang="en-US" altLang="zh-CN" sz="3200" b="1">
              <a:solidFill>
                <a:schemeClr val="bg1"/>
              </a:solidFill>
              <a:latin typeface="Times New Roman" pitchFamily="18" charset="0"/>
              <a:ea typeface="华文新魏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02" name="Rectangle 2"/>
          <p:cNvSpPr>
            <a:spLocks noGrp="1" noChangeArrowheads="1"/>
          </p:cNvSpPr>
          <p:nvPr>
            <p:ph type="title"/>
          </p:nvPr>
        </p:nvSpPr>
        <p:spPr>
          <a:xfrm>
            <a:off x="900113" y="692150"/>
            <a:ext cx="7848600" cy="979488"/>
          </a:xfrm>
        </p:spPr>
        <p:txBody>
          <a:bodyPr lIns="92075" tIns="46038" rIns="92075" bIns="46038"/>
          <a:lstStyle/>
          <a:p>
            <a:pPr eaLnBrk="1" hangingPunct="1">
              <a:defRPr/>
            </a:pPr>
            <a:r>
              <a:rPr lang="zh-CN" altLang="en-US" b="1" smtClean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候选式的确定与回溯</a:t>
            </a:r>
            <a:r>
              <a:rPr lang="en-US" altLang="zh-CN" sz="2400" b="1" smtClean="0">
                <a:solidFill>
                  <a:srgbClr val="000099"/>
                </a:solidFill>
                <a:latin typeface="Times New Roman" pitchFamily="18" charset="0"/>
                <a:ea typeface="华文新魏" pitchFamily="2" charset="-122"/>
              </a:rPr>
              <a:t>(Backtracking)</a:t>
            </a:r>
            <a:endParaRPr lang="zh-CN" altLang="en-US" sz="2400" b="1" smtClean="0">
              <a:solidFill>
                <a:srgbClr val="000099"/>
              </a:solidFill>
              <a:latin typeface="Times New Roman" pitchFamily="18" charset="0"/>
              <a:ea typeface="华文新魏" pitchFamily="2" charset="-122"/>
            </a:endParaRPr>
          </a:p>
        </p:txBody>
      </p:sp>
      <p:sp>
        <p:nvSpPr>
          <p:cNvPr id="52227" name="Rectangle 3"/>
          <p:cNvSpPr>
            <a:spLocks noGrp="1" noChangeArrowheads="1"/>
          </p:cNvSpPr>
          <p:nvPr>
            <p:ph idx="1"/>
          </p:nvPr>
        </p:nvSpPr>
        <p:spPr>
          <a:xfrm>
            <a:off x="533400" y="1905000"/>
            <a:ext cx="8458200" cy="1595438"/>
          </a:xfrm>
        </p:spPr>
        <p:txBody>
          <a:bodyPr lIns="92075" tIns="46038" rIns="92075" bIns="46038"/>
          <a:lstStyle/>
          <a:p>
            <a:pPr eaLnBrk="1" hangingPunct="1">
              <a:lnSpc>
                <a:spcPct val="110000"/>
              </a:lnSpc>
            </a:pPr>
            <a:r>
              <a:rPr lang="zh-CN" altLang="en-US" sz="3600" b="1" smtClean="0">
                <a:latin typeface="Times New Roman" pitchFamily="18" charset="0"/>
                <a:ea typeface="华文新魏" pitchFamily="2" charset="-122"/>
              </a:rPr>
              <a:t>给定文法</a:t>
            </a:r>
            <a:r>
              <a:rPr lang="en-US" altLang="zh-CN" sz="3600" b="1" smtClean="0">
                <a:latin typeface="Times New Roman" pitchFamily="18" charset="0"/>
                <a:ea typeface="华文新魏" pitchFamily="2" charset="-122"/>
              </a:rPr>
              <a:t>S→cAd	A→ab|</a:t>
            </a:r>
            <a:r>
              <a:rPr lang="en-US" altLang="zh-CN" sz="3600" b="1" smtClean="0">
                <a:solidFill>
                  <a:schemeClr val="hlink"/>
                </a:solidFill>
                <a:latin typeface="Times New Roman" pitchFamily="18" charset="0"/>
                <a:ea typeface="华文新魏" pitchFamily="2" charset="-122"/>
              </a:rPr>
              <a:t>a</a:t>
            </a:r>
          </a:p>
          <a:p>
            <a:pPr eaLnBrk="1" hangingPunct="1">
              <a:lnSpc>
                <a:spcPct val="110000"/>
              </a:lnSpc>
              <a:buFont typeface="Wingdings" pitchFamily="2" charset="2"/>
              <a:buNone/>
            </a:pPr>
            <a:r>
              <a:rPr lang="en-US" altLang="zh-CN" sz="3600" b="1" smtClean="0">
                <a:latin typeface="Times New Roman" pitchFamily="18" charset="0"/>
                <a:ea typeface="华文新魏" pitchFamily="2" charset="-122"/>
              </a:rPr>
              <a:t>    cad</a:t>
            </a:r>
            <a:r>
              <a:rPr lang="zh-CN" altLang="en-US" sz="3600" b="1" smtClean="0">
                <a:latin typeface="Times New Roman" pitchFamily="18" charset="0"/>
                <a:ea typeface="华文新魏" pitchFamily="2" charset="-122"/>
              </a:rPr>
              <a:t>是该文法定义语言的句子</a:t>
            </a: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吗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?</a:t>
            </a:r>
            <a:endParaRPr lang="en-US" altLang="zh-CN" sz="2800" b="1" smtClean="0">
              <a:latin typeface="Times New Roman" pitchFamily="18" charset="0"/>
              <a:ea typeface="华文新魏" pitchFamily="2" charset="-122"/>
            </a:endParaRPr>
          </a:p>
        </p:txBody>
      </p:sp>
      <p:sp>
        <p:nvSpPr>
          <p:cNvPr id="52228" name="日期占位符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3A229705-82C5-45E5-A8D9-ED8BADD44F18}" type="datetime1">
              <a:rPr lang="zh-CN" altLang="en-US" smtClean="0"/>
              <a:pPr eaLnBrk="1" hangingPunct="1"/>
              <a:t>2017/2/24</a:t>
            </a:fld>
            <a:endParaRPr lang="en-US" altLang="zh-CN" smtClean="0"/>
          </a:p>
        </p:txBody>
      </p:sp>
      <p:sp>
        <p:nvSpPr>
          <p:cNvPr id="52229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BF9A40CE-EFB3-4265-A501-DC2386DC89C6}" type="slidenum">
              <a:rPr lang="zh-CN" altLang="en-US" smtClean="0"/>
              <a:pPr eaLnBrk="1" hangingPunct="1"/>
              <a:t>43</a:t>
            </a:fld>
            <a:endParaRPr lang="en-US" altLang="zh-CN" smtClean="0"/>
          </a:p>
        </p:txBody>
      </p:sp>
      <p:grpSp>
        <p:nvGrpSpPr>
          <p:cNvPr id="2" name="Group 25"/>
          <p:cNvGrpSpPr>
            <a:grpSpLocks/>
          </p:cNvGrpSpPr>
          <p:nvPr/>
        </p:nvGrpSpPr>
        <p:grpSpPr bwMode="auto">
          <a:xfrm>
            <a:off x="468313" y="3295650"/>
            <a:ext cx="2238375" cy="1916113"/>
            <a:chOff x="930" y="2076"/>
            <a:chExt cx="1410" cy="1207"/>
          </a:xfrm>
        </p:grpSpPr>
        <p:sp>
          <p:nvSpPr>
            <p:cNvPr id="52246" name="Line 26"/>
            <p:cNvSpPr>
              <a:spLocks noChangeShapeType="1"/>
            </p:cNvSpPr>
            <p:nvPr/>
          </p:nvSpPr>
          <p:spPr bwMode="auto">
            <a:xfrm flipH="1">
              <a:off x="1066" y="2387"/>
              <a:ext cx="482" cy="63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2075" tIns="46038" rIns="92075" bIns="46038"/>
            <a:lstStyle/>
            <a:p>
              <a:endParaRPr lang="zh-CN" altLang="en-US"/>
            </a:p>
          </p:txBody>
        </p:sp>
        <p:sp>
          <p:nvSpPr>
            <p:cNvPr id="52247" name="Line 27"/>
            <p:cNvSpPr>
              <a:spLocks noChangeShapeType="1"/>
            </p:cNvSpPr>
            <p:nvPr/>
          </p:nvSpPr>
          <p:spPr bwMode="auto">
            <a:xfrm flipH="1">
              <a:off x="1610" y="2432"/>
              <a:ext cx="0" cy="63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2075" tIns="46038" rIns="92075" bIns="46038"/>
            <a:lstStyle/>
            <a:p>
              <a:endParaRPr lang="zh-CN" altLang="en-US"/>
            </a:p>
          </p:txBody>
        </p:sp>
        <p:sp>
          <p:nvSpPr>
            <p:cNvPr id="52248" name="Line 28"/>
            <p:cNvSpPr>
              <a:spLocks noChangeShapeType="1"/>
            </p:cNvSpPr>
            <p:nvPr/>
          </p:nvSpPr>
          <p:spPr bwMode="auto">
            <a:xfrm>
              <a:off x="1701" y="2387"/>
              <a:ext cx="499" cy="68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2075" tIns="46038" rIns="92075" bIns="46038"/>
            <a:lstStyle/>
            <a:p>
              <a:endParaRPr lang="zh-CN" altLang="en-US"/>
            </a:p>
          </p:txBody>
        </p:sp>
        <p:sp>
          <p:nvSpPr>
            <p:cNvPr id="52249" name="Rectangle 29"/>
            <p:cNvSpPr>
              <a:spLocks noChangeArrowheads="1"/>
            </p:cNvSpPr>
            <p:nvPr/>
          </p:nvSpPr>
          <p:spPr bwMode="auto">
            <a:xfrm>
              <a:off x="930" y="2918"/>
              <a:ext cx="1410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3200" b="1">
                  <a:latin typeface="Times New Roman" pitchFamily="18" charset="0"/>
                </a:rPr>
                <a:t>c	A	d</a:t>
              </a:r>
              <a:endParaRPr lang="zh-CN" altLang="en-US" sz="3200" b="1">
                <a:latin typeface="Times New Roman" pitchFamily="18" charset="0"/>
              </a:endParaRPr>
            </a:p>
          </p:txBody>
        </p:sp>
        <p:sp>
          <p:nvSpPr>
            <p:cNvPr id="52250" name="Rectangle 30"/>
            <p:cNvSpPr>
              <a:spLocks noChangeArrowheads="1"/>
            </p:cNvSpPr>
            <p:nvPr/>
          </p:nvSpPr>
          <p:spPr bwMode="auto">
            <a:xfrm>
              <a:off x="1474" y="2076"/>
              <a:ext cx="258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3200" b="1">
                  <a:latin typeface="Times New Roman" pitchFamily="18" charset="0"/>
                </a:rPr>
                <a:t>S</a:t>
              </a:r>
              <a:endParaRPr lang="zh-CN" altLang="en-US" sz="3200" b="1">
                <a:latin typeface="Times New Roman" pitchFamily="18" charset="0"/>
              </a:endParaRPr>
            </a:p>
          </p:txBody>
        </p:sp>
      </p:grpSp>
      <p:grpSp>
        <p:nvGrpSpPr>
          <p:cNvPr id="3" name="Group 31"/>
          <p:cNvGrpSpPr>
            <a:grpSpLocks/>
          </p:cNvGrpSpPr>
          <p:nvPr/>
        </p:nvGrpSpPr>
        <p:grpSpPr bwMode="auto">
          <a:xfrm>
            <a:off x="971550" y="5084763"/>
            <a:ext cx="1201738" cy="1422400"/>
            <a:chOff x="1247" y="3203"/>
            <a:chExt cx="757" cy="896"/>
          </a:xfrm>
        </p:grpSpPr>
        <p:sp>
          <p:nvSpPr>
            <p:cNvPr id="52242" name="Line 32"/>
            <p:cNvSpPr>
              <a:spLocks noChangeShapeType="1"/>
            </p:cNvSpPr>
            <p:nvPr/>
          </p:nvSpPr>
          <p:spPr bwMode="auto">
            <a:xfrm flipH="1" flipV="1">
              <a:off x="1655" y="3203"/>
              <a:ext cx="182" cy="59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2075" tIns="46038" rIns="92075" bIns="46038"/>
            <a:lstStyle/>
            <a:p>
              <a:endParaRPr lang="zh-CN" altLang="en-US"/>
            </a:p>
          </p:txBody>
        </p:sp>
        <p:sp>
          <p:nvSpPr>
            <p:cNvPr id="52243" name="Line 33"/>
            <p:cNvSpPr>
              <a:spLocks noChangeShapeType="1"/>
            </p:cNvSpPr>
            <p:nvPr/>
          </p:nvSpPr>
          <p:spPr bwMode="auto">
            <a:xfrm flipH="1">
              <a:off x="1429" y="3203"/>
              <a:ext cx="192" cy="68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2075" tIns="46038" rIns="92075" bIns="46038"/>
            <a:lstStyle/>
            <a:p>
              <a:endParaRPr lang="zh-CN" altLang="en-US"/>
            </a:p>
          </p:txBody>
        </p:sp>
        <p:sp>
          <p:nvSpPr>
            <p:cNvPr id="52244" name="Rectangle 34"/>
            <p:cNvSpPr>
              <a:spLocks noChangeArrowheads="1"/>
            </p:cNvSpPr>
            <p:nvPr/>
          </p:nvSpPr>
          <p:spPr bwMode="auto">
            <a:xfrm>
              <a:off x="1746" y="3734"/>
              <a:ext cx="258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3200" b="1">
                  <a:latin typeface="Times New Roman" pitchFamily="18" charset="0"/>
                </a:rPr>
                <a:t>b</a:t>
              </a:r>
              <a:endParaRPr lang="zh-CN" altLang="en-US" sz="3200" b="1">
                <a:latin typeface="Times New Roman" pitchFamily="18" charset="0"/>
              </a:endParaRPr>
            </a:p>
          </p:txBody>
        </p:sp>
        <p:sp>
          <p:nvSpPr>
            <p:cNvPr id="52245" name="Rectangle 35"/>
            <p:cNvSpPr>
              <a:spLocks noChangeArrowheads="1"/>
            </p:cNvSpPr>
            <p:nvPr/>
          </p:nvSpPr>
          <p:spPr bwMode="auto">
            <a:xfrm>
              <a:off x="1247" y="3734"/>
              <a:ext cx="244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3200" b="1">
                  <a:latin typeface="Times New Roman" pitchFamily="18" charset="0"/>
                </a:rPr>
                <a:t>a</a:t>
              </a:r>
              <a:endParaRPr lang="zh-CN" altLang="en-US" sz="3200" b="1">
                <a:latin typeface="Times New Roman" pitchFamily="18" charset="0"/>
              </a:endParaRPr>
            </a:p>
          </p:txBody>
        </p:sp>
      </p:grpSp>
      <p:grpSp>
        <p:nvGrpSpPr>
          <p:cNvPr id="4" name="Group 36"/>
          <p:cNvGrpSpPr>
            <a:grpSpLocks/>
          </p:cNvGrpSpPr>
          <p:nvPr/>
        </p:nvGrpSpPr>
        <p:grpSpPr bwMode="auto">
          <a:xfrm>
            <a:off x="3779838" y="5084763"/>
            <a:ext cx="387350" cy="1422400"/>
            <a:chOff x="1474" y="3203"/>
            <a:chExt cx="244" cy="896"/>
          </a:xfrm>
        </p:grpSpPr>
        <p:sp>
          <p:nvSpPr>
            <p:cNvPr id="52240" name="Line 37"/>
            <p:cNvSpPr>
              <a:spLocks noChangeShapeType="1"/>
            </p:cNvSpPr>
            <p:nvPr/>
          </p:nvSpPr>
          <p:spPr bwMode="auto">
            <a:xfrm flipH="1">
              <a:off x="1610" y="3203"/>
              <a:ext cx="11" cy="68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2075" tIns="46038" rIns="92075" bIns="46038"/>
            <a:lstStyle/>
            <a:p>
              <a:endParaRPr lang="zh-CN" altLang="en-US"/>
            </a:p>
          </p:txBody>
        </p:sp>
        <p:sp>
          <p:nvSpPr>
            <p:cNvPr id="52241" name="Rectangle 38"/>
            <p:cNvSpPr>
              <a:spLocks noChangeArrowheads="1"/>
            </p:cNvSpPr>
            <p:nvPr/>
          </p:nvSpPr>
          <p:spPr bwMode="auto">
            <a:xfrm>
              <a:off x="1474" y="3734"/>
              <a:ext cx="244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3200" b="1">
                  <a:latin typeface="Times New Roman" pitchFamily="18" charset="0"/>
                </a:rPr>
                <a:t>a</a:t>
              </a:r>
              <a:endParaRPr lang="zh-CN" altLang="en-US" sz="3200" b="1">
                <a:latin typeface="Times New Roman" pitchFamily="18" charset="0"/>
              </a:endParaRPr>
            </a:p>
          </p:txBody>
        </p:sp>
      </p:grpSp>
      <p:grpSp>
        <p:nvGrpSpPr>
          <p:cNvPr id="5" name="Group 39"/>
          <p:cNvGrpSpPr>
            <a:grpSpLocks/>
          </p:cNvGrpSpPr>
          <p:nvPr/>
        </p:nvGrpSpPr>
        <p:grpSpPr bwMode="auto">
          <a:xfrm>
            <a:off x="2916238" y="3295650"/>
            <a:ext cx="2238375" cy="1916113"/>
            <a:chOff x="930" y="2076"/>
            <a:chExt cx="1410" cy="1207"/>
          </a:xfrm>
        </p:grpSpPr>
        <p:sp>
          <p:nvSpPr>
            <p:cNvPr id="52235" name="Line 40"/>
            <p:cNvSpPr>
              <a:spLocks noChangeShapeType="1"/>
            </p:cNvSpPr>
            <p:nvPr/>
          </p:nvSpPr>
          <p:spPr bwMode="auto">
            <a:xfrm flipH="1">
              <a:off x="1066" y="2387"/>
              <a:ext cx="482" cy="63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2075" tIns="46038" rIns="92075" bIns="46038"/>
            <a:lstStyle/>
            <a:p>
              <a:endParaRPr lang="zh-CN" altLang="en-US"/>
            </a:p>
          </p:txBody>
        </p:sp>
        <p:sp>
          <p:nvSpPr>
            <p:cNvPr id="52236" name="Line 41"/>
            <p:cNvSpPr>
              <a:spLocks noChangeShapeType="1"/>
            </p:cNvSpPr>
            <p:nvPr/>
          </p:nvSpPr>
          <p:spPr bwMode="auto">
            <a:xfrm flipH="1">
              <a:off x="1610" y="2432"/>
              <a:ext cx="0" cy="63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2075" tIns="46038" rIns="92075" bIns="46038"/>
            <a:lstStyle/>
            <a:p>
              <a:endParaRPr lang="zh-CN" altLang="en-US"/>
            </a:p>
          </p:txBody>
        </p:sp>
        <p:sp>
          <p:nvSpPr>
            <p:cNvPr id="52237" name="Line 42"/>
            <p:cNvSpPr>
              <a:spLocks noChangeShapeType="1"/>
            </p:cNvSpPr>
            <p:nvPr/>
          </p:nvSpPr>
          <p:spPr bwMode="auto">
            <a:xfrm>
              <a:off x="1701" y="2387"/>
              <a:ext cx="499" cy="68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2075" tIns="46038" rIns="92075" bIns="46038"/>
            <a:lstStyle/>
            <a:p>
              <a:endParaRPr lang="zh-CN" altLang="en-US"/>
            </a:p>
          </p:txBody>
        </p:sp>
        <p:sp>
          <p:nvSpPr>
            <p:cNvPr id="52238" name="Rectangle 43"/>
            <p:cNvSpPr>
              <a:spLocks noChangeArrowheads="1"/>
            </p:cNvSpPr>
            <p:nvPr/>
          </p:nvSpPr>
          <p:spPr bwMode="auto">
            <a:xfrm>
              <a:off x="930" y="2918"/>
              <a:ext cx="1410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3200" b="1">
                  <a:latin typeface="Times New Roman" pitchFamily="18" charset="0"/>
                </a:rPr>
                <a:t>c	A	d</a:t>
              </a:r>
              <a:endParaRPr lang="zh-CN" altLang="en-US" sz="3200" b="1">
                <a:latin typeface="Times New Roman" pitchFamily="18" charset="0"/>
              </a:endParaRPr>
            </a:p>
          </p:txBody>
        </p:sp>
        <p:sp>
          <p:nvSpPr>
            <p:cNvPr id="52239" name="Rectangle 44"/>
            <p:cNvSpPr>
              <a:spLocks noChangeArrowheads="1"/>
            </p:cNvSpPr>
            <p:nvPr/>
          </p:nvSpPr>
          <p:spPr bwMode="auto">
            <a:xfrm>
              <a:off x="1474" y="2076"/>
              <a:ext cx="258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3200" b="1">
                  <a:latin typeface="Times New Roman" pitchFamily="18" charset="0"/>
                </a:rPr>
                <a:t>S</a:t>
              </a:r>
              <a:endParaRPr lang="zh-CN" altLang="en-US" sz="3200" b="1">
                <a:latin typeface="Times New Roman" pitchFamily="18" charset="0"/>
              </a:endParaRPr>
            </a:p>
          </p:txBody>
        </p:sp>
      </p:grpSp>
      <p:sp>
        <p:nvSpPr>
          <p:cNvPr id="307245" name="Text Box 45"/>
          <p:cNvSpPr txBox="1">
            <a:spLocks noChangeArrowheads="1"/>
          </p:cNvSpPr>
          <p:nvPr/>
        </p:nvSpPr>
        <p:spPr bwMode="auto">
          <a:xfrm>
            <a:off x="5508625" y="3573463"/>
            <a:ext cx="3311525" cy="2041525"/>
          </a:xfrm>
          <a:prstGeom prst="rect">
            <a:avLst/>
          </a:prstGeom>
          <a:solidFill>
            <a:srgbClr val="00666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3200" b="1">
                <a:solidFill>
                  <a:schemeClr val="bg1"/>
                </a:solidFill>
                <a:latin typeface="Times New Roman" pitchFamily="18" charset="0"/>
                <a:ea typeface="华文新魏" pitchFamily="2" charset="-122"/>
              </a:rPr>
              <a:t>当需要用</a:t>
            </a:r>
            <a:r>
              <a:rPr lang="en-US" altLang="zh-CN" sz="3200" b="1">
                <a:solidFill>
                  <a:schemeClr val="bg1"/>
                </a:solidFill>
                <a:latin typeface="Times New Roman" pitchFamily="18" charset="0"/>
                <a:ea typeface="华文新魏" pitchFamily="2" charset="-122"/>
              </a:rPr>
              <a:t>A</a:t>
            </a:r>
            <a:r>
              <a:rPr lang="zh-CN" altLang="en-US" sz="3200" b="1">
                <a:solidFill>
                  <a:schemeClr val="bg1"/>
                </a:solidFill>
                <a:latin typeface="Times New Roman" pitchFamily="18" charset="0"/>
                <a:ea typeface="华文新魏" pitchFamily="2" charset="-122"/>
              </a:rPr>
              <a:t>派生时，</a:t>
            </a:r>
            <a:r>
              <a:rPr lang="zh-CN" altLang="en-US" sz="3200" b="1">
                <a:solidFill>
                  <a:srgbClr val="FFFF00"/>
                </a:solidFill>
                <a:latin typeface="Times New Roman" pitchFamily="18" charset="0"/>
                <a:ea typeface="华文新魏" pitchFamily="2" charset="-122"/>
              </a:rPr>
              <a:t>无法根据输入符号</a:t>
            </a:r>
            <a:r>
              <a:rPr lang="en-US" altLang="zh-CN" sz="3200" b="1">
                <a:solidFill>
                  <a:srgbClr val="FFFF00"/>
                </a:solidFill>
                <a:latin typeface="Times New Roman" pitchFamily="18" charset="0"/>
                <a:ea typeface="华文新魏" pitchFamily="2" charset="-122"/>
              </a:rPr>
              <a:t>a</a:t>
            </a:r>
            <a:r>
              <a:rPr lang="zh-CN" altLang="en-US" sz="3200" b="1">
                <a:solidFill>
                  <a:srgbClr val="FFFF00"/>
                </a:solidFill>
                <a:latin typeface="Times New Roman" pitchFamily="18" charset="0"/>
                <a:ea typeface="华文新魏" pitchFamily="2" charset="-122"/>
              </a:rPr>
              <a:t>唯一确定</a:t>
            </a:r>
            <a:r>
              <a:rPr lang="en-US" altLang="zh-CN" sz="3200" b="1">
                <a:solidFill>
                  <a:srgbClr val="FFFF00"/>
                </a:solidFill>
                <a:latin typeface="Times New Roman" pitchFamily="18" charset="0"/>
                <a:ea typeface="华文新魏" pitchFamily="2" charset="-122"/>
              </a:rPr>
              <a:t>A</a:t>
            </a:r>
            <a:r>
              <a:rPr lang="zh-CN" altLang="en-US" sz="3200" b="1">
                <a:solidFill>
                  <a:srgbClr val="FFFF00"/>
                </a:solidFill>
                <a:latin typeface="Times New Roman" pitchFamily="18" charset="0"/>
                <a:ea typeface="华文新魏" pitchFamily="2" charset="-122"/>
              </a:rPr>
              <a:t>的候选式</a:t>
            </a:r>
            <a:endParaRPr lang="en-US" altLang="zh-CN" sz="3200" b="1">
              <a:solidFill>
                <a:srgbClr val="FFFF00"/>
              </a:solidFill>
              <a:latin typeface="Times New Roman" pitchFamily="18" charset="0"/>
              <a:ea typeface="华文新魏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642" name="Rectangle 2"/>
          <p:cNvSpPr>
            <a:spLocks noGrp="1" noChangeArrowheads="1"/>
          </p:cNvSpPr>
          <p:nvPr>
            <p:ph type="title"/>
          </p:nvPr>
        </p:nvSpPr>
        <p:spPr>
          <a:xfrm>
            <a:off x="900113" y="692150"/>
            <a:ext cx="7848600" cy="979488"/>
          </a:xfrm>
        </p:spPr>
        <p:txBody>
          <a:bodyPr lIns="92075" tIns="46038" rIns="92075" bIns="46038"/>
          <a:lstStyle/>
          <a:p>
            <a:pPr eaLnBrk="1" hangingPunct="1">
              <a:defRPr/>
            </a:pPr>
            <a:r>
              <a:rPr lang="zh-CN" altLang="en-US" b="1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候选式的确定与回溯</a:t>
            </a:r>
            <a:r>
              <a:rPr lang="en-US" altLang="zh-CN" sz="2800" b="1">
                <a:solidFill>
                  <a:srgbClr val="000099"/>
                </a:solidFill>
                <a:latin typeface="Times New Roman" pitchFamily="18" charset="0"/>
                <a:ea typeface="华文新魏" pitchFamily="2" charset="-122"/>
              </a:rPr>
              <a:t>(Backtracking)</a:t>
            </a:r>
            <a:endParaRPr lang="zh-CN" altLang="en-US" sz="2800" b="1">
              <a:solidFill>
                <a:srgbClr val="000099"/>
              </a:solidFill>
              <a:latin typeface="Times New Roman" pitchFamily="18" charset="0"/>
              <a:ea typeface="华文新魏" pitchFamily="2" charset="-122"/>
            </a:endParaRPr>
          </a:p>
        </p:txBody>
      </p:sp>
      <p:sp>
        <p:nvSpPr>
          <p:cNvPr id="53251" name="Rectangle 3"/>
          <p:cNvSpPr>
            <a:spLocks noGrp="1" noChangeArrowheads="1"/>
          </p:cNvSpPr>
          <p:nvPr>
            <p:ph idx="1"/>
          </p:nvPr>
        </p:nvSpPr>
        <p:spPr>
          <a:xfrm>
            <a:off x="533400" y="1905000"/>
            <a:ext cx="8458200" cy="1595438"/>
          </a:xfrm>
        </p:spPr>
        <p:txBody>
          <a:bodyPr lIns="92075" tIns="46038" rIns="92075" bIns="46038"/>
          <a:lstStyle/>
          <a:p>
            <a:pPr eaLnBrk="1" hangingPunct="1">
              <a:lnSpc>
                <a:spcPct val="110000"/>
              </a:lnSpc>
            </a:pPr>
            <a:r>
              <a:rPr lang="zh-CN" altLang="en-US" sz="3600" b="1" smtClean="0">
                <a:latin typeface="Times New Roman" pitchFamily="18" charset="0"/>
                <a:ea typeface="华文新魏" pitchFamily="2" charset="-122"/>
              </a:rPr>
              <a:t>给定文法</a:t>
            </a:r>
            <a:r>
              <a:rPr lang="en-US" altLang="zh-CN" sz="3600" b="1" smtClean="0">
                <a:latin typeface="Times New Roman" pitchFamily="18" charset="0"/>
                <a:ea typeface="华文新魏" pitchFamily="2" charset="-122"/>
              </a:rPr>
              <a:t>S→cAd	A→ab|</a:t>
            </a:r>
            <a:r>
              <a:rPr lang="en-US" altLang="zh-CN" sz="3600" b="1" smtClean="0">
                <a:solidFill>
                  <a:schemeClr val="hlink"/>
                </a:solidFill>
                <a:latin typeface="Times New Roman" pitchFamily="18" charset="0"/>
                <a:ea typeface="华文新魏" pitchFamily="2" charset="-122"/>
              </a:rPr>
              <a:t>a</a:t>
            </a:r>
            <a:r>
              <a:rPr lang="en-US" altLang="zh-CN" sz="3600" b="1" smtClean="0">
                <a:latin typeface="Times New Roman" pitchFamily="18" charset="0"/>
                <a:ea typeface="华文新魏" pitchFamily="2" charset="-122"/>
              </a:rPr>
              <a:t>e</a:t>
            </a:r>
          </a:p>
          <a:p>
            <a:pPr eaLnBrk="1" hangingPunct="1">
              <a:lnSpc>
                <a:spcPct val="110000"/>
              </a:lnSpc>
              <a:buFont typeface="Wingdings" pitchFamily="2" charset="2"/>
              <a:buNone/>
            </a:pPr>
            <a:r>
              <a:rPr lang="en-US" altLang="zh-CN" sz="3600" b="1" smtClean="0">
                <a:latin typeface="Times New Roman" pitchFamily="18" charset="0"/>
                <a:ea typeface="华文新魏" pitchFamily="2" charset="-122"/>
              </a:rPr>
              <a:t>     cad</a:t>
            </a:r>
            <a:r>
              <a:rPr lang="zh-CN" altLang="en-US" sz="3600" b="1" smtClean="0">
                <a:latin typeface="Times New Roman" pitchFamily="18" charset="0"/>
                <a:ea typeface="华文新魏" pitchFamily="2" charset="-122"/>
              </a:rPr>
              <a:t>是该文法定义语言的句子吗</a:t>
            </a:r>
            <a:r>
              <a:rPr lang="en-US" altLang="zh-CN" sz="3600" b="1" smtClean="0">
                <a:latin typeface="Times New Roman" pitchFamily="18" charset="0"/>
                <a:ea typeface="华文新魏" pitchFamily="2" charset="-122"/>
              </a:rPr>
              <a:t>?</a:t>
            </a:r>
          </a:p>
        </p:txBody>
      </p:sp>
      <p:sp>
        <p:nvSpPr>
          <p:cNvPr id="53252" name="日期占位符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61AE176A-8F7A-4BBA-95ED-0E7BCA03A25D}" type="datetime1">
              <a:rPr lang="zh-CN" altLang="en-US" smtClean="0"/>
              <a:pPr eaLnBrk="1" hangingPunct="1"/>
              <a:t>2017/2/24</a:t>
            </a:fld>
            <a:endParaRPr lang="en-US" altLang="zh-CN" smtClean="0"/>
          </a:p>
        </p:txBody>
      </p:sp>
      <p:sp>
        <p:nvSpPr>
          <p:cNvPr id="53253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34D53F81-0EA0-4F12-B6E5-A802E4F4D99F}" type="slidenum">
              <a:rPr lang="zh-CN" altLang="en-US" smtClean="0"/>
              <a:pPr eaLnBrk="1" hangingPunct="1"/>
              <a:t>44</a:t>
            </a:fld>
            <a:endParaRPr lang="en-US" altLang="zh-CN" smtClean="0"/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468313" y="3295650"/>
            <a:ext cx="2238375" cy="1916113"/>
            <a:chOff x="930" y="2076"/>
            <a:chExt cx="1410" cy="1207"/>
          </a:xfrm>
        </p:grpSpPr>
        <p:sp>
          <p:nvSpPr>
            <p:cNvPr id="53272" name="Line 5"/>
            <p:cNvSpPr>
              <a:spLocks noChangeShapeType="1"/>
            </p:cNvSpPr>
            <p:nvPr/>
          </p:nvSpPr>
          <p:spPr bwMode="auto">
            <a:xfrm flipH="1">
              <a:off x="1066" y="2387"/>
              <a:ext cx="482" cy="63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2075" tIns="46038" rIns="92075" bIns="46038"/>
            <a:lstStyle/>
            <a:p>
              <a:endParaRPr lang="zh-CN" altLang="en-US"/>
            </a:p>
          </p:txBody>
        </p:sp>
        <p:sp>
          <p:nvSpPr>
            <p:cNvPr id="53273" name="Line 6"/>
            <p:cNvSpPr>
              <a:spLocks noChangeShapeType="1"/>
            </p:cNvSpPr>
            <p:nvPr/>
          </p:nvSpPr>
          <p:spPr bwMode="auto">
            <a:xfrm flipH="1">
              <a:off x="1610" y="2432"/>
              <a:ext cx="0" cy="63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2075" tIns="46038" rIns="92075" bIns="46038"/>
            <a:lstStyle/>
            <a:p>
              <a:endParaRPr lang="zh-CN" altLang="en-US"/>
            </a:p>
          </p:txBody>
        </p:sp>
        <p:sp>
          <p:nvSpPr>
            <p:cNvPr id="53274" name="Line 7"/>
            <p:cNvSpPr>
              <a:spLocks noChangeShapeType="1"/>
            </p:cNvSpPr>
            <p:nvPr/>
          </p:nvSpPr>
          <p:spPr bwMode="auto">
            <a:xfrm>
              <a:off x="1701" y="2387"/>
              <a:ext cx="499" cy="68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2075" tIns="46038" rIns="92075" bIns="46038"/>
            <a:lstStyle/>
            <a:p>
              <a:endParaRPr lang="zh-CN" altLang="en-US"/>
            </a:p>
          </p:txBody>
        </p:sp>
        <p:sp>
          <p:nvSpPr>
            <p:cNvPr id="53275" name="Rectangle 8"/>
            <p:cNvSpPr>
              <a:spLocks noChangeArrowheads="1"/>
            </p:cNvSpPr>
            <p:nvPr/>
          </p:nvSpPr>
          <p:spPr bwMode="auto">
            <a:xfrm>
              <a:off x="930" y="2918"/>
              <a:ext cx="1410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3200" b="1">
                  <a:latin typeface="Times New Roman" pitchFamily="18" charset="0"/>
                </a:rPr>
                <a:t>c	A	d</a:t>
              </a:r>
              <a:endParaRPr lang="zh-CN" altLang="en-US" sz="3200" b="1">
                <a:latin typeface="Times New Roman" pitchFamily="18" charset="0"/>
              </a:endParaRPr>
            </a:p>
          </p:txBody>
        </p:sp>
        <p:sp>
          <p:nvSpPr>
            <p:cNvPr id="53276" name="Rectangle 9"/>
            <p:cNvSpPr>
              <a:spLocks noChangeArrowheads="1"/>
            </p:cNvSpPr>
            <p:nvPr/>
          </p:nvSpPr>
          <p:spPr bwMode="auto">
            <a:xfrm>
              <a:off x="1474" y="2076"/>
              <a:ext cx="258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3200" b="1">
                  <a:latin typeface="Times New Roman" pitchFamily="18" charset="0"/>
                </a:rPr>
                <a:t>S</a:t>
              </a:r>
              <a:endParaRPr lang="zh-CN" altLang="en-US" sz="3200" b="1">
                <a:latin typeface="Times New Roman" pitchFamily="18" charset="0"/>
              </a:endParaRPr>
            </a:p>
          </p:txBody>
        </p:sp>
      </p:grpSp>
      <p:grpSp>
        <p:nvGrpSpPr>
          <p:cNvPr id="3" name="Group 10"/>
          <p:cNvGrpSpPr>
            <a:grpSpLocks/>
          </p:cNvGrpSpPr>
          <p:nvPr/>
        </p:nvGrpSpPr>
        <p:grpSpPr bwMode="auto">
          <a:xfrm>
            <a:off x="971550" y="5084763"/>
            <a:ext cx="1201738" cy="1422400"/>
            <a:chOff x="1247" y="3203"/>
            <a:chExt cx="757" cy="896"/>
          </a:xfrm>
        </p:grpSpPr>
        <p:sp>
          <p:nvSpPr>
            <p:cNvPr id="53268" name="Line 11"/>
            <p:cNvSpPr>
              <a:spLocks noChangeShapeType="1"/>
            </p:cNvSpPr>
            <p:nvPr/>
          </p:nvSpPr>
          <p:spPr bwMode="auto">
            <a:xfrm flipH="1" flipV="1">
              <a:off x="1655" y="3203"/>
              <a:ext cx="182" cy="59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2075" tIns="46038" rIns="92075" bIns="46038"/>
            <a:lstStyle/>
            <a:p>
              <a:endParaRPr lang="zh-CN" altLang="en-US"/>
            </a:p>
          </p:txBody>
        </p:sp>
        <p:sp>
          <p:nvSpPr>
            <p:cNvPr id="53269" name="Line 12"/>
            <p:cNvSpPr>
              <a:spLocks noChangeShapeType="1"/>
            </p:cNvSpPr>
            <p:nvPr/>
          </p:nvSpPr>
          <p:spPr bwMode="auto">
            <a:xfrm flipH="1">
              <a:off x="1429" y="3203"/>
              <a:ext cx="192" cy="68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2075" tIns="46038" rIns="92075" bIns="46038"/>
            <a:lstStyle/>
            <a:p>
              <a:endParaRPr lang="zh-CN" altLang="en-US"/>
            </a:p>
          </p:txBody>
        </p:sp>
        <p:sp>
          <p:nvSpPr>
            <p:cNvPr id="53270" name="Rectangle 13"/>
            <p:cNvSpPr>
              <a:spLocks noChangeArrowheads="1"/>
            </p:cNvSpPr>
            <p:nvPr/>
          </p:nvSpPr>
          <p:spPr bwMode="auto">
            <a:xfrm>
              <a:off x="1746" y="3734"/>
              <a:ext cx="258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3200" b="1">
                  <a:latin typeface="Times New Roman" pitchFamily="18" charset="0"/>
                </a:rPr>
                <a:t>b</a:t>
              </a:r>
              <a:endParaRPr lang="zh-CN" altLang="en-US" sz="3200" b="1">
                <a:latin typeface="Times New Roman" pitchFamily="18" charset="0"/>
              </a:endParaRPr>
            </a:p>
          </p:txBody>
        </p:sp>
        <p:sp>
          <p:nvSpPr>
            <p:cNvPr id="53271" name="Rectangle 14"/>
            <p:cNvSpPr>
              <a:spLocks noChangeArrowheads="1"/>
            </p:cNvSpPr>
            <p:nvPr/>
          </p:nvSpPr>
          <p:spPr bwMode="auto">
            <a:xfrm>
              <a:off x="1247" y="3734"/>
              <a:ext cx="244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3200" b="1">
                  <a:latin typeface="Times New Roman" pitchFamily="18" charset="0"/>
                </a:rPr>
                <a:t>a</a:t>
              </a:r>
              <a:endParaRPr lang="zh-CN" altLang="en-US" sz="3200" b="1">
                <a:latin typeface="Times New Roman" pitchFamily="18" charset="0"/>
              </a:endParaRPr>
            </a:p>
          </p:txBody>
        </p:sp>
      </p:grpSp>
      <p:grpSp>
        <p:nvGrpSpPr>
          <p:cNvPr id="4" name="Group 18"/>
          <p:cNvGrpSpPr>
            <a:grpSpLocks/>
          </p:cNvGrpSpPr>
          <p:nvPr/>
        </p:nvGrpSpPr>
        <p:grpSpPr bwMode="auto">
          <a:xfrm>
            <a:off x="2916238" y="3295650"/>
            <a:ext cx="2238375" cy="1916113"/>
            <a:chOff x="930" y="2076"/>
            <a:chExt cx="1410" cy="1207"/>
          </a:xfrm>
        </p:grpSpPr>
        <p:sp>
          <p:nvSpPr>
            <p:cNvPr id="53263" name="Line 19"/>
            <p:cNvSpPr>
              <a:spLocks noChangeShapeType="1"/>
            </p:cNvSpPr>
            <p:nvPr/>
          </p:nvSpPr>
          <p:spPr bwMode="auto">
            <a:xfrm flipH="1">
              <a:off x="1066" y="2387"/>
              <a:ext cx="482" cy="63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2075" tIns="46038" rIns="92075" bIns="46038"/>
            <a:lstStyle/>
            <a:p>
              <a:endParaRPr lang="zh-CN" altLang="en-US"/>
            </a:p>
          </p:txBody>
        </p:sp>
        <p:sp>
          <p:nvSpPr>
            <p:cNvPr id="53264" name="Line 20"/>
            <p:cNvSpPr>
              <a:spLocks noChangeShapeType="1"/>
            </p:cNvSpPr>
            <p:nvPr/>
          </p:nvSpPr>
          <p:spPr bwMode="auto">
            <a:xfrm flipH="1">
              <a:off x="1610" y="2432"/>
              <a:ext cx="0" cy="63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2075" tIns="46038" rIns="92075" bIns="46038"/>
            <a:lstStyle/>
            <a:p>
              <a:endParaRPr lang="zh-CN" altLang="en-US"/>
            </a:p>
          </p:txBody>
        </p:sp>
        <p:sp>
          <p:nvSpPr>
            <p:cNvPr id="53265" name="Line 21"/>
            <p:cNvSpPr>
              <a:spLocks noChangeShapeType="1"/>
            </p:cNvSpPr>
            <p:nvPr/>
          </p:nvSpPr>
          <p:spPr bwMode="auto">
            <a:xfrm>
              <a:off x="1701" y="2387"/>
              <a:ext cx="499" cy="68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2075" tIns="46038" rIns="92075" bIns="46038"/>
            <a:lstStyle/>
            <a:p>
              <a:endParaRPr lang="zh-CN" altLang="en-US"/>
            </a:p>
          </p:txBody>
        </p:sp>
        <p:sp>
          <p:nvSpPr>
            <p:cNvPr id="53266" name="Rectangle 22"/>
            <p:cNvSpPr>
              <a:spLocks noChangeArrowheads="1"/>
            </p:cNvSpPr>
            <p:nvPr/>
          </p:nvSpPr>
          <p:spPr bwMode="auto">
            <a:xfrm>
              <a:off x="930" y="2918"/>
              <a:ext cx="1410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3200" b="1">
                  <a:latin typeface="Times New Roman" pitchFamily="18" charset="0"/>
                </a:rPr>
                <a:t>c	A	d</a:t>
              </a:r>
              <a:endParaRPr lang="zh-CN" altLang="en-US" sz="3200" b="1">
                <a:latin typeface="Times New Roman" pitchFamily="18" charset="0"/>
              </a:endParaRPr>
            </a:p>
          </p:txBody>
        </p:sp>
        <p:sp>
          <p:nvSpPr>
            <p:cNvPr id="53267" name="Rectangle 23"/>
            <p:cNvSpPr>
              <a:spLocks noChangeArrowheads="1"/>
            </p:cNvSpPr>
            <p:nvPr/>
          </p:nvSpPr>
          <p:spPr bwMode="auto">
            <a:xfrm>
              <a:off x="1474" y="2076"/>
              <a:ext cx="258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3200" b="1">
                  <a:latin typeface="Times New Roman" pitchFamily="18" charset="0"/>
                </a:rPr>
                <a:t>S</a:t>
              </a:r>
              <a:endParaRPr lang="zh-CN" altLang="en-US" sz="3200" b="1">
                <a:latin typeface="Times New Roman" pitchFamily="18" charset="0"/>
              </a:endParaRPr>
            </a:p>
          </p:txBody>
        </p:sp>
      </p:grpSp>
      <p:sp>
        <p:nvSpPr>
          <p:cNvPr id="496664" name="Text Box 24"/>
          <p:cNvSpPr txBox="1">
            <a:spLocks noChangeArrowheads="1"/>
          </p:cNvSpPr>
          <p:nvPr/>
        </p:nvSpPr>
        <p:spPr bwMode="auto">
          <a:xfrm>
            <a:off x="5508625" y="3573463"/>
            <a:ext cx="3311525" cy="2041525"/>
          </a:xfrm>
          <a:prstGeom prst="rect">
            <a:avLst/>
          </a:prstGeom>
          <a:solidFill>
            <a:srgbClr val="00666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3200" b="1">
                <a:solidFill>
                  <a:schemeClr val="bg1"/>
                </a:solidFill>
                <a:latin typeface="Times New Roman" pitchFamily="18" charset="0"/>
                <a:ea typeface="华文新魏" pitchFamily="2" charset="-122"/>
              </a:rPr>
              <a:t>当需要用</a:t>
            </a:r>
            <a:r>
              <a:rPr lang="en-US" altLang="zh-CN" sz="3200" b="1">
                <a:solidFill>
                  <a:schemeClr val="bg1"/>
                </a:solidFill>
                <a:latin typeface="Times New Roman" pitchFamily="18" charset="0"/>
                <a:ea typeface="华文新魏" pitchFamily="2" charset="-122"/>
              </a:rPr>
              <a:t>A</a:t>
            </a:r>
            <a:r>
              <a:rPr lang="zh-CN" altLang="en-US" sz="3200" b="1">
                <a:solidFill>
                  <a:schemeClr val="bg1"/>
                </a:solidFill>
                <a:latin typeface="Times New Roman" pitchFamily="18" charset="0"/>
                <a:ea typeface="华文新魏" pitchFamily="2" charset="-122"/>
              </a:rPr>
              <a:t>派生时，</a:t>
            </a:r>
            <a:r>
              <a:rPr lang="zh-CN" altLang="en-US" sz="3200" b="1">
                <a:solidFill>
                  <a:srgbClr val="FFFF00"/>
                </a:solidFill>
                <a:latin typeface="Times New Roman" pitchFamily="18" charset="0"/>
                <a:ea typeface="华文新魏" pitchFamily="2" charset="-122"/>
              </a:rPr>
              <a:t>无法根据输入符号</a:t>
            </a:r>
            <a:r>
              <a:rPr lang="en-US" altLang="zh-CN" sz="3200" b="1">
                <a:solidFill>
                  <a:srgbClr val="FFFF00"/>
                </a:solidFill>
                <a:latin typeface="Times New Roman" pitchFamily="18" charset="0"/>
                <a:ea typeface="华文新魏" pitchFamily="2" charset="-122"/>
              </a:rPr>
              <a:t>a</a:t>
            </a:r>
            <a:r>
              <a:rPr lang="zh-CN" altLang="en-US" sz="3200" b="1">
                <a:solidFill>
                  <a:srgbClr val="FFFF00"/>
                </a:solidFill>
                <a:latin typeface="Times New Roman" pitchFamily="18" charset="0"/>
                <a:ea typeface="华文新魏" pitchFamily="2" charset="-122"/>
              </a:rPr>
              <a:t>唯一确定</a:t>
            </a:r>
            <a:r>
              <a:rPr lang="en-US" altLang="zh-CN" sz="3200" b="1">
                <a:solidFill>
                  <a:srgbClr val="FFFF00"/>
                </a:solidFill>
                <a:latin typeface="Times New Roman" pitchFamily="18" charset="0"/>
                <a:ea typeface="华文新魏" pitchFamily="2" charset="-122"/>
              </a:rPr>
              <a:t>A</a:t>
            </a:r>
            <a:r>
              <a:rPr lang="zh-CN" altLang="en-US" sz="3200" b="1">
                <a:solidFill>
                  <a:srgbClr val="FFFF00"/>
                </a:solidFill>
                <a:latin typeface="Times New Roman" pitchFamily="18" charset="0"/>
                <a:ea typeface="华文新魏" pitchFamily="2" charset="-122"/>
              </a:rPr>
              <a:t>的候选式</a:t>
            </a:r>
            <a:endParaRPr lang="en-US" altLang="zh-CN" sz="3200" b="1">
              <a:solidFill>
                <a:srgbClr val="FFFF00"/>
              </a:solidFill>
              <a:latin typeface="Times New Roman" pitchFamily="18" charset="0"/>
              <a:ea typeface="华文新魏" pitchFamily="2" charset="-122"/>
            </a:endParaRPr>
          </a:p>
        </p:txBody>
      </p:sp>
      <p:grpSp>
        <p:nvGrpSpPr>
          <p:cNvPr id="5" name="Group 25"/>
          <p:cNvGrpSpPr>
            <a:grpSpLocks/>
          </p:cNvGrpSpPr>
          <p:nvPr/>
        </p:nvGrpSpPr>
        <p:grpSpPr bwMode="auto">
          <a:xfrm>
            <a:off x="3419475" y="5084763"/>
            <a:ext cx="1157288" cy="1422400"/>
            <a:chOff x="1247" y="3203"/>
            <a:chExt cx="729" cy="896"/>
          </a:xfrm>
        </p:grpSpPr>
        <p:sp>
          <p:nvSpPr>
            <p:cNvPr id="53259" name="Line 26"/>
            <p:cNvSpPr>
              <a:spLocks noChangeShapeType="1"/>
            </p:cNvSpPr>
            <p:nvPr/>
          </p:nvSpPr>
          <p:spPr bwMode="auto">
            <a:xfrm flipH="1" flipV="1">
              <a:off x="1655" y="3203"/>
              <a:ext cx="182" cy="59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2075" tIns="46038" rIns="92075" bIns="46038"/>
            <a:lstStyle/>
            <a:p>
              <a:endParaRPr lang="zh-CN" altLang="en-US"/>
            </a:p>
          </p:txBody>
        </p:sp>
        <p:sp>
          <p:nvSpPr>
            <p:cNvPr id="53260" name="Line 27"/>
            <p:cNvSpPr>
              <a:spLocks noChangeShapeType="1"/>
            </p:cNvSpPr>
            <p:nvPr/>
          </p:nvSpPr>
          <p:spPr bwMode="auto">
            <a:xfrm flipH="1">
              <a:off x="1429" y="3203"/>
              <a:ext cx="192" cy="68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2075" tIns="46038" rIns="92075" bIns="46038"/>
            <a:lstStyle/>
            <a:p>
              <a:endParaRPr lang="zh-CN" altLang="en-US"/>
            </a:p>
          </p:txBody>
        </p:sp>
        <p:sp>
          <p:nvSpPr>
            <p:cNvPr id="53261" name="Rectangle 28"/>
            <p:cNvSpPr>
              <a:spLocks noChangeArrowheads="1"/>
            </p:cNvSpPr>
            <p:nvPr/>
          </p:nvSpPr>
          <p:spPr bwMode="auto">
            <a:xfrm>
              <a:off x="1746" y="3734"/>
              <a:ext cx="230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3200" b="1">
                  <a:latin typeface="Times New Roman" pitchFamily="18" charset="0"/>
                </a:rPr>
                <a:t>e</a:t>
              </a:r>
              <a:endParaRPr lang="zh-CN" altLang="en-US" sz="3200" b="1">
                <a:latin typeface="Times New Roman" pitchFamily="18" charset="0"/>
              </a:endParaRPr>
            </a:p>
          </p:txBody>
        </p:sp>
        <p:sp>
          <p:nvSpPr>
            <p:cNvPr id="53262" name="Rectangle 29"/>
            <p:cNvSpPr>
              <a:spLocks noChangeArrowheads="1"/>
            </p:cNvSpPr>
            <p:nvPr/>
          </p:nvSpPr>
          <p:spPr bwMode="auto">
            <a:xfrm>
              <a:off x="1247" y="3734"/>
              <a:ext cx="244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3200" b="1">
                  <a:latin typeface="Times New Roman" pitchFamily="18" charset="0"/>
                </a:rPr>
                <a:t>a</a:t>
              </a:r>
              <a:endParaRPr lang="zh-CN" altLang="en-US" sz="3200" b="1">
                <a:latin typeface="Times New Roman" pitchFamily="18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858" name="Rectangle 2"/>
          <p:cNvSpPr>
            <a:spLocks noGrp="1" noChangeArrowheads="1"/>
          </p:cNvSpPr>
          <p:nvPr>
            <p:ph type="title"/>
          </p:nvPr>
        </p:nvSpPr>
        <p:spPr>
          <a:xfrm>
            <a:off x="900113" y="620713"/>
            <a:ext cx="7742237" cy="1038225"/>
          </a:xfrm>
        </p:spPr>
        <p:txBody>
          <a:bodyPr lIns="92075" tIns="46038" rIns="92075" bIns="46038"/>
          <a:lstStyle/>
          <a:p>
            <a:pPr eaLnBrk="1" hangingPunct="1">
              <a:defRPr/>
            </a:pPr>
            <a:r>
              <a:rPr lang="zh-CN" altLang="en-US" b="1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候选式的确定与回溯</a:t>
            </a:r>
            <a:r>
              <a:rPr lang="en-US" altLang="zh-CN" sz="2800" b="1">
                <a:solidFill>
                  <a:srgbClr val="000099"/>
                </a:solidFill>
                <a:latin typeface="Times New Roman" pitchFamily="18" charset="0"/>
                <a:ea typeface="华文新魏" pitchFamily="2" charset="-122"/>
              </a:rPr>
              <a:t>(Backtracking)</a:t>
            </a:r>
            <a:endParaRPr lang="zh-CN" altLang="en-US" sz="2800" b="1">
              <a:solidFill>
                <a:srgbClr val="000099"/>
              </a:solidFill>
              <a:latin typeface="Times New Roman" pitchFamily="18" charset="0"/>
              <a:ea typeface="华文新魏" pitchFamily="2" charset="-122"/>
            </a:endParaRPr>
          </a:p>
        </p:txBody>
      </p:sp>
      <p:sp>
        <p:nvSpPr>
          <p:cNvPr id="54275" name="Rectangle 3"/>
          <p:cNvSpPr>
            <a:spLocks noGrp="1" noChangeArrowheads="1"/>
          </p:cNvSpPr>
          <p:nvPr>
            <p:ph idx="1"/>
          </p:nvPr>
        </p:nvSpPr>
        <p:spPr>
          <a:xfrm>
            <a:off x="533400" y="1905000"/>
            <a:ext cx="8458200" cy="1595438"/>
          </a:xfrm>
        </p:spPr>
        <p:txBody>
          <a:bodyPr lIns="92075" tIns="46038" rIns="92075" bIns="46038"/>
          <a:lstStyle/>
          <a:p>
            <a:pPr eaLnBrk="1" hangingPunct="1">
              <a:lnSpc>
                <a:spcPct val="110000"/>
              </a:lnSpc>
            </a:pPr>
            <a:r>
              <a:rPr lang="zh-CN" altLang="en-US" sz="3600" b="1" smtClean="0">
                <a:latin typeface="Times New Roman" pitchFamily="18" charset="0"/>
                <a:ea typeface="华文新魏" pitchFamily="2" charset="-122"/>
              </a:rPr>
              <a:t>给定文法</a:t>
            </a:r>
            <a:r>
              <a:rPr lang="en-US" altLang="zh-CN" sz="3600" b="1" smtClean="0">
                <a:latin typeface="Times New Roman" pitchFamily="18" charset="0"/>
                <a:ea typeface="华文新魏" pitchFamily="2" charset="-122"/>
              </a:rPr>
              <a:t>S→cABd    A→ab|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ε</a:t>
            </a:r>
            <a:r>
              <a:rPr lang="en-US" altLang="zh-CN" sz="3600" b="1" smtClean="0">
                <a:solidFill>
                  <a:schemeClr val="hlink"/>
                </a:solidFill>
                <a:latin typeface="Times New Roman" pitchFamily="18" charset="0"/>
                <a:ea typeface="华文新魏" pitchFamily="2" charset="-122"/>
              </a:rPr>
              <a:t>      </a:t>
            </a:r>
            <a:r>
              <a:rPr lang="en-US" altLang="zh-CN" sz="3600" b="1" smtClean="0">
                <a:latin typeface="Times New Roman" pitchFamily="18" charset="0"/>
                <a:ea typeface="华文新魏" pitchFamily="2" charset="-122"/>
              </a:rPr>
              <a:t>B→a</a:t>
            </a:r>
            <a:endParaRPr lang="en-US" altLang="zh-CN" sz="3600" b="1" smtClean="0">
              <a:solidFill>
                <a:schemeClr val="hlink"/>
              </a:solidFill>
              <a:latin typeface="Times New Roman" pitchFamily="18" charset="0"/>
              <a:ea typeface="华文新魏" pitchFamily="2" charset="-122"/>
            </a:endParaRPr>
          </a:p>
          <a:p>
            <a:pPr eaLnBrk="1" hangingPunct="1">
              <a:lnSpc>
                <a:spcPct val="110000"/>
              </a:lnSpc>
              <a:buFont typeface="Wingdings" pitchFamily="2" charset="2"/>
              <a:buNone/>
            </a:pPr>
            <a:r>
              <a:rPr lang="en-US" altLang="zh-CN" sz="3600" b="1" smtClean="0">
                <a:latin typeface="Times New Roman" pitchFamily="18" charset="0"/>
                <a:ea typeface="华文新魏" pitchFamily="2" charset="-122"/>
              </a:rPr>
              <a:t>     cad</a:t>
            </a:r>
            <a:r>
              <a:rPr lang="zh-CN" altLang="en-US" sz="3600" b="1" smtClean="0">
                <a:latin typeface="Times New Roman" pitchFamily="18" charset="0"/>
                <a:ea typeface="华文新魏" pitchFamily="2" charset="-122"/>
              </a:rPr>
              <a:t>是该文法定义语言的句子吗</a:t>
            </a:r>
            <a:r>
              <a:rPr lang="en-US" altLang="zh-CN" sz="3600" b="1" smtClean="0">
                <a:latin typeface="Times New Roman" pitchFamily="18" charset="0"/>
                <a:ea typeface="华文新魏" pitchFamily="2" charset="-122"/>
              </a:rPr>
              <a:t>?</a:t>
            </a:r>
          </a:p>
        </p:txBody>
      </p:sp>
      <p:sp>
        <p:nvSpPr>
          <p:cNvPr id="54276" name="日期占位符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E64D73B5-3847-445A-8984-462B4A7CE472}" type="datetime1">
              <a:rPr lang="zh-CN" altLang="en-US" smtClean="0"/>
              <a:pPr eaLnBrk="1" hangingPunct="1"/>
              <a:t>2017/2/24</a:t>
            </a:fld>
            <a:endParaRPr lang="en-US" altLang="zh-CN" smtClean="0"/>
          </a:p>
        </p:txBody>
      </p:sp>
      <p:sp>
        <p:nvSpPr>
          <p:cNvPr id="54277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72B415EE-9ADA-474A-91DA-E94722A12B36}" type="slidenum">
              <a:rPr lang="zh-CN" altLang="en-US" smtClean="0"/>
              <a:pPr eaLnBrk="1" hangingPunct="1"/>
              <a:t>45</a:t>
            </a:fld>
            <a:endParaRPr lang="en-US" altLang="zh-CN" smtClean="0"/>
          </a:p>
        </p:txBody>
      </p:sp>
      <p:grpSp>
        <p:nvGrpSpPr>
          <p:cNvPr id="2" name="Group 27"/>
          <p:cNvGrpSpPr>
            <a:grpSpLocks/>
          </p:cNvGrpSpPr>
          <p:nvPr/>
        </p:nvGrpSpPr>
        <p:grpSpPr bwMode="auto">
          <a:xfrm>
            <a:off x="539750" y="5084763"/>
            <a:ext cx="1344613" cy="1455737"/>
            <a:chOff x="930" y="3203"/>
            <a:chExt cx="847" cy="917"/>
          </a:xfrm>
        </p:grpSpPr>
        <p:sp>
          <p:nvSpPr>
            <p:cNvPr id="54300" name="Line 11"/>
            <p:cNvSpPr>
              <a:spLocks noChangeShapeType="1"/>
            </p:cNvSpPr>
            <p:nvPr/>
          </p:nvSpPr>
          <p:spPr bwMode="auto">
            <a:xfrm flipH="1" flipV="1">
              <a:off x="1383" y="3203"/>
              <a:ext cx="227" cy="63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2075" tIns="46038" rIns="92075" bIns="46038"/>
            <a:lstStyle/>
            <a:p>
              <a:endParaRPr lang="zh-CN" altLang="en-US"/>
            </a:p>
          </p:txBody>
        </p:sp>
        <p:sp>
          <p:nvSpPr>
            <p:cNvPr id="54301" name="Line 12"/>
            <p:cNvSpPr>
              <a:spLocks noChangeShapeType="1"/>
            </p:cNvSpPr>
            <p:nvPr/>
          </p:nvSpPr>
          <p:spPr bwMode="auto">
            <a:xfrm flipH="1">
              <a:off x="1111" y="3203"/>
              <a:ext cx="227" cy="63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2075" tIns="46038" rIns="92075" bIns="46038"/>
            <a:lstStyle/>
            <a:p>
              <a:endParaRPr lang="zh-CN" altLang="en-US"/>
            </a:p>
          </p:txBody>
        </p:sp>
        <p:sp>
          <p:nvSpPr>
            <p:cNvPr id="54302" name="Rectangle 13"/>
            <p:cNvSpPr>
              <a:spLocks noChangeArrowheads="1"/>
            </p:cNvSpPr>
            <p:nvPr/>
          </p:nvSpPr>
          <p:spPr bwMode="auto">
            <a:xfrm>
              <a:off x="1519" y="3755"/>
              <a:ext cx="258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3200" b="1">
                  <a:latin typeface="Times New Roman" pitchFamily="18" charset="0"/>
                </a:rPr>
                <a:t>b</a:t>
              </a:r>
              <a:endParaRPr lang="zh-CN" altLang="en-US" sz="3200" b="1">
                <a:latin typeface="Times New Roman" pitchFamily="18" charset="0"/>
              </a:endParaRPr>
            </a:p>
          </p:txBody>
        </p:sp>
        <p:sp>
          <p:nvSpPr>
            <p:cNvPr id="54303" name="Rectangle 14"/>
            <p:cNvSpPr>
              <a:spLocks noChangeArrowheads="1"/>
            </p:cNvSpPr>
            <p:nvPr/>
          </p:nvSpPr>
          <p:spPr bwMode="auto">
            <a:xfrm>
              <a:off x="930" y="3709"/>
              <a:ext cx="244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3200" b="1">
                  <a:latin typeface="Times New Roman" pitchFamily="18" charset="0"/>
                </a:rPr>
                <a:t>a</a:t>
              </a:r>
              <a:endParaRPr lang="zh-CN" altLang="en-US" sz="3200" b="1">
                <a:latin typeface="Times New Roman" pitchFamily="18" charset="0"/>
              </a:endParaRPr>
            </a:p>
          </p:txBody>
        </p:sp>
      </p:grpSp>
      <p:grpSp>
        <p:nvGrpSpPr>
          <p:cNvPr id="3" name="Group 26"/>
          <p:cNvGrpSpPr>
            <a:grpSpLocks/>
          </p:cNvGrpSpPr>
          <p:nvPr/>
        </p:nvGrpSpPr>
        <p:grpSpPr bwMode="auto">
          <a:xfrm>
            <a:off x="395288" y="3295650"/>
            <a:ext cx="2447925" cy="1905000"/>
            <a:chOff x="839" y="2076"/>
            <a:chExt cx="1542" cy="1200"/>
          </a:xfrm>
        </p:grpSpPr>
        <p:sp>
          <p:nvSpPr>
            <p:cNvPr id="54294" name="Line 5"/>
            <p:cNvSpPr>
              <a:spLocks noChangeShapeType="1"/>
            </p:cNvSpPr>
            <p:nvPr/>
          </p:nvSpPr>
          <p:spPr bwMode="auto">
            <a:xfrm flipH="1">
              <a:off x="975" y="2387"/>
              <a:ext cx="573" cy="63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2075" tIns="46038" rIns="92075" bIns="46038"/>
            <a:lstStyle/>
            <a:p>
              <a:endParaRPr lang="zh-CN" altLang="en-US"/>
            </a:p>
          </p:txBody>
        </p:sp>
        <p:sp>
          <p:nvSpPr>
            <p:cNvPr id="54295" name="Line 6"/>
            <p:cNvSpPr>
              <a:spLocks noChangeShapeType="1"/>
            </p:cNvSpPr>
            <p:nvPr/>
          </p:nvSpPr>
          <p:spPr bwMode="auto">
            <a:xfrm flipH="1">
              <a:off x="1383" y="2341"/>
              <a:ext cx="227" cy="68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2075" tIns="46038" rIns="92075" bIns="46038"/>
            <a:lstStyle/>
            <a:p>
              <a:endParaRPr lang="zh-CN" altLang="en-US"/>
            </a:p>
          </p:txBody>
        </p:sp>
        <p:sp>
          <p:nvSpPr>
            <p:cNvPr id="54296" name="Line 7"/>
            <p:cNvSpPr>
              <a:spLocks noChangeShapeType="1"/>
            </p:cNvSpPr>
            <p:nvPr/>
          </p:nvSpPr>
          <p:spPr bwMode="auto">
            <a:xfrm>
              <a:off x="1701" y="2387"/>
              <a:ext cx="499" cy="68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2075" tIns="46038" rIns="92075" bIns="46038"/>
            <a:lstStyle/>
            <a:p>
              <a:endParaRPr lang="zh-CN" altLang="en-US"/>
            </a:p>
          </p:txBody>
        </p:sp>
        <p:sp>
          <p:nvSpPr>
            <p:cNvPr id="54297" name="Rectangle 8"/>
            <p:cNvSpPr>
              <a:spLocks noChangeArrowheads="1"/>
            </p:cNvSpPr>
            <p:nvPr/>
          </p:nvSpPr>
          <p:spPr bwMode="auto">
            <a:xfrm>
              <a:off x="839" y="2911"/>
              <a:ext cx="1542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r>
                <a:rPr lang="en-US" altLang="zh-CN" sz="3200" b="1">
                  <a:latin typeface="Times New Roman" pitchFamily="18" charset="0"/>
                </a:rPr>
                <a:t>c    A   B	 d</a:t>
              </a:r>
              <a:endParaRPr lang="zh-CN" altLang="en-US" sz="3200" b="1">
                <a:latin typeface="Times New Roman" pitchFamily="18" charset="0"/>
              </a:endParaRPr>
            </a:p>
          </p:txBody>
        </p:sp>
        <p:sp>
          <p:nvSpPr>
            <p:cNvPr id="54298" name="Rectangle 9"/>
            <p:cNvSpPr>
              <a:spLocks noChangeArrowheads="1"/>
            </p:cNvSpPr>
            <p:nvPr/>
          </p:nvSpPr>
          <p:spPr bwMode="auto">
            <a:xfrm>
              <a:off x="1474" y="2076"/>
              <a:ext cx="258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3200" b="1">
                  <a:latin typeface="Times New Roman" pitchFamily="18" charset="0"/>
                </a:rPr>
                <a:t>S</a:t>
              </a:r>
              <a:endParaRPr lang="zh-CN" altLang="en-US" sz="3200" b="1">
                <a:latin typeface="Times New Roman" pitchFamily="18" charset="0"/>
              </a:endParaRPr>
            </a:p>
          </p:txBody>
        </p:sp>
        <p:sp>
          <p:nvSpPr>
            <p:cNvPr id="54299" name="Line 25"/>
            <p:cNvSpPr>
              <a:spLocks noChangeShapeType="1"/>
            </p:cNvSpPr>
            <p:nvPr/>
          </p:nvSpPr>
          <p:spPr bwMode="auto">
            <a:xfrm>
              <a:off x="1610" y="2341"/>
              <a:ext cx="136" cy="68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4" name="Group 28"/>
          <p:cNvGrpSpPr>
            <a:grpSpLocks/>
          </p:cNvGrpSpPr>
          <p:nvPr/>
        </p:nvGrpSpPr>
        <p:grpSpPr bwMode="auto">
          <a:xfrm>
            <a:off x="2916238" y="3295650"/>
            <a:ext cx="2447925" cy="1905000"/>
            <a:chOff x="839" y="2076"/>
            <a:chExt cx="1542" cy="1200"/>
          </a:xfrm>
        </p:grpSpPr>
        <p:sp>
          <p:nvSpPr>
            <p:cNvPr id="54288" name="Line 29"/>
            <p:cNvSpPr>
              <a:spLocks noChangeShapeType="1"/>
            </p:cNvSpPr>
            <p:nvPr/>
          </p:nvSpPr>
          <p:spPr bwMode="auto">
            <a:xfrm flipH="1">
              <a:off x="975" y="2387"/>
              <a:ext cx="573" cy="63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2075" tIns="46038" rIns="92075" bIns="46038"/>
            <a:lstStyle/>
            <a:p>
              <a:endParaRPr lang="zh-CN" altLang="en-US"/>
            </a:p>
          </p:txBody>
        </p:sp>
        <p:sp>
          <p:nvSpPr>
            <p:cNvPr id="54289" name="Line 30"/>
            <p:cNvSpPr>
              <a:spLocks noChangeShapeType="1"/>
            </p:cNvSpPr>
            <p:nvPr/>
          </p:nvSpPr>
          <p:spPr bwMode="auto">
            <a:xfrm flipH="1">
              <a:off x="1383" y="2341"/>
              <a:ext cx="227" cy="68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2075" tIns="46038" rIns="92075" bIns="46038"/>
            <a:lstStyle/>
            <a:p>
              <a:endParaRPr lang="zh-CN" altLang="en-US"/>
            </a:p>
          </p:txBody>
        </p:sp>
        <p:sp>
          <p:nvSpPr>
            <p:cNvPr id="54290" name="Line 31"/>
            <p:cNvSpPr>
              <a:spLocks noChangeShapeType="1"/>
            </p:cNvSpPr>
            <p:nvPr/>
          </p:nvSpPr>
          <p:spPr bwMode="auto">
            <a:xfrm>
              <a:off x="1701" y="2387"/>
              <a:ext cx="499" cy="68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2075" tIns="46038" rIns="92075" bIns="46038"/>
            <a:lstStyle/>
            <a:p>
              <a:endParaRPr lang="zh-CN" altLang="en-US"/>
            </a:p>
          </p:txBody>
        </p:sp>
        <p:sp>
          <p:nvSpPr>
            <p:cNvPr id="54291" name="Rectangle 32"/>
            <p:cNvSpPr>
              <a:spLocks noChangeArrowheads="1"/>
            </p:cNvSpPr>
            <p:nvPr/>
          </p:nvSpPr>
          <p:spPr bwMode="auto">
            <a:xfrm>
              <a:off x="839" y="2911"/>
              <a:ext cx="1542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r>
                <a:rPr lang="en-US" altLang="zh-CN" sz="3200" b="1">
                  <a:latin typeface="Times New Roman" pitchFamily="18" charset="0"/>
                </a:rPr>
                <a:t>c    A   B	 d</a:t>
              </a:r>
              <a:endParaRPr lang="zh-CN" altLang="en-US" sz="3200" b="1">
                <a:latin typeface="Times New Roman" pitchFamily="18" charset="0"/>
              </a:endParaRPr>
            </a:p>
          </p:txBody>
        </p:sp>
        <p:sp>
          <p:nvSpPr>
            <p:cNvPr id="54292" name="Rectangle 33"/>
            <p:cNvSpPr>
              <a:spLocks noChangeArrowheads="1"/>
            </p:cNvSpPr>
            <p:nvPr/>
          </p:nvSpPr>
          <p:spPr bwMode="auto">
            <a:xfrm>
              <a:off x="1474" y="2076"/>
              <a:ext cx="258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3200" b="1">
                  <a:latin typeface="Times New Roman" pitchFamily="18" charset="0"/>
                </a:rPr>
                <a:t>S</a:t>
              </a:r>
              <a:endParaRPr lang="zh-CN" altLang="en-US" sz="3200" b="1">
                <a:latin typeface="Times New Roman" pitchFamily="18" charset="0"/>
              </a:endParaRPr>
            </a:p>
          </p:txBody>
        </p:sp>
        <p:sp>
          <p:nvSpPr>
            <p:cNvPr id="54293" name="Line 34"/>
            <p:cNvSpPr>
              <a:spLocks noChangeShapeType="1"/>
            </p:cNvSpPr>
            <p:nvPr/>
          </p:nvSpPr>
          <p:spPr bwMode="auto">
            <a:xfrm>
              <a:off x="1610" y="2341"/>
              <a:ext cx="136" cy="68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5" name="Group 41"/>
          <p:cNvGrpSpPr>
            <a:grpSpLocks/>
          </p:cNvGrpSpPr>
          <p:nvPr/>
        </p:nvGrpSpPr>
        <p:grpSpPr bwMode="auto">
          <a:xfrm>
            <a:off x="4211638" y="5084763"/>
            <a:ext cx="387350" cy="1379537"/>
            <a:chOff x="2653" y="3203"/>
            <a:chExt cx="244" cy="869"/>
          </a:xfrm>
        </p:grpSpPr>
        <p:sp>
          <p:nvSpPr>
            <p:cNvPr id="54286" name="Line 36"/>
            <p:cNvSpPr>
              <a:spLocks noChangeShapeType="1"/>
            </p:cNvSpPr>
            <p:nvPr/>
          </p:nvSpPr>
          <p:spPr bwMode="auto">
            <a:xfrm flipH="1" flipV="1">
              <a:off x="2789" y="3203"/>
              <a:ext cx="0" cy="59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2075" tIns="46038" rIns="92075" bIns="46038"/>
            <a:lstStyle/>
            <a:p>
              <a:endParaRPr lang="zh-CN" altLang="en-US"/>
            </a:p>
          </p:txBody>
        </p:sp>
        <p:sp>
          <p:nvSpPr>
            <p:cNvPr id="54287" name="Rectangle 38"/>
            <p:cNvSpPr>
              <a:spLocks noChangeArrowheads="1"/>
            </p:cNvSpPr>
            <p:nvPr/>
          </p:nvSpPr>
          <p:spPr bwMode="auto">
            <a:xfrm>
              <a:off x="2653" y="3707"/>
              <a:ext cx="244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3200" b="1">
                  <a:latin typeface="Times New Roman" pitchFamily="18" charset="0"/>
                </a:rPr>
                <a:t>a</a:t>
              </a:r>
              <a:endParaRPr lang="zh-CN" altLang="en-US" sz="3200" b="1">
                <a:latin typeface="Times New Roman" pitchFamily="18" charset="0"/>
              </a:endParaRPr>
            </a:p>
          </p:txBody>
        </p:sp>
      </p:grpSp>
      <p:grpSp>
        <p:nvGrpSpPr>
          <p:cNvPr id="6" name="Group 40"/>
          <p:cNvGrpSpPr>
            <a:grpSpLocks/>
          </p:cNvGrpSpPr>
          <p:nvPr/>
        </p:nvGrpSpPr>
        <p:grpSpPr bwMode="auto">
          <a:xfrm>
            <a:off x="3492500" y="5084763"/>
            <a:ext cx="592138" cy="1355725"/>
            <a:chOff x="2200" y="3203"/>
            <a:chExt cx="373" cy="854"/>
          </a:xfrm>
        </p:grpSpPr>
        <p:sp>
          <p:nvSpPr>
            <p:cNvPr id="54284" name="Line 37"/>
            <p:cNvSpPr>
              <a:spLocks noChangeShapeType="1"/>
            </p:cNvSpPr>
            <p:nvPr/>
          </p:nvSpPr>
          <p:spPr bwMode="auto">
            <a:xfrm>
              <a:off x="2381" y="3203"/>
              <a:ext cx="0" cy="59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2075" tIns="46038" rIns="92075" bIns="46038"/>
            <a:lstStyle/>
            <a:p>
              <a:endParaRPr lang="zh-CN" altLang="en-US"/>
            </a:p>
          </p:txBody>
        </p:sp>
        <p:sp>
          <p:nvSpPr>
            <p:cNvPr id="54285" name="Rectangle 39"/>
            <p:cNvSpPr>
              <a:spLocks noChangeArrowheads="1"/>
            </p:cNvSpPr>
            <p:nvPr/>
          </p:nvSpPr>
          <p:spPr bwMode="auto">
            <a:xfrm>
              <a:off x="2200" y="3692"/>
              <a:ext cx="373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3200" b="1">
                  <a:latin typeface="Times New Roman" pitchFamily="18" charset="0"/>
                </a:rPr>
                <a:t>ε</a:t>
              </a:r>
              <a:endParaRPr lang="zh-CN" altLang="en-US" sz="3200" b="1">
                <a:latin typeface="Times New Roman" pitchFamily="18" charset="0"/>
              </a:endParaRPr>
            </a:p>
          </p:txBody>
        </p:sp>
      </p:grpSp>
      <p:sp>
        <p:nvSpPr>
          <p:cNvPr id="377898" name="Text Box 42"/>
          <p:cNvSpPr txBox="1">
            <a:spLocks noChangeArrowheads="1"/>
          </p:cNvSpPr>
          <p:nvPr/>
        </p:nvSpPr>
        <p:spPr bwMode="auto">
          <a:xfrm>
            <a:off x="5364163" y="3573463"/>
            <a:ext cx="3779837" cy="2528887"/>
          </a:xfrm>
          <a:prstGeom prst="rect">
            <a:avLst/>
          </a:prstGeom>
          <a:solidFill>
            <a:srgbClr val="00666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3200" b="1">
                <a:solidFill>
                  <a:schemeClr val="bg1"/>
                </a:solidFill>
                <a:latin typeface="Times New Roman" pitchFamily="18" charset="0"/>
                <a:ea typeface="华文新魏" pitchFamily="2" charset="-122"/>
              </a:rPr>
              <a:t>当需要用</a:t>
            </a:r>
            <a:r>
              <a:rPr lang="en-US" altLang="zh-CN" sz="3200" b="1">
                <a:solidFill>
                  <a:schemeClr val="bg1"/>
                </a:solidFill>
                <a:latin typeface="Times New Roman" pitchFamily="18" charset="0"/>
                <a:ea typeface="华文新魏" pitchFamily="2" charset="-122"/>
              </a:rPr>
              <a:t>A</a:t>
            </a:r>
            <a:r>
              <a:rPr lang="zh-CN" altLang="en-US" sz="3200" b="1">
                <a:solidFill>
                  <a:schemeClr val="bg1"/>
                </a:solidFill>
                <a:latin typeface="Times New Roman" pitchFamily="18" charset="0"/>
                <a:ea typeface="华文新魏" pitchFamily="2" charset="-122"/>
              </a:rPr>
              <a:t>派生时，</a:t>
            </a:r>
            <a:r>
              <a:rPr lang="zh-CN" altLang="en-US" sz="3200" b="1">
                <a:solidFill>
                  <a:srgbClr val="FFCC66"/>
                </a:solidFill>
                <a:latin typeface="Times New Roman" pitchFamily="18" charset="0"/>
                <a:ea typeface="华文新魏" pitchFamily="2" charset="-122"/>
              </a:rPr>
              <a:t>因为</a:t>
            </a:r>
            <a:r>
              <a:rPr lang="en-US" altLang="zh-CN" sz="3200" b="1">
                <a:solidFill>
                  <a:srgbClr val="FFCC66"/>
                </a:solidFill>
                <a:latin typeface="Times New Roman" pitchFamily="18" charset="0"/>
                <a:ea typeface="华文新魏" pitchFamily="2" charset="-122"/>
              </a:rPr>
              <a:t>A→ab|ε</a:t>
            </a:r>
            <a:r>
              <a:rPr lang="zh-CN" altLang="en-US" sz="3200" b="1">
                <a:solidFill>
                  <a:srgbClr val="FFCC66"/>
                </a:solidFill>
                <a:latin typeface="Times New Roman" pitchFamily="18" charset="0"/>
                <a:ea typeface="华文新魏" pitchFamily="2" charset="-122"/>
              </a:rPr>
              <a:t>，使得</a:t>
            </a:r>
            <a:r>
              <a:rPr lang="zh-CN" altLang="en-US" sz="3200" b="1">
                <a:solidFill>
                  <a:schemeClr val="bg1"/>
                </a:solidFill>
                <a:latin typeface="Times New Roman" pitchFamily="18" charset="0"/>
                <a:ea typeface="华文新魏" pitchFamily="2" charset="-122"/>
              </a:rPr>
              <a:t>系统</a:t>
            </a:r>
            <a:r>
              <a:rPr lang="zh-CN" altLang="en-US" sz="3200" b="1">
                <a:solidFill>
                  <a:srgbClr val="FFFF00"/>
                </a:solidFill>
                <a:latin typeface="Times New Roman" pitchFamily="18" charset="0"/>
                <a:ea typeface="华文新魏" pitchFamily="2" charset="-122"/>
              </a:rPr>
              <a:t>无法</a:t>
            </a:r>
            <a:r>
              <a:rPr lang="zh-CN" altLang="en-US" sz="3200" b="1">
                <a:solidFill>
                  <a:schemeClr val="bg1"/>
                </a:solidFill>
                <a:latin typeface="Times New Roman" pitchFamily="18" charset="0"/>
                <a:ea typeface="华文新魏" pitchFamily="2" charset="-122"/>
              </a:rPr>
              <a:t>根据输入符号</a:t>
            </a:r>
            <a:r>
              <a:rPr lang="en-US" altLang="zh-CN" sz="3200" b="1">
                <a:solidFill>
                  <a:schemeClr val="bg1"/>
                </a:solidFill>
                <a:latin typeface="Times New Roman" pitchFamily="18" charset="0"/>
                <a:ea typeface="华文新魏" pitchFamily="2" charset="-122"/>
              </a:rPr>
              <a:t>a</a:t>
            </a:r>
            <a:r>
              <a:rPr lang="zh-CN" altLang="en-US" sz="3200" b="1">
                <a:solidFill>
                  <a:schemeClr val="bg1"/>
                </a:solidFill>
                <a:latin typeface="Times New Roman" pitchFamily="18" charset="0"/>
                <a:ea typeface="华文新魏" pitchFamily="2" charset="-122"/>
              </a:rPr>
              <a:t>唯一确定</a:t>
            </a:r>
            <a:r>
              <a:rPr lang="en-US" altLang="zh-CN" sz="3200" b="1">
                <a:solidFill>
                  <a:schemeClr val="bg1"/>
                </a:solidFill>
                <a:latin typeface="Times New Roman" pitchFamily="18" charset="0"/>
                <a:ea typeface="华文新魏" pitchFamily="2" charset="-122"/>
              </a:rPr>
              <a:t>A</a:t>
            </a:r>
            <a:r>
              <a:rPr lang="zh-CN" altLang="en-US" sz="3200" b="1">
                <a:solidFill>
                  <a:schemeClr val="bg1"/>
                </a:solidFill>
                <a:latin typeface="Times New Roman" pitchFamily="18" charset="0"/>
                <a:ea typeface="华文新魏" pitchFamily="2" charset="-122"/>
              </a:rPr>
              <a:t>的候选式</a:t>
            </a:r>
            <a:endParaRPr lang="en-US" altLang="zh-CN" sz="3200" b="1">
              <a:solidFill>
                <a:schemeClr val="bg1"/>
              </a:solidFill>
              <a:latin typeface="Times New Roman" pitchFamily="18" charset="0"/>
              <a:ea typeface="华文新魏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82" name="Rectangle 2"/>
          <p:cNvSpPr>
            <a:spLocks noGrp="1" noChangeArrowheads="1"/>
          </p:cNvSpPr>
          <p:nvPr>
            <p:ph type="title"/>
          </p:nvPr>
        </p:nvSpPr>
        <p:spPr>
          <a:xfrm>
            <a:off x="971550" y="549275"/>
            <a:ext cx="7886700" cy="1109663"/>
          </a:xfrm>
        </p:spPr>
        <p:txBody>
          <a:bodyPr lIns="92075" tIns="46038" rIns="92075" bIns="46038"/>
          <a:lstStyle/>
          <a:p>
            <a:pPr eaLnBrk="1" hangingPunct="1">
              <a:defRPr/>
            </a:pPr>
            <a:r>
              <a:rPr lang="zh-CN" altLang="en-US" b="1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候选式的确定与回溯</a:t>
            </a:r>
            <a:r>
              <a:rPr lang="en-US" altLang="zh-CN" sz="2800" b="1">
                <a:solidFill>
                  <a:srgbClr val="000099"/>
                </a:solidFill>
                <a:latin typeface="Times New Roman" pitchFamily="18" charset="0"/>
                <a:ea typeface="华文新魏" pitchFamily="2" charset="-122"/>
              </a:rPr>
              <a:t>(Backtracking)</a:t>
            </a:r>
            <a:endParaRPr lang="zh-CN" altLang="en-US" sz="2800" b="1">
              <a:solidFill>
                <a:srgbClr val="000099"/>
              </a:solidFill>
              <a:latin typeface="Times New Roman" pitchFamily="18" charset="0"/>
              <a:ea typeface="华文新魏" pitchFamily="2" charset="-122"/>
            </a:endParaRPr>
          </a:p>
        </p:txBody>
      </p:sp>
      <p:sp>
        <p:nvSpPr>
          <p:cNvPr id="55299" name="Rectangle 3"/>
          <p:cNvSpPr>
            <a:spLocks noGrp="1" noChangeArrowheads="1"/>
          </p:cNvSpPr>
          <p:nvPr>
            <p:ph idx="1"/>
          </p:nvPr>
        </p:nvSpPr>
        <p:spPr>
          <a:xfrm>
            <a:off x="533400" y="1905000"/>
            <a:ext cx="8458200" cy="1595438"/>
          </a:xfrm>
        </p:spPr>
        <p:txBody>
          <a:bodyPr lIns="92075" tIns="46038" rIns="92075" bIns="46038"/>
          <a:lstStyle/>
          <a:p>
            <a:pPr eaLnBrk="1" hangingPunct="1">
              <a:lnSpc>
                <a:spcPct val="110000"/>
              </a:lnSpc>
            </a:pPr>
            <a:r>
              <a:rPr lang="zh-CN" altLang="en-US" sz="3600" b="1" smtClean="0">
                <a:latin typeface="Times New Roman" pitchFamily="18" charset="0"/>
                <a:ea typeface="华文新魏" pitchFamily="2" charset="-122"/>
              </a:rPr>
              <a:t>给定文法</a:t>
            </a:r>
            <a:r>
              <a:rPr lang="en-US" altLang="zh-CN" sz="3600" b="1" smtClean="0">
                <a:latin typeface="Times New Roman" pitchFamily="18" charset="0"/>
                <a:ea typeface="华文新魏" pitchFamily="2" charset="-122"/>
              </a:rPr>
              <a:t>S→cABd    A→ba|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ε</a:t>
            </a:r>
            <a:r>
              <a:rPr lang="en-US" altLang="zh-CN" sz="3600" b="1" smtClean="0">
                <a:solidFill>
                  <a:schemeClr val="hlink"/>
                </a:solidFill>
                <a:latin typeface="Times New Roman" pitchFamily="18" charset="0"/>
                <a:ea typeface="华文新魏" pitchFamily="2" charset="-122"/>
              </a:rPr>
              <a:t>      </a:t>
            </a:r>
            <a:r>
              <a:rPr lang="en-US" altLang="zh-CN" sz="3600" b="1" smtClean="0">
                <a:latin typeface="Times New Roman" pitchFamily="18" charset="0"/>
                <a:ea typeface="华文新魏" pitchFamily="2" charset="-122"/>
              </a:rPr>
              <a:t>B→a</a:t>
            </a:r>
            <a:endParaRPr lang="en-US" altLang="zh-CN" sz="3600" b="1" smtClean="0">
              <a:solidFill>
                <a:schemeClr val="hlink"/>
              </a:solidFill>
              <a:latin typeface="Times New Roman" pitchFamily="18" charset="0"/>
              <a:ea typeface="华文新魏" pitchFamily="2" charset="-122"/>
            </a:endParaRPr>
          </a:p>
          <a:p>
            <a:pPr eaLnBrk="1" hangingPunct="1">
              <a:lnSpc>
                <a:spcPct val="110000"/>
              </a:lnSpc>
              <a:buFont typeface="Wingdings" pitchFamily="2" charset="2"/>
              <a:buNone/>
            </a:pPr>
            <a:r>
              <a:rPr lang="en-US" altLang="zh-CN" sz="3600" b="1" smtClean="0">
                <a:latin typeface="Times New Roman" pitchFamily="18" charset="0"/>
                <a:ea typeface="华文新魏" pitchFamily="2" charset="-122"/>
              </a:rPr>
              <a:t>     cad</a:t>
            </a:r>
            <a:r>
              <a:rPr lang="zh-CN" altLang="en-US" sz="3600" b="1" smtClean="0">
                <a:latin typeface="Times New Roman" pitchFamily="18" charset="0"/>
                <a:ea typeface="华文新魏" pitchFamily="2" charset="-122"/>
              </a:rPr>
              <a:t>是该文法定义语言的句子吗</a:t>
            </a:r>
            <a:r>
              <a:rPr lang="en-US" altLang="zh-CN" sz="3600" b="1" smtClean="0">
                <a:latin typeface="Times New Roman" pitchFamily="18" charset="0"/>
                <a:ea typeface="华文新魏" pitchFamily="2" charset="-122"/>
              </a:rPr>
              <a:t>?</a:t>
            </a:r>
          </a:p>
        </p:txBody>
      </p:sp>
      <p:sp>
        <p:nvSpPr>
          <p:cNvPr id="55300" name="日期占位符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6EB28128-C571-4CDF-AD5E-0FEA3E1C8B02}" type="datetime1">
              <a:rPr lang="zh-CN" altLang="en-US" smtClean="0"/>
              <a:pPr eaLnBrk="1" hangingPunct="1"/>
              <a:t>2017/2/24</a:t>
            </a:fld>
            <a:endParaRPr lang="en-US" altLang="zh-CN" smtClean="0"/>
          </a:p>
        </p:txBody>
      </p:sp>
      <p:sp>
        <p:nvSpPr>
          <p:cNvPr id="55301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53FE72DC-D04F-4C09-A144-1F56AF6AF6F5}" type="slidenum">
              <a:rPr lang="zh-CN" altLang="en-US" smtClean="0"/>
              <a:pPr eaLnBrk="1" hangingPunct="1"/>
              <a:t>46</a:t>
            </a:fld>
            <a:endParaRPr lang="en-US" altLang="zh-CN" smtClean="0"/>
          </a:p>
        </p:txBody>
      </p:sp>
      <p:grpSp>
        <p:nvGrpSpPr>
          <p:cNvPr id="2" name="Group 24"/>
          <p:cNvGrpSpPr>
            <a:grpSpLocks/>
          </p:cNvGrpSpPr>
          <p:nvPr/>
        </p:nvGrpSpPr>
        <p:grpSpPr bwMode="auto">
          <a:xfrm>
            <a:off x="684213" y="3368675"/>
            <a:ext cx="2447925" cy="1905000"/>
            <a:chOff x="839" y="2076"/>
            <a:chExt cx="1542" cy="1200"/>
          </a:xfrm>
        </p:grpSpPr>
        <p:sp>
          <p:nvSpPr>
            <p:cNvPr id="55310" name="Line 25"/>
            <p:cNvSpPr>
              <a:spLocks noChangeShapeType="1"/>
            </p:cNvSpPr>
            <p:nvPr/>
          </p:nvSpPr>
          <p:spPr bwMode="auto">
            <a:xfrm flipH="1">
              <a:off x="975" y="2387"/>
              <a:ext cx="573" cy="63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2075" tIns="46038" rIns="92075" bIns="46038"/>
            <a:lstStyle/>
            <a:p>
              <a:endParaRPr lang="zh-CN" altLang="en-US"/>
            </a:p>
          </p:txBody>
        </p:sp>
        <p:sp>
          <p:nvSpPr>
            <p:cNvPr id="55311" name="Line 26"/>
            <p:cNvSpPr>
              <a:spLocks noChangeShapeType="1"/>
            </p:cNvSpPr>
            <p:nvPr/>
          </p:nvSpPr>
          <p:spPr bwMode="auto">
            <a:xfrm flipH="1">
              <a:off x="1383" y="2341"/>
              <a:ext cx="227" cy="68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2075" tIns="46038" rIns="92075" bIns="46038"/>
            <a:lstStyle/>
            <a:p>
              <a:endParaRPr lang="zh-CN" altLang="en-US"/>
            </a:p>
          </p:txBody>
        </p:sp>
        <p:sp>
          <p:nvSpPr>
            <p:cNvPr id="55312" name="Line 27"/>
            <p:cNvSpPr>
              <a:spLocks noChangeShapeType="1"/>
            </p:cNvSpPr>
            <p:nvPr/>
          </p:nvSpPr>
          <p:spPr bwMode="auto">
            <a:xfrm>
              <a:off x="1701" y="2387"/>
              <a:ext cx="499" cy="68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2075" tIns="46038" rIns="92075" bIns="46038"/>
            <a:lstStyle/>
            <a:p>
              <a:endParaRPr lang="zh-CN" altLang="en-US"/>
            </a:p>
          </p:txBody>
        </p:sp>
        <p:sp>
          <p:nvSpPr>
            <p:cNvPr id="55313" name="Rectangle 28"/>
            <p:cNvSpPr>
              <a:spLocks noChangeArrowheads="1"/>
            </p:cNvSpPr>
            <p:nvPr/>
          </p:nvSpPr>
          <p:spPr bwMode="auto">
            <a:xfrm>
              <a:off x="839" y="2911"/>
              <a:ext cx="1542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r>
                <a:rPr lang="en-US" altLang="zh-CN" sz="3200" b="1">
                  <a:latin typeface="Times New Roman" pitchFamily="18" charset="0"/>
                </a:rPr>
                <a:t>c    A    B	 d</a:t>
              </a:r>
              <a:endParaRPr lang="zh-CN" altLang="en-US" sz="3200" b="1">
                <a:latin typeface="Times New Roman" pitchFamily="18" charset="0"/>
              </a:endParaRPr>
            </a:p>
          </p:txBody>
        </p:sp>
        <p:sp>
          <p:nvSpPr>
            <p:cNvPr id="55314" name="Rectangle 29"/>
            <p:cNvSpPr>
              <a:spLocks noChangeArrowheads="1"/>
            </p:cNvSpPr>
            <p:nvPr/>
          </p:nvSpPr>
          <p:spPr bwMode="auto">
            <a:xfrm>
              <a:off x="1474" y="2076"/>
              <a:ext cx="258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3200" b="1">
                  <a:latin typeface="Times New Roman" pitchFamily="18" charset="0"/>
                </a:rPr>
                <a:t>S</a:t>
              </a:r>
              <a:endParaRPr lang="zh-CN" altLang="en-US" sz="3200" b="1">
                <a:latin typeface="Times New Roman" pitchFamily="18" charset="0"/>
              </a:endParaRPr>
            </a:p>
          </p:txBody>
        </p:sp>
        <p:sp>
          <p:nvSpPr>
            <p:cNvPr id="55315" name="Line 30"/>
            <p:cNvSpPr>
              <a:spLocks noChangeShapeType="1"/>
            </p:cNvSpPr>
            <p:nvPr/>
          </p:nvSpPr>
          <p:spPr bwMode="auto">
            <a:xfrm>
              <a:off x="1610" y="2341"/>
              <a:ext cx="136" cy="68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3" name="Group 31"/>
          <p:cNvGrpSpPr>
            <a:grpSpLocks/>
          </p:cNvGrpSpPr>
          <p:nvPr/>
        </p:nvGrpSpPr>
        <p:grpSpPr bwMode="auto">
          <a:xfrm>
            <a:off x="1979613" y="5157788"/>
            <a:ext cx="387350" cy="1379537"/>
            <a:chOff x="2653" y="3203"/>
            <a:chExt cx="244" cy="869"/>
          </a:xfrm>
        </p:grpSpPr>
        <p:sp>
          <p:nvSpPr>
            <p:cNvPr id="55308" name="Line 32"/>
            <p:cNvSpPr>
              <a:spLocks noChangeShapeType="1"/>
            </p:cNvSpPr>
            <p:nvPr/>
          </p:nvSpPr>
          <p:spPr bwMode="auto">
            <a:xfrm flipH="1" flipV="1">
              <a:off x="2789" y="3203"/>
              <a:ext cx="0" cy="59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2075" tIns="46038" rIns="92075" bIns="46038"/>
            <a:lstStyle/>
            <a:p>
              <a:endParaRPr lang="zh-CN" altLang="en-US"/>
            </a:p>
          </p:txBody>
        </p:sp>
        <p:sp>
          <p:nvSpPr>
            <p:cNvPr id="55309" name="Rectangle 33"/>
            <p:cNvSpPr>
              <a:spLocks noChangeArrowheads="1"/>
            </p:cNvSpPr>
            <p:nvPr/>
          </p:nvSpPr>
          <p:spPr bwMode="auto">
            <a:xfrm>
              <a:off x="2653" y="3707"/>
              <a:ext cx="244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3200" b="1">
                  <a:latin typeface="Times New Roman" pitchFamily="18" charset="0"/>
                </a:rPr>
                <a:t>a</a:t>
              </a:r>
              <a:endParaRPr lang="zh-CN" altLang="en-US" sz="3200" b="1">
                <a:latin typeface="Times New Roman" pitchFamily="18" charset="0"/>
              </a:endParaRPr>
            </a:p>
          </p:txBody>
        </p:sp>
      </p:grpSp>
      <p:grpSp>
        <p:nvGrpSpPr>
          <p:cNvPr id="4" name="Group 34"/>
          <p:cNvGrpSpPr>
            <a:grpSpLocks/>
          </p:cNvGrpSpPr>
          <p:nvPr/>
        </p:nvGrpSpPr>
        <p:grpSpPr bwMode="auto">
          <a:xfrm>
            <a:off x="1116013" y="5157788"/>
            <a:ext cx="592137" cy="1355725"/>
            <a:chOff x="2200" y="3203"/>
            <a:chExt cx="373" cy="854"/>
          </a:xfrm>
        </p:grpSpPr>
        <p:sp>
          <p:nvSpPr>
            <p:cNvPr id="55306" name="Line 35"/>
            <p:cNvSpPr>
              <a:spLocks noChangeShapeType="1"/>
            </p:cNvSpPr>
            <p:nvPr/>
          </p:nvSpPr>
          <p:spPr bwMode="auto">
            <a:xfrm>
              <a:off x="2381" y="3203"/>
              <a:ext cx="0" cy="59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2075" tIns="46038" rIns="92075" bIns="46038"/>
            <a:lstStyle/>
            <a:p>
              <a:endParaRPr lang="zh-CN" altLang="en-US"/>
            </a:p>
          </p:txBody>
        </p:sp>
        <p:sp>
          <p:nvSpPr>
            <p:cNvPr id="55307" name="Rectangle 36"/>
            <p:cNvSpPr>
              <a:spLocks noChangeArrowheads="1"/>
            </p:cNvSpPr>
            <p:nvPr/>
          </p:nvSpPr>
          <p:spPr bwMode="auto">
            <a:xfrm>
              <a:off x="2200" y="3692"/>
              <a:ext cx="373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3200" b="1">
                  <a:latin typeface="Times New Roman" pitchFamily="18" charset="0"/>
                </a:rPr>
                <a:t>ε</a:t>
              </a:r>
              <a:endParaRPr lang="zh-CN" altLang="en-US" sz="3200" b="1">
                <a:latin typeface="Times New Roman" pitchFamily="18" charset="0"/>
              </a:endParaRPr>
            </a:p>
          </p:txBody>
        </p:sp>
      </p:grpSp>
      <p:sp>
        <p:nvSpPr>
          <p:cNvPr id="378917" name="Text Box 37"/>
          <p:cNvSpPr txBox="1">
            <a:spLocks noChangeArrowheads="1"/>
          </p:cNvSpPr>
          <p:nvPr/>
        </p:nvSpPr>
        <p:spPr bwMode="auto">
          <a:xfrm>
            <a:off x="4500563" y="3573463"/>
            <a:ext cx="4319587" cy="2041525"/>
          </a:xfrm>
          <a:prstGeom prst="rect">
            <a:avLst/>
          </a:prstGeom>
          <a:solidFill>
            <a:srgbClr val="00666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3200" b="1">
                <a:solidFill>
                  <a:schemeClr val="bg1"/>
                </a:solidFill>
                <a:latin typeface="Times New Roman" pitchFamily="18" charset="0"/>
                <a:ea typeface="华文新魏" pitchFamily="2" charset="-122"/>
              </a:rPr>
              <a:t>当需要用</a:t>
            </a:r>
            <a:r>
              <a:rPr lang="en-US" altLang="zh-CN" sz="3200" b="1">
                <a:solidFill>
                  <a:schemeClr val="bg1"/>
                </a:solidFill>
                <a:latin typeface="Times New Roman" pitchFamily="18" charset="0"/>
                <a:ea typeface="华文新魏" pitchFamily="2" charset="-122"/>
              </a:rPr>
              <a:t>A</a:t>
            </a:r>
            <a:r>
              <a:rPr lang="zh-CN" altLang="en-US" sz="3200" b="1">
                <a:solidFill>
                  <a:schemeClr val="bg1"/>
                </a:solidFill>
                <a:latin typeface="Times New Roman" pitchFamily="18" charset="0"/>
                <a:ea typeface="华文新魏" pitchFamily="2" charset="-122"/>
              </a:rPr>
              <a:t>派生时</a:t>
            </a:r>
            <a:r>
              <a:rPr lang="en-US" altLang="zh-CN" sz="3200" b="1">
                <a:solidFill>
                  <a:schemeClr val="bg1"/>
                </a:solidFill>
                <a:latin typeface="Times New Roman" pitchFamily="18" charset="0"/>
                <a:ea typeface="华文新魏" pitchFamily="2" charset="-122"/>
              </a:rPr>
              <a:t>,</a:t>
            </a:r>
            <a:r>
              <a:rPr lang="zh-CN" altLang="en-US" sz="3200" b="1">
                <a:solidFill>
                  <a:srgbClr val="FFCC66"/>
                </a:solidFill>
                <a:latin typeface="Times New Roman" pitchFamily="18" charset="0"/>
                <a:ea typeface="华文新魏" pitchFamily="2" charset="-122"/>
              </a:rPr>
              <a:t>虽然有</a:t>
            </a:r>
            <a:r>
              <a:rPr lang="en-US" altLang="zh-CN" sz="3200" b="1">
                <a:solidFill>
                  <a:srgbClr val="FFCC66"/>
                </a:solidFill>
                <a:latin typeface="Times New Roman" pitchFamily="18" charset="0"/>
                <a:ea typeface="华文新魏" pitchFamily="2" charset="-122"/>
              </a:rPr>
              <a:t>A→ba|ε,</a:t>
            </a:r>
            <a:r>
              <a:rPr lang="zh-CN" altLang="en-US" sz="3200" b="1">
                <a:solidFill>
                  <a:schemeClr val="bg1"/>
                </a:solidFill>
                <a:latin typeface="Times New Roman" pitchFamily="18" charset="0"/>
                <a:ea typeface="华文新魏" pitchFamily="2" charset="-122"/>
              </a:rPr>
              <a:t>但是</a:t>
            </a:r>
            <a:r>
              <a:rPr lang="zh-CN" altLang="en-US" sz="3200" b="1">
                <a:solidFill>
                  <a:srgbClr val="FFFF00"/>
                </a:solidFill>
                <a:latin typeface="Times New Roman" pitchFamily="18" charset="0"/>
                <a:ea typeface="华文新魏" pitchFamily="2" charset="-122"/>
              </a:rPr>
              <a:t>仍然可以</a:t>
            </a:r>
            <a:r>
              <a:rPr lang="zh-CN" altLang="en-US" sz="3200" b="1">
                <a:solidFill>
                  <a:schemeClr val="bg1"/>
                </a:solidFill>
                <a:latin typeface="Times New Roman" pitchFamily="18" charset="0"/>
                <a:ea typeface="华文新魏" pitchFamily="2" charset="-122"/>
              </a:rPr>
              <a:t>根据输入符号</a:t>
            </a:r>
            <a:r>
              <a:rPr lang="en-US" altLang="zh-CN" sz="3200" b="1">
                <a:solidFill>
                  <a:schemeClr val="bg1"/>
                </a:solidFill>
                <a:latin typeface="Times New Roman" pitchFamily="18" charset="0"/>
                <a:ea typeface="华文新魏" pitchFamily="2" charset="-122"/>
              </a:rPr>
              <a:t>a</a:t>
            </a:r>
            <a:r>
              <a:rPr lang="zh-CN" altLang="en-US" sz="3200" b="1">
                <a:solidFill>
                  <a:schemeClr val="bg1"/>
                </a:solidFill>
                <a:latin typeface="Times New Roman" pitchFamily="18" charset="0"/>
                <a:ea typeface="华文新魏" pitchFamily="2" charset="-122"/>
              </a:rPr>
              <a:t>唯一确定</a:t>
            </a:r>
            <a:r>
              <a:rPr lang="en-US" altLang="zh-CN" sz="3200" b="1">
                <a:solidFill>
                  <a:schemeClr val="bg1"/>
                </a:solidFill>
                <a:latin typeface="Times New Roman" pitchFamily="18" charset="0"/>
                <a:ea typeface="华文新魏" pitchFamily="2" charset="-122"/>
              </a:rPr>
              <a:t>A</a:t>
            </a:r>
            <a:r>
              <a:rPr lang="zh-CN" altLang="en-US" sz="3200" b="1">
                <a:solidFill>
                  <a:schemeClr val="bg1"/>
                </a:solidFill>
                <a:latin typeface="Times New Roman" pitchFamily="18" charset="0"/>
                <a:ea typeface="华文新魏" pitchFamily="2" charset="-122"/>
              </a:rPr>
              <a:t>的候选式</a:t>
            </a:r>
            <a:endParaRPr lang="en-US" altLang="zh-CN" sz="3200" b="1">
              <a:solidFill>
                <a:schemeClr val="bg1"/>
              </a:solidFill>
              <a:latin typeface="Times New Roman" pitchFamily="18" charset="0"/>
              <a:ea typeface="华文新魏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050" name="Rectangle 2"/>
          <p:cNvSpPr>
            <a:spLocks noGrp="1" noChangeArrowheads="1"/>
          </p:cNvSpPr>
          <p:nvPr>
            <p:ph type="title"/>
          </p:nvPr>
        </p:nvSpPr>
        <p:spPr>
          <a:xfrm>
            <a:off x="971550" y="620713"/>
            <a:ext cx="7754938" cy="1038225"/>
          </a:xfrm>
        </p:spPr>
        <p:txBody>
          <a:bodyPr lIns="92075" tIns="46038" rIns="92075" bIns="46038"/>
          <a:lstStyle/>
          <a:p>
            <a:pPr eaLnBrk="1" hangingPunct="1">
              <a:defRPr/>
            </a:pPr>
            <a:r>
              <a:rPr lang="zh-CN" altLang="en-US" b="1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候选式的确定与回溯</a:t>
            </a:r>
            <a:r>
              <a:rPr lang="en-US" altLang="zh-CN" sz="2800" b="1">
                <a:solidFill>
                  <a:srgbClr val="000099"/>
                </a:solidFill>
                <a:latin typeface="Times New Roman" pitchFamily="18" charset="0"/>
                <a:ea typeface="华文新魏" pitchFamily="2" charset="-122"/>
              </a:rPr>
              <a:t>(Backtracking)</a:t>
            </a:r>
            <a:endParaRPr lang="zh-CN" altLang="en-US" sz="2800" b="1">
              <a:solidFill>
                <a:srgbClr val="000099"/>
              </a:solidFill>
              <a:latin typeface="Times New Roman" pitchFamily="18" charset="0"/>
              <a:ea typeface="华文新魏" pitchFamily="2" charset="-122"/>
            </a:endParaRPr>
          </a:p>
        </p:txBody>
      </p:sp>
      <p:sp>
        <p:nvSpPr>
          <p:cNvPr id="59395" name="Rectangle 3"/>
          <p:cNvSpPr>
            <a:spLocks noGrp="1" noChangeArrowheads="1"/>
          </p:cNvSpPr>
          <p:nvPr>
            <p:ph idx="1"/>
          </p:nvPr>
        </p:nvSpPr>
        <p:spPr>
          <a:xfrm>
            <a:off x="476250" y="2781300"/>
            <a:ext cx="8272463" cy="3600450"/>
          </a:xfrm>
        </p:spPr>
        <p:txBody>
          <a:bodyPr lIns="92075" tIns="46038" rIns="92075" bIns="46038"/>
          <a:lstStyle/>
          <a:p>
            <a:pPr eaLnBrk="1" hangingPunct="1">
              <a:lnSpc>
                <a:spcPct val="110000"/>
              </a:lnSpc>
              <a:spcBef>
                <a:spcPct val="0"/>
              </a:spcBef>
            </a:pPr>
            <a:r>
              <a:rPr lang="zh-CN" altLang="en-US" sz="2800" b="1" smtClean="0">
                <a:latin typeface="Times New Roman" pitchFamily="18" charset="0"/>
                <a:ea typeface="华文新魏" pitchFamily="2" charset="-122"/>
              </a:rPr>
              <a:t>对文法</a:t>
            </a: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S→cAd      A→</a:t>
            </a:r>
            <a:r>
              <a:rPr lang="en-US" altLang="zh-CN" sz="2800" b="1" smtClean="0">
                <a:solidFill>
                  <a:schemeClr val="hlink"/>
                </a:solidFill>
                <a:latin typeface="Times New Roman" pitchFamily="18" charset="0"/>
                <a:ea typeface="华文新魏" pitchFamily="2" charset="-122"/>
              </a:rPr>
              <a:t>a</a:t>
            </a: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b|</a:t>
            </a:r>
            <a:r>
              <a:rPr lang="en-US" altLang="zh-CN" sz="2800" b="1" smtClean="0">
                <a:solidFill>
                  <a:schemeClr val="hlink"/>
                </a:solidFill>
                <a:latin typeface="Times New Roman" pitchFamily="18" charset="0"/>
                <a:ea typeface="华文新魏" pitchFamily="2" charset="-122"/>
              </a:rPr>
              <a:t>e </a:t>
            </a:r>
            <a:r>
              <a:rPr lang="zh-CN" altLang="en-US" sz="2800" b="1" smtClean="0">
                <a:latin typeface="Times New Roman" pitchFamily="18" charset="0"/>
                <a:ea typeface="华文新魏" pitchFamily="2" charset="-122"/>
              </a:rPr>
              <a:t>，不需要回溯</a:t>
            </a:r>
            <a:endParaRPr lang="en-US" altLang="zh-CN" sz="2800" b="1" smtClean="0">
              <a:solidFill>
                <a:schemeClr val="hlink"/>
              </a:solidFill>
              <a:latin typeface="Times New Roman" pitchFamily="18" charset="0"/>
              <a:ea typeface="华文新魏" pitchFamily="2" charset="-122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</a:pPr>
            <a:r>
              <a:rPr lang="zh-CN" altLang="en-US" sz="2800" b="1" smtClean="0">
                <a:latin typeface="Times New Roman" pitchFamily="18" charset="0"/>
                <a:ea typeface="华文新魏" pitchFamily="2" charset="-122"/>
              </a:rPr>
              <a:t>对文法</a:t>
            </a: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S→cAd      A→</a:t>
            </a:r>
            <a:r>
              <a:rPr lang="en-US" altLang="zh-CN" sz="2800" b="1" smtClean="0">
                <a:solidFill>
                  <a:schemeClr val="hlink"/>
                </a:solidFill>
                <a:latin typeface="Times New Roman" pitchFamily="18" charset="0"/>
                <a:ea typeface="华文新魏" pitchFamily="2" charset="-122"/>
              </a:rPr>
              <a:t>a</a:t>
            </a: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b|</a:t>
            </a:r>
            <a:r>
              <a:rPr lang="en-US" altLang="zh-CN" sz="2800" b="1" smtClean="0">
                <a:solidFill>
                  <a:schemeClr val="hlink"/>
                </a:solidFill>
                <a:latin typeface="Times New Roman" pitchFamily="18" charset="0"/>
                <a:ea typeface="华文新魏" pitchFamily="2" charset="-122"/>
              </a:rPr>
              <a:t>a</a:t>
            </a:r>
            <a:r>
              <a:rPr lang="zh-CN" altLang="en-US" sz="2800" b="1" smtClean="0">
                <a:latin typeface="Times New Roman" pitchFamily="18" charset="0"/>
                <a:ea typeface="华文新魏" pitchFamily="2" charset="-122"/>
              </a:rPr>
              <a:t>，需要回溯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</a:pPr>
            <a:r>
              <a:rPr lang="zh-CN" altLang="en-US" sz="2800" b="1" smtClean="0">
                <a:latin typeface="Times New Roman" pitchFamily="18" charset="0"/>
                <a:ea typeface="华文新魏" pitchFamily="2" charset="-122"/>
              </a:rPr>
              <a:t>对文法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S→cAd	    A→</a:t>
            </a:r>
            <a:r>
              <a:rPr lang="en-US" altLang="zh-CN" b="1" smtClean="0">
                <a:solidFill>
                  <a:schemeClr val="hlink"/>
                </a:solidFill>
                <a:latin typeface="Times New Roman" pitchFamily="18" charset="0"/>
                <a:ea typeface="华文新魏" pitchFamily="2" charset="-122"/>
              </a:rPr>
              <a:t>a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b|</a:t>
            </a:r>
            <a:r>
              <a:rPr lang="en-US" altLang="zh-CN" b="1" smtClean="0">
                <a:solidFill>
                  <a:schemeClr val="hlink"/>
                </a:solidFill>
                <a:latin typeface="Times New Roman" pitchFamily="18" charset="0"/>
                <a:ea typeface="华文新魏" pitchFamily="2" charset="-122"/>
              </a:rPr>
              <a:t>a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e </a:t>
            </a:r>
            <a:r>
              <a:rPr lang="zh-CN" altLang="en-US" sz="2800" b="1" smtClean="0">
                <a:latin typeface="Times New Roman" pitchFamily="18" charset="0"/>
                <a:ea typeface="华文新魏" pitchFamily="2" charset="-122"/>
              </a:rPr>
              <a:t>，需要回溯</a:t>
            </a:r>
          </a:p>
          <a:p>
            <a:pPr eaLnBrk="1" hangingPunct="1">
              <a:lnSpc>
                <a:spcPct val="110000"/>
              </a:lnSpc>
              <a:spcBef>
                <a:spcPct val="50000"/>
              </a:spcBef>
            </a:pPr>
            <a:r>
              <a:rPr lang="zh-CN" altLang="en-US" sz="2800" b="1" smtClean="0">
                <a:latin typeface="Times New Roman" pitchFamily="18" charset="0"/>
                <a:ea typeface="华文新魏" pitchFamily="2" charset="-122"/>
              </a:rPr>
              <a:t>对文法</a:t>
            </a: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S→cABd    A→</a:t>
            </a:r>
            <a:r>
              <a:rPr lang="en-US" altLang="zh-CN" sz="2800" b="1" smtClean="0">
                <a:solidFill>
                  <a:schemeClr val="hlink"/>
                </a:solidFill>
                <a:latin typeface="Times New Roman" pitchFamily="18" charset="0"/>
                <a:ea typeface="华文新魏" pitchFamily="2" charset="-122"/>
              </a:rPr>
              <a:t>a</a:t>
            </a: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b|ε</a:t>
            </a:r>
            <a:r>
              <a:rPr lang="en-US" altLang="zh-CN" sz="2800" b="1" smtClean="0">
                <a:solidFill>
                  <a:schemeClr val="hlink"/>
                </a:solidFill>
                <a:latin typeface="Times New Roman" pitchFamily="18" charset="0"/>
                <a:ea typeface="华文新魏" pitchFamily="2" charset="-122"/>
              </a:rPr>
              <a:t>   </a:t>
            </a: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B→</a:t>
            </a:r>
            <a:r>
              <a:rPr lang="en-US" altLang="zh-CN" sz="2800" b="1" smtClean="0">
                <a:solidFill>
                  <a:schemeClr val="hlink"/>
                </a:solidFill>
                <a:latin typeface="Times New Roman" pitchFamily="18" charset="0"/>
                <a:ea typeface="华文新魏" pitchFamily="2" charset="-122"/>
              </a:rPr>
              <a:t>a</a:t>
            </a:r>
            <a:r>
              <a:rPr lang="zh-CN" altLang="en-US" sz="2800" b="1" smtClean="0">
                <a:latin typeface="Times New Roman" pitchFamily="18" charset="0"/>
                <a:ea typeface="华文新魏" pitchFamily="2" charset="-122"/>
              </a:rPr>
              <a:t>，需要回溯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</a:pPr>
            <a:r>
              <a:rPr lang="zh-CN" altLang="en-US" sz="2800" b="1" smtClean="0">
                <a:latin typeface="Times New Roman" pitchFamily="18" charset="0"/>
                <a:ea typeface="华文新魏" pitchFamily="2" charset="-122"/>
              </a:rPr>
              <a:t>对文法</a:t>
            </a: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S→cABd    A→</a:t>
            </a:r>
            <a:r>
              <a:rPr lang="en-US" altLang="zh-CN" sz="2800" b="1" smtClean="0">
                <a:solidFill>
                  <a:schemeClr val="hlink"/>
                </a:solidFill>
                <a:latin typeface="Times New Roman" pitchFamily="18" charset="0"/>
                <a:ea typeface="华文新魏" pitchFamily="2" charset="-122"/>
              </a:rPr>
              <a:t>b</a:t>
            </a: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a|ε</a:t>
            </a:r>
            <a:r>
              <a:rPr lang="en-US" altLang="zh-CN" sz="2800" b="1" smtClean="0">
                <a:solidFill>
                  <a:schemeClr val="hlink"/>
                </a:solidFill>
                <a:latin typeface="Times New Roman" pitchFamily="18" charset="0"/>
                <a:ea typeface="华文新魏" pitchFamily="2" charset="-122"/>
              </a:rPr>
              <a:t>   </a:t>
            </a: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B→</a:t>
            </a:r>
            <a:r>
              <a:rPr lang="en-US" altLang="zh-CN" sz="2800" b="1" smtClean="0">
                <a:solidFill>
                  <a:schemeClr val="hlink"/>
                </a:solidFill>
                <a:latin typeface="Times New Roman" pitchFamily="18" charset="0"/>
                <a:ea typeface="华文新魏" pitchFamily="2" charset="-122"/>
              </a:rPr>
              <a:t>a</a:t>
            </a:r>
            <a:r>
              <a:rPr lang="zh-CN" altLang="en-US" sz="2800" b="1" smtClean="0">
                <a:latin typeface="Times New Roman" pitchFamily="18" charset="0"/>
                <a:ea typeface="华文新魏" pitchFamily="2" charset="-122"/>
              </a:rPr>
              <a:t>，不需要回溯</a:t>
            </a:r>
            <a:endParaRPr lang="en-US" altLang="zh-CN" sz="2800" b="1" smtClean="0">
              <a:latin typeface="Times New Roman" pitchFamily="18" charset="0"/>
              <a:ea typeface="华文新魏" pitchFamily="2" charset="-122"/>
            </a:endParaRPr>
          </a:p>
        </p:txBody>
      </p:sp>
      <p:sp>
        <p:nvSpPr>
          <p:cNvPr id="59396" name="日期占位符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57674E2C-2E22-4024-8D08-D739FB409EB1}" type="datetime1">
              <a:rPr lang="zh-CN" altLang="en-US" smtClean="0"/>
              <a:pPr eaLnBrk="1" hangingPunct="1"/>
              <a:t>2017/2/24</a:t>
            </a:fld>
            <a:endParaRPr lang="en-US" altLang="zh-CN" smtClean="0"/>
          </a:p>
        </p:txBody>
      </p:sp>
      <p:sp>
        <p:nvSpPr>
          <p:cNvPr id="59397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C0A00FB5-C360-4B69-B8A1-E0199B77503B}" type="slidenum">
              <a:rPr lang="zh-CN" altLang="en-US" smtClean="0"/>
              <a:pPr eaLnBrk="1" hangingPunct="1"/>
              <a:t>47</a:t>
            </a:fld>
            <a:endParaRPr lang="en-US" altLang="zh-CN" smtClean="0"/>
          </a:p>
        </p:txBody>
      </p:sp>
      <p:sp>
        <p:nvSpPr>
          <p:cNvPr id="59398" name="Rectangle 15"/>
          <p:cNvSpPr>
            <a:spLocks noChangeArrowheads="1"/>
          </p:cNvSpPr>
          <p:nvPr/>
        </p:nvSpPr>
        <p:spPr bwMode="auto">
          <a:xfrm>
            <a:off x="1835150" y="1827213"/>
            <a:ext cx="3816350" cy="828675"/>
          </a:xfrm>
          <a:prstGeom prst="rect">
            <a:avLst/>
          </a:prstGeom>
          <a:solidFill>
            <a:srgbClr val="00666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lnSpc>
                <a:spcPct val="110000"/>
              </a:lnSpc>
              <a:spcBef>
                <a:spcPct val="5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zh-CN" altLang="en-US" sz="4400" b="1">
                <a:solidFill>
                  <a:schemeClr val="bg1"/>
                </a:solidFill>
                <a:latin typeface="Times New Roman" pitchFamily="18" charset="0"/>
                <a:ea typeface="华文新魏" pitchFamily="2" charset="-122"/>
              </a:rPr>
              <a:t>句子</a:t>
            </a:r>
            <a:r>
              <a:rPr lang="en-US" altLang="zh-CN" sz="4400" b="1">
                <a:solidFill>
                  <a:schemeClr val="bg1"/>
                </a:solidFill>
                <a:latin typeface="Times New Roman" pitchFamily="18" charset="0"/>
                <a:ea typeface="华文新魏" pitchFamily="2" charset="-122"/>
              </a:rPr>
              <a:t>cad</a:t>
            </a:r>
            <a:r>
              <a:rPr lang="zh-CN" altLang="en-US" sz="4400" b="1">
                <a:solidFill>
                  <a:schemeClr val="bg1"/>
                </a:solidFill>
                <a:latin typeface="Times New Roman" pitchFamily="18" charset="0"/>
                <a:ea typeface="华文新魏" pitchFamily="2" charset="-122"/>
              </a:rPr>
              <a:t>的分析</a:t>
            </a:r>
          </a:p>
        </p:txBody>
      </p:sp>
      <p:sp>
        <p:nvSpPr>
          <p:cNvPr id="386062" name="AutoShape 14"/>
          <p:cNvSpPr>
            <a:spLocks noChangeArrowheads="1"/>
          </p:cNvSpPr>
          <p:nvPr/>
        </p:nvSpPr>
        <p:spPr bwMode="auto">
          <a:xfrm>
            <a:off x="250825" y="5634038"/>
            <a:ext cx="7777163" cy="1223962"/>
          </a:xfrm>
          <a:prstGeom prst="wedgeRoundRectCallout">
            <a:avLst>
              <a:gd name="adj1" fmla="val 40468"/>
              <a:gd name="adj2" fmla="val -111218"/>
              <a:gd name="adj3" fmla="val 16667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algn="ctr"/>
            <a:r>
              <a:rPr lang="zh-CN" altLang="en-US" sz="3200" b="1">
                <a:latin typeface="Times New Roman" pitchFamily="18" charset="0"/>
                <a:ea typeface="华文新魏" pitchFamily="2" charset="-122"/>
              </a:rPr>
              <a:t>不仅是</a:t>
            </a:r>
            <a:r>
              <a:rPr lang="en-US" altLang="zh-CN" sz="3200" b="1">
                <a:latin typeface="Times New Roman" pitchFamily="18" charset="0"/>
                <a:ea typeface="华文新魏" pitchFamily="2" charset="-122"/>
              </a:rPr>
              <a:t>A</a:t>
            </a:r>
            <a:r>
              <a:rPr lang="zh-CN" altLang="en-US" sz="3200" b="1">
                <a:latin typeface="Times New Roman" pitchFamily="18" charset="0"/>
                <a:ea typeface="华文新魏" pitchFamily="2" charset="-122"/>
              </a:rPr>
              <a:t>的候选式派生出来的首字符，而且还会跟在</a:t>
            </a:r>
            <a:r>
              <a:rPr lang="en-US" altLang="zh-CN" sz="3200" b="1">
                <a:latin typeface="Times New Roman" pitchFamily="18" charset="0"/>
                <a:ea typeface="华文新魏" pitchFamily="2" charset="-122"/>
              </a:rPr>
              <a:t>A</a:t>
            </a:r>
            <a:r>
              <a:rPr lang="zh-CN" altLang="en-US" sz="3200" b="1">
                <a:latin typeface="Times New Roman" pitchFamily="18" charset="0"/>
                <a:ea typeface="华文新魏" pitchFamily="2" charset="-122"/>
              </a:rPr>
              <a:t>后出现</a:t>
            </a:r>
            <a:r>
              <a:rPr lang="en-US" altLang="zh-CN" sz="2800" b="1">
                <a:latin typeface="Times New Roman" pitchFamily="18" charset="0"/>
                <a:ea typeface="华文新魏" pitchFamily="2" charset="-122"/>
              </a:rPr>
              <a:t>(FOLLOW)</a:t>
            </a:r>
            <a:r>
              <a:rPr lang="en-US" altLang="zh-CN" sz="3200" b="1">
                <a:latin typeface="Times New Roman" pitchFamily="18" charset="0"/>
                <a:ea typeface="华文新魏" pitchFamily="2" charset="-122"/>
              </a:rPr>
              <a:t> </a:t>
            </a:r>
          </a:p>
        </p:txBody>
      </p:sp>
      <p:grpSp>
        <p:nvGrpSpPr>
          <p:cNvPr id="2" name="Group 12"/>
          <p:cNvGrpSpPr>
            <a:grpSpLocks/>
          </p:cNvGrpSpPr>
          <p:nvPr/>
        </p:nvGrpSpPr>
        <p:grpSpPr bwMode="auto">
          <a:xfrm>
            <a:off x="5724525" y="765175"/>
            <a:ext cx="3238500" cy="3311525"/>
            <a:chOff x="3742" y="255"/>
            <a:chExt cx="1904" cy="2359"/>
          </a:xfrm>
        </p:grpSpPr>
        <p:sp>
          <p:nvSpPr>
            <p:cNvPr id="59401" name="AutoShape 13"/>
            <p:cNvSpPr>
              <a:spLocks noChangeArrowheads="1"/>
            </p:cNvSpPr>
            <p:nvPr/>
          </p:nvSpPr>
          <p:spPr bwMode="auto">
            <a:xfrm>
              <a:off x="3742" y="255"/>
              <a:ext cx="1904" cy="1315"/>
            </a:xfrm>
            <a:prstGeom prst="wedgeRoundRectCallout">
              <a:avLst>
                <a:gd name="adj1" fmla="val 1157"/>
                <a:gd name="adj2" fmla="val 111370"/>
                <a:gd name="adj3" fmla="val 16667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ctr"/>
              <a:r>
                <a:rPr lang="en-US" altLang="zh-CN" sz="3200" b="1">
                  <a:latin typeface="Times New Roman" pitchFamily="18" charset="0"/>
                  <a:ea typeface="华文新魏" pitchFamily="2" charset="-122"/>
                </a:rPr>
                <a:t>a</a:t>
              </a:r>
              <a:r>
                <a:rPr lang="zh-CN" altLang="en-US" sz="3200" b="1">
                  <a:latin typeface="Times New Roman" pitchFamily="18" charset="0"/>
                  <a:ea typeface="华文新魏" pitchFamily="2" charset="-122"/>
                </a:rPr>
                <a:t>为</a:t>
              </a:r>
              <a:r>
                <a:rPr lang="en-US" altLang="zh-CN" sz="3200" b="1">
                  <a:latin typeface="Times New Roman" pitchFamily="18" charset="0"/>
                  <a:ea typeface="华文新魏" pitchFamily="2" charset="-122"/>
                </a:rPr>
                <a:t>A</a:t>
              </a:r>
              <a:r>
                <a:rPr lang="zh-CN" altLang="en-US" sz="3200" b="1">
                  <a:latin typeface="Times New Roman" pitchFamily="18" charset="0"/>
                  <a:ea typeface="华文新魏" pitchFamily="2" charset="-122"/>
                </a:rPr>
                <a:t>的多个候选式派生出的最左符号</a:t>
              </a:r>
              <a:r>
                <a:rPr lang="en-US" altLang="zh-CN" sz="2800" b="1">
                  <a:latin typeface="Times New Roman" pitchFamily="18" charset="0"/>
                  <a:ea typeface="华文新魏" pitchFamily="2" charset="-122"/>
                </a:rPr>
                <a:t>(FIRST)</a:t>
              </a:r>
              <a:endParaRPr lang="zh-CN" altLang="en-US" sz="2800" b="1">
                <a:latin typeface="Times New Roman" pitchFamily="18" charset="0"/>
                <a:ea typeface="华文新魏" pitchFamily="2" charset="-122"/>
              </a:endParaRPr>
            </a:p>
          </p:txBody>
        </p:sp>
        <p:sp>
          <p:nvSpPr>
            <p:cNvPr id="59402" name="AutoShape 16"/>
            <p:cNvSpPr>
              <a:spLocks/>
            </p:cNvSpPr>
            <p:nvPr/>
          </p:nvSpPr>
          <p:spPr bwMode="auto">
            <a:xfrm>
              <a:off x="4624" y="2205"/>
              <a:ext cx="47" cy="409"/>
            </a:xfrm>
            <a:prstGeom prst="rightBrace">
              <a:avLst>
                <a:gd name="adj1" fmla="val 72518"/>
                <a:gd name="adj2" fmla="val 50000"/>
              </a:avLst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42" name="Rectangle 2"/>
          <p:cNvSpPr>
            <a:spLocks noGrp="1" noChangeArrowheads="1"/>
          </p:cNvSpPr>
          <p:nvPr>
            <p:ph type="title"/>
          </p:nvPr>
        </p:nvSpPr>
        <p:spPr>
          <a:xfrm>
            <a:off x="1100138" y="620713"/>
            <a:ext cx="8043862" cy="10541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b="1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候选式的确定与回溯</a:t>
            </a:r>
            <a:r>
              <a:rPr lang="en-US" altLang="zh-CN" sz="2800" b="1">
                <a:solidFill>
                  <a:srgbClr val="000099"/>
                </a:solidFill>
                <a:latin typeface="Times New Roman" pitchFamily="18" charset="0"/>
                <a:ea typeface="华文新魏" pitchFamily="2" charset="-122"/>
              </a:rPr>
              <a:t>(Backtracking)</a:t>
            </a:r>
            <a:endParaRPr lang="zh-CN" altLang="en-US" sz="2800" b="1">
              <a:solidFill>
                <a:srgbClr val="000099"/>
              </a:solidFill>
              <a:latin typeface="Times New Roman" pitchFamily="18" charset="0"/>
              <a:ea typeface="华文新魏" pitchFamily="2" charset="-122"/>
            </a:endParaRPr>
          </a:p>
        </p:txBody>
      </p:sp>
      <p:sp>
        <p:nvSpPr>
          <p:cNvPr id="60419" name="Rectangle 3"/>
          <p:cNvSpPr>
            <a:spLocks noGrp="1" noChangeArrowheads="1"/>
          </p:cNvSpPr>
          <p:nvPr>
            <p:ph idx="1"/>
          </p:nvPr>
        </p:nvSpPr>
        <p:spPr>
          <a:xfrm>
            <a:off x="468313" y="1916113"/>
            <a:ext cx="8353425" cy="4419600"/>
          </a:xfrm>
        </p:spPr>
        <p:txBody>
          <a:bodyPr/>
          <a:lstStyle/>
          <a:p>
            <a:pPr eaLnBrk="1" hangingPunct="1">
              <a:lnSpc>
                <a:spcPct val="110000"/>
              </a:lnSpc>
            </a:pPr>
            <a:r>
              <a:rPr lang="zh-CN" altLang="en-US" sz="2800" b="1" smtClean="0">
                <a:latin typeface="Times New Roman" pitchFamily="18" charset="0"/>
                <a:ea typeface="华文新魏" pitchFamily="2" charset="-122"/>
              </a:rPr>
              <a:t>当要进行某个语法变量的推导时，希望能够根据当前符号</a:t>
            </a:r>
            <a:r>
              <a:rPr lang="zh-CN" altLang="en-US" sz="2800" b="1" smtClean="0">
                <a:solidFill>
                  <a:schemeClr val="hlink"/>
                </a:solidFill>
                <a:latin typeface="Times New Roman" pitchFamily="18" charset="0"/>
                <a:ea typeface="华文新魏" pitchFamily="2" charset="-122"/>
              </a:rPr>
              <a:t>选定唯一的</a:t>
            </a:r>
            <a:r>
              <a:rPr lang="zh-CN" altLang="en-US" sz="2800" b="1" smtClean="0">
                <a:latin typeface="Times New Roman" pitchFamily="18" charset="0"/>
                <a:ea typeface="华文新魏" pitchFamily="2" charset="-122"/>
              </a:rPr>
              <a:t>候选式</a:t>
            </a:r>
          </a:p>
          <a:p>
            <a:pPr eaLnBrk="1" hangingPunct="1">
              <a:lnSpc>
                <a:spcPct val="110000"/>
              </a:lnSpc>
            </a:pPr>
            <a:r>
              <a:rPr lang="zh-CN" altLang="en-US" sz="2800" b="1" smtClean="0">
                <a:latin typeface="Times New Roman" pitchFamily="18" charset="0"/>
                <a:ea typeface="华文新魏" pitchFamily="2" charset="-122"/>
              </a:rPr>
              <a:t>分析程序无法根据当前输入符号选择产生式的情况</a:t>
            </a:r>
          </a:p>
          <a:p>
            <a:pPr lvl="1" eaLnBrk="1" hangingPunct="1">
              <a:lnSpc>
                <a:spcPct val="110000"/>
              </a:lnSpc>
            </a:pPr>
            <a:r>
              <a:rPr lang="zh-CN" altLang="en-US" sz="2400" b="1" smtClean="0">
                <a:latin typeface="Times New Roman" pitchFamily="18" charset="0"/>
                <a:ea typeface="华文新魏" pitchFamily="2" charset="-122"/>
              </a:rPr>
              <a:t>有多个候选式派生出的</a:t>
            </a:r>
            <a:r>
              <a:rPr lang="zh-CN" altLang="en-US" sz="2400" b="1" smtClean="0">
                <a:solidFill>
                  <a:srgbClr val="000099"/>
                </a:solidFill>
                <a:latin typeface="Times New Roman" pitchFamily="18" charset="0"/>
                <a:ea typeface="华文新魏" pitchFamily="2" charset="-122"/>
              </a:rPr>
              <a:t>最左</a:t>
            </a:r>
            <a:r>
              <a:rPr lang="en-US" altLang="zh-CN" sz="2400" b="1" smtClean="0">
                <a:solidFill>
                  <a:srgbClr val="000099"/>
                </a:solidFill>
                <a:latin typeface="Times New Roman" pitchFamily="18" charset="0"/>
                <a:ea typeface="华文新魏" pitchFamily="2" charset="-122"/>
              </a:rPr>
              <a:t>(</a:t>
            </a:r>
            <a:r>
              <a:rPr lang="zh-CN" altLang="en-US" sz="2400" b="1" smtClean="0">
                <a:solidFill>
                  <a:srgbClr val="000099"/>
                </a:solidFill>
                <a:latin typeface="Times New Roman" pitchFamily="18" charset="0"/>
                <a:ea typeface="华文新魏" pitchFamily="2" charset="-122"/>
              </a:rPr>
              <a:t>第一个</a:t>
            </a:r>
            <a:r>
              <a:rPr lang="en-US" altLang="zh-CN" sz="2400" b="1" smtClean="0">
                <a:solidFill>
                  <a:srgbClr val="000099"/>
                </a:solidFill>
                <a:latin typeface="Times New Roman" pitchFamily="18" charset="0"/>
                <a:ea typeface="华文新魏" pitchFamily="2" charset="-122"/>
              </a:rPr>
              <a:t>)</a:t>
            </a:r>
            <a:r>
              <a:rPr lang="zh-CN" altLang="en-US" sz="2400" b="1" smtClean="0">
                <a:solidFill>
                  <a:srgbClr val="000099"/>
                </a:solidFill>
                <a:latin typeface="Times New Roman" pitchFamily="18" charset="0"/>
                <a:ea typeface="华文新魏" pitchFamily="2" charset="-122"/>
              </a:rPr>
              <a:t>符号</a:t>
            </a:r>
            <a:r>
              <a:rPr lang="zh-CN" altLang="en-US" sz="2400" b="1" smtClean="0">
                <a:latin typeface="Times New Roman" pitchFamily="18" charset="0"/>
                <a:ea typeface="华文新魏" pitchFamily="2" charset="-122"/>
              </a:rPr>
              <a:t>相同；</a:t>
            </a:r>
          </a:p>
          <a:p>
            <a:pPr lvl="1" eaLnBrk="1" hangingPunct="1">
              <a:lnSpc>
                <a:spcPct val="110000"/>
              </a:lnSpc>
            </a:pPr>
            <a:r>
              <a:rPr lang="zh-CN" altLang="en-US" sz="2400" b="1" smtClean="0">
                <a:latin typeface="Times New Roman" pitchFamily="18" charset="0"/>
                <a:ea typeface="华文新魏" pitchFamily="2" charset="-122"/>
              </a:rPr>
              <a:t>一个候选式可空，另一个候选式的首符号可以</a:t>
            </a:r>
            <a:r>
              <a:rPr lang="zh-CN" altLang="en-US" sz="2400" b="1" smtClean="0">
                <a:solidFill>
                  <a:srgbClr val="000099"/>
                </a:solidFill>
                <a:latin typeface="Times New Roman" pitchFamily="18" charset="0"/>
                <a:ea typeface="华文新魏" pitchFamily="2" charset="-122"/>
              </a:rPr>
              <a:t>跟在这个语法变量后面</a:t>
            </a:r>
            <a:endParaRPr lang="en-US" altLang="zh-CN" sz="2400" b="1" smtClean="0">
              <a:solidFill>
                <a:srgbClr val="000099"/>
              </a:solidFill>
              <a:latin typeface="Times New Roman" pitchFamily="18" charset="0"/>
              <a:ea typeface="华文新魏" pitchFamily="2" charset="-122"/>
            </a:endParaRPr>
          </a:p>
          <a:p>
            <a:pPr eaLnBrk="1" hangingPunct="1">
              <a:lnSpc>
                <a:spcPct val="110000"/>
              </a:lnSpc>
            </a:pPr>
            <a:r>
              <a:rPr lang="zh-CN" altLang="en-US" sz="2800" b="1" smtClean="0">
                <a:latin typeface="Times New Roman" pitchFamily="18" charset="0"/>
                <a:ea typeface="华文新魏" pitchFamily="2" charset="-122"/>
              </a:rPr>
              <a:t>希望：寻找一类文法，可以方便地根据当前输入符号确定正确的候选式</a:t>
            </a:r>
            <a:endParaRPr lang="en-US" altLang="zh-CN" sz="2800" b="1" smtClean="0">
              <a:latin typeface="Times New Roman" pitchFamily="18" charset="0"/>
              <a:ea typeface="华文新魏" pitchFamily="2" charset="-122"/>
            </a:endParaRPr>
          </a:p>
        </p:txBody>
      </p:sp>
      <p:sp>
        <p:nvSpPr>
          <p:cNvPr id="60420" name="日期占位符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75C16B3E-B503-45B1-9D79-E4194F5DEC57}" type="datetime1">
              <a:rPr lang="zh-CN" altLang="en-US" smtClean="0"/>
              <a:pPr eaLnBrk="1" hangingPunct="1"/>
              <a:t>2017/2/24</a:t>
            </a:fld>
            <a:endParaRPr lang="en-US" altLang="zh-CN" smtClean="0"/>
          </a:p>
        </p:txBody>
      </p:sp>
      <p:sp>
        <p:nvSpPr>
          <p:cNvPr id="60421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3AB671CE-010A-4FAE-B77E-E6204B6C8B13}" type="slidenum">
              <a:rPr lang="zh-CN" altLang="en-US" smtClean="0"/>
              <a:pPr eaLnBrk="1" hangingPunct="1"/>
              <a:t>48</a:t>
            </a:fld>
            <a:endParaRPr lang="en-US" altLang="zh-CN" smtClean="0"/>
          </a:p>
        </p:txBody>
      </p:sp>
      <p:sp>
        <p:nvSpPr>
          <p:cNvPr id="368646" name="AutoShape 6"/>
          <p:cNvSpPr>
            <a:spLocks noChangeArrowheads="1"/>
          </p:cNvSpPr>
          <p:nvPr/>
        </p:nvSpPr>
        <p:spPr bwMode="auto">
          <a:xfrm>
            <a:off x="6084888" y="260350"/>
            <a:ext cx="2736850" cy="717550"/>
          </a:xfrm>
          <a:prstGeom prst="wedgeRoundRectCallout">
            <a:avLst>
              <a:gd name="adj1" fmla="val -68042"/>
              <a:gd name="adj2" fmla="val 421019"/>
              <a:gd name="adj3" fmla="val 16667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algn="ctr"/>
            <a:r>
              <a:rPr lang="en-US" altLang="zh-CN" sz="3600" b="1">
                <a:latin typeface="Times New Roman" pitchFamily="18" charset="0"/>
              </a:rPr>
              <a:t>FIRST(</a:t>
            </a:r>
            <a:r>
              <a:rPr lang="el-GR" altLang="zh-CN" sz="3600" b="1">
                <a:latin typeface="Times New Roman" pitchFamily="18" charset="0"/>
              </a:rPr>
              <a:t>α</a:t>
            </a:r>
            <a:r>
              <a:rPr lang="en-US" altLang="zh-CN" sz="3600" b="1">
                <a:latin typeface="Times New Roman" pitchFamily="18" charset="0"/>
              </a:rPr>
              <a:t>)</a:t>
            </a:r>
          </a:p>
        </p:txBody>
      </p:sp>
      <p:sp>
        <p:nvSpPr>
          <p:cNvPr id="368647" name="AutoShape 7"/>
          <p:cNvSpPr>
            <a:spLocks noChangeArrowheads="1"/>
          </p:cNvSpPr>
          <p:nvPr/>
        </p:nvSpPr>
        <p:spPr bwMode="auto">
          <a:xfrm>
            <a:off x="5508625" y="5876925"/>
            <a:ext cx="3240088" cy="720725"/>
          </a:xfrm>
          <a:prstGeom prst="wedgeRoundRectCallout">
            <a:avLst>
              <a:gd name="adj1" fmla="val -123296"/>
              <a:gd name="adj2" fmla="val -215861"/>
              <a:gd name="adj3" fmla="val 16667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algn="ctr"/>
            <a:r>
              <a:rPr lang="en-US" altLang="zh-CN" sz="3600" b="1">
                <a:latin typeface="Times New Roman" pitchFamily="18" charset="0"/>
              </a:rPr>
              <a:t>FOLLOW(A)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ChangeArrowheads="1"/>
          </p:cNvSpPr>
          <p:nvPr>
            <p:ph type="title"/>
          </p:nvPr>
        </p:nvSpPr>
        <p:spPr>
          <a:xfrm>
            <a:off x="900113" y="476250"/>
            <a:ext cx="7621587" cy="1060450"/>
          </a:xfrm>
        </p:spPr>
        <p:txBody>
          <a:bodyPr/>
          <a:lstStyle/>
          <a:p>
            <a:pPr eaLnBrk="1" hangingPunct="1">
              <a:lnSpc>
                <a:spcPct val="110000"/>
              </a:lnSpc>
            </a:pPr>
            <a:r>
              <a:rPr lang="zh-CN" altLang="en-US" sz="4000" b="1" smtClean="0">
                <a:solidFill>
                  <a:srgbClr val="000099"/>
                </a:solidFill>
                <a:latin typeface="Times New Roman" pitchFamily="18" charset="0"/>
                <a:ea typeface="华文新魏" pitchFamily="2" charset="-122"/>
              </a:rPr>
              <a:t>4.3.1  </a:t>
            </a:r>
            <a:r>
              <a:rPr lang="en-US" altLang="zh-CN" b="1" smtClean="0">
                <a:solidFill>
                  <a:srgbClr val="000099"/>
                </a:solidFill>
                <a:latin typeface="Times New Roman" pitchFamily="18" charset="0"/>
                <a:ea typeface="华文新魏" pitchFamily="2" charset="-122"/>
              </a:rPr>
              <a:t>FIRST </a:t>
            </a:r>
            <a:r>
              <a:rPr lang="zh-CN" altLang="en-US" b="1" smtClean="0">
                <a:solidFill>
                  <a:srgbClr val="000099"/>
                </a:solidFill>
                <a:latin typeface="Times New Roman" pitchFamily="18" charset="0"/>
                <a:ea typeface="华文新魏" pitchFamily="2" charset="-122"/>
              </a:rPr>
              <a:t>和 </a:t>
            </a:r>
            <a:r>
              <a:rPr lang="en-US" altLang="zh-CN" b="1" smtClean="0">
                <a:solidFill>
                  <a:srgbClr val="000099"/>
                </a:solidFill>
                <a:latin typeface="Times New Roman" pitchFamily="18" charset="0"/>
                <a:ea typeface="华文新魏" pitchFamily="2" charset="-122"/>
              </a:rPr>
              <a:t>FOLLOW </a:t>
            </a:r>
            <a:r>
              <a:rPr lang="zh-CN" altLang="en-US" b="1" smtClean="0">
                <a:solidFill>
                  <a:srgbClr val="000099"/>
                </a:solidFill>
                <a:latin typeface="Times New Roman" pitchFamily="18" charset="0"/>
                <a:ea typeface="华文新魏" pitchFamily="2" charset="-122"/>
              </a:rPr>
              <a:t>集</a:t>
            </a:r>
          </a:p>
        </p:txBody>
      </p:sp>
      <p:sp>
        <p:nvSpPr>
          <p:cNvPr id="308227" name="Rectangle 3"/>
          <p:cNvSpPr>
            <a:spLocks noGrp="1" noChangeArrowheads="1"/>
          </p:cNvSpPr>
          <p:nvPr>
            <p:ph idx="1"/>
          </p:nvPr>
        </p:nvSpPr>
        <p:spPr>
          <a:xfrm>
            <a:off x="539750" y="1700213"/>
            <a:ext cx="8235950" cy="4462462"/>
          </a:xfrm>
        </p:spPr>
        <p:txBody>
          <a:bodyPr/>
          <a:lstStyle/>
          <a:p>
            <a:pPr algn="ctr" eaLnBrk="1" hangingPunct="1">
              <a:buFont typeface="Wingdings" pitchFamily="2" charset="2"/>
              <a:buNone/>
            </a:pPr>
            <a:r>
              <a:rPr lang="en-US" altLang="zh-CN" sz="3600" b="1" smtClean="0">
                <a:latin typeface="Times New Roman" pitchFamily="18" charset="0"/>
                <a:ea typeface="华文新魏" pitchFamily="2" charset="-122"/>
              </a:rPr>
              <a:t>A→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α</a:t>
            </a:r>
            <a:r>
              <a:rPr lang="en-US" altLang="zh-CN" b="1" baseline="-25000" smtClean="0">
                <a:latin typeface="Times New Roman" pitchFamily="18" charset="0"/>
                <a:ea typeface="华文新魏" pitchFamily="2" charset="-122"/>
              </a:rPr>
              <a:t>1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|α</a:t>
            </a:r>
            <a:r>
              <a:rPr lang="en-US" altLang="zh-CN" b="1" baseline="-25000" smtClean="0">
                <a:latin typeface="Times New Roman" pitchFamily="18" charset="0"/>
                <a:ea typeface="华文新魏" pitchFamily="2" charset="-122"/>
              </a:rPr>
              <a:t>2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|…|α</a:t>
            </a:r>
            <a:r>
              <a:rPr lang="en-US" altLang="zh-CN" b="1" baseline="-25000" smtClean="0">
                <a:latin typeface="Times New Roman" pitchFamily="18" charset="0"/>
                <a:ea typeface="华文新魏" pitchFamily="2" charset="-122"/>
              </a:rPr>
              <a:t>i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|…|α</a:t>
            </a:r>
            <a:r>
              <a:rPr lang="en-US" altLang="zh-CN" b="1" baseline="-25000" smtClean="0">
                <a:latin typeface="Times New Roman" pitchFamily="18" charset="0"/>
                <a:ea typeface="华文新魏" pitchFamily="2" charset="-122"/>
              </a:rPr>
              <a:t>n</a:t>
            </a:r>
          </a:p>
          <a:p>
            <a:pPr algn="ctr" eaLnBrk="1" hangingPunct="1">
              <a:buFont typeface="Wingdings" pitchFamily="2" charset="2"/>
              <a:buNone/>
            </a:pPr>
            <a:endParaRPr lang="zh-CN" altLang="en-US" b="1" smtClean="0">
              <a:latin typeface="Times New Roman" pitchFamily="18" charset="0"/>
              <a:ea typeface="华文新魏" pitchFamily="2" charset="-122"/>
            </a:endParaRPr>
          </a:p>
          <a:p>
            <a:pPr eaLnBrk="1" hangingPunct="1">
              <a:lnSpc>
                <a:spcPct val="125000"/>
              </a:lnSpc>
            </a:pP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对于</a:t>
            </a:r>
            <a:r>
              <a:rPr lang="zh-CN" altLang="en-US" b="1" smtClean="0">
                <a:latin typeface="Times New Roman" pitchFamily="18" charset="0"/>
                <a:ea typeface="华文新魏" pitchFamily="2" charset="-122"/>
                <a:sym typeface="Symbol" pitchFamily="18" charset="2"/>
              </a:rPr>
              <a:t>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α∈ (V∪T) </a:t>
            </a:r>
            <a:r>
              <a:rPr lang="en-US" altLang="zh-CN" b="1" baseline="30000" smtClean="0">
                <a:latin typeface="Times New Roman" pitchFamily="18" charset="0"/>
                <a:ea typeface="华文新魏" pitchFamily="2" charset="-122"/>
              </a:rPr>
              <a:t>*</a:t>
            </a: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，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α</a:t>
            </a: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的首符号集</a:t>
            </a:r>
            <a:endParaRPr lang="en-US" altLang="zh-CN" b="1" smtClean="0">
              <a:latin typeface="Times New Roman" pitchFamily="18" charset="0"/>
              <a:ea typeface="华文新魏" pitchFamily="2" charset="-122"/>
            </a:endParaRPr>
          </a:p>
          <a:p>
            <a:pPr lvl="1" eaLnBrk="1" hangingPunct="1">
              <a:lnSpc>
                <a:spcPct val="125000"/>
              </a:lnSpc>
            </a:pP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FIRST(α)={a|α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  <a:sym typeface="Symbol" pitchFamily="18" charset="2"/>
              </a:rPr>
              <a:t></a:t>
            </a:r>
            <a:r>
              <a:rPr lang="en-US" altLang="zh-CN" b="1" baseline="30000" smtClean="0">
                <a:latin typeface="Times New Roman" pitchFamily="18" charset="0"/>
                <a:ea typeface="华文新魏" pitchFamily="2" charset="-122"/>
              </a:rPr>
              <a:t>*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a…，a∈T}</a:t>
            </a:r>
          </a:p>
          <a:p>
            <a:pPr lvl="1" eaLnBrk="1" hangingPunct="1">
              <a:lnSpc>
                <a:spcPct val="125000"/>
              </a:lnSpc>
            </a:pP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当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α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  <a:sym typeface="Symbol" pitchFamily="18" charset="2"/>
              </a:rPr>
              <a:t></a:t>
            </a:r>
            <a:r>
              <a:rPr lang="en-US" altLang="zh-CN" b="1" baseline="30000" smtClean="0">
                <a:latin typeface="Times New Roman" pitchFamily="18" charset="0"/>
                <a:ea typeface="华文新魏" pitchFamily="2" charset="-122"/>
              </a:rPr>
              <a:t>*</a:t>
            </a:r>
            <a:r>
              <a:rPr lang="en-US" altLang="zh-CN" b="1" smtClean="0">
                <a:latin typeface="Times New Roman" pitchFamily="18" charset="0"/>
              </a:rPr>
              <a:t>ε</a:t>
            </a:r>
            <a:r>
              <a:rPr lang="zh-CN" altLang="en-US" b="1" smtClean="0">
                <a:latin typeface="Times New Roman" pitchFamily="18" charset="0"/>
              </a:rPr>
              <a:t>时，</a:t>
            </a:r>
            <a:r>
              <a:rPr lang="en-US" altLang="zh-CN" b="1" smtClean="0">
                <a:latin typeface="Times New Roman" pitchFamily="18" charset="0"/>
              </a:rPr>
              <a:t>ε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∈FIRST(α)</a:t>
            </a:r>
          </a:p>
          <a:p>
            <a:pPr eaLnBrk="1" hangingPunct="1">
              <a:lnSpc>
                <a:spcPct val="125000"/>
              </a:lnSpc>
            </a:pP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对于</a:t>
            </a:r>
            <a:r>
              <a:rPr lang="zh-CN" altLang="en-US" b="1" smtClean="0">
                <a:latin typeface="Times New Roman" pitchFamily="18" charset="0"/>
                <a:ea typeface="华文新魏" pitchFamily="2" charset="-122"/>
                <a:sym typeface="Symbol" pitchFamily="18" charset="2"/>
              </a:rPr>
              <a:t>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A∈V</a:t>
            </a: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，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A</a:t>
            </a: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的后随符号集</a:t>
            </a:r>
            <a:r>
              <a:rPr lang="zh-CN" altLang="en-US" sz="2800" b="1" smtClean="0">
                <a:latin typeface="Times New Roman" pitchFamily="18" charset="0"/>
                <a:ea typeface="华文新魏" pitchFamily="2" charset="-122"/>
              </a:rPr>
              <a:t>  </a:t>
            </a:r>
          </a:p>
          <a:p>
            <a:pPr lvl="1" eaLnBrk="1" hangingPunct="1">
              <a:lnSpc>
                <a:spcPct val="125000"/>
              </a:lnSpc>
            </a:pP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FOLLOW(A)={a|S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  <a:sym typeface="Symbol" pitchFamily="18" charset="2"/>
              </a:rPr>
              <a:t></a:t>
            </a:r>
            <a:r>
              <a:rPr lang="en-US" altLang="zh-CN" b="1" baseline="30000" smtClean="0">
                <a:latin typeface="Times New Roman" pitchFamily="18" charset="0"/>
                <a:ea typeface="华文新魏" pitchFamily="2" charset="-122"/>
              </a:rPr>
              <a:t>*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…Aa…，a∈T}</a:t>
            </a:r>
          </a:p>
        </p:txBody>
      </p:sp>
      <p:sp>
        <p:nvSpPr>
          <p:cNvPr id="61444" name="日期占位符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BEBF6F27-9C27-4D49-A0D6-B8F03B6B8A5D}" type="datetime1">
              <a:rPr lang="zh-CN" altLang="en-US" smtClean="0"/>
              <a:pPr eaLnBrk="1" hangingPunct="1"/>
              <a:t>2017/2/24</a:t>
            </a:fld>
            <a:endParaRPr lang="en-US" altLang="zh-CN" smtClean="0"/>
          </a:p>
        </p:txBody>
      </p:sp>
      <p:sp>
        <p:nvSpPr>
          <p:cNvPr id="61445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373788BD-F8F3-4295-B098-7ABD3B8ED79E}" type="slidenum">
              <a:rPr lang="zh-CN" altLang="en-US" smtClean="0"/>
              <a:pPr eaLnBrk="1" hangingPunct="1"/>
              <a:t>49</a:t>
            </a:fld>
            <a:endParaRPr lang="en-US" altLang="zh-CN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/>
          <p:cNvSpPr>
            <a:spLocks noGrp="1" noChangeArrowheads="1"/>
          </p:cNvSpPr>
          <p:nvPr>
            <p:ph type="title"/>
          </p:nvPr>
        </p:nvSpPr>
        <p:spPr>
          <a:xfrm>
            <a:off x="971550" y="692150"/>
            <a:ext cx="7885113" cy="965200"/>
          </a:xfrm>
          <a:noFill/>
        </p:spPr>
        <p:txBody>
          <a:bodyPr lIns="92075" tIns="46038" rIns="92075" bIns="46038"/>
          <a:lstStyle/>
          <a:p>
            <a:pPr eaLnBrk="1" hangingPunct="1"/>
            <a:r>
              <a:rPr lang="zh-CN" altLang="en-US" sz="4000" b="1" smtClean="0">
                <a:solidFill>
                  <a:srgbClr val="000099"/>
                </a:solidFill>
                <a:latin typeface="Times New Roman" pitchFamily="18" charset="0"/>
                <a:ea typeface="华文新魏" pitchFamily="2" charset="-122"/>
              </a:rPr>
              <a:t>求</a:t>
            </a:r>
            <a:r>
              <a:rPr lang="en-US" altLang="zh-CN" sz="4000" b="1" smtClean="0">
                <a:solidFill>
                  <a:srgbClr val="000099"/>
                </a:solidFill>
                <a:latin typeface="Times New Roman" pitchFamily="18" charset="0"/>
                <a:ea typeface="华文新魏" pitchFamily="2" charset="-122"/>
              </a:rPr>
              <a:t>FIRST( X ) </a:t>
            </a:r>
            <a:r>
              <a:rPr lang="zh-CN" altLang="en-US" sz="4000" b="1" smtClean="0">
                <a:solidFill>
                  <a:srgbClr val="000099"/>
                </a:solidFill>
                <a:latin typeface="Times New Roman" pitchFamily="18" charset="0"/>
                <a:ea typeface="华文新魏" pitchFamily="2" charset="-122"/>
              </a:rPr>
              <a:t>的算法</a:t>
            </a:r>
          </a:p>
        </p:txBody>
      </p:sp>
      <p:sp>
        <p:nvSpPr>
          <p:cNvPr id="311299" name="Rectangle 3"/>
          <p:cNvSpPr>
            <a:spLocks noGrp="1" noChangeArrowheads="1"/>
          </p:cNvSpPr>
          <p:nvPr>
            <p:ph idx="1"/>
          </p:nvPr>
        </p:nvSpPr>
        <p:spPr>
          <a:xfrm>
            <a:off x="990600" y="1981200"/>
            <a:ext cx="4267200" cy="4419600"/>
          </a:xfrm>
        </p:spPr>
        <p:txBody>
          <a:bodyPr lIns="92075" tIns="46038" rIns="92075" bIns="46038"/>
          <a:lstStyle/>
          <a:p>
            <a:pPr eaLnBrk="1" hangingPunct="1">
              <a:lnSpc>
                <a:spcPct val="110000"/>
              </a:lnSpc>
              <a:buFont typeface="Wingdings" pitchFamily="2" charset="2"/>
              <a:buNone/>
            </a:pPr>
            <a:r>
              <a:rPr lang="en-US" altLang="zh-CN" sz="2400" b="1" smtClean="0">
                <a:latin typeface="Times New Roman" pitchFamily="18" charset="0"/>
                <a:ea typeface="华文新魏" pitchFamily="2" charset="-122"/>
              </a:rPr>
              <a:t>FIRST(+)={+}, FIRST(*)={*}</a:t>
            </a:r>
          </a:p>
          <a:p>
            <a:pPr eaLnBrk="1" hangingPunct="1">
              <a:lnSpc>
                <a:spcPct val="110000"/>
              </a:lnSpc>
              <a:buFont typeface="Wingdings" pitchFamily="2" charset="2"/>
              <a:buNone/>
            </a:pPr>
            <a:r>
              <a:rPr lang="en-US" altLang="zh-CN" sz="2400" b="1" smtClean="0">
                <a:latin typeface="Times New Roman" pitchFamily="18" charset="0"/>
                <a:ea typeface="华文新魏" pitchFamily="2" charset="-122"/>
              </a:rPr>
              <a:t>FIRST( ( )={(}</a:t>
            </a:r>
          </a:p>
          <a:p>
            <a:pPr eaLnBrk="1" hangingPunct="1">
              <a:lnSpc>
                <a:spcPct val="110000"/>
              </a:lnSpc>
              <a:buFont typeface="Wingdings" pitchFamily="2" charset="2"/>
              <a:buNone/>
            </a:pPr>
            <a:r>
              <a:rPr lang="en-US" altLang="zh-CN" sz="2400" b="1" smtClean="0">
                <a:latin typeface="Times New Roman" pitchFamily="18" charset="0"/>
                <a:ea typeface="华文新魏" pitchFamily="2" charset="-122"/>
              </a:rPr>
              <a:t>FIRST( ) )={)}</a:t>
            </a:r>
          </a:p>
          <a:p>
            <a:pPr eaLnBrk="1" hangingPunct="1">
              <a:lnSpc>
                <a:spcPct val="110000"/>
              </a:lnSpc>
              <a:buFont typeface="Wingdings" pitchFamily="2" charset="2"/>
              <a:buNone/>
            </a:pPr>
            <a:r>
              <a:rPr lang="en-US" altLang="zh-CN" sz="2400" b="1" smtClean="0">
                <a:latin typeface="Times New Roman" pitchFamily="18" charset="0"/>
                <a:ea typeface="华文新魏" pitchFamily="2" charset="-122"/>
              </a:rPr>
              <a:t>FIRST(id)={id}</a:t>
            </a:r>
          </a:p>
          <a:p>
            <a:pPr eaLnBrk="1" hangingPunct="1">
              <a:lnSpc>
                <a:spcPct val="110000"/>
              </a:lnSpc>
              <a:buFont typeface="Wingdings" pitchFamily="2" charset="2"/>
              <a:buNone/>
            </a:pPr>
            <a:r>
              <a:rPr lang="en-US" altLang="zh-CN" sz="2400" b="1" smtClean="0">
                <a:latin typeface="Times New Roman" pitchFamily="18" charset="0"/>
                <a:ea typeface="华文新魏" pitchFamily="2" charset="-122"/>
              </a:rPr>
              <a:t>FIRST(F)={(,id}</a:t>
            </a:r>
          </a:p>
          <a:p>
            <a:pPr eaLnBrk="1" hangingPunct="1">
              <a:lnSpc>
                <a:spcPct val="110000"/>
              </a:lnSpc>
              <a:buFont typeface="Wingdings" pitchFamily="2" charset="2"/>
              <a:buNone/>
            </a:pPr>
            <a:r>
              <a:rPr lang="en-US" altLang="zh-CN" sz="2400" b="1" smtClean="0">
                <a:latin typeface="Times New Roman" pitchFamily="18" charset="0"/>
                <a:ea typeface="华文新魏" pitchFamily="2" charset="-122"/>
              </a:rPr>
              <a:t>FIRST(T)=FIRST(F)={(,id}    </a:t>
            </a:r>
          </a:p>
          <a:p>
            <a:pPr eaLnBrk="1" hangingPunct="1">
              <a:lnSpc>
                <a:spcPct val="110000"/>
              </a:lnSpc>
              <a:buFont typeface="Wingdings" pitchFamily="2" charset="2"/>
              <a:buNone/>
            </a:pPr>
            <a:r>
              <a:rPr lang="en-US" altLang="zh-CN" sz="2400" b="1" smtClean="0">
                <a:latin typeface="Times New Roman" pitchFamily="18" charset="0"/>
                <a:ea typeface="华文新魏" pitchFamily="2" charset="-122"/>
              </a:rPr>
              <a:t>FIRST(E)=FIRST(T)={(,id}  </a:t>
            </a:r>
          </a:p>
          <a:p>
            <a:pPr eaLnBrk="1" hangingPunct="1">
              <a:lnSpc>
                <a:spcPct val="110000"/>
              </a:lnSpc>
              <a:buFont typeface="Wingdings" pitchFamily="2" charset="2"/>
              <a:buNone/>
            </a:pPr>
            <a:r>
              <a:rPr lang="en-US" altLang="zh-CN" sz="2400" b="1" smtClean="0">
                <a:latin typeface="Times New Roman" pitchFamily="18" charset="0"/>
                <a:ea typeface="华文新魏" pitchFamily="2" charset="-122"/>
              </a:rPr>
              <a:t>FIRST(E')={+，ε}</a:t>
            </a:r>
          </a:p>
          <a:p>
            <a:pPr eaLnBrk="1" hangingPunct="1">
              <a:lnSpc>
                <a:spcPct val="110000"/>
              </a:lnSpc>
              <a:buFont typeface="Wingdings" pitchFamily="2" charset="2"/>
              <a:buNone/>
            </a:pPr>
            <a:r>
              <a:rPr lang="en-US" altLang="zh-CN" sz="2400" b="1" smtClean="0">
                <a:latin typeface="Times New Roman" pitchFamily="18" charset="0"/>
                <a:ea typeface="华文新魏" pitchFamily="2" charset="-122"/>
              </a:rPr>
              <a:t>FIRST(T')={*,ε} </a:t>
            </a:r>
          </a:p>
        </p:txBody>
      </p:sp>
      <p:sp>
        <p:nvSpPr>
          <p:cNvPr id="62468" name="日期占位符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3968F69D-5041-4613-AE5E-138417F9F964}" type="datetime1">
              <a:rPr lang="zh-CN" altLang="en-US" smtClean="0"/>
              <a:pPr eaLnBrk="1" hangingPunct="1"/>
              <a:t>2017/2/24</a:t>
            </a:fld>
            <a:endParaRPr lang="en-US" altLang="zh-CN" smtClean="0"/>
          </a:p>
        </p:txBody>
      </p:sp>
      <p:sp>
        <p:nvSpPr>
          <p:cNvPr id="62469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D16ECAA8-97C3-417A-A935-30BB8ED05E99}" type="slidenum">
              <a:rPr lang="zh-CN" altLang="en-US" smtClean="0"/>
              <a:pPr eaLnBrk="1" hangingPunct="1"/>
              <a:t>50</a:t>
            </a:fld>
            <a:endParaRPr lang="en-US" altLang="zh-CN" smtClean="0"/>
          </a:p>
        </p:txBody>
      </p:sp>
      <p:sp>
        <p:nvSpPr>
          <p:cNvPr id="311300" name="Text Box 4"/>
          <p:cNvSpPr txBox="1">
            <a:spLocks noChangeArrowheads="1"/>
          </p:cNvSpPr>
          <p:nvPr/>
        </p:nvSpPr>
        <p:spPr bwMode="auto">
          <a:xfrm>
            <a:off x="5715000" y="2036763"/>
            <a:ext cx="2362200" cy="3641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>
            <a:spAutoFit/>
          </a:bodyPr>
          <a:lstStyle/>
          <a:p>
            <a:pPr eaLnBrk="0" hangingPunct="0">
              <a:lnSpc>
                <a:spcPct val="15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800" b="1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E→TE'        </a:t>
            </a:r>
          </a:p>
          <a:p>
            <a:pPr eaLnBrk="0" hangingPunct="0">
              <a:lnSpc>
                <a:spcPct val="15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800" b="1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E'→+TE'|ε  </a:t>
            </a:r>
          </a:p>
          <a:p>
            <a:pPr eaLnBrk="0" hangingPunct="0">
              <a:lnSpc>
                <a:spcPct val="15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800" b="1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T→FT'        </a:t>
            </a:r>
          </a:p>
          <a:p>
            <a:pPr eaLnBrk="0" hangingPunct="0">
              <a:lnSpc>
                <a:spcPct val="15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800" b="1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T'→*FT'|ε  </a:t>
            </a:r>
          </a:p>
          <a:p>
            <a:pPr eaLnBrk="0" hangingPunct="0">
              <a:lnSpc>
                <a:spcPct val="15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800" b="1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F→(E)|id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 noChangeArrowheads="1"/>
          </p:cNvSpPr>
          <p:nvPr>
            <p:ph type="title"/>
          </p:nvPr>
        </p:nvSpPr>
        <p:spPr>
          <a:xfrm>
            <a:off x="1116013" y="692150"/>
            <a:ext cx="6770687" cy="1008063"/>
          </a:xfrm>
          <a:noFill/>
        </p:spPr>
        <p:txBody>
          <a:bodyPr lIns="92075" tIns="46038" rIns="92075" bIns="46038"/>
          <a:lstStyle/>
          <a:p>
            <a:pPr eaLnBrk="1" hangingPunct="1"/>
            <a:r>
              <a:rPr lang="zh-CN" altLang="en-US" b="1" smtClean="0">
                <a:solidFill>
                  <a:srgbClr val="000099"/>
                </a:solidFill>
                <a:latin typeface="Times New Roman" pitchFamily="18" charset="0"/>
                <a:ea typeface="华文新魏" pitchFamily="2" charset="-122"/>
              </a:rPr>
              <a:t>算法</a:t>
            </a:r>
            <a:r>
              <a:rPr lang="en-US" altLang="zh-CN" b="1" smtClean="0">
                <a:solidFill>
                  <a:srgbClr val="000099"/>
                </a:solidFill>
                <a:latin typeface="Times New Roman" pitchFamily="18" charset="0"/>
                <a:ea typeface="华文新魏" pitchFamily="2" charset="-122"/>
              </a:rPr>
              <a:t>4.1 </a:t>
            </a:r>
            <a:r>
              <a:rPr lang="zh-CN" altLang="en-US" b="1" smtClean="0">
                <a:solidFill>
                  <a:srgbClr val="000099"/>
                </a:solidFill>
                <a:latin typeface="Times New Roman" pitchFamily="18" charset="0"/>
                <a:ea typeface="华文新魏" pitchFamily="2" charset="-122"/>
              </a:rPr>
              <a:t>求</a:t>
            </a:r>
            <a:r>
              <a:rPr lang="en-US" altLang="zh-CN" b="1" smtClean="0">
                <a:solidFill>
                  <a:srgbClr val="000099"/>
                </a:solidFill>
                <a:latin typeface="Times New Roman" pitchFamily="18" charset="0"/>
                <a:ea typeface="华文新魏" pitchFamily="2" charset="-122"/>
              </a:rPr>
              <a:t>FIRST( X ) </a:t>
            </a:r>
            <a:endParaRPr lang="zh-CN" altLang="en-US" b="1" smtClean="0">
              <a:solidFill>
                <a:srgbClr val="000099"/>
              </a:solidFill>
              <a:latin typeface="Times New Roman" pitchFamily="18" charset="0"/>
              <a:ea typeface="华文新魏" pitchFamily="2" charset="-122"/>
            </a:endParaRPr>
          </a:p>
        </p:txBody>
      </p:sp>
      <p:sp>
        <p:nvSpPr>
          <p:cNvPr id="309251" name="Rectangle 3"/>
          <p:cNvSpPr>
            <a:spLocks noGrp="1" noChangeArrowheads="1"/>
          </p:cNvSpPr>
          <p:nvPr>
            <p:ph idx="1"/>
          </p:nvPr>
        </p:nvSpPr>
        <p:spPr>
          <a:xfrm>
            <a:off x="611188" y="2492375"/>
            <a:ext cx="8077200" cy="1511300"/>
          </a:xfrm>
        </p:spPr>
        <p:txBody>
          <a:bodyPr lIns="92075" tIns="46038" rIns="92075" bIns="46038"/>
          <a:lstStyle/>
          <a:p>
            <a:pPr eaLnBrk="1" hangingPunct="1">
              <a:lnSpc>
                <a:spcPct val="120000"/>
              </a:lnSpc>
              <a:buFont typeface="Wingdings" pitchFamily="2" charset="2"/>
              <a:buNone/>
            </a:pP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(1) </a:t>
            </a: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对</a:t>
            </a:r>
            <a:r>
              <a:rPr lang="zh-CN" altLang="en-US" b="1" smtClean="0">
                <a:latin typeface="Times New Roman" pitchFamily="18" charset="0"/>
                <a:ea typeface="华文新魏" pitchFamily="2" charset="-122"/>
                <a:sym typeface="Symbol" pitchFamily="18" charset="2"/>
              </a:rPr>
              <a:t>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  <a:sym typeface="Symbol" pitchFamily="18" charset="2"/>
              </a:rPr>
              <a:t>X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∈T，FIRST(X)={X} ；</a:t>
            </a:r>
          </a:p>
          <a:p>
            <a:pPr eaLnBrk="1" hangingPunct="1">
              <a:lnSpc>
                <a:spcPct val="120000"/>
              </a:lnSpc>
              <a:buFont typeface="Wingdings" pitchFamily="2" charset="2"/>
              <a:buNone/>
            </a:pP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(2) </a:t>
            </a: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对</a:t>
            </a:r>
            <a:r>
              <a:rPr lang="zh-CN" altLang="en-US" b="1" smtClean="0">
                <a:latin typeface="Times New Roman" pitchFamily="18" charset="0"/>
                <a:ea typeface="华文新魏" pitchFamily="2" charset="-122"/>
                <a:sym typeface="Symbol" pitchFamily="18" charset="2"/>
              </a:rPr>
              <a:t>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X∈V，</a:t>
            </a: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取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FIRST(X)</a:t>
            </a: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的初值：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	</a:t>
            </a:r>
          </a:p>
        </p:txBody>
      </p:sp>
      <p:sp>
        <p:nvSpPr>
          <p:cNvPr id="63492" name="日期占位符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564A6143-C929-471C-BACD-15DAAC50409A}" type="datetime1">
              <a:rPr lang="zh-CN" altLang="en-US" smtClean="0"/>
              <a:pPr eaLnBrk="1" hangingPunct="1"/>
              <a:t>2017/2/24</a:t>
            </a:fld>
            <a:endParaRPr lang="en-US" altLang="zh-CN" smtClean="0"/>
          </a:p>
        </p:txBody>
      </p:sp>
      <p:sp>
        <p:nvSpPr>
          <p:cNvPr id="63493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B660B67C-0A3F-42EF-985D-977546D68962}" type="slidenum">
              <a:rPr lang="zh-CN" altLang="en-US" smtClean="0"/>
              <a:pPr eaLnBrk="1" hangingPunct="1"/>
              <a:t>51</a:t>
            </a:fld>
            <a:endParaRPr lang="en-US" altLang="zh-CN" smtClean="0"/>
          </a:p>
        </p:txBody>
      </p:sp>
      <p:sp>
        <p:nvSpPr>
          <p:cNvPr id="309252" name="AutoShape 4"/>
          <p:cNvSpPr>
            <a:spLocks/>
          </p:cNvSpPr>
          <p:nvPr/>
        </p:nvSpPr>
        <p:spPr bwMode="auto">
          <a:xfrm>
            <a:off x="2974975" y="4433888"/>
            <a:ext cx="228600" cy="1443037"/>
          </a:xfrm>
          <a:prstGeom prst="leftBrace">
            <a:avLst>
              <a:gd name="adj1" fmla="val 52604"/>
              <a:gd name="adj2" fmla="val 50000"/>
            </a:avLst>
          </a:prstGeom>
          <a:noFill/>
          <a:ln w="38100">
            <a:solidFill>
              <a:srgbClr val="0000CC"/>
            </a:solidFill>
            <a:round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 eaLnBrk="0" hangingPunct="0">
              <a:lnSpc>
                <a:spcPct val="110000"/>
              </a:lnSpc>
              <a:spcBef>
                <a:spcPct val="20000"/>
              </a:spcBef>
              <a:buClr>
                <a:schemeClr val="folHlink"/>
              </a:buClr>
              <a:buSzPct val="75000"/>
              <a:buFont typeface="Monotype Sorts" pitchFamily="2" charset="2"/>
              <a:buNone/>
              <a:defRPr/>
            </a:pPr>
            <a:endParaRPr kumimoji="1" lang="zh-CN" altLang="en-US" sz="2800" b="1">
              <a:solidFill>
                <a:srgbClr val="0000CC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itchFamily="18" charset="0"/>
            </a:endParaRPr>
          </a:p>
        </p:txBody>
      </p:sp>
      <p:sp>
        <p:nvSpPr>
          <p:cNvPr id="309254" name="Rectangle 6"/>
          <p:cNvSpPr>
            <a:spLocks noChangeArrowheads="1"/>
          </p:cNvSpPr>
          <p:nvPr/>
        </p:nvSpPr>
        <p:spPr bwMode="auto">
          <a:xfrm>
            <a:off x="1042988" y="4868863"/>
            <a:ext cx="1930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2800" b="1">
                <a:solidFill>
                  <a:srgbClr val="0000CC"/>
                </a:solidFill>
                <a:latin typeface="Times New Roman" pitchFamily="18" charset="0"/>
              </a:rPr>
              <a:t>FIRST(X)=</a:t>
            </a:r>
            <a:endParaRPr lang="zh-CN" altLang="en-US" sz="2800" b="1">
              <a:solidFill>
                <a:srgbClr val="0000CC"/>
              </a:solidFill>
              <a:latin typeface="Times New Roman" pitchFamily="18" charset="0"/>
            </a:endParaRPr>
          </a:p>
        </p:txBody>
      </p:sp>
      <p:sp>
        <p:nvSpPr>
          <p:cNvPr id="309255" name="Rectangle 7"/>
          <p:cNvSpPr>
            <a:spLocks noChangeArrowheads="1"/>
          </p:cNvSpPr>
          <p:nvPr/>
        </p:nvSpPr>
        <p:spPr bwMode="auto">
          <a:xfrm>
            <a:off x="3132138" y="4133850"/>
            <a:ext cx="555148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zh-CN" altLang="en-US" sz="2800" b="1">
                <a:solidFill>
                  <a:srgbClr val="0000CC"/>
                </a:solidFill>
                <a:latin typeface="Times New Roman" pitchFamily="18" charset="0"/>
              </a:rPr>
              <a:t>{</a:t>
            </a:r>
            <a:r>
              <a:rPr lang="en-US" altLang="zh-CN" sz="2800" b="1">
                <a:solidFill>
                  <a:srgbClr val="0000CC"/>
                </a:solidFill>
                <a:latin typeface="Times New Roman" pitchFamily="18" charset="0"/>
              </a:rPr>
              <a:t>a|X→a…∈P}		X→ε</a:t>
            </a:r>
            <a:r>
              <a:rPr lang="en-US" altLang="zh-CN" sz="2800" b="1">
                <a:solidFill>
                  <a:srgbClr val="0000CC"/>
                </a:solidFill>
                <a:latin typeface="Times New Roman" pitchFamily="18" charset="0"/>
                <a:sym typeface="Symbol" pitchFamily="18" charset="2"/>
              </a:rPr>
              <a:t>P</a:t>
            </a:r>
            <a:endParaRPr lang="zh-CN" altLang="en-US" sz="2800" b="1">
              <a:solidFill>
                <a:srgbClr val="0000CC"/>
              </a:solidFill>
              <a:latin typeface="Times New Roman" pitchFamily="18" charset="0"/>
              <a:sym typeface="Symbol" pitchFamily="18" charset="2"/>
            </a:endParaRPr>
          </a:p>
        </p:txBody>
      </p:sp>
      <p:sp>
        <p:nvSpPr>
          <p:cNvPr id="309256" name="Rectangle 8"/>
          <p:cNvSpPr>
            <a:spLocks noChangeArrowheads="1"/>
          </p:cNvSpPr>
          <p:nvPr/>
        </p:nvSpPr>
        <p:spPr bwMode="auto">
          <a:xfrm>
            <a:off x="3132138" y="4941888"/>
            <a:ext cx="576103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altLang="zh-CN" sz="2800" b="1">
                <a:solidFill>
                  <a:srgbClr val="0000CC"/>
                </a:solidFill>
                <a:latin typeface="Times New Roman" pitchFamily="18" charset="0"/>
              </a:rPr>
              <a:t>{a|X→a…∈P}∪{ε} 	X→ε∈P</a:t>
            </a:r>
            <a:endParaRPr lang="zh-CN" altLang="en-US" sz="2800" b="1">
              <a:solidFill>
                <a:srgbClr val="0000CC"/>
              </a:solidFill>
              <a:latin typeface="Times New Roman" pitchFamily="18" charset="0"/>
            </a:endParaRPr>
          </a:p>
        </p:txBody>
      </p:sp>
      <p:sp>
        <p:nvSpPr>
          <p:cNvPr id="309257" name="Rectangle 9"/>
          <p:cNvSpPr>
            <a:spLocks noChangeArrowheads="1"/>
          </p:cNvSpPr>
          <p:nvPr/>
        </p:nvSpPr>
        <p:spPr bwMode="auto">
          <a:xfrm>
            <a:off x="3132138" y="5661025"/>
            <a:ext cx="576103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altLang="zh-CN" sz="2800" b="1">
                <a:solidFill>
                  <a:srgbClr val="0000CC"/>
                </a:solidFill>
                <a:latin typeface="Times New Roman" pitchFamily="18" charset="0"/>
              </a:rPr>
              <a:t>Φ 	                               otherwise</a:t>
            </a:r>
            <a:endParaRPr lang="zh-CN" altLang="en-US" sz="2800" b="1">
              <a:solidFill>
                <a:srgbClr val="0000CC"/>
              </a:solidFill>
              <a:latin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274" name="Rectangle 2"/>
          <p:cNvSpPr>
            <a:spLocks noGrp="1" noChangeArrowheads="1"/>
          </p:cNvSpPr>
          <p:nvPr>
            <p:ph idx="1"/>
          </p:nvPr>
        </p:nvSpPr>
        <p:spPr>
          <a:xfrm>
            <a:off x="304800" y="685800"/>
            <a:ext cx="8610600" cy="5486400"/>
          </a:xfrm>
        </p:spPr>
        <p:txBody>
          <a:bodyPr lIns="92075" tIns="46038" rIns="92075" bIns="46038"/>
          <a:lstStyle/>
          <a:p>
            <a:pPr eaLnBrk="1" hangingPunct="1">
              <a:lnSpc>
                <a:spcPct val="140000"/>
              </a:lnSpc>
              <a:buFont typeface="Wingdings" pitchFamily="2" charset="2"/>
              <a:buNone/>
            </a:pP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(3)</a:t>
            </a:r>
            <a:r>
              <a:rPr lang="zh-CN" altLang="en-US" sz="2800" b="1" smtClean="0">
                <a:latin typeface="Times New Roman" pitchFamily="18" charset="0"/>
                <a:ea typeface="华文新魏" pitchFamily="2" charset="-122"/>
              </a:rPr>
              <a:t>对</a:t>
            </a:r>
            <a:r>
              <a:rPr lang="zh-CN" altLang="en-US" sz="2800" b="1" smtClean="0">
                <a:latin typeface="Times New Roman" pitchFamily="18" charset="0"/>
                <a:ea typeface="华文新魏" pitchFamily="2" charset="-122"/>
                <a:sym typeface="Symbol" pitchFamily="18" charset="2"/>
              </a:rPr>
              <a:t></a:t>
            </a: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X∈V</a:t>
            </a:r>
            <a:r>
              <a:rPr lang="en-US" altLang="zh-CN" sz="2800" b="1" baseline="-25000" smtClean="0">
                <a:latin typeface="Times New Roman" pitchFamily="18" charset="0"/>
                <a:ea typeface="华文新魏" pitchFamily="2" charset="-122"/>
              </a:rPr>
              <a:t>N</a:t>
            </a: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，</a:t>
            </a:r>
            <a:r>
              <a:rPr lang="zh-CN" altLang="en-US" sz="2800" b="1" smtClean="0">
                <a:latin typeface="Times New Roman" pitchFamily="18" charset="0"/>
                <a:ea typeface="华文新魏" pitchFamily="2" charset="-122"/>
              </a:rPr>
              <a:t>重复如下过程直到所有</a:t>
            </a: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FIRST</a:t>
            </a:r>
            <a:r>
              <a:rPr lang="zh-CN" altLang="en-US" sz="2800" b="1" smtClean="0">
                <a:latin typeface="Times New Roman" pitchFamily="18" charset="0"/>
                <a:ea typeface="华文新魏" pitchFamily="2" charset="-122"/>
              </a:rPr>
              <a:t>集不变</a:t>
            </a:r>
          </a:p>
          <a:p>
            <a:pPr eaLnBrk="1" hangingPunct="1">
              <a:lnSpc>
                <a:spcPct val="140000"/>
              </a:lnSpc>
              <a:buFont typeface="Wingdings" pitchFamily="2" charset="2"/>
              <a:buNone/>
            </a:pPr>
            <a:r>
              <a:rPr lang="zh-CN" altLang="en-US" sz="2800" b="1" smtClean="0">
                <a:solidFill>
                  <a:srgbClr val="000099"/>
                </a:solidFill>
                <a:latin typeface="Times New Roman" pitchFamily="18" charset="0"/>
                <a:ea typeface="华文新魏" pitchFamily="2" charset="-122"/>
              </a:rPr>
              <a:t>对 </a:t>
            </a: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X→Y</a:t>
            </a:r>
            <a:r>
              <a:rPr lang="en-US" altLang="zh-CN" sz="2800" b="1" baseline="-25000" smtClean="0">
                <a:latin typeface="Times New Roman" pitchFamily="18" charset="0"/>
                <a:ea typeface="华文新魏" pitchFamily="2" charset="-122"/>
              </a:rPr>
              <a:t>1</a:t>
            </a: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…Y</a:t>
            </a:r>
            <a:r>
              <a:rPr lang="en-US" altLang="zh-CN" sz="2800" b="1" baseline="-25000" smtClean="0">
                <a:latin typeface="Times New Roman" pitchFamily="18" charset="0"/>
                <a:ea typeface="华文新魏" pitchFamily="2" charset="-122"/>
              </a:rPr>
              <a:t>n</a:t>
            </a: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∈P</a:t>
            </a:r>
          </a:p>
          <a:p>
            <a:pPr eaLnBrk="1" hangingPunct="1">
              <a:lnSpc>
                <a:spcPct val="140000"/>
              </a:lnSpc>
              <a:buFont typeface="Wingdings" pitchFamily="2" charset="2"/>
              <a:buNone/>
            </a:pPr>
            <a:r>
              <a:rPr lang="zh-CN" altLang="en-US" sz="2800" b="1" smtClean="0">
                <a:latin typeface="Times New Roman" pitchFamily="18" charset="0"/>
                <a:ea typeface="华文新魏" pitchFamily="2" charset="-122"/>
              </a:rPr>
              <a:t>	</a:t>
            </a: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k=1</a:t>
            </a:r>
            <a:r>
              <a:rPr lang="zh-CN" altLang="en-US" sz="2800" b="1" smtClean="0">
                <a:latin typeface="Times New Roman" pitchFamily="18" charset="0"/>
                <a:ea typeface="华文新魏" pitchFamily="2" charset="-122"/>
              </a:rPr>
              <a:t>；</a:t>
            </a:r>
          </a:p>
          <a:p>
            <a:pPr eaLnBrk="1" hangingPunct="1">
              <a:lnSpc>
                <a:spcPct val="140000"/>
              </a:lnSpc>
              <a:buFont typeface="Wingdings" pitchFamily="2" charset="2"/>
              <a:buNone/>
            </a:pPr>
            <a:r>
              <a:rPr lang="zh-CN" altLang="en-US" sz="2800" b="1" smtClean="0">
                <a:latin typeface="Times New Roman" pitchFamily="18" charset="0"/>
                <a:ea typeface="华文新魏" pitchFamily="2" charset="-122"/>
              </a:rPr>
              <a:t>	</a:t>
            </a: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FIRST(X)= FIRST(X)</a:t>
            </a:r>
            <a:r>
              <a:rPr lang="zh-CN" altLang="en-US" sz="2800" b="1" smtClean="0">
                <a:latin typeface="Times New Roman" pitchFamily="18" charset="0"/>
                <a:ea typeface="华文新魏" pitchFamily="2" charset="-122"/>
              </a:rPr>
              <a:t> </a:t>
            </a: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∪ (FIRST(Y</a:t>
            </a:r>
            <a:r>
              <a:rPr lang="en-US" altLang="zh-CN" sz="2800" b="1" baseline="-25000" smtClean="0">
                <a:latin typeface="Times New Roman" pitchFamily="18" charset="0"/>
                <a:ea typeface="华文新魏" pitchFamily="2" charset="-122"/>
              </a:rPr>
              <a:t>1</a:t>
            </a: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) -{ε}) ;</a:t>
            </a:r>
            <a:endParaRPr lang="zh-CN" altLang="en-US" sz="2800" b="1" smtClean="0">
              <a:latin typeface="Times New Roman" pitchFamily="18" charset="0"/>
              <a:ea typeface="华文新魏" pitchFamily="2" charset="-122"/>
            </a:endParaRP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	while ε∈FIRST(Y</a:t>
            </a:r>
            <a:r>
              <a:rPr lang="en-US" altLang="zh-CN" sz="2800" b="1" baseline="-25000" smtClean="0">
                <a:latin typeface="Times New Roman" pitchFamily="18" charset="0"/>
                <a:ea typeface="华文新魏" pitchFamily="2" charset="-122"/>
              </a:rPr>
              <a:t>k</a:t>
            </a: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)&amp;k&lt;n do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		FIRST(X)= FIRST(X)∪(FIRST(Y</a:t>
            </a:r>
            <a:r>
              <a:rPr lang="en-US" altLang="zh-CN" sz="2800" b="1" baseline="-25000" smtClean="0">
                <a:latin typeface="Times New Roman" pitchFamily="18" charset="0"/>
                <a:ea typeface="华文新魏" pitchFamily="2" charset="-122"/>
              </a:rPr>
              <a:t>k+1</a:t>
            </a: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)-{ε}) ;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		k=k+1;</a:t>
            </a:r>
          </a:p>
          <a:p>
            <a:pPr eaLnBrk="1" hangingPunct="1">
              <a:lnSpc>
                <a:spcPct val="140000"/>
              </a:lnSpc>
              <a:buFont typeface="Wingdings" pitchFamily="2" charset="2"/>
              <a:buNone/>
            </a:pPr>
            <a:r>
              <a:rPr lang="zh-CN" altLang="en-US" sz="2800" b="1" smtClean="0">
                <a:latin typeface="Times New Roman" pitchFamily="18" charset="0"/>
                <a:ea typeface="华文新魏" pitchFamily="2" charset="-122"/>
              </a:rPr>
              <a:t>若 </a:t>
            </a: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Y</a:t>
            </a:r>
            <a:r>
              <a:rPr lang="en-US" altLang="zh-CN" sz="2800" b="1" baseline="-25000" smtClean="0">
                <a:latin typeface="Times New Roman" pitchFamily="18" charset="0"/>
                <a:ea typeface="华文新魏" pitchFamily="2" charset="-122"/>
              </a:rPr>
              <a:t>1</a:t>
            </a: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...Y</a:t>
            </a:r>
            <a:r>
              <a:rPr lang="en-US" altLang="zh-CN" sz="2800" b="1" baseline="-25000" smtClean="0">
                <a:latin typeface="Times New Roman" pitchFamily="18" charset="0"/>
                <a:ea typeface="华文新魏" pitchFamily="2" charset="-122"/>
              </a:rPr>
              <a:t>n</a:t>
            </a:r>
            <a:r>
              <a:rPr lang="en-US" altLang="zh-CN" sz="2800" b="1" smtClean="0">
                <a:latin typeface="Times New Roman" pitchFamily="18" charset="0"/>
                <a:ea typeface="华文新魏" pitchFamily="2" charset="-122"/>
                <a:sym typeface="Symbol" pitchFamily="18" charset="2"/>
              </a:rPr>
              <a:t></a:t>
            </a:r>
            <a:r>
              <a:rPr lang="en-US" altLang="zh-CN" sz="2800" b="1" baseline="30000" smtClean="0">
                <a:latin typeface="Times New Roman" pitchFamily="18" charset="0"/>
                <a:ea typeface="华文新魏" pitchFamily="2" charset="-122"/>
              </a:rPr>
              <a:t>*</a:t>
            </a: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ε，</a:t>
            </a:r>
          </a:p>
          <a:p>
            <a:pPr lvl="1" eaLnBrk="1" hangingPunct="1">
              <a:lnSpc>
                <a:spcPct val="120000"/>
              </a:lnSpc>
              <a:buFont typeface="Wingdings" pitchFamily="2" charset="2"/>
              <a:buNone/>
            </a:pP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则 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FIRST(X)=FIRST(X)∪{ε} </a:t>
            </a:r>
          </a:p>
        </p:txBody>
      </p:sp>
      <p:sp>
        <p:nvSpPr>
          <p:cNvPr id="310275" name="Rectangle 3"/>
          <p:cNvSpPr>
            <a:spLocks noChangeArrowheads="1"/>
          </p:cNvSpPr>
          <p:nvPr/>
        </p:nvSpPr>
        <p:spPr bwMode="auto">
          <a:xfrm>
            <a:off x="5673725" y="0"/>
            <a:ext cx="34798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3200" b="1">
                <a:solidFill>
                  <a:srgbClr val="0000FF"/>
                </a:solidFill>
                <a:latin typeface="Times New Roman" pitchFamily="18" charset="0"/>
                <a:ea typeface="华文新魏" pitchFamily="2" charset="-122"/>
                <a:cs typeface="Times New Roman" pitchFamily="18" charset="0"/>
              </a:rPr>
              <a:t>算法详见教材</a:t>
            </a:r>
            <a:r>
              <a:rPr lang="en-US" altLang="zh-CN" sz="3200" b="1">
                <a:solidFill>
                  <a:srgbClr val="0000FF"/>
                </a:solidFill>
                <a:latin typeface="Times New Roman" pitchFamily="18" charset="0"/>
                <a:ea typeface="华文新魏" pitchFamily="2" charset="-122"/>
                <a:cs typeface="Times New Roman" pitchFamily="18" charset="0"/>
              </a:rPr>
              <a:t>P129</a:t>
            </a:r>
            <a:endParaRPr lang="zh-CN" altLang="en-US" sz="3200" b="1">
              <a:solidFill>
                <a:srgbClr val="0000FF"/>
              </a:solidFill>
              <a:latin typeface="Times New Roman" pitchFamily="18" charset="0"/>
              <a:ea typeface="华文新魏" pitchFamily="2" charset="-122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title"/>
          </p:nvPr>
        </p:nvSpPr>
        <p:spPr>
          <a:xfrm>
            <a:off x="755650" y="333375"/>
            <a:ext cx="6264275" cy="1131888"/>
          </a:xfrm>
        </p:spPr>
        <p:txBody>
          <a:bodyPr/>
          <a:lstStyle/>
          <a:p>
            <a:pPr eaLnBrk="1" hangingPunct="1"/>
            <a:r>
              <a:rPr lang="zh-CN" altLang="en-US" b="1" smtClean="0">
                <a:solidFill>
                  <a:srgbClr val="000099"/>
                </a:solidFill>
                <a:latin typeface="Times New Roman" pitchFamily="18" charset="0"/>
                <a:ea typeface="华文新魏" pitchFamily="2" charset="-122"/>
              </a:rPr>
              <a:t>算法</a:t>
            </a:r>
            <a:r>
              <a:rPr lang="en-US" altLang="zh-CN" b="1" smtClean="0">
                <a:solidFill>
                  <a:srgbClr val="000099"/>
                </a:solidFill>
                <a:latin typeface="Times New Roman" pitchFamily="18" charset="0"/>
                <a:ea typeface="华文新魏" pitchFamily="2" charset="-122"/>
              </a:rPr>
              <a:t>4.2 </a:t>
            </a:r>
            <a:r>
              <a:rPr lang="zh-CN" altLang="en-US" b="1" smtClean="0">
                <a:solidFill>
                  <a:srgbClr val="000099"/>
                </a:solidFill>
                <a:latin typeface="Times New Roman" pitchFamily="18" charset="0"/>
                <a:ea typeface="华文新魏" pitchFamily="2" charset="-122"/>
              </a:rPr>
              <a:t>求</a:t>
            </a:r>
            <a:r>
              <a:rPr lang="en-US" altLang="zh-CN" b="1" smtClean="0">
                <a:solidFill>
                  <a:srgbClr val="000099"/>
                </a:solidFill>
                <a:latin typeface="Times New Roman" pitchFamily="18" charset="0"/>
                <a:ea typeface="华文新魏" pitchFamily="2" charset="-122"/>
              </a:rPr>
              <a:t>FIRST(α)</a:t>
            </a:r>
            <a:endParaRPr lang="zh-CN" altLang="en-US" b="1" smtClean="0">
              <a:solidFill>
                <a:srgbClr val="000099"/>
              </a:solidFill>
              <a:latin typeface="Times New Roman" pitchFamily="18" charset="0"/>
              <a:ea typeface="华文新魏" pitchFamily="2" charset="-122"/>
            </a:endParaRPr>
          </a:p>
        </p:txBody>
      </p:sp>
      <p:sp>
        <p:nvSpPr>
          <p:cNvPr id="315395" name="Rectangle 3"/>
          <p:cNvSpPr>
            <a:spLocks noGrp="1" noChangeArrowheads="1"/>
          </p:cNvSpPr>
          <p:nvPr>
            <p:ph idx="1"/>
          </p:nvPr>
        </p:nvSpPr>
        <p:spPr>
          <a:xfrm>
            <a:off x="250825" y="1628775"/>
            <a:ext cx="8686800" cy="4648200"/>
          </a:xfrm>
        </p:spPr>
        <p:txBody>
          <a:bodyPr/>
          <a:lstStyle/>
          <a:p>
            <a:pPr eaLnBrk="1" hangingPunct="1"/>
            <a:r>
              <a:rPr lang="zh-CN" altLang="en-US" sz="2800" b="1" smtClean="0">
                <a:latin typeface="Times New Roman" pitchFamily="18" charset="0"/>
                <a:ea typeface="华文新魏" pitchFamily="2" charset="-122"/>
              </a:rPr>
              <a:t>令</a:t>
            </a: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α= </a:t>
            </a:r>
            <a:r>
              <a:rPr lang="en-US" altLang="zh-CN" sz="2400" b="1" smtClean="0">
                <a:latin typeface="Times New Roman" pitchFamily="18" charset="0"/>
                <a:ea typeface="华文新魏" pitchFamily="2" charset="-122"/>
              </a:rPr>
              <a:t>X</a:t>
            </a:r>
            <a:r>
              <a:rPr lang="en-US" altLang="zh-CN" sz="2400" b="1" baseline="-25000" smtClean="0">
                <a:latin typeface="Times New Roman" pitchFamily="18" charset="0"/>
                <a:ea typeface="华文新魏" pitchFamily="2" charset="-122"/>
              </a:rPr>
              <a:t>1</a:t>
            </a:r>
            <a:r>
              <a:rPr lang="en-US" altLang="zh-CN" sz="2400" b="1" smtClean="0">
                <a:latin typeface="Times New Roman" pitchFamily="18" charset="0"/>
                <a:ea typeface="华文新魏" pitchFamily="2" charset="-122"/>
              </a:rPr>
              <a:t>…X</a:t>
            </a:r>
            <a:r>
              <a:rPr lang="en-US" altLang="zh-CN" sz="2400" b="1" baseline="-25000" smtClean="0">
                <a:latin typeface="Times New Roman" pitchFamily="18" charset="0"/>
                <a:ea typeface="华文新魏" pitchFamily="2" charset="-122"/>
              </a:rPr>
              <a:t>n</a:t>
            </a:r>
          </a:p>
          <a:p>
            <a:pPr eaLnBrk="1" hangingPunct="1"/>
            <a:r>
              <a:rPr lang="zh-CN" altLang="en-US" sz="2400" b="1" smtClean="0">
                <a:latin typeface="Times New Roman" pitchFamily="18" charset="0"/>
                <a:ea typeface="华文新魏" pitchFamily="2" charset="-122"/>
              </a:rPr>
              <a:t>初值</a:t>
            </a:r>
          </a:p>
          <a:p>
            <a:pPr lvl="1" eaLnBrk="1" hangingPunct="1"/>
            <a:r>
              <a:rPr lang="en-US" altLang="zh-CN" sz="2400" b="1" smtClean="0">
                <a:latin typeface="Times New Roman" pitchFamily="18" charset="0"/>
                <a:ea typeface="华文新魏" pitchFamily="2" charset="-122"/>
              </a:rPr>
              <a:t>FIRST(α)= FIRST(X</a:t>
            </a:r>
            <a:r>
              <a:rPr lang="en-US" altLang="zh-CN" sz="2400" b="1" baseline="-25000" smtClean="0">
                <a:latin typeface="Times New Roman" pitchFamily="18" charset="0"/>
                <a:ea typeface="华文新魏" pitchFamily="2" charset="-122"/>
              </a:rPr>
              <a:t>1</a:t>
            </a:r>
            <a:r>
              <a:rPr lang="en-US" altLang="zh-CN" sz="2400" b="1" smtClean="0">
                <a:latin typeface="Times New Roman" pitchFamily="18" charset="0"/>
                <a:ea typeface="华文新魏" pitchFamily="2" charset="-122"/>
              </a:rPr>
              <a:t>)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-{ε}</a:t>
            </a:r>
            <a:r>
              <a:rPr lang="en-US" altLang="zh-CN" sz="2400" b="1" smtClean="0">
                <a:latin typeface="Times New Roman" pitchFamily="18" charset="0"/>
                <a:ea typeface="华文新魏" pitchFamily="2" charset="-122"/>
              </a:rPr>
              <a:t>;</a:t>
            </a:r>
          </a:p>
          <a:p>
            <a:pPr lvl="1" eaLnBrk="1" hangingPunct="1"/>
            <a:r>
              <a:rPr lang="en-US" altLang="zh-CN" sz="2400" b="1" smtClean="0">
                <a:latin typeface="Times New Roman" pitchFamily="18" charset="0"/>
                <a:ea typeface="华文新魏" pitchFamily="2" charset="-122"/>
              </a:rPr>
              <a:t>k=1;</a:t>
            </a:r>
          </a:p>
          <a:p>
            <a:pPr eaLnBrk="1" hangingPunct="1"/>
            <a:r>
              <a:rPr lang="zh-CN" altLang="en-US" sz="2400" b="1" smtClean="0">
                <a:latin typeface="Times New Roman" pitchFamily="18" charset="0"/>
                <a:ea typeface="华文新魏" pitchFamily="2" charset="-122"/>
              </a:rPr>
              <a:t>循环</a:t>
            </a:r>
          </a:p>
          <a:p>
            <a:pPr lvl="1" eaLnBrk="1" hangingPunct="1"/>
            <a:r>
              <a:rPr lang="en-US" altLang="zh-CN" sz="2400" b="1" smtClean="0">
                <a:latin typeface="Times New Roman" pitchFamily="18" charset="0"/>
                <a:ea typeface="华文新魏" pitchFamily="2" charset="-122"/>
              </a:rPr>
              <a:t>while ε∈FIRST(X</a:t>
            </a:r>
            <a:r>
              <a:rPr lang="en-US" altLang="zh-CN" sz="2400" b="1" baseline="-25000" smtClean="0">
                <a:latin typeface="Times New Roman" pitchFamily="18" charset="0"/>
                <a:ea typeface="华文新魏" pitchFamily="2" charset="-122"/>
              </a:rPr>
              <a:t>k</a:t>
            </a:r>
            <a:r>
              <a:rPr lang="en-US" altLang="zh-CN" sz="2400" b="1" smtClean="0">
                <a:latin typeface="Times New Roman" pitchFamily="18" charset="0"/>
                <a:ea typeface="华文新魏" pitchFamily="2" charset="-122"/>
              </a:rPr>
              <a:t>)&amp;k&lt;n do</a:t>
            </a:r>
          </a:p>
          <a:p>
            <a:pPr lvl="2" eaLnBrk="1" hangingPunct="1"/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FIRST(α)= FIRST(α)∪(FIRST(X</a:t>
            </a:r>
            <a:r>
              <a:rPr lang="en-US" altLang="zh-CN" b="1" baseline="-25000" smtClean="0">
                <a:latin typeface="Times New Roman" pitchFamily="18" charset="0"/>
                <a:ea typeface="华文新魏" pitchFamily="2" charset="-122"/>
              </a:rPr>
              <a:t>k+1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)-{ε}) ；</a:t>
            </a:r>
          </a:p>
          <a:p>
            <a:pPr lvl="2" eaLnBrk="1" hangingPunct="1"/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K=k+1;</a:t>
            </a:r>
          </a:p>
          <a:p>
            <a:pPr eaLnBrk="1" hangingPunct="1"/>
            <a:r>
              <a:rPr lang="zh-CN" altLang="en-US" sz="2400" b="1" smtClean="0">
                <a:latin typeface="Times New Roman" pitchFamily="18" charset="0"/>
                <a:ea typeface="华文新魏" pitchFamily="2" charset="-122"/>
              </a:rPr>
              <a:t>结束处理</a:t>
            </a:r>
          </a:p>
          <a:p>
            <a:pPr lvl="1" eaLnBrk="1" hangingPunct="1"/>
            <a:r>
              <a:rPr lang="en-US" altLang="zh-CN" sz="2400" b="1" smtClean="0">
                <a:latin typeface="Times New Roman" pitchFamily="18" charset="0"/>
                <a:ea typeface="华文新魏" pitchFamily="2" charset="-122"/>
              </a:rPr>
              <a:t>if k=n&amp;ε∈FIRST(X</a:t>
            </a:r>
            <a:r>
              <a:rPr lang="en-US" altLang="zh-CN" sz="2400" b="1" baseline="-25000" smtClean="0">
                <a:latin typeface="Times New Roman" pitchFamily="18" charset="0"/>
                <a:ea typeface="华文新魏" pitchFamily="2" charset="-122"/>
              </a:rPr>
              <a:t>n</a:t>
            </a:r>
            <a:r>
              <a:rPr lang="en-US" altLang="zh-CN" sz="2400" b="1" smtClean="0">
                <a:latin typeface="Times New Roman" pitchFamily="18" charset="0"/>
                <a:ea typeface="华文新魏" pitchFamily="2" charset="-122"/>
              </a:rPr>
              <a:t>) then FIRST(α)=FIRST(α)∪{ε}</a:t>
            </a:r>
          </a:p>
        </p:txBody>
      </p:sp>
      <p:sp>
        <p:nvSpPr>
          <p:cNvPr id="65540" name="日期占位符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5C6E2F63-7EE5-4825-AA12-8A6CD5E98BD0}" type="datetime1">
              <a:rPr lang="zh-CN" altLang="en-US" smtClean="0"/>
              <a:pPr eaLnBrk="1" hangingPunct="1"/>
              <a:t>2017/2/24</a:t>
            </a:fld>
            <a:endParaRPr lang="en-US" altLang="zh-CN" smtClean="0"/>
          </a:p>
        </p:txBody>
      </p:sp>
      <p:sp>
        <p:nvSpPr>
          <p:cNvPr id="65541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1CA95297-C847-47FC-8D95-BE9C0F6436E2}" type="slidenum">
              <a:rPr lang="zh-CN" altLang="en-US" smtClean="0"/>
              <a:pPr eaLnBrk="1" hangingPunct="1"/>
              <a:t>53</a:t>
            </a:fld>
            <a:endParaRPr lang="en-US" altLang="zh-CN" smtClean="0"/>
          </a:p>
        </p:txBody>
      </p:sp>
      <p:sp>
        <p:nvSpPr>
          <p:cNvPr id="315396" name="Rectangle 4"/>
          <p:cNvSpPr>
            <a:spLocks noChangeArrowheads="1"/>
          </p:cNvSpPr>
          <p:nvPr/>
        </p:nvSpPr>
        <p:spPr bwMode="auto">
          <a:xfrm>
            <a:off x="5673725" y="0"/>
            <a:ext cx="34798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3200" b="1">
                <a:solidFill>
                  <a:srgbClr val="0000FF"/>
                </a:solidFill>
                <a:latin typeface="Times New Roman" pitchFamily="18" charset="0"/>
                <a:ea typeface="华文新魏" pitchFamily="2" charset="-122"/>
                <a:cs typeface="Times New Roman" pitchFamily="18" charset="0"/>
              </a:rPr>
              <a:t>算法详见教材</a:t>
            </a:r>
            <a:r>
              <a:rPr lang="en-US" altLang="zh-CN" sz="3200" b="1">
                <a:solidFill>
                  <a:srgbClr val="0000FF"/>
                </a:solidFill>
                <a:latin typeface="Times New Roman" pitchFamily="18" charset="0"/>
                <a:ea typeface="华文新魏" pitchFamily="2" charset="-122"/>
                <a:cs typeface="Times New Roman" pitchFamily="18" charset="0"/>
              </a:rPr>
              <a:t>P129</a:t>
            </a:r>
            <a:endParaRPr lang="zh-CN" altLang="en-US" sz="3200" b="1">
              <a:solidFill>
                <a:srgbClr val="0000FF"/>
              </a:solidFill>
              <a:latin typeface="Times New Roman" pitchFamily="18" charset="0"/>
              <a:ea typeface="华文新魏" pitchFamily="2" charset="-122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/>
          <p:cNvSpPr>
            <a:spLocks noGrp="1" noChangeArrowheads="1"/>
          </p:cNvSpPr>
          <p:nvPr>
            <p:ph type="title"/>
          </p:nvPr>
        </p:nvSpPr>
        <p:spPr>
          <a:xfrm>
            <a:off x="971550" y="765175"/>
            <a:ext cx="6661150" cy="823913"/>
          </a:xfrm>
          <a:noFill/>
        </p:spPr>
        <p:txBody>
          <a:bodyPr lIns="92075" tIns="46038" rIns="92075" bIns="46038"/>
          <a:lstStyle/>
          <a:p>
            <a:pPr eaLnBrk="1" hangingPunct="1"/>
            <a:r>
              <a:rPr lang="zh-CN" altLang="en-US" b="1" smtClean="0">
                <a:solidFill>
                  <a:srgbClr val="000099"/>
                </a:solidFill>
                <a:latin typeface="Times New Roman" pitchFamily="18" charset="0"/>
                <a:ea typeface="华文新魏" pitchFamily="2" charset="-122"/>
              </a:rPr>
              <a:t>算法</a:t>
            </a:r>
            <a:r>
              <a:rPr lang="en-US" altLang="zh-CN" b="1" smtClean="0">
                <a:solidFill>
                  <a:srgbClr val="000099"/>
                </a:solidFill>
                <a:latin typeface="Times New Roman" pitchFamily="18" charset="0"/>
                <a:ea typeface="华文新魏" pitchFamily="2" charset="-122"/>
              </a:rPr>
              <a:t>4.3 </a:t>
            </a:r>
            <a:r>
              <a:rPr lang="zh-CN" altLang="en-US" b="1" smtClean="0">
                <a:solidFill>
                  <a:srgbClr val="000099"/>
                </a:solidFill>
                <a:latin typeface="Times New Roman" pitchFamily="18" charset="0"/>
                <a:ea typeface="华文新魏" pitchFamily="2" charset="-122"/>
              </a:rPr>
              <a:t>求</a:t>
            </a:r>
            <a:r>
              <a:rPr lang="en-US" altLang="zh-CN" b="1" smtClean="0">
                <a:solidFill>
                  <a:srgbClr val="000099"/>
                </a:solidFill>
                <a:latin typeface="Times New Roman" pitchFamily="18" charset="0"/>
                <a:ea typeface="华文新魏" pitchFamily="2" charset="-122"/>
              </a:rPr>
              <a:t>FOLLOW( A ) </a:t>
            </a:r>
            <a:endParaRPr lang="zh-CN" altLang="en-US" b="1" smtClean="0">
              <a:solidFill>
                <a:srgbClr val="000099"/>
              </a:solidFill>
              <a:latin typeface="Times New Roman" pitchFamily="18" charset="0"/>
              <a:ea typeface="华文新魏" pitchFamily="2" charset="-122"/>
            </a:endParaRPr>
          </a:p>
        </p:txBody>
      </p:sp>
      <p:sp>
        <p:nvSpPr>
          <p:cNvPr id="316419" name="Rectangle 3"/>
          <p:cNvSpPr>
            <a:spLocks noGrp="1" noChangeArrowheads="1"/>
          </p:cNvSpPr>
          <p:nvPr>
            <p:ph idx="1"/>
          </p:nvPr>
        </p:nvSpPr>
        <p:spPr>
          <a:xfrm>
            <a:off x="609600" y="2057400"/>
            <a:ext cx="8229600" cy="4114800"/>
          </a:xfrm>
        </p:spPr>
        <p:txBody>
          <a:bodyPr lIns="92075" tIns="46038" rIns="92075" bIns="46038"/>
          <a:lstStyle/>
          <a:p>
            <a:pPr eaLnBrk="1" hangingPunct="1">
              <a:lnSpc>
                <a:spcPct val="110000"/>
              </a:lnSpc>
              <a:spcBef>
                <a:spcPct val="40000"/>
              </a:spcBef>
              <a:buFont typeface="Wingdings" pitchFamily="2" charset="2"/>
              <a:buNone/>
            </a:pPr>
            <a:r>
              <a:rPr lang="zh-CN" altLang="en-US" sz="2800" b="1" smtClean="0">
                <a:latin typeface="Times New Roman" pitchFamily="18" charset="0"/>
                <a:ea typeface="华文新魏" pitchFamily="2" charset="-122"/>
              </a:rPr>
              <a:t>令</a:t>
            </a: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#</a:t>
            </a:r>
            <a:r>
              <a:rPr lang="zh-CN" altLang="en-US" sz="2800" b="1" smtClean="0">
                <a:latin typeface="Times New Roman" pitchFamily="18" charset="0"/>
                <a:ea typeface="华文新魏" pitchFamily="2" charset="-122"/>
              </a:rPr>
              <a:t>为句子的结束符，对于所有非终结符, 重复进行以下计算</a:t>
            </a:r>
          </a:p>
          <a:p>
            <a:pPr eaLnBrk="1" hangingPunct="1">
              <a:lnSpc>
                <a:spcPct val="110000"/>
              </a:lnSpc>
              <a:spcBef>
                <a:spcPct val="40000"/>
              </a:spcBef>
              <a:buFont typeface="Wingdings" pitchFamily="2" charset="2"/>
              <a:buNone/>
            </a:pPr>
            <a:r>
              <a:rPr lang="zh-CN" altLang="en-US" sz="2400" b="1" smtClean="0">
                <a:latin typeface="Times New Roman" pitchFamily="18" charset="0"/>
                <a:ea typeface="华文新魏" pitchFamily="2" charset="-122"/>
              </a:rPr>
              <a:t>1 </a:t>
            </a:r>
            <a:r>
              <a:rPr lang="en-US" altLang="zh-CN" sz="2400" b="1" smtClean="0">
                <a:latin typeface="Times New Roman" pitchFamily="18" charset="0"/>
                <a:ea typeface="华文新魏" pitchFamily="2" charset="-122"/>
              </a:rPr>
              <a:t> </a:t>
            </a:r>
            <a:r>
              <a:rPr lang="zh-CN" altLang="en-US" sz="2400" b="1" smtClean="0">
                <a:latin typeface="Times New Roman" pitchFamily="18" charset="0"/>
                <a:ea typeface="华文新魏" pitchFamily="2" charset="-122"/>
              </a:rPr>
              <a:t>将 # 加入到 </a:t>
            </a:r>
            <a:r>
              <a:rPr lang="en-US" altLang="zh-CN" sz="2400" b="1" smtClean="0">
                <a:latin typeface="Times New Roman" pitchFamily="18" charset="0"/>
                <a:ea typeface="华文新魏" pitchFamily="2" charset="-122"/>
              </a:rPr>
              <a:t>FOLLOW(S)</a:t>
            </a:r>
          </a:p>
          <a:p>
            <a:pPr eaLnBrk="1" hangingPunct="1">
              <a:lnSpc>
                <a:spcPct val="110000"/>
              </a:lnSpc>
              <a:spcBef>
                <a:spcPct val="40000"/>
              </a:spcBef>
              <a:buFont typeface="Wingdings" pitchFamily="2" charset="2"/>
              <a:buNone/>
            </a:pPr>
            <a:r>
              <a:rPr lang="zh-CN" altLang="en-US" sz="2400" b="1" smtClean="0">
                <a:latin typeface="Times New Roman" pitchFamily="18" charset="0"/>
                <a:ea typeface="华文新魏" pitchFamily="2" charset="-122"/>
              </a:rPr>
              <a:t>2 </a:t>
            </a:r>
            <a:r>
              <a:rPr lang="en-US" altLang="zh-CN" sz="2400" b="1" smtClean="0">
                <a:latin typeface="Times New Roman" pitchFamily="18" charset="0"/>
                <a:ea typeface="华文新魏" pitchFamily="2" charset="-122"/>
              </a:rPr>
              <a:t> </a:t>
            </a:r>
            <a:r>
              <a:rPr lang="zh-CN" altLang="en-US" sz="2400" b="1" smtClean="0">
                <a:latin typeface="Times New Roman" pitchFamily="18" charset="0"/>
                <a:ea typeface="华文新魏" pitchFamily="2" charset="-122"/>
              </a:rPr>
              <a:t>若 </a:t>
            </a:r>
            <a:r>
              <a:rPr lang="en-US" altLang="zh-CN" sz="2400" b="1" smtClean="0">
                <a:latin typeface="Times New Roman" pitchFamily="18" charset="0"/>
                <a:ea typeface="华文新魏" pitchFamily="2" charset="-122"/>
              </a:rPr>
              <a:t>A→αBβ，</a:t>
            </a:r>
          </a:p>
          <a:p>
            <a:pPr lvl="1" eaLnBrk="1" hangingPunct="1">
              <a:lnSpc>
                <a:spcPct val="110000"/>
              </a:lnSpc>
              <a:spcBef>
                <a:spcPct val="40000"/>
              </a:spcBef>
              <a:buFont typeface="Wingdings" pitchFamily="2" charset="2"/>
              <a:buNone/>
            </a:pPr>
            <a:r>
              <a:rPr lang="zh-CN" altLang="en-US" sz="2400" b="1" smtClean="0">
                <a:latin typeface="Times New Roman" pitchFamily="18" charset="0"/>
                <a:ea typeface="华文新魏" pitchFamily="2" charset="-122"/>
              </a:rPr>
              <a:t>则 </a:t>
            </a:r>
            <a:r>
              <a:rPr lang="en-US" altLang="zh-CN" sz="2400" b="1" smtClean="0">
                <a:latin typeface="Times New Roman" pitchFamily="18" charset="0"/>
                <a:ea typeface="华文新魏" pitchFamily="2" charset="-122"/>
              </a:rPr>
              <a:t>FOLLOW(B)=FOLLOW(B)∪(FIRST(β)–{ε})</a:t>
            </a:r>
          </a:p>
          <a:p>
            <a:pPr eaLnBrk="1" hangingPunct="1">
              <a:lnSpc>
                <a:spcPct val="110000"/>
              </a:lnSpc>
              <a:spcBef>
                <a:spcPct val="40000"/>
              </a:spcBef>
              <a:buFont typeface="Wingdings" pitchFamily="2" charset="2"/>
              <a:buNone/>
            </a:pPr>
            <a:r>
              <a:rPr lang="en-US" altLang="zh-CN" sz="2400" b="1" smtClean="0">
                <a:latin typeface="Times New Roman" pitchFamily="18" charset="0"/>
                <a:ea typeface="华文新魏" pitchFamily="2" charset="-122"/>
              </a:rPr>
              <a:t>3  </a:t>
            </a:r>
            <a:r>
              <a:rPr lang="zh-CN" altLang="en-US" sz="2400" b="1" smtClean="0">
                <a:latin typeface="Times New Roman" pitchFamily="18" charset="0"/>
                <a:ea typeface="华文新魏" pitchFamily="2" charset="-122"/>
              </a:rPr>
              <a:t>如果</a:t>
            </a:r>
            <a:r>
              <a:rPr lang="en-US" altLang="zh-CN" sz="2400" b="1" smtClean="0">
                <a:latin typeface="Times New Roman" pitchFamily="18" charset="0"/>
                <a:ea typeface="华文新魏" pitchFamily="2" charset="-122"/>
              </a:rPr>
              <a:t>A→αB</a:t>
            </a:r>
            <a:r>
              <a:rPr lang="zh-CN" altLang="en-US" sz="2400" b="1" smtClean="0">
                <a:latin typeface="Times New Roman" pitchFamily="18" charset="0"/>
                <a:ea typeface="华文新魏" pitchFamily="2" charset="-122"/>
              </a:rPr>
              <a:t>或</a:t>
            </a:r>
            <a:r>
              <a:rPr lang="en-US" altLang="zh-CN" sz="2400" b="1" smtClean="0">
                <a:latin typeface="Times New Roman" pitchFamily="18" charset="0"/>
                <a:ea typeface="华文新魏" pitchFamily="2" charset="-122"/>
              </a:rPr>
              <a:t>A→αBβ，</a:t>
            </a:r>
            <a:r>
              <a:rPr lang="zh-CN" altLang="en-US" sz="2400" b="1" smtClean="0">
                <a:latin typeface="Times New Roman" pitchFamily="18" charset="0"/>
                <a:ea typeface="华文新魏" pitchFamily="2" charset="-122"/>
              </a:rPr>
              <a:t>且</a:t>
            </a:r>
            <a:r>
              <a:rPr lang="en-US" altLang="zh-CN" sz="2400" b="1" smtClean="0">
                <a:latin typeface="Times New Roman" pitchFamily="18" charset="0"/>
                <a:ea typeface="华文新魏" pitchFamily="2" charset="-122"/>
              </a:rPr>
              <a:t>β</a:t>
            </a:r>
            <a:r>
              <a:rPr lang="en-US" altLang="zh-CN" sz="2400" b="1" smtClean="0">
                <a:latin typeface="Times New Roman" pitchFamily="18" charset="0"/>
                <a:ea typeface="华文新魏" pitchFamily="2" charset="-122"/>
                <a:sym typeface="Symbol" pitchFamily="18" charset="2"/>
              </a:rPr>
              <a:t></a:t>
            </a:r>
            <a:r>
              <a:rPr lang="en-US" altLang="zh-CN" sz="2400" b="1" baseline="30000" smtClean="0">
                <a:latin typeface="Times New Roman" pitchFamily="18" charset="0"/>
                <a:ea typeface="华文新魏" pitchFamily="2" charset="-122"/>
              </a:rPr>
              <a:t>*</a:t>
            </a:r>
            <a:r>
              <a:rPr lang="en-US" altLang="zh-CN" sz="2400" b="1" smtClean="0">
                <a:latin typeface="Times New Roman" pitchFamily="18" charset="0"/>
                <a:ea typeface="华文新魏" pitchFamily="2" charset="-122"/>
              </a:rPr>
              <a:t>ε，A≠B，</a:t>
            </a:r>
          </a:p>
          <a:p>
            <a:pPr lvl="1" eaLnBrk="1" hangingPunct="1">
              <a:lnSpc>
                <a:spcPct val="110000"/>
              </a:lnSpc>
              <a:spcBef>
                <a:spcPct val="40000"/>
              </a:spcBef>
              <a:buFont typeface="Wingdings" pitchFamily="2" charset="2"/>
              <a:buNone/>
            </a:pPr>
            <a:r>
              <a:rPr lang="zh-CN" altLang="en-US" sz="2400" b="1" smtClean="0">
                <a:latin typeface="Times New Roman" pitchFamily="18" charset="0"/>
                <a:ea typeface="华文新魏" pitchFamily="2" charset="-122"/>
              </a:rPr>
              <a:t>则 </a:t>
            </a:r>
            <a:r>
              <a:rPr lang="en-US" altLang="zh-CN" sz="2400" b="1" smtClean="0">
                <a:latin typeface="Times New Roman" pitchFamily="18" charset="0"/>
                <a:ea typeface="华文新魏" pitchFamily="2" charset="-122"/>
              </a:rPr>
              <a:t>FOLLOW(B)=FOLLOW(B)∪FOLLOW(A) </a:t>
            </a:r>
          </a:p>
        </p:txBody>
      </p:sp>
      <p:sp>
        <p:nvSpPr>
          <p:cNvPr id="66564" name="日期占位符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A9F16D17-B6D8-4972-8B2F-C4377704F7CA}" type="datetime1">
              <a:rPr lang="zh-CN" altLang="en-US" smtClean="0"/>
              <a:pPr eaLnBrk="1" hangingPunct="1"/>
              <a:t>2017/2/24</a:t>
            </a:fld>
            <a:endParaRPr lang="en-US" altLang="zh-CN" smtClean="0"/>
          </a:p>
        </p:txBody>
      </p:sp>
      <p:sp>
        <p:nvSpPr>
          <p:cNvPr id="66565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1D42A856-A90B-4422-8D31-D194D91E69E4}" type="slidenum">
              <a:rPr lang="zh-CN" altLang="en-US" smtClean="0"/>
              <a:pPr eaLnBrk="1" hangingPunct="1"/>
              <a:t>54</a:t>
            </a:fld>
            <a:endParaRPr lang="en-US" altLang="zh-CN" smtClean="0"/>
          </a:p>
        </p:txBody>
      </p:sp>
      <p:sp>
        <p:nvSpPr>
          <p:cNvPr id="316420" name="Rectangle 4"/>
          <p:cNvSpPr>
            <a:spLocks noChangeArrowheads="1"/>
          </p:cNvSpPr>
          <p:nvPr/>
        </p:nvSpPr>
        <p:spPr bwMode="auto">
          <a:xfrm>
            <a:off x="5673725" y="0"/>
            <a:ext cx="34798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3200" b="1">
                <a:solidFill>
                  <a:srgbClr val="0000FF"/>
                </a:solidFill>
                <a:latin typeface="Times New Roman" pitchFamily="18" charset="0"/>
                <a:ea typeface="华文新魏" pitchFamily="2" charset="-122"/>
                <a:cs typeface="Times New Roman" pitchFamily="18" charset="0"/>
              </a:rPr>
              <a:t>算法详见教材</a:t>
            </a:r>
            <a:r>
              <a:rPr lang="en-US" altLang="zh-CN" sz="3200" b="1">
                <a:solidFill>
                  <a:srgbClr val="0000FF"/>
                </a:solidFill>
                <a:latin typeface="Times New Roman" pitchFamily="18" charset="0"/>
                <a:ea typeface="华文新魏" pitchFamily="2" charset="-122"/>
                <a:cs typeface="Times New Roman" pitchFamily="18" charset="0"/>
              </a:rPr>
              <a:t>P130</a:t>
            </a:r>
            <a:endParaRPr lang="zh-CN" altLang="en-US" sz="3200" b="1">
              <a:solidFill>
                <a:srgbClr val="0000FF"/>
              </a:solidFill>
              <a:latin typeface="Times New Roman" pitchFamily="18" charset="0"/>
              <a:ea typeface="华文新魏" pitchFamily="2" charset="-122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/>
          <p:cNvSpPr>
            <a:spLocks noGrp="1" noChangeArrowheads="1"/>
          </p:cNvSpPr>
          <p:nvPr>
            <p:ph type="title"/>
          </p:nvPr>
        </p:nvSpPr>
        <p:spPr>
          <a:xfrm>
            <a:off x="250825" y="549275"/>
            <a:ext cx="8675688" cy="7620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CN" altLang="en-US" sz="3600" b="1" smtClean="0">
                <a:solidFill>
                  <a:srgbClr val="000099"/>
                </a:solidFill>
                <a:latin typeface="Times New Roman" pitchFamily="18" charset="0"/>
                <a:ea typeface="华文新魏" pitchFamily="2" charset="-122"/>
              </a:rPr>
              <a:t>例 表达式文法的语法变量的 </a:t>
            </a:r>
            <a:r>
              <a:rPr lang="en-US" altLang="zh-CN" sz="3600" b="1" smtClean="0">
                <a:solidFill>
                  <a:srgbClr val="000099"/>
                </a:solidFill>
                <a:latin typeface="Times New Roman" pitchFamily="18" charset="0"/>
                <a:ea typeface="华文新魏" pitchFamily="2" charset="-122"/>
              </a:rPr>
              <a:t>FOLLOW </a:t>
            </a:r>
            <a:r>
              <a:rPr lang="zh-CN" altLang="en-US" sz="3600" b="1" smtClean="0">
                <a:solidFill>
                  <a:srgbClr val="000099"/>
                </a:solidFill>
                <a:latin typeface="Times New Roman" pitchFamily="18" charset="0"/>
                <a:ea typeface="华文新魏" pitchFamily="2" charset="-122"/>
              </a:rPr>
              <a:t>集</a:t>
            </a:r>
          </a:p>
        </p:txBody>
      </p:sp>
      <p:sp>
        <p:nvSpPr>
          <p:cNvPr id="317443" name="Rectangle 3"/>
          <p:cNvSpPr>
            <a:spLocks noGrp="1" noChangeArrowheads="1"/>
          </p:cNvSpPr>
          <p:nvPr>
            <p:ph idx="1"/>
          </p:nvPr>
        </p:nvSpPr>
        <p:spPr>
          <a:xfrm>
            <a:off x="577850" y="3644900"/>
            <a:ext cx="7991475" cy="576263"/>
          </a:xfrm>
        </p:spPr>
        <p:txBody>
          <a:bodyPr/>
          <a:lstStyle/>
          <a:p>
            <a:pPr eaLnBrk="1" hangingPunct="1">
              <a:lnSpc>
                <a:spcPct val="110000"/>
              </a:lnSpc>
              <a:buFont typeface="Wingdings" pitchFamily="2" charset="2"/>
              <a:buNone/>
            </a:pPr>
            <a:r>
              <a:rPr lang="en-US" altLang="zh-CN" sz="2400" b="1" smtClean="0">
                <a:latin typeface="Times New Roman" pitchFamily="18" charset="0"/>
                <a:ea typeface="华文新魏" pitchFamily="2" charset="-122"/>
              </a:rPr>
              <a:t>FOLLOW(E) =  { #, ) }</a:t>
            </a:r>
          </a:p>
        </p:txBody>
      </p:sp>
      <p:sp>
        <p:nvSpPr>
          <p:cNvPr id="67588" name="日期占位符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D782A6A8-2F9D-4DA0-B8E4-9A6E8CC18548}" type="datetime1">
              <a:rPr lang="zh-CN" altLang="en-US" smtClean="0"/>
              <a:pPr eaLnBrk="1" hangingPunct="1"/>
              <a:t>2017/2/24</a:t>
            </a:fld>
            <a:endParaRPr lang="en-US" altLang="zh-CN" smtClean="0"/>
          </a:p>
        </p:txBody>
      </p:sp>
      <p:sp>
        <p:nvSpPr>
          <p:cNvPr id="67589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40AE9764-C519-4333-B71A-13B87BEFB45A}" type="slidenum">
              <a:rPr lang="zh-CN" altLang="en-US" smtClean="0"/>
              <a:pPr eaLnBrk="1" hangingPunct="1"/>
              <a:t>55</a:t>
            </a:fld>
            <a:endParaRPr lang="en-US" altLang="zh-CN" smtClean="0"/>
          </a:p>
        </p:txBody>
      </p:sp>
      <p:sp>
        <p:nvSpPr>
          <p:cNvPr id="317444" name="Text Box 4"/>
          <p:cNvSpPr txBox="1">
            <a:spLocks noChangeArrowheads="1"/>
          </p:cNvSpPr>
          <p:nvPr/>
        </p:nvSpPr>
        <p:spPr bwMode="auto">
          <a:xfrm>
            <a:off x="828675" y="1773238"/>
            <a:ext cx="4114800" cy="1333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>
            <a:spAutoFit/>
          </a:bodyPr>
          <a:lstStyle/>
          <a:p>
            <a:pPr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4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E→TE</a:t>
            </a:r>
            <a:r>
              <a:rPr kumimoji="1" lang="en-US" altLang="zh-CN" b="1"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'</a:t>
            </a:r>
            <a:r>
              <a:rPr kumimoji="1" lang="en-US" altLang="zh-CN" sz="24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      E</a:t>
            </a:r>
            <a:r>
              <a:rPr kumimoji="1" lang="en-US" altLang="zh-CN" b="1"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'</a:t>
            </a:r>
            <a:r>
              <a:rPr kumimoji="1" lang="en-US" altLang="zh-CN" sz="24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→+TE</a:t>
            </a:r>
            <a:r>
              <a:rPr kumimoji="1" lang="en-US" altLang="zh-CN" b="1"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'</a:t>
            </a:r>
            <a:r>
              <a:rPr kumimoji="1" lang="en-US" altLang="zh-CN" sz="24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|ε</a:t>
            </a:r>
          </a:p>
          <a:p>
            <a:pPr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4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T→FT</a:t>
            </a:r>
            <a:r>
              <a:rPr kumimoji="1" lang="en-US" altLang="zh-CN" b="1"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'</a:t>
            </a:r>
            <a:r>
              <a:rPr kumimoji="1" lang="en-US" altLang="zh-CN" sz="24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      T</a:t>
            </a:r>
            <a:r>
              <a:rPr kumimoji="1" lang="en-US" altLang="zh-CN" b="1"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'</a:t>
            </a:r>
            <a:r>
              <a:rPr kumimoji="1" lang="en-US" altLang="zh-CN" sz="24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→*FT</a:t>
            </a:r>
            <a:r>
              <a:rPr kumimoji="1" lang="en-US" altLang="zh-CN" b="1"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'</a:t>
            </a:r>
            <a:r>
              <a:rPr kumimoji="1" lang="en-US" altLang="zh-CN" sz="24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|ε</a:t>
            </a:r>
          </a:p>
          <a:p>
            <a:pPr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4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F→(E)|id</a:t>
            </a:r>
          </a:p>
        </p:txBody>
      </p:sp>
      <p:sp>
        <p:nvSpPr>
          <p:cNvPr id="317445" name="Rectangle 5"/>
          <p:cNvSpPr>
            <a:spLocks noChangeArrowheads="1"/>
          </p:cNvSpPr>
          <p:nvPr/>
        </p:nvSpPr>
        <p:spPr bwMode="auto">
          <a:xfrm>
            <a:off x="4321175" y="1484313"/>
            <a:ext cx="4572000" cy="263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>
            <a:spAutoFit/>
          </a:bodyPr>
          <a:lstStyle/>
          <a:p>
            <a:pPr eaLnBrk="0" hangingPunct="0">
              <a:lnSpc>
                <a:spcPct val="11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200" b="1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FIRST(F)={(,id}</a:t>
            </a:r>
          </a:p>
          <a:p>
            <a:pPr eaLnBrk="0" hangingPunct="0">
              <a:lnSpc>
                <a:spcPct val="11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200" b="1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FIRST(T)=FIRST(F)={(,id}    </a:t>
            </a:r>
          </a:p>
          <a:p>
            <a:pPr eaLnBrk="0" hangingPunct="0">
              <a:lnSpc>
                <a:spcPct val="11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200" b="1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FIRST(E)=FIRST(T)={(,id}  </a:t>
            </a:r>
          </a:p>
          <a:p>
            <a:pPr eaLnBrk="0" hangingPunct="0">
              <a:lnSpc>
                <a:spcPct val="11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200" b="1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FIRST(E</a:t>
            </a:r>
            <a:r>
              <a:rPr kumimoji="1" lang="en-US" altLang="zh-CN" b="1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'</a:t>
            </a:r>
            <a:r>
              <a:rPr kumimoji="1" lang="en-US" altLang="zh-CN" sz="2200" b="1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)={+，</a:t>
            </a:r>
            <a:r>
              <a:rPr kumimoji="1" lang="en-US" altLang="zh-CN" sz="2200" b="1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ε</a:t>
            </a:r>
            <a:r>
              <a:rPr kumimoji="1" lang="en-US" altLang="zh-CN" sz="2200" b="1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}</a:t>
            </a:r>
          </a:p>
          <a:p>
            <a:pPr eaLnBrk="0" hangingPunct="0">
              <a:lnSpc>
                <a:spcPct val="11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200" b="1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FIRST(T</a:t>
            </a:r>
            <a:r>
              <a:rPr kumimoji="1" lang="en-US" altLang="zh-CN" b="1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'</a:t>
            </a:r>
            <a:r>
              <a:rPr kumimoji="1" lang="en-US" altLang="zh-CN" sz="2200" b="1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)={*,</a:t>
            </a:r>
            <a:r>
              <a:rPr kumimoji="1" lang="en-US" altLang="zh-CN" sz="2200" b="1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ε</a:t>
            </a:r>
            <a:r>
              <a:rPr kumimoji="1" lang="en-US" altLang="zh-CN" sz="2200" b="1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}</a:t>
            </a:r>
          </a:p>
          <a:p>
            <a:pPr eaLnBrk="0" hangingPunct="0">
              <a:lnSpc>
                <a:spcPct val="11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200" b="1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FIRST'(α)= FIRST(α)–{ε}</a:t>
            </a:r>
          </a:p>
        </p:txBody>
      </p:sp>
      <p:sp>
        <p:nvSpPr>
          <p:cNvPr id="317446" name="Freeform 6"/>
          <p:cNvSpPr>
            <a:spLocks/>
          </p:cNvSpPr>
          <p:nvPr/>
        </p:nvSpPr>
        <p:spPr bwMode="auto">
          <a:xfrm>
            <a:off x="1046163" y="1989138"/>
            <a:ext cx="2232025" cy="1871662"/>
          </a:xfrm>
          <a:custGeom>
            <a:avLst/>
            <a:gdLst>
              <a:gd name="T0" fmla="*/ 2232025 w 1224"/>
              <a:gd name="T1" fmla="*/ 1871662 h 1134"/>
              <a:gd name="T2" fmla="*/ 744008 w 1224"/>
              <a:gd name="T3" fmla="*/ 1048065 h 1134"/>
              <a:gd name="T4" fmla="*/ 0 w 1224"/>
              <a:gd name="T5" fmla="*/ 0 h 1134"/>
              <a:gd name="T6" fmla="*/ 0 60000 65536"/>
              <a:gd name="T7" fmla="*/ 0 60000 65536"/>
              <a:gd name="T8" fmla="*/ 0 60000 65536"/>
              <a:gd name="T9" fmla="*/ 0 w 1224"/>
              <a:gd name="T10" fmla="*/ 0 h 1134"/>
              <a:gd name="T11" fmla="*/ 1224 w 1224"/>
              <a:gd name="T12" fmla="*/ 1134 h 113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224" h="1134">
                <a:moveTo>
                  <a:pt x="1224" y="1134"/>
                </a:moveTo>
                <a:cubicBezTo>
                  <a:pt x="918" y="979"/>
                  <a:pt x="612" y="824"/>
                  <a:pt x="408" y="635"/>
                </a:cubicBezTo>
                <a:cubicBezTo>
                  <a:pt x="204" y="446"/>
                  <a:pt x="102" y="223"/>
                  <a:pt x="0" y="0"/>
                </a:cubicBezTo>
              </a:path>
            </a:pathLst>
          </a:custGeom>
          <a:noFill/>
          <a:ln w="38100">
            <a:solidFill>
              <a:schemeClr val="tx1"/>
            </a:solidFill>
            <a:round/>
            <a:headEnd type="arrow" w="med" len="med"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17447" name="Freeform 7"/>
          <p:cNvSpPr>
            <a:spLocks/>
          </p:cNvSpPr>
          <p:nvPr/>
        </p:nvSpPr>
        <p:spPr bwMode="auto">
          <a:xfrm>
            <a:off x="1693863" y="2060575"/>
            <a:ext cx="2916237" cy="2232025"/>
          </a:xfrm>
          <a:custGeom>
            <a:avLst/>
            <a:gdLst>
              <a:gd name="T0" fmla="*/ 0 w 1837"/>
              <a:gd name="T1" fmla="*/ 0 h 1406"/>
              <a:gd name="T2" fmla="*/ 1368425 w 1837"/>
              <a:gd name="T3" fmla="*/ 936625 h 1406"/>
              <a:gd name="T4" fmla="*/ 2663825 w 1837"/>
              <a:gd name="T5" fmla="*/ 1584325 h 1406"/>
              <a:gd name="T6" fmla="*/ 2879725 w 1837"/>
              <a:gd name="T7" fmla="*/ 2232025 h 1406"/>
              <a:gd name="T8" fmla="*/ 0 60000 65536"/>
              <a:gd name="T9" fmla="*/ 0 60000 65536"/>
              <a:gd name="T10" fmla="*/ 0 60000 65536"/>
              <a:gd name="T11" fmla="*/ 0 60000 65536"/>
              <a:gd name="T12" fmla="*/ 0 w 1837"/>
              <a:gd name="T13" fmla="*/ 0 h 1406"/>
              <a:gd name="T14" fmla="*/ 1837 w 1837"/>
              <a:gd name="T15" fmla="*/ 1406 h 140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837" h="1406">
                <a:moveTo>
                  <a:pt x="0" y="0"/>
                </a:moveTo>
                <a:cubicBezTo>
                  <a:pt x="291" y="212"/>
                  <a:pt x="582" y="424"/>
                  <a:pt x="862" y="590"/>
                </a:cubicBezTo>
                <a:cubicBezTo>
                  <a:pt x="1142" y="756"/>
                  <a:pt x="1519" y="862"/>
                  <a:pt x="1678" y="998"/>
                </a:cubicBezTo>
                <a:cubicBezTo>
                  <a:pt x="1837" y="1134"/>
                  <a:pt x="1825" y="1270"/>
                  <a:pt x="1814" y="1406"/>
                </a:cubicBezTo>
              </a:path>
            </a:pathLst>
          </a:custGeom>
          <a:noFill/>
          <a:ln w="38100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17449" name="Freeform 9"/>
          <p:cNvSpPr>
            <a:spLocks/>
          </p:cNvSpPr>
          <p:nvPr/>
        </p:nvSpPr>
        <p:spPr bwMode="auto">
          <a:xfrm>
            <a:off x="3349625" y="1773238"/>
            <a:ext cx="3671888" cy="2951162"/>
          </a:xfrm>
          <a:custGeom>
            <a:avLst/>
            <a:gdLst>
              <a:gd name="T0" fmla="*/ 0 w 3221"/>
              <a:gd name="T1" fmla="*/ 187475 h 1889"/>
              <a:gd name="T2" fmla="*/ 103739 w 3221"/>
              <a:gd name="T3" fmla="*/ 46869 h 1889"/>
              <a:gd name="T4" fmla="*/ 517553 w 3221"/>
              <a:gd name="T5" fmla="*/ 46869 h 1889"/>
              <a:gd name="T6" fmla="*/ 931367 w 3221"/>
              <a:gd name="T7" fmla="*/ 329643 h 1889"/>
              <a:gd name="T8" fmla="*/ 1189003 w 3221"/>
              <a:gd name="T9" fmla="*/ 824888 h 1889"/>
              <a:gd name="T10" fmla="*/ 1345181 w 3221"/>
              <a:gd name="T11" fmla="*/ 1179528 h 1889"/>
              <a:gd name="T12" fmla="*/ 3050597 w 3221"/>
              <a:gd name="T13" fmla="*/ 1321696 h 1889"/>
              <a:gd name="T14" fmla="*/ 3516850 w 3221"/>
              <a:gd name="T15" fmla="*/ 1391999 h 1889"/>
              <a:gd name="T16" fmla="*/ 3568150 w 3221"/>
              <a:gd name="T17" fmla="*/ 2030975 h 1889"/>
              <a:gd name="T18" fmla="*/ 3671888 w 3221"/>
              <a:gd name="T19" fmla="*/ 2951162 h 1889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3221"/>
              <a:gd name="T31" fmla="*/ 0 h 1889"/>
              <a:gd name="T32" fmla="*/ 3221 w 3221"/>
              <a:gd name="T33" fmla="*/ 1889 h 1889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3221" h="1889">
                <a:moveTo>
                  <a:pt x="0" y="120"/>
                </a:moveTo>
                <a:cubicBezTo>
                  <a:pt x="8" y="82"/>
                  <a:pt x="16" y="45"/>
                  <a:pt x="91" y="30"/>
                </a:cubicBezTo>
                <a:cubicBezTo>
                  <a:pt x="166" y="15"/>
                  <a:pt x="333" y="0"/>
                  <a:pt x="454" y="30"/>
                </a:cubicBezTo>
                <a:cubicBezTo>
                  <a:pt x="575" y="60"/>
                  <a:pt x="719" y="128"/>
                  <a:pt x="817" y="211"/>
                </a:cubicBezTo>
                <a:cubicBezTo>
                  <a:pt x="915" y="294"/>
                  <a:pt x="983" y="437"/>
                  <a:pt x="1043" y="528"/>
                </a:cubicBezTo>
                <a:cubicBezTo>
                  <a:pt x="1103" y="619"/>
                  <a:pt x="908" y="702"/>
                  <a:pt x="1180" y="755"/>
                </a:cubicBezTo>
                <a:cubicBezTo>
                  <a:pt x="1452" y="808"/>
                  <a:pt x="2359" y="823"/>
                  <a:pt x="2676" y="846"/>
                </a:cubicBezTo>
                <a:cubicBezTo>
                  <a:pt x="2993" y="869"/>
                  <a:pt x="3009" y="815"/>
                  <a:pt x="3085" y="891"/>
                </a:cubicBezTo>
                <a:cubicBezTo>
                  <a:pt x="3161" y="967"/>
                  <a:pt x="3107" y="1134"/>
                  <a:pt x="3130" y="1300"/>
                </a:cubicBezTo>
                <a:cubicBezTo>
                  <a:pt x="3153" y="1466"/>
                  <a:pt x="3206" y="1791"/>
                  <a:pt x="3221" y="1889"/>
                </a:cubicBezTo>
              </a:path>
            </a:pathLst>
          </a:custGeom>
          <a:noFill/>
          <a:ln w="28575">
            <a:solidFill>
              <a:schemeClr val="hlink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17450" name="Freeform 10"/>
          <p:cNvSpPr>
            <a:spLocks/>
          </p:cNvSpPr>
          <p:nvPr/>
        </p:nvSpPr>
        <p:spPr bwMode="auto">
          <a:xfrm>
            <a:off x="1620838" y="1844675"/>
            <a:ext cx="1873250" cy="3024188"/>
          </a:xfrm>
          <a:custGeom>
            <a:avLst/>
            <a:gdLst>
              <a:gd name="T0" fmla="*/ 0 w 1180"/>
              <a:gd name="T1" fmla="*/ 217307 h 2004"/>
              <a:gd name="T2" fmla="*/ 649287 w 1180"/>
              <a:gd name="T3" fmla="*/ 12073 h 2004"/>
              <a:gd name="T4" fmla="*/ 1441450 w 1180"/>
              <a:gd name="T5" fmla="*/ 286724 h 2004"/>
              <a:gd name="T6" fmla="*/ 1657350 w 1180"/>
              <a:gd name="T7" fmla="*/ 1039753 h 2004"/>
              <a:gd name="T8" fmla="*/ 1657350 w 1180"/>
              <a:gd name="T9" fmla="*/ 1655457 h 2004"/>
              <a:gd name="T10" fmla="*/ 1873250 w 1180"/>
              <a:gd name="T11" fmla="*/ 3024188 h 2004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180"/>
              <a:gd name="T19" fmla="*/ 0 h 2004"/>
              <a:gd name="T20" fmla="*/ 1180 w 1180"/>
              <a:gd name="T21" fmla="*/ 2004 h 2004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180" h="2004">
                <a:moveTo>
                  <a:pt x="0" y="144"/>
                </a:moveTo>
                <a:cubicBezTo>
                  <a:pt x="129" y="72"/>
                  <a:pt x="258" y="0"/>
                  <a:pt x="409" y="8"/>
                </a:cubicBezTo>
                <a:cubicBezTo>
                  <a:pt x="560" y="16"/>
                  <a:pt x="802" y="77"/>
                  <a:pt x="908" y="190"/>
                </a:cubicBezTo>
                <a:cubicBezTo>
                  <a:pt x="1014" y="303"/>
                  <a:pt x="1021" y="538"/>
                  <a:pt x="1044" y="689"/>
                </a:cubicBezTo>
                <a:cubicBezTo>
                  <a:pt x="1067" y="840"/>
                  <a:pt x="1021" y="878"/>
                  <a:pt x="1044" y="1097"/>
                </a:cubicBezTo>
                <a:cubicBezTo>
                  <a:pt x="1067" y="1316"/>
                  <a:pt x="1123" y="1660"/>
                  <a:pt x="1180" y="2004"/>
                </a:cubicBezTo>
              </a:path>
            </a:pathLst>
          </a:custGeom>
          <a:noFill/>
          <a:ln w="28575">
            <a:solidFill>
              <a:schemeClr val="hlink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17451" name="Freeform 11"/>
          <p:cNvSpPr>
            <a:spLocks/>
          </p:cNvSpPr>
          <p:nvPr/>
        </p:nvSpPr>
        <p:spPr bwMode="auto">
          <a:xfrm>
            <a:off x="1693863" y="2420938"/>
            <a:ext cx="2592387" cy="2952750"/>
          </a:xfrm>
          <a:custGeom>
            <a:avLst/>
            <a:gdLst>
              <a:gd name="T0" fmla="*/ 0 w 1633"/>
              <a:gd name="T1" fmla="*/ 0 h 1723"/>
              <a:gd name="T2" fmla="*/ 1079500 w 1633"/>
              <a:gd name="T3" fmla="*/ 776318 h 1723"/>
              <a:gd name="T4" fmla="*/ 2232025 w 1633"/>
              <a:gd name="T5" fmla="*/ 1710299 h 1723"/>
              <a:gd name="T6" fmla="*/ 2592387 w 1633"/>
              <a:gd name="T7" fmla="*/ 2952750 h 1723"/>
              <a:gd name="T8" fmla="*/ 0 60000 65536"/>
              <a:gd name="T9" fmla="*/ 0 60000 65536"/>
              <a:gd name="T10" fmla="*/ 0 60000 65536"/>
              <a:gd name="T11" fmla="*/ 0 60000 65536"/>
              <a:gd name="T12" fmla="*/ 0 w 1633"/>
              <a:gd name="T13" fmla="*/ 0 h 1723"/>
              <a:gd name="T14" fmla="*/ 1633 w 1633"/>
              <a:gd name="T15" fmla="*/ 1723 h 1723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633" h="1723">
                <a:moveTo>
                  <a:pt x="0" y="0"/>
                </a:moveTo>
                <a:cubicBezTo>
                  <a:pt x="223" y="143"/>
                  <a:pt x="446" y="287"/>
                  <a:pt x="680" y="453"/>
                </a:cubicBezTo>
                <a:cubicBezTo>
                  <a:pt x="914" y="619"/>
                  <a:pt x="1247" y="786"/>
                  <a:pt x="1406" y="998"/>
                </a:cubicBezTo>
                <a:cubicBezTo>
                  <a:pt x="1565" y="1210"/>
                  <a:pt x="1599" y="1466"/>
                  <a:pt x="1633" y="1723"/>
                </a:cubicBezTo>
              </a:path>
            </a:pathLst>
          </a:custGeom>
          <a:noFill/>
          <a:ln w="28575">
            <a:solidFill>
              <a:schemeClr val="folHlink"/>
            </a:solidFill>
            <a:prstDash val="dash"/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17452" name="Rectangle 12"/>
          <p:cNvSpPr>
            <a:spLocks noChangeArrowheads="1"/>
          </p:cNvSpPr>
          <p:nvPr/>
        </p:nvSpPr>
        <p:spPr bwMode="auto">
          <a:xfrm>
            <a:off x="577850" y="4221163"/>
            <a:ext cx="7991475" cy="503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>
              <a:lnSpc>
                <a:spcPct val="11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2000" b="1" dirty="0">
                <a:latin typeface="Times New Roman" pitchFamily="18" charset="0"/>
                <a:ea typeface="华文新魏" pitchFamily="2" charset="-122"/>
              </a:rPr>
              <a:t>FOLLOW(E</a:t>
            </a:r>
            <a:r>
              <a:rPr kumimoji="1" lang="en-US" altLang="zh-CN" sz="2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'</a:t>
            </a:r>
            <a:r>
              <a:rPr lang="en-US" altLang="zh-CN" sz="2000" b="1" dirty="0">
                <a:latin typeface="Times New Roman" pitchFamily="18" charset="0"/>
                <a:ea typeface="华文新魏" pitchFamily="2" charset="-122"/>
              </a:rPr>
              <a:t>)= FOLLOW( E ) = { #, ) }</a:t>
            </a:r>
          </a:p>
        </p:txBody>
      </p:sp>
      <p:sp>
        <p:nvSpPr>
          <p:cNvPr id="317453" name="Rectangle 13"/>
          <p:cNvSpPr>
            <a:spLocks noChangeArrowheads="1"/>
          </p:cNvSpPr>
          <p:nvPr/>
        </p:nvSpPr>
        <p:spPr bwMode="auto">
          <a:xfrm>
            <a:off x="577850" y="4725988"/>
            <a:ext cx="7991475" cy="503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>
              <a:lnSpc>
                <a:spcPct val="11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2000" b="1">
                <a:latin typeface="Times New Roman" pitchFamily="18" charset="0"/>
                <a:ea typeface="华文新魏" pitchFamily="2" charset="-122"/>
              </a:rPr>
              <a:t>FOLLOW(T) = FIRST</a:t>
            </a:r>
            <a:r>
              <a:rPr kumimoji="1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</a:rPr>
              <a:t>'</a:t>
            </a:r>
            <a:r>
              <a:rPr lang="en-US" altLang="zh-CN" sz="2000" b="1">
                <a:latin typeface="Times New Roman" pitchFamily="18" charset="0"/>
                <a:ea typeface="华文新魏" pitchFamily="2" charset="-122"/>
              </a:rPr>
              <a:t>(E</a:t>
            </a:r>
            <a:r>
              <a:rPr kumimoji="1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</a:rPr>
              <a:t>'</a:t>
            </a:r>
            <a:r>
              <a:rPr lang="en-US" altLang="zh-CN" sz="2000" b="1">
                <a:latin typeface="Times New Roman" pitchFamily="18" charset="0"/>
                <a:ea typeface="华文新魏" pitchFamily="2" charset="-122"/>
              </a:rPr>
              <a:t>)∪FOLLOW(E)∪FOLLOW(E</a:t>
            </a:r>
            <a:r>
              <a:rPr kumimoji="1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</a:rPr>
              <a:t>'</a:t>
            </a:r>
            <a:r>
              <a:rPr lang="en-US" altLang="zh-CN" sz="2000" b="1">
                <a:latin typeface="Times New Roman" pitchFamily="18" charset="0"/>
                <a:ea typeface="华文新魏" pitchFamily="2" charset="-122"/>
              </a:rPr>
              <a:t>) = {+,),#}</a:t>
            </a:r>
          </a:p>
        </p:txBody>
      </p:sp>
      <p:sp>
        <p:nvSpPr>
          <p:cNvPr id="317454" name="Rectangle 14"/>
          <p:cNvSpPr>
            <a:spLocks noChangeArrowheads="1"/>
          </p:cNvSpPr>
          <p:nvPr/>
        </p:nvSpPr>
        <p:spPr bwMode="auto">
          <a:xfrm>
            <a:off x="577850" y="5229225"/>
            <a:ext cx="7991475" cy="576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indent="-342900">
              <a:lnSpc>
                <a:spcPct val="11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en-US" altLang="zh-CN" sz="2000" b="1">
                <a:latin typeface="Times New Roman" pitchFamily="18" charset="0"/>
                <a:ea typeface="华文新魏" pitchFamily="2" charset="-122"/>
              </a:rPr>
              <a:t>FOLLOW(T')= FOLLOW(T)= {+,),#}</a:t>
            </a:r>
          </a:p>
        </p:txBody>
      </p:sp>
      <p:sp>
        <p:nvSpPr>
          <p:cNvPr id="317455" name="Rectangle 15"/>
          <p:cNvSpPr>
            <a:spLocks noChangeArrowheads="1"/>
          </p:cNvSpPr>
          <p:nvPr/>
        </p:nvSpPr>
        <p:spPr bwMode="auto">
          <a:xfrm>
            <a:off x="577850" y="5734050"/>
            <a:ext cx="7991475" cy="431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>
              <a:lnSpc>
                <a:spcPct val="11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2000" b="1">
                <a:latin typeface="Times New Roman" pitchFamily="18" charset="0"/>
                <a:ea typeface="华文新魏" pitchFamily="2" charset="-122"/>
              </a:rPr>
              <a:t>FOLLOW(F) = FIRST</a:t>
            </a:r>
            <a:r>
              <a:rPr kumimoji="1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</a:rPr>
              <a:t>'</a:t>
            </a:r>
            <a:r>
              <a:rPr lang="en-US" altLang="zh-CN" sz="2000" b="1">
                <a:latin typeface="Times New Roman" pitchFamily="18" charset="0"/>
                <a:ea typeface="华文新魏" pitchFamily="2" charset="-122"/>
              </a:rPr>
              <a:t>(T</a:t>
            </a:r>
            <a:r>
              <a:rPr kumimoji="1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</a:rPr>
              <a:t>'</a:t>
            </a:r>
            <a:r>
              <a:rPr lang="en-US" altLang="zh-CN" sz="2000" b="1">
                <a:latin typeface="Times New Roman" pitchFamily="18" charset="0"/>
                <a:ea typeface="华文新魏" pitchFamily="2" charset="-122"/>
              </a:rPr>
              <a:t>)∪FOLLOW(T)∪FOLLOW(T</a:t>
            </a:r>
            <a:r>
              <a:rPr kumimoji="1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</a:rPr>
              <a:t>'</a:t>
            </a:r>
            <a:r>
              <a:rPr lang="en-US" altLang="zh-CN" sz="2000" b="1">
                <a:latin typeface="Times New Roman" pitchFamily="18" charset="0"/>
                <a:ea typeface="华文新魏" pitchFamily="2" charset="-122"/>
              </a:rPr>
              <a:t>) ={*,+,),#}  </a:t>
            </a:r>
          </a:p>
        </p:txBody>
      </p:sp>
      <p:sp>
        <p:nvSpPr>
          <p:cNvPr id="317457" name="Freeform 17"/>
          <p:cNvSpPr>
            <a:spLocks/>
          </p:cNvSpPr>
          <p:nvPr/>
        </p:nvSpPr>
        <p:spPr bwMode="auto">
          <a:xfrm>
            <a:off x="1477963" y="1412875"/>
            <a:ext cx="5038725" cy="3552825"/>
          </a:xfrm>
          <a:custGeom>
            <a:avLst/>
            <a:gdLst>
              <a:gd name="T0" fmla="*/ 0 w 3372"/>
              <a:gd name="T1" fmla="*/ 515937 h 2238"/>
              <a:gd name="T2" fmla="*/ 745578 w 3372"/>
              <a:gd name="T3" fmla="*/ 84137 h 2238"/>
              <a:gd name="T4" fmla="*/ 2846344 w 3372"/>
              <a:gd name="T5" fmla="*/ 11112 h 2238"/>
              <a:gd name="T6" fmla="*/ 4201533 w 3372"/>
              <a:gd name="T7" fmla="*/ 155575 h 2238"/>
              <a:gd name="T8" fmla="*/ 4879874 w 3372"/>
              <a:gd name="T9" fmla="*/ 660400 h 2238"/>
              <a:gd name="T10" fmla="*/ 5015841 w 3372"/>
              <a:gd name="T11" fmla="*/ 1811337 h 2238"/>
              <a:gd name="T12" fmla="*/ 5015841 w 3372"/>
              <a:gd name="T13" fmla="*/ 2316162 h 2238"/>
              <a:gd name="T14" fmla="*/ 4947110 w 3372"/>
              <a:gd name="T15" fmla="*/ 2676525 h 2238"/>
              <a:gd name="T16" fmla="*/ 4812637 w 3372"/>
              <a:gd name="T17" fmla="*/ 2963862 h 2238"/>
              <a:gd name="T18" fmla="*/ 3659159 w 3372"/>
              <a:gd name="T19" fmla="*/ 3468688 h 2238"/>
              <a:gd name="T20" fmla="*/ 3388719 w 3372"/>
              <a:gd name="T21" fmla="*/ 3468688 h 2238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3372"/>
              <a:gd name="T34" fmla="*/ 0 h 2238"/>
              <a:gd name="T35" fmla="*/ 3372 w 3372"/>
              <a:gd name="T36" fmla="*/ 2238 h 2238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3372" h="2238">
                <a:moveTo>
                  <a:pt x="0" y="325"/>
                </a:moveTo>
                <a:cubicBezTo>
                  <a:pt x="91" y="215"/>
                  <a:pt x="182" y="106"/>
                  <a:pt x="499" y="53"/>
                </a:cubicBezTo>
                <a:cubicBezTo>
                  <a:pt x="816" y="0"/>
                  <a:pt x="1520" y="0"/>
                  <a:pt x="1905" y="7"/>
                </a:cubicBezTo>
                <a:cubicBezTo>
                  <a:pt x="2290" y="14"/>
                  <a:pt x="2585" y="30"/>
                  <a:pt x="2812" y="98"/>
                </a:cubicBezTo>
                <a:cubicBezTo>
                  <a:pt x="3039" y="166"/>
                  <a:pt x="3175" y="242"/>
                  <a:pt x="3266" y="416"/>
                </a:cubicBezTo>
                <a:cubicBezTo>
                  <a:pt x="3357" y="590"/>
                  <a:pt x="3342" y="967"/>
                  <a:pt x="3357" y="1141"/>
                </a:cubicBezTo>
                <a:cubicBezTo>
                  <a:pt x="3372" y="1315"/>
                  <a:pt x="3365" y="1368"/>
                  <a:pt x="3357" y="1459"/>
                </a:cubicBezTo>
                <a:cubicBezTo>
                  <a:pt x="3349" y="1550"/>
                  <a:pt x="3334" y="1618"/>
                  <a:pt x="3311" y="1686"/>
                </a:cubicBezTo>
                <a:cubicBezTo>
                  <a:pt x="3288" y="1754"/>
                  <a:pt x="3365" y="1784"/>
                  <a:pt x="3221" y="1867"/>
                </a:cubicBezTo>
                <a:cubicBezTo>
                  <a:pt x="3077" y="1950"/>
                  <a:pt x="2608" y="2132"/>
                  <a:pt x="2449" y="2185"/>
                </a:cubicBezTo>
                <a:cubicBezTo>
                  <a:pt x="2290" y="2238"/>
                  <a:pt x="2313" y="2185"/>
                  <a:pt x="2268" y="2185"/>
                </a:cubicBezTo>
              </a:path>
            </a:pathLst>
          </a:custGeom>
          <a:noFill/>
          <a:ln w="28575">
            <a:solidFill>
              <a:schemeClr val="hlink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17458" name="Freeform 18"/>
          <p:cNvSpPr>
            <a:spLocks/>
          </p:cNvSpPr>
          <p:nvPr/>
        </p:nvSpPr>
        <p:spPr bwMode="auto">
          <a:xfrm>
            <a:off x="1620838" y="2492375"/>
            <a:ext cx="1441450" cy="3313113"/>
          </a:xfrm>
          <a:custGeom>
            <a:avLst/>
            <a:gdLst>
              <a:gd name="T0" fmla="*/ 0 w 908"/>
              <a:gd name="T1" fmla="*/ 0 h 2087"/>
              <a:gd name="T2" fmla="*/ 360363 w 908"/>
              <a:gd name="T3" fmla="*/ 936625 h 2087"/>
              <a:gd name="T4" fmla="*/ 1441450 w 908"/>
              <a:gd name="T5" fmla="*/ 3313113 h 2087"/>
              <a:gd name="T6" fmla="*/ 0 60000 65536"/>
              <a:gd name="T7" fmla="*/ 0 60000 65536"/>
              <a:gd name="T8" fmla="*/ 0 60000 65536"/>
              <a:gd name="T9" fmla="*/ 0 w 908"/>
              <a:gd name="T10" fmla="*/ 0 h 2087"/>
              <a:gd name="T11" fmla="*/ 908 w 908"/>
              <a:gd name="T12" fmla="*/ 2087 h 208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908" h="2087">
                <a:moveTo>
                  <a:pt x="0" y="0"/>
                </a:moveTo>
                <a:cubicBezTo>
                  <a:pt x="38" y="121"/>
                  <a:pt x="76" y="242"/>
                  <a:pt x="227" y="590"/>
                </a:cubicBezTo>
                <a:cubicBezTo>
                  <a:pt x="378" y="938"/>
                  <a:pt x="795" y="1838"/>
                  <a:pt x="908" y="2087"/>
                </a:cubicBezTo>
              </a:path>
            </a:pathLst>
          </a:custGeom>
          <a:noFill/>
          <a:ln w="28575">
            <a:solidFill>
              <a:srgbClr val="993366"/>
            </a:solidFill>
            <a:prstDash val="lgDashDot"/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17459" name="Freeform 19"/>
          <p:cNvSpPr>
            <a:spLocks/>
          </p:cNvSpPr>
          <p:nvPr/>
        </p:nvSpPr>
        <p:spPr bwMode="auto">
          <a:xfrm>
            <a:off x="1693863" y="2420938"/>
            <a:ext cx="5051425" cy="3384550"/>
          </a:xfrm>
          <a:custGeom>
            <a:avLst/>
            <a:gdLst>
              <a:gd name="T0" fmla="*/ 0 w 3182"/>
              <a:gd name="T1" fmla="*/ 0 h 2132"/>
              <a:gd name="T2" fmla="*/ 1871663 w 3182"/>
              <a:gd name="T3" fmla="*/ 142875 h 2132"/>
              <a:gd name="T4" fmla="*/ 2592387 w 3182"/>
              <a:gd name="T5" fmla="*/ 503237 h 2132"/>
              <a:gd name="T6" fmla="*/ 3384551 w 3182"/>
              <a:gd name="T7" fmla="*/ 792162 h 2132"/>
              <a:gd name="T8" fmla="*/ 4103688 w 3182"/>
              <a:gd name="T9" fmla="*/ 1152525 h 2132"/>
              <a:gd name="T10" fmla="*/ 4535488 w 3182"/>
              <a:gd name="T11" fmla="*/ 1008062 h 2132"/>
              <a:gd name="T12" fmla="*/ 4968875 w 3182"/>
              <a:gd name="T13" fmla="*/ 1152525 h 2132"/>
              <a:gd name="T14" fmla="*/ 4895850 w 3182"/>
              <a:gd name="T15" fmla="*/ 1295400 h 2132"/>
              <a:gd name="T16" fmla="*/ 4032250 w 3182"/>
              <a:gd name="T17" fmla="*/ 2016125 h 2132"/>
              <a:gd name="T18" fmla="*/ 3240087 w 3182"/>
              <a:gd name="T19" fmla="*/ 3384550 h 2132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3182"/>
              <a:gd name="T31" fmla="*/ 0 h 2132"/>
              <a:gd name="T32" fmla="*/ 3182 w 3182"/>
              <a:gd name="T33" fmla="*/ 2132 h 2132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3182" h="2132">
                <a:moveTo>
                  <a:pt x="0" y="0"/>
                </a:moveTo>
                <a:cubicBezTo>
                  <a:pt x="453" y="18"/>
                  <a:pt x="907" y="37"/>
                  <a:pt x="1179" y="90"/>
                </a:cubicBezTo>
                <a:cubicBezTo>
                  <a:pt x="1451" y="143"/>
                  <a:pt x="1474" y="249"/>
                  <a:pt x="1633" y="317"/>
                </a:cubicBezTo>
                <a:cubicBezTo>
                  <a:pt x="1792" y="385"/>
                  <a:pt x="1973" y="431"/>
                  <a:pt x="2132" y="499"/>
                </a:cubicBezTo>
                <a:cubicBezTo>
                  <a:pt x="2291" y="567"/>
                  <a:pt x="2464" y="703"/>
                  <a:pt x="2585" y="726"/>
                </a:cubicBezTo>
                <a:cubicBezTo>
                  <a:pt x="2706" y="749"/>
                  <a:pt x="2766" y="635"/>
                  <a:pt x="2857" y="635"/>
                </a:cubicBezTo>
                <a:cubicBezTo>
                  <a:pt x="2948" y="635"/>
                  <a:pt x="3092" y="696"/>
                  <a:pt x="3130" y="726"/>
                </a:cubicBezTo>
                <a:cubicBezTo>
                  <a:pt x="3168" y="756"/>
                  <a:pt x="3182" y="725"/>
                  <a:pt x="3084" y="816"/>
                </a:cubicBezTo>
                <a:cubicBezTo>
                  <a:pt x="2986" y="907"/>
                  <a:pt x="2714" y="1051"/>
                  <a:pt x="2540" y="1270"/>
                </a:cubicBezTo>
                <a:cubicBezTo>
                  <a:pt x="2366" y="1489"/>
                  <a:pt x="2203" y="1810"/>
                  <a:pt x="2041" y="2132"/>
                </a:cubicBezTo>
              </a:path>
            </a:pathLst>
          </a:custGeom>
          <a:noFill/>
          <a:ln w="28575">
            <a:solidFill>
              <a:srgbClr val="993366"/>
            </a:solidFill>
            <a:prstDash val="lgDashDot"/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17460" name="Freeform 20"/>
          <p:cNvSpPr>
            <a:spLocks/>
          </p:cNvSpPr>
          <p:nvPr/>
        </p:nvSpPr>
        <p:spPr bwMode="auto">
          <a:xfrm>
            <a:off x="3278188" y="2205038"/>
            <a:ext cx="3538537" cy="3600450"/>
          </a:xfrm>
          <a:custGeom>
            <a:avLst/>
            <a:gdLst>
              <a:gd name="T0" fmla="*/ 0 w 2501"/>
              <a:gd name="T1" fmla="*/ 132170 h 2261"/>
              <a:gd name="T2" fmla="*/ 577258 w 2501"/>
              <a:gd name="T3" fmla="*/ 60512 h 2261"/>
              <a:gd name="T4" fmla="*/ 1154517 w 2501"/>
              <a:gd name="T5" fmla="*/ 493649 h 2261"/>
              <a:gd name="T6" fmla="*/ 1283268 w 2501"/>
              <a:gd name="T7" fmla="*/ 926785 h 2261"/>
              <a:gd name="T8" fmla="*/ 1539356 w 2501"/>
              <a:gd name="T9" fmla="*/ 1071695 h 2261"/>
              <a:gd name="T10" fmla="*/ 2052946 w 2501"/>
              <a:gd name="T11" fmla="*/ 1143354 h 2261"/>
              <a:gd name="T12" fmla="*/ 2309033 w 2501"/>
              <a:gd name="T13" fmla="*/ 1216605 h 2261"/>
              <a:gd name="T14" fmla="*/ 2630204 w 2501"/>
              <a:gd name="T15" fmla="*/ 1361515 h 2261"/>
              <a:gd name="T16" fmla="*/ 3015043 w 2501"/>
              <a:gd name="T17" fmla="*/ 1216605 h 2261"/>
              <a:gd name="T18" fmla="*/ 3464965 w 2501"/>
              <a:gd name="T19" fmla="*/ 1361515 h 2261"/>
              <a:gd name="T20" fmla="*/ 3336214 w 2501"/>
              <a:gd name="T21" fmla="*/ 1794652 h 2261"/>
              <a:gd name="T22" fmla="*/ 3336214 w 2501"/>
              <a:gd name="T23" fmla="*/ 2372698 h 2261"/>
              <a:gd name="T24" fmla="*/ 3528633 w 2501"/>
              <a:gd name="T25" fmla="*/ 3094062 h 2261"/>
              <a:gd name="T26" fmla="*/ 3272546 w 2501"/>
              <a:gd name="T27" fmla="*/ 3600450 h 2261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w 2501"/>
              <a:gd name="T43" fmla="*/ 0 h 2261"/>
              <a:gd name="T44" fmla="*/ 2501 w 2501"/>
              <a:gd name="T45" fmla="*/ 2261 h 2261"/>
            </a:gdLst>
            <a:ahLst/>
            <a:cxnLst>
              <a:cxn ang="T28">
                <a:pos x="T0" y="T1"/>
              </a:cxn>
              <a:cxn ang="T29">
                <a:pos x="T2" y="T3"/>
              </a:cxn>
              <a:cxn ang="T30">
                <a:pos x="T4" y="T5"/>
              </a:cxn>
              <a:cxn ang="T31">
                <a:pos x="T6" y="T7"/>
              </a:cxn>
              <a:cxn ang="T32">
                <a:pos x="T8" y="T9"/>
              </a:cxn>
              <a:cxn ang="T33">
                <a:pos x="T10" y="T11"/>
              </a:cxn>
              <a:cxn ang="T34">
                <a:pos x="T12" y="T13"/>
              </a:cxn>
              <a:cxn ang="T35">
                <a:pos x="T14" y="T15"/>
              </a:cxn>
              <a:cxn ang="T36">
                <a:pos x="T16" y="T17"/>
              </a:cxn>
              <a:cxn ang="T37">
                <a:pos x="T18" y="T19"/>
              </a:cxn>
              <a:cxn ang="T38">
                <a:pos x="T20" y="T21"/>
              </a:cxn>
              <a:cxn ang="T39">
                <a:pos x="T22" y="T23"/>
              </a:cxn>
              <a:cxn ang="T40">
                <a:pos x="T24" y="T25"/>
              </a:cxn>
              <a:cxn ang="T41">
                <a:pos x="T26" y="T27"/>
              </a:cxn>
            </a:cxnLst>
            <a:rect l="T42" t="T43" r="T44" b="T45"/>
            <a:pathLst>
              <a:path w="2501" h="2261">
                <a:moveTo>
                  <a:pt x="0" y="83"/>
                </a:moveTo>
                <a:cubicBezTo>
                  <a:pt x="136" y="41"/>
                  <a:pt x="272" y="0"/>
                  <a:pt x="408" y="38"/>
                </a:cubicBezTo>
                <a:cubicBezTo>
                  <a:pt x="544" y="76"/>
                  <a:pt x="733" y="219"/>
                  <a:pt x="816" y="310"/>
                </a:cubicBezTo>
                <a:cubicBezTo>
                  <a:pt x="899" y="401"/>
                  <a:pt x="862" y="522"/>
                  <a:pt x="907" y="582"/>
                </a:cubicBezTo>
                <a:cubicBezTo>
                  <a:pt x="952" y="642"/>
                  <a:pt x="997" y="650"/>
                  <a:pt x="1088" y="673"/>
                </a:cubicBezTo>
                <a:cubicBezTo>
                  <a:pt x="1179" y="696"/>
                  <a:pt x="1360" y="703"/>
                  <a:pt x="1451" y="718"/>
                </a:cubicBezTo>
                <a:cubicBezTo>
                  <a:pt x="1542" y="733"/>
                  <a:pt x="1564" y="741"/>
                  <a:pt x="1632" y="764"/>
                </a:cubicBezTo>
                <a:cubicBezTo>
                  <a:pt x="1700" y="787"/>
                  <a:pt x="1776" y="855"/>
                  <a:pt x="1859" y="855"/>
                </a:cubicBezTo>
                <a:cubicBezTo>
                  <a:pt x="1942" y="855"/>
                  <a:pt x="2033" y="764"/>
                  <a:pt x="2131" y="764"/>
                </a:cubicBezTo>
                <a:cubicBezTo>
                  <a:pt x="2229" y="764"/>
                  <a:pt x="2411" y="795"/>
                  <a:pt x="2449" y="855"/>
                </a:cubicBezTo>
                <a:cubicBezTo>
                  <a:pt x="2487" y="915"/>
                  <a:pt x="2373" y="1021"/>
                  <a:pt x="2358" y="1127"/>
                </a:cubicBezTo>
                <a:cubicBezTo>
                  <a:pt x="2343" y="1233"/>
                  <a:pt x="2335" y="1354"/>
                  <a:pt x="2358" y="1490"/>
                </a:cubicBezTo>
                <a:cubicBezTo>
                  <a:pt x="2381" y="1626"/>
                  <a:pt x="2501" y="1815"/>
                  <a:pt x="2494" y="1943"/>
                </a:cubicBezTo>
                <a:cubicBezTo>
                  <a:pt x="2487" y="2071"/>
                  <a:pt x="2400" y="2166"/>
                  <a:pt x="2313" y="2261"/>
                </a:cubicBezTo>
              </a:path>
            </a:pathLst>
          </a:custGeom>
          <a:noFill/>
          <a:ln w="28575">
            <a:solidFill>
              <a:srgbClr val="993366"/>
            </a:solidFill>
            <a:prstDash val="lgDashDot"/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/>
          <p:cNvSpPr>
            <a:spLocks noGrp="1" noChangeArrowheads="1"/>
          </p:cNvSpPr>
          <p:nvPr>
            <p:ph type="title"/>
          </p:nvPr>
        </p:nvSpPr>
        <p:spPr>
          <a:xfrm>
            <a:off x="615950" y="549275"/>
            <a:ext cx="8167688" cy="792163"/>
          </a:xfrm>
        </p:spPr>
        <p:txBody>
          <a:bodyPr/>
          <a:lstStyle/>
          <a:p>
            <a:pPr eaLnBrk="1" hangingPunct="1"/>
            <a:r>
              <a:rPr lang="zh-CN" altLang="en-US" sz="3600" b="1" smtClean="0">
                <a:solidFill>
                  <a:srgbClr val="000099"/>
                </a:solidFill>
                <a:latin typeface="Times New Roman" pitchFamily="18" charset="0"/>
                <a:ea typeface="华文新魏" pitchFamily="2" charset="-122"/>
              </a:rPr>
              <a:t>自顶向下分析中希望文法满足的条件</a:t>
            </a:r>
          </a:p>
        </p:txBody>
      </p:sp>
      <p:sp>
        <p:nvSpPr>
          <p:cNvPr id="318467" name="Rectangle 3"/>
          <p:cNvSpPr>
            <a:spLocks noGrp="1" noChangeArrowheads="1"/>
          </p:cNvSpPr>
          <p:nvPr>
            <p:ph idx="1"/>
          </p:nvPr>
        </p:nvSpPr>
        <p:spPr>
          <a:xfrm>
            <a:off x="250825" y="1630363"/>
            <a:ext cx="8642350" cy="4678362"/>
          </a:xfrm>
        </p:spPr>
        <p:txBody>
          <a:bodyPr/>
          <a:lstStyle/>
          <a:p>
            <a:pPr eaLnBrk="1" hangingPunct="1">
              <a:lnSpc>
                <a:spcPct val="130000"/>
              </a:lnSpc>
              <a:spcBef>
                <a:spcPts val="1200"/>
              </a:spcBef>
            </a:pPr>
            <a:r>
              <a:rPr lang="zh-CN" altLang="en-US" sz="2800" b="1" smtClean="0">
                <a:latin typeface="Times New Roman" pitchFamily="18" charset="0"/>
                <a:ea typeface="华文新魏" pitchFamily="2" charset="-122"/>
              </a:rPr>
              <a:t>希望：从左到右扫描输入串，寻找它的一个最左推导，每次</a:t>
            </a:r>
            <a:r>
              <a:rPr lang="zh-CN" altLang="en-US" sz="2800" b="1" smtClean="0">
                <a:solidFill>
                  <a:schemeClr val="hlink"/>
                </a:solidFill>
                <a:latin typeface="Times New Roman" pitchFamily="18" charset="0"/>
                <a:ea typeface="华文新魏" pitchFamily="2" charset="-122"/>
              </a:rPr>
              <a:t>最多有一个</a:t>
            </a:r>
            <a:r>
              <a:rPr lang="zh-CN" altLang="en-US" sz="2800" b="1" smtClean="0">
                <a:latin typeface="Times New Roman" pitchFamily="18" charset="0"/>
                <a:ea typeface="华文新魏" pitchFamily="2" charset="-122"/>
              </a:rPr>
              <a:t>产生式可用</a:t>
            </a:r>
            <a:endParaRPr lang="en-US" altLang="zh-CN" sz="2800" b="1" smtClean="0">
              <a:latin typeface="Times New Roman" pitchFamily="18" charset="0"/>
              <a:ea typeface="华文新魏" pitchFamily="2" charset="-122"/>
            </a:endParaRPr>
          </a:p>
          <a:p>
            <a:pPr eaLnBrk="1" hangingPunct="1">
              <a:lnSpc>
                <a:spcPct val="110000"/>
              </a:lnSpc>
              <a:spcBef>
                <a:spcPts val="1200"/>
              </a:spcBef>
            </a:pPr>
            <a:r>
              <a:rPr lang="zh-CN" altLang="en-US" sz="2800" b="1" smtClean="0">
                <a:latin typeface="Times New Roman" pitchFamily="18" charset="0"/>
                <a:ea typeface="华文新魏" pitchFamily="2" charset="-122"/>
              </a:rPr>
              <a:t>对于 </a:t>
            </a: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G </a:t>
            </a:r>
            <a:r>
              <a:rPr lang="zh-CN" altLang="en-US" sz="2800" b="1" smtClean="0">
                <a:latin typeface="Times New Roman" pitchFamily="18" charset="0"/>
                <a:ea typeface="华文新魏" pitchFamily="2" charset="-122"/>
              </a:rPr>
              <a:t>的每个非终结符 </a:t>
            </a: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A </a:t>
            </a:r>
            <a:r>
              <a:rPr lang="zh-CN" altLang="en-US" sz="2800" b="1" smtClean="0">
                <a:latin typeface="Times New Roman" pitchFamily="18" charset="0"/>
                <a:ea typeface="华文新魏" pitchFamily="2" charset="-122"/>
              </a:rPr>
              <a:t>的任何不同候选式 </a:t>
            </a: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A→α|β</a:t>
            </a:r>
          </a:p>
          <a:p>
            <a:pPr eaLnBrk="1" hangingPunct="1">
              <a:lnSpc>
                <a:spcPct val="110000"/>
              </a:lnSpc>
              <a:spcBef>
                <a:spcPts val="1200"/>
              </a:spcBef>
              <a:buFont typeface="Wingdings" pitchFamily="2" charset="2"/>
              <a:buNone/>
            </a:pP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	(1) FIRST(α)∩FIRST(β)= Φ</a:t>
            </a:r>
          </a:p>
          <a:p>
            <a:pPr eaLnBrk="1" hangingPunct="1">
              <a:lnSpc>
                <a:spcPct val="110000"/>
              </a:lnSpc>
              <a:spcBef>
                <a:spcPts val="1200"/>
              </a:spcBef>
              <a:buFont typeface="Wingdings" pitchFamily="2" charset="2"/>
              <a:buNone/>
            </a:pP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	(2) </a:t>
            </a:r>
            <a:r>
              <a:rPr lang="en-US" altLang="zh-CN" sz="2800" b="1" smtClean="0">
                <a:solidFill>
                  <a:srgbClr val="000099"/>
                </a:solidFill>
                <a:latin typeface="Times New Roman" pitchFamily="18" charset="0"/>
                <a:ea typeface="华文新魏" pitchFamily="2" charset="-122"/>
              </a:rPr>
              <a:t>α</a:t>
            </a:r>
            <a:r>
              <a:rPr lang="en-US" altLang="zh-CN" sz="2800" b="1" smtClean="0">
                <a:solidFill>
                  <a:srgbClr val="000099"/>
                </a:solidFill>
                <a:latin typeface="Times New Roman" pitchFamily="18" charset="0"/>
                <a:ea typeface="华文新魏" pitchFamily="2" charset="-122"/>
                <a:sym typeface="Symbol" pitchFamily="18" charset="2"/>
              </a:rPr>
              <a:t></a:t>
            </a:r>
            <a:r>
              <a:rPr lang="en-US" altLang="zh-CN" sz="2800" b="1" baseline="30000" smtClean="0">
                <a:solidFill>
                  <a:srgbClr val="000099"/>
                </a:solidFill>
                <a:latin typeface="Times New Roman" pitchFamily="18" charset="0"/>
                <a:ea typeface="华文新魏" pitchFamily="2" charset="-122"/>
              </a:rPr>
              <a:t>*</a:t>
            </a:r>
            <a:r>
              <a:rPr lang="en-US" altLang="zh-CN" sz="2800" b="1" smtClean="0">
                <a:solidFill>
                  <a:srgbClr val="000099"/>
                </a:solidFill>
                <a:latin typeface="Times New Roman" pitchFamily="18" charset="0"/>
                <a:ea typeface="华文新魏" pitchFamily="2" charset="-122"/>
              </a:rPr>
              <a:t>ε</a:t>
            </a: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 </a:t>
            </a:r>
            <a:r>
              <a:rPr lang="zh-CN" altLang="en-US" sz="2800" b="1" smtClean="0">
                <a:latin typeface="Times New Roman" pitchFamily="18" charset="0"/>
                <a:ea typeface="华文新魏" pitchFamily="2" charset="-122"/>
              </a:rPr>
              <a:t>和</a:t>
            </a: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β</a:t>
            </a:r>
            <a:r>
              <a:rPr lang="en-US" altLang="zh-CN" sz="2800" b="1" smtClean="0">
                <a:latin typeface="Times New Roman" pitchFamily="18" charset="0"/>
                <a:ea typeface="华文新魏" pitchFamily="2" charset="-122"/>
                <a:sym typeface="Symbol" pitchFamily="18" charset="2"/>
              </a:rPr>
              <a:t></a:t>
            </a:r>
            <a:r>
              <a:rPr lang="en-US" altLang="zh-CN" sz="2800" b="1" baseline="30000" smtClean="0">
                <a:latin typeface="Times New Roman" pitchFamily="18" charset="0"/>
                <a:ea typeface="华文新魏" pitchFamily="2" charset="-122"/>
              </a:rPr>
              <a:t>*</a:t>
            </a: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ε</a:t>
            </a:r>
            <a:r>
              <a:rPr lang="zh-CN" altLang="en-US" sz="2800" b="1" smtClean="0">
                <a:latin typeface="Times New Roman" pitchFamily="18" charset="0"/>
                <a:ea typeface="华文新魏" pitchFamily="2" charset="-122"/>
              </a:rPr>
              <a:t>仅有一个成立</a:t>
            </a:r>
          </a:p>
          <a:p>
            <a:pPr eaLnBrk="1" hangingPunct="1">
              <a:lnSpc>
                <a:spcPct val="110000"/>
              </a:lnSpc>
              <a:spcBef>
                <a:spcPts val="1200"/>
              </a:spcBef>
              <a:buFont typeface="Wingdings" pitchFamily="2" charset="2"/>
              <a:buNone/>
            </a:pP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	(3) </a:t>
            </a:r>
            <a:r>
              <a:rPr lang="zh-CN" altLang="en-US" sz="2800" b="1" smtClean="0">
                <a:latin typeface="Times New Roman" pitchFamily="18" charset="0"/>
                <a:ea typeface="华文新魏" pitchFamily="2" charset="-122"/>
              </a:rPr>
              <a:t>如果</a:t>
            </a: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β</a:t>
            </a:r>
            <a:r>
              <a:rPr lang="en-US" altLang="zh-CN" sz="2800" b="1" smtClean="0">
                <a:latin typeface="Times New Roman" pitchFamily="18" charset="0"/>
                <a:ea typeface="华文新魏" pitchFamily="2" charset="-122"/>
                <a:sym typeface="Symbol" pitchFamily="18" charset="2"/>
              </a:rPr>
              <a:t></a:t>
            </a:r>
            <a:r>
              <a:rPr lang="en-US" altLang="zh-CN" sz="2800" b="1" baseline="30000" smtClean="0">
                <a:latin typeface="Times New Roman" pitchFamily="18" charset="0"/>
                <a:ea typeface="华文新魏" pitchFamily="2" charset="-122"/>
              </a:rPr>
              <a:t>*</a:t>
            </a: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ε，</a:t>
            </a:r>
            <a:r>
              <a:rPr lang="zh-CN" altLang="en-US" sz="2800" b="1" smtClean="0">
                <a:latin typeface="Times New Roman" pitchFamily="18" charset="0"/>
                <a:ea typeface="华文新魏" pitchFamily="2" charset="-122"/>
              </a:rPr>
              <a:t>则 </a:t>
            </a: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FIRST(α)∩FOLLOW(A)= Φ</a:t>
            </a:r>
          </a:p>
          <a:p>
            <a:pPr eaLnBrk="1" hangingPunct="1">
              <a:lnSpc>
                <a:spcPct val="110000"/>
              </a:lnSpc>
              <a:spcBef>
                <a:spcPts val="1200"/>
              </a:spcBef>
              <a:buFont typeface="Wingdings" pitchFamily="2" charset="2"/>
              <a:buNone/>
            </a:pPr>
            <a:r>
              <a:rPr lang="en-US" altLang="zh-CN" sz="2800" b="1" smtClean="0">
                <a:solidFill>
                  <a:srgbClr val="000099"/>
                </a:solidFill>
                <a:latin typeface="Times New Roman" pitchFamily="18" charset="0"/>
                <a:ea typeface="华文新魏" pitchFamily="2" charset="-122"/>
              </a:rPr>
              <a:t>	(3')</a:t>
            </a:r>
            <a:r>
              <a:rPr lang="zh-CN" altLang="en-US" sz="2800" b="1" smtClean="0">
                <a:solidFill>
                  <a:srgbClr val="000099"/>
                </a:solidFill>
                <a:latin typeface="Times New Roman" pitchFamily="18" charset="0"/>
                <a:ea typeface="华文新魏" pitchFamily="2" charset="-122"/>
              </a:rPr>
              <a:t>如果</a:t>
            </a:r>
            <a:r>
              <a:rPr lang="en-US" altLang="zh-CN" sz="2800" b="1" smtClean="0">
                <a:solidFill>
                  <a:srgbClr val="000099"/>
                </a:solidFill>
                <a:latin typeface="Times New Roman" pitchFamily="18" charset="0"/>
                <a:ea typeface="华文新魏" pitchFamily="2" charset="-122"/>
              </a:rPr>
              <a:t>α</a:t>
            </a:r>
            <a:r>
              <a:rPr lang="en-US" altLang="zh-CN" sz="2800" b="1" smtClean="0">
                <a:solidFill>
                  <a:srgbClr val="000099"/>
                </a:solidFill>
                <a:latin typeface="Times New Roman" pitchFamily="18" charset="0"/>
                <a:ea typeface="华文新魏" pitchFamily="2" charset="-122"/>
                <a:sym typeface="Symbol" pitchFamily="18" charset="2"/>
              </a:rPr>
              <a:t></a:t>
            </a:r>
            <a:r>
              <a:rPr lang="en-US" altLang="zh-CN" sz="2800" b="1" baseline="30000" smtClean="0">
                <a:solidFill>
                  <a:srgbClr val="000099"/>
                </a:solidFill>
                <a:latin typeface="Times New Roman" pitchFamily="18" charset="0"/>
                <a:ea typeface="华文新魏" pitchFamily="2" charset="-122"/>
              </a:rPr>
              <a:t>*</a:t>
            </a:r>
            <a:r>
              <a:rPr lang="en-US" altLang="zh-CN" sz="2800" b="1" smtClean="0">
                <a:solidFill>
                  <a:srgbClr val="000099"/>
                </a:solidFill>
                <a:latin typeface="Times New Roman" pitchFamily="18" charset="0"/>
                <a:ea typeface="华文新魏" pitchFamily="2" charset="-122"/>
              </a:rPr>
              <a:t>ε，</a:t>
            </a:r>
            <a:r>
              <a:rPr lang="zh-CN" altLang="en-US" sz="2800" b="1" smtClean="0">
                <a:solidFill>
                  <a:srgbClr val="000099"/>
                </a:solidFill>
                <a:latin typeface="Times New Roman" pitchFamily="18" charset="0"/>
                <a:ea typeface="华文新魏" pitchFamily="2" charset="-122"/>
              </a:rPr>
              <a:t>则 </a:t>
            </a:r>
            <a:r>
              <a:rPr lang="en-US" altLang="zh-CN" sz="2800" b="1" smtClean="0">
                <a:solidFill>
                  <a:srgbClr val="000099"/>
                </a:solidFill>
                <a:latin typeface="Times New Roman" pitchFamily="18" charset="0"/>
                <a:ea typeface="华文新魏" pitchFamily="2" charset="-122"/>
              </a:rPr>
              <a:t>FIRST(β)∩FOLLOW(A)= </a:t>
            </a: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Φ</a:t>
            </a:r>
          </a:p>
        </p:txBody>
      </p:sp>
      <p:sp>
        <p:nvSpPr>
          <p:cNvPr id="68612" name="日期占位符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6F7BC420-2585-4D1C-86D7-65476DCA806E}" type="datetime1">
              <a:rPr lang="zh-CN" altLang="en-US" smtClean="0"/>
              <a:pPr eaLnBrk="1" hangingPunct="1"/>
              <a:t>2017/2/24</a:t>
            </a:fld>
            <a:endParaRPr lang="en-US" altLang="zh-CN" smtClean="0"/>
          </a:p>
        </p:txBody>
      </p:sp>
      <p:sp>
        <p:nvSpPr>
          <p:cNvPr id="68613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7EE954C1-12A5-45EE-97E3-9A6E190831E5}" type="slidenum">
              <a:rPr lang="zh-CN" altLang="en-US" smtClean="0"/>
              <a:pPr eaLnBrk="1" hangingPunct="1"/>
              <a:t>56</a:t>
            </a:fld>
            <a:endParaRPr lang="en-US" altLang="zh-CN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4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184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4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184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4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184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4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184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4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184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4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184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8467" grpId="0" build="p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/>
          <p:cNvSpPr>
            <a:spLocks noGrp="1" noChangeArrowheads="1"/>
          </p:cNvSpPr>
          <p:nvPr>
            <p:ph type="title"/>
          </p:nvPr>
        </p:nvSpPr>
        <p:spPr>
          <a:xfrm>
            <a:off x="971550" y="620713"/>
            <a:ext cx="6308725" cy="1098550"/>
          </a:xfrm>
        </p:spPr>
        <p:txBody>
          <a:bodyPr/>
          <a:lstStyle/>
          <a:p>
            <a:pPr eaLnBrk="1" hangingPunct="1">
              <a:lnSpc>
                <a:spcPct val="110000"/>
              </a:lnSpc>
            </a:pPr>
            <a:r>
              <a:rPr lang="zh-CN" altLang="en-US" b="1" smtClean="0">
                <a:solidFill>
                  <a:srgbClr val="000099"/>
                </a:solidFill>
                <a:latin typeface="Times New Roman" pitchFamily="18" charset="0"/>
                <a:ea typeface="华文新魏" pitchFamily="2" charset="-122"/>
              </a:rPr>
              <a:t>4.3.2  </a:t>
            </a:r>
            <a:r>
              <a:rPr lang="en-US" altLang="zh-CN" b="1" smtClean="0">
                <a:solidFill>
                  <a:srgbClr val="000099"/>
                </a:solidFill>
                <a:latin typeface="Times New Roman" pitchFamily="18" charset="0"/>
                <a:ea typeface="华文新魏" pitchFamily="2" charset="-122"/>
              </a:rPr>
              <a:t>LL(1)</a:t>
            </a:r>
            <a:r>
              <a:rPr lang="zh-CN" altLang="en-US" b="1" smtClean="0">
                <a:solidFill>
                  <a:srgbClr val="000099"/>
                </a:solidFill>
                <a:latin typeface="Times New Roman" pitchFamily="18" charset="0"/>
                <a:ea typeface="华文新魏" pitchFamily="2" charset="-122"/>
              </a:rPr>
              <a:t>文法</a:t>
            </a:r>
          </a:p>
        </p:txBody>
      </p:sp>
      <p:sp>
        <p:nvSpPr>
          <p:cNvPr id="319491" name="Rectangle 3"/>
          <p:cNvSpPr>
            <a:spLocks noGrp="1" noChangeArrowheads="1"/>
          </p:cNvSpPr>
          <p:nvPr>
            <p:ph idx="1"/>
          </p:nvPr>
        </p:nvSpPr>
        <p:spPr>
          <a:xfrm>
            <a:off x="323850" y="1916113"/>
            <a:ext cx="8820150" cy="4537075"/>
          </a:xfrm>
        </p:spPr>
        <p:txBody>
          <a:bodyPr/>
          <a:lstStyle/>
          <a:p>
            <a:pPr eaLnBrk="1" hangingPunct="1">
              <a:lnSpc>
                <a:spcPct val="130000"/>
              </a:lnSpc>
              <a:spcBef>
                <a:spcPct val="0"/>
              </a:spcBef>
            </a:pPr>
            <a:r>
              <a:rPr lang="zh-CN" altLang="en-US" sz="2800" b="1" smtClean="0">
                <a:latin typeface="Times New Roman" pitchFamily="18" charset="0"/>
                <a:ea typeface="华文新魏" pitchFamily="2" charset="-122"/>
              </a:rPr>
              <a:t>对</a:t>
            </a: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G</a:t>
            </a:r>
            <a:r>
              <a:rPr lang="zh-CN" altLang="en-US" sz="2800" b="1" smtClean="0">
                <a:latin typeface="Times New Roman" pitchFamily="18" charset="0"/>
                <a:ea typeface="华文新魏" pitchFamily="2" charset="-122"/>
              </a:rPr>
              <a:t>的任意变量</a:t>
            </a: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A， A→α</a:t>
            </a:r>
            <a:r>
              <a:rPr lang="en-US" altLang="zh-CN" sz="2800" b="1" baseline="-30000" smtClean="0">
                <a:latin typeface="Times New Roman" pitchFamily="18" charset="0"/>
                <a:ea typeface="华文新魏" pitchFamily="2" charset="-122"/>
              </a:rPr>
              <a:t>1</a:t>
            </a: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|α</a:t>
            </a:r>
            <a:r>
              <a:rPr lang="en-US" altLang="zh-CN" sz="2800" b="1" baseline="-30000" smtClean="0">
                <a:latin typeface="Times New Roman" pitchFamily="18" charset="0"/>
                <a:ea typeface="华文新魏" pitchFamily="2" charset="-122"/>
              </a:rPr>
              <a:t>2</a:t>
            </a: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|…|α</a:t>
            </a:r>
            <a:r>
              <a:rPr lang="en-US" altLang="zh-CN" sz="2800" b="1" baseline="-30000" smtClean="0">
                <a:latin typeface="Times New Roman" pitchFamily="18" charset="0"/>
                <a:ea typeface="华文新魏" pitchFamily="2" charset="-122"/>
              </a:rPr>
              <a:t>n</a:t>
            </a:r>
            <a:r>
              <a:rPr lang="zh-CN" altLang="en-US" sz="2800" b="1" smtClean="0">
                <a:latin typeface="Times New Roman" pitchFamily="18" charset="0"/>
                <a:ea typeface="华文新魏" pitchFamily="2" charset="-122"/>
              </a:rPr>
              <a:t>是</a:t>
            </a: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G</a:t>
            </a:r>
            <a:r>
              <a:rPr lang="zh-CN" altLang="en-US" sz="2800" b="1" smtClean="0">
                <a:latin typeface="Times New Roman" pitchFamily="18" charset="0"/>
                <a:ea typeface="华文新魏" pitchFamily="2" charset="-122"/>
              </a:rPr>
              <a:t>的所有</a:t>
            </a: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A</a:t>
            </a:r>
            <a:r>
              <a:rPr lang="zh-CN" altLang="en-US" sz="2800" b="1" smtClean="0">
                <a:latin typeface="Times New Roman" pitchFamily="18" charset="0"/>
                <a:ea typeface="华文新魏" pitchFamily="2" charset="-122"/>
              </a:rPr>
              <a:t>产生式，如果它们满足下列条件，则称</a:t>
            </a: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G</a:t>
            </a:r>
            <a:r>
              <a:rPr lang="zh-CN" altLang="en-US" sz="2800" b="1" smtClean="0">
                <a:latin typeface="Times New Roman" pitchFamily="18" charset="0"/>
                <a:ea typeface="华文新魏" pitchFamily="2" charset="-122"/>
              </a:rPr>
              <a:t>是</a:t>
            </a:r>
            <a:r>
              <a:rPr lang="en-US" altLang="zh-CN" sz="2800" b="1" smtClean="0">
                <a:solidFill>
                  <a:schemeClr val="hlink"/>
                </a:solidFill>
                <a:latin typeface="Times New Roman" pitchFamily="18" charset="0"/>
                <a:ea typeface="华文新魏" pitchFamily="2" charset="-122"/>
              </a:rPr>
              <a:t>LL(1)</a:t>
            </a:r>
            <a:r>
              <a:rPr lang="zh-CN" altLang="en-US" sz="2800" b="1" smtClean="0">
                <a:solidFill>
                  <a:schemeClr val="hlink"/>
                </a:solidFill>
                <a:latin typeface="Times New Roman" pitchFamily="18" charset="0"/>
                <a:ea typeface="华文新魏" pitchFamily="2" charset="-122"/>
              </a:rPr>
              <a:t>文法</a:t>
            </a:r>
            <a:r>
              <a:rPr lang="zh-CN" altLang="en-US" sz="2800" b="1" smtClean="0">
                <a:latin typeface="Times New Roman" pitchFamily="18" charset="0"/>
                <a:ea typeface="华文新魏" pitchFamily="2" charset="-122"/>
              </a:rPr>
              <a:t>，</a:t>
            </a:r>
          </a:p>
          <a:p>
            <a:pPr lvl="1" eaLnBrk="1" hangingPunct="1">
              <a:lnSpc>
                <a:spcPct val="130000"/>
              </a:lnSpc>
              <a:spcBef>
                <a:spcPct val="0"/>
              </a:spcBef>
            </a:pPr>
            <a:r>
              <a:rPr lang="en-US" altLang="zh-CN" sz="2400" b="1" smtClean="0">
                <a:latin typeface="Times New Roman" pitchFamily="18" charset="0"/>
                <a:ea typeface="华文新魏" pitchFamily="2" charset="-122"/>
              </a:rPr>
              <a:t>FIRST(α</a:t>
            </a:r>
            <a:r>
              <a:rPr lang="en-US" altLang="zh-CN" sz="2400" b="1" baseline="-30000" smtClean="0">
                <a:latin typeface="Times New Roman" pitchFamily="18" charset="0"/>
                <a:ea typeface="华文新魏" pitchFamily="2" charset="-122"/>
              </a:rPr>
              <a:t>i</a:t>
            </a:r>
            <a:r>
              <a:rPr lang="en-US" altLang="zh-CN" sz="2400" b="1" smtClean="0">
                <a:latin typeface="Times New Roman" pitchFamily="18" charset="0"/>
                <a:ea typeface="华文新魏" pitchFamily="2" charset="-122"/>
              </a:rPr>
              <a:t>)∩FIRST(α</a:t>
            </a:r>
            <a:r>
              <a:rPr lang="en-US" altLang="zh-CN" sz="2400" b="1" baseline="-30000" smtClean="0">
                <a:latin typeface="Times New Roman" pitchFamily="18" charset="0"/>
                <a:ea typeface="华文新魏" pitchFamily="2" charset="-122"/>
              </a:rPr>
              <a:t>j</a:t>
            </a:r>
            <a:r>
              <a:rPr lang="en-US" altLang="zh-CN" sz="2400" b="1" smtClean="0">
                <a:latin typeface="Times New Roman" pitchFamily="18" charset="0"/>
                <a:ea typeface="华文新魏" pitchFamily="2" charset="-122"/>
              </a:rPr>
              <a:t>)=Φ      i≠j</a:t>
            </a:r>
          </a:p>
          <a:p>
            <a:pPr lvl="1" eaLnBrk="1" hangingPunct="1">
              <a:lnSpc>
                <a:spcPct val="130000"/>
              </a:lnSpc>
              <a:spcBef>
                <a:spcPct val="0"/>
              </a:spcBef>
            </a:pPr>
            <a:r>
              <a:rPr lang="zh-CN" altLang="en-US" sz="2400" b="1" smtClean="0">
                <a:latin typeface="Times New Roman" pitchFamily="18" charset="0"/>
                <a:ea typeface="华文新魏" pitchFamily="2" charset="-122"/>
              </a:rPr>
              <a:t>且当</a:t>
            </a:r>
            <a:r>
              <a:rPr lang="en-US" altLang="zh-CN" sz="2400" b="1" smtClean="0">
                <a:latin typeface="Times New Roman" pitchFamily="18" charset="0"/>
                <a:ea typeface="华文新魏" pitchFamily="2" charset="-122"/>
              </a:rPr>
              <a:t>ε∈FIRST(α</a:t>
            </a:r>
            <a:r>
              <a:rPr lang="en-US" altLang="zh-CN" sz="2400" b="1" baseline="-30000" smtClean="0">
                <a:latin typeface="Times New Roman" pitchFamily="18" charset="0"/>
                <a:ea typeface="华文新魏" pitchFamily="2" charset="-122"/>
              </a:rPr>
              <a:t>j</a:t>
            </a:r>
            <a:r>
              <a:rPr lang="en-US" altLang="zh-CN" sz="2400" b="1" smtClean="0">
                <a:latin typeface="Times New Roman" pitchFamily="18" charset="0"/>
                <a:ea typeface="华文新魏" pitchFamily="2" charset="-122"/>
              </a:rPr>
              <a:t>)</a:t>
            </a:r>
            <a:r>
              <a:rPr lang="zh-CN" altLang="en-US" sz="2400" b="1" smtClean="0">
                <a:latin typeface="Times New Roman" pitchFamily="18" charset="0"/>
                <a:ea typeface="华文新魏" pitchFamily="2" charset="-122"/>
              </a:rPr>
              <a:t>时，</a:t>
            </a:r>
            <a:r>
              <a:rPr lang="en-US" altLang="zh-CN" sz="2400" b="1" smtClean="0">
                <a:latin typeface="Times New Roman" pitchFamily="18" charset="0"/>
                <a:ea typeface="华文新魏" pitchFamily="2" charset="-122"/>
              </a:rPr>
              <a:t>FOLLOW(A)∩FIRST(α</a:t>
            </a:r>
            <a:r>
              <a:rPr lang="en-US" altLang="zh-CN" sz="2400" b="1" baseline="-30000" smtClean="0">
                <a:latin typeface="Times New Roman" pitchFamily="18" charset="0"/>
                <a:ea typeface="华文新魏" pitchFamily="2" charset="-122"/>
              </a:rPr>
              <a:t>i</a:t>
            </a:r>
            <a:r>
              <a:rPr lang="en-US" altLang="zh-CN" sz="2400" b="1" smtClean="0">
                <a:latin typeface="Times New Roman" pitchFamily="18" charset="0"/>
                <a:ea typeface="华文新魏" pitchFamily="2" charset="-122"/>
              </a:rPr>
              <a:t>)=Φ</a:t>
            </a:r>
          </a:p>
          <a:p>
            <a:pPr eaLnBrk="1" hangingPunct="1">
              <a:lnSpc>
                <a:spcPct val="130000"/>
              </a:lnSpc>
              <a:spcBef>
                <a:spcPct val="50000"/>
              </a:spcBef>
            </a:pP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LL(1)</a:t>
            </a:r>
            <a:r>
              <a:rPr lang="zh-CN" altLang="en-US" sz="2800" b="1" smtClean="0">
                <a:latin typeface="Times New Roman" pitchFamily="18" charset="0"/>
                <a:ea typeface="华文新魏" pitchFamily="2" charset="-122"/>
              </a:rPr>
              <a:t>文法是自顶向下方法能够处理的一类文法</a:t>
            </a:r>
          </a:p>
          <a:p>
            <a:pPr lvl="1" eaLnBrk="1" hangingPunct="1">
              <a:lnSpc>
                <a:spcPct val="110000"/>
              </a:lnSpc>
              <a:spcBef>
                <a:spcPct val="0"/>
              </a:spcBef>
            </a:pPr>
            <a:r>
              <a:rPr lang="zh-CN" altLang="en-US" sz="2400" b="1" smtClean="0">
                <a:latin typeface="Times New Roman" pitchFamily="18" charset="0"/>
                <a:ea typeface="华文新魏" pitchFamily="2" charset="-122"/>
              </a:rPr>
              <a:t>第一个 </a:t>
            </a:r>
            <a:r>
              <a:rPr lang="en-US" altLang="zh-CN" sz="2400" b="1" smtClean="0">
                <a:latin typeface="Times New Roman" pitchFamily="18" charset="0"/>
                <a:ea typeface="华文新魏" pitchFamily="2" charset="-122"/>
              </a:rPr>
              <a:t>L </a:t>
            </a:r>
            <a:r>
              <a:rPr lang="zh-CN" altLang="en-US" sz="2400" b="1" smtClean="0">
                <a:latin typeface="Times New Roman" pitchFamily="18" charset="0"/>
                <a:ea typeface="华文新魏" pitchFamily="2" charset="-122"/>
              </a:rPr>
              <a:t>表示从左向右扫描输入符号串</a:t>
            </a:r>
          </a:p>
          <a:p>
            <a:pPr lvl="1" eaLnBrk="1" hangingPunct="1">
              <a:lnSpc>
                <a:spcPct val="110000"/>
              </a:lnSpc>
              <a:spcBef>
                <a:spcPct val="0"/>
              </a:spcBef>
            </a:pPr>
            <a:r>
              <a:rPr lang="zh-CN" altLang="en-US" sz="2400" b="1" smtClean="0">
                <a:latin typeface="Times New Roman" pitchFamily="18" charset="0"/>
                <a:ea typeface="华文新魏" pitchFamily="2" charset="-122"/>
              </a:rPr>
              <a:t>第二个 </a:t>
            </a:r>
            <a:r>
              <a:rPr lang="en-US" altLang="zh-CN" sz="2400" b="1" smtClean="0">
                <a:latin typeface="Times New Roman" pitchFamily="18" charset="0"/>
                <a:ea typeface="华文新魏" pitchFamily="2" charset="-122"/>
              </a:rPr>
              <a:t>L </a:t>
            </a:r>
            <a:r>
              <a:rPr lang="zh-CN" altLang="en-US" sz="2400" b="1" smtClean="0">
                <a:latin typeface="Times New Roman" pitchFamily="18" charset="0"/>
                <a:ea typeface="华文新魏" pitchFamily="2" charset="-122"/>
              </a:rPr>
              <a:t>表示生成最左推导</a:t>
            </a:r>
          </a:p>
          <a:p>
            <a:pPr lvl="1" eaLnBrk="1" hangingPunct="1">
              <a:lnSpc>
                <a:spcPct val="110000"/>
              </a:lnSpc>
              <a:spcBef>
                <a:spcPct val="0"/>
              </a:spcBef>
            </a:pPr>
            <a:r>
              <a:rPr lang="zh-CN" altLang="en-US" sz="2400" b="1" smtClean="0">
                <a:latin typeface="Times New Roman" pitchFamily="18" charset="0"/>
                <a:ea typeface="华文新魏" pitchFamily="2" charset="-122"/>
              </a:rPr>
              <a:t>1 表示读入一个符号</a:t>
            </a:r>
            <a:r>
              <a:rPr lang="en-US" altLang="zh-CN" sz="2400" b="1" smtClean="0">
                <a:solidFill>
                  <a:schemeClr val="folHlink"/>
                </a:solidFill>
                <a:latin typeface="Times New Roman" pitchFamily="18" charset="0"/>
                <a:ea typeface="华文新魏" pitchFamily="2" charset="-122"/>
              </a:rPr>
              <a:t>(</a:t>
            </a:r>
            <a:r>
              <a:rPr lang="zh-CN" altLang="en-US" sz="2400" b="1" smtClean="0">
                <a:solidFill>
                  <a:schemeClr val="folHlink"/>
                </a:solidFill>
                <a:latin typeface="Times New Roman" pitchFamily="18" charset="0"/>
                <a:ea typeface="华文新魏" pitchFamily="2" charset="-122"/>
              </a:rPr>
              <a:t>当前</a:t>
            </a:r>
            <a:r>
              <a:rPr lang="en-US" altLang="zh-CN" sz="2400" b="1" smtClean="0">
                <a:solidFill>
                  <a:schemeClr val="folHlink"/>
                </a:solidFill>
                <a:latin typeface="Times New Roman" pitchFamily="18" charset="0"/>
                <a:ea typeface="华文新魏" pitchFamily="2" charset="-122"/>
              </a:rPr>
              <a:t>)</a:t>
            </a:r>
            <a:r>
              <a:rPr lang="zh-CN" altLang="en-US" sz="2400" b="1" smtClean="0">
                <a:latin typeface="Times New Roman" pitchFamily="18" charset="0"/>
                <a:ea typeface="华文新魏" pitchFamily="2" charset="-122"/>
              </a:rPr>
              <a:t>以确定下一步推导</a:t>
            </a:r>
          </a:p>
        </p:txBody>
      </p:sp>
      <p:sp>
        <p:nvSpPr>
          <p:cNvPr id="69636" name="日期占位符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35D45B20-18F9-4593-ACDF-4EBB39DEEF3A}" type="datetime1">
              <a:rPr lang="zh-CN" altLang="en-US" smtClean="0"/>
              <a:pPr eaLnBrk="1" hangingPunct="1"/>
              <a:t>2017/2/24</a:t>
            </a:fld>
            <a:endParaRPr lang="en-US" altLang="zh-CN" smtClean="0"/>
          </a:p>
        </p:txBody>
      </p:sp>
      <p:sp>
        <p:nvSpPr>
          <p:cNvPr id="69637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FBCEFD9C-E06A-4124-B6D0-E8943F1ED5F5}" type="slidenum">
              <a:rPr lang="zh-CN" altLang="en-US" smtClean="0"/>
              <a:pPr eaLnBrk="1" hangingPunct="1"/>
              <a:t>57</a:t>
            </a:fld>
            <a:endParaRPr lang="en-US" altLang="zh-CN" smtClean="0"/>
          </a:p>
        </p:txBody>
      </p:sp>
      <p:sp>
        <p:nvSpPr>
          <p:cNvPr id="319492" name="Rectangle 4"/>
          <p:cNvSpPr>
            <a:spLocks noChangeArrowheads="1"/>
          </p:cNvSpPr>
          <p:nvPr/>
        </p:nvSpPr>
        <p:spPr bwMode="auto">
          <a:xfrm>
            <a:off x="-107950" y="49213"/>
            <a:ext cx="9539288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r>
              <a:rPr lang="en-US" altLang="zh-CN" sz="2400" b="1">
                <a:latin typeface="Times New Roman" pitchFamily="18" charset="0"/>
              </a:rPr>
              <a:t>LL is the notation of the parsing strategy: the input string is scanned </a:t>
            </a:r>
          </a:p>
          <a:p>
            <a:r>
              <a:rPr lang="en-US" altLang="zh-CN" sz="2400" b="1">
                <a:latin typeface="Times New Roman" pitchFamily="18" charset="0"/>
              </a:rPr>
              <a:t>in a left-to-right manner and the parser generates a leftmost derivation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/>
          <p:cNvSpPr>
            <a:spLocks noGrp="1" noChangeArrowheads="1"/>
          </p:cNvSpPr>
          <p:nvPr>
            <p:ph type="title"/>
          </p:nvPr>
        </p:nvSpPr>
        <p:spPr>
          <a:xfrm>
            <a:off x="971550" y="476250"/>
            <a:ext cx="7793038" cy="1119188"/>
          </a:xfrm>
        </p:spPr>
        <p:txBody>
          <a:bodyPr/>
          <a:lstStyle/>
          <a:p>
            <a:pPr eaLnBrk="1" hangingPunct="1"/>
            <a:r>
              <a:rPr lang="zh-CN" altLang="en-US" b="1" smtClean="0">
                <a:solidFill>
                  <a:srgbClr val="000099"/>
                </a:solidFill>
                <a:latin typeface="Times New Roman" pitchFamily="18" charset="0"/>
                <a:ea typeface="华文新魏" pitchFamily="2" charset="-122"/>
              </a:rPr>
              <a:t>表达式文法是 </a:t>
            </a:r>
            <a:r>
              <a:rPr lang="en-US" altLang="zh-CN" b="1" smtClean="0">
                <a:solidFill>
                  <a:srgbClr val="000099"/>
                </a:solidFill>
                <a:latin typeface="Times New Roman" pitchFamily="18" charset="0"/>
                <a:ea typeface="华文新魏" pitchFamily="2" charset="-122"/>
              </a:rPr>
              <a:t>LL(1) </a:t>
            </a:r>
            <a:r>
              <a:rPr lang="zh-CN" altLang="zh-CN" b="1" smtClean="0">
                <a:solidFill>
                  <a:srgbClr val="000099"/>
                </a:solidFill>
                <a:latin typeface="Times New Roman" pitchFamily="18" charset="0"/>
                <a:ea typeface="华文新魏" pitchFamily="2" charset="-122"/>
              </a:rPr>
              <a:t>文法</a:t>
            </a:r>
            <a:endParaRPr lang="zh-CN" altLang="en-US" b="1" smtClean="0">
              <a:solidFill>
                <a:srgbClr val="000099"/>
              </a:solidFill>
              <a:latin typeface="Times New Roman" pitchFamily="18" charset="0"/>
              <a:ea typeface="华文新魏" pitchFamily="2" charset="-122"/>
            </a:endParaRPr>
          </a:p>
        </p:txBody>
      </p:sp>
      <p:sp>
        <p:nvSpPr>
          <p:cNvPr id="376835" name="Rectangle 3"/>
          <p:cNvSpPr>
            <a:spLocks noGrp="1" noChangeArrowheads="1"/>
          </p:cNvSpPr>
          <p:nvPr>
            <p:ph idx="1"/>
          </p:nvPr>
        </p:nvSpPr>
        <p:spPr>
          <a:xfrm>
            <a:off x="1182688" y="2017713"/>
            <a:ext cx="3244850" cy="2347912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E → T E'        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E'→ + T E'｜ε  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T → F T'        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T'→ * F T'｜ε  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F → ( E )｜id</a:t>
            </a:r>
          </a:p>
        </p:txBody>
      </p:sp>
      <p:sp>
        <p:nvSpPr>
          <p:cNvPr id="70660" name="日期占位符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268C09C3-F7F0-4E0D-8A62-28CB4E743512}" type="datetime1">
              <a:rPr lang="zh-CN" altLang="en-US" smtClean="0"/>
              <a:pPr eaLnBrk="1" hangingPunct="1"/>
              <a:t>2017/2/24</a:t>
            </a:fld>
            <a:endParaRPr lang="en-US" altLang="zh-CN" smtClean="0"/>
          </a:p>
        </p:txBody>
      </p:sp>
      <p:sp>
        <p:nvSpPr>
          <p:cNvPr id="70661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CD3565E6-F873-4622-805F-FD7CFF122D6F}" type="slidenum">
              <a:rPr lang="zh-CN" altLang="en-US" smtClean="0"/>
              <a:pPr eaLnBrk="1" hangingPunct="1"/>
              <a:t>58</a:t>
            </a:fld>
            <a:endParaRPr lang="en-US" altLang="zh-CN" smtClean="0"/>
          </a:p>
        </p:txBody>
      </p:sp>
      <p:sp>
        <p:nvSpPr>
          <p:cNvPr id="376836" name="Rectangle 4"/>
          <p:cNvSpPr>
            <a:spLocks noChangeArrowheads="1"/>
          </p:cNvSpPr>
          <p:nvPr/>
        </p:nvSpPr>
        <p:spPr bwMode="auto">
          <a:xfrm>
            <a:off x="1187450" y="4508500"/>
            <a:ext cx="7772400" cy="180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indent="-342900">
              <a:lnSpc>
                <a:spcPct val="8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zh-CN" altLang="en-US" sz="2800" b="1">
                <a:latin typeface="Times New Roman" pitchFamily="18" charset="0"/>
                <a:ea typeface="华文新魏" pitchFamily="2" charset="-122"/>
              </a:rPr>
              <a:t>考察</a:t>
            </a:r>
          </a:p>
          <a:p>
            <a:pPr marL="342900" indent="-342900">
              <a:lnSpc>
                <a:spcPct val="8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</a:pPr>
            <a:r>
              <a:rPr lang="en-US" altLang="zh-CN" sz="2800" b="1">
                <a:latin typeface="Times New Roman" pitchFamily="18" charset="0"/>
                <a:ea typeface="华文新魏" pitchFamily="2" charset="-122"/>
              </a:rPr>
              <a:t>E' :   + </a:t>
            </a:r>
            <a:r>
              <a:rPr lang="zh-CN" altLang="en-US" sz="2800" b="1">
                <a:latin typeface="Times New Roman" pitchFamily="18" charset="0"/>
                <a:ea typeface="华文新魏" pitchFamily="2" charset="-122"/>
              </a:rPr>
              <a:t>不在 </a:t>
            </a:r>
            <a:r>
              <a:rPr lang="en-US" altLang="zh-CN" sz="2800" b="1">
                <a:latin typeface="Times New Roman" pitchFamily="18" charset="0"/>
                <a:ea typeface="华文新魏" pitchFamily="2" charset="-122"/>
              </a:rPr>
              <a:t>FOLLOW( E' ) = { ), # }</a:t>
            </a:r>
          </a:p>
          <a:p>
            <a:pPr marL="342900" indent="-342900">
              <a:lnSpc>
                <a:spcPct val="8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</a:pPr>
            <a:r>
              <a:rPr lang="en-US" altLang="zh-CN" sz="2800" b="1">
                <a:latin typeface="Times New Roman" pitchFamily="18" charset="0"/>
                <a:ea typeface="华文新魏" pitchFamily="2" charset="-122"/>
              </a:rPr>
              <a:t>T' :   * </a:t>
            </a:r>
            <a:r>
              <a:rPr lang="zh-CN" altLang="en-US" sz="2800" b="1">
                <a:latin typeface="Times New Roman" pitchFamily="18" charset="0"/>
                <a:ea typeface="华文新魏" pitchFamily="2" charset="-122"/>
              </a:rPr>
              <a:t>不在 </a:t>
            </a:r>
            <a:r>
              <a:rPr lang="en-US" altLang="zh-CN" sz="2800" b="1">
                <a:latin typeface="Times New Roman" pitchFamily="18" charset="0"/>
                <a:ea typeface="华文新魏" pitchFamily="2" charset="-122"/>
              </a:rPr>
              <a:t>FOLLOW( T' ) = { +, ), # }</a:t>
            </a:r>
          </a:p>
          <a:p>
            <a:pPr marL="342900" indent="-342900">
              <a:lnSpc>
                <a:spcPct val="8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</a:pPr>
            <a:r>
              <a:rPr lang="en-US" altLang="zh-CN" sz="2800" b="1">
                <a:latin typeface="Times New Roman" pitchFamily="18" charset="0"/>
                <a:ea typeface="华文新魏" pitchFamily="2" charset="-122"/>
              </a:rPr>
              <a:t>F:     ( </a:t>
            </a:r>
            <a:r>
              <a:rPr lang="zh-CN" altLang="zh-CN" sz="2800" b="1">
                <a:latin typeface="Times New Roman" pitchFamily="18" charset="0"/>
                <a:ea typeface="华文新魏" pitchFamily="2" charset="-122"/>
              </a:rPr>
              <a:t>和 </a:t>
            </a:r>
            <a:r>
              <a:rPr lang="en-US" altLang="zh-CN" sz="2800" b="1">
                <a:latin typeface="Times New Roman" pitchFamily="18" charset="0"/>
                <a:ea typeface="华文新魏" pitchFamily="2" charset="-122"/>
              </a:rPr>
              <a:t>id </a:t>
            </a:r>
            <a:r>
              <a:rPr lang="zh-CN" altLang="en-US" sz="2800" b="1">
                <a:latin typeface="Times New Roman" pitchFamily="18" charset="0"/>
                <a:ea typeface="华文新魏" pitchFamily="2" charset="-122"/>
              </a:rPr>
              <a:t>不同</a:t>
            </a:r>
            <a:endParaRPr lang="en-US" altLang="zh-CN" sz="2800" b="1">
              <a:latin typeface="Times New Roman" pitchFamily="18" charset="0"/>
              <a:ea typeface="华文新魏" pitchFamily="2" charset="-122"/>
            </a:endParaRPr>
          </a:p>
        </p:txBody>
      </p:sp>
      <p:sp>
        <p:nvSpPr>
          <p:cNvPr id="376837" name="Rectangle 5"/>
          <p:cNvSpPr>
            <a:spLocks noChangeArrowheads="1"/>
          </p:cNvSpPr>
          <p:nvPr/>
        </p:nvSpPr>
        <p:spPr bwMode="auto">
          <a:xfrm>
            <a:off x="4572000" y="2492375"/>
            <a:ext cx="4284663" cy="2089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80000"/>
              </a:lnSpc>
              <a:spcBef>
                <a:spcPct val="5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zh-CN" altLang="en-US" sz="3200" b="1">
                <a:solidFill>
                  <a:schemeClr val="hlink"/>
                </a:solidFill>
                <a:latin typeface="Times New Roman" pitchFamily="18" charset="0"/>
                <a:ea typeface="华文新魏" pitchFamily="2" charset="-122"/>
              </a:rPr>
              <a:t>为什么只考虑所列的</a:t>
            </a:r>
            <a:r>
              <a:rPr lang="en-US" altLang="zh-CN" sz="3200" b="1">
                <a:solidFill>
                  <a:schemeClr val="hlink"/>
                </a:solidFill>
                <a:latin typeface="Times New Roman" pitchFamily="18" charset="0"/>
                <a:ea typeface="华文新魏" pitchFamily="2" charset="-122"/>
              </a:rPr>
              <a:t>3</a:t>
            </a:r>
            <a:r>
              <a:rPr lang="zh-CN" altLang="en-US" sz="3200" b="1">
                <a:solidFill>
                  <a:schemeClr val="hlink"/>
                </a:solidFill>
                <a:latin typeface="Times New Roman" pitchFamily="18" charset="0"/>
                <a:ea typeface="华文新魏" pitchFamily="2" charset="-122"/>
              </a:rPr>
              <a:t>个变量？</a:t>
            </a:r>
          </a:p>
          <a:p>
            <a:pPr>
              <a:lnSpc>
                <a:spcPct val="80000"/>
              </a:lnSpc>
              <a:spcBef>
                <a:spcPct val="5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zh-CN" altLang="en-US" sz="3200" b="1">
                <a:solidFill>
                  <a:schemeClr val="hlink"/>
                </a:solidFill>
                <a:latin typeface="Times New Roman" pitchFamily="18" charset="0"/>
                <a:ea typeface="华文新魏" pitchFamily="2" charset="-122"/>
              </a:rPr>
              <a:t>分析时只在这</a:t>
            </a:r>
            <a:r>
              <a:rPr lang="en-US" altLang="zh-CN" sz="3200" b="1">
                <a:solidFill>
                  <a:schemeClr val="hlink"/>
                </a:solidFill>
                <a:latin typeface="Times New Roman" pitchFamily="18" charset="0"/>
                <a:ea typeface="华文新魏" pitchFamily="2" charset="-122"/>
              </a:rPr>
              <a:t>3</a:t>
            </a:r>
            <a:r>
              <a:rPr lang="zh-CN" altLang="en-US" sz="3200" b="1">
                <a:solidFill>
                  <a:schemeClr val="hlink"/>
                </a:solidFill>
                <a:latin typeface="Times New Roman" pitchFamily="18" charset="0"/>
                <a:ea typeface="华文新魏" pitchFamily="2" charset="-122"/>
              </a:rPr>
              <a:t>个变量的派生时才做此判断？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538" name="Rectangle 2"/>
          <p:cNvSpPr>
            <a:spLocks noGrp="1" noChangeArrowheads="1"/>
          </p:cNvSpPr>
          <p:nvPr>
            <p:ph type="title"/>
          </p:nvPr>
        </p:nvSpPr>
        <p:spPr>
          <a:xfrm>
            <a:off x="3924300" y="533400"/>
            <a:ext cx="4679950" cy="2103438"/>
          </a:xfrm>
          <a:solidFill>
            <a:srgbClr val="006666"/>
          </a:solidFill>
        </p:spPr>
        <p:txBody>
          <a:bodyPr lIns="92075" tIns="46038" rIns="92075" bIns="46038"/>
          <a:lstStyle/>
          <a:p>
            <a:pPr eaLnBrk="1" hangingPunct="1">
              <a:defRPr/>
            </a:pPr>
            <a:r>
              <a:rPr lang="zh-CN" altLang="en-US" sz="3200" b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华文新魏" pitchFamily="2" charset="-122"/>
              </a:rPr>
              <a:t>此文法不满足</a:t>
            </a:r>
            <a:r>
              <a:rPr lang="en-US" altLang="zh-CN" sz="3200" b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华文新魏" pitchFamily="2" charset="-122"/>
              </a:rPr>
              <a:t>LL(1)</a:t>
            </a:r>
            <a:r>
              <a:rPr lang="zh-CN" altLang="en-US" sz="3200" b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华文新魏" pitchFamily="2" charset="-122"/>
              </a:rPr>
              <a:t>文法的条件，不能保证分析的每一步是确定的，这就是非 </a:t>
            </a:r>
            <a:r>
              <a:rPr lang="en-US" altLang="zh-CN" sz="3200" b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华文新魏" pitchFamily="2" charset="-122"/>
              </a:rPr>
              <a:t>LL(1)</a:t>
            </a:r>
            <a:r>
              <a:rPr lang="zh-CN" altLang="en-US" sz="3200" b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华文新魏" pitchFamily="2" charset="-122"/>
              </a:rPr>
              <a:t>文法的不确定性</a:t>
            </a:r>
            <a:endParaRPr lang="zh-CN" altLang="en-US" sz="3200" b="1">
              <a:solidFill>
                <a:schemeClr val="bg1"/>
              </a:solidFill>
              <a:latin typeface="Times New Roman" pitchFamily="18" charset="0"/>
              <a:ea typeface="华文新魏" pitchFamily="2" charset="-122"/>
            </a:endParaRPr>
          </a:p>
        </p:txBody>
      </p:sp>
      <p:sp>
        <p:nvSpPr>
          <p:cNvPr id="71683" name="Rectangle 3"/>
          <p:cNvSpPr>
            <a:spLocks noGrp="1" noChangeArrowheads="1"/>
          </p:cNvSpPr>
          <p:nvPr>
            <p:ph idx="1"/>
          </p:nvPr>
        </p:nvSpPr>
        <p:spPr>
          <a:xfrm>
            <a:off x="900113" y="1989138"/>
            <a:ext cx="3240087" cy="4419600"/>
          </a:xfrm>
        </p:spPr>
        <p:txBody>
          <a:bodyPr lIns="92075" tIns="46038" rIns="92075" bIns="46038"/>
          <a:lstStyle/>
          <a:p>
            <a:pPr eaLnBrk="1" hangingPunct="1">
              <a:buFont typeface="Wingdings" pitchFamily="2" charset="2"/>
              <a:buNone/>
            </a:pP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例 对文法</a:t>
            </a:r>
          </a:p>
          <a:p>
            <a:pPr eaLnBrk="1" hangingPunct="1"/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S→cAd</a:t>
            </a:r>
          </a:p>
          <a:p>
            <a:pPr eaLnBrk="1" hangingPunct="1"/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A→ab|a      </a:t>
            </a:r>
          </a:p>
          <a:p>
            <a:pPr eaLnBrk="1" hangingPunct="1">
              <a:buFont typeface="Wingdings" pitchFamily="2" charset="2"/>
              <a:buNone/>
            </a:pP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输入 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cad </a:t>
            </a: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的分析</a:t>
            </a:r>
          </a:p>
          <a:p>
            <a:pPr eaLnBrk="1" hangingPunct="1">
              <a:buFont typeface="Wingdings" pitchFamily="2" charset="2"/>
              <a:buNone/>
            </a:pPr>
            <a:endParaRPr lang="zh-CN" altLang="en-US" b="1" smtClean="0">
              <a:latin typeface="Times New Roman" pitchFamily="18" charset="0"/>
              <a:ea typeface="华文新魏" pitchFamily="2" charset="-122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FIRST(ab)={a}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FIRST(a)={a}</a:t>
            </a:r>
          </a:p>
        </p:txBody>
      </p:sp>
      <p:sp>
        <p:nvSpPr>
          <p:cNvPr id="71684" name="日期占位符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786E3942-2428-4550-9225-9C0318D9D98A}" type="datetime1">
              <a:rPr lang="zh-CN" altLang="en-US" smtClean="0"/>
              <a:pPr eaLnBrk="1" hangingPunct="1"/>
              <a:t>2017/2/24</a:t>
            </a:fld>
            <a:endParaRPr lang="en-US" altLang="zh-CN" smtClean="0"/>
          </a:p>
        </p:txBody>
      </p:sp>
      <p:sp>
        <p:nvSpPr>
          <p:cNvPr id="71685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2594A2FB-E626-4441-BC5A-AE168CCB8AC3}" type="slidenum">
              <a:rPr lang="zh-CN" altLang="en-US" smtClean="0"/>
              <a:pPr eaLnBrk="1" hangingPunct="1"/>
              <a:t>59</a:t>
            </a:fld>
            <a:endParaRPr lang="en-US" altLang="zh-CN" smtClean="0"/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3775075" y="2667000"/>
            <a:ext cx="2743200" cy="3228975"/>
            <a:chOff x="288" y="1824"/>
            <a:chExt cx="1728" cy="2034"/>
          </a:xfrm>
        </p:grpSpPr>
        <p:grpSp>
          <p:nvGrpSpPr>
            <p:cNvPr id="71698" name="Group 5"/>
            <p:cNvGrpSpPr>
              <a:grpSpLocks/>
            </p:cNvGrpSpPr>
            <p:nvPr/>
          </p:nvGrpSpPr>
          <p:grpSpPr bwMode="auto">
            <a:xfrm>
              <a:off x="288" y="1824"/>
              <a:ext cx="1728" cy="2034"/>
              <a:chOff x="288" y="1824"/>
              <a:chExt cx="1728" cy="2034"/>
            </a:xfrm>
          </p:grpSpPr>
          <p:sp>
            <p:nvSpPr>
              <p:cNvPr id="321542" name="Text Box 6"/>
              <p:cNvSpPr txBox="1">
                <a:spLocks noChangeArrowheads="1"/>
              </p:cNvSpPr>
              <p:nvPr/>
            </p:nvSpPr>
            <p:spPr bwMode="auto">
              <a:xfrm>
                <a:off x="912" y="1824"/>
                <a:ext cx="480" cy="35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lIns="92075" tIns="46038" rIns="92075" bIns="46038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9pPr>
              </a:lstStyle>
              <a:p>
                <a:pPr>
                  <a:lnSpc>
                    <a:spcPct val="110000"/>
                  </a:lnSpc>
                  <a:spcBef>
                    <a:spcPct val="50000"/>
                  </a:spcBef>
                  <a:buClr>
                    <a:schemeClr val="folHlink"/>
                  </a:buClr>
                  <a:buSzPct val="75000"/>
                  <a:buFont typeface="Monotype Sorts" pitchFamily="2" charset="2"/>
                  <a:buNone/>
                </a:pPr>
                <a:r>
                  <a:rPr kumimoji="1" lang="en-US" altLang="zh-CN" sz="2800" b="1">
                    <a:solidFill>
                      <a:srgbClr val="000099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itchFamily="18" charset="0"/>
                  </a:rPr>
                  <a:t>S</a:t>
                </a:r>
              </a:p>
            </p:txBody>
          </p:sp>
          <p:sp>
            <p:nvSpPr>
              <p:cNvPr id="321543" name="Text Box 7"/>
              <p:cNvSpPr txBox="1">
                <a:spLocks noChangeArrowheads="1"/>
              </p:cNvSpPr>
              <p:nvPr/>
            </p:nvSpPr>
            <p:spPr bwMode="auto">
              <a:xfrm>
                <a:off x="1536" y="2736"/>
                <a:ext cx="480" cy="35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lIns="92075" tIns="46038" rIns="92075" bIns="46038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9pPr>
              </a:lstStyle>
              <a:p>
                <a:pPr>
                  <a:lnSpc>
                    <a:spcPct val="110000"/>
                  </a:lnSpc>
                  <a:spcBef>
                    <a:spcPct val="50000"/>
                  </a:spcBef>
                  <a:buClr>
                    <a:schemeClr val="folHlink"/>
                  </a:buClr>
                  <a:buSzPct val="75000"/>
                  <a:buFont typeface="Monotype Sorts" pitchFamily="2" charset="2"/>
                  <a:buNone/>
                </a:pPr>
                <a:r>
                  <a:rPr kumimoji="1" lang="en-US" altLang="zh-CN" sz="2800" b="1">
                    <a:solidFill>
                      <a:srgbClr val="000099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itchFamily="18" charset="0"/>
                  </a:rPr>
                  <a:t>d</a:t>
                </a:r>
              </a:p>
            </p:txBody>
          </p:sp>
          <p:sp>
            <p:nvSpPr>
              <p:cNvPr id="321544" name="Text Box 8"/>
              <p:cNvSpPr txBox="1">
                <a:spLocks noChangeArrowheads="1"/>
              </p:cNvSpPr>
              <p:nvPr/>
            </p:nvSpPr>
            <p:spPr bwMode="auto">
              <a:xfrm>
                <a:off x="288" y="2736"/>
                <a:ext cx="480" cy="35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lIns="92075" tIns="46038" rIns="92075" bIns="46038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9pPr>
              </a:lstStyle>
              <a:p>
                <a:pPr>
                  <a:lnSpc>
                    <a:spcPct val="110000"/>
                  </a:lnSpc>
                  <a:spcBef>
                    <a:spcPct val="50000"/>
                  </a:spcBef>
                  <a:buClr>
                    <a:schemeClr val="folHlink"/>
                  </a:buClr>
                  <a:buSzPct val="75000"/>
                  <a:buFont typeface="Monotype Sorts" pitchFamily="2" charset="2"/>
                  <a:buNone/>
                </a:pPr>
                <a:r>
                  <a:rPr kumimoji="1" lang="en-US" altLang="zh-CN" sz="2800" b="1">
                    <a:solidFill>
                      <a:srgbClr val="000099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itchFamily="18" charset="0"/>
                  </a:rPr>
                  <a:t>c</a:t>
                </a:r>
              </a:p>
            </p:txBody>
          </p:sp>
          <p:sp>
            <p:nvSpPr>
              <p:cNvPr id="321545" name="Text Box 9"/>
              <p:cNvSpPr txBox="1">
                <a:spLocks noChangeArrowheads="1"/>
              </p:cNvSpPr>
              <p:nvPr/>
            </p:nvSpPr>
            <p:spPr bwMode="auto">
              <a:xfrm>
                <a:off x="864" y="2736"/>
                <a:ext cx="480" cy="35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lIns="92075" tIns="46038" rIns="92075" bIns="46038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9pPr>
              </a:lstStyle>
              <a:p>
                <a:pPr>
                  <a:lnSpc>
                    <a:spcPct val="110000"/>
                  </a:lnSpc>
                  <a:spcBef>
                    <a:spcPct val="50000"/>
                  </a:spcBef>
                  <a:buClr>
                    <a:schemeClr val="folHlink"/>
                  </a:buClr>
                  <a:buSzPct val="75000"/>
                  <a:buFont typeface="Monotype Sorts" pitchFamily="2" charset="2"/>
                  <a:buNone/>
                </a:pPr>
                <a:r>
                  <a:rPr kumimoji="1" lang="en-US" altLang="zh-CN" sz="2800" b="1">
                    <a:solidFill>
                      <a:srgbClr val="000099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itchFamily="18" charset="0"/>
                  </a:rPr>
                  <a:t>A</a:t>
                </a:r>
              </a:p>
            </p:txBody>
          </p:sp>
          <p:sp>
            <p:nvSpPr>
              <p:cNvPr id="321546" name="Text Box 10"/>
              <p:cNvSpPr txBox="1">
                <a:spLocks noChangeArrowheads="1"/>
              </p:cNvSpPr>
              <p:nvPr/>
            </p:nvSpPr>
            <p:spPr bwMode="auto">
              <a:xfrm>
                <a:off x="1200" y="3504"/>
                <a:ext cx="480" cy="35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lIns="92075" tIns="46038" rIns="92075" bIns="46038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9pPr>
              </a:lstStyle>
              <a:p>
                <a:pPr>
                  <a:lnSpc>
                    <a:spcPct val="110000"/>
                  </a:lnSpc>
                  <a:spcBef>
                    <a:spcPct val="50000"/>
                  </a:spcBef>
                  <a:buClr>
                    <a:schemeClr val="folHlink"/>
                  </a:buClr>
                  <a:buSzPct val="75000"/>
                  <a:buFont typeface="Monotype Sorts" pitchFamily="2" charset="2"/>
                  <a:buNone/>
                </a:pPr>
                <a:r>
                  <a:rPr kumimoji="1" lang="en-US" altLang="zh-CN" sz="2800" b="1">
                    <a:solidFill>
                      <a:srgbClr val="000099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itchFamily="18" charset="0"/>
                  </a:rPr>
                  <a:t>b</a:t>
                </a:r>
              </a:p>
            </p:txBody>
          </p:sp>
          <p:sp>
            <p:nvSpPr>
              <p:cNvPr id="321547" name="Text Box 11"/>
              <p:cNvSpPr txBox="1">
                <a:spLocks noChangeArrowheads="1"/>
              </p:cNvSpPr>
              <p:nvPr/>
            </p:nvSpPr>
            <p:spPr bwMode="auto">
              <a:xfrm>
                <a:off x="480" y="3504"/>
                <a:ext cx="480" cy="35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lIns="92075" tIns="46038" rIns="92075" bIns="46038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9pPr>
              </a:lstStyle>
              <a:p>
                <a:pPr>
                  <a:lnSpc>
                    <a:spcPct val="110000"/>
                  </a:lnSpc>
                  <a:spcBef>
                    <a:spcPct val="50000"/>
                  </a:spcBef>
                  <a:buClr>
                    <a:schemeClr val="folHlink"/>
                  </a:buClr>
                  <a:buSzPct val="75000"/>
                  <a:buFont typeface="Monotype Sorts" pitchFamily="2" charset="2"/>
                  <a:buNone/>
                </a:pPr>
                <a:r>
                  <a:rPr kumimoji="1" lang="en-US" altLang="zh-CN" sz="2800" b="1">
                    <a:solidFill>
                      <a:srgbClr val="000099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itchFamily="18" charset="0"/>
                  </a:rPr>
                  <a:t>a</a:t>
                </a:r>
              </a:p>
            </p:txBody>
          </p:sp>
        </p:grpSp>
        <p:sp>
          <p:nvSpPr>
            <p:cNvPr id="71699" name="Line 12"/>
            <p:cNvSpPr>
              <a:spLocks noChangeShapeType="1"/>
            </p:cNvSpPr>
            <p:nvPr/>
          </p:nvSpPr>
          <p:spPr bwMode="auto">
            <a:xfrm flipH="1">
              <a:off x="432" y="2112"/>
              <a:ext cx="576" cy="81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2075" tIns="46038" rIns="92075" bIns="46038"/>
            <a:lstStyle/>
            <a:p>
              <a:endParaRPr lang="zh-CN" altLang="en-US"/>
            </a:p>
          </p:txBody>
        </p:sp>
        <p:sp>
          <p:nvSpPr>
            <p:cNvPr id="71700" name="Line 13"/>
            <p:cNvSpPr>
              <a:spLocks noChangeShapeType="1"/>
            </p:cNvSpPr>
            <p:nvPr/>
          </p:nvSpPr>
          <p:spPr bwMode="auto">
            <a:xfrm flipH="1">
              <a:off x="1008" y="2160"/>
              <a:ext cx="0" cy="76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2075" tIns="46038" rIns="92075" bIns="46038"/>
            <a:lstStyle/>
            <a:p>
              <a:endParaRPr lang="zh-CN" altLang="en-US"/>
            </a:p>
          </p:txBody>
        </p:sp>
        <p:sp>
          <p:nvSpPr>
            <p:cNvPr id="71701" name="Line 14"/>
            <p:cNvSpPr>
              <a:spLocks noChangeShapeType="1"/>
            </p:cNvSpPr>
            <p:nvPr/>
          </p:nvSpPr>
          <p:spPr bwMode="auto">
            <a:xfrm>
              <a:off x="1056" y="2112"/>
              <a:ext cx="576" cy="76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2075" tIns="46038" rIns="92075" bIns="46038"/>
            <a:lstStyle/>
            <a:p>
              <a:endParaRPr lang="zh-CN" altLang="en-US"/>
            </a:p>
          </p:txBody>
        </p:sp>
        <p:sp>
          <p:nvSpPr>
            <p:cNvPr id="71702" name="Line 15"/>
            <p:cNvSpPr>
              <a:spLocks noChangeShapeType="1"/>
            </p:cNvSpPr>
            <p:nvPr/>
          </p:nvSpPr>
          <p:spPr bwMode="auto">
            <a:xfrm>
              <a:off x="1008" y="3072"/>
              <a:ext cx="240" cy="62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2075" tIns="46038" rIns="92075" bIns="46038"/>
            <a:lstStyle/>
            <a:p>
              <a:endParaRPr lang="zh-CN" altLang="en-US"/>
            </a:p>
          </p:txBody>
        </p:sp>
        <p:sp>
          <p:nvSpPr>
            <p:cNvPr id="71703" name="Line 16"/>
            <p:cNvSpPr>
              <a:spLocks noChangeShapeType="1"/>
            </p:cNvSpPr>
            <p:nvPr/>
          </p:nvSpPr>
          <p:spPr bwMode="auto">
            <a:xfrm flipH="1">
              <a:off x="576" y="3024"/>
              <a:ext cx="384" cy="72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2075" tIns="46038" rIns="92075" bIns="46038"/>
            <a:lstStyle/>
            <a:p>
              <a:endParaRPr lang="zh-CN" altLang="en-US"/>
            </a:p>
          </p:txBody>
        </p:sp>
      </p:grpSp>
      <p:grpSp>
        <p:nvGrpSpPr>
          <p:cNvPr id="4" name="Group 17"/>
          <p:cNvGrpSpPr>
            <a:grpSpLocks/>
          </p:cNvGrpSpPr>
          <p:nvPr/>
        </p:nvGrpSpPr>
        <p:grpSpPr bwMode="auto">
          <a:xfrm>
            <a:off x="6508750" y="2743200"/>
            <a:ext cx="2743200" cy="3152775"/>
            <a:chOff x="3264" y="1872"/>
            <a:chExt cx="1728" cy="1986"/>
          </a:xfrm>
        </p:grpSpPr>
        <p:grpSp>
          <p:nvGrpSpPr>
            <p:cNvPr id="71688" name="Group 18"/>
            <p:cNvGrpSpPr>
              <a:grpSpLocks/>
            </p:cNvGrpSpPr>
            <p:nvPr/>
          </p:nvGrpSpPr>
          <p:grpSpPr bwMode="auto">
            <a:xfrm>
              <a:off x="3264" y="1872"/>
              <a:ext cx="1728" cy="1986"/>
              <a:chOff x="3264" y="1872"/>
              <a:chExt cx="1728" cy="1986"/>
            </a:xfrm>
          </p:grpSpPr>
          <p:sp>
            <p:nvSpPr>
              <p:cNvPr id="321555" name="Text Box 19"/>
              <p:cNvSpPr txBox="1">
                <a:spLocks noChangeArrowheads="1"/>
              </p:cNvSpPr>
              <p:nvPr/>
            </p:nvSpPr>
            <p:spPr bwMode="auto">
              <a:xfrm>
                <a:off x="3888" y="1872"/>
                <a:ext cx="480" cy="35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lIns="92075" tIns="46038" rIns="92075" bIns="46038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9pPr>
              </a:lstStyle>
              <a:p>
                <a:pPr>
                  <a:lnSpc>
                    <a:spcPct val="110000"/>
                  </a:lnSpc>
                  <a:spcBef>
                    <a:spcPct val="50000"/>
                  </a:spcBef>
                  <a:buClr>
                    <a:schemeClr val="folHlink"/>
                  </a:buClr>
                  <a:buSzPct val="75000"/>
                  <a:buFont typeface="Monotype Sorts" pitchFamily="2" charset="2"/>
                  <a:buNone/>
                </a:pPr>
                <a:r>
                  <a:rPr kumimoji="1" lang="en-US" altLang="zh-CN" sz="2800" b="1">
                    <a:solidFill>
                      <a:srgbClr val="000099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宋体" pitchFamily="2" charset="-122"/>
                  </a:rPr>
                  <a:t>S</a:t>
                </a:r>
              </a:p>
            </p:txBody>
          </p:sp>
          <p:sp>
            <p:nvSpPr>
              <p:cNvPr id="321556" name="Text Box 20"/>
              <p:cNvSpPr txBox="1">
                <a:spLocks noChangeArrowheads="1"/>
              </p:cNvSpPr>
              <p:nvPr/>
            </p:nvSpPr>
            <p:spPr bwMode="auto">
              <a:xfrm>
                <a:off x="4512" y="2784"/>
                <a:ext cx="480" cy="35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lIns="92075" tIns="46038" rIns="92075" bIns="46038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9pPr>
              </a:lstStyle>
              <a:p>
                <a:pPr>
                  <a:lnSpc>
                    <a:spcPct val="110000"/>
                  </a:lnSpc>
                  <a:spcBef>
                    <a:spcPct val="50000"/>
                  </a:spcBef>
                  <a:buClr>
                    <a:schemeClr val="folHlink"/>
                  </a:buClr>
                  <a:buSzPct val="75000"/>
                  <a:buFont typeface="Monotype Sorts" pitchFamily="2" charset="2"/>
                  <a:buNone/>
                </a:pPr>
                <a:r>
                  <a:rPr kumimoji="1" lang="en-US" altLang="zh-CN" sz="2800" b="1">
                    <a:solidFill>
                      <a:srgbClr val="000099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宋体" pitchFamily="2" charset="-122"/>
                  </a:rPr>
                  <a:t>d</a:t>
                </a:r>
              </a:p>
            </p:txBody>
          </p:sp>
          <p:sp>
            <p:nvSpPr>
              <p:cNvPr id="321557" name="Text Box 21"/>
              <p:cNvSpPr txBox="1">
                <a:spLocks noChangeArrowheads="1"/>
              </p:cNvSpPr>
              <p:nvPr/>
            </p:nvSpPr>
            <p:spPr bwMode="auto">
              <a:xfrm>
                <a:off x="3264" y="2784"/>
                <a:ext cx="480" cy="35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lIns="92075" tIns="46038" rIns="92075" bIns="46038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9pPr>
              </a:lstStyle>
              <a:p>
                <a:pPr>
                  <a:lnSpc>
                    <a:spcPct val="110000"/>
                  </a:lnSpc>
                  <a:spcBef>
                    <a:spcPct val="50000"/>
                  </a:spcBef>
                  <a:buClr>
                    <a:schemeClr val="folHlink"/>
                  </a:buClr>
                  <a:buSzPct val="75000"/>
                  <a:buFont typeface="Monotype Sorts" pitchFamily="2" charset="2"/>
                  <a:buNone/>
                </a:pPr>
                <a:r>
                  <a:rPr kumimoji="1" lang="en-US" altLang="zh-CN" sz="2800" b="1">
                    <a:solidFill>
                      <a:srgbClr val="000099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宋体" pitchFamily="2" charset="-122"/>
                  </a:rPr>
                  <a:t>c</a:t>
                </a:r>
              </a:p>
            </p:txBody>
          </p:sp>
          <p:sp>
            <p:nvSpPr>
              <p:cNvPr id="321558" name="Text Box 22"/>
              <p:cNvSpPr txBox="1">
                <a:spLocks noChangeArrowheads="1"/>
              </p:cNvSpPr>
              <p:nvPr/>
            </p:nvSpPr>
            <p:spPr bwMode="auto">
              <a:xfrm>
                <a:off x="3840" y="2784"/>
                <a:ext cx="480" cy="35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lIns="92075" tIns="46038" rIns="92075" bIns="46038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9pPr>
              </a:lstStyle>
              <a:p>
                <a:pPr>
                  <a:lnSpc>
                    <a:spcPct val="110000"/>
                  </a:lnSpc>
                  <a:spcBef>
                    <a:spcPct val="50000"/>
                  </a:spcBef>
                  <a:buClr>
                    <a:schemeClr val="folHlink"/>
                  </a:buClr>
                  <a:buSzPct val="75000"/>
                  <a:buFont typeface="Monotype Sorts" pitchFamily="2" charset="2"/>
                  <a:buNone/>
                </a:pPr>
                <a:r>
                  <a:rPr kumimoji="1" lang="en-US" altLang="zh-CN" sz="2800" b="1">
                    <a:solidFill>
                      <a:srgbClr val="000099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宋体" pitchFamily="2" charset="-122"/>
                  </a:rPr>
                  <a:t>A</a:t>
                </a:r>
              </a:p>
            </p:txBody>
          </p:sp>
          <p:sp>
            <p:nvSpPr>
              <p:cNvPr id="321559" name="Text Box 23"/>
              <p:cNvSpPr txBox="1">
                <a:spLocks noChangeArrowheads="1"/>
              </p:cNvSpPr>
              <p:nvPr/>
            </p:nvSpPr>
            <p:spPr bwMode="auto">
              <a:xfrm>
                <a:off x="3840" y="3504"/>
                <a:ext cx="480" cy="35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lIns="92075" tIns="46038" rIns="92075" bIns="46038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9pPr>
              </a:lstStyle>
              <a:p>
                <a:pPr>
                  <a:lnSpc>
                    <a:spcPct val="110000"/>
                  </a:lnSpc>
                  <a:spcBef>
                    <a:spcPct val="50000"/>
                  </a:spcBef>
                  <a:buClr>
                    <a:schemeClr val="folHlink"/>
                  </a:buClr>
                  <a:buSzPct val="75000"/>
                  <a:buFont typeface="Monotype Sorts" pitchFamily="2" charset="2"/>
                  <a:buNone/>
                </a:pPr>
                <a:r>
                  <a:rPr kumimoji="1" lang="en-US" altLang="zh-CN" sz="2800" b="1">
                    <a:solidFill>
                      <a:srgbClr val="000099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宋体" pitchFamily="2" charset="-122"/>
                  </a:rPr>
                  <a:t>a</a:t>
                </a:r>
              </a:p>
            </p:txBody>
          </p:sp>
        </p:grpSp>
        <p:sp>
          <p:nvSpPr>
            <p:cNvPr id="71689" name="Line 24"/>
            <p:cNvSpPr>
              <a:spLocks noChangeShapeType="1"/>
            </p:cNvSpPr>
            <p:nvPr/>
          </p:nvSpPr>
          <p:spPr bwMode="auto">
            <a:xfrm flipH="1">
              <a:off x="3408" y="2160"/>
              <a:ext cx="576" cy="81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2075" tIns="46038" rIns="92075" bIns="46038"/>
            <a:lstStyle/>
            <a:p>
              <a:endParaRPr lang="zh-CN" altLang="en-US"/>
            </a:p>
          </p:txBody>
        </p:sp>
        <p:sp>
          <p:nvSpPr>
            <p:cNvPr id="71690" name="Line 25"/>
            <p:cNvSpPr>
              <a:spLocks noChangeShapeType="1"/>
            </p:cNvSpPr>
            <p:nvPr/>
          </p:nvSpPr>
          <p:spPr bwMode="auto">
            <a:xfrm flipH="1">
              <a:off x="3984" y="2208"/>
              <a:ext cx="0" cy="76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2075" tIns="46038" rIns="92075" bIns="46038"/>
            <a:lstStyle/>
            <a:p>
              <a:endParaRPr lang="zh-CN" altLang="en-US"/>
            </a:p>
          </p:txBody>
        </p:sp>
        <p:sp>
          <p:nvSpPr>
            <p:cNvPr id="71691" name="Line 26"/>
            <p:cNvSpPr>
              <a:spLocks noChangeShapeType="1"/>
            </p:cNvSpPr>
            <p:nvPr/>
          </p:nvSpPr>
          <p:spPr bwMode="auto">
            <a:xfrm>
              <a:off x="4032" y="2160"/>
              <a:ext cx="576" cy="76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2075" tIns="46038" rIns="92075" bIns="46038"/>
            <a:lstStyle/>
            <a:p>
              <a:endParaRPr lang="zh-CN" altLang="en-US"/>
            </a:p>
          </p:txBody>
        </p:sp>
        <p:sp>
          <p:nvSpPr>
            <p:cNvPr id="71692" name="Line 27"/>
            <p:cNvSpPr>
              <a:spLocks noChangeShapeType="1"/>
            </p:cNvSpPr>
            <p:nvPr/>
          </p:nvSpPr>
          <p:spPr bwMode="auto">
            <a:xfrm flipH="1">
              <a:off x="3984" y="3072"/>
              <a:ext cx="0" cy="57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2075" tIns="46038" rIns="92075" bIns="46038"/>
            <a:lstStyle/>
            <a:p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215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1538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800" name="Rectangle 32"/>
          <p:cNvSpPr>
            <a:spLocks noGrp="1" noRot="1" noChangeArrowheads="1"/>
          </p:cNvSpPr>
          <p:nvPr>
            <p:ph type="title"/>
          </p:nvPr>
        </p:nvSpPr>
        <p:spPr>
          <a:xfrm>
            <a:off x="3924300" y="765175"/>
            <a:ext cx="4679950" cy="1598613"/>
          </a:xfrm>
          <a:solidFill>
            <a:srgbClr val="006666"/>
          </a:solidFill>
        </p:spPr>
        <p:txBody>
          <a:bodyPr lIns="92075" tIns="46038" rIns="92075" bIns="46038"/>
          <a:lstStyle/>
          <a:p>
            <a:pPr eaLnBrk="1" hangingPunct="1">
              <a:defRPr/>
            </a:pPr>
            <a:r>
              <a:rPr lang="zh-CN" altLang="en-US" sz="3200" b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华文新魏" pitchFamily="2" charset="-122"/>
              </a:rPr>
              <a:t>此文法也不满足</a:t>
            </a:r>
            <a:r>
              <a:rPr lang="en-US" altLang="zh-CN" sz="3200" b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华文新魏" pitchFamily="2" charset="-122"/>
              </a:rPr>
              <a:t>LL(1)</a:t>
            </a:r>
            <a:r>
              <a:rPr lang="zh-CN" altLang="en-US" sz="3200" b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华文新魏" pitchFamily="2" charset="-122"/>
              </a:rPr>
              <a:t>文法的条件，不能保证分析的每一步是确定的</a:t>
            </a:r>
          </a:p>
        </p:txBody>
      </p:sp>
      <p:sp>
        <p:nvSpPr>
          <p:cNvPr id="72707" name="Rectangle 3"/>
          <p:cNvSpPr>
            <a:spLocks noGrp="1" noChangeArrowheads="1"/>
          </p:cNvSpPr>
          <p:nvPr>
            <p:ph idx="1"/>
          </p:nvPr>
        </p:nvSpPr>
        <p:spPr>
          <a:xfrm>
            <a:off x="250825" y="1989138"/>
            <a:ext cx="3455988" cy="4248150"/>
          </a:xfrm>
        </p:spPr>
        <p:txBody>
          <a:bodyPr lIns="92075" tIns="46038" rIns="92075" bIns="46038"/>
          <a:lstStyle/>
          <a:p>
            <a:pPr eaLnBrk="1" hangingPunct="1">
              <a:spcBef>
                <a:spcPct val="0"/>
              </a:spcBef>
              <a:buFont typeface="Wingdings" pitchFamily="2" charset="2"/>
              <a:buNone/>
            </a:pP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例 对文法</a:t>
            </a:r>
          </a:p>
          <a:p>
            <a:pPr eaLnBrk="1" hangingPunct="1">
              <a:spcBef>
                <a:spcPct val="0"/>
              </a:spcBef>
              <a:buFont typeface="Wingdings" pitchFamily="2" charset="2"/>
              <a:buNone/>
            </a:pP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S→cABd</a:t>
            </a:r>
          </a:p>
          <a:p>
            <a:pPr eaLnBrk="1" hangingPunct="1">
              <a:spcBef>
                <a:spcPct val="0"/>
              </a:spcBef>
              <a:buFont typeface="Wingdings" pitchFamily="2" charset="2"/>
              <a:buNone/>
            </a:pP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A→ab|ε</a:t>
            </a:r>
            <a:endParaRPr lang="en-US" altLang="zh-CN" b="1" smtClean="0">
              <a:solidFill>
                <a:schemeClr val="hlink"/>
              </a:solidFill>
              <a:latin typeface="Times New Roman" pitchFamily="18" charset="0"/>
              <a:ea typeface="华文新魏" pitchFamily="2" charset="-122"/>
            </a:endParaRPr>
          </a:p>
          <a:p>
            <a:pPr eaLnBrk="1" hangingPunct="1">
              <a:spcBef>
                <a:spcPct val="0"/>
              </a:spcBef>
              <a:buFont typeface="Wingdings" pitchFamily="2" charset="2"/>
              <a:buNone/>
            </a:pP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B→a</a:t>
            </a:r>
            <a:endParaRPr lang="en-US" altLang="zh-CN" b="1" smtClean="0">
              <a:solidFill>
                <a:schemeClr val="hlink"/>
              </a:solidFill>
              <a:latin typeface="Times New Roman" pitchFamily="18" charset="0"/>
              <a:ea typeface="华文新魏" pitchFamily="2" charset="-122"/>
            </a:endParaRPr>
          </a:p>
          <a:p>
            <a:pPr eaLnBrk="1" hangingPunct="1">
              <a:spcBef>
                <a:spcPct val="0"/>
              </a:spcBef>
              <a:buFont typeface="Wingdings" pitchFamily="2" charset="2"/>
              <a:buNone/>
            </a:pP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输入 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cad </a:t>
            </a: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的分析</a:t>
            </a:r>
          </a:p>
          <a:p>
            <a:pPr eaLnBrk="1" hangingPunct="1">
              <a:spcBef>
                <a:spcPct val="0"/>
              </a:spcBef>
              <a:buFont typeface="Wingdings" pitchFamily="2" charset="2"/>
              <a:buNone/>
            </a:pPr>
            <a:endParaRPr lang="en-US" altLang="zh-CN" b="1" smtClean="0">
              <a:latin typeface="Times New Roman" pitchFamily="18" charset="0"/>
              <a:ea typeface="华文新魏" pitchFamily="2" charset="-122"/>
            </a:endParaRPr>
          </a:p>
          <a:p>
            <a:pPr eaLnBrk="1" hangingPunct="1">
              <a:spcBef>
                <a:spcPct val="0"/>
              </a:spcBef>
              <a:buFont typeface="Wingdings" pitchFamily="2" charset="2"/>
              <a:buNone/>
            </a:pP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FOLLOW(A)={a}</a:t>
            </a:r>
          </a:p>
          <a:p>
            <a:pPr eaLnBrk="1" hangingPunct="1">
              <a:spcBef>
                <a:spcPct val="0"/>
              </a:spcBef>
              <a:buFont typeface="Wingdings" pitchFamily="2" charset="2"/>
              <a:buNone/>
            </a:pP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FIRST(ab)={a}</a:t>
            </a:r>
          </a:p>
        </p:txBody>
      </p:sp>
      <p:sp>
        <p:nvSpPr>
          <p:cNvPr id="72708" name="日期占位符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3F79B9D1-4E5B-48E0-A8EE-EFEAF33A6323}" type="datetime1">
              <a:rPr lang="zh-CN" altLang="en-US" smtClean="0"/>
              <a:pPr eaLnBrk="1" hangingPunct="1"/>
              <a:t>2017/2/24</a:t>
            </a:fld>
            <a:endParaRPr lang="en-US" altLang="zh-CN" smtClean="0"/>
          </a:p>
        </p:txBody>
      </p:sp>
      <p:sp>
        <p:nvSpPr>
          <p:cNvPr id="72709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17184148-A795-4331-A71D-2805F291D866}" type="slidenum">
              <a:rPr lang="zh-CN" altLang="en-US" smtClean="0"/>
              <a:pPr eaLnBrk="1" hangingPunct="1"/>
              <a:t>60</a:t>
            </a:fld>
            <a:endParaRPr lang="en-US" altLang="zh-CN" smtClean="0"/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3995738" y="4724400"/>
            <a:ext cx="1344612" cy="1455738"/>
            <a:chOff x="930" y="3203"/>
            <a:chExt cx="847" cy="917"/>
          </a:xfrm>
        </p:grpSpPr>
        <p:sp>
          <p:nvSpPr>
            <p:cNvPr id="72731" name="Line 5"/>
            <p:cNvSpPr>
              <a:spLocks noChangeShapeType="1"/>
            </p:cNvSpPr>
            <p:nvPr/>
          </p:nvSpPr>
          <p:spPr bwMode="auto">
            <a:xfrm flipH="1" flipV="1">
              <a:off x="1383" y="3203"/>
              <a:ext cx="227" cy="63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2075" tIns="46038" rIns="92075" bIns="46038"/>
            <a:lstStyle/>
            <a:p>
              <a:endParaRPr lang="zh-CN" altLang="en-US"/>
            </a:p>
          </p:txBody>
        </p:sp>
        <p:sp>
          <p:nvSpPr>
            <p:cNvPr id="72732" name="Line 6"/>
            <p:cNvSpPr>
              <a:spLocks noChangeShapeType="1"/>
            </p:cNvSpPr>
            <p:nvPr/>
          </p:nvSpPr>
          <p:spPr bwMode="auto">
            <a:xfrm flipH="1">
              <a:off x="1111" y="3203"/>
              <a:ext cx="227" cy="63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2075" tIns="46038" rIns="92075" bIns="46038"/>
            <a:lstStyle/>
            <a:p>
              <a:endParaRPr lang="zh-CN" altLang="en-US"/>
            </a:p>
          </p:txBody>
        </p:sp>
        <p:sp>
          <p:nvSpPr>
            <p:cNvPr id="72733" name="Rectangle 7"/>
            <p:cNvSpPr>
              <a:spLocks noChangeArrowheads="1"/>
            </p:cNvSpPr>
            <p:nvPr/>
          </p:nvSpPr>
          <p:spPr bwMode="auto">
            <a:xfrm>
              <a:off x="1519" y="3755"/>
              <a:ext cx="258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3200" b="1">
                  <a:latin typeface="Times New Roman" pitchFamily="18" charset="0"/>
                </a:rPr>
                <a:t>b</a:t>
              </a:r>
              <a:endParaRPr lang="zh-CN" altLang="en-US" sz="3200" b="1">
                <a:latin typeface="Times New Roman" pitchFamily="18" charset="0"/>
              </a:endParaRPr>
            </a:p>
          </p:txBody>
        </p:sp>
        <p:sp>
          <p:nvSpPr>
            <p:cNvPr id="72734" name="Rectangle 8"/>
            <p:cNvSpPr>
              <a:spLocks noChangeArrowheads="1"/>
            </p:cNvSpPr>
            <p:nvPr/>
          </p:nvSpPr>
          <p:spPr bwMode="auto">
            <a:xfrm>
              <a:off x="930" y="3709"/>
              <a:ext cx="244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3200" b="1">
                  <a:latin typeface="Times New Roman" pitchFamily="18" charset="0"/>
                </a:rPr>
                <a:t>a</a:t>
              </a:r>
              <a:endParaRPr lang="zh-CN" altLang="en-US" sz="3200" b="1">
                <a:latin typeface="Times New Roman" pitchFamily="18" charset="0"/>
              </a:endParaRPr>
            </a:p>
          </p:txBody>
        </p:sp>
      </p:grpSp>
      <p:grpSp>
        <p:nvGrpSpPr>
          <p:cNvPr id="3" name="Group 9"/>
          <p:cNvGrpSpPr>
            <a:grpSpLocks/>
          </p:cNvGrpSpPr>
          <p:nvPr/>
        </p:nvGrpSpPr>
        <p:grpSpPr bwMode="auto">
          <a:xfrm>
            <a:off x="3851275" y="2935288"/>
            <a:ext cx="2447925" cy="1905000"/>
            <a:chOff x="839" y="2076"/>
            <a:chExt cx="1542" cy="1200"/>
          </a:xfrm>
        </p:grpSpPr>
        <p:sp>
          <p:nvSpPr>
            <p:cNvPr id="72725" name="Line 10"/>
            <p:cNvSpPr>
              <a:spLocks noChangeShapeType="1"/>
            </p:cNvSpPr>
            <p:nvPr/>
          </p:nvSpPr>
          <p:spPr bwMode="auto">
            <a:xfrm flipH="1">
              <a:off x="975" y="2387"/>
              <a:ext cx="573" cy="63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2075" tIns="46038" rIns="92075" bIns="46038"/>
            <a:lstStyle/>
            <a:p>
              <a:endParaRPr lang="zh-CN" altLang="en-US"/>
            </a:p>
          </p:txBody>
        </p:sp>
        <p:sp>
          <p:nvSpPr>
            <p:cNvPr id="72726" name="Line 11"/>
            <p:cNvSpPr>
              <a:spLocks noChangeShapeType="1"/>
            </p:cNvSpPr>
            <p:nvPr/>
          </p:nvSpPr>
          <p:spPr bwMode="auto">
            <a:xfrm flipH="1">
              <a:off x="1383" y="2341"/>
              <a:ext cx="227" cy="68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2075" tIns="46038" rIns="92075" bIns="46038"/>
            <a:lstStyle/>
            <a:p>
              <a:endParaRPr lang="zh-CN" altLang="en-US"/>
            </a:p>
          </p:txBody>
        </p:sp>
        <p:sp>
          <p:nvSpPr>
            <p:cNvPr id="72727" name="Line 12"/>
            <p:cNvSpPr>
              <a:spLocks noChangeShapeType="1"/>
            </p:cNvSpPr>
            <p:nvPr/>
          </p:nvSpPr>
          <p:spPr bwMode="auto">
            <a:xfrm>
              <a:off x="1701" y="2387"/>
              <a:ext cx="499" cy="68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2075" tIns="46038" rIns="92075" bIns="46038"/>
            <a:lstStyle/>
            <a:p>
              <a:endParaRPr lang="zh-CN" altLang="en-US"/>
            </a:p>
          </p:txBody>
        </p:sp>
        <p:sp>
          <p:nvSpPr>
            <p:cNvPr id="72728" name="Rectangle 13"/>
            <p:cNvSpPr>
              <a:spLocks noChangeArrowheads="1"/>
            </p:cNvSpPr>
            <p:nvPr/>
          </p:nvSpPr>
          <p:spPr bwMode="auto">
            <a:xfrm>
              <a:off x="839" y="2911"/>
              <a:ext cx="1542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r>
                <a:rPr lang="en-US" altLang="zh-CN" sz="3200" b="1">
                  <a:latin typeface="Times New Roman" pitchFamily="18" charset="0"/>
                </a:rPr>
                <a:t>c   A   B	d</a:t>
              </a:r>
              <a:endParaRPr lang="zh-CN" altLang="en-US" sz="3200" b="1">
                <a:latin typeface="Times New Roman" pitchFamily="18" charset="0"/>
              </a:endParaRPr>
            </a:p>
          </p:txBody>
        </p:sp>
        <p:sp>
          <p:nvSpPr>
            <p:cNvPr id="72729" name="Rectangle 14"/>
            <p:cNvSpPr>
              <a:spLocks noChangeArrowheads="1"/>
            </p:cNvSpPr>
            <p:nvPr/>
          </p:nvSpPr>
          <p:spPr bwMode="auto">
            <a:xfrm>
              <a:off x="1474" y="2076"/>
              <a:ext cx="258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3200" b="1">
                  <a:latin typeface="Times New Roman" pitchFamily="18" charset="0"/>
                </a:rPr>
                <a:t>S</a:t>
              </a:r>
              <a:endParaRPr lang="zh-CN" altLang="en-US" sz="3200" b="1">
                <a:latin typeface="Times New Roman" pitchFamily="18" charset="0"/>
              </a:endParaRPr>
            </a:p>
          </p:txBody>
        </p:sp>
        <p:sp>
          <p:nvSpPr>
            <p:cNvPr id="72730" name="Line 15"/>
            <p:cNvSpPr>
              <a:spLocks noChangeShapeType="1"/>
            </p:cNvSpPr>
            <p:nvPr/>
          </p:nvSpPr>
          <p:spPr bwMode="auto">
            <a:xfrm>
              <a:off x="1610" y="2341"/>
              <a:ext cx="136" cy="68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4" name="Group 16"/>
          <p:cNvGrpSpPr>
            <a:grpSpLocks/>
          </p:cNvGrpSpPr>
          <p:nvPr/>
        </p:nvGrpSpPr>
        <p:grpSpPr bwMode="auto">
          <a:xfrm>
            <a:off x="6372225" y="2935288"/>
            <a:ext cx="2447925" cy="1905000"/>
            <a:chOff x="839" y="2076"/>
            <a:chExt cx="1542" cy="1200"/>
          </a:xfrm>
        </p:grpSpPr>
        <p:sp>
          <p:nvSpPr>
            <p:cNvPr id="72719" name="Line 17"/>
            <p:cNvSpPr>
              <a:spLocks noChangeShapeType="1"/>
            </p:cNvSpPr>
            <p:nvPr/>
          </p:nvSpPr>
          <p:spPr bwMode="auto">
            <a:xfrm flipH="1">
              <a:off x="975" y="2387"/>
              <a:ext cx="573" cy="63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2075" tIns="46038" rIns="92075" bIns="46038"/>
            <a:lstStyle/>
            <a:p>
              <a:endParaRPr lang="zh-CN" altLang="en-US"/>
            </a:p>
          </p:txBody>
        </p:sp>
        <p:sp>
          <p:nvSpPr>
            <p:cNvPr id="72720" name="Line 18"/>
            <p:cNvSpPr>
              <a:spLocks noChangeShapeType="1"/>
            </p:cNvSpPr>
            <p:nvPr/>
          </p:nvSpPr>
          <p:spPr bwMode="auto">
            <a:xfrm flipH="1">
              <a:off x="1383" y="2341"/>
              <a:ext cx="227" cy="68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2075" tIns="46038" rIns="92075" bIns="46038"/>
            <a:lstStyle/>
            <a:p>
              <a:endParaRPr lang="zh-CN" altLang="en-US"/>
            </a:p>
          </p:txBody>
        </p:sp>
        <p:sp>
          <p:nvSpPr>
            <p:cNvPr id="72721" name="Line 19"/>
            <p:cNvSpPr>
              <a:spLocks noChangeShapeType="1"/>
            </p:cNvSpPr>
            <p:nvPr/>
          </p:nvSpPr>
          <p:spPr bwMode="auto">
            <a:xfrm>
              <a:off x="1701" y="2387"/>
              <a:ext cx="499" cy="68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2075" tIns="46038" rIns="92075" bIns="46038"/>
            <a:lstStyle/>
            <a:p>
              <a:endParaRPr lang="zh-CN" altLang="en-US"/>
            </a:p>
          </p:txBody>
        </p:sp>
        <p:sp>
          <p:nvSpPr>
            <p:cNvPr id="72722" name="Rectangle 20"/>
            <p:cNvSpPr>
              <a:spLocks noChangeArrowheads="1"/>
            </p:cNvSpPr>
            <p:nvPr/>
          </p:nvSpPr>
          <p:spPr bwMode="auto">
            <a:xfrm>
              <a:off x="839" y="2911"/>
              <a:ext cx="1542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r>
                <a:rPr lang="en-US" altLang="zh-CN" sz="3200" b="1">
                  <a:latin typeface="Times New Roman" pitchFamily="18" charset="0"/>
                </a:rPr>
                <a:t>c   A   B	d</a:t>
              </a:r>
              <a:endParaRPr lang="zh-CN" altLang="en-US" sz="3200" b="1">
                <a:latin typeface="Times New Roman" pitchFamily="18" charset="0"/>
              </a:endParaRPr>
            </a:p>
          </p:txBody>
        </p:sp>
        <p:sp>
          <p:nvSpPr>
            <p:cNvPr id="72723" name="Rectangle 21"/>
            <p:cNvSpPr>
              <a:spLocks noChangeArrowheads="1"/>
            </p:cNvSpPr>
            <p:nvPr/>
          </p:nvSpPr>
          <p:spPr bwMode="auto">
            <a:xfrm>
              <a:off x="1474" y="2076"/>
              <a:ext cx="258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3200" b="1">
                  <a:latin typeface="Times New Roman" pitchFamily="18" charset="0"/>
                </a:rPr>
                <a:t>S</a:t>
              </a:r>
              <a:endParaRPr lang="zh-CN" altLang="en-US" sz="3200" b="1">
                <a:latin typeface="Times New Roman" pitchFamily="18" charset="0"/>
              </a:endParaRPr>
            </a:p>
          </p:txBody>
        </p:sp>
        <p:sp>
          <p:nvSpPr>
            <p:cNvPr id="72724" name="Line 22"/>
            <p:cNvSpPr>
              <a:spLocks noChangeShapeType="1"/>
            </p:cNvSpPr>
            <p:nvPr/>
          </p:nvSpPr>
          <p:spPr bwMode="auto">
            <a:xfrm>
              <a:off x="1610" y="2341"/>
              <a:ext cx="136" cy="68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5" name="Group 23"/>
          <p:cNvGrpSpPr>
            <a:grpSpLocks/>
          </p:cNvGrpSpPr>
          <p:nvPr/>
        </p:nvGrpSpPr>
        <p:grpSpPr bwMode="auto">
          <a:xfrm>
            <a:off x="7667625" y="4724400"/>
            <a:ext cx="387350" cy="1379538"/>
            <a:chOff x="2653" y="3203"/>
            <a:chExt cx="244" cy="869"/>
          </a:xfrm>
        </p:grpSpPr>
        <p:sp>
          <p:nvSpPr>
            <p:cNvPr id="72717" name="Line 24"/>
            <p:cNvSpPr>
              <a:spLocks noChangeShapeType="1"/>
            </p:cNvSpPr>
            <p:nvPr/>
          </p:nvSpPr>
          <p:spPr bwMode="auto">
            <a:xfrm flipH="1" flipV="1">
              <a:off x="2789" y="3203"/>
              <a:ext cx="0" cy="59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2075" tIns="46038" rIns="92075" bIns="46038"/>
            <a:lstStyle/>
            <a:p>
              <a:endParaRPr lang="zh-CN" altLang="en-US"/>
            </a:p>
          </p:txBody>
        </p:sp>
        <p:sp>
          <p:nvSpPr>
            <p:cNvPr id="72718" name="Rectangle 25"/>
            <p:cNvSpPr>
              <a:spLocks noChangeArrowheads="1"/>
            </p:cNvSpPr>
            <p:nvPr/>
          </p:nvSpPr>
          <p:spPr bwMode="auto">
            <a:xfrm>
              <a:off x="2653" y="3707"/>
              <a:ext cx="244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3200" b="1">
                  <a:latin typeface="Times New Roman" pitchFamily="18" charset="0"/>
                </a:rPr>
                <a:t>a</a:t>
              </a:r>
              <a:endParaRPr lang="zh-CN" altLang="en-US" sz="3200" b="1">
                <a:latin typeface="Times New Roman" pitchFamily="18" charset="0"/>
              </a:endParaRPr>
            </a:p>
          </p:txBody>
        </p:sp>
      </p:grpSp>
      <p:grpSp>
        <p:nvGrpSpPr>
          <p:cNvPr id="6" name="Group 26"/>
          <p:cNvGrpSpPr>
            <a:grpSpLocks/>
          </p:cNvGrpSpPr>
          <p:nvPr/>
        </p:nvGrpSpPr>
        <p:grpSpPr bwMode="auto">
          <a:xfrm>
            <a:off x="6948488" y="4724400"/>
            <a:ext cx="592137" cy="1355725"/>
            <a:chOff x="2200" y="3203"/>
            <a:chExt cx="373" cy="854"/>
          </a:xfrm>
        </p:grpSpPr>
        <p:sp>
          <p:nvSpPr>
            <p:cNvPr id="72715" name="Line 27"/>
            <p:cNvSpPr>
              <a:spLocks noChangeShapeType="1"/>
            </p:cNvSpPr>
            <p:nvPr/>
          </p:nvSpPr>
          <p:spPr bwMode="auto">
            <a:xfrm>
              <a:off x="2381" y="3203"/>
              <a:ext cx="0" cy="59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2075" tIns="46038" rIns="92075" bIns="46038"/>
            <a:lstStyle/>
            <a:p>
              <a:endParaRPr lang="zh-CN" altLang="en-US"/>
            </a:p>
          </p:txBody>
        </p:sp>
        <p:sp>
          <p:nvSpPr>
            <p:cNvPr id="72716" name="Rectangle 28"/>
            <p:cNvSpPr>
              <a:spLocks noChangeArrowheads="1"/>
            </p:cNvSpPr>
            <p:nvPr/>
          </p:nvSpPr>
          <p:spPr bwMode="auto">
            <a:xfrm>
              <a:off x="2200" y="3692"/>
              <a:ext cx="373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3200" b="1">
                  <a:latin typeface="Times New Roman" pitchFamily="18" charset="0"/>
                </a:rPr>
                <a:t>ε</a:t>
              </a:r>
              <a:endParaRPr lang="zh-CN" altLang="en-US" sz="3200" b="1">
                <a:latin typeface="Times New Roman" pitchFamily="18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562" name="Rectangle 2"/>
          <p:cNvSpPr>
            <a:spLocks noGrp="1" noChangeArrowheads="1"/>
          </p:cNvSpPr>
          <p:nvPr>
            <p:ph type="title"/>
          </p:nvPr>
        </p:nvSpPr>
        <p:spPr>
          <a:xfrm>
            <a:off x="900113" y="333375"/>
            <a:ext cx="7570787" cy="915988"/>
          </a:xfrm>
        </p:spPr>
        <p:txBody>
          <a:bodyPr lIns="92075" tIns="46038" rIns="92075" bIns="46038"/>
          <a:lstStyle/>
          <a:p>
            <a:pPr eaLnBrk="1" hangingPunct="1">
              <a:defRPr/>
            </a:pPr>
            <a:r>
              <a:rPr lang="zh-CN" altLang="en-US" b="1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不确定性的解决方法</a:t>
            </a:r>
            <a:endParaRPr lang="zh-CN" altLang="en-US" b="1">
              <a:solidFill>
                <a:srgbClr val="000099"/>
              </a:solidFill>
              <a:latin typeface="Times New Roman" pitchFamily="18" charset="0"/>
              <a:ea typeface="华文新魏" pitchFamily="2" charset="-122"/>
            </a:endParaRPr>
          </a:p>
        </p:txBody>
      </p:sp>
      <p:sp>
        <p:nvSpPr>
          <p:cNvPr id="322563" name="Rectangle 3"/>
          <p:cNvSpPr>
            <a:spLocks noGrp="1" noChangeArrowheads="1"/>
          </p:cNvSpPr>
          <p:nvPr>
            <p:ph idx="1"/>
          </p:nvPr>
        </p:nvSpPr>
        <p:spPr>
          <a:xfrm>
            <a:off x="684213" y="1557338"/>
            <a:ext cx="7924800" cy="4648200"/>
          </a:xfrm>
        </p:spPr>
        <p:txBody>
          <a:bodyPr lIns="92075" tIns="46038" rIns="92075" bIns="46038"/>
          <a:lstStyle/>
          <a:p>
            <a:pPr marL="609600" indent="-609600" eaLnBrk="1" hangingPunct="1">
              <a:buFont typeface="Wingdings" pitchFamily="2" charset="2"/>
              <a:buNone/>
            </a:pP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1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) </a:t>
            </a: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采用回溯算法</a:t>
            </a:r>
          </a:p>
          <a:p>
            <a:pPr marL="990600" lvl="1" indent="-533400" eaLnBrk="1" hangingPunct="1"/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过于复杂</a:t>
            </a:r>
          </a:p>
          <a:p>
            <a:pPr marL="609600" indent="-609600" eaLnBrk="1" hangingPunct="1">
              <a:buFont typeface="Wingdings" pitchFamily="2" charset="2"/>
              <a:buNone/>
            </a:pP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2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)</a:t>
            </a: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改写文法</a:t>
            </a:r>
          </a:p>
          <a:p>
            <a:pPr marL="990600" lvl="1" indent="-533400" eaLnBrk="1" hangingPunct="1"/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将非 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LL(1) </a:t>
            </a: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文法改写为等价的 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LL(1) </a:t>
            </a:r>
            <a:r>
              <a:rPr lang="zh-CN" altLang="zh-CN" b="1" smtClean="0">
                <a:latin typeface="Times New Roman" pitchFamily="18" charset="0"/>
                <a:ea typeface="华文新魏" pitchFamily="2" charset="-122"/>
              </a:rPr>
              <a:t>文法</a:t>
            </a:r>
            <a:endParaRPr lang="zh-CN" altLang="en-US" b="1" smtClean="0">
              <a:latin typeface="Times New Roman" pitchFamily="18" charset="0"/>
              <a:ea typeface="华文新魏" pitchFamily="2" charset="-122"/>
            </a:endParaRPr>
          </a:p>
          <a:p>
            <a:pPr marL="990600" lvl="1" indent="-533400" eaLnBrk="1" hangingPunct="1"/>
            <a:r>
              <a:rPr lang="zh-CN" altLang="zh-CN" b="1" smtClean="0">
                <a:latin typeface="Times New Roman" pitchFamily="18" charset="0"/>
                <a:ea typeface="华文新魏" pitchFamily="2" charset="-122"/>
              </a:rPr>
              <a:t>并非总有效</a:t>
            </a:r>
          </a:p>
          <a:p>
            <a:pPr marL="609600" indent="-609600" eaLnBrk="1" hangingPunct="1">
              <a:buFont typeface="Wingdings" pitchFamily="2" charset="2"/>
              <a:buNone/>
            </a:pPr>
            <a:r>
              <a:rPr lang="zh-CN" altLang="zh-CN" b="1" smtClean="0">
                <a:latin typeface="Times New Roman" pitchFamily="18" charset="0"/>
                <a:ea typeface="华文新魏" pitchFamily="2" charset="-122"/>
              </a:rPr>
              <a:t>3)无法改写时</a:t>
            </a:r>
          </a:p>
          <a:p>
            <a:pPr marL="990600" lvl="1" indent="-533400" eaLnBrk="1" hangingPunct="1"/>
            <a:r>
              <a:rPr lang="zh-CN" altLang="zh-CN" b="1" smtClean="0">
                <a:latin typeface="Times New Roman" pitchFamily="18" charset="0"/>
                <a:ea typeface="华文新魏" pitchFamily="2" charset="-122"/>
              </a:rPr>
              <a:t>增加其它的判别因素</a:t>
            </a:r>
            <a:endParaRPr lang="zh-CN" altLang="en-US" b="1" smtClean="0">
              <a:latin typeface="Times New Roman" pitchFamily="18" charset="0"/>
              <a:ea typeface="华文新魏" pitchFamily="2" charset="-122"/>
            </a:endParaRPr>
          </a:p>
          <a:p>
            <a:pPr marL="990600" lvl="1" indent="-533400" eaLnBrk="1" hangingPunct="1"/>
            <a:r>
              <a:rPr lang="zh-CN" altLang="zh-CN" b="1" smtClean="0">
                <a:latin typeface="Times New Roman" pitchFamily="18" charset="0"/>
                <a:ea typeface="华文新魏" pitchFamily="2" charset="-122"/>
              </a:rPr>
              <a:t>文法过于复杂，无法用自顶向下方法处理</a:t>
            </a:r>
          </a:p>
        </p:txBody>
      </p:sp>
      <p:sp>
        <p:nvSpPr>
          <p:cNvPr id="73732" name="日期占位符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090969BD-6C89-488D-9EAB-988B949CF708}" type="datetime1">
              <a:rPr lang="zh-CN" altLang="en-US" smtClean="0"/>
              <a:pPr eaLnBrk="1" hangingPunct="1"/>
              <a:t>2017/2/24</a:t>
            </a:fld>
            <a:endParaRPr lang="en-US" altLang="zh-CN" smtClean="0"/>
          </a:p>
        </p:txBody>
      </p:sp>
      <p:sp>
        <p:nvSpPr>
          <p:cNvPr id="73733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3BBD3CB6-87D6-464B-BBBE-D31943717F6B}" type="slidenum">
              <a:rPr lang="zh-CN" altLang="en-US" smtClean="0"/>
              <a:pPr eaLnBrk="1" hangingPunct="1"/>
              <a:t>61</a:t>
            </a:fld>
            <a:endParaRPr lang="en-US" altLang="zh-CN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610" name="Rectangle 2"/>
          <p:cNvSpPr>
            <a:spLocks noGrp="1" noChangeArrowheads="1"/>
          </p:cNvSpPr>
          <p:nvPr>
            <p:ph type="title"/>
          </p:nvPr>
        </p:nvSpPr>
        <p:spPr>
          <a:xfrm>
            <a:off x="971550" y="765175"/>
            <a:ext cx="7559675" cy="974725"/>
          </a:xfrm>
          <a:noFill/>
        </p:spPr>
        <p:txBody>
          <a:bodyPr lIns="92075" tIns="46038" rIns="92075" bIns="46038"/>
          <a:lstStyle/>
          <a:p>
            <a:pPr eaLnBrk="1" hangingPunct="1"/>
            <a:r>
              <a:rPr lang="zh-CN" altLang="en-US" b="1" smtClean="0">
                <a:solidFill>
                  <a:srgbClr val="000099"/>
                </a:solidFill>
                <a:latin typeface="Times New Roman" pitchFamily="18" charset="0"/>
                <a:ea typeface="华文新魏" pitchFamily="2" charset="-122"/>
              </a:rPr>
              <a:t>4.4  预测分析器</a:t>
            </a:r>
            <a:r>
              <a:rPr lang="en-US" altLang="zh-CN" b="1" smtClean="0">
                <a:solidFill>
                  <a:srgbClr val="000099"/>
                </a:solidFill>
                <a:latin typeface="Times New Roman" pitchFamily="18" charset="0"/>
                <a:ea typeface="华文新魏" pitchFamily="2" charset="-122"/>
              </a:rPr>
              <a:t>(LL(1)</a:t>
            </a:r>
            <a:r>
              <a:rPr lang="zh-CN" altLang="en-US" b="1" smtClean="0">
                <a:solidFill>
                  <a:srgbClr val="000099"/>
                </a:solidFill>
                <a:latin typeface="Times New Roman" pitchFamily="18" charset="0"/>
                <a:ea typeface="华文新魏" pitchFamily="2" charset="-122"/>
              </a:rPr>
              <a:t>分析器</a:t>
            </a:r>
            <a:r>
              <a:rPr lang="en-US" altLang="zh-CN" b="1" smtClean="0">
                <a:solidFill>
                  <a:srgbClr val="000099"/>
                </a:solidFill>
                <a:latin typeface="Times New Roman" pitchFamily="18" charset="0"/>
                <a:ea typeface="华文新魏" pitchFamily="2" charset="-122"/>
              </a:rPr>
              <a:t>)</a:t>
            </a:r>
          </a:p>
        </p:txBody>
      </p:sp>
      <p:sp>
        <p:nvSpPr>
          <p:cNvPr id="74755" name="日期占位符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79C6BEA3-9A51-45D3-9FF7-7011AC9674CA}" type="datetime1">
              <a:rPr lang="zh-CN" altLang="en-US" smtClean="0"/>
              <a:pPr eaLnBrk="1" hangingPunct="1"/>
              <a:t>2017/2/24</a:t>
            </a:fld>
            <a:endParaRPr lang="en-US" altLang="zh-CN" smtClean="0"/>
          </a:p>
        </p:txBody>
      </p:sp>
      <p:sp>
        <p:nvSpPr>
          <p:cNvPr id="74756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74495597-13BF-4F70-AE21-3DB8C95B5873}" type="slidenum">
              <a:rPr lang="zh-CN" altLang="en-US" smtClean="0"/>
              <a:pPr eaLnBrk="1" hangingPunct="1"/>
              <a:t>62</a:t>
            </a:fld>
            <a:endParaRPr lang="en-US" altLang="zh-CN" smtClean="0"/>
          </a:p>
        </p:txBody>
      </p:sp>
      <p:sp>
        <p:nvSpPr>
          <p:cNvPr id="324612" name="Rectangle 4"/>
          <p:cNvSpPr>
            <a:spLocks noChangeArrowheads="1"/>
          </p:cNvSpPr>
          <p:nvPr/>
        </p:nvSpPr>
        <p:spPr bwMode="auto">
          <a:xfrm>
            <a:off x="1619250" y="2139950"/>
            <a:ext cx="6630988" cy="596900"/>
          </a:xfrm>
          <a:prstGeom prst="rect">
            <a:avLst/>
          </a:prstGeom>
          <a:solidFill>
            <a:srgbClr val="006666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/>
          <a:p>
            <a:pPr algn="dist" eaLnBrk="0" hangingPunct="0"/>
            <a:r>
              <a:rPr kumimoji="1" lang="zh-CN" altLang="en-US" sz="3600">
                <a:solidFill>
                  <a:schemeClr val="bg1"/>
                </a:solidFill>
                <a:latin typeface="Times New Roman" pitchFamily="18" charset="0"/>
                <a:ea typeface="华文新魏" pitchFamily="2" charset="-122"/>
              </a:rPr>
              <a:t> </a:t>
            </a:r>
            <a:r>
              <a:rPr kumimoji="1" lang="en-US" altLang="zh-CN" sz="3600">
                <a:solidFill>
                  <a:schemeClr val="bg1"/>
                </a:solidFill>
                <a:latin typeface="Times New Roman" pitchFamily="18" charset="0"/>
                <a:ea typeface="华文新魏" pitchFamily="2" charset="-122"/>
              </a:rPr>
              <a:t>a</a:t>
            </a:r>
            <a:r>
              <a:rPr kumimoji="1" lang="en-US" altLang="zh-CN" sz="3600" baseline="-25000">
                <a:solidFill>
                  <a:schemeClr val="bg1"/>
                </a:solidFill>
                <a:latin typeface="Times New Roman" pitchFamily="18" charset="0"/>
                <a:ea typeface="华文新魏" pitchFamily="2" charset="-122"/>
              </a:rPr>
              <a:t>1</a:t>
            </a:r>
            <a:r>
              <a:rPr kumimoji="1" lang="en-US" altLang="zh-CN" sz="3600">
                <a:solidFill>
                  <a:schemeClr val="bg1"/>
                </a:solidFill>
                <a:latin typeface="Times New Roman" pitchFamily="18" charset="0"/>
                <a:ea typeface="华文新魏" pitchFamily="2" charset="-122"/>
              </a:rPr>
              <a:t>a</a:t>
            </a:r>
            <a:r>
              <a:rPr kumimoji="1" lang="en-US" altLang="zh-CN" sz="3600" baseline="-25000">
                <a:solidFill>
                  <a:schemeClr val="bg1"/>
                </a:solidFill>
                <a:latin typeface="Times New Roman" pitchFamily="18" charset="0"/>
                <a:ea typeface="华文新魏" pitchFamily="2" charset="-122"/>
              </a:rPr>
              <a:t>2</a:t>
            </a:r>
            <a:r>
              <a:rPr kumimoji="1" lang="en-US" altLang="zh-CN" sz="3600">
                <a:solidFill>
                  <a:schemeClr val="bg1"/>
                </a:solidFill>
                <a:latin typeface="Times New Roman" pitchFamily="18" charset="0"/>
                <a:ea typeface="华文新魏" pitchFamily="2" charset="-122"/>
              </a:rPr>
              <a:t>……a</a:t>
            </a:r>
            <a:r>
              <a:rPr kumimoji="1" lang="en-US" altLang="zh-CN" sz="3600" baseline="-25000">
                <a:solidFill>
                  <a:schemeClr val="bg1"/>
                </a:solidFill>
                <a:latin typeface="Times New Roman" pitchFamily="18" charset="0"/>
                <a:ea typeface="华文新魏" pitchFamily="2" charset="-122"/>
              </a:rPr>
              <a:t>i</a:t>
            </a:r>
            <a:r>
              <a:rPr kumimoji="1" lang="en-US" altLang="zh-CN" sz="3600">
                <a:solidFill>
                  <a:schemeClr val="bg1"/>
                </a:solidFill>
                <a:latin typeface="Times New Roman" pitchFamily="18" charset="0"/>
                <a:ea typeface="华文新魏" pitchFamily="2" charset="-122"/>
              </a:rPr>
              <a:t>……a</a:t>
            </a:r>
            <a:r>
              <a:rPr kumimoji="1" lang="en-US" altLang="zh-CN" sz="3600" baseline="-25000">
                <a:solidFill>
                  <a:schemeClr val="bg1"/>
                </a:solidFill>
                <a:latin typeface="Times New Roman" pitchFamily="18" charset="0"/>
                <a:ea typeface="华文新魏" pitchFamily="2" charset="-122"/>
              </a:rPr>
              <a:t>n </a:t>
            </a:r>
            <a:r>
              <a:rPr kumimoji="1" lang="en-US" altLang="zh-CN" sz="3600" b="1">
                <a:solidFill>
                  <a:schemeClr val="bg1"/>
                </a:solidFill>
                <a:latin typeface="Times New Roman" pitchFamily="18" charset="0"/>
                <a:ea typeface="华文新魏" pitchFamily="2" charset="-122"/>
              </a:rPr>
              <a:t>#         </a:t>
            </a:r>
            <a:r>
              <a:rPr kumimoji="1" lang="zh-CN" altLang="en-US" sz="2800" b="1">
                <a:solidFill>
                  <a:schemeClr val="bg1"/>
                </a:solidFill>
                <a:latin typeface="Times New Roman" pitchFamily="18" charset="0"/>
                <a:ea typeface="华文新魏" pitchFamily="2" charset="-122"/>
              </a:rPr>
              <a:t>输入缓冲区</a:t>
            </a:r>
            <a:endParaRPr kumimoji="1" lang="en-US" altLang="zh-CN" sz="2800" b="1">
              <a:solidFill>
                <a:schemeClr val="bg1"/>
              </a:solidFill>
              <a:latin typeface="Times New Roman" pitchFamily="18" charset="0"/>
              <a:ea typeface="华文新魏" pitchFamily="2" charset="-122"/>
            </a:endParaRPr>
          </a:p>
        </p:txBody>
      </p:sp>
      <p:sp>
        <p:nvSpPr>
          <p:cNvPr id="324613" name="Rectangle 5"/>
          <p:cNvSpPr>
            <a:spLocks noChangeArrowheads="1"/>
          </p:cNvSpPr>
          <p:nvPr/>
        </p:nvSpPr>
        <p:spPr bwMode="auto">
          <a:xfrm>
            <a:off x="685800" y="2984500"/>
            <a:ext cx="755650" cy="3346450"/>
          </a:xfrm>
          <a:prstGeom prst="rect">
            <a:avLst/>
          </a:prstGeom>
          <a:solidFill>
            <a:srgbClr val="006666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dist" eaLnBrk="0" hangingPunct="0">
              <a:lnSpc>
                <a:spcPct val="120000"/>
              </a:lnSpc>
              <a:defRPr/>
            </a:pPr>
            <a:r>
              <a:rPr kumimoji="1" lang="zh-CN" altLang="en-US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华文新魏" pitchFamily="2" charset="-122"/>
              </a:rPr>
              <a:t>栈</a:t>
            </a:r>
          </a:p>
          <a:p>
            <a:pPr algn="dist" eaLnBrk="0" hangingPunct="0">
              <a:lnSpc>
                <a:spcPct val="120000"/>
              </a:lnSpc>
              <a:defRPr/>
            </a:pPr>
            <a:endParaRPr kumimoji="1" lang="zh-CN" altLang="en-US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imes New Roman" pitchFamily="18" charset="0"/>
              <a:ea typeface="华文新魏" pitchFamily="2" charset="-122"/>
            </a:endParaRPr>
          </a:p>
          <a:p>
            <a:pPr algn="dist" eaLnBrk="0" hangingPunct="0">
              <a:lnSpc>
                <a:spcPct val="120000"/>
              </a:lnSpc>
              <a:defRPr/>
            </a:pPr>
            <a:endParaRPr kumimoji="1" lang="zh-CN" altLang="en-US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imes New Roman" pitchFamily="18" charset="0"/>
              <a:ea typeface="华文新魏" pitchFamily="2" charset="-122"/>
            </a:endParaRPr>
          </a:p>
          <a:p>
            <a:pPr algn="dist" eaLnBrk="0" hangingPunct="0">
              <a:lnSpc>
                <a:spcPct val="80000"/>
              </a:lnSpc>
              <a:defRPr/>
            </a:pPr>
            <a:r>
              <a:rPr kumimoji="1" lang="en-US" altLang="zh-CN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华文新魏" pitchFamily="2" charset="-122"/>
              </a:rPr>
              <a:t>X</a:t>
            </a:r>
          </a:p>
          <a:p>
            <a:pPr algn="dist" eaLnBrk="0" hangingPunct="0">
              <a:lnSpc>
                <a:spcPct val="80000"/>
              </a:lnSpc>
              <a:defRPr/>
            </a:pPr>
            <a:r>
              <a:rPr kumimoji="1" lang="en-US" altLang="zh-CN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华文新魏" pitchFamily="2" charset="-122"/>
              </a:rPr>
              <a:t>…</a:t>
            </a:r>
          </a:p>
          <a:p>
            <a:pPr algn="dist" eaLnBrk="0" hangingPunct="0">
              <a:lnSpc>
                <a:spcPct val="80000"/>
              </a:lnSpc>
              <a:defRPr/>
            </a:pPr>
            <a:r>
              <a:rPr kumimoji="1" lang="en-US" altLang="zh-CN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华文新魏" pitchFamily="2" charset="-122"/>
              </a:rPr>
              <a:t>S</a:t>
            </a:r>
          </a:p>
          <a:p>
            <a:pPr algn="dist" eaLnBrk="0" hangingPunct="0">
              <a:lnSpc>
                <a:spcPct val="80000"/>
              </a:lnSpc>
              <a:defRPr/>
            </a:pPr>
            <a:r>
              <a:rPr kumimoji="1" lang="en-US" altLang="zh-CN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华文新魏" pitchFamily="2" charset="-122"/>
              </a:rPr>
              <a:t>#</a:t>
            </a:r>
          </a:p>
        </p:txBody>
      </p:sp>
      <p:sp>
        <p:nvSpPr>
          <p:cNvPr id="324614" name="Rectangle 6"/>
          <p:cNvSpPr>
            <a:spLocks noChangeArrowheads="1"/>
          </p:cNvSpPr>
          <p:nvPr/>
        </p:nvSpPr>
        <p:spPr bwMode="auto">
          <a:xfrm>
            <a:off x="2595563" y="3517900"/>
            <a:ext cx="2890837" cy="1289050"/>
          </a:xfrm>
          <a:prstGeom prst="rect">
            <a:avLst/>
          </a:prstGeom>
          <a:solidFill>
            <a:srgbClr val="006666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/>
          <a:p>
            <a:pPr algn="ctr" eaLnBrk="0" hangingPunct="0"/>
            <a:r>
              <a:rPr kumimoji="1" lang="zh-CN" altLang="en-US" sz="3600" b="1">
                <a:solidFill>
                  <a:schemeClr val="bg1"/>
                </a:solidFill>
                <a:latin typeface="Times New Roman" pitchFamily="18" charset="0"/>
                <a:ea typeface="华文新魏" pitchFamily="2" charset="-122"/>
              </a:rPr>
              <a:t>控制程序</a:t>
            </a:r>
            <a:endParaRPr kumimoji="1" lang="en-US" altLang="zh-CN" sz="3600" b="1">
              <a:solidFill>
                <a:schemeClr val="bg1"/>
              </a:solidFill>
              <a:latin typeface="Times New Roman" pitchFamily="18" charset="0"/>
              <a:ea typeface="华文新魏" pitchFamily="2" charset="-122"/>
            </a:endParaRPr>
          </a:p>
        </p:txBody>
      </p:sp>
      <p:sp>
        <p:nvSpPr>
          <p:cNvPr id="324615" name="Rectangle 7"/>
          <p:cNvSpPr>
            <a:spLocks noChangeArrowheads="1"/>
          </p:cNvSpPr>
          <p:nvPr/>
        </p:nvSpPr>
        <p:spPr bwMode="auto">
          <a:xfrm>
            <a:off x="2590800" y="5568950"/>
            <a:ext cx="2889250" cy="831850"/>
          </a:xfrm>
          <a:prstGeom prst="rect">
            <a:avLst/>
          </a:prstGeom>
          <a:solidFill>
            <a:srgbClr val="006666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/>
          <a:p>
            <a:pPr algn="ctr" eaLnBrk="0" hangingPunct="0"/>
            <a:r>
              <a:rPr kumimoji="1" lang="zh-CN" altLang="en-US" sz="3600" b="1">
                <a:solidFill>
                  <a:schemeClr val="bg1"/>
                </a:solidFill>
                <a:latin typeface="Times New Roman" pitchFamily="18" charset="0"/>
                <a:ea typeface="华文新魏" pitchFamily="2" charset="-122"/>
              </a:rPr>
              <a:t>预测分析表</a:t>
            </a:r>
            <a:r>
              <a:rPr kumimoji="1" lang="en-US" altLang="zh-CN" sz="3600" b="1">
                <a:solidFill>
                  <a:schemeClr val="bg1"/>
                </a:solidFill>
                <a:latin typeface="Times New Roman" pitchFamily="18" charset="0"/>
                <a:ea typeface="华文新魏" pitchFamily="2" charset="-122"/>
              </a:rPr>
              <a:t>M</a:t>
            </a:r>
          </a:p>
        </p:txBody>
      </p:sp>
      <p:sp>
        <p:nvSpPr>
          <p:cNvPr id="324616" name="Line 8"/>
          <p:cNvSpPr>
            <a:spLocks noChangeShapeType="1"/>
          </p:cNvSpPr>
          <p:nvPr/>
        </p:nvSpPr>
        <p:spPr bwMode="auto">
          <a:xfrm flipV="1">
            <a:off x="3708400" y="2749550"/>
            <a:ext cx="0" cy="762000"/>
          </a:xfrm>
          <a:prstGeom prst="line">
            <a:avLst/>
          </a:prstGeom>
          <a:noFill/>
          <a:ln w="38100" cmpd="dbl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24618" name="Line 10"/>
          <p:cNvSpPr>
            <a:spLocks noChangeShapeType="1"/>
          </p:cNvSpPr>
          <p:nvPr/>
        </p:nvSpPr>
        <p:spPr bwMode="auto">
          <a:xfrm flipV="1">
            <a:off x="3962400" y="4806950"/>
            <a:ext cx="0" cy="762000"/>
          </a:xfrm>
          <a:prstGeom prst="line">
            <a:avLst/>
          </a:prstGeom>
          <a:noFill/>
          <a:ln w="38100" cmpd="dbl">
            <a:solidFill>
              <a:schemeClr val="tx1"/>
            </a:solidFill>
            <a:round/>
            <a:headEnd type="triangle" w="med" len="med"/>
            <a:tailEnd type="non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24619" name="Line 11"/>
          <p:cNvSpPr>
            <a:spLocks noChangeShapeType="1"/>
          </p:cNvSpPr>
          <p:nvPr/>
        </p:nvSpPr>
        <p:spPr bwMode="auto">
          <a:xfrm>
            <a:off x="5486400" y="4044950"/>
            <a:ext cx="1371600" cy="0"/>
          </a:xfrm>
          <a:prstGeom prst="line">
            <a:avLst/>
          </a:prstGeom>
          <a:noFill/>
          <a:ln w="38100" cmpd="dbl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24620" name="Rectangle 12"/>
          <p:cNvSpPr>
            <a:spLocks noChangeArrowheads="1"/>
          </p:cNvSpPr>
          <p:nvPr/>
        </p:nvSpPr>
        <p:spPr bwMode="auto">
          <a:xfrm>
            <a:off x="6681788" y="3525838"/>
            <a:ext cx="2157412" cy="946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>
            <a:spAutoFit/>
          </a:bodyPr>
          <a:lstStyle/>
          <a:p>
            <a:pPr algn="ctr" eaLnBrk="0" hangingPunct="0">
              <a:defRPr/>
            </a:pPr>
            <a:r>
              <a:rPr kumimoji="1" lang="zh-CN" altLang="en-US" sz="28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输出的</a:t>
            </a:r>
          </a:p>
          <a:p>
            <a:pPr algn="ctr" eaLnBrk="0" hangingPunct="0">
              <a:defRPr/>
            </a:pPr>
            <a:r>
              <a:rPr kumimoji="1" lang="zh-CN" altLang="en-US" sz="28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产生式序列</a:t>
            </a:r>
          </a:p>
        </p:txBody>
      </p:sp>
      <p:grpSp>
        <p:nvGrpSpPr>
          <p:cNvPr id="2" name="Group 18"/>
          <p:cNvGrpSpPr>
            <a:grpSpLocks/>
          </p:cNvGrpSpPr>
          <p:nvPr/>
        </p:nvGrpSpPr>
        <p:grpSpPr bwMode="auto">
          <a:xfrm>
            <a:off x="1403350" y="4292600"/>
            <a:ext cx="1152525" cy="360363"/>
            <a:chOff x="884" y="2704"/>
            <a:chExt cx="726" cy="681"/>
          </a:xfrm>
        </p:grpSpPr>
        <p:sp>
          <p:nvSpPr>
            <p:cNvPr id="74767" name="Line 14"/>
            <p:cNvSpPr>
              <a:spLocks noChangeShapeType="1"/>
            </p:cNvSpPr>
            <p:nvPr/>
          </p:nvSpPr>
          <p:spPr bwMode="auto">
            <a:xfrm>
              <a:off x="884" y="3385"/>
              <a:ext cx="22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4768" name="Line 15"/>
            <p:cNvSpPr>
              <a:spLocks noChangeShapeType="1"/>
            </p:cNvSpPr>
            <p:nvPr/>
          </p:nvSpPr>
          <p:spPr bwMode="auto">
            <a:xfrm flipV="1">
              <a:off x="1111" y="2704"/>
              <a:ext cx="0" cy="68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4769" name="Line 16"/>
            <p:cNvSpPr>
              <a:spLocks noChangeShapeType="1"/>
            </p:cNvSpPr>
            <p:nvPr/>
          </p:nvSpPr>
          <p:spPr bwMode="auto">
            <a:xfrm>
              <a:off x="1111" y="2704"/>
              <a:ext cx="499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324627" name="Text Box 19"/>
          <p:cNvSpPr txBox="1">
            <a:spLocks noChangeArrowheads="1"/>
          </p:cNvSpPr>
          <p:nvPr/>
        </p:nvSpPr>
        <p:spPr bwMode="auto">
          <a:xfrm>
            <a:off x="6804025" y="5805488"/>
            <a:ext cx="1584325" cy="579437"/>
          </a:xfrm>
          <a:prstGeom prst="rect">
            <a:avLst/>
          </a:prstGeom>
          <a:solidFill>
            <a:srgbClr val="00666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 sz="3200" b="1">
                <a:solidFill>
                  <a:schemeClr val="bg1"/>
                </a:solidFill>
                <a:latin typeface="Times New Roman" pitchFamily="18" charset="0"/>
              </a:rPr>
              <a:t>P131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/>
          <p:cNvSpPr>
            <a:spLocks noGrp="1" noChangeArrowheads="1"/>
          </p:cNvSpPr>
          <p:nvPr>
            <p:ph type="title"/>
          </p:nvPr>
        </p:nvSpPr>
        <p:spPr>
          <a:xfrm>
            <a:off x="990600" y="476250"/>
            <a:ext cx="7974013" cy="762000"/>
          </a:xfrm>
        </p:spPr>
        <p:txBody>
          <a:bodyPr/>
          <a:lstStyle/>
          <a:p>
            <a:pPr eaLnBrk="1" hangingPunct="1"/>
            <a:r>
              <a:rPr lang="zh-CN" altLang="en-US" b="1" smtClean="0">
                <a:solidFill>
                  <a:srgbClr val="000099"/>
                </a:solidFill>
                <a:latin typeface="Times New Roman" pitchFamily="18" charset="0"/>
                <a:ea typeface="华文新魏" pitchFamily="2" charset="-122"/>
              </a:rPr>
              <a:t>4.4  预测分析器</a:t>
            </a:r>
            <a:r>
              <a:rPr lang="en-US" altLang="zh-CN" sz="4000" b="1" smtClean="0">
                <a:solidFill>
                  <a:srgbClr val="000099"/>
                </a:solidFill>
                <a:latin typeface="Times New Roman" pitchFamily="18" charset="0"/>
                <a:ea typeface="华文新魏" pitchFamily="2" charset="-122"/>
              </a:rPr>
              <a:t>(LL(1)</a:t>
            </a:r>
            <a:r>
              <a:rPr lang="zh-CN" altLang="en-US" sz="4000" b="1" smtClean="0">
                <a:solidFill>
                  <a:srgbClr val="000099"/>
                </a:solidFill>
                <a:latin typeface="Times New Roman" pitchFamily="18" charset="0"/>
                <a:ea typeface="华文新魏" pitchFamily="2" charset="-122"/>
              </a:rPr>
              <a:t>分析器</a:t>
            </a:r>
            <a:r>
              <a:rPr lang="en-US" altLang="zh-CN" sz="4000" b="1" smtClean="0">
                <a:solidFill>
                  <a:srgbClr val="000099"/>
                </a:solidFill>
                <a:latin typeface="Times New Roman" pitchFamily="18" charset="0"/>
                <a:ea typeface="华文新魏" pitchFamily="2" charset="-122"/>
              </a:rPr>
              <a:t>)</a:t>
            </a:r>
          </a:p>
        </p:txBody>
      </p:sp>
      <p:sp>
        <p:nvSpPr>
          <p:cNvPr id="323587" name="Rectangle 3"/>
          <p:cNvSpPr>
            <a:spLocks noGrp="1" noChangeArrowheads="1"/>
          </p:cNvSpPr>
          <p:nvPr>
            <p:ph idx="1"/>
          </p:nvPr>
        </p:nvSpPr>
        <p:spPr>
          <a:xfrm>
            <a:off x="323850" y="1412875"/>
            <a:ext cx="8591550" cy="4752975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系统维持一个分析表和一个分析栈，根据当前扫描到的符号，选择当前语法变量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(</a:t>
            </a: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处于栈顶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)</a:t>
            </a: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的候选式进行推导——希望找到相应的输入符号串的最左推导</a:t>
            </a:r>
          </a:p>
          <a:p>
            <a:pPr eaLnBrk="1" hangingPunct="1">
              <a:lnSpc>
                <a:spcPct val="90000"/>
              </a:lnSpc>
            </a:pP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组成</a:t>
            </a:r>
          </a:p>
          <a:p>
            <a:pPr lvl="1" eaLnBrk="1" hangingPunct="1">
              <a:lnSpc>
                <a:spcPct val="90000"/>
              </a:lnSpc>
            </a:pP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一个通用的控制算法</a:t>
            </a:r>
          </a:p>
          <a:p>
            <a:pPr lvl="1" eaLnBrk="1" hangingPunct="1">
              <a:lnSpc>
                <a:spcPct val="90000"/>
              </a:lnSpc>
            </a:pP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一个分析栈，#为栈底符号</a:t>
            </a:r>
          </a:p>
          <a:p>
            <a:pPr lvl="1" eaLnBrk="1" hangingPunct="1">
              <a:lnSpc>
                <a:spcPct val="90000"/>
              </a:lnSpc>
            </a:pP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一个输入缓冲区，#为输入串结束符</a:t>
            </a:r>
          </a:p>
          <a:p>
            <a:pPr lvl="1" eaLnBrk="1" hangingPunct="1">
              <a:lnSpc>
                <a:spcPct val="90000"/>
              </a:lnSpc>
            </a:pP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一个统一形式的</a:t>
            </a:r>
            <a:r>
              <a:rPr lang="zh-CN" altLang="en-US" b="1" smtClean="0">
                <a:solidFill>
                  <a:srgbClr val="993366"/>
                </a:solidFill>
                <a:latin typeface="Times New Roman" pitchFamily="18" charset="0"/>
                <a:ea typeface="华文新魏" pitchFamily="2" charset="-122"/>
              </a:rPr>
              <a:t>分析表</a:t>
            </a:r>
            <a:r>
              <a:rPr lang="en-US" altLang="zh-CN" b="1" smtClean="0">
                <a:solidFill>
                  <a:srgbClr val="993366"/>
                </a:solidFill>
                <a:latin typeface="Times New Roman" pitchFamily="18" charset="0"/>
                <a:ea typeface="华文新魏" pitchFamily="2" charset="-122"/>
              </a:rPr>
              <a:t>M</a:t>
            </a:r>
          </a:p>
          <a:p>
            <a:pPr lvl="2" eaLnBrk="1" hangingPunct="1">
              <a:lnSpc>
                <a:spcPct val="90000"/>
              </a:lnSpc>
            </a:pP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不同语言使用内容不同的分析表</a:t>
            </a:r>
          </a:p>
        </p:txBody>
      </p:sp>
      <p:sp>
        <p:nvSpPr>
          <p:cNvPr id="75780" name="日期占位符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710B2B04-8181-464E-8113-D0EC79241DD6}" type="datetime1">
              <a:rPr lang="zh-CN" altLang="en-US" smtClean="0"/>
              <a:pPr eaLnBrk="1" hangingPunct="1"/>
              <a:t>2017/2/24</a:t>
            </a:fld>
            <a:endParaRPr lang="en-US" altLang="zh-CN" smtClean="0"/>
          </a:p>
        </p:txBody>
      </p:sp>
      <p:sp>
        <p:nvSpPr>
          <p:cNvPr id="75781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811EC1AB-D056-4BFA-BFDA-9922629AF193}" type="slidenum">
              <a:rPr lang="zh-CN" altLang="en-US" smtClean="0"/>
              <a:pPr eaLnBrk="1" hangingPunct="1"/>
              <a:t>63</a:t>
            </a:fld>
            <a:endParaRPr lang="en-US" altLang="zh-CN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4"/>
          <p:cNvSpPr>
            <a:spLocks noGrp="1" noChangeArrowheads="1"/>
          </p:cNvSpPr>
          <p:nvPr>
            <p:ph type="title"/>
          </p:nvPr>
        </p:nvSpPr>
        <p:spPr>
          <a:xfrm>
            <a:off x="755650" y="620713"/>
            <a:ext cx="7772400" cy="838200"/>
          </a:xfrm>
        </p:spPr>
        <p:txBody>
          <a:bodyPr/>
          <a:lstStyle/>
          <a:p>
            <a:pPr eaLnBrk="1" hangingPunct="1"/>
            <a:r>
              <a:rPr lang="zh-CN" altLang="en-US" sz="4000" b="1" smtClean="0">
                <a:solidFill>
                  <a:srgbClr val="000099"/>
                </a:solidFill>
                <a:latin typeface="Times New Roman" pitchFamily="18" charset="0"/>
                <a:ea typeface="华文新魏" pitchFamily="2" charset="-122"/>
              </a:rPr>
              <a:t>考虑简单算术表达式文法的实现</a:t>
            </a:r>
          </a:p>
        </p:txBody>
      </p:sp>
      <p:sp>
        <p:nvSpPr>
          <p:cNvPr id="325634" name="Rectangle 2"/>
          <p:cNvSpPr>
            <a:spLocks noGrp="1" noChangeArrowheads="1"/>
          </p:cNvSpPr>
          <p:nvPr>
            <p:ph idx="1"/>
          </p:nvPr>
        </p:nvSpPr>
        <p:spPr>
          <a:xfrm>
            <a:off x="827088" y="3284538"/>
            <a:ext cx="7626350" cy="1590675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FIRST(TE')={(,id}     FIRST(+TE')={+}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FIRST(FT')={(,id}     FIRST(*FT')={*}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FIRST((E))={(} 	      FIRST(id)={id}</a:t>
            </a:r>
          </a:p>
        </p:txBody>
      </p:sp>
      <p:sp>
        <p:nvSpPr>
          <p:cNvPr id="76804" name="日期占位符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662C52D8-CE79-4FE6-A1BE-D4AB7A0E1DFD}" type="datetime1">
              <a:rPr lang="zh-CN" altLang="en-US" smtClean="0"/>
              <a:pPr eaLnBrk="1" hangingPunct="1"/>
              <a:t>2017/2/24</a:t>
            </a:fld>
            <a:endParaRPr lang="en-US" altLang="zh-CN" smtClean="0"/>
          </a:p>
        </p:txBody>
      </p:sp>
      <p:sp>
        <p:nvSpPr>
          <p:cNvPr id="76805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18170748-B443-4624-AF5B-5E8F847A2F42}" type="slidenum">
              <a:rPr lang="zh-CN" altLang="en-US" smtClean="0"/>
              <a:pPr eaLnBrk="1" hangingPunct="1"/>
              <a:t>64</a:t>
            </a:fld>
            <a:endParaRPr lang="en-US" altLang="zh-CN" smtClean="0"/>
          </a:p>
        </p:txBody>
      </p:sp>
      <p:sp>
        <p:nvSpPr>
          <p:cNvPr id="325635" name="Text Box 3"/>
          <p:cNvSpPr txBox="1">
            <a:spLocks noChangeArrowheads="1"/>
          </p:cNvSpPr>
          <p:nvPr/>
        </p:nvSpPr>
        <p:spPr bwMode="auto">
          <a:xfrm>
            <a:off x="827088" y="1762125"/>
            <a:ext cx="6629400" cy="1163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>
            <a:spAutoFit/>
          </a:bodyPr>
          <a:lstStyle/>
          <a:p>
            <a:pPr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32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E→TE</a:t>
            </a:r>
            <a:r>
              <a:rPr lang="en-US" altLang="zh-CN" sz="3200" b="1">
                <a:latin typeface="Times New Roman" pitchFamily="18" charset="0"/>
              </a:rPr>
              <a:t>'</a:t>
            </a:r>
            <a:r>
              <a:rPr kumimoji="1" lang="en-US" altLang="zh-CN" sz="32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 	E</a:t>
            </a:r>
            <a:r>
              <a:rPr lang="en-US" altLang="zh-CN" sz="3200" b="1">
                <a:latin typeface="Times New Roman" pitchFamily="18" charset="0"/>
              </a:rPr>
              <a:t>'</a:t>
            </a:r>
            <a:r>
              <a:rPr kumimoji="1" lang="en-US" altLang="zh-CN" sz="3200">
                <a:latin typeface="Times New Roman" pitchFamily="18" charset="0"/>
              </a:rPr>
              <a:t> </a:t>
            </a:r>
            <a:r>
              <a:rPr kumimoji="1" lang="en-US" altLang="zh-CN" sz="32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→+TE</a:t>
            </a:r>
            <a:r>
              <a:rPr lang="en-US" altLang="zh-CN" sz="3200" b="1">
                <a:latin typeface="Times New Roman" pitchFamily="18" charset="0"/>
              </a:rPr>
              <a:t>'</a:t>
            </a:r>
            <a:r>
              <a:rPr kumimoji="1" lang="en-US" altLang="zh-CN" sz="3200">
                <a:latin typeface="Times New Roman" pitchFamily="18" charset="0"/>
              </a:rPr>
              <a:t> </a:t>
            </a:r>
            <a:r>
              <a:rPr kumimoji="1" lang="en-US" altLang="zh-CN" sz="32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|ε 	T→FT</a:t>
            </a:r>
            <a:r>
              <a:rPr lang="en-US" altLang="zh-CN" sz="3200" b="1">
                <a:latin typeface="Times New Roman" pitchFamily="18" charset="0"/>
              </a:rPr>
              <a:t>'</a:t>
            </a:r>
            <a:r>
              <a:rPr kumimoji="1" lang="en-US" altLang="zh-CN" sz="32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 </a:t>
            </a:r>
          </a:p>
          <a:p>
            <a:pPr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32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T</a:t>
            </a:r>
            <a:r>
              <a:rPr lang="en-US" altLang="zh-CN" sz="3200" b="1">
                <a:latin typeface="Times New Roman" pitchFamily="18" charset="0"/>
              </a:rPr>
              <a:t>'</a:t>
            </a:r>
            <a:r>
              <a:rPr kumimoji="1" lang="en-US" altLang="zh-CN" sz="3200">
                <a:latin typeface="Times New Roman" pitchFamily="18" charset="0"/>
              </a:rPr>
              <a:t> </a:t>
            </a:r>
            <a:r>
              <a:rPr kumimoji="1" lang="en-US" altLang="zh-CN" sz="32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→*FT</a:t>
            </a:r>
            <a:r>
              <a:rPr lang="en-US" altLang="zh-CN" sz="3200" b="1">
                <a:latin typeface="Times New Roman" pitchFamily="18" charset="0"/>
              </a:rPr>
              <a:t>'</a:t>
            </a:r>
            <a:r>
              <a:rPr kumimoji="1" lang="en-US" altLang="zh-CN" sz="3200">
                <a:latin typeface="Times New Roman" pitchFamily="18" charset="0"/>
              </a:rPr>
              <a:t> </a:t>
            </a:r>
            <a:r>
              <a:rPr kumimoji="1" lang="en-US" altLang="zh-CN" sz="32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|ε  		F→(E)|id</a:t>
            </a:r>
          </a:p>
        </p:txBody>
      </p:sp>
      <p:sp>
        <p:nvSpPr>
          <p:cNvPr id="325637" name="Rectangle 5"/>
          <p:cNvSpPr>
            <a:spLocks noChangeArrowheads="1"/>
          </p:cNvSpPr>
          <p:nvPr/>
        </p:nvSpPr>
        <p:spPr bwMode="auto">
          <a:xfrm>
            <a:off x="833438" y="5157788"/>
            <a:ext cx="7626350" cy="1008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en-US" altLang="zh-CN" sz="2800" b="1">
                <a:latin typeface="Times New Roman" pitchFamily="18" charset="0"/>
                <a:ea typeface="华文新魏" pitchFamily="2" charset="-122"/>
              </a:rPr>
              <a:t>FOLLOW( E')={ ), # }</a:t>
            </a:r>
          </a:p>
          <a:p>
            <a: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en-US" altLang="zh-CN" sz="2800" b="1">
                <a:latin typeface="Times New Roman" pitchFamily="18" charset="0"/>
                <a:ea typeface="华文新魏" pitchFamily="2" charset="-122"/>
              </a:rPr>
              <a:t>FOLLOW( T')={ +, ), # }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71"/>
          <p:cNvSpPr>
            <a:spLocks noGrp="1" noChangeArrowheads="1"/>
          </p:cNvSpPr>
          <p:nvPr>
            <p:ph type="title"/>
          </p:nvPr>
        </p:nvSpPr>
        <p:spPr>
          <a:xfrm>
            <a:off x="1619250" y="1773238"/>
            <a:ext cx="6121400" cy="623887"/>
          </a:xfrm>
        </p:spPr>
        <p:txBody>
          <a:bodyPr/>
          <a:lstStyle/>
          <a:p>
            <a:pPr eaLnBrk="1" hangingPunct="1"/>
            <a:r>
              <a:rPr lang="zh-CN" altLang="en-US" sz="4000" b="1" smtClean="0">
                <a:latin typeface="Times New Roman" pitchFamily="18" charset="0"/>
                <a:ea typeface="华文新魏" pitchFamily="2" charset="-122"/>
              </a:rPr>
              <a:t>表达式文法的预测分析表</a:t>
            </a:r>
          </a:p>
        </p:txBody>
      </p:sp>
      <p:graphicFrame>
        <p:nvGraphicFramePr>
          <p:cNvPr id="374959" name="Group 175"/>
          <p:cNvGraphicFramePr>
            <a:graphicFrameLocks noGrp="1"/>
          </p:cNvGraphicFramePr>
          <p:nvPr/>
        </p:nvGraphicFramePr>
        <p:xfrm>
          <a:off x="611188" y="2422525"/>
          <a:ext cx="7993062" cy="4079878"/>
        </p:xfrm>
        <a:graphic>
          <a:graphicData uri="http://schemas.openxmlformats.org/drawingml/2006/table">
            <a:tbl>
              <a:tblPr/>
              <a:tblGrid>
                <a:gridCol w="819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8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604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90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382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445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88963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ahoma" pitchFamily="34" charset="0"/>
                          <a:ea typeface="华文新魏" pitchFamily="2" charset="-122"/>
                        </a:rPr>
                        <a:t>语法变量</a:t>
                      </a:r>
                      <a:endParaRPr kumimoji="0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ahoma" pitchFamily="34" charset="0"/>
                        <a:ea typeface="华文新魏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6666"/>
                    </a:solidFill>
                  </a:tcPr>
                </a:tc>
                <a:tc gridSpan="6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3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ahoma" pitchFamily="34" charset="0"/>
                          <a:ea typeface="华文新魏" pitchFamily="2" charset="-122"/>
                        </a:rPr>
                        <a:t>终极符号</a:t>
                      </a:r>
                      <a:endParaRPr kumimoji="0" lang="en-US" altLang="zh-CN" sz="3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ahoma" pitchFamily="34" charset="0"/>
                        <a:ea typeface="华文新魏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666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5788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id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66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+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66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*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66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(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66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)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66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#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66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40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E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66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itchFamily="18" charset="0"/>
                        <a:ea typeface="华文新魏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66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66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66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itchFamily="18" charset="0"/>
                        <a:ea typeface="华文新魏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66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66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66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73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E</a:t>
                      </a: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华文新魏" pitchFamily="2" charset="-122"/>
                        </a:rPr>
                        <a:t>'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66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66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66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66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66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itchFamily="18" charset="0"/>
                        <a:ea typeface="华文新魏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66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itchFamily="18" charset="0"/>
                        <a:ea typeface="华文新魏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66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89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T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66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itchFamily="18" charset="0"/>
                        <a:ea typeface="华文新魏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66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66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66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itchFamily="18" charset="0"/>
                        <a:ea typeface="华文新魏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66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66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66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57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T</a:t>
                      </a: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华文新魏" pitchFamily="2" charset="-122"/>
                        </a:rPr>
                        <a:t>'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66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66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itchFamily="18" charset="0"/>
                        <a:ea typeface="华文新魏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66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66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66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itchFamily="18" charset="0"/>
                        <a:ea typeface="华文新魏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66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itchFamily="18" charset="0"/>
                        <a:ea typeface="华文新魏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66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889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F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66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66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66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66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66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66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66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7887" name="日期占位符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8E43D8B0-71D9-4D22-8E34-1F41D1BA037A}" type="datetime1">
              <a:rPr lang="zh-CN" altLang="en-US" smtClean="0"/>
              <a:pPr eaLnBrk="1" hangingPunct="1"/>
              <a:t>2017/2/24</a:t>
            </a:fld>
            <a:endParaRPr lang="en-US" altLang="zh-CN" smtClean="0"/>
          </a:p>
        </p:txBody>
      </p:sp>
      <p:sp>
        <p:nvSpPr>
          <p:cNvPr id="77888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59F3745F-6670-4F61-8380-4C681B356DA8}" type="slidenum">
              <a:rPr lang="zh-CN" altLang="en-US" smtClean="0"/>
              <a:pPr eaLnBrk="1" hangingPunct="1"/>
              <a:t>65</a:t>
            </a:fld>
            <a:endParaRPr lang="en-US" altLang="zh-CN" smtClean="0"/>
          </a:p>
        </p:txBody>
      </p:sp>
      <p:sp>
        <p:nvSpPr>
          <p:cNvPr id="374960" name="Rectangle 176"/>
          <p:cNvSpPr>
            <a:spLocks noChangeArrowheads="1"/>
          </p:cNvSpPr>
          <p:nvPr/>
        </p:nvSpPr>
        <p:spPr bwMode="auto">
          <a:xfrm>
            <a:off x="250825" y="260350"/>
            <a:ext cx="8893175" cy="720725"/>
          </a:xfrm>
          <a:prstGeom prst="rect">
            <a:avLst/>
          </a:prstGeom>
          <a:solidFill>
            <a:srgbClr val="00666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en-US" altLang="zh-CN" b="1">
                <a:solidFill>
                  <a:schemeClr val="bg1"/>
                </a:solidFill>
                <a:latin typeface="Times New Roman" pitchFamily="18" charset="0"/>
                <a:ea typeface="华文新魏" pitchFamily="2" charset="-122"/>
              </a:rPr>
              <a:t>FOLLOW( E')={ ), # };  FOLLOW( T')={ +, ), # };   FIRST(TE')={(,id}; FIRST(id)={id}</a:t>
            </a:r>
          </a:p>
          <a:p>
            <a: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en-US" altLang="zh-CN" b="1">
                <a:solidFill>
                  <a:schemeClr val="bg1"/>
                </a:solidFill>
                <a:latin typeface="Times New Roman" pitchFamily="18" charset="0"/>
                <a:ea typeface="华文新魏" pitchFamily="2" charset="-122"/>
              </a:rPr>
              <a:t>FIRST(+TE')={+};  FIRST(FT')={(,id};     FIRST(*FT')={*};FIRST((E))={(}</a:t>
            </a:r>
          </a:p>
        </p:txBody>
      </p:sp>
      <p:sp>
        <p:nvSpPr>
          <p:cNvPr id="374961" name="Text Box 177"/>
          <p:cNvSpPr txBox="1">
            <a:spLocks noChangeArrowheads="1"/>
          </p:cNvSpPr>
          <p:nvPr/>
        </p:nvSpPr>
        <p:spPr bwMode="auto">
          <a:xfrm>
            <a:off x="107950" y="1117600"/>
            <a:ext cx="9144000" cy="457200"/>
          </a:xfrm>
          <a:prstGeom prst="rect">
            <a:avLst/>
          </a:prstGeom>
          <a:solidFill>
            <a:srgbClr val="006666"/>
          </a:solidFill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>
            <a:spAutoFit/>
          </a:bodyPr>
          <a:lstStyle/>
          <a:p>
            <a:pPr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400" b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E→TE</a:t>
            </a:r>
            <a:r>
              <a:rPr lang="en-US" altLang="zh-CN" sz="2400" b="1">
                <a:solidFill>
                  <a:schemeClr val="bg1"/>
                </a:solidFill>
              </a:rPr>
              <a:t>'</a:t>
            </a:r>
            <a:r>
              <a:rPr kumimoji="1" lang="en-US" altLang="zh-CN" sz="2400" b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   E</a:t>
            </a:r>
            <a:r>
              <a:rPr lang="en-US" altLang="zh-CN" sz="2400" b="1">
                <a:solidFill>
                  <a:schemeClr val="bg1"/>
                </a:solidFill>
              </a:rPr>
              <a:t>'</a:t>
            </a:r>
            <a:r>
              <a:rPr kumimoji="1" lang="en-US" altLang="zh-CN" sz="2400">
                <a:solidFill>
                  <a:schemeClr val="bg1"/>
                </a:solidFill>
              </a:rPr>
              <a:t> </a:t>
            </a:r>
            <a:r>
              <a:rPr kumimoji="1" lang="en-US" altLang="zh-CN" sz="2400" b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→+TE</a:t>
            </a:r>
            <a:r>
              <a:rPr lang="en-US" altLang="zh-CN" sz="2400" b="1">
                <a:solidFill>
                  <a:schemeClr val="bg1"/>
                </a:solidFill>
              </a:rPr>
              <a:t>'</a:t>
            </a:r>
            <a:r>
              <a:rPr kumimoji="1" lang="en-US" altLang="zh-CN" sz="2400">
                <a:solidFill>
                  <a:schemeClr val="bg1"/>
                </a:solidFill>
              </a:rPr>
              <a:t> </a:t>
            </a:r>
            <a:r>
              <a:rPr kumimoji="1" lang="en-US" altLang="zh-CN" sz="2400" b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|ε   T→FT</a:t>
            </a:r>
            <a:r>
              <a:rPr lang="en-US" altLang="zh-CN" sz="2400" b="1">
                <a:solidFill>
                  <a:schemeClr val="bg1"/>
                </a:solidFill>
              </a:rPr>
              <a:t>'</a:t>
            </a:r>
            <a:r>
              <a:rPr kumimoji="1" lang="en-US" altLang="zh-CN" sz="2400" b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   T</a:t>
            </a:r>
            <a:r>
              <a:rPr lang="en-US" altLang="zh-CN" sz="2400" b="1">
                <a:solidFill>
                  <a:schemeClr val="bg1"/>
                </a:solidFill>
              </a:rPr>
              <a:t>'</a:t>
            </a:r>
            <a:r>
              <a:rPr kumimoji="1" lang="en-US" altLang="zh-CN" sz="2400">
                <a:solidFill>
                  <a:schemeClr val="bg1"/>
                </a:solidFill>
              </a:rPr>
              <a:t> </a:t>
            </a:r>
            <a:r>
              <a:rPr kumimoji="1" lang="en-US" altLang="zh-CN" sz="2400" b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→*FT</a:t>
            </a:r>
            <a:r>
              <a:rPr lang="en-US" altLang="zh-CN" sz="2400" b="1">
                <a:solidFill>
                  <a:schemeClr val="bg1"/>
                </a:solidFill>
              </a:rPr>
              <a:t>'</a:t>
            </a:r>
            <a:r>
              <a:rPr kumimoji="1" lang="en-US" altLang="zh-CN" sz="2400">
                <a:solidFill>
                  <a:schemeClr val="bg1"/>
                </a:solidFill>
              </a:rPr>
              <a:t> </a:t>
            </a:r>
            <a:r>
              <a:rPr kumimoji="1" lang="en-US" altLang="zh-CN" sz="2400" b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|ε     F→(E)|id</a:t>
            </a:r>
          </a:p>
        </p:txBody>
      </p:sp>
      <p:sp>
        <p:nvSpPr>
          <p:cNvPr id="374962" name="Rectangle 178"/>
          <p:cNvSpPr>
            <a:spLocks noChangeArrowheads="1"/>
          </p:cNvSpPr>
          <p:nvPr/>
        </p:nvSpPr>
        <p:spPr bwMode="auto">
          <a:xfrm>
            <a:off x="1547813" y="3716338"/>
            <a:ext cx="115252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  <a:defRPr/>
            </a:pPr>
            <a:r>
              <a:rPr kumimoji="1" lang="en-US" altLang="zh-CN" sz="2400" b="1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→TE'</a:t>
            </a:r>
            <a:endParaRPr kumimoji="1" lang="zh-CN" altLang="en-US" sz="2400" b="1">
              <a:solidFill>
                <a:schemeClr val="bg1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itchFamily="18" charset="0"/>
            </a:endParaRPr>
          </a:p>
        </p:txBody>
      </p:sp>
      <p:sp>
        <p:nvSpPr>
          <p:cNvPr id="374963" name="Rectangle 179"/>
          <p:cNvSpPr>
            <a:spLocks noChangeArrowheads="1"/>
          </p:cNvSpPr>
          <p:nvPr/>
        </p:nvSpPr>
        <p:spPr bwMode="auto">
          <a:xfrm>
            <a:off x="5219700" y="3670300"/>
            <a:ext cx="115252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  <a:defRPr/>
            </a:pPr>
            <a:r>
              <a:rPr kumimoji="1" lang="en-US" altLang="zh-CN" sz="2400" b="1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→TE'</a:t>
            </a:r>
            <a:endParaRPr kumimoji="1" lang="zh-CN" altLang="en-US" sz="2400" b="1">
              <a:solidFill>
                <a:schemeClr val="bg1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itchFamily="18" charset="0"/>
            </a:endParaRPr>
          </a:p>
        </p:txBody>
      </p:sp>
      <p:sp>
        <p:nvSpPr>
          <p:cNvPr id="374964" name="Rectangle 180"/>
          <p:cNvSpPr>
            <a:spLocks noChangeArrowheads="1"/>
          </p:cNvSpPr>
          <p:nvPr/>
        </p:nvSpPr>
        <p:spPr bwMode="auto">
          <a:xfrm>
            <a:off x="2700338" y="4221163"/>
            <a:ext cx="1366837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  <a:defRPr/>
            </a:pPr>
            <a:r>
              <a:rPr kumimoji="1" lang="en-US" altLang="zh-CN" sz="2400" b="1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→+TE'</a:t>
            </a:r>
            <a:endParaRPr kumimoji="1" lang="zh-CN" altLang="en-US" sz="2400" b="1">
              <a:solidFill>
                <a:schemeClr val="bg1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itchFamily="18" charset="0"/>
            </a:endParaRPr>
          </a:p>
        </p:txBody>
      </p:sp>
      <p:sp>
        <p:nvSpPr>
          <p:cNvPr id="374965" name="Rectangle 181"/>
          <p:cNvSpPr>
            <a:spLocks noChangeArrowheads="1"/>
          </p:cNvSpPr>
          <p:nvPr/>
        </p:nvSpPr>
        <p:spPr bwMode="auto">
          <a:xfrm>
            <a:off x="6659563" y="4164013"/>
            <a:ext cx="89535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kumimoji="1" lang="en-US" altLang="zh-CN" sz="2800" b="1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→</a:t>
            </a:r>
            <a:r>
              <a:rPr lang="en-US" altLang="zh-CN" sz="2800" b="1">
                <a:solidFill>
                  <a:schemeClr val="bg1"/>
                </a:solidFill>
                <a:latin typeface="Times New Roman" pitchFamily="18" charset="0"/>
              </a:rPr>
              <a:t>ε</a:t>
            </a:r>
            <a:endParaRPr lang="zh-CN" altLang="en-US" sz="2800" b="1">
              <a:solidFill>
                <a:schemeClr val="bg1"/>
              </a:solidFill>
              <a:latin typeface="Times New Roman" pitchFamily="18" charset="0"/>
            </a:endParaRPr>
          </a:p>
        </p:txBody>
      </p:sp>
      <p:sp>
        <p:nvSpPr>
          <p:cNvPr id="374966" name="Rectangle 182"/>
          <p:cNvSpPr>
            <a:spLocks noChangeArrowheads="1"/>
          </p:cNvSpPr>
          <p:nvPr/>
        </p:nvSpPr>
        <p:spPr bwMode="auto">
          <a:xfrm>
            <a:off x="7524750" y="4149725"/>
            <a:ext cx="89535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kumimoji="1" lang="en-US" altLang="zh-CN" sz="2800" b="1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→</a:t>
            </a:r>
            <a:r>
              <a:rPr lang="en-US" altLang="zh-CN" sz="2800" b="1">
                <a:solidFill>
                  <a:schemeClr val="bg1"/>
                </a:solidFill>
                <a:latin typeface="Times New Roman" pitchFamily="18" charset="0"/>
              </a:rPr>
              <a:t>ε</a:t>
            </a:r>
            <a:endParaRPr lang="zh-CN" altLang="en-US" sz="2800" b="1">
              <a:solidFill>
                <a:schemeClr val="bg1"/>
              </a:solidFill>
              <a:latin typeface="Times New Roman" pitchFamily="18" charset="0"/>
            </a:endParaRPr>
          </a:p>
        </p:txBody>
      </p:sp>
      <p:sp>
        <p:nvSpPr>
          <p:cNvPr id="374967" name="Rectangle 183"/>
          <p:cNvSpPr>
            <a:spLocks noChangeArrowheads="1"/>
          </p:cNvSpPr>
          <p:nvPr/>
        </p:nvSpPr>
        <p:spPr bwMode="auto">
          <a:xfrm>
            <a:off x="2843213" y="5300663"/>
            <a:ext cx="89535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kumimoji="1" lang="en-US" altLang="zh-CN" sz="2800" b="1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→</a:t>
            </a:r>
            <a:r>
              <a:rPr lang="en-US" altLang="zh-CN" sz="2800" b="1">
                <a:solidFill>
                  <a:schemeClr val="bg1"/>
                </a:solidFill>
                <a:latin typeface="Times New Roman" pitchFamily="18" charset="0"/>
              </a:rPr>
              <a:t>ε</a:t>
            </a:r>
            <a:endParaRPr lang="zh-CN" altLang="en-US" sz="2800" b="1">
              <a:solidFill>
                <a:schemeClr val="bg1"/>
              </a:solidFill>
              <a:latin typeface="Times New Roman" pitchFamily="18" charset="0"/>
            </a:endParaRPr>
          </a:p>
        </p:txBody>
      </p:sp>
      <p:sp>
        <p:nvSpPr>
          <p:cNvPr id="374968" name="Rectangle 184"/>
          <p:cNvSpPr>
            <a:spLocks noChangeArrowheads="1"/>
          </p:cNvSpPr>
          <p:nvPr/>
        </p:nvSpPr>
        <p:spPr bwMode="auto">
          <a:xfrm>
            <a:off x="6516688" y="5373688"/>
            <a:ext cx="89535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kumimoji="1" lang="en-US" altLang="zh-CN" sz="2800" b="1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→</a:t>
            </a:r>
            <a:r>
              <a:rPr lang="en-US" altLang="zh-CN" sz="2800" b="1">
                <a:solidFill>
                  <a:schemeClr val="bg1"/>
                </a:solidFill>
                <a:latin typeface="Times New Roman" pitchFamily="18" charset="0"/>
              </a:rPr>
              <a:t>ε</a:t>
            </a:r>
            <a:endParaRPr lang="zh-CN" altLang="en-US" sz="2800" b="1">
              <a:solidFill>
                <a:schemeClr val="bg1"/>
              </a:solidFill>
              <a:latin typeface="Times New Roman" pitchFamily="18" charset="0"/>
            </a:endParaRPr>
          </a:p>
        </p:txBody>
      </p:sp>
      <p:sp>
        <p:nvSpPr>
          <p:cNvPr id="374969" name="Rectangle 185"/>
          <p:cNvSpPr>
            <a:spLocks noChangeArrowheads="1"/>
          </p:cNvSpPr>
          <p:nvPr/>
        </p:nvSpPr>
        <p:spPr bwMode="auto">
          <a:xfrm>
            <a:off x="7596188" y="5373688"/>
            <a:ext cx="89535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kumimoji="1" lang="en-US" altLang="zh-CN" sz="2800" b="1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→</a:t>
            </a:r>
            <a:r>
              <a:rPr lang="en-US" altLang="zh-CN" sz="2800" b="1">
                <a:solidFill>
                  <a:schemeClr val="bg1"/>
                </a:solidFill>
                <a:latin typeface="Times New Roman" pitchFamily="18" charset="0"/>
              </a:rPr>
              <a:t>ε</a:t>
            </a:r>
            <a:endParaRPr lang="zh-CN" altLang="en-US" sz="2800" b="1">
              <a:solidFill>
                <a:schemeClr val="bg1"/>
              </a:solidFill>
              <a:latin typeface="Times New Roman" pitchFamily="18" charset="0"/>
            </a:endParaRPr>
          </a:p>
        </p:txBody>
      </p:sp>
      <p:sp>
        <p:nvSpPr>
          <p:cNvPr id="374970" name="Rectangle 186"/>
          <p:cNvSpPr>
            <a:spLocks noChangeArrowheads="1"/>
          </p:cNvSpPr>
          <p:nvPr/>
        </p:nvSpPr>
        <p:spPr bwMode="auto">
          <a:xfrm>
            <a:off x="1547813" y="4868863"/>
            <a:ext cx="963612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kumimoji="1" lang="en-US" altLang="zh-CN" sz="2400" b="1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→FT</a:t>
            </a:r>
            <a:r>
              <a:rPr lang="en-US" altLang="zh-CN" sz="2400" b="1">
                <a:solidFill>
                  <a:schemeClr val="bg1"/>
                </a:solidFill>
                <a:latin typeface="Times New Roman" pitchFamily="18" charset="0"/>
              </a:rPr>
              <a:t>'</a:t>
            </a:r>
            <a:endParaRPr lang="zh-CN" altLang="en-US" sz="2400" b="1">
              <a:solidFill>
                <a:schemeClr val="bg1"/>
              </a:solidFill>
              <a:latin typeface="Times New Roman" pitchFamily="18" charset="0"/>
            </a:endParaRPr>
          </a:p>
        </p:txBody>
      </p:sp>
      <p:sp>
        <p:nvSpPr>
          <p:cNvPr id="374971" name="Rectangle 187"/>
          <p:cNvSpPr>
            <a:spLocks noChangeArrowheads="1"/>
          </p:cNvSpPr>
          <p:nvPr/>
        </p:nvSpPr>
        <p:spPr bwMode="auto">
          <a:xfrm>
            <a:off x="5292725" y="4797425"/>
            <a:ext cx="9636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kumimoji="1" lang="en-US" altLang="zh-CN" sz="2400" b="1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→FT</a:t>
            </a:r>
            <a:r>
              <a:rPr lang="en-US" altLang="zh-CN" sz="2400" b="1">
                <a:solidFill>
                  <a:schemeClr val="bg1"/>
                </a:solidFill>
                <a:latin typeface="Times New Roman" pitchFamily="18" charset="0"/>
              </a:rPr>
              <a:t>'</a:t>
            </a:r>
            <a:endParaRPr lang="zh-CN" altLang="en-US" sz="2400" b="1">
              <a:solidFill>
                <a:schemeClr val="bg1"/>
              </a:solidFill>
              <a:latin typeface="Times New Roman" pitchFamily="18" charset="0"/>
            </a:endParaRPr>
          </a:p>
        </p:txBody>
      </p:sp>
      <p:sp>
        <p:nvSpPr>
          <p:cNvPr id="374972" name="Rectangle 188"/>
          <p:cNvSpPr>
            <a:spLocks noChangeArrowheads="1"/>
          </p:cNvSpPr>
          <p:nvPr/>
        </p:nvSpPr>
        <p:spPr bwMode="auto">
          <a:xfrm>
            <a:off x="3924300" y="5373688"/>
            <a:ext cx="11160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kumimoji="1" lang="en-US" altLang="zh-CN" sz="2400" b="1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→*FT</a:t>
            </a:r>
            <a:r>
              <a:rPr lang="en-US" altLang="zh-CN" sz="2400" b="1">
                <a:solidFill>
                  <a:schemeClr val="bg1"/>
                </a:solidFill>
                <a:latin typeface="Times New Roman" pitchFamily="18" charset="0"/>
              </a:rPr>
              <a:t>'</a:t>
            </a:r>
            <a:endParaRPr lang="zh-CN" altLang="en-US" sz="2400" b="1">
              <a:solidFill>
                <a:schemeClr val="bg1"/>
              </a:solidFill>
              <a:latin typeface="Times New Roman" pitchFamily="18" charset="0"/>
            </a:endParaRPr>
          </a:p>
        </p:txBody>
      </p:sp>
      <p:sp>
        <p:nvSpPr>
          <p:cNvPr id="374973" name="Rectangle 189"/>
          <p:cNvSpPr>
            <a:spLocks noChangeArrowheads="1"/>
          </p:cNvSpPr>
          <p:nvPr/>
        </p:nvSpPr>
        <p:spPr bwMode="auto">
          <a:xfrm>
            <a:off x="1547813" y="6021388"/>
            <a:ext cx="93662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kumimoji="1" lang="en-US" altLang="zh-CN" sz="2400" b="1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→</a:t>
            </a:r>
            <a:r>
              <a:rPr lang="en-US" altLang="zh-CN" sz="2400" b="1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id</a:t>
            </a:r>
            <a:endParaRPr lang="zh-CN" altLang="en-US" sz="2400" b="1">
              <a:solidFill>
                <a:schemeClr val="bg1"/>
              </a:solidFill>
              <a:latin typeface="Times New Roman" pitchFamily="18" charset="0"/>
            </a:endParaRPr>
          </a:p>
        </p:txBody>
      </p:sp>
      <p:sp>
        <p:nvSpPr>
          <p:cNvPr id="374974" name="Rectangle 190"/>
          <p:cNvSpPr>
            <a:spLocks noChangeArrowheads="1"/>
          </p:cNvSpPr>
          <p:nvPr/>
        </p:nvSpPr>
        <p:spPr bwMode="auto">
          <a:xfrm>
            <a:off x="5292725" y="6021388"/>
            <a:ext cx="89693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kumimoji="1" lang="en-US" altLang="zh-CN" sz="2400" b="1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→(E)</a:t>
            </a:r>
            <a:endParaRPr lang="zh-CN" altLang="en-US" sz="2400" b="1">
              <a:solidFill>
                <a:schemeClr val="bg1"/>
              </a:solidFill>
              <a:latin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2"/>
          <p:cNvSpPr>
            <a:spLocks noGrp="1" noChangeArrowheads="1"/>
          </p:cNvSpPr>
          <p:nvPr>
            <p:ph type="title"/>
          </p:nvPr>
        </p:nvSpPr>
        <p:spPr>
          <a:xfrm>
            <a:off x="1152525" y="504825"/>
            <a:ext cx="6840538" cy="1150938"/>
          </a:xfrm>
          <a:noFill/>
        </p:spPr>
        <p:txBody>
          <a:bodyPr lIns="92075" tIns="46038" rIns="92075" bIns="46038"/>
          <a:lstStyle/>
          <a:p>
            <a:pPr eaLnBrk="1" hangingPunct="1"/>
            <a:r>
              <a:rPr lang="zh-CN" altLang="en-US" sz="3600" b="1" smtClean="0">
                <a:solidFill>
                  <a:srgbClr val="000099"/>
                </a:solidFill>
                <a:latin typeface="Times New Roman" pitchFamily="18" charset="0"/>
                <a:ea typeface="华文新魏" pitchFamily="2" charset="-122"/>
              </a:rPr>
              <a:t>执行过程举例：分析 </a:t>
            </a:r>
            <a:r>
              <a:rPr lang="en-US" altLang="zh-CN" sz="3600" b="1" smtClean="0">
                <a:solidFill>
                  <a:srgbClr val="000099"/>
                </a:solidFill>
                <a:latin typeface="Times New Roman" pitchFamily="18" charset="0"/>
                <a:ea typeface="华文新魏" pitchFamily="2" charset="-122"/>
              </a:rPr>
              <a:t>id+id*id</a:t>
            </a:r>
            <a:br>
              <a:rPr lang="en-US" altLang="zh-CN" sz="3600" b="1" smtClean="0">
                <a:solidFill>
                  <a:srgbClr val="000099"/>
                </a:solidFill>
                <a:latin typeface="Times New Roman" pitchFamily="18" charset="0"/>
                <a:ea typeface="华文新魏" pitchFamily="2" charset="-122"/>
              </a:rPr>
            </a:br>
            <a:r>
              <a:rPr lang="en-US" altLang="zh-CN" sz="2800" b="1" smtClean="0">
                <a:solidFill>
                  <a:schemeClr val="folHlink"/>
                </a:solidFill>
                <a:latin typeface="Times New Roman" pitchFamily="18" charset="0"/>
                <a:ea typeface="华文新魏" pitchFamily="2" charset="-122"/>
              </a:rPr>
              <a:t>(</a:t>
            </a:r>
            <a:r>
              <a:rPr lang="zh-CN" altLang="en-US" sz="2800" b="1" smtClean="0">
                <a:solidFill>
                  <a:schemeClr val="folHlink"/>
                </a:solidFill>
                <a:latin typeface="Times New Roman" pitchFamily="18" charset="0"/>
                <a:ea typeface="华文新魏" pitchFamily="2" charset="-122"/>
              </a:rPr>
              <a:t>在黑板上同时画出语法树</a:t>
            </a:r>
            <a:r>
              <a:rPr lang="en-US" altLang="zh-CN" sz="2800" b="1" smtClean="0">
                <a:solidFill>
                  <a:schemeClr val="folHlink"/>
                </a:solidFill>
                <a:latin typeface="Times New Roman" pitchFamily="18" charset="0"/>
                <a:ea typeface="华文新魏" pitchFamily="2" charset="-122"/>
              </a:rPr>
              <a:t>)</a:t>
            </a:r>
          </a:p>
        </p:txBody>
      </p:sp>
      <p:sp>
        <p:nvSpPr>
          <p:cNvPr id="329731" name="Rectangle 3"/>
          <p:cNvSpPr>
            <a:spLocks noGrp="1" noChangeArrowheads="1"/>
          </p:cNvSpPr>
          <p:nvPr>
            <p:ph idx="1"/>
          </p:nvPr>
        </p:nvSpPr>
        <p:spPr>
          <a:xfrm>
            <a:off x="1258888" y="1981200"/>
            <a:ext cx="7058025" cy="4724400"/>
          </a:xfrm>
        </p:spPr>
        <p:txBody>
          <a:bodyPr lIns="92075" tIns="46038" rIns="92075" bIns="46038"/>
          <a:lstStyle/>
          <a:p>
            <a:pPr eaLnBrk="1" hangingPunct="1">
              <a:lnSpc>
                <a:spcPct val="13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zh-CN" altLang="en-US" sz="2800" b="1" smtClean="0">
                <a:latin typeface="Times New Roman" pitchFamily="18" charset="0"/>
                <a:ea typeface="华文新魏" pitchFamily="2" charset="-122"/>
              </a:rPr>
              <a:t>输入缓冲区            栈             输出</a:t>
            </a:r>
          </a:p>
          <a:p>
            <a:pPr eaLnBrk="1" hangingPunct="1">
              <a:lnSpc>
                <a:spcPct val="13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id+id*id#                 E </a:t>
            </a:r>
            <a:r>
              <a:rPr lang="zh-CN" altLang="en-US" sz="2800" b="1" smtClean="0">
                <a:latin typeface="Times New Roman" pitchFamily="18" charset="0"/>
                <a:ea typeface="华文新魏" pitchFamily="2" charset="-122"/>
              </a:rPr>
              <a:t>#</a:t>
            </a:r>
            <a:endParaRPr lang="en-US" altLang="zh-CN" sz="2800" b="1" smtClean="0">
              <a:latin typeface="Times New Roman" pitchFamily="18" charset="0"/>
              <a:ea typeface="华文新魏" pitchFamily="2" charset="-122"/>
            </a:endParaRPr>
          </a:p>
          <a:p>
            <a:pPr eaLnBrk="1" hangingPunct="1">
              <a:lnSpc>
                <a:spcPct val="13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id+id*id#               TE'#        E→TE'</a:t>
            </a:r>
          </a:p>
          <a:p>
            <a:pPr eaLnBrk="1" hangingPunct="1">
              <a:lnSpc>
                <a:spcPct val="13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id+id*id#           FT'E '#       T→FT'</a:t>
            </a:r>
          </a:p>
          <a:p>
            <a:pPr eaLnBrk="1" hangingPunct="1">
              <a:lnSpc>
                <a:spcPct val="13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id+id*id#          idT'E' #       F→id</a:t>
            </a:r>
          </a:p>
          <a:p>
            <a:pPr eaLnBrk="1" hangingPunct="1">
              <a:lnSpc>
                <a:spcPct val="13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+id*id#                 T'E' # </a:t>
            </a:r>
          </a:p>
          <a:p>
            <a:pPr eaLnBrk="1" hangingPunct="1">
              <a:lnSpc>
                <a:spcPct val="13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+id*id#                     E' #      T'→ε</a:t>
            </a:r>
          </a:p>
          <a:p>
            <a:pPr eaLnBrk="1" hangingPunct="1">
              <a:lnSpc>
                <a:spcPct val="13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+id*id#                +TE' #       E'→+TE'</a:t>
            </a:r>
          </a:p>
        </p:txBody>
      </p:sp>
      <p:sp>
        <p:nvSpPr>
          <p:cNvPr id="78852" name="日期占位符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D312F2BB-3AD1-489E-8179-6A1B23AB0C1D}" type="datetime1">
              <a:rPr lang="zh-CN" altLang="en-US" smtClean="0"/>
              <a:pPr eaLnBrk="1" hangingPunct="1"/>
              <a:t>2017/2/24</a:t>
            </a:fld>
            <a:endParaRPr lang="en-US" altLang="zh-CN" smtClean="0"/>
          </a:p>
        </p:txBody>
      </p:sp>
      <p:sp>
        <p:nvSpPr>
          <p:cNvPr id="78853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A365A38B-4615-437D-BC0B-5753B0166507}" type="slidenum">
              <a:rPr lang="zh-CN" altLang="en-US" smtClean="0"/>
              <a:pPr eaLnBrk="1" hangingPunct="1"/>
              <a:t>66</a:t>
            </a:fld>
            <a:endParaRPr lang="en-US" altLang="zh-CN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754" name="Rectangle 2"/>
          <p:cNvSpPr>
            <a:spLocks noGrp="1" noChangeArrowheads="1"/>
          </p:cNvSpPr>
          <p:nvPr>
            <p:ph idx="1"/>
          </p:nvPr>
        </p:nvSpPr>
        <p:spPr>
          <a:xfrm>
            <a:off x="609600" y="990600"/>
            <a:ext cx="7058025" cy="5867400"/>
          </a:xfrm>
        </p:spPr>
        <p:txBody>
          <a:bodyPr/>
          <a:lstStyle/>
          <a:p>
            <a:pPr eaLnBrk="1" hangingPunct="1">
              <a:lnSpc>
                <a:spcPct val="13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id*id#               TE' #</a:t>
            </a:r>
          </a:p>
          <a:p>
            <a:pPr eaLnBrk="1" hangingPunct="1">
              <a:lnSpc>
                <a:spcPct val="13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id*id#           FT'E' </a:t>
            </a:r>
            <a:r>
              <a:rPr lang="zh-CN" altLang="en-US" sz="2800" b="1" smtClean="0">
                <a:latin typeface="Times New Roman" pitchFamily="18" charset="0"/>
                <a:ea typeface="华文新魏" pitchFamily="2" charset="-122"/>
              </a:rPr>
              <a:t>#        </a:t>
            </a: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T→FT'</a:t>
            </a:r>
          </a:p>
          <a:p>
            <a:pPr eaLnBrk="1" hangingPunct="1">
              <a:lnSpc>
                <a:spcPct val="13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id*id#           idT'E'#         F→id</a:t>
            </a:r>
          </a:p>
          <a:p>
            <a:pPr eaLnBrk="1" hangingPunct="1">
              <a:lnSpc>
                <a:spcPct val="13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*id#                  T'E'#</a:t>
            </a:r>
          </a:p>
          <a:p>
            <a:pPr eaLnBrk="1" hangingPunct="1">
              <a:lnSpc>
                <a:spcPct val="13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*id#              *FT'E'#        T'→*FT'</a:t>
            </a:r>
          </a:p>
          <a:p>
            <a:pPr eaLnBrk="1" hangingPunct="1">
              <a:lnSpc>
                <a:spcPct val="13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id#                  FT'E'#</a:t>
            </a:r>
          </a:p>
          <a:p>
            <a:pPr eaLnBrk="1" hangingPunct="1">
              <a:lnSpc>
                <a:spcPct val="13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id#                 idT'E'#        F→id</a:t>
            </a:r>
          </a:p>
          <a:p>
            <a:pPr eaLnBrk="1" hangingPunct="1">
              <a:lnSpc>
                <a:spcPct val="13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#                        T'E'#</a:t>
            </a:r>
          </a:p>
          <a:p>
            <a:pPr eaLnBrk="1" hangingPunct="1">
              <a:lnSpc>
                <a:spcPct val="13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#                            E'#        T'→ε</a:t>
            </a:r>
          </a:p>
          <a:p>
            <a:pPr eaLnBrk="1" hangingPunct="1">
              <a:lnSpc>
                <a:spcPct val="13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#                              #          E'→ε</a:t>
            </a:r>
          </a:p>
        </p:txBody>
      </p:sp>
      <p:sp>
        <p:nvSpPr>
          <p:cNvPr id="330755" name="Rectangle 3"/>
          <p:cNvSpPr>
            <a:spLocks noChangeArrowheads="1"/>
          </p:cNvSpPr>
          <p:nvPr/>
        </p:nvSpPr>
        <p:spPr bwMode="auto">
          <a:xfrm>
            <a:off x="6516688" y="3725863"/>
            <a:ext cx="2303462" cy="3016250"/>
          </a:xfrm>
          <a:prstGeom prst="rect">
            <a:avLst/>
          </a:prstGeom>
          <a:solidFill>
            <a:srgbClr val="006666"/>
          </a:solidFill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>
            <a:spAutoFit/>
          </a:bodyPr>
          <a:lstStyle/>
          <a:p>
            <a:pPr eaLnBrk="0" hangingPunct="0">
              <a:defRPr/>
            </a:pPr>
            <a:r>
              <a:rPr kumimoji="1" lang="zh-CN" altLang="en-US" sz="3200" b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华文新魏" pitchFamily="2" charset="-122"/>
              </a:rPr>
              <a:t>输出的产生式序列对应最左推导的过程，同时可以看成相应的分析树</a:t>
            </a:r>
          </a:p>
        </p:txBody>
      </p:sp>
      <p:sp>
        <p:nvSpPr>
          <p:cNvPr id="330756" name="Text Box 4"/>
          <p:cNvSpPr txBox="1">
            <a:spLocks noChangeArrowheads="1"/>
          </p:cNvSpPr>
          <p:nvPr/>
        </p:nvSpPr>
        <p:spPr bwMode="auto">
          <a:xfrm>
            <a:off x="609600" y="381000"/>
            <a:ext cx="8153400" cy="561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>
            <a:spAutoFit/>
          </a:bodyPr>
          <a:lstStyle/>
          <a:p>
            <a:pPr eaLnBrk="0" hangingPunct="0">
              <a:lnSpc>
                <a:spcPct val="110000"/>
              </a:lnSpc>
              <a:spcBef>
                <a:spcPct val="50000"/>
              </a:spcBef>
              <a:buClr>
                <a:schemeClr val="folHlink"/>
              </a:buClr>
              <a:buSzPct val="75000"/>
              <a:buFont typeface="Monotype Sorts" pitchFamily="2" charset="2"/>
              <a:buNone/>
              <a:defRPr/>
            </a:pPr>
            <a:r>
              <a:rPr lang="en-US" altLang="zh-CN" sz="2800" b="1">
                <a:latin typeface="Times New Roman" pitchFamily="18" charset="0"/>
              </a:rPr>
              <a:t>+id*id#           +TE' #</a:t>
            </a:r>
            <a:r>
              <a:rPr lang="en-US" altLang="zh-CN" sz="2800">
                <a:latin typeface="Times New Roman" pitchFamily="18" charset="0"/>
              </a:rPr>
              <a:t> </a:t>
            </a:r>
            <a:r>
              <a:rPr kumimoji="1" lang="en-US" altLang="zh-CN" sz="28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(</a:t>
            </a:r>
            <a:r>
              <a:rPr kumimoji="1" lang="zh-CN" altLang="en-US" sz="28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接上页</a:t>
            </a:r>
            <a:r>
              <a:rPr kumimoji="1" lang="en-US" altLang="zh-CN" sz="28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)</a:t>
            </a:r>
          </a:p>
        </p:txBody>
      </p:sp>
      <p:sp>
        <p:nvSpPr>
          <p:cNvPr id="330757" name="Rectangle 5"/>
          <p:cNvSpPr>
            <a:spLocks noChangeArrowheads="1"/>
          </p:cNvSpPr>
          <p:nvPr/>
        </p:nvSpPr>
        <p:spPr bwMode="auto">
          <a:xfrm>
            <a:off x="6519863" y="404813"/>
            <a:ext cx="2373312" cy="1554162"/>
          </a:xfrm>
          <a:prstGeom prst="rect">
            <a:avLst/>
          </a:prstGeom>
          <a:solidFill>
            <a:srgbClr val="006666"/>
          </a:solidFill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>
            <a:spAutoFit/>
          </a:bodyPr>
          <a:lstStyle/>
          <a:p>
            <a:pPr eaLnBrk="0" hangingPunct="0">
              <a:defRPr/>
            </a:pPr>
            <a:r>
              <a:rPr kumimoji="1" lang="zh-CN" altLang="en-US" sz="3200" b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华文新魏" pitchFamily="2" charset="-122"/>
              </a:rPr>
              <a:t>栈顶为变量：按分析表执行推导</a:t>
            </a:r>
            <a:endParaRPr kumimoji="1" lang="en-US" altLang="zh-CN" sz="3200" b="1"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imes New Roman" pitchFamily="18" charset="0"/>
              <a:ea typeface="华文新魏" pitchFamily="2" charset="-122"/>
            </a:endParaRPr>
          </a:p>
        </p:txBody>
      </p:sp>
      <p:sp>
        <p:nvSpPr>
          <p:cNvPr id="330758" name="Rectangle 6"/>
          <p:cNvSpPr>
            <a:spLocks noChangeArrowheads="1"/>
          </p:cNvSpPr>
          <p:nvPr/>
        </p:nvSpPr>
        <p:spPr bwMode="auto">
          <a:xfrm>
            <a:off x="6553200" y="2349500"/>
            <a:ext cx="2266950" cy="1066800"/>
          </a:xfrm>
          <a:prstGeom prst="rect">
            <a:avLst/>
          </a:prstGeom>
          <a:solidFill>
            <a:srgbClr val="006666"/>
          </a:solidFill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>
            <a:spAutoFit/>
          </a:bodyPr>
          <a:lstStyle/>
          <a:p>
            <a:pPr eaLnBrk="0" hangingPunct="0">
              <a:defRPr/>
            </a:pPr>
            <a:r>
              <a:rPr kumimoji="1" lang="zh-CN" altLang="en-US" sz="3200" b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华文新魏" pitchFamily="2" charset="-122"/>
              </a:rPr>
              <a:t>栈顶为终极符：匹配</a:t>
            </a:r>
            <a:endParaRPr kumimoji="1" lang="en-US" altLang="zh-CN" sz="3200" b="1"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imes New Roman" pitchFamily="18" charset="0"/>
              <a:ea typeface="华文新魏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2"/>
          <p:cNvSpPr>
            <a:spLocks noGrp="1" noChangeArrowheads="1"/>
          </p:cNvSpPr>
          <p:nvPr>
            <p:ph type="title"/>
          </p:nvPr>
        </p:nvSpPr>
        <p:spPr>
          <a:xfrm>
            <a:off x="1116013" y="288925"/>
            <a:ext cx="6610350" cy="979488"/>
          </a:xfrm>
          <a:noFill/>
        </p:spPr>
        <p:txBody>
          <a:bodyPr lIns="92075" tIns="46038" rIns="92075" bIns="46038"/>
          <a:lstStyle/>
          <a:p>
            <a:pPr eaLnBrk="1" hangingPunct="1"/>
            <a:r>
              <a:rPr lang="zh-CN" altLang="en-US" b="1" smtClean="0">
                <a:solidFill>
                  <a:srgbClr val="000099"/>
                </a:solidFill>
                <a:latin typeface="Times New Roman" pitchFamily="18" charset="0"/>
                <a:ea typeface="华文新魏" pitchFamily="2" charset="-122"/>
              </a:rPr>
              <a:t>系统的执行与特点</a:t>
            </a:r>
          </a:p>
        </p:txBody>
      </p:sp>
      <p:sp>
        <p:nvSpPr>
          <p:cNvPr id="331779" name="Rectangle 3"/>
          <p:cNvSpPr>
            <a:spLocks noGrp="1" noChangeArrowheads="1"/>
          </p:cNvSpPr>
          <p:nvPr>
            <p:ph idx="1"/>
          </p:nvPr>
        </p:nvSpPr>
        <p:spPr>
          <a:xfrm>
            <a:off x="539750" y="1557338"/>
            <a:ext cx="8208963" cy="4419600"/>
          </a:xfrm>
        </p:spPr>
        <p:txBody>
          <a:bodyPr lIns="92075" tIns="46038" rIns="92075" bIns="46038"/>
          <a:lstStyle/>
          <a:p>
            <a:pPr eaLnBrk="1" hangingPunct="1">
              <a:lnSpc>
                <a:spcPct val="90000"/>
              </a:lnSpc>
            </a:pP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初始化：输入指针指向输入串的第一个字符，分析栈中存放栈底符号#和文法的开始符号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S</a:t>
            </a:r>
            <a:endParaRPr lang="zh-CN" altLang="en-US" b="1" smtClean="0">
              <a:latin typeface="Times New Roman" pitchFamily="18" charset="0"/>
              <a:ea typeface="华文新魏" pitchFamily="2" charset="-122"/>
            </a:endParaRPr>
          </a:p>
          <a:p>
            <a:pPr eaLnBrk="1" hangingPunct="1">
              <a:lnSpc>
                <a:spcPct val="90000"/>
              </a:lnSpc>
            </a:pP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根据栈顶符号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A</a:t>
            </a: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和读入的符号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a，</a:t>
            </a: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查看分析表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M,</a:t>
            </a: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以决定相应的动作</a:t>
            </a:r>
          </a:p>
          <a:p>
            <a:pPr eaLnBrk="1" hangingPunct="1">
              <a:lnSpc>
                <a:spcPct val="90000"/>
              </a:lnSpc>
            </a:pP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优点</a:t>
            </a:r>
          </a:p>
          <a:p>
            <a:pPr lvl="1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1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. </a:t>
            </a: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效率高</a:t>
            </a:r>
          </a:p>
          <a:p>
            <a:pPr lvl="1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2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. </a:t>
            </a: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便于维护、自动生成</a:t>
            </a:r>
          </a:p>
          <a:p>
            <a:pPr eaLnBrk="1" hangingPunct="1">
              <a:lnSpc>
                <a:spcPct val="90000"/>
              </a:lnSpc>
            </a:pP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关键——分析表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M</a:t>
            </a: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的构造</a:t>
            </a:r>
          </a:p>
        </p:txBody>
      </p:sp>
      <p:sp>
        <p:nvSpPr>
          <p:cNvPr id="80900" name="日期占位符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796199A7-D814-42A1-BCA1-278532A4F099}" type="datetime1">
              <a:rPr lang="zh-CN" altLang="en-US" smtClean="0"/>
              <a:pPr eaLnBrk="1" hangingPunct="1"/>
              <a:t>2017/2/24</a:t>
            </a:fld>
            <a:endParaRPr lang="en-US" altLang="zh-CN" smtClean="0"/>
          </a:p>
        </p:txBody>
      </p:sp>
      <p:sp>
        <p:nvSpPr>
          <p:cNvPr id="80901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6C1CE482-66B5-4671-9E6F-1EC0DB945005}" type="slidenum">
              <a:rPr lang="zh-CN" altLang="en-US" smtClean="0"/>
              <a:pPr eaLnBrk="1" hangingPunct="1"/>
              <a:t>68</a:t>
            </a:fld>
            <a:endParaRPr lang="en-US" altLang="zh-CN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2"/>
          <p:cNvSpPr>
            <a:spLocks noGrp="1" noChangeArrowheads="1"/>
          </p:cNvSpPr>
          <p:nvPr>
            <p:ph type="title"/>
          </p:nvPr>
        </p:nvSpPr>
        <p:spPr>
          <a:xfrm>
            <a:off x="395288" y="590550"/>
            <a:ext cx="8243887" cy="1028700"/>
          </a:xfrm>
          <a:noFill/>
        </p:spPr>
        <p:txBody>
          <a:bodyPr lIns="92075" tIns="46038" rIns="92075" bIns="46038"/>
          <a:lstStyle/>
          <a:p>
            <a:pPr eaLnBrk="1" hangingPunct="1"/>
            <a:r>
              <a:rPr lang="zh-CN" altLang="en-US" sz="4000" b="1" smtClean="0">
                <a:solidFill>
                  <a:srgbClr val="000099"/>
                </a:solidFill>
                <a:latin typeface="Times New Roman" pitchFamily="18" charset="0"/>
                <a:ea typeface="华文新魏" pitchFamily="2" charset="-122"/>
              </a:rPr>
              <a:t>算法</a:t>
            </a:r>
            <a:r>
              <a:rPr lang="en-US" altLang="zh-CN" sz="4000" b="1" smtClean="0">
                <a:solidFill>
                  <a:srgbClr val="000099"/>
                </a:solidFill>
                <a:latin typeface="Times New Roman" pitchFamily="18" charset="0"/>
                <a:ea typeface="华文新魏" pitchFamily="2" charset="-122"/>
              </a:rPr>
              <a:t>4.4 </a:t>
            </a:r>
            <a:r>
              <a:rPr lang="zh-CN" altLang="en-US" sz="3600" b="1" smtClean="0">
                <a:solidFill>
                  <a:srgbClr val="000099"/>
                </a:solidFill>
                <a:latin typeface="Times New Roman" pitchFamily="18" charset="0"/>
                <a:ea typeface="华文新魏" pitchFamily="2" charset="-122"/>
              </a:rPr>
              <a:t>构造预测分析表</a:t>
            </a:r>
            <a:r>
              <a:rPr lang="en-US" altLang="zh-CN" sz="3600" b="1" smtClean="0">
                <a:solidFill>
                  <a:srgbClr val="000099"/>
                </a:solidFill>
                <a:latin typeface="Times New Roman" pitchFamily="18" charset="0"/>
                <a:ea typeface="华文新魏" pitchFamily="2" charset="-122"/>
              </a:rPr>
              <a:t>(LL(1)</a:t>
            </a:r>
            <a:r>
              <a:rPr lang="zh-CN" altLang="en-US" sz="3600" b="1" smtClean="0">
                <a:solidFill>
                  <a:srgbClr val="000099"/>
                </a:solidFill>
                <a:latin typeface="Times New Roman" pitchFamily="18" charset="0"/>
                <a:ea typeface="华文新魏" pitchFamily="2" charset="-122"/>
              </a:rPr>
              <a:t>分析表</a:t>
            </a:r>
            <a:r>
              <a:rPr lang="en-US" altLang="zh-CN" sz="3600" b="1" smtClean="0">
                <a:solidFill>
                  <a:srgbClr val="000099"/>
                </a:solidFill>
                <a:latin typeface="Times New Roman" pitchFamily="18" charset="0"/>
                <a:ea typeface="华文新魏" pitchFamily="2" charset="-122"/>
              </a:rPr>
              <a:t>)</a:t>
            </a:r>
            <a:r>
              <a:rPr lang="zh-CN" altLang="en-US" sz="3600" b="1" smtClean="0">
                <a:solidFill>
                  <a:srgbClr val="000099"/>
                </a:solidFill>
                <a:latin typeface="Times New Roman" pitchFamily="18" charset="0"/>
                <a:ea typeface="华文新魏" pitchFamily="2" charset="-122"/>
              </a:rPr>
              <a:t> </a:t>
            </a:r>
            <a:endParaRPr lang="en-US" altLang="zh-CN" sz="3600" b="1" smtClean="0">
              <a:solidFill>
                <a:srgbClr val="000099"/>
              </a:solidFill>
              <a:latin typeface="Times New Roman" pitchFamily="18" charset="0"/>
              <a:ea typeface="华文新魏" pitchFamily="2" charset="-122"/>
            </a:endParaRPr>
          </a:p>
        </p:txBody>
      </p:sp>
      <p:sp>
        <p:nvSpPr>
          <p:cNvPr id="332803" name="Rectangle 3"/>
          <p:cNvSpPr>
            <a:spLocks noGrp="1" noChangeArrowheads="1"/>
          </p:cNvSpPr>
          <p:nvPr>
            <p:ph idx="1"/>
          </p:nvPr>
        </p:nvSpPr>
        <p:spPr>
          <a:xfrm>
            <a:off x="395288" y="1916113"/>
            <a:ext cx="8034337" cy="4108450"/>
          </a:xfrm>
        </p:spPr>
        <p:txBody>
          <a:bodyPr lIns="92075" tIns="46038" rIns="92075" bIns="46038"/>
          <a:lstStyle/>
          <a:p>
            <a:pPr eaLnBrk="1" hangingPunct="1">
              <a:lnSpc>
                <a:spcPct val="130000"/>
              </a:lnSpc>
              <a:buFont typeface="Wingdings" pitchFamily="2" charset="2"/>
              <a:buNone/>
            </a:pPr>
            <a:r>
              <a:rPr lang="zh-CN" altLang="en-US" sz="2800" b="1" smtClean="0">
                <a:latin typeface="Times New Roman" pitchFamily="18" charset="0"/>
                <a:ea typeface="华文新魏" pitchFamily="2" charset="-122"/>
              </a:rPr>
              <a:t>1</a:t>
            </a: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. </a:t>
            </a:r>
            <a:r>
              <a:rPr lang="zh-CN" altLang="en-US" sz="2800" b="1" smtClean="0">
                <a:latin typeface="Times New Roman" pitchFamily="18" charset="0"/>
                <a:ea typeface="华文新魏" pitchFamily="2" charset="-122"/>
              </a:rPr>
              <a:t>对于每一产生式 </a:t>
            </a: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A→α，</a:t>
            </a:r>
            <a:endParaRPr lang="zh-CN" altLang="en-US" sz="2800" b="1" smtClean="0">
              <a:latin typeface="Times New Roman" pitchFamily="18" charset="0"/>
              <a:ea typeface="华文新魏" pitchFamily="2" charset="-122"/>
            </a:endParaRPr>
          </a:p>
          <a:p>
            <a:pPr eaLnBrk="1" hangingPunct="1">
              <a:lnSpc>
                <a:spcPct val="130000"/>
              </a:lnSpc>
              <a:buFont typeface="Wingdings" pitchFamily="2" charset="2"/>
              <a:buNone/>
            </a:pPr>
            <a:r>
              <a:rPr lang="zh-CN" altLang="en-US" sz="2800" b="1" smtClean="0">
                <a:latin typeface="Times New Roman" pitchFamily="18" charset="0"/>
                <a:ea typeface="华文新魏" pitchFamily="2" charset="-122"/>
              </a:rPr>
              <a:t>	</a:t>
            </a:r>
            <a:r>
              <a:rPr lang="zh-CN" altLang="en-US" sz="2800" b="1" smtClean="0">
                <a:latin typeface="Times New Roman" pitchFamily="18" charset="0"/>
              </a:rPr>
              <a:t>①</a:t>
            </a: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 </a:t>
            </a:r>
            <a:r>
              <a:rPr lang="zh-CN" altLang="en-US" sz="2800" b="1" smtClean="0">
                <a:latin typeface="Times New Roman" pitchFamily="18" charset="0"/>
                <a:ea typeface="华文新魏" pitchFamily="2" charset="-122"/>
              </a:rPr>
              <a:t>对</a:t>
            </a:r>
            <a:r>
              <a:rPr lang="en-US" altLang="zh-CN" sz="2800" b="1" smtClean="0">
                <a:latin typeface="Times New Roman" pitchFamily="18" charset="0"/>
                <a:sym typeface="Symbol" pitchFamily="18" charset="2"/>
              </a:rPr>
              <a:t></a:t>
            </a: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a∈FIRST(α), </a:t>
            </a:r>
            <a:r>
              <a:rPr lang="zh-CN" altLang="en-US" sz="2800" b="1" smtClean="0">
                <a:latin typeface="Times New Roman" pitchFamily="18" charset="0"/>
                <a:ea typeface="华文新魏" pitchFamily="2" charset="-122"/>
              </a:rPr>
              <a:t>将 </a:t>
            </a: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A→α </a:t>
            </a:r>
            <a:r>
              <a:rPr lang="zh-CN" altLang="en-US" sz="2800" b="1" smtClean="0">
                <a:latin typeface="Times New Roman" pitchFamily="18" charset="0"/>
                <a:ea typeface="华文新魏" pitchFamily="2" charset="-122"/>
              </a:rPr>
              <a:t>填入 </a:t>
            </a: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M[A,a]；</a:t>
            </a:r>
          </a:p>
          <a:p>
            <a:pPr eaLnBrk="1" hangingPunct="1">
              <a:lnSpc>
                <a:spcPct val="130000"/>
              </a:lnSpc>
              <a:buFont typeface="Wingdings" pitchFamily="2" charset="2"/>
              <a:buNone/>
            </a:pP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	</a:t>
            </a:r>
            <a:r>
              <a:rPr lang="zh-CN" altLang="en-US" sz="2800" b="1" smtClean="0">
                <a:latin typeface="Times New Roman" pitchFamily="18" charset="0"/>
              </a:rPr>
              <a:t>②</a:t>
            </a: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 </a:t>
            </a:r>
            <a:r>
              <a:rPr lang="zh-CN" altLang="en-US" sz="2800" b="1" smtClean="0">
                <a:latin typeface="Times New Roman" pitchFamily="18" charset="0"/>
                <a:ea typeface="华文新魏" pitchFamily="2" charset="-122"/>
              </a:rPr>
              <a:t>若</a:t>
            </a: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ε</a:t>
            </a:r>
            <a:r>
              <a:rPr lang="zh-CN" altLang="en-US" sz="2800" b="1" smtClean="0">
                <a:latin typeface="Times New Roman" pitchFamily="18" charset="0"/>
                <a:ea typeface="华文新魏" pitchFamily="2" charset="-122"/>
              </a:rPr>
              <a:t>属于 </a:t>
            </a: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FIRST(α)，</a:t>
            </a:r>
            <a:r>
              <a:rPr lang="zh-CN" altLang="en-US" sz="2800" b="1" smtClean="0">
                <a:latin typeface="Times New Roman" pitchFamily="18" charset="0"/>
                <a:ea typeface="华文新魏" pitchFamily="2" charset="-122"/>
              </a:rPr>
              <a:t>则对</a:t>
            </a:r>
            <a:r>
              <a:rPr lang="en-US" altLang="zh-CN" sz="2800" b="1" smtClean="0">
                <a:latin typeface="Times New Roman" pitchFamily="18" charset="0"/>
                <a:sym typeface="Symbol" pitchFamily="18" charset="2"/>
              </a:rPr>
              <a:t></a:t>
            </a: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a∈FOLLOW(A)</a:t>
            </a:r>
            <a:r>
              <a:rPr lang="zh-CN" altLang="en-US" sz="2800" b="1" smtClean="0">
                <a:latin typeface="Times New Roman" pitchFamily="18" charset="0"/>
                <a:ea typeface="华文新魏" pitchFamily="2" charset="-122"/>
              </a:rPr>
              <a:t> </a:t>
            </a:r>
            <a:endParaRPr lang="en-US" altLang="zh-CN" sz="2800" b="1" smtClean="0">
              <a:latin typeface="Times New Roman" pitchFamily="18" charset="0"/>
              <a:ea typeface="华文新魏" pitchFamily="2" charset="-122"/>
            </a:endParaRPr>
          </a:p>
          <a:p>
            <a:pPr eaLnBrk="1" hangingPunct="1">
              <a:lnSpc>
                <a:spcPct val="130000"/>
              </a:lnSpc>
              <a:buFont typeface="Wingdings" pitchFamily="2" charset="2"/>
              <a:buNone/>
            </a:pPr>
            <a:r>
              <a:rPr lang="zh-CN" altLang="en-US" sz="2800" b="1" smtClean="0">
                <a:latin typeface="Times New Roman" pitchFamily="18" charset="0"/>
                <a:ea typeface="华文新魏" pitchFamily="2" charset="-122"/>
              </a:rPr>
              <a:t>			将</a:t>
            </a: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A→α</a:t>
            </a:r>
            <a:r>
              <a:rPr lang="zh-CN" altLang="en-US" sz="2800" b="1" smtClean="0">
                <a:latin typeface="Times New Roman" pitchFamily="18" charset="0"/>
                <a:ea typeface="华文新魏" pitchFamily="2" charset="-122"/>
              </a:rPr>
              <a:t>填入</a:t>
            </a: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M[A,a]；</a:t>
            </a:r>
            <a:endParaRPr lang="zh-CN" altLang="en-US" sz="2800" b="1" smtClean="0">
              <a:solidFill>
                <a:srgbClr val="000099"/>
              </a:solidFill>
              <a:latin typeface="Times New Roman" pitchFamily="18" charset="0"/>
              <a:ea typeface="华文新魏" pitchFamily="2" charset="-122"/>
            </a:endParaRPr>
          </a:p>
          <a:p>
            <a:pPr eaLnBrk="1" hangingPunct="1">
              <a:lnSpc>
                <a:spcPct val="130000"/>
              </a:lnSpc>
              <a:buFont typeface="Wingdings" pitchFamily="2" charset="2"/>
              <a:buNone/>
            </a:pP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2. </a:t>
            </a:r>
            <a:r>
              <a:rPr lang="zh-CN" altLang="en-US" sz="2800" b="1" smtClean="0">
                <a:latin typeface="Times New Roman" pitchFamily="18" charset="0"/>
                <a:ea typeface="华文新魏" pitchFamily="2" charset="-122"/>
              </a:rPr>
              <a:t>将所有无定义的 </a:t>
            </a: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M[A,a] </a:t>
            </a:r>
            <a:r>
              <a:rPr lang="zh-CN" altLang="zh-CN" sz="2800" b="1" smtClean="0">
                <a:latin typeface="Times New Roman" pitchFamily="18" charset="0"/>
                <a:ea typeface="华文新魏" pitchFamily="2" charset="-122"/>
              </a:rPr>
              <a:t>标上错误标志</a:t>
            </a:r>
            <a:endParaRPr lang="zh-CN" altLang="en-US" sz="2800" b="1" smtClean="0">
              <a:latin typeface="Times New Roman" pitchFamily="18" charset="0"/>
              <a:ea typeface="华文新魏" pitchFamily="2" charset="-122"/>
            </a:endParaRPr>
          </a:p>
        </p:txBody>
      </p:sp>
      <p:sp>
        <p:nvSpPr>
          <p:cNvPr id="81924" name="日期占位符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5B40BD51-7B45-4C3D-9AA4-59C2121E6F08}" type="datetime1">
              <a:rPr lang="zh-CN" altLang="en-US" smtClean="0"/>
              <a:pPr eaLnBrk="1" hangingPunct="1"/>
              <a:t>2017/2/24</a:t>
            </a:fld>
            <a:endParaRPr lang="en-US" altLang="zh-CN" smtClean="0"/>
          </a:p>
        </p:txBody>
      </p:sp>
      <p:sp>
        <p:nvSpPr>
          <p:cNvPr id="81925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21FBC8FE-1374-4A2A-A30F-4E7BCA7326C1}" type="slidenum">
              <a:rPr lang="zh-CN" altLang="en-US" smtClean="0"/>
              <a:pPr eaLnBrk="1" hangingPunct="1"/>
              <a:t>69</a:t>
            </a:fld>
            <a:endParaRPr lang="en-US" altLang="zh-CN" smtClean="0"/>
          </a:p>
        </p:txBody>
      </p:sp>
      <p:sp>
        <p:nvSpPr>
          <p:cNvPr id="332804" name="Rectangle 4"/>
          <p:cNvSpPr>
            <a:spLocks noChangeArrowheads="1"/>
          </p:cNvSpPr>
          <p:nvPr/>
        </p:nvSpPr>
        <p:spPr bwMode="auto">
          <a:xfrm>
            <a:off x="5673725" y="0"/>
            <a:ext cx="34798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3200" b="1">
                <a:solidFill>
                  <a:srgbClr val="0000FF"/>
                </a:solidFill>
                <a:latin typeface="Times New Roman" pitchFamily="18" charset="0"/>
                <a:ea typeface="华文新魏" pitchFamily="2" charset="-122"/>
                <a:cs typeface="Times New Roman" pitchFamily="18" charset="0"/>
              </a:rPr>
              <a:t>算法详见教材</a:t>
            </a:r>
            <a:r>
              <a:rPr lang="en-US" altLang="zh-CN" sz="3200" b="1">
                <a:solidFill>
                  <a:srgbClr val="0000FF"/>
                </a:solidFill>
                <a:latin typeface="Times New Roman" pitchFamily="18" charset="0"/>
                <a:ea typeface="华文新魏" pitchFamily="2" charset="-122"/>
                <a:cs typeface="Times New Roman" pitchFamily="18" charset="0"/>
              </a:rPr>
              <a:t>P134</a:t>
            </a:r>
            <a:endParaRPr lang="zh-CN" altLang="en-US" sz="3200" b="1">
              <a:solidFill>
                <a:srgbClr val="0000FF"/>
              </a:solidFill>
              <a:latin typeface="Times New Roman" pitchFamily="18" charset="0"/>
              <a:ea typeface="华文新魏" pitchFamily="2" charset="-122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/>
          <p:cNvSpPr>
            <a:spLocks noGrp="1" noChangeArrowheads="1"/>
          </p:cNvSpPr>
          <p:nvPr>
            <p:ph type="title"/>
          </p:nvPr>
        </p:nvSpPr>
        <p:spPr>
          <a:xfrm>
            <a:off x="900113" y="249238"/>
            <a:ext cx="7488237" cy="823912"/>
          </a:xfrm>
        </p:spPr>
        <p:txBody>
          <a:bodyPr/>
          <a:lstStyle/>
          <a:p>
            <a:pPr eaLnBrk="1" hangingPunct="1"/>
            <a:r>
              <a:rPr lang="zh-CN" altLang="en-US" b="1" smtClean="0">
                <a:solidFill>
                  <a:srgbClr val="000099"/>
                </a:solidFill>
                <a:latin typeface="Times New Roman" pitchFamily="18" charset="0"/>
                <a:ea typeface="华文新魏" pitchFamily="2" charset="-122"/>
              </a:rPr>
              <a:t>算法</a:t>
            </a:r>
            <a:r>
              <a:rPr lang="en-US" altLang="zh-CN" b="1" smtClean="0">
                <a:solidFill>
                  <a:srgbClr val="000099"/>
                </a:solidFill>
                <a:latin typeface="Times New Roman" pitchFamily="18" charset="0"/>
                <a:ea typeface="华文新魏" pitchFamily="2" charset="-122"/>
              </a:rPr>
              <a:t>4.5 </a:t>
            </a:r>
            <a:r>
              <a:rPr lang="en-US" altLang="zh-CN" sz="4000" b="1" smtClean="0">
                <a:solidFill>
                  <a:srgbClr val="000099"/>
                </a:solidFill>
                <a:latin typeface="Times New Roman" pitchFamily="18" charset="0"/>
                <a:ea typeface="华文新魏" pitchFamily="2" charset="-122"/>
              </a:rPr>
              <a:t>LL(1)</a:t>
            </a:r>
            <a:r>
              <a:rPr lang="zh-CN" altLang="en-US" sz="4000" b="1" smtClean="0">
                <a:solidFill>
                  <a:srgbClr val="000099"/>
                </a:solidFill>
                <a:latin typeface="Times New Roman" pitchFamily="18" charset="0"/>
                <a:ea typeface="华文新魏" pitchFamily="2" charset="-122"/>
              </a:rPr>
              <a:t>通用控制算法</a:t>
            </a:r>
            <a:r>
              <a:rPr lang="en-US" altLang="zh-CN" sz="2400" b="1" smtClean="0">
                <a:solidFill>
                  <a:srgbClr val="000099"/>
                </a:solidFill>
                <a:latin typeface="Times New Roman" pitchFamily="18" charset="0"/>
                <a:ea typeface="华文新魏" pitchFamily="2" charset="-122"/>
              </a:rPr>
              <a:t>P132</a:t>
            </a:r>
          </a:p>
        </p:txBody>
      </p:sp>
      <p:sp>
        <p:nvSpPr>
          <p:cNvPr id="82947" name="Rectangle 3"/>
          <p:cNvSpPr>
            <a:spLocks noGrp="1" noChangeArrowheads="1"/>
          </p:cNvSpPr>
          <p:nvPr>
            <p:ph idx="1"/>
          </p:nvPr>
        </p:nvSpPr>
        <p:spPr>
          <a:xfrm>
            <a:off x="733425" y="1052513"/>
            <a:ext cx="8159750" cy="5184775"/>
          </a:xfrm>
          <a:solidFill>
            <a:srgbClr val="006666"/>
          </a:solidFill>
        </p:spPr>
        <p:txBody>
          <a:bodyPr/>
          <a:lstStyle/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800" b="1" smtClean="0">
                <a:solidFill>
                  <a:schemeClr val="bg1"/>
                </a:solidFill>
                <a:latin typeface="Times New Roman" pitchFamily="18" charset="0"/>
                <a:ea typeface="华文新魏" pitchFamily="2" charset="-122"/>
              </a:rPr>
              <a:t>X</a:t>
            </a:r>
            <a:r>
              <a:rPr lang="zh-CN" altLang="en-US" sz="2800" b="1" smtClean="0">
                <a:solidFill>
                  <a:schemeClr val="bg1"/>
                </a:solidFill>
                <a:latin typeface="Times New Roman" pitchFamily="18" charset="0"/>
                <a:ea typeface="华文新魏" pitchFamily="2" charset="-122"/>
              </a:rPr>
              <a:t>为当前栈顶符号;</a:t>
            </a:r>
            <a:r>
              <a:rPr lang="en-US" altLang="zh-CN" sz="2800" b="1" smtClean="0">
                <a:solidFill>
                  <a:schemeClr val="bg1"/>
                </a:solidFill>
                <a:latin typeface="Times New Roman" pitchFamily="18" charset="0"/>
                <a:ea typeface="华文新魏" pitchFamily="2" charset="-122"/>
              </a:rPr>
              <a:t>a</a:t>
            </a:r>
            <a:r>
              <a:rPr lang="zh-CN" altLang="en-US" sz="2800" b="1" smtClean="0">
                <a:solidFill>
                  <a:schemeClr val="bg1"/>
                </a:solidFill>
                <a:latin typeface="Times New Roman" pitchFamily="18" charset="0"/>
                <a:ea typeface="华文新魏" pitchFamily="2" charset="-122"/>
              </a:rPr>
              <a:t>为当前输入符号；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800" b="1" smtClean="0">
                <a:solidFill>
                  <a:schemeClr val="bg1"/>
                </a:solidFill>
                <a:latin typeface="Times New Roman" pitchFamily="18" charset="0"/>
                <a:ea typeface="华文新魏" pitchFamily="2" charset="-122"/>
              </a:rPr>
              <a:t> repeat	</a:t>
            </a:r>
            <a:endParaRPr lang="zh-CN" altLang="en-US" sz="2800" b="1" smtClean="0">
              <a:solidFill>
                <a:schemeClr val="bg1"/>
              </a:solidFill>
              <a:latin typeface="Times New Roman" pitchFamily="18" charset="0"/>
              <a:ea typeface="华文新魏" pitchFamily="2" charset="-122"/>
            </a:endParaRP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zh-CN" altLang="en-US" sz="2800" b="1" smtClean="0">
                <a:solidFill>
                  <a:schemeClr val="bg1"/>
                </a:solidFill>
                <a:latin typeface="Times New Roman" pitchFamily="18" charset="0"/>
                <a:ea typeface="华文新魏" pitchFamily="2" charset="-122"/>
              </a:rPr>
              <a:t>	</a:t>
            </a:r>
            <a:r>
              <a:rPr lang="en-US" altLang="zh-CN" sz="2800" b="1" smtClean="0">
                <a:solidFill>
                  <a:schemeClr val="bg1"/>
                </a:solidFill>
                <a:latin typeface="Times New Roman" pitchFamily="18" charset="0"/>
                <a:ea typeface="华文新魏" pitchFamily="2" charset="-122"/>
              </a:rPr>
              <a:t>if X∈T∪{#} then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800" b="1" smtClean="0">
                <a:solidFill>
                  <a:schemeClr val="bg1"/>
                </a:solidFill>
                <a:latin typeface="Times New Roman" pitchFamily="18" charset="0"/>
                <a:ea typeface="华文新魏" pitchFamily="2" charset="-122"/>
              </a:rPr>
              <a:t>		if X=a then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800" b="1" smtClean="0">
                <a:solidFill>
                  <a:schemeClr val="bg1"/>
                </a:solidFill>
                <a:latin typeface="Times New Roman" pitchFamily="18" charset="0"/>
                <a:ea typeface="华文新魏" pitchFamily="2" charset="-122"/>
              </a:rPr>
              <a:t>		      {if X≠# then {</a:t>
            </a:r>
            <a:r>
              <a:rPr lang="zh-CN" altLang="en-US" sz="2800" b="1" smtClean="0">
                <a:solidFill>
                  <a:schemeClr val="bg1"/>
                </a:solidFill>
                <a:latin typeface="Times New Roman" pitchFamily="18" charset="0"/>
                <a:ea typeface="华文新魏" pitchFamily="2" charset="-122"/>
              </a:rPr>
              <a:t>将</a:t>
            </a:r>
            <a:r>
              <a:rPr lang="en-US" altLang="zh-CN" sz="2800" b="1" smtClean="0">
                <a:solidFill>
                  <a:schemeClr val="bg1"/>
                </a:solidFill>
                <a:latin typeface="Times New Roman" pitchFamily="18" charset="0"/>
                <a:ea typeface="华文新魏" pitchFamily="2" charset="-122"/>
              </a:rPr>
              <a:t>X</a:t>
            </a:r>
            <a:r>
              <a:rPr lang="zh-CN" altLang="en-US" sz="2800" b="1" smtClean="0">
                <a:solidFill>
                  <a:schemeClr val="bg1"/>
                </a:solidFill>
                <a:latin typeface="Times New Roman" pitchFamily="18" charset="0"/>
                <a:ea typeface="华文新魏" pitchFamily="2" charset="-122"/>
              </a:rPr>
              <a:t>弹出,且前移输入指针}</a:t>
            </a:r>
            <a:r>
              <a:rPr lang="en-US" altLang="zh-CN" sz="2800" b="1" smtClean="0">
                <a:solidFill>
                  <a:schemeClr val="bg1"/>
                </a:solidFill>
                <a:latin typeface="Times New Roman" pitchFamily="18" charset="0"/>
                <a:ea typeface="华文新魏" pitchFamily="2" charset="-122"/>
              </a:rPr>
              <a:t>}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zh-CN" altLang="en-US" sz="2800" b="1" smtClean="0">
                <a:solidFill>
                  <a:schemeClr val="bg1"/>
                </a:solidFill>
                <a:latin typeface="Times New Roman" pitchFamily="18" charset="0"/>
                <a:ea typeface="华文新魏" pitchFamily="2" charset="-122"/>
              </a:rPr>
              <a:t>		</a:t>
            </a:r>
            <a:r>
              <a:rPr lang="en-US" altLang="zh-CN" sz="2800" b="1" smtClean="0">
                <a:solidFill>
                  <a:schemeClr val="bg1"/>
                </a:solidFill>
                <a:latin typeface="Times New Roman" pitchFamily="18" charset="0"/>
                <a:ea typeface="华文新魏" pitchFamily="2" charset="-122"/>
              </a:rPr>
              <a:t>else error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800" b="1" smtClean="0">
                <a:solidFill>
                  <a:schemeClr val="bg1"/>
                </a:solidFill>
                <a:latin typeface="Times New Roman" pitchFamily="18" charset="0"/>
                <a:ea typeface="华文新魏" pitchFamily="2" charset="-122"/>
              </a:rPr>
              <a:t>	else 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800" b="1" smtClean="0">
                <a:solidFill>
                  <a:schemeClr val="bg1"/>
                </a:solidFill>
                <a:latin typeface="Times New Roman" pitchFamily="18" charset="0"/>
                <a:ea typeface="华文新魏" pitchFamily="2" charset="-122"/>
              </a:rPr>
              <a:t>		if M[X,a]=Y</a:t>
            </a:r>
            <a:r>
              <a:rPr lang="en-US" altLang="zh-CN" sz="2800" b="1" baseline="-25000" smtClean="0">
                <a:solidFill>
                  <a:schemeClr val="bg1"/>
                </a:solidFill>
                <a:latin typeface="Times New Roman" pitchFamily="18" charset="0"/>
                <a:ea typeface="华文新魏" pitchFamily="2" charset="-122"/>
              </a:rPr>
              <a:t>1</a:t>
            </a:r>
            <a:r>
              <a:rPr lang="en-US" altLang="zh-CN" sz="2800" b="1" smtClean="0">
                <a:solidFill>
                  <a:schemeClr val="bg1"/>
                </a:solidFill>
                <a:latin typeface="Times New Roman" pitchFamily="18" charset="0"/>
                <a:ea typeface="华文新魏" pitchFamily="2" charset="-122"/>
              </a:rPr>
              <a:t>Y</a:t>
            </a:r>
            <a:r>
              <a:rPr lang="en-US" altLang="zh-CN" sz="2800" b="1" baseline="-25000" smtClean="0">
                <a:solidFill>
                  <a:schemeClr val="bg1"/>
                </a:solidFill>
                <a:latin typeface="Times New Roman" pitchFamily="18" charset="0"/>
                <a:ea typeface="华文新魏" pitchFamily="2" charset="-122"/>
              </a:rPr>
              <a:t>2</a:t>
            </a:r>
            <a:r>
              <a:rPr lang="en-US" altLang="zh-CN" sz="2800" b="1" smtClean="0">
                <a:solidFill>
                  <a:schemeClr val="bg1"/>
                </a:solidFill>
                <a:latin typeface="Times New Roman" pitchFamily="18" charset="0"/>
                <a:ea typeface="华文新魏" pitchFamily="2" charset="-122"/>
              </a:rPr>
              <a:t>…Y</a:t>
            </a:r>
            <a:r>
              <a:rPr lang="en-US" altLang="zh-CN" sz="2800" b="1" baseline="-25000" smtClean="0">
                <a:solidFill>
                  <a:schemeClr val="bg1"/>
                </a:solidFill>
                <a:latin typeface="Times New Roman" pitchFamily="18" charset="0"/>
                <a:ea typeface="华文新魏" pitchFamily="2" charset="-122"/>
              </a:rPr>
              <a:t>k </a:t>
            </a:r>
            <a:r>
              <a:rPr lang="en-US" altLang="zh-CN" sz="2800" b="1" smtClean="0">
                <a:solidFill>
                  <a:schemeClr val="bg1"/>
                </a:solidFill>
                <a:latin typeface="Times New Roman" pitchFamily="18" charset="0"/>
                <a:ea typeface="华文新魏" pitchFamily="2" charset="-122"/>
              </a:rPr>
              <a:t>then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800" b="1" smtClean="0">
                <a:solidFill>
                  <a:schemeClr val="bg1"/>
                </a:solidFill>
                <a:latin typeface="Times New Roman" pitchFamily="18" charset="0"/>
                <a:ea typeface="华文新魏" pitchFamily="2" charset="-122"/>
              </a:rPr>
              <a:t>			{</a:t>
            </a:r>
            <a:r>
              <a:rPr lang="zh-CN" altLang="en-US" sz="2800" b="1" smtClean="0">
                <a:solidFill>
                  <a:schemeClr val="bg1"/>
                </a:solidFill>
                <a:latin typeface="Times New Roman" pitchFamily="18" charset="0"/>
                <a:ea typeface="华文新魏" pitchFamily="2" charset="-122"/>
              </a:rPr>
              <a:t>将</a:t>
            </a:r>
            <a:r>
              <a:rPr lang="en-US" altLang="zh-CN" sz="2800" b="1" smtClean="0">
                <a:solidFill>
                  <a:schemeClr val="bg1"/>
                </a:solidFill>
                <a:latin typeface="Times New Roman" pitchFamily="18" charset="0"/>
                <a:ea typeface="华文新魏" pitchFamily="2" charset="-122"/>
              </a:rPr>
              <a:t>X</a:t>
            </a:r>
            <a:r>
              <a:rPr lang="zh-CN" altLang="en-US" sz="2800" b="1" smtClean="0">
                <a:solidFill>
                  <a:schemeClr val="bg1"/>
                </a:solidFill>
                <a:latin typeface="Times New Roman" pitchFamily="18" charset="0"/>
                <a:ea typeface="华文新魏" pitchFamily="2" charset="-122"/>
              </a:rPr>
              <a:t>弹出;依次将</a:t>
            </a:r>
            <a:r>
              <a:rPr lang="en-US" altLang="zh-CN" sz="2800" b="1" smtClean="0">
                <a:solidFill>
                  <a:schemeClr val="bg1"/>
                </a:solidFill>
                <a:latin typeface="Times New Roman" pitchFamily="18" charset="0"/>
                <a:ea typeface="华文新魏" pitchFamily="2" charset="-122"/>
              </a:rPr>
              <a:t>Y</a:t>
            </a:r>
            <a:r>
              <a:rPr lang="en-US" altLang="zh-CN" sz="2800" b="1" baseline="-25000" smtClean="0">
                <a:solidFill>
                  <a:schemeClr val="bg1"/>
                </a:solidFill>
                <a:latin typeface="Times New Roman" pitchFamily="18" charset="0"/>
                <a:ea typeface="华文新魏" pitchFamily="2" charset="-122"/>
              </a:rPr>
              <a:t>k</a:t>
            </a:r>
            <a:r>
              <a:rPr lang="en-US" altLang="zh-CN" sz="2800" b="1" smtClean="0">
                <a:solidFill>
                  <a:schemeClr val="bg1"/>
                </a:solidFill>
                <a:latin typeface="Times New Roman" pitchFamily="18" charset="0"/>
                <a:ea typeface="华文新魏" pitchFamily="2" charset="-122"/>
              </a:rPr>
              <a:t>…Y</a:t>
            </a:r>
            <a:r>
              <a:rPr lang="en-US" altLang="zh-CN" sz="2800" b="1" baseline="-25000" smtClean="0">
                <a:solidFill>
                  <a:schemeClr val="bg1"/>
                </a:solidFill>
                <a:latin typeface="Times New Roman" pitchFamily="18" charset="0"/>
                <a:ea typeface="华文新魏" pitchFamily="2" charset="-122"/>
              </a:rPr>
              <a:t>2</a:t>
            </a:r>
            <a:r>
              <a:rPr lang="en-US" altLang="zh-CN" sz="2800" b="1" smtClean="0">
                <a:solidFill>
                  <a:schemeClr val="bg1"/>
                </a:solidFill>
                <a:latin typeface="Times New Roman" pitchFamily="18" charset="0"/>
                <a:ea typeface="华文新魏" pitchFamily="2" charset="-122"/>
              </a:rPr>
              <a:t>Y</a:t>
            </a:r>
            <a:r>
              <a:rPr lang="en-US" altLang="zh-CN" sz="2800" b="1" baseline="-25000" smtClean="0">
                <a:solidFill>
                  <a:schemeClr val="bg1"/>
                </a:solidFill>
                <a:latin typeface="Times New Roman" pitchFamily="18" charset="0"/>
                <a:ea typeface="华文新魏" pitchFamily="2" charset="-122"/>
              </a:rPr>
              <a:t>1</a:t>
            </a:r>
            <a:r>
              <a:rPr lang="zh-CN" altLang="en-US" sz="2800" b="1" smtClean="0">
                <a:solidFill>
                  <a:schemeClr val="bg1"/>
                </a:solidFill>
                <a:latin typeface="Times New Roman" pitchFamily="18" charset="0"/>
                <a:ea typeface="华文新魏" pitchFamily="2" charset="-122"/>
              </a:rPr>
              <a:t>压入栈；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zh-CN" altLang="en-US" sz="2800" b="1" smtClean="0">
                <a:solidFill>
                  <a:schemeClr val="bg1"/>
                </a:solidFill>
                <a:latin typeface="Times New Roman" pitchFamily="18" charset="0"/>
                <a:ea typeface="华文新魏" pitchFamily="2" charset="-122"/>
              </a:rPr>
              <a:t>			 输出产生式</a:t>
            </a:r>
            <a:r>
              <a:rPr lang="en-US" altLang="zh-CN" sz="2800" b="1" smtClean="0">
                <a:solidFill>
                  <a:schemeClr val="bg1"/>
                </a:solidFill>
                <a:latin typeface="Times New Roman" pitchFamily="18" charset="0"/>
                <a:ea typeface="华文新魏" pitchFamily="2" charset="-122"/>
              </a:rPr>
              <a:t>X→Y</a:t>
            </a:r>
            <a:r>
              <a:rPr lang="en-US" altLang="zh-CN" sz="2800" b="1" baseline="-25000" smtClean="0">
                <a:solidFill>
                  <a:schemeClr val="bg1"/>
                </a:solidFill>
                <a:latin typeface="Times New Roman" pitchFamily="18" charset="0"/>
                <a:ea typeface="华文新魏" pitchFamily="2" charset="-122"/>
              </a:rPr>
              <a:t>1</a:t>
            </a:r>
            <a:r>
              <a:rPr lang="en-US" altLang="zh-CN" sz="2800" b="1" smtClean="0">
                <a:solidFill>
                  <a:schemeClr val="bg1"/>
                </a:solidFill>
                <a:latin typeface="Times New Roman" pitchFamily="18" charset="0"/>
                <a:ea typeface="华文新魏" pitchFamily="2" charset="-122"/>
              </a:rPr>
              <a:t>Y</a:t>
            </a:r>
            <a:r>
              <a:rPr lang="en-US" altLang="zh-CN" sz="2800" b="1" baseline="-25000" smtClean="0">
                <a:solidFill>
                  <a:schemeClr val="bg1"/>
                </a:solidFill>
                <a:latin typeface="Times New Roman" pitchFamily="18" charset="0"/>
                <a:ea typeface="华文新魏" pitchFamily="2" charset="-122"/>
              </a:rPr>
              <a:t>2</a:t>
            </a:r>
            <a:r>
              <a:rPr lang="en-US" altLang="zh-CN" sz="2800" b="1" smtClean="0">
                <a:solidFill>
                  <a:schemeClr val="bg1"/>
                </a:solidFill>
                <a:latin typeface="Times New Roman" pitchFamily="18" charset="0"/>
                <a:ea typeface="华文新魏" pitchFamily="2" charset="-122"/>
              </a:rPr>
              <a:t>…Y</a:t>
            </a:r>
            <a:r>
              <a:rPr lang="en-US" altLang="zh-CN" sz="2800" b="1" baseline="-25000" smtClean="0">
                <a:solidFill>
                  <a:schemeClr val="bg1"/>
                </a:solidFill>
                <a:latin typeface="Times New Roman" pitchFamily="18" charset="0"/>
                <a:ea typeface="华文新魏" pitchFamily="2" charset="-122"/>
              </a:rPr>
              <a:t>k </a:t>
            </a:r>
            <a:r>
              <a:rPr lang="en-US" altLang="zh-CN" sz="2800" b="1" smtClean="0">
                <a:solidFill>
                  <a:schemeClr val="bg1"/>
                </a:solidFill>
                <a:latin typeface="Times New Roman" pitchFamily="18" charset="0"/>
                <a:ea typeface="华文新魏" pitchFamily="2" charset="-122"/>
              </a:rPr>
              <a:t>}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800" b="1" smtClean="0">
                <a:solidFill>
                  <a:schemeClr val="bg1"/>
                </a:solidFill>
                <a:latin typeface="Times New Roman" pitchFamily="18" charset="0"/>
                <a:ea typeface="华文新魏" pitchFamily="2" charset="-122"/>
              </a:rPr>
              <a:t>		else error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800" b="1" smtClean="0">
                <a:solidFill>
                  <a:schemeClr val="bg1"/>
                </a:solidFill>
                <a:latin typeface="Times New Roman" pitchFamily="18" charset="0"/>
                <a:ea typeface="华文新魏" pitchFamily="2" charset="-122"/>
              </a:rPr>
              <a:t>until X=#</a:t>
            </a:r>
          </a:p>
        </p:txBody>
      </p:sp>
      <p:sp>
        <p:nvSpPr>
          <p:cNvPr id="82948" name="日期占位符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C68DA09F-22D0-4C09-A45E-BB79D54D68C3}" type="datetime1">
              <a:rPr lang="zh-CN" altLang="en-US" smtClean="0"/>
              <a:pPr eaLnBrk="1" hangingPunct="1"/>
              <a:t>2017/2/24</a:t>
            </a:fld>
            <a:endParaRPr lang="en-US" altLang="zh-CN" smtClean="0"/>
          </a:p>
        </p:txBody>
      </p:sp>
      <p:sp>
        <p:nvSpPr>
          <p:cNvPr id="82949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CA5D6EFB-9C42-45EF-88C6-07208AFF55F7}" type="slidenum">
              <a:rPr lang="zh-CN" altLang="en-US" smtClean="0"/>
              <a:pPr eaLnBrk="1" hangingPunct="1"/>
              <a:t>70</a:t>
            </a:fld>
            <a:endParaRPr lang="en-US" altLang="zh-CN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2"/>
          <p:cNvSpPr>
            <a:spLocks noGrp="1" noChangeArrowheads="1"/>
          </p:cNvSpPr>
          <p:nvPr>
            <p:ph type="title"/>
          </p:nvPr>
        </p:nvSpPr>
        <p:spPr>
          <a:xfrm>
            <a:off x="1042988" y="836613"/>
            <a:ext cx="5329237" cy="714375"/>
          </a:xfrm>
        </p:spPr>
        <p:txBody>
          <a:bodyPr/>
          <a:lstStyle/>
          <a:p>
            <a:pPr eaLnBrk="1" hangingPunct="1"/>
            <a:r>
              <a:rPr lang="zh-CN" altLang="en-US" b="1" smtClean="0">
                <a:solidFill>
                  <a:srgbClr val="000099"/>
                </a:solidFill>
                <a:latin typeface="Times New Roman" pitchFamily="18" charset="0"/>
                <a:ea typeface="华文新魏" pitchFamily="2" charset="-122"/>
              </a:rPr>
              <a:t>出错处理问题</a:t>
            </a:r>
          </a:p>
        </p:txBody>
      </p:sp>
      <p:sp>
        <p:nvSpPr>
          <p:cNvPr id="336899" name="Rectangle 3"/>
          <p:cNvSpPr>
            <a:spLocks noGrp="1" noChangeArrowheads="1"/>
          </p:cNvSpPr>
          <p:nvPr>
            <p:ph idx="1"/>
          </p:nvPr>
        </p:nvSpPr>
        <p:spPr>
          <a:xfrm>
            <a:off x="539750" y="1989138"/>
            <a:ext cx="7777163" cy="3887787"/>
          </a:xfrm>
        </p:spPr>
        <p:txBody>
          <a:bodyPr/>
          <a:lstStyle/>
          <a:p>
            <a:pPr eaLnBrk="1" hangingPunct="1">
              <a:lnSpc>
                <a:spcPct val="130000"/>
              </a:lnSpc>
              <a:spcBef>
                <a:spcPct val="100000"/>
              </a:spcBef>
            </a:pP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是否可以利用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FOLLOW(A)</a:t>
            </a:r>
          </a:p>
          <a:p>
            <a:pPr eaLnBrk="1" hangingPunct="1">
              <a:lnSpc>
                <a:spcPct val="130000"/>
              </a:lnSpc>
              <a:spcBef>
                <a:spcPct val="100000"/>
              </a:spcBef>
            </a:pP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对语法变量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A，</a:t>
            </a: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如果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M[A,a]</a:t>
            </a: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无定义，并且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a</a:t>
            </a: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属于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FOLLOW(A)，</a:t>
            </a: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则增加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M[A,a]</a:t>
            </a: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为“同步点”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(synch)——</a:t>
            </a:r>
            <a:r>
              <a:rPr lang="zh-CN" altLang="en-US" b="1" smtClean="0">
                <a:solidFill>
                  <a:srgbClr val="0000FF"/>
                </a:solidFill>
                <a:latin typeface="Times New Roman" pitchFamily="18" charset="0"/>
                <a:ea typeface="华文新魏" pitchFamily="2" charset="-122"/>
              </a:rPr>
              <a:t>假定此时</a:t>
            </a:r>
            <a:r>
              <a:rPr lang="en-US" altLang="zh-CN" b="1" smtClean="0">
                <a:solidFill>
                  <a:srgbClr val="0000FF"/>
                </a:solidFill>
                <a:latin typeface="Times New Roman" pitchFamily="18" charset="0"/>
                <a:ea typeface="华文新魏" pitchFamily="2" charset="-122"/>
              </a:rPr>
              <a:t>A</a:t>
            </a:r>
            <a:r>
              <a:rPr lang="zh-CN" altLang="en-US" b="1" smtClean="0">
                <a:solidFill>
                  <a:srgbClr val="0000FF"/>
                </a:solidFill>
                <a:latin typeface="Times New Roman" pitchFamily="18" charset="0"/>
                <a:ea typeface="华文新魏" pitchFamily="2" charset="-122"/>
              </a:rPr>
              <a:t>已经获得匹配</a:t>
            </a:r>
          </a:p>
        </p:txBody>
      </p:sp>
      <p:sp>
        <p:nvSpPr>
          <p:cNvPr id="83972" name="日期占位符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309B947E-BF3A-4186-89D0-118EF595BCD7}" type="datetime1">
              <a:rPr lang="zh-CN" altLang="en-US" smtClean="0"/>
              <a:pPr eaLnBrk="1" hangingPunct="1"/>
              <a:t>2017/2/24</a:t>
            </a:fld>
            <a:endParaRPr lang="en-US" altLang="zh-CN" smtClean="0"/>
          </a:p>
        </p:txBody>
      </p:sp>
      <p:sp>
        <p:nvSpPr>
          <p:cNvPr id="83973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162AF794-FE2A-43DF-BA16-D699509291F6}" type="slidenum">
              <a:rPr lang="zh-CN" altLang="en-US" smtClean="0"/>
              <a:pPr eaLnBrk="1" hangingPunct="1"/>
              <a:t>71</a:t>
            </a:fld>
            <a:endParaRPr lang="en-US" altLang="zh-CN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/>
          <p:cNvSpPr>
            <a:spLocks noGrp="1" noChangeArrowheads="1"/>
          </p:cNvSpPr>
          <p:nvPr>
            <p:ph type="title"/>
          </p:nvPr>
        </p:nvSpPr>
        <p:spPr>
          <a:xfrm>
            <a:off x="827088" y="1052513"/>
            <a:ext cx="8316912" cy="695325"/>
          </a:xfrm>
        </p:spPr>
        <p:txBody>
          <a:bodyPr/>
          <a:lstStyle/>
          <a:p>
            <a:pPr eaLnBrk="1" hangingPunct="1"/>
            <a:r>
              <a:rPr lang="zh-CN" altLang="en-US" sz="3600" b="1" smtClean="0">
                <a:latin typeface="Times New Roman" pitchFamily="18" charset="0"/>
                <a:ea typeface="华文新魏" pitchFamily="2" charset="-122"/>
              </a:rPr>
              <a:t>加</a:t>
            </a:r>
            <a:r>
              <a:rPr lang="zh-CN" altLang="en-US" sz="3600" b="1" smtClean="0">
                <a:solidFill>
                  <a:schemeClr val="hlink"/>
                </a:solidFill>
                <a:latin typeface="Times New Roman" pitchFamily="18" charset="0"/>
                <a:ea typeface="华文新魏" pitchFamily="2" charset="-122"/>
              </a:rPr>
              <a:t>同步记号的</a:t>
            </a:r>
            <a:r>
              <a:rPr lang="zh-CN" altLang="en-US" sz="3600" b="1" smtClean="0">
                <a:latin typeface="Times New Roman" pitchFamily="18" charset="0"/>
                <a:ea typeface="华文新魏" pitchFamily="2" charset="-122"/>
              </a:rPr>
              <a:t>表达式文法的预测分析表</a:t>
            </a:r>
          </a:p>
        </p:txBody>
      </p:sp>
      <p:graphicFrame>
        <p:nvGraphicFramePr>
          <p:cNvPr id="450639" name="Group 79"/>
          <p:cNvGraphicFramePr>
            <a:graphicFrameLocks noGrp="1"/>
          </p:cNvGraphicFramePr>
          <p:nvPr/>
        </p:nvGraphicFramePr>
        <p:xfrm>
          <a:off x="611188" y="2133600"/>
          <a:ext cx="7993062" cy="4103690"/>
        </p:xfrm>
        <a:graphic>
          <a:graphicData uri="http://schemas.openxmlformats.org/drawingml/2006/table">
            <a:tbl>
              <a:tblPr/>
              <a:tblGrid>
                <a:gridCol w="819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8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604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90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382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445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88963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华文新魏" pitchFamily="2" charset="-122"/>
                        </a:rPr>
                        <a:t>语法变量</a:t>
                      </a:r>
                      <a:endParaRPr kumimoji="0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华文新魏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6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3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华文新魏" pitchFamily="2" charset="-122"/>
                        </a:rPr>
                        <a:t>终极符号</a:t>
                      </a:r>
                      <a:endParaRPr kumimoji="0" lang="en-US" altLang="zh-CN" sz="3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华文新魏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5788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id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+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*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(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)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#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40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E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华文新魏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华文新魏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synch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synch</a:t>
                      </a:r>
                      <a:endParaRPr kumimoji="0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73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E</a:t>
                      </a: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新魏" pitchFamily="2" charset="-122"/>
                        </a:rPr>
                        <a:t>'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华文新魏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华文新魏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89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T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华文新魏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synch</a:t>
                      </a:r>
                      <a:endParaRPr kumimoji="0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华文新魏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synch</a:t>
                      </a:r>
                      <a:endParaRPr kumimoji="0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synch</a:t>
                      </a:r>
                      <a:endParaRPr kumimoji="0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57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T</a:t>
                      </a: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新魏" pitchFamily="2" charset="-122"/>
                        </a:rPr>
                        <a:t>'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华文新魏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华文新魏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华文新魏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127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F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synch</a:t>
                      </a:r>
                      <a:endParaRPr kumimoji="0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synch</a:t>
                      </a:r>
                      <a:endParaRPr kumimoji="0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synch</a:t>
                      </a:r>
                      <a:endParaRPr kumimoji="0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synch</a:t>
                      </a:r>
                      <a:endParaRPr kumimoji="0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5055" name="日期占位符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72569E48-C571-4D8B-BC0A-1F1F2A0EF8F1}" type="datetime1">
              <a:rPr lang="zh-CN" altLang="en-US" smtClean="0"/>
              <a:pPr eaLnBrk="1" hangingPunct="1"/>
              <a:t>2017/2/24</a:t>
            </a:fld>
            <a:endParaRPr lang="en-US" altLang="zh-CN" smtClean="0"/>
          </a:p>
        </p:txBody>
      </p:sp>
      <p:sp>
        <p:nvSpPr>
          <p:cNvPr id="85056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8A107B8A-5747-4B2E-BCBE-BE07372FC5F5}" type="slidenum">
              <a:rPr lang="zh-CN" altLang="en-US" smtClean="0"/>
              <a:pPr eaLnBrk="1" hangingPunct="1"/>
              <a:t>72</a:t>
            </a:fld>
            <a:endParaRPr lang="en-US" altLang="zh-CN" smtClean="0"/>
          </a:p>
        </p:txBody>
      </p:sp>
      <p:sp>
        <p:nvSpPr>
          <p:cNvPr id="85057" name="Rectangle 63"/>
          <p:cNvSpPr>
            <a:spLocks noChangeArrowheads="1"/>
          </p:cNvSpPr>
          <p:nvPr/>
        </p:nvSpPr>
        <p:spPr bwMode="auto">
          <a:xfrm>
            <a:off x="1403350" y="260350"/>
            <a:ext cx="6697663" cy="865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en-US" altLang="zh-CN" sz="2400" b="1">
                <a:solidFill>
                  <a:srgbClr val="000099"/>
                </a:solidFill>
                <a:latin typeface="Times New Roman" pitchFamily="18" charset="0"/>
                <a:ea typeface="华文新魏" pitchFamily="2" charset="-122"/>
              </a:rPr>
              <a:t>FOLLOW( E)={ ), # };  FOLLOW( T)={ +, ), # }; FOLLOW( F)={ *,+, ), # }; </a:t>
            </a:r>
          </a:p>
        </p:txBody>
      </p:sp>
      <p:sp>
        <p:nvSpPr>
          <p:cNvPr id="450625" name="Rectangle 65"/>
          <p:cNvSpPr>
            <a:spLocks noChangeArrowheads="1"/>
          </p:cNvSpPr>
          <p:nvPr/>
        </p:nvSpPr>
        <p:spPr bwMode="auto">
          <a:xfrm>
            <a:off x="1547813" y="3427413"/>
            <a:ext cx="115252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  <a:defRPr/>
            </a:pPr>
            <a:r>
              <a:rPr kumimoji="1" lang="en-US" altLang="zh-CN" sz="24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→TE'</a:t>
            </a:r>
            <a:endParaRPr kumimoji="1" lang="zh-CN" altLang="en-US" sz="2400" b="1">
              <a:effectLst>
                <a:outerShdw blurRad="38100" dist="38100" dir="2700000" algn="tl">
                  <a:srgbClr val="C0C0C0"/>
                </a:outerShdw>
              </a:effectLst>
              <a:latin typeface="Times New Roman" pitchFamily="18" charset="0"/>
            </a:endParaRPr>
          </a:p>
        </p:txBody>
      </p:sp>
      <p:sp>
        <p:nvSpPr>
          <p:cNvPr id="450626" name="Rectangle 66"/>
          <p:cNvSpPr>
            <a:spLocks noChangeArrowheads="1"/>
          </p:cNvSpPr>
          <p:nvPr/>
        </p:nvSpPr>
        <p:spPr bwMode="auto">
          <a:xfrm>
            <a:off x="5219700" y="3381375"/>
            <a:ext cx="115252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  <a:defRPr/>
            </a:pPr>
            <a:r>
              <a:rPr kumimoji="1" lang="en-US" altLang="zh-CN" sz="24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→TE'</a:t>
            </a:r>
            <a:endParaRPr kumimoji="1" lang="zh-CN" altLang="en-US" sz="2400" b="1">
              <a:effectLst>
                <a:outerShdw blurRad="38100" dist="38100" dir="2700000" algn="tl">
                  <a:srgbClr val="C0C0C0"/>
                </a:outerShdw>
              </a:effectLst>
              <a:latin typeface="Times New Roman" pitchFamily="18" charset="0"/>
            </a:endParaRPr>
          </a:p>
        </p:txBody>
      </p:sp>
      <p:sp>
        <p:nvSpPr>
          <p:cNvPr id="450627" name="Rectangle 67"/>
          <p:cNvSpPr>
            <a:spLocks noChangeArrowheads="1"/>
          </p:cNvSpPr>
          <p:nvPr/>
        </p:nvSpPr>
        <p:spPr bwMode="auto">
          <a:xfrm>
            <a:off x="2700338" y="3932238"/>
            <a:ext cx="1366837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  <a:defRPr/>
            </a:pPr>
            <a:r>
              <a:rPr kumimoji="1" lang="en-US" altLang="zh-CN" sz="24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→+TE'</a:t>
            </a:r>
            <a:endParaRPr kumimoji="1" lang="zh-CN" altLang="en-US" sz="2400" b="1">
              <a:effectLst>
                <a:outerShdw blurRad="38100" dist="38100" dir="2700000" algn="tl">
                  <a:srgbClr val="C0C0C0"/>
                </a:outerShdw>
              </a:effectLst>
              <a:latin typeface="Times New Roman" pitchFamily="18" charset="0"/>
            </a:endParaRPr>
          </a:p>
        </p:txBody>
      </p:sp>
      <p:sp>
        <p:nvSpPr>
          <p:cNvPr id="450628" name="Rectangle 68"/>
          <p:cNvSpPr>
            <a:spLocks noChangeArrowheads="1"/>
          </p:cNvSpPr>
          <p:nvPr/>
        </p:nvSpPr>
        <p:spPr bwMode="auto">
          <a:xfrm>
            <a:off x="6659563" y="3971925"/>
            <a:ext cx="89535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kumimoji="1" lang="en-US" altLang="zh-CN" sz="28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→</a:t>
            </a:r>
            <a:r>
              <a:rPr lang="en-US" altLang="zh-CN" sz="2800" b="1">
                <a:latin typeface="Times New Roman" pitchFamily="18" charset="0"/>
              </a:rPr>
              <a:t>ε</a:t>
            </a:r>
            <a:endParaRPr lang="zh-CN" altLang="en-US" sz="2800" b="1">
              <a:latin typeface="Times New Roman" pitchFamily="18" charset="0"/>
            </a:endParaRPr>
          </a:p>
        </p:txBody>
      </p:sp>
      <p:sp>
        <p:nvSpPr>
          <p:cNvPr id="450629" name="Rectangle 69"/>
          <p:cNvSpPr>
            <a:spLocks noChangeArrowheads="1"/>
          </p:cNvSpPr>
          <p:nvPr/>
        </p:nvSpPr>
        <p:spPr bwMode="auto">
          <a:xfrm>
            <a:off x="7524750" y="3957638"/>
            <a:ext cx="89535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kumimoji="1" lang="en-US" altLang="zh-CN" sz="28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→</a:t>
            </a:r>
            <a:r>
              <a:rPr lang="en-US" altLang="zh-CN" sz="2800" b="1">
                <a:latin typeface="Times New Roman" pitchFamily="18" charset="0"/>
              </a:rPr>
              <a:t>ε</a:t>
            </a:r>
            <a:endParaRPr lang="zh-CN" altLang="en-US" sz="2800" b="1">
              <a:latin typeface="Times New Roman" pitchFamily="18" charset="0"/>
            </a:endParaRPr>
          </a:p>
        </p:txBody>
      </p:sp>
      <p:sp>
        <p:nvSpPr>
          <p:cNvPr id="450630" name="Rectangle 70"/>
          <p:cNvSpPr>
            <a:spLocks noChangeArrowheads="1"/>
          </p:cNvSpPr>
          <p:nvPr/>
        </p:nvSpPr>
        <p:spPr bwMode="auto">
          <a:xfrm>
            <a:off x="2843213" y="5110163"/>
            <a:ext cx="89535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kumimoji="1" lang="en-US" altLang="zh-CN" sz="28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→</a:t>
            </a:r>
            <a:r>
              <a:rPr lang="en-US" altLang="zh-CN" sz="2800" b="1">
                <a:latin typeface="Times New Roman" pitchFamily="18" charset="0"/>
              </a:rPr>
              <a:t>ε</a:t>
            </a:r>
            <a:endParaRPr lang="zh-CN" altLang="en-US" sz="2800" b="1">
              <a:latin typeface="Times New Roman" pitchFamily="18" charset="0"/>
            </a:endParaRPr>
          </a:p>
        </p:txBody>
      </p:sp>
      <p:sp>
        <p:nvSpPr>
          <p:cNvPr id="450631" name="Rectangle 71"/>
          <p:cNvSpPr>
            <a:spLocks noChangeArrowheads="1"/>
          </p:cNvSpPr>
          <p:nvPr/>
        </p:nvSpPr>
        <p:spPr bwMode="auto">
          <a:xfrm>
            <a:off x="6516688" y="5181600"/>
            <a:ext cx="89535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kumimoji="1" lang="en-US" altLang="zh-CN" sz="28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→</a:t>
            </a:r>
            <a:r>
              <a:rPr lang="en-US" altLang="zh-CN" sz="2800" b="1">
                <a:latin typeface="Times New Roman" pitchFamily="18" charset="0"/>
              </a:rPr>
              <a:t>ε</a:t>
            </a:r>
            <a:endParaRPr lang="zh-CN" altLang="en-US" sz="2800" b="1">
              <a:latin typeface="Times New Roman" pitchFamily="18" charset="0"/>
            </a:endParaRPr>
          </a:p>
        </p:txBody>
      </p:sp>
      <p:sp>
        <p:nvSpPr>
          <p:cNvPr id="450632" name="Rectangle 72"/>
          <p:cNvSpPr>
            <a:spLocks noChangeArrowheads="1"/>
          </p:cNvSpPr>
          <p:nvPr/>
        </p:nvSpPr>
        <p:spPr bwMode="auto">
          <a:xfrm>
            <a:off x="7596188" y="5181600"/>
            <a:ext cx="89535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kumimoji="1" lang="en-US" altLang="zh-CN" sz="28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→</a:t>
            </a:r>
            <a:r>
              <a:rPr lang="en-US" altLang="zh-CN" sz="2800" b="1">
                <a:latin typeface="Times New Roman" pitchFamily="18" charset="0"/>
              </a:rPr>
              <a:t>ε</a:t>
            </a:r>
            <a:endParaRPr lang="zh-CN" altLang="en-US" sz="2800" b="1">
              <a:latin typeface="Times New Roman" pitchFamily="18" charset="0"/>
            </a:endParaRPr>
          </a:p>
        </p:txBody>
      </p:sp>
      <p:sp>
        <p:nvSpPr>
          <p:cNvPr id="450633" name="Rectangle 73"/>
          <p:cNvSpPr>
            <a:spLocks noChangeArrowheads="1"/>
          </p:cNvSpPr>
          <p:nvPr/>
        </p:nvSpPr>
        <p:spPr bwMode="auto">
          <a:xfrm>
            <a:off x="1547813" y="4579938"/>
            <a:ext cx="963612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kumimoji="1" lang="en-US" altLang="zh-CN" sz="24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→FT</a:t>
            </a:r>
            <a:r>
              <a:rPr lang="en-US" altLang="zh-CN" sz="2400" b="1">
                <a:latin typeface="Times New Roman" pitchFamily="18" charset="0"/>
              </a:rPr>
              <a:t>'</a:t>
            </a:r>
            <a:endParaRPr lang="zh-CN" altLang="en-US" sz="2400" b="1">
              <a:latin typeface="Times New Roman" pitchFamily="18" charset="0"/>
            </a:endParaRPr>
          </a:p>
        </p:txBody>
      </p:sp>
      <p:sp>
        <p:nvSpPr>
          <p:cNvPr id="450634" name="Rectangle 74"/>
          <p:cNvSpPr>
            <a:spLocks noChangeArrowheads="1"/>
          </p:cNvSpPr>
          <p:nvPr/>
        </p:nvSpPr>
        <p:spPr bwMode="auto">
          <a:xfrm>
            <a:off x="5292725" y="4508500"/>
            <a:ext cx="9636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kumimoji="1" lang="en-US" altLang="zh-CN" sz="24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→FT</a:t>
            </a:r>
            <a:r>
              <a:rPr lang="en-US" altLang="zh-CN" sz="2400" b="1">
                <a:latin typeface="Times New Roman" pitchFamily="18" charset="0"/>
              </a:rPr>
              <a:t>'</a:t>
            </a:r>
            <a:endParaRPr lang="zh-CN" altLang="en-US" sz="2400" b="1">
              <a:latin typeface="Times New Roman" pitchFamily="18" charset="0"/>
            </a:endParaRPr>
          </a:p>
        </p:txBody>
      </p:sp>
      <p:sp>
        <p:nvSpPr>
          <p:cNvPr id="450635" name="Rectangle 75"/>
          <p:cNvSpPr>
            <a:spLocks noChangeArrowheads="1"/>
          </p:cNvSpPr>
          <p:nvPr/>
        </p:nvSpPr>
        <p:spPr bwMode="auto">
          <a:xfrm>
            <a:off x="3924300" y="5084763"/>
            <a:ext cx="11160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kumimoji="1" lang="en-US" altLang="zh-CN" sz="24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→*FT</a:t>
            </a:r>
            <a:r>
              <a:rPr lang="en-US" altLang="zh-CN" sz="2400" b="1">
                <a:latin typeface="Times New Roman" pitchFamily="18" charset="0"/>
              </a:rPr>
              <a:t>'</a:t>
            </a:r>
            <a:endParaRPr lang="zh-CN" altLang="en-US" sz="2400" b="1">
              <a:latin typeface="Times New Roman" pitchFamily="18" charset="0"/>
            </a:endParaRPr>
          </a:p>
        </p:txBody>
      </p:sp>
      <p:sp>
        <p:nvSpPr>
          <p:cNvPr id="450636" name="Rectangle 76"/>
          <p:cNvSpPr>
            <a:spLocks noChangeArrowheads="1"/>
          </p:cNvSpPr>
          <p:nvPr/>
        </p:nvSpPr>
        <p:spPr bwMode="auto">
          <a:xfrm>
            <a:off x="1547813" y="5732463"/>
            <a:ext cx="93662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kumimoji="1" lang="en-US" altLang="zh-CN" sz="24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→</a:t>
            </a:r>
            <a:r>
              <a:rPr lang="en-US" altLang="zh-CN" sz="24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id</a:t>
            </a:r>
            <a:endParaRPr lang="zh-CN" altLang="en-US" sz="2400" b="1">
              <a:latin typeface="Times New Roman" pitchFamily="18" charset="0"/>
            </a:endParaRPr>
          </a:p>
        </p:txBody>
      </p:sp>
      <p:sp>
        <p:nvSpPr>
          <p:cNvPr id="450637" name="Rectangle 77"/>
          <p:cNvSpPr>
            <a:spLocks noChangeArrowheads="1"/>
          </p:cNvSpPr>
          <p:nvPr/>
        </p:nvSpPr>
        <p:spPr bwMode="auto">
          <a:xfrm>
            <a:off x="5292725" y="5732463"/>
            <a:ext cx="89693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kumimoji="1" lang="en-US" altLang="zh-CN" sz="24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→(E)</a:t>
            </a:r>
            <a:endParaRPr lang="zh-CN" altLang="en-US" sz="2400" b="1">
              <a:latin typeface="Times New Roman" pitchFamily="18" charset="0"/>
            </a:endParaRPr>
          </a:p>
        </p:txBody>
      </p:sp>
      <p:sp>
        <p:nvSpPr>
          <p:cNvPr id="85071" name="Rectangle 78"/>
          <p:cNvSpPr>
            <a:spLocks noChangeArrowheads="1"/>
          </p:cNvSpPr>
          <p:nvPr/>
        </p:nvSpPr>
        <p:spPr bwMode="auto">
          <a:xfrm>
            <a:off x="3973513" y="6205538"/>
            <a:ext cx="266700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3200" b="1">
                <a:solidFill>
                  <a:srgbClr val="0000FF"/>
                </a:solidFill>
                <a:latin typeface="Times New Roman" pitchFamily="18" charset="0"/>
                <a:ea typeface="华文新魏" pitchFamily="2" charset="-122"/>
              </a:rPr>
              <a:t>详见教材</a:t>
            </a:r>
            <a:r>
              <a:rPr lang="en-US" altLang="zh-CN" sz="3200" b="1">
                <a:solidFill>
                  <a:srgbClr val="0000FF"/>
                </a:solidFill>
                <a:latin typeface="Times New Roman" pitchFamily="18" charset="0"/>
                <a:ea typeface="华文新魏" pitchFamily="2" charset="-122"/>
              </a:rPr>
              <a:t>P135</a:t>
            </a:r>
            <a:endParaRPr lang="zh-CN" altLang="en-US" sz="3200" b="1">
              <a:solidFill>
                <a:srgbClr val="0000FF"/>
              </a:solidFill>
              <a:latin typeface="Times New Roman" pitchFamily="18" charset="0"/>
              <a:ea typeface="华文新魏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2"/>
          <p:cNvSpPr>
            <a:spLocks noGrp="1" noChangeArrowheads="1"/>
          </p:cNvSpPr>
          <p:nvPr>
            <p:ph type="title"/>
          </p:nvPr>
        </p:nvSpPr>
        <p:spPr>
          <a:xfrm>
            <a:off x="1042988" y="620713"/>
            <a:ext cx="6213475" cy="719137"/>
          </a:xfrm>
          <a:noFill/>
        </p:spPr>
        <p:txBody>
          <a:bodyPr lIns="92075" tIns="46038" rIns="92075" bIns="46038"/>
          <a:lstStyle/>
          <a:p>
            <a:pPr eaLnBrk="1" hangingPunct="1"/>
            <a:r>
              <a:rPr lang="zh-CN" altLang="en-US" b="1" smtClean="0">
                <a:solidFill>
                  <a:srgbClr val="000099"/>
                </a:solidFill>
                <a:latin typeface="Times New Roman" pitchFamily="18" charset="0"/>
                <a:ea typeface="华文新魏" pitchFamily="2" charset="-122"/>
              </a:rPr>
              <a:t>预测分析法</a:t>
            </a:r>
            <a:r>
              <a:rPr lang="en-US" altLang="zh-CN" sz="3200" b="1" smtClean="0">
                <a:solidFill>
                  <a:srgbClr val="000099"/>
                </a:solidFill>
                <a:latin typeface="Times New Roman" pitchFamily="18" charset="0"/>
                <a:ea typeface="华文新魏" pitchFamily="2" charset="-122"/>
              </a:rPr>
              <a:t>——</a:t>
            </a:r>
            <a:r>
              <a:rPr lang="zh-CN" altLang="en-US" sz="3200" b="1" smtClean="0">
                <a:solidFill>
                  <a:srgbClr val="000099"/>
                </a:solidFill>
                <a:latin typeface="Times New Roman" pitchFamily="18" charset="0"/>
                <a:ea typeface="华文新魏" pitchFamily="2" charset="-122"/>
              </a:rPr>
              <a:t>总结</a:t>
            </a:r>
          </a:p>
        </p:txBody>
      </p:sp>
      <p:sp>
        <p:nvSpPr>
          <p:cNvPr id="334851" name="Rectangle 3"/>
          <p:cNvSpPr>
            <a:spLocks noGrp="1" noChangeArrowheads="1"/>
          </p:cNvSpPr>
          <p:nvPr>
            <p:ph idx="1"/>
          </p:nvPr>
        </p:nvSpPr>
        <p:spPr>
          <a:xfrm>
            <a:off x="684213" y="1555750"/>
            <a:ext cx="7926387" cy="4608513"/>
          </a:xfrm>
        </p:spPr>
        <p:txBody>
          <a:bodyPr lIns="92075" tIns="46038" rIns="92075" bIns="46038"/>
          <a:lstStyle/>
          <a:p>
            <a:pPr eaLnBrk="1" hangingPunct="1">
              <a:buFont typeface="Wingdings" pitchFamily="2" charset="2"/>
              <a:buNone/>
            </a:pPr>
            <a:r>
              <a:rPr lang="zh-CN" altLang="en-US" sz="2800" b="1" smtClean="0">
                <a:latin typeface="Times New Roman" pitchFamily="18" charset="0"/>
                <a:ea typeface="华文新魏" pitchFamily="2" charset="-122"/>
              </a:rPr>
              <a:t>1</a:t>
            </a: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. </a:t>
            </a:r>
            <a:r>
              <a:rPr lang="zh-CN" altLang="en-US" sz="2800" b="1" smtClean="0">
                <a:latin typeface="Times New Roman" pitchFamily="18" charset="0"/>
                <a:ea typeface="华文新魏" pitchFamily="2" charset="-122"/>
              </a:rPr>
              <a:t>构造文法</a:t>
            </a:r>
          </a:p>
          <a:p>
            <a:pPr eaLnBrk="1" hangingPunct="1">
              <a:buFont typeface="Wingdings" pitchFamily="2" charset="2"/>
              <a:buNone/>
            </a:pPr>
            <a:r>
              <a:rPr lang="zh-CN" altLang="en-US" sz="2800" b="1" smtClean="0">
                <a:latin typeface="Times New Roman" pitchFamily="18" charset="0"/>
                <a:ea typeface="华文新魏" pitchFamily="2" charset="-122"/>
              </a:rPr>
              <a:t>2</a:t>
            </a: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. </a:t>
            </a:r>
            <a:r>
              <a:rPr lang="zh-CN" altLang="en-US" sz="2800" b="1" smtClean="0">
                <a:latin typeface="Times New Roman" pitchFamily="18" charset="0"/>
                <a:ea typeface="华文新魏" pitchFamily="2" charset="-122"/>
              </a:rPr>
              <a:t>改造文法：消除二义性、消除左递归、提取左因子</a:t>
            </a:r>
          </a:p>
          <a:p>
            <a:pPr eaLnBrk="1" hangingPunct="1">
              <a:buFont typeface="Wingdings" pitchFamily="2" charset="2"/>
              <a:buNone/>
            </a:pPr>
            <a:r>
              <a:rPr lang="zh-CN" altLang="en-US" sz="2800" b="1" smtClean="0">
                <a:latin typeface="Times New Roman" pitchFamily="18" charset="0"/>
                <a:ea typeface="华文新魏" pitchFamily="2" charset="-122"/>
              </a:rPr>
              <a:t>3</a:t>
            </a: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. </a:t>
            </a:r>
            <a:r>
              <a:rPr lang="zh-CN" altLang="en-US" sz="2800" b="1" smtClean="0">
                <a:latin typeface="Times New Roman" pitchFamily="18" charset="0"/>
                <a:ea typeface="华文新魏" pitchFamily="2" charset="-122"/>
              </a:rPr>
              <a:t>求每个候选式的</a:t>
            </a: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FIRST</a:t>
            </a:r>
            <a:r>
              <a:rPr lang="zh-CN" altLang="zh-CN" sz="2800" b="1" smtClean="0">
                <a:latin typeface="Times New Roman" pitchFamily="18" charset="0"/>
                <a:ea typeface="华文新魏" pitchFamily="2" charset="-122"/>
              </a:rPr>
              <a:t>集和</a:t>
            </a:r>
            <a:r>
              <a:rPr lang="zh-CN" altLang="en-US" sz="2800" b="1" smtClean="0">
                <a:latin typeface="Times New Roman" pitchFamily="18" charset="0"/>
                <a:ea typeface="华文新魏" pitchFamily="2" charset="-122"/>
              </a:rPr>
              <a:t>变量的</a:t>
            </a: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FOLLOW</a:t>
            </a:r>
            <a:r>
              <a:rPr lang="zh-CN" altLang="zh-CN" sz="2800" b="1" smtClean="0">
                <a:latin typeface="Times New Roman" pitchFamily="18" charset="0"/>
                <a:ea typeface="华文新魏" pitchFamily="2" charset="-122"/>
              </a:rPr>
              <a:t>集</a:t>
            </a:r>
          </a:p>
          <a:p>
            <a:pPr eaLnBrk="1" hangingPunct="1">
              <a:buFont typeface="Wingdings" pitchFamily="2" charset="2"/>
              <a:buNone/>
            </a:pPr>
            <a:r>
              <a:rPr lang="zh-CN" altLang="zh-CN" sz="2800" b="1" smtClean="0">
                <a:latin typeface="Times New Roman" pitchFamily="18" charset="0"/>
                <a:ea typeface="华文新魏" pitchFamily="2" charset="-122"/>
              </a:rPr>
              <a:t>4</a:t>
            </a:r>
            <a:r>
              <a:rPr lang="zh-CN" altLang="en-US" sz="2800" b="1" smtClean="0">
                <a:latin typeface="Times New Roman" pitchFamily="18" charset="0"/>
                <a:ea typeface="华文新魏" pitchFamily="2" charset="-122"/>
              </a:rPr>
              <a:t>. </a:t>
            </a:r>
            <a:r>
              <a:rPr lang="zh-CN" altLang="zh-CN" sz="2800" b="1" smtClean="0">
                <a:latin typeface="Times New Roman" pitchFamily="18" charset="0"/>
                <a:ea typeface="华文新魏" pitchFamily="2" charset="-122"/>
              </a:rPr>
              <a:t>检查是不是 </a:t>
            </a: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LL(1) </a:t>
            </a:r>
            <a:r>
              <a:rPr lang="zh-CN" altLang="en-US" sz="2800" b="1" smtClean="0">
                <a:latin typeface="Times New Roman" pitchFamily="18" charset="0"/>
                <a:ea typeface="华文新魏" pitchFamily="2" charset="-122"/>
              </a:rPr>
              <a:t>文法</a:t>
            </a:r>
          </a:p>
          <a:p>
            <a:pPr lvl="1" eaLnBrk="1" hangingPunct="1"/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若不是 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LL(1),</a:t>
            </a: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说明文法的复杂性超过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LL(1)</a:t>
            </a: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分析方法的分析能力，需要附加新的“信息”</a:t>
            </a:r>
          </a:p>
          <a:p>
            <a:pPr eaLnBrk="1" hangingPunct="1">
              <a:buFont typeface="Wingdings" pitchFamily="2" charset="2"/>
              <a:buNone/>
            </a:pPr>
            <a:r>
              <a:rPr lang="zh-CN" altLang="en-US" sz="2800" b="1" smtClean="0">
                <a:latin typeface="Times New Roman" pitchFamily="18" charset="0"/>
                <a:ea typeface="华文新魏" pitchFamily="2" charset="-122"/>
              </a:rPr>
              <a:t>5</a:t>
            </a: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. </a:t>
            </a:r>
            <a:r>
              <a:rPr lang="zh-CN" altLang="en-US" sz="2800" b="1" smtClean="0">
                <a:latin typeface="Times New Roman" pitchFamily="18" charset="0"/>
                <a:ea typeface="华文新魏" pitchFamily="2" charset="-122"/>
              </a:rPr>
              <a:t> 构造预测分析表</a:t>
            </a:r>
          </a:p>
          <a:p>
            <a:pPr eaLnBrk="1" hangingPunct="1">
              <a:buFont typeface="Wingdings" pitchFamily="2" charset="2"/>
              <a:buNone/>
            </a:pPr>
            <a:r>
              <a:rPr lang="zh-CN" altLang="en-US" sz="2800" b="1" smtClean="0">
                <a:latin typeface="Times New Roman" pitchFamily="18" charset="0"/>
                <a:ea typeface="华文新魏" pitchFamily="2" charset="-122"/>
              </a:rPr>
              <a:t>6</a:t>
            </a: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. </a:t>
            </a:r>
            <a:r>
              <a:rPr lang="zh-CN" altLang="en-US" sz="2800" b="1" smtClean="0">
                <a:latin typeface="Times New Roman" pitchFamily="18" charset="0"/>
                <a:ea typeface="华文新魏" pitchFamily="2" charset="-122"/>
              </a:rPr>
              <a:t> 实现预测分析器</a:t>
            </a:r>
          </a:p>
        </p:txBody>
      </p:sp>
      <p:sp>
        <p:nvSpPr>
          <p:cNvPr id="86020" name="日期占位符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4288E3DA-361B-46C1-8D09-60EA5D780D51}" type="datetime1">
              <a:rPr lang="zh-CN" altLang="en-US" smtClean="0"/>
              <a:pPr eaLnBrk="1" hangingPunct="1"/>
              <a:t>2017/2/24</a:t>
            </a:fld>
            <a:endParaRPr lang="en-US" altLang="zh-CN" smtClean="0"/>
          </a:p>
        </p:txBody>
      </p:sp>
      <p:sp>
        <p:nvSpPr>
          <p:cNvPr id="86021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1CD67600-2783-4B83-93D6-B080312ECCD8}" type="slidenum">
              <a:rPr lang="zh-CN" altLang="en-US" smtClean="0"/>
              <a:pPr eaLnBrk="1" hangingPunct="1"/>
              <a:t>73</a:t>
            </a:fld>
            <a:endParaRPr lang="en-US" altLang="zh-CN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2"/>
          <p:cNvSpPr>
            <a:spLocks noGrp="1" noChangeArrowheads="1"/>
          </p:cNvSpPr>
          <p:nvPr>
            <p:ph type="title"/>
          </p:nvPr>
        </p:nvSpPr>
        <p:spPr>
          <a:xfrm>
            <a:off x="971550" y="836613"/>
            <a:ext cx="3276600" cy="762000"/>
          </a:xfrm>
        </p:spPr>
        <p:txBody>
          <a:bodyPr/>
          <a:lstStyle/>
          <a:p>
            <a:pPr eaLnBrk="1" hangingPunct="1"/>
            <a:r>
              <a:rPr lang="zh-CN" altLang="en-US" b="1" smtClean="0">
                <a:solidFill>
                  <a:srgbClr val="000099"/>
                </a:solidFill>
                <a:latin typeface="Times New Roman" pitchFamily="18" charset="0"/>
                <a:ea typeface="华文新魏" pitchFamily="2" charset="-122"/>
              </a:rPr>
              <a:t>一个设想</a:t>
            </a:r>
          </a:p>
        </p:txBody>
      </p:sp>
      <p:sp>
        <p:nvSpPr>
          <p:cNvPr id="337923" name="Rectangle 3"/>
          <p:cNvSpPr>
            <a:spLocks noGrp="1" noChangeArrowheads="1"/>
          </p:cNvSpPr>
          <p:nvPr>
            <p:ph idx="1"/>
          </p:nvPr>
        </p:nvSpPr>
        <p:spPr>
          <a:xfrm>
            <a:off x="539750" y="1989138"/>
            <a:ext cx="8208963" cy="4251325"/>
          </a:xfrm>
        </p:spPr>
        <p:txBody>
          <a:bodyPr/>
          <a:lstStyle/>
          <a:p>
            <a:pPr marL="0" indent="0" eaLnBrk="1" hangingPunct="1">
              <a:lnSpc>
                <a:spcPct val="90000"/>
              </a:lnSpc>
              <a:spcBef>
                <a:spcPct val="50000"/>
              </a:spcBef>
              <a:buFont typeface="Wingdings" pitchFamily="2" charset="2"/>
              <a:buNone/>
            </a:pPr>
            <a:r>
              <a:rPr lang="zh-CN" altLang="en-US" sz="3000" b="1" smtClean="0">
                <a:latin typeface="Times New Roman" pitchFamily="18" charset="0"/>
                <a:ea typeface="华文新魏" pitchFamily="2" charset="-122"/>
              </a:rPr>
              <a:t>对应每个变量设置一个处理子程序：</a:t>
            </a:r>
          </a:p>
          <a:p>
            <a:pPr marL="0" indent="0" eaLnBrk="1" hangingPunct="1">
              <a:lnSpc>
                <a:spcPct val="90000"/>
              </a:lnSpc>
              <a:spcBef>
                <a:spcPct val="50000"/>
              </a:spcBef>
              <a:buFont typeface="Wingdings" pitchFamily="2" charset="2"/>
              <a:buNone/>
            </a:pPr>
            <a:r>
              <a:rPr lang="en-US" altLang="zh-CN" sz="3000" b="1" smtClean="0">
                <a:latin typeface="Times New Roman" pitchFamily="18" charset="0"/>
                <a:ea typeface="华文新魏" pitchFamily="2" charset="-122"/>
              </a:rPr>
              <a:t>procedure A</a:t>
            </a:r>
          </a:p>
          <a:p>
            <a:pPr marL="0" indent="0" eaLnBrk="1" hangingPunct="1">
              <a:lnSpc>
                <a:spcPct val="90000"/>
              </a:lnSpc>
              <a:spcBef>
                <a:spcPct val="50000"/>
              </a:spcBef>
              <a:buFont typeface="Wingdings" pitchFamily="2" charset="2"/>
              <a:buNone/>
            </a:pPr>
            <a:r>
              <a:rPr lang="en-US" altLang="zh-CN" sz="3000" b="1" smtClean="0">
                <a:latin typeface="Times New Roman" pitchFamily="18" charset="0"/>
                <a:ea typeface="华文新魏" pitchFamily="2" charset="-122"/>
              </a:rPr>
              <a:t>A→X</a:t>
            </a:r>
            <a:r>
              <a:rPr lang="en-US" altLang="zh-CN" sz="3000" b="1" baseline="-25000" smtClean="0">
                <a:latin typeface="Times New Roman" pitchFamily="18" charset="0"/>
                <a:ea typeface="华文新魏" pitchFamily="2" charset="-122"/>
              </a:rPr>
              <a:t>1 </a:t>
            </a:r>
            <a:r>
              <a:rPr lang="en-US" altLang="zh-CN" sz="3000" b="1" smtClean="0">
                <a:latin typeface="Times New Roman" pitchFamily="18" charset="0"/>
                <a:ea typeface="华文新魏" pitchFamily="2" charset="-122"/>
              </a:rPr>
              <a:t>X</a:t>
            </a:r>
            <a:r>
              <a:rPr lang="en-US" altLang="zh-CN" sz="3000" b="1" baseline="-25000" smtClean="0">
                <a:latin typeface="Times New Roman" pitchFamily="18" charset="0"/>
                <a:ea typeface="华文新魏" pitchFamily="2" charset="-122"/>
              </a:rPr>
              <a:t>2 </a:t>
            </a:r>
            <a:r>
              <a:rPr lang="en-US" altLang="zh-CN" sz="3000" b="1" smtClean="0">
                <a:latin typeface="Times New Roman" pitchFamily="18" charset="0"/>
                <a:ea typeface="华文新魏" pitchFamily="2" charset="-122"/>
              </a:rPr>
              <a:t>… X</a:t>
            </a:r>
            <a:r>
              <a:rPr lang="en-US" altLang="zh-CN" sz="3000" b="1" baseline="-25000" smtClean="0">
                <a:latin typeface="Times New Roman" pitchFamily="18" charset="0"/>
                <a:ea typeface="华文新魏" pitchFamily="2" charset="-122"/>
              </a:rPr>
              <a:t>k </a:t>
            </a:r>
            <a:r>
              <a:rPr lang="en-US" altLang="zh-CN" sz="3000" b="1" smtClean="0">
                <a:latin typeface="Times New Roman" pitchFamily="18" charset="0"/>
                <a:ea typeface="华文新魏" pitchFamily="2" charset="-122"/>
              </a:rPr>
              <a:t>… X</a:t>
            </a:r>
            <a:r>
              <a:rPr lang="en-US" altLang="zh-CN" sz="3000" b="1" baseline="-25000" smtClean="0">
                <a:latin typeface="Times New Roman" pitchFamily="18" charset="0"/>
                <a:ea typeface="华文新魏" pitchFamily="2" charset="-122"/>
              </a:rPr>
              <a:t>n</a:t>
            </a:r>
          </a:p>
          <a:p>
            <a:pPr marL="0" indent="0" eaLnBrk="1" hangingPunct="1">
              <a:lnSpc>
                <a:spcPct val="90000"/>
              </a:lnSpc>
              <a:spcBef>
                <a:spcPct val="50000"/>
              </a:spcBef>
              <a:buFont typeface="Wingdings" pitchFamily="2" charset="2"/>
              <a:buNone/>
            </a:pPr>
            <a:r>
              <a:rPr lang="zh-CN" altLang="en-US" sz="3000" b="1" smtClean="0">
                <a:latin typeface="Times New Roman" pitchFamily="18" charset="0"/>
                <a:ea typeface="华文新魏" pitchFamily="2" charset="-122"/>
              </a:rPr>
              <a:t>当遇到的</a:t>
            </a:r>
            <a:r>
              <a:rPr lang="en-US" altLang="zh-CN" sz="3000" b="1" smtClean="0">
                <a:latin typeface="Times New Roman" pitchFamily="18" charset="0"/>
                <a:ea typeface="华文新魏" pitchFamily="2" charset="-122"/>
              </a:rPr>
              <a:t>X</a:t>
            </a:r>
            <a:r>
              <a:rPr lang="en-US" altLang="zh-CN" sz="3000" b="1" baseline="-25000" smtClean="0">
                <a:latin typeface="Times New Roman" pitchFamily="18" charset="0"/>
                <a:ea typeface="华文新魏" pitchFamily="2" charset="-122"/>
              </a:rPr>
              <a:t>k</a:t>
            </a:r>
            <a:r>
              <a:rPr lang="zh-CN" altLang="en-US" sz="3000" b="1" smtClean="0">
                <a:latin typeface="Times New Roman" pitchFamily="18" charset="0"/>
                <a:ea typeface="华文新魏" pitchFamily="2" charset="-122"/>
              </a:rPr>
              <a:t>是终极符号时直接进行匹配</a:t>
            </a:r>
          </a:p>
          <a:p>
            <a:pPr marL="0" indent="0" eaLnBrk="1" hangingPunct="1">
              <a:lnSpc>
                <a:spcPct val="90000"/>
              </a:lnSpc>
              <a:spcBef>
                <a:spcPct val="50000"/>
              </a:spcBef>
              <a:buFont typeface="Wingdings" pitchFamily="2" charset="2"/>
              <a:buNone/>
            </a:pPr>
            <a:r>
              <a:rPr lang="zh-CN" altLang="en-US" sz="3000" b="1" smtClean="0">
                <a:latin typeface="Times New Roman" pitchFamily="18" charset="0"/>
                <a:ea typeface="华文新魏" pitchFamily="2" charset="-122"/>
              </a:rPr>
              <a:t>当遇到的</a:t>
            </a:r>
            <a:r>
              <a:rPr lang="en-US" altLang="zh-CN" sz="3000" b="1" smtClean="0">
                <a:latin typeface="Times New Roman" pitchFamily="18" charset="0"/>
                <a:ea typeface="华文新魏" pitchFamily="2" charset="-122"/>
              </a:rPr>
              <a:t>X</a:t>
            </a:r>
            <a:r>
              <a:rPr lang="en-US" altLang="zh-CN" sz="3000" b="1" baseline="-25000" smtClean="0">
                <a:latin typeface="Times New Roman" pitchFamily="18" charset="0"/>
                <a:ea typeface="华文新魏" pitchFamily="2" charset="-122"/>
              </a:rPr>
              <a:t>k</a:t>
            </a:r>
            <a:r>
              <a:rPr lang="zh-CN" altLang="en-US" sz="3000" b="1" smtClean="0">
                <a:latin typeface="Times New Roman" pitchFamily="18" charset="0"/>
                <a:ea typeface="华文新魏" pitchFamily="2" charset="-122"/>
              </a:rPr>
              <a:t>是语法变量时就调用</a:t>
            </a:r>
            <a:r>
              <a:rPr lang="en-US" altLang="zh-CN" sz="3000" b="1" smtClean="0">
                <a:latin typeface="Times New Roman" pitchFamily="18" charset="0"/>
                <a:ea typeface="华文新魏" pitchFamily="2" charset="-122"/>
              </a:rPr>
              <a:t>X</a:t>
            </a:r>
            <a:r>
              <a:rPr lang="en-US" altLang="zh-CN" sz="3000" b="1" baseline="-25000" smtClean="0">
                <a:latin typeface="Times New Roman" pitchFamily="18" charset="0"/>
                <a:ea typeface="华文新魏" pitchFamily="2" charset="-122"/>
              </a:rPr>
              <a:t>k</a:t>
            </a:r>
            <a:r>
              <a:rPr lang="zh-CN" altLang="en-US" sz="3000" b="1" smtClean="0">
                <a:latin typeface="Times New Roman" pitchFamily="18" charset="0"/>
                <a:ea typeface="华文新魏" pitchFamily="2" charset="-122"/>
              </a:rPr>
              <a:t>对应的处理子程序</a:t>
            </a:r>
          </a:p>
          <a:p>
            <a:pPr marL="0" indent="0" eaLnBrk="1" hangingPunct="1">
              <a:lnSpc>
                <a:spcPct val="90000"/>
              </a:lnSpc>
              <a:spcBef>
                <a:spcPct val="50000"/>
              </a:spcBef>
              <a:buFont typeface="Wingdings" pitchFamily="2" charset="2"/>
              <a:buNone/>
            </a:pPr>
            <a:r>
              <a:rPr lang="zh-CN" altLang="en-US" sz="3000" b="1" smtClean="0">
                <a:latin typeface="Times New Roman" pitchFamily="18" charset="0"/>
                <a:ea typeface="华文新魏" pitchFamily="2" charset="-122"/>
              </a:rPr>
              <a:t>要求处理子程序是可以</a:t>
            </a:r>
            <a:r>
              <a:rPr lang="zh-CN" altLang="en-US" sz="3000" b="1" smtClean="0">
                <a:solidFill>
                  <a:schemeClr val="hlink"/>
                </a:solidFill>
                <a:latin typeface="Times New Roman" pitchFamily="18" charset="0"/>
                <a:ea typeface="华文新魏" pitchFamily="2" charset="-122"/>
              </a:rPr>
              <a:t>递归调用</a:t>
            </a:r>
            <a:r>
              <a:rPr lang="zh-CN" altLang="en-US" sz="3000" b="1" smtClean="0">
                <a:latin typeface="Times New Roman" pitchFamily="18" charset="0"/>
                <a:ea typeface="华文新魏" pitchFamily="2" charset="-122"/>
              </a:rPr>
              <a:t>的</a:t>
            </a:r>
          </a:p>
        </p:txBody>
      </p:sp>
      <p:sp>
        <p:nvSpPr>
          <p:cNvPr id="87044" name="日期占位符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CD834280-4F36-42C9-880D-00AE39F96546}" type="datetime1">
              <a:rPr lang="zh-CN" altLang="en-US" smtClean="0"/>
              <a:pPr eaLnBrk="1" hangingPunct="1"/>
              <a:t>2017/2/24</a:t>
            </a:fld>
            <a:endParaRPr lang="en-US" altLang="zh-CN" smtClean="0"/>
          </a:p>
        </p:txBody>
      </p:sp>
      <p:sp>
        <p:nvSpPr>
          <p:cNvPr id="87045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34EBA209-763D-4610-8996-E6FD4770A316}" type="slidenum">
              <a:rPr lang="zh-CN" altLang="en-US" smtClean="0"/>
              <a:pPr eaLnBrk="1" hangingPunct="1"/>
              <a:t>74</a:t>
            </a:fld>
            <a:endParaRPr lang="en-US" altLang="zh-CN" smtClean="0"/>
          </a:p>
        </p:txBody>
      </p:sp>
      <p:sp>
        <p:nvSpPr>
          <p:cNvPr id="337924" name="Rectangle 4"/>
          <p:cNvSpPr>
            <a:spLocks noChangeArrowheads="1"/>
          </p:cNvSpPr>
          <p:nvPr/>
        </p:nvSpPr>
        <p:spPr bwMode="auto">
          <a:xfrm>
            <a:off x="6659563" y="188913"/>
            <a:ext cx="2484437" cy="2303462"/>
          </a:xfrm>
          <a:prstGeom prst="rect">
            <a:avLst/>
          </a:prstGeom>
          <a:solidFill>
            <a:srgbClr val="006666"/>
          </a:solidFill>
          <a:ln w="9525">
            <a:noFill/>
            <a:miter lim="800000"/>
            <a:headEnd/>
            <a:tailEnd/>
          </a:ln>
        </p:spPr>
        <p:txBody>
          <a:bodyPr lIns="92075" tIns="46038" rIns="92075" bIns="46038"/>
          <a:lstStyle/>
          <a:p>
            <a:pPr marL="342900" indent="-342900" eaLnBrk="0" hangingPunct="0"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800" b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E→TE</a:t>
            </a:r>
            <a:r>
              <a:rPr lang="en-US" altLang="zh-CN" sz="2800" b="1">
                <a:solidFill>
                  <a:schemeClr val="bg1"/>
                </a:solidFill>
                <a:latin typeface="Times New Roman" pitchFamily="18" charset="0"/>
              </a:rPr>
              <a:t>'</a:t>
            </a:r>
            <a:r>
              <a:rPr kumimoji="1" lang="en-US" altLang="zh-CN" sz="2800" b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 </a:t>
            </a:r>
          </a:p>
          <a:p>
            <a:pPr marL="342900" indent="-342900" eaLnBrk="0" hangingPunct="0"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800" b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E</a:t>
            </a:r>
            <a:r>
              <a:rPr lang="en-US" altLang="zh-CN" sz="2800" b="1">
                <a:solidFill>
                  <a:schemeClr val="bg1"/>
                </a:solidFill>
                <a:latin typeface="Times New Roman" pitchFamily="18" charset="0"/>
              </a:rPr>
              <a:t>'</a:t>
            </a:r>
            <a:r>
              <a:rPr kumimoji="1" lang="en-US" altLang="zh-CN" sz="2800">
                <a:solidFill>
                  <a:schemeClr val="bg1"/>
                </a:solidFill>
                <a:latin typeface="Times New Roman" pitchFamily="18" charset="0"/>
              </a:rPr>
              <a:t> </a:t>
            </a:r>
            <a:r>
              <a:rPr kumimoji="1" lang="en-US" altLang="zh-CN" sz="2800" b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→+TE’|ε  </a:t>
            </a:r>
          </a:p>
          <a:p>
            <a:pPr marL="342900" indent="-342900" eaLnBrk="0" hangingPunct="0"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800" b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T→FT'        </a:t>
            </a:r>
          </a:p>
          <a:p>
            <a:pPr marL="342900" indent="-342900" eaLnBrk="0" hangingPunct="0"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800" b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T'→*FT’|ε  </a:t>
            </a:r>
          </a:p>
          <a:p>
            <a:pPr marL="342900" indent="-342900" eaLnBrk="0" hangingPunct="0"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800" b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F→(E)|id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zh-CN" altLang="en-US" b="1" smtClean="0">
                <a:solidFill>
                  <a:srgbClr val="000099"/>
                </a:solidFill>
                <a:latin typeface="Times New Roman" pitchFamily="18" charset="0"/>
                <a:ea typeface="华文新魏" pitchFamily="2" charset="-122"/>
              </a:rPr>
              <a:t>4.5 语法图</a:t>
            </a:r>
          </a:p>
        </p:txBody>
      </p:sp>
      <p:sp>
        <p:nvSpPr>
          <p:cNvPr id="88067" name="Rectangle 3"/>
          <p:cNvSpPr>
            <a:spLocks noGrp="1" noChangeArrowheads="1"/>
          </p:cNvSpPr>
          <p:nvPr>
            <p:ph idx="1"/>
          </p:nvPr>
        </p:nvSpPr>
        <p:spPr>
          <a:xfrm>
            <a:off x="1182688" y="2017713"/>
            <a:ext cx="7205662" cy="690562"/>
          </a:xfrm>
        </p:spPr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例 4-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15</a:t>
            </a: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：表达式文法的描述</a:t>
            </a:r>
            <a:endParaRPr lang="zh-CN" altLang="en-US" smtClean="0">
              <a:latin typeface="Times New Roman" pitchFamily="18" charset="0"/>
            </a:endParaRPr>
          </a:p>
        </p:txBody>
      </p:sp>
      <p:sp>
        <p:nvSpPr>
          <p:cNvPr id="88068" name="日期占位符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E94D5746-963E-41B4-917A-D319A7925638}" type="datetime1">
              <a:rPr lang="zh-CN" altLang="en-US" smtClean="0"/>
              <a:pPr eaLnBrk="1" hangingPunct="1"/>
              <a:t>2017/2/24</a:t>
            </a:fld>
            <a:endParaRPr lang="en-US" altLang="zh-CN" smtClean="0"/>
          </a:p>
        </p:txBody>
      </p:sp>
      <p:sp>
        <p:nvSpPr>
          <p:cNvPr id="88069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6E21F219-16EC-4F43-A2D5-2F2FFEA773C3}" type="slidenum">
              <a:rPr lang="zh-CN" altLang="en-US" smtClean="0"/>
              <a:pPr eaLnBrk="1" hangingPunct="1"/>
              <a:t>75</a:t>
            </a:fld>
            <a:endParaRPr lang="en-US" altLang="zh-CN" smtClean="0"/>
          </a:p>
        </p:txBody>
      </p:sp>
      <p:sp>
        <p:nvSpPr>
          <p:cNvPr id="465924" name="Text Box 4"/>
          <p:cNvSpPr txBox="1">
            <a:spLocks noChangeArrowheads="1"/>
          </p:cNvSpPr>
          <p:nvPr/>
        </p:nvSpPr>
        <p:spPr bwMode="auto">
          <a:xfrm>
            <a:off x="4067175" y="549275"/>
            <a:ext cx="5076825" cy="1031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>
            <a:spAutoFit/>
          </a:bodyPr>
          <a:lstStyle/>
          <a:p>
            <a:pPr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8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楷体_GB2312" pitchFamily="49" charset="-122"/>
              </a:rPr>
              <a:t>E→TE'   E'→+TE'|ε  T→FT'</a:t>
            </a:r>
          </a:p>
          <a:p>
            <a:pPr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8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楷体_GB2312" pitchFamily="49" charset="-122"/>
              </a:rPr>
              <a:t>T'→*FT'|ε     F→(E)|id</a:t>
            </a:r>
          </a:p>
        </p:txBody>
      </p:sp>
      <p:sp>
        <p:nvSpPr>
          <p:cNvPr id="465928" name="Text Box 8"/>
          <p:cNvSpPr txBox="1">
            <a:spLocks noChangeArrowheads="1"/>
          </p:cNvSpPr>
          <p:nvPr/>
        </p:nvSpPr>
        <p:spPr bwMode="auto">
          <a:xfrm>
            <a:off x="1476375" y="3065463"/>
            <a:ext cx="455613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r>
              <a:rPr kumimoji="1" lang="en-US" altLang="zh-CN" sz="3200" b="1">
                <a:latin typeface="Times New Roman" pitchFamily="18" charset="0"/>
              </a:rPr>
              <a:t>E</a:t>
            </a:r>
          </a:p>
        </p:txBody>
      </p:sp>
      <p:grpSp>
        <p:nvGrpSpPr>
          <p:cNvPr id="2" name="Group 13"/>
          <p:cNvGrpSpPr>
            <a:grpSpLocks/>
          </p:cNvGrpSpPr>
          <p:nvPr/>
        </p:nvGrpSpPr>
        <p:grpSpPr bwMode="auto">
          <a:xfrm>
            <a:off x="2484438" y="3068638"/>
            <a:ext cx="431800" cy="519112"/>
            <a:chOff x="1474" y="1984"/>
            <a:chExt cx="272" cy="327"/>
          </a:xfrm>
        </p:grpSpPr>
        <p:sp>
          <p:nvSpPr>
            <p:cNvPr id="88104" name="Oval 11"/>
            <p:cNvSpPr>
              <a:spLocks noChangeArrowheads="1"/>
            </p:cNvSpPr>
            <p:nvPr/>
          </p:nvSpPr>
          <p:spPr bwMode="auto">
            <a:xfrm>
              <a:off x="1474" y="2024"/>
              <a:ext cx="272" cy="272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/>
              <a:endParaRPr lang="zh-CN" altLang="en-US"/>
            </a:p>
          </p:txBody>
        </p:sp>
        <p:sp>
          <p:nvSpPr>
            <p:cNvPr id="88105" name="Text Box 12"/>
            <p:cNvSpPr txBox="1">
              <a:spLocks noChangeArrowheads="1"/>
            </p:cNvSpPr>
            <p:nvPr/>
          </p:nvSpPr>
          <p:spPr bwMode="auto">
            <a:xfrm>
              <a:off x="1474" y="1984"/>
              <a:ext cx="27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/>
                <a:t>0</a:t>
              </a:r>
            </a:p>
          </p:txBody>
        </p:sp>
      </p:grpSp>
      <p:grpSp>
        <p:nvGrpSpPr>
          <p:cNvPr id="3" name="Group 20"/>
          <p:cNvGrpSpPr>
            <a:grpSpLocks/>
          </p:cNvGrpSpPr>
          <p:nvPr/>
        </p:nvGrpSpPr>
        <p:grpSpPr bwMode="auto">
          <a:xfrm>
            <a:off x="4427538" y="3068638"/>
            <a:ext cx="431800" cy="519112"/>
            <a:chOff x="1474" y="1984"/>
            <a:chExt cx="272" cy="327"/>
          </a:xfrm>
        </p:grpSpPr>
        <p:sp>
          <p:nvSpPr>
            <p:cNvPr id="88102" name="Oval 21"/>
            <p:cNvSpPr>
              <a:spLocks noChangeArrowheads="1"/>
            </p:cNvSpPr>
            <p:nvPr/>
          </p:nvSpPr>
          <p:spPr bwMode="auto">
            <a:xfrm>
              <a:off x="1474" y="2024"/>
              <a:ext cx="272" cy="272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/>
              <a:endParaRPr lang="zh-CN" altLang="en-US"/>
            </a:p>
          </p:txBody>
        </p:sp>
        <p:sp>
          <p:nvSpPr>
            <p:cNvPr id="88103" name="Text Box 22"/>
            <p:cNvSpPr txBox="1">
              <a:spLocks noChangeArrowheads="1"/>
            </p:cNvSpPr>
            <p:nvPr/>
          </p:nvSpPr>
          <p:spPr bwMode="auto">
            <a:xfrm>
              <a:off x="1474" y="1984"/>
              <a:ext cx="27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/>
                <a:t>1</a:t>
              </a:r>
            </a:p>
          </p:txBody>
        </p:sp>
      </p:grpSp>
      <p:grpSp>
        <p:nvGrpSpPr>
          <p:cNvPr id="4" name="Group 26"/>
          <p:cNvGrpSpPr>
            <a:grpSpLocks/>
          </p:cNvGrpSpPr>
          <p:nvPr/>
        </p:nvGrpSpPr>
        <p:grpSpPr bwMode="auto">
          <a:xfrm>
            <a:off x="2484438" y="4652963"/>
            <a:ext cx="431800" cy="519112"/>
            <a:chOff x="1474" y="1984"/>
            <a:chExt cx="272" cy="327"/>
          </a:xfrm>
        </p:grpSpPr>
        <p:sp>
          <p:nvSpPr>
            <p:cNvPr id="88100" name="Oval 27"/>
            <p:cNvSpPr>
              <a:spLocks noChangeArrowheads="1"/>
            </p:cNvSpPr>
            <p:nvPr/>
          </p:nvSpPr>
          <p:spPr bwMode="auto">
            <a:xfrm>
              <a:off x="1474" y="2024"/>
              <a:ext cx="272" cy="272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/>
              <a:endParaRPr lang="zh-CN" altLang="en-US"/>
            </a:p>
          </p:txBody>
        </p:sp>
        <p:sp>
          <p:nvSpPr>
            <p:cNvPr id="88101" name="Text Box 28"/>
            <p:cNvSpPr txBox="1">
              <a:spLocks noChangeArrowheads="1"/>
            </p:cNvSpPr>
            <p:nvPr/>
          </p:nvSpPr>
          <p:spPr bwMode="auto">
            <a:xfrm>
              <a:off x="1474" y="1984"/>
              <a:ext cx="27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/>
                <a:t>3</a:t>
              </a:r>
            </a:p>
          </p:txBody>
        </p:sp>
      </p:grpSp>
      <p:grpSp>
        <p:nvGrpSpPr>
          <p:cNvPr id="5" name="Group 29"/>
          <p:cNvGrpSpPr>
            <a:grpSpLocks/>
          </p:cNvGrpSpPr>
          <p:nvPr/>
        </p:nvGrpSpPr>
        <p:grpSpPr bwMode="auto">
          <a:xfrm>
            <a:off x="6445250" y="3068638"/>
            <a:ext cx="431800" cy="519112"/>
            <a:chOff x="1474" y="1984"/>
            <a:chExt cx="272" cy="327"/>
          </a:xfrm>
        </p:grpSpPr>
        <p:sp>
          <p:nvSpPr>
            <p:cNvPr id="88098" name="Oval 30"/>
            <p:cNvSpPr>
              <a:spLocks noChangeArrowheads="1"/>
            </p:cNvSpPr>
            <p:nvPr/>
          </p:nvSpPr>
          <p:spPr bwMode="auto">
            <a:xfrm>
              <a:off x="1474" y="2024"/>
              <a:ext cx="272" cy="272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/>
              <a:endParaRPr lang="zh-CN" altLang="en-US"/>
            </a:p>
          </p:txBody>
        </p:sp>
        <p:sp>
          <p:nvSpPr>
            <p:cNvPr id="88099" name="Text Box 31"/>
            <p:cNvSpPr txBox="1">
              <a:spLocks noChangeArrowheads="1"/>
            </p:cNvSpPr>
            <p:nvPr/>
          </p:nvSpPr>
          <p:spPr bwMode="auto">
            <a:xfrm>
              <a:off x="1474" y="1984"/>
              <a:ext cx="27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/>
                <a:t>2</a:t>
              </a:r>
            </a:p>
          </p:txBody>
        </p:sp>
      </p:grpSp>
      <p:sp>
        <p:nvSpPr>
          <p:cNvPr id="465953" name="Text Box 33"/>
          <p:cNvSpPr txBox="1">
            <a:spLocks noChangeArrowheads="1"/>
          </p:cNvSpPr>
          <p:nvPr/>
        </p:nvSpPr>
        <p:spPr bwMode="auto">
          <a:xfrm>
            <a:off x="3348038" y="2997200"/>
            <a:ext cx="6477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 b="1">
                <a:latin typeface="Times New Roman" pitchFamily="18" charset="0"/>
              </a:rPr>
              <a:t>T</a:t>
            </a:r>
          </a:p>
        </p:txBody>
      </p:sp>
      <p:sp>
        <p:nvSpPr>
          <p:cNvPr id="465954" name="Line 34"/>
          <p:cNvSpPr>
            <a:spLocks noChangeShapeType="1"/>
          </p:cNvSpPr>
          <p:nvPr/>
        </p:nvSpPr>
        <p:spPr bwMode="auto">
          <a:xfrm>
            <a:off x="2916238" y="3357563"/>
            <a:ext cx="151288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65957" name="Text Box 37"/>
          <p:cNvSpPr txBox="1">
            <a:spLocks noChangeArrowheads="1"/>
          </p:cNvSpPr>
          <p:nvPr/>
        </p:nvSpPr>
        <p:spPr bwMode="auto">
          <a:xfrm>
            <a:off x="5364163" y="2909888"/>
            <a:ext cx="6477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2800" b="1">
                <a:latin typeface="Times New Roman" pitchFamily="18" charset="0"/>
              </a:rPr>
              <a:t>E</a:t>
            </a:r>
            <a:r>
              <a:rPr kumimoji="1" lang="en-US" altLang="zh-CN" sz="2800" b="1"/>
              <a:t>’</a:t>
            </a:r>
          </a:p>
        </p:txBody>
      </p:sp>
      <p:sp>
        <p:nvSpPr>
          <p:cNvPr id="465958" name="Line 38"/>
          <p:cNvSpPr>
            <a:spLocks noChangeShapeType="1"/>
          </p:cNvSpPr>
          <p:nvPr/>
        </p:nvSpPr>
        <p:spPr bwMode="auto">
          <a:xfrm>
            <a:off x="4859338" y="3357563"/>
            <a:ext cx="1585912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65960" name="Text Box 40"/>
          <p:cNvSpPr txBox="1">
            <a:spLocks noChangeArrowheads="1"/>
          </p:cNvSpPr>
          <p:nvPr/>
        </p:nvSpPr>
        <p:spPr bwMode="auto">
          <a:xfrm>
            <a:off x="1258888" y="4652963"/>
            <a:ext cx="6477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2800" b="1">
                <a:latin typeface="Times New Roman" pitchFamily="18" charset="0"/>
              </a:rPr>
              <a:t>E</a:t>
            </a:r>
            <a:r>
              <a:rPr kumimoji="1" lang="en-US" altLang="zh-CN" sz="2800" b="1"/>
              <a:t>’</a:t>
            </a:r>
          </a:p>
        </p:txBody>
      </p:sp>
      <p:grpSp>
        <p:nvGrpSpPr>
          <p:cNvPr id="6" name="Group 41"/>
          <p:cNvGrpSpPr>
            <a:grpSpLocks/>
          </p:cNvGrpSpPr>
          <p:nvPr/>
        </p:nvGrpSpPr>
        <p:grpSpPr bwMode="auto">
          <a:xfrm>
            <a:off x="4427538" y="4652963"/>
            <a:ext cx="431800" cy="519112"/>
            <a:chOff x="1474" y="1984"/>
            <a:chExt cx="272" cy="327"/>
          </a:xfrm>
        </p:grpSpPr>
        <p:sp>
          <p:nvSpPr>
            <p:cNvPr id="88096" name="Oval 42"/>
            <p:cNvSpPr>
              <a:spLocks noChangeArrowheads="1"/>
            </p:cNvSpPr>
            <p:nvPr/>
          </p:nvSpPr>
          <p:spPr bwMode="auto">
            <a:xfrm>
              <a:off x="1474" y="2024"/>
              <a:ext cx="272" cy="272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/>
              <a:endParaRPr lang="zh-CN" altLang="en-US"/>
            </a:p>
          </p:txBody>
        </p:sp>
        <p:sp>
          <p:nvSpPr>
            <p:cNvPr id="88097" name="Text Box 43"/>
            <p:cNvSpPr txBox="1">
              <a:spLocks noChangeArrowheads="1"/>
            </p:cNvSpPr>
            <p:nvPr/>
          </p:nvSpPr>
          <p:spPr bwMode="auto">
            <a:xfrm>
              <a:off x="1474" y="1984"/>
              <a:ext cx="27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/>
                <a:t>4</a:t>
              </a:r>
            </a:p>
          </p:txBody>
        </p:sp>
      </p:grpSp>
      <p:grpSp>
        <p:nvGrpSpPr>
          <p:cNvPr id="7" name="Group 47"/>
          <p:cNvGrpSpPr>
            <a:grpSpLocks/>
          </p:cNvGrpSpPr>
          <p:nvPr/>
        </p:nvGrpSpPr>
        <p:grpSpPr bwMode="auto">
          <a:xfrm>
            <a:off x="6372225" y="4652963"/>
            <a:ext cx="431800" cy="519112"/>
            <a:chOff x="1474" y="1984"/>
            <a:chExt cx="272" cy="327"/>
          </a:xfrm>
        </p:grpSpPr>
        <p:sp>
          <p:nvSpPr>
            <p:cNvPr id="88094" name="Oval 48"/>
            <p:cNvSpPr>
              <a:spLocks noChangeArrowheads="1"/>
            </p:cNvSpPr>
            <p:nvPr/>
          </p:nvSpPr>
          <p:spPr bwMode="auto">
            <a:xfrm>
              <a:off x="1474" y="2024"/>
              <a:ext cx="272" cy="272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/>
              <a:endParaRPr lang="zh-CN" altLang="en-US"/>
            </a:p>
          </p:txBody>
        </p:sp>
        <p:sp>
          <p:nvSpPr>
            <p:cNvPr id="88095" name="Text Box 49"/>
            <p:cNvSpPr txBox="1">
              <a:spLocks noChangeArrowheads="1"/>
            </p:cNvSpPr>
            <p:nvPr/>
          </p:nvSpPr>
          <p:spPr bwMode="auto">
            <a:xfrm>
              <a:off x="1474" y="1984"/>
              <a:ext cx="27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/>
                <a:t>5</a:t>
              </a:r>
            </a:p>
          </p:txBody>
        </p:sp>
      </p:grpSp>
      <p:grpSp>
        <p:nvGrpSpPr>
          <p:cNvPr id="8" name="Group 50"/>
          <p:cNvGrpSpPr>
            <a:grpSpLocks/>
          </p:cNvGrpSpPr>
          <p:nvPr/>
        </p:nvGrpSpPr>
        <p:grpSpPr bwMode="auto">
          <a:xfrm>
            <a:off x="6372225" y="5589588"/>
            <a:ext cx="431800" cy="519112"/>
            <a:chOff x="1474" y="1984"/>
            <a:chExt cx="272" cy="327"/>
          </a:xfrm>
        </p:grpSpPr>
        <p:sp>
          <p:nvSpPr>
            <p:cNvPr id="88092" name="Oval 51"/>
            <p:cNvSpPr>
              <a:spLocks noChangeArrowheads="1"/>
            </p:cNvSpPr>
            <p:nvPr/>
          </p:nvSpPr>
          <p:spPr bwMode="auto">
            <a:xfrm>
              <a:off x="1474" y="2024"/>
              <a:ext cx="272" cy="272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/>
              <a:endParaRPr lang="zh-CN" altLang="en-US"/>
            </a:p>
          </p:txBody>
        </p:sp>
        <p:sp>
          <p:nvSpPr>
            <p:cNvPr id="88093" name="Text Box 52"/>
            <p:cNvSpPr txBox="1">
              <a:spLocks noChangeArrowheads="1"/>
            </p:cNvSpPr>
            <p:nvPr/>
          </p:nvSpPr>
          <p:spPr bwMode="auto">
            <a:xfrm>
              <a:off x="1474" y="1984"/>
              <a:ext cx="27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/>
                <a:t>6</a:t>
              </a:r>
            </a:p>
          </p:txBody>
        </p:sp>
      </p:grpSp>
      <p:sp>
        <p:nvSpPr>
          <p:cNvPr id="465973" name="Line 53"/>
          <p:cNvSpPr>
            <a:spLocks noChangeShapeType="1"/>
          </p:cNvSpPr>
          <p:nvPr/>
        </p:nvSpPr>
        <p:spPr bwMode="auto">
          <a:xfrm>
            <a:off x="2916238" y="4941888"/>
            <a:ext cx="151288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65974" name="Text Box 54"/>
          <p:cNvSpPr txBox="1">
            <a:spLocks noChangeArrowheads="1"/>
          </p:cNvSpPr>
          <p:nvPr/>
        </p:nvSpPr>
        <p:spPr bwMode="auto">
          <a:xfrm>
            <a:off x="3348038" y="4581525"/>
            <a:ext cx="6477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 b="1">
                <a:latin typeface="Times New Roman" pitchFamily="18" charset="0"/>
              </a:rPr>
              <a:t>+</a:t>
            </a:r>
          </a:p>
        </p:txBody>
      </p:sp>
      <p:sp>
        <p:nvSpPr>
          <p:cNvPr id="465975" name="Text Box 55"/>
          <p:cNvSpPr txBox="1">
            <a:spLocks noChangeArrowheads="1"/>
          </p:cNvSpPr>
          <p:nvPr/>
        </p:nvSpPr>
        <p:spPr bwMode="auto">
          <a:xfrm>
            <a:off x="5437188" y="4581525"/>
            <a:ext cx="6477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 b="1">
                <a:latin typeface="Times New Roman" pitchFamily="18" charset="0"/>
              </a:rPr>
              <a:t>T</a:t>
            </a:r>
          </a:p>
        </p:txBody>
      </p:sp>
      <p:sp>
        <p:nvSpPr>
          <p:cNvPr id="465976" name="Line 56"/>
          <p:cNvSpPr>
            <a:spLocks noChangeShapeType="1"/>
          </p:cNvSpPr>
          <p:nvPr/>
        </p:nvSpPr>
        <p:spPr bwMode="auto">
          <a:xfrm>
            <a:off x="4859338" y="4941888"/>
            <a:ext cx="151288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65977" name="Freeform 57"/>
          <p:cNvSpPr>
            <a:spLocks/>
          </p:cNvSpPr>
          <p:nvPr/>
        </p:nvSpPr>
        <p:spPr bwMode="auto">
          <a:xfrm>
            <a:off x="2700338" y="5157788"/>
            <a:ext cx="3671887" cy="719137"/>
          </a:xfrm>
          <a:custGeom>
            <a:avLst/>
            <a:gdLst>
              <a:gd name="T0" fmla="*/ 0 w 2268"/>
              <a:gd name="T1" fmla="*/ 0 h 460"/>
              <a:gd name="T2" fmla="*/ 72855 w 2268"/>
              <a:gd name="T3" fmla="*/ 353315 h 460"/>
              <a:gd name="T4" fmla="*/ 220184 w 2268"/>
              <a:gd name="T5" fmla="*/ 567493 h 460"/>
              <a:gd name="T6" fmla="*/ 587696 w 2268"/>
              <a:gd name="T7" fmla="*/ 637843 h 460"/>
              <a:gd name="T8" fmla="*/ 1835944 w 2268"/>
              <a:gd name="T9" fmla="*/ 708194 h 460"/>
              <a:gd name="T10" fmla="*/ 3157045 w 2268"/>
              <a:gd name="T11" fmla="*/ 708194 h 460"/>
              <a:gd name="T12" fmla="*/ 3671887 w 2268"/>
              <a:gd name="T13" fmla="*/ 708194 h 460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268"/>
              <a:gd name="T22" fmla="*/ 0 h 460"/>
              <a:gd name="T23" fmla="*/ 2268 w 2268"/>
              <a:gd name="T24" fmla="*/ 460 h 460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268" h="460">
                <a:moveTo>
                  <a:pt x="0" y="0"/>
                </a:moveTo>
                <a:cubicBezTo>
                  <a:pt x="11" y="82"/>
                  <a:pt x="22" y="165"/>
                  <a:pt x="45" y="226"/>
                </a:cubicBezTo>
                <a:cubicBezTo>
                  <a:pt x="68" y="287"/>
                  <a:pt x="83" y="333"/>
                  <a:pt x="136" y="363"/>
                </a:cubicBezTo>
                <a:cubicBezTo>
                  <a:pt x="189" y="393"/>
                  <a:pt x="197" y="393"/>
                  <a:pt x="363" y="408"/>
                </a:cubicBezTo>
                <a:cubicBezTo>
                  <a:pt x="529" y="423"/>
                  <a:pt x="870" y="446"/>
                  <a:pt x="1134" y="453"/>
                </a:cubicBezTo>
                <a:cubicBezTo>
                  <a:pt x="1398" y="460"/>
                  <a:pt x="1761" y="453"/>
                  <a:pt x="1950" y="453"/>
                </a:cubicBezTo>
                <a:cubicBezTo>
                  <a:pt x="2139" y="453"/>
                  <a:pt x="2203" y="453"/>
                  <a:pt x="2268" y="453"/>
                </a:cubicBezTo>
              </a:path>
            </a:pathLst>
          </a:cu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65978" name="Text Box 58"/>
          <p:cNvSpPr txBox="1">
            <a:spLocks noChangeArrowheads="1"/>
          </p:cNvSpPr>
          <p:nvPr/>
        </p:nvSpPr>
        <p:spPr bwMode="auto">
          <a:xfrm>
            <a:off x="4284663" y="5445125"/>
            <a:ext cx="6477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kumimoji="1" lang="en-US" altLang="zh-CN" sz="2800" b="1">
                <a:effectLst>
                  <a:outerShdw blurRad="38100" dist="38100" dir="2700000" algn="tl">
                    <a:srgbClr val="C0C0C0"/>
                  </a:outerShdw>
                </a:effectLst>
              </a:rPr>
              <a:t>ε</a:t>
            </a:r>
          </a:p>
        </p:txBody>
      </p:sp>
      <p:sp>
        <p:nvSpPr>
          <p:cNvPr id="465979" name="Freeform 59"/>
          <p:cNvSpPr>
            <a:spLocks/>
          </p:cNvSpPr>
          <p:nvPr/>
        </p:nvSpPr>
        <p:spPr bwMode="auto">
          <a:xfrm>
            <a:off x="2627313" y="4279900"/>
            <a:ext cx="3960812" cy="444500"/>
          </a:xfrm>
          <a:custGeom>
            <a:avLst/>
            <a:gdLst>
              <a:gd name="T0" fmla="*/ 3960812 w 2495"/>
              <a:gd name="T1" fmla="*/ 444500 h 280"/>
              <a:gd name="T2" fmla="*/ 3744912 w 2495"/>
              <a:gd name="T3" fmla="*/ 85725 h 280"/>
              <a:gd name="T4" fmla="*/ 3457575 w 2495"/>
              <a:gd name="T5" fmla="*/ 12700 h 280"/>
              <a:gd name="T6" fmla="*/ 2881312 w 2495"/>
              <a:gd name="T7" fmla="*/ 12700 h 280"/>
              <a:gd name="T8" fmla="*/ 2016125 w 2495"/>
              <a:gd name="T9" fmla="*/ 12700 h 280"/>
              <a:gd name="T10" fmla="*/ 865187 w 2495"/>
              <a:gd name="T11" fmla="*/ 12700 h 280"/>
              <a:gd name="T12" fmla="*/ 576262 w 2495"/>
              <a:gd name="T13" fmla="*/ 12700 h 280"/>
              <a:gd name="T14" fmla="*/ 288925 w 2495"/>
              <a:gd name="T15" fmla="*/ 85725 h 280"/>
              <a:gd name="T16" fmla="*/ 144462 w 2495"/>
              <a:gd name="T17" fmla="*/ 228600 h 280"/>
              <a:gd name="T18" fmla="*/ 0 w 2495"/>
              <a:gd name="T19" fmla="*/ 444500 h 280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2495"/>
              <a:gd name="T31" fmla="*/ 0 h 280"/>
              <a:gd name="T32" fmla="*/ 2495 w 2495"/>
              <a:gd name="T33" fmla="*/ 280 h 280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2495" h="280">
                <a:moveTo>
                  <a:pt x="2495" y="280"/>
                </a:moveTo>
                <a:cubicBezTo>
                  <a:pt x="2453" y="189"/>
                  <a:pt x="2412" y="99"/>
                  <a:pt x="2359" y="54"/>
                </a:cubicBezTo>
                <a:cubicBezTo>
                  <a:pt x="2306" y="9"/>
                  <a:pt x="2269" y="16"/>
                  <a:pt x="2178" y="8"/>
                </a:cubicBezTo>
                <a:cubicBezTo>
                  <a:pt x="2087" y="0"/>
                  <a:pt x="1966" y="8"/>
                  <a:pt x="1815" y="8"/>
                </a:cubicBezTo>
                <a:cubicBezTo>
                  <a:pt x="1664" y="8"/>
                  <a:pt x="1482" y="8"/>
                  <a:pt x="1270" y="8"/>
                </a:cubicBezTo>
                <a:cubicBezTo>
                  <a:pt x="1058" y="8"/>
                  <a:pt x="696" y="8"/>
                  <a:pt x="545" y="8"/>
                </a:cubicBezTo>
                <a:cubicBezTo>
                  <a:pt x="394" y="8"/>
                  <a:pt x="423" y="0"/>
                  <a:pt x="363" y="8"/>
                </a:cubicBezTo>
                <a:cubicBezTo>
                  <a:pt x="303" y="16"/>
                  <a:pt x="227" y="31"/>
                  <a:pt x="182" y="54"/>
                </a:cubicBezTo>
                <a:cubicBezTo>
                  <a:pt x="137" y="77"/>
                  <a:pt x="121" y="107"/>
                  <a:pt x="91" y="144"/>
                </a:cubicBezTo>
                <a:cubicBezTo>
                  <a:pt x="61" y="181"/>
                  <a:pt x="30" y="230"/>
                  <a:pt x="0" y="280"/>
                </a:cubicBezTo>
              </a:path>
            </a:pathLst>
          </a:cu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65980" name="Text Box 60"/>
          <p:cNvSpPr txBox="1">
            <a:spLocks noChangeArrowheads="1"/>
          </p:cNvSpPr>
          <p:nvPr/>
        </p:nvSpPr>
        <p:spPr bwMode="auto">
          <a:xfrm>
            <a:off x="4211638" y="3860800"/>
            <a:ext cx="6477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kumimoji="1" lang="en-US" altLang="zh-CN" sz="2800" b="1">
                <a:effectLst>
                  <a:outerShdw blurRad="38100" dist="38100" dir="2700000" algn="tl">
                    <a:srgbClr val="C0C0C0"/>
                  </a:outerShdw>
                </a:effectLst>
              </a:rPr>
              <a:t>ε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 smtClean="0">
                <a:solidFill>
                  <a:srgbClr val="000099"/>
                </a:solidFill>
                <a:latin typeface="Times New Roman" pitchFamily="18" charset="0"/>
                <a:ea typeface="华文新魏" pitchFamily="2" charset="-122"/>
              </a:rPr>
              <a:t>语法图化简规则</a:t>
            </a:r>
          </a:p>
        </p:txBody>
      </p:sp>
      <p:sp>
        <p:nvSpPr>
          <p:cNvPr id="89091" name="日期占位符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9306BD9D-E66F-4B55-B6FF-A93CD724BC0A}" type="datetime1">
              <a:rPr lang="zh-CN" altLang="en-US" smtClean="0"/>
              <a:pPr eaLnBrk="1" hangingPunct="1"/>
              <a:t>2017/2/24</a:t>
            </a:fld>
            <a:endParaRPr lang="en-US" altLang="zh-CN" smtClean="0"/>
          </a:p>
        </p:txBody>
      </p:sp>
      <p:sp>
        <p:nvSpPr>
          <p:cNvPr id="89092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CA706D44-1677-4DAB-8976-46FDF8EA0550}" type="slidenum">
              <a:rPr lang="zh-CN" altLang="en-US" smtClean="0"/>
              <a:pPr eaLnBrk="1" hangingPunct="1"/>
              <a:t>76</a:t>
            </a:fld>
            <a:endParaRPr lang="en-US" altLang="zh-CN" smtClean="0"/>
          </a:p>
        </p:txBody>
      </p:sp>
      <p:sp>
        <p:nvSpPr>
          <p:cNvPr id="466957" name="Text Box 13"/>
          <p:cNvSpPr txBox="1">
            <a:spLocks noChangeArrowheads="1"/>
          </p:cNvSpPr>
          <p:nvPr/>
        </p:nvSpPr>
        <p:spPr bwMode="auto">
          <a:xfrm>
            <a:off x="6588125" y="2420938"/>
            <a:ext cx="2209800" cy="1409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>
            <a:spAutoFit/>
          </a:bodyPr>
          <a:lstStyle/>
          <a:p>
            <a:pPr eaLnBrk="0" hangingPunct="0">
              <a:lnSpc>
                <a:spcPct val="110000"/>
              </a:lnSpc>
              <a:spcBef>
                <a:spcPct val="50000"/>
              </a:spcBef>
              <a:buClr>
                <a:schemeClr val="folHlink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32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A→YX|YZ</a:t>
            </a:r>
          </a:p>
          <a:p>
            <a:pPr eaLnBrk="0" hangingPunct="0">
              <a:lnSpc>
                <a:spcPct val="110000"/>
              </a:lnSpc>
              <a:spcBef>
                <a:spcPct val="50000"/>
              </a:spcBef>
              <a:buClr>
                <a:schemeClr val="folHlink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32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A→Y(X|Z)</a:t>
            </a:r>
          </a:p>
        </p:txBody>
      </p:sp>
      <p:grpSp>
        <p:nvGrpSpPr>
          <p:cNvPr id="2" name="Group 14"/>
          <p:cNvGrpSpPr>
            <a:grpSpLocks/>
          </p:cNvGrpSpPr>
          <p:nvPr/>
        </p:nvGrpSpPr>
        <p:grpSpPr bwMode="auto">
          <a:xfrm>
            <a:off x="1403350" y="2349500"/>
            <a:ext cx="431800" cy="519113"/>
            <a:chOff x="1474" y="1984"/>
            <a:chExt cx="272" cy="327"/>
          </a:xfrm>
        </p:grpSpPr>
        <p:sp>
          <p:nvSpPr>
            <p:cNvPr id="89134" name="Oval 15"/>
            <p:cNvSpPr>
              <a:spLocks noChangeArrowheads="1"/>
            </p:cNvSpPr>
            <p:nvPr/>
          </p:nvSpPr>
          <p:spPr bwMode="auto">
            <a:xfrm>
              <a:off x="1474" y="2024"/>
              <a:ext cx="272" cy="272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/>
              <a:endParaRPr lang="zh-CN" altLang="en-US">
                <a:latin typeface="Times New Roman" pitchFamily="18" charset="0"/>
              </a:endParaRPr>
            </a:p>
          </p:txBody>
        </p:sp>
        <p:sp>
          <p:nvSpPr>
            <p:cNvPr id="89135" name="Text Box 16"/>
            <p:cNvSpPr txBox="1">
              <a:spLocks noChangeArrowheads="1"/>
            </p:cNvSpPr>
            <p:nvPr/>
          </p:nvSpPr>
          <p:spPr bwMode="auto">
            <a:xfrm>
              <a:off x="1474" y="1984"/>
              <a:ext cx="27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>
                  <a:latin typeface="Times New Roman" pitchFamily="18" charset="0"/>
                </a:rPr>
                <a:t>n</a:t>
              </a:r>
            </a:p>
          </p:txBody>
        </p:sp>
      </p:grpSp>
      <p:grpSp>
        <p:nvGrpSpPr>
          <p:cNvPr id="3" name="Group 20"/>
          <p:cNvGrpSpPr>
            <a:grpSpLocks/>
          </p:cNvGrpSpPr>
          <p:nvPr/>
        </p:nvGrpSpPr>
        <p:grpSpPr bwMode="auto">
          <a:xfrm>
            <a:off x="5291138" y="3357563"/>
            <a:ext cx="431800" cy="519112"/>
            <a:chOff x="1474" y="1984"/>
            <a:chExt cx="272" cy="327"/>
          </a:xfrm>
        </p:grpSpPr>
        <p:sp>
          <p:nvSpPr>
            <p:cNvPr id="89132" name="Oval 21"/>
            <p:cNvSpPr>
              <a:spLocks noChangeArrowheads="1"/>
            </p:cNvSpPr>
            <p:nvPr/>
          </p:nvSpPr>
          <p:spPr bwMode="auto">
            <a:xfrm>
              <a:off x="1474" y="2024"/>
              <a:ext cx="272" cy="272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/>
              <a:endParaRPr lang="zh-CN" altLang="en-US">
                <a:latin typeface="Times New Roman" pitchFamily="18" charset="0"/>
              </a:endParaRPr>
            </a:p>
          </p:txBody>
        </p:sp>
        <p:sp>
          <p:nvSpPr>
            <p:cNvPr id="89133" name="Text Box 22"/>
            <p:cNvSpPr txBox="1">
              <a:spLocks noChangeArrowheads="1"/>
            </p:cNvSpPr>
            <p:nvPr/>
          </p:nvSpPr>
          <p:spPr bwMode="auto">
            <a:xfrm>
              <a:off x="1474" y="1984"/>
              <a:ext cx="27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>
                  <a:latin typeface="Times New Roman" pitchFamily="18" charset="0"/>
                </a:rPr>
                <a:t>j</a:t>
              </a:r>
            </a:p>
          </p:txBody>
        </p:sp>
      </p:grpSp>
      <p:grpSp>
        <p:nvGrpSpPr>
          <p:cNvPr id="4" name="Group 23"/>
          <p:cNvGrpSpPr>
            <a:grpSpLocks/>
          </p:cNvGrpSpPr>
          <p:nvPr/>
        </p:nvGrpSpPr>
        <p:grpSpPr bwMode="auto">
          <a:xfrm>
            <a:off x="3346450" y="3357563"/>
            <a:ext cx="431800" cy="519112"/>
            <a:chOff x="1474" y="1984"/>
            <a:chExt cx="272" cy="327"/>
          </a:xfrm>
        </p:grpSpPr>
        <p:sp>
          <p:nvSpPr>
            <p:cNvPr id="89130" name="Oval 24"/>
            <p:cNvSpPr>
              <a:spLocks noChangeArrowheads="1"/>
            </p:cNvSpPr>
            <p:nvPr/>
          </p:nvSpPr>
          <p:spPr bwMode="auto">
            <a:xfrm>
              <a:off x="1474" y="2024"/>
              <a:ext cx="272" cy="272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/>
              <a:endParaRPr lang="zh-CN" altLang="en-US">
                <a:latin typeface="Times New Roman" pitchFamily="18" charset="0"/>
              </a:endParaRPr>
            </a:p>
          </p:txBody>
        </p:sp>
        <p:sp>
          <p:nvSpPr>
            <p:cNvPr id="89131" name="Text Box 25"/>
            <p:cNvSpPr txBox="1">
              <a:spLocks noChangeArrowheads="1"/>
            </p:cNvSpPr>
            <p:nvPr/>
          </p:nvSpPr>
          <p:spPr bwMode="auto">
            <a:xfrm>
              <a:off x="1474" y="1984"/>
              <a:ext cx="27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>
                  <a:latin typeface="Times New Roman" pitchFamily="18" charset="0"/>
                </a:rPr>
                <a:t>k</a:t>
              </a:r>
            </a:p>
          </p:txBody>
        </p:sp>
      </p:grpSp>
      <p:grpSp>
        <p:nvGrpSpPr>
          <p:cNvPr id="5" name="Group 26"/>
          <p:cNvGrpSpPr>
            <a:grpSpLocks/>
          </p:cNvGrpSpPr>
          <p:nvPr/>
        </p:nvGrpSpPr>
        <p:grpSpPr bwMode="auto">
          <a:xfrm>
            <a:off x="5291138" y="2349500"/>
            <a:ext cx="431800" cy="519113"/>
            <a:chOff x="1474" y="1984"/>
            <a:chExt cx="272" cy="327"/>
          </a:xfrm>
        </p:grpSpPr>
        <p:sp>
          <p:nvSpPr>
            <p:cNvPr id="89128" name="Oval 27"/>
            <p:cNvSpPr>
              <a:spLocks noChangeArrowheads="1"/>
            </p:cNvSpPr>
            <p:nvPr/>
          </p:nvSpPr>
          <p:spPr bwMode="auto">
            <a:xfrm>
              <a:off x="1474" y="2024"/>
              <a:ext cx="272" cy="272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/>
              <a:endParaRPr lang="zh-CN" altLang="en-US">
                <a:latin typeface="Times New Roman" pitchFamily="18" charset="0"/>
              </a:endParaRPr>
            </a:p>
          </p:txBody>
        </p:sp>
        <p:sp>
          <p:nvSpPr>
            <p:cNvPr id="89129" name="Text Box 28"/>
            <p:cNvSpPr txBox="1">
              <a:spLocks noChangeArrowheads="1"/>
            </p:cNvSpPr>
            <p:nvPr/>
          </p:nvSpPr>
          <p:spPr bwMode="auto">
            <a:xfrm>
              <a:off x="1474" y="1984"/>
              <a:ext cx="27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>
                  <a:latin typeface="Times New Roman" pitchFamily="18" charset="0"/>
                </a:rPr>
                <a:t>h</a:t>
              </a:r>
            </a:p>
          </p:txBody>
        </p:sp>
      </p:grpSp>
      <p:grpSp>
        <p:nvGrpSpPr>
          <p:cNvPr id="6" name="Group 29"/>
          <p:cNvGrpSpPr>
            <a:grpSpLocks/>
          </p:cNvGrpSpPr>
          <p:nvPr/>
        </p:nvGrpSpPr>
        <p:grpSpPr bwMode="auto">
          <a:xfrm>
            <a:off x="3346450" y="2349500"/>
            <a:ext cx="431800" cy="519113"/>
            <a:chOff x="1474" y="1984"/>
            <a:chExt cx="272" cy="327"/>
          </a:xfrm>
        </p:grpSpPr>
        <p:sp>
          <p:nvSpPr>
            <p:cNvPr id="89126" name="Oval 30"/>
            <p:cNvSpPr>
              <a:spLocks noChangeArrowheads="1"/>
            </p:cNvSpPr>
            <p:nvPr/>
          </p:nvSpPr>
          <p:spPr bwMode="auto">
            <a:xfrm>
              <a:off x="1474" y="2024"/>
              <a:ext cx="272" cy="272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/>
              <a:endParaRPr lang="zh-CN" altLang="en-US">
                <a:latin typeface="Times New Roman" pitchFamily="18" charset="0"/>
              </a:endParaRPr>
            </a:p>
          </p:txBody>
        </p:sp>
        <p:sp>
          <p:nvSpPr>
            <p:cNvPr id="89127" name="Text Box 31"/>
            <p:cNvSpPr txBox="1">
              <a:spLocks noChangeArrowheads="1"/>
            </p:cNvSpPr>
            <p:nvPr/>
          </p:nvSpPr>
          <p:spPr bwMode="auto">
            <a:xfrm>
              <a:off x="1474" y="1984"/>
              <a:ext cx="27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>
                  <a:latin typeface="Times New Roman" pitchFamily="18" charset="0"/>
                </a:rPr>
                <a:t>m</a:t>
              </a:r>
            </a:p>
          </p:txBody>
        </p:sp>
      </p:grpSp>
      <p:sp>
        <p:nvSpPr>
          <p:cNvPr id="466976" name="Line 32"/>
          <p:cNvSpPr>
            <a:spLocks noChangeShapeType="1"/>
          </p:cNvSpPr>
          <p:nvPr/>
        </p:nvSpPr>
        <p:spPr bwMode="auto">
          <a:xfrm>
            <a:off x="1833563" y="2636838"/>
            <a:ext cx="151288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66977" name="Line 33"/>
          <p:cNvSpPr>
            <a:spLocks noChangeShapeType="1"/>
          </p:cNvSpPr>
          <p:nvPr/>
        </p:nvSpPr>
        <p:spPr bwMode="auto">
          <a:xfrm>
            <a:off x="3778250" y="2636838"/>
            <a:ext cx="1512888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66980" name="Line 36"/>
          <p:cNvSpPr>
            <a:spLocks noChangeShapeType="1"/>
          </p:cNvSpPr>
          <p:nvPr/>
        </p:nvSpPr>
        <p:spPr bwMode="auto">
          <a:xfrm>
            <a:off x="3778250" y="3644900"/>
            <a:ext cx="1512888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66981" name="Freeform 37"/>
          <p:cNvSpPr>
            <a:spLocks/>
          </p:cNvSpPr>
          <p:nvPr/>
        </p:nvSpPr>
        <p:spPr bwMode="auto">
          <a:xfrm>
            <a:off x="1546225" y="2852738"/>
            <a:ext cx="1800225" cy="792162"/>
          </a:xfrm>
          <a:custGeom>
            <a:avLst/>
            <a:gdLst>
              <a:gd name="T0" fmla="*/ 0 w 2268"/>
              <a:gd name="T1" fmla="*/ 0 h 460"/>
              <a:gd name="T2" fmla="*/ 35719 w 2268"/>
              <a:gd name="T3" fmla="*/ 389193 h 460"/>
              <a:gd name="T4" fmla="*/ 107950 w 2268"/>
              <a:gd name="T5" fmla="*/ 625119 h 460"/>
              <a:gd name="T6" fmla="*/ 288131 w 2268"/>
              <a:gd name="T7" fmla="*/ 702613 h 460"/>
              <a:gd name="T8" fmla="*/ 900113 w 2268"/>
              <a:gd name="T9" fmla="*/ 780107 h 460"/>
              <a:gd name="T10" fmla="*/ 1547812 w 2268"/>
              <a:gd name="T11" fmla="*/ 780107 h 460"/>
              <a:gd name="T12" fmla="*/ 1800225 w 2268"/>
              <a:gd name="T13" fmla="*/ 780107 h 460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268"/>
              <a:gd name="T22" fmla="*/ 0 h 460"/>
              <a:gd name="T23" fmla="*/ 2268 w 2268"/>
              <a:gd name="T24" fmla="*/ 460 h 460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268" h="460">
                <a:moveTo>
                  <a:pt x="0" y="0"/>
                </a:moveTo>
                <a:cubicBezTo>
                  <a:pt x="11" y="82"/>
                  <a:pt x="22" y="165"/>
                  <a:pt x="45" y="226"/>
                </a:cubicBezTo>
                <a:cubicBezTo>
                  <a:pt x="68" y="287"/>
                  <a:pt x="83" y="333"/>
                  <a:pt x="136" y="363"/>
                </a:cubicBezTo>
                <a:cubicBezTo>
                  <a:pt x="189" y="393"/>
                  <a:pt x="197" y="393"/>
                  <a:pt x="363" y="408"/>
                </a:cubicBezTo>
                <a:cubicBezTo>
                  <a:pt x="529" y="423"/>
                  <a:pt x="870" y="446"/>
                  <a:pt x="1134" y="453"/>
                </a:cubicBezTo>
                <a:cubicBezTo>
                  <a:pt x="1398" y="460"/>
                  <a:pt x="1761" y="453"/>
                  <a:pt x="1950" y="453"/>
                </a:cubicBezTo>
                <a:cubicBezTo>
                  <a:pt x="2139" y="453"/>
                  <a:pt x="2203" y="453"/>
                  <a:pt x="2268" y="453"/>
                </a:cubicBezTo>
              </a:path>
            </a:pathLst>
          </a:cu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66982" name="Text Box 38"/>
          <p:cNvSpPr txBox="1">
            <a:spLocks noChangeArrowheads="1"/>
          </p:cNvSpPr>
          <p:nvPr/>
        </p:nvSpPr>
        <p:spPr bwMode="auto">
          <a:xfrm>
            <a:off x="2266950" y="3141663"/>
            <a:ext cx="64770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28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Y</a:t>
            </a:r>
          </a:p>
        </p:txBody>
      </p:sp>
      <p:sp>
        <p:nvSpPr>
          <p:cNvPr id="466983" name="Text Box 39"/>
          <p:cNvSpPr txBox="1">
            <a:spLocks noChangeArrowheads="1"/>
          </p:cNvSpPr>
          <p:nvPr/>
        </p:nvSpPr>
        <p:spPr bwMode="auto">
          <a:xfrm>
            <a:off x="2338388" y="2205038"/>
            <a:ext cx="64770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28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Y</a:t>
            </a:r>
          </a:p>
        </p:txBody>
      </p:sp>
      <p:sp>
        <p:nvSpPr>
          <p:cNvPr id="466984" name="Text Box 40"/>
          <p:cNvSpPr txBox="1">
            <a:spLocks noChangeArrowheads="1"/>
          </p:cNvSpPr>
          <p:nvPr/>
        </p:nvSpPr>
        <p:spPr bwMode="auto">
          <a:xfrm>
            <a:off x="4210050" y="2205038"/>
            <a:ext cx="64770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28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X</a:t>
            </a:r>
          </a:p>
        </p:txBody>
      </p:sp>
      <p:sp>
        <p:nvSpPr>
          <p:cNvPr id="466985" name="Text Box 41"/>
          <p:cNvSpPr txBox="1">
            <a:spLocks noChangeArrowheads="1"/>
          </p:cNvSpPr>
          <p:nvPr/>
        </p:nvSpPr>
        <p:spPr bwMode="auto">
          <a:xfrm>
            <a:off x="4210050" y="3213100"/>
            <a:ext cx="649288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28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Z</a:t>
            </a:r>
          </a:p>
        </p:txBody>
      </p:sp>
      <p:grpSp>
        <p:nvGrpSpPr>
          <p:cNvPr id="7" name="Group 42"/>
          <p:cNvGrpSpPr>
            <a:grpSpLocks/>
          </p:cNvGrpSpPr>
          <p:nvPr/>
        </p:nvGrpSpPr>
        <p:grpSpPr bwMode="auto">
          <a:xfrm>
            <a:off x="1620838" y="4581525"/>
            <a:ext cx="431800" cy="519113"/>
            <a:chOff x="1474" y="1984"/>
            <a:chExt cx="272" cy="327"/>
          </a:xfrm>
        </p:grpSpPr>
        <p:sp>
          <p:nvSpPr>
            <p:cNvPr id="89124" name="Oval 43"/>
            <p:cNvSpPr>
              <a:spLocks noChangeArrowheads="1"/>
            </p:cNvSpPr>
            <p:nvPr/>
          </p:nvSpPr>
          <p:spPr bwMode="auto">
            <a:xfrm>
              <a:off x="1474" y="2024"/>
              <a:ext cx="272" cy="272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/>
              <a:endParaRPr lang="zh-CN" altLang="en-US">
                <a:latin typeface="Times New Roman" pitchFamily="18" charset="0"/>
              </a:endParaRPr>
            </a:p>
          </p:txBody>
        </p:sp>
        <p:sp>
          <p:nvSpPr>
            <p:cNvPr id="89125" name="Text Box 44"/>
            <p:cNvSpPr txBox="1">
              <a:spLocks noChangeArrowheads="1"/>
            </p:cNvSpPr>
            <p:nvPr/>
          </p:nvSpPr>
          <p:spPr bwMode="auto">
            <a:xfrm>
              <a:off x="1474" y="1984"/>
              <a:ext cx="27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>
                  <a:latin typeface="Times New Roman" pitchFamily="18" charset="0"/>
                </a:rPr>
                <a:t>n</a:t>
              </a:r>
            </a:p>
          </p:txBody>
        </p:sp>
      </p:grpSp>
      <p:grpSp>
        <p:nvGrpSpPr>
          <p:cNvPr id="8" name="Group 45"/>
          <p:cNvGrpSpPr>
            <a:grpSpLocks/>
          </p:cNvGrpSpPr>
          <p:nvPr/>
        </p:nvGrpSpPr>
        <p:grpSpPr bwMode="auto">
          <a:xfrm>
            <a:off x="5508625" y="5589588"/>
            <a:ext cx="431800" cy="519112"/>
            <a:chOff x="1474" y="1984"/>
            <a:chExt cx="272" cy="327"/>
          </a:xfrm>
        </p:grpSpPr>
        <p:sp>
          <p:nvSpPr>
            <p:cNvPr id="89122" name="Oval 46"/>
            <p:cNvSpPr>
              <a:spLocks noChangeArrowheads="1"/>
            </p:cNvSpPr>
            <p:nvPr/>
          </p:nvSpPr>
          <p:spPr bwMode="auto">
            <a:xfrm>
              <a:off x="1474" y="2024"/>
              <a:ext cx="272" cy="272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/>
              <a:endParaRPr lang="zh-CN" altLang="en-US">
                <a:latin typeface="Times New Roman" pitchFamily="18" charset="0"/>
              </a:endParaRPr>
            </a:p>
          </p:txBody>
        </p:sp>
        <p:sp>
          <p:nvSpPr>
            <p:cNvPr id="89123" name="Text Box 47"/>
            <p:cNvSpPr txBox="1">
              <a:spLocks noChangeArrowheads="1"/>
            </p:cNvSpPr>
            <p:nvPr/>
          </p:nvSpPr>
          <p:spPr bwMode="auto">
            <a:xfrm>
              <a:off x="1474" y="1984"/>
              <a:ext cx="27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>
                  <a:latin typeface="Times New Roman" pitchFamily="18" charset="0"/>
                </a:rPr>
                <a:t>j</a:t>
              </a:r>
            </a:p>
          </p:txBody>
        </p:sp>
      </p:grpSp>
      <p:grpSp>
        <p:nvGrpSpPr>
          <p:cNvPr id="9" name="Group 51"/>
          <p:cNvGrpSpPr>
            <a:grpSpLocks/>
          </p:cNvGrpSpPr>
          <p:nvPr/>
        </p:nvGrpSpPr>
        <p:grpSpPr bwMode="auto">
          <a:xfrm>
            <a:off x="5508625" y="4581525"/>
            <a:ext cx="431800" cy="519113"/>
            <a:chOff x="1474" y="1984"/>
            <a:chExt cx="272" cy="327"/>
          </a:xfrm>
        </p:grpSpPr>
        <p:sp>
          <p:nvSpPr>
            <p:cNvPr id="89120" name="Oval 52"/>
            <p:cNvSpPr>
              <a:spLocks noChangeArrowheads="1"/>
            </p:cNvSpPr>
            <p:nvPr/>
          </p:nvSpPr>
          <p:spPr bwMode="auto">
            <a:xfrm>
              <a:off x="1474" y="2024"/>
              <a:ext cx="272" cy="272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/>
              <a:endParaRPr lang="zh-CN" altLang="en-US">
                <a:latin typeface="Times New Roman" pitchFamily="18" charset="0"/>
              </a:endParaRPr>
            </a:p>
          </p:txBody>
        </p:sp>
        <p:sp>
          <p:nvSpPr>
            <p:cNvPr id="89121" name="Text Box 53"/>
            <p:cNvSpPr txBox="1">
              <a:spLocks noChangeArrowheads="1"/>
            </p:cNvSpPr>
            <p:nvPr/>
          </p:nvSpPr>
          <p:spPr bwMode="auto">
            <a:xfrm>
              <a:off x="1474" y="1984"/>
              <a:ext cx="27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>
                  <a:latin typeface="Times New Roman" pitchFamily="18" charset="0"/>
                </a:rPr>
                <a:t>h</a:t>
              </a:r>
            </a:p>
          </p:txBody>
        </p:sp>
      </p:grpSp>
      <p:grpSp>
        <p:nvGrpSpPr>
          <p:cNvPr id="10" name="Group 54"/>
          <p:cNvGrpSpPr>
            <a:grpSpLocks/>
          </p:cNvGrpSpPr>
          <p:nvPr/>
        </p:nvGrpSpPr>
        <p:grpSpPr bwMode="auto">
          <a:xfrm>
            <a:off x="3563938" y="4581525"/>
            <a:ext cx="431800" cy="519113"/>
            <a:chOff x="1474" y="1984"/>
            <a:chExt cx="272" cy="327"/>
          </a:xfrm>
        </p:grpSpPr>
        <p:sp>
          <p:nvSpPr>
            <p:cNvPr id="89118" name="Oval 55"/>
            <p:cNvSpPr>
              <a:spLocks noChangeArrowheads="1"/>
            </p:cNvSpPr>
            <p:nvPr/>
          </p:nvSpPr>
          <p:spPr bwMode="auto">
            <a:xfrm>
              <a:off x="1474" y="2024"/>
              <a:ext cx="272" cy="272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/>
              <a:endParaRPr lang="zh-CN" altLang="en-US">
                <a:latin typeface="Times New Roman" pitchFamily="18" charset="0"/>
              </a:endParaRPr>
            </a:p>
          </p:txBody>
        </p:sp>
        <p:sp>
          <p:nvSpPr>
            <p:cNvPr id="89119" name="Text Box 56"/>
            <p:cNvSpPr txBox="1">
              <a:spLocks noChangeArrowheads="1"/>
            </p:cNvSpPr>
            <p:nvPr/>
          </p:nvSpPr>
          <p:spPr bwMode="auto">
            <a:xfrm>
              <a:off x="1474" y="1984"/>
              <a:ext cx="27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>
                  <a:latin typeface="Times New Roman" pitchFamily="18" charset="0"/>
                </a:rPr>
                <a:t>m</a:t>
              </a:r>
            </a:p>
          </p:txBody>
        </p:sp>
      </p:grpSp>
      <p:sp>
        <p:nvSpPr>
          <p:cNvPr id="467001" name="Line 57"/>
          <p:cNvSpPr>
            <a:spLocks noChangeShapeType="1"/>
          </p:cNvSpPr>
          <p:nvPr/>
        </p:nvSpPr>
        <p:spPr bwMode="auto">
          <a:xfrm>
            <a:off x="2051050" y="4868863"/>
            <a:ext cx="1512888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67002" name="Line 58"/>
          <p:cNvSpPr>
            <a:spLocks noChangeShapeType="1"/>
          </p:cNvSpPr>
          <p:nvPr/>
        </p:nvSpPr>
        <p:spPr bwMode="auto">
          <a:xfrm>
            <a:off x="3995738" y="4868863"/>
            <a:ext cx="151288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67004" name="Freeform 60"/>
          <p:cNvSpPr>
            <a:spLocks/>
          </p:cNvSpPr>
          <p:nvPr/>
        </p:nvSpPr>
        <p:spPr bwMode="auto">
          <a:xfrm>
            <a:off x="3708400" y="5084763"/>
            <a:ext cx="1800225" cy="792162"/>
          </a:xfrm>
          <a:custGeom>
            <a:avLst/>
            <a:gdLst>
              <a:gd name="T0" fmla="*/ 0 w 2268"/>
              <a:gd name="T1" fmla="*/ 0 h 460"/>
              <a:gd name="T2" fmla="*/ 35719 w 2268"/>
              <a:gd name="T3" fmla="*/ 389193 h 460"/>
              <a:gd name="T4" fmla="*/ 107950 w 2268"/>
              <a:gd name="T5" fmla="*/ 625119 h 460"/>
              <a:gd name="T6" fmla="*/ 288131 w 2268"/>
              <a:gd name="T7" fmla="*/ 702613 h 460"/>
              <a:gd name="T8" fmla="*/ 900113 w 2268"/>
              <a:gd name="T9" fmla="*/ 780107 h 460"/>
              <a:gd name="T10" fmla="*/ 1547812 w 2268"/>
              <a:gd name="T11" fmla="*/ 780107 h 460"/>
              <a:gd name="T12" fmla="*/ 1800225 w 2268"/>
              <a:gd name="T13" fmla="*/ 780107 h 460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268"/>
              <a:gd name="T22" fmla="*/ 0 h 460"/>
              <a:gd name="T23" fmla="*/ 2268 w 2268"/>
              <a:gd name="T24" fmla="*/ 460 h 460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268" h="460">
                <a:moveTo>
                  <a:pt x="0" y="0"/>
                </a:moveTo>
                <a:cubicBezTo>
                  <a:pt x="11" y="82"/>
                  <a:pt x="22" y="165"/>
                  <a:pt x="45" y="226"/>
                </a:cubicBezTo>
                <a:cubicBezTo>
                  <a:pt x="68" y="287"/>
                  <a:pt x="83" y="333"/>
                  <a:pt x="136" y="363"/>
                </a:cubicBezTo>
                <a:cubicBezTo>
                  <a:pt x="189" y="393"/>
                  <a:pt x="197" y="393"/>
                  <a:pt x="363" y="408"/>
                </a:cubicBezTo>
                <a:cubicBezTo>
                  <a:pt x="529" y="423"/>
                  <a:pt x="870" y="446"/>
                  <a:pt x="1134" y="453"/>
                </a:cubicBezTo>
                <a:cubicBezTo>
                  <a:pt x="1398" y="460"/>
                  <a:pt x="1761" y="453"/>
                  <a:pt x="1950" y="453"/>
                </a:cubicBezTo>
                <a:cubicBezTo>
                  <a:pt x="2139" y="453"/>
                  <a:pt x="2203" y="453"/>
                  <a:pt x="2268" y="453"/>
                </a:cubicBezTo>
              </a:path>
            </a:pathLst>
          </a:cu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67005" name="Text Box 61"/>
          <p:cNvSpPr txBox="1">
            <a:spLocks noChangeArrowheads="1"/>
          </p:cNvSpPr>
          <p:nvPr/>
        </p:nvSpPr>
        <p:spPr bwMode="auto">
          <a:xfrm>
            <a:off x="4429125" y="5446713"/>
            <a:ext cx="64770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28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Z</a:t>
            </a:r>
          </a:p>
        </p:txBody>
      </p:sp>
      <p:sp>
        <p:nvSpPr>
          <p:cNvPr id="467006" name="Text Box 62"/>
          <p:cNvSpPr txBox="1">
            <a:spLocks noChangeArrowheads="1"/>
          </p:cNvSpPr>
          <p:nvPr/>
        </p:nvSpPr>
        <p:spPr bwMode="auto">
          <a:xfrm>
            <a:off x="2555875" y="4437063"/>
            <a:ext cx="64770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28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Y</a:t>
            </a:r>
          </a:p>
        </p:txBody>
      </p:sp>
      <p:sp>
        <p:nvSpPr>
          <p:cNvPr id="467007" name="Text Box 63"/>
          <p:cNvSpPr txBox="1">
            <a:spLocks noChangeArrowheads="1"/>
          </p:cNvSpPr>
          <p:nvPr/>
        </p:nvSpPr>
        <p:spPr bwMode="auto">
          <a:xfrm>
            <a:off x="4427538" y="4437063"/>
            <a:ext cx="64770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28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X</a:t>
            </a:r>
          </a:p>
        </p:txBody>
      </p:sp>
      <p:sp>
        <p:nvSpPr>
          <p:cNvPr id="467009" name="Text Box 65"/>
          <p:cNvSpPr txBox="1">
            <a:spLocks noChangeArrowheads="1"/>
          </p:cNvSpPr>
          <p:nvPr/>
        </p:nvSpPr>
        <p:spPr bwMode="auto">
          <a:xfrm>
            <a:off x="6538913" y="5157788"/>
            <a:ext cx="2209800" cy="561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>
            <a:spAutoFit/>
          </a:bodyPr>
          <a:lstStyle/>
          <a:p>
            <a:pPr eaLnBrk="0" hangingPunct="0">
              <a:lnSpc>
                <a:spcPct val="110000"/>
              </a:lnSpc>
              <a:spcBef>
                <a:spcPct val="50000"/>
              </a:spcBef>
              <a:buClr>
                <a:schemeClr val="folHlink"/>
              </a:buClr>
              <a:buSzPct val="75000"/>
              <a:buFont typeface="Monotype Sorts" pitchFamily="2" charset="2"/>
              <a:buNone/>
              <a:defRPr/>
            </a:pPr>
            <a:r>
              <a:rPr kumimoji="1" lang="zh-CN" altLang="en-US" sz="2800" b="1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左因子提取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 smtClean="0">
                <a:solidFill>
                  <a:srgbClr val="000099"/>
                </a:solidFill>
                <a:latin typeface="Times New Roman" pitchFamily="18" charset="0"/>
                <a:ea typeface="华文新魏" pitchFamily="2" charset="-122"/>
              </a:rPr>
              <a:t>语法图化简规则</a:t>
            </a:r>
          </a:p>
        </p:txBody>
      </p:sp>
      <p:sp>
        <p:nvSpPr>
          <p:cNvPr id="90115" name="日期占位符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D77BDF73-B66F-4E09-916D-B96E7E042E8F}" type="datetime1">
              <a:rPr lang="zh-CN" altLang="en-US" smtClean="0"/>
              <a:pPr eaLnBrk="1" hangingPunct="1"/>
              <a:t>2017/2/24</a:t>
            </a:fld>
            <a:endParaRPr lang="en-US" altLang="zh-CN" smtClean="0"/>
          </a:p>
        </p:txBody>
      </p:sp>
      <p:sp>
        <p:nvSpPr>
          <p:cNvPr id="90116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D40748BB-019E-45E6-BF28-B14FCD2513CA}" type="slidenum">
              <a:rPr lang="zh-CN" altLang="en-US" smtClean="0"/>
              <a:pPr eaLnBrk="1" hangingPunct="1"/>
              <a:t>77</a:t>
            </a:fld>
            <a:endParaRPr lang="en-US" altLang="zh-CN" smtClean="0"/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1403350" y="2349500"/>
            <a:ext cx="431800" cy="519113"/>
            <a:chOff x="1474" y="1984"/>
            <a:chExt cx="272" cy="327"/>
          </a:xfrm>
        </p:grpSpPr>
        <p:sp>
          <p:nvSpPr>
            <p:cNvPr id="90158" name="Oval 5"/>
            <p:cNvSpPr>
              <a:spLocks noChangeArrowheads="1"/>
            </p:cNvSpPr>
            <p:nvPr/>
          </p:nvSpPr>
          <p:spPr bwMode="auto">
            <a:xfrm>
              <a:off x="1474" y="2024"/>
              <a:ext cx="272" cy="272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/>
              <a:endParaRPr lang="zh-CN" altLang="en-US"/>
            </a:p>
          </p:txBody>
        </p:sp>
        <p:sp>
          <p:nvSpPr>
            <p:cNvPr id="90159" name="Text Box 6"/>
            <p:cNvSpPr txBox="1">
              <a:spLocks noChangeArrowheads="1"/>
            </p:cNvSpPr>
            <p:nvPr/>
          </p:nvSpPr>
          <p:spPr bwMode="auto">
            <a:xfrm>
              <a:off x="1474" y="1984"/>
              <a:ext cx="27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/>
                <a:t>n</a:t>
              </a:r>
            </a:p>
          </p:txBody>
        </p:sp>
      </p:grpSp>
      <p:grpSp>
        <p:nvGrpSpPr>
          <p:cNvPr id="3" name="Group 7"/>
          <p:cNvGrpSpPr>
            <a:grpSpLocks/>
          </p:cNvGrpSpPr>
          <p:nvPr/>
        </p:nvGrpSpPr>
        <p:grpSpPr bwMode="auto">
          <a:xfrm>
            <a:off x="1403350" y="3357563"/>
            <a:ext cx="431800" cy="519112"/>
            <a:chOff x="1474" y="1984"/>
            <a:chExt cx="272" cy="327"/>
          </a:xfrm>
        </p:grpSpPr>
        <p:sp>
          <p:nvSpPr>
            <p:cNvPr id="90156" name="Oval 8"/>
            <p:cNvSpPr>
              <a:spLocks noChangeArrowheads="1"/>
            </p:cNvSpPr>
            <p:nvPr/>
          </p:nvSpPr>
          <p:spPr bwMode="auto">
            <a:xfrm>
              <a:off x="1474" y="2024"/>
              <a:ext cx="272" cy="272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/>
              <a:endParaRPr lang="zh-CN" altLang="en-US"/>
            </a:p>
          </p:txBody>
        </p:sp>
        <p:sp>
          <p:nvSpPr>
            <p:cNvPr id="90157" name="Text Box 9"/>
            <p:cNvSpPr txBox="1">
              <a:spLocks noChangeArrowheads="1"/>
            </p:cNvSpPr>
            <p:nvPr/>
          </p:nvSpPr>
          <p:spPr bwMode="auto">
            <a:xfrm>
              <a:off x="1474" y="1984"/>
              <a:ext cx="27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/>
                <a:t>j</a:t>
              </a:r>
            </a:p>
          </p:txBody>
        </p:sp>
      </p:grpSp>
      <p:grpSp>
        <p:nvGrpSpPr>
          <p:cNvPr id="4" name="Group 10"/>
          <p:cNvGrpSpPr>
            <a:grpSpLocks/>
          </p:cNvGrpSpPr>
          <p:nvPr/>
        </p:nvGrpSpPr>
        <p:grpSpPr bwMode="auto">
          <a:xfrm>
            <a:off x="3346450" y="3357563"/>
            <a:ext cx="431800" cy="519112"/>
            <a:chOff x="1474" y="1984"/>
            <a:chExt cx="272" cy="327"/>
          </a:xfrm>
        </p:grpSpPr>
        <p:sp>
          <p:nvSpPr>
            <p:cNvPr id="90154" name="Oval 11"/>
            <p:cNvSpPr>
              <a:spLocks noChangeArrowheads="1"/>
            </p:cNvSpPr>
            <p:nvPr/>
          </p:nvSpPr>
          <p:spPr bwMode="auto">
            <a:xfrm>
              <a:off x="1474" y="2024"/>
              <a:ext cx="272" cy="272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/>
              <a:endParaRPr lang="zh-CN" altLang="en-US"/>
            </a:p>
          </p:txBody>
        </p:sp>
        <p:sp>
          <p:nvSpPr>
            <p:cNvPr id="90155" name="Text Box 12"/>
            <p:cNvSpPr txBox="1">
              <a:spLocks noChangeArrowheads="1"/>
            </p:cNvSpPr>
            <p:nvPr/>
          </p:nvSpPr>
          <p:spPr bwMode="auto">
            <a:xfrm>
              <a:off x="1474" y="1984"/>
              <a:ext cx="27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/>
                <a:t>k</a:t>
              </a:r>
            </a:p>
          </p:txBody>
        </p:sp>
      </p:grpSp>
      <p:grpSp>
        <p:nvGrpSpPr>
          <p:cNvPr id="5" name="Group 13"/>
          <p:cNvGrpSpPr>
            <a:grpSpLocks/>
          </p:cNvGrpSpPr>
          <p:nvPr/>
        </p:nvGrpSpPr>
        <p:grpSpPr bwMode="auto">
          <a:xfrm>
            <a:off x="5291138" y="2349500"/>
            <a:ext cx="431800" cy="519113"/>
            <a:chOff x="1474" y="1984"/>
            <a:chExt cx="272" cy="327"/>
          </a:xfrm>
        </p:grpSpPr>
        <p:sp>
          <p:nvSpPr>
            <p:cNvPr id="90152" name="Oval 14"/>
            <p:cNvSpPr>
              <a:spLocks noChangeArrowheads="1"/>
            </p:cNvSpPr>
            <p:nvPr/>
          </p:nvSpPr>
          <p:spPr bwMode="auto">
            <a:xfrm>
              <a:off x="1474" y="2024"/>
              <a:ext cx="272" cy="272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/>
              <a:endParaRPr lang="zh-CN" altLang="en-US">
                <a:latin typeface="Times New Roman" pitchFamily="18" charset="0"/>
              </a:endParaRPr>
            </a:p>
          </p:txBody>
        </p:sp>
        <p:sp>
          <p:nvSpPr>
            <p:cNvPr id="90153" name="Text Box 15"/>
            <p:cNvSpPr txBox="1">
              <a:spLocks noChangeArrowheads="1"/>
            </p:cNvSpPr>
            <p:nvPr/>
          </p:nvSpPr>
          <p:spPr bwMode="auto">
            <a:xfrm>
              <a:off x="1474" y="1984"/>
              <a:ext cx="27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>
                  <a:latin typeface="Times New Roman" pitchFamily="18" charset="0"/>
                </a:rPr>
                <a:t>h</a:t>
              </a:r>
            </a:p>
          </p:txBody>
        </p:sp>
      </p:grpSp>
      <p:grpSp>
        <p:nvGrpSpPr>
          <p:cNvPr id="6" name="Group 16"/>
          <p:cNvGrpSpPr>
            <a:grpSpLocks/>
          </p:cNvGrpSpPr>
          <p:nvPr/>
        </p:nvGrpSpPr>
        <p:grpSpPr bwMode="auto">
          <a:xfrm>
            <a:off x="3346450" y="2349500"/>
            <a:ext cx="431800" cy="519113"/>
            <a:chOff x="1474" y="1984"/>
            <a:chExt cx="272" cy="327"/>
          </a:xfrm>
        </p:grpSpPr>
        <p:sp>
          <p:nvSpPr>
            <p:cNvPr id="90150" name="Oval 17"/>
            <p:cNvSpPr>
              <a:spLocks noChangeArrowheads="1"/>
            </p:cNvSpPr>
            <p:nvPr/>
          </p:nvSpPr>
          <p:spPr bwMode="auto">
            <a:xfrm>
              <a:off x="1474" y="2024"/>
              <a:ext cx="272" cy="272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/>
              <a:endParaRPr lang="zh-CN" altLang="en-US"/>
            </a:p>
          </p:txBody>
        </p:sp>
        <p:sp>
          <p:nvSpPr>
            <p:cNvPr id="90151" name="Text Box 18"/>
            <p:cNvSpPr txBox="1">
              <a:spLocks noChangeArrowheads="1"/>
            </p:cNvSpPr>
            <p:nvPr/>
          </p:nvSpPr>
          <p:spPr bwMode="auto">
            <a:xfrm>
              <a:off x="1474" y="1984"/>
              <a:ext cx="27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/>
                <a:t>m</a:t>
              </a:r>
            </a:p>
          </p:txBody>
        </p:sp>
      </p:grpSp>
      <p:sp>
        <p:nvSpPr>
          <p:cNvPr id="467987" name="Line 19"/>
          <p:cNvSpPr>
            <a:spLocks noChangeShapeType="1"/>
          </p:cNvSpPr>
          <p:nvPr/>
        </p:nvSpPr>
        <p:spPr bwMode="auto">
          <a:xfrm>
            <a:off x="1833563" y="2636838"/>
            <a:ext cx="151288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67988" name="Line 20"/>
          <p:cNvSpPr>
            <a:spLocks noChangeShapeType="1"/>
          </p:cNvSpPr>
          <p:nvPr/>
        </p:nvSpPr>
        <p:spPr bwMode="auto">
          <a:xfrm>
            <a:off x="3778250" y="2636838"/>
            <a:ext cx="1512888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67989" name="Line 21"/>
          <p:cNvSpPr>
            <a:spLocks noChangeShapeType="1"/>
          </p:cNvSpPr>
          <p:nvPr/>
        </p:nvSpPr>
        <p:spPr bwMode="auto">
          <a:xfrm>
            <a:off x="1835150" y="3644900"/>
            <a:ext cx="1512888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67991" name="Text Box 23"/>
          <p:cNvSpPr txBox="1">
            <a:spLocks noChangeArrowheads="1"/>
          </p:cNvSpPr>
          <p:nvPr/>
        </p:nvSpPr>
        <p:spPr bwMode="auto">
          <a:xfrm>
            <a:off x="2266950" y="3141663"/>
            <a:ext cx="64770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28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Z</a:t>
            </a:r>
          </a:p>
        </p:txBody>
      </p:sp>
      <p:sp>
        <p:nvSpPr>
          <p:cNvPr id="467992" name="Text Box 24"/>
          <p:cNvSpPr txBox="1">
            <a:spLocks noChangeArrowheads="1"/>
          </p:cNvSpPr>
          <p:nvPr/>
        </p:nvSpPr>
        <p:spPr bwMode="auto">
          <a:xfrm>
            <a:off x="2338388" y="2205038"/>
            <a:ext cx="64770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28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Y</a:t>
            </a:r>
          </a:p>
        </p:txBody>
      </p:sp>
      <p:sp>
        <p:nvSpPr>
          <p:cNvPr id="467993" name="Text Box 25"/>
          <p:cNvSpPr txBox="1">
            <a:spLocks noChangeArrowheads="1"/>
          </p:cNvSpPr>
          <p:nvPr/>
        </p:nvSpPr>
        <p:spPr bwMode="auto">
          <a:xfrm>
            <a:off x="4210050" y="2205038"/>
            <a:ext cx="64770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28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X</a:t>
            </a:r>
          </a:p>
        </p:txBody>
      </p:sp>
      <p:sp>
        <p:nvSpPr>
          <p:cNvPr id="467994" name="Text Box 26"/>
          <p:cNvSpPr txBox="1">
            <a:spLocks noChangeArrowheads="1"/>
          </p:cNvSpPr>
          <p:nvPr/>
        </p:nvSpPr>
        <p:spPr bwMode="auto">
          <a:xfrm>
            <a:off x="4210050" y="3213100"/>
            <a:ext cx="649288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28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X</a:t>
            </a:r>
          </a:p>
        </p:txBody>
      </p:sp>
      <p:grpSp>
        <p:nvGrpSpPr>
          <p:cNvPr id="7" name="Group 27"/>
          <p:cNvGrpSpPr>
            <a:grpSpLocks/>
          </p:cNvGrpSpPr>
          <p:nvPr/>
        </p:nvGrpSpPr>
        <p:grpSpPr bwMode="auto">
          <a:xfrm>
            <a:off x="1476375" y="4581525"/>
            <a:ext cx="431800" cy="519113"/>
            <a:chOff x="1474" y="1984"/>
            <a:chExt cx="272" cy="327"/>
          </a:xfrm>
        </p:grpSpPr>
        <p:sp>
          <p:nvSpPr>
            <p:cNvPr id="90148" name="Oval 28"/>
            <p:cNvSpPr>
              <a:spLocks noChangeArrowheads="1"/>
            </p:cNvSpPr>
            <p:nvPr/>
          </p:nvSpPr>
          <p:spPr bwMode="auto">
            <a:xfrm>
              <a:off x="1474" y="2024"/>
              <a:ext cx="272" cy="272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/>
              <a:endParaRPr lang="zh-CN" altLang="en-US"/>
            </a:p>
          </p:txBody>
        </p:sp>
        <p:sp>
          <p:nvSpPr>
            <p:cNvPr id="90149" name="Text Box 29"/>
            <p:cNvSpPr txBox="1">
              <a:spLocks noChangeArrowheads="1"/>
            </p:cNvSpPr>
            <p:nvPr/>
          </p:nvSpPr>
          <p:spPr bwMode="auto">
            <a:xfrm>
              <a:off x="1474" y="1984"/>
              <a:ext cx="27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/>
                <a:t>n</a:t>
              </a:r>
            </a:p>
          </p:txBody>
        </p:sp>
      </p:grpSp>
      <p:grpSp>
        <p:nvGrpSpPr>
          <p:cNvPr id="8" name="Group 30"/>
          <p:cNvGrpSpPr>
            <a:grpSpLocks/>
          </p:cNvGrpSpPr>
          <p:nvPr/>
        </p:nvGrpSpPr>
        <p:grpSpPr bwMode="auto">
          <a:xfrm>
            <a:off x="1476375" y="5588000"/>
            <a:ext cx="431800" cy="519113"/>
            <a:chOff x="1474" y="1984"/>
            <a:chExt cx="272" cy="327"/>
          </a:xfrm>
        </p:grpSpPr>
        <p:sp>
          <p:nvSpPr>
            <p:cNvPr id="90146" name="Oval 31"/>
            <p:cNvSpPr>
              <a:spLocks noChangeArrowheads="1"/>
            </p:cNvSpPr>
            <p:nvPr/>
          </p:nvSpPr>
          <p:spPr bwMode="auto">
            <a:xfrm>
              <a:off x="1474" y="2024"/>
              <a:ext cx="272" cy="272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/>
              <a:endParaRPr lang="zh-CN" altLang="en-US"/>
            </a:p>
          </p:txBody>
        </p:sp>
        <p:sp>
          <p:nvSpPr>
            <p:cNvPr id="90147" name="Text Box 32"/>
            <p:cNvSpPr txBox="1">
              <a:spLocks noChangeArrowheads="1"/>
            </p:cNvSpPr>
            <p:nvPr/>
          </p:nvSpPr>
          <p:spPr bwMode="auto">
            <a:xfrm>
              <a:off x="1474" y="1984"/>
              <a:ext cx="27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/>
                <a:t>j</a:t>
              </a:r>
            </a:p>
          </p:txBody>
        </p:sp>
      </p:grpSp>
      <p:grpSp>
        <p:nvGrpSpPr>
          <p:cNvPr id="9" name="Group 33"/>
          <p:cNvGrpSpPr>
            <a:grpSpLocks/>
          </p:cNvGrpSpPr>
          <p:nvPr/>
        </p:nvGrpSpPr>
        <p:grpSpPr bwMode="auto">
          <a:xfrm>
            <a:off x="5364163" y="4581525"/>
            <a:ext cx="431800" cy="519113"/>
            <a:chOff x="1474" y="1984"/>
            <a:chExt cx="272" cy="327"/>
          </a:xfrm>
        </p:grpSpPr>
        <p:sp>
          <p:nvSpPr>
            <p:cNvPr id="90144" name="Oval 34"/>
            <p:cNvSpPr>
              <a:spLocks noChangeArrowheads="1"/>
            </p:cNvSpPr>
            <p:nvPr/>
          </p:nvSpPr>
          <p:spPr bwMode="auto">
            <a:xfrm>
              <a:off x="1474" y="2024"/>
              <a:ext cx="272" cy="272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/>
              <a:endParaRPr lang="zh-CN" altLang="en-US">
                <a:latin typeface="Times New Roman" pitchFamily="18" charset="0"/>
              </a:endParaRPr>
            </a:p>
          </p:txBody>
        </p:sp>
        <p:sp>
          <p:nvSpPr>
            <p:cNvPr id="90145" name="Text Box 35"/>
            <p:cNvSpPr txBox="1">
              <a:spLocks noChangeArrowheads="1"/>
            </p:cNvSpPr>
            <p:nvPr/>
          </p:nvSpPr>
          <p:spPr bwMode="auto">
            <a:xfrm>
              <a:off x="1474" y="1984"/>
              <a:ext cx="27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>
                  <a:latin typeface="Times New Roman" pitchFamily="18" charset="0"/>
                </a:rPr>
                <a:t>h</a:t>
              </a:r>
            </a:p>
          </p:txBody>
        </p:sp>
      </p:grpSp>
      <p:grpSp>
        <p:nvGrpSpPr>
          <p:cNvPr id="10" name="Group 36"/>
          <p:cNvGrpSpPr>
            <a:grpSpLocks/>
          </p:cNvGrpSpPr>
          <p:nvPr/>
        </p:nvGrpSpPr>
        <p:grpSpPr bwMode="auto">
          <a:xfrm>
            <a:off x="3419475" y="4581525"/>
            <a:ext cx="431800" cy="519113"/>
            <a:chOff x="1474" y="1984"/>
            <a:chExt cx="272" cy="327"/>
          </a:xfrm>
        </p:grpSpPr>
        <p:sp>
          <p:nvSpPr>
            <p:cNvPr id="90142" name="Oval 37"/>
            <p:cNvSpPr>
              <a:spLocks noChangeArrowheads="1"/>
            </p:cNvSpPr>
            <p:nvPr/>
          </p:nvSpPr>
          <p:spPr bwMode="auto">
            <a:xfrm>
              <a:off x="1474" y="2024"/>
              <a:ext cx="272" cy="272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/>
              <a:endParaRPr lang="zh-CN" altLang="en-US"/>
            </a:p>
          </p:txBody>
        </p:sp>
        <p:sp>
          <p:nvSpPr>
            <p:cNvPr id="90143" name="Text Box 38"/>
            <p:cNvSpPr txBox="1">
              <a:spLocks noChangeArrowheads="1"/>
            </p:cNvSpPr>
            <p:nvPr/>
          </p:nvSpPr>
          <p:spPr bwMode="auto">
            <a:xfrm>
              <a:off x="1474" y="1984"/>
              <a:ext cx="27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/>
                <a:t>m</a:t>
              </a:r>
            </a:p>
          </p:txBody>
        </p:sp>
      </p:grpSp>
      <p:sp>
        <p:nvSpPr>
          <p:cNvPr id="468007" name="Line 39"/>
          <p:cNvSpPr>
            <a:spLocks noChangeShapeType="1"/>
          </p:cNvSpPr>
          <p:nvPr/>
        </p:nvSpPr>
        <p:spPr bwMode="auto">
          <a:xfrm>
            <a:off x="1906588" y="4868863"/>
            <a:ext cx="151288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68008" name="Line 40"/>
          <p:cNvSpPr>
            <a:spLocks noChangeShapeType="1"/>
          </p:cNvSpPr>
          <p:nvPr/>
        </p:nvSpPr>
        <p:spPr bwMode="auto">
          <a:xfrm>
            <a:off x="3851275" y="4868863"/>
            <a:ext cx="1512888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68010" name="Text Box 42"/>
          <p:cNvSpPr txBox="1">
            <a:spLocks noChangeArrowheads="1"/>
          </p:cNvSpPr>
          <p:nvPr/>
        </p:nvSpPr>
        <p:spPr bwMode="auto">
          <a:xfrm>
            <a:off x="2411413" y="5445125"/>
            <a:ext cx="6477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28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Z</a:t>
            </a:r>
          </a:p>
        </p:txBody>
      </p:sp>
      <p:sp>
        <p:nvSpPr>
          <p:cNvPr id="468011" name="Text Box 43"/>
          <p:cNvSpPr txBox="1">
            <a:spLocks noChangeArrowheads="1"/>
          </p:cNvSpPr>
          <p:nvPr/>
        </p:nvSpPr>
        <p:spPr bwMode="auto">
          <a:xfrm>
            <a:off x="2411413" y="4437063"/>
            <a:ext cx="64770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28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Y</a:t>
            </a:r>
          </a:p>
        </p:txBody>
      </p:sp>
      <p:sp>
        <p:nvSpPr>
          <p:cNvPr id="468012" name="Text Box 44"/>
          <p:cNvSpPr txBox="1">
            <a:spLocks noChangeArrowheads="1"/>
          </p:cNvSpPr>
          <p:nvPr/>
        </p:nvSpPr>
        <p:spPr bwMode="auto">
          <a:xfrm>
            <a:off x="4283075" y="4437063"/>
            <a:ext cx="64770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28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X</a:t>
            </a:r>
          </a:p>
        </p:txBody>
      </p:sp>
      <p:sp>
        <p:nvSpPr>
          <p:cNvPr id="468013" name="Text Box 45"/>
          <p:cNvSpPr txBox="1">
            <a:spLocks noChangeArrowheads="1"/>
          </p:cNvSpPr>
          <p:nvPr/>
        </p:nvSpPr>
        <p:spPr bwMode="auto">
          <a:xfrm>
            <a:off x="6538913" y="5157788"/>
            <a:ext cx="2209800" cy="561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>
            <a:spAutoFit/>
          </a:bodyPr>
          <a:lstStyle/>
          <a:p>
            <a:pPr eaLnBrk="0" hangingPunct="0">
              <a:lnSpc>
                <a:spcPct val="110000"/>
              </a:lnSpc>
              <a:spcBef>
                <a:spcPct val="50000"/>
              </a:spcBef>
              <a:buClr>
                <a:schemeClr val="folHlink"/>
              </a:buClr>
              <a:buSzPct val="75000"/>
              <a:buFont typeface="Monotype Sorts" pitchFamily="2" charset="2"/>
              <a:buNone/>
              <a:defRPr/>
            </a:pPr>
            <a:r>
              <a:rPr kumimoji="1" lang="zh-CN" altLang="en-US" sz="2800" b="1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右因子提取</a:t>
            </a:r>
          </a:p>
        </p:txBody>
      </p:sp>
      <p:sp>
        <p:nvSpPr>
          <p:cNvPr id="468014" name="Text Box 46"/>
          <p:cNvSpPr txBox="1">
            <a:spLocks noChangeArrowheads="1"/>
          </p:cNvSpPr>
          <p:nvPr/>
        </p:nvSpPr>
        <p:spPr bwMode="auto">
          <a:xfrm>
            <a:off x="6588125" y="2349500"/>
            <a:ext cx="2209800" cy="1409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>
            <a:spAutoFit/>
          </a:bodyPr>
          <a:lstStyle/>
          <a:p>
            <a:pPr eaLnBrk="0" hangingPunct="0">
              <a:lnSpc>
                <a:spcPct val="110000"/>
              </a:lnSpc>
              <a:spcBef>
                <a:spcPct val="50000"/>
              </a:spcBef>
              <a:buClr>
                <a:schemeClr val="folHlink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32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A→YX|ZX</a:t>
            </a:r>
          </a:p>
          <a:p>
            <a:pPr eaLnBrk="0" hangingPunct="0">
              <a:lnSpc>
                <a:spcPct val="110000"/>
              </a:lnSpc>
              <a:spcBef>
                <a:spcPct val="50000"/>
              </a:spcBef>
              <a:buClr>
                <a:schemeClr val="folHlink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32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A→(Y|Z)X</a:t>
            </a:r>
          </a:p>
        </p:txBody>
      </p:sp>
      <p:sp>
        <p:nvSpPr>
          <p:cNvPr id="468015" name="Freeform 47"/>
          <p:cNvSpPr>
            <a:spLocks/>
          </p:cNvSpPr>
          <p:nvPr/>
        </p:nvSpPr>
        <p:spPr bwMode="auto">
          <a:xfrm>
            <a:off x="3779838" y="2852738"/>
            <a:ext cx="1728787" cy="815975"/>
          </a:xfrm>
          <a:custGeom>
            <a:avLst/>
            <a:gdLst>
              <a:gd name="T0" fmla="*/ 0 w 1089"/>
              <a:gd name="T1" fmla="*/ 792162 h 514"/>
              <a:gd name="T2" fmla="*/ 936625 w 1089"/>
              <a:gd name="T3" fmla="*/ 792162 h 514"/>
              <a:gd name="T4" fmla="*/ 1368424 w 1089"/>
              <a:gd name="T5" fmla="*/ 647700 h 514"/>
              <a:gd name="T6" fmla="*/ 1584324 w 1089"/>
              <a:gd name="T7" fmla="*/ 431800 h 514"/>
              <a:gd name="T8" fmla="*/ 1728787 w 1089"/>
              <a:gd name="T9" fmla="*/ 0 h 51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089"/>
              <a:gd name="T16" fmla="*/ 0 h 514"/>
              <a:gd name="T17" fmla="*/ 1089 w 1089"/>
              <a:gd name="T18" fmla="*/ 514 h 514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089" h="514">
                <a:moveTo>
                  <a:pt x="0" y="499"/>
                </a:moveTo>
                <a:cubicBezTo>
                  <a:pt x="223" y="506"/>
                  <a:pt x="446" y="514"/>
                  <a:pt x="590" y="499"/>
                </a:cubicBezTo>
                <a:cubicBezTo>
                  <a:pt x="734" y="484"/>
                  <a:pt x="794" y="446"/>
                  <a:pt x="862" y="408"/>
                </a:cubicBezTo>
                <a:cubicBezTo>
                  <a:pt x="930" y="370"/>
                  <a:pt x="960" y="340"/>
                  <a:pt x="998" y="272"/>
                </a:cubicBezTo>
                <a:cubicBezTo>
                  <a:pt x="1036" y="204"/>
                  <a:pt x="1082" y="15"/>
                  <a:pt x="1089" y="0"/>
                </a:cubicBezTo>
              </a:path>
            </a:pathLst>
          </a:cu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68016" name="Freeform 48"/>
          <p:cNvSpPr>
            <a:spLocks/>
          </p:cNvSpPr>
          <p:nvPr/>
        </p:nvSpPr>
        <p:spPr bwMode="auto">
          <a:xfrm>
            <a:off x="1908175" y="5084763"/>
            <a:ext cx="1728788" cy="815975"/>
          </a:xfrm>
          <a:custGeom>
            <a:avLst/>
            <a:gdLst>
              <a:gd name="T0" fmla="*/ 0 w 1089"/>
              <a:gd name="T1" fmla="*/ 792162 h 514"/>
              <a:gd name="T2" fmla="*/ 936625 w 1089"/>
              <a:gd name="T3" fmla="*/ 792162 h 514"/>
              <a:gd name="T4" fmla="*/ 1368425 w 1089"/>
              <a:gd name="T5" fmla="*/ 647700 h 514"/>
              <a:gd name="T6" fmla="*/ 1584325 w 1089"/>
              <a:gd name="T7" fmla="*/ 431800 h 514"/>
              <a:gd name="T8" fmla="*/ 1728788 w 1089"/>
              <a:gd name="T9" fmla="*/ 0 h 51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089"/>
              <a:gd name="T16" fmla="*/ 0 h 514"/>
              <a:gd name="T17" fmla="*/ 1089 w 1089"/>
              <a:gd name="T18" fmla="*/ 514 h 514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089" h="514">
                <a:moveTo>
                  <a:pt x="0" y="499"/>
                </a:moveTo>
                <a:cubicBezTo>
                  <a:pt x="223" y="506"/>
                  <a:pt x="446" y="514"/>
                  <a:pt x="590" y="499"/>
                </a:cubicBezTo>
                <a:cubicBezTo>
                  <a:pt x="734" y="484"/>
                  <a:pt x="794" y="446"/>
                  <a:pt x="862" y="408"/>
                </a:cubicBezTo>
                <a:cubicBezTo>
                  <a:pt x="930" y="370"/>
                  <a:pt x="960" y="340"/>
                  <a:pt x="998" y="272"/>
                </a:cubicBezTo>
                <a:cubicBezTo>
                  <a:pt x="1036" y="204"/>
                  <a:pt x="1082" y="15"/>
                  <a:pt x="1089" y="0"/>
                </a:cubicBezTo>
              </a:path>
            </a:pathLst>
          </a:cu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2"/>
          <p:cNvSpPr>
            <a:spLocks noGrp="1" noChangeArrowheads="1"/>
          </p:cNvSpPr>
          <p:nvPr>
            <p:ph type="title"/>
          </p:nvPr>
        </p:nvSpPr>
        <p:spPr>
          <a:xfrm>
            <a:off x="684213" y="404813"/>
            <a:ext cx="6383337" cy="915987"/>
          </a:xfrm>
        </p:spPr>
        <p:txBody>
          <a:bodyPr/>
          <a:lstStyle/>
          <a:p>
            <a:pPr eaLnBrk="1" hangingPunct="1"/>
            <a:r>
              <a:rPr lang="zh-CN" altLang="en-US" b="1" smtClean="0">
                <a:solidFill>
                  <a:srgbClr val="000099"/>
                </a:solidFill>
                <a:latin typeface="Times New Roman" pitchFamily="18" charset="0"/>
                <a:ea typeface="华文新魏" pitchFamily="2" charset="-122"/>
                <a:cs typeface="Times New Roman" pitchFamily="18" charset="0"/>
              </a:rPr>
              <a:t>语法图化简规则</a:t>
            </a:r>
            <a:endParaRPr lang="zh-CN" altLang="en-US" smtClean="0">
              <a:solidFill>
                <a:srgbClr val="000099"/>
              </a:solidFill>
              <a:latin typeface="Times New Roman" pitchFamily="18" charset="0"/>
              <a:ea typeface="华文新魏" pitchFamily="2" charset="-122"/>
              <a:cs typeface="Times New Roman" pitchFamily="18" charset="0"/>
            </a:endParaRPr>
          </a:p>
        </p:txBody>
      </p:sp>
      <p:sp>
        <p:nvSpPr>
          <p:cNvPr id="91139" name="日期占位符 2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F298E310-B448-4319-B4BC-4925EBFC58DA}" type="datetime1">
              <a:rPr lang="zh-CN" altLang="en-US" smtClean="0"/>
              <a:pPr eaLnBrk="1" hangingPunct="1"/>
              <a:t>2017/2/24</a:t>
            </a:fld>
            <a:endParaRPr lang="en-US" altLang="zh-CN" smtClean="0"/>
          </a:p>
        </p:txBody>
      </p:sp>
      <p:sp>
        <p:nvSpPr>
          <p:cNvPr id="91140" name="灯片编号占位符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C78AF0C7-5220-43B9-81EF-51D20D21F2D3}" type="slidenum">
              <a:rPr lang="zh-CN" altLang="en-US" smtClean="0"/>
              <a:pPr eaLnBrk="1" hangingPunct="1"/>
              <a:t>78</a:t>
            </a:fld>
            <a:endParaRPr lang="en-US" altLang="zh-CN" smtClean="0"/>
          </a:p>
        </p:txBody>
      </p:sp>
      <p:sp>
        <p:nvSpPr>
          <p:cNvPr id="341006" name="Text Box 14"/>
          <p:cNvSpPr txBox="1">
            <a:spLocks noChangeArrowheads="1"/>
          </p:cNvSpPr>
          <p:nvPr/>
        </p:nvSpPr>
        <p:spPr bwMode="auto">
          <a:xfrm>
            <a:off x="7019925" y="549275"/>
            <a:ext cx="1944688" cy="1409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>
            <a:spAutoFit/>
          </a:bodyPr>
          <a:lstStyle/>
          <a:p>
            <a:pPr eaLnBrk="0" hangingPunct="0">
              <a:lnSpc>
                <a:spcPct val="110000"/>
              </a:lnSpc>
              <a:spcBef>
                <a:spcPct val="50000"/>
              </a:spcBef>
              <a:buClr>
                <a:schemeClr val="folHlink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32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X→YX|Z</a:t>
            </a:r>
          </a:p>
          <a:p>
            <a:pPr eaLnBrk="0" hangingPunct="0">
              <a:lnSpc>
                <a:spcPct val="110000"/>
              </a:lnSpc>
              <a:spcBef>
                <a:spcPct val="50000"/>
              </a:spcBef>
              <a:buClr>
                <a:schemeClr val="folHlink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32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X→Y</a:t>
            </a:r>
            <a:r>
              <a:rPr kumimoji="1" lang="en-US" altLang="zh-CN" sz="3200" b="1" baseline="30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*</a:t>
            </a:r>
            <a:r>
              <a:rPr kumimoji="1" lang="en-US" altLang="zh-CN" sz="32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Z</a:t>
            </a:r>
          </a:p>
        </p:txBody>
      </p:sp>
      <p:grpSp>
        <p:nvGrpSpPr>
          <p:cNvPr id="2" name="Group 38"/>
          <p:cNvGrpSpPr>
            <a:grpSpLocks/>
          </p:cNvGrpSpPr>
          <p:nvPr/>
        </p:nvGrpSpPr>
        <p:grpSpPr bwMode="auto">
          <a:xfrm>
            <a:off x="2557463" y="2062163"/>
            <a:ext cx="431800" cy="519112"/>
            <a:chOff x="1474" y="1984"/>
            <a:chExt cx="272" cy="327"/>
          </a:xfrm>
        </p:grpSpPr>
        <p:sp>
          <p:nvSpPr>
            <p:cNvPr id="91186" name="Oval 39"/>
            <p:cNvSpPr>
              <a:spLocks noChangeArrowheads="1"/>
            </p:cNvSpPr>
            <p:nvPr/>
          </p:nvSpPr>
          <p:spPr bwMode="auto">
            <a:xfrm>
              <a:off x="1474" y="2024"/>
              <a:ext cx="272" cy="272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/>
              <a:endParaRPr lang="zh-CN" altLang="en-US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1187" name="Text Box 40"/>
            <p:cNvSpPr txBox="1">
              <a:spLocks noChangeArrowheads="1"/>
            </p:cNvSpPr>
            <p:nvPr/>
          </p:nvSpPr>
          <p:spPr bwMode="auto">
            <a:xfrm>
              <a:off x="1474" y="1984"/>
              <a:ext cx="27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>
                  <a:latin typeface="Times New Roman" pitchFamily="18" charset="0"/>
                  <a:cs typeface="Times New Roman" pitchFamily="18" charset="0"/>
                </a:rPr>
                <a:t>n</a:t>
              </a:r>
            </a:p>
          </p:txBody>
        </p:sp>
      </p:grpSp>
      <p:grpSp>
        <p:nvGrpSpPr>
          <p:cNvPr id="3" name="Group 41"/>
          <p:cNvGrpSpPr>
            <a:grpSpLocks/>
          </p:cNvGrpSpPr>
          <p:nvPr/>
        </p:nvGrpSpPr>
        <p:grpSpPr bwMode="auto">
          <a:xfrm>
            <a:off x="6445250" y="3070225"/>
            <a:ext cx="431800" cy="519113"/>
            <a:chOff x="1474" y="1984"/>
            <a:chExt cx="272" cy="327"/>
          </a:xfrm>
        </p:grpSpPr>
        <p:sp>
          <p:nvSpPr>
            <p:cNvPr id="91184" name="Oval 42"/>
            <p:cNvSpPr>
              <a:spLocks noChangeArrowheads="1"/>
            </p:cNvSpPr>
            <p:nvPr/>
          </p:nvSpPr>
          <p:spPr bwMode="auto">
            <a:xfrm>
              <a:off x="1474" y="2024"/>
              <a:ext cx="272" cy="272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/>
              <a:endParaRPr lang="zh-CN" altLang="en-US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1185" name="Text Box 43"/>
            <p:cNvSpPr txBox="1">
              <a:spLocks noChangeArrowheads="1"/>
            </p:cNvSpPr>
            <p:nvPr/>
          </p:nvSpPr>
          <p:spPr bwMode="auto">
            <a:xfrm>
              <a:off x="1474" y="1984"/>
              <a:ext cx="27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>
                  <a:latin typeface="Times New Roman" pitchFamily="18" charset="0"/>
                  <a:cs typeface="Times New Roman" pitchFamily="18" charset="0"/>
                </a:rPr>
                <a:t>h</a:t>
              </a:r>
            </a:p>
          </p:txBody>
        </p:sp>
      </p:grpSp>
      <p:grpSp>
        <p:nvGrpSpPr>
          <p:cNvPr id="4" name="Group 47"/>
          <p:cNvGrpSpPr>
            <a:grpSpLocks/>
          </p:cNvGrpSpPr>
          <p:nvPr/>
        </p:nvGrpSpPr>
        <p:grpSpPr bwMode="auto">
          <a:xfrm>
            <a:off x="6445250" y="2062163"/>
            <a:ext cx="431800" cy="519112"/>
            <a:chOff x="1474" y="1984"/>
            <a:chExt cx="272" cy="327"/>
          </a:xfrm>
        </p:grpSpPr>
        <p:sp>
          <p:nvSpPr>
            <p:cNvPr id="91182" name="Oval 48"/>
            <p:cNvSpPr>
              <a:spLocks noChangeArrowheads="1"/>
            </p:cNvSpPr>
            <p:nvPr/>
          </p:nvSpPr>
          <p:spPr bwMode="auto">
            <a:xfrm>
              <a:off x="1474" y="2024"/>
              <a:ext cx="272" cy="272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/>
              <a:endParaRPr lang="zh-CN" altLang="en-US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1183" name="Text Box 49"/>
            <p:cNvSpPr txBox="1">
              <a:spLocks noChangeArrowheads="1"/>
            </p:cNvSpPr>
            <p:nvPr/>
          </p:nvSpPr>
          <p:spPr bwMode="auto">
            <a:xfrm>
              <a:off x="1474" y="1984"/>
              <a:ext cx="27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>
                  <a:latin typeface="Times New Roman" pitchFamily="18" charset="0"/>
                  <a:cs typeface="Times New Roman" pitchFamily="18" charset="0"/>
                </a:rPr>
                <a:t>h</a:t>
              </a:r>
            </a:p>
          </p:txBody>
        </p:sp>
      </p:grpSp>
      <p:grpSp>
        <p:nvGrpSpPr>
          <p:cNvPr id="5" name="Group 50"/>
          <p:cNvGrpSpPr>
            <a:grpSpLocks/>
          </p:cNvGrpSpPr>
          <p:nvPr/>
        </p:nvGrpSpPr>
        <p:grpSpPr bwMode="auto">
          <a:xfrm>
            <a:off x="4500563" y="2062163"/>
            <a:ext cx="431800" cy="519112"/>
            <a:chOff x="1474" y="1984"/>
            <a:chExt cx="272" cy="327"/>
          </a:xfrm>
        </p:grpSpPr>
        <p:sp>
          <p:nvSpPr>
            <p:cNvPr id="91180" name="Oval 51"/>
            <p:cNvSpPr>
              <a:spLocks noChangeArrowheads="1"/>
            </p:cNvSpPr>
            <p:nvPr/>
          </p:nvSpPr>
          <p:spPr bwMode="auto">
            <a:xfrm>
              <a:off x="1474" y="2024"/>
              <a:ext cx="272" cy="272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/>
              <a:endParaRPr lang="zh-CN" altLang="en-US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1181" name="Text Box 52"/>
            <p:cNvSpPr txBox="1">
              <a:spLocks noChangeArrowheads="1"/>
            </p:cNvSpPr>
            <p:nvPr/>
          </p:nvSpPr>
          <p:spPr bwMode="auto">
            <a:xfrm>
              <a:off x="1474" y="1984"/>
              <a:ext cx="27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>
                  <a:latin typeface="Times New Roman" pitchFamily="18" charset="0"/>
                  <a:cs typeface="Times New Roman" pitchFamily="18" charset="0"/>
                </a:rPr>
                <a:t>m</a:t>
              </a:r>
            </a:p>
          </p:txBody>
        </p:sp>
      </p:grpSp>
      <p:sp>
        <p:nvSpPr>
          <p:cNvPr id="341045" name="Line 53"/>
          <p:cNvSpPr>
            <a:spLocks noChangeShapeType="1"/>
          </p:cNvSpPr>
          <p:nvPr/>
        </p:nvSpPr>
        <p:spPr bwMode="auto">
          <a:xfrm>
            <a:off x="2987675" y="2349500"/>
            <a:ext cx="1512888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1046" name="Line 54"/>
          <p:cNvSpPr>
            <a:spLocks noChangeShapeType="1"/>
          </p:cNvSpPr>
          <p:nvPr/>
        </p:nvSpPr>
        <p:spPr bwMode="auto">
          <a:xfrm>
            <a:off x="4932363" y="2349500"/>
            <a:ext cx="151288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1048" name="Freeform 56"/>
          <p:cNvSpPr>
            <a:spLocks/>
          </p:cNvSpPr>
          <p:nvPr/>
        </p:nvSpPr>
        <p:spPr bwMode="auto">
          <a:xfrm>
            <a:off x="2700338" y="2565400"/>
            <a:ext cx="3671887" cy="793750"/>
          </a:xfrm>
          <a:custGeom>
            <a:avLst/>
            <a:gdLst>
              <a:gd name="T0" fmla="*/ 0 w 2268"/>
              <a:gd name="T1" fmla="*/ 0 h 460"/>
              <a:gd name="T2" fmla="*/ 72855 w 2268"/>
              <a:gd name="T3" fmla="*/ 389973 h 460"/>
              <a:gd name="T4" fmla="*/ 220184 w 2268"/>
              <a:gd name="T5" fmla="*/ 626372 h 460"/>
              <a:gd name="T6" fmla="*/ 587696 w 2268"/>
              <a:gd name="T7" fmla="*/ 704022 h 460"/>
              <a:gd name="T8" fmla="*/ 1835944 w 2268"/>
              <a:gd name="T9" fmla="*/ 781671 h 460"/>
              <a:gd name="T10" fmla="*/ 3157045 w 2268"/>
              <a:gd name="T11" fmla="*/ 781671 h 460"/>
              <a:gd name="T12" fmla="*/ 3671887 w 2268"/>
              <a:gd name="T13" fmla="*/ 781671 h 460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268"/>
              <a:gd name="T22" fmla="*/ 0 h 460"/>
              <a:gd name="T23" fmla="*/ 2268 w 2268"/>
              <a:gd name="T24" fmla="*/ 460 h 460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268" h="460">
                <a:moveTo>
                  <a:pt x="0" y="0"/>
                </a:moveTo>
                <a:cubicBezTo>
                  <a:pt x="11" y="82"/>
                  <a:pt x="22" y="165"/>
                  <a:pt x="45" y="226"/>
                </a:cubicBezTo>
                <a:cubicBezTo>
                  <a:pt x="68" y="287"/>
                  <a:pt x="83" y="333"/>
                  <a:pt x="136" y="363"/>
                </a:cubicBezTo>
                <a:cubicBezTo>
                  <a:pt x="189" y="393"/>
                  <a:pt x="197" y="393"/>
                  <a:pt x="363" y="408"/>
                </a:cubicBezTo>
                <a:cubicBezTo>
                  <a:pt x="529" y="423"/>
                  <a:pt x="870" y="446"/>
                  <a:pt x="1134" y="453"/>
                </a:cubicBezTo>
                <a:cubicBezTo>
                  <a:pt x="1398" y="460"/>
                  <a:pt x="1761" y="453"/>
                  <a:pt x="1950" y="453"/>
                </a:cubicBezTo>
                <a:cubicBezTo>
                  <a:pt x="2139" y="453"/>
                  <a:pt x="2203" y="453"/>
                  <a:pt x="2268" y="453"/>
                </a:cubicBezTo>
              </a:path>
            </a:pathLst>
          </a:cu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41049" name="Text Box 57"/>
          <p:cNvSpPr txBox="1">
            <a:spLocks noChangeArrowheads="1"/>
          </p:cNvSpPr>
          <p:nvPr/>
        </p:nvSpPr>
        <p:spPr bwMode="auto">
          <a:xfrm>
            <a:off x="3421063" y="2854325"/>
            <a:ext cx="6477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28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Times New Roman" pitchFamily="18" charset="0"/>
              </a:rPr>
              <a:t>Z</a:t>
            </a:r>
          </a:p>
        </p:txBody>
      </p:sp>
      <p:sp>
        <p:nvSpPr>
          <p:cNvPr id="341050" name="Text Box 58"/>
          <p:cNvSpPr txBox="1">
            <a:spLocks noChangeArrowheads="1"/>
          </p:cNvSpPr>
          <p:nvPr/>
        </p:nvSpPr>
        <p:spPr bwMode="auto">
          <a:xfrm>
            <a:off x="3492500" y="1917700"/>
            <a:ext cx="6477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28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Times New Roman" pitchFamily="18" charset="0"/>
              </a:rPr>
              <a:t>Y</a:t>
            </a:r>
          </a:p>
        </p:txBody>
      </p:sp>
      <p:sp>
        <p:nvSpPr>
          <p:cNvPr id="341051" name="Text Box 59"/>
          <p:cNvSpPr txBox="1">
            <a:spLocks noChangeArrowheads="1"/>
          </p:cNvSpPr>
          <p:nvPr/>
        </p:nvSpPr>
        <p:spPr bwMode="auto">
          <a:xfrm>
            <a:off x="5364163" y="1917700"/>
            <a:ext cx="6477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28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Times New Roman" pitchFamily="18" charset="0"/>
              </a:rPr>
              <a:t>X</a:t>
            </a:r>
          </a:p>
        </p:txBody>
      </p:sp>
      <p:sp>
        <p:nvSpPr>
          <p:cNvPr id="341071" name="Text Box 79"/>
          <p:cNvSpPr txBox="1">
            <a:spLocks noChangeArrowheads="1"/>
          </p:cNvSpPr>
          <p:nvPr/>
        </p:nvSpPr>
        <p:spPr bwMode="auto">
          <a:xfrm>
            <a:off x="827088" y="2206625"/>
            <a:ext cx="6477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28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Times New Roman" pitchFamily="18" charset="0"/>
              </a:rPr>
              <a:t>X</a:t>
            </a:r>
          </a:p>
        </p:txBody>
      </p:sp>
      <p:grpSp>
        <p:nvGrpSpPr>
          <p:cNvPr id="6" name="Group 81"/>
          <p:cNvGrpSpPr>
            <a:grpSpLocks/>
          </p:cNvGrpSpPr>
          <p:nvPr/>
        </p:nvGrpSpPr>
        <p:grpSpPr bwMode="auto">
          <a:xfrm>
            <a:off x="1763713" y="4583113"/>
            <a:ext cx="431800" cy="519112"/>
            <a:chOff x="1474" y="1984"/>
            <a:chExt cx="272" cy="327"/>
          </a:xfrm>
        </p:grpSpPr>
        <p:sp>
          <p:nvSpPr>
            <p:cNvPr id="91178" name="Oval 82"/>
            <p:cNvSpPr>
              <a:spLocks noChangeArrowheads="1"/>
            </p:cNvSpPr>
            <p:nvPr/>
          </p:nvSpPr>
          <p:spPr bwMode="auto">
            <a:xfrm>
              <a:off x="1474" y="2024"/>
              <a:ext cx="272" cy="272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/>
              <a:endParaRPr lang="zh-CN" altLang="en-US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1179" name="Text Box 83"/>
            <p:cNvSpPr txBox="1">
              <a:spLocks noChangeArrowheads="1"/>
            </p:cNvSpPr>
            <p:nvPr/>
          </p:nvSpPr>
          <p:spPr bwMode="auto">
            <a:xfrm>
              <a:off x="1474" y="1984"/>
              <a:ext cx="27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>
                  <a:latin typeface="Times New Roman" pitchFamily="18" charset="0"/>
                  <a:cs typeface="Times New Roman" pitchFamily="18" charset="0"/>
                </a:rPr>
                <a:t>n</a:t>
              </a:r>
            </a:p>
          </p:txBody>
        </p:sp>
      </p:grpSp>
      <p:grpSp>
        <p:nvGrpSpPr>
          <p:cNvPr id="7" name="Group 84"/>
          <p:cNvGrpSpPr>
            <a:grpSpLocks/>
          </p:cNvGrpSpPr>
          <p:nvPr/>
        </p:nvGrpSpPr>
        <p:grpSpPr bwMode="auto">
          <a:xfrm>
            <a:off x="3706813" y="5591175"/>
            <a:ext cx="431800" cy="519113"/>
            <a:chOff x="1474" y="1984"/>
            <a:chExt cx="272" cy="327"/>
          </a:xfrm>
        </p:grpSpPr>
        <p:sp>
          <p:nvSpPr>
            <p:cNvPr id="91176" name="Oval 85"/>
            <p:cNvSpPr>
              <a:spLocks noChangeArrowheads="1"/>
            </p:cNvSpPr>
            <p:nvPr/>
          </p:nvSpPr>
          <p:spPr bwMode="auto">
            <a:xfrm>
              <a:off x="1474" y="2024"/>
              <a:ext cx="272" cy="272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/>
              <a:endParaRPr lang="zh-CN" altLang="en-US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1177" name="Text Box 86"/>
            <p:cNvSpPr txBox="1">
              <a:spLocks noChangeArrowheads="1"/>
            </p:cNvSpPr>
            <p:nvPr/>
          </p:nvSpPr>
          <p:spPr bwMode="auto">
            <a:xfrm>
              <a:off x="1474" y="1984"/>
              <a:ext cx="27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>
                  <a:latin typeface="Times New Roman" pitchFamily="18" charset="0"/>
                  <a:cs typeface="Times New Roman" pitchFamily="18" charset="0"/>
                </a:rPr>
                <a:t>h</a:t>
              </a:r>
            </a:p>
          </p:txBody>
        </p:sp>
      </p:grpSp>
      <p:grpSp>
        <p:nvGrpSpPr>
          <p:cNvPr id="8" name="Group 87"/>
          <p:cNvGrpSpPr>
            <a:grpSpLocks/>
          </p:cNvGrpSpPr>
          <p:nvPr/>
        </p:nvGrpSpPr>
        <p:grpSpPr bwMode="auto">
          <a:xfrm>
            <a:off x="3706813" y="4583113"/>
            <a:ext cx="431800" cy="519112"/>
            <a:chOff x="1474" y="1984"/>
            <a:chExt cx="272" cy="327"/>
          </a:xfrm>
        </p:grpSpPr>
        <p:sp>
          <p:nvSpPr>
            <p:cNvPr id="91174" name="Oval 88"/>
            <p:cNvSpPr>
              <a:spLocks noChangeArrowheads="1"/>
            </p:cNvSpPr>
            <p:nvPr/>
          </p:nvSpPr>
          <p:spPr bwMode="auto">
            <a:xfrm>
              <a:off x="1474" y="2024"/>
              <a:ext cx="272" cy="272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/>
              <a:endParaRPr lang="zh-CN" altLang="en-US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1175" name="Text Box 89"/>
            <p:cNvSpPr txBox="1">
              <a:spLocks noChangeArrowheads="1"/>
            </p:cNvSpPr>
            <p:nvPr/>
          </p:nvSpPr>
          <p:spPr bwMode="auto">
            <a:xfrm>
              <a:off x="1474" y="1984"/>
              <a:ext cx="27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>
                  <a:latin typeface="Times New Roman" pitchFamily="18" charset="0"/>
                  <a:cs typeface="Times New Roman" pitchFamily="18" charset="0"/>
                </a:rPr>
                <a:t>m</a:t>
              </a:r>
            </a:p>
          </p:txBody>
        </p:sp>
      </p:grpSp>
      <p:sp>
        <p:nvSpPr>
          <p:cNvPr id="341082" name="Line 90"/>
          <p:cNvSpPr>
            <a:spLocks noChangeShapeType="1"/>
          </p:cNvSpPr>
          <p:nvPr/>
        </p:nvSpPr>
        <p:spPr bwMode="auto">
          <a:xfrm>
            <a:off x="2193925" y="4870450"/>
            <a:ext cx="1512888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1083" name="Freeform 91"/>
          <p:cNvSpPr>
            <a:spLocks/>
          </p:cNvSpPr>
          <p:nvPr/>
        </p:nvSpPr>
        <p:spPr bwMode="auto">
          <a:xfrm>
            <a:off x="1906588" y="5086350"/>
            <a:ext cx="1800225" cy="792163"/>
          </a:xfrm>
          <a:custGeom>
            <a:avLst/>
            <a:gdLst>
              <a:gd name="T0" fmla="*/ 0 w 2268"/>
              <a:gd name="T1" fmla="*/ 0 h 460"/>
              <a:gd name="T2" fmla="*/ 35719 w 2268"/>
              <a:gd name="T3" fmla="*/ 389193 h 460"/>
              <a:gd name="T4" fmla="*/ 107950 w 2268"/>
              <a:gd name="T5" fmla="*/ 625120 h 460"/>
              <a:gd name="T6" fmla="*/ 288131 w 2268"/>
              <a:gd name="T7" fmla="*/ 702614 h 460"/>
              <a:gd name="T8" fmla="*/ 900113 w 2268"/>
              <a:gd name="T9" fmla="*/ 780108 h 460"/>
              <a:gd name="T10" fmla="*/ 1547812 w 2268"/>
              <a:gd name="T11" fmla="*/ 780108 h 460"/>
              <a:gd name="T12" fmla="*/ 1800225 w 2268"/>
              <a:gd name="T13" fmla="*/ 780108 h 460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268"/>
              <a:gd name="T22" fmla="*/ 0 h 460"/>
              <a:gd name="T23" fmla="*/ 2268 w 2268"/>
              <a:gd name="T24" fmla="*/ 460 h 460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268" h="460">
                <a:moveTo>
                  <a:pt x="0" y="0"/>
                </a:moveTo>
                <a:cubicBezTo>
                  <a:pt x="11" y="82"/>
                  <a:pt x="22" y="165"/>
                  <a:pt x="45" y="226"/>
                </a:cubicBezTo>
                <a:cubicBezTo>
                  <a:pt x="68" y="287"/>
                  <a:pt x="83" y="333"/>
                  <a:pt x="136" y="363"/>
                </a:cubicBezTo>
                <a:cubicBezTo>
                  <a:pt x="189" y="393"/>
                  <a:pt x="197" y="393"/>
                  <a:pt x="363" y="408"/>
                </a:cubicBezTo>
                <a:cubicBezTo>
                  <a:pt x="529" y="423"/>
                  <a:pt x="870" y="446"/>
                  <a:pt x="1134" y="453"/>
                </a:cubicBezTo>
                <a:cubicBezTo>
                  <a:pt x="1398" y="460"/>
                  <a:pt x="1761" y="453"/>
                  <a:pt x="1950" y="453"/>
                </a:cubicBezTo>
                <a:cubicBezTo>
                  <a:pt x="2139" y="453"/>
                  <a:pt x="2203" y="453"/>
                  <a:pt x="2268" y="453"/>
                </a:cubicBezTo>
              </a:path>
            </a:pathLst>
          </a:cu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41084" name="Text Box 92"/>
          <p:cNvSpPr txBox="1">
            <a:spLocks noChangeArrowheads="1"/>
          </p:cNvSpPr>
          <p:nvPr/>
        </p:nvSpPr>
        <p:spPr bwMode="auto">
          <a:xfrm>
            <a:off x="2627313" y="5375275"/>
            <a:ext cx="6477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28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Times New Roman" pitchFamily="18" charset="0"/>
              </a:rPr>
              <a:t>Z</a:t>
            </a:r>
          </a:p>
        </p:txBody>
      </p:sp>
      <p:sp>
        <p:nvSpPr>
          <p:cNvPr id="341085" name="Text Box 93"/>
          <p:cNvSpPr txBox="1">
            <a:spLocks noChangeArrowheads="1"/>
          </p:cNvSpPr>
          <p:nvPr/>
        </p:nvSpPr>
        <p:spPr bwMode="auto">
          <a:xfrm>
            <a:off x="2698750" y="4438650"/>
            <a:ext cx="6477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28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Times New Roman" pitchFamily="18" charset="0"/>
              </a:rPr>
              <a:t>Y</a:t>
            </a:r>
          </a:p>
        </p:txBody>
      </p:sp>
      <p:sp>
        <p:nvSpPr>
          <p:cNvPr id="341086" name="Text Box 94"/>
          <p:cNvSpPr txBox="1">
            <a:spLocks noChangeArrowheads="1"/>
          </p:cNvSpPr>
          <p:nvPr/>
        </p:nvSpPr>
        <p:spPr bwMode="auto">
          <a:xfrm>
            <a:off x="2697163" y="3719513"/>
            <a:ext cx="64770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kumimoji="1" lang="en-US" altLang="zh-CN" sz="28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Times New Roman" pitchFamily="18" charset="0"/>
              </a:rPr>
              <a:t>ε</a:t>
            </a:r>
          </a:p>
        </p:txBody>
      </p:sp>
      <p:sp>
        <p:nvSpPr>
          <p:cNvPr id="341087" name="Freeform 95"/>
          <p:cNvSpPr>
            <a:spLocks/>
          </p:cNvSpPr>
          <p:nvPr/>
        </p:nvSpPr>
        <p:spPr bwMode="auto">
          <a:xfrm>
            <a:off x="1978025" y="4198938"/>
            <a:ext cx="1944688" cy="455612"/>
          </a:xfrm>
          <a:custGeom>
            <a:avLst/>
            <a:gdLst>
              <a:gd name="T0" fmla="*/ 1944688 w 1225"/>
              <a:gd name="T1" fmla="*/ 455612 h 287"/>
              <a:gd name="T2" fmla="*/ 1655763 w 1225"/>
              <a:gd name="T3" fmla="*/ 168275 h 287"/>
              <a:gd name="T4" fmla="*/ 1295400 w 1225"/>
              <a:gd name="T5" fmla="*/ 23812 h 287"/>
              <a:gd name="T6" fmla="*/ 719138 w 1225"/>
              <a:gd name="T7" fmla="*/ 23812 h 287"/>
              <a:gd name="T8" fmla="*/ 431800 w 1225"/>
              <a:gd name="T9" fmla="*/ 96837 h 287"/>
              <a:gd name="T10" fmla="*/ 0 w 1225"/>
              <a:gd name="T11" fmla="*/ 455612 h 287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225"/>
              <a:gd name="T19" fmla="*/ 0 h 287"/>
              <a:gd name="T20" fmla="*/ 1225 w 1225"/>
              <a:gd name="T21" fmla="*/ 287 h 287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225" h="287">
                <a:moveTo>
                  <a:pt x="1225" y="287"/>
                </a:moveTo>
                <a:cubicBezTo>
                  <a:pt x="1168" y="219"/>
                  <a:pt x="1111" y="151"/>
                  <a:pt x="1043" y="106"/>
                </a:cubicBezTo>
                <a:cubicBezTo>
                  <a:pt x="975" y="61"/>
                  <a:pt x="914" y="30"/>
                  <a:pt x="816" y="15"/>
                </a:cubicBezTo>
                <a:cubicBezTo>
                  <a:pt x="718" y="0"/>
                  <a:pt x="544" y="7"/>
                  <a:pt x="453" y="15"/>
                </a:cubicBezTo>
                <a:cubicBezTo>
                  <a:pt x="362" y="23"/>
                  <a:pt x="347" y="16"/>
                  <a:pt x="272" y="61"/>
                </a:cubicBezTo>
                <a:cubicBezTo>
                  <a:pt x="197" y="106"/>
                  <a:pt x="38" y="219"/>
                  <a:pt x="0" y="287"/>
                </a:cubicBezTo>
              </a:path>
            </a:pathLst>
          </a:cu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41088" name="Text Box 96"/>
          <p:cNvSpPr txBox="1">
            <a:spLocks noChangeArrowheads="1"/>
          </p:cNvSpPr>
          <p:nvPr/>
        </p:nvSpPr>
        <p:spPr bwMode="auto">
          <a:xfrm>
            <a:off x="827088" y="4654550"/>
            <a:ext cx="6477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28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Times New Roman" pitchFamily="18" charset="0"/>
              </a:rPr>
              <a:t>X</a:t>
            </a:r>
          </a:p>
        </p:txBody>
      </p:sp>
      <p:grpSp>
        <p:nvGrpSpPr>
          <p:cNvPr id="9" name="Group 98"/>
          <p:cNvGrpSpPr>
            <a:grpSpLocks/>
          </p:cNvGrpSpPr>
          <p:nvPr/>
        </p:nvGrpSpPr>
        <p:grpSpPr bwMode="auto">
          <a:xfrm>
            <a:off x="5292725" y="4654550"/>
            <a:ext cx="431800" cy="519113"/>
            <a:chOff x="1474" y="1984"/>
            <a:chExt cx="272" cy="327"/>
          </a:xfrm>
        </p:grpSpPr>
        <p:sp>
          <p:nvSpPr>
            <p:cNvPr id="91172" name="Oval 99"/>
            <p:cNvSpPr>
              <a:spLocks noChangeArrowheads="1"/>
            </p:cNvSpPr>
            <p:nvPr/>
          </p:nvSpPr>
          <p:spPr bwMode="auto">
            <a:xfrm>
              <a:off x="1474" y="2024"/>
              <a:ext cx="272" cy="272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/>
              <a:endParaRPr lang="zh-CN" altLang="en-US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1173" name="Text Box 100"/>
            <p:cNvSpPr txBox="1">
              <a:spLocks noChangeArrowheads="1"/>
            </p:cNvSpPr>
            <p:nvPr/>
          </p:nvSpPr>
          <p:spPr bwMode="auto">
            <a:xfrm>
              <a:off x="1474" y="1984"/>
              <a:ext cx="27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>
                  <a:latin typeface="Times New Roman" pitchFamily="18" charset="0"/>
                  <a:cs typeface="Times New Roman" pitchFamily="18" charset="0"/>
                </a:rPr>
                <a:t>n</a:t>
              </a:r>
            </a:p>
          </p:txBody>
        </p:sp>
      </p:grpSp>
      <p:grpSp>
        <p:nvGrpSpPr>
          <p:cNvPr id="10" name="Group 101"/>
          <p:cNvGrpSpPr>
            <a:grpSpLocks/>
          </p:cNvGrpSpPr>
          <p:nvPr/>
        </p:nvGrpSpPr>
        <p:grpSpPr bwMode="auto">
          <a:xfrm>
            <a:off x="7235825" y="5662613"/>
            <a:ext cx="431800" cy="519112"/>
            <a:chOff x="1474" y="1984"/>
            <a:chExt cx="272" cy="327"/>
          </a:xfrm>
        </p:grpSpPr>
        <p:sp>
          <p:nvSpPr>
            <p:cNvPr id="91170" name="Oval 102"/>
            <p:cNvSpPr>
              <a:spLocks noChangeArrowheads="1"/>
            </p:cNvSpPr>
            <p:nvPr/>
          </p:nvSpPr>
          <p:spPr bwMode="auto">
            <a:xfrm>
              <a:off x="1474" y="2024"/>
              <a:ext cx="272" cy="272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/>
              <a:endParaRPr lang="zh-CN" altLang="en-US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1171" name="Text Box 103"/>
            <p:cNvSpPr txBox="1">
              <a:spLocks noChangeArrowheads="1"/>
            </p:cNvSpPr>
            <p:nvPr/>
          </p:nvSpPr>
          <p:spPr bwMode="auto">
            <a:xfrm>
              <a:off x="1474" y="1984"/>
              <a:ext cx="27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>
                  <a:latin typeface="Times New Roman" pitchFamily="18" charset="0"/>
                  <a:cs typeface="Times New Roman" pitchFamily="18" charset="0"/>
                </a:rPr>
                <a:t>h</a:t>
              </a:r>
            </a:p>
          </p:txBody>
        </p:sp>
      </p:grpSp>
      <p:sp>
        <p:nvSpPr>
          <p:cNvPr id="341100" name="Freeform 108"/>
          <p:cNvSpPr>
            <a:spLocks/>
          </p:cNvSpPr>
          <p:nvPr/>
        </p:nvSpPr>
        <p:spPr bwMode="auto">
          <a:xfrm>
            <a:off x="5435600" y="5157788"/>
            <a:ext cx="1800225" cy="792162"/>
          </a:xfrm>
          <a:custGeom>
            <a:avLst/>
            <a:gdLst>
              <a:gd name="T0" fmla="*/ 0 w 2268"/>
              <a:gd name="T1" fmla="*/ 0 h 460"/>
              <a:gd name="T2" fmla="*/ 35719 w 2268"/>
              <a:gd name="T3" fmla="*/ 389193 h 460"/>
              <a:gd name="T4" fmla="*/ 107950 w 2268"/>
              <a:gd name="T5" fmla="*/ 625119 h 460"/>
              <a:gd name="T6" fmla="*/ 288131 w 2268"/>
              <a:gd name="T7" fmla="*/ 702613 h 460"/>
              <a:gd name="T8" fmla="*/ 900113 w 2268"/>
              <a:gd name="T9" fmla="*/ 780107 h 460"/>
              <a:gd name="T10" fmla="*/ 1547812 w 2268"/>
              <a:gd name="T11" fmla="*/ 780107 h 460"/>
              <a:gd name="T12" fmla="*/ 1800225 w 2268"/>
              <a:gd name="T13" fmla="*/ 780107 h 460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268"/>
              <a:gd name="T22" fmla="*/ 0 h 460"/>
              <a:gd name="T23" fmla="*/ 2268 w 2268"/>
              <a:gd name="T24" fmla="*/ 460 h 460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268" h="460">
                <a:moveTo>
                  <a:pt x="0" y="0"/>
                </a:moveTo>
                <a:cubicBezTo>
                  <a:pt x="11" y="82"/>
                  <a:pt x="22" y="165"/>
                  <a:pt x="45" y="226"/>
                </a:cubicBezTo>
                <a:cubicBezTo>
                  <a:pt x="68" y="287"/>
                  <a:pt x="83" y="333"/>
                  <a:pt x="136" y="363"/>
                </a:cubicBezTo>
                <a:cubicBezTo>
                  <a:pt x="189" y="393"/>
                  <a:pt x="197" y="393"/>
                  <a:pt x="363" y="408"/>
                </a:cubicBezTo>
                <a:cubicBezTo>
                  <a:pt x="529" y="423"/>
                  <a:pt x="870" y="446"/>
                  <a:pt x="1134" y="453"/>
                </a:cubicBezTo>
                <a:cubicBezTo>
                  <a:pt x="1398" y="460"/>
                  <a:pt x="1761" y="453"/>
                  <a:pt x="1950" y="453"/>
                </a:cubicBezTo>
                <a:cubicBezTo>
                  <a:pt x="2139" y="453"/>
                  <a:pt x="2203" y="453"/>
                  <a:pt x="2268" y="453"/>
                </a:cubicBezTo>
              </a:path>
            </a:pathLst>
          </a:cu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41101" name="Text Box 109"/>
          <p:cNvSpPr txBox="1">
            <a:spLocks noChangeArrowheads="1"/>
          </p:cNvSpPr>
          <p:nvPr/>
        </p:nvSpPr>
        <p:spPr bwMode="auto">
          <a:xfrm>
            <a:off x="6156325" y="5446713"/>
            <a:ext cx="64770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28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Times New Roman" pitchFamily="18" charset="0"/>
              </a:rPr>
              <a:t>Z</a:t>
            </a:r>
          </a:p>
        </p:txBody>
      </p:sp>
      <p:sp>
        <p:nvSpPr>
          <p:cNvPr id="341102" name="Text Box 110"/>
          <p:cNvSpPr txBox="1">
            <a:spLocks noChangeArrowheads="1"/>
          </p:cNvSpPr>
          <p:nvPr/>
        </p:nvSpPr>
        <p:spPr bwMode="auto">
          <a:xfrm>
            <a:off x="6877050" y="4583113"/>
            <a:ext cx="64770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28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Times New Roman" pitchFamily="18" charset="0"/>
              </a:rPr>
              <a:t>Y</a:t>
            </a:r>
          </a:p>
        </p:txBody>
      </p:sp>
      <p:sp>
        <p:nvSpPr>
          <p:cNvPr id="341106" name="Freeform 114"/>
          <p:cNvSpPr>
            <a:spLocks/>
          </p:cNvSpPr>
          <p:nvPr/>
        </p:nvSpPr>
        <p:spPr bwMode="auto">
          <a:xfrm>
            <a:off x="5724525" y="4725988"/>
            <a:ext cx="1811338" cy="587375"/>
          </a:xfrm>
          <a:custGeom>
            <a:avLst/>
            <a:gdLst>
              <a:gd name="T0" fmla="*/ 0 w 1141"/>
              <a:gd name="T1" fmla="*/ 288925 h 370"/>
              <a:gd name="T2" fmla="*/ 863600 w 1141"/>
              <a:gd name="T3" fmla="*/ 576263 h 370"/>
              <a:gd name="T4" fmla="*/ 1582738 w 1141"/>
              <a:gd name="T5" fmla="*/ 360362 h 370"/>
              <a:gd name="T6" fmla="*/ 1800226 w 1141"/>
              <a:gd name="T7" fmla="*/ 0 h 370"/>
              <a:gd name="T8" fmla="*/ 0 60000 65536"/>
              <a:gd name="T9" fmla="*/ 0 60000 65536"/>
              <a:gd name="T10" fmla="*/ 0 60000 65536"/>
              <a:gd name="T11" fmla="*/ 0 60000 65536"/>
              <a:gd name="T12" fmla="*/ 0 w 1141"/>
              <a:gd name="T13" fmla="*/ 0 h 370"/>
              <a:gd name="T14" fmla="*/ 1141 w 1141"/>
              <a:gd name="T15" fmla="*/ 370 h 37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141" h="370">
                <a:moveTo>
                  <a:pt x="0" y="182"/>
                </a:moveTo>
                <a:cubicBezTo>
                  <a:pt x="189" y="269"/>
                  <a:pt x="378" y="356"/>
                  <a:pt x="544" y="363"/>
                </a:cubicBezTo>
                <a:cubicBezTo>
                  <a:pt x="710" y="370"/>
                  <a:pt x="899" y="287"/>
                  <a:pt x="997" y="227"/>
                </a:cubicBezTo>
                <a:cubicBezTo>
                  <a:pt x="1095" y="167"/>
                  <a:pt x="1141" y="15"/>
                  <a:pt x="1134" y="0"/>
                </a:cubicBezTo>
              </a:path>
            </a:pathLst>
          </a:cu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41107" name="Freeform 115"/>
          <p:cNvSpPr>
            <a:spLocks/>
          </p:cNvSpPr>
          <p:nvPr/>
        </p:nvSpPr>
        <p:spPr bwMode="auto">
          <a:xfrm>
            <a:off x="5651500" y="4149725"/>
            <a:ext cx="1873250" cy="576263"/>
          </a:xfrm>
          <a:custGeom>
            <a:avLst/>
            <a:gdLst>
              <a:gd name="T0" fmla="*/ 1873250 w 1180"/>
              <a:gd name="T1" fmla="*/ 576263 h 363"/>
              <a:gd name="T2" fmla="*/ 1800225 w 1180"/>
              <a:gd name="T3" fmla="*/ 360363 h 363"/>
              <a:gd name="T4" fmla="*/ 1584325 w 1180"/>
              <a:gd name="T5" fmla="*/ 144463 h 363"/>
              <a:gd name="T6" fmla="*/ 1008062 w 1180"/>
              <a:gd name="T7" fmla="*/ 0 h 363"/>
              <a:gd name="T8" fmla="*/ 504825 w 1180"/>
              <a:gd name="T9" fmla="*/ 144463 h 363"/>
              <a:gd name="T10" fmla="*/ 0 w 1180"/>
              <a:gd name="T11" fmla="*/ 576263 h 363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180"/>
              <a:gd name="T19" fmla="*/ 0 h 363"/>
              <a:gd name="T20" fmla="*/ 1180 w 1180"/>
              <a:gd name="T21" fmla="*/ 363 h 363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180" h="363">
                <a:moveTo>
                  <a:pt x="1180" y="363"/>
                </a:moveTo>
                <a:cubicBezTo>
                  <a:pt x="1172" y="317"/>
                  <a:pt x="1164" y="272"/>
                  <a:pt x="1134" y="227"/>
                </a:cubicBezTo>
                <a:cubicBezTo>
                  <a:pt x="1104" y="182"/>
                  <a:pt x="1081" y="129"/>
                  <a:pt x="998" y="91"/>
                </a:cubicBezTo>
                <a:cubicBezTo>
                  <a:pt x="915" y="53"/>
                  <a:pt x="748" y="0"/>
                  <a:pt x="635" y="0"/>
                </a:cubicBezTo>
                <a:cubicBezTo>
                  <a:pt x="522" y="0"/>
                  <a:pt x="424" y="30"/>
                  <a:pt x="318" y="91"/>
                </a:cubicBezTo>
                <a:cubicBezTo>
                  <a:pt x="212" y="152"/>
                  <a:pt x="106" y="257"/>
                  <a:pt x="0" y="363"/>
                </a:cubicBezTo>
              </a:path>
            </a:pathLst>
          </a:cu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42" name="Rectangle 2"/>
          <p:cNvSpPr>
            <a:spLocks noGrp="1" noChangeArrowheads="1"/>
          </p:cNvSpPr>
          <p:nvPr>
            <p:ph type="title"/>
          </p:nvPr>
        </p:nvSpPr>
        <p:spPr>
          <a:xfrm>
            <a:off x="900113" y="333375"/>
            <a:ext cx="4594225" cy="944563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b="1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  <a:cs typeface="Times New Roman" pitchFamily="18" charset="0"/>
              </a:rPr>
              <a:t>语法图的化简</a:t>
            </a:r>
            <a:endParaRPr lang="zh-CN" altLang="en-US">
              <a:solidFill>
                <a:srgbClr val="000099"/>
              </a:solidFill>
              <a:latin typeface="Times New Roman" pitchFamily="18" charset="0"/>
              <a:ea typeface="华文新魏" pitchFamily="2" charset="-122"/>
              <a:cs typeface="Times New Roman" pitchFamily="18" charset="0"/>
            </a:endParaRPr>
          </a:p>
        </p:txBody>
      </p:sp>
      <p:sp>
        <p:nvSpPr>
          <p:cNvPr id="92163" name="日期占位符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CA72EEF4-54E6-400B-9493-475F8260AA86}" type="datetime1">
              <a:rPr lang="zh-CN" altLang="en-US" smtClean="0"/>
              <a:pPr eaLnBrk="1" hangingPunct="1"/>
              <a:t>2017/2/24</a:t>
            </a:fld>
            <a:endParaRPr lang="en-US" altLang="zh-CN" smtClean="0"/>
          </a:p>
        </p:txBody>
      </p:sp>
      <p:sp>
        <p:nvSpPr>
          <p:cNvPr id="92164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954F0ECD-488F-49EF-AC7D-1655CB116124}" type="slidenum">
              <a:rPr lang="zh-CN" altLang="en-US" smtClean="0"/>
              <a:pPr eaLnBrk="1" hangingPunct="1"/>
              <a:t>79</a:t>
            </a:fld>
            <a:endParaRPr lang="en-US" altLang="zh-CN" smtClean="0"/>
          </a:p>
        </p:txBody>
      </p:sp>
      <p:sp>
        <p:nvSpPr>
          <p:cNvPr id="471059" name="Text Box 19"/>
          <p:cNvSpPr txBox="1">
            <a:spLocks noChangeArrowheads="1"/>
          </p:cNvSpPr>
          <p:nvPr/>
        </p:nvSpPr>
        <p:spPr bwMode="auto">
          <a:xfrm>
            <a:off x="6443663" y="2133600"/>
            <a:ext cx="2571750" cy="628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>
            <a:spAutoFit/>
          </a:bodyPr>
          <a:lstStyle/>
          <a:p>
            <a:pPr eaLnBrk="0" hangingPunct="0">
              <a:lnSpc>
                <a:spcPct val="110000"/>
              </a:lnSpc>
              <a:spcBef>
                <a:spcPct val="50000"/>
              </a:spcBef>
              <a:buClr>
                <a:schemeClr val="folHlink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32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Times New Roman" pitchFamily="18" charset="0"/>
              </a:rPr>
              <a:t>E'→+TE'|ε</a:t>
            </a:r>
          </a:p>
        </p:txBody>
      </p:sp>
      <p:sp>
        <p:nvSpPr>
          <p:cNvPr id="471060" name="Rectangle 20"/>
          <p:cNvSpPr>
            <a:spLocks noChangeArrowheads="1"/>
          </p:cNvSpPr>
          <p:nvPr/>
        </p:nvSpPr>
        <p:spPr bwMode="auto">
          <a:xfrm>
            <a:off x="6516688" y="3141663"/>
            <a:ext cx="2578100" cy="12620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>
            <a:spAutoFit/>
          </a:bodyPr>
          <a:lstStyle/>
          <a:p>
            <a:pPr eaLnBrk="0" hangingPunct="0">
              <a:lnSpc>
                <a:spcPct val="110000"/>
              </a:lnSpc>
              <a:spcBef>
                <a:spcPct val="20000"/>
              </a:spcBef>
              <a:buClr>
                <a:schemeClr val="folHlink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32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Times New Roman" pitchFamily="18" charset="0"/>
              </a:rPr>
              <a:t>E→TE'</a:t>
            </a:r>
          </a:p>
          <a:p>
            <a:pPr eaLnBrk="0" hangingPunct="0">
              <a:lnSpc>
                <a:spcPct val="110000"/>
              </a:lnSpc>
              <a:spcBef>
                <a:spcPct val="20000"/>
              </a:spcBef>
              <a:buClr>
                <a:schemeClr val="folHlink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32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Times New Roman" pitchFamily="18" charset="0"/>
              </a:rPr>
              <a:t>E→T(+T)</a:t>
            </a:r>
            <a:r>
              <a:rPr kumimoji="1" lang="en-US" altLang="zh-CN" sz="3200" b="1" baseline="30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Times New Roman" pitchFamily="18" charset="0"/>
              </a:rPr>
              <a:t>*</a:t>
            </a:r>
            <a:endParaRPr kumimoji="1" lang="en-US" altLang="zh-CN" sz="3200" b="1">
              <a:effectLst>
                <a:outerShdw blurRad="38100" dist="38100" dir="2700000" algn="tl">
                  <a:srgbClr val="C0C0C0"/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2" name="Group 36"/>
          <p:cNvGrpSpPr>
            <a:grpSpLocks/>
          </p:cNvGrpSpPr>
          <p:nvPr/>
        </p:nvGrpSpPr>
        <p:grpSpPr bwMode="auto">
          <a:xfrm>
            <a:off x="1763713" y="1989138"/>
            <a:ext cx="431800" cy="519112"/>
            <a:chOff x="1474" y="1984"/>
            <a:chExt cx="272" cy="327"/>
          </a:xfrm>
        </p:grpSpPr>
        <p:sp>
          <p:nvSpPr>
            <p:cNvPr id="92223" name="Oval 37"/>
            <p:cNvSpPr>
              <a:spLocks noChangeArrowheads="1"/>
            </p:cNvSpPr>
            <p:nvPr/>
          </p:nvSpPr>
          <p:spPr bwMode="auto">
            <a:xfrm>
              <a:off x="1474" y="2024"/>
              <a:ext cx="272" cy="272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/>
              <a:endParaRPr lang="zh-CN" altLang="en-US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2224" name="Text Box 38"/>
            <p:cNvSpPr txBox="1">
              <a:spLocks noChangeArrowheads="1"/>
            </p:cNvSpPr>
            <p:nvPr/>
          </p:nvSpPr>
          <p:spPr bwMode="auto">
            <a:xfrm>
              <a:off x="1474" y="1984"/>
              <a:ext cx="27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>
                  <a:latin typeface="Times New Roman" pitchFamily="18" charset="0"/>
                  <a:cs typeface="Times New Roman" pitchFamily="18" charset="0"/>
                </a:rPr>
                <a:t>3</a:t>
              </a:r>
            </a:p>
          </p:txBody>
        </p:sp>
      </p:grpSp>
      <p:sp>
        <p:nvSpPr>
          <p:cNvPr id="471079" name="Text Box 39"/>
          <p:cNvSpPr txBox="1">
            <a:spLocks noChangeArrowheads="1"/>
          </p:cNvSpPr>
          <p:nvPr/>
        </p:nvSpPr>
        <p:spPr bwMode="auto">
          <a:xfrm>
            <a:off x="538163" y="1989138"/>
            <a:ext cx="6477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2800" b="1">
                <a:latin typeface="Times New Roman" pitchFamily="18" charset="0"/>
                <a:cs typeface="Times New Roman" pitchFamily="18" charset="0"/>
              </a:rPr>
              <a:t>E'</a:t>
            </a:r>
          </a:p>
        </p:txBody>
      </p:sp>
      <p:grpSp>
        <p:nvGrpSpPr>
          <p:cNvPr id="3" name="Group 40"/>
          <p:cNvGrpSpPr>
            <a:grpSpLocks/>
          </p:cNvGrpSpPr>
          <p:nvPr/>
        </p:nvGrpSpPr>
        <p:grpSpPr bwMode="auto">
          <a:xfrm>
            <a:off x="3706813" y="1989138"/>
            <a:ext cx="431800" cy="519112"/>
            <a:chOff x="1474" y="1984"/>
            <a:chExt cx="272" cy="327"/>
          </a:xfrm>
        </p:grpSpPr>
        <p:sp>
          <p:nvSpPr>
            <p:cNvPr id="92221" name="Oval 41"/>
            <p:cNvSpPr>
              <a:spLocks noChangeArrowheads="1"/>
            </p:cNvSpPr>
            <p:nvPr/>
          </p:nvSpPr>
          <p:spPr bwMode="auto">
            <a:xfrm>
              <a:off x="1474" y="2024"/>
              <a:ext cx="272" cy="272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/>
              <a:endParaRPr lang="zh-CN" altLang="en-US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2222" name="Text Box 42"/>
            <p:cNvSpPr txBox="1">
              <a:spLocks noChangeArrowheads="1"/>
            </p:cNvSpPr>
            <p:nvPr/>
          </p:nvSpPr>
          <p:spPr bwMode="auto">
            <a:xfrm>
              <a:off x="1474" y="1984"/>
              <a:ext cx="27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>
                  <a:latin typeface="Times New Roman" pitchFamily="18" charset="0"/>
                  <a:cs typeface="Times New Roman" pitchFamily="18" charset="0"/>
                </a:rPr>
                <a:t>4</a:t>
              </a:r>
            </a:p>
          </p:txBody>
        </p:sp>
      </p:grpSp>
      <p:grpSp>
        <p:nvGrpSpPr>
          <p:cNvPr id="4" name="Group 43"/>
          <p:cNvGrpSpPr>
            <a:grpSpLocks/>
          </p:cNvGrpSpPr>
          <p:nvPr/>
        </p:nvGrpSpPr>
        <p:grpSpPr bwMode="auto">
          <a:xfrm>
            <a:off x="5651500" y="1989138"/>
            <a:ext cx="431800" cy="519112"/>
            <a:chOff x="1474" y="1984"/>
            <a:chExt cx="272" cy="327"/>
          </a:xfrm>
        </p:grpSpPr>
        <p:sp>
          <p:nvSpPr>
            <p:cNvPr id="92219" name="Oval 44"/>
            <p:cNvSpPr>
              <a:spLocks noChangeArrowheads="1"/>
            </p:cNvSpPr>
            <p:nvPr/>
          </p:nvSpPr>
          <p:spPr bwMode="auto">
            <a:xfrm>
              <a:off x="1474" y="2024"/>
              <a:ext cx="272" cy="272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/>
              <a:endParaRPr lang="zh-CN" altLang="en-US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2220" name="Text Box 45"/>
            <p:cNvSpPr txBox="1">
              <a:spLocks noChangeArrowheads="1"/>
            </p:cNvSpPr>
            <p:nvPr/>
          </p:nvSpPr>
          <p:spPr bwMode="auto">
            <a:xfrm>
              <a:off x="1474" y="1984"/>
              <a:ext cx="27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>
                  <a:latin typeface="Times New Roman" pitchFamily="18" charset="0"/>
                  <a:cs typeface="Times New Roman" pitchFamily="18" charset="0"/>
                </a:rPr>
                <a:t>5</a:t>
              </a:r>
            </a:p>
          </p:txBody>
        </p:sp>
      </p:grpSp>
      <p:grpSp>
        <p:nvGrpSpPr>
          <p:cNvPr id="5" name="Group 46"/>
          <p:cNvGrpSpPr>
            <a:grpSpLocks/>
          </p:cNvGrpSpPr>
          <p:nvPr/>
        </p:nvGrpSpPr>
        <p:grpSpPr bwMode="auto">
          <a:xfrm>
            <a:off x="5651500" y="2925763"/>
            <a:ext cx="431800" cy="519112"/>
            <a:chOff x="1474" y="1984"/>
            <a:chExt cx="272" cy="327"/>
          </a:xfrm>
        </p:grpSpPr>
        <p:sp>
          <p:nvSpPr>
            <p:cNvPr id="92217" name="Oval 47"/>
            <p:cNvSpPr>
              <a:spLocks noChangeArrowheads="1"/>
            </p:cNvSpPr>
            <p:nvPr/>
          </p:nvSpPr>
          <p:spPr bwMode="auto">
            <a:xfrm>
              <a:off x="1474" y="2024"/>
              <a:ext cx="272" cy="272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/>
              <a:endParaRPr lang="zh-CN" altLang="en-US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2218" name="Text Box 48"/>
            <p:cNvSpPr txBox="1">
              <a:spLocks noChangeArrowheads="1"/>
            </p:cNvSpPr>
            <p:nvPr/>
          </p:nvSpPr>
          <p:spPr bwMode="auto">
            <a:xfrm>
              <a:off x="1474" y="1984"/>
              <a:ext cx="27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>
                  <a:latin typeface="Times New Roman" pitchFamily="18" charset="0"/>
                  <a:cs typeface="Times New Roman" pitchFamily="18" charset="0"/>
                </a:rPr>
                <a:t>6</a:t>
              </a:r>
            </a:p>
          </p:txBody>
        </p:sp>
      </p:grpSp>
      <p:sp>
        <p:nvSpPr>
          <p:cNvPr id="471089" name="Line 49"/>
          <p:cNvSpPr>
            <a:spLocks noChangeShapeType="1"/>
          </p:cNvSpPr>
          <p:nvPr/>
        </p:nvSpPr>
        <p:spPr bwMode="auto">
          <a:xfrm>
            <a:off x="2195513" y="2278063"/>
            <a:ext cx="151288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71090" name="Text Box 50"/>
          <p:cNvSpPr txBox="1">
            <a:spLocks noChangeArrowheads="1"/>
          </p:cNvSpPr>
          <p:nvPr/>
        </p:nvSpPr>
        <p:spPr bwMode="auto">
          <a:xfrm>
            <a:off x="2627313" y="1917700"/>
            <a:ext cx="6477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 b="1">
                <a:latin typeface="Times New Roman" pitchFamily="18" charset="0"/>
                <a:cs typeface="Times New Roman" pitchFamily="18" charset="0"/>
              </a:rPr>
              <a:t>+</a:t>
            </a:r>
          </a:p>
        </p:txBody>
      </p:sp>
      <p:sp>
        <p:nvSpPr>
          <p:cNvPr id="471091" name="Text Box 51"/>
          <p:cNvSpPr txBox="1">
            <a:spLocks noChangeArrowheads="1"/>
          </p:cNvSpPr>
          <p:nvPr/>
        </p:nvSpPr>
        <p:spPr bwMode="auto">
          <a:xfrm>
            <a:off x="4716463" y="1917700"/>
            <a:ext cx="6477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 b="1">
                <a:latin typeface="Times New Roman" pitchFamily="18" charset="0"/>
                <a:cs typeface="Times New Roman" pitchFamily="18" charset="0"/>
              </a:rPr>
              <a:t>T</a:t>
            </a:r>
          </a:p>
        </p:txBody>
      </p:sp>
      <p:sp>
        <p:nvSpPr>
          <p:cNvPr id="471092" name="Line 52"/>
          <p:cNvSpPr>
            <a:spLocks noChangeShapeType="1"/>
          </p:cNvSpPr>
          <p:nvPr/>
        </p:nvSpPr>
        <p:spPr bwMode="auto">
          <a:xfrm>
            <a:off x="4138613" y="2278063"/>
            <a:ext cx="151288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71093" name="Freeform 53"/>
          <p:cNvSpPr>
            <a:spLocks/>
          </p:cNvSpPr>
          <p:nvPr/>
        </p:nvSpPr>
        <p:spPr bwMode="auto">
          <a:xfrm>
            <a:off x="1979613" y="2493963"/>
            <a:ext cx="3671887" cy="719137"/>
          </a:xfrm>
          <a:custGeom>
            <a:avLst/>
            <a:gdLst>
              <a:gd name="T0" fmla="*/ 0 w 2268"/>
              <a:gd name="T1" fmla="*/ 0 h 460"/>
              <a:gd name="T2" fmla="*/ 72855 w 2268"/>
              <a:gd name="T3" fmla="*/ 353315 h 460"/>
              <a:gd name="T4" fmla="*/ 220184 w 2268"/>
              <a:gd name="T5" fmla="*/ 567493 h 460"/>
              <a:gd name="T6" fmla="*/ 587696 w 2268"/>
              <a:gd name="T7" fmla="*/ 637843 h 460"/>
              <a:gd name="T8" fmla="*/ 1835944 w 2268"/>
              <a:gd name="T9" fmla="*/ 708194 h 460"/>
              <a:gd name="T10" fmla="*/ 3157045 w 2268"/>
              <a:gd name="T11" fmla="*/ 708194 h 460"/>
              <a:gd name="T12" fmla="*/ 3671887 w 2268"/>
              <a:gd name="T13" fmla="*/ 708194 h 460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268"/>
              <a:gd name="T22" fmla="*/ 0 h 460"/>
              <a:gd name="T23" fmla="*/ 2268 w 2268"/>
              <a:gd name="T24" fmla="*/ 460 h 460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268" h="460">
                <a:moveTo>
                  <a:pt x="0" y="0"/>
                </a:moveTo>
                <a:cubicBezTo>
                  <a:pt x="11" y="82"/>
                  <a:pt x="22" y="165"/>
                  <a:pt x="45" y="226"/>
                </a:cubicBezTo>
                <a:cubicBezTo>
                  <a:pt x="68" y="287"/>
                  <a:pt x="83" y="333"/>
                  <a:pt x="136" y="363"/>
                </a:cubicBezTo>
                <a:cubicBezTo>
                  <a:pt x="189" y="393"/>
                  <a:pt x="197" y="393"/>
                  <a:pt x="363" y="408"/>
                </a:cubicBezTo>
                <a:cubicBezTo>
                  <a:pt x="529" y="423"/>
                  <a:pt x="870" y="446"/>
                  <a:pt x="1134" y="453"/>
                </a:cubicBezTo>
                <a:cubicBezTo>
                  <a:pt x="1398" y="460"/>
                  <a:pt x="1761" y="453"/>
                  <a:pt x="1950" y="453"/>
                </a:cubicBezTo>
                <a:cubicBezTo>
                  <a:pt x="2139" y="453"/>
                  <a:pt x="2203" y="453"/>
                  <a:pt x="2268" y="453"/>
                </a:cubicBezTo>
              </a:path>
            </a:pathLst>
          </a:cu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71094" name="Text Box 54"/>
          <p:cNvSpPr txBox="1">
            <a:spLocks noChangeArrowheads="1"/>
          </p:cNvSpPr>
          <p:nvPr/>
        </p:nvSpPr>
        <p:spPr bwMode="auto">
          <a:xfrm>
            <a:off x="3563938" y="2781300"/>
            <a:ext cx="6477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kumimoji="1" lang="en-US" altLang="zh-CN" sz="28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Times New Roman" pitchFamily="18" charset="0"/>
              </a:rPr>
              <a:t>ε</a:t>
            </a:r>
          </a:p>
        </p:txBody>
      </p:sp>
      <p:sp>
        <p:nvSpPr>
          <p:cNvPr id="471095" name="Freeform 55"/>
          <p:cNvSpPr>
            <a:spLocks/>
          </p:cNvSpPr>
          <p:nvPr/>
        </p:nvSpPr>
        <p:spPr bwMode="auto">
          <a:xfrm>
            <a:off x="1906588" y="1616075"/>
            <a:ext cx="3960812" cy="444500"/>
          </a:xfrm>
          <a:custGeom>
            <a:avLst/>
            <a:gdLst>
              <a:gd name="T0" fmla="*/ 3960812 w 2495"/>
              <a:gd name="T1" fmla="*/ 444500 h 280"/>
              <a:gd name="T2" fmla="*/ 3744912 w 2495"/>
              <a:gd name="T3" fmla="*/ 85725 h 280"/>
              <a:gd name="T4" fmla="*/ 3457575 w 2495"/>
              <a:gd name="T5" fmla="*/ 12700 h 280"/>
              <a:gd name="T6" fmla="*/ 2881312 w 2495"/>
              <a:gd name="T7" fmla="*/ 12700 h 280"/>
              <a:gd name="T8" fmla="*/ 2016125 w 2495"/>
              <a:gd name="T9" fmla="*/ 12700 h 280"/>
              <a:gd name="T10" fmla="*/ 865187 w 2495"/>
              <a:gd name="T11" fmla="*/ 12700 h 280"/>
              <a:gd name="T12" fmla="*/ 576262 w 2495"/>
              <a:gd name="T13" fmla="*/ 12700 h 280"/>
              <a:gd name="T14" fmla="*/ 288925 w 2495"/>
              <a:gd name="T15" fmla="*/ 85725 h 280"/>
              <a:gd name="T16" fmla="*/ 144462 w 2495"/>
              <a:gd name="T17" fmla="*/ 228600 h 280"/>
              <a:gd name="T18" fmla="*/ 0 w 2495"/>
              <a:gd name="T19" fmla="*/ 444500 h 280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2495"/>
              <a:gd name="T31" fmla="*/ 0 h 280"/>
              <a:gd name="T32" fmla="*/ 2495 w 2495"/>
              <a:gd name="T33" fmla="*/ 280 h 280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2495" h="280">
                <a:moveTo>
                  <a:pt x="2495" y="280"/>
                </a:moveTo>
                <a:cubicBezTo>
                  <a:pt x="2453" y="189"/>
                  <a:pt x="2412" y="99"/>
                  <a:pt x="2359" y="54"/>
                </a:cubicBezTo>
                <a:cubicBezTo>
                  <a:pt x="2306" y="9"/>
                  <a:pt x="2269" y="16"/>
                  <a:pt x="2178" y="8"/>
                </a:cubicBezTo>
                <a:cubicBezTo>
                  <a:pt x="2087" y="0"/>
                  <a:pt x="1966" y="8"/>
                  <a:pt x="1815" y="8"/>
                </a:cubicBezTo>
                <a:cubicBezTo>
                  <a:pt x="1664" y="8"/>
                  <a:pt x="1482" y="8"/>
                  <a:pt x="1270" y="8"/>
                </a:cubicBezTo>
                <a:cubicBezTo>
                  <a:pt x="1058" y="8"/>
                  <a:pt x="696" y="8"/>
                  <a:pt x="545" y="8"/>
                </a:cubicBezTo>
                <a:cubicBezTo>
                  <a:pt x="394" y="8"/>
                  <a:pt x="423" y="0"/>
                  <a:pt x="363" y="8"/>
                </a:cubicBezTo>
                <a:cubicBezTo>
                  <a:pt x="303" y="16"/>
                  <a:pt x="227" y="31"/>
                  <a:pt x="182" y="54"/>
                </a:cubicBezTo>
                <a:cubicBezTo>
                  <a:pt x="137" y="77"/>
                  <a:pt x="121" y="107"/>
                  <a:pt x="91" y="144"/>
                </a:cubicBezTo>
                <a:cubicBezTo>
                  <a:pt x="61" y="181"/>
                  <a:pt x="30" y="230"/>
                  <a:pt x="0" y="280"/>
                </a:cubicBezTo>
              </a:path>
            </a:pathLst>
          </a:cu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71096" name="Text Box 56"/>
          <p:cNvSpPr txBox="1">
            <a:spLocks noChangeArrowheads="1"/>
          </p:cNvSpPr>
          <p:nvPr/>
        </p:nvSpPr>
        <p:spPr bwMode="auto">
          <a:xfrm>
            <a:off x="3490913" y="1196975"/>
            <a:ext cx="6477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kumimoji="1" lang="en-US" altLang="zh-CN" sz="28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Times New Roman" pitchFamily="18" charset="0"/>
              </a:rPr>
              <a:t>ε</a:t>
            </a:r>
          </a:p>
        </p:txBody>
      </p:sp>
      <p:grpSp>
        <p:nvGrpSpPr>
          <p:cNvPr id="6" name="Group 57"/>
          <p:cNvGrpSpPr>
            <a:grpSpLocks/>
          </p:cNvGrpSpPr>
          <p:nvPr/>
        </p:nvGrpSpPr>
        <p:grpSpPr bwMode="auto">
          <a:xfrm>
            <a:off x="2124075" y="4724400"/>
            <a:ext cx="431800" cy="519113"/>
            <a:chOff x="1474" y="1984"/>
            <a:chExt cx="272" cy="327"/>
          </a:xfrm>
        </p:grpSpPr>
        <p:sp>
          <p:nvSpPr>
            <p:cNvPr id="92215" name="Oval 58"/>
            <p:cNvSpPr>
              <a:spLocks noChangeArrowheads="1"/>
            </p:cNvSpPr>
            <p:nvPr/>
          </p:nvSpPr>
          <p:spPr bwMode="auto">
            <a:xfrm>
              <a:off x="1474" y="2024"/>
              <a:ext cx="272" cy="272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/>
              <a:endParaRPr lang="zh-CN" altLang="en-US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2216" name="Text Box 59"/>
            <p:cNvSpPr txBox="1">
              <a:spLocks noChangeArrowheads="1"/>
            </p:cNvSpPr>
            <p:nvPr/>
          </p:nvSpPr>
          <p:spPr bwMode="auto">
            <a:xfrm>
              <a:off x="1474" y="1984"/>
              <a:ext cx="27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>
                  <a:latin typeface="Times New Roman" pitchFamily="18" charset="0"/>
                  <a:cs typeface="Times New Roman" pitchFamily="18" charset="0"/>
                </a:rPr>
                <a:t>3</a:t>
              </a:r>
            </a:p>
          </p:txBody>
        </p:sp>
      </p:grpSp>
      <p:grpSp>
        <p:nvGrpSpPr>
          <p:cNvPr id="7" name="Group 60"/>
          <p:cNvGrpSpPr>
            <a:grpSpLocks/>
          </p:cNvGrpSpPr>
          <p:nvPr/>
        </p:nvGrpSpPr>
        <p:grpSpPr bwMode="auto">
          <a:xfrm>
            <a:off x="3563938" y="4725988"/>
            <a:ext cx="431800" cy="519112"/>
            <a:chOff x="1474" y="1984"/>
            <a:chExt cx="272" cy="327"/>
          </a:xfrm>
        </p:grpSpPr>
        <p:sp>
          <p:nvSpPr>
            <p:cNvPr id="92213" name="Oval 61"/>
            <p:cNvSpPr>
              <a:spLocks noChangeArrowheads="1"/>
            </p:cNvSpPr>
            <p:nvPr/>
          </p:nvSpPr>
          <p:spPr bwMode="auto">
            <a:xfrm>
              <a:off x="1474" y="2024"/>
              <a:ext cx="272" cy="272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/>
              <a:endParaRPr lang="zh-CN" altLang="en-US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2214" name="Text Box 62"/>
            <p:cNvSpPr txBox="1">
              <a:spLocks noChangeArrowheads="1"/>
            </p:cNvSpPr>
            <p:nvPr/>
          </p:nvSpPr>
          <p:spPr bwMode="auto">
            <a:xfrm>
              <a:off x="1474" y="1984"/>
              <a:ext cx="27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>
                  <a:latin typeface="Times New Roman" pitchFamily="18" charset="0"/>
                  <a:cs typeface="Times New Roman" pitchFamily="18" charset="0"/>
                </a:rPr>
                <a:t>4</a:t>
              </a:r>
            </a:p>
          </p:txBody>
        </p:sp>
      </p:grpSp>
      <p:grpSp>
        <p:nvGrpSpPr>
          <p:cNvPr id="8" name="Group 66"/>
          <p:cNvGrpSpPr>
            <a:grpSpLocks/>
          </p:cNvGrpSpPr>
          <p:nvPr/>
        </p:nvGrpSpPr>
        <p:grpSpPr bwMode="auto">
          <a:xfrm>
            <a:off x="4140200" y="5661025"/>
            <a:ext cx="431800" cy="519113"/>
            <a:chOff x="1474" y="1984"/>
            <a:chExt cx="272" cy="327"/>
          </a:xfrm>
        </p:grpSpPr>
        <p:sp>
          <p:nvSpPr>
            <p:cNvPr id="92211" name="Oval 67"/>
            <p:cNvSpPr>
              <a:spLocks noChangeArrowheads="1"/>
            </p:cNvSpPr>
            <p:nvPr/>
          </p:nvSpPr>
          <p:spPr bwMode="auto">
            <a:xfrm>
              <a:off x="1474" y="2024"/>
              <a:ext cx="272" cy="272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/>
              <a:endParaRPr lang="zh-CN" altLang="en-US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2212" name="Text Box 68"/>
            <p:cNvSpPr txBox="1">
              <a:spLocks noChangeArrowheads="1"/>
            </p:cNvSpPr>
            <p:nvPr/>
          </p:nvSpPr>
          <p:spPr bwMode="auto">
            <a:xfrm>
              <a:off x="1474" y="1984"/>
              <a:ext cx="27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>
                  <a:latin typeface="Times New Roman" pitchFamily="18" charset="0"/>
                  <a:cs typeface="Times New Roman" pitchFamily="18" charset="0"/>
                </a:rPr>
                <a:t>6</a:t>
              </a:r>
            </a:p>
          </p:txBody>
        </p:sp>
      </p:grpSp>
      <p:sp>
        <p:nvSpPr>
          <p:cNvPr id="471109" name="Line 69"/>
          <p:cNvSpPr>
            <a:spLocks noChangeShapeType="1"/>
          </p:cNvSpPr>
          <p:nvPr/>
        </p:nvSpPr>
        <p:spPr bwMode="auto">
          <a:xfrm>
            <a:off x="2555875" y="5013325"/>
            <a:ext cx="1008063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71110" name="Text Box 70"/>
          <p:cNvSpPr txBox="1">
            <a:spLocks noChangeArrowheads="1"/>
          </p:cNvSpPr>
          <p:nvPr/>
        </p:nvSpPr>
        <p:spPr bwMode="auto">
          <a:xfrm>
            <a:off x="2844800" y="4652963"/>
            <a:ext cx="6477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 b="1">
                <a:latin typeface="Times New Roman" pitchFamily="18" charset="0"/>
                <a:cs typeface="Times New Roman" pitchFamily="18" charset="0"/>
              </a:rPr>
              <a:t>+</a:t>
            </a:r>
          </a:p>
        </p:txBody>
      </p:sp>
      <p:sp>
        <p:nvSpPr>
          <p:cNvPr id="471113" name="Freeform 73"/>
          <p:cNvSpPr>
            <a:spLocks/>
          </p:cNvSpPr>
          <p:nvPr/>
        </p:nvSpPr>
        <p:spPr bwMode="auto">
          <a:xfrm>
            <a:off x="2339975" y="5229225"/>
            <a:ext cx="1871663" cy="720725"/>
          </a:xfrm>
          <a:custGeom>
            <a:avLst/>
            <a:gdLst>
              <a:gd name="T0" fmla="*/ 0 w 2268"/>
              <a:gd name="T1" fmla="*/ 0 h 460"/>
              <a:gd name="T2" fmla="*/ 37136 w 2268"/>
              <a:gd name="T3" fmla="*/ 354095 h 460"/>
              <a:gd name="T4" fmla="*/ 112234 w 2268"/>
              <a:gd name="T5" fmla="*/ 568746 h 460"/>
              <a:gd name="T6" fmla="*/ 299565 w 2268"/>
              <a:gd name="T7" fmla="*/ 639252 h 460"/>
              <a:gd name="T8" fmla="*/ 935832 w 2268"/>
              <a:gd name="T9" fmla="*/ 709757 h 460"/>
              <a:gd name="T10" fmla="*/ 1609234 w 2268"/>
              <a:gd name="T11" fmla="*/ 709757 h 460"/>
              <a:gd name="T12" fmla="*/ 1871663 w 2268"/>
              <a:gd name="T13" fmla="*/ 709757 h 460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268"/>
              <a:gd name="T22" fmla="*/ 0 h 460"/>
              <a:gd name="T23" fmla="*/ 2268 w 2268"/>
              <a:gd name="T24" fmla="*/ 460 h 460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268" h="460">
                <a:moveTo>
                  <a:pt x="0" y="0"/>
                </a:moveTo>
                <a:cubicBezTo>
                  <a:pt x="11" y="82"/>
                  <a:pt x="22" y="165"/>
                  <a:pt x="45" y="226"/>
                </a:cubicBezTo>
                <a:cubicBezTo>
                  <a:pt x="68" y="287"/>
                  <a:pt x="83" y="333"/>
                  <a:pt x="136" y="363"/>
                </a:cubicBezTo>
                <a:cubicBezTo>
                  <a:pt x="189" y="393"/>
                  <a:pt x="197" y="393"/>
                  <a:pt x="363" y="408"/>
                </a:cubicBezTo>
                <a:cubicBezTo>
                  <a:pt x="529" y="423"/>
                  <a:pt x="870" y="446"/>
                  <a:pt x="1134" y="453"/>
                </a:cubicBezTo>
                <a:cubicBezTo>
                  <a:pt x="1398" y="460"/>
                  <a:pt x="1761" y="453"/>
                  <a:pt x="1950" y="453"/>
                </a:cubicBezTo>
                <a:cubicBezTo>
                  <a:pt x="2139" y="453"/>
                  <a:pt x="2203" y="453"/>
                  <a:pt x="2268" y="453"/>
                </a:cubicBezTo>
              </a:path>
            </a:pathLst>
          </a:cu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71114" name="Text Box 74"/>
          <p:cNvSpPr txBox="1">
            <a:spLocks noChangeArrowheads="1"/>
          </p:cNvSpPr>
          <p:nvPr/>
        </p:nvSpPr>
        <p:spPr bwMode="auto">
          <a:xfrm>
            <a:off x="2843213" y="5518150"/>
            <a:ext cx="6477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kumimoji="1" lang="en-US" altLang="zh-CN" sz="28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Times New Roman" pitchFamily="18" charset="0"/>
              </a:rPr>
              <a:t>ε</a:t>
            </a:r>
          </a:p>
        </p:txBody>
      </p:sp>
      <p:sp>
        <p:nvSpPr>
          <p:cNvPr id="471115" name="Freeform 75"/>
          <p:cNvSpPr>
            <a:spLocks/>
          </p:cNvSpPr>
          <p:nvPr/>
        </p:nvSpPr>
        <p:spPr bwMode="auto">
          <a:xfrm>
            <a:off x="2266950" y="4351338"/>
            <a:ext cx="1512888" cy="446087"/>
          </a:xfrm>
          <a:custGeom>
            <a:avLst/>
            <a:gdLst>
              <a:gd name="T0" fmla="*/ 1512888 w 2495"/>
              <a:gd name="T1" fmla="*/ 446087 h 280"/>
              <a:gd name="T2" fmla="*/ 1430422 w 2495"/>
              <a:gd name="T3" fmla="*/ 86031 h 280"/>
              <a:gd name="T4" fmla="*/ 1320669 w 2495"/>
              <a:gd name="T5" fmla="*/ 12745 h 280"/>
              <a:gd name="T6" fmla="*/ 1100558 w 2495"/>
              <a:gd name="T7" fmla="*/ 12745 h 280"/>
              <a:gd name="T8" fmla="*/ 770087 w 2495"/>
              <a:gd name="T9" fmla="*/ 12745 h 280"/>
              <a:gd name="T10" fmla="*/ 330471 w 2495"/>
              <a:gd name="T11" fmla="*/ 12745 h 280"/>
              <a:gd name="T12" fmla="*/ 220112 w 2495"/>
              <a:gd name="T13" fmla="*/ 12745 h 280"/>
              <a:gd name="T14" fmla="*/ 110359 w 2495"/>
              <a:gd name="T15" fmla="*/ 86031 h 280"/>
              <a:gd name="T16" fmla="*/ 55179 w 2495"/>
              <a:gd name="T17" fmla="*/ 229416 h 280"/>
              <a:gd name="T18" fmla="*/ 0 w 2495"/>
              <a:gd name="T19" fmla="*/ 446087 h 280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2495"/>
              <a:gd name="T31" fmla="*/ 0 h 280"/>
              <a:gd name="T32" fmla="*/ 2495 w 2495"/>
              <a:gd name="T33" fmla="*/ 280 h 280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2495" h="280">
                <a:moveTo>
                  <a:pt x="2495" y="280"/>
                </a:moveTo>
                <a:cubicBezTo>
                  <a:pt x="2453" y="189"/>
                  <a:pt x="2412" y="99"/>
                  <a:pt x="2359" y="54"/>
                </a:cubicBezTo>
                <a:cubicBezTo>
                  <a:pt x="2306" y="9"/>
                  <a:pt x="2269" y="16"/>
                  <a:pt x="2178" y="8"/>
                </a:cubicBezTo>
                <a:cubicBezTo>
                  <a:pt x="2087" y="0"/>
                  <a:pt x="1966" y="8"/>
                  <a:pt x="1815" y="8"/>
                </a:cubicBezTo>
                <a:cubicBezTo>
                  <a:pt x="1664" y="8"/>
                  <a:pt x="1482" y="8"/>
                  <a:pt x="1270" y="8"/>
                </a:cubicBezTo>
                <a:cubicBezTo>
                  <a:pt x="1058" y="8"/>
                  <a:pt x="696" y="8"/>
                  <a:pt x="545" y="8"/>
                </a:cubicBezTo>
                <a:cubicBezTo>
                  <a:pt x="394" y="8"/>
                  <a:pt x="423" y="0"/>
                  <a:pt x="363" y="8"/>
                </a:cubicBezTo>
                <a:cubicBezTo>
                  <a:pt x="303" y="16"/>
                  <a:pt x="227" y="31"/>
                  <a:pt x="182" y="54"/>
                </a:cubicBezTo>
                <a:cubicBezTo>
                  <a:pt x="137" y="77"/>
                  <a:pt x="121" y="107"/>
                  <a:pt x="91" y="144"/>
                </a:cubicBezTo>
                <a:cubicBezTo>
                  <a:pt x="61" y="181"/>
                  <a:pt x="30" y="230"/>
                  <a:pt x="0" y="280"/>
                </a:cubicBezTo>
              </a:path>
            </a:pathLst>
          </a:cu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71116" name="Text Box 76"/>
          <p:cNvSpPr txBox="1">
            <a:spLocks noChangeArrowheads="1"/>
          </p:cNvSpPr>
          <p:nvPr/>
        </p:nvSpPr>
        <p:spPr bwMode="auto">
          <a:xfrm>
            <a:off x="2844800" y="4005263"/>
            <a:ext cx="64770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28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Times New Roman" pitchFamily="18" charset="0"/>
              </a:rPr>
              <a:t>T</a:t>
            </a:r>
          </a:p>
        </p:txBody>
      </p:sp>
      <p:grpSp>
        <p:nvGrpSpPr>
          <p:cNvPr id="9" name="Group 77"/>
          <p:cNvGrpSpPr>
            <a:grpSpLocks/>
          </p:cNvGrpSpPr>
          <p:nvPr/>
        </p:nvGrpSpPr>
        <p:grpSpPr bwMode="auto">
          <a:xfrm>
            <a:off x="912813" y="4724400"/>
            <a:ext cx="431800" cy="519113"/>
            <a:chOff x="1474" y="1984"/>
            <a:chExt cx="272" cy="327"/>
          </a:xfrm>
        </p:grpSpPr>
        <p:sp>
          <p:nvSpPr>
            <p:cNvPr id="92209" name="Oval 78"/>
            <p:cNvSpPr>
              <a:spLocks noChangeArrowheads="1"/>
            </p:cNvSpPr>
            <p:nvPr/>
          </p:nvSpPr>
          <p:spPr bwMode="auto">
            <a:xfrm>
              <a:off x="1474" y="2024"/>
              <a:ext cx="272" cy="272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/>
              <a:endParaRPr lang="zh-CN" altLang="en-US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2210" name="Text Box 79"/>
            <p:cNvSpPr txBox="1">
              <a:spLocks noChangeArrowheads="1"/>
            </p:cNvSpPr>
            <p:nvPr/>
          </p:nvSpPr>
          <p:spPr bwMode="auto">
            <a:xfrm>
              <a:off x="1474" y="1984"/>
              <a:ext cx="27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>
                  <a:latin typeface="Times New Roman" pitchFamily="18" charset="0"/>
                  <a:cs typeface="Times New Roman" pitchFamily="18" charset="0"/>
                </a:rPr>
                <a:t>0</a:t>
              </a:r>
            </a:p>
          </p:txBody>
        </p:sp>
      </p:grpSp>
      <p:sp>
        <p:nvSpPr>
          <p:cNvPr id="471123" name="Line 83"/>
          <p:cNvSpPr>
            <a:spLocks noChangeShapeType="1"/>
          </p:cNvSpPr>
          <p:nvPr/>
        </p:nvSpPr>
        <p:spPr bwMode="auto">
          <a:xfrm>
            <a:off x="1344613" y="5013325"/>
            <a:ext cx="779462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71124" name="Text Box 84"/>
          <p:cNvSpPr txBox="1">
            <a:spLocks noChangeArrowheads="1"/>
          </p:cNvSpPr>
          <p:nvPr/>
        </p:nvSpPr>
        <p:spPr bwMode="auto">
          <a:xfrm>
            <a:off x="1547813" y="4652963"/>
            <a:ext cx="6477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 b="1">
                <a:latin typeface="Times New Roman" pitchFamily="18" charset="0"/>
                <a:cs typeface="Times New Roman" pitchFamily="18" charset="0"/>
              </a:rPr>
              <a:t>T</a:t>
            </a:r>
          </a:p>
        </p:txBody>
      </p:sp>
      <p:sp>
        <p:nvSpPr>
          <p:cNvPr id="471125" name="Text Box 85"/>
          <p:cNvSpPr txBox="1">
            <a:spLocks noChangeArrowheads="1"/>
          </p:cNvSpPr>
          <p:nvPr/>
        </p:nvSpPr>
        <p:spPr bwMode="auto">
          <a:xfrm>
            <a:off x="179388" y="4652963"/>
            <a:ext cx="455612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r>
              <a:rPr kumimoji="1" lang="en-US" altLang="zh-CN" sz="3200" b="1">
                <a:latin typeface="Times New Roman" pitchFamily="18" charset="0"/>
                <a:cs typeface="Times New Roman" pitchFamily="18" charset="0"/>
              </a:rPr>
              <a:t>E</a:t>
            </a:r>
          </a:p>
        </p:txBody>
      </p:sp>
      <p:grpSp>
        <p:nvGrpSpPr>
          <p:cNvPr id="10" name="Group 86"/>
          <p:cNvGrpSpPr>
            <a:grpSpLocks/>
          </p:cNvGrpSpPr>
          <p:nvPr/>
        </p:nvGrpSpPr>
        <p:grpSpPr bwMode="auto">
          <a:xfrm>
            <a:off x="6862763" y="5141913"/>
            <a:ext cx="431800" cy="519112"/>
            <a:chOff x="1474" y="1984"/>
            <a:chExt cx="272" cy="327"/>
          </a:xfrm>
        </p:grpSpPr>
        <p:sp>
          <p:nvSpPr>
            <p:cNvPr id="92207" name="Oval 87"/>
            <p:cNvSpPr>
              <a:spLocks noChangeArrowheads="1"/>
            </p:cNvSpPr>
            <p:nvPr/>
          </p:nvSpPr>
          <p:spPr bwMode="auto">
            <a:xfrm>
              <a:off x="1474" y="2024"/>
              <a:ext cx="272" cy="272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/>
              <a:endParaRPr lang="zh-CN" altLang="en-US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2208" name="Text Box 88"/>
            <p:cNvSpPr txBox="1">
              <a:spLocks noChangeArrowheads="1"/>
            </p:cNvSpPr>
            <p:nvPr/>
          </p:nvSpPr>
          <p:spPr bwMode="auto">
            <a:xfrm>
              <a:off x="1474" y="1984"/>
              <a:ext cx="27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>
                  <a:latin typeface="Times New Roman" pitchFamily="18" charset="0"/>
                  <a:cs typeface="Times New Roman" pitchFamily="18" charset="0"/>
                </a:rPr>
                <a:t>3</a:t>
              </a:r>
            </a:p>
          </p:txBody>
        </p:sp>
      </p:grpSp>
      <p:sp>
        <p:nvSpPr>
          <p:cNvPr id="471136" name="Text Box 96"/>
          <p:cNvSpPr txBox="1">
            <a:spLocks noChangeArrowheads="1"/>
          </p:cNvSpPr>
          <p:nvPr/>
        </p:nvSpPr>
        <p:spPr bwMode="auto">
          <a:xfrm>
            <a:off x="6286500" y="4422775"/>
            <a:ext cx="6477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 b="1">
                <a:latin typeface="Times New Roman" pitchFamily="18" charset="0"/>
                <a:cs typeface="Times New Roman" pitchFamily="18" charset="0"/>
              </a:rPr>
              <a:t>+</a:t>
            </a:r>
          </a:p>
        </p:txBody>
      </p:sp>
      <p:sp>
        <p:nvSpPr>
          <p:cNvPr id="471139" name="Freeform 99"/>
          <p:cNvSpPr>
            <a:spLocks/>
          </p:cNvSpPr>
          <p:nvPr/>
        </p:nvSpPr>
        <p:spPr bwMode="auto">
          <a:xfrm>
            <a:off x="5854700" y="4768850"/>
            <a:ext cx="1296988" cy="446088"/>
          </a:xfrm>
          <a:custGeom>
            <a:avLst/>
            <a:gdLst>
              <a:gd name="T0" fmla="*/ 1296988 w 2495"/>
              <a:gd name="T1" fmla="*/ 446088 h 280"/>
              <a:gd name="T2" fmla="*/ 1226290 w 2495"/>
              <a:gd name="T3" fmla="*/ 86031 h 280"/>
              <a:gd name="T4" fmla="*/ 1132200 w 2495"/>
              <a:gd name="T5" fmla="*/ 12745 h 280"/>
              <a:gd name="T6" fmla="*/ 943500 w 2495"/>
              <a:gd name="T7" fmla="*/ 12745 h 280"/>
              <a:gd name="T8" fmla="*/ 660190 w 2495"/>
              <a:gd name="T9" fmla="*/ 12745 h 280"/>
              <a:gd name="T10" fmla="*/ 283310 w 2495"/>
              <a:gd name="T11" fmla="*/ 12745 h 280"/>
              <a:gd name="T12" fmla="*/ 188700 w 2495"/>
              <a:gd name="T13" fmla="*/ 12745 h 280"/>
              <a:gd name="T14" fmla="*/ 94610 w 2495"/>
              <a:gd name="T15" fmla="*/ 86031 h 280"/>
              <a:gd name="T16" fmla="*/ 47305 w 2495"/>
              <a:gd name="T17" fmla="*/ 229417 h 280"/>
              <a:gd name="T18" fmla="*/ 0 w 2495"/>
              <a:gd name="T19" fmla="*/ 446088 h 280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2495"/>
              <a:gd name="T31" fmla="*/ 0 h 280"/>
              <a:gd name="T32" fmla="*/ 2495 w 2495"/>
              <a:gd name="T33" fmla="*/ 280 h 280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2495" h="280">
                <a:moveTo>
                  <a:pt x="2495" y="280"/>
                </a:moveTo>
                <a:cubicBezTo>
                  <a:pt x="2453" y="189"/>
                  <a:pt x="2412" y="99"/>
                  <a:pt x="2359" y="54"/>
                </a:cubicBezTo>
                <a:cubicBezTo>
                  <a:pt x="2306" y="9"/>
                  <a:pt x="2269" y="16"/>
                  <a:pt x="2178" y="8"/>
                </a:cubicBezTo>
                <a:cubicBezTo>
                  <a:pt x="2087" y="0"/>
                  <a:pt x="1966" y="8"/>
                  <a:pt x="1815" y="8"/>
                </a:cubicBezTo>
                <a:cubicBezTo>
                  <a:pt x="1664" y="8"/>
                  <a:pt x="1482" y="8"/>
                  <a:pt x="1270" y="8"/>
                </a:cubicBezTo>
                <a:cubicBezTo>
                  <a:pt x="1058" y="8"/>
                  <a:pt x="696" y="8"/>
                  <a:pt x="545" y="8"/>
                </a:cubicBezTo>
                <a:cubicBezTo>
                  <a:pt x="394" y="8"/>
                  <a:pt x="423" y="0"/>
                  <a:pt x="363" y="8"/>
                </a:cubicBezTo>
                <a:cubicBezTo>
                  <a:pt x="303" y="16"/>
                  <a:pt x="227" y="31"/>
                  <a:pt x="182" y="54"/>
                </a:cubicBezTo>
                <a:cubicBezTo>
                  <a:pt x="137" y="77"/>
                  <a:pt x="121" y="107"/>
                  <a:pt x="91" y="144"/>
                </a:cubicBezTo>
                <a:cubicBezTo>
                  <a:pt x="61" y="181"/>
                  <a:pt x="30" y="230"/>
                  <a:pt x="0" y="280"/>
                </a:cubicBezTo>
              </a:path>
            </a:pathLst>
          </a:cu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11" name="Group 101"/>
          <p:cNvGrpSpPr>
            <a:grpSpLocks/>
          </p:cNvGrpSpPr>
          <p:nvPr/>
        </p:nvGrpSpPr>
        <p:grpSpPr bwMode="auto">
          <a:xfrm>
            <a:off x="5651500" y="5141913"/>
            <a:ext cx="431800" cy="519112"/>
            <a:chOff x="1474" y="1984"/>
            <a:chExt cx="272" cy="327"/>
          </a:xfrm>
        </p:grpSpPr>
        <p:sp>
          <p:nvSpPr>
            <p:cNvPr id="92205" name="Oval 102"/>
            <p:cNvSpPr>
              <a:spLocks noChangeArrowheads="1"/>
            </p:cNvSpPr>
            <p:nvPr/>
          </p:nvSpPr>
          <p:spPr bwMode="auto">
            <a:xfrm>
              <a:off x="1474" y="2024"/>
              <a:ext cx="272" cy="272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/>
              <a:endParaRPr lang="zh-CN" altLang="en-US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2206" name="Text Box 103"/>
            <p:cNvSpPr txBox="1">
              <a:spLocks noChangeArrowheads="1"/>
            </p:cNvSpPr>
            <p:nvPr/>
          </p:nvSpPr>
          <p:spPr bwMode="auto">
            <a:xfrm>
              <a:off x="1474" y="1984"/>
              <a:ext cx="27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>
                  <a:latin typeface="Times New Roman" pitchFamily="18" charset="0"/>
                  <a:cs typeface="Times New Roman" pitchFamily="18" charset="0"/>
                </a:rPr>
                <a:t>0</a:t>
              </a:r>
            </a:p>
          </p:txBody>
        </p:sp>
      </p:grpSp>
      <p:sp>
        <p:nvSpPr>
          <p:cNvPr id="471144" name="Line 104"/>
          <p:cNvSpPr>
            <a:spLocks noChangeShapeType="1"/>
          </p:cNvSpPr>
          <p:nvPr/>
        </p:nvSpPr>
        <p:spPr bwMode="auto">
          <a:xfrm>
            <a:off x="6083300" y="5430838"/>
            <a:ext cx="779463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71145" name="Text Box 105"/>
          <p:cNvSpPr txBox="1">
            <a:spLocks noChangeArrowheads="1"/>
          </p:cNvSpPr>
          <p:nvPr/>
        </p:nvSpPr>
        <p:spPr bwMode="auto">
          <a:xfrm>
            <a:off x="6286500" y="5070475"/>
            <a:ext cx="6477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 b="1">
                <a:latin typeface="Times New Roman" pitchFamily="18" charset="0"/>
                <a:cs typeface="Times New Roman" pitchFamily="18" charset="0"/>
              </a:rPr>
              <a:t>T</a:t>
            </a:r>
          </a:p>
        </p:txBody>
      </p:sp>
      <p:sp>
        <p:nvSpPr>
          <p:cNvPr id="471146" name="AutoShape 106"/>
          <p:cNvSpPr>
            <a:spLocks noChangeArrowheads="1"/>
          </p:cNvSpPr>
          <p:nvPr/>
        </p:nvSpPr>
        <p:spPr bwMode="auto">
          <a:xfrm>
            <a:off x="4356100" y="5013325"/>
            <a:ext cx="1079500" cy="792163"/>
          </a:xfrm>
          <a:prstGeom prst="rightArrow">
            <a:avLst>
              <a:gd name="adj1" fmla="val 50000"/>
              <a:gd name="adj2" fmla="val 34068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12" name="Group 107"/>
          <p:cNvGrpSpPr>
            <a:grpSpLocks/>
          </p:cNvGrpSpPr>
          <p:nvPr/>
        </p:nvGrpSpPr>
        <p:grpSpPr bwMode="auto">
          <a:xfrm>
            <a:off x="8172450" y="5157788"/>
            <a:ext cx="431800" cy="519112"/>
            <a:chOff x="1474" y="1984"/>
            <a:chExt cx="272" cy="315"/>
          </a:xfrm>
        </p:grpSpPr>
        <p:sp>
          <p:nvSpPr>
            <p:cNvPr id="92203" name="Oval 108"/>
            <p:cNvSpPr>
              <a:spLocks noChangeArrowheads="1"/>
            </p:cNvSpPr>
            <p:nvPr/>
          </p:nvSpPr>
          <p:spPr bwMode="auto">
            <a:xfrm>
              <a:off x="1474" y="2024"/>
              <a:ext cx="272" cy="272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/>
              <a:endParaRPr lang="zh-CN" altLang="en-US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2204" name="Text Box 109"/>
            <p:cNvSpPr txBox="1">
              <a:spLocks noChangeArrowheads="1"/>
            </p:cNvSpPr>
            <p:nvPr/>
          </p:nvSpPr>
          <p:spPr bwMode="auto">
            <a:xfrm>
              <a:off x="1474" y="1984"/>
              <a:ext cx="272" cy="3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>
                  <a:latin typeface="Times New Roman" pitchFamily="18" charset="0"/>
                  <a:cs typeface="Times New Roman" pitchFamily="18" charset="0"/>
                </a:rPr>
                <a:t>6</a:t>
              </a:r>
            </a:p>
          </p:txBody>
        </p:sp>
      </p:grpSp>
      <p:sp>
        <p:nvSpPr>
          <p:cNvPr id="471151" name="Text Box 111"/>
          <p:cNvSpPr txBox="1">
            <a:spLocks noChangeArrowheads="1"/>
          </p:cNvSpPr>
          <p:nvPr/>
        </p:nvSpPr>
        <p:spPr bwMode="auto">
          <a:xfrm>
            <a:off x="7451725" y="5013325"/>
            <a:ext cx="6477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kumimoji="1" lang="en-US" altLang="zh-CN" sz="28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Times New Roman" pitchFamily="18" charset="0"/>
              </a:rPr>
              <a:t>ε</a:t>
            </a:r>
          </a:p>
        </p:txBody>
      </p:sp>
      <p:sp>
        <p:nvSpPr>
          <p:cNvPr id="471152" name="Line 112"/>
          <p:cNvSpPr>
            <a:spLocks noChangeShapeType="1"/>
          </p:cNvSpPr>
          <p:nvPr/>
        </p:nvSpPr>
        <p:spPr bwMode="auto">
          <a:xfrm>
            <a:off x="7307263" y="5445125"/>
            <a:ext cx="936625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2"/>
          <p:cNvSpPr>
            <a:spLocks noGrp="1" noChangeArrowheads="1"/>
          </p:cNvSpPr>
          <p:nvPr>
            <p:ph type="title"/>
          </p:nvPr>
        </p:nvSpPr>
        <p:spPr>
          <a:xfrm>
            <a:off x="301625" y="260350"/>
            <a:ext cx="8540750" cy="1143000"/>
          </a:xfrm>
        </p:spPr>
        <p:txBody>
          <a:bodyPr/>
          <a:lstStyle/>
          <a:p>
            <a:pPr eaLnBrk="1" hangingPunct="1"/>
            <a:r>
              <a:rPr lang="zh-CN" altLang="en-US" b="1" smtClean="0">
                <a:solidFill>
                  <a:srgbClr val="000099"/>
                </a:solidFill>
                <a:latin typeface="Times New Roman" pitchFamily="18" charset="0"/>
                <a:ea typeface="华文新魏" pitchFamily="2" charset="-122"/>
                <a:cs typeface="Times New Roman" pitchFamily="18" charset="0"/>
              </a:rPr>
              <a:t>简化的语法图</a:t>
            </a:r>
          </a:p>
        </p:txBody>
      </p:sp>
      <p:sp>
        <p:nvSpPr>
          <p:cNvPr id="93187" name="日期占位符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466EE55A-E8D2-42DE-9B53-B6DBB63D6C72}" type="datetime1">
              <a:rPr lang="zh-CN" altLang="en-US" smtClean="0"/>
              <a:pPr eaLnBrk="1" hangingPunct="1"/>
              <a:t>2017/2/24</a:t>
            </a:fld>
            <a:endParaRPr lang="en-US" altLang="zh-CN" smtClean="0"/>
          </a:p>
        </p:txBody>
      </p:sp>
      <p:sp>
        <p:nvSpPr>
          <p:cNvPr id="93188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7D8364B3-F66A-4D8D-B94B-B17F00A2027D}" type="slidenum">
              <a:rPr lang="zh-CN" altLang="en-US" smtClean="0"/>
              <a:pPr eaLnBrk="1" hangingPunct="1"/>
              <a:t>80</a:t>
            </a:fld>
            <a:endParaRPr lang="en-US" altLang="zh-CN" smtClean="0"/>
          </a:p>
        </p:txBody>
      </p:sp>
      <p:sp>
        <p:nvSpPr>
          <p:cNvPr id="472069" name="Rectangle 5"/>
          <p:cNvSpPr>
            <a:spLocks noChangeArrowheads="1"/>
          </p:cNvSpPr>
          <p:nvPr/>
        </p:nvSpPr>
        <p:spPr bwMode="auto">
          <a:xfrm>
            <a:off x="6086475" y="2349500"/>
            <a:ext cx="2157413" cy="628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>
            <a:spAutoFit/>
          </a:bodyPr>
          <a:lstStyle/>
          <a:p>
            <a:pPr eaLnBrk="0" hangingPunct="0">
              <a:lnSpc>
                <a:spcPct val="110000"/>
              </a:lnSpc>
              <a:spcBef>
                <a:spcPct val="20000"/>
              </a:spcBef>
              <a:buClr>
                <a:schemeClr val="folHlink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32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Times New Roman" pitchFamily="18" charset="0"/>
              </a:rPr>
              <a:t>E→T(+T)</a:t>
            </a:r>
            <a:r>
              <a:rPr kumimoji="1" lang="en-US" altLang="zh-CN" sz="3200" b="1" baseline="30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Times New Roman" pitchFamily="18" charset="0"/>
              </a:rPr>
              <a:t>*</a:t>
            </a:r>
            <a:endParaRPr kumimoji="1" lang="en-US" altLang="zh-CN" sz="3200" b="1">
              <a:effectLst>
                <a:outerShdw blurRad="38100" dist="38100" dir="2700000" algn="tl">
                  <a:srgbClr val="C0C0C0"/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72070" name="Rectangle 6"/>
          <p:cNvSpPr>
            <a:spLocks noChangeArrowheads="1"/>
          </p:cNvSpPr>
          <p:nvPr/>
        </p:nvSpPr>
        <p:spPr bwMode="auto">
          <a:xfrm>
            <a:off x="6084888" y="3736975"/>
            <a:ext cx="2152650" cy="628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>
            <a:spAutoFit/>
          </a:bodyPr>
          <a:lstStyle/>
          <a:p>
            <a:pPr eaLnBrk="0" hangingPunct="0">
              <a:lnSpc>
                <a:spcPct val="110000"/>
              </a:lnSpc>
              <a:spcBef>
                <a:spcPct val="20000"/>
              </a:spcBef>
              <a:buClr>
                <a:schemeClr val="folHlink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32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Times New Roman" pitchFamily="18" charset="0"/>
              </a:rPr>
              <a:t>T→F(*F)</a:t>
            </a:r>
            <a:r>
              <a:rPr kumimoji="1" lang="en-US" altLang="zh-CN" sz="3200" b="1" baseline="30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Times New Roman" pitchFamily="18" charset="0"/>
              </a:rPr>
              <a:t>*</a:t>
            </a:r>
            <a:endParaRPr kumimoji="1" lang="en-US" altLang="zh-CN" sz="3200" b="1">
              <a:effectLst>
                <a:outerShdw blurRad="38100" dist="38100" dir="2700000" algn="tl">
                  <a:srgbClr val="C0C0C0"/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72071" name="Text Box 7"/>
          <p:cNvSpPr txBox="1">
            <a:spLocks noChangeArrowheads="1"/>
          </p:cNvSpPr>
          <p:nvPr/>
        </p:nvSpPr>
        <p:spPr bwMode="auto">
          <a:xfrm>
            <a:off x="6227763" y="5876925"/>
            <a:ext cx="2089150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32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Times New Roman" pitchFamily="18" charset="0"/>
              </a:rPr>
              <a:t>F→(E)|id</a:t>
            </a:r>
            <a:endParaRPr lang="zh-CN" altLang="en-US" sz="32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72092" name="Text Box 28"/>
          <p:cNvSpPr txBox="1">
            <a:spLocks noChangeArrowheads="1"/>
          </p:cNvSpPr>
          <p:nvPr/>
        </p:nvSpPr>
        <p:spPr bwMode="auto">
          <a:xfrm>
            <a:off x="539750" y="2287588"/>
            <a:ext cx="455613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r>
              <a:rPr kumimoji="1" lang="en-US" altLang="zh-CN" sz="3200" b="1">
                <a:latin typeface="Times New Roman" pitchFamily="18" charset="0"/>
                <a:cs typeface="Times New Roman" pitchFamily="18" charset="0"/>
              </a:rPr>
              <a:t>E</a:t>
            </a:r>
          </a:p>
        </p:txBody>
      </p:sp>
      <p:sp>
        <p:nvSpPr>
          <p:cNvPr id="472108" name="Text Box 44"/>
          <p:cNvSpPr txBox="1">
            <a:spLocks noChangeArrowheads="1"/>
          </p:cNvSpPr>
          <p:nvPr/>
        </p:nvSpPr>
        <p:spPr bwMode="auto">
          <a:xfrm>
            <a:off x="539750" y="3727450"/>
            <a:ext cx="455613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r>
              <a:rPr kumimoji="1" lang="en-US" altLang="zh-CN" sz="3200" b="1">
                <a:latin typeface="Times New Roman" pitchFamily="18" charset="0"/>
                <a:cs typeface="Times New Roman" pitchFamily="18" charset="0"/>
              </a:rPr>
              <a:t>T</a:t>
            </a:r>
          </a:p>
        </p:txBody>
      </p:sp>
      <p:grpSp>
        <p:nvGrpSpPr>
          <p:cNvPr id="2" name="Group 65"/>
          <p:cNvGrpSpPr>
            <a:grpSpLocks/>
          </p:cNvGrpSpPr>
          <p:nvPr/>
        </p:nvGrpSpPr>
        <p:grpSpPr bwMode="auto">
          <a:xfrm>
            <a:off x="3132138" y="2287588"/>
            <a:ext cx="431800" cy="519112"/>
            <a:chOff x="1474" y="1984"/>
            <a:chExt cx="272" cy="327"/>
          </a:xfrm>
        </p:grpSpPr>
        <p:sp>
          <p:nvSpPr>
            <p:cNvPr id="93243" name="Oval 66"/>
            <p:cNvSpPr>
              <a:spLocks noChangeArrowheads="1"/>
            </p:cNvSpPr>
            <p:nvPr/>
          </p:nvSpPr>
          <p:spPr bwMode="auto">
            <a:xfrm>
              <a:off x="1474" y="2024"/>
              <a:ext cx="272" cy="272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/>
              <a:endParaRPr lang="zh-CN" altLang="en-US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3244" name="Text Box 67"/>
            <p:cNvSpPr txBox="1">
              <a:spLocks noChangeArrowheads="1"/>
            </p:cNvSpPr>
            <p:nvPr/>
          </p:nvSpPr>
          <p:spPr bwMode="auto">
            <a:xfrm>
              <a:off x="1474" y="1984"/>
              <a:ext cx="27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>
                  <a:latin typeface="Times New Roman" pitchFamily="18" charset="0"/>
                  <a:cs typeface="Times New Roman" pitchFamily="18" charset="0"/>
                </a:rPr>
                <a:t>3</a:t>
              </a:r>
            </a:p>
          </p:txBody>
        </p:sp>
      </p:grpSp>
      <p:sp>
        <p:nvSpPr>
          <p:cNvPr id="472132" name="Text Box 68"/>
          <p:cNvSpPr txBox="1">
            <a:spLocks noChangeArrowheads="1"/>
          </p:cNvSpPr>
          <p:nvPr/>
        </p:nvSpPr>
        <p:spPr bwMode="auto">
          <a:xfrm>
            <a:off x="2555875" y="1568450"/>
            <a:ext cx="6477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 b="1">
                <a:latin typeface="Times New Roman" pitchFamily="18" charset="0"/>
                <a:cs typeface="Times New Roman" pitchFamily="18" charset="0"/>
              </a:rPr>
              <a:t>+</a:t>
            </a:r>
          </a:p>
        </p:txBody>
      </p:sp>
      <p:sp>
        <p:nvSpPr>
          <p:cNvPr id="472133" name="Freeform 69"/>
          <p:cNvSpPr>
            <a:spLocks/>
          </p:cNvSpPr>
          <p:nvPr/>
        </p:nvSpPr>
        <p:spPr bwMode="auto">
          <a:xfrm>
            <a:off x="2124075" y="1914525"/>
            <a:ext cx="1296988" cy="446088"/>
          </a:xfrm>
          <a:custGeom>
            <a:avLst/>
            <a:gdLst>
              <a:gd name="T0" fmla="*/ 1296988 w 2495"/>
              <a:gd name="T1" fmla="*/ 446088 h 280"/>
              <a:gd name="T2" fmla="*/ 1226290 w 2495"/>
              <a:gd name="T3" fmla="*/ 86031 h 280"/>
              <a:gd name="T4" fmla="*/ 1132200 w 2495"/>
              <a:gd name="T5" fmla="*/ 12745 h 280"/>
              <a:gd name="T6" fmla="*/ 943500 w 2495"/>
              <a:gd name="T7" fmla="*/ 12745 h 280"/>
              <a:gd name="T8" fmla="*/ 660190 w 2495"/>
              <a:gd name="T9" fmla="*/ 12745 h 280"/>
              <a:gd name="T10" fmla="*/ 283310 w 2495"/>
              <a:gd name="T11" fmla="*/ 12745 h 280"/>
              <a:gd name="T12" fmla="*/ 188700 w 2495"/>
              <a:gd name="T13" fmla="*/ 12745 h 280"/>
              <a:gd name="T14" fmla="*/ 94610 w 2495"/>
              <a:gd name="T15" fmla="*/ 86031 h 280"/>
              <a:gd name="T16" fmla="*/ 47305 w 2495"/>
              <a:gd name="T17" fmla="*/ 229417 h 280"/>
              <a:gd name="T18" fmla="*/ 0 w 2495"/>
              <a:gd name="T19" fmla="*/ 446088 h 280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2495"/>
              <a:gd name="T31" fmla="*/ 0 h 280"/>
              <a:gd name="T32" fmla="*/ 2495 w 2495"/>
              <a:gd name="T33" fmla="*/ 280 h 280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2495" h="280">
                <a:moveTo>
                  <a:pt x="2495" y="280"/>
                </a:moveTo>
                <a:cubicBezTo>
                  <a:pt x="2453" y="189"/>
                  <a:pt x="2412" y="99"/>
                  <a:pt x="2359" y="54"/>
                </a:cubicBezTo>
                <a:cubicBezTo>
                  <a:pt x="2306" y="9"/>
                  <a:pt x="2269" y="16"/>
                  <a:pt x="2178" y="8"/>
                </a:cubicBezTo>
                <a:cubicBezTo>
                  <a:pt x="2087" y="0"/>
                  <a:pt x="1966" y="8"/>
                  <a:pt x="1815" y="8"/>
                </a:cubicBezTo>
                <a:cubicBezTo>
                  <a:pt x="1664" y="8"/>
                  <a:pt x="1482" y="8"/>
                  <a:pt x="1270" y="8"/>
                </a:cubicBezTo>
                <a:cubicBezTo>
                  <a:pt x="1058" y="8"/>
                  <a:pt x="696" y="8"/>
                  <a:pt x="545" y="8"/>
                </a:cubicBezTo>
                <a:cubicBezTo>
                  <a:pt x="394" y="8"/>
                  <a:pt x="423" y="0"/>
                  <a:pt x="363" y="8"/>
                </a:cubicBezTo>
                <a:cubicBezTo>
                  <a:pt x="303" y="16"/>
                  <a:pt x="227" y="31"/>
                  <a:pt x="182" y="54"/>
                </a:cubicBezTo>
                <a:cubicBezTo>
                  <a:pt x="137" y="77"/>
                  <a:pt x="121" y="107"/>
                  <a:pt x="91" y="144"/>
                </a:cubicBezTo>
                <a:cubicBezTo>
                  <a:pt x="61" y="181"/>
                  <a:pt x="30" y="230"/>
                  <a:pt x="0" y="280"/>
                </a:cubicBezTo>
              </a:path>
            </a:pathLst>
          </a:cu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3" name="Group 70"/>
          <p:cNvGrpSpPr>
            <a:grpSpLocks/>
          </p:cNvGrpSpPr>
          <p:nvPr/>
        </p:nvGrpSpPr>
        <p:grpSpPr bwMode="auto">
          <a:xfrm>
            <a:off x="1920875" y="2287588"/>
            <a:ext cx="431800" cy="519112"/>
            <a:chOff x="1474" y="1984"/>
            <a:chExt cx="272" cy="327"/>
          </a:xfrm>
        </p:grpSpPr>
        <p:sp>
          <p:nvSpPr>
            <p:cNvPr id="93241" name="Oval 71"/>
            <p:cNvSpPr>
              <a:spLocks noChangeArrowheads="1"/>
            </p:cNvSpPr>
            <p:nvPr/>
          </p:nvSpPr>
          <p:spPr bwMode="auto">
            <a:xfrm>
              <a:off x="1474" y="2024"/>
              <a:ext cx="272" cy="272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/>
              <a:endParaRPr lang="zh-CN" altLang="en-US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3242" name="Text Box 72"/>
            <p:cNvSpPr txBox="1">
              <a:spLocks noChangeArrowheads="1"/>
            </p:cNvSpPr>
            <p:nvPr/>
          </p:nvSpPr>
          <p:spPr bwMode="auto">
            <a:xfrm>
              <a:off x="1474" y="1984"/>
              <a:ext cx="27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>
                  <a:latin typeface="Times New Roman" pitchFamily="18" charset="0"/>
                  <a:cs typeface="Times New Roman" pitchFamily="18" charset="0"/>
                </a:rPr>
                <a:t>0</a:t>
              </a:r>
            </a:p>
          </p:txBody>
        </p:sp>
      </p:grpSp>
      <p:sp>
        <p:nvSpPr>
          <p:cNvPr id="472137" name="Line 73"/>
          <p:cNvSpPr>
            <a:spLocks noChangeShapeType="1"/>
          </p:cNvSpPr>
          <p:nvPr/>
        </p:nvSpPr>
        <p:spPr bwMode="auto">
          <a:xfrm>
            <a:off x="2352675" y="2576513"/>
            <a:ext cx="779463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72138" name="Text Box 74"/>
          <p:cNvSpPr txBox="1">
            <a:spLocks noChangeArrowheads="1"/>
          </p:cNvSpPr>
          <p:nvPr/>
        </p:nvSpPr>
        <p:spPr bwMode="auto">
          <a:xfrm>
            <a:off x="2555875" y="2216150"/>
            <a:ext cx="6477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 b="1">
                <a:latin typeface="Times New Roman" pitchFamily="18" charset="0"/>
                <a:cs typeface="Times New Roman" pitchFamily="18" charset="0"/>
              </a:rPr>
              <a:t>T</a:t>
            </a:r>
          </a:p>
        </p:txBody>
      </p:sp>
      <p:grpSp>
        <p:nvGrpSpPr>
          <p:cNvPr id="4" name="Group 75"/>
          <p:cNvGrpSpPr>
            <a:grpSpLocks/>
          </p:cNvGrpSpPr>
          <p:nvPr/>
        </p:nvGrpSpPr>
        <p:grpSpPr bwMode="auto">
          <a:xfrm>
            <a:off x="4441825" y="2303463"/>
            <a:ext cx="431800" cy="519112"/>
            <a:chOff x="1474" y="1984"/>
            <a:chExt cx="272" cy="315"/>
          </a:xfrm>
        </p:grpSpPr>
        <p:sp>
          <p:nvSpPr>
            <p:cNvPr id="93239" name="Oval 76"/>
            <p:cNvSpPr>
              <a:spLocks noChangeArrowheads="1"/>
            </p:cNvSpPr>
            <p:nvPr/>
          </p:nvSpPr>
          <p:spPr bwMode="auto">
            <a:xfrm>
              <a:off x="1474" y="2024"/>
              <a:ext cx="272" cy="272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/>
              <a:endParaRPr lang="zh-CN" altLang="en-US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3240" name="Text Box 77"/>
            <p:cNvSpPr txBox="1">
              <a:spLocks noChangeArrowheads="1"/>
            </p:cNvSpPr>
            <p:nvPr/>
          </p:nvSpPr>
          <p:spPr bwMode="auto">
            <a:xfrm>
              <a:off x="1474" y="1984"/>
              <a:ext cx="272" cy="3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>
                  <a:latin typeface="Times New Roman" pitchFamily="18" charset="0"/>
                  <a:cs typeface="Times New Roman" pitchFamily="18" charset="0"/>
                </a:rPr>
                <a:t>6</a:t>
              </a:r>
            </a:p>
          </p:txBody>
        </p:sp>
      </p:grpSp>
      <p:sp>
        <p:nvSpPr>
          <p:cNvPr id="472142" name="Text Box 78"/>
          <p:cNvSpPr txBox="1">
            <a:spLocks noChangeArrowheads="1"/>
          </p:cNvSpPr>
          <p:nvPr/>
        </p:nvSpPr>
        <p:spPr bwMode="auto">
          <a:xfrm>
            <a:off x="3721100" y="2159000"/>
            <a:ext cx="6477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kumimoji="1" lang="en-US" altLang="zh-CN" sz="28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Times New Roman" pitchFamily="18" charset="0"/>
              </a:rPr>
              <a:t>ε</a:t>
            </a:r>
          </a:p>
        </p:txBody>
      </p:sp>
      <p:sp>
        <p:nvSpPr>
          <p:cNvPr id="472143" name="Line 79"/>
          <p:cNvSpPr>
            <a:spLocks noChangeShapeType="1"/>
          </p:cNvSpPr>
          <p:nvPr/>
        </p:nvSpPr>
        <p:spPr bwMode="auto">
          <a:xfrm>
            <a:off x="3576638" y="2590800"/>
            <a:ext cx="936625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5" name="Group 80"/>
          <p:cNvGrpSpPr>
            <a:grpSpLocks/>
          </p:cNvGrpSpPr>
          <p:nvPr/>
        </p:nvGrpSpPr>
        <p:grpSpPr bwMode="auto">
          <a:xfrm>
            <a:off x="3060700" y="3798888"/>
            <a:ext cx="574675" cy="519112"/>
            <a:chOff x="1474" y="1984"/>
            <a:chExt cx="272" cy="327"/>
          </a:xfrm>
        </p:grpSpPr>
        <p:sp>
          <p:nvSpPr>
            <p:cNvPr id="93237" name="Oval 81"/>
            <p:cNvSpPr>
              <a:spLocks noChangeArrowheads="1"/>
            </p:cNvSpPr>
            <p:nvPr/>
          </p:nvSpPr>
          <p:spPr bwMode="auto">
            <a:xfrm>
              <a:off x="1474" y="2024"/>
              <a:ext cx="272" cy="272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/>
              <a:endParaRPr lang="zh-CN" altLang="en-US" sz="280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3238" name="Text Box 82"/>
            <p:cNvSpPr txBox="1">
              <a:spLocks noChangeArrowheads="1"/>
            </p:cNvSpPr>
            <p:nvPr/>
          </p:nvSpPr>
          <p:spPr bwMode="auto">
            <a:xfrm>
              <a:off x="1474" y="1984"/>
              <a:ext cx="27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>
                  <a:latin typeface="Times New Roman" pitchFamily="18" charset="0"/>
                  <a:cs typeface="Times New Roman" pitchFamily="18" charset="0"/>
                </a:rPr>
                <a:t>10</a:t>
              </a:r>
            </a:p>
          </p:txBody>
        </p:sp>
      </p:grpSp>
      <p:sp>
        <p:nvSpPr>
          <p:cNvPr id="472147" name="Text Box 83"/>
          <p:cNvSpPr txBox="1">
            <a:spLocks noChangeArrowheads="1"/>
          </p:cNvSpPr>
          <p:nvPr/>
        </p:nvSpPr>
        <p:spPr bwMode="auto">
          <a:xfrm>
            <a:off x="2484438" y="3079750"/>
            <a:ext cx="6477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 b="1">
                <a:latin typeface="Times New Roman" pitchFamily="18" charset="0"/>
                <a:cs typeface="Times New Roman" pitchFamily="18" charset="0"/>
              </a:rPr>
              <a:t>*</a:t>
            </a:r>
          </a:p>
        </p:txBody>
      </p:sp>
      <p:sp>
        <p:nvSpPr>
          <p:cNvPr id="472148" name="Freeform 84"/>
          <p:cNvSpPr>
            <a:spLocks/>
          </p:cNvSpPr>
          <p:nvPr/>
        </p:nvSpPr>
        <p:spPr bwMode="auto">
          <a:xfrm>
            <a:off x="2052638" y="3425825"/>
            <a:ext cx="1296987" cy="446088"/>
          </a:xfrm>
          <a:custGeom>
            <a:avLst/>
            <a:gdLst>
              <a:gd name="T0" fmla="*/ 1296987 w 2495"/>
              <a:gd name="T1" fmla="*/ 446088 h 280"/>
              <a:gd name="T2" fmla="*/ 1226290 w 2495"/>
              <a:gd name="T3" fmla="*/ 86031 h 280"/>
              <a:gd name="T4" fmla="*/ 1132200 w 2495"/>
              <a:gd name="T5" fmla="*/ 12745 h 280"/>
              <a:gd name="T6" fmla="*/ 943499 w 2495"/>
              <a:gd name="T7" fmla="*/ 12745 h 280"/>
              <a:gd name="T8" fmla="*/ 660190 w 2495"/>
              <a:gd name="T9" fmla="*/ 12745 h 280"/>
              <a:gd name="T10" fmla="*/ 283310 w 2495"/>
              <a:gd name="T11" fmla="*/ 12745 h 280"/>
              <a:gd name="T12" fmla="*/ 188700 w 2495"/>
              <a:gd name="T13" fmla="*/ 12745 h 280"/>
              <a:gd name="T14" fmla="*/ 94610 w 2495"/>
              <a:gd name="T15" fmla="*/ 86031 h 280"/>
              <a:gd name="T16" fmla="*/ 47305 w 2495"/>
              <a:gd name="T17" fmla="*/ 229417 h 280"/>
              <a:gd name="T18" fmla="*/ 0 w 2495"/>
              <a:gd name="T19" fmla="*/ 446088 h 280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2495"/>
              <a:gd name="T31" fmla="*/ 0 h 280"/>
              <a:gd name="T32" fmla="*/ 2495 w 2495"/>
              <a:gd name="T33" fmla="*/ 280 h 280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2495" h="280">
                <a:moveTo>
                  <a:pt x="2495" y="280"/>
                </a:moveTo>
                <a:cubicBezTo>
                  <a:pt x="2453" y="189"/>
                  <a:pt x="2412" y="99"/>
                  <a:pt x="2359" y="54"/>
                </a:cubicBezTo>
                <a:cubicBezTo>
                  <a:pt x="2306" y="9"/>
                  <a:pt x="2269" y="16"/>
                  <a:pt x="2178" y="8"/>
                </a:cubicBezTo>
                <a:cubicBezTo>
                  <a:pt x="2087" y="0"/>
                  <a:pt x="1966" y="8"/>
                  <a:pt x="1815" y="8"/>
                </a:cubicBezTo>
                <a:cubicBezTo>
                  <a:pt x="1664" y="8"/>
                  <a:pt x="1482" y="8"/>
                  <a:pt x="1270" y="8"/>
                </a:cubicBezTo>
                <a:cubicBezTo>
                  <a:pt x="1058" y="8"/>
                  <a:pt x="696" y="8"/>
                  <a:pt x="545" y="8"/>
                </a:cubicBezTo>
                <a:cubicBezTo>
                  <a:pt x="394" y="8"/>
                  <a:pt x="423" y="0"/>
                  <a:pt x="363" y="8"/>
                </a:cubicBezTo>
                <a:cubicBezTo>
                  <a:pt x="303" y="16"/>
                  <a:pt x="227" y="31"/>
                  <a:pt x="182" y="54"/>
                </a:cubicBezTo>
                <a:cubicBezTo>
                  <a:pt x="137" y="77"/>
                  <a:pt x="121" y="107"/>
                  <a:pt x="91" y="144"/>
                </a:cubicBezTo>
                <a:cubicBezTo>
                  <a:pt x="61" y="181"/>
                  <a:pt x="30" y="230"/>
                  <a:pt x="0" y="280"/>
                </a:cubicBezTo>
              </a:path>
            </a:pathLst>
          </a:cu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6" name="Group 85"/>
          <p:cNvGrpSpPr>
            <a:grpSpLocks/>
          </p:cNvGrpSpPr>
          <p:nvPr/>
        </p:nvGrpSpPr>
        <p:grpSpPr bwMode="auto">
          <a:xfrm>
            <a:off x="1849438" y="3798888"/>
            <a:ext cx="431800" cy="519112"/>
            <a:chOff x="1474" y="1984"/>
            <a:chExt cx="272" cy="327"/>
          </a:xfrm>
        </p:grpSpPr>
        <p:sp>
          <p:nvSpPr>
            <p:cNvPr id="93235" name="Oval 86"/>
            <p:cNvSpPr>
              <a:spLocks noChangeArrowheads="1"/>
            </p:cNvSpPr>
            <p:nvPr/>
          </p:nvSpPr>
          <p:spPr bwMode="auto">
            <a:xfrm>
              <a:off x="1474" y="2024"/>
              <a:ext cx="272" cy="272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/>
              <a:endParaRPr lang="zh-CN" altLang="en-US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3236" name="Text Box 87"/>
            <p:cNvSpPr txBox="1">
              <a:spLocks noChangeArrowheads="1"/>
            </p:cNvSpPr>
            <p:nvPr/>
          </p:nvSpPr>
          <p:spPr bwMode="auto">
            <a:xfrm>
              <a:off x="1474" y="1984"/>
              <a:ext cx="27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>
                  <a:latin typeface="Times New Roman" pitchFamily="18" charset="0"/>
                  <a:cs typeface="Times New Roman" pitchFamily="18" charset="0"/>
                </a:rPr>
                <a:t>7</a:t>
              </a:r>
            </a:p>
          </p:txBody>
        </p:sp>
      </p:grpSp>
      <p:sp>
        <p:nvSpPr>
          <p:cNvPr id="472152" name="Line 88"/>
          <p:cNvSpPr>
            <a:spLocks noChangeShapeType="1"/>
          </p:cNvSpPr>
          <p:nvPr/>
        </p:nvSpPr>
        <p:spPr bwMode="auto">
          <a:xfrm>
            <a:off x="2281238" y="4087813"/>
            <a:ext cx="779462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72153" name="Text Box 89"/>
          <p:cNvSpPr txBox="1">
            <a:spLocks noChangeArrowheads="1"/>
          </p:cNvSpPr>
          <p:nvPr/>
        </p:nvSpPr>
        <p:spPr bwMode="auto">
          <a:xfrm>
            <a:off x="2484438" y="3727450"/>
            <a:ext cx="6477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 b="1">
                <a:latin typeface="Times New Roman" pitchFamily="18" charset="0"/>
                <a:cs typeface="Times New Roman" pitchFamily="18" charset="0"/>
              </a:rPr>
              <a:t>F</a:t>
            </a:r>
          </a:p>
        </p:txBody>
      </p:sp>
      <p:grpSp>
        <p:nvGrpSpPr>
          <p:cNvPr id="7" name="Group 90"/>
          <p:cNvGrpSpPr>
            <a:grpSpLocks/>
          </p:cNvGrpSpPr>
          <p:nvPr/>
        </p:nvGrpSpPr>
        <p:grpSpPr bwMode="auto">
          <a:xfrm>
            <a:off x="4370388" y="3814763"/>
            <a:ext cx="633412" cy="519112"/>
            <a:chOff x="1474" y="1984"/>
            <a:chExt cx="272" cy="315"/>
          </a:xfrm>
        </p:grpSpPr>
        <p:sp>
          <p:nvSpPr>
            <p:cNvPr id="93233" name="Oval 91"/>
            <p:cNvSpPr>
              <a:spLocks noChangeArrowheads="1"/>
            </p:cNvSpPr>
            <p:nvPr/>
          </p:nvSpPr>
          <p:spPr bwMode="auto">
            <a:xfrm>
              <a:off x="1474" y="2024"/>
              <a:ext cx="272" cy="272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/>
              <a:endParaRPr lang="zh-CN" altLang="en-US" sz="280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3234" name="Text Box 92"/>
            <p:cNvSpPr txBox="1">
              <a:spLocks noChangeArrowheads="1"/>
            </p:cNvSpPr>
            <p:nvPr/>
          </p:nvSpPr>
          <p:spPr bwMode="auto">
            <a:xfrm>
              <a:off x="1474" y="1984"/>
              <a:ext cx="272" cy="3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>
                  <a:latin typeface="Times New Roman" pitchFamily="18" charset="0"/>
                  <a:cs typeface="Times New Roman" pitchFamily="18" charset="0"/>
                </a:rPr>
                <a:t>13</a:t>
              </a:r>
            </a:p>
          </p:txBody>
        </p:sp>
      </p:grpSp>
      <p:sp>
        <p:nvSpPr>
          <p:cNvPr id="472157" name="Text Box 93"/>
          <p:cNvSpPr txBox="1">
            <a:spLocks noChangeArrowheads="1"/>
          </p:cNvSpPr>
          <p:nvPr/>
        </p:nvSpPr>
        <p:spPr bwMode="auto">
          <a:xfrm>
            <a:off x="3649663" y="3670300"/>
            <a:ext cx="6477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kumimoji="1" lang="en-US" altLang="zh-CN" sz="28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Times New Roman" pitchFamily="18" charset="0"/>
              </a:rPr>
              <a:t>ε</a:t>
            </a:r>
          </a:p>
        </p:txBody>
      </p:sp>
      <p:sp>
        <p:nvSpPr>
          <p:cNvPr id="472158" name="Line 94"/>
          <p:cNvSpPr>
            <a:spLocks noChangeShapeType="1"/>
          </p:cNvSpPr>
          <p:nvPr/>
        </p:nvSpPr>
        <p:spPr bwMode="auto">
          <a:xfrm>
            <a:off x="3505200" y="4102100"/>
            <a:ext cx="936625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8" name="Group 95"/>
          <p:cNvGrpSpPr>
            <a:grpSpLocks/>
          </p:cNvGrpSpPr>
          <p:nvPr/>
        </p:nvGrpSpPr>
        <p:grpSpPr bwMode="auto">
          <a:xfrm>
            <a:off x="1692275" y="5297488"/>
            <a:ext cx="576263" cy="519112"/>
            <a:chOff x="1474" y="1984"/>
            <a:chExt cx="272" cy="327"/>
          </a:xfrm>
        </p:grpSpPr>
        <p:sp>
          <p:nvSpPr>
            <p:cNvPr id="93231" name="Oval 96"/>
            <p:cNvSpPr>
              <a:spLocks noChangeArrowheads="1"/>
            </p:cNvSpPr>
            <p:nvPr/>
          </p:nvSpPr>
          <p:spPr bwMode="auto">
            <a:xfrm>
              <a:off x="1474" y="2024"/>
              <a:ext cx="272" cy="272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/>
              <a:endParaRPr lang="zh-CN" altLang="en-US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3232" name="Text Box 97"/>
            <p:cNvSpPr txBox="1">
              <a:spLocks noChangeArrowheads="1"/>
            </p:cNvSpPr>
            <p:nvPr/>
          </p:nvSpPr>
          <p:spPr bwMode="auto">
            <a:xfrm>
              <a:off x="1474" y="1984"/>
              <a:ext cx="27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>
                  <a:latin typeface="Times New Roman" pitchFamily="18" charset="0"/>
                  <a:cs typeface="Times New Roman" pitchFamily="18" charset="0"/>
                </a:rPr>
                <a:t>14</a:t>
              </a:r>
            </a:p>
          </p:txBody>
        </p:sp>
      </p:grpSp>
      <p:sp>
        <p:nvSpPr>
          <p:cNvPr id="472162" name="Text Box 98"/>
          <p:cNvSpPr txBox="1">
            <a:spLocks noChangeArrowheads="1"/>
          </p:cNvSpPr>
          <p:nvPr/>
        </p:nvSpPr>
        <p:spPr bwMode="auto">
          <a:xfrm>
            <a:off x="539750" y="5053013"/>
            <a:ext cx="6477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2800" b="1">
                <a:latin typeface="Times New Roman" pitchFamily="18" charset="0"/>
                <a:cs typeface="Times New Roman" pitchFamily="18" charset="0"/>
              </a:rPr>
              <a:t>F</a:t>
            </a:r>
          </a:p>
        </p:txBody>
      </p:sp>
      <p:grpSp>
        <p:nvGrpSpPr>
          <p:cNvPr id="9" name="Group 99"/>
          <p:cNvGrpSpPr>
            <a:grpSpLocks/>
          </p:cNvGrpSpPr>
          <p:nvPr/>
        </p:nvGrpSpPr>
        <p:grpSpPr bwMode="auto">
          <a:xfrm>
            <a:off x="3635375" y="5297488"/>
            <a:ext cx="576263" cy="519112"/>
            <a:chOff x="1474" y="1984"/>
            <a:chExt cx="272" cy="327"/>
          </a:xfrm>
        </p:grpSpPr>
        <p:sp>
          <p:nvSpPr>
            <p:cNvPr id="93229" name="Oval 100"/>
            <p:cNvSpPr>
              <a:spLocks noChangeArrowheads="1"/>
            </p:cNvSpPr>
            <p:nvPr/>
          </p:nvSpPr>
          <p:spPr bwMode="auto">
            <a:xfrm>
              <a:off x="1474" y="2024"/>
              <a:ext cx="272" cy="272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/>
              <a:endParaRPr lang="zh-CN" altLang="en-US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3230" name="Text Box 101"/>
            <p:cNvSpPr txBox="1">
              <a:spLocks noChangeArrowheads="1"/>
            </p:cNvSpPr>
            <p:nvPr/>
          </p:nvSpPr>
          <p:spPr bwMode="auto">
            <a:xfrm>
              <a:off x="1474" y="1984"/>
              <a:ext cx="27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>
                  <a:latin typeface="Times New Roman" pitchFamily="18" charset="0"/>
                  <a:cs typeface="Times New Roman" pitchFamily="18" charset="0"/>
                </a:rPr>
                <a:t>15</a:t>
              </a:r>
            </a:p>
          </p:txBody>
        </p:sp>
      </p:grpSp>
      <p:grpSp>
        <p:nvGrpSpPr>
          <p:cNvPr id="10" name="Group 102"/>
          <p:cNvGrpSpPr>
            <a:grpSpLocks/>
          </p:cNvGrpSpPr>
          <p:nvPr/>
        </p:nvGrpSpPr>
        <p:grpSpPr bwMode="auto">
          <a:xfrm>
            <a:off x="5580063" y="5297488"/>
            <a:ext cx="576262" cy="519112"/>
            <a:chOff x="1474" y="1984"/>
            <a:chExt cx="272" cy="327"/>
          </a:xfrm>
        </p:grpSpPr>
        <p:sp>
          <p:nvSpPr>
            <p:cNvPr id="93227" name="Oval 103"/>
            <p:cNvSpPr>
              <a:spLocks noChangeArrowheads="1"/>
            </p:cNvSpPr>
            <p:nvPr/>
          </p:nvSpPr>
          <p:spPr bwMode="auto">
            <a:xfrm>
              <a:off x="1474" y="2024"/>
              <a:ext cx="272" cy="272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/>
              <a:endParaRPr lang="zh-CN" altLang="en-US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3228" name="Text Box 104"/>
            <p:cNvSpPr txBox="1">
              <a:spLocks noChangeArrowheads="1"/>
            </p:cNvSpPr>
            <p:nvPr/>
          </p:nvSpPr>
          <p:spPr bwMode="auto">
            <a:xfrm>
              <a:off x="1474" y="1984"/>
              <a:ext cx="27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>
                  <a:latin typeface="Times New Roman" pitchFamily="18" charset="0"/>
                  <a:cs typeface="Times New Roman" pitchFamily="18" charset="0"/>
                </a:rPr>
                <a:t>16</a:t>
              </a:r>
            </a:p>
          </p:txBody>
        </p:sp>
      </p:grpSp>
      <p:sp>
        <p:nvSpPr>
          <p:cNvPr id="472172" name="Line 108"/>
          <p:cNvSpPr>
            <a:spLocks noChangeShapeType="1"/>
          </p:cNvSpPr>
          <p:nvPr/>
        </p:nvSpPr>
        <p:spPr bwMode="auto">
          <a:xfrm flipV="1">
            <a:off x="2268538" y="5600700"/>
            <a:ext cx="136683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72173" name="Text Box 109"/>
          <p:cNvSpPr txBox="1">
            <a:spLocks noChangeArrowheads="1"/>
          </p:cNvSpPr>
          <p:nvPr/>
        </p:nvSpPr>
        <p:spPr bwMode="auto">
          <a:xfrm>
            <a:off x="2555875" y="5197475"/>
            <a:ext cx="6477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 b="1">
                <a:latin typeface="Times New Roman" pitchFamily="18" charset="0"/>
                <a:cs typeface="Times New Roman" pitchFamily="18" charset="0"/>
              </a:rPr>
              <a:t>(</a:t>
            </a:r>
          </a:p>
        </p:txBody>
      </p:sp>
      <p:sp>
        <p:nvSpPr>
          <p:cNvPr id="472174" name="Text Box 110"/>
          <p:cNvSpPr txBox="1">
            <a:spLocks noChangeArrowheads="1"/>
          </p:cNvSpPr>
          <p:nvPr/>
        </p:nvSpPr>
        <p:spPr bwMode="auto">
          <a:xfrm>
            <a:off x="4645025" y="5197475"/>
            <a:ext cx="6477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 b="1">
                <a:latin typeface="Times New Roman" pitchFamily="18" charset="0"/>
                <a:cs typeface="Times New Roman" pitchFamily="18" charset="0"/>
              </a:rPr>
              <a:t>E</a:t>
            </a:r>
          </a:p>
        </p:txBody>
      </p:sp>
      <p:sp>
        <p:nvSpPr>
          <p:cNvPr id="472175" name="Line 111"/>
          <p:cNvSpPr>
            <a:spLocks noChangeShapeType="1"/>
          </p:cNvSpPr>
          <p:nvPr/>
        </p:nvSpPr>
        <p:spPr bwMode="auto">
          <a:xfrm flipV="1">
            <a:off x="4211638" y="5600700"/>
            <a:ext cx="1368425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72178" name="Freeform 114"/>
          <p:cNvSpPr>
            <a:spLocks/>
          </p:cNvSpPr>
          <p:nvPr/>
        </p:nvSpPr>
        <p:spPr bwMode="auto">
          <a:xfrm>
            <a:off x="1908175" y="4895850"/>
            <a:ext cx="5832475" cy="488950"/>
          </a:xfrm>
          <a:custGeom>
            <a:avLst/>
            <a:gdLst>
              <a:gd name="T0" fmla="*/ 5832475 w 2495"/>
              <a:gd name="T1" fmla="*/ 488950 h 280"/>
              <a:gd name="T2" fmla="*/ 5514553 w 2495"/>
              <a:gd name="T3" fmla="*/ 94297 h 280"/>
              <a:gd name="T4" fmla="*/ 5091435 w 2495"/>
              <a:gd name="T5" fmla="*/ 13970 h 280"/>
              <a:gd name="T6" fmla="*/ 4242862 w 2495"/>
              <a:gd name="T7" fmla="*/ 13970 h 280"/>
              <a:gd name="T8" fmla="*/ 2968835 w 2495"/>
              <a:gd name="T9" fmla="*/ 13970 h 280"/>
              <a:gd name="T10" fmla="*/ 1274028 w 2495"/>
              <a:gd name="T11" fmla="*/ 13970 h 280"/>
              <a:gd name="T12" fmla="*/ 848572 w 2495"/>
              <a:gd name="T13" fmla="*/ 13970 h 280"/>
              <a:gd name="T14" fmla="*/ 425455 w 2495"/>
              <a:gd name="T15" fmla="*/ 94297 h 280"/>
              <a:gd name="T16" fmla="*/ 212728 w 2495"/>
              <a:gd name="T17" fmla="*/ 251460 h 280"/>
              <a:gd name="T18" fmla="*/ 0 w 2495"/>
              <a:gd name="T19" fmla="*/ 488950 h 280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2495"/>
              <a:gd name="T31" fmla="*/ 0 h 280"/>
              <a:gd name="T32" fmla="*/ 2495 w 2495"/>
              <a:gd name="T33" fmla="*/ 280 h 280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2495" h="280">
                <a:moveTo>
                  <a:pt x="2495" y="280"/>
                </a:moveTo>
                <a:cubicBezTo>
                  <a:pt x="2453" y="189"/>
                  <a:pt x="2412" y="99"/>
                  <a:pt x="2359" y="54"/>
                </a:cubicBezTo>
                <a:cubicBezTo>
                  <a:pt x="2306" y="9"/>
                  <a:pt x="2269" y="16"/>
                  <a:pt x="2178" y="8"/>
                </a:cubicBezTo>
                <a:cubicBezTo>
                  <a:pt x="2087" y="0"/>
                  <a:pt x="1966" y="8"/>
                  <a:pt x="1815" y="8"/>
                </a:cubicBezTo>
                <a:cubicBezTo>
                  <a:pt x="1664" y="8"/>
                  <a:pt x="1482" y="8"/>
                  <a:pt x="1270" y="8"/>
                </a:cubicBezTo>
                <a:cubicBezTo>
                  <a:pt x="1058" y="8"/>
                  <a:pt x="696" y="8"/>
                  <a:pt x="545" y="8"/>
                </a:cubicBezTo>
                <a:cubicBezTo>
                  <a:pt x="394" y="8"/>
                  <a:pt x="423" y="0"/>
                  <a:pt x="363" y="8"/>
                </a:cubicBezTo>
                <a:cubicBezTo>
                  <a:pt x="303" y="16"/>
                  <a:pt x="227" y="31"/>
                  <a:pt x="182" y="54"/>
                </a:cubicBezTo>
                <a:cubicBezTo>
                  <a:pt x="137" y="77"/>
                  <a:pt x="121" y="107"/>
                  <a:pt x="91" y="144"/>
                </a:cubicBezTo>
                <a:cubicBezTo>
                  <a:pt x="61" y="181"/>
                  <a:pt x="30" y="230"/>
                  <a:pt x="0" y="280"/>
                </a:cubicBezTo>
              </a:path>
            </a:pathLst>
          </a:custGeom>
          <a:noFill/>
          <a:ln w="3810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72179" name="Text Box 115"/>
          <p:cNvSpPr txBox="1">
            <a:spLocks noChangeArrowheads="1"/>
          </p:cNvSpPr>
          <p:nvPr/>
        </p:nvSpPr>
        <p:spPr bwMode="auto">
          <a:xfrm>
            <a:off x="4572000" y="4519613"/>
            <a:ext cx="64770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kumimoji="1" lang="en-US" altLang="zh-CN" sz="28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Times New Roman" pitchFamily="18" charset="0"/>
              </a:rPr>
              <a:t>id</a:t>
            </a:r>
          </a:p>
        </p:txBody>
      </p:sp>
      <p:grpSp>
        <p:nvGrpSpPr>
          <p:cNvPr id="11" name="Group 116"/>
          <p:cNvGrpSpPr>
            <a:grpSpLocks/>
          </p:cNvGrpSpPr>
          <p:nvPr/>
        </p:nvGrpSpPr>
        <p:grpSpPr bwMode="auto">
          <a:xfrm>
            <a:off x="7451725" y="5311775"/>
            <a:ext cx="576263" cy="519113"/>
            <a:chOff x="1474" y="1984"/>
            <a:chExt cx="272" cy="327"/>
          </a:xfrm>
        </p:grpSpPr>
        <p:sp>
          <p:nvSpPr>
            <p:cNvPr id="93225" name="Oval 117"/>
            <p:cNvSpPr>
              <a:spLocks noChangeArrowheads="1"/>
            </p:cNvSpPr>
            <p:nvPr/>
          </p:nvSpPr>
          <p:spPr bwMode="auto">
            <a:xfrm>
              <a:off x="1474" y="2024"/>
              <a:ext cx="272" cy="272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/>
              <a:endParaRPr lang="zh-CN" altLang="en-US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3226" name="Text Box 118"/>
            <p:cNvSpPr txBox="1">
              <a:spLocks noChangeArrowheads="1"/>
            </p:cNvSpPr>
            <p:nvPr/>
          </p:nvSpPr>
          <p:spPr bwMode="auto">
            <a:xfrm>
              <a:off x="1474" y="1984"/>
              <a:ext cx="27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>
                  <a:latin typeface="Times New Roman" pitchFamily="18" charset="0"/>
                  <a:cs typeface="Times New Roman" pitchFamily="18" charset="0"/>
                </a:rPr>
                <a:t>17</a:t>
              </a:r>
            </a:p>
          </p:txBody>
        </p:sp>
      </p:grpSp>
      <p:sp>
        <p:nvSpPr>
          <p:cNvPr id="472183" name="Text Box 119"/>
          <p:cNvSpPr txBox="1">
            <a:spLocks noChangeArrowheads="1"/>
          </p:cNvSpPr>
          <p:nvPr/>
        </p:nvSpPr>
        <p:spPr bwMode="auto">
          <a:xfrm>
            <a:off x="6804025" y="5167313"/>
            <a:ext cx="6477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 b="1">
                <a:latin typeface="Times New Roman" pitchFamily="18" charset="0"/>
                <a:cs typeface="Times New Roman" pitchFamily="18" charset="0"/>
              </a:rPr>
              <a:t>)</a:t>
            </a:r>
          </a:p>
        </p:txBody>
      </p:sp>
      <p:sp>
        <p:nvSpPr>
          <p:cNvPr id="472184" name="Line 120"/>
          <p:cNvSpPr>
            <a:spLocks noChangeShapeType="1"/>
          </p:cNvSpPr>
          <p:nvPr/>
        </p:nvSpPr>
        <p:spPr bwMode="auto">
          <a:xfrm flipV="1">
            <a:off x="6156325" y="5600700"/>
            <a:ext cx="12954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2"/>
          <p:cNvSpPr>
            <a:spLocks noGrp="1" noChangeArrowheads="1"/>
          </p:cNvSpPr>
          <p:nvPr>
            <p:ph type="title"/>
          </p:nvPr>
        </p:nvSpPr>
        <p:spPr>
          <a:xfrm>
            <a:off x="833438" y="476250"/>
            <a:ext cx="7050087" cy="915988"/>
          </a:xfrm>
          <a:noFill/>
        </p:spPr>
        <p:txBody>
          <a:bodyPr lIns="92075" tIns="46038" rIns="92075" bIns="46038"/>
          <a:lstStyle/>
          <a:p>
            <a:pPr eaLnBrk="1" hangingPunct="1"/>
            <a:r>
              <a:rPr lang="zh-CN" altLang="en-US" b="1" smtClean="0">
                <a:solidFill>
                  <a:srgbClr val="000099"/>
                </a:solidFill>
                <a:latin typeface="Times New Roman" pitchFamily="18" charset="0"/>
                <a:ea typeface="华文新魏" pitchFamily="2" charset="-122"/>
              </a:rPr>
              <a:t>构造语法图</a:t>
            </a:r>
            <a:endParaRPr lang="en-US" altLang="zh-CN" b="1" smtClean="0">
              <a:solidFill>
                <a:srgbClr val="000099"/>
              </a:solidFill>
              <a:latin typeface="Times New Roman" pitchFamily="18" charset="0"/>
              <a:ea typeface="华文新魏" pitchFamily="2" charset="-122"/>
            </a:endParaRPr>
          </a:p>
        </p:txBody>
      </p:sp>
      <p:sp>
        <p:nvSpPr>
          <p:cNvPr id="338947" name="Rectangle 3"/>
          <p:cNvSpPr>
            <a:spLocks noGrp="1" noChangeArrowheads="1"/>
          </p:cNvSpPr>
          <p:nvPr>
            <p:ph idx="1"/>
          </p:nvPr>
        </p:nvSpPr>
        <p:spPr>
          <a:xfrm>
            <a:off x="395288" y="1557338"/>
            <a:ext cx="8382000" cy="4398962"/>
          </a:xfrm>
        </p:spPr>
        <p:txBody>
          <a:bodyPr lIns="92075" tIns="46038" rIns="92075" bIns="46038"/>
          <a:lstStyle/>
          <a:p>
            <a:pPr eaLnBrk="1" hangingPunct="1">
              <a:lnSpc>
                <a:spcPct val="120000"/>
              </a:lnSpc>
            </a:pP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语法图是非常有用的设计工具</a:t>
            </a:r>
          </a:p>
          <a:p>
            <a:pPr eaLnBrk="1" hangingPunct="1">
              <a:lnSpc>
                <a:spcPct val="120000"/>
              </a:lnSpc>
            </a:pP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语法图和词法分析器的状态转换图不同</a:t>
            </a:r>
          </a:p>
          <a:p>
            <a:pPr lvl="1" eaLnBrk="1" hangingPunct="1">
              <a:lnSpc>
                <a:spcPct val="120000"/>
              </a:lnSpc>
            </a:pP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每个非终结符对应一个语法图，边上标记语法符号</a:t>
            </a:r>
          </a:p>
          <a:p>
            <a:pPr lvl="1" eaLnBrk="1" hangingPunct="1">
              <a:lnSpc>
                <a:spcPct val="120000"/>
              </a:lnSpc>
            </a:pP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如果标记的是终极符号，且与下一个输入符号相同，表示匹配成功</a:t>
            </a:r>
            <a:endParaRPr lang="en-US" altLang="zh-CN" b="1" smtClean="0">
              <a:latin typeface="Times New Roman" pitchFamily="18" charset="0"/>
              <a:ea typeface="华文新魏" pitchFamily="2" charset="-122"/>
            </a:endParaRPr>
          </a:p>
          <a:p>
            <a:pPr lvl="1" eaLnBrk="1" hangingPunct="1">
              <a:lnSpc>
                <a:spcPct val="120000"/>
              </a:lnSpc>
            </a:pP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如果标记的是非终结符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A</a:t>
            </a: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，则调用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A</a:t>
            </a: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对应的过程</a:t>
            </a:r>
          </a:p>
        </p:txBody>
      </p:sp>
      <p:sp>
        <p:nvSpPr>
          <p:cNvPr id="94212" name="日期占位符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891DF188-C8AC-4150-B533-7D63C738F786}" type="datetime1">
              <a:rPr lang="zh-CN" altLang="en-US" smtClean="0"/>
              <a:pPr eaLnBrk="1" hangingPunct="1"/>
              <a:t>2017/2/24</a:t>
            </a:fld>
            <a:endParaRPr lang="en-US" altLang="zh-CN" smtClean="0"/>
          </a:p>
        </p:txBody>
      </p:sp>
      <p:sp>
        <p:nvSpPr>
          <p:cNvPr id="94213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EEFD24F1-FA0F-4542-BAF2-C11955AD9E43}" type="slidenum">
              <a:rPr lang="zh-CN" altLang="en-US" smtClean="0"/>
              <a:pPr eaLnBrk="1" hangingPunct="1"/>
              <a:t>81</a:t>
            </a:fld>
            <a:endParaRPr lang="en-US" altLang="zh-CN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2"/>
          <p:cNvSpPr>
            <a:spLocks noGrp="1" noChangeArrowheads="1"/>
          </p:cNvSpPr>
          <p:nvPr>
            <p:ph type="title"/>
          </p:nvPr>
        </p:nvSpPr>
        <p:spPr>
          <a:xfrm>
            <a:off x="971550" y="765175"/>
            <a:ext cx="7050088" cy="915988"/>
          </a:xfrm>
          <a:noFill/>
        </p:spPr>
        <p:txBody>
          <a:bodyPr lIns="92075" tIns="46038" rIns="92075" bIns="46038"/>
          <a:lstStyle/>
          <a:p>
            <a:pPr eaLnBrk="1" hangingPunct="1"/>
            <a:r>
              <a:rPr lang="zh-CN" altLang="en-US" b="1" smtClean="0">
                <a:solidFill>
                  <a:srgbClr val="000099"/>
                </a:solidFill>
                <a:latin typeface="Times New Roman" pitchFamily="18" charset="0"/>
                <a:ea typeface="华文新魏" pitchFamily="2" charset="-122"/>
              </a:rPr>
              <a:t>构造语法图</a:t>
            </a:r>
            <a:endParaRPr lang="en-US" altLang="zh-CN" b="1" smtClean="0">
              <a:solidFill>
                <a:srgbClr val="000099"/>
              </a:solidFill>
              <a:latin typeface="Times New Roman" pitchFamily="18" charset="0"/>
              <a:ea typeface="华文新魏" pitchFamily="2" charset="-122"/>
            </a:endParaRPr>
          </a:p>
        </p:txBody>
      </p:sp>
      <p:sp>
        <p:nvSpPr>
          <p:cNvPr id="441347" name="Rectangle 3"/>
          <p:cNvSpPr>
            <a:spLocks noGrp="1" noChangeArrowheads="1"/>
          </p:cNvSpPr>
          <p:nvPr>
            <p:ph idx="1"/>
          </p:nvPr>
        </p:nvSpPr>
        <p:spPr>
          <a:xfrm>
            <a:off x="539750" y="2060575"/>
            <a:ext cx="7943850" cy="4111625"/>
          </a:xfrm>
        </p:spPr>
        <p:txBody>
          <a:bodyPr lIns="92075" tIns="46038" rIns="92075" bIns="46038"/>
          <a:lstStyle/>
          <a:p>
            <a:pPr eaLnBrk="1" hangingPunct="1">
              <a:lnSpc>
                <a:spcPct val="120000"/>
              </a:lnSpc>
            </a:pP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对文法的每个非终结符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A</a:t>
            </a: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，构造语法图</a:t>
            </a:r>
          </a:p>
          <a:p>
            <a:pPr lvl="1" eaLnBrk="1" hangingPunct="1">
              <a:lnSpc>
                <a:spcPct val="120000"/>
              </a:lnSpc>
            </a:pP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创建一个开始状态和一个终止状态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(</a:t>
            </a: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返回状态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)</a:t>
            </a: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；</a:t>
            </a:r>
          </a:p>
          <a:p>
            <a:pPr lvl="1" eaLnBrk="1" hangingPunct="1">
              <a:lnSpc>
                <a:spcPct val="120000"/>
              </a:lnSpc>
            </a:pP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对每个产生式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A→X</a:t>
            </a:r>
            <a:r>
              <a:rPr lang="en-US" altLang="zh-CN" b="1" baseline="-30000" smtClean="0">
                <a:latin typeface="Times New Roman" pitchFamily="18" charset="0"/>
                <a:ea typeface="华文新魏" pitchFamily="2" charset="-122"/>
              </a:rPr>
              <a:t>1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X</a:t>
            </a:r>
            <a:r>
              <a:rPr lang="en-US" altLang="zh-CN" b="1" baseline="-30000" smtClean="0">
                <a:latin typeface="Times New Roman" pitchFamily="18" charset="0"/>
                <a:ea typeface="华文新魏" pitchFamily="2" charset="-122"/>
              </a:rPr>
              <a:t>2　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… X</a:t>
            </a:r>
            <a:r>
              <a:rPr lang="en-US" altLang="zh-CN" b="1" baseline="-30000" smtClean="0">
                <a:latin typeface="Times New Roman" pitchFamily="18" charset="0"/>
                <a:ea typeface="华文新魏" pitchFamily="2" charset="-122"/>
              </a:rPr>
              <a:t>n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，</a:t>
            </a: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创建一条从开始状态到终止状态的路径，边上的标记依次为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X</a:t>
            </a:r>
            <a:r>
              <a:rPr lang="en-US" altLang="zh-CN" b="1" baseline="-30000" smtClean="0">
                <a:latin typeface="Times New Roman" pitchFamily="18" charset="0"/>
                <a:ea typeface="华文新魏" pitchFamily="2" charset="-122"/>
              </a:rPr>
              <a:t>1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，X</a:t>
            </a:r>
            <a:r>
              <a:rPr lang="en-US" altLang="zh-CN" b="1" baseline="-30000" smtClean="0">
                <a:latin typeface="Times New Roman" pitchFamily="18" charset="0"/>
                <a:ea typeface="华文新魏" pitchFamily="2" charset="-122"/>
              </a:rPr>
              <a:t>2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， …</a:t>
            </a:r>
            <a:r>
              <a:rPr lang="en-US" altLang="zh-CN" b="1" baseline="-30000" smtClean="0">
                <a:latin typeface="Times New Roman" pitchFamily="18" charset="0"/>
                <a:ea typeface="华文新魏" pitchFamily="2" charset="-122"/>
              </a:rPr>
              <a:t> 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，X</a:t>
            </a:r>
            <a:r>
              <a:rPr lang="en-US" altLang="zh-CN" b="1" baseline="-30000" smtClean="0">
                <a:latin typeface="Times New Roman" pitchFamily="18" charset="0"/>
                <a:ea typeface="华文新魏" pitchFamily="2" charset="-122"/>
              </a:rPr>
              <a:t>n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。</a:t>
            </a:r>
            <a:endParaRPr lang="zh-CN" altLang="en-US" b="1" smtClean="0">
              <a:latin typeface="Times New Roman" pitchFamily="18" charset="0"/>
              <a:ea typeface="华文新魏" pitchFamily="2" charset="-122"/>
            </a:endParaRPr>
          </a:p>
        </p:txBody>
      </p:sp>
      <p:sp>
        <p:nvSpPr>
          <p:cNvPr id="95236" name="日期占位符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6EFBFF8D-2B15-41B2-9087-43B953FFACC5}" type="datetime1">
              <a:rPr lang="zh-CN" altLang="en-US" smtClean="0"/>
              <a:pPr eaLnBrk="1" hangingPunct="1"/>
              <a:t>2017/2/24</a:t>
            </a:fld>
            <a:endParaRPr lang="en-US" altLang="zh-CN" smtClean="0"/>
          </a:p>
        </p:txBody>
      </p:sp>
      <p:sp>
        <p:nvSpPr>
          <p:cNvPr id="95237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444BD686-272B-43AF-834D-FE9A188F82EB}" type="slidenum">
              <a:rPr lang="zh-CN" altLang="en-US" smtClean="0"/>
              <a:pPr eaLnBrk="1" hangingPunct="1"/>
              <a:t>82</a:t>
            </a:fld>
            <a:endParaRPr lang="en-US" altLang="zh-CN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2"/>
          <p:cNvSpPr>
            <a:spLocks noGrp="1" noChangeArrowheads="1"/>
          </p:cNvSpPr>
          <p:nvPr>
            <p:ph type="title"/>
          </p:nvPr>
        </p:nvSpPr>
        <p:spPr>
          <a:xfrm>
            <a:off x="1327150" y="420688"/>
            <a:ext cx="3998913" cy="1008062"/>
          </a:xfrm>
        </p:spPr>
        <p:txBody>
          <a:bodyPr/>
          <a:lstStyle/>
          <a:p>
            <a:pPr eaLnBrk="1" hangingPunct="1"/>
            <a:r>
              <a:rPr lang="zh-CN" altLang="en-US" sz="4000" b="1" smtClean="0">
                <a:solidFill>
                  <a:srgbClr val="000099"/>
                </a:solidFill>
                <a:latin typeface="Times New Roman" pitchFamily="18" charset="0"/>
                <a:ea typeface="华文新魏" pitchFamily="2" charset="-122"/>
              </a:rPr>
              <a:t>4.</a:t>
            </a:r>
            <a:r>
              <a:rPr lang="en-US" altLang="zh-CN" sz="4000" b="1" smtClean="0">
                <a:solidFill>
                  <a:srgbClr val="000099"/>
                </a:solidFill>
                <a:latin typeface="Times New Roman" pitchFamily="18" charset="0"/>
                <a:ea typeface="华文新魏" pitchFamily="2" charset="-122"/>
              </a:rPr>
              <a:t>6 </a:t>
            </a:r>
            <a:r>
              <a:rPr lang="zh-CN" altLang="en-US" sz="4000" b="1" smtClean="0">
                <a:solidFill>
                  <a:srgbClr val="000099"/>
                </a:solidFill>
                <a:latin typeface="Times New Roman" pitchFamily="18" charset="0"/>
                <a:ea typeface="华文新魏" pitchFamily="2" charset="-122"/>
              </a:rPr>
              <a:t>递归子程序法</a:t>
            </a:r>
          </a:p>
        </p:txBody>
      </p:sp>
      <p:sp>
        <p:nvSpPr>
          <p:cNvPr id="335875" name="Rectangle 3"/>
          <p:cNvSpPr>
            <a:spLocks noGrp="1" noChangeArrowheads="1"/>
          </p:cNvSpPr>
          <p:nvPr>
            <p:ph idx="1"/>
          </p:nvPr>
        </p:nvSpPr>
        <p:spPr>
          <a:xfrm>
            <a:off x="395288" y="1412875"/>
            <a:ext cx="8423275" cy="4752975"/>
          </a:xfrm>
        </p:spPr>
        <p:txBody>
          <a:bodyPr/>
          <a:lstStyle/>
          <a:p>
            <a:pPr eaLnBrk="1" hangingPunct="1">
              <a:spcBef>
                <a:spcPct val="0"/>
              </a:spcBef>
            </a:pP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对应</a:t>
            </a:r>
            <a:r>
              <a:rPr lang="en-US" altLang="zh-CN" sz="3600" b="1" smtClean="0">
                <a:latin typeface="Times New Roman" pitchFamily="18" charset="0"/>
                <a:sym typeface="Symbol" pitchFamily="18" charset="2"/>
              </a:rPr>
              <a:t></a:t>
            </a:r>
            <a:r>
              <a:rPr lang="en-US" altLang="zh-CN" sz="3600" b="1" smtClean="0">
                <a:latin typeface="Times New Roman" pitchFamily="18" charset="0"/>
                <a:ea typeface="华文新魏" pitchFamily="2" charset="-122"/>
              </a:rPr>
              <a:t>A∈V</a:t>
            </a: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设置一个递归处理子程序，按照语法图，进行相应的处理</a:t>
            </a:r>
          </a:p>
          <a:p>
            <a:pPr eaLnBrk="1" hangingPunct="1"/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开始时，输入指针指向输入串的第一个符号</a:t>
            </a:r>
          </a:p>
          <a:p>
            <a:pPr eaLnBrk="1" hangingPunct="1"/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在处理过程中</a:t>
            </a:r>
          </a:p>
          <a:p>
            <a:pPr lvl="1" eaLnBrk="1" hangingPunct="1"/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如果遇到的标记是终结符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a，</a:t>
            </a: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就与当前输入符号进行匹配，并将输入指针向右移动一个字符</a:t>
            </a:r>
            <a:endParaRPr lang="en-US" altLang="zh-CN" b="1" smtClean="0">
              <a:latin typeface="Times New Roman" pitchFamily="18" charset="0"/>
              <a:ea typeface="华文新魏" pitchFamily="2" charset="-122"/>
            </a:endParaRPr>
          </a:p>
          <a:p>
            <a:pPr lvl="1" eaLnBrk="1" hangingPunct="1"/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如果遇到的标记是非终结符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A，</a:t>
            </a: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则调用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A</a:t>
            </a: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所对应的递归处理程序</a:t>
            </a:r>
          </a:p>
          <a:p>
            <a:pPr lvl="1" eaLnBrk="1" hangingPunct="1"/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此过程直到处理结束 </a:t>
            </a:r>
          </a:p>
        </p:txBody>
      </p:sp>
      <p:sp>
        <p:nvSpPr>
          <p:cNvPr id="96260" name="日期占位符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7556B6FB-0974-412B-9C56-9E53824D77E5}" type="datetime1">
              <a:rPr lang="zh-CN" altLang="en-US" smtClean="0"/>
              <a:pPr eaLnBrk="1" hangingPunct="1"/>
              <a:t>2017/2/24</a:t>
            </a:fld>
            <a:endParaRPr lang="en-US" altLang="zh-CN" smtClean="0"/>
          </a:p>
        </p:txBody>
      </p:sp>
      <p:sp>
        <p:nvSpPr>
          <p:cNvPr id="96261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A99F791E-4E2B-46D9-98D8-69D78B8BCDE8}" type="slidenum">
              <a:rPr lang="zh-CN" altLang="en-US" smtClean="0"/>
              <a:pPr eaLnBrk="1" hangingPunct="1"/>
              <a:t>83</a:t>
            </a:fld>
            <a:endParaRPr lang="en-US" altLang="zh-CN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2"/>
          <p:cNvSpPr>
            <a:spLocks noGrp="1" noChangeArrowheads="1"/>
          </p:cNvSpPr>
          <p:nvPr>
            <p:ph type="title"/>
          </p:nvPr>
        </p:nvSpPr>
        <p:spPr>
          <a:xfrm>
            <a:off x="900113" y="404813"/>
            <a:ext cx="7489825" cy="1370012"/>
          </a:xfrm>
          <a:noFill/>
        </p:spPr>
        <p:txBody>
          <a:bodyPr lIns="92075" tIns="46038" rIns="92075" bIns="46038"/>
          <a:lstStyle/>
          <a:p>
            <a:pPr eaLnBrk="1" hangingPunct="1"/>
            <a:r>
              <a:rPr lang="zh-CN" altLang="en-US" sz="4000" b="1" smtClean="0">
                <a:solidFill>
                  <a:srgbClr val="000099"/>
                </a:solidFill>
                <a:latin typeface="Times New Roman" pitchFamily="18" charset="0"/>
                <a:ea typeface="华文新魏" pitchFamily="2" charset="-122"/>
              </a:rPr>
              <a:t>例： 简单算术表达式的分析器</a:t>
            </a:r>
            <a:br>
              <a:rPr lang="zh-CN" altLang="en-US" sz="4000" b="1" smtClean="0">
                <a:solidFill>
                  <a:srgbClr val="000099"/>
                </a:solidFill>
                <a:latin typeface="Times New Roman" pitchFamily="18" charset="0"/>
                <a:ea typeface="华文新魏" pitchFamily="2" charset="-122"/>
              </a:rPr>
            </a:br>
            <a:r>
              <a:rPr lang="zh-CN" altLang="en-US" sz="4000" b="1" smtClean="0">
                <a:solidFill>
                  <a:srgbClr val="000099"/>
                </a:solidFill>
                <a:latin typeface="Times New Roman" pitchFamily="18" charset="0"/>
                <a:ea typeface="华文新魏" pitchFamily="2" charset="-122"/>
              </a:rPr>
              <a:t> 	</a:t>
            </a:r>
            <a:r>
              <a:rPr lang="en-US" altLang="zh-CN" sz="4000" b="1" smtClean="0">
                <a:solidFill>
                  <a:srgbClr val="0000CC"/>
                </a:solidFill>
                <a:latin typeface="Times New Roman" pitchFamily="18" charset="0"/>
                <a:ea typeface="华文新魏" pitchFamily="2" charset="-122"/>
              </a:rPr>
              <a:t>E</a:t>
            </a:r>
            <a:r>
              <a:rPr lang="zh-CN" altLang="en-US" sz="4000" b="1" smtClean="0">
                <a:solidFill>
                  <a:srgbClr val="0000CC"/>
                </a:solidFill>
                <a:latin typeface="Times New Roman" pitchFamily="18" charset="0"/>
                <a:ea typeface="华文新魏" pitchFamily="2" charset="-122"/>
              </a:rPr>
              <a:t>的子程序：</a:t>
            </a:r>
            <a:r>
              <a:rPr lang="en-US" altLang="zh-CN" sz="4000" b="1" smtClean="0">
                <a:solidFill>
                  <a:schemeClr val="hlink"/>
                </a:solidFill>
                <a:latin typeface="Times New Roman" pitchFamily="18" charset="0"/>
                <a:ea typeface="华文新魏" pitchFamily="2" charset="-122"/>
              </a:rPr>
              <a:t>E</a:t>
            </a:r>
            <a:r>
              <a:rPr lang="en-US" altLang="zh-CN" b="1" smtClean="0">
                <a:solidFill>
                  <a:schemeClr val="hlink"/>
                </a:solidFill>
                <a:latin typeface="Times New Roman" pitchFamily="18" charset="0"/>
                <a:ea typeface="华文新魏" pitchFamily="2" charset="-122"/>
              </a:rPr>
              <a:t>→</a:t>
            </a:r>
            <a:r>
              <a:rPr lang="en-US" altLang="zh-CN" sz="4000" b="1" smtClean="0">
                <a:solidFill>
                  <a:schemeClr val="hlink"/>
                </a:solidFill>
                <a:latin typeface="Times New Roman" pitchFamily="18" charset="0"/>
                <a:ea typeface="华文新魏" pitchFamily="2" charset="-122"/>
              </a:rPr>
              <a:t>T(+T)</a:t>
            </a:r>
            <a:r>
              <a:rPr lang="en-US" altLang="zh-CN" sz="4000" b="1" baseline="30000" smtClean="0">
                <a:solidFill>
                  <a:schemeClr val="hlink"/>
                </a:solidFill>
                <a:latin typeface="Times New Roman" pitchFamily="18" charset="0"/>
                <a:ea typeface="华文新魏" pitchFamily="2" charset="-122"/>
              </a:rPr>
              <a:t>*</a:t>
            </a:r>
            <a:endParaRPr lang="zh-CN" altLang="en-US" sz="4000" b="1" smtClean="0">
              <a:solidFill>
                <a:srgbClr val="0000CC"/>
              </a:solidFill>
              <a:latin typeface="Times New Roman" pitchFamily="18" charset="0"/>
              <a:ea typeface="华文新魏" pitchFamily="2" charset="-122"/>
            </a:endParaRPr>
          </a:p>
        </p:txBody>
      </p:sp>
      <p:sp>
        <p:nvSpPr>
          <p:cNvPr id="344067" name="Rectangle 3"/>
          <p:cNvSpPr>
            <a:spLocks noGrp="1" noChangeArrowheads="1"/>
          </p:cNvSpPr>
          <p:nvPr>
            <p:ph idx="1"/>
          </p:nvPr>
        </p:nvSpPr>
        <p:spPr>
          <a:xfrm>
            <a:off x="900113" y="1989138"/>
            <a:ext cx="7939087" cy="4392612"/>
          </a:xfrm>
        </p:spPr>
        <p:txBody>
          <a:bodyPr lIns="92075" tIns="46038" rIns="92075" bIns="46038"/>
          <a:lstStyle/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procedure E;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  begin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     T;            	 		</a:t>
            </a:r>
            <a:r>
              <a:rPr lang="zh-CN" altLang="en-US" sz="2800" b="1" smtClean="0">
                <a:latin typeface="Times New Roman" pitchFamily="18" charset="0"/>
                <a:ea typeface="华文新魏" pitchFamily="2" charset="-122"/>
              </a:rPr>
              <a:t>调用过程</a:t>
            </a: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T</a:t>
            </a:r>
            <a:endParaRPr lang="zh-CN" altLang="en-US" sz="2800" b="1" smtClean="0">
              <a:latin typeface="Times New Roman" pitchFamily="18" charset="0"/>
              <a:ea typeface="华文新魏" pitchFamily="2" charset="-122"/>
            </a:endParaRP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zh-CN" altLang="en-US" sz="2800" b="1" smtClean="0">
                <a:latin typeface="Times New Roman" pitchFamily="18" charset="0"/>
                <a:ea typeface="华文新魏" pitchFamily="2" charset="-122"/>
              </a:rPr>
              <a:t>     </a:t>
            </a: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while lookhead='+' do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       begin             			</a:t>
            </a:r>
            <a:r>
              <a:rPr lang="zh-CN" altLang="en-US" sz="2800" b="1" smtClean="0">
                <a:latin typeface="Times New Roman" pitchFamily="18" charset="0"/>
                <a:ea typeface="华文新魏" pitchFamily="2" charset="-122"/>
              </a:rPr>
              <a:t>当前符号等于＋时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zh-CN" altLang="en-US" sz="2800" b="1" smtClean="0">
                <a:latin typeface="Times New Roman" pitchFamily="18" charset="0"/>
                <a:ea typeface="华文新魏" pitchFamily="2" charset="-122"/>
              </a:rPr>
              <a:t>           </a:t>
            </a: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match(‘+’);   		</a:t>
            </a:r>
            <a:r>
              <a:rPr lang="zh-CN" altLang="en-US" sz="2800" b="1" smtClean="0">
                <a:latin typeface="Times New Roman" pitchFamily="18" charset="0"/>
                <a:ea typeface="华文新魏" pitchFamily="2" charset="-122"/>
              </a:rPr>
              <a:t>处理终结符＋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zh-CN" altLang="en-US" sz="2800" b="1" smtClean="0">
                <a:latin typeface="Times New Roman" pitchFamily="18" charset="0"/>
                <a:ea typeface="华文新魏" pitchFamily="2" charset="-122"/>
              </a:rPr>
              <a:t>           </a:t>
            </a: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T          			</a:t>
            </a:r>
            <a:r>
              <a:rPr lang="zh-CN" altLang="en-US" sz="2800" b="1" smtClean="0">
                <a:latin typeface="Times New Roman" pitchFamily="18" charset="0"/>
                <a:ea typeface="华文新魏" pitchFamily="2" charset="-122"/>
              </a:rPr>
              <a:t>调用过程</a:t>
            </a: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T</a:t>
            </a:r>
            <a:endParaRPr lang="zh-CN" altLang="en-US" sz="2800" b="1" smtClean="0">
              <a:latin typeface="Times New Roman" pitchFamily="18" charset="0"/>
              <a:ea typeface="华文新魏" pitchFamily="2" charset="-122"/>
            </a:endParaRP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zh-CN" altLang="en-US" sz="2800" b="1" smtClean="0">
                <a:latin typeface="Times New Roman" pitchFamily="18" charset="0"/>
                <a:ea typeface="华文新魏" pitchFamily="2" charset="-122"/>
              </a:rPr>
              <a:t>       </a:t>
            </a: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end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  end;</a:t>
            </a:r>
            <a:endParaRPr lang="zh-CN" altLang="en-US" sz="2800" b="1" smtClean="0">
              <a:latin typeface="Times New Roman" pitchFamily="18" charset="0"/>
              <a:ea typeface="华文新魏" pitchFamily="2" charset="-122"/>
            </a:endParaRPr>
          </a:p>
        </p:txBody>
      </p:sp>
      <p:sp>
        <p:nvSpPr>
          <p:cNvPr id="97284" name="日期占位符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0D9EB598-F889-4E91-AFDA-CCCC1D9C3B19}" type="datetime1">
              <a:rPr lang="zh-CN" altLang="en-US" smtClean="0"/>
              <a:pPr eaLnBrk="1" hangingPunct="1"/>
              <a:t>2017/2/24</a:t>
            </a:fld>
            <a:endParaRPr lang="en-US" altLang="zh-CN" smtClean="0"/>
          </a:p>
        </p:txBody>
      </p:sp>
      <p:sp>
        <p:nvSpPr>
          <p:cNvPr id="97285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270F995F-A325-434F-A95C-2E27268FCDF6}" type="slidenum">
              <a:rPr lang="zh-CN" altLang="en-US" smtClean="0"/>
              <a:pPr eaLnBrk="1" hangingPunct="1"/>
              <a:t>84</a:t>
            </a:fld>
            <a:endParaRPr lang="en-US" altLang="zh-CN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2"/>
          <p:cNvSpPr>
            <a:spLocks noGrp="1" noChangeArrowheads="1"/>
          </p:cNvSpPr>
          <p:nvPr>
            <p:ph type="title"/>
          </p:nvPr>
        </p:nvSpPr>
        <p:spPr>
          <a:xfrm>
            <a:off x="971550" y="836613"/>
            <a:ext cx="6335713" cy="915987"/>
          </a:xfrm>
          <a:noFill/>
        </p:spPr>
        <p:txBody>
          <a:bodyPr lIns="92075" tIns="46038" rIns="92075" bIns="46038"/>
          <a:lstStyle/>
          <a:p>
            <a:pPr eaLnBrk="1" hangingPunct="1"/>
            <a:r>
              <a:rPr lang="en-US" altLang="zh-CN" b="1" smtClean="0">
                <a:solidFill>
                  <a:srgbClr val="000099"/>
                </a:solidFill>
                <a:latin typeface="Times New Roman" pitchFamily="18" charset="0"/>
                <a:ea typeface="华文新魏" pitchFamily="2" charset="-122"/>
              </a:rPr>
              <a:t>T</a:t>
            </a:r>
            <a:r>
              <a:rPr lang="zh-CN" altLang="en-US" b="1" smtClean="0">
                <a:solidFill>
                  <a:srgbClr val="000099"/>
                </a:solidFill>
                <a:latin typeface="Times New Roman" pitchFamily="18" charset="0"/>
                <a:ea typeface="华文新魏" pitchFamily="2" charset="-122"/>
              </a:rPr>
              <a:t>的子程序</a:t>
            </a:r>
            <a:r>
              <a:rPr lang="zh-CN" altLang="en-US" sz="4000" b="1" smtClean="0">
                <a:solidFill>
                  <a:srgbClr val="000099"/>
                </a:solidFill>
                <a:latin typeface="Times New Roman" pitchFamily="18" charset="0"/>
                <a:ea typeface="华文新魏" pitchFamily="2" charset="-122"/>
              </a:rPr>
              <a:t>：</a:t>
            </a:r>
            <a:r>
              <a:rPr lang="en-US" altLang="zh-CN" sz="4000" b="1" smtClean="0">
                <a:solidFill>
                  <a:schemeClr val="hlink"/>
                </a:solidFill>
                <a:latin typeface="Times New Roman" pitchFamily="18" charset="0"/>
                <a:ea typeface="华文新魏" pitchFamily="2" charset="-122"/>
              </a:rPr>
              <a:t>T→F(*F)</a:t>
            </a:r>
            <a:r>
              <a:rPr lang="en-US" altLang="zh-CN" sz="4000" b="1" baseline="30000" smtClean="0">
                <a:solidFill>
                  <a:schemeClr val="hlink"/>
                </a:solidFill>
                <a:latin typeface="Times New Roman" pitchFamily="18" charset="0"/>
                <a:ea typeface="华文新魏" pitchFamily="2" charset="-122"/>
              </a:rPr>
              <a:t>*</a:t>
            </a:r>
            <a:endParaRPr lang="en-US" altLang="zh-CN" sz="4000" b="1" smtClean="0">
              <a:solidFill>
                <a:srgbClr val="0000CC"/>
              </a:solidFill>
              <a:latin typeface="Times New Roman" pitchFamily="18" charset="0"/>
              <a:ea typeface="华文新魏" pitchFamily="2" charset="-122"/>
            </a:endParaRPr>
          </a:p>
        </p:txBody>
      </p:sp>
      <p:sp>
        <p:nvSpPr>
          <p:cNvPr id="345091" name="Rectangle 3"/>
          <p:cNvSpPr>
            <a:spLocks noGrp="1" noChangeArrowheads="1"/>
          </p:cNvSpPr>
          <p:nvPr>
            <p:ph idx="1"/>
          </p:nvPr>
        </p:nvSpPr>
        <p:spPr>
          <a:xfrm>
            <a:off x="971550" y="1916113"/>
            <a:ext cx="7831138" cy="4249737"/>
          </a:xfrm>
        </p:spPr>
        <p:txBody>
          <a:bodyPr lIns="92075" tIns="46038" rIns="92075" bIns="46038"/>
          <a:lstStyle/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procedure T; 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  begin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      F;	                  			</a:t>
            </a:r>
            <a:r>
              <a:rPr lang="zh-CN" altLang="en-US" sz="2800" b="1" smtClean="0">
                <a:latin typeface="Times New Roman" pitchFamily="18" charset="0"/>
                <a:ea typeface="华文新魏" pitchFamily="2" charset="-122"/>
              </a:rPr>
              <a:t>调用过程</a:t>
            </a: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F</a:t>
            </a:r>
            <a:endParaRPr lang="zh-CN" altLang="en-US" sz="2800" b="1" smtClean="0">
              <a:latin typeface="Times New Roman" pitchFamily="18" charset="0"/>
              <a:ea typeface="华文新魏" pitchFamily="2" charset="-122"/>
            </a:endParaRP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zh-CN" altLang="en-US" sz="2800" b="1" smtClean="0">
                <a:latin typeface="Times New Roman" pitchFamily="18" charset="0"/>
                <a:ea typeface="华文新魏" pitchFamily="2" charset="-122"/>
              </a:rPr>
              <a:t>      </a:t>
            </a: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while lookhead='*' then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        begin    			</a:t>
            </a:r>
            <a:r>
              <a:rPr lang="zh-CN" altLang="en-US" sz="2800" b="1" smtClean="0">
                <a:latin typeface="Times New Roman" pitchFamily="18" charset="0"/>
                <a:ea typeface="华文新魏" pitchFamily="2" charset="-122"/>
              </a:rPr>
              <a:t>当前符号等于＊时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zh-CN" altLang="en-US" sz="2800" b="1" smtClean="0">
                <a:latin typeface="Times New Roman" pitchFamily="18" charset="0"/>
                <a:ea typeface="华文新魏" pitchFamily="2" charset="-122"/>
              </a:rPr>
              <a:t>            </a:t>
            </a: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match('*');      		</a:t>
            </a:r>
            <a:r>
              <a:rPr lang="zh-CN" altLang="en-US" sz="2800" b="1" smtClean="0">
                <a:latin typeface="Times New Roman" pitchFamily="18" charset="0"/>
                <a:ea typeface="华文新魏" pitchFamily="2" charset="-122"/>
              </a:rPr>
              <a:t>处理终结符＊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zh-CN" altLang="en-US" sz="2800" b="1" smtClean="0">
                <a:latin typeface="Times New Roman" pitchFamily="18" charset="0"/>
                <a:ea typeface="华文新魏" pitchFamily="2" charset="-122"/>
              </a:rPr>
              <a:t>            </a:t>
            </a: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F             			</a:t>
            </a:r>
            <a:r>
              <a:rPr lang="zh-CN" altLang="en-US" sz="2800" b="1" smtClean="0">
                <a:latin typeface="Times New Roman" pitchFamily="18" charset="0"/>
                <a:ea typeface="华文新魏" pitchFamily="2" charset="-122"/>
              </a:rPr>
              <a:t>调用过程</a:t>
            </a: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F</a:t>
            </a:r>
            <a:endParaRPr lang="zh-CN" altLang="en-US" sz="2800" b="1" smtClean="0">
              <a:latin typeface="Times New Roman" pitchFamily="18" charset="0"/>
              <a:ea typeface="华文新魏" pitchFamily="2" charset="-122"/>
            </a:endParaRP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zh-CN" altLang="en-US" sz="2800" b="1" smtClean="0">
                <a:latin typeface="Times New Roman" pitchFamily="18" charset="0"/>
                <a:ea typeface="华文新魏" pitchFamily="2" charset="-122"/>
              </a:rPr>
              <a:t>        </a:t>
            </a: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end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  end;</a:t>
            </a:r>
          </a:p>
        </p:txBody>
      </p:sp>
      <p:sp>
        <p:nvSpPr>
          <p:cNvPr id="98308" name="日期占位符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9A97605E-9163-466A-A0BC-C105C4EDB115}" type="datetime1">
              <a:rPr lang="zh-CN" altLang="en-US" smtClean="0"/>
              <a:pPr eaLnBrk="1" hangingPunct="1"/>
              <a:t>2017/2/24</a:t>
            </a:fld>
            <a:endParaRPr lang="en-US" altLang="zh-CN" smtClean="0"/>
          </a:p>
        </p:txBody>
      </p:sp>
      <p:sp>
        <p:nvSpPr>
          <p:cNvPr id="98309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9657DD21-5769-4C1B-9052-13F51BDE0798}" type="slidenum">
              <a:rPr lang="zh-CN" altLang="en-US" smtClean="0"/>
              <a:pPr eaLnBrk="1" hangingPunct="1"/>
              <a:t>85</a:t>
            </a:fld>
            <a:endParaRPr lang="en-US" altLang="zh-CN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114" name="Rectangle 2"/>
          <p:cNvSpPr>
            <a:spLocks noGrp="1" noChangeArrowheads="1"/>
          </p:cNvSpPr>
          <p:nvPr>
            <p:ph type="title"/>
          </p:nvPr>
        </p:nvSpPr>
        <p:spPr>
          <a:xfrm>
            <a:off x="971550" y="836613"/>
            <a:ext cx="7299325" cy="825500"/>
          </a:xfrm>
        </p:spPr>
        <p:txBody>
          <a:bodyPr lIns="92075" tIns="46038" rIns="92075" bIns="46038"/>
          <a:lstStyle/>
          <a:p>
            <a:pPr eaLnBrk="1" hangingPunct="1">
              <a:defRPr/>
            </a:pPr>
            <a:r>
              <a:rPr lang="en-US" altLang="zh-CN" b="1">
                <a:solidFill>
                  <a:srgbClr val="000099"/>
                </a:solidFill>
                <a:latin typeface="Times New Roman" pitchFamily="18" charset="0"/>
                <a:ea typeface="华文新魏" pitchFamily="2" charset="-122"/>
              </a:rPr>
              <a:t>F</a:t>
            </a:r>
            <a:r>
              <a:rPr lang="zh-CN" altLang="en-US" b="1">
                <a:solidFill>
                  <a:srgbClr val="000099"/>
                </a:solidFill>
                <a:latin typeface="Times New Roman" pitchFamily="18" charset="0"/>
                <a:ea typeface="华文新魏" pitchFamily="2" charset="-122"/>
              </a:rPr>
              <a:t>的子程序：</a:t>
            </a:r>
            <a:r>
              <a:rPr lang="en-US" altLang="zh-CN" b="1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F→(E)|id</a:t>
            </a:r>
            <a:endParaRPr lang="en-US" altLang="zh-CN" b="1">
              <a:solidFill>
                <a:schemeClr val="hlink"/>
              </a:solidFill>
              <a:latin typeface="Times New Roman" pitchFamily="18" charset="0"/>
              <a:ea typeface="华文新魏" pitchFamily="2" charset="-122"/>
            </a:endParaRPr>
          </a:p>
        </p:txBody>
      </p:sp>
      <p:sp>
        <p:nvSpPr>
          <p:cNvPr id="346115" name="Rectangle 3"/>
          <p:cNvSpPr>
            <a:spLocks noGrp="1" noChangeArrowheads="1"/>
          </p:cNvSpPr>
          <p:nvPr>
            <p:ph idx="1"/>
          </p:nvPr>
        </p:nvSpPr>
        <p:spPr>
          <a:xfrm>
            <a:off x="1104900" y="1700213"/>
            <a:ext cx="6707188" cy="4800600"/>
          </a:xfrm>
        </p:spPr>
        <p:txBody>
          <a:bodyPr lIns="92075" tIns="46038" rIns="92075" bIns="46038"/>
          <a:lstStyle/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400" b="1" smtClean="0">
                <a:latin typeface="Times New Roman" pitchFamily="18" charset="0"/>
                <a:ea typeface="华文新魏" pitchFamily="2" charset="-122"/>
              </a:rPr>
              <a:t>procedure F; 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400" b="1" smtClean="0">
                <a:latin typeface="Times New Roman" pitchFamily="18" charset="0"/>
                <a:ea typeface="华文新魏" pitchFamily="2" charset="-122"/>
              </a:rPr>
              <a:t>  begin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400" b="1" smtClean="0">
                <a:latin typeface="Times New Roman" pitchFamily="18" charset="0"/>
                <a:ea typeface="华文新魏" pitchFamily="2" charset="-122"/>
              </a:rPr>
              <a:t>      if lookhead='(' then 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400" b="1" smtClean="0">
                <a:latin typeface="Times New Roman" pitchFamily="18" charset="0"/>
                <a:ea typeface="华文新魏" pitchFamily="2" charset="-122"/>
              </a:rPr>
              <a:t>          begin    			</a:t>
            </a:r>
            <a:r>
              <a:rPr lang="zh-CN" altLang="en-US" sz="2400" b="1" smtClean="0">
                <a:latin typeface="Times New Roman" pitchFamily="18" charset="0"/>
                <a:ea typeface="华文新魏" pitchFamily="2" charset="-122"/>
              </a:rPr>
              <a:t>当前符号等于</a:t>
            </a:r>
            <a:r>
              <a:rPr lang="en-US" altLang="zh-CN" sz="2400" b="1" smtClean="0">
                <a:latin typeface="Times New Roman" pitchFamily="18" charset="0"/>
                <a:ea typeface="华文新魏" pitchFamily="2" charset="-122"/>
              </a:rPr>
              <a:t>(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zh-CN" altLang="en-US" sz="2400" b="1" smtClean="0">
                <a:latin typeface="Times New Roman" pitchFamily="18" charset="0"/>
                <a:ea typeface="华文新魏" pitchFamily="2" charset="-122"/>
              </a:rPr>
              <a:t>              </a:t>
            </a:r>
            <a:r>
              <a:rPr lang="en-US" altLang="zh-CN" sz="2400" b="1" smtClean="0">
                <a:latin typeface="Times New Roman" pitchFamily="18" charset="0"/>
                <a:ea typeface="华文新魏" pitchFamily="2" charset="-122"/>
              </a:rPr>
              <a:t>match('(');		</a:t>
            </a:r>
            <a:r>
              <a:rPr lang="zh-CN" altLang="en-US" sz="2400" b="1" smtClean="0">
                <a:latin typeface="Times New Roman" pitchFamily="18" charset="0"/>
                <a:ea typeface="华文新魏" pitchFamily="2" charset="-122"/>
              </a:rPr>
              <a:t>处理终结符</a:t>
            </a:r>
            <a:r>
              <a:rPr lang="en-US" altLang="zh-CN" sz="2400" b="1" smtClean="0">
                <a:latin typeface="Times New Roman" pitchFamily="18" charset="0"/>
                <a:ea typeface="华文新魏" pitchFamily="2" charset="-122"/>
              </a:rPr>
              <a:t>(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zh-CN" altLang="en-US" sz="2400" b="1" smtClean="0">
                <a:latin typeface="Times New Roman" pitchFamily="18" charset="0"/>
                <a:ea typeface="华文新魏" pitchFamily="2" charset="-122"/>
              </a:rPr>
              <a:t>              </a:t>
            </a:r>
            <a:r>
              <a:rPr lang="en-US" altLang="zh-CN" sz="2400" b="1" smtClean="0">
                <a:latin typeface="Times New Roman" pitchFamily="18" charset="0"/>
                <a:ea typeface="华文新魏" pitchFamily="2" charset="-122"/>
              </a:rPr>
              <a:t>E;			</a:t>
            </a:r>
            <a:r>
              <a:rPr lang="zh-CN" altLang="en-US" sz="2400" b="1" smtClean="0">
                <a:latin typeface="Times New Roman" pitchFamily="18" charset="0"/>
                <a:ea typeface="华文新魏" pitchFamily="2" charset="-122"/>
              </a:rPr>
              <a:t>调用过程</a:t>
            </a:r>
            <a:r>
              <a:rPr lang="en-US" altLang="zh-CN" sz="2400" b="1" smtClean="0">
                <a:latin typeface="Times New Roman" pitchFamily="18" charset="0"/>
                <a:ea typeface="华文新魏" pitchFamily="2" charset="-122"/>
              </a:rPr>
              <a:t>E</a:t>
            </a:r>
            <a:endParaRPr lang="zh-CN" altLang="en-US" sz="2400" b="1" smtClean="0">
              <a:latin typeface="Times New Roman" pitchFamily="18" charset="0"/>
              <a:ea typeface="华文新魏" pitchFamily="2" charset="-122"/>
            </a:endParaRP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zh-CN" altLang="en-US" sz="2400" b="1" smtClean="0">
                <a:latin typeface="Times New Roman" pitchFamily="18" charset="0"/>
                <a:ea typeface="华文新魏" pitchFamily="2" charset="-122"/>
              </a:rPr>
              <a:t>              </a:t>
            </a:r>
            <a:r>
              <a:rPr lang="en-US" altLang="zh-CN" sz="2400" b="1" smtClean="0">
                <a:latin typeface="Times New Roman" pitchFamily="18" charset="0"/>
                <a:ea typeface="华文新魏" pitchFamily="2" charset="-122"/>
              </a:rPr>
              <a:t>match(')'); 		</a:t>
            </a:r>
            <a:r>
              <a:rPr lang="zh-CN" altLang="en-US" sz="2400" b="1" smtClean="0">
                <a:latin typeface="Times New Roman" pitchFamily="18" charset="0"/>
                <a:ea typeface="华文新魏" pitchFamily="2" charset="-122"/>
              </a:rPr>
              <a:t>处理终结符</a:t>
            </a:r>
            <a:r>
              <a:rPr lang="en-US" altLang="zh-CN" sz="2400" b="1" smtClean="0">
                <a:latin typeface="Times New Roman" pitchFamily="18" charset="0"/>
                <a:ea typeface="华文新魏" pitchFamily="2" charset="-122"/>
              </a:rPr>
              <a:t>)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zh-CN" altLang="en-US" sz="2400" b="1" smtClean="0">
                <a:latin typeface="Times New Roman" pitchFamily="18" charset="0"/>
                <a:ea typeface="华文新魏" pitchFamily="2" charset="-122"/>
              </a:rPr>
              <a:t>          </a:t>
            </a:r>
            <a:r>
              <a:rPr lang="en-US" altLang="zh-CN" sz="2400" b="1" smtClean="0">
                <a:latin typeface="Times New Roman" pitchFamily="18" charset="0"/>
                <a:ea typeface="华文新魏" pitchFamily="2" charset="-122"/>
              </a:rPr>
              <a:t>end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400" b="1" smtClean="0">
                <a:latin typeface="Times New Roman" pitchFamily="18" charset="0"/>
                <a:ea typeface="华文新魏" pitchFamily="2" charset="-122"/>
              </a:rPr>
              <a:t>      else if lookhead=id then 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400" b="1" smtClean="0">
                <a:latin typeface="Times New Roman" pitchFamily="18" charset="0"/>
                <a:ea typeface="华文新魏" pitchFamily="2" charset="-122"/>
              </a:rPr>
              <a:t>			match(id) 	</a:t>
            </a:r>
            <a:r>
              <a:rPr lang="zh-CN" altLang="en-US" sz="2400" b="1" smtClean="0">
                <a:latin typeface="Times New Roman" pitchFamily="18" charset="0"/>
                <a:ea typeface="华文新魏" pitchFamily="2" charset="-122"/>
              </a:rPr>
              <a:t>处理终结符</a:t>
            </a:r>
            <a:r>
              <a:rPr lang="en-US" altLang="zh-CN" sz="2400" b="1" smtClean="0">
                <a:latin typeface="Times New Roman" pitchFamily="18" charset="0"/>
                <a:ea typeface="华文新魏" pitchFamily="2" charset="-122"/>
              </a:rPr>
              <a:t>id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400" b="1" smtClean="0">
                <a:latin typeface="Times New Roman" pitchFamily="18" charset="0"/>
                <a:ea typeface="华文新魏" pitchFamily="2" charset="-122"/>
              </a:rPr>
              <a:t>      else error            		</a:t>
            </a:r>
            <a:r>
              <a:rPr lang="zh-CN" altLang="en-US" sz="2400" b="1" smtClean="0">
                <a:latin typeface="Times New Roman" pitchFamily="18" charset="0"/>
                <a:ea typeface="华文新魏" pitchFamily="2" charset="-122"/>
              </a:rPr>
              <a:t>出错处理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zh-CN" altLang="en-US" sz="2400" b="1" smtClean="0">
                <a:latin typeface="Times New Roman" pitchFamily="18" charset="0"/>
                <a:ea typeface="华文新魏" pitchFamily="2" charset="-122"/>
              </a:rPr>
              <a:t>  </a:t>
            </a:r>
            <a:r>
              <a:rPr lang="en-US" altLang="zh-CN" sz="2400" b="1" smtClean="0">
                <a:latin typeface="Times New Roman" pitchFamily="18" charset="0"/>
                <a:ea typeface="华文新魏" pitchFamily="2" charset="-122"/>
              </a:rPr>
              <a:t>end</a:t>
            </a:r>
          </a:p>
        </p:txBody>
      </p:sp>
      <p:sp>
        <p:nvSpPr>
          <p:cNvPr id="99332" name="日期占位符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57C80D6E-C2E7-48A7-A801-F9E1090D233F}" type="datetime1">
              <a:rPr lang="zh-CN" altLang="en-US" smtClean="0"/>
              <a:pPr eaLnBrk="1" hangingPunct="1"/>
              <a:t>2017/2/24</a:t>
            </a:fld>
            <a:endParaRPr lang="en-US" altLang="zh-CN" smtClean="0"/>
          </a:p>
        </p:txBody>
      </p:sp>
      <p:sp>
        <p:nvSpPr>
          <p:cNvPr id="99333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6886DC05-63AF-4682-99DB-E264201A6FBF}" type="slidenum">
              <a:rPr lang="zh-CN" altLang="en-US" smtClean="0"/>
              <a:pPr eaLnBrk="1" hangingPunct="1"/>
              <a:t>86</a:t>
            </a:fld>
            <a:endParaRPr lang="en-US" altLang="zh-CN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2"/>
          <p:cNvSpPr>
            <a:spLocks noGrp="1" noChangeArrowheads="1"/>
          </p:cNvSpPr>
          <p:nvPr>
            <p:ph type="title"/>
          </p:nvPr>
        </p:nvSpPr>
        <p:spPr>
          <a:xfrm>
            <a:off x="1606550" y="334963"/>
            <a:ext cx="4478338" cy="71755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CN" altLang="en-US" b="1" smtClean="0">
                <a:solidFill>
                  <a:srgbClr val="000099"/>
                </a:solidFill>
                <a:latin typeface="Times New Roman" pitchFamily="18" charset="0"/>
                <a:ea typeface="华文新魏" pitchFamily="2" charset="-122"/>
              </a:rPr>
              <a:t>主程序</a:t>
            </a:r>
          </a:p>
        </p:txBody>
      </p:sp>
      <p:sp>
        <p:nvSpPr>
          <p:cNvPr id="347139" name="Rectangle 3"/>
          <p:cNvSpPr>
            <a:spLocks noGrp="1" noChangeArrowheads="1"/>
          </p:cNvSpPr>
          <p:nvPr>
            <p:ph idx="1"/>
          </p:nvPr>
        </p:nvSpPr>
        <p:spPr>
          <a:xfrm>
            <a:off x="1049338" y="1327150"/>
            <a:ext cx="7632700" cy="1752600"/>
          </a:xfrm>
          <a:solidFill>
            <a:srgbClr val="006666"/>
          </a:solidFill>
        </p:spPr>
        <p:txBody>
          <a:bodyPr/>
          <a:lstStyle/>
          <a:p>
            <a:pPr eaLnBrk="1" hangingPunct="1">
              <a:lnSpc>
                <a:spcPct val="80000"/>
              </a:lnSpc>
              <a:spcBef>
                <a:spcPct val="10000"/>
              </a:spcBef>
              <a:buFont typeface="Wingdings" pitchFamily="2" charset="2"/>
              <a:buNone/>
            </a:pPr>
            <a:r>
              <a:rPr lang="en-US" altLang="zh-CN" sz="2800" b="1" smtClean="0">
                <a:solidFill>
                  <a:schemeClr val="bg1"/>
                </a:solidFill>
                <a:latin typeface="Times New Roman" pitchFamily="18" charset="0"/>
                <a:ea typeface="华文新魏" pitchFamily="2" charset="-122"/>
              </a:rPr>
              <a:t>begin 	 	</a:t>
            </a:r>
          </a:p>
          <a:p>
            <a:pPr eaLnBrk="1" hangingPunct="1">
              <a:lnSpc>
                <a:spcPct val="80000"/>
              </a:lnSpc>
              <a:spcBef>
                <a:spcPct val="10000"/>
              </a:spcBef>
              <a:buFont typeface="Wingdings" pitchFamily="2" charset="2"/>
              <a:buNone/>
            </a:pPr>
            <a:r>
              <a:rPr lang="en-US" altLang="zh-CN" sz="2800" b="1" smtClean="0">
                <a:solidFill>
                  <a:schemeClr val="bg1"/>
                </a:solidFill>
                <a:latin typeface="Times New Roman" pitchFamily="18" charset="0"/>
                <a:ea typeface="华文新魏" pitchFamily="2" charset="-122"/>
              </a:rPr>
              <a:t>    lookhead:=nexttoken;	</a:t>
            </a:r>
            <a:r>
              <a:rPr lang="zh-CN" altLang="en-US" sz="2800" b="1" smtClean="0">
                <a:solidFill>
                  <a:schemeClr val="bg1"/>
                </a:solidFill>
                <a:latin typeface="Times New Roman" pitchFamily="18" charset="0"/>
                <a:ea typeface="华文新魏" pitchFamily="2" charset="-122"/>
              </a:rPr>
              <a:t>调词法分析程序</a:t>
            </a:r>
          </a:p>
          <a:p>
            <a:pPr eaLnBrk="1" hangingPunct="1">
              <a:lnSpc>
                <a:spcPct val="80000"/>
              </a:lnSpc>
              <a:spcBef>
                <a:spcPct val="10000"/>
              </a:spcBef>
              <a:buFont typeface="Wingdings" pitchFamily="2" charset="2"/>
              <a:buNone/>
            </a:pPr>
            <a:r>
              <a:rPr lang="zh-CN" altLang="en-US" sz="2800" b="1" smtClean="0">
                <a:solidFill>
                  <a:schemeClr val="bg1"/>
                </a:solidFill>
                <a:latin typeface="Times New Roman" pitchFamily="18" charset="0"/>
                <a:ea typeface="华文新魏" pitchFamily="2" charset="-122"/>
              </a:rPr>
              <a:t>    </a:t>
            </a:r>
            <a:r>
              <a:rPr lang="en-US" altLang="zh-CN" sz="2800" b="1" smtClean="0">
                <a:solidFill>
                  <a:schemeClr val="bg1"/>
                </a:solidFill>
                <a:latin typeface="Times New Roman" pitchFamily="18" charset="0"/>
                <a:ea typeface="华文新魏" pitchFamily="2" charset="-122"/>
              </a:rPr>
              <a:t>E 			   		</a:t>
            </a:r>
            <a:r>
              <a:rPr lang="zh-CN" altLang="en-US" sz="2800" b="1" smtClean="0">
                <a:solidFill>
                  <a:schemeClr val="bg1"/>
                </a:solidFill>
                <a:latin typeface="Times New Roman" pitchFamily="18" charset="0"/>
                <a:ea typeface="华文新魏" pitchFamily="2" charset="-122"/>
              </a:rPr>
              <a:t>调用过程</a:t>
            </a:r>
            <a:r>
              <a:rPr lang="en-US" altLang="zh-CN" sz="2800" b="1" smtClean="0">
                <a:solidFill>
                  <a:schemeClr val="bg1"/>
                </a:solidFill>
                <a:latin typeface="Times New Roman" pitchFamily="18" charset="0"/>
                <a:ea typeface="华文新魏" pitchFamily="2" charset="-122"/>
              </a:rPr>
              <a:t>E</a:t>
            </a:r>
            <a:endParaRPr lang="zh-CN" altLang="en-US" sz="2800" b="1" smtClean="0">
              <a:solidFill>
                <a:schemeClr val="bg1"/>
              </a:solidFill>
              <a:latin typeface="Times New Roman" pitchFamily="18" charset="0"/>
              <a:ea typeface="华文新魏" pitchFamily="2" charset="-122"/>
            </a:endParaRPr>
          </a:p>
          <a:p>
            <a:pPr eaLnBrk="1" hangingPunct="1">
              <a:lnSpc>
                <a:spcPct val="80000"/>
              </a:lnSpc>
              <a:spcBef>
                <a:spcPct val="10000"/>
              </a:spcBef>
              <a:buFont typeface="Wingdings" pitchFamily="2" charset="2"/>
              <a:buNone/>
            </a:pPr>
            <a:r>
              <a:rPr lang="en-US" altLang="zh-CN" sz="2800" b="1" smtClean="0">
                <a:solidFill>
                  <a:schemeClr val="bg1"/>
                </a:solidFill>
                <a:latin typeface="Times New Roman" pitchFamily="18" charset="0"/>
                <a:ea typeface="华文新魏" pitchFamily="2" charset="-122"/>
              </a:rPr>
              <a:t>end 					</a:t>
            </a:r>
          </a:p>
        </p:txBody>
      </p:sp>
      <p:sp>
        <p:nvSpPr>
          <p:cNvPr id="100356" name="日期占位符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1539F89B-CB68-49F8-9605-91A1A35B7EDE}" type="datetime1">
              <a:rPr lang="zh-CN" altLang="en-US" smtClean="0"/>
              <a:pPr eaLnBrk="1" hangingPunct="1"/>
              <a:t>2017/2/24</a:t>
            </a:fld>
            <a:endParaRPr lang="en-US" altLang="zh-CN" smtClean="0"/>
          </a:p>
        </p:txBody>
      </p:sp>
      <p:sp>
        <p:nvSpPr>
          <p:cNvPr id="100357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6E0D7689-A7F1-426D-BD36-0BBEBB5D4FD7}" type="slidenum">
              <a:rPr lang="zh-CN" altLang="en-US" smtClean="0"/>
              <a:pPr eaLnBrk="1" hangingPunct="1"/>
              <a:t>87</a:t>
            </a:fld>
            <a:endParaRPr lang="en-US" altLang="zh-CN" smtClean="0"/>
          </a:p>
        </p:txBody>
      </p:sp>
      <p:sp>
        <p:nvSpPr>
          <p:cNvPr id="347140" name="Rectangle 4"/>
          <p:cNvSpPr>
            <a:spLocks noChangeArrowheads="1"/>
          </p:cNvSpPr>
          <p:nvPr/>
        </p:nvSpPr>
        <p:spPr bwMode="auto">
          <a:xfrm>
            <a:off x="1042988" y="3644900"/>
            <a:ext cx="7710487" cy="2825750"/>
          </a:xfrm>
          <a:prstGeom prst="rect">
            <a:avLst/>
          </a:prstGeom>
          <a:solidFill>
            <a:srgbClr val="006666"/>
          </a:solidFill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>
            <a:spAutoFit/>
          </a:bodyPr>
          <a:lstStyle/>
          <a:p>
            <a:pPr eaLnBrk="0" hangingPunct="0"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procedure match(t:token); </a:t>
            </a:r>
          </a:p>
          <a:p>
            <a:pPr eaLnBrk="0" hangingPunct="0"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  begin</a:t>
            </a:r>
          </a:p>
          <a:p>
            <a:pPr eaLnBrk="0" hangingPunct="0"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      if </a:t>
            </a:r>
            <a:r>
              <a:rPr kumimoji="1" lang="en-US" altLang="zh-CN" sz="28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lookhead</a:t>
            </a:r>
            <a:r>
              <a:rPr kumimoji="1" lang="en-US" altLang="zh-CN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=t  then  </a:t>
            </a:r>
          </a:p>
          <a:p>
            <a:pPr eaLnBrk="0" hangingPunct="0"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            </a:t>
            </a:r>
            <a:r>
              <a:rPr kumimoji="1" lang="en-US" altLang="zh-CN" sz="28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lookhead</a:t>
            </a:r>
            <a:r>
              <a:rPr kumimoji="1" lang="en-US" altLang="zh-CN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:=</a:t>
            </a:r>
            <a:r>
              <a:rPr kumimoji="1" lang="en-US" altLang="zh-CN" sz="28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nexttoken</a:t>
            </a:r>
            <a:r>
              <a:rPr kumimoji="1" lang="en-US" altLang="zh-CN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         </a:t>
            </a:r>
          </a:p>
          <a:p>
            <a:pPr eaLnBrk="0" hangingPunct="0"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      else error         </a:t>
            </a:r>
            <a:r>
              <a:rPr kumimoji="1" lang="zh-CN" altLang="en-US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华文新魏" pitchFamily="2" charset="-122"/>
                <a:ea typeface="华文新魏" pitchFamily="2" charset="-122"/>
              </a:rPr>
              <a:t>出错处理程序</a:t>
            </a:r>
          </a:p>
          <a:p>
            <a:pPr eaLnBrk="0" hangingPunct="0"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zh-CN" altLang="en-US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  </a:t>
            </a:r>
            <a:r>
              <a:rPr kumimoji="1" lang="en-US" altLang="zh-CN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end</a:t>
            </a:r>
          </a:p>
        </p:txBody>
      </p:sp>
      <p:sp>
        <p:nvSpPr>
          <p:cNvPr id="347141" name="Rectangle 5"/>
          <p:cNvSpPr>
            <a:spLocks noChangeArrowheads="1"/>
          </p:cNvSpPr>
          <p:nvPr/>
        </p:nvSpPr>
        <p:spPr bwMode="auto">
          <a:xfrm>
            <a:off x="381000" y="3141663"/>
            <a:ext cx="77724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 anchor="ctr"/>
          <a:lstStyle/>
          <a:p>
            <a:pPr algn="ctr" eaLnBrk="0" hangingPunct="0">
              <a:lnSpc>
                <a:spcPct val="90000"/>
              </a:lnSpc>
            </a:pPr>
            <a:r>
              <a:rPr kumimoji="1" lang="zh-CN" altLang="en-US" sz="3200" b="1">
                <a:solidFill>
                  <a:schemeClr val="hlink"/>
                </a:solidFill>
                <a:latin typeface="华文新魏" pitchFamily="2" charset="-122"/>
                <a:ea typeface="华文新魏" pitchFamily="2" charset="-122"/>
              </a:rPr>
              <a:t>服务子程序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2"/>
          <p:cNvSpPr>
            <a:spLocks noGrp="1" noChangeArrowheads="1"/>
          </p:cNvSpPr>
          <p:nvPr>
            <p:ph type="title"/>
          </p:nvPr>
        </p:nvSpPr>
        <p:spPr>
          <a:xfrm>
            <a:off x="1152525" y="319088"/>
            <a:ext cx="7048500" cy="1265237"/>
          </a:xfrm>
        </p:spPr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zh-CN" altLang="en-US" b="1" smtClean="0">
                <a:solidFill>
                  <a:srgbClr val="000099"/>
                </a:solidFill>
                <a:latin typeface="Times New Roman" pitchFamily="18" charset="0"/>
                <a:ea typeface="华文新魏" pitchFamily="2" charset="-122"/>
              </a:rPr>
              <a:t>递归子程序法小结</a:t>
            </a:r>
          </a:p>
        </p:txBody>
      </p:sp>
      <p:sp>
        <p:nvSpPr>
          <p:cNvPr id="348163" name="Rectangle 3"/>
          <p:cNvSpPr>
            <a:spLocks noGrp="1" noChangeArrowheads="1"/>
          </p:cNvSpPr>
          <p:nvPr>
            <p:ph idx="1"/>
          </p:nvPr>
        </p:nvSpPr>
        <p:spPr>
          <a:xfrm>
            <a:off x="685800" y="2057400"/>
            <a:ext cx="8229600" cy="4108450"/>
          </a:xfrm>
        </p:spPr>
        <p:txBody>
          <a:bodyPr/>
          <a:lstStyle/>
          <a:p>
            <a:pPr eaLnBrk="1" hangingPunct="1">
              <a:lnSpc>
                <a:spcPct val="120000"/>
              </a:lnSpc>
              <a:buFont typeface="Wingdings" pitchFamily="2" charset="2"/>
              <a:buNone/>
            </a:pPr>
            <a:r>
              <a:rPr lang="zh-CN" altLang="en-US" sz="2800" b="1" smtClean="0">
                <a:latin typeface="Times New Roman" pitchFamily="18" charset="0"/>
                <a:ea typeface="华文新魏" pitchFamily="2" charset="-122"/>
              </a:rPr>
              <a:t>1</a:t>
            </a: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. </a:t>
            </a:r>
            <a:r>
              <a:rPr lang="zh-CN" altLang="en-US" sz="2800" b="1" smtClean="0">
                <a:latin typeface="Times New Roman" pitchFamily="18" charset="0"/>
                <a:ea typeface="华文新魏" pitchFamily="2" charset="-122"/>
              </a:rPr>
              <a:t>构造文法</a:t>
            </a:r>
          </a:p>
          <a:p>
            <a:pPr eaLnBrk="1" hangingPunct="1">
              <a:lnSpc>
                <a:spcPct val="120000"/>
              </a:lnSpc>
              <a:buFont typeface="Wingdings" pitchFamily="2" charset="2"/>
              <a:buNone/>
            </a:pPr>
            <a:r>
              <a:rPr lang="zh-CN" altLang="en-US" sz="2800" b="1" smtClean="0">
                <a:latin typeface="Times New Roman" pitchFamily="18" charset="0"/>
                <a:ea typeface="华文新魏" pitchFamily="2" charset="-122"/>
              </a:rPr>
              <a:t>2</a:t>
            </a: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. </a:t>
            </a:r>
            <a:r>
              <a:rPr lang="zh-CN" altLang="en-US" sz="2800" b="1" smtClean="0">
                <a:latin typeface="Times New Roman" pitchFamily="18" charset="0"/>
                <a:ea typeface="华文新魏" pitchFamily="2" charset="-122"/>
              </a:rPr>
              <a:t>改造文法：消除二义性和左递归、提取左因子</a:t>
            </a:r>
          </a:p>
          <a:p>
            <a:pPr eaLnBrk="1" hangingPunct="1">
              <a:lnSpc>
                <a:spcPct val="120000"/>
              </a:lnSpc>
              <a:buFont typeface="Wingdings" pitchFamily="2" charset="2"/>
              <a:buNone/>
            </a:pPr>
            <a:r>
              <a:rPr lang="zh-CN" altLang="en-US" sz="2800" b="1" smtClean="0">
                <a:latin typeface="Times New Roman" pitchFamily="18" charset="0"/>
                <a:ea typeface="华文新魏" pitchFamily="2" charset="-122"/>
              </a:rPr>
              <a:t>3</a:t>
            </a: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. </a:t>
            </a:r>
            <a:r>
              <a:rPr lang="zh-CN" altLang="en-US" sz="2800" b="1" smtClean="0">
                <a:latin typeface="Times New Roman" pitchFamily="18" charset="0"/>
                <a:ea typeface="华文新魏" pitchFamily="2" charset="-122"/>
              </a:rPr>
              <a:t>求每个候选式的</a:t>
            </a: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FIRST</a:t>
            </a:r>
            <a:r>
              <a:rPr lang="zh-CN" altLang="zh-CN" sz="2800" b="1" smtClean="0">
                <a:latin typeface="Times New Roman" pitchFamily="18" charset="0"/>
                <a:ea typeface="华文新魏" pitchFamily="2" charset="-122"/>
              </a:rPr>
              <a:t>集和</a:t>
            </a:r>
            <a:r>
              <a:rPr lang="zh-CN" altLang="en-US" sz="2800" b="1" smtClean="0">
                <a:latin typeface="Times New Roman" pitchFamily="18" charset="0"/>
                <a:ea typeface="华文新魏" pitchFamily="2" charset="-122"/>
              </a:rPr>
              <a:t>每个变量的</a:t>
            </a: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FOLLOW</a:t>
            </a:r>
            <a:r>
              <a:rPr lang="zh-CN" altLang="zh-CN" sz="2800" b="1" smtClean="0">
                <a:latin typeface="Times New Roman" pitchFamily="18" charset="0"/>
                <a:ea typeface="华文新魏" pitchFamily="2" charset="-122"/>
              </a:rPr>
              <a:t>集</a:t>
            </a:r>
          </a:p>
          <a:p>
            <a:pPr eaLnBrk="1" hangingPunct="1">
              <a:lnSpc>
                <a:spcPct val="120000"/>
              </a:lnSpc>
              <a:buFont typeface="Wingdings" pitchFamily="2" charset="2"/>
              <a:buNone/>
            </a:pPr>
            <a:r>
              <a:rPr lang="zh-CN" altLang="zh-CN" sz="2800" b="1" smtClean="0">
                <a:latin typeface="Times New Roman" pitchFamily="18" charset="0"/>
                <a:ea typeface="华文新魏" pitchFamily="2" charset="-122"/>
              </a:rPr>
              <a:t>4</a:t>
            </a:r>
            <a:r>
              <a:rPr lang="zh-CN" altLang="en-US" sz="2800" b="1" smtClean="0">
                <a:latin typeface="Times New Roman" pitchFamily="18" charset="0"/>
                <a:ea typeface="华文新魏" pitchFamily="2" charset="-122"/>
              </a:rPr>
              <a:t>. </a:t>
            </a:r>
            <a:r>
              <a:rPr lang="zh-CN" altLang="zh-CN" sz="2800" b="1" smtClean="0">
                <a:latin typeface="Times New Roman" pitchFamily="18" charset="0"/>
                <a:ea typeface="华文新魏" pitchFamily="2" charset="-122"/>
              </a:rPr>
              <a:t>检查是不是 </a:t>
            </a: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LL(1) </a:t>
            </a:r>
            <a:r>
              <a:rPr lang="zh-CN" altLang="en-US" sz="2800" b="1" smtClean="0">
                <a:latin typeface="Times New Roman" pitchFamily="18" charset="0"/>
                <a:ea typeface="华文新魏" pitchFamily="2" charset="-122"/>
              </a:rPr>
              <a:t>文法</a:t>
            </a:r>
          </a:p>
          <a:p>
            <a:pPr lvl="1" eaLnBrk="1" hangingPunct="1">
              <a:lnSpc>
                <a:spcPct val="120000"/>
              </a:lnSpc>
            </a:pPr>
            <a:r>
              <a:rPr lang="zh-CN" altLang="en-US" sz="2400" b="1" smtClean="0">
                <a:latin typeface="Times New Roman" pitchFamily="18" charset="0"/>
                <a:ea typeface="华文新魏" pitchFamily="2" charset="-122"/>
              </a:rPr>
              <a:t>若不是 </a:t>
            </a:r>
            <a:r>
              <a:rPr lang="en-US" altLang="zh-CN" sz="2400" b="1" smtClean="0">
                <a:latin typeface="Times New Roman" pitchFamily="18" charset="0"/>
                <a:ea typeface="华文新魏" pitchFamily="2" charset="-122"/>
              </a:rPr>
              <a:t>LL(1)</a:t>
            </a:r>
            <a:r>
              <a:rPr lang="zh-CN" altLang="en-US" sz="2400" b="1" smtClean="0">
                <a:latin typeface="Times New Roman" pitchFamily="18" charset="0"/>
                <a:ea typeface="华文新魏" pitchFamily="2" charset="-122"/>
              </a:rPr>
              <a:t>，说明文法的复杂性超过递归分析方法的分析能力，需要附加新的“信息”</a:t>
            </a:r>
          </a:p>
        </p:txBody>
      </p:sp>
      <p:sp>
        <p:nvSpPr>
          <p:cNvPr id="101380" name="日期占位符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2317E945-D6E4-4531-B0AB-A2B0BC5ECDEA}" type="datetime1">
              <a:rPr lang="zh-CN" altLang="en-US" smtClean="0"/>
              <a:pPr eaLnBrk="1" hangingPunct="1"/>
              <a:t>2017/2/24</a:t>
            </a:fld>
            <a:endParaRPr lang="en-US" altLang="zh-CN" smtClean="0"/>
          </a:p>
        </p:txBody>
      </p:sp>
      <p:sp>
        <p:nvSpPr>
          <p:cNvPr id="101381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F3CCF891-D722-493F-B65B-B9A8488B2BB7}" type="slidenum">
              <a:rPr lang="zh-CN" altLang="en-US" smtClean="0"/>
              <a:pPr eaLnBrk="1" hangingPunct="1"/>
              <a:t>88</a:t>
            </a:fld>
            <a:endParaRPr lang="en-US" altLang="zh-CN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2"/>
          <p:cNvSpPr>
            <a:spLocks noGrp="1" noChangeArrowheads="1"/>
          </p:cNvSpPr>
          <p:nvPr>
            <p:ph type="title"/>
          </p:nvPr>
        </p:nvSpPr>
        <p:spPr>
          <a:xfrm>
            <a:off x="900113" y="692150"/>
            <a:ext cx="7337425" cy="992188"/>
          </a:xfrm>
        </p:spPr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zh-CN" altLang="en-US" b="1" smtClean="0">
                <a:solidFill>
                  <a:srgbClr val="000099"/>
                </a:solidFill>
                <a:latin typeface="Times New Roman" pitchFamily="18" charset="0"/>
                <a:ea typeface="华文新魏" pitchFamily="2" charset="-122"/>
              </a:rPr>
              <a:t>递归子程序法小结</a:t>
            </a:r>
          </a:p>
        </p:txBody>
      </p:sp>
      <p:sp>
        <p:nvSpPr>
          <p:cNvPr id="349187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981200"/>
            <a:ext cx="8458200" cy="4724400"/>
          </a:xfrm>
        </p:spPr>
        <p:txBody>
          <a:bodyPr/>
          <a:lstStyle/>
          <a:p>
            <a:pPr marL="0" indent="0" eaLnBrk="1" hangingPunct="1">
              <a:lnSpc>
                <a:spcPct val="120000"/>
              </a:lnSpc>
              <a:buFont typeface="Wingdings" pitchFamily="2" charset="2"/>
              <a:buNone/>
            </a:pP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5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. </a:t>
            </a: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按照 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LL(1) </a:t>
            </a: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文法画语法图</a:t>
            </a:r>
          </a:p>
          <a:p>
            <a:pPr marL="0" indent="0" eaLnBrk="1" hangingPunct="1">
              <a:lnSpc>
                <a:spcPct val="120000"/>
              </a:lnSpc>
              <a:buFont typeface="Wingdings" pitchFamily="2" charset="2"/>
              <a:buNone/>
            </a:pP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6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. </a:t>
            </a: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化简语法图</a:t>
            </a:r>
          </a:p>
          <a:p>
            <a:pPr marL="0" indent="0" eaLnBrk="1" hangingPunct="1">
              <a:lnSpc>
                <a:spcPct val="120000"/>
              </a:lnSpc>
              <a:buFont typeface="Wingdings" pitchFamily="2" charset="2"/>
              <a:buNone/>
            </a:pP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7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.</a:t>
            </a: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 按照语法图，编写程序</a:t>
            </a:r>
          </a:p>
          <a:p>
            <a:pPr marL="377825" lvl="1" indent="-100013" eaLnBrk="1" hangingPunct="1">
              <a:lnSpc>
                <a:spcPct val="120000"/>
              </a:lnSpc>
            </a:pPr>
            <a:r>
              <a:rPr lang="zh-CN" altLang="en-US" sz="3200" b="1" smtClean="0">
                <a:latin typeface="Times New Roman" pitchFamily="18" charset="0"/>
                <a:ea typeface="华文新魏" pitchFamily="2" charset="-122"/>
              </a:rPr>
              <a:t>为每个非终结符设置一个子程序。</a:t>
            </a:r>
          </a:p>
          <a:p>
            <a:pPr marL="0" indent="0" eaLnBrk="1" hangingPunct="1">
              <a:lnSpc>
                <a:spcPct val="120000"/>
              </a:lnSpc>
            </a:pP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事实上，如果有一个恰当的文法，可以直接根据每个语法变量的产生式设计相应的程序</a:t>
            </a:r>
          </a:p>
        </p:txBody>
      </p:sp>
      <p:sp>
        <p:nvSpPr>
          <p:cNvPr id="102404" name="日期占位符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1B15AB4C-557A-4104-B2A1-51E8D78A41D7}" type="datetime1">
              <a:rPr lang="zh-CN" altLang="en-US" smtClean="0"/>
              <a:pPr eaLnBrk="1" hangingPunct="1"/>
              <a:t>2017/2/24</a:t>
            </a:fld>
            <a:endParaRPr lang="en-US" altLang="zh-CN" smtClean="0"/>
          </a:p>
        </p:txBody>
      </p:sp>
      <p:sp>
        <p:nvSpPr>
          <p:cNvPr id="102405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4E645FE8-3A81-4B75-A674-8A3F9D22DE76}" type="slidenum">
              <a:rPr lang="zh-CN" altLang="en-US" smtClean="0"/>
              <a:pPr eaLnBrk="1" hangingPunct="1"/>
              <a:t>89</a:t>
            </a:fld>
            <a:endParaRPr lang="en-US" altLang="zh-CN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2"/>
          <p:cNvSpPr>
            <a:spLocks noGrp="1" noChangeArrowheads="1"/>
          </p:cNvSpPr>
          <p:nvPr>
            <p:ph type="title"/>
          </p:nvPr>
        </p:nvSpPr>
        <p:spPr>
          <a:xfrm>
            <a:off x="900113" y="404813"/>
            <a:ext cx="7570787" cy="915987"/>
          </a:xfrm>
          <a:noFill/>
        </p:spPr>
        <p:txBody>
          <a:bodyPr lIns="92075" tIns="46038" rIns="92075" bIns="46038"/>
          <a:lstStyle/>
          <a:p>
            <a:pPr eaLnBrk="1" hangingPunct="1"/>
            <a:r>
              <a:rPr lang="zh-CN" altLang="en-US" b="1" smtClean="0">
                <a:solidFill>
                  <a:srgbClr val="000099"/>
                </a:solidFill>
                <a:latin typeface="Times New Roman" pitchFamily="18" charset="0"/>
                <a:ea typeface="华文新魏" pitchFamily="2" charset="-122"/>
              </a:rPr>
              <a:t>优缺点分析</a:t>
            </a:r>
            <a:endParaRPr lang="zh-CN" altLang="en-US" sz="3200" b="1" smtClean="0">
              <a:solidFill>
                <a:srgbClr val="000099"/>
              </a:solidFill>
              <a:latin typeface="Times New Roman" pitchFamily="18" charset="0"/>
              <a:ea typeface="华文新魏" pitchFamily="2" charset="-122"/>
            </a:endParaRPr>
          </a:p>
        </p:txBody>
      </p:sp>
      <p:sp>
        <p:nvSpPr>
          <p:cNvPr id="350211" name="Rectangle 3"/>
          <p:cNvSpPr>
            <a:spLocks noGrp="1" noChangeArrowheads="1"/>
          </p:cNvSpPr>
          <p:nvPr>
            <p:ph idx="1"/>
          </p:nvPr>
        </p:nvSpPr>
        <p:spPr>
          <a:xfrm>
            <a:off x="684213" y="1555750"/>
            <a:ext cx="7750175" cy="4572000"/>
          </a:xfrm>
        </p:spPr>
        <p:txBody>
          <a:bodyPr lIns="92075" tIns="46038" rIns="92075" bIns="46038"/>
          <a:lstStyle/>
          <a:p>
            <a:pPr eaLnBrk="1" hangingPunct="1">
              <a:lnSpc>
                <a:spcPct val="90000"/>
              </a:lnSpc>
            </a:pP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优点</a:t>
            </a:r>
          </a:p>
          <a:p>
            <a:pPr lvl="1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1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. </a:t>
            </a: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直观、简单、可读性好</a:t>
            </a:r>
          </a:p>
          <a:p>
            <a:pPr lvl="1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2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. </a:t>
            </a: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便于扩充</a:t>
            </a:r>
          </a:p>
          <a:p>
            <a:pPr eaLnBrk="1" hangingPunct="1">
              <a:lnSpc>
                <a:spcPct val="90000"/>
              </a:lnSpc>
            </a:pP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缺点</a:t>
            </a:r>
          </a:p>
          <a:p>
            <a:pPr lvl="1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1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. </a:t>
            </a: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递归算法的实现效率低</a:t>
            </a:r>
          </a:p>
          <a:p>
            <a:pPr lvl="1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2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. </a:t>
            </a: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处理能力相对有限</a:t>
            </a:r>
          </a:p>
          <a:p>
            <a:pPr lvl="1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3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. </a:t>
            </a: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通用性差，难以自动生成</a:t>
            </a:r>
          </a:p>
          <a:p>
            <a:pPr eaLnBrk="1" hangingPunct="1">
              <a:lnSpc>
                <a:spcPct val="90000"/>
              </a:lnSpc>
            </a:pP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从递归子程序法及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FIRST</a:t>
            </a: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与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FOLLOW</a:t>
            </a: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集看如何进一步用好当前的输入符号？</a:t>
            </a:r>
          </a:p>
        </p:txBody>
      </p:sp>
      <p:sp>
        <p:nvSpPr>
          <p:cNvPr id="103428" name="日期占位符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FED38380-C304-4122-A97C-9930FB00371C}" type="datetime1">
              <a:rPr lang="zh-CN" altLang="en-US" smtClean="0"/>
              <a:pPr eaLnBrk="1" hangingPunct="1"/>
              <a:t>2017/2/24</a:t>
            </a:fld>
            <a:endParaRPr lang="en-US" altLang="zh-CN" smtClean="0"/>
          </a:p>
        </p:txBody>
      </p:sp>
      <p:sp>
        <p:nvSpPr>
          <p:cNvPr id="103429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0844F8DF-2B82-4663-A056-A18C31A32889}" type="slidenum">
              <a:rPr lang="zh-CN" altLang="en-US" smtClean="0"/>
              <a:pPr eaLnBrk="1" hangingPunct="1"/>
              <a:t>90</a:t>
            </a:fld>
            <a:endParaRPr lang="en-US" altLang="zh-CN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2"/>
          <p:cNvSpPr>
            <a:spLocks noGrp="1" noChangeArrowheads="1"/>
          </p:cNvSpPr>
          <p:nvPr>
            <p:ph type="title"/>
          </p:nvPr>
        </p:nvSpPr>
        <p:spPr>
          <a:xfrm>
            <a:off x="900113" y="836613"/>
            <a:ext cx="4248150" cy="774700"/>
          </a:xfrm>
        </p:spPr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zh-CN" altLang="en-US" b="1" smtClean="0">
                <a:solidFill>
                  <a:srgbClr val="000099"/>
                </a:solidFill>
                <a:latin typeface="Times New Roman" pitchFamily="18" charset="0"/>
                <a:ea typeface="华文新魏" pitchFamily="2" charset="-122"/>
              </a:rPr>
              <a:t>思考题</a:t>
            </a:r>
          </a:p>
        </p:txBody>
      </p:sp>
      <p:sp>
        <p:nvSpPr>
          <p:cNvPr id="105475" name="Rectangle 3"/>
          <p:cNvSpPr>
            <a:spLocks noGrp="1" noChangeArrowheads="1"/>
          </p:cNvSpPr>
          <p:nvPr>
            <p:ph idx="1"/>
          </p:nvPr>
        </p:nvSpPr>
        <p:spPr>
          <a:xfrm>
            <a:off x="468313" y="2060575"/>
            <a:ext cx="7913687" cy="4037013"/>
          </a:xfrm>
        </p:spPr>
        <p:txBody>
          <a:bodyPr/>
          <a:lstStyle/>
          <a:p>
            <a:pPr marL="0" indent="0" eaLnBrk="1" hangingPunct="1">
              <a:lnSpc>
                <a:spcPct val="120000"/>
              </a:lnSpc>
              <a:buFont typeface="Wingdings" pitchFamily="2" charset="2"/>
              <a:buNone/>
            </a:pP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1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. </a:t>
            </a: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能否直接用语法图描述 </a:t>
            </a:r>
            <a:r>
              <a:rPr lang="en-US" altLang="zh-CN" sz="3600" b="1" smtClean="0">
                <a:latin typeface="Times New Roman" pitchFamily="18" charset="0"/>
                <a:ea typeface="华文新魏" pitchFamily="2" charset="-122"/>
              </a:rPr>
              <a:t>E→E+E|E-E|E*E |E/E|-E|(E)|id|const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，</a:t>
            </a: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并用递归子程序法实现语法分析？为什么？</a:t>
            </a:r>
          </a:p>
          <a:p>
            <a:pPr marL="0" indent="0" eaLnBrk="1" hangingPunct="1">
              <a:lnSpc>
                <a:spcPct val="120000"/>
              </a:lnSpc>
              <a:buFont typeface="Wingdings" pitchFamily="2" charset="2"/>
              <a:buNone/>
            </a:pP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2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. </a:t>
            </a: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能否将各种单词的文法直接并入表达式语法，进行语法分析处理？试分析这样做利和弊。</a:t>
            </a:r>
          </a:p>
        </p:txBody>
      </p:sp>
      <p:sp>
        <p:nvSpPr>
          <p:cNvPr id="105476" name="日期占位符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B2F48681-6D65-4521-BAE9-1DC2B55439BD}" type="datetime1">
              <a:rPr lang="zh-CN" altLang="en-US" smtClean="0"/>
              <a:pPr eaLnBrk="1" hangingPunct="1"/>
              <a:t>2017/2/24</a:t>
            </a:fld>
            <a:endParaRPr lang="en-US" altLang="zh-CN" smtClean="0"/>
          </a:p>
        </p:txBody>
      </p:sp>
      <p:sp>
        <p:nvSpPr>
          <p:cNvPr id="105477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1BA02197-29E4-400A-9A36-C2C4BC222272}" type="slidenum">
              <a:rPr lang="zh-CN" altLang="en-US" smtClean="0"/>
              <a:pPr eaLnBrk="1" hangingPunct="1"/>
              <a:t>91</a:t>
            </a:fld>
            <a:endParaRPr lang="en-US" altLang="zh-CN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2"/>
          <p:cNvSpPr>
            <a:spLocks noGrp="1" noChangeArrowheads="1"/>
          </p:cNvSpPr>
          <p:nvPr>
            <p:ph type="title"/>
          </p:nvPr>
        </p:nvSpPr>
        <p:spPr>
          <a:xfrm>
            <a:off x="900113" y="476250"/>
            <a:ext cx="7570787" cy="1098550"/>
          </a:xfrm>
        </p:spPr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zh-CN" altLang="en-US" b="1" smtClean="0">
                <a:solidFill>
                  <a:srgbClr val="000099"/>
                </a:solidFill>
                <a:latin typeface="Times New Roman" pitchFamily="18" charset="0"/>
                <a:ea typeface="华文新魏" pitchFamily="2" charset="-122"/>
              </a:rPr>
              <a:t>上机题</a:t>
            </a:r>
            <a:r>
              <a:rPr lang="en-US" altLang="zh-CN" b="1" smtClean="0">
                <a:solidFill>
                  <a:srgbClr val="000099"/>
                </a:solidFill>
                <a:latin typeface="Times New Roman" pitchFamily="18" charset="0"/>
                <a:ea typeface="华文新魏" pitchFamily="2" charset="-122"/>
              </a:rPr>
              <a:t>(</a:t>
            </a:r>
            <a:r>
              <a:rPr lang="zh-CN" altLang="en-US" b="1" smtClean="0">
                <a:solidFill>
                  <a:srgbClr val="000099"/>
                </a:solidFill>
                <a:latin typeface="Times New Roman" pitchFamily="18" charset="0"/>
                <a:ea typeface="华文新魏" pitchFamily="2" charset="-122"/>
              </a:rPr>
              <a:t>选</a:t>
            </a:r>
            <a:r>
              <a:rPr lang="en-US" altLang="zh-CN" b="1" smtClean="0">
                <a:solidFill>
                  <a:srgbClr val="000099"/>
                </a:solidFill>
                <a:latin typeface="Times New Roman" pitchFamily="18" charset="0"/>
                <a:ea typeface="华文新魏" pitchFamily="2" charset="-122"/>
              </a:rPr>
              <a:t>)</a:t>
            </a:r>
          </a:p>
        </p:txBody>
      </p:sp>
      <p:sp>
        <p:nvSpPr>
          <p:cNvPr id="106499" name="Rectangle 3"/>
          <p:cNvSpPr>
            <a:spLocks noGrp="1" noChangeArrowheads="1"/>
          </p:cNvSpPr>
          <p:nvPr>
            <p:ph idx="1"/>
          </p:nvPr>
        </p:nvSpPr>
        <p:spPr>
          <a:xfrm>
            <a:off x="533400" y="1828800"/>
            <a:ext cx="8305800" cy="4267200"/>
          </a:xfrm>
        </p:spPr>
        <p:txBody>
          <a:bodyPr/>
          <a:lstStyle/>
          <a:p>
            <a:pPr lvl="1" eaLnBrk="1" hangingPunct="1">
              <a:spcBef>
                <a:spcPct val="0"/>
              </a:spcBef>
              <a:buFont typeface="Wingdings" pitchFamily="2" charset="2"/>
              <a:buNone/>
            </a:pPr>
            <a:r>
              <a:rPr lang="zh-CN" altLang="en-US" sz="3200" b="1" smtClean="0">
                <a:latin typeface="Times New Roman" pitchFamily="18" charset="0"/>
                <a:ea typeface="华文新魏" pitchFamily="2" charset="-122"/>
              </a:rPr>
              <a:t>给定下列文法：</a:t>
            </a:r>
          </a:p>
          <a:p>
            <a:pPr lvl="1" eaLnBrk="1" hangingPunct="1">
              <a:spcBef>
                <a:spcPct val="0"/>
              </a:spcBef>
            </a:pPr>
            <a:r>
              <a:rPr lang="zh-CN" altLang="en-US" sz="3200" b="1" smtClean="0">
                <a:latin typeface="Times New Roman" pitchFamily="18" charset="0"/>
                <a:ea typeface="华文新魏" pitchFamily="2" charset="-122"/>
              </a:rPr>
              <a:t>     </a:t>
            </a:r>
            <a:r>
              <a:rPr lang="en-US" altLang="zh-CN" sz="3200" b="1" smtClean="0">
                <a:latin typeface="Times New Roman" pitchFamily="18" charset="0"/>
                <a:ea typeface="华文新魏" pitchFamily="2" charset="-122"/>
              </a:rPr>
              <a:t>S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→</a:t>
            </a:r>
            <a:r>
              <a:rPr lang="en-US" altLang="zh-CN" sz="3200" b="1" smtClean="0">
                <a:latin typeface="Times New Roman" pitchFamily="18" charset="0"/>
                <a:ea typeface="华文新魏" pitchFamily="2" charset="-122"/>
              </a:rPr>
              <a:t>id=E; </a:t>
            </a:r>
          </a:p>
          <a:p>
            <a:pPr lvl="1" eaLnBrk="1" hangingPunct="1">
              <a:spcBef>
                <a:spcPct val="0"/>
              </a:spcBef>
            </a:pPr>
            <a:r>
              <a:rPr lang="en-US" altLang="zh-CN" sz="3200" b="1" smtClean="0">
                <a:latin typeface="Times New Roman" pitchFamily="18" charset="0"/>
                <a:ea typeface="华文新魏" pitchFamily="2" charset="-122"/>
              </a:rPr>
              <a:t>     S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→</a:t>
            </a:r>
            <a:r>
              <a:rPr lang="en-US" altLang="zh-CN" sz="3200" b="1" smtClean="0">
                <a:latin typeface="Times New Roman" pitchFamily="18" charset="0"/>
                <a:ea typeface="华文新魏" pitchFamily="2" charset="-122"/>
              </a:rPr>
              <a:t>if C then S</a:t>
            </a:r>
          </a:p>
          <a:p>
            <a:pPr lvl="1" eaLnBrk="1" hangingPunct="1">
              <a:spcBef>
                <a:spcPct val="0"/>
              </a:spcBef>
            </a:pPr>
            <a:r>
              <a:rPr lang="en-US" altLang="zh-CN" sz="3200" b="1" smtClean="0">
                <a:latin typeface="Times New Roman" pitchFamily="18" charset="0"/>
                <a:ea typeface="华文新魏" pitchFamily="2" charset="-122"/>
              </a:rPr>
              <a:t>     S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→</a:t>
            </a:r>
            <a:r>
              <a:rPr lang="en-US" altLang="zh-CN" sz="3200" b="1" smtClean="0">
                <a:latin typeface="Times New Roman" pitchFamily="18" charset="0"/>
                <a:ea typeface="华文新魏" pitchFamily="2" charset="-122"/>
              </a:rPr>
              <a:t>while C do S</a:t>
            </a:r>
          </a:p>
          <a:p>
            <a:pPr lvl="1" eaLnBrk="1" hangingPunct="1">
              <a:spcBef>
                <a:spcPct val="0"/>
              </a:spcBef>
            </a:pPr>
            <a:r>
              <a:rPr lang="en-US" altLang="zh-CN" sz="3200" b="1" smtClean="0">
                <a:latin typeface="Times New Roman" pitchFamily="18" charset="0"/>
                <a:ea typeface="华文新魏" pitchFamily="2" charset="-122"/>
              </a:rPr>
              <a:t>     C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→</a:t>
            </a:r>
            <a:r>
              <a:rPr lang="en-US" altLang="zh-CN" sz="3200" b="1" smtClean="0">
                <a:latin typeface="Times New Roman" pitchFamily="18" charset="0"/>
                <a:ea typeface="华文新魏" pitchFamily="2" charset="-122"/>
              </a:rPr>
              <a:t>E&gt;E</a:t>
            </a:r>
          </a:p>
          <a:p>
            <a:pPr lvl="1" eaLnBrk="1" hangingPunct="1">
              <a:spcBef>
                <a:spcPct val="0"/>
              </a:spcBef>
            </a:pPr>
            <a:r>
              <a:rPr lang="en-US" altLang="zh-CN" sz="3200" b="1" smtClean="0">
                <a:latin typeface="Times New Roman" pitchFamily="18" charset="0"/>
                <a:ea typeface="华文新魏" pitchFamily="2" charset="-122"/>
              </a:rPr>
              <a:t>     C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→</a:t>
            </a:r>
            <a:r>
              <a:rPr lang="en-US" altLang="zh-CN" sz="3200" b="1" smtClean="0">
                <a:latin typeface="Times New Roman" pitchFamily="18" charset="0"/>
                <a:ea typeface="华文新魏" pitchFamily="2" charset="-122"/>
              </a:rPr>
              <a:t>E&lt;=E</a:t>
            </a:r>
          </a:p>
          <a:p>
            <a:pPr lvl="1" eaLnBrk="1" hangingPunct="1">
              <a:spcBef>
                <a:spcPct val="0"/>
              </a:spcBef>
              <a:buFont typeface="Wingdings" pitchFamily="2" charset="2"/>
              <a:buNone/>
            </a:pPr>
            <a:r>
              <a:rPr lang="zh-CN" altLang="en-US" sz="3200" b="1" smtClean="0">
                <a:latin typeface="Times New Roman" pitchFamily="18" charset="0"/>
                <a:ea typeface="华文新魏" pitchFamily="2" charset="-122"/>
              </a:rPr>
              <a:t>用自顶向下的方法设计并实现语法分析程序，按照生成顺序输出产生式</a:t>
            </a:r>
          </a:p>
        </p:txBody>
      </p:sp>
      <p:sp>
        <p:nvSpPr>
          <p:cNvPr id="106500" name="日期占位符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2A86A214-D734-4A91-8997-3A8ABD91FFDD}" type="datetime1">
              <a:rPr lang="zh-CN" altLang="en-US" smtClean="0"/>
              <a:pPr eaLnBrk="1" hangingPunct="1"/>
              <a:t>2017/2/24</a:t>
            </a:fld>
            <a:endParaRPr lang="en-US" altLang="zh-CN" smtClean="0"/>
          </a:p>
        </p:txBody>
      </p:sp>
      <p:sp>
        <p:nvSpPr>
          <p:cNvPr id="106501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C1C83B75-C39B-4F47-9EBB-93E442B66ECC}" type="slidenum">
              <a:rPr lang="zh-CN" altLang="en-US" smtClean="0"/>
              <a:pPr eaLnBrk="1" hangingPunct="1"/>
              <a:t>92</a:t>
            </a:fld>
            <a:endParaRPr lang="en-US" altLang="zh-CN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诗情画意">
  <a:themeElements>
    <a:clrScheme name="诗情画意 1">
      <a:dk1>
        <a:srgbClr val="007A77"/>
      </a:dk1>
      <a:lt1>
        <a:srgbClr val="FFFFFF"/>
      </a:lt1>
      <a:dk2>
        <a:srgbClr val="003399"/>
      </a:dk2>
      <a:lt2>
        <a:srgbClr val="C0C0C0"/>
      </a:lt2>
      <a:accent1>
        <a:srgbClr val="EBF7FF"/>
      </a:accent1>
      <a:accent2>
        <a:srgbClr val="3366FF"/>
      </a:accent2>
      <a:accent3>
        <a:srgbClr val="FFFFFF"/>
      </a:accent3>
      <a:accent4>
        <a:srgbClr val="006765"/>
      </a:accent4>
      <a:accent5>
        <a:srgbClr val="F3FAFF"/>
      </a:accent5>
      <a:accent6>
        <a:srgbClr val="2D5CE7"/>
      </a:accent6>
      <a:hlink>
        <a:srgbClr val="DC5900"/>
      </a:hlink>
      <a:folHlink>
        <a:srgbClr val="7979A5"/>
      </a:folHlink>
    </a:clrScheme>
    <a:fontScheme name="诗情画意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诗情画意 1">
        <a:dk1>
          <a:srgbClr val="007A77"/>
        </a:dk1>
        <a:lt1>
          <a:srgbClr val="FFFFFF"/>
        </a:lt1>
        <a:dk2>
          <a:srgbClr val="003399"/>
        </a:dk2>
        <a:lt2>
          <a:srgbClr val="C0C0C0"/>
        </a:lt2>
        <a:accent1>
          <a:srgbClr val="EBF7FF"/>
        </a:accent1>
        <a:accent2>
          <a:srgbClr val="3366FF"/>
        </a:accent2>
        <a:accent3>
          <a:srgbClr val="FFFFFF"/>
        </a:accent3>
        <a:accent4>
          <a:srgbClr val="006765"/>
        </a:accent4>
        <a:accent5>
          <a:srgbClr val="F3FAFF"/>
        </a:accent5>
        <a:accent6>
          <a:srgbClr val="2D5CE7"/>
        </a:accent6>
        <a:hlink>
          <a:srgbClr val="DC5900"/>
        </a:hlink>
        <a:folHlink>
          <a:srgbClr val="7979A5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诗情画意 2">
        <a:dk1>
          <a:srgbClr val="005FBE"/>
        </a:dk1>
        <a:lt1>
          <a:srgbClr val="FFFFDD"/>
        </a:lt1>
        <a:dk2>
          <a:srgbClr val="2C5884"/>
        </a:dk2>
        <a:lt2>
          <a:srgbClr val="C0C0C0"/>
        </a:lt2>
        <a:accent1>
          <a:srgbClr val="E9F7FF"/>
        </a:accent1>
        <a:accent2>
          <a:srgbClr val="F89400"/>
        </a:accent2>
        <a:accent3>
          <a:srgbClr val="FFFFEB"/>
        </a:accent3>
        <a:accent4>
          <a:srgbClr val="0050A2"/>
        </a:accent4>
        <a:accent5>
          <a:srgbClr val="F2FAFF"/>
        </a:accent5>
        <a:accent6>
          <a:srgbClr val="E18600"/>
        </a:accent6>
        <a:hlink>
          <a:srgbClr val="B20048"/>
        </a:hlink>
        <a:folHlink>
          <a:srgbClr val="008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诗情画意 3">
        <a:dk1>
          <a:srgbClr val="5D5D8B"/>
        </a:dk1>
        <a:lt1>
          <a:srgbClr val="DAEADE"/>
        </a:lt1>
        <a:dk2>
          <a:srgbClr val="A25269"/>
        </a:dk2>
        <a:lt2>
          <a:srgbClr val="C0C0C0"/>
        </a:lt2>
        <a:accent1>
          <a:srgbClr val="FFFFDD"/>
        </a:accent1>
        <a:accent2>
          <a:srgbClr val="3399FF"/>
        </a:accent2>
        <a:accent3>
          <a:srgbClr val="EAF3EC"/>
        </a:accent3>
        <a:accent4>
          <a:srgbClr val="4E4E76"/>
        </a:accent4>
        <a:accent5>
          <a:srgbClr val="FFFFEB"/>
        </a:accent5>
        <a:accent6>
          <a:srgbClr val="2D8AE7"/>
        </a:accent6>
        <a:hlink>
          <a:srgbClr val="336699"/>
        </a:hlink>
        <a:folHlink>
          <a:srgbClr val="F08F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诗情画意 4">
        <a:dk1>
          <a:srgbClr val="006666"/>
        </a:dk1>
        <a:lt1>
          <a:srgbClr val="CCECFF"/>
        </a:lt1>
        <a:dk2>
          <a:srgbClr val="336699"/>
        </a:dk2>
        <a:lt2>
          <a:srgbClr val="C0C0C0"/>
        </a:lt2>
        <a:accent1>
          <a:srgbClr val="FFFFCC"/>
        </a:accent1>
        <a:accent2>
          <a:srgbClr val="FF6600"/>
        </a:accent2>
        <a:accent3>
          <a:srgbClr val="E2F4FF"/>
        </a:accent3>
        <a:accent4>
          <a:srgbClr val="005656"/>
        </a:accent4>
        <a:accent5>
          <a:srgbClr val="FFFFE2"/>
        </a:accent5>
        <a:accent6>
          <a:srgbClr val="E75C00"/>
        </a:accent6>
        <a:hlink>
          <a:srgbClr val="0066FF"/>
        </a:hlink>
        <a:folHlink>
          <a:srgbClr val="BE547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诗情画意 5">
        <a:dk1>
          <a:srgbClr val="0033CC"/>
        </a:dk1>
        <a:lt1>
          <a:srgbClr val="FFE9E9"/>
        </a:lt1>
        <a:dk2>
          <a:srgbClr val="000000"/>
        </a:dk2>
        <a:lt2>
          <a:srgbClr val="C0C0C0"/>
        </a:lt2>
        <a:accent1>
          <a:srgbClr val="D5E5DB"/>
        </a:accent1>
        <a:accent2>
          <a:srgbClr val="3366FF"/>
        </a:accent2>
        <a:accent3>
          <a:srgbClr val="FFF2F2"/>
        </a:accent3>
        <a:accent4>
          <a:srgbClr val="002AAE"/>
        </a:accent4>
        <a:accent5>
          <a:srgbClr val="E7F0EA"/>
        </a:accent5>
        <a:accent6>
          <a:srgbClr val="2D5CE7"/>
        </a:accent6>
        <a:hlink>
          <a:srgbClr val="FF9900"/>
        </a:hlink>
        <a:folHlink>
          <a:srgbClr val="008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诗情画意 6">
        <a:dk1>
          <a:srgbClr val="336699"/>
        </a:dk1>
        <a:lt1>
          <a:srgbClr val="F4E9E0"/>
        </a:lt1>
        <a:dk2>
          <a:srgbClr val="DC5900"/>
        </a:dk2>
        <a:lt2>
          <a:srgbClr val="C0C0C0"/>
        </a:lt2>
        <a:accent1>
          <a:srgbClr val="E4E4E4"/>
        </a:accent1>
        <a:accent2>
          <a:srgbClr val="3399FF"/>
        </a:accent2>
        <a:accent3>
          <a:srgbClr val="F8F2ED"/>
        </a:accent3>
        <a:accent4>
          <a:srgbClr val="2A5682"/>
        </a:accent4>
        <a:accent5>
          <a:srgbClr val="EFEFEF"/>
        </a:accent5>
        <a:accent6>
          <a:srgbClr val="2D8AE7"/>
        </a:accent6>
        <a:hlink>
          <a:srgbClr val="CC0066"/>
        </a:hlink>
        <a:folHlink>
          <a:srgbClr val="008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诗情画意 7">
        <a:dk1>
          <a:srgbClr val="CC3300"/>
        </a:dk1>
        <a:lt1>
          <a:srgbClr val="E5E5FF"/>
        </a:lt1>
        <a:dk2>
          <a:srgbClr val="565680"/>
        </a:dk2>
        <a:lt2>
          <a:srgbClr val="C0C0C0"/>
        </a:lt2>
        <a:accent1>
          <a:srgbClr val="E6E4EC"/>
        </a:accent1>
        <a:accent2>
          <a:srgbClr val="0066CC"/>
        </a:accent2>
        <a:accent3>
          <a:srgbClr val="F0F0FF"/>
        </a:accent3>
        <a:accent4>
          <a:srgbClr val="AE2A00"/>
        </a:accent4>
        <a:accent5>
          <a:srgbClr val="F0EFF4"/>
        </a:accent5>
        <a:accent6>
          <a:srgbClr val="005CB9"/>
        </a:accent6>
        <a:hlink>
          <a:srgbClr val="008080"/>
        </a:hlink>
        <a:folHlink>
          <a:srgbClr val="7B7BA7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诗情画意 8">
        <a:dk1>
          <a:srgbClr val="000099"/>
        </a:dk1>
        <a:lt1>
          <a:srgbClr val="FFE2C5"/>
        </a:lt1>
        <a:dk2>
          <a:srgbClr val="007D7A"/>
        </a:dk2>
        <a:lt2>
          <a:srgbClr val="C0C0C0"/>
        </a:lt2>
        <a:accent1>
          <a:srgbClr val="EAEAEA"/>
        </a:accent1>
        <a:accent2>
          <a:srgbClr val="B26EB4"/>
        </a:accent2>
        <a:accent3>
          <a:srgbClr val="FFEEDF"/>
        </a:accent3>
        <a:accent4>
          <a:srgbClr val="000082"/>
        </a:accent4>
        <a:accent5>
          <a:srgbClr val="F3F3F3"/>
        </a:accent5>
        <a:accent6>
          <a:srgbClr val="A163A3"/>
        </a:accent6>
        <a:hlink>
          <a:srgbClr val="CC3300"/>
        </a:hlink>
        <a:folHlink>
          <a:srgbClr val="0088E4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12编译原理-3</Template>
  <TotalTime>6138</TotalTime>
  <Words>5379</Words>
  <Application>Microsoft Office PowerPoint</Application>
  <PresentationFormat>全屏显示(4:3)</PresentationFormat>
  <Paragraphs>1292</Paragraphs>
  <Slides>92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92</vt:i4>
      </vt:variant>
    </vt:vector>
  </HeadingPairs>
  <TitlesOfParts>
    <vt:vector size="103" baseType="lpstr">
      <vt:lpstr>Monotype Sorts</vt:lpstr>
      <vt:lpstr>华文新魏</vt:lpstr>
      <vt:lpstr>楷体_GB2312</vt:lpstr>
      <vt:lpstr>宋体</vt:lpstr>
      <vt:lpstr>Arial</vt:lpstr>
      <vt:lpstr>Symbol</vt:lpstr>
      <vt:lpstr>Tahoma</vt:lpstr>
      <vt:lpstr>Times New Roman</vt:lpstr>
      <vt:lpstr>Wingdings</vt:lpstr>
      <vt:lpstr>诗情画意</vt:lpstr>
      <vt:lpstr>剪辑</vt:lpstr>
      <vt:lpstr>PowerPoint 演示文稿</vt:lpstr>
      <vt:lpstr>一个不大不小的问题</vt:lpstr>
      <vt:lpstr>PowerPoint 演示文稿</vt:lpstr>
      <vt:lpstr>编译程序总体结构</vt:lpstr>
      <vt:lpstr>第4章  自顶向下的语法分析</vt:lpstr>
      <vt:lpstr>4.1  语法分析的任务</vt:lpstr>
      <vt:lpstr>4.1  语法分析的任务</vt:lpstr>
      <vt:lpstr>语法分析方法</vt:lpstr>
      <vt:lpstr>语法分析方法</vt:lpstr>
      <vt:lpstr>4.2  自顶向下分析面临的问题与CFG的改造</vt:lpstr>
      <vt:lpstr>二、重要概念回顾</vt:lpstr>
      <vt:lpstr>三、重要问题——虚假匹配</vt:lpstr>
      <vt:lpstr>三、重要问题——二义性及其消除</vt:lpstr>
      <vt:lpstr>三、重要问题——二义性及其消除</vt:lpstr>
      <vt:lpstr>三、重要问题——二义性及其消除</vt:lpstr>
      <vt:lpstr>一个句子有两棵不同的语法树</vt:lpstr>
      <vt:lpstr>三、重要问题——二义性及其消除</vt:lpstr>
      <vt:lpstr>按照“改造1”构造的语法树</vt:lpstr>
      <vt:lpstr>按照“改造1”构造的语法树</vt:lpstr>
      <vt:lpstr>按照“改造2”构造的语法树</vt:lpstr>
      <vt:lpstr>PowerPoint 演示文稿</vt:lpstr>
      <vt:lpstr>三、重要问题——二义性及其消除</vt:lpstr>
      <vt:lpstr>三、重要问题——左递归及其消除</vt:lpstr>
      <vt:lpstr>三、重要问题——左递归及其消除</vt:lpstr>
      <vt:lpstr>三、重要问题——左递归及其消除</vt:lpstr>
      <vt:lpstr>例：表达式文法直接左递归的消除</vt:lpstr>
      <vt:lpstr>三、重要问题——左递归及其消除</vt:lpstr>
      <vt:lpstr>三、重要问题——左递归及其消除</vt:lpstr>
      <vt:lpstr>例： 间接左递归的消除</vt:lpstr>
      <vt:lpstr>消除左递归的一般方法</vt:lpstr>
      <vt:lpstr>消除左递归的一般方法</vt:lpstr>
      <vt:lpstr>三、重要问题——提取左因子(left factoring)</vt:lpstr>
      <vt:lpstr>三、重要问题——提取左因子(left factoring)</vt:lpstr>
      <vt:lpstr>三、重要问题——提取左因子(left factoring)</vt:lpstr>
      <vt:lpstr>四、CFG的使用限制</vt:lpstr>
      <vt:lpstr>五、常用文法与分析方法</vt:lpstr>
      <vt:lpstr>4.3 自顶向下的分析方法</vt:lpstr>
      <vt:lpstr>例 符号串 id + id * id的分析</vt:lpstr>
      <vt:lpstr>id + id * id</vt:lpstr>
      <vt:lpstr>id + id * id #    的最左推导再现</vt:lpstr>
      <vt:lpstr>候选式的确定与回溯(Backtracking)</vt:lpstr>
      <vt:lpstr>候选式的确定与回溯(Backtracking)</vt:lpstr>
      <vt:lpstr>候选式的确定与回溯(Backtracking)</vt:lpstr>
      <vt:lpstr>候选式的确定与回溯(Backtracking)</vt:lpstr>
      <vt:lpstr>候选式的确定与回溯(Backtracking)</vt:lpstr>
      <vt:lpstr>候选式的确定与回溯(Backtracking)</vt:lpstr>
      <vt:lpstr>候选式的确定与回溯(Backtracking)</vt:lpstr>
      <vt:lpstr>候选式的确定与回溯(Backtracking)</vt:lpstr>
      <vt:lpstr>4.3.1  FIRST 和 FOLLOW 集</vt:lpstr>
      <vt:lpstr>求FIRST( X ) 的算法</vt:lpstr>
      <vt:lpstr>算法4.1 求FIRST( X ) </vt:lpstr>
      <vt:lpstr>PowerPoint 演示文稿</vt:lpstr>
      <vt:lpstr>算法4.2 求FIRST(α)</vt:lpstr>
      <vt:lpstr>算法4.3 求FOLLOW( A ) </vt:lpstr>
      <vt:lpstr>例 表达式文法的语法变量的 FOLLOW 集</vt:lpstr>
      <vt:lpstr>自顶向下分析中希望文法满足的条件</vt:lpstr>
      <vt:lpstr>4.3.2  LL(1)文法</vt:lpstr>
      <vt:lpstr>表达式文法是 LL(1) 文法</vt:lpstr>
      <vt:lpstr>此文法不满足LL(1)文法的条件，不能保证分析的每一步是确定的，这就是非 LL(1)文法的不确定性</vt:lpstr>
      <vt:lpstr>此文法也不满足LL(1)文法的条件，不能保证分析的每一步是确定的</vt:lpstr>
      <vt:lpstr>不确定性的解决方法</vt:lpstr>
      <vt:lpstr>4.4  预测分析器(LL(1)分析器)</vt:lpstr>
      <vt:lpstr>4.4  预测分析器(LL(1)分析器)</vt:lpstr>
      <vt:lpstr>考虑简单算术表达式文法的实现</vt:lpstr>
      <vt:lpstr>表达式文法的预测分析表</vt:lpstr>
      <vt:lpstr>执行过程举例：分析 id+id*id (在黑板上同时画出语法树)</vt:lpstr>
      <vt:lpstr>PowerPoint 演示文稿</vt:lpstr>
      <vt:lpstr>系统的执行与特点</vt:lpstr>
      <vt:lpstr>算法4.4 构造预测分析表(LL(1)分析表) </vt:lpstr>
      <vt:lpstr>算法4.5 LL(1)通用控制算法P132</vt:lpstr>
      <vt:lpstr>出错处理问题</vt:lpstr>
      <vt:lpstr>加同步记号的表达式文法的预测分析表</vt:lpstr>
      <vt:lpstr>预测分析法——总结</vt:lpstr>
      <vt:lpstr>一个设想</vt:lpstr>
      <vt:lpstr>4.5 语法图</vt:lpstr>
      <vt:lpstr>语法图化简规则</vt:lpstr>
      <vt:lpstr>语法图化简规则</vt:lpstr>
      <vt:lpstr>语法图化简规则</vt:lpstr>
      <vt:lpstr>语法图的化简</vt:lpstr>
      <vt:lpstr>简化的语法图</vt:lpstr>
      <vt:lpstr>构造语法图</vt:lpstr>
      <vt:lpstr>构造语法图</vt:lpstr>
      <vt:lpstr>4.6 递归子程序法</vt:lpstr>
      <vt:lpstr>例： 简单算术表达式的分析器   E的子程序：E→T(+T)*</vt:lpstr>
      <vt:lpstr>T的子程序：T→F(*F)*</vt:lpstr>
      <vt:lpstr>F的子程序：F→(E)|id</vt:lpstr>
      <vt:lpstr>主程序</vt:lpstr>
      <vt:lpstr>递归子程序法小结</vt:lpstr>
      <vt:lpstr>递归子程序法小结</vt:lpstr>
      <vt:lpstr>优缺点分析</vt:lpstr>
      <vt:lpstr>思考题</vt:lpstr>
      <vt:lpstr>上机题(选)</vt:lpstr>
    </vt:vector>
  </TitlesOfParts>
  <Company>bjut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编译原理</dc:title>
  <dc:creator>jzl</dc:creator>
  <cp:lastModifiedBy>Admin</cp:lastModifiedBy>
  <cp:revision>260</cp:revision>
  <cp:lastPrinted>1601-01-01T00:00:00Z</cp:lastPrinted>
  <dcterms:created xsi:type="dcterms:W3CDTF">2003-07-09T14:46:46Z</dcterms:created>
  <dcterms:modified xsi:type="dcterms:W3CDTF">2017-02-24T00:46:06Z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5</vt:i4>
  </property>
</Properties>
</file>