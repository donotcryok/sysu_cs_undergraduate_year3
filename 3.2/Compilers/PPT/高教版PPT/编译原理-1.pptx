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85"/>
  </p:notesMasterIdLst>
  <p:handoutMasterIdLst>
    <p:handoutMasterId r:id="rId86"/>
  </p:handoutMasterIdLst>
  <p:sldIdLst>
    <p:sldId id="385" r:id="rId2"/>
    <p:sldId id="461" r:id="rId3"/>
    <p:sldId id="330" r:id="rId4"/>
    <p:sldId id="462" r:id="rId5"/>
    <p:sldId id="463" r:id="rId6"/>
    <p:sldId id="464" r:id="rId7"/>
    <p:sldId id="331" r:id="rId8"/>
    <p:sldId id="471" r:id="rId9"/>
    <p:sldId id="472" r:id="rId10"/>
    <p:sldId id="398" r:id="rId11"/>
    <p:sldId id="397" r:id="rId12"/>
    <p:sldId id="332" r:id="rId13"/>
    <p:sldId id="444" r:id="rId14"/>
    <p:sldId id="390" r:id="rId15"/>
    <p:sldId id="476" r:id="rId16"/>
    <p:sldId id="470" r:id="rId17"/>
    <p:sldId id="333" r:id="rId18"/>
    <p:sldId id="454" r:id="rId19"/>
    <p:sldId id="469" r:id="rId20"/>
    <p:sldId id="478" r:id="rId21"/>
    <p:sldId id="336" r:id="rId22"/>
    <p:sldId id="399" r:id="rId23"/>
    <p:sldId id="413" r:id="rId24"/>
    <p:sldId id="392" r:id="rId25"/>
    <p:sldId id="337" r:id="rId26"/>
    <p:sldId id="405" r:id="rId27"/>
    <p:sldId id="445" r:id="rId28"/>
    <p:sldId id="380" r:id="rId29"/>
    <p:sldId id="404" r:id="rId30"/>
    <p:sldId id="381" r:id="rId31"/>
    <p:sldId id="400" r:id="rId32"/>
    <p:sldId id="396" r:id="rId33"/>
    <p:sldId id="338" r:id="rId34"/>
    <p:sldId id="339" r:id="rId35"/>
    <p:sldId id="479" r:id="rId36"/>
    <p:sldId id="340" r:id="rId37"/>
    <p:sldId id="341" r:id="rId38"/>
    <p:sldId id="459" r:id="rId39"/>
    <p:sldId id="342" r:id="rId40"/>
    <p:sldId id="344" r:id="rId41"/>
    <p:sldId id="345" r:id="rId42"/>
    <p:sldId id="467" r:id="rId43"/>
    <p:sldId id="465" r:id="rId44"/>
    <p:sldId id="347" r:id="rId45"/>
    <p:sldId id="348" r:id="rId46"/>
    <p:sldId id="349" r:id="rId47"/>
    <p:sldId id="350" r:id="rId48"/>
    <p:sldId id="407" r:id="rId49"/>
    <p:sldId id="352" r:id="rId50"/>
    <p:sldId id="351" r:id="rId51"/>
    <p:sldId id="408" r:id="rId52"/>
    <p:sldId id="353" r:id="rId53"/>
    <p:sldId id="443" r:id="rId54"/>
    <p:sldId id="356" r:id="rId55"/>
    <p:sldId id="409" r:id="rId56"/>
    <p:sldId id="357" r:id="rId57"/>
    <p:sldId id="358" r:id="rId58"/>
    <p:sldId id="359" r:id="rId59"/>
    <p:sldId id="410" r:id="rId60"/>
    <p:sldId id="360" r:id="rId61"/>
    <p:sldId id="481" r:id="rId62"/>
    <p:sldId id="482" r:id="rId63"/>
    <p:sldId id="483" r:id="rId64"/>
    <p:sldId id="484" r:id="rId65"/>
    <p:sldId id="485" r:id="rId66"/>
    <p:sldId id="486" r:id="rId67"/>
    <p:sldId id="487" r:id="rId68"/>
    <p:sldId id="488" r:id="rId69"/>
    <p:sldId id="489" r:id="rId70"/>
    <p:sldId id="490" r:id="rId71"/>
    <p:sldId id="491" r:id="rId72"/>
    <p:sldId id="492" r:id="rId73"/>
    <p:sldId id="493" r:id="rId74"/>
    <p:sldId id="494" r:id="rId75"/>
    <p:sldId id="495" r:id="rId76"/>
    <p:sldId id="496" r:id="rId77"/>
    <p:sldId id="497" r:id="rId78"/>
    <p:sldId id="498" r:id="rId79"/>
    <p:sldId id="499" r:id="rId80"/>
    <p:sldId id="500" r:id="rId81"/>
    <p:sldId id="501" r:id="rId82"/>
    <p:sldId id="502" r:id="rId83"/>
    <p:sldId id="503" r:id="rId8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0066CC"/>
    <a:srgbClr val="2764BD"/>
    <a:srgbClr val="800080"/>
    <a:srgbClr val="FFFF00"/>
    <a:srgbClr val="FFFFFF"/>
    <a:srgbClr val="0000FF"/>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3" autoAdjust="0"/>
    <p:restoredTop sz="94636" autoAdjust="0"/>
  </p:normalViewPr>
  <p:slideViewPr>
    <p:cSldViewPr>
      <p:cViewPr varScale="1">
        <p:scale>
          <a:sx n="119" d="100"/>
          <a:sy n="119" d="100"/>
        </p:scale>
        <p:origin x="130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5" d="100"/>
          <a:sy n="55" d="100"/>
        </p:scale>
        <p:origin x="-180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defRPr>
            </a:lvl1pPr>
          </a:lstStyle>
          <a:p>
            <a:pPr>
              <a:defRPr/>
            </a:pPr>
            <a:endParaRPr lang="zh-CN" altLang="en-US"/>
          </a:p>
        </p:txBody>
      </p:sp>
      <p:sp>
        <p:nvSpPr>
          <p:cNvPr id="33792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defRPr>
            </a:lvl1pPr>
          </a:lstStyle>
          <a:p>
            <a:pPr>
              <a:defRPr/>
            </a:pPr>
            <a:endParaRPr lang="en-US" altLang="zh-CN"/>
          </a:p>
        </p:txBody>
      </p:sp>
      <p:sp>
        <p:nvSpPr>
          <p:cNvPr id="33792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defRPr>
            </a:lvl1pPr>
          </a:lstStyle>
          <a:p>
            <a:pPr>
              <a:defRPr/>
            </a:pPr>
            <a:endParaRPr lang="en-US" altLang="zh-CN"/>
          </a:p>
        </p:txBody>
      </p:sp>
      <p:sp>
        <p:nvSpPr>
          <p:cNvPr id="33792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atin typeface="Tahoma" panose="020B0604030504040204" pitchFamily="34" charset="0"/>
              </a:defRPr>
            </a:lvl1pPr>
          </a:lstStyle>
          <a:p>
            <a:pPr>
              <a:defRPr/>
            </a:pPr>
            <a:fld id="{73967899-0C27-4CD5-86CF-F6A16612034F}"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91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zh-CN" altLang="en-US"/>
          </a:p>
        </p:txBody>
      </p:sp>
      <p:sp>
        <p:nvSpPr>
          <p:cNvPr id="34918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918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4919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34919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904459D1-4427-4E86-A0C8-41037870C77B}"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5506"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smtClean="0"/>
              <a:t>单击此处编辑母版标题样式</a:t>
            </a:r>
          </a:p>
        </p:txBody>
      </p:sp>
      <p:sp>
        <p:nvSpPr>
          <p:cNvPr id="405507"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fld id="{D79DECD5-1BB4-4D22-B1E5-CD9EC6E37D14}" type="datetime1">
              <a:rPr lang="zh-CN" altLang="en-US"/>
              <a:pPr>
                <a:defRPr/>
              </a:pPr>
              <a:t>2017/2/24</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7D1EFB6A-89EB-46CF-8317-CC99FC6B9F93}" type="slidenum">
              <a:rPr lang="zh-CN" altLang="en-US"/>
              <a:pPr>
                <a:defRPr/>
              </a:pPr>
              <a:t>‹#›</a:t>
            </a:fld>
            <a:endParaRPr lang="en-US" altLang="zh-CN"/>
          </a:p>
        </p:txBody>
      </p:sp>
    </p:spTree>
    <p:extLst>
      <p:ext uri="{BB962C8B-B14F-4D97-AF65-F5344CB8AC3E}">
        <p14:creationId xmlns:p14="http://schemas.microsoft.com/office/powerpoint/2010/main" val="3625142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6794DF3F-90BF-48BE-A8D7-399708650F99}"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CA66D7A-0914-4728-91FB-08D471C8C109}" type="slidenum">
              <a:rPr lang="zh-CN" altLang="en-US"/>
              <a:pPr>
                <a:defRPr/>
              </a:pPr>
              <a:t>‹#›</a:t>
            </a:fld>
            <a:endParaRPr lang="en-US" altLang="zh-CN"/>
          </a:p>
        </p:txBody>
      </p:sp>
    </p:spTree>
    <p:extLst>
      <p:ext uri="{BB962C8B-B14F-4D97-AF65-F5344CB8AC3E}">
        <p14:creationId xmlns:p14="http://schemas.microsoft.com/office/powerpoint/2010/main" val="1769742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1F7301E-B37D-4503-AB0C-4C563DC9E02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C75C89-C81F-423C-948C-61D5ADEDCACF}" type="slidenum">
              <a:rPr lang="zh-CN" altLang="en-US"/>
              <a:pPr>
                <a:defRPr/>
              </a:pPr>
              <a:t>‹#›</a:t>
            </a:fld>
            <a:endParaRPr lang="en-US" altLang="zh-CN"/>
          </a:p>
        </p:txBody>
      </p:sp>
    </p:spTree>
    <p:extLst>
      <p:ext uri="{BB962C8B-B14F-4D97-AF65-F5344CB8AC3E}">
        <p14:creationId xmlns:p14="http://schemas.microsoft.com/office/powerpoint/2010/main" val="1883048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96506ADA-5881-47B8-8F3F-5ED28C369A79}"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7F8DD7F-150E-4D42-8C35-CF846DDB092E}" type="slidenum">
              <a:rPr lang="zh-CN" altLang="en-US"/>
              <a:pPr>
                <a:defRPr/>
              </a:pPr>
              <a:t>‹#›</a:t>
            </a:fld>
            <a:endParaRPr lang="en-US" altLang="zh-CN"/>
          </a:p>
        </p:txBody>
      </p:sp>
    </p:spTree>
    <p:extLst>
      <p:ext uri="{BB962C8B-B14F-4D97-AF65-F5344CB8AC3E}">
        <p14:creationId xmlns:p14="http://schemas.microsoft.com/office/powerpoint/2010/main" val="60609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3AA8584B-DC2E-4480-BAD1-80E3573BF0B6}" type="datetime1">
              <a:rPr lang="zh-CN" altLang="en-US"/>
              <a:pPr>
                <a:defRPr/>
              </a:pPr>
              <a:t>2017/2/24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D9C25B6C-655A-4F1A-BC6B-859F70F0AE27}" type="slidenum">
              <a:rPr lang="zh-CN" altLang="en-US"/>
              <a:pPr>
                <a:defRPr/>
              </a:pPr>
              <a:t>‹#›</a:t>
            </a:fld>
            <a:endParaRPr lang="en-US" altLang="zh-CN"/>
          </a:p>
        </p:txBody>
      </p:sp>
    </p:spTree>
    <p:extLst>
      <p:ext uri="{BB962C8B-B14F-4D97-AF65-F5344CB8AC3E}">
        <p14:creationId xmlns:p14="http://schemas.microsoft.com/office/powerpoint/2010/main" val="125685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5DB72BF0-01E8-4085-8F77-0088E08FC65A}" type="datetime1">
              <a:rPr lang="zh-CN" altLang="en-US"/>
              <a:pPr>
                <a:defRPr/>
              </a:pPr>
              <a:t>2017/2/24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BC87B9A-D05A-4D52-B855-4DD0104D8A5F}" type="slidenum">
              <a:rPr lang="zh-CN" altLang="en-US"/>
              <a:pPr>
                <a:defRPr/>
              </a:pPr>
              <a:t>‹#›</a:t>
            </a:fld>
            <a:endParaRPr lang="en-US" altLang="zh-CN"/>
          </a:p>
        </p:txBody>
      </p:sp>
    </p:spTree>
    <p:extLst>
      <p:ext uri="{BB962C8B-B14F-4D97-AF65-F5344CB8AC3E}">
        <p14:creationId xmlns:p14="http://schemas.microsoft.com/office/powerpoint/2010/main" val="468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60BE5C-BEC8-41B2-BC97-9B4283498B93}" type="datetime1">
              <a:rPr lang="zh-CN" altLang="en-US"/>
              <a:pPr>
                <a:defRPr/>
              </a:pPr>
              <a:t>2017/2/24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A5919125-0D66-4B72-B302-35B346018269}" type="slidenum">
              <a:rPr lang="zh-CN" altLang="en-US"/>
              <a:pPr>
                <a:defRPr/>
              </a:pPr>
              <a:t>‹#›</a:t>
            </a:fld>
            <a:endParaRPr lang="en-US" altLang="zh-CN"/>
          </a:p>
        </p:txBody>
      </p:sp>
    </p:spTree>
    <p:extLst>
      <p:ext uri="{BB962C8B-B14F-4D97-AF65-F5344CB8AC3E}">
        <p14:creationId xmlns:p14="http://schemas.microsoft.com/office/powerpoint/2010/main" val="3708394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89BA33B1-F9AD-42A0-8FC0-3527EE514404}"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528392D-A9DB-49DA-A9B2-4BCE4B7C032D}" type="slidenum">
              <a:rPr lang="zh-CN" altLang="en-US"/>
              <a:pPr>
                <a:defRPr/>
              </a:pPr>
              <a:t>‹#›</a:t>
            </a:fld>
            <a:endParaRPr lang="en-US" altLang="zh-CN"/>
          </a:p>
        </p:txBody>
      </p:sp>
    </p:spTree>
    <p:extLst>
      <p:ext uri="{BB962C8B-B14F-4D97-AF65-F5344CB8AC3E}">
        <p14:creationId xmlns:p14="http://schemas.microsoft.com/office/powerpoint/2010/main" val="3542626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11C33EAA-4949-440C-BE45-F08055666808}"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73E0345-255A-4C30-9B38-68EA57C81CE5}" type="slidenum">
              <a:rPr lang="zh-CN" altLang="en-US"/>
              <a:pPr>
                <a:defRPr/>
              </a:pPr>
              <a:t>‹#›</a:t>
            </a:fld>
            <a:endParaRPr lang="en-US" altLang="zh-CN"/>
          </a:p>
        </p:txBody>
      </p:sp>
    </p:spTree>
    <p:extLst>
      <p:ext uri="{BB962C8B-B14F-4D97-AF65-F5344CB8AC3E}">
        <p14:creationId xmlns:p14="http://schemas.microsoft.com/office/powerpoint/2010/main" val="3816414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F4713FB6-770C-4CC5-B40E-158775AB6405}"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621332D-E149-474A-AB5C-C5C3E7D144EA}" type="slidenum">
              <a:rPr lang="zh-CN" altLang="en-US"/>
              <a:pPr>
                <a:defRPr/>
              </a:pPr>
              <a:t>‹#›</a:t>
            </a:fld>
            <a:endParaRPr lang="en-US" altLang="zh-CN"/>
          </a:p>
        </p:txBody>
      </p:sp>
    </p:spTree>
    <p:extLst>
      <p:ext uri="{BB962C8B-B14F-4D97-AF65-F5344CB8AC3E}">
        <p14:creationId xmlns:p14="http://schemas.microsoft.com/office/powerpoint/2010/main" val="2025847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0FF113EA-B82A-4B26-AED9-69D7A5647893}"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44172FB-B51C-455A-AFE2-7DB40D315694}" type="slidenum">
              <a:rPr lang="zh-CN" altLang="en-US"/>
              <a:pPr>
                <a:defRPr/>
              </a:pPr>
              <a:t>‹#›</a:t>
            </a:fld>
            <a:endParaRPr lang="en-US" altLang="zh-CN"/>
          </a:p>
        </p:txBody>
      </p:sp>
    </p:spTree>
    <p:extLst>
      <p:ext uri="{BB962C8B-B14F-4D97-AF65-F5344CB8AC3E}">
        <p14:creationId xmlns:p14="http://schemas.microsoft.com/office/powerpoint/2010/main" val="4182260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09600"/>
            <a:ext cx="8540750" cy="5489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C136ACED-2D78-426C-A080-1DC30ECF4B09}" type="datetime1">
              <a:rPr lang="zh-CN" altLang="en-US"/>
              <a:pPr>
                <a:defRPr/>
              </a:pPr>
              <a:t>2017/2/24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590AD67-271E-43E7-976B-EC7A7BC8DFFF}" type="slidenum">
              <a:rPr lang="zh-CN" altLang="en-US"/>
              <a:pPr>
                <a:defRPr/>
              </a:pPr>
              <a:t>‹#›</a:t>
            </a:fld>
            <a:endParaRPr lang="en-US" altLang="zh-CN"/>
          </a:p>
        </p:txBody>
      </p:sp>
    </p:spTree>
    <p:extLst>
      <p:ext uri="{BB962C8B-B14F-4D97-AF65-F5344CB8AC3E}">
        <p14:creationId xmlns:p14="http://schemas.microsoft.com/office/powerpoint/2010/main" val="1179693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1625" y="1905000"/>
            <a:ext cx="8540750" cy="4194175"/>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fld id="{1CECD51B-AA2D-48AA-926D-78DFF49A3578}"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AFC92D4-9D6A-4BDA-A268-47EE95792AF8}" type="slidenum">
              <a:rPr lang="zh-CN" altLang="en-US"/>
              <a:pPr>
                <a:defRPr/>
              </a:pPr>
              <a:t>‹#›</a:t>
            </a:fld>
            <a:endParaRPr lang="en-US" altLang="zh-CN"/>
          </a:p>
        </p:txBody>
      </p:sp>
    </p:spTree>
    <p:extLst>
      <p:ext uri="{BB962C8B-B14F-4D97-AF65-F5344CB8AC3E}">
        <p14:creationId xmlns:p14="http://schemas.microsoft.com/office/powerpoint/2010/main" val="38115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Rot="1" noChangeArrowheads="1"/>
          </p:cNvSpPr>
          <p:nvPr>
            <p:ph type="body" idx="1"/>
          </p:nvPr>
        </p:nvSpPr>
        <p:spPr bwMode="auto">
          <a:xfrm>
            <a:off x="301625" y="1905000"/>
            <a:ext cx="85407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04484" name="Rectangle 4"/>
          <p:cNvSpPr>
            <a:spLocks noGrp="1" noChangeArrowheads="1"/>
          </p:cNvSpPr>
          <p:nvPr>
            <p:ph type="dt" sz="half" idx="2"/>
          </p:nvPr>
        </p:nvSpPr>
        <p:spPr bwMode="auto">
          <a:xfrm>
            <a:off x="3016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fld id="{36FC1EAA-D026-437C-86C4-8131F292DC42}" type="datetime1">
              <a:rPr lang="zh-CN" altLang="en-US"/>
              <a:pPr>
                <a:defRPr/>
              </a:pPr>
              <a:t>2017/2/24</a:t>
            </a:fld>
            <a:endParaRPr lang="en-US" altLang="zh-CN"/>
          </a:p>
        </p:txBody>
      </p:sp>
      <p:sp>
        <p:nvSpPr>
          <p:cNvPr id="404485"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404486" name="Rectangle 6"/>
          <p:cNvSpPr>
            <a:spLocks noGrp="1" noChangeArrowheads="1"/>
          </p:cNvSpPr>
          <p:nvPr>
            <p:ph type="sldNum" sz="quarter" idx="4"/>
          </p:nvPr>
        </p:nvSpPr>
        <p:spPr bwMode="auto">
          <a:xfrm>
            <a:off x="6553200"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0FB23A56-62FB-4CB5-B247-FEC9E88BACE2}"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8"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douban.com/subject/1806974/"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vod.bjut.edu.cn/&#8212;&#8212;" TargetMode="External"/><Relationship Id="rId2" Type="http://schemas.openxmlformats.org/officeDocument/2006/relationships/hyperlink" Target="http://etc.bjut.edu.cn/web/jp/06sb/byyl/index.htm" TargetMode="External"/><Relationship Id="rId1" Type="http://schemas.openxmlformats.org/officeDocument/2006/relationships/slideLayout" Target="../slideLayouts/slideLayout2.xml"/><Relationship Id="rId4" Type="http://schemas.openxmlformats.org/officeDocument/2006/relationships/hyperlink" Target="http://my.bjut.edu.c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FBA4587-7248-4246-BB7E-C532E22D03DA}" type="datetime1">
              <a:rPr lang="zh-CN" altLang="en-US" sz="1400" smtClean="0"/>
              <a:pPr>
                <a:spcBef>
                  <a:spcPct val="0"/>
                </a:spcBef>
                <a:buClrTx/>
                <a:buSzTx/>
                <a:buFontTx/>
                <a:buNone/>
              </a:pPr>
              <a:t>2017/2/24</a:t>
            </a:fld>
            <a:endParaRPr lang="en-US" altLang="zh-CN" sz="1400" smtClean="0"/>
          </a:p>
        </p:txBody>
      </p:sp>
      <p:sp>
        <p:nvSpPr>
          <p:cNvPr id="5123" name="Rectangle 6"/>
          <p:cNvSpPr>
            <a:spLocks noGrp="1" noChangeArrowheads="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5A28926-BFC1-4A88-9FFD-94BD12F65589}" type="slidenum">
              <a:rPr lang="zh-CN" altLang="en-US" sz="1400"/>
              <a:pPr>
                <a:spcBef>
                  <a:spcPct val="0"/>
                </a:spcBef>
                <a:buClrTx/>
                <a:buSzTx/>
                <a:buFontTx/>
                <a:buNone/>
              </a:pPr>
              <a:t>1</a:t>
            </a:fld>
            <a:endParaRPr lang="en-US" altLang="zh-CN" sz="1400"/>
          </a:p>
        </p:txBody>
      </p:sp>
      <p:pic>
        <p:nvPicPr>
          <p:cNvPr id="5124" name="Picture 6" descr="A29058编译原理(正确)"/>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494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5" name="Object 4">
            <a:hlinkClick r:id="" action="ppaction://ole?verb=0"/>
          </p:cNvPr>
          <p:cNvGraphicFramePr>
            <a:graphicFrameLocks/>
          </p:cNvGraphicFramePr>
          <p:nvPr/>
        </p:nvGraphicFramePr>
        <p:xfrm>
          <a:off x="6372225" y="3798888"/>
          <a:ext cx="1219200" cy="2438400"/>
        </p:xfrm>
        <a:graphic>
          <a:graphicData uri="http://schemas.openxmlformats.org/presentationml/2006/ole">
            <mc:AlternateContent xmlns:mc="http://schemas.openxmlformats.org/markup-compatibility/2006">
              <mc:Choice xmlns:v="urn:schemas-microsoft-com:vml" Requires="v">
                <p:oleObj spid="_x0000_s5128" name="剪辑" r:id="rId4" imgW="2643188" imgH="4587875" progId="MS_ClipArt_Gallery.2">
                  <p:embed/>
                </p:oleObj>
              </mc:Choice>
              <mc:Fallback>
                <p:oleObj name="剪辑" r:id="rId4" imgW="2643188" imgH="4587875"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25" y="3798888"/>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6" name="Text Box 5"/>
          <p:cNvSpPr txBox="1">
            <a:spLocks noChangeArrowheads="1"/>
          </p:cNvSpPr>
          <p:nvPr/>
        </p:nvSpPr>
        <p:spPr bwMode="auto">
          <a:xfrm>
            <a:off x="5076056" y="631825"/>
            <a:ext cx="3959994" cy="237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folHlink"/>
              </a:buClr>
              <a:buSzPct val="60000"/>
              <a:buFont typeface="Wingdings" panose="05000000000000000000" pitchFamily="2" charset="2"/>
              <a:buChar char="n"/>
            </a:pPr>
            <a:r>
              <a:rPr lang="zh-CN" altLang="en-US" sz="2800" b="1" dirty="0">
                <a:latin typeface="Times New Roman" panose="02020603050405020304" pitchFamily="18" charset="0"/>
                <a:ea typeface="华文新魏" panose="02010800040101010101" pitchFamily="2" charset="-122"/>
              </a:rPr>
              <a:t>主讲：</a:t>
            </a:r>
            <a:r>
              <a:rPr lang="zh-CN" altLang="en-US" sz="2800" b="1" dirty="0" smtClean="0">
                <a:latin typeface="Times New Roman" panose="02020603050405020304" pitchFamily="18" charset="0"/>
                <a:ea typeface="华文新魏" panose="02010800040101010101" pitchFamily="2" charset="-122"/>
              </a:rPr>
              <a:t>蒋宗礼、姜守旭</a:t>
            </a:r>
            <a:endParaRPr lang="zh-CN" altLang="en-US" sz="2800" b="1" dirty="0">
              <a:latin typeface="Times New Roman" panose="02020603050405020304" pitchFamily="18" charset="0"/>
              <a:ea typeface="华文新魏" panose="02010800040101010101" pitchFamily="2" charset="-122"/>
            </a:endParaRPr>
          </a:p>
          <a:p>
            <a:pPr eaLnBrk="1" hangingPunct="1">
              <a:lnSpc>
                <a:spcPct val="90000"/>
              </a:lnSpc>
              <a:buClr>
                <a:schemeClr val="folHlink"/>
              </a:buClr>
              <a:buSzPct val="60000"/>
              <a:buFont typeface="Wingdings" panose="05000000000000000000" pitchFamily="2" charset="2"/>
              <a:buChar char="n"/>
            </a:pPr>
            <a:r>
              <a:rPr lang="zh-CN" altLang="en-US" sz="2800" b="1" dirty="0">
                <a:latin typeface="Times New Roman" panose="02020603050405020304" pitchFamily="18" charset="0"/>
                <a:ea typeface="华文新魏" panose="02010800040101010101" pitchFamily="2" charset="-122"/>
              </a:rPr>
              <a:t>办公室：信北</a:t>
            </a:r>
            <a:r>
              <a:rPr lang="en-US" altLang="zh-CN" sz="2800" b="1" dirty="0">
                <a:latin typeface="Times New Roman" panose="02020603050405020304" pitchFamily="18" charset="0"/>
                <a:ea typeface="华文新魏" panose="02010800040101010101" pitchFamily="2" charset="-122"/>
              </a:rPr>
              <a:t>212</a:t>
            </a:r>
            <a:endParaRPr lang="zh-CN" altLang="en-US" sz="2800" b="1" dirty="0">
              <a:latin typeface="Times New Roman" panose="02020603050405020304" pitchFamily="18" charset="0"/>
              <a:ea typeface="华文新魏" panose="02010800040101010101" pitchFamily="2" charset="-122"/>
            </a:endParaRPr>
          </a:p>
          <a:p>
            <a:pPr eaLnBrk="1" hangingPunct="1">
              <a:lnSpc>
                <a:spcPct val="90000"/>
              </a:lnSpc>
              <a:buClr>
                <a:schemeClr val="folHlink"/>
              </a:buClr>
              <a:buSzPct val="60000"/>
              <a:buFont typeface="Wingdings" panose="05000000000000000000" pitchFamily="2" charset="2"/>
              <a:buChar char="n"/>
            </a:pPr>
            <a:r>
              <a:rPr lang="zh-CN" altLang="en-US" sz="2800" b="1" dirty="0">
                <a:latin typeface="Times New Roman" panose="02020603050405020304" pitchFamily="18" charset="0"/>
                <a:ea typeface="华文新魏" panose="02010800040101010101" pitchFamily="2" charset="-122"/>
              </a:rPr>
              <a:t>电话：67392</a:t>
            </a:r>
            <a:r>
              <a:rPr lang="en-US" altLang="zh-CN" sz="2800" b="1" dirty="0">
                <a:latin typeface="Times New Roman" panose="02020603050405020304" pitchFamily="18" charset="0"/>
                <a:ea typeface="华文新魏" panose="02010800040101010101" pitchFamily="2" charset="-122"/>
              </a:rPr>
              <a:t>397</a:t>
            </a:r>
          </a:p>
          <a:p>
            <a:pPr eaLnBrk="1" hangingPunct="1">
              <a:lnSpc>
                <a:spcPct val="90000"/>
              </a:lnSpc>
              <a:buClr>
                <a:schemeClr val="folHlink"/>
              </a:buClr>
              <a:buSzPct val="60000"/>
              <a:buFont typeface="Wingdings" panose="05000000000000000000" pitchFamily="2" charset="2"/>
              <a:buChar char="n"/>
            </a:pPr>
            <a:r>
              <a:rPr lang="en-US" altLang="zh-CN" sz="2800" b="1" dirty="0">
                <a:latin typeface="Times New Roman" panose="02020603050405020304" pitchFamily="18" charset="0"/>
                <a:ea typeface="华文新魏" panose="02010800040101010101" pitchFamily="2" charset="-122"/>
              </a:rPr>
              <a:t>jiangzl@bjut.edu.cn</a:t>
            </a:r>
          </a:p>
          <a:p>
            <a:pPr eaLnBrk="1" hangingPunct="1">
              <a:lnSpc>
                <a:spcPct val="90000"/>
              </a:lnSpc>
              <a:buClr>
                <a:schemeClr val="folHlink"/>
              </a:buClr>
              <a:buSzPct val="60000"/>
              <a:buFont typeface="Wingdings" panose="05000000000000000000" pitchFamily="2" charset="2"/>
              <a:buChar char="n"/>
            </a:pPr>
            <a:r>
              <a:rPr lang="zh-CN" altLang="en-US" sz="2800" b="1" dirty="0">
                <a:latin typeface="Times New Roman" panose="02020603050405020304" pitchFamily="18" charset="0"/>
                <a:ea typeface="华文新魏" panose="02010800040101010101" pitchFamily="2" charset="-122"/>
              </a:rPr>
              <a:t>答疑：信北</a:t>
            </a:r>
            <a:r>
              <a:rPr lang="en-US" altLang="zh-CN" sz="2800" b="1" dirty="0">
                <a:latin typeface="Times New Roman" panose="02020603050405020304" pitchFamily="18" charset="0"/>
                <a:ea typeface="华文新魏" panose="02010800040101010101" pitchFamily="2" charset="-122"/>
              </a:rPr>
              <a:t>212</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BEF2501-AFED-4E60-8D25-F926A2042CB5}" type="datetime1">
              <a:rPr lang="zh-CN" altLang="en-US" sz="1400" smtClean="0"/>
              <a:pPr>
                <a:spcBef>
                  <a:spcPct val="0"/>
                </a:spcBef>
                <a:buClrTx/>
                <a:buSzTx/>
                <a:buFontTx/>
                <a:buNone/>
              </a:pPr>
              <a:t>2017/2/24</a:t>
            </a:fld>
            <a:endParaRPr lang="en-US" altLang="zh-CN" sz="1400" smtClean="0"/>
          </a:p>
        </p:txBody>
      </p:sp>
      <p:sp>
        <p:nvSpPr>
          <p:cNvPr id="614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D0C7567-0B38-4F46-ABFD-3BA34A532403}" type="slidenum">
              <a:rPr lang="zh-CN" altLang="en-US" sz="1400"/>
              <a:pPr>
                <a:spcBef>
                  <a:spcPct val="0"/>
                </a:spcBef>
                <a:buClrTx/>
                <a:buSzTx/>
                <a:buFontTx/>
                <a:buNone/>
              </a:pPr>
              <a:t>2</a:t>
            </a:fld>
            <a:endParaRPr lang="en-US" altLang="zh-CN" sz="1400"/>
          </a:p>
        </p:txBody>
      </p:sp>
      <p:grpSp>
        <p:nvGrpSpPr>
          <p:cNvPr id="6148" name="Group 3"/>
          <p:cNvGrpSpPr>
            <a:grpSpLocks/>
          </p:cNvGrpSpPr>
          <p:nvPr/>
        </p:nvGrpSpPr>
        <p:grpSpPr bwMode="auto">
          <a:xfrm>
            <a:off x="5292725" y="2349500"/>
            <a:ext cx="2519363" cy="1444625"/>
            <a:chOff x="3878" y="1480"/>
            <a:chExt cx="1077" cy="913"/>
          </a:xfrm>
        </p:grpSpPr>
        <p:sp>
          <p:nvSpPr>
            <p:cNvPr id="6205" name="Rectangle 4"/>
            <p:cNvSpPr>
              <a:spLocks noChangeArrowheads="1"/>
            </p:cNvSpPr>
            <p:nvPr/>
          </p:nvSpPr>
          <p:spPr bwMode="auto">
            <a:xfrm>
              <a:off x="3878" y="1616"/>
              <a:ext cx="1077" cy="777"/>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temp1 := inttoreal(60)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temp2 := id3 *temp1</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temp3 := id2 +temp2</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id1 := temp3</a:t>
              </a:r>
              <a:endParaRPr lang="en-US" altLang="zh-CN" sz="2000">
                <a:latin typeface="Times New Roman" panose="02020603050405020304" pitchFamily="18" charset="0"/>
                <a:ea typeface="华文新魏" panose="02010800040101010101" pitchFamily="2" charset="-122"/>
              </a:endParaRPr>
            </a:p>
          </p:txBody>
        </p:sp>
        <p:sp>
          <p:nvSpPr>
            <p:cNvPr id="6206" name="Line 5"/>
            <p:cNvSpPr>
              <a:spLocks noChangeShapeType="1"/>
            </p:cNvSpPr>
            <p:nvPr/>
          </p:nvSpPr>
          <p:spPr bwMode="auto">
            <a:xfrm flipH="1">
              <a:off x="4410" y="1480"/>
              <a:ext cx="12" cy="12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49" name="Rectangle 7"/>
          <p:cNvSpPr>
            <a:spLocks noChangeArrowheads="1"/>
          </p:cNvSpPr>
          <p:nvPr/>
        </p:nvSpPr>
        <p:spPr bwMode="auto">
          <a:xfrm>
            <a:off x="7812088" y="4221163"/>
            <a:ext cx="968375" cy="22225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代码优化</a:t>
            </a:r>
            <a:endParaRPr lang="zh-CN" altLang="en-US" sz="1400">
              <a:solidFill>
                <a:schemeClr val="bg1"/>
              </a:solidFill>
              <a:latin typeface="Times New Roman" panose="02020603050405020304" pitchFamily="18" charset="0"/>
              <a:ea typeface="华文新魏" panose="02010800040101010101" pitchFamily="2" charset="-122"/>
            </a:endParaRPr>
          </a:p>
        </p:txBody>
      </p:sp>
      <p:grpSp>
        <p:nvGrpSpPr>
          <p:cNvPr id="6150" name="Group 9"/>
          <p:cNvGrpSpPr>
            <a:grpSpLocks/>
          </p:cNvGrpSpPr>
          <p:nvPr/>
        </p:nvGrpSpPr>
        <p:grpSpPr bwMode="auto">
          <a:xfrm>
            <a:off x="5219700" y="3860800"/>
            <a:ext cx="2447925" cy="863600"/>
            <a:chOff x="3939" y="2432"/>
            <a:chExt cx="921" cy="499"/>
          </a:xfrm>
        </p:grpSpPr>
        <p:sp>
          <p:nvSpPr>
            <p:cNvPr id="6203" name="Rectangle 10"/>
            <p:cNvSpPr>
              <a:spLocks noChangeArrowheads="1"/>
            </p:cNvSpPr>
            <p:nvPr/>
          </p:nvSpPr>
          <p:spPr bwMode="auto">
            <a:xfrm>
              <a:off x="3939" y="2594"/>
              <a:ext cx="921" cy="337"/>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temp1 := id3 *60.0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id1 := id2 + temp1</a:t>
              </a:r>
              <a:endParaRPr lang="en-US" altLang="zh-CN" sz="2000">
                <a:latin typeface="Times New Roman" panose="02020603050405020304" pitchFamily="18" charset="0"/>
                <a:ea typeface="华文新魏" panose="02010800040101010101" pitchFamily="2" charset="-122"/>
              </a:endParaRPr>
            </a:p>
          </p:txBody>
        </p:sp>
        <p:sp>
          <p:nvSpPr>
            <p:cNvPr id="6204" name="Line 11"/>
            <p:cNvSpPr>
              <a:spLocks noChangeShapeType="1"/>
            </p:cNvSpPr>
            <p:nvPr/>
          </p:nvSpPr>
          <p:spPr bwMode="auto">
            <a:xfrm>
              <a:off x="4377" y="2432"/>
              <a:ext cx="0" cy="1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51" name="Rectangle 13"/>
          <p:cNvSpPr>
            <a:spLocks noChangeArrowheads="1"/>
          </p:cNvSpPr>
          <p:nvPr/>
        </p:nvSpPr>
        <p:spPr bwMode="auto">
          <a:xfrm>
            <a:off x="7885113" y="5734050"/>
            <a:ext cx="1006475" cy="22225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代码生成</a:t>
            </a:r>
            <a:endParaRPr lang="zh-CN" altLang="en-US" sz="1400">
              <a:solidFill>
                <a:schemeClr val="bg1"/>
              </a:solidFill>
              <a:latin typeface="Times New Roman" panose="02020603050405020304" pitchFamily="18" charset="0"/>
              <a:ea typeface="华文新魏" panose="02010800040101010101" pitchFamily="2" charset="-122"/>
            </a:endParaRPr>
          </a:p>
        </p:txBody>
      </p:sp>
      <p:grpSp>
        <p:nvGrpSpPr>
          <p:cNvPr id="6152" name="Group 15"/>
          <p:cNvGrpSpPr>
            <a:grpSpLocks/>
          </p:cNvGrpSpPr>
          <p:nvPr/>
        </p:nvGrpSpPr>
        <p:grpSpPr bwMode="auto">
          <a:xfrm>
            <a:off x="5291138" y="4724400"/>
            <a:ext cx="2376487" cy="1989138"/>
            <a:chOff x="3920" y="3185"/>
            <a:chExt cx="963" cy="880"/>
          </a:xfrm>
        </p:grpSpPr>
        <p:sp>
          <p:nvSpPr>
            <p:cNvPr id="6201" name="Line 16"/>
            <p:cNvSpPr>
              <a:spLocks noChangeShapeType="1"/>
            </p:cNvSpPr>
            <p:nvPr/>
          </p:nvSpPr>
          <p:spPr bwMode="auto">
            <a:xfrm flipH="1">
              <a:off x="4377" y="3185"/>
              <a:ext cx="0"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02" name="Text Box 17"/>
            <p:cNvSpPr txBox="1">
              <a:spLocks noChangeArrowheads="1"/>
            </p:cNvSpPr>
            <p:nvPr/>
          </p:nvSpPr>
          <p:spPr bwMode="auto">
            <a:xfrm>
              <a:off x="3920" y="3310"/>
              <a:ext cx="963" cy="755"/>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MOVF id3, R2</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MULF #60.0, R2</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MOVF id2, R1</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ADDF R2, R1</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MOVF R1, id1</a:t>
              </a:r>
              <a:endParaRPr lang="en-US" altLang="zh-CN" sz="2000">
                <a:latin typeface="Times New Roman" panose="02020603050405020304" pitchFamily="18" charset="0"/>
                <a:ea typeface="华文新魏" panose="02010800040101010101" pitchFamily="2" charset="-122"/>
              </a:endParaRPr>
            </a:p>
          </p:txBody>
        </p:sp>
      </p:grpSp>
      <p:sp>
        <p:nvSpPr>
          <p:cNvPr id="6153" name="Rectangle 121"/>
          <p:cNvSpPr>
            <a:spLocks noChangeArrowheads="1"/>
          </p:cNvSpPr>
          <p:nvPr/>
        </p:nvSpPr>
        <p:spPr bwMode="auto">
          <a:xfrm>
            <a:off x="498475" y="404813"/>
            <a:ext cx="421798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latin typeface="宋体" panose="02010600030101010101" pitchFamily="2" charset="-122"/>
              </a:rPr>
              <a:t>Main()</a:t>
            </a:r>
          </a:p>
          <a:p>
            <a:pPr algn="just" eaLnBrk="1" hangingPunct="1">
              <a:spcBef>
                <a:spcPct val="0"/>
              </a:spcBef>
              <a:buClrTx/>
              <a:buSzTx/>
              <a:buFontTx/>
              <a:buNone/>
            </a:pPr>
            <a:r>
              <a:rPr lang="en-US" altLang="zh-CN" sz="2000" b="1">
                <a:latin typeface="宋体" panose="02010600030101010101" pitchFamily="2" charset="-122"/>
              </a:rPr>
              <a:t>{</a:t>
            </a:r>
            <a:r>
              <a:rPr lang="en-US" altLang="zh-CN" sz="2000" b="1">
                <a:latin typeface="Times New Roman" panose="02020603050405020304" pitchFamily="18" charset="0"/>
              </a:rPr>
              <a:t>……</a:t>
            </a:r>
            <a:endParaRPr lang="en-US" altLang="zh-CN" sz="2000" b="1">
              <a:latin typeface="宋体" panose="02010600030101010101" pitchFamily="2" charset="-122"/>
            </a:endParaRPr>
          </a:p>
          <a:p>
            <a:pPr algn="just" eaLnBrk="1" hangingPunct="1">
              <a:spcBef>
                <a:spcPct val="0"/>
              </a:spcBef>
              <a:buClrTx/>
              <a:buSzTx/>
              <a:buFontTx/>
              <a:buNone/>
            </a:pPr>
            <a:r>
              <a:rPr lang="en-US" altLang="zh-CN" sz="2000" b="1">
                <a:solidFill>
                  <a:srgbClr val="000000"/>
                </a:solidFill>
                <a:latin typeface="宋体" panose="02010600030101010101" pitchFamily="2" charset="-122"/>
              </a:rPr>
              <a:t>position:= initial + rate * 60</a:t>
            </a:r>
            <a:r>
              <a:rPr lang="en-US" altLang="zh-CN" sz="2000" b="1">
                <a:latin typeface="宋体" panose="02010600030101010101" pitchFamily="2" charset="-122"/>
              </a:rPr>
              <a:t>;</a:t>
            </a:r>
          </a:p>
          <a:p>
            <a:pPr algn="just" eaLnBrk="1" hangingPunct="1">
              <a:spcBef>
                <a:spcPct val="0"/>
              </a:spcBef>
              <a:buClrTx/>
              <a:buSzTx/>
              <a:buFontTx/>
              <a:buNone/>
            </a:pPr>
            <a:r>
              <a:rPr lang="en-US" altLang="zh-CN" sz="2000" b="1">
                <a:latin typeface="Times New Roman" panose="02020603050405020304" pitchFamily="18" charset="0"/>
              </a:rPr>
              <a:t>……</a:t>
            </a:r>
            <a:endParaRPr lang="en-US" altLang="zh-CN" sz="2000" b="1">
              <a:latin typeface="宋体" panose="02010600030101010101" pitchFamily="2" charset="-122"/>
            </a:endParaRPr>
          </a:p>
          <a:p>
            <a:pPr algn="just" eaLnBrk="1" hangingPunct="1">
              <a:spcBef>
                <a:spcPct val="0"/>
              </a:spcBef>
              <a:buClrTx/>
              <a:buSzTx/>
              <a:buFontTx/>
              <a:buNone/>
            </a:pPr>
            <a:r>
              <a:rPr lang="en-US" altLang="zh-CN" sz="2000" b="1">
                <a:latin typeface="宋体" panose="02010600030101010101" pitchFamily="2" charset="-122"/>
              </a:rPr>
              <a:t>}</a:t>
            </a:r>
            <a:endParaRPr lang="en-US" altLang="zh-CN" sz="2000">
              <a:latin typeface="Tahoma" panose="020B0604030504040204" pitchFamily="34" charset="0"/>
            </a:endParaRPr>
          </a:p>
        </p:txBody>
      </p:sp>
      <p:sp>
        <p:nvSpPr>
          <p:cNvPr id="6154" name="Rectangle 122"/>
          <p:cNvSpPr>
            <a:spLocks noChangeArrowheads="1"/>
          </p:cNvSpPr>
          <p:nvPr/>
        </p:nvSpPr>
        <p:spPr bwMode="auto">
          <a:xfrm>
            <a:off x="2916238" y="2492375"/>
            <a:ext cx="1008062" cy="284163"/>
          </a:xfrm>
          <a:prstGeom prst="rect">
            <a:avLst/>
          </a:prstGeom>
          <a:solidFill>
            <a:schemeClr val="tx1"/>
          </a:solidFill>
          <a:ln w="9525">
            <a:solidFill>
              <a:srgbClr val="000000"/>
            </a:solidFill>
            <a:miter lim="800000"/>
            <a:headEnd/>
            <a:tailEnd/>
          </a:ln>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词法分析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grpSp>
        <p:nvGrpSpPr>
          <p:cNvPr id="6155" name="Group 123"/>
          <p:cNvGrpSpPr>
            <a:grpSpLocks/>
          </p:cNvGrpSpPr>
          <p:nvPr/>
        </p:nvGrpSpPr>
        <p:grpSpPr bwMode="auto">
          <a:xfrm>
            <a:off x="395288" y="2193925"/>
            <a:ext cx="2252662" cy="619125"/>
            <a:chOff x="612" y="1382"/>
            <a:chExt cx="1419" cy="390"/>
          </a:xfrm>
        </p:grpSpPr>
        <p:sp>
          <p:nvSpPr>
            <p:cNvPr id="6199" name="Text Box 124"/>
            <p:cNvSpPr txBox="1">
              <a:spLocks noChangeArrowheads="1"/>
            </p:cNvSpPr>
            <p:nvPr/>
          </p:nvSpPr>
          <p:spPr bwMode="auto">
            <a:xfrm>
              <a:off x="612" y="1500"/>
              <a:ext cx="141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b="1">
                  <a:solidFill>
                    <a:srgbClr val="111111"/>
                  </a:solidFill>
                  <a:latin typeface="Times New Roman" panose="02020603050405020304" pitchFamily="18" charset="0"/>
                  <a:ea typeface="华文新魏" panose="02010800040101010101" pitchFamily="2" charset="-122"/>
                </a:rPr>
                <a:t>id</a:t>
              </a:r>
              <a:r>
                <a:rPr lang="en-US" altLang="zh-CN" sz="2400" b="1" baseline="-25000">
                  <a:solidFill>
                    <a:srgbClr val="111111"/>
                  </a:solidFill>
                  <a:latin typeface="Times New Roman" panose="02020603050405020304" pitchFamily="18" charset="0"/>
                  <a:ea typeface="华文新魏" panose="02010800040101010101" pitchFamily="2" charset="-122"/>
                </a:rPr>
                <a:t>1</a:t>
              </a:r>
              <a:r>
                <a:rPr lang="en-US" altLang="zh-CN" sz="2400" b="1">
                  <a:solidFill>
                    <a:srgbClr val="111111"/>
                  </a:solidFill>
                  <a:latin typeface="Times New Roman" panose="02020603050405020304" pitchFamily="18" charset="0"/>
                  <a:ea typeface="华文新魏" panose="02010800040101010101" pitchFamily="2" charset="-122"/>
                </a:rPr>
                <a:t>=id</a:t>
              </a:r>
              <a:r>
                <a:rPr lang="en-US" altLang="zh-CN" sz="2400" b="1" baseline="-25000">
                  <a:solidFill>
                    <a:srgbClr val="111111"/>
                  </a:solidFill>
                  <a:latin typeface="Times New Roman" panose="02020603050405020304" pitchFamily="18" charset="0"/>
                  <a:ea typeface="华文新魏" panose="02010800040101010101" pitchFamily="2" charset="-122"/>
                </a:rPr>
                <a:t>2</a:t>
              </a:r>
              <a:r>
                <a:rPr lang="en-US" altLang="zh-CN" sz="2400" b="1">
                  <a:solidFill>
                    <a:srgbClr val="111111"/>
                  </a:solidFill>
                  <a:latin typeface="Times New Roman" panose="02020603050405020304" pitchFamily="18" charset="0"/>
                  <a:ea typeface="华文新魏" panose="02010800040101010101" pitchFamily="2" charset="-122"/>
                </a:rPr>
                <a:t>+id</a:t>
              </a:r>
              <a:r>
                <a:rPr lang="en-US" altLang="zh-CN" sz="2400" b="1" baseline="-25000">
                  <a:solidFill>
                    <a:srgbClr val="111111"/>
                  </a:solidFill>
                  <a:latin typeface="Times New Roman" panose="02020603050405020304" pitchFamily="18" charset="0"/>
                  <a:ea typeface="华文新魏" panose="02010800040101010101" pitchFamily="2" charset="-122"/>
                </a:rPr>
                <a:t>3</a:t>
              </a:r>
              <a:r>
                <a:rPr lang="en-US" altLang="zh-CN" sz="2400" b="1">
                  <a:solidFill>
                    <a:srgbClr val="111111"/>
                  </a:solidFill>
                  <a:latin typeface="Times New Roman" panose="02020603050405020304" pitchFamily="18" charset="0"/>
                  <a:ea typeface="华文新魏" panose="02010800040101010101" pitchFamily="2" charset="-122"/>
                </a:rPr>
                <a:t>*60</a:t>
              </a:r>
              <a:endParaRPr lang="en-US" altLang="zh-CN" sz="2400">
                <a:solidFill>
                  <a:srgbClr val="111111"/>
                </a:solidFill>
                <a:latin typeface="Times New Roman" panose="02020603050405020304" pitchFamily="18" charset="0"/>
                <a:ea typeface="华文新魏" panose="02010800040101010101" pitchFamily="2" charset="-122"/>
              </a:endParaRPr>
            </a:p>
          </p:txBody>
        </p:sp>
        <p:sp>
          <p:nvSpPr>
            <p:cNvPr id="6200" name="Line 125"/>
            <p:cNvSpPr>
              <a:spLocks noChangeShapeType="1"/>
            </p:cNvSpPr>
            <p:nvPr/>
          </p:nvSpPr>
          <p:spPr bwMode="auto">
            <a:xfrm>
              <a:off x="1333" y="1382"/>
              <a:ext cx="1" cy="11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prstDash val="dash"/>
                  <a:round/>
                  <a:headEnd/>
                  <a:tailEnd type="triangle" w="med" len="med"/>
                </a14:hiddenLine>
              </a:ext>
            </a:extLst>
          </p:spPr>
          <p:txBody>
            <a:bodyPr/>
            <a:lstStyle/>
            <a:p>
              <a:endParaRPr lang="zh-CN" altLang="en-US"/>
            </a:p>
          </p:txBody>
        </p:sp>
      </p:grpSp>
      <p:sp>
        <p:nvSpPr>
          <p:cNvPr id="6156" name="Rectangle 127"/>
          <p:cNvSpPr>
            <a:spLocks noChangeArrowheads="1"/>
          </p:cNvSpPr>
          <p:nvPr/>
        </p:nvSpPr>
        <p:spPr bwMode="auto">
          <a:xfrm>
            <a:off x="2916238" y="3276600"/>
            <a:ext cx="1008062" cy="225425"/>
          </a:xfrm>
          <a:prstGeom prst="rect">
            <a:avLst/>
          </a:prstGeom>
          <a:solidFill>
            <a:schemeClr val="tx1"/>
          </a:solidFill>
          <a:ln w="9525">
            <a:solidFill>
              <a:srgbClr val="000000"/>
            </a:solidFill>
            <a:miter lim="800000"/>
            <a:headEnd/>
            <a:tailEnd/>
          </a:ln>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语法分析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6157" name="Rectangle 130"/>
          <p:cNvSpPr>
            <a:spLocks noChangeArrowheads="1"/>
          </p:cNvSpPr>
          <p:nvPr/>
        </p:nvSpPr>
        <p:spPr bwMode="auto">
          <a:xfrm>
            <a:off x="2989263" y="4694238"/>
            <a:ext cx="935037" cy="25400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语义分析</a:t>
            </a:r>
            <a:endParaRPr lang="zh-CN" altLang="en-US" sz="1600">
              <a:solidFill>
                <a:schemeClr val="bg1"/>
              </a:solidFill>
              <a:latin typeface="Times New Roman" panose="02020603050405020304" pitchFamily="18" charset="0"/>
              <a:ea typeface="华文新魏" panose="02010800040101010101" pitchFamily="2" charset="-122"/>
            </a:endParaRPr>
          </a:p>
        </p:txBody>
      </p:sp>
      <p:grpSp>
        <p:nvGrpSpPr>
          <p:cNvPr id="6158" name="Group 132"/>
          <p:cNvGrpSpPr>
            <a:grpSpLocks/>
          </p:cNvGrpSpPr>
          <p:nvPr/>
        </p:nvGrpSpPr>
        <p:grpSpPr bwMode="auto">
          <a:xfrm>
            <a:off x="323850" y="3200400"/>
            <a:ext cx="4105275" cy="1209675"/>
            <a:chOff x="567" y="2016"/>
            <a:chExt cx="2586" cy="762"/>
          </a:xfrm>
        </p:grpSpPr>
        <p:grpSp>
          <p:nvGrpSpPr>
            <p:cNvPr id="6184" name="Group 133"/>
            <p:cNvGrpSpPr>
              <a:grpSpLocks/>
            </p:cNvGrpSpPr>
            <p:nvPr/>
          </p:nvGrpSpPr>
          <p:grpSpPr bwMode="auto">
            <a:xfrm>
              <a:off x="567" y="2047"/>
              <a:ext cx="2586" cy="731"/>
              <a:chOff x="7712" y="7895"/>
              <a:chExt cx="3334" cy="1210"/>
            </a:xfrm>
          </p:grpSpPr>
          <p:sp>
            <p:nvSpPr>
              <p:cNvPr id="6186" name="Rectangle 134"/>
              <p:cNvSpPr>
                <a:spLocks noChangeArrowheads="1"/>
              </p:cNvSpPr>
              <p:nvPr/>
            </p:nvSpPr>
            <p:spPr bwMode="auto">
              <a:xfrm>
                <a:off x="8557" y="7895"/>
                <a:ext cx="27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Times New Roman" panose="02020603050405020304" pitchFamily="18" charset="0"/>
                    <a:ea typeface="华文新魏" panose="02010800040101010101" pitchFamily="2" charset="-122"/>
                  </a:rPr>
                  <a:t>:=</a:t>
                </a:r>
                <a:endParaRPr lang="en-US" altLang="zh-CN" sz="2000">
                  <a:latin typeface="Times New Roman" panose="02020603050405020304" pitchFamily="18" charset="0"/>
                  <a:ea typeface="华文新魏" panose="02010800040101010101" pitchFamily="2" charset="-122"/>
                </a:endParaRPr>
              </a:p>
            </p:txBody>
          </p:sp>
          <p:sp>
            <p:nvSpPr>
              <p:cNvPr id="6187" name="Rectangle 135"/>
              <p:cNvSpPr>
                <a:spLocks noChangeArrowheads="1"/>
              </p:cNvSpPr>
              <p:nvPr/>
            </p:nvSpPr>
            <p:spPr bwMode="auto">
              <a:xfrm>
                <a:off x="9271" y="8269"/>
                <a:ext cx="11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Times New Roman" panose="02020603050405020304" pitchFamily="18" charset="0"/>
                    <a:ea typeface="华文新魏" panose="02010800040101010101" pitchFamily="2" charset="-122"/>
                  </a:rPr>
                  <a:t>+</a:t>
                </a:r>
                <a:endParaRPr lang="en-US" altLang="zh-CN" sz="2000">
                  <a:latin typeface="Times New Roman" panose="02020603050405020304" pitchFamily="18" charset="0"/>
                  <a:ea typeface="华文新魏" panose="02010800040101010101" pitchFamily="2" charset="-122"/>
                </a:endParaRPr>
              </a:p>
            </p:txBody>
          </p:sp>
          <p:sp>
            <p:nvSpPr>
              <p:cNvPr id="6188" name="Rectangle 136"/>
              <p:cNvSpPr>
                <a:spLocks noChangeArrowheads="1"/>
              </p:cNvSpPr>
              <p:nvPr/>
            </p:nvSpPr>
            <p:spPr bwMode="auto">
              <a:xfrm>
                <a:off x="10106" y="8586"/>
                <a:ext cx="10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2000">
                    <a:solidFill>
                      <a:srgbClr val="000000"/>
                    </a:solidFill>
                    <a:latin typeface="Times New Roman" panose="02020603050405020304" pitchFamily="18" charset="0"/>
                    <a:ea typeface="华文新魏" panose="02010800040101010101" pitchFamily="2" charset="-122"/>
                  </a:rPr>
                  <a:t>*</a:t>
                </a:r>
                <a:endParaRPr lang="zh-CN" altLang="en-US" sz="2000">
                  <a:latin typeface="Times New Roman" panose="02020603050405020304" pitchFamily="18" charset="0"/>
                  <a:ea typeface="华文新魏" panose="02010800040101010101" pitchFamily="2" charset="-122"/>
                </a:endParaRPr>
              </a:p>
            </p:txBody>
          </p:sp>
          <p:sp>
            <p:nvSpPr>
              <p:cNvPr id="6189" name="Rectangle 137"/>
              <p:cNvSpPr>
                <a:spLocks noChangeArrowheads="1"/>
              </p:cNvSpPr>
              <p:nvPr/>
            </p:nvSpPr>
            <p:spPr bwMode="auto">
              <a:xfrm>
                <a:off x="7712" y="8271"/>
                <a:ext cx="409"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a:t>
                </a:r>
                <a:r>
                  <a:rPr lang="en-US" altLang="zh-CN" sz="2000" b="1" baseline="-25000">
                    <a:solidFill>
                      <a:srgbClr val="000000"/>
                    </a:solidFill>
                    <a:latin typeface="Times New Roman" panose="02020603050405020304" pitchFamily="18" charset="0"/>
                    <a:ea typeface="华文新魏" panose="02010800040101010101" pitchFamily="2" charset="-122"/>
                  </a:rPr>
                  <a:t>1</a:t>
                </a:r>
                <a:endParaRPr lang="en-US" altLang="zh-CN" sz="2000">
                  <a:latin typeface="Times New Roman" panose="02020603050405020304" pitchFamily="18" charset="0"/>
                  <a:ea typeface="华文新魏" panose="02010800040101010101" pitchFamily="2" charset="-122"/>
                </a:endParaRPr>
              </a:p>
            </p:txBody>
          </p:sp>
          <p:sp>
            <p:nvSpPr>
              <p:cNvPr id="6190" name="Rectangle 138"/>
              <p:cNvSpPr>
                <a:spLocks noChangeArrowheads="1"/>
              </p:cNvSpPr>
              <p:nvPr/>
            </p:nvSpPr>
            <p:spPr bwMode="auto">
              <a:xfrm>
                <a:off x="8420" y="8592"/>
                <a:ext cx="405"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a:t>
                </a:r>
                <a:r>
                  <a:rPr lang="en-US" altLang="zh-CN" sz="2000" b="1" baseline="-25000">
                    <a:solidFill>
                      <a:srgbClr val="000000"/>
                    </a:solidFill>
                    <a:latin typeface="Times New Roman" panose="02020603050405020304" pitchFamily="18" charset="0"/>
                    <a:ea typeface="华文新魏" panose="02010800040101010101" pitchFamily="2" charset="-122"/>
                  </a:rPr>
                  <a:t>2</a:t>
                </a:r>
                <a:endParaRPr lang="en-US" altLang="zh-CN" sz="2000">
                  <a:latin typeface="Times New Roman" panose="02020603050405020304" pitchFamily="18" charset="0"/>
                  <a:ea typeface="华文新魏" panose="02010800040101010101" pitchFamily="2" charset="-122"/>
                </a:endParaRPr>
              </a:p>
            </p:txBody>
          </p:sp>
          <p:sp>
            <p:nvSpPr>
              <p:cNvPr id="6191" name="Rectangle 139"/>
              <p:cNvSpPr>
                <a:spLocks noChangeArrowheads="1"/>
              </p:cNvSpPr>
              <p:nvPr/>
            </p:nvSpPr>
            <p:spPr bwMode="auto">
              <a:xfrm>
                <a:off x="9393" y="8788"/>
                <a:ext cx="40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a:t>
                </a:r>
                <a:r>
                  <a:rPr lang="en-US" altLang="zh-CN" sz="2000" b="1" baseline="-25000">
                    <a:solidFill>
                      <a:srgbClr val="000000"/>
                    </a:solidFill>
                    <a:latin typeface="Times New Roman" panose="02020603050405020304" pitchFamily="18" charset="0"/>
                    <a:ea typeface="华文新魏" panose="02010800040101010101" pitchFamily="2" charset="-122"/>
                  </a:rPr>
                  <a:t>3</a:t>
                </a:r>
                <a:endParaRPr lang="en-US" altLang="zh-CN" sz="2000">
                  <a:latin typeface="Times New Roman" panose="02020603050405020304" pitchFamily="18" charset="0"/>
                  <a:ea typeface="华文新魏" panose="02010800040101010101" pitchFamily="2" charset="-122"/>
                </a:endParaRPr>
              </a:p>
            </p:txBody>
          </p:sp>
          <p:sp>
            <p:nvSpPr>
              <p:cNvPr id="6192" name="Rectangle 140"/>
              <p:cNvSpPr>
                <a:spLocks noChangeArrowheads="1"/>
              </p:cNvSpPr>
              <p:nvPr/>
            </p:nvSpPr>
            <p:spPr bwMode="auto">
              <a:xfrm>
                <a:off x="10637" y="8787"/>
                <a:ext cx="409"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60</a:t>
                </a:r>
                <a:endParaRPr lang="en-US" altLang="zh-CN" sz="2000">
                  <a:latin typeface="Times New Roman" panose="02020603050405020304" pitchFamily="18" charset="0"/>
                  <a:ea typeface="华文新魏" panose="02010800040101010101" pitchFamily="2" charset="-122"/>
                </a:endParaRPr>
              </a:p>
            </p:txBody>
          </p:sp>
          <p:sp>
            <p:nvSpPr>
              <p:cNvPr id="6193" name="Line 141"/>
              <p:cNvSpPr>
                <a:spLocks noChangeShapeType="1"/>
              </p:cNvSpPr>
              <p:nvPr/>
            </p:nvSpPr>
            <p:spPr bwMode="auto">
              <a:xfrm flipV="1">
                <a:off x="9615" y="8760"/>
                <a:ext cx="480" cy="1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94" name="Line 142"/>
              <p:cNvSpPr>
                <a:spLocks noChangeShapeType="1"/>
              </p:cNvSpPr>
              <p:nvPr/>
            </p:nvSpPr>
            <p:spPr bwMode="auto">
              <a:xfrm>
                <a:off x="10185" y="8745"/>
                <a:ext cx="495"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95" name="Line 143"/>
              <p:cNvSpPr>
                <a:spLocks noChangeShapeType="1"/>
              </p:cNvSpPr>
              <p:nvPr/>
            </p:nvSpPr>
            <p:spPr bwMode="auto">
              <a:xfrm flipV="1">
                <a:off x="8610" y="8430"/>
                <a:ext cx="675" cy="1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96" name="Line 144"/>
              <p:cNvSpPr>
                <a:spLocks noChangeShapeType="1"/>
              </p:cNvSpPr>
              <p:nvPr/>
            </p:nvSpPr>
            <p:spPr bwMode="auto">
              <a:xfrm>
                <a:off x="9390" y="8415"/>
                <a:ext cx="72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97" name="Line 145"/>
              <p:cNvSpPr>
                <a:spLocks noChangeShapeType="1"/>
              </p:cNvSpPr>
              <p:nvPr/>
            </p:nvSpPr>
            <p:spPr bwMode="auto">
              <a:xfrm flipV="1">
                <a:off x="7905" y="8100"/>
                <a:ext cx="615" cy="2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98" name="Line 146"/>
              <p:cNvSpPr>
                <a:spLocks noChangeShapeType="1"/>
              </p:cNvSpPr>
              <p:nvPr/>
            </p:nvSpPr>
            <p:spPr bwMode="auto">
              <a:xfrm>
                <a:off x="8790" y="8070"/>
                <a:ext cx="510" cy="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85" name="Line 147"/>
            <p:cNvSpPr>
              <a:spLocks noChangeShapeType="1"/>
            </p:cNvSpPr>
            <p:nvPr/>
          </p:nvSpPr>
          <p:spPr bwMode="auto">
            <a:xfrm>
              <a:off x="1322" y="2016"/>
              <a:ext cx="0" cy="1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59" name="Group 148"/>
          <p:cNvGrpSpPr>
            <a:grpSpLocks/>
          </p:cNvGrpSpPr>
          <p:nvPr/>
        </p:nvGrpSpPr>
        <p:grpSpPr bwMode="auto">
          <a:xfrm>
            <a:off x="415925" y="4581525"/>
            <a:ext cx="4300538" cy="2100263"/>
            <a:chOff x="625" y="3013"/>
            <a:chExt cx="2709" cy="1101"/>
          </a:xfrm>
        </p:grpSpPr>
        <p:grpSp>
          <p:nvGrpSpPr>
            <p:cNvPr id="6166" name="Group 149"/>
            <p:cNvGrpSpPr>
              <a:grpSpLocks/>
            </p:cNvGrpSpPr>
            <p:nvPr/>
          </p:nvGrpSpPr>
          <p:grpSpPr bwMode="auto">
            <a:xfrm>
              <a:off x="1322" y="3013"/>
              <a:ext cx="523" cy="480"/>
              <a:chOff x="1322" y="3013"/>
              <a:chExt cx="523" cy="480"/>
            </a:xfrm>
          </p:grpSpPr>
          <p:sp>
            <p:nvSpPr>
              <p:cNvPr id="6182" name="Line 150"/>
              <p:cNvSpPr>
                <a:spLocks noChangeShapeType="1"/>
              </p:cNvSpPr>
              <p:nvPr/>
            </p:nvSpPr>
            <p:spPr bwMode="auto">
              <a:xfrm flipV="1">
                <a:off x="1322" y="3375"/>
                <a:ext cx="523" cy="1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3" name="Line 151"/>
              <p:cNvSpPr>
                <a:spLocks noChangeShapeType="1"/>
              </p:cNvSpPr>
              <p:nvPr/>
            </p:nvSpPr>
            <p:spPr bwMode="auto">
              <a:xfrm>
                <a:off x="1368" y="3013"/>
                <a:ext cx="1" cy="1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67" name="Group 152"/>
            <p:cNvGrpSpPr>
              <a:grpSpLocks/>
            </p:cNvGrpSpPr>
            <p:nvPr/>
          </p:nvGrpSpPr>
          <p:grpSpPr bwMode="auto">
            <a:xfrm>
              <a:off x="625" y="3052"/>
              <a:ext cx="2709" cy="1062"/>
              <a:chOff x="625" y="3052"/>
              <a:chExt cx="2709" cy="1062"/>
            </a:xfrm>
          </p:grpSpPr>
          <p:sp>
            <p:nvSpPr>
              <p:cNvPr id="6168" name="Rectangle 153"/>
              <p:cNvSpPr>
                <a:spLocks noChangeArrowheads="1"/>
              </p:cNvSpPr>
              <p:nvPr/>
            </p:nvSpPr>
            <p:spPr bwMode="auto">
              <a:xfrm>
                <a:off x="2595" y="3653"/>
                <a:ext cx="739"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inttoreal</a:t>
                </a:r>
                <a:endParaRPr lang="en-US" altLang="zh-CN" sz="2000">
                  <a:latin typeface="Times New Roman" panose="02020603050405020304" pitchFamily="18" charset="0"/>
                  <a:ea typeface="华文新魏" panose="02010800040101010101" pitchFamily="2" charset="-122"/>
                </a:endParaRPr>
              </a:p>
            </p:txBody>
          </p:sp>
          <p:sp>
            <p:nvSpPr>
              <p:cNvPr id="6169" name="Rectangle 154"/>
              <p:cNvSpPr>
                <a:spLocks noChangeArrowheads="1"/>
              </p:cNvSpPr>
              <p:nvPr/>
            </p:nvSpPr>
            <p:spPr bwMode="auto">
              <a:xfrm>
                <a:off x="1280" y="3052"/>
                <a:ext cx="21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Times New Roman" panose="02020603050405020304" pitchFamily="18" charset="0"/>
                    <a:ea typeface="华文新魏" panose="02010800040101010101" pitchFamily="2" charset="-122"/>
                  </a:rPr>
                  <a:t>:=</a:t>
                </a:r>
                <a:endParaRPr lang="en-US" altLang="zh-CN" sz="2000">
                  <a:latin typeface="Times New Roman" panose="02020603050405020304" pitchFamily="18" charset="0"/>
                  <a:ea typeface="华文新魏" panose="02010800040101010101" pitchFamily="2" charset="-122"/>
                </a:endParaRPr>
              </a:p>
            </p:txBody>
          </p:sp>
          <p:sp>
            <p:nvSpPr>
              <p:cNvPr id="6170" name="Rectangle 155"/>
              <p:cNvSpPr>
                <a:spLocks noChangeArrowheads="1"/>
              </p:cNvSpPr>
              <p:nvPr/>
            </p:nvSpPr>
            <p:spPr bwMode="auto">
              <a:xfrm>
                <a:off x="1836" y="3278"/>
                <a:ext cx="9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Times New Roman" panose="02020603050405020304" pitchFamily="18" charset="0"/>
                    <a:ea typeface="华文新魏" panose="02010800040101010101" pitchFamily="2" charset="-122"/>
                  </a:rPr>
                  <a:t>+</a:t>
                </a:r>
                <a:endParaRPr lang="en-US" altLang="zh-CN" sz="2000">
                  <a:latin typeface="Times New Roman" panose="02020603050405020304" pitchFamily="18" charset="0"/>
                  <a:ea typeface="华文新魏" panose="02010800040101010101" pitchFamily="2" charset="-122"/>
                </a:endParaRPr>
              </a:p>
            </p:txBody>
          </p:sp>
          <p:sp>
            <p:nvSpPr>
              <p:cNvPr id="6171" name="Rectangle 156"/>
              <p:cNvSpPr>
                <a:spLocks noChangeArrowheads="1"/>
              </p:cNvSpPr>
              <p:nvPr/>
            </p:nvSpPr>
            <p:spPr bwMode="auto">
              <a:xfrm>
                <a:off x="2481" y="3468"/>
                <a:ext cx="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2000">
                    <a:solidFill>
                      <a:srgbClr val="000000"/>
                    </a:solidFill>
                    <a:latin typeface="Times New Roman" panose="02020603050405020304" pitchFamily="18" charset="0"/>
                    <a:ea typeface="华文新魏" panose="02010800040101010101" pitchFamily="2" charset="-122"/>
                  </a:rPr>
                  <a:t>*</a:t>
                </a:r>
                <a:endParaRPr lang="zh-CN" altLang="en-US" sz="2000">
                  <a:latin typeface="Times New Roman" panose="02020603050405020304" pitchFamily="18" charset="0"/>
                  <a:ea typeface="华文新魏" panose="02010800040101010101" pitchFamily="2" charset="-122"/>
                </a:endParaRPr>
              </a:p>
            </p:txBody>
          </p:sp>
          <p:sp>
            <p:nvSpPr>
              <p:cNvPr id="6172" name="Rectangle 157"/>
              <p:cNvSpPr>
                <a:spLocks noChangeArrowheads="1"/>
              </p:cNvSpPr>
              <p:nvPr/>
            </p:nvSpPr>
            <p:spPr bwMode="auto">
              <a:xfrm>
                <a:off x="625" y="3278"/>
                <a:ext cx="31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a:t>
                </a:r>
                <a:r>
                  <a:rPr lang="en-US" altLang="zh-CN" sz="2000" b="1" baseline="-25000">
                    <a:solidFill>
                      <a:srgbClr val="000000"/>
                    </a:solidFill>
                    <a:latin typeface="Times New Roman" panose="02020603050405020304" pitchFamily="18" charset="0"/>
                    <a:ea typeface="华文新魏" panose="02010800040101010101" pitchFamily="2" charset="-122"/>
                  </a:rPr>
                  <a:t>1</a:t>
                </a:r>
                <a:endParaRPr lang="en-US" altLang="zh-CN" sz="2000">
                  <a:latin typeface="Times New Roman" panose="02020603050405020304" pitchFamily="18" charset="0"/>
                  <a:ea typeface="华文新魏" panose="02010800040101010101" pitchFamily="2" charset="-122"/>
                </a:endParaRPr>
              </a:p>
            </p:txBody>
          </p:sp>
          <p:sp>
            <p:nvSpPr>
              <p:cNvPr id="6173" name="Rectangle 158"/>
              <p:cNvSpPr>
                <a:spLocks noChangeArrowheads="1"/>
              </p:cNvSpPr>
              <p:nvPr/>
            </p:nvSpPr>
            <p:spPr bwMode="auto">
              <a:xfrm>
                <a:off x="1174" y="3474"/>
                <a:ext cx="31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a:t>
                </a:r>
                <a:r>
                  <a:rPr lang="en-US" altLang="zh-CN" sz="2000" b="1" baseline="-25000">
                    <a:solidFill>
                      <a:srgbClr val="000000"/>
                    </a:solidFill>
                    <a:latin typeface="Times New Roman" panose="02020603050405020304" pitchFamily="18" charset="0"/>
                    <a:ea typeface="华文新魏" panose="02010800040101010101" pitchFamily="2" charset="-122"/>
                  </a:rPr>
                  <a:t>2</a:t>
                </a:r>
                <a:endParaRPr lang="en-US" altLang="zh-CN" sz="2000">
                  <a:latin typeface="Times New Roman" panose="02020603050405020304" pitchFamily="18" charset="0"/>
                  <a:ea typeface="华文新魏" panose="02010800040101010101" pitchFamily="2" charset="-122"/>
                </a:endParaRPr>
              </a:p>
            </p:txBody>
          </p:sp>
          <p:sp>
            <p:nvSpPr>
              <p:cNvPr id="6174" name="Rectangle 159"/>
              <p:cNvSpPr>
                <a:spLocks noChangeArrowheads="1"/>
              </p:cNvSpPr>
              <p:nvPr/>
            </p:nvSpPr>
            <p:spPr bwMode="auto">
              <a:xfrm>
                <a:off x="1930" y="3592"/>
                <a:ext cx="31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a:t>
                </a:r>
                <a:r>
                  <a:rPr lang="en-US" altLang="zh-CN" sz="2000" b="1" baseline="-25000">
                    <a:solidFill>
                      <a:srgbClr val="000000"/>
                    </a:solidFill>
                    <a:latin typeface="Times New Roman" panose="02020603050405020304" pitchFamily="18" charset="0"/>
                    <a:ea typeface="华文新魏" panose="02010800040101010101" pitchFamily="2" charset="-122"/>
                  </a:rPr>
                  <a:t>3</a:t>
                </a:r>
                <a:endParaRPr lang="en-US" altLang="zh-CN" sz="2000">
                  <a:latin typeface="Times New Roman" panose="02020603050405020304" pitchFamily="18" charset="0"/>
                  <a:ea typeface="华文新魏" panose="02010800040101010101" pitchFamily="2" charset="-122"/>
                </a:endParaRPr>
              </a:p>
            </p:txBody>
          </p:sp>
          <p:sp>
            <p:nvSpPr>
              <p:cNvPr id="6175" name="Rectangle 160"/>
              <p:cNvSpPr>
                <a:spLocks noChangeArrowheads="1"/>
              </p:cNvSpPr>
              <p:nvPr/>
            </p:nvSpPr>
            <p:spPr bwMode="auto">
              <a:xfrm>
                <a:off x="2815" y="3954"/>
                <a:ext cx="31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60</a:t>
                </a:r>
                <a:endParaRPr lang="en-US" altLang="zh-CN" sz="2000">
                  <a:latin typeface="Times New Roman" panose="02020603050405020304" pitchFamily="18" charset="0"/>
                  <a:ea typeface="华文新魏" panose="02010800040101010101" pitchFamily="2" charset="-122"/>
                </a:endParaRPr>
              </a:p>
            </p:txBody>
          </p:sp>
          <p:sp>
            <p:nvSpPr>
              <p:cNvPr id="6176" name="Line 161"/>
              <p:cNvSpPr>
                <a:spLocks noChangeShapeType="1"/>
              </p:cNvSpPr>
              <p:nvPr/>
            </p:nvSpPr>
            <p:spPr bwMode="auto">
              <a:xfrm flipV="1">
                <a:off x="2101" y="3575"/>
                <a:ext cx="372" cy="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7" name="Line 162"/>
              <p:cNvSpPr>
                <a:spLocks noChangeShapeType="1"/>
              </p:cNvSpPr>
              <p:nvPr/>
            </p:nvSpPr>
            <p:spPr bwMode="auto">
              <a:xfrm>
                <a:off x="2543" y="3566"/>
                <a:ext cx="384" cy="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8" name="Line 163"/>
              <p:cNvSpPr>
                <a:spLocks noChangeShapeType="1"/>
              </p:cNvSpPr>
              <p:nvPr/>
            </p:nvSpPr>
            <p:spPr bwMode="auto">
              <a:xfrm>
                <a:off x="1926" y="3366"/>
                <a:ext cx="559" cy="1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9" name="Line 164"/>
              <p:cNvSpPr>
                <a:spLocks noChangeShapeType="1"/>
              </p:cNvSpPr>
              <p:nvPr/>
            </p:nvSpPr>
            <p:spPr bwMode="auto">
              <a:xfrm flipV="1">
                <a:off x="775" y="3176"/>
                <a:ext cx="477" cy="1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0" name="Line 165"/>
              <p:cNvSpPr>
                <a:spLocks noChangeShapeType="1"/>
              </p:cNvSpPr>
              <p:nvPr/>
            </p:nvSpPr>
            <p:spPr bwMode="auto">
              <a:xfrm>
                <a:off x="1461" y="3158"/>
                <a:ext cx="396" cy="1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1" name="Line 166"/>
              <p:cNvSpPr>
                <a:spLocks noChangeShapeType="1"/>
              </p:cNvSpPr>
              <p:nvPr/>
            </p:nvSpPr>
            <p:spPr bwMode="auto">
              <a:xfrm>
                <a:off x="2950" y="3810"/>
                <a:ext cx="1"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160" name="Rectangle 168"/>
          <p:cNvSpPr>
            <a:spLocks noChangeArrowheads="1"/>
          </p:cNvSpPr>
          <p:nvPr/>
        </p:nvSpPr>
        <p:spPr bwMode="auto">
          <a:xfrm>
            <a:off x="7669213" y="2781300"/>
            <a:ext cx="1295400" cy="22225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中间代码生成</a:t>
            </a:r>
            <a:endParaRPr lang="zh-CN" altLang="en-US" sz="1400">
              <a:solidFill>
                <a:schemeClr val="bg1"/>
              </a:solidFill>
              <a:latin typeface="Times New Roman" panose="02020603050405020304" pitchFamily="18" charset="0"/>
              <a:ea typeface="华文新魏" panose="02010800040101010101" pitchFamily="2" charset="-122"/>
            </a:endParaRPr>
          </a:p>
        </p:txBody>
      </p:sp>
      <p:sp>
        <p:nvSpPr>
          <p:cNvPr id="6161" name="Freeform 169"/>
          <p:cNvSpPr>
            <a:spLocks/>
          </p:cNvSpPr>
          <p:nvPr/>
        </p:nvSpPr>
        <p:spPr bwMode="auto">
          <a:xfrm>
            <a:off x="2339975" y="1844675"/>
            <a:ext cx="4248150" cy="4837113"/>
          </a:xfrm>
          <a:custGeom>
            <a:avLst/>
            <a:gdLst>
              <a:gd name="T0" fmla="*/ 0 w 3054"/>
              <a:gd name="T1" fmla="*/ 2147483646 h 3161"/>
              <a:gd name="T2" fmla="*/ 615302936 w 3054"/>
              <a:gd name="T3" fmla="*/ 2147483646 h 3161"/>
              <a:gd name="T4" fmla="*/ 1843972520 w 3054"/>
              <a:gd name="T5" fmla="*/ 2147483646 h 3161"/>
              <a:gd name="T6" fmla="*/ 2147483646 w 3054"/>
              <a:gd name="T7" fmla="*/ 2147483646 h 3161"/>
              <a:gd name="T8" fmla="*/ 2147483646 w 3054"/>
              <a:gd name="T9" fmla="*/ 2147483646 h 3161"/>
              <a:gd name="T10" fmla="*/ 2147483646 w 3054"/>
              <a:gd name="T11" fmla="*/ 2147483646 h 3161"/>
              <a:gd name="T12" fmla="*/ 2147483646 w 3054"/>
              <a:gd name="T13" fmla="*/ 974129676 h 3161"/>
              <a:gd name="T14" fmla="*/ 2147483646 w 3054"/>
              <a:gd name="T15" fmla="*/ 231824876 h 3161"/>
              <a:gd name="T16" fmla="*/ 2147483646 w 3054"/>
              <a:gd name="T17" fmla="*/ 763380901 h 31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54" h="3161">
                <a:moveTo>
                  <a:pt x="0" y="2594"/>
                </a:moveTo>
                <a:cubicBezTo>
                  <a:pt x="79" y="2752"/>
                  <a:pt x="159" y="2911"/>
                  <a:pt x="318" y="3002"/>
                </a:cubicBezTo>
                <a:cubicBezTo>
                  <a:pt x="477" y="3093"/>
                  <a:pt x="726" y="3115"/>
                  <a:pt x="953" y="3138"/>
                </a:cubicBezTo>
                <a:cubicBezTo>
                  <a:pt x="1180" y="3161"/>
                  <a:pt x="1519" y="3161"/>
                  <a:pt x="1678" y="3138"/>
                </a:cubicBezTo>
                <a:cubicBezTo>
                  <a:pt x="1837" y="3115"/>
                  <a:pt x="1852" y="3093"/>
                  <a:pt x="1905" y="3002"/>
                </a:cubicBezTo>
                <a:cubicBezTo>
                  <a:pt x="1958" y="2911"/>
                  <a:pt x="1958" y="3025"/>
                  <a:pt x="1996" y="2594"/>
                </a:cubicBezTo>
                <a:cubicBezTo>
                  <a:pt x="2034" y="2163"/>
                  <a:pt x="1981" y="832"/>
                  <a:pt x="2132" y="416"/>
                </a:cubicBezTo>
                <a:cubicBezTo>
                  <a:pt x="2283" y="0"/>
                  <a:pt x="2752" y="114"/>
                  <a:pt x="2903" y="99"/>
                </a:cubicBezTo>
                <a:cubicBezTo>
                  <a:pt x="3054" y="84"/>
                  <a:pt x="3024" y="281"/>
                  <a:pt x="3039" y="326"/>
                </a:cubicBezTo>
              </a:path>
            </a:pathLst>
          </a:custGeom>
          <a:noFill/>
          <a:ln w="9525">
            <a:solidFill>
              <a:srgbClr val="11111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Text Box 170"/>
          <p:cNvSpPr txBox="1">
            <a:spLocks noChangeArrowheads="1"/>
          </p:cNvSpPr>
          <p:nvPr/>
        </p:nvSpPr>
        <p:spPr bwMode="auto">
          <a:xfrm>
            <a:off x="4570413" y="115888"/>
            <a:ext cx="4465637" cy="18002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1">
                <a:solidFill>
                  <a:schemeClr val="bg1"/>
                </a:solidFill>
                <a:ea typeface="华文新魏" panose="02010800040101010101" pitchFamily="2" charset="-122"/>
              </a:rPr>
              <a:t>在这个变换过程中，将需要一些什么样的方法和技术，其中有什么样的变换原理、方法、技术有相关的东西？</a:t>
            </a:r>
          </a:p>
        </p:txBody>
      </p:sp>
      <p:sp>
        <p:nvSpPr>
          <p:cNvPr id="6163" name="Text Box 171"/>
          <p:cNvSpPr txBox="1">
            <a:spLocks noChangeArrowheads="1"/>
          </p:cNvSpPr>
          <p:nvPr/>
        </p:nvSpPr>
        <p:spPr bwMode="auto">
          <a:xfrm>
            <a:off x="395288" y="4005263"/>
            <a:ext cx="647700" cy="287337"/>
          </a:xfrm>
          <a:prstGeom prst="rect">
            <a:avLst/>
          </a:prstGeom>
          <a:solidFill>
            <a:srgbClr val="80008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结构</a:t>
            </a:r>
          </a:p>
        </p:txBody>
      </p:sp>
      <p:sp>
        <p:nvSpPr>
          <p:cNvPr id="6164" name="Text Box 172"/>
          <p:cNvSpPr txBox="1">
            <a:spLocks noChangeArrowheads="1"/>
          </p:cNvSpPr>
          <p:nvPr/>
        </p:nvSpPr>
        <p:spPr bwMode="auto">
          <a:xfrm>
            <a:off x="395288" y="5445125"/>
            <a:ext cx="647700" cy="287338"/>
          </a:xfrm>
          <a:prstGeom prst="rect">
            <a:avLst/>
          </a:prstGeom>
          <a:solidFill>
            <a:srgbClr val="80008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含义</a:t>
            </a:r>
          </a:p>
        </p:txBody>
      </p:sp>
      <p:sp>
        <p:nvSpPr>
          <p:cNvPr id="6165" name="Line 173"/>
          <p:cNvSpPr>
            <a:spLocks noChangeShapeType="1"/>
          </p:cNvSpPr>
          <p:nvPr/>
        </p:nvSpPr>
        <p:spPr bwMode="auto">
          <a:xfrm>
            <a:off x="1547813" y="2205038"/>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7D352C8-DC84-4684-8D8E-30FB8E3D7FAA}" type="datetime1">
              <a:rPr lang="zh-CN" altLang="en-US" sz="1400" smtClean="0"/>
              <a:pPr>
                <a:spcBef>
                  <a:spcPct val="0"/>
                </a:spcBef>
                <a:buClrTx/>
                <a:buSzTx/>
                <a:buFontTx/>
                <a:buNone/>
              </a:pPr>
              <a:t>2017/2/24</a:t>
            </a:fld>
            <a:endParaRPr lang="en-US" altLang="zh-CN" sz="1400" smtClean="0"/>
          </a:p>
        </p:txBody>
      </p:sp>
      <p:sp>
        <p:nvSpPr>
          <p:cNvPr id="717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ABFD2D9-7BDD-4E87-803D-D70860A17D78}" type="slidenum">
              <a:rPr lang="zh-CN" altLang="en-US" sz="1400"/>
              <a:pPr>
                <a:spcBef>
                  <a:spcPct val="0"/>
                </a:spcBef>
                <a:buClrTx/>
                <a:buSzTx/>
                <a:buFontTx/>
                <a:buNone/>
              </a:pPr>
              <a:t>3</a:t>
            </a:fld>
            <a:endParaRPr lang="en-US" altLang="zh-CN" sz="1400"/>
          </a:p>
        </p:txBody>
      </p:sp>
      <p:sp>
        <p:nvSpPr>
          <p:cNvPr id="7172" name="Rectangle 2"/>
          <p:cNvSpPr>
            <a:spLocks noGrp="1" noRot="1" noChangeArrowheads="1"/>
          </p:cNvSpPr>
          <p:nvPr>
            <p:ph type="title"/>
          </p:nvPr>
        </p:nvSpPr>
        <p:spPr>
          <a:xfrm>
            <a:off x="1042988" y="620713"/>
            <a:ext cx="6180137" cy="595312"/>
          </a:xfrm>
        </p:spPr>
        <p:txBody>
          <a:bodyPr/>
          <a:lstStyle/>
          <a:p>
            <a:pPr eaLnBrk="1" hangingPunct="1"/>
            <a:r>
              <a:rPr lang="zh-CN" altLang="en-US" b="1" smtClean="0">
                <a:latin typeface="Times New Roman" panose="02020603050405020304" pitchFamily="18" charset="0"/>
                <a:ea typeface="华文新魏" panose="02010800040101010101" pitchFamily="2" charset="-122"/>
              </a:rPr>
              <a:t>学时与教材</a:t>
            </a:r>
          </a:p>
        </p:txBody>
      </p:sp>
      <p:sp>
        <p:nvSpPr>
          <p:cNvPr id="7173" name="Rectangle 3"/>
          <p:cNvSpPr>
            <a:spLocks noGrp="1" noRot="1" noChangeArrowheads="1"/>
          </p:cNvSpPr>
          <p:nvPr>
            <p:ph type="body" idx="1"/>
          </p:nvPr>
        </p:nvSpPr>
        <p:spPr>
          <a:xfrm>
            <a:off x="323850" y="1484313"/>
            <a:ext cx="5111750" cy="4824412"/>
          </a:xfrm>
        </p:spPr>
        <p:txBody>
          <a:bodyPr/>
          <a:lstStyle/>
          <a:p>
            <a:pPr marL="533400" indent="-533400" algn="just" eaLnBrk="1" hangingPunct="1"/>
            <a:r>
              <a:rPr lang="zh-CN" altLang="en-US" sz="2800" b="1" smtClean="0">
                <a:latin typeface="Times New Roman" panose="02020603050405020304" pitchFamily="18" charset="0"/>
                <a:ea typeface="华文新魏" panose="02010800040101010101" pitchFamily="2" charset="-122"/>
              </a:rPr>
              <a:t>学时</a:t>
            </a:r>
          </a:p>
          <a:p>
            <a:pPr marL="814388" lvl="1" indent="-457200" algn="just" eaLnBrk="1" hangingPunct="1"/>
            <a:r>
              <a:rPr lang="zh-CN" altLang="en-US" sz="2400" b="1" smtClean="0">
                <a:latin typeface="Times New Roman" panose="02020603050405020304" pitchFamily="18" charset="0"/>
                <a:ea typeface="华文新魏" panose="02010800040101010101" pitchFamily="2" charset="-122"/>
              </a:rPr>
              <a:t>44+12学时</a:t>
            </a:r>
          </a:p>
          <a:p>
            <a:pPr marL="533400" indent="-533400" algn="just" eaLnBrk="1" hangingPunct="1"/>
            <a:r>
              <a:rPr lang="zh-CN" altLang="en-US" sz="2800" b="1" smtClean="0">
                <a:latin typeface="Times New Roman" panose="02020603050405020304" pitchFamily="18" charset="0"/>
                <a:ea typeface="华文新魏" panose="02010800040101010101" pitchFamily="2" charset="-122"/>
              </a:rPr>
              <a:t>教材</a:t>
            </a:r>
          </a:p>
          <a:p>
            <a:pPr marL="814388" lvl="1" indent="-457200" eaLnBrk="1" hangingPunct="1"/>
            <a:r>
              <a:rPr lang="zh-CN" altLang="en-US" b="1" smtClean="0">
                <a:latin typeface="Times New Roman" panose="02020603050405020304" pitchFamily="18" charset="0"/>
                <a:ea typeface="华文新魏" panose="02010800040101010101" pitchFamily="2" charset="-122"/>
              </a:rPr>
              <a:t>蒋宗礼，姜守旭，编译原理，高等教育出版社，国家“十一五”规划教材，</a:t>
            </a:r>
            <a:r>
              <a:rPr lang="en-US" altLang="zh-CN" b="1" smtClean="0">
                <a:latin typeface="Times New Roman" panose="02020603050405020304" pitchFamily="18" charset="0"/>
                <a:ea typeface="华文新魏" panose="02010800040101010101" pitchFamily="2" charset="-122"/>
              </a:rPr>
              <a:t>2010</a:t>
            </a:r>
            <a:r>
              <a:rPr lang="zh-CN" altLang="en-US" b="1" smtClean="0">
                <a:latin typeface="Times New Roman" panose="02020603050405020304" pitchFamily="18" charset="0"/>
                <a:ea typeface="华文新魏" panose="02010800040101010101" pitchFamily="2" charset="-122"/>
              </a:rPr>
              <a:t>年</a:t>
            </a:r>
            <a:r>
              <a:rPr lang="en-US" altLang="zh-CN" b="1" smtClean="0">
                <a:latin typeface="Times New Roman" panose="02020603050405020304" pitchFamily="18" charset="0"/>
                <a:ea typeface="华文新魏" panose="02010800040101010101" pitchFamily="2" charset="-122"/>
              </a:rPr>
              <a:t>2</a:t>
            </a:r>
            <a:r>
              <a:rPr lang="zh-CN" altLang="en-US" b="1" smtClean="0">
                <a:latin typeface="Times New Roman" panose="02020603050405020304" pitchFamily="18" charset="0"/>
                <a:ea typeface="华文新魏" panose="02010800040101010101" pitchFamily="2" charset="-122"/>
              </a:rPr>
              <a:t>月，</a:t>
            </a:r>
            <a:r>
              <a:rPr lang="en-US" altLang="zh-CN" b="1" smtClean="0">
                <a:latin typeface="Times New Roman" panose="02020603050405020304" pitchFamily="18" charset="0"/>
                <a:ea typeface="华文新魏" panose="02010800040101010101" pitchFamily="2" charset="-122"/>
              </a:rPr>
              <a:t>2013</a:t>
            </a:r>
            <a:r>
              <a:rPr lang="zh-CN" altLang="en-US" b="1" smtClean="0">
                <a:latin typeface="Times New Roman" panose="02020603050405020304" pitchFamily="18" charset="0"/>
                <a:ea typeface="华文新魏" panose="02010800040101010101" pitchFamily="2" charset="-122"/>
              </a:rPr>
              <a:t>年</a:t>
            </a:r>
            <a:r>
              <a:rPr lang="en-US" altLang="zh-CN" b="1" smtClean="0">
                <a:latin typeface="Times New Roman" panose="02020603050405020304" pitchFamily="18" charset="0"/>
                <a:ea typeface="华文新魏" panose="02010800040101010101" pitchFamily="2" charset="-122"/>
              </a:rPr>
              <a:t>2</a:t>
            </a:r>
            <a:r>
              <a:rPr lang="zh-CN" altLang="en-US" b="1" smtClean="0">
                <a:latin typeface="Times New Roman" panose="02020603050405020304" pitchFamily="18" charset="0"/>
                <a:ea typeface="华文新魏" panose="02010800040101010101" pitchFamily="2" charset="-122"/>
              </a:rPr>
              <a:t>月第四次印刷</a:t>
            </a:r>
          </a:p>
        </p:txBody>
      </p:sp>
      <p:pic>
        <p:nvPicPr>
          <p:cNvPr id="7174" name="Picture 4" descr="A29058编译原理(正确)"/>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3700" y="1628775"/>
            <a:ext cx="36703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C82294E-7F1E-4A61-8860-9A8B7C890450}" type="datetime1">
              <a:rPr lang="zh-CN" altLang="en-US" sz="1400" smtClean="0"/>
              <a:pPr>
                <a:spcBef>
                  <a:spcPct val="0"/>
                </a:spcBef>
                <a:buClrTx/>
                <a:buSzTx/>
                <a:buFontTx/>
                <a:buNone/>
              </a:pPr>
              <a:t>2017/2/24</a:t>
            </a:fld>
            <a:endParaRPr lang="en-US" altLang="zh-CN" sz="1400" smtClean="0"/>
          </a:p>
        </p:txBody>
      </p:sp>
      <p:sp>
        <p:nvSpPr>
          <p:cNvPr id="819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5500E17-E36B-48FB-8719-D96B48FA3614}" type="slidenum">
              <a:rPr lang="zh-CN" altLang="en-US" sz="1400"/>
              <a:pPr>
                <a:spcBef>
                  <a:spcPct val="0"/>
                </a:spcBef>
                <a:buClrTx/>
                <a:buSzTx/>
                <a:buFontTx/>
                <a:buNone/>
              </a:pPr>
              <a:t>4</a:t>
            </a:fld>
            <a:endParaRPr lang="en-US" altLang="zh-CN" sz="1400"/>
          </a:p>
        </p:txBody>
      </p:sp>
      <p:sp>
        <p:nvSpPr>
          <p:cNvPr id="8196" name="Rectangle 2"/>
          <p:cNvSpPr>
            <a:spLocks noGrp="1" noRot="1" noChangeArrowheads="1"/>
          </p:cNvSpPr>
          <p:nvPr>
            <p:ph type="title"/>
          </p:nvPr>
        </p:nvSpPr>
        <p:spPr/>
        <p:txBody>
          <a:bodyPr/>
          <a:lstStyle/>
          <a:p>
            <a:pPr eaLnBrk="1" hangingPunct="1"/>
            <a:r>
              <a:rPr lang="zh-CN" altLang="en-US" b="1" smtClean="0">
                <a:latin typeface="Times New Roman" panose="02020603050405020304" pitchFamily="18" charset="0"/>
                <a:ea typeface="华文新魏" panose="02010800040101010101" pitchFamily="2" charset="-122"/>
              </a:rPr>
              <a:t>参考书</a:t>
            </a:r>
          </a:p>
        </p:txBody>
      </p:sp>
      <p:sp>
        <p:nvSpPr>
          <p:cNvPr id="8197" name="Rectangle 3"/>
          <p:cNvSpPr>
            <a:spLocks noGrp="1" noRot="1" noChangeArrowheads="1"/>
          </p:cNvSpPr>
          <p:nvPr>
            <p:ph type="body" idx="1"/>
          </p:nvPr>
        </p:nvSpPr>
        <p:spPr>
          <a:xfrm>
            <a:off x="301625" y="1628775"/>
            <a:ext cx="5422900" cy="4824413"/>
          </a:xfrm>
        </p:spPr>
        <p:txBody>
          <a:bodyPr/>
          <a:lstStyle/>
          <a:p>
            <a:pPr marL="609600" indent="-609600" eaLnBrk="1" hangingPunct="1">
              <a:lnSpc>
                <a:spcPct val="80000"/>
              </a:lnSpc>
              <a:buFont typeface="Wingdings" panose="05000000000000000000" pitchFamily="2" charset="2"/>
              <a:buAutoNum type="arabicPeriod"/>
            </a:pPr>
            <a:r>
              <a:rPr lang="zh-CN" altLang="en-US" b="1" smtClean="0">
                <a:latin typeface="Times New Roman" panose="02020603050405020304" pitchFamily="18" charset="0"/>
                <a:ea typeface="华文新魏" panose="02010800040101010101" pitchFamily="2" charset="-122"/>
              </a:rPr>
              <a:t>龙书</a:t>
            </a:r>
          </a:p>
          <a:p>
            <a:pPr marL="990600" lvl="1" indent="-533400" eaLnBrk="1" hangingPunct="1">
              <a:lnSpc>
                <a:spcPct val="80000"/>
              </a:lnSpc>
              <a:buFont typeface="Wingdings" panose="05000000000000000000" pitchFamily="2" charset="2"/>
              <a:buAutoNum type="circleNumDbPlain"/>
            </a:pPr>
            <a:r>
              <a:rPr lang="en-US" altLang="zh-CN" sz="2400" b="1" smtClean="0">
                <a:latin typeface="Times New Roman" panose="02020603050405020304" pitchFamily="18" charset="0"/>
                <a:ea typeface="华文新魏" panose="02010800040101010101" pitchFamily="2" charset="-122"/>
              </a:rPr>
              <a:t>Alfred Aho ect.</a:t>
            </a:r>
            <a:r>
              <a:rPr lang="zh-CN" altLang="en-US" sz="2400" b="1" smtClean="0">
                <a:latin typeface="Times New Roman" panose="02020603050405020304" pitchFamily="18" charset="0"/>
                <a:ea typeface="华文新魏" panose="02010800040101010101" pitchFamily="2" charset="-122"/>
              </a:rPr>
              <a:t>， 编译原理，赵建华等译，机械工业出版社，200</a:t>
            </a:r>
            <a:r>
              <a:rPr lang="en-US" altLang="zh-CN" sz="2400" b="1" smtClean="0">
                <a:latin typeface="Times New Roman" panose="02020603050405020304" pitchFamily="18" charset="0"/>
                <a:ea typeface="华文新魏" panose="02010800040101010101" pitchFamily="2" charset="-122"/>
              </a:rPr>
              <a:t>9.1.</a:t>
            </a:r>
          </a:p>
          <a:p>
            <a:pPr marL="990600" lvl="1" indent="-533400" eaLnBrk="1" hangingPunct="1">
              <a:lnSpc>
                <a:spcPct val="80000"/>
              </a:lnSpc>
              <a:buFont typeface="Wingdings" panose="05000000000000000000" pitchFamily="2" charset="2"/>
              <a:buAutoNum type="circleNumDbPlain"/>
            </a:pPr>
            <a:r>
              <a:rPr lang="en-US" altLang="zh-CN" sz="2400" b="1" smtClean="0">
                <a:latin typeface="Times New Roman" panose="02020603050405020304" pitchFamily="18" charset="0"/>
                <a:ea typeface="华文新魏" panose="02010800040101010101" pitchFamily="2" charset="-122"/>
              </a:rPr>
              <a:t>Alfred Aho ect.</a:t>
            </a:r>
            <a:r>
              <a:rPr lang="zh-CN" altLang="en-US" sz="2400" b="1" smtClean="0">
                <a:latin typeface="Times New Roman" panose="02020603050405020304" pitchFamily="18" charset="0"/>
                <a:ea typeface="华文新魏" panose="02010800040101010101" pitchFamily="2" charset="-122"/>
              </a:rPr>
              <a:t>，编译原理</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本科教学版</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，赵建华等译，机械工业出版社，200</a:t>
            </a:r>
            <a:r>
              <a:rPr lang="en-US" altLang="zh-CN" sz="2400" b="1" smtClean="0">
                <a:latin typeface="Times New Roman" panose="02020603050405020304" pitchFamily="18" charset="0"/>
                <a:ea typeface="华文新魏" panose="02010800040101010101" pitchFamily="2" charset="-122"/>
              </a:rPr>
              <a:t>9.5.</a:t>
            </a:r>
          </a:p>
          <a:p>
            <a:pPr marL="990600" lvl="1" indent="-533400" eaLnBrk="1" hangingPunct="1">
              <a:lnSpc>
                <a:spcPct val="80000"/>
              </a:lnSpc>
              <a:buFont typeface="Wingdings" panose="05000000000000000000" pitchFamily="2" charset="2"/>
              <a:buAutoNum type="circleNumDbPlain"/>
            </a:pPr>
            <a:r>
              <a:rPr lang="zh-CN" altLang="en-US" sz="2400" b="1" smtClean="0">
                <a:latin typeface="Times New Roman" panose="02020603050405020304" pitchFamily="18" charset="0"/>
                <a:ea typeface="华文新魏" panose="02010800040101010101" pitchFamily="2" charset="-122"/>
              </a:rPr>
              <a:t> </a:t>
            </a:r>
            <a:r>
              <a:rPr lang="en-US" altLang="zh-CN" sz="2400" b="1" smtClean="0">
                <a:latin typeface="Times New Roman" panose="02020603050405020304" pitchFamily="18" charset="0"/>
                <a:ea typeface="华文新魏" panose="02010800040101010101" pitchFamily="2" charset="-122"/>
              </a:rPr>
              <a:t>Alfred Aho ect.</a:t>
            </a:r>
            <a:r>
              <a:rPr lang="zh-CN" altLang="en-US" sz="2400" b="1" smtClean="0">
                <a:latin typeface="Times New Roman" panose="02020603050405020304" pitchFamily="18" charset="0"/>
                <a:ea typeface="华文新魏" panose="02010800040101010101" pitchFamily="2" charset="-122"/>
              </a:rPr>
              <a:t>，编译原理，李建中等译，机械工业出版社，2003.8.</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原版-邮电出版社</a:t>
            </a:r>
            <a:r>
              <a:rPr lang="en-US" altLang="zh-CN" sz="2400" b="1" smtClean="0">
                <a:latin typeface="Times New Roman" panose="02020603050405020304" pitchFamily="18" charset="0"/>
                <a:ea typeface="华文新魏" panose="02010800040101010101" pitchFamily="2" charset="-122"/>
              </a:rPr>
              <a:t>)</a:t>
            </a:r>
          </a:p>
          <a:p>
            <a:pPr marL="990600" lvl="1" indent="-533400" eaLnBrk="1" hangingPunct="1">
              <a:lnSpc>
                <a:spcPct val="80000"/>
              </a:lnSpc>
              <a:buFont typeface="Wingdings" panose="05000000000000000000" pitchFamily="2" charset="2"/>
              <a:buAutoNum type="circleNumDbPlain"/>
            </a:pPr>
            <a:r>
              <a:rPr lang="en-US" altLang="zh-CN" sz="2400" b="1" smtClean="0">
                <a:latin typeface="Times New Roman" panose="02020603050405020304" pitchFamily="18" charset="0"/>
                <a:ea typeface="华文新魏" panose="02010800040101010101" pitchFamily="2" charset="-122"/>
              </a:rPr>
              <a:t>Compilers:Principales,Techniques,and Tools,</a:t>
            </a:r>
            <a:r>
              <a:rPr lang="zh-CN" altLang="en-US" sz="2400" b="1" smtClean="0">
                <a:latin typeface="Times New Roman" panose="02020603050405020304" pitchFamily="18" charset="0"/>
                <a:ea typeface="华文新魏" panose="02010800040101010101" pitchFamily="2" charset="-122"/>
              </a:rPr>
              <a:t>人民邮电出版社，</a:t>
            </a:r>
            <a:r>
              <a:rPr lang="en-US" altLang="zh-CN" sz="2400" b="1" smtClean="0">
                <a:latin typeface="Times New Roman" panose="02020603050405020304" pitchFamily="18" charset="0"/>
                <a:ea typeface="华文新魏" panose="02010800040101010101" pitchFamily="2" charset="-122"/>
              </a:rPr>
              <a:t>1986</a:t>
            </a:r>
            <a:endParaRPr lang="zh-CN" altLang="en-US" sz="2400" b="1" smtClean="0">
              <a:latin typeface="Times New Roman" panose="02020603050405020304" pitchFamily="18" charset="0"/>
              <a:ea typeface="华文新魏" panose="02010800040101010101" pitchFamily="2" charset="-122"/>
            </a:endParaRPr>
          </a:p>
        </p:txBody>
      </p:sp>
      <p:grpSp>
        <p:nvGrpSpPr>
          <p:cNvPr id="8198" name="Group 7"/>
          <p:cNvGrpSpPr>
            <a:grpSpLocks/>
          </p:cNvGrpSpPr>
          <p:nvPr/>
        </p:nvGrpSpPr>
        <p:grpSpPr bwMode="auto">
          <a:xfrm>
            <a:off x="7167563" y="549275"/>
            <a:ext cx="1860550" cy="3014663"/>
            <a:chOff x="4515" y="210"/>
            <a:chExt cx="1172" cy="1899"/>
          </a:xfrm>
        </p:grpSpPr>
        <p:pic>
          <p:nvPicPr>
            <p:cNvPr id="8202" name="Picture 5" descr="72f5660ef23299cd7acbe1c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5" y="210"/>
              <a:ext cx="1127" cy="1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6"/>
            <p:cNvSpPr>
              <a:spLocks noChangeArrowheads="1"/>
            </p:cNvSpPr>
            <p:nvPr/>
          </p:nvSpPr>
          <p:spPr bwMode="auto">
            <a:xfrm>
              <a:off x="4516" y="1897"/>
              <a:ext cx="11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latin typeface="Times New Roman" panose="02020603050405020304" pitchFamily="18" charset="0"/>
                  <a:ea typeface="华文新魏" panose="02010800040101010101" pitchFamily="2" charset="-122"/>
                </a:rPr>
                <a:t>英文第一版的封面 </a:t>
              </a:r>
            </a:p>
          </p:txBody>
        </p:sp>
      </p:grpSp>
      <p:grpSp>
        <p:nvGrpSpPr>
          <p:cNvPr id="8199" name="Group 9"/>
          <p:cNvGrpSpPr>
            <a:grpSpLocks/>
          </p:cNvGrpSpPr>
          <p:nvPr/>
        </p:nvGrpSpPr>
        <p:grpSpPr bwMode="auto">
          <a:xfrm>
            <a:off x="7067550" y="3783013"/>
            <a:ext cx="1868488" cy="2959100"/>
            <a:chOff x="4452" y="2115"/>
            <a:chExt cx="1177" cy="1864"/>
          </a:xfrm>
        </p:grpSpPr>
        <p:pic>
          <p:nvPicPr>
            <p:cNvPr id="8200" name="Picture 4" descr="龙书封面"/>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 y="2115"/>
              <a:ext cx="1151" cy="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Rectangle 8"/>
            <p:cNvSpPr>
              <a:spLocks noChangeArrowheads="1"/>
            </p:cNvSpPr>
            <p:nvPr/>
          </p:nvSpPr>
          <p:spPr bwMode="auto">
            <a:xfrm>
              <a:off x="4452" y="3748"/>
              <a:ext cx="11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latin typeface="Times New Roman" panose="02020603050405020304" pitchFamily="18" charset="0"/>
                  <a:ea typeface="华文新魏" panose="02010800040101010101" pitchFamily="2" charset="-122"/>
                </a:rPr>
                <a:t>09</a:t>
              </a:r>
              <a:r>
                <a:rPr lang="zh-CN" altLang="en-US" sz="1800" b="1">
                  <a:latin typeface="Times New Roman" panose="02020603050405020304" pitchFamily="18" charset="0"/>
                  <a:ea typeface="华文新魏" panose="02010800040101010101" pitchFamily="2" charset="-122"/>
                </a:rPr>
                <a:t>年翻译版封面 </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F75853B-15EA-4A4C-8775-B8775B9BDC0B}" type="datetime1">
              <a:rPr lang="zh-CN" altLang="en-US" sz="1400" smtClean="0"/>
              <a:pPr>
                <a:spcBef>
                  <a:spcPct val="0"/>
                </a:spcBef>
                <a:buClrTx/>
                <a:buSzTx/>
                <a:buFontTx/>
                <a:buNone/>
              </a:pPr>
              <a:t>2017/2/24</a:t>
            </a:fld>
            <a:endParaRPr lang="en-US" altLang="zh-CN" sz="1400" smtClean="0"/>
          </a:p>
        </p:txBody>
      </p:sp>
      <p:sp>
        <p:nvSpPr>
          <p:cNvPr id="921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0306811-4A32-4380-B7E7-AD801A822CF3}" type="slidenum">
              <a:rPr lang="zh-CN" altLang="en-US" sz="1400"/>
              <a:pPr>
                <a:spcBef>
                  <a:spcPct val="0"/>
                </a:spcBef>
                <a:buClrTx/>
                <a:buSzTx/>
                <a:buFontTx/>
                <a:buNone/>
              </a:pPr>
              <a:t>5</a:t>
            </a:fld>
            <a:endParaRPr lang="en-US" altLang="zh-CN" sz="1400"/>
          </a:p>
        </p:txBody>
      </p:sp>
      <p:sp>
        <p:nvSpPr>
          <p:cNvPr id="9220" name="Rectangle 2"/>
          <p:cNvSpPr>
            <a:spLocks noGrp="1" noRot="1" noChangeArrowheads="1"/>
          </p:cNvSpPr>
          <p:nvPr>
            <p:ph type="title"/>
          </p:nvPr>
        </p:nvSpPr>
        <p:spPr/>
        <p:txBody>
          <a:bodyPr/>
          <a:lstStyle/>
          <a:p>
            <a:pPr eaLnBrk="1" hangingPunct="1"/>
            <a:r>
              <a:rPr lang="zh-CN" altLang="en-US" b="1" smtClean="0">
                <a:latin typeface="Times New Roman" panose="02020603050405020304" pitchFamily="18" charset="0"/>
                <a:ea typeface="华文新魏" panose="02010800040101010101" pitchFamily="2" charset="-122"/>
              </a:rPr>
              <a:t>参考书</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续</a:t>
            </a:r>
            <a:r>
              <a:rPr lang="en-US" altLang="zh-CN" b="1" smtClean="0">
                <a:latin typeface="Times New Roman" panose="02020603050405020304" pitchFamily="18" charset="0"/>
                <a:ea typeface="华文新魏" panose="02010800040101010101" pitchFamily="2" charset="-122"/>
              </a:rPr>
              <a:t>)</a:t>
            </a:r>
          </a:p>
        </p:txBody>
      </p:sp>
      <p:sp>
        <p:nvSpPr>
          <p:cNvPr id="9221" name="Rectangle 3"/>
          <p:cNvSpPr>
            <a:spLocks noGrp="1" noRot="1" noChangeArrowheads="1"/>
          </p:cNvSpPr>
          <p:nvPr>
            <p:ph type="body" idx="1"/>
          </p:nvPr>
        </p:nvSpPr>
        <p:spPr>
          <a:xfrm>
            <a:off x="301625" y="1905000"/>
            <a:ext cx="7150100" cy="4194175"/>
          </a:xfrm>
        </p:spPr>
        <p:txBody>
          <a:bodyPr/>
          <a:lstStyle/>
          <a:p>
            <a:pPr marL="266700" indent="-266700" eaLnBrk="1" hangingPunct="1">
              <a:buFont typeface="Wingdings" panose="05000000000000000000" pitchFamily="2" charset="2"/>
              <a:buAutoNum type="arabicPeriod" startAt="2"/>
            </a:pPr>
            <a:r>
              <a:rPr lang="zh-CN" altLang="en-US" b="1" smtClean="0">
                <a:latin typeface="Times New Roman" panose="02020603050405020304" pitchFamily="18" charset="0"/>
                <a:ea typeface="华文新魏" panose="02010800040101010101" pitchFamily="2" charset="-122"/>
              </a:rPr>
              <a:t>虎书</a:t>
            </a:r>
          </a:p>
          <a:p>
            <a:pPr marL="812800" lvl="1" indent="-11113" eaLnBrk="1" hangingPunct="1">
              <a:buFont typeface="Wingdings" panose="05000000000000000000" pitchFamily="2" charset="2"/>
              <a:buNone/>
            </a:pPr>
            <a:r>
              <a:rPr lang="en-US" altLang="zh-CN" b="1" smtClean="0">
                <a:latin typeface="Times New Roman" panose="02020603050405020304" pitchFamily="18" charset="0"/>
                <a:ea typeface="华文新魏" panose="02010800040101010101" pitchFamily="2" charset="-122"/>
              </a:rPr>
              <a:t>Andrew W.Appel,with Jens Palsberg. Modern Compiler Implementation in C,</a:t>
            </a:r>
            <a:r>
              <a:rPr lang="zh-CN" altLang="en-US" b="1" smtClean="0">
                <a:latin typeface="Times New Roman" panose="02020603050405020304" pitchFamily="18" charset="0"/>
                <a:ea typeface="华文新魏" panose="02010800040101010101" pitchFamily="2" charset="-122"/>
              </a:rPr>
              <a:t>人民邮电出版社，</a:t>
            </a:r>
            <a:r>
              <a:rPr lang="en-US" altLang="zh-CN" b="1" smtClean="0">
                <a:latin typeface="Times New Roman" panose="02020603050405020304" pitchFamily="18" charset="0"/>
                <a:ea typeface="华文新魏" panose="02010800040101010101" pitchFamily="2" charset="-122"/>
              </a:rPr>
              <a:t>2005</a:t>
            </a:r>
            <a:r>
              <a:rPr lang="zh-CN" altLang="en-US" b="1" smtClean="0">
                <a:latin typeface="Times New Roman" panose="02020603050405020304" pitchFamily="18" charset="0"/>
                <a:ea typeface="华文新魏" panose="02010800040101010101" pitchFamily="2" charset="-122"/>
              </a:rPr>
              <a:t>年</a:t>
            </a:r>
            <a:r>
              <a:rPr lang="en-US" altLang="zh-CN" b="1" smtClean="0">
                <a:latin typeface="Times New Roman" panose="02020603050405020304" pitchFamily="18" charset="0"/>
                <a:ea typeface="华文新魏" panose="02010800040101010101" pitchFamily="2" charset="-122"/>
              </a:rPr>
              <a:t>9</a:t>
            </a:r>
            <a:r>
              <a:rPr lang="zh-CN" altLang="en-US" b="1" smtClean="0">
                <a:latin typeface="Times New Roman" panose="02020603050405020304" pitchFamily="18" charset="0"/>
                <a:ea typeface="华文新魏" panose="02010800040101010101" pitchFamily="2" charset="-122"/>
              </a:rPr>
              <a:t>月</a:t>
            </a:r>
          </a:p>
          <a:p>
            <a:pPr marL="812800" lvl="1" indent="-11113" eaLnBrk="1" hangingPunct="1">
              <a:spcBef>
                <a:spcPct val="60000"/>
              </a:spcBef>
              <a:buFont typeface="Wingdings" panose="05000000000000000000" pitchFamily="2" charset="2"/>
              <a:buNone/>
            </a:pPr>
            <a:r>
              <a:rPr lang="zh-CN" altLang="en-US" b="1" smtClean="0">
                <a:latin typeface="Times New Roman" panose="02020603050405020304" pitchFamily="18" charset="0"/>
                <a:ea typeface="华文新魏" panose="02010800040101010101" pitchFamily="2" charset="-122"/>
              </a:rPr>
              <a:t>虎书出版比较晚，与龙书的知识点差不多，但增加了数据流分析、循环优化、内存管理等内容。有</a:t>
            </a:r>
            <a:r>
              <a:rPr lang="en-US" altLang="zh-CN" b="1" smtClean="0">
                <a:latin typeface="Times New Roman" panose="02020603050405020304" pitchFamily="18" charset="0"/>
                <a:ea typeface="华文新魏" panose="02010800040101010101" pitchFamily="2" charset="-122"/>
              </a:rPr>
              <a:t>C</a:t>
            </a:r>
            <a:r>
              <a:rPr lang="zh-CN" altLang="en-US" b="1" smtClean="0">
                <a:latin typeface="Times New Roman" panose="02020603050405020304" pitchFamily="18" charset="0"/>
                <a:ea typeface="华文新魏" panose="02010800040101010101" pitchFamily="2" charset="-122"/>
              </a:rPr>
              <a:t>版、</a:t>
            </a:r>
            <a:r>
              <a:rPr lang="en-US" altLang="zh-CN" b="1" smtClean="0">
                <a:latin typeface="Times New Roman" panose="02020603050405020304" pitchFamily="18" charset="0"/>
                <a:ea typeface="华文新魏" panose="02010800040101010101" pitchFamily="2" charset="-122"/>
              </a:rPr>
              <a:t>java</a:t>
            </a:r>
            <a:r>
              <a:rPr lang="zh-CN" altLang="en-US" b="1" smtClean="0">
                <a:latin typeface="Times New Roman" panose="02020603050405020304" pitchFamily="18" charset="0"/>
                <a:ea typeface="华文新魏" panose="02010800040101010101" pitchFamily="2" charset="-122"/>
              </a:rPr>
              <a:t>版和</a:t>
            </a:r>
            <a:r>
              <a:rPr lang="en-US" altLang="zh-CN" b="1" smtClean="0">
                <a:latin typeface="Times New Roman" panose="02020603050405020304" pitchFamily="18" charset="0"/>
                <a:ea typeface="华文新魏" panose="02010800040101010101" pitchFamily="2" charset="-122"/>
              </a:rPr>
              <a:t>ML</a:t>
            </a:r>
            <a:r>
              <a:rPr lang="zh-CN" altLang="en-US" b="1" smtClean="0">
                <a:latin typeface="Times New Roman" panose="02020603050405020304" pitchFamily="18" charset="0"/>
                <a:ea typeface="华文新魏" panose="02010800040101010101" pitchFamily="2" charset="-122"/>
              </a:rPr>
              <a:t>版</a:t>
            </a:r>
            <a:r>
              <a:rPr lang="zh-CN" altLang="en-US" smtClean="0">
                <a:latin typeface="Times New Roman" panose="02020603050405020304" pitchFamily="18" charset="0"/>
                <a:ea typeface="华文新魏" panose="02010800040101010101" pitchFamily="2" charset="-122"/>
              </a:rPr>
              <a:t> </a:t>
            </a:r>
          </a:p>
        </p:txBody>
      </p:sp>
      <p:grpSp>
        <p:nvGrpSpPr>
          <p:cNvPr id="9222" name="Group 7"/>
          <p:cNvGrpSpPr>
            <a:grpSpLocks/>
          </p:cNvGrpSpPr>
          <p:nvPr/>
        </p:nvGrpSpPr>
        <p:grpSpPr bwMode="auto">
          <a:xfrm>
            <a:off x="7235825" y="3573463"/>
            <a:ext cx="1704975" cy="2867025"/>
            <a:chOff x="4558" y="2251"/>
            <a:chExt cx="1074" cy="1806"/>
          </a:xfrm>
        </p:grpSpPr>
        <p:pic>
          <p:nvPicPr>
            <p:cNvPr id="9226" name="Picture 5" descr="现代编译原理-C语言描述">
              <a:hlinkClick r:id="rId2" tooltip="现代编译原理-C语言描述"/>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 y="2251"/>
              <a:ext cx="1028" cy="1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7" name="Rectangle 6"/>
            <p:cNvSpPr>
              <a:spLocks noChangeArrowheads="1"/>
            </p:cNvSpPr>
            <p:nvPr/>
          </p:nvSpPr>
          <p:spPr bwMode="auto">
            <a:xfrm>
              <a:off x="4558" y="3672"/>
              <a:ext cx="1067"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latin typeface="Times New Roman" panose="02020603050405020304" pitchFamily="18" charset="0"/>
                  <a:ea typeface="华文新魏" panose="02010800040101010101" pitchFamily="2" charset="-122"/>
                </a:rPr>
                <a:t>2006-4</a:t>
              </a:r>
            </a:p>
            <a:p>
              <a:pPr eaLnBrk="1" hangingPunct="1">
                <a:spcBef>
                  <a:spcPct val="0"/>
                </a:spcBef>
                <a:buClrTx/>
                <a:buSzTx/>
                <a:buFontTx/>
                <a:buNone/>
              </a:pPr>
              <a:r>
                <a:rPr lang="zh-CN" altLang="en-US" sz="1600" b="1">
                  <a:latin typeface="Times New Roman" panose="02020603050405020304" pitchFamily="18" charset="0"/>
                  <a:ea typeface="华文新魏" panose="02010800040101010101" pitchFamily="2" charset="-122"/>
                </a:rPr>
                <a:t>人民邮电出版社 </a:t>
              </a:r>
            </a:p>
          </p:txBody>
        </p:sp>
      </p:grpSp>
      <p:grpSp>
        <p:nvGrpSpPr>
          <p:cNvPr id="9223" name="Group 9"/>
          <p:cNvGrpSpPr>
            <a:grpSpLocks/>
          </p:cNvGrpSpPr>
          <p:nvPr/>
        </p:nvGrpSpPr>
        <p:grpSpPr bwMode="auto">
          <a:xfrm>
            <a:off x="7053263" y="0"/>
            <a:ext cx="1908175" cy="2846388"/>
            <a:chOff x="4443" y="0"/>
            <a:chExt cx="1202" cy="1793"/>
          </a:xfrm>
        </p:grpSpPr>
        <p:pic>
          <p:nvPicPr>
            <p:cNvPr id="9224" name="Picture 4" descr="虎书封面"/>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3" y="0"/>
              <a:ext cx="1132" cy="1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Rectangle 8"/>
            <p:cNvSpPr>
              <a:spLocks noChangeArrowheads="1"/>
            </p:cNvSpPr>
            <p:nvPr/>
          </p:nvSpPr>
          <p:spPr bwMode="auto">
            <a:xfrm>
              <a:off x="4443" y="1389"/>
              <a:ext cx="115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latin typeface="Times New Roman" panose="02020603050405020304" pitchFamily="18" charset="0"/>
                  <a:ea typeface="华文新魏" panose="02010800040101010101" pitchFamily="2" charset="-122"/>
                </a:rPr>
                <a:t>2005-7</a:t>
              </a:r>
            </a:p>
            <a:p>
              <a:pPr eaLnBrk="1" hangingPunct="1">
                <a:spcBef>
                  <a:spcPct val="0"/>
                </a:spcBef>
                <a:buClrTx/>
                <a:buSzTx/>
                <a:buFontTx/>
                <a:buNone/>
              </a:pPr>
              <a:r>
                <a:rPr lang="zh-CN" altLang="en-US" sz="1800" b="1">
                  <a:latin typeface="Times New Roman" panose="02020603050405020304" pitchFamily="18" charset="0"/>
                  <a:ea typeface="华文新魏" panose="02010800040101010101" pitchFamily="2" charset="-122"/>
                </a:rPr>
                <a:t>机械工业出版社 </a:t>
              </a: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2E66473-7843-45C9-84BF-0C8C6559EA59}" type="datetime1">
              <a:rPr lang="zh-CN" altLang="en-US" sz="1400" smtClean="0"/>
              <a:pPr>
                <a:spcBef>
                  <a:spcPct val="0"/>
                </a:spcBef>
                <a:buClrTx/>
                <a:buSzTx/>
                <a:buFontTx/>
                <a:buNone/>
              </a:pPr>
              <a:t>2017/2/24</a:t>
            </a:fld>
            <a:endParaRPr lang="en-US" altLang="zh-CN" sz="1400" smtClean="0"/>
          </a:p>
        </p:txBody>
      </p:sp>
      <p:sp>
        <p:nvSpPr>
          <p:cNvPr id="1024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9010193-E39D-4C52-B6A3-1ACDF91B7FE9}" type="slidenum">
              <a:rPr lang="zh-CN" altLang="en-US" sz="1400"/>
              <a:pPr>
                <a:spcBef>
                  <a:spcPct val="0"/>
                </a:spcBef>
                <a:buClrTx/>
                <a:buSzTx/>
                <a:buFontTx/>
                <a:buNone/>
              </a:pPr>
              <a:t>6</a:t>
            </a:fld>
            <a:endParaRPr lang="en-US" altLang="zh-CN" sz="1400"/>
          </a:p>
        </p:txBody>
      </p:sp>
      <p:pic>
        <p:nvPicPr>
          <p:cNvPr id="10244" name="Picture 6" descr="鲸书封面-=xia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8300" y="476250"/>
            <a:ext cx="24257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2"/>
          <p:cNvSpPr>
            <a:spLocks noGrp="1" noRot="1" noChangeArrowheads="1"/>
          </p:cNvSpPr>
          <p:nvPr>
            <p:ph type="title"/>
          </p:nvPr>
        </p:nvSpPr>
        <p:spPr/>
        <p:txBody>
          <a:bodyPr/>
          <a:lstStyle/>
          <a:p>
            <a:pPr eaLnBrk="1" hangingPunct="1"/>
            <a:r>
              <a:rPr lang="zh-CN" altLang="en-US" b="1" smtClean="0">
                <a:latin typeface="Times New Roman" panose="02020603050405020304" pitchFamily="18" charset="0"/>
                <a:ea typeface="华文新魏" panose="02010800040101010101" pitchFamily="2" charset="-122"/>
              </a:rPr>
              <a:t>参考书</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续</a:t>
            </a:r>
            <a:r>
              <a:rPr lang="en-US" altLang="zh-CN" b="1" smtClean="0">
                <a:latin typeface="Times New Roman" panose="02020603050405020304" pitchFamily="18" charset="0"/>
                <a:ea typeface="华文新魏" panose="02010800040101010101" pitchFamily="2" charset="-122"/>
              </a:rPr>
              <a:t>)</a:t>
            </a:r>
            <a:endParaRPr lang="zh-CN" altLang="en-US" b="1" smtClean="0">
              <a:latin typeface="Times New Roman" panose="02020603050405020304" pitchFamily="18" charset="0"/>
              <a:ea typeface="华文新魏" panose="02010800040101010101" pitchFamily="2" charset="-122"/>
            </a:endParaRPr>
          </a:p>
        </p:txBody>
      </p:sp>
      <p:sp>
        <p:nvSpPr>
          <p:cNvPr id="10246" name="Rectangle 3"/>
          <p:cNvSpPr>
            <a:spLocks noGrp="1" noRot="1" noChangeArrowheads="1"/>
          </p:cNvSpPr>
          <p:nvPr>
            <p:ph type="body" idx="1"/>
          </p:nvPr>
        </p:nvSpPr>
        <p:spPr>
          <a:xfrm>
            <a:off x="301625" y="1905000"/>
            <a:ext cx="6791325" cy="4194175"/>
          </a:xfrm>
        </p:spPr>
        <p:txBody>
          <a:bodyPr/>
          <a:lstStyle/>
          <a:p>
            <a:pPr marL="177800" indent="-177800" eaLnBrk="1" hangingPunct="1">
              <a:lnSpc>
                <a:spcPct val="90000"/>
              </a:lnSpc>
              <a:buFont typeface="Wingdings" panose="05000000000000000000" pitchFamily="2" charset="2"/>
              <a:buAutoNum type="arabicPeriod" startAt="3"/>
              <a:tabLst>
                <a:tab pos="355600" algn="l"/>
              </a:tabLst>
            </a:pPr>
            <a:r>
              <a:rPr lang="zh-CN" altLang="en-US" b="1" smtClean="0">
                <a:latin typeface="Times New Roman" panose="02020603050405020304" pitchFamily="18" charset="0"/>
                <a:ea typeface="华文新魏" panose="02010800040101010101" pitchFamily="2" charset="-122"/>
              </a:rPr>
              <a:t>鲸书</a:t>
            </a:r>
          </a:p>
          <a:p>
            <a:pPr marL="368300" lvl="1" indent="-11113" eaLnBrk="1" hangingPunct="1">
              <a:lnSpc>
                <a:spcPct val="90000"/>
              </a:lnSpc>
              <a:buFont typeface="Wingdings" panose="05000000000000000000" pitchFamily="2" charset="2"/>
              <a:buNone/>
              <a:tabLst>
                <a:tab pos="355600" algn="l"/>
              </a:tabLst>
            </a:pPr>
            <a:r>
              <a:rPr lang="en-US" altLang="zh-CN" b="1" smtClean="0">
                <a:latin typeface="Times New Roman" panose="02020603050405020304" pitchFamily="18" charset="0"/>
              </a:rPr>
              <a:t>Steven S.Muchnick. </a:t>
            </a:r>
            <a:r>
              <a:rPr lang="en-US" altLang="zh-CN" b="1" smtClean="0">
                <a:latin typeface="Times New Roman" panose="02020603050405020304" pitchFamily="18" charset="0"/>
                <a:ea typeface="华文新魏" panose="02010800040101010101" pitchFamily="2" charset="-122"/>
              </a:rPr>
              <a:t>Advanced Compiler Design and Implementation.</a:t>
            </a:r>
            <a:r>
              <a:rPr lang="zh-CN" altLang="en-US" b="1" smtClean="0">
                <a:latin typeface="Times New Roman" panose="02020603050405020304" pitchFamily="18" charset="0"/>
                <a:ea typeface="华文新魏" panose="02010800040101010101" pitchFamily="2" charset="-122"/>
              </a:rPr>
              <a:t>机械工业出版社 </a:t>
            </a:r>
            <a:r>
              <a:rPr lang="en-US" altLang="zh-CN" b="1" smtClean="0">
                <a:latin typeface="Times New Roman" panose="02020603050405020304" pitchFamily="18" charset="0"/>
                <a:ea typeface="华文新魏" panose="02010800040101010101" pitchFamily="2" charset="-122"/>
              </a:rPr>
              <a:t>, </a:t>
            </a:r>
            <a:r>
              <a:rPr lang="zh-CN" altLang="en-US" b="1" smtClean="0">
                <a:latin typeface="Times New Roman" panose="02020603050405020304" pitchFamily="18" charset="0"/>
                <a:ea typeface="华文新魏" panose="02010800040101010101" pitchFamily="2" charset="-122"/>
              </a:rPr>
              <a:t>沈志宇 </a:t>
            </a:r>
            <a:r>
              <a:rPr lang="en-US" altLang="zh-CN" b="1" smtClean="0">
                <a:latin typeface="Times New Roman" panose="02020603050405020304" pitchFamily="18" charset="0"/>
                <a:ea typeface="华文新魏" panose="02010800040101010101" pitchFamily="2" charset="-122"/>
              </a:rPr>
              <a:t>, </a:t>
            </a:r>
            <a:r>
              <a:rPr lang="zh-CN" altLang="en-US" b="1" smtClean="0">
                <a:latin typeface="Times New Roman" panose="02020603050405020304" pitchFamily="18" charset="0"/>
                <a:ea typeface="华文新魏" panose="02010800040101010101" pitchFamily="2" charset="-122"/>
              </a:rPr>
              <a:t>赵克佳 译</a:t>
            </a:r>
          </a:p>
          <a:p>
            <a:pPr marL="368300" lvl="1" indent="-11113" eaLnBrk="1" hangingPunct="1">
              <a:lnSpc>
                <a:spcPct val="90000"/>
              </a:lnSpc>
              <a:buFont typeface="Wingdings" panose="05000000000000000000" pitchFamily="2" charset="2"/>
              <a:buNone/>
              <a:tabLst>
                <a:tab pos="355600" algn="l"/>
              </a:tabLst>
            </a:pPr>
            <a:r>
              <a:rPr lang="zh-CN" altLang="en-US" b="1" smtClean="0">
                <a:latin typeface="Times New Roman" panose="02020603050405020304" pitchFamily="18" charset="0"/>
                <a:ea typeface="华文新魏" panose="02010800040101010101" pitchFamily="2" charset="-122"/>
              </a:rPr>
              <a:t>    侧重对编译器后端优化处理。在本科阶段的编译教学中旨在让学生对程序设计语言的编译全过程有系统的理解，因此会介绍编译器后端的处理技术，但不注重优化技术。鲸书更适合作为</a:t>
            </a:r>
            <a:r>
              <a:rPr lang="zh-CN" altLang="en-US" b="1" smtClean="0">
                <a:solidFill>
                  <a:schemeClr val="hlink"/>
                </a:solidFill>
                <a:latin typeface="Times New Roman" panose="02020603050405020304" pitchFamily="18" charset="0"/>
                <a:ea typeface="华文新魏" panose="02010800040101010101" pitchFamily="2" charset="-122"/>
              </a:rPr>
              <a:t>研究生</a:t>
            </a:r>
            <a:r>
              <a:rPr lang="zh-CN" altLang="en-US" b="1" smtClean="0">
                <a:latin typeface="Times New Roman" panose="02020603050405020304" pitchFamily="18" charset="0"/>
                <a:ea typeface="华文新魏" panose="02010800040101010101" pitchFamily="2" charset="-122"/>
              </a:rPr>
              <a:t>的教材或参考书。</a:t>
            </a:r>
            <a:r>
              <a:rPr lang="zh-CN" altLang="en-US" smtClean="0">
                <a:latin typeface="Times New Roman" panose="02020603050405020304" pitchFamily="18" charset="0"/>
                <a:ea typeface="华文新魏" panose="02010800040101010101" pitchFamily="2" charset="-122"/>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477D011-35A0-4737-92E0-2CC22F64062B}" type="datetime1">
              <a:rPr lang="zh-CN" altLang="en-US" sz="1400" smtClean="0"/>
              <a:pPr>
                <a:spcBef>
                  <a:spcPct val="0"/>
                </a:spcBef>
                <a:buClrTx/>
                <a:buSzTx/>
                <a:buFontTx/>
                <a:buNone/>
              </a:pPr>
              <a:t>2017/2/24</a:t>
            </a:fld>
            <a:endParaRPr lang="en-US" altLang="zh-CN" sz="1400" smtClean="0"/>
          </a:p>
        </p:txBody>
      </p:sp>
      <p:sp>
        <p:nvSpPr>
          <p:cNvPr id="1126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E696099-BFBB-400E-BB8A-DEB1BCB2D05E}" type="slidenum">
              <a:rPr lang="zh-CN" altLang="en-US" sz="1400"/>
              <a:pPr>
                <a:spcBef>
                  <a:spcPct val="0"/>
                </a:spcBef>
                <a:buClrTx/>
                <a:buSzTx/>
                <a:buFontTx/>
                <a:buNone/>
              </a:pPr>
              <a:t>7</a:t>
            </a:fld>
            <a:endParaRPr lang="en-US" altLang="zh-CN" sz="1400"/>
          </a:p>
        </p:txBody>
      </p:sp>
      <p:sp>
        <p:nvSpPr>
          <p:cNvPr id="11268" name="Rectangle 2"/>
          <p:cNvSpPr>
            <a:spLocks noGrp="1" noRot="1" noChangeArrowheads="1"/>
          </p:cNvSpPr>
          <p:nvPr>
            <p:ph type="title"/>
          </p:nvPr>
        </p:nvSpPr>
        <p:spPr>
          <a:xfrm>
            <a:off x="1187450" y="549275"/>
            <a:ext cx="6196013" cy="609600"/>
          </a:xfrm>
        </p:spPr>
        <p:txBody>
          <a:bodyPr/>
          <a:lstStyle/>
          <a:p>
            <a:pPr eaLnBrk="1" hangingPunct="1"/>
            <a:r>
              <a:rPr lang="zh-CN" altLang="en-US" b="1" smtClean="0">
                <a:latin typeface="Times New Roman" panose="02020603050405020304" pitchFamily="18" charset="0"/>
                <a:ea typeface="华文新魏" panose="02010800040101010101" pitchFamily="2" charset="-122"/>
              </a:rPr>
              <a:t>参考书</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续</a:t>
            </a:r>
            <a:r>
              <a:rPr lang="en-US" altLang="zh-CN" b="1" smtClean="0">
                <a:latin typeface="Times New Roman" panose="02020603050405020304" pitchFamily="18" charset="0"/>
                <a:ea typeface="华文新魏" panose="02010800040101010101" pitchFamily="2" charset="-122"/>
              </a:rPr>
              <a:t>)</a:t>
            </a:r>
            <a:endParaRPr lang="zh-CN" altLang="en-US" b="1" smtClean="0">
              <a:latin typeface="Times New Roman" panose="02020603050405020304" pitchFamily="18" charset="0"/>
              <a:ea typeface="华文新魏" panose="02010800040101010101" pitchFamily="2" charset="-122"/>
            </a:endParaRPr>
          </a:p>
        </p:txBody>
      </p:sp>
      <p:sp>
        <p:nvSpPr>
          <p:cNvPr id="11269" name="Rectangle 3"/>
          <p:cNvSpPr>
            <a:spLocks noGrp="1" noRot="1" noChangeArrowheads="1"/>
          </p:cNvSpPr>
          <p:nvPr>
            <p:ph type="body" idx="1"/>
          </p:nvPr>
        </p:nvSpPr>
        <p:spPr>
          <a:xfrm>
            <a:off x="468313" y="1341438"/>
            <a:ext cx="8207375" cy="4895850"/>
          </a:xfrm>
        </p:spPr>
        <p:txBody>
          <a:bodyPr/>
          <a:lstStyle/>
          <a:p>
            <a:pPr marL="457200" indent="-457200" eaLnBrk="1" hangingPunct="1">
              <a:lnSpc>
                <a:spcPct val="90000"/>
              </a:lnSpc>
              <a:buFont typeface="Wingdings" panose="05000000000000000000" pitchFamily="2" charset="2"/>
              <a:buAutoNum type="arabicPeriod" startAt="4"/>
            </a:pPr>
            <a:r>
              <a:rPr lang="en-US" altLang="zh-CN" sz="2400" b="1" smtClean="0">
                <a:latin typeface="Times New Roman" panose="02020603050405020304" pitchFamily="18" charset="0"/>
                <a:ea typeface="华文新魏" panose="02010800040101010101" pitchFamily="2" charset="-122"/>
              </a:rPr>
              <a:t>Kenneth C. Louden，</a:t>
            </a:r>
            <a:r>
              <a:rPr lang="zh-CN" altLang="en-US" sz="2400" b="1" smtClean="0">
                <a:latin typeface="Times New Roman" panose="02020603050405020304" pitchFamily="18" charset="0"/>
                <a:ea typeface="华文新魏" panose="02010800040101010101" pitchFamily="2" charset="-122"/>
              </a:rPr>
              <a:t>编译原理及实践，冯博琴等译，机械工业</a:t>
            </a:r>
            <a:r>
              <a:rPr lang="zh-CN" altLang="zh-CN" sz="2400" b="1" smtClean="0">
                <a:latin typeface="Times New Roman" panose="02020603050405020304" pitchFamily="18" charset="0"/>
                <a:ea typeface="华文新魏" panose="02010800040101010101" pitchFamily="2" charset="-122"/>
              </a:rPr>
              <a:t>出版社，</a:t>
            </a:r>
            <a:r>
              <a:rPr lang="zh-CN" altLang="en-US" sz="2400" b="1" smtClean="0">
                <a:latin typeface="Times New Roman" panose="02020603050405020304" pitchFamily="18" charset="0"/>
                <a:ea typeface="华文新魏" panose="02010800040101010101" pitchFamily="2" charset="-122"/>
              </a:rPr>
              <a:t>2001.2.印刷</a:t>
            </a:r>
          </a:p>
          <a:p>
            <a:pPr marL="457200" indent="-457200" eaLnBrk="1" hangingPunct="1">
              <a:lnSpc>
                <a:spcPct val="110000"/>
              </a:lnSpc>
              <a:buFont typeface="Wingdings" panose="05000000000000000000" pitchFamily="2" charset="2"/>
              <a:buAutoNum type="arabicPeriod" startAt="4"/>
            </a:pPr>
            <a:r>
              <a:rPr lang="en-US" altLang="zh-CN" sz="2400" b="1" smtClean="0">
                <a:latin typeface="Times New Roman" panose="02020603050405020304" pitchFamily="18" charset="0"/>
                <a:ea typeface="华文新魏" panose="02010800040101010101" pitchFamily="2" charset="-122"/>
              </a:rPr>
              <a:t>Keith D. Cooper</a:t>
            </a:r>
            <a:r>
              <a:rPr lang="zh-CN" altLang="en-US" sz="2400" b="1" smtClean="0">
                <a:latin typeface="Times New Roman" panose="02020603050405020304" pitchFamily="18" charset="0"/>
                <a:ea typeface="华文新魏" panose="02010800040101010101" pitchFamily="2" charset="-122"/>
              </a:rPr>
              <a:t>， </a:t>
            </a:r>
            <a:r>
              <a:rPr lang="en-US" altLang="zh-CN" sz="2400" b="1" smtClean="0">
                <a:latin typeface="Times New Roman" panose="02020603050405020304" pitchFamily="18" charset="0"/>
                <a:ea typeface="华文新魏" panose="02010800040101010101" pitchFamily="2" charset="-122"/>
              </a:rPr>
              <a:t>Linda Torczon</a:t>
            </a:r>
            <a:r>
              <a:rPr lang="zh-CN" altLang="en-US" sz="2400" b="1" smtClean="0">
                <a:latin typeface="Times New Roman" panose="02020603050405020304" pitchFamily="18" charset="0"/>
                <a:ea typeface="华文新魏" panose="02010800040101010101" pitchFamily="2" charset="-122"/>
              </a:rPr>
              <a:t>，编译工程，冯速译，机械工业出版社，200</a:t>
            </a:r>
            <a:r>
              <a:rPr lang="en-US" altLang="zh-CN" sz="2400" b="1" smtClean="0">
                <a:latin typeface="Times New Roman" panose="02020603050405020304" pitchFamily="18" charset="0"/>
                <a:ea typeface="华文新魏" panose="02010800040101010101" pitchFamily="2" charset="-122"/>
              </a:rPr>
              <a:t>6.2.</a:t>
            </a:r>
            <a:endParaRPr lang="zh-CN" altLang="en-US" sz="2400" b="1" smtClean="0">
              <a:latin typeface="Times New Roman" panose="02020603050405020304" pitchFamily="18" charset="0"/>
              <a:ea typeface="华文新魏" panose="02010800040101010101" pitchFamily="2" charset="-122"/>
            </a:endParaRPr>
          </a:p>
          <a:p>
            <a:pPr marL="457200" indent="-457200" eaLnBrk="1" hangingPunct="1">
              <a:lnSpc>
                <a:spcPct val="110000"/>
              </a:lnSpc>
              <a:buFont typeface="Wingdings" panose="05000000000000000000" pitchFamily="2" charset="2"/>
              <a:buAutoNum type="arabicPeriod" startAt="4"/>
            </a:pPr>
            <a:r>
              <a:rPr lang="zh-CN" altLang="en-US" sz="2400" b="1" smtClean="0">
                <a:latin typeface="Times New Roman" panose="02020603050405020304" pitchFamily="18" charset="0"/>
                <a:ea typeface="华文新魏" panose="02010800040101010101" pitchFamily="2" charset="-122"/>
              </a:rPr>
              <a:t>金成植，编译程序构造原理和实现技术，高等教育出版社，2000.7.</a:t>
            </a:r>
          </a:p>
          <a:p>
            <a:pPr marL="457200" indent="-457200" eaLnBrk="1" hangingPunct="1">
              <a:lnSpc>
                <a:spcPct val="90000"/>
              </a:lnSpc>
              <a:buFont typeface="Wingdings" panose="05000000000000000000" pitchFamily="2" charset="2"/>
              <a:buAutoNum type="arabicPeriod" startAt="4"/>
            </a:pPr>
            <a:r>
              <a:rPr lang="zh-CN" altLang="en-US" sz="2400" b="1" smtClean="0">
                <a:latin typeface="Times New Roman" panose="02020603050405020304" pitchFamily="18" charset="0"/>
                <a:ea typeface="华文新魏" panose="02010800040101010101" pitchFamily="2" charset="-122"/>
              </a:rPr>
              <a:t>陈火旺等，程序设计语言编译原理</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第</a:t>
            </a:r>
            <a:r>
              <a:rPr lang="en-US" altLang="zh-CN" sz="2400" b="1" smtClean="0">
                <a:latin typeface="Times New Roman" panose="02020603050405020304" pitchFamily="18" charset="0"/>
                <a:ea typeface="华文新魏" panose="02010800040101010101" pitchFamily="2" charset="-122"/>
              </a:rPr>
              <a:t>3</a:t>
            </a:r>
            <a:r>
              <a:rPr lang="zh-CN" altLang="en-US" sz="2400" b="1" smtClean="0">
                <a:latin typeface="Times New Roman" panose="02020603050405020304" pitchFamily="18" charset="0"/>
                <a:ea typeface="华文新魏" panose="02010800040101010101" pitchFamily="2" charset="-122"/>
              </a:rPr>
              <a:t>版</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，国防工业出版社，2003.8.印刷</a:t>
            </a:r>
          </a:p>
          <a:p>
            <a:pPr marL="457200" indent="-457200" eaLnBrk="1" hangingPunct="1">
              <a:lnSpc>
                <a:spcPct val="110000"/>
              </a:lnSpc>
              <a:buFont typeface="Wingdings" panose="05000000000000000000" pitchFamily="2" charset="2"/>
              <a:buAutoNum type="arabicPeriod" startAt="4"/>
            </a:pPr>
            <a:r>
              <a:rPr lang="zh-CN" altLang="en-US" sz="2400" b="1" smtClean="0">
                <a:latin typeface="Times New Roman" panose="02020603050405020304" pitchFamily="18" charset="0"/>
                <a:ea typeface="华文新魏" panose="02010800040101010101" pitchFamily="2" charset="-122"/>
              </a:rPr>
              <a:t>高仲仪等，编译技术，西北工业大学出版社，1985.9</a:t>
            </a:r>
          </a:p>
          <a:p>
            <a:pPr marL="457200" indent="-457200" eaLnBrk="1" hangingPunct="1">
              <a:lnSpc>
                <a:spcPct val="110000"/>
              </a:lnSpc>
              <a:buFont typeface="Wingdings" panose="05000000000000000000" pitchFamily="2" charset="2"/>
              <a:buAutoNum type="arabicPeriod" startAt="4"/>
            </a:pPr>
            <a:r>
              <a:rPr lang="en-US" altLang="zh-CN" sz="2400" b="1" smtClean="0">
                <a:latin typeface="Times New Roman" panose="02020603050405020304" pitchFamily="18" charset="0"/>
                <a:ea typeface="华文新魏" panose="02010800040101010101" pitchFamily="2" charset="-122"/>
              </a:rPr>
              <a:t>P.M.</a:t>
            </a:r>
            <a:r>
              <a:rPr lang="zh-CN" altLang="en-US" sz="2400" b="1" smtClean="0">
                <a:latin typeface="Times New Roman" panose="02020603050405020304" pitchFamily="18" charset="0"/>
                <a:ea typeface="华文新魏" panose="02010800040101010101" pitchFamily="2" charset="-122"/>
              </a:rPr>
              <a:t>刘易斯，编译程序设计理论，科学出版社，1984.5.</a:t>
            </a:r>
          </a:p>
          <a:p>
            <a:pPr marL="827088" lvl="1" indent="-381000" eaLnBrk="1" hangingPunct="1">
              <a:lnSpc>
                <a:spcPct val="110000"/>
              </a:lnSpc>
              <a:buFont typeface="Wingdings" panose="05000000000000000000" pitchFamily="2" charset="2"/>
              <a:buNone/>
            </a:pPr>
            <a:r>
              <a:rPr lang="zh-CN" altLang="en-US" sz="2000" b="1" smtClean="0">
                <a:latin typeface="Times New Roman" panose="02020603050405020304" pitchFamily="18" charset="0"/>
                <a:ea typeface="华文新魏" panose="02010800040101010101" pitchFamily="2" charset="-122"/>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741561D-65AB-48A3-A258-31F70F3CBF66}" type="datetime1">
              <a:rPr lang="zh-CN" altLang="en-US" sz="1400" smtClean="0"/>
              <a:pPr>
                <a:spcBef>
                  <a:spcPct val="0"/>
                </a:spcBef>
                <a:buClrTx/>
                <a:buSzTx/>
                <a:buFontTx/>
                <a:buNone/>
              </a:pPr>
              <a:t>2017/2/24</a:t>
            </a:fld>
            <a:endParaRPr lang="en-US" altLang="zh-CN" sz="1400" smtClean="0"/>
          </a:p>
        </p:txBody>
      </p:sp>
      <p:sp>
        <p:nvSpPr>
          <p:cNvPr id="1229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616306B-F918-4AB6-BC01-78A29522547E}" type="slidenum">
              <a:rPr lang="zh-CN" altLang="en-US" sz="1400"/>
              <a:pPr>
                <a:spcBef>
                  <a:spcPct val="0"/>
                </a:spcBef>
                <a:buClrTx/>
                <a:buSzTx/>
                <a:buFontTx/>
                <a:buNone/>
              </a:pPr>
              <a:t>8</a:t>
            </a:fld>
            <a:endParaRPr lang="en-US" altLang="zh-CN" sz="1400"/>
          </a:p>
        </p:txBody>
      </p:sp>
      <p:pic>
        <p:nvPicPr>
          <p:cNvPr id="12292" name="Picture 8" descr="爱课程网站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73038"/>
            <a:ext cx="8424863" cy="668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Rectangle 3"/>
          <p:cNvSpPr>
            <a:spLocks noGrp="1" noRot="1" noChangeArrowheads="1"/>
          </p:cNvSpPr>
          <p:nvPr>
            <p:ph type="body" idx="1"/>
          </p:nvPr>
        </p:nvSpPr>
        <p:spPr>
          <a:xfrm>
            <a:off x="323850" y="0"/>
            <a:ext cx="8559800" cy="1008063"/>
          </a:xfrm>
          <a:solidFill>
            <a:schemeClr val="tx1"/>
          </a:solidFill>
        </p:spPr>
        <p:txBody>
          <a:bodyPr/>
          <a:lstStyle/>
          <a:p>
            <a:pPr eaLnBrk="1" hangingPunct="1">
              <a:spcBef>
                <a:spcPct val="0"/>
              </a:spcBef>
            </a:pPr>
            <a:r>
              <a:rPr lang="zh-CN" altLang="en-US" b="1" smtClean="0">
                <a:solidFill>
                  <a:schemeClr val="bg1"/>
                </a:solidFill>
                <a:latin typeface="Times New Roman" panose="02020603050405020304" pitchFamily="18" charset="0"/>
                <a:ea typeface="华文新魏" panose="02010800040101010101" pitchFamily="2" charset="-122"/>
              </a:rPr>
              <a:t>国家精品资源共享课</a:t>
            </a:r>
            <a:r>
              <a:rPr lang="en-US" altLang="zh-CN" b="1" smtClean="0">
                <a:solidFill>
                  <a:schemeClr val="bg1"/>
                </a:solidFill>
                <a:latin typeface="Times New Roman" panose="02020603050405020304" pitchFamily="18" charset="0"/>
                <a:ea typeface="华文新魏" panose="02010800040101010101" pitchFamily="2" charset="-122"/>
              </a:rPr>
              <a:t>——</a:t>
            </a:r>
            <a:r>
              <a:rPr lang="zh-CN" altLang="en-US" b="1" smtClean="0">
                <a:solidFill>
                  <a:schemeClr val="bg1"/>
                </a:solidFill>
                <a:latin typeface="Times New Roman" panose="02020603050405020304" pitchFamily="18" charset="0"/>
                <a:ea typeface="华文新魏" panose="02010800040101010101" pitchFamily="2" charset="-122"/>
              </a:rPr>
              <a:t>爱课程网站</a:t>
            </a:r>
          </a:p>
          <a:p>
            <a:pPr eaLnBrk="1" hangingPunct="1">
              <a:spcBef>
                <a:spcPct val="0"/>
              </a:spcBef>
              <a:buFont typeface="Wingdings" panose="05000000000000000000" pitchFamily="2" charset="2"/>
              <a:buNone/>
            </a:pPr>
            <a:r>
              <a:rPr lang="en-US" altLang="zh-CN" sz="2800" b="1" smtClean="0">
                <a:solidFill>
                  <a:schemeClr val="bg1"/>
                </a:solidFill>
                <a:latin typeface="Times New Roman" panose="02020603050405020304" pitchFamily="18" charset="0"/>
              </a:rPr>
              <a:t>http://www.icourses.cn/coursestatic/course_2279.html</a:t>
            </a:r>
            <a:endParaRPr lang="zh-CN" altLang="en-US" sz="2800" b="1" smtClean="0">
              <a:solidFill>
                <a:schemeClr val="bg1"/>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F3362D2-F700-45ED-9089-3D9AA1FA2B93}" type="datetime1">
              <a:rPr lang="zh-CN" altLang="en-US" sz="1400" smtClean="0"/>
              <a:pPr>
                <a:spcBef>
                  <a:spcPct val="0"/>
                </a:spcBef>
                <a:buClrTx/>
                <a:buSzTx/>
                <a:buFontTx/>
                <a:buNone/>
              </a:pPr>
              <a:t>2017/2/24</a:t>
            </a:fld>
            <a:endParaRPr lang="en-US" altLang="zh-CN" sz="1400" smtClean="0"/>
          </a:p>
        </p:txBody>
      </p:sp>
      <p:sp>
        <p:nvSpPr>
          <p:cNvPr id="1331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FE5C19F-3672-4CE6-9672-20B8BC083F1F}" type="slidenum">
              <a:rPr lang="zh-CN" altLang="en-US" sz="1400"/>
              <a:pPr>
                <a:spcBef>
                  <a:spcPct val="0"/>
                </a:spcBef>
                <a:buClrTx/>
                <a:buSzTx/>
                <a:buFontTx/>
                <a:buNone/>
              </a:pPr>
              <a:t>9</a:t>
            </a:fld>
            <a:endParaRPr lang="en-US" altLang="zh-CN" sz="1400"/>
          </a:p>
        </p:txBody>
      </p:sp>
      <p:pic>
        <p:nvPicPr>
          <p:cNvPr id="13316" name="Picture 4" descr="爱课程网站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0"/>
            <a:ext cx="8027988" cy="645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2"/>
          <p:cNvSpPr>
            <a:spLocks noGrp="1" noRot="1" noChangeArrowheads="1"/>
          </p:cNvSpPr>
          <p:nvPr>
            <p:ph type="body" idx="1"/>
          </p:nvPr>
        </p:nvSpPr>
        <p:spPr>
          <a:xfrm>
            <a:off x="323850" y="0"/>
            <a:ext cx="8559800" cy="1008063"/>
          </a:xfrm>
          <a:solidFill>
            <a:schemeClr val="tx1"/>
          </a:solidFill>
        </p:spPr>
        <p:txBody>
          <a:bodyPr/>
          <a:lstStyle/>
          <a:p>
            <a:pPr eaLnBrk="1" hangingPunct="1">
              <a:spcBef>
                <a:spcPct val="0"/>
              </a:spcBef>
            </a:pPr>
            <a:r>
              <a:rPr lang="zh-CN" altLang="en-US" b="1" smtClean="0">
                <a:solidFill>
                  <a:schemeClr val="bg1"/>
                </a:solidFill>
                <a:latin typeface="Times New Roman" panose="02020603050405020304" pitchFamily="18" charset="0"/>
                <a:ea typeface="华文新魏" panose="02010800040101010101" pitchFamily="2" charset="-122"/>
              </a:rPr>
              <a:t>国家精品资源共享课</a:t>
            </a:r>
            <a:r>
              <a:rPr lang="en-US" altLang="zh-CN" b="1" smtClean="0">
                <a:solidFill>
                  <a:schemeClr val="bg1"/>
                </a:solidFill>
                <a:latin typeface="Times New Roman" panose="02020603050405020304" pitchFamily="18" charset="0"/>
                <a:ea typeface="华文新魏" panose="02010800040101010101" pitchFamily="2" charset="-122"/>
              </a:rPr>
              <a:t>——</a:t>
            </a:r>
            <a:r>
              <a:rPr lang="zh-CN" altLang="en-US" b="1" smtClean="0">
                <a:solidFill>
                  <a:schemeClr val="bg1"/>
                </a:solidFill>
                <a:latin typeface="Times New Roman" panose="02020603050405020304" pitchFamily="18" charset="0"/>
                <a:ea typeface="华文新魏" panose="02010800040101010101" pitchFamily="2" charset="-122"/>
              </a:rPr>
              <a:t>爱课程网站</a:t>
            </a:r>
          </a:p>
          <a:p>
            <a:pPr eaLnBrk="1" hangingPunct="1">
              <a:spcBef>
                <a:spcPct val="0"/>
              </a:spcBef>
              <a:buFont typeface="Wingdings" panose="05000000000000000000" pitchFamily="2" charset="2"/>
              <a:buNone/>
            </a:pPr>
            <a:r>
              <a:rPr lang="en-US" altLang="zh-CN" sz="2800" b="1" smtClean="0">
                <a:solidFill>
                  <a:schemeClr val="bg1"/>
                </a:solidFill>
                <a:latin typeface="Times New Roman" panose="02020603050405020304" pitchFamily="18" charset="0"/>
              </a:rPr>
              <a:t>http://www.icourses.cn/coursestatic/course_2279.html</a:t>
            </a:r>
            <a:endParaRPr lang="zh-CN" altLang="en-US" sz="2800" b="1" smtClean="0">
              <a:solidFill>
                <a:schemeClr val="bg1"/>
              </a:solidFill>
              <a:latin typeface="Times New Roman" panose="02020603050405020304" pitchFamily="18" charset="0"/>
            </a:endParaRPr>
          </a:p>
        </p:txBody>
      </p:sp>
      <p:sp>
        <p:nvSpPr>
          <p:cNvPr id="13318" name="AutoShape 3"/>
          <p:cNvSpPr>
            <a:spLocks noChangeArrowheads="1"/>
          </p:cNvSpPr>
          <p:nvPr/>
        </p:nvSpPr>
        <p:spPr bwMode="auto">
          <a:xfrm>
            <a:off x="2700338" y="3213100"/>
            <a:ext cx="2303462" cy="1655763"/>
          </a:xfrm>
          <a:prstGeom prst="wedgeRoundRectCallout">
            <a:avLst>
              <a:gd name="adj1" fmla="val -11060"/>
              <a:gd name="adj2" fmla="val 14046"/>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rgbClr val="000099"/>
                </a:solidFill>
                <a:latin typeface="Tahoma" panose="020B0604030504040204" pitchFamily="34" charset="0"/>
                <a:ea typeface="华文新魏" panose="02010800040101010101" pitchFamily="2" charset="-122"/>
              </a:rPr>
              <a:t>全程录像、对应讲稿、有关资料</a:t>
            </a:r>
            <a:endParaRPr lang="en-US" altLang="zh-CN" b="1">
              <a:solidFill>
                <a:srgbClr val="000099"/>
              </a:solidFill>
              <a:latin typeface="Tahoma" panose="020B0604030504040204" pitchFamily="34" charset="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D59573-D3CA-45E9-B633-31EBC4206850}" type="datetime1">
              <a:rPr lang="zh-CN" altLang="en-US" sz="1400" smtClean="0"/>
              <a:pPr>
                <a:spcBef>
                  <a:spcPct val="0"/>
                </a:spcBef>
                <a:buClrTx/>
                <a:buSzTx/>
                <a:buFontTx/>
                <a:buNone/>
              </a:pPr>
              <a:t>2017/2/24</a:t>
            </a:fld>
            <a:endParaRPr lang="en-US" altLang="zh-CN" sz="1400" smtClean="0"/>
          </a:p>
        </p:txBody>
      </p:sp>
      <p:sp>
        <p:nvSpPr>
          <p:cNvPr id="1433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57D95DF-E14B-41AF-BBB8-373793D4FEAC}" type="slidenum">
              <a:rPr lang="zh-CN" altLang="en-US" sz="1400"/>
              <a:pPr>
                <a:spcBef>
                  <a:spcPct val="0"/>
                </a:spcBef>
                <a:buClrTx/>
                <a:buSzTx/>
                <a:buFontTx/>
                <a:buNone/>
              </a:pPr>
              <a:t>10</a:t>
            </a:fld>
            <a:endParaRPr lang="en-US" altLang="zh-CN" sz="1400"/>
          </a:p>
        </p:txBody>
      </p:sp>
      <p:sp>
        <p:nvSpPr>
          <p:cNvPr id="14340" name="Rectangle 2"/>
          <p:cNvSpPr>
            <a:spLocks noGrp="1" noRot="1" noChangeArrowheads="1"/>
          </p:cNvSpPr>
          <p:nvPr>
            <p:ph type="title"/>
          </p:nvPr>
        </p:nvSpPr>
        <p:spPr>
          <a:xfrm>
            <a:off x="301625" y="404813"/>
            <a:ext cx="8540750" cy="936625"/>
          </a:xfrm>
        </p:spPr>
        <p:txBody>
          <a:bodyPr/>
          <a:lstStyle/>
          <a:p>
            <a:pPr eaLnBrk="1" hangingPunct="1"/>
            <a:r>
              <a:rPr lang="zh-CN" altLang="en-US" b="1" smtClean="0">
                <a:latin typeface="Times New Roman" panose="02020603050405020304" pitchFamily="18" charset="0"/>
                <a:ea typeface="华文新魏" panose="02010800040101010101" pitchFamily="2" charset="-122"/>
              </a:rPr>
              <a:t>校内课程网站</a:t>
            </a:r>
          </a:p>
        </p:txBody>
      </p:sp>
      <p:sp>
        <p:nvSpPr>
          <p:cNvPr id="14341" name="Rectangle 3"/>
          <p:cNvSpPr>
            <a:spLocks noGrp="1" noRot="1" noChangeArrowheads="1"/>
          </p:cNvSpPr>
          <p:nvPr>
            <p:ph type="body" idx="1"/>
          </p:nvPr>
        </p:nvSpPr>
        <p:spPr/>
        <p:txBody>
          <a:bodyPr/>
          <a:lstStyle/>
          <a:p>
            <a:pPr eaLnBrk="1" hangingPunct="1"/>
            <a:endParaRPr lang="zh-CN" altLang="en-US" smtClean="0"/>
          </a:p>
        </p:txBody>
      </p:sp>
      <p:pic>
        <p:nvPicPr>
          <p:cNvPr id="14342" name="Picture 4" descr="课程网站"/>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484313"/>
            <a:ext cx="8893175"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AutoShape 7"/>
          <p:cNvSpPr>
            <a:spLocks noChangeArrowheads="1"/>
          </p:cNvSpPr>
          <p:nvPr/>
        </p:nvSpPr>
        <p:spPr bwMode="auto">
          <a:xfrm>
            <a:off x="7596188" y="4797425"/>
            <a:ext cx="1512887" cy="1584325"/>
          </a:xfrm>
          <a:prstGeom prst="wedgeRoundRectCallout">
            <a:avLst>
              <a:gd name="adj1" fmla="val -76231"/>
              <a:gd name="adj2" fmla="val -681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400" b="1">
                <a:solidFill>
                  <a:srgbClr val="000099"/>
                </a:solidFill>
                <a:latin typeface="Tahoma" panose="020B0604030504040204" pitchFamily="34" charset="0"/>
                <a:ea typeface="华文新魏" panose="02010800040101010101" pitchFamily="2" charset="-122"/>
              </a:rPr>
              <a:t>教学目的</a:t>
            </a:r>
          </a:p>
        </p:txBody>
      </p:sp>
      <p:sp>
        <p:nvSpPr>
          <p:cNvPr id="14344" name="AutoShape 8"/>
          <p:cNvSpPr>
            <a:spLocks noChangeArrowheads="1"/>
          </p:cNvSpPr>
          <p:nvPr/>
        </p:nvSpPr>
        <p:spPr bwMode="auto">
          <a:xfrm>
            <a:off x="0" y="3573463"/>
            <a:ext cx="2124075" cy="2808287"/>
          </a:xfrm>
          <a:prstGeom prst="wedgeRoundRectCallout">
            <a:avLst>
              <a:gd name="adj1" fmla="val 53361"/>
              <a:gd name="adj2" fmla="val -58194"/>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300" b="1">
                <a:solidFill>
                  <a:srgbClr val="000099"/>
                </a:solidFill>
                <a:latin typeface="Tahoma" panose="020B0604030504040204" pitchFamily="34" charset="0"/>
                <a:ea typeface="华文新魏" panose="02010800040101010101" pitchFamily="2" charset="-122"/>
              </a:rPr>
              <a:t>编译是一门非常好的课程</a:t>
            </a:r>
          </a:p>
        </p:txBody>
      </p:sp>
      <p:sp>
        <p:nvSpPr>
          <p:cNvPr id="14345" name="AutoShape 9"/>
          <p:cNvSpPr>
            <a:spLocks noChangeArrowheads="1"/>
          </p:cNvSpPr>
          <p:nvPr/>
        </p:nvSpPr>
        <p:spPr bwMode="auto">
          <a:xfrm>
            <a:off x="1042988" y="188913"/>
            <a:ext cx="2160587" cy="1223962"/>
          </a:xfrm>
          <a:prstGeom prst="wedgeRoundRectCallout">
            <a:avLst>
              <a:gd name="adj1" fmla="val 120315"/>
              <a:gd name="adj2" fmla="val 93579"/>
              <a:gd name="adj3" fmla="val 16667"/>
            </a:avLst>
          </a:prstGeom>
          <a:solidFill>
            <a:schemeClr val="accent1"/>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b="1">
                <a:solidFill>
                  <a:srgbClr val="CC3300"/>
                </a:solidFill>
                <a:latin typeface="Tahoma" panose="020B0604030504040204" pitchFamily="34" charset="0"/>
                <a:ea typeface="华文新魏" panose="02010800040101010101" pitchFamily="2" charset="-122"/>
              </a:rPr>
              <a:t>18</a:t>
            </a:r>
            <a:r>
              <a:rPr lang="zh-CN" altLang="en-US" b="1">
                <a:solidFill>
                  <a:srgbClr val="CC3300"/>
                </a:solidFill>
                <a:latin typeface="Tahoma" panose="020B0604030504040204" pitchFamily="34" charset="0"/>
                <a:ea typeface="华文新魏" panose="02010800040101010101" pitchFamily="2" charset="-122"/>
              </a:rPr>
              <a:t>个方面助你学习</a:t>
            </a:r>
            <a:endParaRPr lang="en-US" altLang="zh-CN" b="1">
              <a:solidFill>
                <a:srgbClr val="CC3300"/>
              </a:solidFill>
              <a:latin typeface="Tahoma" panose="020B0604030504040204" pitchFamily="34" charset="0"/>
              <a:ea typeface="华文新魏" panose="02010800040101010101" pitchFamily="2" charset="-122"/>
            </a:endParaRPr>
          </a:p>
        </p:txBody>
      </p:sp>
      <p:sp>
        <p:nvSpPr>
          <p:cNvPr id="14346" name="AutoShape 10"/>
          <p:cNvSpPr>
            <a:spLocks noChangeArrowheads="1"/>
          </p:cNvSpPr>
          <p:nvPr/>
        </p:nvSpPr>
        <p:spPr bwMode="auto">
          <a:xfrm>
            <a:off x="5651500" y="260350"/>
            <a:ext cx="2987675" cy="863600"/>
          </a:xfrm>
          <a:prstGeom prst="wedgeRoundRectCallout">
            <a:avLst>
              <a:gd name="adj1" fmla="val -77736"/>
              <a:gd name="adj2" fmla="val 180148"/>
              <a:gd name="adj3" fmla="val 16667"/>
            </a:avLst>
          </a:prstGeom>
          <a:solidFill>
            <a:schemeClr val="accent1"/>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800" b="1">
                <a:solidFill>
                  <a:srgbClr val="CC3300"/>
                </a:solidFill>
                <a:latin typeface="Tahoma" panose="020B0604030504040204" pitchFamily="34" charset="0"/>
                <a:ea typeface="华文新魏" panose="02010800040101010101" pitchFamily="2" charset="-122"/>
              </a:rPr>
              <a:t>授课教案</a:t>
            </a:r>
          </a:p>
        </p:txBody>
      </p:sp>
      <p:sp>
        <p:nvSpPr>
          <p:cNvPr id="14347" name="AutoShape 11"/>
          <p:cNvSpPr>
            <a:spLocks/>
          </p:cNvSpPr>
          <p:nvPr/>
        </p:nvSpPr>
        <p:spPr bwMode="auto">
          <a:xfrm rot="5400000">
            <a:off x="4572794" y="-1828006"/>
            <a:ext cx="287337" cy="7921625"/>
          </a:xfrm>
          <a:prstGeom prst="leftBrace">
            <a:avLst>
              <a:gd name="adj1" fmla="val 229743"/>
              <a:gd name="adj2" fmla="val 50000"/>
            </a:avLst>
          </a:prstGeom>
          <a:noFill/>
          <a:ln w="38100">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4348" name="AutoShape 12"/>
          <p:cNvSpPr>
            <a:spLocks noChangeArrowheads="1"/>
          </p:cNvSpPr>
          <p:nvPr/>
        </p:nvSpPr>
        <p:spPr bwMode="auto">
          <a:xfrm>
            <a:off x="6156325" y="3573463"/>
            <a:ext cx="2987675" cy="863600"/>
          </a:xfrm>
          <a:prstGeom prst="wedgeRoundRectCallout">
            <a:avLst>
              <a:gd name="adj1" fmla="val -66153"/>
              <a:gd name="adj2" fmla="val -190259"/>
              <a:gd name="adj3" fmla="val 16667"/>
            </a:avLst>
          </a:prstGeom>
          <a:solidFill>
            <a:schemeClr val="accent1"/>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800" b="1">
                <a:solidFill>
                  <a:srgbClr val="CC3300"/>
                </a:solidFill>
                <a:latin typeface="Tahoma" panose="020B0604030504040204" pitchFamily="34" charset="0"/>
                <a:ea typeface="华文新魏" panose="02010800040101010101" pitchFamily="2" charset="-122"/>
              </a:rPr>
              <a:t>授课视频</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DE56F3E-BF8B-4676-998E-55D31A068B55}" type="datetime1">
              <a:rPr lang="zh-CN" altLang="en-US" sz="1400" smtClean="0"/>
              <a:pPr>
                <a:spcBef>
                  <a:spcPct val="0"/>
                </a:spcBef>
                <a:buClrTx/>
                <a:buSzTx/>
                <a:buFontTx/>
                <a:buNone/>
              </a:pPr>
              <a:t>2017/2/24</a:t>
            </a:fld>
            <a:endParaRPr lang="en-US" altLang="zh-CN" sz="1400" smtClean="0"/>
          </a:p>
        </p:txBody>
      </p:sp>
      <p:sp>
        <p:nvSpPr>
          <p:cNvPr id="1536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EE1BABB-472A-4920-A8DB-EE0C5C073FDB}" type="slidenum">
              <a:rPr lang="zh-CN" altLang="en-US" sz="1400"/>
              <a:pPr>
                <a:spcBef>
                  <a:spcPct val="0"/>
                </a:spcBef>
                <a:buClrTx/>
                <a:buSzTx/>
                <a:buFontTx/>
                <a:buNone/>
              </a:pPr>
              <a:t>11</a:t>
            </a:fld>
            <a:endParaRPr lang="en-US" altLang="zh-CN" sz="1400"/>
          </a:p>
        </p:txBody>
      </p:sp>
      <p:sp>
        <p:nvSpPr>
          <p:cNvPr id="15364" name="Rectangle 2"/>
          <p:cNvSpPr>
            <a:spLocks noGrp="1" noRot="1" noChangeArrowheads="1"/>
          </p:cNvSpPr>
          <p:nvPr>
            <p:ph type="title"/>
          </p:nvPr>
        </p:nvSpPr>
        <p:spPr>
          <a:xfrm>
            <a:off x="301625" y="549275"/>
            <a:ext cx="8540750" cy="771525"/>
          </a:xfrm>
        </p:spPr>
        <p:txBody>
          <a:bodyPr/>
          <a:lstStyle/>
          <a:p>
            <a:pPr eaLnBrk="1" hangingPunct="1"/>
            <a:r>
              <a:rPr lang="zh-CN" altLang="en-US" b="1" smtClean="0">
                <a:latin typeface="Times New Roman" panose="02020603050405020304" pitchFamily="18" charset="0"/>
                <a:ea typeface="华文新魏" panose="02010800040101010101" pitchFamily="2" charset="-122"/>
              </a:rPr>
              <a:t>校内课程网站</a:t>
            </a:r>
            <a:endParaRPr lang="en-US" altLang="zh-CN" b="1" smtClean="0">
              <a:latin typeface="Times New Roman" panose="02020603050405020304" pitchFamily="18" charset="0"/>
              <a:ea typeface="华文新魏" panose="02010800040101010101" pitchFamily="2" charset="-122"/>
            </a:endParaRPr>
          </a:p>
        </p:txBody>
      </p:sp>
      <p:sp>
        <p:nvSpPr>
          <p:cNvPr id="15365" name="Rectangle 3"/>
          <p:cNvSpPr>
            <a:spLocks noGrp="1" noRot="1" noChangeArrowheads="1"/>
          </p:cNvSpPr>
          <p:nvPr>
            <p:ph type="body" idx="1"/>
          </p:nvPr>
        </p:nvSpPr>
        <p:spPr>
          <a:xfrm>
            <a:off x="395288" y="1557338"/>
            <a:ext cx="8559800" cy="4575175"/>
          </a:xfrm>
        </p:spPr>
        <p:txBody>
          <a:bodyPr/>
          <a:lstStyle/>
          <a:p>
            <a:pPr eaLnBrk="1" hangingPunct="1">
              <a:spcBef>
                <a:spcPct val="40000"/>
              </a:spcBef>
            </a:pPr>
            <a:r>
              <a:rPr lang="zh-CN" altLang="en-US" sz="2800" b="1" smtClean="0">
                <a:latin typeface="Times New Roman" panose="02020603050405020304" pitchFamily="18" charset="0"/>
                <a:ea typeface="华文新魏" panose="02010800040101010101" pitchFamily="2" charset="-122"/>
              </a:rPr>
              <a:t>路径</a:t>
            </a:r>
            <a:r>
              <a:rPr lang="en-US" altLang="zh-CN" sz="2800" b="1" smtClean="0">
                <a:latin typeface="Times New Roman" panose="02020603050405020304" pitchFamily="18" charset="0"/>
                <a:ea typeface="华文新魏" panose="02010800040101010101" pitchFamily="2" charset="-122"/>
              </a:rPr>
              <a:t>1</a:t>
            </a:r>
            <a:r>
              <a:rPr lang="zh-CN" altLang="en-US" sz="2800" b="1" smtClean="0">
                <a:latin typeface="Times New Roman" panose="02020603050405020304" pitchFamily="18" charset="0"/>
                <a:ea typeface="华文新魏" panose="02010800040101010101" pitchFamily="2" charset="-122"/>
              </a:rPr>
              <a:t>：</a:t>
            </a:r>
            <a:r>
              <a:rPr lang="en-US" altLang="zh-CN" sz="2800" b="1" smtClean="0">
                <a:latin typeface="Times New Roman" panose="02020603050405020304" pitchFamily="18" charset="0"/>
                <a:ea typeface="华文新魏" panose="02010800040101010101" pitchFamily="2" charset="-122"/>
                <a:hlinkClick r:id="rId2"/>
              </a:rPr>
              <a:t>http://etc.bjut.edu.cn/web/jp/06sb/byyl/index.htm</a:t>
            </a:r>
            <a:endParaRPr lang="en-US" altLang="zh-CN" sz="2800" b="1" smtClean="0">
              <a:latin typeface="Times New Roman" panose="02020603050405020304" pitchFamily="18" charset="0"/>
              <a:ea typeface="华文新魏" panose="02010800040101010101" pitchFamily="2" charset="-122"/>
            </a:endParaRPr>
          </a:p>
          <a:p>
            <a:pPr eaLnBrk="1" hangingPunct="1">
              <a:spcBef>
                <a:spcPct val="40000"/>
              </a:spcBef>
            </a:pPr>
            <a:r>
              <a:rPr lang="zh-CN" altLang="en-US" sz="2800" b="1" smtClean="0">
                <a:latin typeface="Times New Roman" panose="02020603050405020304" pitchFamily="18" charset="0"/>
                <a:ea typeface="华文新魏" panose="02010800040101010101" pitchFamily="2" charset="-122"/>
              </a:rPr>
              <a:t>路径</a:t>
            </a:r>
            <a:r>
              <a:rPr lang="en-US" altLang="zh-CN" sz="2800" b="1" smtClean="0">
                <a:latin typeface="Times New Roman" panose="02020603050405020304" pitchFamily="18" charset="0"/>
                <a:ea typeface="华文新魏" panose="02010800040101010101" pitchFamily="2" charset="-122"/>
              </a:rPr>
              <a:t>2</a:t>
            </a:r>
            <a:r>
              <a:rPr lang="zh-CN" altLang="en-US" sz="2800" b="1" smtClean="0">
                <a:latin typeface="Times New Roman" panose="02020603050405020304" pitchFamily="18" charset="0"/>
                <a:ea typeface="华文新魏" panose="02010800040101010101" pitchFamily="2" charset="-122"/>
              </a:rPr>
              <a:t>：</a:t>
            </a:r>
          </a:p>
          <a:p>
            <a:pPr eaLnBrk="1" hangingPunct="1">
              <a:spcBef>
                <a:spcPct val="0"/>
              </a:spcBef>
              <a:buFont typeface="Wingdings" panose="05000000000000000000" pitchFamily="2" charset="2"/>
              <a:buNone/>
            </a:pPr>
            <a:r>
              <a:rPr lang="zh-CN" altLang="en-US" sz="2800" b="1" smtClean="0">
                <a:latin typeface="Times New Roman" panose="02020603050405020304" pitchFamily="18" charset="0"/>
                <a:ea typeface="华文新魏" panose="02010800040101010101" pitchFamily="2" charset="-122"/>
              </a:rPr>
              <a:t>视听课堂：</a:t>
            </a:r>
            <a:r>
              <a:rPr lang="en-US" altLang="zh-CN" sz="2800" b="1" smtClean="0">
                <a:latin typeface="Times New Roman" panose="02020603050405020304" pitchFamily="18" charset="0"/>
              </a:rPr>
              <a:t> </a:t>
            </a:r>
            <a:r>
              <a:rPr lang="en-US" altLang="zh-CN" sz="2800" b="1" smtClean="0">
                <a:latin typeface="Times New Roman" panose="02020603050405020304" pitchFamily="18" charset="0"/>
                <a:hlinkClick r:id="rId3"/>
              </a:rPr>
              <a:t>http://vod.bjut.edu.cn/——</a:t>
            </a:r>
            <a:r>
              <a:rPr lang="zh-CN" altLang="en-US" sz="2800" b="1" smtClean="0">
                <a:latin typeface="Times New Roman" panose="02020603050405020304" pitchFamily="18" charset="0"/>
                <a:ea typeface="华文新魏" panose="02010800040101010101" pitchFamily="2" charset="-122"/>
              </a:rPr>
              <a:t>通过“工学”，再进入</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编译原理</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国家精品课程”</a:t>
            </a:r>
          </a:p>
          <a:p>
            <a:pPr eaLnBrk="1" hangingPunct="1">
              <a:spcBef>
                <a:spcPct val="40000"/>
              </a:spcBef>
            </a:pPr>
            <a:r>
              <a:rPr lang="zh-CN" altLang="en-US" sz="2800" b="1" smtClean="0">
                <a:latin typeface="Times New Roman" panose="02020603050405020304" pitchFamily="18" charset="0"/>
                <a:ea typeface="华文新魏" panose="02010800040101010101" pitchFamily="2" charset="-122"/>
              </a:rPr>
              <a:t>路径</a:t>
            </a:r>
            <a:r>
              <a:rPr lang="en-US" altLang="zh-CN" sz="2800" b="1" smtClean="0">
                <a:latin typeface="Times New Roman" panose="02020603050405020304" pitchFamily="18" charset="0"/>
                <a:ea typeface="华文新魏" panose="02010800040101010101" pitchFamily="2" charset="-122"/>
              </a:rPr>
              <a:t>3</a:t>
            </a:r>
            <a:r>
              <a:rPr lang="zh-CN" altLang="en-US" sz="2800" b="1" smtClean="0">
                <a:latin typeface="Times New Roman" panose="02020603050405020304" pitchFamily="18" charset="0"/>
                <a:ea typeface="华文新魏" panose="02010800040101010101" pitchFamily="2" charset="-122"/>
              </a:rPr>
              <a:t>：进入北工大主页</a:t>
            </a:r>
            <a:r>
              <a:rPr lang="en-US" altLang="zh-CN" sz="2800" b="1" smtClean="0">
                <a:latin typeface="Times New Roman" panose="02020603050405020304" pitchFamily="18" charset="0"/>
                <a:ea typeface="华文新魏" panose="02010800040101010101" pitchFamily="2" charset="-122"/>
                <a:hlinkClick r:id="rId4"/>
              </a:rPr>
              <a:t>http://my.bjut.edu.cn</a:t>
            </a:r>
            <a:r>
              <a:rPr lang="zh-CN" altLang="en-US" sz="2800" b="1" smtClean="0">
                <a:latin typeface="Times New Roman" panose="02020603050405020304" pitchFamily="18" charset="0"/>
                <a:ea typeface="华文新魏" panose="02010800040101010101" pitchFamily="2" charset="-122"/>
              </a:rPr>
              <a:t>，“常用链接”栏进入“教育在线”，再进入“精品课程”，继续进入</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编译原理”</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43666E-4F7C-4F6D-84B3-98D97C82344F}" type="datetime1">
              <a:rPr lang="zh-CN" altLang="en-US" sz="1400" smtClean="0"/>
              <a:pPr>
                <a:spcBef>
                  <a:spcPct val="0"/>
                </a:spcBef>
                <a:buClrTx/>
                <a:buSzTx/>
                <a:buFontTx/>
                <a:buNone/>
              </a:pPr>
              <a:t>2017/2/24</a:t>
            </a:fld>
            <a:endParaRPr lang="en-US" altLang="zh-CN" sz="1400" smtClean="0"/>
          </a:p>
        </p:txBody>
      </p:sp>
      <p:sp>
        <p:nvSpPr>
          <p:cNvPr id="1638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9C6DD20-CC21-44E0-8EBE-B0FF3234A290}" type="slidenum">
              <a:rPr lang="zh-CN" altLang="en-US" sz="1400"/>
              <a:pPr>
                <a:spcBef>
                  <a:spcPct val="0"/>
                </a:spcBef>
                <a:buClrTx/>
                <a:buSzTx/>
                <a:buFontTx/>
                <a:buNone/>
              </a:pPr>
              <a:t>12</a:t>
            </a:fld>
            <a:endParaRPr lang="en-US" altLang="zh-CN" sz="1400"/>
          </a:p>
        </p:txBody>
      </p:sp>
      <p:sp>
        <p:nvSpPr>
          <p:cNvPr id="16388" name="Rectangle 2"/>
          <p:cNvSpPr>
            <a:spLocks noGrp="1" noRot="1" noChangeArrowheads="1"/>
          </p:cNvSpPr>
          <p:nvPr>
            <p:ph type="title"/>
          </p:nvPr>
        </p:nvSpPr>
        <p:spPr>
          <a:xfrm>
            <a:off x="900113" y="549275"/>
            <a:ext cx="6699250" cy="833438"/>
          </a:xfrm>
        </p:spPr>
        <p:txBody>
          <a:bodyPr/>
          <a:lstStyle/>
          <a:p>
            <a:pPr eaLnBrk="1" hangingPunct="1"/>
            <a:r>
              <a:rPr lang="zh-CN" altLang="en-US" sz="4800" b="1" smtClean="0">
                <a:latin typeface="Times New Roman" panose="02020603050405020304" pitchFamily="18" charset="0"/>
                <a:ea typeface="华文新魏" panose="02010800040101010101" pitchFamily="2" charset="-122"/>
              </a:rPr>
              <a:t>主要内容</a:t>
            </a:r>
          </a:p>
        </p:txBody>
      </p:sp>
      <p:sp>
        <p:nvSpPr>
          <p:cNvPr id="16389" name="Rectangle 3"/>
          <p:cNvSpPr>
            <a:spLocks noGrp="1" noRot="1" noChangeArrowheads="1"/>
          </p:cNvSpPr>
          <p:nvPr>
            <p:ph type="body" idx="1"/>
          </p:nvPr>
        </p:nvSpPr>
        <p:spPr>
          <a:xfrm>
            <a:off x="539750" y="1484313"/>
            <a:ext cx="7921625" cy="4843462"/>
          </a:xfrm>
        </p:spPr>
        <p:txBody>
          <a:bodyPr/>
          <a:lstStyle/>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编译系统及其设计概述</a:t>
            </a:r>
            <a:r>
              <a:rPr lang="en-US" altLang="zh-CN" sz="1800" b="1" smtClean="0">
                <a:latin typeface="Times New Roman" panose="02020603050405020304" pitchFamily="18" charset="0"/>
                <a:ea typeface="华文新魏" panose="02010800040101010101" pitchFamily="2" charset="-122"/>
              </a:rPr>
              <a:t>(</a:t>
            </a:r>
            <a:r>
              <a:rPr lang="zh-CN" altLang="en-US" sz="1800" b="1" smtClean="0">
                <a:solidFill>
                  <a:schemeClr val="hlink"/>
                </a:solidFill>
                <a:latin typeface="Times New Roman" panose="02020603050405020304" pitchFamily="18" charset="0"/>
                <a:ea typeface="华文新魏" panose="02010800040101010101" pitchFamily="2" charset="-122"/>
              </a:rPr>
              <a:t>总体结构</a:t>
            </a:r>
            <a:r>
              <a:rPr lang="zh-CN" altLang="en-US" sz="1800" b="1" smtClean="0">
                <a:solidFill>
                  <a:schemeClr val="tx2"/>
                </a:solidFill>
                <a:latin typeface="Times New Roman" panose="02020603050405020304" pitchFamily="18" charset="0"/>
                <a:ea typeface="华文新魏" panose="02010800040101010101" pitchFamily="2" charset="-122"/>
              </a:rPr>
              <a:t>、设计方法；</a:t>
            </a:r>
            <a:r>
              <a:rPr lang="en-US" altLang="zh-CN" sz="1800" b="1" smtClean="0">
                <a:solidFill>
                  <a:schemeClr val="tx2"/>
                </a:solidFill>
                <a:latin typeface="Times New Roman" panose="02020603050405020304" pitchFamily="18" charset="0"/>
                <a:ea typeface="华文新魏" panose="02010800040101010101" pitchFamily="2" charset="-122"/>
              </a:rPr>
              <a:t>4</a:t>
            </a:r>
            <a:r>
              <a:rPr lang="en-US" altLang="zh-CN" sz="1800" b="1" smtClean="0">
                <a:latin typeface="Times New Roman" panose="02020603050405020304" pitchFamily="18" charset="0"/>
                <a:ea typeface="华文新魏" panose="02010800040101010101" pitchFamily="2" charset="-122"/>
              </a:rPr>
              <a:t>)</a:t>
            </a:r>
          </a:p>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语言与文法</a:t>
            </a:r>
            <a:r>
              <a:rPr lang="en-US" altLang="zh-CN" sz="1800" b="1" smtClean="0">
                <a:latin typeface="Times New Roman" panose="02020603050405020304" pitchFamily="18" charset="0"/>
                <a:ea typeface="华文新魏" panose="02010800040101010101" pitchFamily="2" charset="-122"/>
              </a:rPr>
              <a:t>(</a:t>
            </a:r>
            <a:r>
              <a:rPr lang="zh-CN" altLang="en-US" sz="1800" b="1" smtClean="0">
                <a:solidFill>
                  <a:schemeClr val="tx2"/>
                </a:solidFill>
                <a:latin typeface="Times New Roman" panose="02020603050405020304" pitchFamily="18" charset="0"/>
                <a:ea typeface="华文新魏" panose="02010800040101010101" pitchFamily="2" charset="-122"/>
              </a:rPr>
              <a:t>文法、</a:t>
            </a:r>
            <a:r>
              <a:rPr lang="zh-CN" altLang="en-US" sz="1800" b="1" smtClean="0">
                <a:solidFill>
                  <a:schemeClr val="hlink"/>
                </a:solidFill>
                <a:latin typeface="Times New Roman" panose="02020603050405020304" pitchFamily="18" charset="0"/>
                <a:ea typeface="华文新魏" panose="02010800040101010101" pitchFamily="2" charset="-122"/>
              </a:rPr>
              <a:t>推导、归约</a:t>
            </a:r>
            <a:r>
              <a:rPr lang="zh-CN" altLang="en-US" sz="1800" b="1" smtClean="0">
                <a:solidFill>
                  <a:schemeClr val="tx2"/>
                </a:solidFill>
                <a:latin typeface="Times New Roman" panose="02020603050405020304" pitchFamily="18" charset="0"/>
                <a:ea typeface="华文新魏" panose="02010800040101010101" pitchFamily="2" charset="-122"/>
              </a:rPr>
              <a:t>、分类、分析树；</a:t>
            </a:r>
            <a:r>
              <a:rPr lang="en-US" altLang="zh-CN" sz="1800" b="1" smtClean="0">
                <a:solidFill>
                  <a:schemeClr val="tx2"/>
                </a:solidFill>
                <a:latin typeface="Times New Roman" panose="02020603050405020304" pitchFamily="18" charset="0"/>
                <a:ea typeface="华文新魏" panose="02010800040101010101" pitchFamily="2" charset="-122"/>
              </a:rPr>
              <a:t>6</a:t>
            </a:r>
            <a:r>
              <a:rPr lang="en-US" altLang="zh-CN" sz="1800" b="1" smtClean="0">
                <a:latin typeface="Times New Roman" panose="02020603050405020304" pitchFamily="18" charset="0"/>
                <a:ea typeface="华文新魏" panose="02010800040101010101" pitchFamily="2" charset="-122"/>
              </a:rPr>
              <a:t>)</a:t>
            </a:r>
          </a:p>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词法分析</a:t>
            </a:r>
            <a:r>
              <a:rPr lang="en-US" altLang="zh-CN" sz="1800" b="1" smtClean="0">
                <a:latin typeface="Times New Roman" panose="02020603050405020304" pitchFamily="18" charset="0"/>
                <a:ea typeface="华文新魏" panose="02010800040101010101" pitchFamily="2" charset="-122"/>
              </a:rPr>
              <a:t>(</a:t>
            </a:r>
            <a:r>
              <a:rPr lang="zh-CN" altLang="en-US" sz="1800" b="1" smtClean="0">
                <a:solidFill>
                  <a:schemeClr val="tx2"/>
                </a:solidFill>
                <a:latin typeface="Times New Roman" panose="02020603050405020304" pitchFamily="18" charset="0"/>
                <a:ea typeface="华文新魏" panose="02010800040101010101" pitchFamily="2" charset="-122"/>
              </a:rPr>
              <a:t>词法分析、正规式与正规文法、</a:t>
            </a:r>
            <a:r>
              <a:rPr lang="en-US" altLang="zh-CN" sz="1800" b="1" smtClean="0">
                <a:solidFill>
                  <a:schemeClr val="hlink"/>
                </a:solidFill>
                <a:latin typeface="Times New Roman" panose="02020603050405020304" pitchFamily="18" charset="0"/>
                <a:ea typeface="华文新魏" panose="02010800040101010101" pitchFamily="2" charset="-122"/>
              </a:rPr>
              <a:t>DFA</a:t>
            </a:r>
            <a:r>
              <a:rPr lang="zh-CN" altLang="en-US" sz="1800" b="1" smtClean="0">
                <a:solidFill>
                  <a:schemeClr val="hlink"/>
                </a:solidFill>
                <a:latin typeface="Times New Roman" panose="02020603050405020304" pitchFamily="18" charset="0"/>
                <a:ea typeface="华文新魏" panose="02010800040101010101" pitchFamily="2" charset="-122"/>
              </a:rPr>
              <a:t>状态转移图</a:t>
            </a:r>
            <a:r>
              <a:rPr lang="zh-CN" altLang="en-US" sz="1800" b="1" smtClean="0">
                <a:solidFill>
                  <a:schemeClr val="tx2"/>
                </a:solidFill>
                <a:latin typeface="Times New Roman" panose="02020603050405020304" pitchFamily="18" charset="0"/>
                <a:ea typeface="华文新魏" panose="02010800040101010101" pitchFamily="2" charset="-122"/>
              </a:rPr>
              <a:t>；</a:t>
            </a:r>
            <a:r>
              <a:rPr lang="en-US" altLang="zh-CN" sz="1800" b="1" smtClean="0">
                <a:solidFill>
                  <a:schemeClr val="folHlink"/>
                </a:solidFill>
                <a:latin typeface="Times New Roman" panose="02020603050405020304" pitchFamily="18" charset="0"/>
                <a:ea typeface="华文新魏" panose="02010800040101010101" pitchFamily="2" charset="-122"/>
              </a:rPr>
              <a:t>2</a:t>
            </a:r>
            <a:r>
              <a:rPr lang="en-US" altLang="zh-CN" sz="1800" b="1" smtClean="0">
                <a:latin typeface="Times New Roman" panose="02020603050405020304" pitchFamily="18" charset="0"/>
                <a:ea typeface="华文新魏" panose="02010800040101010101" pitchFamily="2" charset="-122"/>
              </a:rPr>
              <a:t>)</a:t>
            </a:r>
          </a:p>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语法分析</a:t>
            </a:r>
            <a:r>
              <a:rPr lang="en-US" altLang="zh-CN" sz="1800" b="1" smtClean="0">
                <a:latin typeface="Times New Roman" panose="02020603050405020304" pitchFamily="18" charset="0"/>
                <a:ea typeface="华文新魏" panose="02010800040101010101" pitchFamily="2" charset="-122"/>
              </a:rPr>
              <a:t>(</a:t>
            </a:r>
            <a:r>
              <a:rPr lang="zh-CN" altLang="en-US" sz="1800" b="1" smtClean="0">
                <a:solidFill>
                  <a:schemeClr val="hlink"/>
                </a:solidFill>
                <a:latin typeface="Times New Roman" panose="02020603050405020304" pitchFamily="18" charset="0"/>
                <a:ea typeface="华文新魏" panose="02010800040101010101" pitchFamily="2" charset="-122"/>
              </a:rPr>
              <a:t>自顶向下</a:t>
            </a:r>
            <a:r>
              <a:rPr lang="zh-CN" altLang="en-US" sz="1800" b="1" smtClean="0">
                <a:solidFill>
                  <a:schemeClr val="tx2"/>
                </a:solidFill>
                <a:latin typeface="Times New Roman" panose="02020603050405020304" pitchFamily="18" charset="0"/>
                <a:ea typeface="华文新魏" panose="02010800040101010101" pitchFamily="2" charset="-122"/>
              </a:rPr>
              <a:t>：</a:t>
            </a:r>
            <a:r>
              <a:rPr lang="en-US" altLang="zh-CN" sz="1800" b="1" smtClean="0">
                <a:solidFill>
                  <a:schemeClr val="tx2"/>
                </a:solidFill>
                <a:latin typeface="Times New Roman" panose="02020603050405020304" pitchFamily="18" charset="0"/>
                <a:ea typeface="华文新魏" panose="02010800040101010101" pitchFamily="2" charset="-122"/>
              </a:rPr>
              <a:t>LL(1)、</a:t>
            </a:r>
            <a:r>
              <a:rPr lang="zh-CN" altLang="en-US" sz="1800" b="1" smtClean="0">
                <a:solidFill>
                  <a:schemeClr val="tx2"/>
                </a:solidFill>
                <a:latin typeface="Times New Roman" panose="02020603050405020304" pitchFamily="18" charset="0"/>
                <a:ea typeface="华文新魏" panose="02010800040101010101" pitchFamily="2" charset="-122"/>
              </a:rPr>
              <a:t>递归子程序；</a:t>
            </a:r>
            <a:r>
              <a:rPr lang="zh-CN" altLang="en-US" sz="1800" b="1" smtClean="0">
                <a:solidFill>
                  <a:schemeClr val="hlink"/>
                </a:solidFill>
                <a:latin typeface="Times New Roman" panose="02020603050405020304" pitchFamily="18" charset="0"/>
                <a:ea typeface="华文新魏" panose="02010800040101010101" pitchFamily="2" charset="-122"/>
              </a:rPr>
              <a:t>自底向上</a:t>
            </a:r>
            <a:r>
              <a:rPr lang="zh-CN" altLang="en-US" sz="1800" b="1" smtClean="0">
                <a:solidFill>
                  <a:schemeClr val="tx2"/>
                </a:solidFill>
                <a:latin typeface="Times New Roman" panose="02020603050405020304" pitchFamily="18" charset="0"/>
                <a:ea typeface="华文新魏" panose="02010800040101010101" pitchFamily="2" charset="-122"/>
              </a:rPr>
              <a:t>：算符优先、</a:t>
            </a:r>
            <a:r>
              <a:rPr lang="en-US" altLang="zh-CN" sz="1800" b="1" smtClean="0">
                <a:solidFill>
                  <a:schemeClr val="tx2"/>
                </a:solidFill>
                <a:latin typeface="Times New Roman" panose="02020603050405020304" pitchFamily="18" charset="0"/>
                <a:ea typeface="华文新魏" panose="02010800040101010101" pitchFamily="2" charset="-122"/>
              </a:rPr>
              <a:t>LR</a:t>
            </a:r>
            <a:r>
              <a:rPr lang="zh-CN" altLang="en-US" sz="1800" b="1" smtClean="0">
                <a:solidFill>
                  <a:schemeClr val="tx2"/>
                </a:solidFill>
                <a:latin typeface="Times New Roman" panose="02020603050405020304" pitchFamily="18" charset="0"/>
                <a:ea typeface="华文新魏" panose="02010800040101010101" pitchFamily="2" charset="-122"/>
              </a:rPr>
              <a:t>；</a:t>
            </a:r>
            <a:r>
              <a:rPr lang="en-US" altLang="zh-CN" sz="1800" b="1" smtClean="0">
                <a:solidFill>
                  <a:schemeClr val="tx2"/>
                </a:solidFill>
                <a:latin typeface="Times New Roman" panose="02020603050405020304" pitchFamily="18" charset="0"/>
                <a:ea typeface="华文新魏" panose="02010800040101010101" pitchFamily="2" charset="-122"/>
              </a:rPr>
              <a:t>12</a:t>
            </a:r>
            <a:r>
              <a:rPr lang="en-US" altLang="zh-CN" sz="1800" b="1" smtClean="0">
                <a:latin typeface="Times New Roman" panose="02020603050405020304" pitchFamily="18" charset="0"/>
                <a:ea typeface="华文新魏" panose="02010800040101010101" pitchFamily="2" charset="-122"/>
              </a:rPr>
              <a:t>)</a:t>
            </a:r>
          </a:p>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语义分析</a:t>
            </a:r>
            <a:r>
              <a:rPr lang="en-US" altLang="zh-CN" sz="1800" b="1" smtClean="0">
                <a:latin typeface="Times New Roman" panose="02020603050405020304" pitchFamily="18" charset="0"/>
                <a:ea typeface="华文新魏" panose="02010800040101010101" pitchFamily="2" charset="-122"/>
              </a:rPr>
              <a:t>(</a:t>
            </a:r>
            <a:r>
              <a:rPr lang="zh-CN" altLang="en-US" sz="1800" b="1" smtClean="0">
                <a:solidFill>
                  <a:schemeClr val="tx2"/>
                </a:solidFill>
                <a:latin typeface="Times New Roman" panose="02020603050405020304" pitchFamily="18" charset="0"/>
                <a:ea typeface="华文新魏" panose="02010800040101010101" pitchFamily="2" charset="-122"/>
              </a:rPr>
              <a:t>属性文法、各种语句的</a:t>
            </a:r>
            <a:r>
              <a:rPr lang="zh-CN" altLang="en-US" sz="1800" b="1" smtClean="0">
                <a:solidFill>
                  <a:schemeClr val="hlink"/>
                </a:solidFill>
                <a:latin typeface="Times New Roman" panose="02020603050405020304" pitchFamily="18" charset="0"/>
                <a:ea typeface="华文新魏" panose="02010800040101010101" pitchFamily="2" charset="-122"/>
              </a:rPr>
              <a:t>语法制导翻译</a:t>
            </a:r>
            <a:r>
              <a:rPr lang="zh-CN" altLang="en-US" sz="1800" b="1" smtClean="0">
                <a:solidFill>
                  <a:schemeClr val="tx2"/>
                </a:solidFill>
                <a:latin typeface="Times New Roman" panose="02020603050405020304" pitchFamily="18" charset="0"/>
                <a:ea typeface="华文新魏" panose="02010800040101010101" pitchFamily="2" charset="-122"/>
              </a:rPr>
              <a:t>；1</a:t>
            </a:r>
            <a:r>
              <a:rPr lang="en-US" altLang="zh-CN" sz="1800" b="1" smtClean="0">
                <a:solidFill>
                  <a:schemeClr val="tx2"/>
                </a:solidFill>
                <a:latin typeface="Times New Roman" panose="02020603050405020304" pitchFamily="18" charset="0"/>
                <a:ea typeface="华文新魏" panose="02010800040101010101" pitchFamily="2" charset="-122"/>
              </a:rPr>
              <a:t>1</a:t>
            </a:r>
            <a:r>
              <a:rPr lang="en-US" altLang="zh-CN" sz="1800" b="1" smtClean="0">
                <a:latin typeface="Times New Roman" panose="02020603050405020304" pitchFamily="18" charset="0"/>
                <a:ea typeface="华文新魏" panose="02010800040101010101" pitchFamily="2" charset="-122"/>
              </a:rPr>
              <a:t>)</a:t>
            </a:r>
          </a:p>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运行环境</a:t>
            </a:r>
            <a:r>
              <a:rPr lang="en-US" altLang="zh-CN" sz="1800" b="1" smtClean="0">
                <a:latin typeface="Times New Roman" panose="02020603050405020304" pitchFamily="18" charset="0"/>
                <a:ea typeface="华文新魏" panose="02010800040101010101" pitchFamily="2" charset="-122"/>
              </a:rPr>
              <a:t>(</a:t>
            </a:r>
            <a:r>
              <a:rPr lang="zh-CN" altLang="en-US" sz="1800" b="1" smtClean="0">
                <a:solidFill>
                  <a:schemeClr val="tx2"/>
                </a:solidFill>
                <a:latin typeface="Times New Roman" panose="02020603050405020304" pitchFamily="18" charset="0"/>
                <a:ea typeface="华文新魏" panose="02010800040101010101" pitchFamily="2" charset="-122"/>
              </a:rPr>
              <a:t>存储分配、</a:t>
            </a:r>
            <a:r>
              <a:rPr lang="zh-CN" altLang="en-US" sz="1800" b="1" smtClean="0">
                <a:solidFill>
                  <a:schemeClr val="hlink"/>
                </a:solidFill>
                <a:latin typeface="Times New Roman" panose="02020603050405020304" pitchFamily="18" charset="0"/>
                <a:ea typeface="华文新魏" panose="02010800040101010101" pitchFamily="2" charset="-122"/>
              </a:rPr>
              <a:t>过程调用</a:t>
            </a:r>
            <a:r>
              <a:rPr lang="zh-CN" altLang="en-US" sz="1800" b="1" smtClean="0">
                <a:solidFill>
                  <a:schemeClr val="tx2"/>
                </a:solidFill>
                <a:latin typeface="Times New Roman" panose="02020603050405020304" pitchFamily="18" charset="0"/>
                <a:ea typeface="华文新魏" panose="02010800040101010101" pitchFamily="2" charset="-122"/>
              </a:rPr>
              <a:t>、符号表管理；</a:t>
            </a:r>
            <a:r>
              <a:rPr lang="en-US" altLang="zh-CN" sz="1800" b="1" smtClean="0">
                <a:solidFill>
                  <a:schemeClr val="tx2"/>
                </a:solidFill>
                <a:latin typeface="Times New Roman" panose="02020603050405020304" pitchFamily="18" charset="0"/>
                <a:ea typeface="华文新魏" panose="02010800040101010101" pitchFamily="2" charset="-122"/>
              </a:rPr>
              <a:t>3</a:t>
            </a:r>
            <a:r>
              <a:rPr lang="en-US" altLang="zh-CN" sz="1800" b="1" smtClean="0">
                <a:latin typeface="Times New Roman" panose="02020603050405020304" pitchFamily="18" charset="0"/>
                <a:ea typeface="华文新魏" panose="02010800040101010101" pitchFamily="2" charset="-122"/>
              </a:rPr>
              <a:t>)</a:t>
            </a:r>
          </a:p>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代码优化与代码生成</a:t>
            </a:r>
            <a:r>
              <a:rPr lang="en-US" altLang="zh-CN" b="1" smtClean="0">
                <a:latin typeface="Times New Roman" panose="02020603050405020304" pitchFamily="18" charset="0"/>
                <a:ea typeface="华文新魏" panose="02010800040101010101" pitchFamily="2" charset="-122"/>
              </a:rPr>
              <a:t>(</a:t>
            </a:r>
            <a:r>
              <a:rPr lang="zh-CN" altLang="en-US" sz="1800" b="1" smtClean="0">
                <a:solidFill>
                  <a:schemeClr val="tx2"/>
                </a:solidFill>
                <a:latin typeface="Times New Roman" panose="02020603050405020304" pitchFamily="18" charset="0"/>
                <a:ea typeface="华文新魏" panose="02010800040101010101" pitchFamily="2" charset="-122"/>
              </a:rPr>
              <a:t>基本块与流图、局部优化、驯化优化、代码生成；</a:t>
            </a:r>
            <a:r>
              <a:rPr lang="en-US" altLang="zh-CN" sz="1800" b="1" smtClean="0">
                <a:solidFill>
                  <a:schemeClr val="tx2"/>
                </a:solidFill>
                <a:latin typeface="Times New Roman" panose="02020603050405020304" pitchFamily="18" charset="0"/>
                <a:ea typeface="华文新魏" panose="02010800040101010101" pitchFamily="2" charset="-122"/>
              </a:rPr>
              <a:t>2</a:t>
            </a:r>
            <a:r>
              <a:rPr lang="en-US" altLang="zh-CN" sz="1800" b="1" smtClean="0">
                <a:latin typeface="Times New Roman" panose="02020603050405020304" pitchFamily="18" charset="0"/>
                <a:ea typeface="华文新魏" panose="02010800040101010101" pitchFamily="2" charset="-122"/>
              </a:rPr>
              <a:t>)</a:t>
            </a:r>
            <a:endParaRPr lang="zh-CN" altLang="en-US" sz="2400" b="1" smtClean="0">
              <a:latin typeface="Times New Roman" panose="02020603050405020304" pitchFamily="18" charset="0"/>
              <a:ea typeface="华文新魏" panose="02010800040101010101" pitchFamily="2" charset="-122"/>
            </a:endParaRPr>
          </a:p>
          <a:p>
            <a:pPr marL="627063" lvl="1" indent="-433388" eaLnBrk="1" hangingPunct="1">
              <a:lnSpc>
                <a:spcPct val="80000"/>
              </a:lnSpc>
              <a:spcBef>
                <a:spcPct val="40000"/>
              </a:spcBef>
              <a:spcAft>
                <a:spcPct val="10000"/>
              </a:spcAft>
              <a:buClr>
                <a:schemeClr val="folHlink"/>
              </a:buClr>
              <a:buFont typeface="Wingdings" panose="05000000000000000000" pitchFamily="2" charset="2"/>
              <a:buChar char="q"/>
            </a:pPr>
            <a:r>
              <a:rPr lang="zh-CN" altLang="en-US" b="1" smtClean="0">
                <a:latin typeface="Times New Roman" panose="02020603050405020304" pitchFamily="18" charset="0"/>
                <a:ea typeface="华文新魏" panose="02010800040101010101" pitchFamily="2" charset="-122"/>
              </a:rPr>
              <a:t>总结</a:t>
            </a:r>
            <a:r>
              <a:rPr lang="en-US" altLang="zh-CN" sz="1800" b="1" smtClean="0">
                <a:latin typeface="Times New Roman" panose="02020603050405020304" pitchFamily="18" charset="0"/>
                <a:ea typeface="华文新魏" panose="02010800040101010101" pitchFamily="2" charset="-122"/>
              </a:rPr>
              <a:t>(2)</a:t>
            </a:r>
            <a:endParaRPr lang="zh-CN" altLang="en-US" sz="1800" b="1" smtClean="0">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E7FBDCB-661B-472B-B094-711A3D89BFF6}" type="datetime1">
              <a:rPr lang="zh-CN" altLang="en-US" sz="1400" smtClean="0"/>
              <a:pPr>
                <a:spcBef>
                  <a:spcPct val="0"/>
                </a:spcBef>
                <a:buClrTx/>
                <a:buSzTx/>
                <a:buFontTx/>
                <a:buNone/>
              </a:pPr>
              <a:t>2017/2/24</a:t>
            </a:fld>
            <a:endParaRPr lang="en-US" altLang="zh-CN" sz="1400" smtClean="0"/>
          </a:p>
        </p:txBody>
      </p:sp>
      <p:sp>
        <p:nvSpPr>
          <p:cNvPr id="1741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DDBF079-D10F-4AC4-9999-55A8C833B8E8}" type="slidenum">
              <a:rPr lang="zh-CN" altLang="en-US" sz="1400"/>
              <a:pPr>
                <a:spcBef>
                  <a:spcPct val="0"/>
                </a:spcBef>
                <a:buClrTx/>
                <a:buSzTx/>
                <a:buFontTx/>
                <a:buNone/>
              </a:pPr>
              <a:t>13</a:t>
            </a:fld>
            <a:endParaRPr lang="en-US" altLang="zh-CN" sz="1400"/>
          </a:p>
        </p:txBody>
      </p:sp>
      <p:sp>
        <p:nvSpPr>
          <p:cNvPr id="17412" name="Rectangle 2"/>
          <p:cNvSpPr>
            <a:spLocks noGrp="1" noRot="1" noChangeArrowheads="1"/>
          </p:cNvSpPr>
          <p:nvPr>
            <p:ph type="title"/>
          </p:nvPr>
        </p:nvSpPr>
        <p:spPr>
          <a:xfrm>
            <a:off x="301625" y="404813"/>
            <a:ext cx="8540750" cy="792162"/>
          </a:xfrm>
        </p:spPr>
        <p:txBody>
          <a:bodyPr/>
          <a:lstStyle/>
          <a:p>
            <a:pPr eaLnBrk="1" hangingPunct="1"/>
            <a:r>
              <a:rPr lang="zh-CN" altLang="en-US" b="1" smtClean="0">
                <a:latin typeface="Times New Roman" panose="02020603050405020304" pitchFamily="18" charset="0"/>
                <a:ea typeface="华文新魏" panose="02010800040101010101" pitchFamily="2" charset="-122"/>
              </a:rPr>
              <a:t>实验安排</a:t>
            </a:r>
          </a:p>
        </p:txBody>
      </p:sp>
      <p:sp>
        <p:nvSpPr>
          <p:cNvPr id="17413" name="Rectangle 222"/>
          <p:cNvSpPr>
            <a:spLocks noChangeArrowheads="1"/>
          </p:cNvSpPr>
          <p:nvPr/>
        </p:nvSpPr>
        <p:spPr bwMode="auto">
          <a:xfrm>
            <a:off x="468313" y="1914525"/>
            <a:ext cx="8208962"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536575">
              <a:spcBef>
                <a:spcPct val="20000"/>
              </a:spcBef>
              <a:buClr>
                <a:schemeClr val="hlink"/>
              </a:buClr>
              <a:buSzPct val="75000"/>
              <a:buFont typeface="Wingdings" panose="05000000000000000000" pitchFamily="2" charset="2"/>
              <a:buChar char="v"/>
              <a:tabLst>
                <a:tab pos="228600"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tabLst>
                <a:tab pos="2286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tabLst>
                <a:tab pos="2286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2286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2286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2286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2286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228600" algn="l"/>
              </a:tabLs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CC3300"/>
              </a:buClr>
              <a:buSzTx/>
              <a:buFont typeface="Wingdings" panose="05000000000000000000" pitchFamily="2" charset="2"/>
              <a:buChar char="p"/>
            </a:pPr>
            <a:r>
              <a:rPr lang="zh-CN" altLang="en-US" b="1">
                <a:ea typeface="华文新魏" panose="02010800040101010101" pitchFamily="2" charset="-122"/>
              </a:rPr>
              <a:t>每组共同完成实验：词法、语法和语义分析、错误处理</a:t>
            </a:r>
          </a:p>
          <a:p>
            <a:pPr eaLnBrk="1" hangingPunct="1">
              <a:spcBef>
                <a:spcPct val="0"/>
              </a:spcBef>
              <a:buClr>
                <a:srgbClr val="CC3300"/>
              </a:buClr>
              <a:buSzTx/>
              <a:buFont typeface="Wingdings" panose="05000000000000000000" pitchFamily="2" charset="2"/>
              <a:buChar char="p"/>
            </a:pPr>
            <a:r>
              <a:rPr lang="zh-CN" altLang="en-US" b="1">
                <a:ea typeface="华文新魏" panose="02010800040101010101" pitchFamily="2" charset="-122"/>
              </a:rPr>
              <a:t>十分钟面向全班：介绍分工、系统设计、功能演示</a:t>
            </a:r>
          </a:p>
          <a:p>
            <a:pPr eaLnBrk="1" hangingPunct="1">
              <a:spcBef>
                <a:spcPct val="0"/>
              </a:spcBef>
              <a:buClr>
                <a:srgbClr val="CC3300"/>
              </a:buClr>
              <a:buSzTx/>
              <a:buFont typeface="Wingdings" panose="05000000000000000000" pitchFamily="2" charset="2"/>
              <a:buChar char="p"/>
            </a:pPr>
            <a:r>
              <a:rPr lang="zh-CN" altLang="en-US" b="1">
                <a:ea typeface="华文新魏" panose="02010800040101010101" pitchFamily="2" charset="-122"/>
              </a:rPr>
              <a:t>每组给其他组评分：词法分析、语法分析、实数、三地址码、多行语句、多个语句、文件输入、处理错误能力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1AD8DFA-A730-4D9B-B45D-E784C484E48B}" type="datetime1">
              <a:rPr lang="zh-CN" altLang="en-US" sz="1400" smtClean="0"/>
              <a:pPr>
                <a:spcBef>
                  <a:spcPct val="0"/>
                </a:spcBef>
                <a:buClrTx/>
                <a:buSzTx/>
                <a:buFontTx/>
                <a:buNone/>
              </a:pPr>
              <a:t>2017/2/24</a:t>
            </a:fld>
            <a:endParaRPr lang="en-US" altLang="zh-CN" sz="1400" smtClean="0"/>
          </a:p>
        </p:txBody>
      </p:sp>
      <p:sp>
        <p:nvSpPr>
          <p:cNvPr id="1843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AF9FEBC-E37F-49DC-B5E3-B52812B346E3}" type="slidenum">
              <a:rPr lang="zh-CN" altLang="en-US" sz="1400"/>
              <a:pPr>
                <a:spcBef>
                  <a:spcPct val="0"/>
                </a:spcBef>
                <a:buClrTx/>
                <a:buSzTx/>
                <a:buFontTx/>
                <a:buNone/>
              </a:pPr>
              <a:t>14</a:t>
            </a:fld>
            <a:endParaRPr lang="en-US" altLang="zh-CN" sz="1400"/>
          </a:p>
        </p:txBody>
      </p:sp>
      <p:sp>
        <p:nvSpPr>
          <p:cNvPr id="18436" name="Rectangle 2"/>
          <p:cNvSpPr>
            <a:spLocks noGrp="1" noRot="1" noChangeArrowheads="1"/>
          </p:cNvSpPr>
          <p:nvPr>
            <p:ph type="title"/>
          </p:nvPr>
        </p:nvSpPr>
        <p:spPr/>
        <p:txBody>
          <a:bodyPr/>
          <a:lstStyle/>
          <a:p>
            <a:pPr eaLnBrk="1" hangingPunct="1"/>
            <a:r>
              <a:rPr lang="zh-CN" altLang="en-US" b="1" smtClean="0">
                <a:latin typeface="Times New Roman" panose="02020603050405020304" pitchFamily="18" charset="0"/>
                <a:ea typeface="华文新魏" panose="02010800040101010101" pitchFamily="2" charset="-122"/>
              </a:rPr>
              <a:t>成绩评定</a:t>
            </a:r>
          </a:p>
        </p:txBody>
      </p:sp>
      <p:sp>
        <p:nvSpPr>
          <p:cNvPr id="18437" name="Rectangle 3"/>
          <p:cNvSpPr>
            <a:spLocks noGrp="1" noRot="1" noChangeArrowheads="1"/>
          </p:cNvSpPr>
          <p:nvPr>
            <p:ph type="body" idx="1"/>
          </p:nvPr>
        </p:nvSpPr>
        <p:spPr/>
        <p:txBody>
          <a:bodyPr/>
          <a:lstStyle/>
          <a:p>
            <a:pPr eaLnBrk="1" hangingPunct="1"/>
            <a:r>
              <a:rPr lang="zh-CN" altLang="en-US" b="1" smtClean="0">
                <a:latin typeface="Times New Roman" panose="02020603050405020304" pitchFamily="18" charset="0"/>
                <a:ea typeface="华文新魏" panose="02010800040101010101" pitchFamily="2" charset="-122"/>
              </a:rPr>
              <a:t>考试必备条件</a:t>
            </a:r>
          </a:p>
          <a:p>
            <a:pPr lvl="1" eaLnBrk="1" hangingPunct="1"/>
            <a:r>
              <a:rPr lang="zh-CN" altLang="en-US" b="1" smtClean="0">
                <a:latin typeface="Times New Roman" panose="02020603050405020304" pitchFamily="18" charset="0"/>
                <a:ea typeface="华文新魏" panose="02010800040101010101" pitchFamily="2" charset="-122"/>
              </a:rPr>
              <a:t>按照要求完成指定的</a:t>
            </a:r>
            <a:r>
              <a:rPr lang="zh-CN" altLang="en-US" b="1" smtClean="0">
                <a:solidFill>
                  <a:schemeClr val="hlink"/>
                </a:solidFill>
                <a:latin typeface="Times New Roman" panose="02020603050405020304" pitchFamily="18" charset="0"/>
                <a:ea typeface="华文新魏" panose="02010800040101010101" pitchFamily="2" charset="-122"/>
              </a:rPr>
              <a:t>习题</a:t>
            </a:r>
          </a:p>
          <a:p>
            <a:pPr lvl="1" eaLnBrk="1" hangingPunct="1"/>
            <a:r>
              <a:rPr lang="zh-CN" altLang="en-US" b="1" smtClean="0">
                <a:latin typeface="Times New Roman" panose="02020603050405020304" pitchFamily="18" charset="0"/>
                <a:ea typeface="华文新魏" panose="02010800040101010101" pitchFamily="2" charset="-122"/>
              </a:rPr>
              <a:t>通过</a:t>
            </a:r>
            <a:r>
              <a:rPr lang="zh-CN" altLang="en-US" b="1" smtClean="0">
                <a:solidFill>
                  <a:schemeClr val="hlink"/>
                </a:solidFill>
                <a:latin typeface="Times New Roman" panose="02020603050405020304" pitchFamily="18" charset="0"/>
                <a:ea typeface="华文新魏" panose="02010800040101010101" pitchFamily="2" charset="-122"/>
              </a:rPr>
              <a:t>实验系统</a:t>
            </a:r>
            <a:r>
              <a:rPr lang="zh-CN" altLang="en-US" b="1" smtClean="0">
                <a:latin typeface="Times New Roman" panose="02020603050405020304" pitchFamily="18" charset="0"/>
                <a:ea typeface="华文新魏" panose="02010800040101010101" pitchFamily="2" charset="-122"/>
              </a:rPr>
              <a:t>的集体验收</a:t>
            </a:r>
            <a:endParaRPr lang="en-US" altLang="zh-CN" b="1" smtClean="0">
              <a:latin typeface="Times New Roman" panose="02020603050405020304" pitchFamily="18" charset="0"/>
              <a:ea typeface="华文新魏" panose="02010800040101010101" pitchFamily="2" charset="-122"/>
            </a:endParaRPr>
          </a:p>
          <a:p>
            <a:pPr eaLnBrk="1" hangingPunct="1"/>
            <a:r>
              <a:rPr lang="zh-CN" altLang="en-US" b="1" smtClean="0">
                <a:latin typeface="Times New Roman" panose="02020603050405020304" pitchFamily="18" charset="0"/>
                <a:ea typeface="华文新魏" panose="02010800040101010101" pitchFamily="2" charset="-122"/>
              </a:rPr>
              <a:t>成绩</a:t>
            </a:r>
          </a:p>
          <a:p>
            <a:pPr lvl="1" eaLnBrk="1" hangingPunct="1"/>
            <a:r>
              <a:rPr lang="zh-CN" altLang="en-US" b="1" smtClean="0">
                <a:latin typeface="Times New Roman" panose="02020603050405020304" pitchFamily="18" charset="0"/>
                <a:ea typeface="华文新魏" panose="02010800040101010101" pitchFamily="2" charset="-122"/>
              </a:rPr>
              <a:t>平时</a:t>
            </a:r>
            <a:r>
              <a:rPr lang="en-US" altLang="zh-CN" b="1" smtClean="0">
                <a:latin typeface="Times New Roman" panose="02020603050405020304" pitchFamily="18" charset="0"/>
                <a:ea typeface="华文新魏" panose="02010800040101010101" pitchFamily="2" charset="-122"/>
              </a:rPr>
              <a:t>20%</a:t>
            </a:r>
            <a:endParaRPr lang="zh-CN" altLang="en-US" b="1" smtClean="0">
              <a:latin typeface="Times New Roman" panose="02020603050405020304" pitchFamily="18" charset="0"/>
              <a:ea typeface="华文新魏" panose="02010800040101010101" pitchFamily="2" charset="-122"/>
            </a:endParaRPr>
          </a:p>
          <a:p>
            <a:pPr lvl="1" eaLnBrk="1" hangingPunct="1"/>
            <a:r>
              <a:rPr lang="zh-CN" altLang="en-US" b="1" smtClean="0">
                <a:latin typeface="Times New Roman" panose="02020603050405020304" pitchFamily="18" charset="0"/>
                <a:ea typeface="华文新魏" panose="02010800040101010101" pitchFamily="2" charset="-122"/>
              </a:rPr>
              <a:t>期末</a:t>
            </a:r>
            <a:r>
              <a:rPr lang="en-US" altLang="zh-CN" b="1" smtClean="0">
                <a:latin typeface="Times New Roman" panose="02020603050405020304" pitchFamily="18" charset="0"/>
                <a:ea typeface="华文新魏" panose="02010800040101010101" pitchFamily="2" charset="-122"/>
              </a:rPr>
              <a:t>80%</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815D93F-7018-48FA-8C34-E1566EB06946}" type="datetime1">
              <a:rPr lang="zh-CN" altLang="en-US" sz="1400" smtClean="0"/>
              <a:pPr>
                <a:spcBef>
                  <a:spcPct val="0"/>
                </a:spcBef>
                <a:buClrTx/>
                <a:buSzTx/>
                <a:buFontTx/>
                <a:buNone/>
              </a:pPr>
              <a:t>2017/2/24</a:t>
            </a:fld>
            <a:endParaRPr lang="en-US" altLang="zh-CN" sz="1400" smtClean="0"/>
          </a:p>
        </p:txBody>
      </p:sp>
      <p:sp>
        <p:nvSpPr>
          <p:cNvPr id="1945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FC92C86-49EA-4EEC-B59C-338F853F5A81}" type="slidenum">
              <a:rPr lang="zh-CN" altLang="en-US" sz="1400"/>
              <a:pPr>
                <a:spcBef>
                  <a:spcPct val="0"/>
                </a:spcBef>
                <a:buClrTx/>
                <a:buSzTx/>
                <a:buFontTx/>
                <a:buNone/>
              </a:pPr>
              <a:t>15</a:t>
            </a:fld>
            <a:endParaRPr lang="en-US" altLang="zh-CN" sz="1400"/>
          </a:p>
        </p:txBody>
      </p:sp>
      <p:sp>
        <p:nvSpPr>
          <p:cNvPr id="19460" name="Rectangle 2"/>
          <p:cNvSpPr>
            <a:spLocks noGrp="1" noRot="1" noChangeArrowheads="1"/>
          </p:cNvSpPr>
          <p:nvPr>
            <p:ph type="title"/>
          </p:nvPr>
        </p:nvSpPr>
        <p:spPr>
          <a:xfrm>
            <a:off x="301625" y="115888"/>
            <a:ext cx="8540750" cy="1143000"/>
          </a:xfrm>
        </p:spPr>
        <p:txBody>
          <a:bodyPr/>
          <a:lstStyle/>
          <a:p>
            <a:pPr eaLnBrk="1" hangingPunct="1"/>
            <a:r>
              <a:rPr lang="zh-CN" altLang="en-US" sz="5400" b="1" smtClean="0">
                <a:latin typeface="Times New Roman" panose="02020603050405020304" pitchFamily="18" charset="0"/>
                <a:ea typeface="华文新魏" panose="02010800040101010101" pitchFamily="2" charset="-122"/>
              </a:rPr>
              <a:t>教学目的</a:t>
            </a:r>
            <a:r>
              <a:rPr lang="en-US" altLang="zh-CN" sz="3200" b="1" smtClean="0">
                <a:latin typeface="Times New Roman" panose="02020603050405020304" pitchFamily="18" charset="0"/>
                <a:ea typeface="华文新魏" panose="02010800040101010101" pitchFamily="2" charset="-122"/>
              </a:rPr>
              <a:t>——</a:t>
            </a:r>
            <a:r>
              <a:rPr lang="zh-CN" altLang="en-US" sz="3200" b="1" smtClean="0">
                <a:latin typeface="Times New Roman" panose="02020603050405020304" pitchFamily="18" charset="0"/>
                <a:ea typeface="华文新魏" panose="02010800040101010101" pitchFamily="2" charset="-122"/>
              </a:rPr>
              <a:t>培养目标与毕业要求</a:t>
            </a:r>
          </a:p>
        </p:txBody>
      </p:sp>
      <p:sp>
        <p:nvSpPr>
          <p:cNvPr id="19461" name="Rectangle 3"/>
          <p:cNvSpPr>
            <a:spLocks noGrp="1" noRot="1" noChangeArrowheads="1"/>
          </p:cNvSpPr>
          <p:nvPr>
            <p:ph type="body" idx="1"/>
          </p:nvPr>
        </p:nvSpPr>
        <p:spPr>
          <a:xfrm>
            <a:off x="107950" y="1196975"/>
            <a:ext cx="8893175" cy="5661025"/>
          </a:xfrm>
        </p:spPr>
        <p:txBody>
          <a:bodyPr/>
          <a:lstStyle/>
          <a:p>
            <a:pPr marL="609600" indent="-609600" eaLnBrk="1" hangingPunct="1">
              <a:spcBef>
                <a:spcPct val="50000"/>
              </a:spcBef>
            </a:pPr>
            <a:r>
              <a:rPr lang="zh-CN" altLang="en-US" b="1" smtClean="0">
                <a:latin typeface="Times New Roman" panose="02020603050405020304" pitchFamily="18" charset="0"/>
                <a:ea typeface="华文新魏" panose="02010800040101010101" pitchFamily="2" charset="-122"/>
              </a:rPr>
              <a:t>支持培养目标的实现</a:t>
            </a:r>
            <a:r>
              <a:rPr lang="en-US" altLang="zh-CN" b="1" smtClean="0">
                <a:solidFill>
                  <a:srgbClr val="CC0000"/>
                </a:solidFill>
                <a:latin typeface="Times New Roman" panose="02020603050405020304" pitchFamily="18" charset="0"/>
                <a:ea typeface="华文新魏" panose="02010800040101010101" pitchFamily="2" charset="-122"/>
              </a:rPr>
              <a:t>-</a:t>
            </a:r>
            <a:r>
              <a:rPr lang="zh-CN" altLang="en-US" b="1" smtClean="0">
                <a:solidFill>
                  <a:srgbClr val="CC0000"/>
                </a:solidFill>
                <a:latin typeface="Times New Roman" panose="02020603050405020304" pitchFamily="18" charset="0"/>
                <a:ea typeface="华文新魏" panose="02010800040101010101" pitchFamily="2" charset="-122"/>
              </a:rPr>
              <a:t>国家标准</a:t>
            </a:r>
            <a:endParaRPr lang="zh-CN" altLang="en-US" smtClean="0">
              <a:latin typeface="Times New Roman" panose="02020603050405020304" pitchFamily="18" charset="0"/>
              <a:ea typeface="华文新魏" panose="02010800040101010101" pitchFamily="2" charset="-122"/>
            </a:endParaRPr>
          </a:p>
          <a:p>
            <a:pPr marL="1004888" lvl="1" indent="-533400" eaLnBrk="1" hangingPunct="1"/>
            <a:r>
              <a:rPr lang="zh-CN" altLang="en-US" sz="2200" b="1" smtClean="0">
                <a:latin typeface="Times New Roman" panose="02020603050405020304" pitchFamily="18" charset="0"/>
                <a:ea typeface="华文新魏" panose="02010800040101010101" pitchFamily="2" charset="-122"/>
              </a:rPr>
              <a:t>具有良好的道德与修养，在科学研究、工程开发、应用实现中遵守法律法规，社会和环境意识强，有能力服务社会；</a:t>
            </a:r>
          </a:p>
          <a:p>
            <a:pPr marL="1004888" lvl="1" indent="-533400" eaLnBrk="1" hangingPunct="1"/>
            <a:r>
              <a:rPr lang="zh-CN" altLang="en-US" b="1" smtClean="0">
                <a:latin typeface="Times New Roman" panose="02020603050405020304" pitchFamily="18" charset="0"/>
                <a:ea typeface="华文新魏" panose="02010800040101010101" pitchFamily="2" charset="-122"/>
              </a:rPr>
              <a:t>掌握基本科学方法，具有包括计算思维在内的科学思维能力，运用数学与自然科学基础知识解决实际问题；</a:t>
            </a:r>
          </a:p>
          <a:p>
            <a:pPr marL="1004888" lvl="1" indent="-533400" eaLnBrk="1" hangingPunct="1"/>
            <a:r>
              <a:rPr lang="zh-CN" altLang="en-US" b="1" smtClean="0">
                <a:latin typeface="Times New Roman" panose="02020603050405020304" pitchFamily="18" charset="0"/>
                <a:ea typeface="华文新魏" panose="02010800040101010101" pitchFamily="2" charset="-122"/>
              </a:rPr>
              <a:t>具备设计计算解决方案</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实现基于计算原理的系统的能力，在相关领域具有就业竞争力； </a:t>
            </a:r>
          </a:p>
          <a:p>
            <a:pPr marL="1004888" lvl="1" indent="-533400" eaLnBrk="1" hangingPunct="1"/>
            <a:r>
              <a:rPr lang="zh-CN" altLang="en-US" b="1" smtClean="0">
                <a:latin typeface="Times New Roman" panose="02020603050405020304" pitchFamily="18" charset="0"/>
                <a:ea typeface="华文新魏" panose="02010800040101010101" pitchFamily="2" charset="-122"/>
              </a:rPr>
              <a:t>具有口头和书面表达能力，并能在团队中有效发挥作用；</a:t>
            </a:r>
          </a:p>
          <a:p>
            <a:pPr marL="1004888" lvl="1" indent="-533400" eaLnBrk="1" hangingPunct="1"/>
            <a:r>
              <a:rPr lang="zh-CN" altLang="en-US" sz="2200" b="1" smtClean="0">
                <a:latin typeface="Times New Roman" panose="02020603050405020304" pitchFamily="18" charset="0"/>
                <a:ea typeface="华文新魏" panose="02010800040101010101" pitchFamily="2" charset="-122"/>
              </a:rPr>
              <a:t>具备通过继续教育或其它的终身学习途径拓展自己的能力，了解和紧跟学科专业发展。</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CA86A87-6B3E-4038-A4A6-7BB6532F2088}" type="datetime1">
              <a:rPr lang="zh-CN" altLang="en-US" sz="1400" smtClean="0"/>
              <a:pPr>
                <a:spcBef>
                  <a:spcPct val="0"/>
                </a:spcBef>
                <a:buClrTx/>
                <a:buSzTx/>
                <a:buFontTx/>
                <a:buNone/>
              </a:pPr>
              <a:t>2017/2/24</a:t>
            </a:fld>
            <a:endParaRPr lang="en-US" altLang="zh-CN" sz="1400" smtClean="0"/>
          </a:p>
        </p:txBody>
      </p:sp>
      <p:sp>
        <p:nvSpPr>
          <p:cNvPr id="2048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616131E-C8C9-46AA-B508-38C47536730B}" type="slidenum">
              <a:rPr lang="zh-CN" altLang="en-US" sz="1400"/>
              <a:pPr>
                <a:spcBef>
                  <a:spcPct val="0"/>
                </a:spcBef>
                <a:buClrTx/>
                <a:buSzTx/>
                <a:buFontTx/>
                <a:buNone/>
              </a:pPr>
              <a:t>16</a:t>
            </a:fld>
            <a:endParaRPr lang="en-US" altLang="zh-CN" sz="1400"/>
          </a:p>
        </p:txBody>
      </p:sp>
      <p:sp>
        <p:nvSpPr>
          <p:cNvPr id="20484" name="Rectangle 2"/>
          <p:cNvSpPr>
            <a:spLocks noGrp="1" noRot="1" noChangeArrowheads="1"/>
          </p:cNvSpPr>
          <p:nvPr>
            <p:ph type="title"/>
          </p:nvPr>
        </p:nvSpPr>
        <p:spPr>
          <a:xfrm>
            <a:off x="301625" y="115888"/>
            <a:ext cx="8540750" cy="1143000"/>
          </a:xfrm>
        </p:spPr>
        <p:txBody>
          <a:bodyPr/>
          <a:lstStyle/>
          <a:p>
            <a:pPr eaLnBrk="1" hangingPunct="1"/>
            <a:r>
              <a:rPr lang="zh-CN" altLang="en-US" sz="5400" b="1" smtClean="0">
                <a:latin typeface="Times New Roman" panose="02020603050405020304" pitchFamily="18" charset="0"/>
                <a:ea typeface="华文新魏" panose="02010800040101010101" pitchFamily="2" charset="-122"/>
              </a:rPr>
              <a:t>教学目的</a:t>
            </a:r>
            <a:r>
              <a:rPr lang="en-US" altLang="zh-CN" sz="3200" b="1" smtClean="0">
                <a:latin typeface="Times New Roman" panose="02020603050405020304" pitchFamily="18" charset="0"/>
                <a:ea typeface="华文新魏" panose="02010800040101010101" pitchFamily="2" charset="-122"/>
              </a:rPr>
              <a:t>——</a:t>
            </a:r>
            <a:r>
              <a:rPr lang="zh-CN" altLang="en-US" sz="3200" b="1" smtClean="0">
                <a:latin typeface="Times New Roman" panose="02020603050405020304" pitchFamily="18" charset="0"/>
                <a:ea typeface="华文新魏" panose="02010800040101010101" pitchFamily="2" charset="-122"/>
              </a:rPr>
              <a:t>培养目标与毕业要求</a:t>
            </a:r>
          </a:p>
        </p:txBody>
      </p:sp>
      <p:sp>
        <p:nvSpPr>
          <p:cNvPr id="20485" name="Rectangle 3"/>
          <p:cNvSpPr>
            <a:spLocks noGrp="1" noRot="1" noChangeArrowheads="1"/>
          </p:cNvSpPr>
          <p:nvPr>
            <p:ph type="body" idx="1"/>
          </p:nvPr>
        </p:nvSpPr>
        <p:spPr>
          <a:xfrm>
            <a:off x="395288" y="1196975"/>
            <a:ext cx="8351837" cy="5184775"/>
          </a:xfrm>
        </p:spPr>
        <p:txBody>
          <a:bodyPr/>
          <a:lstStyle/>
          <a:p>
            <a:pPr marL="609600" indent="-609600" eaLnBrk="1" hangingPunct="1">
              <a:lnSpc>
                <a:spcPct val="90000"/>
              </a:lnSpc>
            </a:pPr>
            <a:r>
              <a:rPr lang="zh-CN" altLang="en-US" sz="2800" b="1" smtClean="0">
                <a:latin typeface="Times New Roman" panose="02020603050405020304" pitchFamily="18" charset="0"/>
                <a:ea typeface="华文新魏" panose="02010800040101010101" pitchFamily="2" charset="-122"/>
              </a:rPr>
              <a:t>支持毕业要求的达成</a:t>
            </a:r>
            <a:r>
              <a:rPr lang="en-US" altLang="zh-CN" sz="2800" b="1" smtClean="0">
                <a:solidFill>
                  <a:srgbClr val="CC0000"/>
                </a:solidFill>
                <a:latin typeface="Times New Roman" panose="02020603050405020304" pitchFamily="18" charset="0"/>
                <a:ea typeface="华文新魏" panose="02010800040101010101" pitchFamily="2" charset="-122"/>
              </a:rPr>
              <a:t>-</a:t>
            </a:r>
            <a:r>
              <a:rPr lang="zh-CN" altLang="en-US" sz="2800" b="1" smtClean="0">
                <a:solidFill>
                  <a:srgbClr val="CC0000"/>
                </a:solidFill>
                <a:latin typeface="Times New Roman" panose="02020603050405020304" pitchFamily="18" charset="0"/>
                <a:ea typeface="华文新魏" panose="02010800040101010101" pitchFamily="2" charset="-122"/>
              </a:rPr>
              <a:t>国家标准</a:t>
            </a:r>
          </a:p>
          <a:p>
            <a:pPr marL="1004888" lvl="1" indent="-533400" eaLnBrk="1" hangingPunct="1">
              <a:lnSpc>
                <a:spcPct val="90000"/>
              </a:lnSpc>
            </a:pPr>
            <a:r>
              <a:rPr lang="zh-CN" altLang="en-US" sz="2400" b="1" smtClean="0">
                <a:latin typeface="Times New Roman" panose="02020603050405020304" pitchFamily="18" charset="0"/>
                <a:ea typeface="华文新魏" panose="02010800040101010101" pitchFamily="2" charset="-122"/>
              </a:rPr>
              <a:t>掌握从事本专业工作所需的数学</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特别是离散数学</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、自然科学知识，以及经济学与管理学知识</a:t>
            </a:r>
          </a:p>
          <a:p>
            <a:pPr marL="1004888" lvl="1" indent="-533400" eaLnBrk="1" hangingPunct="1">
              <a:lnSpc>
                <a:spcPct val="90000"/>
              </a:lnSpc>
            </a:pPr>
            <a:r>
              <a:rPr lang="zh-CN" altLang="en-US" sz="2400" b="1" smtClean="0">
                <a:latin typeface="Times New Roman" panose="02020603050405020304" pitchFamily="18" charset="0"/>
                <a:ea typeface="华文新魏" panose="02010800040101010101" pitchFamily="2" charset="-122"/>
              </a:rPr>
              <a:t>系统掌握专业基础理论知识和专业知识，经历系统的专业实践，理解计算学科的基本概念、知识结构、典型方法，建立数字化、算法、模块化与层次化等核心专业意识</a:t>
            </a:r>
          </a:p>
          <a:p>
            <a:pPr marL="1004888" lvl="1" indent="-533400" eaLnBrk="1" hangingPunct="1">
              <a:lnSpc>
                <a:spcPct val="90000"/>
              </a:lnSpc>
            </a:pPr>
            <a:r>
              <a:rPr lang="zh-CN" altLang="en-US" sz="2400" b="1" smtClean="0">
                <a:latin typeface="Times New Roman" panose="02020603050405020304" pitchFamily="18" charset="0"/>
                <a:ea typeface="华文新魏" panose="02010800040101010101" pitchFamily="2" charset="-122"/>
              </a:rPr>
              <a:t>掌握计算学科的基本思维方法和研究方法，具有良好的科学素养和强烈的工程意识，并具备综合运用所掌握的知识、方法和技术解决</a:t>
            </a:r>
            <a:r>
              <a:rPr lang="zh-CN" altLang="en-US" sz="2400" b="1" smtClean="0">
                <a:solidFill>
                  <a:srgbClr val="FF0000"/>
                </a:solidFill>
                <a:latin typeface="Times New Roman" panose="02020603050405020304" pitchFamily="18" charset="0"/>
                <a:ea typeface="华文新魏" panose="02010800040101010101" pitchFamily="2" charset="-122"/>
              </a:rPr>
              <a:t>复杂</a:t>
            </a:r>
            <a:r>
              <a:rPr lang="zh-CN" altLang="en-US" sz="2400" b="1" smtClean="0">
                <a:latin typeface="Times New Roman" panose="02020603050405020304" pitchFamily="18" charset="0"/>
                <a:ea typeface="华文新魏" panose="02010800040101010101" pitchFamily="2" charset="-122"/>
              </a:rPr>
              <a:t>的实际问题，对结果进行分析的能力</a:t>
            </a:r>
          </a:p>
          <a:p>
            <a:pPr marL="1004888" lvl="1" indent="-533400" eaLnBrk="1" hangingPunct="1">
              <a:lnSpc>
                <a:spcPct val="90000"/>
              </a:lnSpc>
            </a:pPr>
            <a:r>
              <a:rPr lang="zh-CN" altLang="en-US" sz="2400" b="1" smtClean="0">
                <a:latin typeface="Times New Roman" panose="02020603050405020304" pitchFamily="18" charset="0"/>
                <a:ea typeface="华文新魏" panose="02010800040101010101" pitchFamily="2" charset="-122"/>
              </a:rPr>
              <a:t>终身学习、创新、法律法规、伦理道德、组织管理团队合作、国际视野</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A338E8A-C2C5-4C28-A258-02B66B05EF28}" type="datetime1">
              <a:rPr lang="zh-CN" altLang="en-US" sz="1400" smtClean="0"/>
              <a:pPr>
                <a:spcBef>
                  <a:spcPct val="0"/>
                </a:spcBef>
                <a:buClrTx/>
                <a:buSzTx/>
                <a:buFontTx/>
                <a:buNone/>
              </a:pPr>
              <a:t>2017/2/24</a:t>
            </a:fld>
            <a:endParaRPr lang="en-US" altLang="zh-CN" sz="1400" smtClean="0"/>
          </a:p>
        </p:txBody>
      </p:sp>
      <p:sp>
        <p:nvSpPr>
          <p:cNvPr id="2150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5777C93-41BE-47AB-84EF-FF0EF08ECEDC}" type="slidenum">
              <a:rPr lang="zh-CN" altLang="en-US" sz="1400"/>
              <a:pPr>
                <a:spcBef>
                  <a:spcPct val="0"/>
                </a:spcBef>
                <a:buClrTx/>
                <a:buSzTx/>
                <a:buFontTx/>
                <a:buNone/>
              </a:pPr>
              <a:t>17</a:t>
            </a:fld>
            <a:endParaRPr lang="en-US" altLang="zh-CN" sz="1400"/>
          </a:p>
        </p:txBody>
      </p:sp>
      <p:sp>
        <p:nvSpPr>
          <p:cNvPr id="21508" name="Rectangle 2"/>
          <p:cNvSpPr>
            <a:spLocks noGrp="1" noRot="1" noChangeArrowheads="1"/>
          </p:cNvSpPr>
          <p:nvPr>
            <p:ph type="title"/>
          </p:nvPr>
        </p:nvSpPr>
        <p:spPr>
          <a:xfrm>
            <a:off x="827088" y="838200"/>
            <a:ext cx="7489825" cy="838200"/>
          </a:xfrm>
        </p:spPr>
        <p:txBody>
          <a:bodyPr/>
          <a:lstStyle/>
          <a:p>
            <a:pPr eaLnBrk="1" hangingPunct="1"/>
            <a:r>
              <a:rPr lang="zh-CN" altLang="en-US" sz="4800" b="1" smtClean="0">
                <a:latin typeface="Times New Roman" panose="02020603050405020304" pitchFamily="18" charset="0"/>
                <a:ea typeface="华文新魏" panose="02010800040101010101" pitchFamily="2" charset="-122"/>
              </a:rPr>
              <a:t>教学目的</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计算学科的定义</a:t>
            </a:r>
            <a:r>
              <a:rPr lang="zh-CN" altLang="en-US" b="1" smtClean="0">
                <a:latin typeface="Times New Roman" panose="02020603050405020304" pitchFamily="18" charset="0"/>
                <a:ea typeface="华文新魏" panose="02010800040101010101" pitchFamily="2" charset="-122"/>
              </a:rPr>
              <a:t> </a:t>
            </a:r>
          </a:p>
        </p:txBody>
      </p:sp>
      <p:sp>
        <p:nvSpPr>
          <p:cNvPr id="21509" name="Rectangle 3"/>
          <p:cNvSpPr>
            <a:spLocks noGrp="1" noRot="1" noChangeArrowheads="1"/>
          </p:cNvSpPr>
          <p:nvPr>
            <p:ph type="body" idx="1"/>
          </p:nvPr>
        </p:nvSpPr>
        <p:spPr>
          <a:xfrm>
            <a:off x="468313" y="2017713"/>
            <a:ext cx="8280400" cy="4435475"/>
          </a:xfrm>
        </p:spPr>
        <p:txBody>
          <a:bodyPr/>
          <a:lstStyle/>
          <a:p>
            <a:pPr marL="536575" indent="-536575" eaLnBrk="1" hangingPunct="1">
              <a:spcBef>
                <a:spcPct val="50000"/>
              </a:spcBef>
            </a:pPr>
            <a:r>
              <a:rPr lang="zh-CN" altLang="en-US" b="1" smtClean="0">
                <a:latin typeface="Times New Roman" panose="02020603050405020304" pitchFamily="18" charset="0"/>
                <a:ea typeface="华文新魏" panose="02010800040101010101" pitchFamily="2" charset="-122"/>
              </a:rPr>
              <a:t>关键：由计算机自动完成</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实现自动计算</a:t>
            </a:r>
            <a:endParaRPr lang="en-US" altLang="zh-CN" b="1" smtClean="0">
              <a:latin typeface="Times New Roman" panose="02020603050405020304" pitchFamily="18" charset="0"/>
              <a:ea typeface="华文新魏" panose="02010800040101010101" pitchFamily="2" charset="-122"/>
            </a:endParaRPr>
          </a:p>
          <a:p>
            <a:pPr marL="536575" indent="-536575" eaLnBrk="1" hangingPunct="1">
              <a:spcBef>
                <a:spcPct val="50000"/>
              </a:spcBef>
            </a:pPr>
            <a:r>
              <a:rPr lang="zh-CN" altLang="en-US" b="1" smtClean="0">
                <a:latin typeface="Times New Roman" panose="02020603050405020304" pitchFamily="18" charset="0"/>
                <a:ea typeface="华文新魏" panose="02010800040101010101" pitchFamily="2" charset="-122"/>
              </a:rPr>
              <a:t>对</a:t>
            </a:r>
            <a:r>
              <a:rPr lang="zh-CN" altLang="en-US" b="1" smtClean="0">
                <a:solidFill>
                  <a:schemeClr val="tx2"/>
                </a:solidFill>
                <a:latin typeface="Times New Roman" panose="02020603050405020304" pitchFamily="18" charset="0"/>
                <a:ea typeface="华文新魏" panose="02010800040101010101" pitchFamily="2" charset="-122"/>
              </a:rPr>
              <a:t>信息描述和变换算法</a:t>
            </a:r>
            <a:r>
              <a:rPr lang="zh-CN" altLang="en-US" b="1" smtClean="0">
                <a:latin typeface="Times New Roman" panose="02020603050405020304" pitchFamily="18" charset="0"/>
                <a:ea typeface="华文新魏" panose="02010800040101010101" pitchFamily="2" charset="-122"/>
              </a:rPr>
              <a:t>的系统研究，主要包括有关理论、分析、效率、实现和应用</a:t>
            </a:r>
          </a:p>
          <a:p>
            <a:pPr marL="536575" indent="-536575" eaLnBrk="1" hangingPunct="1">
              <a:spcBef>
                <a:spcPct val="50000"/>
              </a:spcBef>
            </a:pPr>
            <a:r>
              <a:rPr lang="zh-CN" altLang="en-US" b="1" smtClean="0">
                <a:latin typeface="Times New Roman" panose="02020603050405020304" pitchFamily="18" charset="0"/>
                <a:ea typeface="华文新魏" panose="02010800040101010101" pitchFamily="2" charset="-122"/>
              </a:rPr>
              <a:t>计算学科的根本问题是</a:t>
            </a:r>
            <a:r>
              <a:rPr lang="zh-CN" altLang="en-US" b="1" smtClean="0">
                <a:solidFill>
                  <a:schemeClr val="tx2"/>
                </a:solidFill>
                <a:latin typeface="Times New Roman" panose="02020603050405020304" pitchFamily="18" charset="0"/>
                <a:ea typeface="华文新魏" panose="02010800040101010101" pitchFamily="2" charset="-122"/>
              </a:rPr>
              <a:t>什么能</a:t>
            </a:r>
            <a:r>
              <a:rPr lang="zh-CN" altLang="en-US" b="1" smtClean="0">
                <a:solidFill>
                  <a:schemeClr val="hlink"/>
                </a:solidFill>
                <a:latin typeface="Times New Roman" panose="02020603050405020304" pitchFamily="18" charset="0"/>
                <a:ea typeface="华文新魏" panose="02010800040101010101" pitchFamily="2" charset="-122"/>
              </a:rPr>
              <a:t>且如何</a:t>
            </a:r>
            <a:r>
              <a:rPr lang="zh-CN" altLang="en-US" b="1" smtClean="0">
                <a:solidFill>
                  <a:schemeClr val="tx2"/>
                </a:solidFill>
                <a:latin typeface="Times New Roman" panose="02020603050405020304" pitchFamily="18" charset="0"/>
                <a:ea typeface="华文新魏" panose="02010800040101010101" pitchFamily="2" charset="-122"/>
              </a:rPr>
              <a:t>被有效地自动计算</a:t>
            </a:r>
          </a:p>
          <a:p>
            <a:pPr marL="536575" indent="-536575" eaLnBrk="1" hangingPunct="1">
              <a:spcBef>
                <a:spcPct val="50000"/>
              </a:spcBef>
            </a:pPr>
            <a:r>
              <a:rPr lang="zh-CN" altLang="en-US" b="1" smtClean="0">
                <a:latin typeface="Times New Roman" panose="02020603050405020304" pitchFamily="18" charset="0"/>
                <a:ea typeface="华文新魏" panose="02010800040101010101" pitchFamily="2" charset="-122"/>
              </a:rPr>
              <a:t>讨论问题求解自动化的“能行性”</a:t>
            </a:r>
          </a:p>
          <a:p>
            <a:pPr marL="1230313" lvl="1" eaLnBrk="1" hangingPunct="1">
              <a:spcBef>
                <a:spcPct val="50000"/>
              </a:spcBef>
            </a:pPr>
            <a:r>
              <a:rPr lang="zh-CN" altLang="en-US" b="1" smtClean="0">
                <a:latin typeface="Times New Roman" panose="02020603050405020304" pitchFamily="18" charset="0"/>
                <a:ea typeface="华文新魏" panose="02010800040101010101" pitchFamily="2" charset="-122"/>
              </a:rPr>
              <a:t>抽象</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有穷描述</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、自动化</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算法化</a:t>
            </a:r>
            <a:r>
              <a:rPr lang="en-US" altLang="zh-CN" b="1" smtClean="0">
                <a:latin typeface="Times New Roman" panose="02020603050405020304" pitchFamily="18" charset="0"/>
                <a:ea typeface="华文新魏" panose="02010800040101010101" pitchFamily="2" charset="-122"/>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E14F7DE-4C63-4BBB-8DDD-2A29F57447C8}" type="datetime1">
              <a:rPr lang="zh-CN" altLang="en-US" sz="1400" smtClean="0"/>
              <a:pPr>
                <a:spcBef>
                  <a:spcPct val="0"/>
                </a:spcBef>
                <a:buClrTx/>
                <a:buSzTx/>
                <a:buFontTx/>
                <a:buNone/>
              </a:pPr>
              <a:t>2017/2/24</a:t>
            </a:fld>
            <a:endParaRPr lang="en-US" altLang="zh-CN" sz="1400" smtClean="0"/>
          </a:p>
        </p:txBody>
      </p:sp>
      <p:sp>
        <p:nvSpPr>
          <p:cNvPr id="2253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1E22F38-BB60-4148-851B-EB705F6AD870}" type="slidenum">
              <a:rPr lang="zh-CN" altLang="en-US" sz="1400"/>
              <a:pPr>
                <a:spcBef>
                  <a:spcPct val="0"/>
                </a:spcBef>
                <a:buClrTx/>
                <a:buSzTx/>
                <a:buFontTx/>
                <a:buNone/>
              </a:pPr>
              <a:t>18</a:t>
            </a:fld>
            <a:endParaRPr lang="en-US" altLang="zh-CN" sz="1400"/>
          </a:p>
        </p:txBody>
      </p:sp>
      <p:sp>
        <p:nvSpPr>
          <p:cNvPr id="22532" name="Rectangle 2"/>
          <p:cNvSpPr>
            <a:spLocks noGrp="1" noRot="1" noChangeArrowheads="1"/>
          </p:cNvSpPr>
          <p:nvPr>
            <p:ph type="title"/>
          </p:nvPr>
        </p:nvSpPr>
        <p:spPr>
          <a:xfrm>
            <a:off x="611188" y="188913"/>
            <a:ext cx="7993062" cy="1354137"/>
          </a:xfrm>
        </p:spPr>
        <p:txBody>
          <a:bodyPr/>
          <a:lstStyle/>
          <a:p>
            <a:pPr eaLnBrk="1" hangingPunct="1"/>
            <a:r>
              <a:rPr lang="zh-CN" altLang="en-US" b="1" smtClean="0">
                <a:latin typeface="Times New Roman" panose="02020603050405020304" pitchFamily="18" charset="0"/>
                <a:ea typeface="华文新魏" panose="02010800040101010101" pitchFamily="2" charset="-122"/>
              </a:rPr>
              <a:t>教学目的</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学科基本特征</a:t>
            </a:r>
          </a:p>
        </p:txBody>
      </p:sp>
      <p:sp>
        <p:nvSpPr>
          <p:cNvPr id="22533" name="Rectangle 3"/>
          <p:cNvSpPr>
            <a:spLocks noChangeArrowheads="1"/>
          </p:cNvSpPr>
          <p:nvPr/>
        </p:nvSpPr>
        <p:spPr bwMode="auto">
          <a:xfrm>
            <a:off x="612775" y="2349500"/>
            <a:ext cx="3384550" cy="476250"/>
          </a:xfrm>
          <a:prstGeom prst="rect">
            <a:avLst/>
          </a:prstGeom>
          <a:solidFill>
            <a:srgbClr val="CC33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3300"/>
            </a:extrusionClr>
            <a:contourClr>
              <a:srgbClr val="CC33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rgbClr val="A50021"/>
              </a:buClr>
              <a:buFont typeface="Wingdings" panose="05000000000000000000" pitchFamily="2" charset="2"/>
              <a:buNone/>
            </a:pPr>
            <a:r>
              <a:rPr kumimoji="1" lang="zh-CN" altLang="en-US" sz="2800" b="1">
                <a:solidFill>
                  <a:schemeClr val="bg1"/>
                </a:solidFill>
                <a:latin typeface="Times New Roman" panose="02020603050405020304" pitchFamily="18" charset="0"/>
                <a:ea typeface="华文新魏" panose="02010800040101010101" pitchFamily="2" charset="-122"/>
              </a:rPr>
              <a:t>形式化、抽象、逻辑</a:t>
            </a:r>
          </a:p>
        </p:txBody>
      </p:sp>
      <p:grpSp>
        <p:nvGrpSpPr>
          <p:cNvPr id="22534" name="Group 4"/>
          <p:cNvGrpSpPr>
            <a:grpSpLocks/>
          </p:cNvGrpSpPr>
          <p:nvPr/>
        </p:nvGrpSpPr>
        <p:grpSpPr bwMode="auto">
          <a:xfrm>
            <a:off x="468313" y="2792413"/>
            <a:ext cx="1792287" cy="1060450"/>
            <a:chOff x="68" y="1776"/>
            <a:chExt cx="1488" cy="1132"/>
          </a:xfrm>
        </p:grpSpPr>
        <p:sp>
          <p:nvSpPr>
            <p:cNvPr id="22555" name="AutoShape 5"/>
            <p:cNvSpPr>
              <a:spLocks noChangeArrowheads="1"/>
            </p:cNvSpPr>
            <p:nvPr/>
          </p:nvSpPr>
          <p:spPr bwMode="auto">
            <a:xfrm>
              <a:off x="740" y="1776"/>
              <a:ext cx="144" cy="520"/>
            </a:xfrm>
            <a:prstGeom prst="upDownArrow">
              <a:avLst>
                <a:gd name="adj1" fmla="val 50000"/>
                <a:gd name="adj2" fmla="val 72222"/>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2800">
                <a:solidFill>
                  <a:schemeClr val="bg1"/>
                </a:solidFill>
                <a:latin typeface="Verdana" panose="020B0604030504040204" pitchFamily="34" charset="0"/>
              </a:endParaRPr>
            </a:p>
          </p:txBody>
        </p:sp>
        <p:sp>
          <p:nvSpPr>
            <p:cNvPr id="22556" name="Rectangle 6"/>
            <p:cNvSpPr>
              <a:spLocks noChangeArrowheads="1"/>
            </p:cNvSpPr>
            <p:nvPr/>
          </p:nvSpPr>
          <p:spPr bwMode="auto">
            <a:xfrm>
              <a:off x="68" y="2400"/>
              <a:ext cx="1488" cy="508"/>
            </a:xfrm>
            <a:prstGeom prst="rect">
              <a:avLst/>
            </a:prstGeom>
            <a:solidFill>
              <a:srgbClr val="0080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8000"/>
              </a:extrusionClr>
              <a:contourClr>
                <a:srgbClr val="0080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rgbClr val="A50021"/>
                </a:buClr>
                <a:buFont typeface="Wingdings" panose="05000000000000000000" pitchFamily="2" charset="2"/>
                <a:buNone/>
              </a:pPr>
              <a:r>
                <a:rPr kumimoji="1" lang="zh-CN" altLang="en-US" sz="2800" b="1">
                  <a:solidFill>
                    <a:schemeClr val="bg1"/>
                  </a:solidFill>
                  <a:latin typeface="Times New Roman" panose="02020603050405020304" pitchFamily="18" charset="0"/>
                  <a:ea typeface="华文新魏" panose="02010800040101010101" pitchFamily="2" charset="-122"/>
                </a:rPr>
                <a:t>描述手段</a:t>
              </a:r>
            </a:p>
          </p:txBody>
        </p:sp>
      </p:grpSp>
      <p:sp>
        <p:nvSpPr>
          <p:cNvPr id="22535" name="Rectangle 7"/>
          <p:cNvSpPr>
            <a:spLocks noChangeArrowheads="1"/>
          </p:cNvSpPr>
          <p:nvPr/>
        </p:nvSpPr>
        <p:spPr bwMode="auto">
          <a:xfrm>
            <a:off x="4989513" y="2349500"/>
            <a:ext cx="2673350" cy="476250"/>
          </a:xfrm>
          <a:prstGeom prst="rect">
            <a:avLst/>
          </a:prstGeom>
          <a:solidFill>
            <a:srgbClr val="CC33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3300"/>
            </a:extrusionClr>
            <a:contourClr>
              <a:srgbClr val="CC33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rgbClr val="A50021"/>
              </a:buClr>
              <a:buFont typeface="Wingdings" panose="05000000000000000000" pitchFamily="2" charset="2"/>
              <a:buNone/>
            </a:pPr>
            <a:r>
              <a:rPr kumimoji="1" lang="zh-CN" altLang="en-US" sz="2800" b="1">
                <a:solidFill>
                  <a:schemeClr val="bg1"/>
                </a:solidFill>
                <a:latin typeface="Times New Roman" panose="02020603050405020304" pitchFamily="18" charset="0"/>
                <a:ea typeface="华文新魏" panose="02010800040101010101" pitchFamily="2" charset="-122"/>
              </a:rPr>
              <a:t>符号、符号变换</a:t>
            </a:r>
          </a:p>
        </p:txBody>
      </p:sp>
      <p:grpSp>
        <p:nvGrpSpPr>
          <p:cNvPr id="22536" name="Group 8"/>
          <p:cNvGrpSpPr>
            <a:grpSpLocks/>
          </p:cNvGrpSpPr>
          <p:nvPr/>
        </p:nvGrpSpPr>
        <p:grpSpPr bwMode="auto">
          <a:xfrm>
            <a:off x="4548188" y="2792413"/>
            <a:ext cx="1674812" cy="1049337"/>
            <a:chOff x="3052" y="1824"/>
            <a:chExt cx="1268" cy="1029"/>
          </a:xfrm>
        </p:grpSpPr>
        <p:sp>
          <p:nvSpPr>
            <p:cNvPr id="22553" name="Rectangle 9"/>
            <p:cNvSpPr>
              <a:spLocks noChangeArrowheads="1"/>
            </p:cNvSpPr>
            <p:nvPr/>
          </p:nvSpPr>
          <p:spPr bwMode="auto">
            <a:xfrm>
              <a:off x="3052" y="2386"/>
              <a:ext cx="1268" cy="467"/>
            </a:xfrm>
            <a:prstGeom prst="rect">
              <a:avLst/>
            </a:prstGeom>
            <a:solidFill>
              <a:srgbClr val="0000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00FF"/>
              </a:extrusionClr>
              <a:contourClr>
                <a:srgbClr val="0000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rgbClr val="A50021"/>
                </a:buClr>
                <a:buFont typeface="Wingdings" panose="05000000000000000000" pitchFamily="2" charset="2"/>
                <a:buNone/>
              </a:pPr>
              <a:r>
                <a:rPr kumimoji="1" lang="zh-CN" altLang="en-US" sz="2800" b="1">
                  <a:solidFill>
                    <a:schemeClr val="bg1"/>
                  </a:solidFill>
                  <a:latin typeface="Times New Roman" panose="02020603050405020304" pitchFamily="18" charset="0"/>
                  <a:ea typeface="华文新魏" panose="02010800040101010101" pitchFamily="2" charset="-122"/>
                </a:rPr>
                <a:t>表达形式</a:t>
              </a:r>
            </a:p>
          </p:txBody>
        </p:sp>
        <p:sp>
          <p:nvSpPr>
            <p:cNvPr id="22554" name="AutoShape 10"/>
            <p:cNvSpPr>
              <a:spLocks noChangeArrowheads="1"/>
            </p:cNvSpPr>
            <p:nvPr/>
          </p:nvSpPr>
          <p:spPr bwMode="auto">
            <a:xfrm>
              <a:off x="3628" y="1824"/>
              <a:ext cx="159" cy="472"/>
            </a:xfrm>
            <a:prstGeom prst="upDownArrow">
              <a:avLst>
                <a:gd name="adj1" fmla="val 50000"/>
                <a:gd name="adj2" fmla="val 59371"/>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2800">
                <a:solidFill>
                  <a:schemeClr val="bg1"/>
                </a:solidFill>
                <a:latin typeface="Verdana" panose="020B0604030504040204" pitchFamily="34" charset="0"/>
              </a:endParaRPr>
            </a:p>
          </p:txBody>
        </p:sp>
      </p:grpSp>
      <p:grpSp>
        <p:nvGrpSpPr>
          <p:cNvPr id="22537" name="Group 11"/>
          <p:cNvGrpSpPr>
            <a:grpSpLocks/>
          </p:cNvGrpSpPr>
          <p:nvPr/>
        </p:nvGrpSpPr>
        <p:grpSpPr bwMode="auto">
          <a:xfrm>
            <a:off x="6446838" y="2792413"/>
            <a:ext cx="1720850" cy="1050925"/>
            <a:chOff x="4300" y="1776"/>
            <a:chExt cx="1268" cy="1117"/>
          </a:xfrm>
        </p:grpSpPr>
        <p:sp>
          <p:nvSpPr>
            <p:cNvPr id="22551" name="Rectangle 12"/>
            <p:cNvSpPr>
              <a:spLocks noChangeArrowheads="1"/>
            </p:cNvSpPr>
            <p:nvPr/>
          </p:nvSpPr>
          <p:spPr bwMode="auto">
            <a:xfrm>
              <a:off x="4300" y="2387"/>
              <a:ext cx="1268" cy="506"/>
            </a:xfrm>
            <a:prstGeom prst="rect">
              <a:avLst/>
            </a:prstGeom>
            <a:solidFill>
              <a:srgbClr val="0000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00FF"/>
              </a:extrusionClr>
              <a:contourClr>
                <a:srgbClr val="0000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buClr>
                  <a:srgbClr val="A50021"/>
                </a:buClr>
                <a:buFont typeface="Wingdings" panose="05000000000000000000" pitchFamily="2" charset="2"/>
                <a:buNone/>
              </a:pPr>
              <a:r>
                <a:rPr kumimoji="1" lang="zh-CN" altLang="en-US" sz="2800" b="1">
                  <a:solidFill>
                    <a:schemeClr val="bg1"/>
                  </a:solidFill>
                  <a:latin typeface="Times New Roman" panose="02020603050405020304" pitchFamily="18" charset="0"/>
                  <a:ea typeface="华文新魏" panose="02010800040101010101" pitchFamily="2" charset="-122"/>
                </a:rPr>
                <a:t>求解途径</a:t>
              </a:r>
            </a:p>
          </p:txBody>
        </p:sp>
        <p:sp>
          <p:nvSpPr>
            <p:cNvPr id="22552" name="AutoShape 13"/>
            <p:cNvSpPr>
              <a:spLocks noChangeArrowheads="1"/>
            </p:cNvSpPr>
            <p:nvPr/>
          </p:nvSpPr>
          <p:spPr bwMode="auto">
            <a:xfrm>
              <a:off x="4828" y="1776"/>
              <a:ext cx="139" cy="520"/>
            </a:xfrm>
            <a:prstGeom prst="upDownArrow">
              <a:avLst>
                <a:gd name="adj1" fmla="val 50000"/>
                <a:gd name="adj2" fmla="val 7482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2800">
                <a:solidFill>
                  <a:schemeClr val="bg1"/>
                </a:solidFill>
                <a:latin typeface="Verdana" panose="020B0604030504040204" pitchFamily="34" charset="0"/>
              </a:endParaRPr>
            </a:p>
          </p:txBody>
        </p:sp>
      </p:grpSp>
      <p:grpSp>
        <p:nvGrpSpPr>
          <p:cNvPr id="22538" name="Group 14"/>
          <p:cNvGrpSpPr>
            <a:grpSpLocks/>
          </p:cNvGrpSpPr>
          <p:nvPr/>
        </p:nvGrpSpPr>
        <p:grpSpPr bwMode="auto">
          <a:xfrm>
            <a:off x="1017588" y="4851400"/>
            <a:ext cx="6718300" cy="884238"/>
            <a:chOff x="624" y="3600"/>
            <a:chExt cx="4368" cy="557"/>
          </a:xfrm>
        </p:grpSpPr>
        <p:sp>
          <p:nvSpPr>
            <p:cNvPr id="22549" name="Rectangle 15" descr="新闻纸"/>
            <p:cNvSpPr>
              <a:spLocks noChangeArrowheads="1"/>
            </p:cNvSpPr>
            <p:nvPr/>
          </p:nvSpPr>
          <p:spPr bwMode="auto">
            <a:xfrm>
              <a:off x="624" y="3792"/>
              <a:ext cx="4368" cy="365"/>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rgbClr val="000000"/>
                  </a:solidFill>
                  <a:ea typeface="华文新魏" panose="02010800040101010101" pitchFamily="2" charset="-122"/>
                </a:rPr>
                <a:t>本学科的</a:t>
              </a:r>
              <a:r>
                <a:rPr lang="zh-CN" altLang="en-US" b="1">
                  <a:ea typeface="华文新魏" panose="02010800040101010101" pitchFamily="2" charset="-122"/>
                </a:rPr>
                <a:t>基本教育原理</a:t>
              </a:r>
              <a:r>
                <a:rPr lang="en-US" altLang="zh-CN" b="1">
                  <a:solidFill>
                    <a:srgbClr val="000000"/>
                  </a:solidFill>
                  <a:ea typeface="华文新魏" panose="02010800040101010101" pitchFamily="2" charset="-122"/>
                </a:rPr>
                <a:t>——</a:t>
              </a:r>
              <a:r>
                <a:rPr lang="zh-CN" altLang="en-US" b="1">
                  <a:solidFill>
                    <a:srgbClr val="FF3300"/>
                  </a:solidFill>
                  <a:ea typeface="华文新魏" panose="02010800040101010101" pitchFamily="2" charset="-122"/>
                </a:rPr>
                <a:t>抽象第一</a:t>
              </a:r>
            </a:p>
          </p:txBody>
        </p:sp>
        <p:sp>
          <p:nvSpPr>
            <p:cNvPr id="22550" name="AutoShape 16"/>
            <p:cNvSpPr>
              <a:spLocks noChangeArrowheads="1"/>
            </p:cNvSpPr>
            <p:nvPr/>
          </p:nvSpPr>
          <p:spPr bwMode="auto">
            <a:xfrm>
              <a:off x="2640" y="3600"/>
              <a:ext cx="240" cy="288"/>
            </a:xfrm>
            <a:prstGeom prst="downArrow">
              <a:avLst>
                <a:gd name="adj1" fmla="val 50000"/>
                <a:gd name="adj2" fmla="val 30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nvGrpSpPr>
          <p:cNvPr id="22539" name="Group 17"/>
          <p:cNvGrpSpPr>
            <a:grpSpLocks/>
          </p:cNvGrpSpPr>
          <p:nvPr/>
        </p:nvGrpSpPr>
        <p:grpSpPr bwMode="auto">
          <a:xfrm>
            <a:off x="1042988" y="3843338"/>
            <a:ext cx="6477000" cy="1031875"/>
            <a:chOff x="816" y="2688"/>
            <a:chExt cx="4080" cy="767"/>
          </a:xfrm>
        </p:grpSpPr>
        <p:sp>
          <p:nvSpPr>
            <p:cNvPr id="22546" name="Rectangle 18" descr="花束"/>
            <p:cNvSpPr>
              <a:spLocks noChangeArrowheads="1"/>
            </p:cNvSpPr>
            <p:nvPr/>
          </p:nvSpPr>
          <p:spPr bwMode="auto">
            <a:xfrm>
              <a:off x="1701" y="3024"/>
              <a:ext cx="2313" cy="431"/>
            </a:xfrm>
            <a:prstGeom prst="rect">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b="1">
                  <a:solidFill>
                    <a:srgbClr val="000000"/>
                  </a:solidFill>
                  <a:ea typeface="华文新魏" panose="02010800040101010101" pitchFamily="2" charset="-122"/>
                </a:rPr>
                <a:t>程序的非物理特性</a:t>
              </a:r>
            </a:p>
          </p:txBody>
        </p:sp>
        <p:sp>
          <p:nvSpPr>
            <p:cNvPr id="22547" name="AutoShape 19"/>
            <p:cNvSpPr>
              <a:spLocks/>
            </p:cNvSpPr>
            <p:nvPr/>
          </p:nvSpPr>
          <p:spPr bwMode="auto">
            <a:xfrm rot="-5400000">
              <a:off x="2736" y="768"/>
              <a:ext cx="240" cy="4080"/>
            </a:xfrm>
            <a:prstGeom prst="leftBrace">
              <a:avLst>
                <a:gd name="adj1" fmla="val 141667"/>
                <a:gd name="adj2" fmla="val 50000"/>
              </a:avLst>
            </a:pr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Verdana" panose="020B0604030504040204" pitchFamily="34" charset="0"/>
              </a:endParaRPr>
            </a:p>
          </p:txBody>
        </p:sp>
        <p:sp>
          <p:nvSpPr>
            <p:cNvPr id="22548" name="AutoShape 20"/>
            <p:cNvSpPr>
              <a:spLocks noChangeArrowheads="1"/>
            </p:cNvSpPr>
            <p:nvPr/>
          </p:nvSpPr>
          <p:spPr bwMode="auto">
            <a:xfrm>
              <a:off x="2736" y="2832"/>
              <a:ext cx="240" cy="288"/>
            </a:xfrm>
            <a:prstGeom prst="downArrow">
              <a:avLst>
                <a:gd name="adj1" fmla="val 50000"/>
                <a:gd name="adj2" fmla="val 30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Verdana" panose="020B0604030504040204" pitchFamily="34" charset="0"/>
              </a:endParaRPr>
            </a:p>
          </p:txBody>
        </p:sp>
      </p:grpSp>
      <p:sp>
        <p:nvSpPr>
          <p:cNvPr id="22540" name="WordArt 21"/>
          <p:cNvSpPr>
            <a:spLocks noChangeArrowheads="1" noChangeShapeType="1" noTextEdit="1"/>
          </p:cNvSpPr>
          <p:nvPr/>
        </p:nvSpPr>
        <p:spPr bwMode="auto">
          <a:xfrm>
            <a:off x="2120900" y="1557338"/>
            <a:ext cx="1371600" cy="384175"/>
          </a:xfrm>
          <a:prstGeom prst="rect">
            <a:avLst/>
          </a:prstGeom>
        </p:spPr>
        <p:txBody>
          <a:bodyPr wrap="none" fromWordArt="1">
            <a:prstTxWarp prst="textPlain">
              <a:avLst>
                <a:gd name="adj" fmla="val 50000"/>
              </a:avLst>
            </a:prstTxWarp>
          </a:bodyPr>
          <a:lstStyle/>
          <a:p>
            <a:pPr algn="ctr"/>
            <a:r>
              <a:rPr lang="zh-CN" altLang="en-US" sz="3600" kern="10">
                <a:ln w="9525">
                  <a:solidFill>
                    <a:srgbClr val="000000"/>
                  </a:solidFill>
                  <a:round/>
                  <a:headEnd type="none" w="sm" len="sm"/>
                  <a:tailEnd type="none" w="sm" len="sm"/>
                </a:ln>
                <a:solidFill>
                  <a:srgbClr val="FFFFFF"/>
                </a:solidFill>
                <a:latin typeface="宋体" panose="02010600030101010101" pitchFamily="2" charset="-122"/>
              </a:rPr>
              <a:t>特点</a:t>
            </a:r>
          </a:p>
        </p:txBody>
      </p:sp>
      <p:sp>
        <p:nvSpPr>
          <p:cNvPr id="22541" name="WordArt 22"/>
          <p:cNvSpPr>
            <a:spLocks noChangeArrowheads="1" noChangeShapeType="1" noTextEdit="1"/>
          </p:cNvSpPr>
          <p:nvPr/>
        </p:nvSpPr>
        <p:spPr bwMode="auto">
          <a:xfrm>
            <a:off x="5081588" y="1557338"/>
            <a:ext cx="2514600" cy="388937"/>
          </a:xfrm>
          <a:prstGeom prst="rect">
            <a:avLst/>
          </a:prstGeom>
        </p:spPr>
        <p:txBody>
          <a:bodyPr wrap="none" fromWordArt="1">
            <a:prstTxWarp prst="textPlain">
              <a:avLst>
                <a:gd name="adj" fmla="val 50000"/>
              </a:avLst>
            </a:prstTxWarp>
          </a:bodyPr>
          <a:lstStyle/>
          <a:p>
            <a:pPr algn="ctr"/>
            <a:r>
              <a:rPr lang="zh-CN" altLang="en-US" sz="3600" kern="10">
                <a:ln w="9525">
                  <a:solidFill>
                    <a:srgbClr val="000000"/>
                  </a:solidFill>
                  <a:round/>
                  <a:headEnd type="none" w="sm" len="sm"/>
                  <a:tailEnd type="none" w="sm" len="sm"/>
                </a:ln>
                <a:solidFill>
                  <a:srgbClr val="FFFFFF"/>
                </a:solidFill>
                <a:latin typeface="宋体" panose="02010600030101010101" pitchFamily="2" charset="-122"/>
              </a:rPr>
              <a:t>表现形式</a:t>
            </a:r>
          </a:p>
        </p:txBody>
      </p:sp>
      <p:grpSp>
        <p:nvGrpSpPr>
          <p:cNvPr id="22542" name="Group 23"/>
          <p:cNvGrpSpPr>
            <a:grpSpLocks/>
          </p:cNvGrpSpPr>
          <p:nvPr/>
        </p:nvGrpSpPr>
        <p:grpSpPr bwMode="auto">
          <a:xfrm>
            <a:off x="2551113" y="2781300"/>
            <a:ext cx="1727200" cy="1055688"/>
            <a:chOff x="1565" y="1797"/>
            <a:chExt cx="1406" cy="1089"/>
          </a:xfrm>
        </p:grpSpPr>
        <p:sp>
          <p:nvSpPr>
            <p:cNvPr id="22543" name="AutoShape 24"/>
            <p:cNvSpPr>
              <a:spLocks/>
            </p:cNvSpPr>
            <p:nvPr/>
          </p:nvSpPr>
          <p:spPr bwMode="auto">
            <a:xfrm rot="-5400000">
              <a:off x="2243" y="1329"/>
              <a:ext cx="120" cy="1056"/>
            </a:xfrm>
            <a:prstGeom prst="leftBrace">
              <a:avLst>
                <a:gd name="adj1" fmla="val 73333"/>
                <a:gd name="adj2" fmla="val 49051"/>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2800">
                <a:solidFill>
                  <a:schemeClr val="bg1"/>
                </a:solidFill>
                <a:latin typeface="Verdana" panose="020B0604030504040204" pitchFamily="34" charset="0"/>
              </a:endParaRPr>
            </a:p>
          </p:txBody>
        </p:sp>
        <p:sp>
          <p:nvSpPr>
            <p:cNvPr id="22544" name="AutoShape 25"/>
            <p:cNvSpPr>
              <a:spLocks noChangeArrowheads="1"/>
            </p:cNvSpPr>
            <p:nvPr/>
          </p:nvSpPr>
          <p:spPr bwMode="auto">
            <a:xfrm>
              <a:off x="2207" y="1893"/>
              <a:ext cx="129" cy="403"/>
            </a:xfrm>
            <a:prstGeom prst="upDownArrow">
              <a:avLst>
                <a:gd name="adj1" fmla="val 50000"/>
                <a:gd name="adj2" fmla="val 62481"/>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2800">
                <a:solidFill>
                  <a:schemeClr val="bg1"/>
                </a:solidFill>
                <a:latin typeface="Verdana" panose="020B0604030504040204" pitchFamily="34" charset="0"/>
              </a:endParaRPr>
            </a:p>
          </p:txBody>
        </p:sp>
        <p:sp>
          <p:nvSpPr>
            <p:cNvPr id="22545" name="Text Box 26"/>
            <p:cNvSpPr txBox="1">
              <a:spLocks noChangeArrowheads="1"/>
            </p:cNvSpPr>
            <p:nvPr/>
          </p:nvSpPr>
          <p:spPr bwMode="auto">
            <a:xfrm>
              <a:off x="1565" y="2395"/>
              <a:ext cx="1406" cy="491"/>
            </a:xfrm>
            <a:prstGeom prst="rect">
              <a:avLst/>
            </a:prstGeom>
            <a:solidFill>
              <a:srgbClr val="0080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8000"/>
              </a:extrusionClr>
              <a:contourClr>
                <a:srgbClr val="0080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SzTx/>
                <a:buFontTx/>
                <a:buNone/>
              </a:pPr>
              <a:r>
                <a:rPr kumimoji="1" lang="zh-CN" altLang="en-US" sz="2800" b="1">
                  <a:solidFill>
                    <a:schemeClr val="bg1"/>
                  </a:solidFill>
                  <a:latin typeface="Times New Roman" panose="02020603050405020304" pitchFamily="18" charset="0"/>
                  <a:ea typeface="华文新魏" panose="02010800040101010101" pitchFamily="2" charset="-122"/>
                </a:rPr>
                <a:t>思维方式</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日期占位符 1"/>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21F98D4-FB79-4DB3-8E5E-2599D0CFEDB0}" type="datetime1">
              <a:rPr lang="zh-CN" altLang="en-US" sz="1400" smtClean="0"/>
              <a:pPr>
                <a:spcBef>
                  <a:spcPct val="0"/>
                </a:spcBef>
                <a:buClrTx/>
                <a:buSzTx/>
                <a:buFontTx/>
                <a:buNone/>
              </a:pPr>
              <a:t>2017/2/24</a:t>
            </a:fld>
            <a:endParaRPr lang="en-US" altLang="zh-CN" sz="1400" smtClean="0"/>
          </a:p>
        </p:txBody>
      </p:sp>
      <p:sp>
        <p:nvSpPr>
          <p:cNvPr id="23555" name="灯片编号占位符 3"/>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C08F5C-7B1D-4ABD-B4D3-E2C2BA45704A}" type="slidenum">
              <a:rPr lang="zh-CN" altLang="en-US" sz="1400"/>
              <a:pPr>
                <a:spcBef>
                  <a:spcPct val="0"/>
                </a:spcBef>
                <a:buClrTx/>
                <a:buSzTx/>
                <a:buFontTx/>
                <a:buNone/>
              </a:pPr>
              <a:t>19</a:t>
            </a:fld>
            <a:endParaRPr lang="en-US" altLang="zh-CN" sz="1400"/>
          </a:p>
        </p:txBody>
      </p:sp>
      <p:sp>
        <p:nvSpPr>
          <p:cNvPr id="23556" name="Rectangle 2"/>
          <p:cNvSpPr>
            <a:spLocks noGrp="1" noChangeArrowheads="1"/>
          </p:cNvSpPr>
          <p:nvPr>
            <p:ph type="title" idx="4294967295"/>
          </p:nvPr>
        </p:nvSpPr>
        <p:spPr>
          <a:xfrm>
            <a:off x="301625" y="404813"/>
            <a:ext cx="8416925" cy="936625"/>
          </a:xfrm>
        </p:spPr>
        <p:txBody>
          <a:bodyPr anchor="b"/>
          <a:lstStyle/>
          <a:p>
            <a:pPr eaLnBrk="1" hangingPunct="1"/>
            <a:r>
              <a:rPr lang="zh-CN" altLang="en-US" b="1" smtClean="0">
                <a:latin typeface="Times New Roman" panose="02020603050405020304" pitchFamily="18" charset="0"/>
                <a:ea typeface="华文新魏" panose="02010800040101010101" pitchFamily="2" charset="-122"/>
              </a:rPr>
              <a:t>教学目的</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计算学科本科生专业能力构成</a:t>
            </a:r>
          </a:p>
        </p:txBody>
      </p:sp>
      <p:graphicFrame>
        <p:nvGraphicFramePr>
          <p:cNvPr id="504895" name="Group 63"/>
          <p:cNvGraphicFramePr>
            <a:graphicFrameLocks noGrp="1"/>
          </p:cNvGraphicFramePr>
          <p:nvPr>
            <p:ph idx="4294967295"/>
          </p:nvPr>
        </p:nvGraphicFramePr>
        <p:xfrm>
          <a:off x="179388" y="1916113"/>
          <a:ext cx="8964612" cy="4084637"/>
        </p:xfrm>
        <a:graphic>
          <a:graphicData uri="http://schemas.openxmlformats.org/drawingml/2006/table">
            <a:tbl>
              <a:tblPr/>
              <a:tblGrid>
                <a:gridCol w="787400">
                  <a:extLst>
                    <a:ext uri="{9D8B030D-6E8A-4147-A177-3AD203B41FA5}">
                      <a16:colId xmlns:a16="http://schemas.microsoft.com/office/drawing/2014/main" val="20000"/>
                    </a:ext>
                  </a:extLst>
                </a:gridCol>
                <a:gridCol w="2043112">
                  <a:extLst>
                    <a:ext uri="{9D8B030D-6E8A-4147-A177-3AD203B41FA5}">
                      <a16:colId xmlns:a16="http://schemas.microsoft.com/office/drawing/2014/main" val="20001"/>
                    </a:ext>
                  </a:extLst>
                </a:gridCol>
                <a:gridCol w="3938588">
                  <a:extLst>
                    <a:ext uri="{9D8B030D-6E8A-4147-A177-3AD203B41FA5}">
                      <a16:colId xmlns:a16="http://schemas.microsoft.com/office/drawing/2014/main" val="20002"/>
                    </a:ext>
                  </a:extLst>
                </a:gridCol>
                <a:gridCol w="1368425">
                  <a:extLst>
                    <a:ext uri="{9D8B030D-6E8A-4147-A177-3AD203B41FA5}">
                      <a16:colId xmlns:a16="http://schemas.microsoft.com/office/drawing/2014/main" val="20003"/>
                    </a:ext>
                  </a:extLst>
                </a:gridCol>
                <a:gridCol w="827087">
                  <a:extLst>
                    <a:ext uri="{9D8B030D-6E8A-4147-A177-3AD203B41FA5}">
                      <a16:colId xmlns:a16="http://schemas.microsoft.com/office/drawing/2014/main" val="20004"/>
                    </a:ext>
                  </a:extLst>
                </a:gridCol>
              </a:tblGrid>
              <a:tr h="426753">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4</a:t>
                      </a: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大专业基本能力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方面与点数</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能力点数</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合计</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753">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计算思维能力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ML9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753">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算法设计与分析能力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AL8</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8</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8</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753">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程序设计与实现能力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BP3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753">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系统能力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系统认知</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BP3</a:t>
                      </a: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a:t>
                      </a: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HW2</a:t>
                      </a: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a:t>
                      </a: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NC1</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6</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62</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2059">
                <a:tc vMerge="1">
                  <a:txBody>
                    <a:bodyPr/>
                    <a:lstStyle/>
                    <a:p>
                      <a:endParaRPr lang="zh-CN" altLang="en-US"/>
                    </a:p>
                  </a:txBody>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系统设计</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AP1,ID2,HW8,HM1,IS2,IM2,AI1,NC1,EA1</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19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5"/>
                  </a:ext>
                </a:extLst>
              </a:tr>
              <a:tr h="762059">
                <a:tc vMerge="1">
                  <a:txBody>
                    <a:bodyPr/>
                    <a:lstStyle/>
                    <a:p>
                      <a:endParaRPr lang="zh-CN" altLang="en-US"/>
                    </a:p>
                  </a:txBody>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系统开发</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AP2,BP2,ID3,HW2,HM2,IS1, IM2,IP2,AI1,NC4,EA2</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23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426753">
                <a:tc vMerge="1">
                  <a:txBody>
                    <a:bodyPr/>
                    <a:lstStyle/>
                    <a:p>
                      <a:endParaRPr lang="zh-CN" altLang="en-US"/>
                    </a:p>
                  </a:txBody>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系统应用</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AP1,BP1,ID1,IS2,IM3,IP3,NC3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14</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7"/>
                  </a:ext>
                </a:extLst>
              </a:tr>
            </a:tbl>
          </a:graphicData>
        </a:graphic>
      </p:graphicFrame>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日期占位符 1"/>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B64498C-8E67-4619-AF7A-2B5E358CBA85}" type="datetime1">
              <a:rPr lang="zh-CN" altLang="en-US" sz="1400" smtClean="0"/>
              <a:pPr>
                <a:spcBef>
                  <a:spcPct val="0"/>
                </a:spcBef>
                <a:buClrTx/>
                <a:buSzTx/>
                <a:buFontTx/>
                <a:buNone/>
              </a:pPr>
              <a:t>2017/2/24</a:t>
            </a:fld>
            <a:endParaRPr lang="en-US" altLang="zh-CN" sz="1400" smtClean="0"/>
          </a:p>
        </p:txBody>
      </p:sp>
      <p:sp>
        <p:nvSpPr>
          <p:cNvPr id="24579" name="灯片编号占位符 3"/>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FC2841-6595-4ABE-9732-AD6887D73934}" type="slidenum">
              <a:rPr lang="zh-CN" altLang="en-US" sz="1400"/>
              <a:pPr>
                <a:spcBef>
                  <a:spcPct val="0"/>
                </a:spcBef>
                <a:buClrTx/>
                <a:buSzTx/>
                <a:buFontTx/>
                <a:buNone/>
              </a:pPr>
              <a:t>20</a:t>
            </a:fld>
            <a:endParaRPr lang="en-US" altLang="zh-CN" sz="1400"/>
          </a:p>
        </p:txBody>
      </p:sp>
      <p:sp>
        <p:nvSpPr>
          <p:cNvPr id="24580" name="Rectangle 2"/>
          <p:cNvSpPr>
            <a:spLocks noGrp="1" noChangeArrowheads="1"/>
          </p:cNvSpPr>
          <p:nvPr>
            <p:ph type="title" idx="4294967295"/>
          </p:nvPr>
        </p:nvSpPr>
        <p:spPr>
          <a:xfrm>
            <a:off x="301625" y="404813"/>
            <a:ext cx="8416925" cy="936625"/>
          </a:xfrm>
        </p:spPr>
        <p:txBody>
          <a:bodyPr anchor="b"/>
          <a:lstStyle/>
          <a:p>
            <a:pPr eaLnBrk="1" hangingPunct="1"/>
            <a:r>
              <a:rPr lang="zh-CN" altLang="en-US" b="1" smtClean="0">
                <a:latin typeface="Times New Roman" panose="02020603050405020304" pitchFamily="18" charset="0"/>
                <a:ea typeface="华文新魏" panose="02010800040101010101" pitchFamily="2" charset="-122"/>
              </a:rPr>
              <a:t>教学目的</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计算学科本科生专业能力构成</a:t>
            </a:r>
          </a:p>
        </p:txBody>
      </p:sp>
      <p:graphicFrame>
        <p:nvGraphicFramePr>
          <p:cNvPr id="504895" name="Group 63"/>
          <p:cNvGraphicFramePr>
            <a:graphicFrameLocks noGrp="1"/>
          </p:cNvGraphicFramePr>
          <p:nvPr>
            <p:ph idx="4294967295"/>
          </p:nvPr>
        </p:nvGraphicFramePr>
        <p:xfrm>
          <a:off x="179388" y="1916113"/>
          <a:ext cx="8964612" cy="4084637"/>
        </p:xfrm>
        <a:graphic>
          <a:graphicData uri="http://schemas.openxmlformats.org/drawingml/2006/table">
            <a:tbl>
              <a:tblPr/>
              <a:tblGrid>
                <a:gridCol w="787400">
                  <a:extLst>
                    <a:ext uri="{9D8B030D-6E8A-4147-A177-3AD203B41FA5}">
                      <a16:colId xmlns:a16="http://schemas.microsoft.com/office/drawing/2014/main" val="20000"/>
                    </a:ext>
                  </a:extLst>
                </a:gridCol>
                <a:gridCol w="2043112">
                  <a:extLst>
                    <a:ext uri="{9D8B030D-6E8A-4147-A177-3AD203B41FA5}">
                      <a16:colId xmlns:a16="http://schemas.microsoft.com/office/drawing/2014/main" val="20001"/>
                    </a:ext>
                  </a:extLst>
                </a:gridCol>
                <a:gridCol w="3938588">
                  <a:extLst>
                    <a:ext uri="{9D8B030D-6E8A-4147-A177-3AD203B41FA5}">
                      <a16:colId xmlns:a16="http://schemas.microsoft.com/office/drawing/2014/main" val="20002"/>
                    </a:ext>
                  </a:extLst>
                </a:gridCol>
                <a:gridCol w="1368425">
                  <a:extLst>
                    <a:ext uri="{9D8B030D-6E8A-4147-A177-3AD203B41FA5}">
                      <a16:colId xmlns:a16="http://schemas.microsoft.com/office/drawing/2014/main" val="20003"/>
                    </a:ext>
                  </a:extLst>
                </a:gridCol>
                <a:gridCol w="827087">
                  <a:extLst>
                    <a:ext uri="{9D8B030D-6E8A-4147-A177-3AD203B41FA5}">
                      <a16:colId xmlns:a16="http://schemas.microsoft.com/office/drawing/2014/main" val="20004"/>
                    </a:ext>
                  </a:extLst>
                </a:gridCol>
              </a:tblGrid>
              <a:tr h="426753">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4</a:t>
                      </a: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大专业基本能力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方面与点数</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能力点数</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合计</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753">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计算思维能力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ML9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753">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算法设计与分析能力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AL8</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8</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8</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753">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程序设计与实现能力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BP3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753">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200" b="1" i="0" u="none" strike="noStrike" cap="none" normalizeH="0" baseline="0" smtClean="0">
                          <a:ln>
                            <a:noFill/>
                          </a:ln>
                          <a:solidFill>
                            <a:srgbClr val="0000FF"/>
                          </a:solidFill>
                          <a:effectLst/>
                          <a:latin typeface="Times New Roman" pitchFamily="18" charset="0"/>
                          <a:ea typeface="华文新魏" pitchFamily="2" charset="-122"/>
                        </a:rPr>
                        <a:t>系统能力</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系统认知</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BP3</a:t>
                      </a: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a:t>
                      </a: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HW2</a:t>
                      </a:r>
                      <a:r>
                        <a:rPr kumimoji="0" lang="zh-CN" altLang="en-US" sz="2200" b="1" i="0" u="none" strike="noStrike" cap="none" normalizeH="0" baseline="0" smtClean="0">
                          <a:ln>
                            <a:noFill/>
                          </a:ln>
                          <a:solidFill>
                            <a:schemeClr val="tx1"/>
                          </a:solidFill>
                          <a:effectLst/>
                          <a:latin typeface="Times New Roman" pitchFamily="18" charset="0"/>
                          <a:ea typeface="华文新魏" pitchFamily="2" charset="-122"/>
                        </a:rPr>
                        <a:t>，</a:t>
                      </a: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NC1</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6</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62</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2059">
                <a:tc vMerge="1">
                  <a:txBody>
                    <a:bodyPr/>
                    <a:lstStyle/>
                    <a:p>
                      <a:endParaRPr lang="zh-CN" altLang="en-US"/>
                    </a:p>
                  </a:txBody>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系统设计</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AP1,ID2,HW8,HM1,IS2,IM2,AI1,NC1,EA1</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19</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5"/>
                  </a:ext>
                </a:extLst>
              </a:tr>
              <a:tr h="762059">
                <a:tc vMerge="1">
                  <a:txBody>
                    <a:bodyPr/>
                    <a:lstStyle/>
                    <a:p>
                      <a:endParaRPr lang="zh-CN" altLang="en-US"/>
                    </a:p>
                  </a:txBody>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系统开发</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AP2,BP2,ID3,HW2,HM2,IS1, IM2,IP2,AI1,NC4,EA2</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23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426753">
                <a:tc vMerge="1">
                  <a:txBody>
                    <a:bodyPr/>
                    <a:lstStyle/>
                    <a:p>
                      <a:endParaRPr lang="zh-CN" altLang="en-US"/>
                    </a:p>
                  </a:txBody>
                  <a:tcPr/>
                </a:tc>
                <a:tc>
                  <a:txBody>
                    <a:bodyPr/>
                    <a:lstStyle/>
                    <a:p>
                      <a:pPr marL="0" marR="0" lvl="0" indent="0" algn="ctr" defTabSz="914400" rtl="0" eaLnBrk="1" fontAlgn="base" latinLnBrk="0" hangingPunct="1">
                        <a:lnSpc>
                          <a:spcPct val="8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006600"/>
                          </a:solidFill>
                          <a:effectLst/>
                          <a:latin typeface="Times New Roman" pitchFamily="18" charset="0"/>
                          <a:ea typeface="华文新魏" pitchFamily="2" charset="-122"/>
                        </a:rPr>
                        <a:t>系统应用</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AP1,BP1,ID1,IS2,IM3,IP3,NC3</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200" b="1" i="0" u="none" strike="noStrike" cap="none" normalizeH="0" baseline="0" smtClean="0">
                          <a:ln>
                            <a:noFill/>
                          </a:ln>
                          <a:solidFill>
                            <a:schemeClr val="tx1"/>
                          </a:solidFill>
                          <a:effectLst/>
                          <a:latin typeface="Times New Roman" pitchFamily="18" charset="0"/>
                          <a:ea typeface="华文新魏" pitchFamily="2" charset="-122"/>
                        </a:rPr>
                        <a:t>14</a:t>
                      </a:r>
                    </a:p>
                  </a:txBody>
                  <a:tcPr marT="45724" marB="45724"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7"/>
                  </a:ext>
                </a:extLst>
              </a:tr>
            </a:tbl>
          </a:graphicData>
        </a:graphic>
      </p:graphicFrame>
      <p:sp>
        <p:nvSpPr>
          <p:cNvPr id="24627" name="Rectangle 49"/>
          <p:cNvSpPr>
            <a:spLocks noChangeArrowheads="1"/>
          </p:cNvSpPr>
          <p:nvPr/>
        </p:nvSpPr>
        <p:spPr bwMode="auto">
          <a:xfrm>
            <a:off x="2051050" y="3789363"/>
            <a:ext cx="3779838" cy="519112"/>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800" b="1">
                <a:solidFill>
                  <a:schemeClr val="bg1"/>
                </a:solidFill>
                <a:latin typeface="Verdana" panose="020B0604030504040204" pitchFamily="34" charset="0"/>
                <a:ea typeface="华文新魏" panose="02010800040101010101" pitchFamily="2" charset="-122"/>
              </a:rPr>
              <a:t>全局掌控一定规模系统</a:t>
            </a:r>
          </a:p>
        </p:txBody>
      </p:sp>
      <p:sp>
        <p:nvSpPr>
          <p:cNvPr id="24628" name="Rectangle 50"/>
          <p:cNvSpPr>
            <a:spLocks noChangeArrowheads="1"/>
          </p:cNvSpPr>
          <p:nvPr/>
        </p:nvSpPr>
        <p:spPr bwMode="auto">
          <a:xfrm>
            <a:off x="2051050" y="4381500"/>
            <a:ext cx="3816350" cy="107791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buClrTx/>
              <a:buSzTx/>
              <a:buFontTx/>
              <a:buNone/>
            </a:pPr>
            <a:r>
              <a:rPr lang="zh-CN" altLang="en-US" sz="2400" b="1">
                <a:solidFill>
                  <a:schemeClr val="bg1"/>
                </a:solidFill>
                <a:latin typeface="Times New Roman" panose="02020603050405020304" pitchFamily="18" charset="0"/>
                <a:ea typeface="华文新魏" panose="02010800040101010101" pitchFamily="2" charset="-122"/>
              </a:rPr>
              <a:t>系统地考虑问题的求解</a:t>
            </a:r>
          </a:p>
          <a:p>
            <a:pPr algn="ctr" eaLnBrk="1" hangingPunct="1">
              <a:lnSpc>
                <a:spcPct val="85000"/>
              </a:lnSpc>
              <a:spcBef>
                <a:spcPct val="0"/>
              </a:spcBef>
              <a:buClrTx/>
              <a:buSzTx/>
              <a:buFontTx/>
              <a:buNone/>
            </a:pPr>
            <a:r>
              <a:rPr lang="zh-CN" altLang="en-US" sz="2400" b="1">
                <a:solidFill>
                  <a:schemeClr val="bg1"/>
                </a:solidFill>
                <a:latin typeface="Times New Roman" panose="02020603050405020304" pitchFamily="18" charset="0"/>
                <a:ea typeface="华文新魏" panose="02010800040101010101" pitchFamily="2" charset="-122"/>
              </a:rPr>
              <a:t>计算观念的迁移</a:t>
            </a:r>
            <a:r>
              <a:rPr lang="en-US" altLang="zh-CN" sz="2400" b="1">
                <a:solidFill>
                  <a:schemeClr val="bg1"/>
                </a:solidFill>
                <a:latin typeface="Times New Roman" panose="02020603050405020304" pitchFamily="18" charset="0"/>
                <a:ea typeface="华文新魏" panose="02010800040101010101" pitchFamily="2" charset="-122"/>
              </a:rPr>
              <a:t>(</a:t>
            </a:r>
            <a:r>
              <a:rPr lang="zh-CN" altLang="en-US" sz="2400" b="1">
                <a:solidFill>
                  <a:schemeClr val="bg1"/>
                </a:solidFill>
                <a:latin typeface="Times New Roman" panose="02020603050405020304" pitchFamily="18" charset="0"/>
                <a:ea typeface="华文新魏" panose="02010800040101010101" pitchFamily="2" charset="-122"/>
              </a:rPr>
              <a:t>提升</a:t>
            </a:r>
            <a:r>
              <a:rPr lang="en-US" altLang="zh-CN" sz="2400" b="1">
                <a:solidFill>
                  <a:schemeClr val="bg1"/>
                </a:solidFill>
                <a:latin typeface="Times New Roman" panose="02020603050405020304" pitchFamily="18" charset="0"/>
                <a:ea typeface="华文新魏" panose="02010800040101010101" pitchFamily="2" charset="-122"/>
              </a:rPr>
              <a:t>)</a:t>
            </a:r>
            <a:r>
              <a:rPr lang="zh-CN" altLang="en-US" sz="2400" b="1">
                <a:solidFill>
                  <a:schemeClr val="bg1"/>
                </a:solidFill>
                <a:latin typeface="Times New Roman" panose="02020603050405020304" pitchFamily="18" charset="0"/>
                <a:ea typeface="华文新魏" panose="02010800040101010101" pitchFamily="2" charset="-122"/>
              </a:rPr>
              <a:t>：“实例计算” </a:t>
            </a:r>
            <a:r>
              <a:rPr lang="zh-CN" altLang="en-US" sz="2400" b="1">
                <a:solidFill>
                  <a:schemeClr val="bg1"/>
                </a:solidFill>
                <a:latin typeface="Times New Roman" panose="02020603050405020304" pitchFamily="18" charset="0"/>
                <a:ea typeface="华文新魏" panose="02010800040101010101" pitchFamily="2" charset="-122"/>
                <a:sym typeface="Symbol" panose="05050102010706020507" pitchFamily="18" charset="2"/>
              </a:rPr>
              <a:t>“类计算”</a:t>
            </a:r>
            <a:r>
              <a:rPr lang="zh-CN" altLang="en-US" sz="2800" b="1">
                <a:solidFill>
                  <a:schemeClr val="bg1"/>
                </a:solidFill>
                <a:latin typeface="Times New Roman" panose="02020603050405020304" pitchFamily="18" charset="0"/>
                <a:ea typeface="华文新魏" panose="02010800040101010101" pitchFamily="2" charset="-122"/>
                <a:sym typeface="Symbol" panose="05050102010706020507" pitchFamily="18" charset="2"/>
              </a:rPr>
              <a:t> </a:t>
            </a:r>
          </a:p>
        </p:txBody>
      </p:sp>
      <p:sp>
        <p:nvSpPr>
          <p:cNvPr id="24629" name="AutoShape 51"/>
          <p:cNvSpPr>
            <a:spLocks/>
          </p:cNvSpPr>
          <p:nvPr/>
        </p:nvSpPr>
        <p:spPr bwMode="auto">
          <a:xfrm>
            <a:off x="1835150" y="4092575"/>
            <a:ext cx="144463" cy="1136650"/>
          </a:xfrm>
          <a:prstGeom prst="leftBrace">
            <a:avLst>
              <a:gd name="adj1" fmla="val 65568"/>
              <a:gd name="adj2" fmla="val 50000"/>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b="1">
              <a:latin typeface="Verdana" panose="020B0604030504040204" pitchFamily="34" charset="0"/>
              <a:ea typeface="华文新魏" panose="02010800040101010101" pitchFamily="2" charset="-122"/>
            </a:endParaRPr>
          </a:p>
        </p:txBody>
      </p:sp>
      <p:sp>
        <p:nvSpPr>
          <p:cNvPr id="24630" name="AutoShape 52"/>
          <p:cNvSpPr>
            <a:spLocks noChangeArrowheads="1"/>
          </p:cNvSpPr>
          <p:nvPr/>
        </p:nvSpPr>
        <p:spPr bwMode="auto">
          <a:xfrm>
            <a:off x="827088" y="4581525"/>
            <a:ext cx="936625" cy="215900"/>
          </a:xfrm>
          <a:prstGeom prst="rightArrow">
            <a:avLst>
              <a:gd name="adj1" fmla="val 50000"/>
              <a:gd name="adj2" fmla="val 108456"/>
            </a:avLst>
          </a:prstGeom>
          <a:solidFill>
            <a:srgbClr val="FFFF99"/>
          </a:solidFill>
          <a:ln w="9525">
            <a:solidFill>
              <a:srgbClr val="0000FF"/>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b="1">
              <a:latin typeface="Verdana" panose="020B0604030504040204" pitchFamily="34" charset="0"/>
              <a:ea typeface="华文新魏" panose="02010800040101010101" pitchFamily="2" charset="-122"/>
            </a:endParaRPr>
          </a:p>
        </p:txBody>
      </p:sp>
      <p:sp>
        <p:nvSpPr>
          <p:cNvPr id="24631" name="Rectangle 53"/>
          <p:cNvSpPr>
            <a:spLocks noChangeArrowheads="1"/>
          </p:cNvSpPr>
          <p:nvPr/>
        </p:nvSpPr>
        <p:spPr bwMode="auto">
          <a:xfrm>
            <a:off x="2555875" y="2362200"/>
            <a:ext cx="3311525" cy="6032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0"/>
              </a:spcBef>
              <a:buClrTx/>
              <a:buSzTx/>
              <a:buFontTx/>
              <a:buNone/>
            </a:pPr>
            <a:r>
              <a:rPr lang="zh-CN" altLang="en-US" sz="2400" b="1">
                <a:solidFill>
                  <a:schemeClr val="bg1"/>
                </a:solidFill>
                <a:latin typeface="Verdana" panose="020B0604030504040204" pitchFamily="34" charset="0"/>
                <a:ea typeface="华文新魏" panose="02010800040101010101" pitchFamily="2" charset="-122"/>
              </a:rPr>
              <a:t>狭义：基于计算机理构建各类计算系统</a:t>
            </a:r>
          </a:p>
        </p:txBody>
      </p:sp>
      <p:sp>
        <p:nvSpPr>
          <p:cNvPr id="24632" name="Rectangle 54"/>
          <p:cNvSpPr>
            <a:spLocks noChangeArrowheads="1"/>
          </p:cNvSpPr>
          <p:nvPr/>
        </p:nvSpPr>
        <p:spPr bwMode="auto">
          <a:xfrm>
            <a:off x="2555875" y="3027363"/>
            <a:ext cx="3311525" cy="6032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0"/>
              </a:spcBef>
              <a:buClrTx/>
              <a:buSzTx/>
              <a:buFontTx/>
              <a:buNone/>
            </a:pPr>
            <a:r>
              <a:rPr lang="zh-CN" altLang="en-US" sz="2400" b="1">
                <a:solidFill>
                  <a:schemeClr val="bg1"/>
                </a:solidFill>
                <a:latin typeface="Verdana" panose="020B0604030504040204" pitchFamily="34" charset="0"/>
                <a:ea typeface="华文新魏" panose="02010800040101010101" pitchFamily="2" charset="-122"/>
              </a:rPr>
              <a:t>广义：有效利用计算技术和系统实现各类计算</a:t>
            </a:r>
            <a:r>
              <a:rPr lang="zh-CN" altLang="en-US" sz="2400" b="1">
                <a:solidFill>
                  <a:schemeClr val="bg1"/>
                </a:solidFill>
                <a:latin typeface="Verdana" panose="020B0604030504040204" pitchFamily="34" charset="0"/>
                <a:ea typeface="华文新魏" panose="02010800040101010101" pitchFamily="2" charset="-122"/>
                <a:sym typeface="Symbol" panose="05050102010706020507" pitchFamily="18" charset="2"/>
              </a:rPr>
              <a:t> </a:t>
            </a:r>
          </a:p>
        </p:txBody>
      </p:sp>
      <p:sp>
        <p:nvSpPr>
          <p:cNvPr id="24633" name="AutoShape 55"/>
          <p:cNvSpPr>
            <a:spLocks/>
          </p:cNvSpPr>
          <p:nvPr/>
        </p:nvSpPr>
        <p:spPr bwMode="auto">
          <a:xfrm>
            <a:off x="2338388" y="1931988"/>
            <a:ext cx="217487" cy="1152525"/>
          </a:xfrm>
          <a:prstGeom prst="leftBrace">
            <a:avLst>
              <a:gd name="adj1" fmla="val 44161"/>
              <a:gd name="adj2" fmla="val 50000"/>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b="1">
              <a:latin typeface="Verdana" panose="020B0604030504040204" pitchFamily="34" charset="0"/>
              <a:ea typeface="华文新魏" panose="02010800040101010101" pitchFamily="2" charset="-122"/>
            </a:endParaRPr>
          </a:p>
        </p:txBody>
      </p:sp>
      <p:sp>
        <p:nvSpPr>
          <p:cNvPr id="24634" name="AutoShape 56"/>
          <p:cNvSpPr>
            <a:spLocks noChangeArrowheads="1"/>
          </p:cNvSpPr>
          <p:nvPr/>
        </p:nvSpPr>
        <p:spPr bwMode="auto">
          <a:xfrm>
            <a:off x="1979613" y="2420938"/>
            <a:ext cx="358775" cy="215900"/>
          </a:xfrm>
          <a:prstGeom prst="rightArrow">
            <a:avLst>
              <a:gd name="adj1" fmla="val 50000"/>
              <a:gd name="adj2" fmla="val 41544"/>
            </a:avLst>
          </a:prstGeom>
          <a:solidFill>
            <a:srgbClr val="FFFF99"/>
          </a:solidFill>
          <a:ln w="9525">
            <a:solidFill>
              <a:srgbClr val="0000FF"/>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b="1">
              <a:latin typeface="Verdana" panose="020B0604030504040204" pitchFamily="34" charset="0"/>
              <a:ea typeface="华文新魏" panose="02010800040101010101" pitchFamily="2" charset="-122"/>
            </a:endParaRPr>
          </a:p>
        </p:txBody>
      </p:sp>
      <p:sp>
        <p:nvSpPr>
          <p:cNvPr id="24635" name="Rectangle 57"/>
          <p:cNvSpPr>
            <a:spLocks noChangeArrowheads="1"/>
          </p:cNvSpPr>
          <p:nvPr/>
        </p:nvSpPr>
        <p:spPr bwMode="auto">
          <a:xfrm>
            <a:off x="5940425" y="2093913"/>
            <a:ext cx="3024188" cy="1190625"/>
          </a:xfrm>
          <a:prstGeom prst="rect">
            <a:avLst/>
          </a:prstGeom>
          <a:solidFill>
            <a:srgbClr val="6600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3600" b="1">
                <a:solidFill>
                  <a:srgbClr val="FFFF66"/>
                </a:solidFill>
                <a:latin typeface="Verdana" panose="020B0604030504040204" pitchFamily="34" charset="0"/>
                <a:ea typeface="华文新魏" panose="02010800040101010101" pitchFamily="2" charset="-122"/>
              </a:rPr>
              <a:t>建立计算意识</a:t>
            </a:r>
          </a:p>
          <a:p>
            <a:pPr algn="ctr" eaLnBrk="1" hangingPunct="1">
              <a:spcBef>
                <a:spcPct val="0"/>
              </a:spcBef>
              <a:buClrTx/>
              <a:buSzTx/>
              <a:buFontTx/>
              <a:buNone/>
            </a:pPr>
            <a:r>
              <a:rPr lang="zh-CN" altLang="en-US" sz="3600" b="1">
                <a:solidFill>
                  <a:srgbClr val="FFFF66"/>
                </a:solidFill>
                <a:latin typeface="Verdana" panose="020B0604030504040204" pitchFamily="34" charset="0"/>
                <a:ea typeface="华文新魏" panose="02010800040101010101" pitchFamily="2" charset="-122"/>
              </a:rPr>
              <a:t>形成计算能力</a:t>
            </a:r>
            <a:endParaRPr lang="zh-CN" altLang="en-US" sz="3600" b="1">
              <a:solidFill>
                <a:srgbClr val="FFFF66"/>
              </a:solidFill>
              <a:latin typeface="Verdana" panose="020B0604030504040204" pitchFamily="34" charset="0"/>
              <a:ea typeface="华文新魏" panose="02010800040101010101" pitchFamily="2" charset="-122"/>
              <a:sym typeface="Symbol" panose="05050102010706020507" pitchFamily="18" charset="2"/>
            </a:endParaRPr>
          </a:p>
        </p:txBody>
      </p:sp>
      <p:sp>
        <p:nvSpPr>
          <p:cNvPr id="24636" name="Rectangle 58"/>
          <p:cNvSpPr>
            <a:spLocks noChangeArrowheads="1"/>
          </p:cNvSpPr>
          <p:nvPr/>
        </p:nvSpPr>
        <p:spPr bwMode="auto">
          <a:xfrm>
            <a:off x="5940425" y="4076700"/>
            <a:ext cx="3024188" cy="1190625"/>
          </a:xfrm>
          <a:prstGeom prst="rect">
            <a:avLst/>
          </a:prstGeom>
          <a:solidFill>
            <a:srgbClr val="6600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3600" b="1">
                <a:solidFill>
                  <a:srgbClr val="FFFF66"/>
                </a:solidFill>
                <a:latin typeface="Verdana" panose="020B0604030504040204" pitchFamily="34" charset="0"/>
                <a:ea typeface="华文新魏" panose="02010800040101010101" pitchFamily="2" charset="-122"/>
              </a:rPr>
              <a:t>树立系统观</a:t>
            </a:r>
          </a:p>
          <a:p>
            <a:pPr algn="ctr" eaLnBrk="1" hangingPunct="1">
              <a:spcBef>
                <a:spcPct val="0"/>
              </a:spcBef>
              <a:buClrTx/>
              <a:buSzTx/>
              <a:buFontTx/>
              <a:buNone/>
            </a:pPr>
            <a:r>
              <a:rPr lang="zh-CN" altLang="en-US" sz="3600" b="1">
                <a:solidFill>
                  <a:srgbClr val="FFFF66"/>
                </a:solidFill>
                <a:latin typeface="Verdana" panose="020B0604030504040204" pitchFamily="34" charset="0"/>
                <a:ea typeface="华文新魏" panose="02010800040101010101" pitchFamily="2" charset="-122"/>
              </a:rPr>
              <a:t>形成系统能力</a:t>
            </a:r>
            <a:endParaRPr lang="zh-CN" altLang="en-US" sz="3600" b="1">
              <a:solidFill>
                <a:srgbClr val="FFFF66"/>
              </a:solidFill>
              <a:latin typeface="Verdana" panose="020B0604030504040204" pitchFamily="34" charset="0"/>
              <a:ea typeface="华文新魏" panose="02010800040101010101" pitchFamily="2" charset="-122"/>
              <a:sym typeface="Symbol" panose="05050102010706020507" pitchFamily="18" charset="2"/>
            </a:endParaRPr>
          </a:p>
        </p:txBody>
      </p:sp>
      <p:sp>
        <p:nvSpPr>
          <p:cNvPr id="24637" name="Rectangle 60"/>
          <p:cNvSpPr>
            <a:spLocks noChangeArrowheads="1"/>
          </p:cNvSpPr>
          <p:nvPr/>
        </p:nvSpPr>
        <p:spPr bwMode="auto">
          <a:xfrm>
            <a:off x="2555875" y="1700213"/>
            <a:ext cx="3311525" cy="6032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0"/>
              </a:spcBef>
              <a:buClrTx/>
              <a:buSzTx/>
              <a:buFontTx/>
              <a:buNone/>
            </a:pPr>
            <a:r>
              <a:rPr lang="zh-CN" altLang="en-US" sz="2400" b="1">
                <a:solidFill>
                  <a:schemeClr val="bg1"/>
                </a:solidFill>
                <a:latin typeface="Verdana" panose="020B0604030504040204" pitchFamily="34" charset="0"/>
                <a:ea typeface="华文新魏" panose="02010800040101010101" pitchFamily="2" charset="-122"/>
              </a:rPr>
              <a:t>朴素：研究计算机理构建基本计算系统</a:t>
            </a:r>
          </a:p>
        </p:txBody>
      </p:sp>
      <p:sp>
        <p:nvSpPr>
          <p:cNvPr id="24638" name="Rectangle 60"/>
          <p:cNvSpPr>
            <a:spLocks noRot="1" noChangeArrowheads="1"/>
          </p:cNvSpPr>
          <p:nvPr/>
        </p:nvSpPr>
        <p:spPr bwMode="auto">
          <a:xfrm>
            <a:off x="611188" y="6237288"/>
            <a:ext cx="7632700" cy="576262"/>
          </a:xfrm>
          <a:prstGeom prst="rect">
            <a:avLst/>
          </a:prstGeom>
          <a:solidFill>
            <a:srgbClr val="FF00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0000"/>
            </a:extrusionClr>
            <a:contourClr>
              <a:srgbClr val="FF00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flatTx/>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chemeClr val="bg1"/>
                </a:solidFill>
                <a:ea typeface="华文新魏" panose="02010800040101010101" pitchFamily="2" charset="-122"/>
              </a:rPr>
              <a:t>编译原理的授课支持上述四种能力的培养</a:t>
            </a:r>
            <a:endParaRPr lang="en-US" altLang="zh-CN" b="1">
              <a:solidFill>
                <a:schemeClr val="bg1"/>
              </a:solidFill>
              <a:latin typeface="Wingdings" panose="05000000000000000000" pitchFamily="2" charset="2"/>
              <a:ea typeface="华文新魏" panose="02010800040101010101" pitchFamily="2"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8867B9A-9783-4A13-A636-FC21D6C80223}" type="datetime1">
              <a:rPr lang="zh-CN" altLang="en-US" sz="1400" smtClean="0"/>
              <a:pPr>
                <a:spcBef>
                  <a:spcPct val="0"/>
                </a:spcBef>
                <a:buClrTx/>
                <a:buSzTx/>
                <a:buFontTx/>
                <a:buNone/>
              </a:pPr>
              <a:t>2017/2/24</a:t>
            </a:fld>
            <a:endParaRPr lang="en-US" altLang="zh-CN" sz="1400" smtClean="0"/>
          </a:p>
        </p:txBody>
      </p:sp>
      <p:sp>
        <p:nvSpPr>
          <p:cNvPr id="2560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8117343-9C57-47CA-9DF8-250E00663942}" type="slidenum">
              <a:rPr lang="zh-CN" altLang="en-US" sz="1400"/>
              <a:pPr>
                <a:spcBef>
                  <a:spcPct val="0"/>
                </a:spcBef>
                <a:buClrTx/>
                <a:buSzTx/>
                <a:buFontTx/>
                <a:buNone/>
              </a:pPr>
              <a:t>21</a:t>
            </a:fld>
            <a:endParaRPr lang="en-US" altLang="zh-CN" sz="1400"/>
          </a:p>
        </p:txBody>
      </p:sp>
      <p:sp>
        <p:nvSpPr>
          <p:cNvPr id="25604" name="Rectangle 2"/>
          <p:cNvSpPr>
            <a:spLocks noGrp="1" noRot="1" noChangeArrowheads="1"/>
          </p:cNvSpPr>
          <p:nvPr>
            <p:ph type="title"/>
          </p:nvPr>
        </p:nvSpPr>
        <p:spPr>
          <a:xfrm>
            <a:off x="684213" y="549275"/>
            <a:ext cx="7772400" cy="838200"/>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教学目的</a:t>
            </a:r>
            <a:r>
              <a:rPr lang="zh-CN" altLang="en-US" sz="2400" b="1" smtClean="0">
                <a:solidFill>
                  <a:srgbClr val="000099"/>
                </a:solidFill>
                <a:latin typeface="Times New Roman" panose="02020603050405020304" pitchFamily="18" charset="0"/>
                <a:ea typeface="华文新魏" panose="02010800040101010101" pitchFamily="2" charset="-122"/>
              </a:rPr>
              <a:t>——编译原理是一门非常好的课程</a:t>
            </a:r>
          </a:p>
        </p:txBody>
      </p:sp>
      <p:sp>
        <p:nvSpPr>
          <p:cNvPr id="25605" name="Rectangle 3"/>
          <p:cNvSpPr>
            <a:spLocks noGrp="1" noRot="1" noChangeArrowheads="1"/>
          </p:cNvSpPr>
          <p:nvPr>
            <p:ph type="body" idx="1"/>
          </p:nvPr>
        </p:nvSpPr>
        <p:spPr>
          <a:xfrm>
            <a:off x="395288" y="1628775"/>
            <a:ext cx="8015287" cy="4713288"/>
          </a:xfrm>
        </p:spPr>
        <p:txBody>
          <a:bodyPr/>
          <a:lstStyle/>
          <a:p>
            <a:pPr eaLnBrk="1" hangingPunct="1">
              <a:spcBef>
                <a:spcPct val="50000"/>
              </a:spcBef>
            </a:pPr>
            <a:r>
              <a:rPr lang="en-US" altLang="zh-CN" b="1" smtClean="0">
                <a:solidFill>
                  <a:srgbClr val="085EDC"/>
                </a:solidFill>
                <a:latin typeface="Times New Roman" panose="02020603050405020304" pitchFamily="18" charset="0"/>
                <a:ea typeface="华文新魏" panose="02010800040101010101" pitchFamily="2" charset="-122"/>
              </a:rPr>
              <a:t>Alfred V.Aho：</a:t>
            </a:r>
            <a:r>
              <a:rPr lang="zh-CN" altLang="en-US" b="1" smtClean="0">
                <a:solidFill>
                  <a:srgbClr val="085EDC"/>
                </a:solidFill>
                <a:latin typeface="Times New Roman" panose="02020603050405020304" pitchFamily="18" charset="0"/>
                <a:ea typeface="华文新魏" panose="02010800040101010101" pitchFamily="2" charset="-122"/>
              </a:rPr>
              <a:t>编写编译器的原理和技术具有十分普遍的意义，以至于在每个计算机科学家的研究生涯中，本书中的原理和技术都会反复用到</a:t>
            </a:r>
          </a:p>
          <a:p>
            <a:pPr eaLnBrk="1" hangingPunct="1">
              <a:spcBef>
                <a:spcPct val="30000"/>
              </a:spcBef>
            </a:pPr>
            <a:r>
              <a:rPr lang="zh-CN" altLang="en-US" b="1" smtClean="0">
                <a:latin typeface="Times New Roman" panose="02020603050405020304" pitchFamily="18" charset="0"/>
                <a:ea typeface="华文新魏" panose="02010800040101010101" pitchFamily="2" charset="-122"/>
              </a:rPr>
              <a:t>一个相当规模的、逻辑结构清晰系统的设计</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含总体结构</a:t>
            </a:r>
            <a:r>
              <a:rPr lang="en-US" altLang="zh-CN" b="1" smtClean="0">
                <a:latin typeface="Times New Roman" panose="02020603050405020304" pitchFamily="18" charset="0"/>
                <a:ea typeface="华文新魏" panose="02010800040101010101" pitchFamily="2" charset="-122"/>
              </a:rPr>
              <a:t>)</a:t>
            </a:r>
          </a:p>
          <a:p>
            <a:pPr eaLnBrk="1" hangingPunct="1">
              <a:spcBef>
                <a:spcPct val="50000"/>
              </a:spcBef>
            </a:pPr>
            <a:r>
              <a:rPr lang="zh-CN" altLang="en-US" b="1" smtClean="0">
                <a:latin typeface="Times New Roman" panose="02020603050405020304" pitchFamily="18" charset="0"/>
                <a:ea typeface="华文新魏" panose="02010800040101010101" pitchFamily="2" charset="-122"/>
              </a:rPr>
              <a:t>既有一些具体的表示和变换算法，又是针对一类问题的求解</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自动计算的具体体现</a:t>
            </a:r>
            <a:r>
              <a:rPr lang="en-US" altLang="zh-CN" b="1" smtClean="0">
                <a:latin typeface="Times New Roman" panose="02020603050405020304" pitchFamily="18" charset="0"/>
                <a:ea typeface="华文新魏" panose="02010800040101010101" pitchFamily="2" charset="-122"/>
              </a:rPr>
              <a: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389E73F-40E8-4F02-9A24-3F6BA80D70D3}" type="datetime1">
              <a:rPr lang="zh-CN" altLang="en-US" sz="1400" smtClean="0"/>
              <a:pPr>
                <a:spcBef>
                  <a:spcPct val="0"/>
                </a:spcBef>
                <a:buClrTx/>
                <a:buSzTx/>
                <a:buFontTx/>
                <a:buNone/>
              </a:pPr>
              <a:t>2017/2/24</a:t>
            </a:fld>
            <a:endParaRPr lang="en-US" altLang="zh-CN" sz="1400" smtClean="0"/>
          </a:p>
        </p:txBody>
      </p:sp>
      <p:sp>
        <p:nvSpPr>
          <p:cNvPr id="2662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BF2F245-9E9B-452E-AA55-893293004615}" type="slidenum">
              <a:rPr lang="zh-CN" altLang="en-US" sz="1400"/>
              <a:pPr>
                <a:spcBef>
                  <a:spcPct val="0"/>
                </a:spcBef>
                <a:buClrTx/>
                <a:buSzTx/>
                <a:buFontTx/>
                <a:buNone/>
              </a:pPr>
              <a:t>22</a:t>
            </a:fld>
            <a:endParaRPr lang="en-US" altLang="zh-CN" sz="1400"/>
          </a:p>
        </p:txBody>
      </p:sp>
      <p:sp>
        <p:nvSpPr>
          <p:cNvPr id="26628" name="Rectangle 2"/>
          <p:cNvSpPr>
            <a:spLocks noGrp="1" noRot="1" noChangeArrowheads="1"/>
          </p:cNvSpPr>
          <p:nvPr>
            <p:ph type="title"/>
          </p:nvPr>
        </p:nvSpPr>
        <p:spPr>
          <a:xfrm>
            <a:off x="900113" y="476250"/>
            <a:ext cx="7772400" cy="838200"/>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教学目的</a:t>
            </a:r>
            <a:r>
              <a:rPr lang="zh-CN" altLang="en-US" sz="2400" b="1" smtClean="0">
                <a:solidFill>
                  <a:srgbClr val="000099"/>
                </a:solidFill>
                <a:latin typeface="Times New Roman" panose="02020603050405020304" pitchFamily="18" charset="0"/>
                <a:ea typeface="华文新魏" panose="02010800040101010101" pitchFamily="2" charset="-122"/>
              </a:rPr>
              <a:t>——编译原理是一门非常好的课程</a:t>
            </a:r>
          </a:p>
        </p:txBody>
      </p:sp>
      <p:sp>
        <p:nvSpPr>
          <p:cNvPr id="26629" name="Rectangle 3"/>
          <p:cNvSpPr>
            <a:spLocks noGrp="1" noRot="1" noChangeArrowheads="1"/>
          </p:cNvSpPr>
          <p:nvPr>
            <p:ph type="body" idx="1"/>
          </p:nvPr>
        </p:nvSpPr>
        <p:spPr>
          <a:xfrm>
            <a:off x="539750" y="1484313"/>
            <a:ext cx="8015288" cy="4824412"/>
          </a:xfrm>
        </p:spPr>
        <p:txBody>
          <a:bodyPr/>
          <a:lstStyle/>
          <a:p>
            <a:pPr eaLnBrk="1" hangingPunct="1">
              <a:spcBef>
                <a:spcPct val="30000"/>
              </a:spcBef>
            </a:pPr>
            <a:r>
              <a:rPr lang="zh-CN" altLang="en-US" b="1" smtClean="0">
                <a:latin typeface="Times New Roman" panose="02020603050405020304" pitchFamily="18" charset="0"/>
                <a:ea typeface="华文新魏" panose="02010800040101010101" pitchFamily="2" charset="-122"/>
              </a:rPr>
              <a:t>还有“自顶向下”和“自底向上”等系统设计方法</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思想、方法、实现</a:t>
            </a:r>
            <a:r>
              <a:rPr lang="en-US" altLang="zh-CN" b="1" smtClean="0">
                <a:latin typeface="Times New Roman" panose="02020603050405020304" pitchFamily="18" charset="0"/>
                <a:ea typeface="华文新魏" panose="02010800040101010101" pitchFamily="2" charset="-122"/>
              </a:rPr>
              <a:t>)</a:t>
            </a:r>
          </a:p>
          <a:p>
            <a:pPr eaLnBrk="1" hangingPunct="1">
              <a:spcBef>
                <a:spcPct val="30000"/>
              </a:spcBef>
            </a:pPr>
            <a:r>
              <a:rPr lang="zh-CN" altLang="en-US" b="1" smtClean="0">
                <a:latin typeface="Times New Roman" panose="02020603050405020304" pitchFamily="18" charset="0"/>
                <a:ea typeface="华文新魏" panose="02010800040101010101" pitchFamily="2" charset="-122"/>
              </a:rPr>
              <a:t>结论</a:t>
            </a:r>
          </a:p>
          <a:p>
            <a:pPr lvl="1" eaLnBrk="1" hangingPunct="1">
              <a:spcBef>
                <a:spcPct val="30000"/>
              </a:spcBef>
            </a:pPr>
            <a:r>
              <a:rPr lang="zh-CN" altLang="en-US" b="1" smtClean="0">
                <a:solidFill>
                  <a:srgbClr val="800080"/>
                </a:solidFill>
                <a:latin typeface="Times New Roman" panose="02020603050405020304" pitchFamily="18" charset="0"/>
                <a:ea typeface="华文新魏" panose="02010800040101010101" pitchFamily="2" charset="-122"/>
              </a:rPr>
              <a:t>计算机专业最恰当、有效的知识载体之一</a:t>
            </a:r>
          </a:p>
          <a:p>
            <a:pPr eaLnBrk="1" hangingPunct="1">
              <a:spcBef>
                <a:spcPct val="30000"/>
              </a:spcBef>
            </a:pPr>
            <a:r>
              <a:rPr lang="zh-CN" altLang="en-US" b="1" smtClean="0">
                <a:solidFill>
                  <a:srgbClr val="085EDC"/>
                </a:solidFill>
                <a:latin typeface="Times New Roman" panose="02020603050405020304" pitchFamily="18" charset="0"/>
                <a:ea typeface="华文新魏" panose="02010800040101010101" pitchFamily="2" charset="-122"/>
              </a:rPr>
              <a:t>目标：掌握“编译原理”中的基本概念、基本理论、基本方法，在系统级上再认识程序和算法，提升计算机问题求解的水平，增强系统能力，体验实现自动计算的乐趣</a:t>
            </a:r>
            <a:r>
              <a:rPr lang="zh-CN" altLang="en-US" b="1" smtClean="0">
                <a:latin typeface="Times New Roman" panose="02020603050405020304" pitchFamily="18" charset="0"/>
                <a:ea typeface="华文新魏" panose="02010800040101010101" pitchFamily="2" charset="-122"/>
              </a:rPr>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1E6FE8F-9D16-40A7-AD4E-DFB47BA11B52}" type="datetime1">
              <a:rPr lang="zh-CN" altLang="en-US" sz="1400" smtClean="0"/>
              <a:pPr>
                <a:spcBef>
                  <a:spcPct val="0"/>
                </a:spcBef>
                <a:buClrTx/>
                <a:buSzTx/>
                <a:buFontTx/>
                <a:buNone/>
              </a:pPr>
              <a:t>2017/2/24</a:t>
            </a:fld>
            <a:endParaRPr lang="en-US" altLang="zh-CN" sz="1400" smtClean="0"/>
          </a:p>
        </p:txBody>
      </p:sp>
      <p:sp>
        <p:nvSpPr>
          <p:cNvPr id="2765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C04D580-FD60-45C8-8BB8-23C8A75ED091}" type="slidenum">
              <a:rPr lang="zh-CN" altLang="en-US" sz="1400"/>
              <a:pPr>
                <a:spcBef>
                  <a:spcPct val="0"/>
                </a:spcBef>
                <a:buClrTx/>
                <a:buSzTx/>
                <a:buFontTx/>
                <a:buNone/>
              </a:pPr>
              <a:t>23</a:t>
            </a:fld>
            <a:endParaRPr lang="en-US" altLang="zh-CN" sz="1400"/>
          </a:p>
        </p:txBody>
      </p:sp>
      <p:sp>
        <p:nvSpPr>
          <p:cNvPr id="27652" name="Rectangle 2"/>
          <p:cNvSpPr>
            <a:spLocks noGrp="1" noRot="1" noChangeArrowheads="1"/>
          </p:cNvSpPr>
          <p:nvPr>
            <p:ph type="title"/>
          </p:nvPr>
        </p:nvSpPr>
        <p:spPr>
          <a:xfrm>
            <a:off x="301625" y="609600"/>
            <a:ext cx="8540750" cy="947738"/>
          </a:xfrm>
        </p:spPr>
        <p:txBody>
          <a:bodyPr/>
          <a:lstStyle/>
          <a:p>
            <a:pPr eaLnBrk="1" hangingPunct="1"/>
            <a:r>
              <a:rPr lang="zh-CN" altLang="en-US" sz="4800" b="1" smtClean="0">
                <a:solidFill>
                  <a:srgbClr val="000099"/>
                </a:solidFill>
                <a:latin typeface="Times New Roman" panose="02020603050405020304" pitchFamily="18" charset="0"/>
                <a:ea typeface="华文新魏" panose="02010800040101010101" pitchFamily="2" charset="-122"/>
              </a:rPr>
              <a:t>教学要求</a:t>
            </a:r>
            <a:endParaRPr lang="zh-CN" altLang="en-US" sz="2800" b="1" smtClean="0">
              <a:solidFill>
                <a:srgbClr val="000099"/>
              </a:solidFill>
              <a:latin typeface="Times New Roman" panose="02020603050405020304" pitchFamily="18" charset="0"/>
              <a:ea typeface="华文新魏" panose="02010800040101010101" pitchFamily="2" charset="-122"/>
            </a:endParaRPr>
          </a:p>
        </p:txBody>
      </p:sp>
      <p:sp>
        <p:nvSpPr>
          <p:cNvPr id="27653" name="Rectangle 3"/>
          <p:cNvSpPr>
            <a:spLocks noGrp="1" noRot="1" noChangeArrowheads="1"/>
          </p:cNvSpPr>
          <p:nvPr>
            <p:ph type="body" idx="1"/>
          </p:nvPr>
        </p:nvSpPr>
        <p:spPr>
          <a:xfrm>
            <a:off x="468313" y="1700213"/>
            <a:ext cx="8280400" cy="4681537"/>
          </a:xfrm>
        </p:spPr>
        <p:txBody>
          <a:bodyPr/>
          <a:lstStyle/>
          <a:p>
            <a:pPr eaLnBrk="1" hangingPunct="1"/>
            <a:r>
              <a:rPr lang="zh-CN" altLang="en-US" sz="2800" b="1" smtClean="0">
                <a:latin typeface="Times New Roman" panose="02020603050405020304" pitchFamily="18" charset="0"/>
                <a:ea typeface="华文新魏" panose="02010800040101010101" pitchFamily="2" charset="-122"/>
              </a:rPr>
              <a:t>知识层面：掌握程序变换基本概念、问题描述和处理方法，学习有关的原理、实现方法和技术</a:t>
            </a:r>
            <a:endParaRPr lang="en-US" altLang="zh-CN" sz="2800" b="1" smtClean="0">
              <a:latin typeface="Times New Roman" panose="02020603050405020304" pitchFamily="18" charset="0"/>
              <a:ea typeface="华文新魏" panose="02010800040101010101" pitchFamily="2" charset="-122"/>
            </a:endParaRPr>
          </a:p>
          <a:p>
            <a:pPr lvl="1" eaLnBrk="1" hangingPunct="1"/>
            <a:r>
              <a:rPr lang="zh-CN" altLang="en-US" sz="2400" b="1" smtClean="0">
                <a:latin typeface="Times New Roman" panose="02020603050405020304" pitchFamily="18" charset="0"/>
                <a:ea typeface="华文新魏" panose="02010800040101010101" pitchFamily="2" charset="-122"/>
              </a:rPr>
              <a:t>程序语言：文法、结构表示</a:t>
            </a:r>
          </a:p>
          <a:p>
            <a:pPr lvl="1" eaLnBrk="1" hangingPunct="1"/>
            <a:r>
              <a:rPr lang="zh-CN" altLang="en-US" sz="2400" b="1" smtClean="0">
                <a:latin typeface="Times New Roman" panose="02020603050405020304" pitchFamily="18" charset="0"/>
                <a:ea typeface="华文新魏" panose="02010800040101010101" pitchFamily="2" charset="-122"/>
              </a:rPr>
              <a:t>编译程序总体结构</a:t>
            </a:r>
          </a:p>
          <a:p>
            <a:pPr lvl="1" eaLnBrk="1" hangingPunct="1"/>
            <a:r>
              <a:rPr lang="zh-CN" altLang="en-US" sz="2400" b="1" smtClean="0">
                <a:latin typeface="Times New Roman" panose="02020603050405020304" pitchFamily="18" charset="0"/>
                <a:ea typeface="华文新魏" panose="02010800040101010101" pitchFamily="2" charset="-122"/>
              </a:rPr>
              <a:t>词法分析：单词表示、缓冲区设计、</a:t>
            </a:r>
            <a:r>
              <a:rPr lang="en-US" altLang="zh-CN" sz="2400" b="1" smtClean="0">
                <a:latin typeface="Times New Roman" panose="02020603050405020304" pitchFamily="18" charset="0"/>
                <a:ea typeface="华文新魏" panose="02010800040101010101" pitchFamily="2" charset="-122"/>
              </a:rPr>
              <a:t>FA</a:t>
            </a:r>
          </a:p>
          <a:p>
            <a:pPr lvl="1" eaLnBrk="1" hangingPunct="1"/>
            <a:r>
              <a:rPr lang="zh-CN" altLang="en-US" sz="2400" b="1" smtClean="0">
                <a:latin typeface="Times New Roman" panose="02020603050405020304" pitchFamily="18" charset="0"/>
                <a:ea typeface="华文新魏" panose="02010800040101010101" pitchFamily="2" charset="-122"/>
              </a:rPr>
              <a:t>语法分析：</a:t>
            </a:r>
            <a:r>
              <a:rPr lang="en-US" altLang="zh-CN" sz="2400" b="1" smtClean="0">
                <a:latin typeface="Times New Roman" panose="02020603050405020304" pitchFamily="18" charset="0"/>
                <a:ea typeface="华文新魏" panose="02010800040101010101" pitchFamily="2" charset="-122"/>
              </a:rPr>
              <a:t>LL</a:t>
            </a:r>
            <a:r>
              <a:rPr lang="zh-CN" altLang="en-US" sz="2400" b="1" smtClean="0">
                <a:latin typeface="Times New Roman" panose="02020603050405020304" pitchFamily="18" charset="0"/>
                <a:ea typeface="华文新魏" panose="02010800040101010101" pitchFamily="2" charset="-122"/>
              </a:rPr>
              <a:t>、递归子程序、算符优先、</a:t>
            </a:r>
            <a:r>
              <a:rPr lang="en-US" altLang="zh-CN" sz="2400" b="1" smtClean="0">
                <a:latin typeface="Times New Roman" panose="02020603050405020304" pitchFamily="18" charset="0"/>
                <a:ea typeface="华文新魏" panose="02010800040101010101" pitchFamily="2" charset="-122"/>
              </a:rPr>
              <a:t>LR</a:t>
            </a:r>
          </a:p>
          <a:p>
            <a:pPr lvl="1" eaLnBrk="1" hangingPunct="1"/>
            <a:r>
              <a:rPr lang="zh-CN" altLang="en-US" sz="2400" b="1" smtClean="0">
                <a:latin typeface="Times New Roman" panose="02020603050405020304" pitchFamily="18" charset="0"/>
                <a:ea typeface="华文新魏" panose="02010800040101010101" pitchFamily="2" charset="-122"/>
              </a:rPr>
              <a:t>语义分析：属性表示与计算、目标代码与变换</a:t>
            </a:r>
          </a:p>
          <a:p>
            <a:pPr lvl="1" eaLnBrk="1" hangingPunct="1"/>
            <a:r>
              <a:rPr lang="zh-CN" altLang="en-US" sz="2400" b="1" smtClean="0">
                <a:latin typeface="Times New Roman" panose="02020603050405020304" pitchFamily="18" charset="0"/>
                <a:ea typeface="华文新魏" panose="02010800040101010101" pitchFamily="2" charset="-122"/>
              </a:rPr>
              <a:t>优化：基本优化点和优化方法</a:t>
            </a:r>
          </a:p>
          <a:p>
            <a:pPr lvl="1" eaLnBrk="1" hangingPunct="1"/>
            <a:r>
              <a:rPr lang="zh-CN" altLang="en-US" sz="2400" b="1" smtClean="0">
                <a:latin typeface="Times New Roman" panose="02020603050405020304" pitchFamily="18" charset="0"/>
                <a:ea typeface="华文新魏" panose="02010800040101010101" pitchFamily="2" charset="-122"/>
              </a:rPr>
              <a:t>出错处理：基本方法</a:t>
            </a:r>
          </a:p>
          <a:p>
            <a:pPr lvl="1" eaLnBrk="1" hangingPunct="1"/>
            <a:r>
              <a:rPr lang="zh-CN" altLang="en-US" sz="2400" b="1" smtClean="0">
                <a:latin typeface="Times New Roman" panose="02020603050405020304" pitchFamily="18" charset="0"/>
                <a:ea typeface="华文新魏" panose="02010800040101010101" pitchFamily="2" charset="-122"/>
              </a:rPr>
              <a:t>相关数据结构</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65759E9-1632-4C0F-97D9-5CE3F70BFAEF}" type="datetime1">
              <a:rPr lang="zh-CN" altLang="en-US" sz="1400" smtClean="0"/>
              <a:pPr>
                <a:spcBef>
                  <a:spcPct val="0"/>
                </a:spcBef>
                <a:buClrTx/>
                <a:buSzTx/>
                <a:buFontTx/>
                <a:buNone/>
              </a:pPr>
              <a:t>2017/2/24</a:t>
            </a:fld>
            <a:endParaRPr lang="en-US" altLang="zh-CN" sz="1400" smtClean="0"/>
          </a:p>
        </p:txBody>
      </p:sp>
      <p:sp>
        <p:nvSpPr>
          <p:cNvPr id="2867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5ECB020-A7C6-4AD6-82C1-3C63D132DC94}" type="slidenum">
              <a:rPr lang="zh-CN" altLang="en-US" sz="1400"/>
              <a:pPr>
                <a:spcBef>
                  <a:spcPct val="0"/>
                </a:spcBef>
                <a:buClrTx/>
                <a:buSzTx/>
                <a:buFontTx/>
                <a:buNone/>
              </a:pPr>
              <a:t>24</a:t>
            </a:fld>
            <a:endParaRPr lang="en-US" altLang="zh-CN" sz="1400"/>
          </a:p>
        </p:txBody>
      </p:sp>
      <p:sp>
        <p:nvSpPr>
          <p:cNvPr id="28676" name="Rectangle 2"/>
          <p:cNvSpPr>
            <a:spLocks noGrp="1" noRot="1" noChangeArrowheads="1"/>
          </p:cNvSpPr>
          <p:nvPr>
            <p:ph type="title"/>
          </p:nvPr>
        </p:nvSpPr>
        <p:spPr>
          <a:xfrm>
            <a:off x="301625" y="609600"/>
            <a:ext cx="8540750" cy="947738"/>
          </a:xfrm>
        </p:spPr>
        <p:txBody>
          <a:bodyPr/>
          <a:lstStyle/>
          <a:p>
            <a:pPr eaLnBrk="1" hangingPunct="1"/>
            <a:r>
              <a:rPr lang="zh-CN" altLang="en-US" sz="4800" b="1" smtClean="0">
                <a:solidFill>
                  <a:srgbClr val="000099"/>
                </a:solidFill>
                <a:latin typeface="Times New Roman" panose="02020603050405020304" pitchFamily="18" charset="0"/>
                <a:ea typeface="华文新魏" panose="02010800040101010101" pitchFamily="2" charset="-122"/>
              </a:rPr>
              <a:t>教学要求</a:t>
            </a:r>
            <a:endParaRPr lang="zh-CN" altLang="en-US" sz="2800" b="1" smtClean="0">
              <a:solidFill>
                <a:srgbClr val="000099"/>
              </a:solidFill>
              <a:latin typeface="Times New Roman" panose="02020603050405020304" pitchFamily="18" charset="0"/>
              <a:ea typeface="华文新魏" panose="02010800040101010101" pitchFamily="2" charset="-122"/>
            </a:endParaRPr>
          </a:p>
        </p:txBody>
      </p:sp>
      <p:sp>
        <p:nvSpPr>
          <p:cNvPr id="28677" name="Rectangle 3"/>
          <p:cNvSpPr>
            <a:spLocks noGrp="1" noRot="1" noChangeArrowheads="1"/>
          </p:cNvSpPr>
          <p:nvPr>
            <p:ph type="body" idx="1"/>
          </p:nvPr>
        </p:nvSpPr>
        <p:spPr>
          <a:xfrm>
            <a:off x="468313" y="1700213"/>
            <a:ext cx="8280400" cy="4537075"/>
          </a:xfrm>
        </p:spPr>
        <p:txBody>
          <a:bodyPr/>
          <a:lstStyle/>
          <a:p>
            <a:pPr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学科方法层面</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掌握典型的问题求解方法</a:t>
            </a:r>
            <a:endParaRPr lang="en-US" altLang="zh-CN" b="1" smtClean="0">
              <a:latin typeface="Times New Roman" panose="02020603050405020304" pitchFamily="18" charset="0"/>
              <a:ea typeface="华文新魏" panose="02010800040101010101" pitchFamily="2" charset="-122"/>
            </a:endParaRP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自顶向下分析、设计</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自底向上分析、设计</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逐步求精</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模块化 </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递归求解</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目标驱动</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问题的抽象与形式化描述</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6B0455B-5B07-4D64-AF97-F53871968A58}" type="datetime1">
              <a:rPr lang="zh-CN" altLang="en-US" sz="1400" smtClean="0"/>
              <a:pPr>
                <a:spcBef>
                  <a:spcPct val="0"/>
                </a:spcBef>
                <a:buClrTx/>
                <a:buSzTx/>
                <a:buFontTx/>
                <a:buNone/>
              </a:pPr>
              <a:t>2017/2/24</a:t>
            </a:fld>
            <a:endParaRPr lang="en-US" altLang="zh-CN" sz="1400" smtClean="0"/>
          </a:p>
        </p:txBody>
      </p:sp>
      <p:sp>
        <p:nvSpPr>
          <p:cNvPr id="2969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1D541C2-7FC0-4C6F-8C37-83B869C9D430}" type="slidenum">
              <a:rPr lang="zh-CN" altLang="en-US" sz="1400"/>
              <a:pPr>
                <a:spcBef>
                  <a:spcPct val="0"/>
                </a:spcBef>
                <a:buClrTx/>
                <a:buSzTx/>
                <a:buFontTx/>
                <a:buNone/>
              </a:pPr>
              <a:t>25</a:t>
            </a:fld>
            <a:endParaRPr lang="en-US" altLang="zh-CN" sz="1400"/>
          </a:p>
        </p:txBody>
      </p:sp>
      <p:sp>
        <p:nvSpPr>
          <p:cNvPr id="29700" name="Rectangle 2"/>
          <p:cNvSpPr>
            <a:spLocks noGrp="1" noRot="1" noChangeArrowheads="1"/>
          </p:cNvSpPr>
          <p:nvPr>
            <p:ph type="title"/>
          </p:nvPr>
        </p:nvSpPr>
        <p:spPr>
          <a:xfrm>
            <a:off x="1187450" y="620713"/>
            <a:ext cx="5753100" cy="655637"/>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教学要求</a:t>
            </a:r>
          </a:p>
        </p:txBody>
      </p:sp>
      <p:sp>
        <p:nvSpPr>
          <p:cNvPr id="29701" name="Rectangle 3"/>
          <p:cNvSpPr>
            <a:spLocks noGrp="1" noRot="1" noChangeArrowheads="1"/>
          </p:cNvSpPr>
          <p:nvPr>
            <p:ph type="body" idx="1"/>
          </p:nvPr>
        </p:nvSpPr>
        <p:spPr>
          <a:xfrm>
            <a:off x="539750" y="1484313"/>
            <a:ext cx="8015288" cy="5040312"/>
          </a:xfrm>
        </p:spPr>
        <p:txBody>
          <a:bodyPr/>
          <a:lstStyle/>
          <a:p>
            <a:pPr eaLnBrk="1" hangingPunct="1">
              <a:lnSpc>
                <a:spcPct val="90000"/>
              </a:lnSpc>
            </a:pPr>
            <a:r>
              <a:rPr lang="zh-CN" altLang="en-US" b="1" smtClean="0">
                <a:latin typeface="Times New Roman" panose="02020603050405020304" pitchFamily="18" charset="0"/>
                <a:ea typeface="华文新魏" panose="02010800040101010101" pitchFamily="2" charset="-122"/>
              </a:rPr>
              <a:t>能力层面</a:t>
            </a: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理论与实践结合：理论指导系统实现</a:t>
            </a:r>
            <a:endParaRPr lang="en-US" altLang="zh-CN" b="1" smtClean="0">
              <a:latin typeface="Times New Roman" panose="02020603050405020304" pitchFamily="18" charset="0"/>
              <a:ea typeface="华文新魏" panose="02010800040101010101" pitchFamily="2" charset="-122"/>
            </a:endParaRP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系统：站上系统的高度，进行系统的设计与实现，从宏观到微观、从微观到宏观，提高把握系统的能力，在</a:t>
            </a:r>
            <a:r>
              <a:rPr lang="zh-CN" altLang="en-US" b="1" smtClean="0">
                <a:solidFill>
                  <a:srgbClr val="FF3300"/>
                </a:solidFill>
                <a:latin typeface="Times New Roman" panose="02020603050405020304" pitchFamily="18" charset="0"/>
                <a:ea typeface="华文新魏" panose="02010800040101010101" pitchFamily="2" charset="-122"/>
              </a:rPr>
              <a:t>系统级</a:t>
            </a:r>
            <a:r>
              <a:rPr lang="zh-CN" altLang="en-US" b="1" smtClean="0">
                <a:latin typeface="Times New Roman" panose="02020603050405020304" pitchFamily="18" charset="0"/>
                <a:ea typeface="华文新魏" panose="02010800040101010101" pitchFamily="2" charset="-122"/>
              </a:rPr>
              <a:t>上认识算法</a:t>
            </a:r>
          </a:p>
          <a:p>
            <a:pPr lvl="2" eaLnBrk="1" hangingPunct="1">
              <a:lnSpc>
                <a:spcPct val="90000"/>
              </a:lnSpc>
            </a:pPr>
            <a:r>
              <a:rPr lang="zh-CN" altLang="en-US" b="1" smtClean="0">
                <a:latin typeface="Times New Roman" panose="02020603050405020304" pitchFamily="18" charset="0"/>
                <a:ea typeface="华文新魏" panose="02010800040101010101" pitchFamily="2" charset="-122"/>
              </a:rPr>
              <a:t>较大规模程序的设计与实现</a:t>
            </a: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形式化描述：修养“问题、形式化描述、计算机化”问题求解典型过程，推进从“实例计算”到“类计算”和“模型计算”的跨越</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算法设计与程序实现 </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数据结构的选择与使用</a:t>
            </a:r>
            <a:r>
              <a:rPr lang="en-US" altLang="zh-CN" b="1" smtClean="0">
                <a:latin typeface="Times New Roman" panose="02020603050405020304" pitchFamily="18" charset="0"/>
                <a:ea typeface="华文新魏" panose="02010800040101010101" pitchFamily="2" charset="-122"/>
              </a:rPr>
              <a:t>)</a:t>
            </a:r>
          </a:p>
          <a:p>
            <a:pPr lvl="1" eaLnBrk="1" hangingPunct="1">
              <a:lnSpc>
                <a:spcPct val="90000"/>
              </a:lnSpc>
              <a:spcBef>
                <a:spcPct val="40000"/>
              </a:spcBef>
            </a:pPr>
            <a:r>
              <a:rPr lang="zh-CN" altLang="en-US" b="1" smtClean="0">
                <a:latin typeface="Times New Roman" panose="02020603050405020304" pitchFamily="18" charset="0"/>
                <a:ea typeface="华文新魏" panose="02010800040101010101" pitchFamily="2" charset="-122"/>
              </a:rPr>
              <a:t>团队合作</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48EE024-00EF-4786-8437-1C9CBEF2E5DB}" type="datetime1">
              <a:rPr lang="zh-CN" altLang="en-US" sz="1400" smtClean="0"/>
              <a:pPr>
                <a:spcBef>
                  <a:spcPct val="0"/>
                </a:spcBef>
                <a:buClrTx/>
                <a:buSzTx/>
                <a:buFontTx/>
                <a:buNone/>
              </a:pPr>
              <a:t>2017/2/24</a:t>
            </a:fld>
            <a:endParaRPr lang="en-US" altLang="zh-CN" sz="1400" smtClean="0"/>
          </a:p>
        </p:txBody>
      </p:sp>
      <p:sp>
        <p:nvSpPr>
          <p:cNvPr id="3072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105136B-FB85-4E04-A547-0E365A589B4D}" type="slidenum">
              <a:rPr lang="zh-CN" altLang="en-US" sz="1400"/>
              <a:pPr>
                <a:spcBef>
                  <a:spcPct val="0"/>
                </a:spcBef>
                <a:buClrTx/>
                <a:buSzTx/>
                <a:buFontTx/>
                <a:buNone/>
              </a:pPr>
              <a:t>26</a:t>
            </a:fld>
            <a:endParaRPr lang="en-US" altLang="zh-CN" sz="1400"/>
          </a:p>
        </p:txBody>
      </p:sp>
      <p:sp>
        <p:nvSpPr>
          <p:cNvPr id="30724" name="Rectangle 2"/>
          <p:cNvSpPr>
            <a:spLocks noGrp="1" noRot="1" noChangeArrowheads="1"/>
          </p:cNvSpPr>
          <p:nvPr>
            <p:ph type="title"/>
          </p:nvPr>
        </p:nvSpPr>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学习方法</a:t>
            </a:r>
          </a:p>
        </p:txBody>
      </p:sp>
      <p:sp>
        <p:nvSpPr>
          <p:cNvPr id="30725" name="Rectangle 3"/>
          <p:cNvSpPr>
            <a:spLocks noGrp="1" noRot="1" noChangeArrowheads="1"/>
          </p:cNvSpPr>
          <p:nvPr>
            <p:ph type="body" idx="1"/>
          </p:nvPr>
        </p:nvSpPr>
        <p:spPr>
          <a:xfrm>
            <a:off x="323850" y="1752600"/>
            <a:ext cx="8569325" cy="4484688"/>
          </a:xfrm>
        </p:spPr>
        <p:txBody>
          <a:bodyPr/>
          <a:lstStyle/>
          <a:p>
            <a:pPr eaLnBrk="1" hangingPunct="1">
              <a:spcBef>
                <a:spcPct val="40000"/>
              </a:spcBef>
            </a:pPr>
            <a:r>
              <a:rPr lang="zh-CN" altLang="en-US" sz="3600" b="1" smtClean="0">
                <a:latin typeface="Times New Roman" panose="02020603050405020304" pitchFamily="18" charset="0"/>
                <a:ea typeface="华文新魏" panose="02010800040101010101" pitchFamily="2" charset="-122"/>
              </a:rPr>
              <a:t>理论指导实践</a:t>
            </a:r>
          </a:p>
          <a:p>
            <a:pPr lvl="1" eaLnBrk="1" hangingPunct="1">
              <a:spcBef>
                <a:spcPct val="40000"/>
              </a:spcBef>
            </a:pPr>
            <a:r>
              <a:rPr lang="zh-CN" altLang="en-US" sz="2600" b="1" smtClean="0">
                <a:latin typeface="Times New Roman" panose="02020603050405020304" pitchFamily="18" charset="0"/>
                <a:ea typeface="华文新魏" panose="02010800040101010101" pitchFamily="2" charset="-122"/>
              </a:rPr>
              <a:t>强化理论与实践相结合能力的培养</a:t>
            </a:r>
            <a:r>
              <a:rPr lang="en-US" altLang="zh-CN" sz="2600" b="1" smtClean="0">
                <a:latin typeface="Times New Roman" panose="02020603050405020304" pitchFamily="18" charset="0"/>
                <a:ea typeface="华文新魏" panose="02010800040101010101" pitchFamily="2" charset="-122"/>
              </a:rPr>
              <a:t>——</a:t>
            </a:r>
            <a:r>
              <a:rPr lang="zh-CN" altLang="en-US" sz="2600" b="1" smtClean="0">
                <a:latin typeface="Times New Roman" panose="02020603050405020304" pitchFamily="18" charset="0"/>
                <a:ea typeface="华文新魏" panose="02010800040101010101" pitchFamily="2" charset="-122"/>
              </a:rPr>
              <a:t>在理论指导下实践</a:t>
            </a:r>
          </a:p>
          <a:p>
            <a:pPr lvl="2" eaLnBrk="1" hangingPunct="1">
              <a:spcBef>
                <a:spcPct val="40000"/>
              </a:spcBef>
            </a:pPr>
            <a:r>
              <a:rPr lang="zh-CN" altLang="en-US" sz="2100" b="1" smtClean="0">
                <a:latin typeface="Times New Roman" panose="02020603050405020304" pitchFamily="18" charset="0"/>
                <a:ea typeface="华文新魏" panose="02010800040101010101" pitchFamily="2" charset="-122"/>
              </a:rPr>
              <a:t>“轮子”与人类的认识</a:t>
            </a:r>
          </a:p>
          <a:p>
            <a:pPr lvl="2" eaLnBrk="1" hangingPunct="1">
              <a:spcBef>
                <a:spcPct val="40000"/>
              </a:spcBef>
            </a:pPr>
            <a:r>
              <a:rPr lang="zh-CN" altLang="en-US" sz="2100" b="1" smtClean="0">
                <a:latin typeface="Times New Roman" panose="02020603050405020304" pitchFamily="18" charset="0"/>
                <a:ea typeface="华文新魏" panose="02010800040101010101" pitchFamily="2" charset="-122"/>
              </a:rPr>
              <a:t>用“动脑”指挥“动手”</a:t>
            </a:r>
          </a:p>
          <a:p>
            <a:pPr lvl="1" eaLnBrk="1" hangingPunct="1">
              <a:spcBef>
                <a:spcPct val="40000"/>
              </a:spcBef>
            </a:pPr>
            <a:r>
              <a:rPr lang="zh-CN" altLang="en-US" sz="2600" b="1" smtClean="0">
                <a:latin typeface="Times New Roman" panose="02020603050405020304" pitchFamily="18" charset="0"/>
                <a:ea typeface="华文新魏" panose="02010800040101010101" pitchFamily="2" charset="-122"/>
              </a:rPr>
              <a:t>理论：使自己“站到巨人的肩膀上”，并拥有一个“智慧的脑” </a:t>
            </a:r>
            <a:r>
              <a:rPr lang="en-US" altLang="zh-CN" sz="2600" b="1" smtClean="0">
                <a:latin typeface="Times New Roman" panose="02020603050405020304" pitchFamily="18" charset="0"/>
                <a:ea typeface="华文新魏" panose="02010800040101010101" pitchFamily="2" charset="-122"/>
              </a:rPr>
              <a:t>——</a:t>
            </a:r>
            <a:r>
              <a:rPr lang="zh-CN" altLang="en-US" sz="2600" b="1" smtClean="0">
                <a:latin typeface="Times New Roman" panose="02020603050405020304" pitchFamily="18" charset="0"/>
                <a:ea typeface="华文新魏" panose="02010800040101010101" pitchFamily="2" charset="-122"/>
              </a:rPr>
              <a:t>增加问题求解和探索的主动性</a:t>
            </a:r>
          </a:p>
          <a:p>
            <a:pPr lvl="1" eaLnBrk="1" hangingPunct="1">
              <a:spcBef>
                <a:spcPct val="40000"/>
              </a:spcBef>
            </a:pPr>
            <a:r>
              <a:rPr lang="zh-CN" altLang="en-US" sz="2600" b="1" smtClean="0">
                <a:latin typeface="Times New Roman" panose="02020603050405020304" pitchFamily="18" charset="0"/>
                <a:ea typeface="华文新魏" panose="02010800040101010101" pitchFamily="2" charset="-122"/>
              </a:rPr>
              <a:t>实践：理论指导下的实践，用智慧的脑，练就一双灵巧的手，开创一个新世界</a:t>
            </a:r>
            <a:r>
              <a:rPr lang="en-US" altLang="zh-CN" sz="2600" b="1" smtClean="0">
                <a:latin typeface="Times New Roman" panose="02020603050405020304" pitchFamily="18" charset="0"/>
                <a:ea typeface="华文新魏" panose="02010800040101010101" pitchFamily="2" charset="-122"/>
              </a:rPr>
              <a:t>——</a:t>
            </a:r>
            <a:r>
              <a:rPr lang="zh-CN" altLang="en-US" sz="2600" b="1" smtClean="0">
                <a:latin typeface="Times New Roman" panose="02020603050405020304" pitchFamily="18" charset="0"/>
                <a:ea typeface="华文新魏" panose="02010800040101010101" pitchFamily="2" charset="-122"/>
              </a:rPr>
              <a:t>希望创新性实践</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6C2EEA7-35BF-434E-8F8F-A14A0AF23A76}" type="datetime1">
              <a:rPr lang="zh-CN" altLang="en-US" sz="1400" smtClean="0"/>
              <a:pPr>
                <a:spcBef>
                  <a:spcPct val="0"/>
                </a:spcBef>
                <a:buClrTx/>
                <a:buSzTx/>
                <a:buFontTx/>
                <a:buNone/>
              </a:pPr>
              <a:t>2017/2/24</a:t>
            </a:fld>
            <a:endParaRPr lang="en-US" altLang="zh-CN" sz="1400" smtClean="0"/>
          </a:p>
        </p:txBody>
      </p:sp>
      <p:sp>
        <p:nvSpPr>
          <p:cNvPr id="3174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548C9BF-DE9B-4E0C-B705-3BCFEA6B7595}" type="slidenum">
              <a:rPr lang="zh-CN" altLang="en-US" sz="1400"/>
              <a:pPr>
                <a:spcBef>
                  <a:spcPct val="0"/>
                </a:spcBef>
                <a:buClrTx/>
                <a:buSzTx/>
                <a:buFontTx/>
                <a:buNone/>
              </a:pPr>
              <a:t>27</a:t>
            </a:fld>
            <a:endParaRPr lang="en-US" altLang="zh-CN" sz="1400"/>
          </a:p>
        </p:txBody>
      </p:sp>
      <p:sp>
        <p:nvSpPr>
          <p:cNvPr id="31748" name="Rectangle 2"/>
          <p:cNvSpPr>
            <a:spLocks noGrp="1" noRot="1" noChangeArrowheads="1"/>
          </p:cNvSpPr>
          <p:nvPr>
            <p:ph type="title"/>
          </p:nvPr>
        </p:nvSpPr>
        <p:spPr>
          <a:xfrm>
            <a:off x="250825" y="458788"/>
            <a:ext cx="8540750" cy="882650"/>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学习方法</a:t>
            </a:r>
            <a:endParaRPr lang="zh-CN" altLang="en-US" sz="2400" b="1" smtClean="0">
              <a:solidFill>
                <a:srgbClr val="000099"/>
              </a:solidFill>
              <a:latin typeface="Times New Roman" panose="02020603050405020304" pitchFamily="18" charset="0"/>
              <a:ea typeface="华文新魏" panose="02010800040101010101" pitchFamily="2" charset="-122"/>
            </a:endParaRPr>
          </a:p>
        </p:txBody>
      </p:sp>
      <p:sp>
        <p:nvSpPr>
          <p:cNvPr id="31749" name="Rectangle 3"/>
          <p:cNvSpPr>
            <a:spLocks noGrp="1" noRot="1" noChangeArrowheads="1"/>
          </p:cNvSpPr>
          <p:nvPr>
            <p:ph type="body" idx="1"/>
          </p:nvPr>
        </p:nvSpPr>
        <p:spPr>
          <a:xfrm>
            <a:off x="323850" y="1412875"/>
            <a:ext cx="8540750" cy="2879725"/>
          </a:xfrm>
        </p:spPr>
        <p:txBody>
          <a:bodyPr/>
          <a:lstStyle/>
          <a:p>
            <a:pPr eaLnBrk="1" hangingPunct="1"/>
            <a:r>
              <a:rPr lang="zh-CN" altLang="en-US" b="1" smtClean="0">
                <a:latin typeface="Times New Roman" panose="02020603050405020304" pitchFamily="18" charset="0"/>
                <a:ea typeface="华文新魏" panose="02010800040101010101" pitchFamily="2" charset="-122"/>
              </a:rPr>
              <a:t>预习、上课、复习、做作业、讨论、做实验</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自己设计实现程序、上机调试排错</a:t>
            </a:r>
            <a:r>
              <a:rPr lang="en-US" altLang="zh-CN" b="1" smtClean="0">
                <a:latin typeface="Times New Roman" panose="02020603050405020304" pitchFamily="18" charset="0"/>
                <a:ea typeface="华文新魏" panose="02010800040101010101" pitchFamily="2" charset="-122"/>
              </a:rPr>
              <a:t>) </a:t>
            </a:r>
            <a:r>
              <a:rPr lang="zh-CN" altLang="en-US" b="1" smtClean="0">
                <a:latin typeface="Times New Roman" panose="02020603050405020304" pitchFamily="18" charset="0"/>
                <a:ea typeface="华文新魏" panose="02010800040101010101" pitchFamily="2" charset="-122"/>
              </a:rPr>
              <a:t>；读书</a:t>
            </a:r>
          </a:p>
          <a:p>
            <a:pPr eaLnBrk="1" hangingPunct="1">
              <a:spcBef>
                <a:spcPct val="60000"/>
              </a:spcBef>
            </a:pPr>
            <a:r>
              <a:rPr lang="zh-CN" altLang="en-US" b="1" smtClean="0">
                <a:latin typeface="Times New Roman" panose="02020603050405020304" pitchFamily="18" charset="0"/>
                <a:ea typeface="华文新魏" panose="02010800040101010101" pitchFamily="2" charset="-122"/>
              </a:rPr>
              <a:t>上课</a:t>
            </a:r>
          </a:p>
          <a:p>
            <a:pPr lvl="1" eaLnBrk="1" hangingPunct="1"/>
            <a:r>
              <a:rPr lang="zh-CN" altLang="en-US" b="1" smtClean="0">
                <a:latin typeface="Times New Roman" panose="02020603050405020304" pitchFamily="18" charset="0"/>
                <a:ea typeface="华文新魏" panose="02010800040101010101" pitchFamily="2" charset="-122"/>
              </a:rPr>
              <a:t>课堂是本科教育的主要渠道：不要放弃自己经过多年努力争取到的权利</a:t>
            </a:r>
            <a:endParaRPr lang="zh-CN" altLang="en-US" smtClean="0">
              <a:latin typeface="Times New Roman" panose="02020603050405020304" pitchFamily="18" charset="0"/>
            </a:endParaRPr>
          </a:p>
        </p:txBody>
      </p:sp>
      <p:sp>
        <p:nvSpPr>
          <p:cNvPr id="31750" name="Rectangle 4"/>
          <p:cNvSpPr>
            <a:spLocks noChangeArrowheads="1"/>
          </p:cNvSpPr>
          <p:nvPr/>
        </p:nvSpPr>
        <p:spPr bwMode="auto">
          <a:xfrm>
            <a:off x="4048125" y="5086350"/>
            <a:ext cx="52387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accent2"/>
              </a:buClr>
              <a:buSzTx/>
              <a:buFont typeface="Wingdings" panose="05000000000000000000" pitchFamily="2" charset="2"/>
              <a:buNone/>
            </a:pPr>
            <a:r>
              <a:rPr lang="en-US" altLang="zh-CN" b="1">
                <a:solidFill>
                  <a:schemeClr val="accent2"/>
                </a:solidFill>
                <a:latin typeface="华文新魏" panose="02010800040101010101" pitchFamily="2" charset="-122"/>
                <a:ea typeface="华文新魏" panose="02010800040101010101" pitchFamily="2" charset="-122"/>
              </a:rPr>
              <a:t>=</a:t>
            </a:r>
          </a:p>
        </p:txBody>
      </p:sp>
      <p:sp>
        <p:nvSpPr>
          <p:cNvPr id="31751" name="Rectangle 5"/>
          <p:cNvSpPr>
            <a:spLocks noChangeArrowheads="1"/>
          </p:cNvSpPr>
          <p:nvPr/>
        </p:nvSpPr>
        <p:spPr bwMode="auto">
          <a:xfrm>
            <a:off x="4572000" y="5157788"/>
            <a:ext cx="996950" cy="579437"/>
          </a:xfrm>
          <a:prstGeom prst="rect">
            <a:avLst/>
          </a:prstGeom>
          <a:solidFill>
            <a:schemeClr val="tx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contourClr>
              <a:schemeClr val="tx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chemeClr val="bg1"/>
                </a:solidFill>
                <a:latin typeface="华文新魏" panose="02010800040101010101" pitchFamily="2" charset="-122"/>
                <a:ea typeface="华文新魏" panose="02010800040101010101" pitchFamily="2" charset="-122"/>
              </a:rPr>
              <a:t>文字</a:t>
            </a:r>
          </a:p>
        </p:txBody>
      </p:sp>
      <p:sp>
        <p:nvSpPr>
          <p:cNvPr id="31752" name="Rectangle 6"/>
          <p:cNvSpPr>
            <a:spLocks noChangeArrowheads="1"/>
          </p:cNvSpPr>
          <p:nvPr/>
        </p:nvSpPr>
        <p:spPr bwMode="auto">
          <a:xfrm>
            <a:off x="6240463" y="5154613"/>
            <a:ext cx="996950" cy="579437"/>
          </a:xfrm>
          <a:prstGeom prst="rect">
            <a:avLst/>
          </a:prstGeom>
          <a:solidFill>
            <a:schemeClr val="tx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contourClr>
              <a:schemeClr val="tx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chemeClr val="bg1"/>
                </a:solidFill>
                <a:latin typeface="华文新魏" panose="02010800040101010101" pitchFamily="2" charset="-122"/>
                <a:ea typeface="华文新魏" panose="02010800040101010101" pitchFamily="2" charset="-122"/>
              </a:rPr>
              <a:t>音调</a:t>
            </a:r>
          </a:p>
        </p:txBody>
      </p:sp>
      <p:sp>
        <p:nvSpPr>
          <p:cNvPr id="31753" name="Rectangle 7"/>
          <p:cNvSpPr>
            <a:spLocks noChangeArrowheads="1"/>
          </p:cNvSpPr>
          <p:nvPr/>
        </p:nvSpPr>
        <p:spPr bwMode="auto">
          <a:xfrm>
            <a:off x="7812088" y="5014913"/>
            <a:ext cx="1008062" cy="873125"/>
          </a:xfrm>
          <a:prstGeom prst="rect">
            <a:avLst/>
          </a:prstGeom>
          <a:solidFill>
            <a:schemeClr val="tx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contourClr>
              <a:schemeClr val="tx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ClrTx/>
              <a:buSzTx/>
              <a:buFontTx/>
              <a:buNone/>
            </a:pPr>
            <a:r>
              <a:rPr lang="zh-CN" altLang="en-US" b="1">
                <a:solidFill>
                  <a:schemeClr val="bg1"/>
                </a:solidFill>
                <a:latin typeface="华文新魏" panose="02010800040101010101" pitchFamily="2" charset="-122"/>
                <a:ea typeface="华文新魏" panose="02010800040101010101" pitchFamily="2" charset="-122"/>
              </a:rPr>
              <a:t>面部表情</a:t>
            </a:r>
          </a:p>
        </p:txBody>
      </p:sp>
      <p:sp>
        <p:nvSpPr>
          <p:cNvPr id="31754" name="Rectangle 8"/>
          <p:cNvSpPr>
            <a:spLocks noChangeArrowheads="1"/>
          </p:cNvSpPr>
          <p:nvPr/>
        </p:nvSpPr>
        <p:spPr bwMode="auto">
          <a:xfrm>
            <a:off x="2484438" y="5014913"/>
            <a:ext cx="1439862" cy="873125"/>
          </a:xfrm>
          <a:prstGeom prst="rect">
            <a:avLst/>
          </a:prstGeom>
          <a:solidFill>
            <a:schemeClr val="tx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contourClr>
              <a:schemeClr val="tx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Tx/>
              <a:buNone/>
            </a:pPr>
            <a:r>
              <a:rPr lang="zh-CN" altLang="en-US" b="1">
                <a:solidFill>
                  <a:schemeClr val="bg1"/>
                </a:solidFill>
                <a:latin typeface="华文新魏" panose="02010800040101010101" pitchFamily="2" charset="-122"/>
                <a:ea typeface="华文新魏" panose="02010800040101010101" pitchFamily="2" charset="-122"/>
              </a:rPr>
              <a:t>信息总效果</a:t>
            </a:r>
          </a:p>
        </p:txBody>
      </p:sp>
      <p:sp>
        <p:nvSpPr>
          <p:cNvPr id="31755" name="Rectangle 9" descr="再生纸"/>
          <p:cNvSpPr>
            <a:spLocks noChangeArrowheads="1"/>
          </p:cNvSpPr>
          <p:nvPr/>
        </p:nvSpPr>
        <p:spPr bwMode="auto">
          <a:xfrm>
            <a:off x="4572000" y="5722938"/>
            <a:ext cx="996950" cy="579437"/>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solidFill>
                  <a:srgbClr val="FF00FF"/>
                </a:solidFill>
                <a:latin typeface="Times New Roman" panose="02020603050405020304" pitchFamily="18" charset="0"/>
                <a:ea typeface="华文新魏" panose="02010800040101010101" pitchFamily="2" charset="-122"/>
              </a:rPr>
              <a:t>27%</a:t>
            </a:r>
          </a:p>
        </p:txBody>
      </p:sp>
      <p:sp>
        <p:nvSpPr>
          <p:cNvPr id="31756" name="Rectangle 10" descr="再生纸"/>
          <p:cNvSpPr>
            <a:spLocks noChangeArrowheads="1"/>
          </p:cNvSpPr>
          <p:nvPr/>
        </p:nvSpPr>
        <p:spPr bwMode="auto">
          <a:xfrm>
            <a:off x="6227763" y="5722938"/>
            <a:ext cx="996950" cy="579437"/>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solidFill>
                  <a:srgbClr val="FF00FF"/>
                </a:solidFill>
                <a:latin typeface="Times New Roman" panose="02020603050405020304" pitchFamily="18" charset="0"/>
                <a:ea typeface="华文新魏" panose="02010800040101010101" pitchFamily="2" charset="-122"/>
              </a:rPr>
              <a:t>38%</a:t>
            </a:r>
          </a:p>
        </p:txBody>
      </p:sp>
      <p:sp>
        <p:nvSpPr>
          <p:cNvPr id="31757" name="Rectangle 11" descr="再生纸"/>
          <p:cNvSpPr>
            <a:spLocks noChangeArrowheads="1"/>
          </p:cNvSpPr>
          <p:nvPr/>
        </p:nvSpPr>
        <p:spPr bwMode="auto">
          <a:xfrm>
            <a:off x="7812088" y="5795963"/>
            <a:ext cx="996950" cy="579437"/>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solidFill>
                  <a:srgbClr val="FF00FF"/>
                </a:solidFill>
                <a:latin typeface="Times New Roman" panose="02020603050405020304" pitchFamily="18" charset="0"/>
                <a:ea typeface="华文新魏" panose="02010800040101010101" pitchFamily="2" charset="-122"/>
              </a:rPr>
              <a:t>35%</a:t>
            </a:r>
          </a:p>
        </p:txBody>
      </p:sp>
      <p:sp>
        <p:nvSpPr>
          <p:cNvPr id="31758" name="Rectangle 12"/>
          <p:cNvSpPr>
            <a:spLocks noChangeArrowheads="1"/>
          </p:cNvSpPr>
          <p:nvPr/>
        </p:nvSpPr>
        <p:spPr bwMode="auto">
          <a:xfrm>
            <a:off x="7451725" y="5089525"/>
            <a:ext cx="458788"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accent2"/>
              </a:buClr>
              <a:buSzTx/>
              <a:buFont typeface="Wingdings" panose="05000000000000000000" pitchFamily="2" charset="2"/>
              <a:buNone/>
            </a:pPr>
            <a:r>
              <a:rPr lang="en-US" altLang="zh-CN" b="1">
                <a:solidFill>
                  <a:schemeClr val="accent2"/>
                </a:solidFill>
                <a:latin typeface="华文新魏" panose="02010800040101010101" pitchFamily="2" charset="-122"/>
                <a:ea typeface="华文新魏" panose="02010800040101010101" pitchFamily="2" charset="-122"/>
              </a:rPr>
              <a:t>+</a:t>
            </a:r>
          </a:p>
        </p:txBody>
      </p:sp>
      <p:sp>
        <p:nvSpPr>
          <p:cNvPr id="31759" name="Rectangle 13"/>
          <p:cNvSpPr>
            <a:spLocks noChangeArrowheads="1"/>
          </p:cNvSpPr>
          <p:nvPr/>
        </p:nvSpPr>
        <p:spPr bwMode="auto">
          <a:xfrm>
            <a:off x="5808663" y="5056188"/>
            <a:ext cx="458787"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accent2"/>
              </a:buClr>
              <a:buSzTx/>
              <a:buFont typeface="Wingdings" panose="05000000000000000000" pitchFamily="2" charset="2"/>
              <a:buNone/>
            </a:pPr>
            <a:r>
              <a:rPr lang="en-US" altLang="zh-CN" b="1">
                <a:solidFill>
                  <a:schemeClr val="accent2"/>
                </a:solidFill>
                <a:latin typeface="华文新魏" panose="02010800040101010101" pitchFamily="2" charset="-122"/>
                <a:ea typeface="华文新魏" panose="02010800040101010101" pitchFamily="2" charset="-122"/>
              </a:rPr>
              <a:t>+</a:t>
            </a:r>
          </a:p>
        </p:txBody>
      </p:sp>
      <p:sp>
        <p:nvSpPr>
          <p:cNvPr id="31760" name="Rectangle 14" descr="50%"/>
          <p:cNvSpPr>
            <a:spLocks noChangeArrowheads="1"/>
          </p:cNvSpPr>
          <p:nvPr/>
        </p:nvSpPr>
        <p:spPr bwMode="auto">
          <a:xfrm>
            <a:off x="250825" y="4797425"/>
            <a:ext cx="2016125" cy="1373188"/>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华文新魏" panose="02010800040101010101" pitchFamily="2" charset="-122"/>
                <a:ea typeface="华文新魏" panose="02010800040101010101" pitchFamily="2" charset="-122"/>
              </a:rPr>
              <a:t>美国心理学家阿贝尔</a:t>
            </a:r>
            <a:r>
              <a:rPr lang="en-US" altLang="zh-CN" sz="2800" b="1">
                <a:latin typeface="华文新魏" panose="02010800040101010101" pitchFamily="2" charset="-122"/>
                <a:ea typeface="华文新魏" panose="02010800040101010101" pitchFamily="2" charset="-122"/>
              </a:rPr>
              <a:t>.</a:t>
            </a:r>
            <a:r>
              <a:rPr lang="zh-CN" altLang="en-US" sz="2800" b="1">
                <a:latin typeface="华文新魏" panose="02010800040101010101" pitchFamily="2" charset="-122"/>
                <a:ea typeface="华文新魏" panose="02010800040101010101" pitchFamily="2" charset="-122"/>
              </a:rPr>
              <a:t>梅拉别思</a:t>
            </a:r>
            <a:r>
              <a:rPr lang="en-US" altLang="zh-CN" sz="2800" b="1">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55939F2-AEBE-4611-89B0-E16DE97E8390}" type="datetime1">
              <a:rPr lang="zh-CN" altLang="en-US" sz="1400" smtClean="0"/>
              <a:pPr>
                <a:spcBef>
                  <a:spcPct val="0"/>
                </a:spcBef>
                <a:buClrTx/>
                <a:buSzTx/>
                <a:buFontTx/>
                <a:buNone/>
              </a:pPr>
              <a:t>2017/2/24</a:t>
            </a:fld>
            <a:endParaRPr lang="en-US" altLang="zh-CN" sz="1400" smtClean="0"/>
          </a:p>
        </p:txBody>
      </p:sp>
      <p:sp>
        <p:nvSpPr>
          <p:cNvPr id="3277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F0CF045-A299-4B07-B917-3C8CF726C28E}" type="slidenum">
              <a:rPr lang="zh-CN" altLang="en-US" sz="1400"/>
              <a:pPr>
                <a:spcBef>
                  <a:spcPct val="0"/>
                </a:spcBef>
                <a:buClrTx/>
                <a:buSzTx/>
                <a:buFontTx/>
                <a:buNone/>
              </a:pPr>
              <a:t>28</a:t>
            </a:fld>
            <a:endParaRPr lang="en-US" altLang="zh-CN" sz="1400"/>
          </a:p>
        </p:txBody>
      </p:sp>
      <p:sp>
        <p:nvSpPr>
          <p:cNvPr id="32772" name="Rectangle 2"/>
          <p:cNvSpPr>
            <a:spLocks noGrp="1" noRot="1" noChangeArrowheads="1"/>
          </p:cNvSpPr>
          <p:nvPr>
            <p:ph type="title"/>
          </p:nvPr>
        </p:nvSpPr>
        <p:spPr>
          <a:xfrm>
            <a:off x="1258888" y="765175"/>
            <a:ext cx="5753100" cy="655638"/>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学习方法</a:t>
            </a:r>
          </a:p>
        </p:txBody>
      </p:sp>
      <p:sp>
        <p:nvSpPr>
          <p:cNvPr id="32773" name="Rectangle 3"/>
          <p:cNvSpPr>
            <a:spLocks noGrp="1" noRot="1" noChangeArrowheads="1"/>
          </p:cNvSpPr>
          <p:nvPr>
            <p:ph type="body" idx="1"/>
          </p:nvPr>
        </p:nvSpPr>
        <p:spPr>
          <a:xfrm>
            <a:off x="539750" y="1557338"/>
            <a:ext cx="8229600" cy="4392612"/>
          </a:xfrm>
        </p:spPr>
        <p:txBody>
          <a:bodyPr/>
          <a:lstStyle/>
          <a:p>
            <a:pPr eaLnBrk="1" hangingPunct="1">
              <a:spcBef>
                <a:spcPct val="70000"/>
              </a:spcBef>
            </a:pPr>
            <a:r>
              <a:rPr lang="zh-CN" altLang="en-US" b="1" smtClean="0">
                <a:latin typeface="Times New Roman" panose="02020603050405020304" pitchFamily="18" charset="0"/>
                <a:ea typeface="华文新魏" panose="02010800040101010101" pitchFamily="2" charset="-122"/>
              </a:rPr>
              <a:t>复习、做作业、讨论：勤于思考</a:t>
            </a:r>
          </a:p>
          <a:p>
            <a:pPr lvl="1" eaLnBrk="1" hangingPunct="1"/>
            <a:r>
              <a:rPr lang="zh-CN" altLang="en-US" sz="2400" b="1" smtClean="0">
                <a:latin typeface="Times New Roman" panose="02020603050405020304" pitchFamily="18" charset="0"/>
                <a:ea typeface="华文新魏" panose="02010800040101010101" pitchFamily="2" charset="-122"/>
              </a:rPr>
              <a:t>怀疑</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答案。</a:t>
            </a:r>
            <a:r>
              <a:rPr lang="zh-CN" altLang="en-US" sz="2400" b="1" smtClean="0">
                <a:solidFill>
                  <a:schemeClr val="hlink"/>
                </a:solidFill>
                <a:latin typeface="Times New Roman" panose="02020603050405020304" pitchFamily="18" charset="0"/>
                <a:ea typeface="华文新魏" panose="02010800040101010101" pitchFamily="2" charset="-122"/>
              </a:rPr>
              <a:t>怀疑是智慧的大门</a:t>
            </a:r>
            <a:r>
              <a:rPr lang="zh-CN" altLang="en-US" sz="2400" b="1" smtClean="0">
                <a:latin typeface="Times New Roman" panose="02020603050405020304" pitchFamily="18" charset="0"/>
                <a:ea typeface="华文新魏" panose="02010800040101010101" pitchFamily="2" charset="-122"/>
              </a:rPr>
              <a:t>，知道得越多，就越会发问，而问题就越多，收获就越多</a:t>
            </a:r>
            <a:r>
              <a:rPr lang="en-US" altLang="zh-CN" sz="2400" b="1" smtClean="0">
                <a:solidFill>
                  <a:schemeClr val="hlink"/>
                </a:solidFill>
                <a:latin typeface="Times New Roman" panose="02020603050405020304" pitchFamily="18" charset="0"/>
                <a:ea typeface="华文新魏" panose="02010800040101010101" pitchFamily="2" charset="-122"/>
              </a:rPr>
              <a:t>——</a:t>
            </a:r>
            <a:r>
              <a:rPr lang="zh-CN" altLang="en-US" sz="2400" b="1" smtClean="0">
                <a:solidFill>
                  <a:schemeClr val="hlink"/>
                </a:solidFill>
                <a:latin typeface="Times New Roman" panose="02020603050405020304" pitchFamily="18" charset="0"/>
                <a:ea typeface="华文新魏" panose="02010800040101010101" pitchFamily="2" charset="-122"/>
              </a:rPr>
              <a:t>学问</a:t>
            </a:r>
          </a:p>
          <a:p>
            <a:pPr eaLnBrk="1" hangingPunct="1">
              <a:spcBef>
                <a:spcPct val="100000"/>
              </a:spcBef>
            </a:pPr>
            <a:r>
              <a:rPr lang="zh-CN" altLang="en-US" b="1" smtClean="0">
                <a:latin typeface="Times New Roman" panose="02020603050405020304" pitchFamily="18" charset="0"/>
                <a:ea typeface="华文新魏" panose="02010800040101010101" pitchFamily="2" charset="-122"/>
              </a:rPr>
              <a:t>读书：强化基础</a:t>
            </a:r>
          </a:p>
          <a:p>
            <a:pPr lvl="1" eaLnBrk="1" hangingPunct="1"/>
            <a:r>
              <a:rPr lang="zh-CN" altLang="en-US" sz="2400" b="1" smtClean="0">
                <a:latin typeface="Times New Roman" panose="02020603050405020304" pitchFamily="18" charset="0"/>
                <a:ea typeface="华文新魏" panose="02010800040101010101" pitchFamily="2" charset="-122"/>
              </a:rPr>
              <a:t>在独立思考之前，必须先有基础知识。所谓“获得基础知识”并不是形式上学过某门课程，而是</a:t>
            </a:r>
            <a:r>
              <a:rPr lang="zh-CN" altLang="en-US" sz="2400" b="1" smtClean="0">
                <a:solidFill>
                  <a:schemeClr val="hlink"/>
                </a:solidFill>
                <a:latin typeface="Times New Roman" panose="02020603050405020304" pitchFamily="18" charset="0"/>
                <a:ea typeface="华文新魏" panose="02010800040101010101" pitchFamily="2" charset="-122"/>
              </a:rPr>
              <a:t>真正弄懂</a:t>
            </a:r>
            <a:r>
              <a:rPr lang="zh-CN" altLang="en-US" sz="2400" b="1" smtClean="0">
                <a:latin typeface="Times New Roman" panose="02020603050405020304" pitchFamily="18" charset="0"/>
                <a:ea typeface="华文新魏" panose="02010800040101010101" pitchFamily="2" charset="-122"/>
              </a:rPr>
              <a:t>学过的东西。什么是“</a:t>
            </a:r>
            <a:r>
              <a:rPr lang="zh-CN" altLang="en-US" sz="2400" b="1" smtClean="0">
                <a:solidFill>
                  <a:schemeClr val="hlink"/>
                </a:solidFill>
                <a:latin typeface="Times New Roman" panose="02020603050405020304" pitchFamily="18" charset="0"/>
                <a:ea typeface="华文新魏" panose="02010800040101010101" pitchFamily="2" charset="-122"/>
              </a:rPr>
              <a:t>真正弄懂</a:t>
            </a:r>
            <a:r>
              <a:rPr lang="zh-CN" altLang="en-US" sz="2400" b="1" smtClean="0">
                <a:latin typeface="Times New Roman" panose="02020603050405020304" pitchFamily="18" charset="0"/>
                <a:ea typeface="华文新魏" panose="02010800040101010101" pitchFamily="2" charset="-122"/>
              </a:rPr>
              <a:t>”？</a:t>
            </a:r>
          </a:p>
          <a:p>
            <a:pPr lvl="1" eaLnBrk="1" hangingPunct="1"/>
            <a:r>
              <a:rPr lang="zh-CN" altLang="en-US" sz="2400" b="1" smtClean="0">
                <a:latin typeface="Times New Roman" panose="02020603050405020304" pitchFamily="18" charset="0"/>
                <a:ea typeface="华文新魏" panose="02010800040101010101" pitchFamily="2" charset="-122"/>
              </a:rPr>
              <a:t>博览</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思而不学则怠</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、多思</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学而不思则罔；书由厚到薄、由薄到厚</a:t>
            </a:r>
            <a:r>
              <a:rPr lang="en-US" altLang="zh-CN" sz="2400" b="1" smtClean="0">
                <a:latin typeface="Times New Roman" panose="02020603050405020304" pitchFamily="18" charset="0"/>
                <a:ea typeface="华文新魏" panose="02010800040101010101" pitchFamily="2" charset="-122"/>
              </a:rPr>
              <a:t>)</a:t>
            </a:r>
            <a:endParaRPr lang="zh-CN" altLang="en-US" sz="2400" b="1" smtClean="0">
              <a:latin typeface="Times New Roman" panose="02020603050405020304" pitchFamily="18" charset="0"/>
              <a:ea typeface="华文新魏" panose="02010800040101010101" pitchFamily="2" charset="-122"/>
            </a:endParaRPr>
          </a:p>
        </p:txBody>
      </p:sp>
      <p:sp>
        <p:nvSpPr>
          <p:cNvPr id="32774" name="Rectangle 5"/>
          <p:cNvSpPr>
            <a:spLocks noChangeArrowheads="1"/>
          </p:cNvSpPr>
          <p:nvPr/>
        </p:nvSpPr>
        <p:spPr bwMode="auto">
          <a:xfrm>
            <a:off x="1187450" y="6165850"/>
            <a:ext cx="6550025" cy="579438"/>
          </a:xfrm>
          <a:prstGeom prst="rect">
            <a:avLst/>
          </a:prstGeom>
          <a:solidFill>
            <a:srgbClr val="CC33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3300"/>
            </a:extrusionClr>
            <a:contourClr>
              <a:srgbClr val="CC33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chemeClr val="bg1"/>
                </a:solidFill>
                <a:latin typeface="Verdana" panose="020B0604030504040204" pitchFamily="34" charset="0"/>
                <a:ea typeface="华文新魏" panose="02010800040101010101" pitchFamily="2" charset="-122"/>
              </a:rPr>
              <a:t>创新 </a:t>
            </a:r>
            <a:r>
              <a:rPr lang="en-US" altLang="zh-CN" b="1">
                <a:solidFill>
                  <a:schemeClr val="bg1"/>
                </a:solidFill>
                <a:latin typeface="Verdana" panose="020B0604030504040204" pitchFamily="34" charset="0"/>
                <a:ea typeface="华文新魏" panose="02010800040101010101" pitchFamily="2" charset="-122"/>
              </a:rPr>
              <a:t>= </a:t>
            </a:r>
            <a:r>
              <a:rPr lang="zh-CN" altLang="en-US" b="1">
                <a:solidFill>
                  <a:schemeClr val="bg1"/>
                </a:solidFill>
                <a:latin typeface="Verdana" panose="020B0604030504040204" pitchFamily="34" charset="0"/>
                <a:ea typeface="华文新魏" panose="02010800040101010101" pitchFamily="2" charset="-122"/>
              </a:rPr>
              <a:t>厚基础 </a:t>
            </a:r>
            <a:r>
              <a:rPr lang="en-US" altLang="zh-CN" b="1">
                <a:solidFill>
                  <a:schemeClr val="bg1"/>
                </a:solidFill>
                <a:latin typeface="Verdana" panose="020B0604030504040204" pitchFamily="34" charset="0"/>
                <a:ea typeface="华文新魏" panose="02010800040101010101" pitchFamily="2" charset="-122"/>
              </a:rPr>
              <a:t>+ </a:t>
            </a:r>
            <a:r>
              <a:rPr lang="zh-CN" altLang="en-US" b="1">
                <a:solidFill>
                  <a:schemeClr val="bg1"/>
                </a:solidFill>
                <a:latin typeface="Verdana" panose="020B0604030504040204" pitchFamily="34" charset="0"/>
                <a:ea typeface="华文新魏" panose="02010800040101010101" pitchFamily="2" charset="-122"/>
              </a:rPr>
              <a:t>善思维 </a:t>
            </a:r>
            <a:r>
              <a:rPr lang="en-US" altLang="zh-CN" b="1">
                <a:solidFill>
                  <a:schemeClr val="bg1"/>
                </a:solidFill>
                <a:latin typeface="Verdana" panose="020B0604030504040204" pitchFamily="34" charset="0"/>
                <a:ea typeface="华文新魏" panose="02010800040101010101" pitchFamily="2" charset="-122"/>
              </a:rPr>
              <a:t>+ </a:t>
            </a:r>
            <a:r>
              <a:rPr lang="zh-CN" altLang="en-US" b="1">
                <a:solidFill>
                  <a:schemeClr val="bg1"/>
                </a:solidFill>
                <a:latin typeface="Verdana" panose="020B0604030504040204" pitchFamily="34" charset="0"/>
                <a:ea typeface="华文新魏" panose="02010800040101010101" pitchFamily="2" charset="-122"/>
              </a:rPr>
              <a:t>常实践</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EE75D8F-9DE8-4C48-985C-B22973266141}" type="datetime1">
              <a:rPr lang="zh-CN" altLang="en-US" sz="1400" smtClean="0"/>
              <a:pPr>
                <a:spcBef>
                  <a:spcPct val="0"/>
                </a:spcBef>
                <a:buClrTx/>
                <a:buSzTx/>
                <a:buFontTx/>
                <a:buNone/>
              </a:pPr>
              <a:t>2017/2/24</a:t>
            </a:fld>
            <a:endParaRPr lang="en-US" altLang="zh-CN" sz="1400" smtClean="0"/>
          </a:p>
        </p:txBody>
      </p:sp>
      <p:sp>
        <p:nvSpPr>
          <p:cNvPr id="3379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433BDB2-94A6-44A2-96DB-7B4FE6BF7BCD}" type="slidenum">
              <a:rPr lang="zh-CN" altLang="en-US" sz="1400"/>
              <a:pPr>
                <a:spcBef>
                  <a:spcPct val="0"/>
                </a:spcBef>
                <a:buClrTx/>
                <a:buSzTx/>
                <a:buFontTx/>
                <a:buNone/>
              </a:pPr>
              <a:t>29</a:t>
            </a:fld>
            <a:endParaRPr lang="en-US" altLang="zh-CN" sz="1400"/>
          </a:p>
        </p:txBody>
      </p:sp>
      <p:sp>
        <p:nvSpPr>
          <p:cNvPr id="33796" name="Rectangle 2"/>
          <p:cNvSpPr>
            <a:spLocks noGrp="1" noRot="1" noChangeArrowheads="1"/>
          </p:cNvSpPr>
          <p:nvPr>
            <p:ph type="title"/>
          </p:nvPr>
        </p:nvSpPr>
        <p:spPr>
          <a:xfrm>
            <a:off x="301625" y="404813"/>
            <a:ext cx="8540750" cy="1143000"/>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学习方法</a:t>
            </a:r>
          </a:p>
        </p:txBody>
      </p:sp>
      <p:sp>
        <p:nvSpPr>
          <p:cNvPr id="33797" name="Rectangle 3"/>
          <p:cNvSpPr>
            <a:spLocks noGrp="1" noRot="1" noChangeArrowheads="1"/>
          </p:cNvSpPr>
          <p:nvPr>
            <p:ph type="body" idx="1"/>
          </p:nvPr>
        </p:nvSpPr>
        <p:spPr>
          <a:xfrm>
            <a:off x="301625" y="1905000"/>
            <a:ext cx="4198938" cy="2747963"/>
          </a:xfrm>
        </p:spPr>
        <p:txBody>
          <a:bodyPr/>
          <a:lstStyle/>
          <a:p>
            <a:pPr eaLnBrk="1" hangingPunct="1">
              <a:spcBef>
                <a:spcPct val="50000"/>
              </a:spcBef>
            </a:pPr>
            <a:r>
              <a:rPr lang="zh-CN" altLang="en-US" b="1" smtClean="0">
                <a:latin typeface="Times New Roman" panose="02020603050405020304" pitchFamily="18" charset="0"/>
                <a:ea typeface="华文新魏" panose="02010800040101010101" pitchFamily="2" charset="-122"/>
              </a:rPr>
              <a:t>加强实践</a:t>
            </a:r>
          </a:p>
          <a:p>
            <a:pPr lvl="1" eaLnBrk="1" hangingPunct="1">
              <a:spcBef>
                <a:spcPct val="50000"/>
              </a:spcBef>
            </a:pPr>
            <a:r>
              <a:rPr lang="zh-CN" altLang="en-US" sz="3000" b="1" smtClean="0">
                <a:latin typeface="Times New Roman" panose="02020603050405020304" pitchFamily="18" charset="0"/>
                <a:ea typeface="华文新魏" panose="02010800040101010101" pitchFamily="2" charset="-122"/>
              </a:rPr>
              <a:t>“听过的会忘记，</a:t>
            </a:r>
          </a:p>
          <a:p>
            <a:pPr lvl="1" eaLnBrk="1" hangingPunct="1">
              <a:spcBef>
                <a:spcPct val="50000"/>
              </a:spcBef>
            </a:pPr>
            <a:r>
              <a:rPr lang="zh-CN" altLang="en-US" sz="3000" b="1" smtClean="0">
                <a:latin typeface="Times New Roman" panose="02020603050405020304" pitchFamily="18" charset="0"/>
                <a:ea typeface="华文新魏" panose="02010800040101010101" pitchFamily="2" charset="-122"/>
              </a:rPr>
              <a:t>看过的能记得，</a:t>
            </a:r>
          </a:p>
          <a:p>
            <a:pPr lvl="1" eaLnBrk="1" hangingPunct="1">
              <a:spcBef>
                <a:spcPct val="50000"/>
              </a:spcBef>
            </a:pPr>
            <a:r>
              <a:rPr lang="zh-CN" altLang="en-US" sz="3000" b="1" smtClean="0">
                <a:latin typeface="Times New Roman" panose="02020603050405020304" pitchFamily="18" charset="0"/>
                <a:ea typeface="华文新魏" panose="02010800040101010101" pitchFamily="2" charset="-122"/>
              </a:rPr>
              <a:t>做过的才理解”</a:t>
            </a:r>
          </a:p>
        </p:txBody>
      </p:sp>
      <p:grpSp>
        <p:nvGrpSpPr>
          <p:cNvPr id="33798" name="Group 4"/>
          <p:cNvGrpSpPr>
            <a:grpSpLocks/>
          </p:cNvGrpSpPr>
          <p:nvPr/>
        </p:nvGrpSpPr>
        <p:grpSpPr bwMode="auto">
          <a:xfrm>
            <a:off x="4895850" y="1268413"/>
            <a:ext cx="3995738" cy="4608512"/>
            <a:chOff x="3152" y="1207"/>
            <a:chExt cx="2517" cy="2586"/>
          </a:xfrm>
        </p:grpSpPr>
        <p:sp>
          <p:nvSpPr>
            <p:cNvPr id="33807" name="AutoShape 5" descr="白色大理石"/>
            <p:cNvSpPr>
              <a:spLocks noChangeArrowheads="1"/>
            </p:cNvSpPr>
            <p:nvPr/>
          </p:nvSpPr>
          <p:spPr bwMode="auto">
            <a:xfrm rot="10800000">
              <a:off x="3152" y="1207"/>
              <a:ext cx="2517" cy="2586"/>
            </a:xfrm>
            <a:custGeom>
              <a:avLst/>
              <a:gdLst>
                <a:gd name="T0" fmla="*/ 257 w 21600"/>
                <a:gd name="T1" fmla="*/ 155 h 21600"/>
                <a:gd name="T2" fmla="*/ 147 w 21600"/>
                <a:gd name="T3" fmla="*/ 310 h 21600"/>
                <a:gd name="T4" fmla="*/ 37 w 21600"/>
                <a:gd name="T5" fmla="*/ 155 h 21600"/>
                <a:gd name="T6" fmla="*/ 147 w 21600"/>
                <a:gd name="T7" fmla="*/ 0 h 21600"/>
                <a:gd name="T8" fmla="*/ 0 60000 65536"/>
                <a:gd name="T9" fmla="*/ 0 60000 65536"/>
                <a:gd name="T10" fmla="*/ 0 60000 65536"/>
                <a:gd name="T11" fmla="*/ 0 60000 65536"/>
                <a:gd name="T12" fmla="*/ 4497 w 21600"/>
                <a:gd name="T13" fmla="*/ 4502 h 21600"/>
                <a:gd name="T14" fmla="*/ 17103 w 21600"/>
                <a:gd name="T15" fmla="*/ 17098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8" name="Text Box 6" descr="花岗岩"/>
            <p:cNvSpPr txBox="1">
              <a:spLocks noChangeArrowheads="1"/>
            </p:cNvSpPr>
            <p:nvPr/>
          </p:nvSpPr>
          <p:spPr bwMode="auto">
            <a:xfrm>
              <a:off x="3470" y="3249"/>
              <a:ext cx="1950" cy="360"/>
            </a:xfrm>
            <a:prstGeom prst="rect">
              <a:avLst/>
            </a:prstGeom>
            <a:noFill/>
            <a:ln>
              <a:noFill/>
            </a:ln>
            <a:effectLst/>
            <a:extLst>
              <a:ext uri="{909E8E84-426E-40DD-AFC4-6F175D3DCCD1}">
                <a14:hiddenFill xmlns:a14="http://schemas.microsoft.com/office/drawing/2010/main">
                  <a:blipFill dpi="0" rotWithShape="1">
                    <a:blip/>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3600" b="1">
                  <a:solidFill>
                    <a:srgbClr val="009900"/>
                  </a:solidFill>
                  <a:latin typeface="Verdana" panose="020B0604030504040204" pitchFamily="34" charset="0"/>
                  <a:ea typeface="华文新魏" panose="02010800040101010101" pitchFamily="2" charset="-122"/>
                </a:rPr>
                <a:t>提高实践能力</a:t>
              </a:r>
            </a:p>
          </p:txBody>
        </p:sp>
      </p:grpSp>
      <p:sp>
        <p:nvSpPr>
          <p:cNvPr id="33799" name="Rectangle 13" descr="白色大理石"/>
          <p:cNvSpPr>
            <a:spLocks noChangeArrowheads="1"/>
          </p:cNvSpPr>
          <p:nvPr/>
        </p:nvSpPr>
        <p:spPr bwMode="auto">
          <a:xfrm>
            <a:off x="5892800" y="4002088"/>
            <a:ext cx="1809750" cy="579437"/>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rgbClr val="CC0000"/>
                </a:solidFill>
                <a:latin typeface="Verdana" panose="020B0604030504040204" pitchFamily="34" charset="0"/>
                <a:ea typeface="华文新魏" panose="02010800040101010101" pitchFamily="2" charset="-122"/>
              </a:rPr>
              <a:t>教了什么</a:t>
            </a:r>
          </a:p>
        </p:txBody>
      </p:sp>
      <p:sp>
        <p:nvSpPr>
          <p:cNvPr id="33800" name="Rectangle 14" descr="白色大理石"/>
          <p:cNvSpPr>
            <a:spLocks noChangeArrowheads="1"/>
          </p:cNvSpPr>
          <p:nvPr/>
        </p:nvSpPr>
        <p:spPr bwMode="auto">
          <a:xfrm>
            <a:off x="5892800" y="2270125"/>
            <a:ext cx="1919288" cy="579438"/>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rgbClr val="CC0000"/>
                </a:solidFill>
                <a:latin typeface="Verdana" panose="020B0604030504040204" pitchFamily="34" charset="0"/>
                <a:ea typeface="华文新魏" panose="02010800040101010101" pitchFamily="2" charset="-122"/>
              </a:rPr>
              <a:t>学到什么</a:t>
            </a:r>
          </a:p>
        </p:txBody>
      </p:sp>
      <p:sp>
        <p:nvSpPr>
          <p:cNvPr id="33801" name="Rectangle 15" descr="白色大理石"/>
          <p:cNvSpPr>
            <a:spLocks noChangeArrowheads="1"/>
          </p:cNvSpPr>
          <p:nvPr/>
        </p:nvSpPr>
        <p:spPr bwMode="auto">
          <a:xfrm>
            <a:off x="5892800" y="1481138"/>
            <a:ext cx="1919288" cy="579437"/>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rgbClr val="CC0000"/>
                </a:solidFill>
                <a:latin typeface="Verdana" panose="020B0604030504040204" pitchFamily="34" charset="0"/>
                <a:ea typeface="华文新魏" panose="02010800040101010101" pitchFamily="2" charset="-122"/>
              </a:rPr>
              <a:t>会做什么</a:t>
            </a:r>
          </a:p>
        </p:txBody>
      </p:sp>
      <p:sp>
        <p:nvSpPr>
          <p:cNvPr id="33802" name="AutoShape 16"/>
          <p:cNvSpPr>
            <a:spLocks noChangeArrowheads="1"/>
          </p:cNvSpPr>
          <p:nvPr/>
        </p:nvSpPr>
        <p:spPr bwMode="auto">
          <a:xfrm>
            <a:off x="6540500" y="2060575"/>
            <a:ext cx="368300" cy="233363"/>
          </a:xfrm>
          <a:prstGeom prst="upArrow">
            <a:avLst>
              <a:gd name="adj1" fmla="val 50000"/>
              <a:gd name="adj2" fmla="val 25000"/>
            </a:avLst>
          </a:prstGeom>
          <a:solidFill>
            <a:srgbClr val="00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3803" name="Rectangle 17" descr="白色大理石"/>
          <p:cNvSpPr>
            <a:spLocks noChangeArrowheads="1"/>
          </p:cNvSpPr>
          <p:nvPr/>
        </p:nvSpPr>
        <p:spPr bwMode="auto">
          <a:xfrm>
            <a:off x="5867400" y="3133725"/>
            <a:ext cx="1944688" cy="579438"/>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rgbClr val="CC0000"/>
                </a:solidFill>
                <a:latin typeface="Verdana" panose="020B0604030504040204" pitchFamily="34" charset="0"/>
                <a:ea typeface="华文新魏" panose="02010800040101010101" pitchFamily="2" charset="-122"/>
              </a:rPr>
              <a:t>学了什么</a:t>
            </a:r>
          </a:p>
        </p:txBody>
      </p:sp>
      <p:sp>
        <p:nvSpPr>
          <p:cNvPr id="33804" name="AutoShape 18"/>
          <p:cNvSpPr>
            <a:spLocks noChangeArrowheads="1"/>
          </p:cNvSpPr>
          <p:nvPr/>
        </p:nvSpPr>
        <p:spPr bwMode="auto">
          <a:xfrm>
            <a:off x="6540500" y="2852738"/>
            <a:ext cx="368300" cy="233362"/>
          </a:xfrm>
          <a:prstGeom prst="upArrow">
            <a:avLst>
              <a:gd name="adj1" fmla="val 50000"/>
              <a:gd name="adj2" fmla="val 25000"/>
            </a:avLst>
          </a:prstGeom>
          <a:solidFill>
            <a:srgbClr val="00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3805" name="AutoShape 19"/>
          <p:cNvSpPr>
            <a:spLocks noChangeArrowheads="1"/>
          </p:cNvSpPr>
          <p:nvPr/>
        </p:nvSpPr>
        <p:spPr bwMode="auto">
          <a:xfrm>
            <a:off x="6540500" y="3717925"/>
            <a:ext cx="368300" cy="261938"/>
          </a:xfrm>
          <a:prstGeom prst="upArrow">
            <a:avLst>
              <a:gd name="adj1" fmla="val 50000"/>
              <a:gd name="adj2" fmla="val 25000"/>
            </a:avLst>
          </a:prstGeom>
          <a:solidFill>
            <a:srgbClr val="00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3806" name="Rectangle 21"/>
          <p:cNvSpPr>
            <a:spLocks noChangeArrowheads="1"/>
          </p:cNvSpPr>
          <p:nvPr/>
        </p:nvSpPr>
        <p:spPr bwMode="auto">
          <a:xfrm>
            <a:off x="1187450" y="6165850"/>
            <a:ext cx="6550025" cy="579438"/>
          </a:xfrm>
          <a:prstGeom prst="rect">
            <a:avLst/>
          </a:prstGeom>
          <a:solidFill>
            <a:srgbClr val="CC33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3300"/>
            </a:extrusionClr>
            <a:contourClr>
              <a:srgbClr val="CC33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chemeClr val="bg1"/>
                </a:solidFill>
                <a:latin typeface="Verdana" panose="020B0604030504040204" pitchFamily="34" charset="0"/>
                <a:ea typeface="华文新魏" panose="02010800040101010101" pitchFamily="2" charset="-122"/>
              </a:rPr>
              <a:t>创新 </a:t>
            </a:r>
            <a:r>
              <a:rPr lang="en-US" altLang="zh-CN" b="1">
                <a:solidFill>
                  <a:schemeClr val="bg1"/>
                </a:solidFill>
                <a:latin typeface="Verdana" panose="020B0604030504040204" pitchFamily="34" charset="0"/>
                <a:ea typeface="华文新魏" panose="02010800040101010101" pitchFamily="2" charset="-122"/>
              </a:rPr>
              <a:t>= </a:t>
            </a:r>
            <a:r>
              <a:rPr lang="zh-CN" altLang="en-US" b="1">
                <a:solidFill>
                  <a:schemeClr val="bg1"/>
                </a:solidFill>
                <a:latin typeface="Verdana" panose="020B0604030504040204" pitchFamily="34" charset="0"/>
                <a:ea typeface="华文新魏" panose="02010800040101010101" pitchFamily="2" charset="-122"/>
              </a:rPr>
              <a:t>厚基础 </a:t>
            </a:r>
            <a:r>
              <a:rPr lang="en-US" altLang="zh-CN" b="1">
                <a:solidFill>
                  <a:schemeClr val="bg1"/>
                </a:solidFill>
                <a:latin typeface="Verdana" panose="020B0604030504040204" pitchFamily="34" charset="0"/>
                <a:ea typeface="华文新魏" panose="02010800040101010101" pitchFamily="2" charset="-122"/>
              </a:rPr>
              <a:t>+ </a:t>
            </a:r>
            <a:r>
              <a:rPr lang="zh-CN" altLang="en-US" b="1">
                <a:solidFill>
                  <a:schemeClr val="bg1"/>
                </a:solidFill>
                <a:latin typeface="Verdana" panose="020B0604030504040204" pitchFamily="34" charset="0"/>
                <a:ea typeface="华文新魏" panose="02010800040101010101" pitchFamily="2" charset="-122"/>
              </a:rPr>
              <a:t>善思维 </a:t>
            </a:r>
            <a:r>
              <a:rPr lang="en-US" altLang="zh-CN" b="1">
                <a:solidFill>
                  <a:schemeClr val="bg1"/>
                </a:solidFill>
                <a:latin typeface="Verdana" panose="020B0604030504040204" pitchFamily="34" charset="0"/>
                <a:ea typeface="华文新魏" panose="02010800040101010101" pitchFamily="2" charset="-122"/>
              </a:rPr>
              <a:t>+ </a:t>
            </a:r>
            <a:r>
              <a:rPr lang="zh-CN" altLang="en-US" b="1">
                <a:solidFill>
                  <a:schemeClr val="bg1"/>
                </a:solidFill>
                <a:latin typeface="Verdana" panose="020B0604030504040204" pitchFamily="34" charset="0"/>
                <a:ea typeface="华文新魏" panose="02010800040101010101" pitchFamily="2" charset="-122"/>
              </a:rPr>
              <a:t>常实践</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3D0BC75-34CB-4FB5-B012-4FB84501B674}" type="datetime1">
              <a:rPr lang="zh-CN" altLang="en-US" sz="1400" smtClean="0"/>
              <a:pPr>
                <a:spcBef>
                  <a:spcPct val="0"/>
                </a:spcBef>
                <a:buClrTx/>
                <a:buSzTx/>
                <a:buFontTx/>
                <a:buNone/>
              </a:pPr>
              <a:t>2017/2/24</a:t>
            </a:fld>
            <a:endParaRPr lang="en-US" altLang="zh-CN" sz="1400" smtClean="0"/>
          </a:p>
        </p:txBody>
      </p:sp>
      <p:sp>
        <p:nvSpPr>
          <p:cNvPr id="3481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7FA11B0-8F0C-458B-8BBF-2D040903D7F5}" type="slidenum">
              <a:rPr lang="zh-CN" altLang="en-US" sz="1400"/>
              <a:pPr>
                <a:spcBef>
                  <a:spcPct val="0"/>
                </a:spcBef>
                <a:buClrTx/>
                <a:buSzTx/>
                <a:buFontTx/>
                <a:buNone/>
              </a:pPr>
              <a:t>30</a:t>
            </a:fld>
            <a:endParaRPr lang="en-US" altLang="zh-CN" sz="1400"/>
          </a:p>
        </p:txBody>
      </p:sp>
      <p:sp>
        <p:nvSpPr>
          <p:cNvPr id="34820" name="Rectangle 2"/>
          <p:cNvSpPr>
            <a:spLocks noGrp="1" noRot="1" noChangeArrowheads="1"/>
          </p:cNvSpPr>
          <p:nvPr>
            <p:ph type="title"/>
          </p:nvPr>
        </p:nvSpPr>
        <p:spPr>
          <a:xfrm>
            <a:off x="1258888" y="549275"/>
            <a:ext cx="5753100" cy="655638"/>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学习方法</a:t>
            </a:r>
          </a:p>
        </p:txBody>
      </p:sp>
      <p:sp>
        <p:nvSpPr>
          <p:cNvPr id="34821" name="Rectangle 3"/>
          <p:cNvSpPr>
            <a:spLocks noGrp="1" noRot="1" noChangeArrowheads="1"/>
          </p:cNvSpPr>
          <p:nvPr>
            <p:ph type="body" idx="1"/>
          </p:nvPr>
        </p:nvSpPr>
        <p:spPr>
          <a:xfrm>
            <a:off x="468313" y="1484313"/>
            <a:ext cx="8229600" cy="4572000"/>
          </a:xfrm>
        </p:spPr>
        <p:txBody>
          <a:bodyPr/>
          <a:lstStyle/>
          <a:p>
            <a:pPr eaLnBrk="1" hangingPunct="1"/>
            <a:r>
              <a:rPr lang="zh-CN" altLang="en-US" sz="3600" b="1" smtClean="0">
                <a:latin typeface="Times New Roman" panose="02020603050405020304" pitchFamily="18" charset="0"/>
                <a:ea typeface="华文新魏" panose="02010800040101010101" pitchFamily="2" charset="-122"/>
              </a:rPr>
              <a:t>辅导答疑</a:t>
            </a:r>
          </a:p>
          <a:p>
            <a:pPr lvl="1" eaLnBrk="1" hangingPunct="1"/>
            <a:r>
              <a:rPr lang="zh-CN" altLang="en-US" b="1" smtClean="0">
                <a:latin typeface="Times New Roman" panose="02020603050405020304" pitchFamily="18" charset="0"/>
                <a:ea typeface="华文新魏" panose="02010800040101010101" pitchFamily="2" charset="-122"/>
              </a:rPr>
              <a:t>教师是最宝贵的资源… …</a:t>
            </a:r>
          </a:p>
          <a:p>
            <a:pPr lvl="1" eaLnBrk="1" hangingPunct="1"/>
            <a:r>
              <a:rPr lang="zh-CN" altLang="en-US" b="1" smtClean="0">
                <a:latin typeface="Times New Roman" panose="02020603050405020304" pitchFamily="18" charset="0"/>
                <a:ea typeface="华文新魏" panose="02010800040101010101" pitchFamily="2" charset="-122"/>
              </a:rPr>
              <a:t>自己要思考，以追求最大收获：习题、问题</a:t>
            </a:r>
          </a:p>
          <a:p>
            <a:pPr eaLnBrk="1" hangingPunct="1">
              <a:spcBef>
                <a:spcPct val="100000"/>
              </a:spcBef>
            </a:pPr>
            <a:r>
              <a:rPr lang="zh-CN" altLang="en-US" sz="4000" b="1" smtClean="0">
                <a:latin typeface="Times New Roman" panose="02020603050405020304" pitchFamily="18" charset="0"/>
                <a:ea typeface="华文新魏" panose="02010800040101010101" pitchFamily="2" charset="-122"/>
              </a:rPr>
              <a:t>应对困难</a:t>
            </a:r>
          </a:p>
          <a:p>
            <a:pPr lvl="1" eaLnBrk="1" hangingPunct="1"/>
            <a:r>
              <a:rPr lang="zh-CN" altLang="en-US" b="1" smtClean="0">
                <a:latin typeface="Times New Roman" panose="02020603050405020304" pitchFamily="18" charset="0"/>
                <a:ea typeface="华文新魏" panose="02010800040101010101" pitchFamily="2" charset="-122"/>
              </a:rPr>
              <a:t>不畏惧困难</a:t>
            </a:r>
          </a:p>
          <a:p>
            <a:pPr lvl="1" eaLnBrk="1" hangingPunct="1"/>
            <a:r>
              <a:rPr lang="zh-CN" altLang="en-US" b="1" smtClean="0">
                <a:latin typeface="Times New Roman" panose="02020603050405020304" pitchFamily="18" charset="0"/>
                <a:ea typeface="华文新魏" panose="02010800040101010101" pitchFamily="2" charset="-122"/>
              </a:rPr>
              <a:t>从教训到经验——亲身体验</a:t>
            </a:r>
          </a:p>
          <a:p>
            <a:pPr lvl="1" eaLnBrk="1" hangingPunct="1"/>
            <a:r>
              <a:rPr lang="zh-CN" altLang="en-US" b="1" smtClean="0">
                <a:latin typeface="Times New Roman" panose="02020603050405020304" pitchFamily="18" charset="0"/>
                <a:ea typeface="华文新魏" panose="02010800040101010101" pitchFamily="2" charset="-122"/>
              </a:rPr>
              <a:t>要实践</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作业、实验</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，加深理解，探讨开拓</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65B314D-2DE5-4F9B-84D0-74127A15403B}" type="datetime1">
              <a:rPr lang="zh-CN" altLang="en-US" sz="1400" smtClean="0"/>
              <a:pPr>
                <a:spcBef>
                  <a:spcPct val="0"/>
                </a:spcBef>
                <a:buClrTx/>
                <a:buSzTx/>
                <a:buFontTx/>
                <a:buNone/>
              </a:pPr>
              <a:t>2017/2/24</a:t>
            </a:fld>
            <a:endParaRPr lang="en-US" altLang="zh-CN" sz="1400" smtClean="0"/>
          </a:p>
        </p:txBody>
      </p:sp>
      <p:sp>
        <p:nvSpPr>
          <p:cNvPr id="3584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36ED146-E79C-44AE-8739-CECDA87D7E17}" type="slidenum">
              <a:rPr lang="zh-CN" altLang="en-US" sz="1400"/>
              <a:pPr>
                <a:spcBef>
                  <a:spcPct val="0"/>
                </a:spcBef>
                <a:buClrTx/>
                <a:buSzTx/>
                <a:buFontTx/>
                <a:buNone/>
              </a:pPr>
              <a:t>31</a:t>
            </a:fld>
            <a:endParaRPr lang="en-US" altLang="zh-CN" sz="1400"/>
          </a:p>
        </p:txBody>
      </p:sp>
      <p:sp>
        <p:nvSpPr>
          <p:cNvPr id="35844" name="Rectangle 2"/>
          <p:cNvSpPr>
            <a:spLocks noGrp="1" noRot="1" noChangeArrowheads="1"/>
          </p:cNvSpPr>
          <p:nvPr>
            <p:ph type="title"/>
          </p:nvPr>
        </p:nvSpPr>
        <p:spPr/>
        <p:txBody>
          <a:bodyPr/>
          <a:lstStyle/>
          <a:p>
            <a:pPr eaLnBrk="1" hangingPunct="1"/>
            <a:r>
              <a:rPr lang="zh-CN" altLang="en-US" b="1" smtClean="0">
                <a:latin typeface="Times New Roman" panose="02020603050405020304" pitchFamily="18" charset="0"/>
                <a:ea typeface="华文新魏" panose="02010800040101010101" pitchFamily="2" charset="-122"/>
              </a:rPr>
              <a:t>学生的体会</a:t>
            </a:r>
            <a:endParaRPr lang="en-US" altLang="zh-CN" b="1" smtClean="0">
              <a:latin typeface="Times New Roman" panose="02020603050405020304" pitchFamily="18" charset="0"/>
              <a:ea typeface="华文新魏" panose="02010800040101010101" pitchFamily="2" charset="-122"/>
            </a:endParaRPr>
          </a:p>
        </p:txBody>
      </p:sp>
      <p:sp>
        <p:nvSpPr>
          <p:cNvPr id="35845" name="Rectangle 3"/>
          <p:cNvSpPr>
            <a:spLocks noGrp="1" noRot="1" noChangeArrowheads="1"/>
          </p:cNvSpPr>
          <p:nvPr>
            <p:ph type="body" idx="1"/>
          </p:nvPr>
        </p:nvSpPr>
        <p:spPr>
          <a:xfrm>
            <a:off x="611188" y="1700213"/>
            <a:ext cx="7983537" cy="4319587"/>
          </a:xfrm>
        </p:spPr>
        <p:txBody>
          <a:bodyPr/>
          <a:lstStyle/>
          <a:p>
            <a:pPr eaLnBrk="1" hangingPunct="1">
              <a:spcBef>
                <a:spcPct val="40000"/>
              </a:spcBef>
            </a:pPr>
            <a:r>
              <a:rPr lang="zh-CN" altLang="en-US" sz="2800" b="1" smtClean="0">
                <a:latin typeface="Times New Roman" panose="02020603050405020304" pitchFamily="18" charset="0"/>
                <a:ea typeface="华文新魏" panose="02010800040101010101" pitchFamily="2" charset="-122"/>
              </a:rPr>
              <a:t>向我们展示了一个原先未曾接触过的世界。我越来越坚信在编译这个领域里，包含了</a:t>
            </a:r>
            <a:r>
              <a:rPr lang="zh-CN" altLang="en-US" sz="2800" b="1" smtClean="0">
                <a:solidFill>
                  <a:srgbClr val="CC3300"/>
                </a:solidFill>
                <a:latin typeface="Times New Roman" panose="02020603050405020304" pitchFamily="18" charset="0"/>
                <a:ea typeface="华文新魏" panose="02010800040101010101" pitchFamily="2" charset="-122"/>
              </a:rPr>
              <a:t>太多前人的智慧</a:t>
            </a:r>
          </a:p>
          <a:p>
            <a:pPr eaLnBrk="1" hangingPunct="1">
              <a:spcBef>
                <a:spcPct val="40000"/>
              </a:spcBef>
            </a:pPr>
            <a:r>
              <a:rPr lang="zh-CN" altLang="en-US" sz="2800" b="1" smtClean="0">
                <a:latin typeface="Times New Roman" panose="02020603050405020304" pitchFamily="18" charset="0"/>
                <a:ea typeface="华文新魏" panose="02010800040101010101" pitchFamily="2" charset="-122"/>
              </a:rPr>
              <a:t>课中不时的小问题，让我们去</a:t>
            </a:r>
            <a:r>
              <a:rPr lang="zh-CN" altLang="en-US" sz="2800" b="1" smtClean="0">
                <a:solidFill>
                  <a:srgbClr val="CC3300"/>
                </a:solidFill>
                <a:latin typeface="Times New Roman" panose="02020603050405020304" pitchFamily="18" charset="0"/>
                <a:ea typeface="华文新魏" panose="02010800040101010101" pitchFamily="2" charset="-122"/>
              </a:rPr>
              <a:t>自由思考</a:t>
            </a:r>
            <a:r>
              <a:rPr lang="en-US" altLang="zh-CN" sz="2800" b="1" smtClean="0">
                <a:latin typeface="Times New Roman" panose="02020603050405020304" pitchFamily="18" charset="0"/>
                <a:ea typeface="华文新魏" panose="02010800040101010101" pitchFamily="2" charset="-122"/>
              </a:rPr>
              <a:t>……</a:t>
            </a:r>
            <a:endParaRPr lang="zh-CN" altLang="en-US" sz="2800" b="1" smtClean="0">
              <a:latin typeface="Times New Roman" panose="02020603050405020304" pitchFamily="18" charset="0"/>
              <a:ea typeface="华文新魏" panose="02010800040101010101" pitchFamily="2" charset="-122"/>
            </a:endParaRPr>
          </a:p>
          <a:p>
            <a:pPr eaLnBrk="1" hangingPunct="1">
              <a:spcBef>
                <a:spcPct val="40000"/>
              </a:spcBef>
            </a:pPr>
            <a:r>
              <a:rPr lang="zh-CN" altLang="en-US" sz="2800" b="1" smtClean="0">
                <a:latin typeface="Times New Roman" panose="02020603050405020304" pitchFamily="18" charset="0"/>
                <a:ea typeface="华文新魏" panose="02010800040101010101" pitchFamily="2" charset="-122"/>
              </a:rPr>
              <a:t>问题不断被解决的同时，又有一个个新的问题提了出来，问题的出现恰恰是上一个方案的不足，这个逐渐递进，逐渐解决问题的过程好像踏着前人研究编译理论的路线，</a:t>
            </a:r>
            <a:r>
              <a:rPr lang="zh-CN" altLang="en-US" sz="2800" b="1" smtClean="0">
                <a:solidFill>
                  <a:srgbClr val="CC3300"/>
                </a:solidFill>
                <a:latin typeface="Times New Roman" panose="02020603050405020304" pitchFamily="18" charset="0"/>
                <a:ea typeface="华文新魏" panose="02010800040101010101" pitchFamily="2" charset="-122"/>
              </a:rPr>
              <a:t>不断感觉大师们遇到的问题、解决问题的思路</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6BDDD20-160C-48CF-9695-ED83660D310C}" type="datetime1">
              <a:rPr lang="zh-CN" altLang="en-US" sz="1400" smtClean="0"/>
              <a:pPr>
                <a:spcBef>
                  <a:spcPct val="0"/>
                </a:spcBef>
                <a:buClrTx/>
                <a:buSzTx/>
                <a:buFontTx/>
                <a:buNone/>
              </a:pPr>
              <a:t>2017/2/24</a:t>
            </a:fld>
            <a:endParaRPr lang="en-US" altLang="zh-CN" sz="1400" smtClean="0"/>
          </a:p>
        </p:txBody>
      </p:sp>
      <p:sp>
        <p:nvSpPr>
          <p:cNvPr id="3686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27A1E4B-B952-4FC4-BD0B-05ADC4127298}" type="slidenum">
              <a:rPr lang="zh-CN" altLang="en-US" sz="1400"/>
              <a:pPr>
                <a:spcBef>
                  <a:spcPct val="0"/>
                </a:spcBef>
                <a:buClrTx/>
                <a:buSzTx/>
                <a:buFontTx/>
                <a:buNone/>
              </a:pPr>
              <a:t>32</a:t>
            </a:fld>
            <a:endParaRPr lang="en-US" altLang="zh-CN" sz="1400"/>
          </a:p>
        </p:txBody>
      </p:sp>
      <p:sp>
        <p:nvSpPr>
          <p:cNvPr id="36868" name="Rectangle 2"/>
          <p:cNvSpPr>
            <a:spLocks noGrp="1" noRot="1" noChangeArrowheads="1"/>
          </p:cNvSpPr>
          <p:nvPr>
            <p:ph type="title"/>
          </p:nvPr>
        </p:nvSpPr>
        <p:spPr>
          <a:xfrm>
            <a:off x="323850" y="692150"/>
            <a:ext cx="8540750" cy="792163"/>
          </a:xfrm>
        </p:spPr>
        <p:txBody>
          <a:bodyPr/>
          <a:lstStyle/>
          <a:p>
            <a:pPr eaLnBrk="1" hangingPunct="1"/>
            <a:r>
              <a:rPr lang="zh-CN" altLang="en-US" b="1" smtClean="0">
                <a:latin typeface="Times New Roman" panose="02020603050405020304" pitchFamily="18" charset="0"/>
                <a:ea typeface="华文新魏" panose="02010800040101010101" pitchFamily="2" charset="-122"/>
              </a:rPr>
              <a:t>学生的体会</a:t>
            </a:r>
            <a:endParaRPr lang="en-US" altLang="zh-CN" b="1" smtClean="0">
              <a:latin typeface="Times New Roman" panose="02020603050405020304" pitchFamily="18" charset="0"/>
              <a:ea typeface="华文新魏" panose="02010800040101010101" pitchFamily="2" charset="-122"/>
            </a:endParaRPr>
          </a:p>
        </p:txBody>
      </p:sp>
      <p:sp>
        <p:nvSpPr>
          <p:cNvPr id="36869" name="Rectangle 3"/>
          <p:cNvSpPr>
            <a:spLocks noGrp="1" noRot="1" noChangeArrowheads="1"/>
          </p:cNvSpPr>
          <p:nvPr>
            <p:ph type="body" idx="1"/>
          </p:nvPr>
        </p:nvSpPr>
        <p:spPr>
          <a:xfrm>
            <a:off x="468313" y="1700213"/>
            <a:ext cx="8199437" cy="4537075"/>
          </a:xfrm>
        </p:spPr>
        <p:txBody>
          <a:bodyPr/>
          <a:lstStyle/>
          <a:p>
            <a:pPr eaLnBrk="1" hangingPunct="1">
              <a:lnSpc>
                <a:spcPct val="90000"/>
              </a:lnSpc>
              <a:spcBef>
                <a:spcPct val="45000"/>
              </a:spcBef>
            </a:pPr>
            <a:r>
              <a:rPr lang="zh-CN" altLang="en-US" sz="2800" b="1" smtClean="0">
                <a:latin typeface="Times New Roman" panose="02020603050405020304" pitchFamily="18" charset="0"/>
                <a:ea typeface="华文新魏" panose="02010800040101010101" pitchFamily="2" charset="-122"/>
              </a:rPr>
              <a:t>开阔思路，建立严谨的思考方法</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潜移默化地培养形式化描述能力和抽象思维能力</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 建立和完善</a:t>
            </a:r>
            <a:r>
              <a:rPr lang="zh-CN" altLang="en-US" sz="2800" b="1" smtClean="0">
                <a:solidFill>
                  <a:srgbClr val="CC3300"/>
                </a:solidFill>
                <a:latin typeface="Times New Roman" panose="02020603050405020304" pitchFamily="18" charset="0"/>
                <a:ea typeface="华文新魏" panose="02010800040101010101" pitchFamily="2" charset="-122"/>
              </a:rPr>
              <a:t>系统观和全局观</a:t>
            </a:r>
          </a:p>
          <a:p>
            <a:pPr eaLnBrk="1" hangingPunct="1">
              <a:lnSpc>
                <a:spcPct val="90000"/>
              </a:lnSpc>
              <a:spcBef>
                <a:spcPct val="45000"/>
              </a:spcBef>
            </a:pPr>
            <a:r>
              <a:rPr lang="zh-CN" altLang="en-US" sz="2800" b="1" smtClean="0">
                <a:latin typeface="Times New Roman" panose="02020603050405020304" pitchFamily="18" charset="0"/>
                <a:ea typeface="华文新魏" panose="02010800040101010101" pitchFamily="2" charset="-122"/>
              </a:rPr>
              <a:t>带给我的不只是理论知识，更重要的是‘自动计算’的思路</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感到了一种</a:t>
            </a:r>
            <a:r>
              <a:rPr lang="zh-CN" altLang="en-US" sz="2800" b="1" smtClean="0">
                <a:solidFill>
                  <a:srgbClr val="CC3300"/>
                </a:solidFill>
                <a:latin typeface="Times New Roman" panose="02020603050405020304" pitchFamily="18" charset="0"/>
                <a:ea typeface="华文新魏" panose="02010800040101010101" pitchFamily="2" charset="-122"/>
              </a:rPr>
              <a:t>“自动计算”的快乐</a:t>
            </a:r>
          </a:p>
          <a:p>
            <a:pPr eaLnBrk="1" hangingPunct="1">
              <a:lnSpc>
                <a:spcPct val="90000"/>
              </a:lnSpc>
              <a:spcBef>
                <a:spcPct val="45000"/>
              </a:spcBef>
            </a:pPr>
            <a:r>
              <a:rPr lang="zh-CN" altLang="en-US" sz="2800" b="1" smtClean="0">
                <a:latin typeface="Times New Roman" panose="02020603050405020304" pitchFamily="18" charset="0"/>
                <a:ea typeface="华文新魏" panose="02010800040101010101" pitchFamily="2" charset="-122"/>
              </a:rPr>
              <a:t>这门课不仅让我对编译器有了一个比较理性的认识与了解，让我提高了自己的编程能力，还让我再次体会到了计算机学科的一些基本思想，再次感受到了人类的伟大</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在于</a:t>
            </a:r>
            <a:r>
              <a:rPr lang="zh-CN" altLang="en-US" sz="2800" b="1" smtClean="0">
                <a:solidFill>
                  <a:srgbClr val="CC3300"/>
                </a:solidFill>
                <a:latin typeface="Times New Roman" panose="02020603050405020304" pitchFamily="18" charset="0"/>
                <a:ea typeface="华文新魏" panose="02010800040101010101" pitchFamily="2" charset="-122"/>
              </a:rPr>
              <a:t>抽象的公理系统以及算法的巧妙</a:t>
            </a:r>
            <a:endParaRPr lang="zh-CN" altLang="en-US" sz="2800" b="1" smtClean="0">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5B0D3D0-CA51-41D0-B5D8-DEF5AAD6DC9F}" type="datetime1">
              <a:rPr lang="zh-CN" altLang="en-US" sz="1400" smtClean="0"/>
              <a:pPr>
                <a:spcBef>
                  <a:spcPct val="0"/>
                </a:spcBef>
                <a:buClrTx/>
                <a:buSzTx/>
                <a:buFontTx/>
                <a:buNone/>
              </a:pPr>
              <a:t>2017/2/24</a:t>
            </a:fld>
            <a:endParaRPr lang="en-US" altLang="zh-CN" sz="1400" smtClean="0"/>
          </a:p>
        </p:txBody>
      </p:sp>
      <p:sp>
        <p:nvSpPr>
          <p:cNvPr id="3789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F614110-CD6C-45C5-B889-1917CFE52D2F}" type="slidenum">
              <a:rPr lang="zh-CN" altLang="en-US" sz="1400"/>
              <a:pPr>
                <a:spcBef>
                  <a:spcPct val="0"/>
                </a:spcBef>
                <a:buClrTx/>
                <a:buSzTx/>
                <a:buFontTx/>
                <a:buNone/>
              </a:pPr>
              <a:t>33</a:t>
            </a:fld>
            <a:endParaRPr lang="en-US" altLang="zh-CN" sz="1400"/>
          </a:p>
        </p:txBody>
      </p:sp>
      <p:sp>
        <p:nvSpPr>
          <p:cNvPr id="37892" name="Rectangle 2"/>
          <p:cNvSpPr>
            <a:spLocks noGrp="1" noRot="1" noChangeArrowheads="1"/>
          </p:cNvSpPr>
          <p:nvPr>
            <p:ph type="title"/>
          </p:nvPr>
        </p:nvSpPr>
        <p:spPr>
          <a:xfrm>
            <a:off x="1403350" y="692150"/>
            <a:ext cx="4918075" cy="655638"/>
          </a:xfrm>
        </p:spPr>
        <p:txBody>
          <a:bodyPr/>
          <a:lstStyle/>
          <a:p>
            <a:pPr eaLnBrk="1" hangingPunct="1"/>
            <a:r>
              <a:rPr lang="zh-CN" altLang="en-US" b="1" smtClean="0">
                <a:solidFill>
                  <a:srgbClr val="FF3300"/>
                </a:solidFill>
                <a:latin typeface="Times New Roman" panose="02020603050405020304" pitchFamily="18" charset="0"/>
                <a:ea typeface="华文新魏" panose="02010800040101010101" pitchFamily="2" charset="-122"/>
              </a:rPr>
              <a:t>第1章 引论</a:t>
            </a:r>
          </a:p>
        </p:txBody>
      </p:sp>
      <p:sp>
        <p:nvSpPr>
          <p:cNvPr id="37893" name="Rectangle 3"/>
          <p:cNvSpPr>
            <a:spLocks noGrp="1" noRot="1" noChangeArrowheads="1"/>
          </p:cNvSpPr>
          <p:nvPr>
            <p:ph type="body" idx="1"/>
          </p:nvPr>
        </p:nvSpPr>
        <p:spPr/>
        <p:txBody>
          <a:bodyPr/>
          <a:lstStyle/>
          <a:p>
            <a:pPr eaLnBrk="1" hangingPunct="1"/>
            <a:r>
              <a:rPr lang="zh-CN" altLang="en-US" b="1" smtClean="0">
                <a:latin typeface="Times New Roman" panose="02020603050405020304" pitchFamily="18" charset="0"/>
                <a:ea typeface="华文新魏" panose="02010800040101010101" pitchFamily="2" charset="-122"/>
              </a:rPr>
              <a:t>1.1  计算机语言的发展</a:t>
            </a:r>
          </a:p>
          <a:p>
            <a:pPr eaLnBrk="1" hangingPunct="1"/>
            <a:r>
              <a:rPr lang="zh-CN" altLang="en-US" b="1" smtClean="0">
                <a:latin typeface="Times New Roman" panose="02020603050405020304" pitchFamily="18" charset="0"/>
                <a:ea typeface="华文新魏" panose="02010800040101010101" pitchFamily="2" charset="-122"/>
              </a:rPr>
              <a:t>1.2 翻译系统</a:t>
            </a:r>
          </a:p>
          <a:p>
            <a:pPr eaLnBrk="1" hangingPunct="1"/>
            <a:r>
              <a:rPr lang="zh-CN" altLang="en-US" b="1" smtClean="0">
                <a:latin typeface="Times New Roman" panose="02020603050405020304" pitchFamily="18" charset="0"/>
                <a:ea typeface="华文新魏" panose="02010800040101010101" pitchFamily="2" charset="-122"/>
              </a:rPr>
              <a:t>1.3 编译系统的</a:t>
            </a:r>
            <a:r>
              <a:rPr lang="zh-CN" altLang="en-US" b="1" smtClean="0">
                <a:solidFill>
                  <a:srgbClr val="CC3300"/>
                </a:solidFill>
                <a:latin typeface="Times New Roman" panose="02020603050405020304" pitchFamily="18" charset="0"/>
                <a:ea typeface="华文新魏" panose="02010800040101010101" pitchFamily="2" charset="-122"/>
              </a:rPr>
              <a:t>功能分析</a:t>
            </a:r>
          </a:p>
          <a:p>
            <a:pPr eaLnBrk="1" hangingPunct="1"/>
            <a:r>
              <a:rPr lang="zh-CN" altLang="en-US" b="1" smtClean="0">
                <a:latin typeface="Times New Roman" panose="02020603050405020304" pitchFamily="18" charset="0"/>
                <a:ea typeface="华文新魏" panose="02010800040101010101" pitchFamily="2" charset="-122"/>
              </a:rPr>
              <a:t>1.4 编译程序</a:t>
            </a:r>
            <a:r>
              <a:rPr lang="zh-CN" altLang="en-US" b="1" smtClean="0">
                <a:solidFill>
                  <a:srgbClr val="CC3300"/>
                </a:solidFill>
                <a:latin typeface="Times New Roman" panose="02020603050405020304" pitchFamily="18" charset="0"/>
                <a:ea typeface="华文新魏" panose="02010800040101010101" pitchFamily="2" charset="-122"/>
              </a:rPr>
              <a:t>总体结构</a:t>
            </a:r>
          </a:p>
          <a:p>
            <a:pPr eaLnBrk="1" hangingPunct="1"/>
            <a:r>
              <a:rPr lang="zh-CN" altLang="en-US" b="1" smtClean="0">
                <a:latin typeface="Times New Roman" panose="02020603050405020304" pitchFamily="18" charset="0"/>
                <a:ea typeface="华文新魏" panose="02010800040101010101" pitchFamily="2" charset="-122"/>
              </a:rPr>
              <a:t>1.5 编译程序的生成</a:t>
            </a:r>
          </a:p>
          <a:p>
            <a:pPr eaLnBrk="1" hangingPunct="1"/>
            <a:r>
              <a:rPr lang="zh-CN" altLang="en-US" b="1" i="1" smtClean="0">
                <a:latin typeface="Times New Roman" panose="02020603050405020304" pitchFamily="18" charset="0"/>
                <a:ea typeface="华文新魏" panose="02010800040101010101" pitchFamily="2" charset="-122"/>
              </a:rPr>
              <a:t>1.6 编译技术的应用</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2DC677B-E6D7-47B2-A1AA-22D9B1FCA41A}" type="datetime1">
              <a:rPr lang="zh-CN" altLang="en-US" sz="1400" smtClean="0"/>
              <a:pPr>
                <a:spcBef>
                  <a:spcPct val="0"/>
                </a:spcBef>
                <a:buClrTx/>
                <a:buSzTx/>
                <a:buFontTx/>
                <a:buNone/>
              </a:pPr>
              <a:t>2017/2/24</a:t>
            </a:fld>
            <a:endParaRPr lang="en-US" altLang="zh-CN" sz="1400" smtClean="0"/>
          </a:p>
        </p:txBody>
      </p:sp>
      <p:sp>
        <p:nvSpPr>
          <p:cNvPr id="3891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088A458-5DC7-4D3A-8CF2-F4AC678824AA}" type="slidenum">
              <a:rPr lang="zh-CN" altLang="en-US" sz="1400"/>
              <a:pPr>
                <a:spcBef>
                  <a:spcPct val="0"/>
                </a:spcBef>
                <a:buClrTx/>
                <a:buSzTx/>
                <a:buFontTx/>
                <a:buNone/>
              </a:pPr>
              <a:t>34</a:t>
            </a:fld>
            <a:endParaRPr lang="en-US" altLang="zh-CN" sz="1400"/>
          </a:p>
        </p:txBody>
      </p:sp>
      <p:sp>
        <p:nvSpPr>
          <p:cNvPr id="38916" name="Rectangle 2"/>
          <p:cNvSpPr>
            <a:spLocks noGrp="1" noRot="1" noChangeArrowheads="1"/>
          </p:cNvSpPr>
          <p:nvPr>
            <p:ph type="title"/>
          </p:nvPr>
        </p:nvSpPr>
        <p:spPr>
          <a:xfrm>
            <a:off x="539750" y="620713"/>
            <a:ext cx="6672263" cy="714375"/>
          </a:xfrm>
        </p:spPr>
        <p:txBody>
          <a:bodyPr/>
          <a:lstStyle/>
          <a:p>
            <a:pPr eaLnBrk="1" hangingPunct="1"/>
            <a:r>
              <a:rPr lang="zh-CN" altLang="en-US" smtClean="0">
                <a:solidFill>
                  <a:srgbClr val="000099"/>
                </a:solidFill>
                <a:latin typeface="Times New Roman" panose="02020603050405020304" pitchFamily="18" charset="0"/>
                <a:ea typeface="华文新魏" panose="02010800040101010101" pitchFamily="2" charset="-122"/>
              </a:rPr>
              <a:t>1.1  </a:t>
            </a:r>
            <a:r>
              <a:rPr lang="zh-CN" altLang="en-US" b="1" smtClean="0">
                <a:solidFill>
                  <a:srgbClr val="000099"/>
                </a:solidFill>
                <a:latin typeface="Times New Roman" panose="02020603050405020304" pitchFamily="18" charset="0"/>
                <a:ea typeface="华文新魏" panose="02010800040101010101" pitchFamily="2" charset="-122"/>
              </a:rPr>
              <a:t>计算机语言</a:t>
            </a:r>
          </a:p>
        </p:txBody>
      </p:sp>
      <p:sp>
        <p:nvSpPr>
          <p:cNvPr id="38917" name="Rectangle 3"/>
          <p:cNvSpPr>
            <a:spLocks noGrp="1" noRot="1" noChangeArrowheads="1"/>
          </p:cNvSpPr>
          <p:nvPr>
            <p:ph type="body" idx="1"/>
          </p:nvPr>
        </p:nvSpPr>
        <p:spPr>
          <a:xfrm>
            <a:off x="468313" y="1557338"/>
            <a:ext cx="8229600" cy="4895850"/>
          </a:xfrm>
        </p:spPr>
        <p:txBody>
          <a:bodyPr/>
          <a:lstStyle/>
          <a:p>
            <a:pPr eaLnBrk="1" hangingPunct="1">
              <a:lnSpc>
                <a:spcPct val="90000"/>
              </a:lnSpc>
            </a:pPr>
            <a:r>
              <a:rPr lang="zh-CN" altLang="en-US" b="1" smtClean="0">
                <a:latin typeface="Times New Roman" panose="02020603050405020304" pitchFamily="18" charset="0"/>
                <a:ea typeface="华文新魏" panose="02010800040101010101" pitchFamily="2" charset="-122"/>
              </a:rPr>
              <a:t>机器语言</a:t>
            </a:r>
            <a:r>
              <a:rPr lang="en-US" altLang="zh-CN" sz="2400" b="1" smtClean="0">
                <a:latin typeface="Times New Roman" panose="02020603050405020304" pitchFamily="18" charset="0"/>
                <a:ea typeface="华文新魏" panose="02010800040101010101" pitchFamily="2" charset="-122"/>
              </a:rPr>
              <a:t>(Machine Language)</a:t>
            </a:r>
          </a:p>
          <a:p>
            <a:pPr lvl="1" eaLnBrk="1" hangingPunct="1">
              <a:lnSpc>
                <a:spcPct val="90000"/>
              </a:lnSpc>
            </a:pPr>
            <a:r>
              <a:rPr lang="en-US" altLang="zh-CN" b="1" smtClean="0">
                <a:solidFill>
                  <a:srgbClr val="FF3300"/>
                </a:solidFill>
                <a:latin typeface="Times New Roman" panose="02020603050405020304" pitchFamily="18" charset="0"/>
                <a:ea typeface="华文新魏" panose="02010800040101010101" pitchFamily="2" charset="-122"/>
              </a:rPr>
              <a:t>0、1</a:t>
            </a:r>
            <a:r>
              <a:rPr lang="zh-CN" altLang="en-US" b="1" smtClean="0">
                <a:solidFill>
                  <a:srgbClr val="FF3300"/>
                </a:solidFill>
                <a:latin typeface="Times New Roman" panose="02020603050405020304" pitchFamily="18" charset="0"/>
                <a:ea typeface="华文新魏" panose="02010800040101010101" pitchFamily="2" charset="-122"/>
              </a:rPr>
              <a:t>代码</a:t>
            </a:r>
          </a:p>
          <a:p>
            <a:pPr eaLnBrk="1" hangingPunct="1">
              <a:lnSpc>
                <a:spcPct val="90000"/>
              </a:lnSpc>
            </a:pPr>
            <a:r>
              <a:rPr lang="zh-CN" altLang="en-US" b="1" smtClean="0">
                <a:latin typeface="Times New Roman" panose="02020603050405020304" pitchFamily="18" charset="0"/>
                <a:ea typeface="华文新魏" panose="02010800040101010101" pitchFamily="2" charset="-122"/>
              </a:rPr>
              <a:t>汇编语言</a:t>
            </a:r>
            <a:r>
              <a:rPr lang="en-US" altLang="zh-CN" sz="2400" b="1" smtClean="0">
                <a:latin typeface="Times New Roman" panose="02020603050405020304" pitchFamily="18" charset="0"/>
                <a:ea typeface="华文新魏" panose="02010800040101010101" pitchFamily="2" charset="-122"/>
              </a:rPr>
              <a:t>(Assemble Language)</a:t>
            </a:r>
          </a:p>
          <a:p>
            <a:pPr lvl="1" eaLnBrk="1" hangingPunct="1">
              <a:lnSpc>
                <a:spcPct val="90000"/>
              </a:lnSpc>
            </a:pPr>
            <a:r>
              <a:rPr lang="en-US" altLang="zh-CN" b="1" smtClean="0">
                <a:latin typeface="Times New Roman" panose="02020603050405020304" pitchFamily="18" charset="0"/>
                <a:ea typeface="华文新魏" panose="02010800040101010101" pitchFamily="2" charset="-122"/>
              </a:rPr>
              <a:t>0、1</a:t>
            </a:r>
            <a:r>
              <a:rPr lang="zh-CN" altLang="en-US" b="1" smtClean="0">
                <a:latin typeface="Times New Roman" panose="02020603050405020304" pitchFamily="18" charset="0"/>
                <a:ea typeface="华文新魏" panose="02010800040101010101" pitchFamily="2" charset="-122"/>
              </a:rPr>
              <a:t>代码与</a:t>
            </a:r>
            <a:r>
              <a:rPr lang="zh-CN" altLang="en-US" b="1" smtClean="0">
                <a:solidFill>
                  <a:srgbClr val="FF3300"/>
                </a:solidFill>
                <a:latin typeface="Times New Roman" panose="02020603050405020304" pitchFamily="18" charset="0"/>
                <a:ea typeface="华文新魏" panose="02010800040101010101" pitchFamily="2" charset="-122"/>
              </a:rPr>
              <a:t>助记符</a:t>
            </a:r>
            <a:r>
              <a:rPr lang="zh-CN" altLang="en-US" b="1" smtClean="0">
                <a:latin typeface="Times New Roman" panose="02020603050405020304" pitchFamily="18" charset="0"/>
                <a:ea typeface="华文新魏" panose="02010800040101010101" pitchFamily="2" charset="-122"/>
              </a:rPr>
              <a:t>：接近计算机硬件指令系统</a:t>
            </a:r>
          </a:p>
          <a:p>
            <a:pPr eaLnBrk="1" hangingPunct="1">
              <a:lnSpc>
                <a:spcPct val="90000"/>
              </a:lnSpc>
            </a:pPr>
            <a:r>
              <a:rPr lang="zh-CN" altLang="en-US" b="1" smtClean="0">
                <a:latin typeface="Times New Roman" panose="02020603050405020304" pitchFamily="18" charset="0"/>
                <a:ea typeface="华文新魏" panose="02010800040101010101" pitchFamily="2" charset="-122"/>
              </a:rPr>
              <a:t>高级语言</a:t>
            </a:r>
            <a:r>
              <a:rPr lang="en-US" altLang="zh-CN" sz="2400" b="1" smtClean="0">
                <a:latin typeface="Times New Roman" panose="02020603050405020304" pitchFamily="18" charset="0"/>
                <a:ea typeface="华文新魏" panose="02010800040101010101" pitchFamily="2" charset="-122"/>
              </a:rPr>
              <a:t>(High Level Language)</a:t>
            </a:r>
          </a:p>
          <a:p>
            <a:pPr lvl="1" eaLnBrk="1" hangingPunct="1">
              <a:lnSpc>
                <a:spcPct val="90000"/>
              </a:lnSpc>
            </a:pPr>
            <a:r>
              <a:rPr lang="zh-CN" altLang="en-US" b="1" smtClean="0">
                <a:solidFill>
                  <a:srgbClr val="FF3300"/>
                </a:solidFill>
                <a:latin typeface="Times New Roman" panose="02020603050405020304" pitchFamily="18" charset="0"/>
                <a:ea typeface="华文新魏" panose="02010800040101010101" pitchFamily="2" charset="-122"/>
              </a:rPr>
              <a:t>语句</a:t>
            </a:r>
            <a:r>
              <a:rPr lang="zh-CN" altLang="en-US" b="1" smtClean="0">
                <a:latin typeface="Times New Roman" panose="02020603050405020304" pitchFamily="18" charset="0"/>
                <a:ea typeface="华文新魏" panose="02010800040101010101" pitchFamily="2" charset="-122"/>
              </a:rPr>
              <a:t>定义数据、描述算法</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程序</a:t>
            </a:r>
            <a:r>
              <a:rPr lang="en-US" altLang="zh-CN" b="1" smtClean="0">
                <a:latin typeface="Times New Roman" panose="02020603050405020304" pitchFamily="18" charset="0"/>
                <a:ea typeface="华文新魏" panose="02010800040101010101" pitchFamily="2" charset="-122"/>
              </a:rPr>
              <a:t>)</a:t>
            </a: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如：</a:t>
            </a:r>
            <a:r>
              <a:rPr lang="en-US" altLang="zh-CN" b="1" smtClean="0">
                <a:latin typeface="Times New Roman" panose="02020603050405020304" pitchFamily="18" charset="0"/>
                <a:ea typeface="华文新魏" panose="02010800040101010101" pitchFamily="2" charset="-122"/>
              </a:rPr>
              <a:t>C、FORTRAN、PASCAL、C++、JAVA、SQL(</a:t>
            </a:r>
            <a:r>
              <a:rPr lang="zh-CN" altLang="en-US" b="1" smtClean="0">
                <a:latin typeface="Times New Roman" panose="02020603050405020304" pitchFamily="18" charset="0"/>
                <a:ea typeface="华文新魏" panose="02010800040101010101" pitchFamily="2" charset="-122"/>
              </a:rPr>
              <a:t>数据定义、数据操作</a:t>
            </a:r>
            <a:r>
              <a:rPr lang="en-US" altLang="zh-CN" b="1" smtClean="0">
                <a:latin typeface="Times New Roman" panose="02020603050405020304" pitchFamily="18" charset="0"/>
                <a:ea typeface="华文新魏" panose="02010800040101010101" pitchFamily="2" charset="-122"/>
              </a:rPr>
              <a:t>)</a:t>
            </a:r>
          </a:p>
          <a:p>
            <a:pPr eaLnBrk="1" hangingPunct="1">
              <a:lnSpc>
                <a:spcPct val="90000"/>
              </a:lnSpc>
            </a:pPr>
            <a:r>
              <a:rPr lang="zh-CN" altLang="en-US" b="1" i="1" smtClean="0">
                <a:latin typeface="Times New Roman" panose="02020603050405020304" pitchFamily="18" charset="0"/>
                <a:ea typeface="华文新魏" panose="02010800040101010101" pitchFamily="2" charset="-122"/>
              </a:rPr>
              <a:t>命令语言</a:t>
            </a:r>
            <a:r>
              <a:rPr lang="en-US" altLang="zh-CN" sz="2400" b="1" i="1" smtClean="0">
                <a:latin typeface="Times New Roman" panose="02020603050405020304" pitchFamily="18" charset="0"/>
                <a:ea typeface="华文新魏" panose="02010800040101010101" pitchFamily="2" charset="-122"/>
              </a:rPr>
              <a:t>(Command)</a:t>
            </a:r>
          </a:p>
          <a:p>
            <a:pPr lvl="1" eaLnBrk="1" hangingPunct="1">
              <a:lnSpc>
                <a:spcPct val="90000"/>
              </a:lnSpc>
            </a:pPr>
            <a:r>
              <a:rPr lang="zh-CN" altLang="zh-CN" b="1" i="1" smtClean="0">
                <a:latin typeface="Times New Roman" panose="02020603050405020304" pitchFamily="18" charset="0"/>
                <a:ea typeface="华文新魏" panose="02010800040101010101" pitchFamily="2" charset="-122"/>
              </a:rPr>
              <a:t>以</a:t>
            </a:r>
            <a:r>
              <a:rPr lang="zh-CN" altLang="zh-CN" b="1" i="1" smtClean="0">
                <a:solidFill>
                  <a:srgbClr val="FF3300"/>
                </a:solidFill>
                <a:latin typeface="Times New Roman" panose="02020603050405020304" pitchFamily="18" charset="0"/>
                <a:ea typeface="华文新魏" panose="02010800040101010101" pitchFamily="2" charset="-122"/>
              </a:rPr>
              <a:t>功能封装</a:t>
            </a:r>
            <a:r>
              <a:rPr lang="zh-CN" altLang="zh-CN" b="1" i="1" smtClean="0">
                <a:latin typeface="Times New Roman" panose="02020603050405020304" pitchFamily="18" charset="0"/>
                <a:ea typeface="华文新魏" panose="02010800040101010101" pitchFamily="2" charset="-122"/>
              </a:rPr>
              <a:t>为特征</a:t>
            </a:r>
            <a:endParaRPr lang="zh-CN" altLang="en-US" b="1" i="1" smtClean="0">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D8314B5-5C31-4707-81B3-B88E9DD52FB7}" type="datetime1">
              <a:rPr lang="zh-CN" altLang="en-US" sz="1400" smtClean="0"/>
              <a:pPr>
                <a:spcBef>
                  <a:spcPct val="0"/>
                </a:spcBef>
                <a:buClrTx/>
                <a:buSzTx/>
                <a:buFontTx/>
                <a:buNone/>
              </a:pPr>
              <a:t>2017/2/24</a:t>
            </a:fld>
            <a:endParaRPr lang="en-US" altLang="zh-CN" sz="1400" smtClean="0"/>
          </a:p>
        </p:txBody>
      </p:sp>
      <p:sp>
        <p:nvSpPr>
          <p:cNvPr id="3993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E3BCDC1-5046-4F5A-AD26-C52490F14312}" type="slidenum">
              <a:rPr lang="zh-CN" altLang="en-US" sz="1400"/>
              <a:pPr>
                <a:spcBef>
                  <a:spcPct val="0"/>
                </a:spcBef>
                <a:buClrTx/>
                <a:buSzTx/>
                <a:buFontTx/>
                <a:buNone/>
              </a:pPr>
              <a:t>35</a:t>
            </a:fld>
            <a:endParaRPr lang="en-US" altLang="zh-CN" sz="1400"/>
          </a:p>
        </p:txBody>
      </p:sp>
      <p:sp>
        <p:nvSpPr>
          <p:cNvPr id="39940" name="Rectangle 2"/>
          <p:cNvSpPr>
            <a:spLocks noGrp="1" noRot="1" noChangeArrowheads="1"/>
          </p:cNvSpPr>
          <p:nvPr>
            <p:ph type="title"/>
          </p:nvPr>
        </p:nvSpPr>
        <p:spPr>
          <a:xfrm>
            <a:off x="539750" y="620713"/>
            <a:ext cx="6672263" cy="714375"/>
          </a:xfrm>
        </p:spPr>
        <p:txBody>
          <a:bodyPr/>
          <a:lstStyle/>
          <a:p>
            <a:pPr eaLnBrk="1" hangingPunct="1"/>
            <a:r>
              <a:rPr lang="zh-CN" altLang="en-US" smtClean="0">
                <a:solidFill>
                  <a:srgbClr val="000099"/>
                </a:solidFill>
                <a:latin typeface="Times New Roman" panose="02020603050405020304" pitchFamily="18" charset="0"/>
                <a:ea typeface="华文新魏" panose="02010800040101010101" pitchFamily="2" charset="-122"/>
              </a:rPr>
              <a:t>1.1  </a:t>
            </a:r>
            <a:r>
              <a:rPr lang="zh-CN" altLang="en-US" b="1" smtClean="0">
                <a:solidFill>
                  <a:srgbClr val="000099"/>
                </a:solidFill>
                <a:latin typeface="Times New Roman" panose="02020603050405020304" pitchFamily="18" charset="0"/>
                <a:ea typeface="华文新魏" panose="02010800040101010101" pitchFamily="2" charset="-122"/>
              </a:rPr>
              <a:t>计算机语言</a:t>
            </a:r>
          </a:p>
        </p:txBody>
      </p:sp>
      <p:sp>
        <p:nvSpPr>
          <p:cNvPr id="39941" name="Rectangle 3"/>
          <p:cNvSpPr>
            <a:spLocks noGrp="1" noRot="1" noChangeArrowheads="1"/>
          </p:cNvSpPr>
          <p:nvPr>
            <p:ph type="body" idx="1"/>
          </p:nvPr>
        </p:nvSpPr>
        <p:spPr>
          <a:xfrm>
            <a:off x="468313" y="1557338"/>
            <a:ext cx="8229600" cy="4895850"/>
          </a:xfrm>
        </p:spPr>
        <p:txBody>
          <a:bodyPr/>
          <a:lstStyle/>
          <a:p>
            <a:pPr eaLnBrk="1" hangingPunct="1">
              <a:lnSpc>
                <a:spcPct val="90000"/>
              </a:lnSpc>
            </a:pPr>
            <a:r>
              <a:rPr lang="zh-CN" altLang="en-US" b="1" smtClean="0">
                <a:latin typeface="Times New Roman" panose="02020603050405020304" pitchFamily="18" charset="0"/>
                <a:ea typeface="华文新魏" panose="02010800040101010101" pitchFamily="2" charset="-122"/>
              </a:rPr>
              <a:t>机器语言</a:t>
            </a:r>
            <a:r>
              <a:rPr lang="en-US" altLang="zh-CN" sz="2400" b="1" smtClean="0">
                <a:latin typeface="Times New Roman" panose="02020603050405020304" pitchFamily="18" charset="0"/>
                <a:ea typeface="华文新魏" panose="02010800040101010101" pitchFamily="2" charset="-122"/>
              </a:rPr>
              <a:t>(Machine Language)</a:t>
            </a:r>
          </a:p>
          <a:p>
            <a:pPr lvl="1" eaLnBrk="1" hangingPunct="1">
              <a:lnSpc>
                <a:spcPct val="90000"/>
              </a:lnSpc>
            </a:pPr>
            <a:r>
              <a:rPr lang="en-US" altLang="zh-CN" b="1" smtClean="0">
                <a:solidFill>
                  <a:srgbClr val="FF3300"/>
                </a:solidFill>
                <a:latin typeface="Times New Roman" panose="02020603050405020304" pitchFamily="18" charset="0"/>
                <a:ea typeface="华文新魏" panose="02010800040101010101" pitchFamily="2" charset="-122"/>
              </a:rPr>
              <a:t>0、1</a:t>
            </a:r>
            <a:r>
              <a:rPr lang="zh-CN" altLang="en-US" b="1" smtClean="0">
                <a:solidFill>
                  <a:srgbClr val="FF3300"/>
                </a:solidFill>
                <a:latin typeface="Times New Roman" panose="02020603050405020304" pitchFamily="18" charset="0"/>
                <a:ea typeface="华文新魏" panose="02010800040101010101" pitchFamily="2" charset="-122"/>
              </a:rPr>
              <a:t>代码</a:t>
            </a:r>
          </a:p>
          <a:p>
            <a:pPr eaLnBrk="1" hangingPunct="1">
              <a:lnSpc>
                <a:spcPct val="90000"/>
              </a:lnSpc>
            </a:pPr>
            <a:r>
              <a:rPr lang="zh-CN" altLang="en-US" b="1" smtClean="0">
                <a:latin typeface="Times New Roman" panose="02020603050405020304" pitchFamily="18" charset="0"/>
                <a:ea typeface="华文新魏" panose="02010800040101010101" pitchFamily="2" charset="-122"/>
              </a:rPr>
              <a:t>汇编语言</a:t>
            </a:r>
            <a:r>
              <a:rPr lang="en-US" altLang="zh-CN" sz="2400" b="1" smtClean="0">
                <a:latin typeface="Times New Roman" panose="02020603050405020304" pitchFamily="18" charset="0"/>
                <a:ea typeface="华文新魏" panose="02010800040101010101" pitchFamily="2" charset="-122"/>
              </a:rPr>
              <a:t>(Assemble Language)</a:t>
            </a:r>
          </a:p>
          <a:p>
            <a:pPr lvl="1" eaLnBrk="1" hangingPunct="1">
              <a:lnSpc>
                <a:spcPct val="90000"/>
              </a:lnSpc>
            </a:pPr>
            <a:r>
              <a:rPr lang="en-US" altLang="zh-CN" b="1" smtClean="0">
                <a:latin typeface="Times New Roman" panose="02020603050405020304" pitchFamily="18" charset="0"/>
                <a:ea typeface="华文新魏" panose="02010800040101010101" pitchFamily="2" charset="-122"/>
              </a:rPr>
              <a:t>0、1</a:t>
            </a:r>
            <a:r>
              <a:rPr lang="zh-CN" altLang="en-US" b="1" smtClean="0">
                <a:latin typeface="Times New Roman" panose="02020603050405020304" pitchFamily="18" charset="0"/>
                <a:ea typeface="华文新魏" panose="02010800040101010101" pitchFamily="2" charset="-122"/>
              </a:rPr>
              <a:t>代码与</a:t>
            </a:r>
            <a:r>
              <a:rPr lang="zh-CN" altLang="en-US" b="1" smtClean="0">
                <a:solidFill>
                  <a:srgbClr val="FF3300"/>
                </a:solidFill>
                <a:latin typeface="Times New Roman" panose="02020603050405020304" pitchFamily="18" charset="0"/>
                <a:ea typeface="华文新魏" panose="02010800040101010101" pitchFamily="2" charset="-122"/>
              </a:rPr>
              <a:t>助记符</a:t>
            </a:r>
            <a:r>
              <a:rPr lang="zh-CN" altLang="en-US" b="1" smtClean="0">
                <a:latin typeface="Times New Roman" panose="02020603050405020304" pitchFamily="18" charset="0"/>
                <a:ea typeface="华文新魏" panose="02010800040101010101" pitchFamily="2" charset="-122"/>
              </a:rPr>
              <a:t>：接近计算机硬件指令系统</a:t>
            </a:r>
          </a:p>
          <a:p>
            <a:pPr eaLnBrk="1" hangingPunct="1">
              <a:lnSpc>
                <a:spcPct val="90000"/>
              </a:lnSpc>
            </a:pPr>
            <a:r>
              <a:rPr lang="zh-CN" altLang="en-US" b="1" smtClean="0">
                <a:latin typeface="Times New Roman" panose="02020603050405020304" pitchFamily="18" charset="0"/>
                <a:ea typeface="华文新魏" panose="02010800040101010101" pitchFamily="2" charset="-122"/>
              </a:rPr>
              <a:t>高级语言</a:t>
            </a:r>
            <a:r>
              <a:rPr lang="en-US" altLang="zh-CN" sz="2400" b="1" smtClean="0">
                <a:latin typeface="Times New Roman" panose="02020603050405020304" pitchFamily="18" charset="0"/>
                <a:ea typeface="华文新魏" panose="02010800040101010101" pitchFamily="2" charset="-122"/>
              </a:rPr>
              <a:t>(High Level Language)</a:t>
            </a:r>
          </a:p>
          <a:p>
            <a:pPr lvl="1" eaLnBrk="1" hangingPunct="1">
              <a:lnSpc>
                <a:spcPct val="90000"/>
              </a:lnSpc>
            </a:pPr>
            <a:r>
              <a:rPr lang="zh-CN" altLang="en-US" b="1" smtClean="0">
                <a:solidFill>
                  <a:srgbClr val="FF3300"/>
                </a:solidFill>
                <a:latin typeface="Times New Roman" panose="02020603050405020304" pitchFamily="18" charset="0"/>
                <a:ea typeface="华文新魏" panose="02010800040101010101" pitchFamily="2" charset="-122"/>
              </a:rPr>
              <a:t>语句</a:t>
            </a:r>
            <a:r>
              <a:rPr lang="zh-CN" altLang="en-US" b="1" smtClean="0">
                <a:latin typeface="Times New Roman" panose="02020603050405020304" pitchFamily="18" charset="0"/>
                <a:ea typeface="华文新魏" panose="02010800040101010101" pitchFamily="2" charset="-122"/>
              </a:rPr>
              <a:t>定义数据、描述算法</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程序</a:t>
            </a:r>
            <a:r>
              <a:rPr lang="en-US" altLang="zh-CN" b="1" smtClean="0">
                <a:latin typeface="Times New Roman" panose="02020603050405020304" pitchFamily="18" charset="0"/>
                <a:ea typeface="华文新魏" panose="02010800040101010101" pitchFamily="2" charset="-122"/>
              </a:rPr>
              <a:t>)</a:t>
            </a: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如：</a:t>
            </a:r>
            <a:r>
              <a:rPr lang="en-US" altLang="zh-CN" b="1" smtClean="0">
                <a:latin typeface="Times New Roman" panose="02020603050405020304" pitchFamily="18" charset="0"/>
                <a:ea typeface="华文新魏" panose="02010800040101010101" pitchFamily="2" charset="-122"/>
              </a:rPr>
              <a:t>C、FORTRAN、PASCAL、C++、JAVA、SQL(</a:t>
            </a:r>
            <a:r>
              <a:rPr lang="zh-CN" altLang="en-US" b="1" smtClean="0">
                <a:latin typeface="Times New Roman" panose="02020603050405020304" pitchFamily="18" charset="0"/>
                <a:ea typeface="华文新魏" panose="02010800040101010101" pitchFamily="2" charset="-122"/>
              </a:rPr>
              <a:t>数据定义、数据操作</a:t>
            </a:r>
            <a:r>
              <a:rPr lang="en-US" altLang="zh-CN" b="1" smtClean="0">
                <a:latin typeface="Times New Roman" panose="02020603050405020304" pitchFamily="18" charset="0"/>
                <a:ea typeface="华文新魏" panose="02010800040101010101" pitchFamily="2" charset="-122"/>
              </a:rPr>
              <a:t>)</a:t>
            </a:r>
          </a:p>
          <a:p>
            <a:pPr eaLnBrk="1" hangingPunct="1">
              <a:lnSpc>
                <a:spcPct val="90000"/>
              </a:lnSpc>
            </a:pPr>
            <a:r>
              <a:rPr lang="zh-CN" altLang="en-US" b="1" i="1" smtClean="0">
                <a:latin typeface="Times New Roman" panose="02020603050405020304" pitchFamily="18" charset="0"/>
                <a:ea typeface="华文新魏" panose="02010800040101010101" pitchFamily="2" charset="-122"/>
              </a:rPr>
              <a:t>命令语言</a:t>
            </a:r>
            <a:r>
              <a:rPr lang="en-US" altLang="zh-CN" sz="2400" b="1" i="1" smtClean="0">
                <a:latin typeface="Times New Roman" panose="02020603050405020304" pitchFamily="18" charset="0"/>
                <a:ea typeface="华文新魏" panose="02010800040101010101" pitchFamily="2" charset="-122"/>
              </a:rPr>
              <a:t>(Command)</a:t>
            </a:r>
          </a:p>
          <a:p>
            <a:pPr lvl="1" eaLnBrk="1" hangingPunct="1">
              <a:lnSpc>
                <a:spcPct val="90000"/>
              </a:lnSpc>
            </a:pPr>
            <a:r>
              <a:rPr lang="zh-CN" altLang="zh-CN" b="1" i="1" smtClean="0">
                <a:latin typeface="Times New Roman" panose="02020603050405020304" pitchFamily="18" charset="0"/>
                <a:ea typeface="华文新魏" panose="02010800040101010101" pitchFamily="2" charset="-122"/>
              </a:rPr>
              <a:t>以</a:t>
            </a:r>
            <a:r>
              <a:rPr lang="zh-CN" altLang="zh-CN" b="1" i="1" smtClean="0">
                <a:solidFill>
                  <a:srgbClr val="FF3300"/>
                </a:solidFill>
                <a:latin typeface="Times New Roman" panose="02020603050405020304" pitchFamily="18" charset="0"/>
                <a:ea typeface="华文新魏" panose="02010800040101010101" pitchFamily="2" charset="-122"/>
              </a:rPr>
              <a:t>功能封装</a:t>
            </a:r>
            <a:r>
              <a:rPr lang="zh-CN" altLang="zh-CN" b="1" i="1" smtClean="0">
                <a:latin typeface="Times New Roman" panose="02020603050405020304" pitchFamily="18" charset="0"/>
                <a:ea typeface="华文新魏" panose="02010800040101010101" pitchFamily="2" charset="-122"/>
              </a:rPr>
              <a:t>为特征</a:t>
            </a:r>
            <a:endParaRPr lang="zh-CN" altLang="en-US" b="1" i="1" smtClean="0">
              <a:latin typeface="Times New Roman" panose="02020603050405020304" pitchFamily="18" charset="0"/>
              <a:ea typeface="华文新魏" panose="02010800040101010101" pitchFamily="2" charset="-122"/>
            </a:endParaRPr>
          </a:p>
        </p:txBody>
      </p:sp>
      <p:sp>
        <p:nvSpPr>
          <p:cNvPr id="39942" name="AutoShape 4"/>
          <p:cNvSpPr>
            <a:spLocks noChangeArrowheads="1"/>
          </p:cNvSpPr>
          <p:nvPr/>
        </p:nvSpPr>
        <p:spPr bwMode="auto">
          <a:xfrm>
            <a:off x="8569325" y="1268413"/>
            <a:ext cx="142875" cy="4824412"/>
          </a:xfrm>
          <a:prstGeom prst="upArrow">
            <a:avLst>
              <a:gd name="adj1" fmla="val 50000"/>
              <a:gd name="adj2" fmla="val 844167"/>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43" name="Text Box 5"/>
          <p:cNvSpPr txBox="1">
            <a:spLocks noChangeArrowheads="1"/>
          </p:cNvSpPr>
          <p:nvPr/>
        </p:nvSpPr>
        <p:spPr bwMode="auto">
          <a:xfrm>
            <a:off x="0" y="836613"/>
            <a:ext cx="1187450" cy="57943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b="1">
                <a:solidFill>
                  <a:schemeClr val="bg1"/>
                </a:solidFill>
                <a:ea typeface="华文新魏" panose="02010800040101010101" pitchFamily="2" charset="-122"/>
              </a:rPr>
              <a:t>机器</a:t>
            </a:r>
          </a:p>
        </p:txBody>
      </p:sp>
      <p:sp>
        <p:nvSpPr>
          <p:cNvPr id="39944" name="Text Box 6"/>
          <p:cNvSpPr txBox="1">
            <a:spLocks noChangeArrowheads="1"/>
          </p:cNvSpPr>
          <p:nvPr/>
        </p:nvSpPr>
        <p:spPr bwMode="auto">
          <a:xfrm>
            <a:off x="0" y="6092825"/>
            <a:ext cx="1187450" cy="57943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b="1">
                <a:solidFill>
                  <a:schemeClr val="bg1"/>
                </a:solidFill>
                <a:ea typeface="华文新魏" panose="02010800040101010101" pitchFamily="2" charset="-122"/>
              </a:rPr>
              <a:t>人</a:t>
            </a:r>
          </a:p>
        </p:txBody>
      </p:sp>
      <p:sp>
        <p:nvSpPr>
          <p:cNvPr id="39945" name="Text Box 7"/>
          <p:cNvSpPr txBox="1">
            <a:spLocks noChangeArrowheads="1"/>
          </p:cNvSpPr>
          <p:nvPr/>
        </p:nvSpPr>
        <p:spPr bwMode="auto">
          <a:xfrm>
            <a:off x="7921625" y="833438"/>
            <a:ext cx="1187450" cy="57943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b="1">
                <a:solidFill>
                  <a:schemeClr val="bg1"/>
                </a:solidFill>
                <a:ea typeface="华文新魏" panose="02010800040101010101" pitchFamily="2" charset="-122"/>
              </a:rPr>
              <a:t>机器</a:t>
            </a:r>
          </a:p>
        </p:txBody>
      </p:sp>
      <p:sp>
        <p:nvSpPr>
          <p:cNvPr id="39946" name="Text Box 8"/>
          <p:cNvSpPr txBox="1">
            <a:spLocks noChangeArrowheads="1"/>
          </p:cNvSpPr>
          <p:nvPr/>
        </p:nvSpPr>
        <p:spPr bwMode="auto">
          <a:xfrm>
            <a:off x="7921625" y="6089650"/>
            <a:ext cx="1187450" cy="57943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b="1">
                <a:solidFill>
                  <a:schemeClr val="bg1"/>
                </a:solidFill>
                <a:ea typeface="华文新魏" panose="02010800040101010101" pitchFamily="2" charset="-122"/>
              </a:rPr>
              <a:t>人</a:t>
            </a:r>
          </a:p>
        </p:txBody>
      </p:sp>
      <p:sp>
        <p:nvSpPr>
          <p:cNvPr id="39947" name="AutoShape 10"/>
          <p:cNvSpPr>
            <a:spLocks noChangeArrowheads="1"/>
          </p:cNvSpPr>
          <p:nvPr/>
        </p:nvSpPr>
        <p:spPr bwMode="auto">
          <a:xfrm>
            <a:off x="395288" y="1412875"/>
            <a:ext cx="142875" cy="4752975"/>
          </a:xfrm>
          <a:prstGeom prst="downArrow">
            <a:avLst>
              <a:gd name="adj1" fmla="val 50000"/>
              <a:gd name="adj2" fmla="val 831667"/>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48" name="AutoShape 11"/>
          <p:cNvSpPr>
            <a:spLocks noChangeArrowheads="1"/>
          </p:cNvSpPr>
          <p:nvPr/>
        </p:nvSpPr>
        <p:spPr bwMode="auto">
          <a:xfrm>
            <a:off x="4787900" y="1412875"/>
            <a:ext cx="3636963" cy="5140325"/>
          </a:xfrm>
          <a:prstGeom prst="wedgeRoundRectCallout">
            <a:avLst>
              <a:gd name="adj1" fmla="val -95440"/>
              <a:gd name="adj2" fmla="val -42218"/>
              <a:gd name="adj3" fmla="val 16667"/>
            </a:avLst>
          </a:prstGeom>
          <a:solidFill>
            <a:srgbClr val="CDCD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55600" indent="-3556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1800" b="1">
              <a:latin typeface="Times New Roman" panose="02020603050405020304" pitchFamily="18" charset="0"/>
            </a:endParaRPr>
          </a:p>
          <a:p>
            <a:pPr eaLnBrk="1" hangingPunct="1">
              <a:spcBef>
                <a:spcPct val="0"/>
              </a:spcBef>
              <a:buClrTx/>
              <a:buSzTx/>
              <a:buFontTx/>
              <a:buNone/>
            </a:pPr>
            <a:r>
              <a:rPr lang="en-US" altLang="zh-CN" sz="1800" b="1">
                <a:latin typeface="Times New Roman" panose="02020603050405020304" pitchFamily="18" charset="0"/>
              </a:rPr>
              <a:t>1011 1000 0010 1011 0001 0101 </a:t>
            </a:r>
          </a:p>
          <a:p>
            <a:pPr eaLnBrk="1" hangingPunct="1">
              <a:spcBef>
                <a:spcPct val="0"/>
              </a:spcBef>
              <a:buClrTx/>
              <a:buSzTx/>
              <a:buFontTx/>
              <a:buNone/>
            </a:pPr>
            <a:r>
              <a:rPr lang="en-US" altLang="zh-CN" sz="1800" b="1">
                <a:latin typeface="Times New Roman" panose="02020603050405020304" pitchFamily="18" charset="0"/>
              </a:rPr>
              <a:t>1000 1110 1101 1000 </a:t>
            </a:r>
          </a:p>
          <a:p>
            <a:pPr eaLnBrk="1" hangingPunct="1">
              <a:spcBef>
                <a:spcPct val="0"/>
              </a:spcBef>
              <a:buClrTx/>
              <a:buSzTx/>
              <a:buFontTx/>
              <a:buNone/>
            </a:pPr>
            <a:r>
              <a:rPr lang="en-US" altLang="zh-CN" sz="1800" b="1">
                <a:latin typeface="Times New Roman" panose="02020603050405020304" pitchFamily="18" charset="0"/>
              </a:rPr>
              <a:t>1010 0001 0000 0000 0000 0000 </a:t>
            </a:r>
          </a:p>
          <a:p>
            <a:pPr eaLnBrk="1" hangingPunct="1">
              <a:spcBef>
                <a:spcPct val="0"/>
              </a:spcBef>
              <a:buClrTx/>
              <a:buSzTx/>
              <a:buFontTx/>
              <a:buNone/>
            </a:pPr>
            <a:r>
              <a:rPr lang="en-US" altLang="zh-CN" sz="1800" b="1">
                <a:latin typeface="Times New Roman" panose="02020603050405020304" pitchFamily="18" charset="0"/>
              </a:rPr>
              <a:t>1000 1011 0001 1110 0000 0010 0000 0000</a:t>
            </a:r>
          </a:p>
          <a:p>
            <a:pPr eaLnBrk="1" hangingPunct="1">
              <a:spcBef>
                <a:spcPct val="0"/>
              </a:spcBef>
              <a:buClrTx/>
              <a:buSzTx/>
              <a:buFontTx/>
              <a:buNone/>
            </a:pPr>
            <a:r>
              <a:rPr lang="en-US" altLang="zh-CN" sz="1800" b="1">
                <a:latin typeface="Times New Roman" panose="02020603050405020304" pitchFamily="18" charset="0"/>
              </a:rPr>
              <a:t>1011 1001 0000 0000 0000 0000 </a:t>
            </a:r>
          </a:p>
          <a:p>
            <a:pPr eaLnBrk="1" hangingPunct="1">
              <a:spcBef>
                <a:spcPct val="0"/>
              </a:spcBef>
              <a:buClrTx/>
              <a:buSzTx/>
              <a:buFontTx/>
              <a:buNone/>
            </a:pPr>
            <a:r>
              <a:rPr lang="en-US" altLang="zh-CN" sz="1800" b="1">
                <a:latin typeface="Times New Roman" panose="02020603050405020304" pitchFamily="18" charset="0"/>
              </a:rPr>
              <a:t>0000 0011 1100 1000</a:t>
            </a:r>
          </a:p>
          <a:p>
            <a:pPr eaLnBrk="1" hangingPunct="1">
              <a:spcBef>
                <a:spcPct val="0"/>
              </a:spcBef>
              <a:buClrTx/>
              <a:buSzTx/>
              <a:buFontTx/>
              <a:buNone/>
            </a:pPr>
            <a:r>
              <a:rPr lang="en-US" altLang="zh-CN" sz="1800" b="1">
                <a:latin typeface="Times New Roman" panose="02020603050405020304" pitchFamily="18" charset="0"/>
              </a:rPr>
              <a:t>0000 0011 1100 1011</a:t>
            </a:r>
          </a:p>
          <a:p>
            <a:pPr eaLnBrk="1" hangingPunct="1">
              <a:spcBef>
                <a:spcPct val="0"/>
              </a:spcBef>
              <a:buClrTx/>
              <a:buSzTx/>
              <a:buFontTx/>
              <a:buNone/>
            </a:pPr>
            <a:r>
              <a:rPr lang="en-US" altLang="zh-CN" sz="1800" b="1">
                <a:latin typeface="Times New Roman" panose="02020603050405020304" pitchFamily="18" charset="0"/>
              </a:rPr>
              <a:t>1000 1011 0000 1110 0000 0100 0000 0000 </a:t>
            </a:r>
          </a:p>
          <a:p>
            <a:pPr eaLnBrk="1" hangingPunct="1">
              <a:spcBef>
                <a:spcPct val="0"/>
              </a:spcBef>
              <a:buClrTx/>
              <a:buSzTx/>
              <a:buFontTx/>
              <a:buNone/>
            </a:pPr>
            <a:r>
              <a:rPr lang="en-US" altLang="zh-CN" sz="1800" b="1">
                <a:latin typeface="Times New Roman" panose="02020603050405020304" pitchFamily="18" charset="0"/>
              </a:rPr>
              <a:t>1011 1000 0000 0000 0100 1100 </a:t>
            </a:r>
          </a:p>
          <a:p>
            <a:pPr eaLnBrk="1" hangingPunct="1">
              <a:spcBef>
                <a:spcPct val="0"/>
              </a:spcBef>
              <a:buClrTx/>
              <a:buSzTx/>
              <a:buFontTx/>
              <a:buNone/>
            </a:pPr>
            <a:r>
              <a:rPr lang="en-US" altLang="zh-CN" sz="1800" b="1">
                <a:latin typeface="Times New Roman" panose="02020603050405020304" pitchFamily="18" charset="0"/>
              </a:rPr>
              <a:t>1100 1101 0010 0001</a:t>
            </a:r>
          </a:p>
          <a:p>
            <a:pPr eaLnBrk="1" hangingPunct="1">
              <a:spcBef>
                <a:spcPct val="0"/>
              </a:spcBef>
              <a:buClrTx/>
              <a:buSzTx/>
              <a:buFontTx/>
              <a:buNone/>
            </a:pPr>
            <a:endParaRPr lang="en-US" altLang="zh-CN" sz="1800" b="1">
              <a:latin typeface="Times New Roman" panose="02020603050405020304" pitchFamily="18" charset="0"/>
            </a:endParaRPr>
          </a:p>
          <a:p>
            <a:pPr eaLnBrk="1" hangingPunct="1">
              <a:spcBef>
                <a:spcPct val="0"/>
              </a:spcBef>
              <a:buClrTx/>
              <a:buSzTx/>
              <a:buFontTx/>
              <a:buNone/>
            </a:pPr>
            <a:r>
              <a:rPr lang="en-US" altLang="zh-CN" sz="1800" b="1">
                <a:latin typeface="Times New Roman" panose="02020603050405020304" pitchFamily="18" charset="0"/>
              </a:rPr>
              <a:t>B82B15  8ED8  A10000</a:t>
            </a:r>
          </a:p>
          <a:p>
            <a:pPr eaLnBrk="1" hangingPunct="1">
              <a:spcBef>
                <a:spcPct val="0"/>
              </a:spcBef>
              <a:buClrTx/>
              <a:buSzTx/>
              <a:buFontTx/>
              <a:buNone/>
            </a:pPr>
            <a:r>
              <a:rPr lang="en-US" altLang="zh-CN" sz="1800" b="1">
                <a:latin typeface="Times New Roman" panose="02020603050405020304" pitchFamily="18" charset="0"/>
              </a:rPr>
              <a:t>8B1E0200  B90000  03C8  03CB</a:t>
            </a:r>
          </a:p>
          <a:p>
            <a:pPr eaLnBrk="1" hangingPunct="1">
              <a:spcBef>
                <a:spcPct val="0"/>
              </a:spcBef>
              <a:buClrTx/>
              <a:buSzTx/>
              <a:buFontTx/>
              <a:buNone/>
            </a:pPr>
            <a:r>
              <a:rPr lang="en-US" altLang="zh-CN" sz="1800" b="1">
                <a:latin typeface="Times New Roman" panose="02020603050405020304" pitchFamily="18" charset="0"/>
              </a:rPr>
              <a:t>8B0E0400 B8004C  CD21</a:t>
            </a:r>
          </a:p>
        </p:txBody>
      </p:sp>
      <p:sp>
        <p:nvSpPr>
          <p:cNvPr id="39949" name="AutoShape 12"/>
          <p:cNvSpPr>
            <a:spLocks noChangeArrowheads="1"/>
          </p:cNvSpPr>
          <p:nvPr/>
        </p:nvSpPr>
        <p:spPr bwMode="auto">
          <a:xfrm>
            <a:off x="2555875" y="2420938"/>
            <a:ext cx="2376488" cy="4292600"/>
          </a:xfrm>
          <a:prstGeom prst="wedgeRoundRectCallout">
            <a:avLst>
              <a:gd name="adj1" fmla="val -58551"/>
              <a:gd name="adj2" fmla="val -37574"/>
              <a:gd name="adj3" fmla="val 16667"/>
            </a:avLst>
          </a:prstGeom>
          <a:solidFill>
            <a:srgbClr val="CDCD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0"/>
              </a:spcBef>
              <a:buClrTx/>
              <a:buSzTx/>
              <a:buFontTx/>
              <a:buNone/>
            </a:pPr>
            <a:r>
              <a:rPr lang="en-US" altLang="zh-CN" sz="1400" b="1">
                <a:latin typeface="Times New Roman" panose="02020603050405020304" pitchFamily="18" charset="0"/>
              </a:rPr>
              <a:t>assume cs:code, ds:data</a:t>
            </a:r>
          </a:p>
          <a:p>
            <a:pPr eaLnBrk="1" hangingPunct="1">
              <a:lnSpc>
                <a:spcPct val="85000"/>
              </a:lnSpc>
              <a:spcBef>
                <a:spcPct val="0"/>
              </a:spcBef>
              <a:buClrTx/>
              <a:buSzTx/>
              <a:buFontTx/>
              <a:buNone/>
            </a:pPr>
            <a:r>
              <a:rPr lang="en-US" altLang="zh-CN" sz="1800" b="1">
                <a:latin typeface="Times New Roman" panose="02020603050405020304" pitchFamily="18" charset="0"/>
              </a:rPr>
              <a:t>data segment</a:t>
            </a:r>
          </a:p>
          <a:p>
            <a:pPr eaLnBrk="1" hangingPunct="1">
              <a:lnSpc>
                <a:spcPct val="85000"/>
              </a:lnSpc>
              <a:spcBef>
                <a:spcPct val="0"/>
              </a:spcBef>
              <a:buClrTx/>
              <a:buSzTx/>
              <a:buFontTx/>
              <a:buNone/>
            </a:pPr>
            <a:r>
              <a:rPr lang="en-US" altLang="zh-CN" sz="1800" b="1">
                <a:latin typeface="Times New Roman" panose="02020603050405020304" pitchFamily="18" charset="0"/>
              </a:rPr>
              <a:t>       dw 1234h,5678h</a:t>
            </a:r>
          </a:p>
          <a:p>
            <a:pPr eaLnBrk="1" hangingPunct="1">
              <a:lnSpc>
                <a:spcPct val="85000"/>
              </a:lnSpc>
              <a:spcBef>
                <a:spcPct val="0"/>
              </a:spcBef>
              <a:buClrTx/>
              <a:buSzTx/>
              <a:buFontTx/>
              <a:buNone/>
            </a:pPr>
            <a:r>
              <a:rPr lang="en-US" altLang="zh-CN" sz="1800" b="1">
                <a:latin typeface="Times New Roman" panose="02020603050405020304" pitchFamily="18" charset="0"/>
              </a:rPr>
              <a:t>data ends</a:t>
            </a:r>
          </a:p>
          <a:p>
            <a:pPr eaLnBrk="1" hangingPunct="1">
              <a:lnSpc>
                <a:spcPct val="85000"/>
              </a:lnSpc>
              <a:spcBef>
                <a:spcPct val="0"/>
              </a:spcBef>
              <a:buClrTx/>
              <a:buSzTx/>
              <a:buFontTx/>
              <a:buNone/>
            </a:pPr>
            <a:r>
              <a:rPr lang="en-US" altLang="zh-CN" sz="1800" b="1">
                <a:latin typeface="Times New Roman" panose="02020603050405020304" pitchFamily="18" charset="0"/>
              </a:rPr>
              <a:t>code segment</a:t>
            </a:r>
          </a:p>
          <a:p>
            <a:pPr eaLnBrk="1" hangingPunct="1">
              <a:lnSpc>
                <a:spcPct val="85000"/>
              </a:lnSpc>
              <a:spcBef>
                <a:spcPct val="0"/>
              </a:spcBef>
              <a:buClrTx/>
              <a:buSzTx/>
              <a:buFontTx/>
              <a:buNone/>
            </a:pPr>
            <a:r>
              <a:rPr lang="en-US" altLang="zh-CN" sz="1800" b="1">
                <a:latin typeface="Times New Roman" panose="02020603050405020304" pitchFamily="18" charset="0"/>
              </a:rPr>
              <a:t>start:mov ax, data</a:t>
            </a:r>
          </a:p>
          <a:p>
            <a:pPr eaLnBrk="1" hangingPunct="1">
              <a:lnSpc>
                <a:spcPct val="85000"/>
              </a:lnSpc>
              <a:spcBef>
                <a:spcPct val="0"/>
              </a:spcBef>
              <a:buClrTx/>
              <a:buSzTx/>
              <a:buFontTx/>
              <a:buNone/>
            </a:pPr>
            <a:r>
              <a:rPr lang="en-US" altLang="zh-CN" sz="1800" b="1">
                <a:latin typeface="Times New Roman" panose="02020603050405020304" pitchFamily="18" charset="0"/>
              </a:rPr>
              <a:t>         mov ds, ax</a:t>
            </a:r>
          </a:p>
          <a:p>
            <a:pPr eaLnBrk="1" hangingPunct="1">
              <a:lnSpc>
                <a:spcPct val="85000"/>
              </a:lnSpc>
              <a:spcBef>
                <a:spcPct val="0"/>
              </a:spcBef>
              <a:buClrTx/>
              <a:buSzTx/>
              <a:buFontTx/>
              <a:buNone/>
            </a:pPr>
            <a:r>
              <a:rPr lang="en-US" altLang="zh-CN" sz="1800" b="1">
                <a:latin typeface="Times New Roman" panose="02020603050405020304" pitchFamily="18" charset="0"/>
              </a:rPr>
              <a:t>         mov ax, ds:[0]</a:t>
            </a:r>
          </a:p>
          <a:p>
            <a:pPr eaLnBrk="1" hangingPunct="1">
              <a:lnSpc>
                <a:spcPct val="85000"/>
              </a:lnSpc>
              <a:spcBef>
                <a:spcPct val="0"/>
              </a:spcBef>
              <a:buClrTx/>
              <a:buSzTx/>
              <a:buFontTx/>
              <a:buNone/>
            </a:pPr>
            <a:r>
              <a:rPr lang="en-US" altLang="zh-CN" sz="1800" b="1">
                <a:latin typeface="Times New Roman" panose="02020603050405020304" pitchFamily="18" charset="0"/>
              </a:rPr>
              <a:t>         mov bx, ds:[2]</a:t>
            </a:r>
          </a:p>
          <a:p>
            <a:pPr eaLnBrk="1" hangingPunct="1">
              <a:lnSpc>
                <a:spcPct val="85000"/>
              </a:lnSpc>
              <a:spcBef>
                <a:spcPct val="0"/>
              </a:spcBef>
              <a:buClrTx/>
              <a:buSzTx/>
              <a:buFontTx/>
              <a:buNone/>
            </a:pPr>
            <a:r>
              <a:rPr lang="en-US" altLang="zh-CN" sz="1800" b="1">
                <a:latin typeface="Times New Roman" panose="02020603050405020304" pitchFamily="18" charset="0"/>
              </a:rPr>
              <a:t>         mov cx, 0</a:t>
            </a:r>
          </a:p>
          <a:p>
            <a:pPr eaLnBrk="1" hangingPunct="1">
              <a:lnSpc>
                <a:spcPct val="85000"/>
              </a:lnSpc>
              <a:spcBef>
                <a:spcPct val="0"/>
              </a:spcBef>
              <a:buClrTx/>
              <a:buSzTx/>
              <a:buFontTx/>
              <a:buNone/>
            </a:pPr>
            <a:r>
              <a:rPr lang="en-US" altLang="zh-CN" sz="1800" b="1">
                <a:latin typeface="Times New Roman" panose="02020603050405020304" pitchFamily="18" charset="0"/>
              </a:rPr>
              <a:t>         add cx, ax</a:t>
            </a:r>
          </a:p>
          <a:p>
            <a:pPr eaLnBrk="1" hangingPunct="1">
              <a:lnSpc>
                <a:spcPct val="85000"/>
              </a:lnSpc>
              <a:spcBef>
                <a:spcPct val="0"/>
              </a:spcBef>
              <a:buClrTx/>
              <a:buSzTx/>
              <a:buFontTx/>
              <a:buNone/>
            </a:pPr>
            <a:r>
              <a:rPr lang="en-US" altLang="zh-CN" sz="1800" b="1">
                <a:latin typeface="Times New Roman" panose="02020603050405020304" pitchFamily="18" charset="0"/>
              </a:rPr>
              <a:t>         add cx, bx</a:t>
            </a:r>
          </a:p>
          <a:p>
            <a:pPr eaLnBrk="1" hangingPunct="1">
              <a:lnSpc>
                <a:spcPct val="85000"/>
              </a:lnSpc>
              <a:spcBef>
                <a:spcPct val="0"/>
              </a:spcBef>
              <a:buClrTx/>
              <a:buSzTx/>
              <a:buFontTx/>
              <a:buNone/>
            </a:pPr>
            <a:r>
              <a:rPr lang="en-US" altLang="zh-CN" sz="1800" b="1">
                <a:latin typeface="Times New Roman" panose="02020603050405020304" pitchFamily="18" charset="0"/>
              </a:rPr>
              <a:t>         mov cx, ds:[4]</a:t>
            </a:r>
          </a:p>
          <a:p>
            <a:pPr eaLnBrk="1" hangingPunct="1">
              <a:lnSpc>
                <a:spcPct val="85000"/>
              </a:lnSpc>
              <a:spcBef>
                <a:spcPct val="0"/>
              </a:spcBef>
              <a:buClrTx/>
              <a:buSzTx/>
              <a:buFontTx/>
              <a:buNone/>
            </a:pPr>
            <a:r>
              <a:rPr lang="en-US" altLang="zh-CN" sz="1800" b="1">
                <a:latin typeface="Times New Roman" panose="02020603050405020304" pitchFamily="18" charset="0"/>
              </a:rPr>
              <a:t>         mov ax, 4c00h</a:t>
            </a:r>
          </a:p>
          <a:p>
            <a:pPr eaLnBrk="1" hangingPunct="1">
              <a:lnSpc>
                <a:spcPct val="85000"/>
              </a:lnSpc>
              <a:spcBef>
                <a:spcPct val="0"/>
              </a:spcBef>
              <a:buClrTx/>
              <a:buSzTx/>
              <a:buFontTx/>
              <a:buNone/>
            </a:pPr>
            <a:r>
              <a:rPr lang="en-US" altLang="zh-CN" sz="1800" b="1">
                <a:latin typeface="Times New Roman" panose="02020603050405020304" pitchFamily="18" charset="0"/>
              </a:rPr>
              <a:t>         int 21h  	</a:t>
            </a:r>
          </a:p>
          <a:p>
            <a:pPr eaLnBrk="1" hangingPunct="1">
              <a:lnSpc>
                <a:spcPct val="85000"/>
              </a:lnSpc>
              <a:spcBef>
                <a:spcPct val="0"/>
              </a:spcBef>
              <a:buClrTx/>
              <a:buSzTx/>
              <a:buFontTx/>
              <a:buNone/>
            </a:pPr>
            <a:r>
              <a:rPr lang="en-US" altLang="zh-CN" sz="1800" b="1">
                <a:latin typeface="Times New Roman" panose="02020603050405020304" pitchFamily="18" charset="0"/>
              </a:rPr>
              <a:t>code ends</a:t>
            </a:r>
          </a:p>
          <a:p>
            <a:pPr eaLnBrk="1" hangingPunct="1">
              <a:lnSpc>
                <a:spcPct val="85000"/>
              </a:lnSpc>
              <a:spcBef>
                <a:spcPct val="0"/>
              </a:spcBef>
              <a:buClrTx/>
              <a:buSzTx/>
              <a:buFontTx/>
              <a:buNone/>
            </a:pPr>
            <a:r>
              <a:rPr lang="en-US" altLang="zh-CN" sz="1800" b="1">
                <a:latin typeface="Times New Roman" panose="02020603050405020304" pitchFamily="18" charset="0"/>
              </a:rPr>
              <a:t>end start </a:t>
            </a:r>
          </a:p>
        </p:txBody>
      </p:sp>
      <p:sp>
        <p:nvSpPr>
          <p:cNvPr id="39950" name="AutoShape 14"/>
          <p:cNvSpPr>
            <a:spLocks noChangeArrowheads="1"/>
          </p:cNvSpPr>
          <p:nvPr/>
        </p:nvSpPr>
        <p:spPr bwMode="auto">
          <a:xfrm>
            <a:off x="900113" y="4797425"/>
            <a:ext cx="1620837" cy="1871663"/>
          </a:xfrm>
          <a:prstGeom prst="wedgeRoundRectCallout">
            <a:avLst>
              <a:gd name="adj1" fmla="val -3083"/>
              <a:gd name="adj2" fmla="val -96648"/>
              <a:gd name="adj3" fmla="val 16667"/>
            </a:avLst>
          </a:prstGeom>
          <a:solidFill>
            <a:srgbClr val="CDCD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latin typeface="Times New Roman" panose="02020603050405020304" pitchFamily="18" charset="0"/>
              </a:rPr>
              <a:t>int main</a:t>
            </a:r>
          </a:p>
          <a:p>
            <a:pPr eaLnBrk="1" hangingPunct="1">
              <a:spcBef>
                <a:spcPct val="0"/>
              </a:spcBef>
              <a:buClrTx/>
              <a:buSzTx/>
              <a:buFontTx/>
              <a:buNone/>
            </a:pPr>
            <a:r>
              <a:rPr lang="en-US" altLang="zh-CN" sz="1800" b="1">
                <a:latin typeface="Times New Roman" panose="02020603050405020304" pitchFamily="18" charset="0"/>
              </a:rPr>
              <a:t>{     int a,b,c;</a:t>
            </a:r>
          </a:p>
          <a:p>
            <a:pPr eaLnBrk="1" hangingPunct="1">
              <a:spcBef>
                <a:spcPct val="0"/>
              </a:spcBef>
              <a:buClrTx/>
              <a:buSzTx/>
              <a:buFontTx/>
              <a:buNone/>
            </a:pPr>
            <a:r>
              <a:rPr lang="en-US" altLang="zh-CN" sz="1800" b="1">
                <a:latin typeface="Times New Roman" panose="02020603050405020304" pitchFamily="18" charset="0"/>
              </a:rPr>
              <a:t>      a=1234h;</a:t>
            </a:r>
          </a:p>
          <a:p>
            <a:pPr eaLnBrk="1" hangingPunct="1">
              <a:spcBef>
                <a:spcPct val="0"/>
              </a:spcBef>
              <a:buClrTx/>
              <a:buSzTx/>
              <a:buFontTx/>
              <a:buNone/>
            </a:pPr>
            <a:r>
              <a:rPr lang="en-US" altLang="zh-CN" sz="1800" b="1">
                <a:latin typeface="Times New Roman" panose="02020603050405020304" pitchFamily="18" charset="0"/>
              </a:rPr>
              <a:t>      b=5678h;</a:t>
            </a:r>
          </a:p>
          <a:p>
            <a:pPr eaLnBrk="1" hangingPunct="1">
              <a:spcBef>
                <a:spcPct val="0"/>
              </a:spcBef>
              <a:buClrTx/>
              <a:buSzTx/>
              <a:buFontTx/>
              <a:buNone/>
            </a:pPr>
            <a:r>
              <a:rPr lang="en-US" altLang="zh-CN" sz="1800" b="1">
                <a:latin typeface="Times New Roman" panose="02020603050405020304" pitchFamily="18" charset="0"/>
              </a:rPr>
              <a:t>      c=a+b;</a:t>
            </a:r>
          </a:p>
          <a:p>
            <a:pPr eaLnBrk="1" hangingPunct="1">
              <a:spcBef>
                <a:spcPct val="0"/>
              </a:spcBef>
              <a:buClrTx/>
              <a:buSzTx/>
              <a:buFontTx/>
              <a:buNone/>
            </a:pPr>
            <a:r>
              <a:rPr lang="en-US" altLang="zh-CN" sz="1800" b="1">
                <a:latin typeface="Times New Roman" panose="02020603050405020304" pitchFamily="18" charset="0"/>
              </a:rPr>
              <a:t>      return 0; }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23DEF9-70A7-4EEB-96C3-771CECF9046C}" type="datetime1">
              <a:rPr lang="zh-CN" altLang="en-US" sz="1400" smtClean="0"/>
              <a:pPr>
                <a:spcBef>
                  <a:spcPct val="0"/>
                </a:spcBef>
                <a:buClrTx/>
                <a:buSzTx/>
                <a:buFontTx/>
                <a:buNone/>
              </a:pPr>
              <a:t>2017/2/24</a:t>
            </a:fld>
            <a:endParaRPr lang="en-US" altLang="zh-CN" sz="1400" smtClean="0"/>
          </a:p>
        </p:txBody>
      </p:sp>
      <p:sp>
        <p:nvSpPr>
          <p:cNvPr id="4096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E0316C4-FB38-4089-96E9-097420B3D42B}" type="slidenum">
              <a:rPr lang="zh-CN" altLang="en-US" sz="1400"/>
              <a:pPr>
                <a:spcBef>
                  <a:spcPct val="0"/>
                </a:spcBef>
                <a:buClrTx/>
                <a:buSzTx/>
                <a:buFontTx/>
                <a:buNone/>
              </a:pPr>
              <a:t>36</a:t>
            </a:fld>
            <a:endParaRPr lang="en-US" altLang="zh-CN" sz="1400"/>
          </a:p>
        </p:txBody>
      </p:sp>
      <p:sp>
        <p:nvSpPr>
          <p:cNvPr id="40964" name="Rectangle 2"/>
          <p:cNvSpPr>
            <a:spLocks noGrp="1" noRot="1" noChangeArrowheads="1"/>
          </p:cNvSpPr>
          <p:nvPr>
            <p:ph type="title"/>
          </p:nvPr>
        </p:nvSpPr>
        <p:spPr>
          <a:xfrm>
            <a:off x="1476375" y="333375"/>
            <a:ext cx="6530975" cy="868363"/>
          </a:xfrm>
          <a:noFill/>
        </p:spPr>
        <p:txBody>
          <a:bodyPr lIns="92075" tIns="46038" rIns="92075" bIns="46038"/>
          <a:lstStyle/>
          <a:p>
            <a:pPr eaLnBrk="1" hangingPunct="1"/>
            <a:r>
              <a:rPr lang="zh-CN" altLang="en-US" smtClean="0">
                <a:solidFill>
                  <a:srgbClr val="000099"/>
                </a:solidFill>
                <a:latin typeface="Times New Roman" panose="02020603050405020304" pitchFamily="18" charset="0"/>
                <a:ea typeface="华文新魏" panose="02010800040101010101" pitchFamily="2" charset="-122"/>
              </a:rPr>
              <a:t>1.1  </a:t>
            </a:r>
            <a:r>
              <a:rPr lang="zh-CN" altLang="en-US" b="1" smtClean="0">
                <a:solidFill>
                  <a:srgbClr val="000099"/>
                </a:solidFill>
                <a:latin typeface="Times New Roman" panose="02020603050405020304" pitchFamily="18" charset="0"/>
                <a:ea typeface="华文新魏" panose="02010800040101010101" pitchFamily="2" charset="-122"/>
              </a:rPr>
              <a:t>计算机语言</a:t>
            </a:r>
          </a:p>
        </p:txBody>
      </p:sp>
      <p:sp>
        <p:nvSpPr>
          <p:cNvPr id="40965" name="Rectangle 3"/>
          <p:cNvSpPr>
            <a:spLocks noGrp="1" noRot="1" noChangeArrowheads="1"/>
          </p:cNvSpPr>
          <p:nvPr>
            <p:ph type="body" idx="1"/>
          </p:nvPr>
        </p:nvSpPr>
        <p:spPr>
          <a:xfrm>
            <a:off x="539750" y="1125538"/>
            <a:ext cx="8172450" cy="4572000"/>
          </a:xfrm>
          <a:noFill/>
        </p:spPr>
        <p:txBody>
          <a:bodyPr lIns="92075" tIns="46038" rIns="92075" bIns="46038"/>
          <a:lstStyle/>
          <a:p>
            <a:pPr eaLnBrk="1" hangingPunct="1"/>
            <a:r>
              <a:rPr lang="zh-CN" altLang="en-US" b="1" smtClean="0">
                <a:latin typeface="Times New Roman" panose="02020603050405020304" pitchFamily="18" charset="0"/>
                <a:ea typeface="华文新魏" panose="02010800040101010101" pitchFamily="2" charset="-122"/>
              </a:rPr>
              <a:t>命令式语言</a:t>
            </a:r>
            <a:r>
              <a:rPr lang="en-US" altLang="zh-CN" b="1" smtClean="0">
                <a:latin typeface="Times New Roman" panose="02020603050405020304" pitchFamily="18" charset="0"/>
                <a:ea typeface="华文新魏" panose="02010800040101010101" pitchFamily="2" charset="-122"/>
              </a:rPr>
              <a:t>(Imperative Language)</a:t>
            </a:r>
          </a:p>
          <a:p>
            <a:pPr lvl="1" eaLnBrk="1" hangingPunct="1"/>
            <a:r>
              <a:rPr lang="en-US" altLang="zh-CN" sz="2400" b="1" smtClean="0">
                <a:latin typeface="Times New Roman" panose="02020603050405020304" pitchFamily="18" charset="0"/>
                <a:ea typeface="华文新魏" panose="02010800040101010101" pitchFamily="2" charset="-122"/>
              </a:rPr>
              <a:t>FORTRAN(</a:t>
            </a:r>
            <a:r>
              <a:rPr lang="zh-CN" altLang="en-US" sz="2400" b="1" smtClean="0">
                <a:latin typeface="Times New Roman" panose="02020603050405020304" pitchFamily="18" charset="0"/>
                <a:ea typeface="华文新魏" panose="02010800040101010101" pitchFamily="2" charset="-122"/>
              </a:rPr>
              <a:t>段结构</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a:t>
            </a:r>
            <a:r>
              <a:rPr lang="en-US" altLang="zh-CN" sz="2400" b="1" smtClean="0">
                <a:latin typeface="Times New Roman" panose="02020603050405020304" pitchFamily="18" charset="0"/>
                <a:ea typeface="华文新魏" panose="02010800040101010101" pitchFamily="2" charset="-122"/>
              </a:rPr>
              <a:t>BASIC、Pascal(</a:t>
            </a:r>
            <a:r>
              <a:rPr lang="zh-CN" altLang="en-US" sz="2400" b="1" smtClean="0">
                <a:latin typeface="Times New Roman" panose="02020603050405020304" pitchFamily="18" charset="0"/>
                <a:ea typeface="华文新魏" panose="02010800040101010101" pitchFamily="2" charset="-122"/>
              </a:rPr>
              <a:t>嵌套结构</a:t>
            </a:r>
            <a:r>
              <a:rPr lang="en-US" altLang="zh-CN" sz="2400" b="1" smtClean="0">
                <a:latin typeface="Times New Roman" panose="02020603050405020304" pitchFamily="18" charset="0"/>
                <a:ea typeface="华文新魏" panose="02010800040101010101" pitchFamily="2" charset="-122"/>
              </a:rPr>
              <a:t>)</a:t>
            </a:r>
            <a:r>
              <a:rPr lang="zh-CN" altLang="en-US" sz="2400" b="1" smtClean="0">
                <a:latin typeface="Times New Roman" panose="02020603050405020304" pitchFamily="18" charset="0"/>
                <a:ea typeface="华文新魏" panose="02010800040101010101" pitchFamily="2" charset="-122"/>
              </a:rPr>
              <a:t>、</a:t>
            </a:r>
            <a:r>
              <a:rPr lang="en-US" altLang="zh-CN" sz="2400" b="1" smtClean="0">
                <a:latin typeface="Times New Roman" panose="02020603050405020304" pitchFamily="18" charset="0"/>
                <a:ea typeface="华文新魏" panose="02010800040101010101" pitchFamily="2" charset="-122"/>
              </a:rPr>
              <a:t>C</a:t>
            </a:r>
            <a:r>
              <a:rPr lang="zh-CN" altLang="en-US" sz="2400" b="1" smtClean="0">
                <a:latin typeface="Times New Roman" panose="02020603050405020304" pitchFamily="18" charset="0"/>
                <a:ea typeface="华文新魏" panose="02010800040101010101" pitchFamily="2" charset="-122"/>
              </a:rPr>
              <a:t>、</a:t>
            </a:r>
            <a:r>
              <a:rPr lang="en-US" altLang="zh-CN" sz="2400" b="1" smtClean="0">
                <a:latin typeface="Times New Roman" panose="02020603050405020304" pitchFamily="18" charset="0"/>
                <a:ea typeface="华文新魏" panose="02010800040101010101" pitchFamily="2" charset="-122"/>
              </a:rPr>
              <a:t>COBOL</a:t>
            </a:r>
            <a:r>
              <a:rPr lang="zh-CN" altLang="en-US" sz="2400" b="1" smtClean="0">
                <a:latin typeface="Times New Roman" panose="02020603050405020304" pitchFamily="18" charset="0"/>
                <a:ea typeface="华文新魏" panose="02010800040101010101" pitchFamily="2" charset="-122"/>
              </a:rPr>
              <a:t>、</a:t>
            </a:r>
            <a:r>
              <a:rPr lang="en-US" altLang="zh-CN" sz="2400" b="1" smtClean="0">
                <a:latin typeface="Times New Roman" panose="02020603050405020304" pitchFamily="18" charset="0"/>
                <a:ea typeface="华文新魏" panose="02010800040101010101" pitchFamily="2" charset="-122"/>
              </a:rPr>
              <a:t>ALGOL……</a:t>
            </a:r>
          </a:p>
          <a:p>
            <a:pPr eaLnBrk="1" hangingPunct="1"/>
            <a:r>
              <a:rPr lang="zh-CN" altLang="en-US" b="1" smtClean="0">
                <a:latin typeface="Times New Roman" panose="02020603050405020304" pitchFamily="18" charset="0"/>
                <a:ea typeface="华文新魏" panose="02010800040101010101" pitchFamily="2" charset="-122"/>
              </a:rPr>
              <a:t>面向对象语言</a:t>
            </a:r>
            <a:r>
              <a:rPr lang="en-US" altLang="zh-CN" b="1" smtClean="0">
                <a:latin typeface="Times New Roman" panose="02020603050405020304" pitchFamily="18" charset="0"/>
                <a:ea typeface="华文新魏" panose="02010800040101010101" pitchFamily="2" charset="-122"/>
              </a:rPr>
              <a:t>(Object-Oriented Language)</a:t>
            </a:r>
          </a:p>
          <a:p>
            <a:pPr lvl="1" eaLnBrk="1" hangingPunct="1"/>
            <a:r>
              <a:rPr lang="en-US" altLang="zh-CN" sz="2400" b="1" smtClean="0">
                <a:latin typeface="Times New Roman" panose="02020603050405020304" pitchFamily="18" charset="0"/>
                <a:ea typeface="华文新魏" panose="02010800040101010101" pitchFamily="2" charset="-122"/>
              </a:rPr>
              <a:t>C++ 、Java 、 Smalltalk 、 Ada(</a:t>
            </a:r>
            <a:r>
              <a:rPr lang="zh-CN" altLang="en-US" sz="2400" b="1" smtClean="0">
                <a:latin typeface="Times New Roman" panose="02020603050405020304" pitchFamily="18" charset="0"/>
                <a:ea typeface="华文新魏" panose="02010800040101010101" pitchFamily="2" charset="-122"/>
              </a:rPr>
              <a:t>程序包</a:t>
            </a:r>
            <a:r>
              <a:rPr lang="en-US" altLang="zh-CN" sz="2400" b="1" smtClean="0">
                <a:latin typeface="Times New Roman" panose="02020603050405020304" pitchFamily="18" charset="0"/>
                <a:ea typeface="华文新魏" panose="02010800040101010101" pitchFamily="2" charset="-122"/>
              </a:rPr>
              <a:t>) </a:t>
            </a:r>
            <a:r>
              <a:rPr lang="zh-CN" altLang="en-US" sz="2400" b="1" smtClean="0">
                <a:latin typeface="Times New Roman" panose="02020603050405020304" pitchFamily="18" charset="0"/>
                <a:ea typeface="华文新魏" panose="02010800040101010101" pitchFamily="2" charset="-122"/>
              </a:rPr>
              <a:t>……</a:t>
            </a:r>
          </a:p>
          <a:p>
            <a:pPr eaLnBrk="1" hangingPunct="1"/>
            <a:r>
              <a:rPr lang="zh-CN" altLang="en-US" b="1" smtClean="0">
                <a:latin typeface="Times New Roman" panose="02020603050405020304" pitchFamily="18" charset="0"/>
                <a:ea typeface="华文新魏" panose="02010800040101010101" pitchFamily="2" charset="-122"/>
              </a:rPr>
              <a:t>函数</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应用</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式语言</a:t>
            </a:r>
            <a:r>
              <a:rPr lang="en-US" altLang="zh-CN" b="1" smtClean="0">
                <a:latin typeface="Times New Roman" panose="02020603050405020304" pitchFamily="18" charset="0"/>
                <a:ea typeface="华文新魏" panose="02010800040101010101" pitchFamily="2" charset="-122"/>
              </a:rPr>
              <a:t>(Functional Language)</a:t>
            </a:r>
          </a:p>
          <a:p>
            <a:pPr lvl="1" eaLnBrk="1" hangingPunct="1"/>
            <a:r>
              <a:rPr lang="en-US" altLang="zh-CN" sz="2400" b="1" smtClean="0">
                <a:latin typeface="Times New Roman" panose="02020603050405020304" pitchFamily="18" charset="0"/>
                <a:ea typeface="华文新魏" panose="02010800040101010101" pitchFamily="2" charset="-122"/>
              </a:rPr>
              <a:t>LISP、ML……</a:t>
            </a:r>
          </a:p>
          <a:p>
            <a:pPr eaLnBrk="1" hangingPunct="1"/>
            <a:r>
              <a:rPr lang="zh-CN" altLang="en-US" b="1" smtClean="0">
                <a:latin typeface="Times New Roman" panose="02020603050405020304" pitchFamily="18" charset="0"/>
                <a:ea typeface="华文新魏" panose="02010800040101010101" pitchFamily="2" charset="-122"/>
              </a:rPr>
              <a:t>逻辑式</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基于规则</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语言</a:t>
            </a:r>
            <a:r>
              <a:rPr lang="en-US" altLang="zh-CN" b="1" smtClean="0">
                <a:latin typeface="Times New Roman" panose="02020603050405020304" pitchFamily="18" charset="0"/>
                <a:ea typeface="华文新魏" panose="02010800040101010101" pitchFamily="2" charset="-122"/>
              </a:rPr>
              <a:t>(Logical Language)</a:t>
            </a:r>
          </a:p>
          <a:p>
            <a:pPr lvl="1" eaLnBrk="1" hangingPunct="1"/>
            <a:r>
              <a:rPr lang="en-US" altLang="zh-CN" sz="2400" b="1" smtClean="0">
                <a:latin typeface="Times New Roman" panose="02020603050405020304" pitchFamily="18" charset="0"/>
                <a:ea typeface="华文新魏" panose="02010800040101010101" pitchFamily="2" charset="-122"/>
              </a:rPr>
              <a:t>Prolog……</a:t>
            </a:r>
          </a:p>
        </p:txBody>
      </p:sp>
      <p:sp>
        <p:nvSpPr>
          <p:cNvPr id="40966" name="Rectangle 4"/>
          <p:cNvSpPr>
            <a:spLocks noChangeArrowheads="1"/>
          </p:cNvSpPr>
          <p:nvPr/>
        </p:nvSpPr>
        <p:spPr bwMode="auto">
          <a:xfrm>
            <a:off x="2425700" y="5845175"/>
            <a:ext cx="4451350" cy="823913"/>
          </a:xfrm>
          <a:prstGeom prst="rect">
            <a:avLst/>
          </a:prstGeom>
          <a:solidFill>
            <a:schemeClr val="tx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contourClr>
              <a:schemeClr val="tx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4800" b="1">
                <a:solidFill>
                  <a:schemeClr val="bg1"/>
                </a:solidFill>
                <a:ea typeface="华文新魏" panose="02010800040101010101" pitchFamily="2" charset="-122"/>
              </a:rPr>
              <a:t>高级语言的分类</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368ADC1-45C3-406F-A887-4179CA371150}" type="datetime1">
              <a:rPr lang="zh-CN" altLang="en-US" sz="1400" smtClean="0"/>
              <a:pPr>
                <a:spcBef>
                  <a:spcPct val="0"/>
                </a:spcBef>
                <a:buClrTx/>
                <a:buSzTx/>
                <a:buFontTx/>
                <a:buNone/>
              </a:pPr>
              <a:t>2017/2/24</a:t>
            </a:fld>
            <a:endParaRPr lang="en-US" altLang="zh-CN" sz="1400" smtClean="0"/>
          </a:p>
        </p:txBody>
      </p:sp>
      <p:sp>
        <p:nvSpPr>
          <p:cNvPr id="4198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AF2A968-AF84-4FE3-AEFA-EBCB96C7A867}" type="slidenum">
              <a:rPr lang="zh-CN" altLang="en-US" sz="1400"/>
              <a:pPr>
                <a:spcBef>
                  <a:spcPct val="0"/>
                </a:spcBef>
                <a:buClrTx/>
                <a:buSzTx/>
                <a:buFontTx/>
                <a:buNone/>
              </a:pPr>
              <a:t>37</a:t>
            </a:fld>
            <a:endParaRPr lang="en-US" altLang="zh-CN" sz="1400"/>
          </a:p>
        </p:txBody>
      </p:sp>
      <p:sp>
        <p:nvSpPr>
          <p:cNvPr id="41988" name="Rectangle 2"/>
          <p:cNvSpPr>
            <a:spLocks noGrp="1" noRot="1" noChangeArrowheads="1"/>
          </p:cNvSpPr>
          <p:nvPr>
            <p:ph type="title"/>
          </p:nvPr>
        </p:nvSpPr>
        <p:spPr>
          <a:xfrm>
            <a:off x="1331913" y="692150"/>
            <a:ext cx="5748337" cy="941388"/>
          </a:xfrm>
          <a:noFill/>
        </p:spPr>
        <p:txBody>
          <a:bodyPr lIns="92075" tIns="46038" rIns="92075" bIns="46038"/>
          <a:lstStyle/>
          <a:p>
            <a:pPr eaLnBrk="1" hangingPunct="1"/>
            <a:r>
              <a:rPr lang="zh-CN" altLang="en-US" b="1" smtClean="0">
                <a:latin typeface="Times New Roman" panose="02020603050405020304" pitchFamily="18" charset="0"/>
                <a:ea typeface="华文新魏" panose="02010800040101010101" pitchFamily="2" charset="-122"/>
              </a:rPr>
              <a:t>1.2 翻译系统</a:t>
            </a:r>
          </a:p>
        </p:txBody>
      </p:sp>
      <p:sp>
        <p:nvSpPr>
          <p:cNvPr id="41989" name="Rectangle 3"/>
          <p:cNvSpPr>
            <a:spLocks noGrp="1" noRot="1" noChangeArrowheads="1"/>
          </p:cNvSpPr>
          <p:nvPr>
            <p:ph type="body" idx="1"/>
          </p:nvPr>
        </p:nvSpPr>
        <p:spPr>
          <a:xfrm>
            <a:off x="468313" y="1844675"/>
            <a:ext cx="8523287" cy="2574925"/>
          </a:xfrm>
          <a:noFill/>
        </p:spPr>
        <p:txBody>
          <a:bodyPr lIns="92075" tIns="46038" rIns="92075" bIns="46038"/>
          <a:lstStyle/>
          <a:p>
            <a:pPr marL="0" indent="0" eaLnBrk="1" hangingPunct="1">
              <a:lnSpc>
                <a:spcPct val="120000"/>
              </a:lnSpc>
            </a:pPr>
            <a:r>
              <a:rPr lang="zh-CN" altLang="en-US" b="1" smtClean="0">
                <a:latin typeface="Times New Roman" panose="02020603050405020304" pitchFamily="18" charset="0"/>
                <a:ea typeface="华文新魏" panose="02010800040101010101" pitchFamily="2" charset="-122"/>
              </a:rPr>
              <a:t>翻译程序</a:t>
            </a:r>
            <a:r>
              <a:rPr lang="en-US" altLang="zh-CN" b="1" smtClean="0">
                <a:latin typeface="Times New Roman" panose="02020603050405020304" pitchFamily="18" charset="0"/>
                <a:ea typeface="华文新魏" panose="02010800040101010101" pitchFamily="2" charset="-122"/>
              </a:rPr>
              <a:t>(Translator)</a:t>
            </a:r>
          </a:p>
          <a:p>
            <a:pPr marL="0" indent="0" eaLnBrk="1" hangingPunct="1">
              <a:lnSpc>
                <a:spcPct val="120000"/>
              </a:lnSpc>
              <a:buFont typeface="Wingdings" panose="05000000000000000000" pitchFamily="2" charset="2"/>
              <a:buNone/>
            </a:pPr>
            <a:r>
              <a:rPr lang="zh-CN" altLang="en-US" sz="2900" b="1" smtClean="0">
                <a:latin typeface="Times New Roman" panose="02020603050405020304" pitchFamily="18" charset="0"/>
                <a:ea typeface="华文新魏" panose="02010800040101010101" pitchFamily="2" charset="-122"/>
              </a:rPr>
              <a:t>将某一种语言描述的程序</a:t>
            </a:r>
            <a:r>
              <a:rPr lang="en-US" altLang="zh-CN" sz="2900" b="1" smtClean="0">
                <a:latin typeface="Times New Roman" panose="02020603050405020304" pitchFamily="18" charset="0"/>
                <a:ea typeface="华文新魏" panose="02010800040101010101" pitchFamily="2" charset="-122"/>
              </a:rPr>
              <a:t>(</a:t>
            </a:r>
            <a:r>
              <a:rPr lang="zh-CN" altLang="en-US" sz="2900" b="1" smtClean="0">
                <a:latin typeface="Times New Roman" panose="02020603050405020304" pitchFamily="18" charset="0"/>
                <a:ea typeface="华文新魏" panose="02010800040101010101" pitchFamily="2" charset="-122"/>
              </a:rPr>
              <a:t>源程序，</a:t>
            </a:r>
            <a:r>
              <a:rPr lang="en-US" altLang="zh-CN" sz="2900" b="1" smtClean="0">
                <a:solidFill>
                  <a:schemeClr val="hlink"/>
                </a:solidFill>
                <a:latin typeface="Times New Roman" panose="02020603050405020304" pitchFamily="18" charset="0"/>
                <a:ea typeface="华文新魏" panose="02010800040101010101" pitchFamily="2" charset="-122"/>
              </a:rPr>
              <a:t>S</a:t>
            </a:r>
            <a:r>
              <a:rPr lang="en-US" altLang="zh-CN" sz="2800" b="1" smtClean="0">
                <a:latin typeface="Times New Roman" panose="02020603050405020304" pitchFamily="18" charset="0"/>
                <a:ea typeface="华文新魏" panose="02010800040101010101" pitchFamily="2" charset="-122"/>
              </a:rPr>
              <a:t>ource </a:t>
            </a:r>
            <a:r>
              <a:rPr lang="en-US" altLang="zh-CN" sz="2900" b="1" smtClean="0">
                <a:solidFill>
                  <a:schemeClr val="hlink"/>
                </a:solidFill>
                <a:latin typeface="Times New Roman" panose="02020603050405020304" pitchFamily="18" charset="0"/>
                <a:ea typeface="华文新魏" panose="02010800040101010101" pitchFamily="2" charset="-122"/>
              </a:rPr>
              <a:t>P</a:t>
            </a:r>
            <a:r>
              <a:rPr lang="en-US" altLang="zh-CN" sz="2800" b="1" smtClean="0">
                <a:latin typeface="Times New Roman" panose="02020603050405020304" pitchFamily="18" charset="0"/>
                <a:ea typeface="华文新魏" panose="02010800040101010101" pitchFamily="2" charset="-122"/>
              </a:rPr>
              <a:t>rogram-</a:t>
            </a:r>
            <a:r>
              <a:rPr lang="en-US" altLang="zh-CN" sz="2900" b="1" smtClean="0">
                <a:solidFill>
                  <a:schemeClr val="hlink"/>
                </a:solidFill>
                <a:latin typeface="Times New Roman" panose="02020603050405020304" pitchFamily="18" charset="0"/>
                <a:ea typeface="华文新魏" panose="02010800040101010101" pitchFamily="2" charset="-122"/>
              </a:rPr>
              <a:t>SP</a:t>
            </a:r>
            <a:r>
              <a:rPr lang="en-US" altLang="zh-CN" sz="2900" b="1" smtClean="0">
                <a:latin typeface="Times New Roman" panose="02020603050405020304" pitchFamily="18" charset="0"/>
                <a:ea typeface="华文新魏" panose="02010800040101010101" pitchFamily="2" charset="-122"/>
              </a:rPr>
              <a:t>)</a:t>
            </a:r>
            <a:r>
              <a:rPr lang="zh-CN" altLang="en-US" sz="2900" b="1" smtClean="0">
                <a:latin typeface="Times New Roman" panose="02020603050405020304" pitchFamily="18" charset="0"/>
                <a:ea typeface="华文新魏" panose="02010800040101010101" pitchFamily="2" charset="-122"/>
              </a:rPr>
              <a:t>翻译成</a:t>
            </a:r>
            <a:r>
              <a:rPr lang="zh-CN" altLang="en-US" sz="2900" b="1" smtClean="0">
                <a:solidFill>
                  <a:schemeClr val="hlink"/>
                </a:solidFill>
                <a:latin typeface="Times New Roman" panose="02020603050405020304" pitchFamily="18" charset="0"/>
                <a:ea typeface="华文新魏" panose="02010800040101010101" pitchFamily="2" charset="-122"/>
              </a:rPr>
              <a:t>等价</a:t>
            </a:r>
            <a:r>
              <a:rPr lang="zh-CN" altLang="en-US" sz="2900" b="1" smtClean="0">
                <a:latin typeface="Times New Roman" panose="02020603050405020304" pitchFamily="18" charset="0"/>
                <a:ea typeface="华文新魏" panose="02010800040101010101" pitchFamily="2" charset="-122"/>
              </a:rPr>
              <a:t>的另一种语言描述的程序</a:t>
            </a:r>
            <a:r>
              <a:rPr lang="en-US" altLang="zh-CN" sz="2900" b="1" smtClean="0">
                <a:latin typeface="Times New Roman" panose="02020603050405020304" pitchFamily="18" charset="0"/>
                <a:ea typeface="华文新魏" panose="02010800040101010101" pitchFamily="2" charset="-122"/>
              </a:rPr>
              <a:t>(</a:t>
            </a:r>
            <a:r>
              <a:rPr lang="zh-CN" altLang="en-US" sz="2900" b="1" smtClean="0">
                <a:latin typeface="Times New Roman" panose="02020603050405020304" pitchFamily="18" charset="0"/>
                <a:ea typeface="华文新魏" panose="02010800040101010101" pitchFamily="2" charset="-122"/>
              </a:rPr>
              <a:t>目标程序，</a:t>
            </a:r>
            <a:r>
              <a:rPr lang="en-US" altLang="zh-CN" sz="2800" b="1" smtClean="0">
                <a:latin typeface="Times New Roman" panose="02020603050405020304" pitchFamily="18" charset="0"/>
                <a:ea typeface="华文新魏" panose="02010800040101010101" pitchFamily="2" charset="-122"/>
              </a:rPr>
              <a:t>Object Program-</a:t>
            </a:r>
            <a:r>
              <a:rPr lang="en-US" altLang="zh-CN" sz="2900" b="1" smtClean="0">
                <a:solidFill>
                  <a:schemeClr val="hlink"/>
                </a:solidFill>
                <a:latin typeface="Times New Roman" panose="02020603050405020304" pitchFamily="18" charset="0"/>
                <a:ea typeface="华文新魏" panose="02010800040101010101" pitchFamily="2" charset="-122"/>
              </a:rPr>
              <a:t>OP</a:t>
            </a:r>
            <a:r>
              <a:rPr lang="en-US" altLang="zh-CN" sz="2900" b="1" smtClean="0">
                <a:latin typeface="Times New Roman" panose="02020603050405020304" pitchFamily="18" charset="0"/>
                <a:ea typeface="华文新魏" panose="02010800040101010101" pitchFamily="2" charset="-122"/>
              </a:rPr>
              <a:t>)</a:t>
            </a:r>
            <a:r>
              <a:rPr lang="zh-CN" altLang="en-US" sz="2900" b="1" smtClean="0">
                <a:latin typeface="Times New Roman" panose="02020603050405020304" pitchFamily="18" charset="0"/>
                <a:ea typeface="华文新魏" panose="02010800040101010101" pitchFamily="2" charset="-122"/>
              </a:rPr>
              <a:t>的程序</a:t>
            </a:r>
          </a:p>
        </p:txBody>
      </p:sp>
      <p:sp>
        <p:nvSpPr>
          <p:cNvPr id="41990" name="Rectangle 4"/>
          <p:cNvSpPr>
            <a:spLocks noChangeArrowheads="1"/>
          </p:cNvSpPr>
          <p:nvPr/>
        </p:nvSpPr>
        <p:spPr bwMode="auto">
          <a:xfrm>
            <a:off x="3587750" y="4508500"/>
            <a:ext cx="2197100" cy="901700"/>
          </a:xfrm>
          <a:prstGeom prst="rect">
            <a:avLst/>
          </a:prstGeom>
          <a:noFill/>
          <a:ln w="38100">
            <a:solidFill>
              <a:srgbClr val="FF9900"/>
            </a:solidFill>
            <a:miter lim="800000"/>
            <a:headEnd/>
            <a:tailEnd/>
          </a:ln>
          <a:effectLst/>
          <a:extLst>
            <a:ext uri="{909E8E84-426E-40DD-AFC4-6F175D3DCCD1}">
              <a14:hiddenFill xmlns:a14="http://schemas.microsoft.com/office/drawing/2010/main">
                <a:solidFill>
                  <a:srgbClr val="AD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kumimoji="1" lang="zh-CN" altLang="en-US" b="1">
              <a:solidFill>
                <a:srgbClr val="FF3300"/>
              </a:solidFill>
              <a:latin typeface="Times New Roman" panose="02020603050405020304" pitchFamily="18" charset="0"/>
              <a:ea typeface="华文新魏" panose="02010800040101010101" pitchFamily="2" charset="-122"/>
            </a:endParaRPr>
          </a:p>
        </p:txBody>
      </p:sp>
      <p:sp>
        <p:nvSpPr>
          <p:cNvPr id="41991" name="Line 5"/>
          <p:cNvSpPr>
            <a:spLocks noChangeShapeType="1"/>
          </p:cNvSpPr>
          <p:nvPr/>
        </p:nvSpPr>
        <p:spPr bwMode="auto">
          <a:xfrm flipV="1">
            <a:off x="5867400" y="5013325"/>
            <a:ext cx="649288"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2" name="Line 6"/>
          <p:cNvSpPr>
            <a:spLocks noChangeShapeType="1"/>
          </p:cNvSpPr>
          <p:nvPr/>
        </p:nvSpPr>
        <p:spPr bwMode="auto">
          <a:xfrm flipV="1">
            <a:off x="2195513" y="4941888"/>
            <a:ext cx="1368425"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3" name="Rectangle 7"/>
          <p:cNvSpPr>
            <a:spLocks noChangeArrowheads="1"/>
          </p:cNvSpPr>
          <p:nvPr/>
        </p:nvSpPr>
        <p:spPr bwMode="auto">
          <a:xfrm>
            <a:off x="468313" y="4437063"/>
            <a:ext cx="1809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2800" b="1" i="1">
                <a:latin typeface="Times New Roman" panose="02020603050405020304" pitchFamily="18" charset="0"/>
                <a:ea typeface="华文新魏" panose="02010800040101010101" pitchFamily="2" charset="-122"/>
              </a:rPr>
              <a:t>源程序</a:t>
            </a:r>
            <a:r>
              <a:rPr lang="en-US" altLang="zh-CN" sz="2900" b="1">
                <a:solidFill>
                  <a:schemeClr val="hlink"/>
                </a:solidFill>
                <a:latin typeface="Times New Roman" panose="02020603050405020304" pitchFamily="18" charset="0"/>
                <a:ea typeface="华文新魏" panose="02010800040101010101" pitchFamily="2" charset="-122"/>
              </a:rPr>
              <a:t>SP</a:t>
            </a:r>
          </a:p>
        </p:txBody>
      </p:sp>
      <p:sp>
        <p:nvSpPr>
          <p:cNvPr id="41994" name="Rectangle 8"/>
          <p:cNvSpPr>
            <a:spLocks noChangeArrowheads="1"/>
          </p:cNvSpPr>
          <p:nvPr/>
        </p:nvSpPr>
        <p:spPr bwMode="auto">
          <a:xfrm>
            <a:off x="6516688" y="4508500"/>
            <a:ext cx="22320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800" b="1" i="1">
                <a:latin typeface="Times New Roman" panose="02020603050405020304" pitchFamily="18" charset="0"/>
                <a:ea typeface="华文新魏" panose="02010800040101010101" pitchFamily="2" charset="-122"/>
              </a:rPr>
              <a:t>目标程序</a:t>
            </a:r>
            <a:r>
              <a:rPr lang="en-US" altLang="zh-CN" sz="2900" b="1">
                <a:solidFill>
                  <a:schemeClr val="hlink"/>
                </a:solidFill>
                <a:latin typeface="Times New Roman" panose="02020603050405020304" pitchFamily="18" charset="0"/>
                <a:ea typeface="华文新魏" panose="02010800040101010101" pitchFamily="2" charset="-122"/>
              </a:rPr>
              <a:t>OP</a:t>
            </a:r>
          </a:p>
        </p:txBody>
      </p:sp>
      <p:sp>
        <p:nvSpPr>
          <p:cNvPr id="41995" name="Rectangle 9"/>
          <p:cNvSpPr>
            <a:spLocks noChangeArrowheads="1"/>
          </p:cNvSpPr>
          <p:nvPr/>
        </p:nvSpPr>
        <p:spPr bwMode="auto">
          <a:xfrm>
            <a:off x="303213" y="5046663"/>
            <a:ext cx="2181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en-US" altLang="zh-CN" sz="2000" b="1">
                <a:latin typeface="Times New Roman" panose="02020603050405020304" pitchFamily="18" charset="0"/>
              </a:rPr>
              <a:t>(*.C / *.PAS/*.AS)</a:t>
            </a:r>
          </a:p>
        </p:txBody>
      </p:sp>
      <p:sp>
        <p:nvSpPr>
          <p:cNvPr id="41996" name="Rectangle 10"/>
          <p:cNvSpPr>
            <a:spLocks noChangeArrowheads="1"/>
          </p:cNvSpPr>
          <p:nvPr/>
        </p:nvSpPr>
        <p:spPr bwMode="auto">
          <a:xfrm>
            <a:off x="6413500" y="5027613"/>
            <a:ext cx="233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en-US" altLang="zh-CN" sz="2000" b="1">
                <a:latin typeface="Times New Roman" panose="02020603050405020304" pitchFamily="18" charset="0"/>
              </a:rPr>
              <a:t>(*.OBJ / *.EXE/*.*)</a:t>
            </a:r>
          </a:p>
        </p:txBody>
      </p:sp>
      <p:sp>
        <p:nvSpPr>
          <p:cNvPr id="41997" name="Rectangle 11"/>
          <p:cNvSpPr>
            <a:spLocks noChangeArrowheads="1"/>
          </p:cNvSpPr>
          <p:nvPr/>
        </p:nvSpPr>
        <p:spPr bwMode="auto">
          <a:xfrm>
            <a:off x="3490913" y="5938838"/>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ea typeface="华文新魏" panose="02010800040101010101" pitchFamily="2" charset="-122"/>
              </a:rPr>
              <a:t>请参阅</a:t>
            </a:r>
            <a:r>
              <a:rPr lang="en-US" altLang="zh-CN" sz="2400" b="1">
                <a:latin typeface="Times New Roman" panose="02020603050405020304" pitchFamily="18" charset="0"/>
                <a:ea typeface="华文新魏" panose="02010800040101010101" pitchFamily="2" charset="-122"/>
              </a:rPr>
              <a:t>P5</a:t>
            </a:r>
            <a:r>
              <a:rPr lang="zh-CN" altLang="en-US" sz="2400" b="1">
                <a:latin typeface="Times New Roman" panose="02020603050405020304" pitchFamily="18" charset="0"/>
                <a:ea typeface="华文新魏" panose="02010800040101010101" pitchFamily="2" charset="-122"/>
              </a:rPr>
              <a:t>图1.</a:t>
            </a:r>
            <a:r>
              <a:rPr lang="en-US" altLang="zh-CN" sz="2400" b="1">
                <a:latin typeface="Times New Roman" panose="02020603050405020304" pitchFamily="18" charset="0"/>
                <a:ea typeface="华文新魏" panose="02010800040101010101" pitchFamily="2" charset="-122"/>
              </a:rPr>
              <a:t>1</a:t>
            </a:r>
          </a:p>
        </p:txBody>
      </p:sp>
      <p:sp>
        <p:nvSpPr>
          <p:cNvPr id="41998" name="Rectangle 12"/>
          <p:cNvSpPr>
            <a:spLocks noChangeArrowheads="1"/>
          </p:cNvSpPr>
          <p:nvPr/>
        </p:nvSpPr>
        <p:spPr bwMode="auto">
          <a:xfrm>
            <a:off x="3708400" y="4714875"/>
            <a:ext cx="180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b="1">
                <a:solidFill>
                  <a:srgbClr val="FF3300"/>
                </a:solidFill>
                <a:ea typeface="华文新魏" panose="02010800040101010101" pitchFamily="2" charset="-122"/>
              </a:rPr>
              <a:t>翻译程序</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E9A483C-FD33-4DF9-93AE-C1CF1A527667}" type="datetime1">
              <a:rPr lang="zh-CN" altLang="en-US" sz="1400" smtClean="0"/>
              <a:pPr>
                <a:spcBef>
                  <a:spcPct val="0"/>
                </a:spcBef>
                <a:buClrTx/>
                <a:buSzTx/>
                <a:buFontTx/>
                <a:buNone/>
              </a:pPr>
              <a:t>2017/2/24</a:t>
            </a:fld>
            <a:endParaRPr lang="en-US" altLang="zh-CN" sz="1400" smtClean="0"/>
          </a:p>
        </p:txBody>
      </p:sp>
      <p:sp>
        <p:nvSpPr>
          <p:cNvPr id="4301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1A0401-E860-475A-A3EA-C199232F2EA0}" type="slidenum">
              <a:rPr lang="zh-CN" altLang="en-US" sz="1400"/>
              <a:pPr>
                <a:spcBef>
                  <a:spcPct val="0"/>
                </a:spcBef>
                <a:buClrTx/>
                <a:buSzTx/>
                <a:buFontTx/>
                <a:buNone/>
              </a:pPr>
              <a:t>38</a:t>
            </a:fld>
            <a:endParaRPr lang="en-US" altLang="zh-CN" sz="1400"/>
          </a:p>
        </p:txBody>
      </p:sp>
      <p:sp>
        <p:nvSpPr>
          <p:cNvPr id="43012" name="Rectangle 2"/>
          <p:cNvSpPr>
            <a:spLocks noGrp="1" noRot="1" noChangeArrowheads="1"/>
          </p:cNvSpPr>
          <p:nvPr>
            <p:ph type="title"/>
          </p:nvPr>
        </p:nvSpPr>
        <p:spPr>
          <a:xfrm>
            <a:off x="1331913" y="692150"/>
            <a:ext cx="5748337" cy="941388"/>
          </a:xfrm>
          <a:noFill/>
        </p:spPr>
        <p:txBody>
          <a:bodyPr lIns="92075" tIns="46038" rIns="92075" bIns="46038"/>
          <a:lstStyle/>
          <a:p>
            <a:pPr eaLnBrk="1" hangingPunct="1"/>
            <a:r>
              <a:rPr lang="zh-CN" altLang="en-US" b="1" smtClean="0">
                <a:latin typeface="Times New Roman" panose="02020603050405020304" pitchFamily="18" charset="0"/>
                <a:ea typeface="华文新魏" panose="02010800040101010101" pitchFamily="2" charset="-122"/>
              </a:rPr>
              <a:t>1.2 翻译系统</a:t>
            </a:r>
          </a:p>
        </p:txBody>
      </p:sp>
      <p:sp>
        <p:nvSpPr>
          <p:cNvPr id="43013" name="Rectangle 3"/>
          <p:cNvSpPr>
            <a:spLocks noGrp="1" noRot="1" noChangeArrowheads="1"/>
          </p:cNvSpPr>
          <p:nvPr>
            <p:ph type="body" idx="1"/>
          </p:nvPr>
        </p:nvSpPr>
        <p:spPr>
          <a:xfrm>
            <a:off x="468313" y="1844675"/>
            <a:ext cx="8523287" cy="2574925"/>
          </a:xfrm>
          <a:noFill/>
        </p:spPr>
        <p:txBody>
          <a:bodyPr lIns="92075" tIns="46038" rIns="92075" bIns="46038"/>
          <a:lstStyle/>
          <a:p>
            <a:pPr marL="0" indent="0" eaLnBrk="1" hangingPunct="1"/>
            <a:r>
              <a:rPr lang="zh-CN" altLang="en-US" sz="3600" b="1" smtClean="0">
                <a:latin typeface="Times New Roman" panose="02020603050405020304" pitchFamily="18" charset="0"/>
                <a:ea typeface="华文新魏" panose="02010800040101010101" pitchFamily="2" charset="-122"/>
              </a:rPr>
              <a:t>编译程序</a:t>
            </a:r>
            <a:r>
              <a:rPr lang="en-US" altLang="zh-CN" sz="3600" b="1" smtClean="0">
                <a:latin typeface="Times New Roman" panose="02020603050405020304" pitchFamily="18" charset="0"/>
                <a:ea typeface="华文新魏" panose="02010800040101010101" pitchFamily="2" charset="-122"/>
              </a:rPr>
              <a:t>(</a:t>
            </a:r>
            <a:r>
              <a:rPr lang="en-US" altLang="zh-CN" b="1" smtClean="0">
                <a:latin typeface="Times New Roman" panose="02020603050405020304" pitchFamily="18" charset="0"/>
                <a:ea typeface="华文新魏" panose="02010800040101010101" pitchFamily="2" charset="-122"/>
              </a:rPr>
              <a:t>Compiler</a:t>
            </a:r>
            <a:r>
              <a:rPr lang="en-US" altLang="zh-CN" sz="3600" b="1" smtClean="0">
                <a:latin typeface="Times New Roman" panose="02020603050405020304" pitchFamily="18" charset="0"/>
                <a:ea typeface="华文新魏" panose="02010800040101010101" pitchFamily="2" charset="-122"/>
              </a:rPr>
              <a:t>)</a:t>
            </a:r>
          </a:p>
          <a:p>
            <a:pPr marL="758825" lvl="1" eaLnBrk="1" hangingPunct="1"/>
            <a:r>
              <a:rPr lang="zh-CN" altLang="en-US" sz="3200" b="1" smtClean="0">
                <a:latin typeface="Times New Roman" panose="02020603050405020304" pitchFamily="18" charset="0"/>
                <a:ea typeface="华文新魏" panose="02010800040101010101" pitchFamily="2" charset="-122"/>
              </a:rPr>
              <a:t>高级语言程序→汇编/机器语言程序</a:t>
            </a:r>
          </a:p>
        </p:txBody>
      </p:sp>
      <p:sp>
        <p:nvSpPr>
          <p:cNvPr id="43014" name="Rectangle 4"/>
          <p:cNvSpPr>
            <a:spLocks noChangeArrowheads="1"/>
          </p:cNvSpPr>
          <p:nvPr/>
        </p:nvSpPr>
        <p:spPr bwMode="auto">
          <a:xfrm>
            <a:off x="3587750" y="4508500"/>
            <a:ext cx="2197100" cy="901700"/>
          </a:xfrm>
          <a:prstGeom prst="rect">
            <a:avLst/>
          </a:prstGeom>
          <a:noFill/>
          <a:ln w="38100">
            <a:solidFill>
              <a:srgbClr val="FF9900"/>
            </a:solidFill>
            <a:miter lim="800000"/>
            <a:headEnd/>
            <a:tailEnd/>
          </a:ln>
          <a:effectLst/>
          <a:extLst>
            <a:ext uri="{909E8E84-426E-40DD-AFC4-6F175D3DCCD1}">
              <a14:hiddenFill xmlns:a14="http://schemas.microsoft.com/office/drawing/2010/main">
                <a:solidFill>
                  <a:srgbClr val="AD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kumimoji="1" lang="zh-CN" altLang="en-US" b="1">
              <a:solidFill>
                <a:srgbClr val="FF3300"/>
              </a:solidFill>
              <a:latin typeface="Times New Roman" panose="02020603050405020304" pitchFamily="18" charset="0"/>
              <a:ea typeface="华文新魏" panose="02010800040101010101" pitchFamily="2" charset="-122"/>
            </a:endParaRPr>
          </a:p>
        </p:txBody>
      </p:sp>
      <p:sp>
        <p:nvSpPr>
          <p:cNvPr id="43015" name="Line 5"/>
          <p:cNvSpPr>
            <a:spLocks noChangeShapeType="1"/>
          </p:cNvSpPr>
          <p:nvPr/>
        </p:nvSpPr>
        <p:spPr bwMode="auto">
          <a:xfrm flipV="1">
            <a:off x="5867400" y="5013325"/>
            <a:ext cx="649288"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6" name="Line 6"/>
          <p:cNvSpPr>
            <a:spLocks noChangeShapeType="1"/>
          </p:cNvSpPr>
          <p:nvPr/>
        </p:nvSpPr>
        <p:spPr bwMode="auto">
          <a:xfrm flipV="1">
            <a:off x="2195513" y="4941888"/>
            <a:ext cx="1368425"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7" name="Rectangle 9"/>
          <p:cNvSpPr>
            <a:spLocks noChangeArrowheads="1"/>
          </p:cNvSpPr>
          <p:nvPr/>
        </p:nvSpPr>
        <p:spPr bwMode="auto">
          <a:xfrm>
            <a:off x="303213" y="5046663"/>
            <a:ext cx="2181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en-US" altLang="zh-CN" sz="2000" b="1">
                <a:latin typeface="Times New Roman" panose="02020603050405020304" pitchFamily="18" charset="0"/>
              </a:rPr>
              <a:t>(*.C / *.PAS/*.AS)</a:t>
            </a:r>
          </a:p>
        </p:txBody>
      </p:sp>
      <p:sp>
        <p:nvSpPr>
          <p:cNvPr id="43018" name="Rectangle 10"/>
          <p:cNvSpPr>
            <a:spLocks noChangeArrowheads="1"/>
          </p:cNvSpPr>
          <p:nvPr/>
        </p:nvSpPr>
        <p:spPr bwMode="auto">
          <a:xfrm>
            <a:off x="6413500" y="5027613"/>
            <a:ext cx="233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en-US" altLang="zh-CN" sz="2000" b="1">
                <a:latin typeface="Times New Roman" panose="02020603050405020304" pitchFamily="18" charset="0"/>
              </a:rPr>
              <a:t>(*.OBJ / *.EXE/*.*)</a:t>
            </a:r>
          </a:p>
        </p:txBody>
      </p:sp>
      <p:sp>
        <p:nvSpPr>
          <p:cNvPr id="43019" name="Rectangle 12"/>
          <p:cNvSpPr>
            <a:spLocks noChangeArrowheads="1"/>
          </p:cNvSpPr>
          <p:nvPr/>
        </p:nvSpPr>
        <p:spPr bwMode="auto">
          <a:xfrm>
            <a:off x="3708400" y="4714875"/>
            <a:ext cx="180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b="1">
                <a:solidFill>
                  <a:srgbClr val="FF3300"/>
                </a:solidFill>
                <a:ea typeface="华文新魏" panose="02010800040101010101" pitchFamily="2" charset="-122"/>
              </a:rPr>
              <a:t>翻译程序</a:t>
            </a:r>
          </a:p>
        </p:txBody>
      </p:sp>
      <p:sp>
        <p:nvSpPr>
          <p:cNvPr id="43020" name="Rectangle 16"/>
          <p:cNvSpPr>
            <a:spLocks noChangeArrowheads="1"/>
          </p:cNvSpPr>
          <p:nvPr/>
        </p:nvSpPr>
        <p:spPr bwMode="auto">
          <a:xfrm>
            <a:off x="3708400" y="4724400"/>
            <a:ext cx="492125" cy="579438"/>
          </a:xfrm>
          <a:prstGeom prst="rect">
            <a:avLst/>
          </a:prstGeom>
          <a:solidFill>
            <a:srgbClr val="FFEDC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b="1">
                <a:solidFill>
                  <a:srgbClr val="FF3300"/>
                </a:solidFill>
                <a:ea typeface="华文新魏" panose="02010800040101010101" pitchFamily="2" charset="-122"/>
              </a:rPr>
              <a:t>编</a:t>
            </a:r>
          </a:p>
        </p:txBody>
      </p:sp>
      <p:sp>
        <p:nvSpPr>
          <p:cNvPr id="43021" name="Rectangle 17"/>
          <p:cNvSpPr>
            <a:spLocks noChangeArrowheads="1"/>
          </p:cNvSpPr>
          <p:nvPr/>
        </p:nvSpPr>
        <p:spPr bwMode="auto">
          <a:xfrm>
            <a:off x="468313" y="4437063"/>
            <a:ext cx="1809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2800" b="1" i="1">
                <a:latin typeface="Times New Roman" panose="02020603050405020304" pitchFamily="18" charset="0"/>
                <a:ea typeface="华文新魏" panose="02010800040101010101" pitchFamily="2" charset="-122"/>
              </a:rPr>
              <a:t>源程序</a:t>
            </a:r>
            <a:r>
              <a:rPr lang="en-US" altLang="zh-CN" sz="2900" b="1">
                <a:solidFill>
                  <a:schemeClr val="hlink"/>
                </a:solidFill>
                <a:latin typeface="Times New Roman" panose="02020603050405020304" pitchFamily="18" charset="0"/>
                <a:ea typeface="华文新魏" panose="02010800040101010101" pitchFamily="2" charset="-122"/>
              </a:rPr>
              <a:t>SP</a:t>
            </a:r>
          </a:p>
        </p:txBody>
      </p:sp>
      <p:sp>
        <p:nvSpPr>
          <p:cNvPr id="43022" name="Rectangle 18"/>
          <p:cNvSpPr>
            <a:spLocks noChangeArrowheads="1"/>
          </p:cNvSpPr>
          <p:nvPr/>
        </p:nvSpPr>
        <p:spPr bwMode="auto">
          <a:xfrm>
            <a:off x="6516688" y="4508500"/>
            <a:ext cx="22320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800" b="1" i="1">
                <a:latin typeface="Times New Roman" panose="02020603050405020304" pitchFamily="18" charset="0"/>
                <a:ea typeface="华文新魏" panose="02010800040101010101" pitchFamily="2" charset="-122"/>
              </a:rPr>
              <a:t>目标程序</a:t>
            </a:r>
            <a:r>
              <a:rPr lang="en-US" altLang="zh-CN" sz="2900" b="1">
                <a:solidFill>
                  <a:schemeClr val="hlink"/>
                </a:solidFill>
                <a:latin typeface="Times New Roman" panose="02020603050405020304" pitchFamily="18" charset="0"/>
                <a:ea typeface="华文新魏" panose="02010800040101010101" pitchFamily="2" charset="-122"/>
              </a:rPr>
              <a:t>OP</a:t>
            </a:r>
          </a:p>
        </p:txBody>
      </p:sp>
      <p:sp>
        <p:nvSpPr>
          <p:cNvPr id="43023" name="Rectangle 13"/>
          <p:cNvSpPr>
            <a:spLocks noChangeArrowheads="1"/>
          </p:cNvSpPr>
          <p:nvPr/>
        </p:nvSpPr>
        <p:spPr bwMode="auto">
          <a:xfrm>
            <a:off x="323850" y="4508500"/>
            <a:ext cx="2089150" cy="946150"/>
          </a:xfrm>
          <a:prstGeom prst="rect">
            <a:avLst/>
          </a:prstGeom>
          <a:solidFill>
            <a:srgbClr val="FFEDC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800" b="1" i="1">
                <a:ea typeface="华文新魏" panose="02010800040101010101" pitchFamily="2" charset="-122"/>
              </a:rPr>
              <a:t>高级语言</a:t>
            </a:r>
            <a:r>
              <a:rPr kumimoji="1" lang="zh-CN" altLang="en-US" sz="2800" b="1" i="1">
                <a:solidFill>
                  <a:srgbClr val="CC3300"/>
                </a:solidFill>
                <a:ea typeface="华文新魏" panose="02010800040101010101" pitchFamily="2" charset="-122"/>
              </a:rPr>
              <a:t>源程序</a:t>
            </a:r>
          </a:p>
        </p:txBody>
      </p:sp>
      <p:sp>
        <p:nvSpPr>
          <p:cNvPr id="43024" name="Rectangle 14"/>
          <p:cNvSpPr>
            <a:spLocks noChangeArrowheads="1"/>
          </p:cNvSpPr>
          <p:nvPr/>
        </p:nvSpPr>
        <p:spPr bwMode="auto">
          <a:xfrm>
            <a:off x="6443663" y="4508500"/>
            <a:ext cx="2522537" cy="946150"/>
          </a:xfrm>
          <a:prstGeom prst="rect">
            <a:avLst/>
          </a:prstGeom>
          <a:solidFill>
            <a:srgbClr val="FFEDC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800" b="1" i="1">
                <a:latin typeface="华文新魏" panose="02010800040101010101" pitchFamily="2" charset="-122"/>
                <a:ea typeface="华文新魏" panose="02010800040101010101" pitchFamily="2" charset="-122"/>
              </a:rPr>
              <a:t>汇编/机器语言</a:t>
            </a:r>
            <a:r>
              <a:rPr kumimoji="1" lang="zh-CN" altLang="en-US" sz="2800" b="1" i="1">
                <a:solidFill>
                  <a:srgbClr val="CC3300"/>
                </a:solidFill>
                <a:latin typeface="华文新魏" panose="02010800040101010101" pitchFamily="2" charset="-122"/>
                <a:ea typeface="华文新魏" panose="02010800040101010101" pitchFamily="2" charset="-122"/>
              </a:rPr>
              <a:t>目标程序</a:t>
            </a:r>
          </a:p>
        </p:txBody>
      </p:sp>
      <p:sp>
        <p:nvSpPr>
          <p:cNvPr id="43025" name="Rectangle 19"/>
          <p:cNvSpPr>
            <a:spLocks noChangeArrowheads="1"/>
          </p:cNvSpPr>
          <p:nvPr/>
        </p:nvSpPr>
        <p:spPr bwMode="auto">
          <a:xfrm>
            <a:off x="3490913" y="5938838"/>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ea typeface="华文新魏" panose="02010800040101010101" pitchFamily="2" charset="-122"/>
              </a:rPr>
              <a:t>请参阅</a:t>
            </a:r>
            <a:r>
              <a:rPr lang="en-US" altLang="zh-CN" sz="2400" b="1">
                <a:latin typeface="Times New Roman" panose="02020603050405020304" pitchFamily="18" charset="0"/>
                <a:ea typeface="华文新魏" panose="02010800040101010101" pitchFamily="2" charset="-122"/>
              </a:rPr>
              <a:t>P5</a:t>
            </a:r>
            <a:r>
              <a:rPr lang="zh-CN" altLang="en-US" sz="2400" b="1">
                <a:latin typeface="Times New Roman" panose="02020603050405020304" pitchFamily="18" charset="0"/>
                <a:ea typeface="华文新魏" panose="02010800040101010101" pitchFamily="2" charset="-122"/>
              </a:rPr>
              <a:t>图1.</a:t>
            </a:r>
            <a:r>
              <a:rPr lang="en-US" altLang="zh-CN" sz="2400" b="1">
                <a:latin typeface="Times New Roman" panose="02020603050405020304" pitchFamily="18" charset="0"/>
                <a:ea typeface="华文新魏" panose="02010800040101010101" pitchFamily="2" charset="-122"/>
              </a:rPr>
              <a:t>1</a:t>
            </a:r>
          </a:p>
        </p:txBody>
      </p:sp>
      <p:sp>
        <p:nvSpPr>
          <p:cNvPr id="43026" name="Rectangle 15"/>
          <p:cNvSpPr>
            <a:spLocks noChangeArrowheads="1"/>
          </p:cNvSpPr>
          <p:nvPr/>
        </p:nvSpPr>
        <p:spPr bwMode="auto">
          <a:xfrm>
            <a:off x="3608388" y="5937250"/>
            <a:ext cx="2233612" cy="457200"/>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a:latin typeface="Times New Roman" panose="02020603050405020304" pitchFamily="18" charset="0"/>
                <a:ea typeface="华文新魏" panose="02010800040101010101" pitchFamily="2" charset="-122"/>
              </a:rPr>
              <a:t>请参阅</a:t>
            </a:r>
            <a:r>
              <a:rPr lang="en-US" altLang="zh-CN" sz="2400" b="1">
                <a:latin typeface="Times New Roman" panose="02020603050405020304" pitchFamily="18" charset="0"/>
                <a:ea typeface="华文新魏" panose="02010800040101010101" pitchFamily="2" charset="-122"/>
              </a:rPr>
              <a:t>P5</a:t>
            </a:r>
            <a:r>
              <a:rPr lang="zh-CN" altLang="en-US" sz="2400" b="1">
                <a:latin typeface="Times New Roman" panose="02020603050405020304" pitchFamily="18" charset="0"/>
                <a:ea typeface="华文新魏" panose="02010800040101010101" pitchFamily="2" charset="-122"/>
              </a:rPr>
              <a:t>图1.</a:t>
            </a:r>
            <a:r>
              <a:rPr lang="en-US" altLang="zh-CN" sz="2400" b="1">
                <a:latin typeface="Times New Roman" panose="02020603050405020304" pitchFamily="18" charset="0"/>
                <a:ea typeface="华文新魏" panose="02010800040101010101" pitchFamily="2" charset="-122"/>
              </a:rPr>
              <a:t>2</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3685CCB-87A3-40E2-B72E-0DEB5B0D6575}" type="datetime1">
              <a:rPr lang="zh-CN" altLang="en-US" sz="1400" smtClean="0"/>
              <a:pPr>
                <a:spcBef>
                  <a:spcPct val="0"/>
                </a:spcBef>
                <a:buClrTx/>
                <a:buSzTx/>
                <a:buFontTx/>
                <a:buNone/>
              </a:pPr>
              <a:t>2017/2/24</a:t>
            </a:fld>
            <a:endParaRPr lang="en-US" altLang="zh-CN" sz="1400" smtClean="0"/>
          </a:p>
        </p:txBody>
      </p:sp>
      <p:sp>
        <p:nvSpPr>
          <p:cNvPr id="4403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1F2E4DD-D139-495B-9D53-3750DC7E9D63}" type="slidenum">
              <a:rPr lang="zh-CN" altLang="en-US" sz="1400"/>
              <a:pPr>
                <a:spcBef>
                  <a:spcPct val="0"/>
                </a:spcBef>
                <a:buClrTx/>
                <a:buSzTx/>
                <a:buFontTx/>
                <a:buNone/>
              </a:pPr>
              <a:t>39</a:t>
            </a:fld>
            <a:endParaRPr lang="en-US" altLang="zh-CN" sz="1400"/>
          </a:p>
        </p:txBody>
      </p:sp>
      <p:sp>
        <p:nvSpPr>
          <p:cNvPr id="44036" name="Rectangle 2"/>
          <p:cNvSpPr>
            <a:spLocks noGrp="1" noRot="1" noChangeArrowheads="1"/>
          </p:cNvSpPr>
          <p:nvPr>
            <p:ph type="title"/>
          </p:nvPr>
        </p:nvSpPr>
        <p:spPr>
          <a:xfrm>
            <a:off x="762000" y="762000"/>
            <a:ext cx="5867400" cy="762000"/>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1.2 翻译系统</a:t>
            </a:r>
          </a:p>
        </p:txBody>
      </p:sp>
      <p:sp>
        <p:nvSpPr>
          <p:cNvPr id="44037" name="Rectangle 3"/>
          <p:cNvSpPr>
            <a:spLocks noGrp="1" noRot="1" noChangeArrowheads="1"/>
          </p:cNvSpPr>
          <p:nvPr>
            <p:ph type="body" idx="1"/>
          </p:nvPr>
        </p:nvSpPr>
        <p:spPr>
          <a:xfrm>
            <a:off x="301625" y="1905000"/>
            <a:ext cx="8540750" cy="1554163"/>
          </a:xfrm>
        </p:spPr>
        <p:txBody>
          <a:bodyPr/>
          <a:lstStyle/>
          <a:p>
            <a:pPr eaLnBrk="1" hangingPunct="1"/>
            <a:r>
              <a:rPr lang="zh-CN" altLang="en-US" sz="3600" b="1" smtClean="0">
                <a:latin typeface="Times New Roman" panose="02020603050405020304" pitchFamily="18" charset="0"/>
                <a:ea typeface="华文新魏" panose="02010800040101010101" pitchFamily="2" charset="-122"/>
              </a:rPr>
              <a:t>解释程序</a:t>
            </a:r>
            <a:r>
              <a:rPr lang="en-US" altLang="zh-CN" sz="3600" b="1" smtClean="0">
                <a:latin typeface="Times New Roman" panose="02020603050405020304" pitchFamily="18" charset="0"/>
                <a:ea typeface="华文新魏" panose="02010800040101010101" pitchFamily="2" charset="-122"/>
              </a:rPr>
              <a:t>(</a:t>
            </a:r>
            <a:r>
              <a:rPr lang="en-US" altLang="zh-CN" b="1" smtClean="0">
                <a:latin typeface="Times New Roman" panose="02020603050405020304" pitchFamily="18" charset="0"/>
                <a:ea typeface="华文新魏" panose="02010800040101010101" pitchFamily="2" charset="-122"/>
              </a:rPr>
              <a:t>Interpreter</a:t>
            </a:r>
            <a:r>
              <a:rPr lang="en-US" altLang="zh-CN" sz="3600" b="1" smtClean="0">
                <a:latin typeface="Times New Roman" panose="02020603050405020304" pitchFamily="18" charset="0"/>
                <a:ea typeface="华文新魏" panose="02010800040101010101" pitchFamily="2" charset="-122"/>
              </a:rPr>
              <a:t>)</a:t>
            </a:r>
          </a:p>
          <a:p>
            <a:pPr lvl="1" eaLnBrk="1" hangingPunct="1"/>
            <a:r>
              <a:rPr lang="zh-CN" altLang="en-US" sz="3200" b="1" smtClean="0">
                <a:latin typeface="Times New Roman" panose="02020603050405020304" pitchFamily="18" charset="0"/>
                <a:ea typeface="华文新魏" panose="02010800040101010101" pitchFamily="2" charset="-122"/>
              </a:rPr>
              <a:t>口译与笔译</a:t>
            </a:r>
            <a:r>
              <a:rPr lang="en-US" altLang="zh-CN" sz="3200" b="1" smtClean="0">
                <a:latin typeface="Times New Roman" panose="02020603050405020304" pitchFamily="18" charset="0"/>
                <a:ea typeface="华文新魏" panose="02010800040101010101" pitchFamily="2" charset="-122"/>
              </a:rPr>
              <a:t>(</a:t>
            </a:r>
            <a:r>
              <a:rPr lang="zh-CN" altLang="en-US" sz="3200" b="1" smtClean="0">
                <a:latin typeface="Times New Roman" panose="02020603050405020304" pitchFamily="18" charset="0"/>
                <a:ea typeface="华文新魏" panose="02010800040101010101" pitchFamily="2" charset="-122"/>
              </a:rPr>
              <a:t>单句提交与整篇提交</a:t>
            </a:r>
            <a:r>
              <a:rPr lang="en-US" altLang="zh-CN" sz="3200" b="1" smtClean="0">
                <a:latin typeface="Times New Roman" panose="02020603050405020304" pitchFamily="18" charset="0"/>
                <a:ea typeface="华文新魏" panose="02010800040101010101" pitchFamily="2" charset="-122"/>
              </a:rPr>
              <a:t>)</a:t>
            </a:r>
            <a:endParaRPr lang="en-US" altLang="zh-CN" smtClean="0">
              <a:latin typeface="Times New Roman" panose="02020603050405020304" pitchFamily="18" charset="0"/>
              <a:ea typeface="华文新魏" panose="02010800040101010101" pitchFamily="2" charset="-122"/>
            </a:endParaRPr>
          </a:p>
        </p:txBody>
      </p:sp>
      <p:sp>
        <p:nvSpPr>
          <p:cNvPr id="44038" name="Text Box 5"/>
          <p:cNvSpPr txBox="1">
            <a:spLocks noChangeArrowheads="1"/>
          </p:cNvSpPr>
          <p:nvPr/>
        </p:nvSpPr>
        <p:spPr bwMode="auto">
          <a:xfrm>
            <a:off x="762000" y="5019675"/>
            <a:ext cx="117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b="1" i="1">
                <a:latin typeface="Times New Roman" panose="02020603050405020304" pitchFamily="18" charset="0"/>
                <a:ea typeface="华文新魏" panose="02010800040101010101" pitchFamily="2" charset="-122"/>
              </a:rPr>
              <a:t>源程序</a:t>
            </a:r>
            <a:endParaRPr kumimoji="1" lang="zh-CN" altLang="en-US" sz="2400" b="1">
              <a:latin typeface="Times New Roman" panose="02020603050405020304" pitchFamily="18" charset="0"/>
              <a:ea typeface="华文新魏" panose="02010800040101010101" pitchFamily="2" charset="-122"/>
            </a:endParaRPr>
          </a:p>
        </p:txBody>
      </p:sp>
      <p:cxnSp>
        <p:nvCxnSpPr>
          <p:cNvPr id="44039" name="AutoShape 6"/>
          <p:cNvCxnSpPr>
            <a:cxnSpLocks noChangeShapeType="1"/>
            <a:stCxn id="44038" idx="3"/>
          </p:cNvCxnSpPr>
          <p:nvPr/>
        </p:nvCxnSpPr>
        <p:spPr bwMode="auto">
          <a:xfrm>
            <a:off x="1941513" y="5248275"/>
            <a:ext cx="1233487" cy="0"/>
          </a:xfrm>
          <a:prstGeom prst="straightConnector1">
            <a:avLst/>
          </a:prstGeom>
          <a:noFill/>
          <a:ln w="38100">
            <a:solidFill>
              <a:schemeClr val="tx1"/>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40" name="Text Box 7"/>
          <p:cNvSpPr txBox="1">
            <a:spLocks noChangeArrowheads="1"/>
          </p:cNvSpPr>
          <p:nvPr/>
        </p:nvSpPr>
        <p:spPr bwMode="auto">
          <a:xfrm>
            <a:off x="3725863" y="3644900"/>
            <a:ext cx="1531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b="1" i="1">
                <a:latin typeface="Times New Roman" panose="02020603050405020304" pitchFamily="18" charset="0"/>
                <a:ea typeface="华文新魏" panose="02010800040101010101" pitchFamily="2" charset="-122"/>
              </a:rPr>
              <a:t>输入数据</a:t>
            </a:r>
          </a:p>
        </p:txBody>
      </p:sp>
      <p:sp>
        <p:nvSpPr>
          <p:cNvPr id="44041" name="Text Box 8"/>
          <p:cNvSpPr txBox="1">
            <a:spLocks noChangeArrowheads="1"/>
          </p:cNvSpPr>
          <p:nvPr/>
        </p:nvSpPr>
        <p:spPr bwMode="auto">
          <a:xfrm>
            <a:off x="6842125" y="5019675"/>
            <a:ext cx="1546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b="1" i="1">
                <a:latin typeface="Times New Roman" panose="02020603050405020304" pitchFamily="18" charset="0"/>
                <a:ea typeface="华文新魏" panose="02010800040101010101" pitchFamily="2" charset="-122"/>
              </a:rPr>
              <a:t>计算结果</a:t>
            </a:r>
          </a:p>
        </p:txBody>
      </p:sp>
      <p:cxnSp>
        <p:nvCxnSpPr>
          <p:cNvPr id="44042" name="AutoShape 9"/>
          <p:cNvCxnSpPr>
            <a:cxnSpLocks noChangeShapeType="1"/>
            <a:endCxn id="44041" idx="1"/>
          </p:cNvCxnSpPr>
          <p:nvPr/>
        </p:nvCxnSpPr>
        <p:spPr bwMode="auto">
          <a:xfrm>
            <a:off x="5775325" y="5248275"/>
            <a:ext cx="1066800" cy="0"/>
          </a:xfrm>
          <a:prstGeom prst="straightConnector1">
            <a:avLst/>
          </a:prstGeom>
          <a:noFill/>
          <a:ln w="38100">
            <a:solidFill>
              <a:schemeClr val="tx1"/>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043" name="AutoShape 10"/>
          <p:cNvCxnSpPr>
            <a:cxnSpLocks noChangeShapeType="1"/>
          </p:cNvCxnSpPr>
          <p:nvPr/>
        </p:nvCxnSpPr>
        <p:spPr bwMode="auto">
          <a:xfrm>
            <a:off x="4495800" y="4102100"/>
            <a:ext cx="0" cy="762000"/>
          </a:xfrm>
          <a:prstGeom prst="straightConnector1">
            <a:avLst/>
          </a:prstGeom>
          <a:noFill/>
          <a:ln w="38100">
            <a:solidFill>
              <a:schemeClr val="tx1"/>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79" name="Text Box 11"/>
          <p:cNvSpPr txBox="1">
            <a:spLocks noChangeArrowheads="1"/>
          </p:cNvSpPr>
          <p:nvPr/>
        </p:nvSpPr>
        <p:spPr bwMode="auto">
          <a:xfrm>
            <a:off x="3352800" y="4892675"/>
            <a:ext cx="2362200" cy="638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3200" b="1">
                <a:solidFill>
                  <a:srgbClr val="FF3300"/>
                </a:solidFill>
                <a:effectLst>
                  <a:outerShdw blurRad="38100" dist="38100" dir="2700000" algn="tl">
                    <a:srgbClr val="C0C0C0"/>
                  </a:outerShdw>
                </a:effectLst>
                <a:latin typeface="华文新魏" pitchFamily="2" charset="-122"/>
                <a:ea typeface="华文新魏" pitchFamily="2" charset="-122"/>
              </a:rPr>
              <a:t>解释程序</a:t>
            </a:r>
          </a:p>
        </p:txBody>
      </p:sp>
      <p:sp>
        <p:nvSpPr>
          <p:cNvPr id="44045" name="Rectangle 12"/>
          <p:cNvSpPr>
            <a:spLocks noChangeArrowheads="1"/>
          </p:cNvSpPr>
          <p:nvPr/>
        </p:nvSpPr>
        <p:spPr bwMode="auto">
          <a:xfrm>
            <a:off x="3276600" y="6021388"/>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ea typeface="华文新魏" panose="02010800040101010101" pitchFamily="2" charset="-122"/>
              </a:rPr>
              <a:t>请参阅</a:t>
            </a:r>
            <a:r>
              <a:rPr lang="en-US" altLang="zh-CN" sz="2400" b="1">
                <a:latin typeface="Times New Roman" panose="02020603050405020304" pitchFamily="18" charset="0"/>
                <a:ea typeface="华文新魏" panose="02010800040101010101" pitchFamily="2" charset="-122"/>
              </a:rPr>
              <a:t>P5</a:t>
            </a:r>
            <a:r>
              <a:rPr lang="zh-CN" altLang="en-US" sz="2400" b="1">
                <a:latin typeface="Times New Roman" panose="02020603050405020304" pitchFamily="18" charset="0"/>
                <a:ea typeface="华文新魏" panose="02010800040101010101" pitchFamily="2" charset="-122"/>
              </a:rPr>
              <a:t>图1.</a:t>
            </a:r>
            <a:r>
              <a:rPr lang="en-US" altLang="zh-CN" sz="2400" b="1">
                <a:latin typeface="Times New Roman" panose="02020603050405020304" pitchFamily="18" charset="0"/>
                <a:ea typeface="华文新魏" panose="02010800040101010101" pitchFamily="2" charset="-122"/>
              </a:rPr>
              <a:t>3</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4A7C9FD-42B5-45D2-A0A1-A083EA25F5F1}" type="datetime1">
              <a:rPr lang="zh-CN" altLang="en-US" sz="1400" smtClean="0"/>
              <a:pPr>
                <a:spcBef>
                  <a:spcPct val="0"/>
                </a:spcBef>
                <a:buClrTx/>
                <a:buSzTx/>
                <a:buFontTx/>
                <a:buNone/>
              </a:pPr>
              <a:t>2017/2/24</a:t>
            </a:fld>
            <a:endParaRPr lang="en-US" altLang="zh-CN" sz="1400" smtClean="0"/>
          </a:p>
        </p:txBody>
      </p:sp>
      <p:sp>
        <p:nvSpPr>
          <p:cNvPr id="4505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34C9E9E-086C-4186-A120-D285A61CBEE6}" type="slidenum">
              <a:rPr lang="zh-CN" altLang="en-US" sz="1400"/>
              <a:pPr>
                <a:spcBef>
                  <a:spcPct val="0"/>
                </a:spcBef>
                <a:buClrTx/>
                <a:buSzTx/>
                <a:buFontTx/>
                <a:buNone/>
              </a:pPr>
              <a:t>40</a:t>
            </a:fld>
            <a:endParaRPr lang="en-US" altLang="zh-CN" sz="1400"/>
          </a:p>
        </p:txBody>
      </p:sp>
      <p:sp>
        <p:nvSpPr>
          <p:cNvPr id="45060" name="Rectangle 2"/>
          <p:cNvSpPr>
            <a:spLocks noGrp="1" noRot="1" noChangeArrowheads="1"/>
          </p:cNvSpPr>
          <p:nvPr>
            <p:ph type="title"/>
          </p:nvPr>
        </p:nvSpPr>
        <p:spPr>
          <a:xfrm>
            <a:off x="1187450" y="476250"/>
            <a:ext cx="5176838" cy="865188"/>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1.2  翻译系统</a:t>
            </a:r>
          </a:p>
        </p:txBody>
      </p:sp>
      <p:sp>
        <p:nvSpPr>
          <p:cNvPr id="290819" name="Rectangle 3"/>
          <p:cNvSpPr>
            <a:spLocks noGrp="1" noRot="1" noChangeArrowheads="1"/>
          </p:cNvSpPr>
          <p:nvPr>
            <p:ph type="body" idx="1"/>
          </p:nvPr>
        </p:nvSpPr>
        <p:spPr>
          <a:xfrm>
            <a:off x="6732588" y="3286125"/>
            <a:ext cx="2232025" cy="1439863"/>
          </a:xfrm>
        </p:spPr>
        <p:txBody>
          <a:bodyPr/>
          <a:lstStyle/>
          <a:p>
            <a:pPr marL="0" indent="0" eaLnBrk="1" hangingPunct="1">
              <a:buFont typeface="Wingdings" panose="05000000000000000000" pitchFamily="2" charset="2"/>
              <a:buNone/>
              <a:defRPr/>
            </a:pPr>
            <a:r>
              <a:rPr kumimoji="1" lang="zh-CN" altLang="en-US" b="1" smtClean="0">
                <a:effectLst>
                  <a:outerShdw blurRad="38100" dist="38100" dir="2700000" algn="tl">
                    <a:srgbClr val="C0C0C0"/>
                  </a:outerShdw>
                </a:effectLst>
                <a:latin typeface="Times New Roman" pitchFamily="18" charset="0"/>
                <a:ea typeface="华文新魏" pitchFamily="2" charset="-122"/>
              </a:rPr>
              <a:t>支撑环境、运行库等</a:t>
            </a:r>
            <a:endParaRPr kumimoji="1" lang="en-US" altLang="zh-CN" b="1" smtClean="0">
              <a:effectLst>
                <a:outerShdw blurRad="38100" dist="38100" dir="2700000" algn="tl">
                  <a:srgbClr val="C0C0C0"/>
                </a:outerShdw>
              </a:effectLst>
              <a:latin typeface="Times New Roman" pitchFamily="18" charset="0"/>
              <a:ea typeface="华文新魏" pitchFamily="2" charset="-122"/>
            </a:endParaRPr>
          </a:p>
        </p:txBody>
      </p:sp>
      <p:sp>
        <p:nvSpPr>
          <p:cNvPr id="45062" name="Line 5"/>
          <p:cNvSpPr>
            <a:spLocks noChangeShapeType="1"/>
          </p:cNvSpPr>
          <p:nvPr/>
        </p:nvSpPr>
        <p:spPr bwMode="auto">
          <a:xfrm>
            <a:off x="3132138" y="1844675"/>
            <a:ext cx="10842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5063" name="Line 6"/>
          <p:cNvSpPr>
            <a:spLocks noChangeShapeType="1"/>
          </p:cNvSpPr>
          <p:nvPr/>
        </p:nvSpPr>
        <p:spPr bwMode="auto">
          <a:xfrm>
            <a:off x="5465763" y="2925763"/>
            <a:ext cx="0" cy="5032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5064" name="Line 7"/>
          <p:cNvSpPr>
            <a:spLocks noChangeShapeType="1"/>
          </p:cNvSpPr>
          <p:nvPr/>
        </p:nvSpPr>
        <p:spPr bwMode="auto">
          <a:xfrm>
            <a:off x="2844800" y="3573463"/>
            <a:ext cx="136683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5065" name="AutoShape 8"/>
          <p:cNvSpPr>
            <a:spLocks noChangeArrowheads="1"/>
          </p:cNvSpPr>
          <p:nvPr/>
        </p:nvSpPr>
        <p:spPr bwMode="auto">
          <a:xfrm>
            <a:off x="5364163" y="3713163"/>
            <a:ext cx="215900" cy="503237"/>
          </a:xfrm>
          <a:prstGeom prst="downArrow">
            <a:avLst>
              <a:gd name="adj1" fmla="val 50000"/>
              <a:gd name="adj2" fmla="val 58272"/>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45066" name="AutoShape 9"/>
          <p:cNvSpPr>
            <a:spLocks noChangeArrowheads="1"/>
          </p:cNvSpPr>
          <p:nvPr/>
        </p:nvSpPr>
        <p:spPr bwMode="auto">
          <a:xfrm>
            <a:off x="5399088" y="1993900"/>
            <a:ext cx="180975" cy="566738"/>
          </a:xfrm>
          <a:prstGeom prst="downArrow">
            <a:avLst>
              <a:gd name="adj1" fmla="val 50000"/>
              <a:gd name="adj2" fmla="val 78290"/>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290826" name="Rectangle 10"/>
          <p:cNvSpPr>
            <a:spLocks noChangeArrowheads="1"/>
          </p:cNvSpPr>
          <p:nvPr/>
        </p:nvSpPr>
        <p:spPr bwMode="auto">
          <a:xfrm>
            <a:off x="684213" y="4953000"/>
            <a:ext cx="7416800"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30000"/>
              </a:spcBef>
              <a:buClr>
                <a:schemeClr val="tx2"/>
              </a:buClr>
              <a:buSzPct val="75000"/>
              <a:buFont typeface="Monotype Sorts" pitchFamily="2" charset="2"/>
              <a:buChar char="n"/>
              <a:defRPr/>
            </a:pPr>
            <a:r>
              <a:rPr kumimoji="1" lang="zh-CN" altLang="en-US" sz="3200" b="1">
                <a:effectLst>
                  <a:outerShdw blurRad="38100" dist="38100" dir="2700000" algn="tl">
                    <a:srgbClr val="C0C0C0"/>
                  </a:outerShdw>
                </a:effectLst>
                <a:latin typeface="Times New Roman" pitchFamily="18" charset="0"/>
                <a:ea typeface="华文新魏" pitchFamily="2" charset="-122"/>
              </a:rPr>
              <a:t>编译系统</a:t>
            </a:r>
            <a:r>
              <a:rPr kumimoji="1" lang="en-US" altLang="zh-CN" sz="3200" b="1">
                <a:effectLst>
                  <a:outerShdw blurRad="38100" dist="38100" dir="2700000" algn="tl">
                    <a:srgbClr val="C0C0C0"/>
                  </a:outerShdw>
                </a:effectLst>
                <a:latin typeface="Times New Roman" pitchFamily="18" charset="0"/>
                <a:ea typeface="华文新魏" pitchFamily="2" charset="-122"/>
              </a:rPr>
              <a:t>(</a:t>
            </a:r>
            <a:r>
              <a:rPr lang="en-US" altLang="zh-CN" sz="3200" b="1">
                <a:solidFill>
                  <a:schemeClr val="hlink"/>
                </a:solidFill>
                <a:latin typeface="Times New Roman" pitchFamily="18" charset="0"/>
                <a:ea typeface="华文新魏" pitchFamily="2" charset="-122"/>
              </a:rPr>
              <a:t>Compiling System</a:t>
            </a:r>
            <a:r>
              <a:rPr kumimoji="1" lang="en-US" altLang="zh-CN" sz="3200" b="1">
                <a:effectLst>
                  <a:outerShdw blurRad="38100" dist="38100" dir="2700000" algn="tl">
                    <a:srgbClr val="C0C0C0"/>
                  </a:outerShdw>
                </a:effectLst>
                <a:latin typeface="Times New Roman" pitchFamily="18" charset="0"/>
                <a:ea typeface="华文新魏" pitchFamily="2" charset="-122"/>
              </a:rPr>
              <a:t>)</a:t>
            </a:r>
          </a:p>
          <a:p>
            <a:pPr lvl="1">
              <a:spcBef>
                <a:spcPct val="30000"/>
              </a:spcBef>
              <a:buClr>
                <a:schemeClr val="folHlink"/>
              </a:buClr>
              <a:buSzPct val="75000"/>
              <a:buFont typeface="Monotype Sorts" pitchFamily="2" charset="2"/>
              <a:buChar char="u"/>
              <a:defRPr/>
            </a:pPr>
            <a:r>
              <a:rPr kumimoji="1" lang="zh-CN" altLang="en-US" sz="3200" b="1">
                <a:effectLst>
                  <a:outerShdw blurRad="38100" dist="38100" dir="2700000" algn="tl">
                    <a:srgbClr val="C0C0C0"/>
                  </a:outerShdw>
                </a:effectLst>
                <a:latin typeface="Times New Roman" pitchFamily="18" charset="0"/>
                <a:ea typeface="华文新魏" pitchFamily="2" charset="-122"/>
              </a:rPr>
              <a:t>编译系统=编译程序+运行系统</a:t>
            </a:r>
          </a:p>
        </p:txBody>
      </p:sp>
      <p:sp>
        <p:nvSpPr>
          <p:cNvPr id="45068" name="Rectangle 12"/>
          <p:cNvSpPr>
            <a:spLocks noChangeArrowheads="1"/>
          </p:cNvSpPr>
          <p:nvPr/>
        </p:nvSpPr>
        <p:spPr bwMode="auto">
          <a:xfrm>
            <a:off x="1058863" y="1423988"/>
            <a:ext cx="2081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b="1">
                <a:latin typeface="Times New Roman" panose="02020603050405020304" pitchFamily="18" charset="0"/>
              </a:rPr>
              <a:t>S</a:t>
            </a:r>
            <a:r>
              <a:rPr lang="en-US" altLang="zh-CN" sz="2000" b="1">
                <a:solidFill>
                  <a:srgbClr val="0099FF"/>
                </a:solidFill>
                <a:latin typeface="Times New Roman" panose="02020603050405020304" pitchFamily="18" charset="0"/>
              </a:rPr>
              <a:t>ource</a:t>
            </a:r>
            <a:r>
              <a:rPr lang="en-US" altLang="zh-CN" b="1">
                <a:latin typeface="Times New Roman" panose="02020603050405020304" pitchFamily="18" charset="0"/>
              </a:rPr>
              <a:t>P</a:t>
            </a:r>
            <a:r>
              <a:rPr lang="en-US" altLang="zh-CN" sz="2000" b="1">
                <a:solidFill>
                  <a:srgbClr val="0099FF"/>
                </a:solidFill>
                <a:latin typeface="Times New Roman" panose="02020603050405020304" pitchFamily="18" charset="0"/>
              </a:rPr>
              <a:t>rogram</a:t>
            </a:r>
            <a:endParaRPr lang="zh-CN" altLang="en-US" sz="2000" b="1">
              <a:solidFill>
                <a:srgbClr val="0099FF"/>
              </a:solidFill>
              <a:latin typeface="Times New Roman" panose="02020603050405020304" pitchFamily="18" charset="0"/>
            </a:endParaRPr>
          </a:p>
        </p:txBody>
      </p:sp>
      <p:sp>
        <p:nvSpPr>
          <p:cNvPr id="45069" name="Rectangle 13"/>
          <p:cNvSpPr>
            <a:spLocks noChangeArrowheads="1"/>
          </p:cNvSpPr>
          <p:nvPr/>
        </p:nvSpPr>
        <p:spPr bwMode="auto">
          <a:xfrm>
            <a:off x="4284663" y="1492250"/>
            <a:ext cx="1831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solidFill>
                  <a:schemeClr val="hlink"/>
                </a:solidFill>
                <a:latin typeface="Times New Roman" panose="02020603050405020304" pitchFamily="18" charset="0"/>
              </a:rPr>
              <a:t>Compiler</a:t>
            </a:r>
            <a:endParaRPr lang="zh-CN" altLang="en-US" b="1">
              <a:solidFill>
                <a:schemeClr val="hlink"/>
              </a:solidFill>
              <a:latin typeface="Times New Roman" panose="02020603050405020304" pitchFamily="18" charset="0"/>
            </a:endParaRPr>
          </a:p>
        </p:txBody>
      </p:sp>
      <p:sp>
        <p:nvSpPr>
          <p:cNvPr id="45070" name="Rectangle 14"/>
          <p:cNvSpPr>
            <a:spLocks noChangeArrowheads="1"/>
          </p:cNvSpPr>
          <p:nvPr/>
        </p:nvSpPr>
        <p:spPr bwMode="auto">
          <a:xfrm>
            <a:off x="4151313" y="2432050"/>
            <a:ext cx="2371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latin typeface="Times New Roman" panose="02020603050405020304" pitchFamily="18" charset="0"/>
              </a:rPr>
              <a:t>O</a:t>
            </a:r>
            <a:r>
              <a:rPr lang="en-US" altLang="zh-CN" sz="2400" b="1">
                <a:solidFill>
                  <a:srgbClr val="0099FF"/>
                </a:solidFill>
                <a:latin typeface="Times New Roman" panose="02020603050405020304" pitchFamily="18" charset="0"/>
              </a:rPr>
              <a:t>bject</a:t>
            </a:r>
            <a:r>
              <a:rPr lang="en-US" altLang="zh-CN" b="1">
                <a:latin typeface="Times New Roman" panose="02020603050405020304" pitchFamily="18" charset="0"/>
              </a:rPr>
              <a:t>P</a:t>
            </a:r>
            <a:r>
              <a:rPr lang="en-US" altLang="zh-CN" sz="2400" b="1">
                <a:solidFill>
                  <a:srgbClr val="0099FF"/>
                </a:solidFill>
                <a:latin typeface="Times New Roman" panose="02020603050405020304" pitchFamily="18" charset="0"/>
              </a:rPr>
              <a:t>rogram</a:t>
            </a:r>
            <a:endParaRPr lang="zh-CN" altLang="en-US" sz="2400" b="1">
              <a:solidFill>
                <a:srgbClr val="0099FF"/>
              </a:solidFill>
              <a:latin typeface="Times New Roman" panose="02020603050405020304" pitchFamily="18" charset="0"/>
            </a:endParaRPr>
          </a:p>
        </p:txBody>
      </p:sp>
      <p:sp>
        <p:nvSpPr>
          <p:cNvPr id="45071" name="Rectangle 15"/>
          <p:cNvSpPr>
            <a:spLocks noChangeArrowheads="1"/>
          </p:cNvSpPr>
          <p:nvPr/>
        </p:nvSpPr>
        <p:spPr bwMode="auto">
          <a:xfrm>
            <a:off x="1547813" y="3297238"/>
            <a:ext cx="11541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latin typeface="Times New Roman" panose="02020603050405020304" pitchFamily="18" charset="0"/>
              </a:rPr>
              <a:t>Input</a:t>
            </a:r>
            <a:endParaRPr lang="zh-CN" altLang="en-US" b="1">
              <a:latin typeface="Times New Roman" panose="02020603050405020304" pitchFamily="18" charset="0"/>
            </a:endParaRPr>
          </a:p>
        </p:txBody>
      </p:sp>
      <p:sp>
        <p:nvSpPr>
          <p:cNvPr id="45072" name="Rectangle 16"/>
          <p:cNvSpPr>
            <a:spLocks noChangeArrowheads="1"/>
          </p:cNvSpPr>
          <p:nvPr/>
        </p:nvSpPr>
        <p:spPr bwMode="auto">
          <a:xfrm>
            <a:off x="4386263" y="3297238"/>
            <a:ext cx="18621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latin typeface="Times New Roman" panose="02020603050405020304" pitchFamily="18" charset="0"/>
              </a:rPr>
              <a:t>R</a:t>
            </a:r>
            <a:r>
              <a:rPr lang="en-US" altLang="zh-CN" sz="2400" b="1">
                <a:solidFill>
                  <a:srgbClr val="0099FF"/>
                </a:solidFill>
                <a:latin typeface="Times New Roman" panose="02020603050405020304" pitchFamily="18" charset="0"/>
              </a:rPr>
              <a:t>un</a:t>
            </a:r>
            <a:r>
              <a:rPr lang="en-US" altLang="zh-CN" b="1">
                <a:latin typeface="Times New Roman" panose="02020603050405020304" pitchFamily="18" charset="0"/>
              </a:rPr>
              <a:t>S</a:t>
            </a:r>
            <a:r>
              <a:rPr lang="en-US" altLang="zh-CN" sz="2400" b="1">
                <a:solidFill>
                  <a:srgbClr val="0099FF"/>
                </a:solidFill>
                <a:latin typeface="Times New Roman" panose="02020603050405020304" pitchFamily="18" charset="0"/>
              </a:rPr>
              <a:t>ystem</a:t>
            </a:r>
            <a:r>
              <a:rPr lang="en-US" altLang="zh-CN" sz="1800">
                <a:latin typeface="Times New Roman" panose="02020603050405020304" pitchFamily="18" charset="0"/>
              </a:rPr>
              <a:t> </a:t>
            </a:r>
            <a:endParaRPr lang="zh-CN" altLang="en-US" b="1">
              <a:solidFill>
                <a:srgbClr val="CC3300"/>
              </a:solidFill>
              <a:latin typeface="Times New Roman" panose="02020603050405020304" pitchFamily="18" charset="0"/>
            </a:endParaRPr>
          </a:p>
        </p:txBody>
      </p:sp>
      <p:sp>
        <p:nvSpPr>
          <p:cNvPr id="45073" name="Rectangle 17"/>
          <p:cNvSpPr>
            <a:spLocks noChangeArrowheads="1"/>
          </p:cNvSpPr>
          <p:nvPr/>
        </p:nvSpPr>
        <p:spPr bwMode="auto">
          <a:xfrm>
            <a:off x="4572000" y="4084638"/>
            <a:ext cx="14462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latin typeface="Times New Roman" panose="02020603050405020304" pitchFamily="18" charset="0"/>
              </a:rPr>
              <a:t>Output</a:t>
            </a:r>
            <a:endParaRPr lang="zh-CN" altLang="en-US" b="1">
              <a:latin typeface="Times New Roman" panose="02020603050405020304" pitchFamily="18" charset="0"/>
            </a:endParaRPr>
          </a:p>
        </p:txBody>
      </p:sp>
      <p:sp>
        <p:nvSpPr>
          <p:cNvPr id="45074" name="Rectangle 18"/>
          <p:cNvSpPr>
            <a:spLocks noChangeArrowheads="1"/>
          </p:cNvSpPr>
          <p:nvPr/>
        </p:nvSpPr>
        <p:spPr bwMode="auto">
          <a:xfrm>
            <a:off x="5940425" y="6308725"/>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a:latin typeface="Times New Roman" panose="02020603050405020304" pitchFamily="18" charset="0"/>
                <a:ea typeface="华文新魏" panose="02010800040101010101" pitchFamily="2" charset="-122"/>
              </a:rPr>
              <a:t>请参阅</a:t>
            </a:r>
            <a:r>
              <a:rPr lang="en-US" altLang="zh-CN" sz="2400" b="1">
                <a:latin typeface="Times New Roman" panose="02020603050405020304" pitchFamily="18" charset="0"/>
                <a:ea typeface="华文新魏" panose="02010800040101010101" pitchFamily="2" charset="-122"/>
              </a:rPr>
              <a:t>P6</a:t>
            </a:r>
            <a:r>
              <a:rPr lang="zh-CN" altLang="en-US" sz="2400" b="1">
                <a:latin typeface="Times New Roman" panose="02020603050405020304" pitchFamily="18" charset="0"/>
                <a:ea typeface="华文新魏" panose="02010800040101010101" pitchFamily="2" charset="-122"/>
              </a:rPr>
              <a:t>图1.</a:t>
            </a:r>
            <a:r>
              <a:rPr lang="en-US" altLang="zh-CN" sz="2400" b="1">
                <a:latin typeface="Times New Roman" panose="02020603050405020304" pitchFamily="18" charset="0"/>
                <a:ea typeface="华文新魏" panose="02010800040101010101" pitchFamily="2" charset="-122"/>
              </a:rPr>
              <a:t>4</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74B944-FF5A-4F5C-B7A3-174E4B9E5524}" type="datetime1">
              <a:rPr lang="zh-CN" altLang="en-US" sz="1400" smtClean="0"/>
              <a:pPr>
                <a:spcBef>
                  <a:spcPct val="0"/>
                </a:spcBef>
                <a:buClrTx/>
                <a:buSzTx/>
                <a:buFontTx/>
                <a:buNone/>
              </a:pPr>
              <a:t>2017/2/24</a:t>
            </a:fld>
            <a:endParaRPr lang="en-US" altLang="zh-CN" sz="1400" smtClean="0"/>
          </a:p>
        </p:txBody>
      </p:sp>
      <p:sp>
        <p:nvSpPr>
          <p:cNvPr id="4608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CDBE014-195C-4643-8E0A-0DA7623B8917}" type="slidenum">
              <a:rPr lang="zh-CN" altLang="en-US" sz="1400"/>
              <a:pPr>
                <a:spcBef>
                  <a:spcPct val="0"/>
                </a:spcBef>
                <a:buClrTx/>
                <a:buSzTx/>
                <a:buFontTx/>
                <a:buNone/>
              </a:pPr>
              <a:t>41</a:t>
            </a:fld>
            <a:endParaRPr lang="en-US" altLang="zh-CN" sz="1400"/>
          </a:p>
        </p:txBody>
      </p:sp>
      <p:sp>
        <p:nvSpPr>
          <p:cNvPr id="46084" name="Rectangle 2"/>
          <p:cNvSpPr>
            <a:spLocks noGrp="1" noRot="1" noChangeArrowheads="1"/>
          </p:cNvSpPr>
          <p:nvPr>
            <p:ph type="title"/>
          </p:nvPr>
        </p:nvSpPr>
        <p:spPr>
          <a:xfrm>
            <a:off x="1377950" y="549275"/>
            <a:ext cx="5210175" cy="1084263"/>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1.2  翻译系统</a:t>
            </a:r>
          </a:p>
        </p:txBody>
      </p:sp>
      <p:sp>
        <p:nvSpPr>
          <p:cNvPr id="46085" name="Rectangle 3"/>
          <p:cNvSpPr>
            <a:spLocks noGrp="1" noRot="1" noChangeArrowheads="1"/>
          </p:cNvSpPr>
          <p:nvPr>
            <p:ph type="body" idx="1"/>
          </p:nvPr>
        </p:nvSpPr>
        <p:spPr>
          <a:xfrm>
            <a:off x="323850" y="1989138"/>
            <a:ext cx="8153400" cy="4114800"/>
          </a:xfrm>
        </p:spPr>
        <p:txBody>
          <a:bodyPr/>
          <a:lstStyle/>
          <a:p>
            <a:pPr eaLnBrk="1" hangingPunct="1"/>
            <a:r>
              <a:rPr lang="zh-CN" altLang="en-US" sz="2800" b="1" smtClean="0">
                <a:latin typeface="Times New Roman" panose="02020603050405020304" pitchFamily="18" charset="0"/>
                <a:ea typeface="华文新魏" panose="02010800040101010101" pitchFamily="2" charset="-122"/>
              </a:rPr>
              <a:t>其它翻译系统</a:t>
            </a:r>
            <a:endParaRPr lang="en-US" altLang="zh-CN" sz="2800" b="1" smtClean="0">
              <a:latin typeface="Times New Roman" panose="02020603050405020304" pitchFamily="18" charset="0"/>
              <a:ea typeface="华文新魏" panose="02010800040101010101" pitchFamily="2" charset="-122"/>
            </a:endParaRPr>
          </a:p>
          <a:p>
            <a:pPr lvl="1" eaLnBrk="1" hangingPunct="1"/>
            <a:r>
              <a:rPr lang="zh-CN" altLang="en-US" b="1" smtClean="0">
                <a:latin typeface="Times New Roman" panose="02020603050405020304" pitchFamily="18" charset="0"/>
                <a:ea typeface="华文新魏" panose="02010800040101010101" pitchFamily="2" charset="-122"/>
              </a:rPr>
              <a:t>诊断编译程序</a:t>
            </a:r>
            <a:r>
              <a:rPr lang="en-US" altLang="zh-CN" b="1" smtClean="0">
                <a:latin typeface="Times New Roman" panose="02020603050405020304" pitchFamily="18" charset="0"/>
                <a:ea typeface="华文新魏" panose="02010800040101010101" pitchFamily="2" charset="-122"/>
              </a:rPr>
              <a:t>(Diagnostic Compiler)</a:t>
            </a:r>
          </a:p>
          <a:p>
            <a:pPr lvl="1" eaLnBrk="1" hangingPunct="1"/>
            <a:r>
              <a:rPr lang="zh-CN" altLang="en-US" b="1" smtClean="0">
                <a:latin typeface="Times New Roman" panose="02020603050405020304" pitchFamily="18" charset="0"/>
                <a:ea typeface="华文新魏" panose="02010800040101010101" pitchFamily="2" charset="-122"/>
              </a:rPr>
              <a:t>优化编译程序</a:t>
            </a:r>
            <a:r>
              <a:rPr lang="en-US" altLang="zh-CN" b="1" smtClean="0">
                <a:latin typeface="Times New Roman" panose="02020603050405020304" pitchFamily="18" charset="0"/>
                <a:ea typeface="华文新魏" panose="02010800040101010101" pitchFamily="2" charset="-122"/>
              </a:rPr>
              <a:t>(Optimizing Compiler)</a:t>
            </a:r>
          </a:p>
          <a:p>
            <a:pPr lvl="1" eaLnBrk="1" hangingPunct="1"/>
            <a:r>
              <a:rPr lang="zh-CN" altLang="en-US" b="1" smtClean="0">
                <a:latin typeface="Times New Roman" panose="02020603050405020304" pitchFamily="18" charset="0"/>
                <a:ea typeface="华文新魏" panose="02010800040101010101" pitchFamily="2" charset="-122"/>
              </a:rPr>
              <a:t>交叉编译程序</a:t>
            </a:r>
            <a:r>
              <a:rPr lang="en-US" altLang="zh-CN" b="1" smtClean="0">
                <a:latin typeface="Times New Roman" panose="02020603050405020304" pitchFamily="18" charset="0"/>
                <a:ea typeface="华文新魏" panose="02010800040101010101" pitchFamily="2" charset="-122"/>
              </a:rPr>
              <a:t>(Cross Compiler)</a:t>
            </a:r>
          </a:p>
          <a:p>
            <a:pPr lvl="1" eaLnBrk="1" hangingPunct="1"/>
            <a:r>
              <a:rPr lang="zh-CN" altLang="en-US" b="1" smtClean="0">
                <a:latin typeface="Times New Roman" panose="02020603050405020304" pitchFamily="18" charset="0"/>
                <a:ea typeface="华文新魏" panose="02010800040101010101" pitchFamily="2" charset="-122"/>
              </a:rPr>
              <a:t>可变目标编译程序</a:t>
            </a:r>
            <a:r>
              <a:rPr lang="en-US" altLang="zh-CN" b="1" smtClean="0">
                <a:latin typeface="Times New Roman" panose="02020603050405020304" pitchFamily="18" charset="0"/>
                <a:ea typeface="华文新魏" panose="02010800040101010101" pitchFamily="2" charset="-122"/>
              </a:rPr>
              <a:t>(Retargetable Compiler)</a:t>
            </a:r>
          </a:p>
          <a:p>
            <a:pPr lvl="1" eaLnBrk="1" hangingPunct="1"/>
            <a:r>
              <a:rPr lang="zh-CN" altLang="en-US" b="1" smtClean="0">
                <a:latin typeface="Times New Roman" panose="02020603050405020304" pitchFamily="18" charset="0"/>
                <a:ea typeface="华文新魏" panose="02010800040101010101" pitchFamily="2" charset="-122"/>
              </a:rPr>
              <a:t>并行编译程序</a:t>
            </a:r>
            <a:r>
              <a:rPr lang="en-US" altLang="zh-CN" b="1" smtClean="0">
                <a:latin typeface="Times New Roman" panose="02020603050405020304" pitchFamily="18" charset="0"/>
                <a:ea typeface="华文新魏" panose="02010800040101010101" pitchFamily="2" charset="-122"/>
              </a:rPr>
              <a:t>(Parallelizing Compiler)</a:t>
            </a:r>
          </a:p>
          <a:p>
            <a:pPr lvl="1" eaLnBrk="1" hangingPunct="1"/>
            <a:r>
              <a:rPr lang="zh-CN" altLang="en-US" b="1" smtClean="0">
                <a:latin typeface="Times New Roman" panose="02020603050405020304" pitchFamily="18" charset="0"/>
                <a:ea typeface="华文新魏" panose="02010800040101010101" pitchFamily="2" charset="-122"/>
              </a:rPr>
              <a:t>汇编程序</a:t>
            </a:r>
            <a:r>
              <a:rPr lang="en-US" altLang="zh-CN" b="1" smtClean="0">
                <a:latin typeface="Times New Roman" panose="02020603050405020304" pitchFamily="18" charset="0"/>
                <a:ea typeface="华文新魏" panose="02010800040101010101" pitchFamily="2" charset="-122"/>
              </a:rPr>
              <a:t>(Assembler)、</a:t>
            </a:r>
            <a:r>
              <a:rPr lang="zh-CN" altLang="en-US" b="1" smtClean="0">
                <a:latin typeface="Times New Roman" panose="02020603050405020304" pitchFamily="18" charset="0"/>
                <a:ea typeface="华文新魏" panose="02010800040101010101" pitchFamily="2" charset="-122"/>
              </a:rPr>
              <a:t>交叉汇编程序</a:t>
            </a:r>
            <a:r>
              <a:rPr lang="en-US" altLang="zh-CN" b="1" smtClean="0">
                <a:latin typeface="Times New Roman" panose="02020603050405020304" pitchFamily="18" charset="0"/>
                <a:ea typeface="华文新魏" panose="02010800040101010101" pitchFamily="2" charset="-122"/>
              </a:rPr>
              <a:t>(Cross Assembler)、</a:t>
            </a:r>
            <a:r>
              <a:rPr lang="zh-CN" altLang="en-US" b="1" smtClean="0">
                <a:latin typeface="Times New Roman" panose="02020603050405020304" pitchFamily="18" charset="0"/>
                <a:ea typeface="华文新魏" panose="02010800040101010101" pitchFamily="2" charset="-122"/>
              </a:rPr>
              <a:t>反汇编程序</a:t>
            </a:r>
            <a:r>
              <a:rPr lang="en-US" altLang="zh-CN" b="1" smtClean="0">
                <a:latin typeface="Times New Roman" panose="02020603050405020304" pitchFamily="18" charset="0"/>
                <a:ea typeface="华文新魏" panose="02010800040101010101" pitchFamily="2" charset="-122"/>
              </a:rPr>
              <a:t>(Disassembler)</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798CA90-BA52-43B9-882D-072FEBDCE7B4}" type="datetime1">
              <a:rPr lang="zh-CN" altLang="en-US" sz="1400" smtClean="0"/>
              <a:pPr>
                <a:spcBef>
                  <a:spcPct val="0"/>
                </a:spcBef>
                <a:buClrTx/>
                <a:buSzTx/>
                <a:buFontTx/>
                <a:buNone/>
              </a:pPr>
              <a:t>2017/2/24</a:t>
            </a:fld>
            <a:endParaRPr lang="en-US" altLang="zh-CN" sz="1400" smtClean="0"/>
          </a:p>
        </p:txBody>
      </p:sp>
      <p:sp>
        <p:nvSpPr>
          <p:cNvPr id="4710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8B33388-10E7-4D38-A159-B48CD4C79B20}" type="slidenum">
              <a:rPr lang="zh-CN" altLang="en-US" sz="1400"/>
              <a:pPr>
                <a:spcBef>
                  <a:spcPct val="0"/>
                </a:spcBef>
                <a:buClrTx/>
                <a:buSzTx/>
                <a:buFontTx/>
                <a:buNone/>
              </a:pPr>
              <a:t>42</a:t>
            </a:fld>
            <a:endParaRPr lang="en-US" altLang="zh-CN" sz="1400"/>
          </a:p>
        </p:txBody>
      </p:sp>
      <p:sp>
        <p:nvSpPr>
          <p:cNvPr id="47108" name="Rectangle 2"/>
          <p:cNvSpPr>
            <a:spLocks noGrp="1" noRot="1" noChangeArrowheads="1"/>
          </p:cNvSpPr>
          <p:nvPr>
            <p:ph type="title"/>
          </p:nvPr>
        </p:nvSpPr>
        <p:spPr>
          <a:xfrm>
            <a:off x="179388" y="404813"/>
            <a:ext cx="8172450" cy="836612"/>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1.2 翻译系统</a:t>
            </a:r>
            <a:r>
              <a:rPr lang="zh-CN" altLang="en-US" sz="2800" b="1" smtClean="0">
                <a:solidFill>
                  <a:srgbClr val="000099"/>
                </a:solidFill>
                <a:latin typeface="Times New Roman" panose="02020603050405020304" pitchFamily="18" charset="0"/>
                <a:ea typeface="华文新魏" panose="02010800040101010101" pitchFamily="2" charset="-122"/>
              </a:rPr>
              <a:t>—汇总</a:t>
            </a:r>
          </a:p>
        </p:txBody>
      </p:sp>
      <p:sp>
        <p:nvSpPr>
          <p:cNvPr id="47109" name="Line 3"/>
          <p:cNvSpPr>
            <a:spLocks noChangeShapeType="1"/>
          </p:cNvSpPr>
          <p:nvPr/>
        </p:nvSpPr>
        <p:spPr bwMode="auto">
          <a:xfrm flipV="1">
            <a:off x="1122363" y="1930400"/>
            <a:ext cx="863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0" name="Line 4"/>
          <p:cNvSpPr>
            <a:spLocks noChangeShapeType="1"/>
          </p:cNvSpPr>
          <p:nvPr/>
        </p:nvSpPr>
        <p:spPr bwMode="auto">
          <a:xfrm flipV="1">
            <a:off x="977900" y="4019550"/>
            <a:ext cx="12969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1" name="Line 5"/>
          <p:cNvSpPr>
            <a:spLocks noChangeShapeType="1"/>
          </p:cNvSpPr>
          <p:nvPr/>
        </p:nvSpPr>
        <p:spPr bwMode="auto">
          <a:xfrm flipV="1">
            <a:off x="906463" y="6021388"/>
            <a:ext cx="1035050" cy="142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2" name="Line 6"/>
          <p:cNvSpPr>
            <a:spLocks noChangeShapeType="1"/>
          </p:cNvSpPr>
          <p:nvPr/>
        </p:nvSpPr>
        <p:spPr bwMode="auto">
          <a:xfrm>
            <a:off x="2779713" y="6021388"/>
            <a:ext cx="1066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3" name="Line 7"/>
          <p:cNvSpPr>
            <a:spLocks noChangeShapeType="1"/>
          </p:cNvSpPr>
          <p:nvPr/>
        </p:nvSpPr>
        <p:spPr bwMode="auto">
          <a:xfrm>
            <a:off x="4672013" y="5084763"/>
            <a:ext cx="0" cy="838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4" name="AutoShape 8"/>
          <p:cNvSpPr>
            <a:spLocks noChangeArrowheads="1"/>
          </p:cNvSpPr>
          <p:nvPr/>
        </p:nvSpPr>
        <p:spPr bwMode="auto">
          <a:xfrm>
            <a:off x="5535613" y="5948363"/>
            <a:ext cx="1066800" cy="152400"/>
          </a:xfrm>
          <a:prstGeom prst="rightArrow">
            <a:avLst>
              <a:gd name="adj1" fmla="val 50000"/>
              <a:gd name="adj2" fmla="val 175000"/>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7115" name="Freeform 9"/>
          <p:cNvSpPr>
            <a:spLocks/>
          </p:cNvSpPr>
          <p:nvPr/>
        </p:nvSpPr>
        <p:spPr bwMode="auto">
          <a:xfrm>
            <a:off x="1484313" y="2032000"/>
            <a:ext cx="762000" cy="838200"/>
          </a:xfrm>
          <a:custGeom>
            <a:avLst/>
            <a:gdLst>
              <a:gd name="T0" fmla="*/ 1209675000 w 480"/>
              <a:gd name="T1" fmla="*/ 0 h 528"/>
              <a:gd name="T2" fmla="*/ 362902500 w 480"/>
              <a:gd name="T3" fmla="*/ 483870000 h 528"/>
              <a:gd name="T4" fmla="*/ 0 w 480"/>
              <a:gd name="T5" fmla="*/ 1330642500 h 528"/>
              <a:gd name="T6" fmla="*/ 0 60000 65536"/>
              <a:gd name="T7" fmla="*/ 0 60000 65536"/>
              <a:gd name="T8" fmla="*/ 0 60000 65536"/>
            </a:gdLst>
            <a:ahLst/>
            <a:cxnLst>
              <a:cxn ang="T6">
                <a:pos x="T0" y="T1"/>
              </a:cxn>
              <a:cxn ang="T7">
                <a:pos x="T2" y="T3"/>
              </a:cxn>
              <a:cxn ang="T8">
                <a:pos x="T4" y="T5"/>
              </a:cxn>
            </a:cxnLst>
            <a:rect l="0" t="0" r="r" b="b"/>
            <a:pathLst>
              <a:path w="480" h="528">
                <a:moveTo>
                  <a:pt x="480" y="0"/>
                </a:moveTo>
                <a:cubicBezTo>
                  <a:pt x="352" y="52"/>
                  <a:pt x="224" y="104"/>
                  <a:pt x="144" y="192"/>
                </a:cubicBezTo>
                <a:cubicBezTo>
                  <a:pt x="64" y="280"/>
                  <a:pt x="32" y="404"/>
                  <a:pt x="0" y="528"/>
                </a:cubicBezTo>
              </a:path>
            </a:pathLst>
          </a:custGeom>
          <a:noFill/>
          <a:ln w="381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6" name="Freeform 10"/>
          <p:cNvSpPr>
            <a:spLocks/>
          </p:cNvSpPr>
          <p:nvPr/>
        </p:nvSpPr>
        <p:spPr bwMode="auto">
          <a:xfrm>
            <a:off x="1484313" y="3175000"/>
            <a:ext cx="762000" cy="838200"/>
          </a:xfrm>
          <a:custGeom>
            <a:avLst/>
            <a:gdLst>
              <a:gd name="T0" fmla="*/ 0 w 384"/>
              <a:gd name="T1" fmla="*/ 0 h 528"/>
              <a:gd name="T2" fmla="*/ 189011719 w 384"/>
              <a:gd name="T3" fmla="*/ 604837500 h 528"/>
              <a:gd name="T4" fmla="*/ 567035156 w 384"/>
              <a:gd name="T5" fmla="*/ 967740000 h 528"/>
              <a:gd name="T6" fmla="*/ 1512093750 w 384"/>
              <a:gd name="T7" fmla="*/ 1330642500 h 5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528">
                <a:moveTo>
                  <a:pt x="0" y="0"/>
                </a:moveTo>
                <a:cubicBezTo>
                  <a:pt x="12" y="88"/>
                  <a:pt x="24" y="176"/>
                  <a:pt x="48" y="240"/>
                </a:cubicBezTo>
                <a:cubicBezTo>
                  <a:pt x="72" y="304"/>
                  <a:pt x="88" y="336"/>
                  <a:pt x="144" y="384"/>
                </a:cubicBezTo>
                <a:cubicBezTo>
                  <a:pt x="200" y="432"/>
                  <a:pt x="344" y="472"/>
                  <a:pt x="384" y="528"/>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7" name="Freeform 11"/>
          <p:cNvSpPr>
            <a:spLocks/>
          </p:cNvSpPr>
          <p:nvPr/>
        </p:nvSpPr>
        <p:spPr bwMode="auto">
          <a:xfrm>
            <a:off x="2627313" y="2032000"/>
            <a:ext cx="914400" cy="914400"/>
          </a:xfrm>
          <a:custGeom>
            <a:avLst/>
            <a:gdLst>
              <a:gd name="T0" fmla="*/ 0 w 576"/>
              <a:gd name="T1" fmla="*/ 0 h 576"/>
              <a:gd name="T2" fmla="*/ 846772500 w 576"/>
              <a:gd name="T3" fmla="*/ 362902500 h 576"/>
              <a:gd name="T4" fmla="*/ 1330642500 w 576"/>
              <a:gd name="T5" fmla="*/ 967740000 h 576"/>
              <a:gd name="T6" fmla="*/ 1451610000 w 576"/>
              <a:gd name="T7" fmla="*/ 1451610000 h 5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6" h="576">
                <a:moveTo>
                  <a:pt x="0" y="0"/>
                </a:moveTo>
                <a:cubicBezTo>
                  <a:pt x="124" y="40"/>
                  <a:pt x="248" y="80"/>
                  <a:pt x="336" y="144"/>
                </a:cubicBezTo>
                <a:cubicBezTo>
                  <a:pt x="424" y="208"/>
                  <a:pt x="488" y="312"/>
                  <a:pt x="528" y="384"/>
                </a:cubicBezTo>
                <a:cubicBezTo>
                  <a:pt x="568" y="456"/>
                  <a:pt x="572" y="516"/>
                  <a:pt x="576" y="576"/>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8" name="Line 12"/>
          <p:cNvSpPr>
            <a:spLocks noChangeShapeType="1"/>
          </p:cNvSpPr>
          <p:nvPr/>
        </p:nvSpPr>
        <p:spPr bwMode="auto">
          <a:xfrm flipV="1">
            <a:off x="2439988" y="4076700"/>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19" name="Line 13"/>
          <p:cNvSpPr>
            <a:spLocks noChangeShapeType="1"/>
          </p:cNvSpPr>
          <p:nvPr/>
        </p:nvSpPr>
        <p:spPr bwMode="auto">
          <a:xfrm flipV="1">
            <a:off x="2439988" y="5229225"/>
            <a:ext cx="0" cy="762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20" name="Line 14"/>
          <p:cNvSpPr>
            <a:spLocks noChangeShapeType="1"/>
          </p:cNvSpPr>
          <p:nvPr/>
        </p:nvSpPr>
        <p:spPr bwMode="auto">
          <a:xfrm flipH="1" flipV="1">
            <a:off x="4938713" y="3227388"/>
            <a:ext cx="1289050" cy="590550"/>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21" name="Line 15"/>
          <p:cNvSpPr>
            <a:spLocks noChangeShapeType="1"/>
          </p:cNvSpPr>
          <p:nvPr/>
        </p:nvSpPr>
        <p:spPr bwMode="auto">
          <a:xfrm flipH="1" flipV="1">
            <a:off x="1865313" y="3175000"/>
            <a:ext cx="3498850" cy="569913"/>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22" name="Line 16"/>
          <p:cNvSpPr>
            <a:spLocks noChangeShapeType="1"/>
          </p:cNvSpPr>
          <p:nvPr/>
        </p:nvSpPr>
        <p:spPr bwMode="auto">
          <a:xfrm flipH="1">
            <a:off x="3008313" y="4392613"/>
            <a:ext cx="2355850" cy="687387"/>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23" name="Line 17"/>
          <p:cNvSpPr>
            <a:spLocks noChangeShapeType="1"/>
          </p:cNvSpPr>
          <p:nvPr/>
        </p:nvSpPr>
        <p:spPr bwMode="auto">
          <a:xfrm flipH="1">
            <a:off x="4938713" y="4392613"/>
            <a:ext cx="1217612" cy="1498600"/>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24" name="Rectangle 18"/>
          <p:cNvSpPr>
            <a:spLocks noChangeArrowheads="1"/>
          </p:cNvSpPr>
          <p:nvPr/>
        </p:nvSpPr>
        <p:spPr bwMode="auto">
          <a:xfrm>
            <a:off x="4408488" y="1628775"/>
            <a:ext cx="2014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b="1">
                <a:solidFill>
                  <a:srgbClr val="CC0066"/>
                </a:solidFill>
                <a:latin typeface="Times New Roman" panose="02020603050405020304" pitchFamily="18" charset="0"/>
                <a:ea typeface="华文新魏" panose="02010800040101010101" pitchFamily="2" charset="-122"/>
              </a:rPr>
              <a:t>Run System</a:t>
            </a:r>
          </a:p>
        </p:txBody>
      </p:sp>
      <p:sp>
        <p:nvSpPr>
          <p:cNvPr id="47125" name="Line 19"/>
          <p:cNvSpPr>
            <a:spLocks noChangeShapeType="1"/>
          </p:cNvSpPr>
          <p:nvPr/>
        </p:nvSpPr>
        <p:spPr bwMode="auto">
          <a:xfrm>
            <a:off x="2776538" y="1916113"/>
            <a:ext cx="1728787" cy="0"/>
          </a:xfrm>
          <a:prstGeom prst="line">
            <a:avLst/>
          </a:prstGeom>
          <a:noFill/>
          <a:ln w="38100">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6" name="Rectangle 20"/>
          <p:cNvSpPr>
            <a:spLocks noChangeArrowheads="1"/>
          </p:cNvSpPr>
          <p:nvPr/>
        </p:nvSpPr>
        <p:spPr bwMode="auto">
          <a:xfrm>
            <a:off x="4937125" y="2347913"/>
            <a:ext cx="915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solidFill>
                  <a:srgbClr val="CC0066"/>
                </a:solidFill>
                <a:latin typeface="Times New Roman" panose="02020603050405020304" pitchFamily="18" charset="0"/>
                <a:ea typeface="华文新魏" panose="02010800040101010101" pitchFamily="2" charset="-122"/>
              </a:rPr>
              <a:t>Data</a:t>
            </a:r>
          </a:p>
        </p:txBody>
      </p:sp>
      <p:sp>
        <p:nvSpPr>
          <p:cNvPr id="47127" name="Line 21"/>
          <p:cNvSpPr>
            <a:spLocks noChangeShapeType="1"/>
          </p:cNvSpPr>
          <p:nvPr/>
        </p:nvSpPr>
        <p:spPr bwMode="auto">
          <a:xfrm flipV="1">
            <a:off x="5368925" y="2060575"/>
            <a:ext cx="0" cy="360363"/>
          </a:xfrm>
          <a:prstGeom prst="line">
            <a:avLst/>
          </a:prstGeom>
          <a:noFill/>
          <a:ln w="38100">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8" name="AutoShape 22"/>
          <p:cNvSpPr>
            <a:spLocks noChangeArrowheads="1"/>
          </p:cNvSpPr>
          <p:nvPr/>
        </p:nvSpPr>
        <p:spPr bwMode="auto">
          <a:xfrm>
            <a:off x="6305550" y="1844675"/>
            <a:ext cx="863600" cy="215900"/>
          </a:xfrm>
          <a:prstGeom prst="rightArrow">
            <a:avLst>
              <a:gd name="adj1" fmla="val 50000"/>
              <a:gd name="adj2" fmla="val 100000"/>
            </a:avLst>
          </a:prstGeom>
          <a:solidFill>
            <a:schemeClr val="accent1"/>
          </a:solidFill>
          <a:ln w="9525">
            <a:solidFill>
              <a:srgbClr val="CC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2800">
              <a:latin typeface="Times New Roman" panose="02020603050405020304" pitchFamily="18" charset="0"/>
            </a:endParaRPr>
          </a:p>
        </p:txBody>
      </p:sp>
      <p:sp>
        <p:nvSpPr>
          <p:cNvPr id="47129" name="Rectangle 23"/>
          <p:cNvSpPr>
            <a:spLocks noChangeArrowheads="1"/>
          </p:cNvSpPr>
          <p:nvPr/>
        </p:nvSpPr>
        <p:spPr bwMode="auto">
          <a:xfrm>
            <a:off x="7026275" y="1674813"/>
            <a:ext cx="1152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solidFill>
                  <a:srgbClr val="CC0066"/>
                </a:solidFill>
                <a:latin typeface="Times New Roman" panose="02020603050405020304" pitchFamily="18" charset="0"/>
                <a:ea typeface="华文新魏" panose="02010800040101010101" pitchFamily="2" charset="-122"/>
              </a:rPr>
              <a:t>Result</a:t>
            </a:r>
            <a:endParaRPr lang="zh-CN" altLang="en-US" sz="2800" b="1">
              <a:solidFill>
                <a:srgbClr val="CC0066"/>
              </a:solidFill>
              <a:latin typeface="Times New Roman" panose="02020603050405020304" pitchFamily="18" charset="0"/>
              <a:ea typeface="华文新魏" panose="02010800040101010101" pitchFamily="2" charset="-122"/>
            </a:endParaRPr>
          </a:p>
        </p:txBody>
      </p:sp>
      <p:sp>
        <p:nvSpPr>
          <p:cNvPr id="47130" name="Rectangle 24"/>
          <p:cNvSpPr>
            <a:spLocks noChangeArrowheads="1"/>
          </p:cNvSpPr>
          <p:nvPr/>
        </p:nvSpPr>
        <p:spPr bwMode="auto">
          <a:xfrm>
            <a:off x="481013" y="1643063"/>
            <a:ext cx="755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ML</a:t>
            </a:r>
            <a:endParaRPr lang="zh-CN" altLang="en-US" sz="2800" b="1">
              <a:latin typeface="Times New Roman" panose="02020603050405020304" pitchFamily="18" charset="0"/>
            </a:endParaRPr>
          </a:p>
        </p:txBody>
      </p:sp>
      <p:sp>
        <p:nvSpPr>
          <p:cNvPr id="47131" name="Rectangle 25"/>
          <p:cNvSpPr>
            <a:spLocks noChangeArrowheads="1"/>
          </p:cNvSpPr>
          <p:nvPr/>
        </p:nvSpPr>
        <p:spPr bwMode="auto">
          <a:xfrm>
            <a:off x="1884363" y="1643063"/>
            <a:ext cx="973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SzPct val="60000"/>
              <a:buFont typeface="Wingdings" panose="05000000000000000000" pitchFamily="2" charset="2"/>
              <a:buNone/>
            </a:pPr>
            <a:r>
              <a:rPr lang="en-US" altLang="zh-CN" sz="2800" b="1">
                <a:solidFill>
                  <a:srgbClr val="000099"/>
                </a:solidFill>
                <a:latin typeface="Times New Roman" panose="02020603050405020304" pitchFamily="18" charset="0"/>
              </a:rPr>
              <a:t>MLP</a:t>
            </a:r>
          </a:p>
        </p:txBody>
      </p:sp>
      <p:sp>
        <p:nvSpPr>
          <p:cNvPr id="47132" name="Rectangle 26"/>
          <p:cNvSpPr>
            <a:spLocks noChangeArrowheads="1"/>
          </p:cNvSpPr>
          <p:nvPr/>
        </p:nvSpPr>
        <p:spPr bwMode="auto">
          <a:xfrm>
            <a:off x="708025" y="2795588"/>
            <a:ext cx="17827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Assembler</a:t>
            </a:r>
            <a:endParaRPr lang="zh-CN" altLang="en-US" sz="2800" b="1">
              <a:latin typeface="Times New Roman" panose="02020603050405020304" pitchFamily="18" charset="0"/>
            </a:endParaRPr>
          </a:p>
        </p:txBody>
      </p:sp>
      <p:sp>
        <p:nvSpPr>
          <p:cNvPr id="47133" name="Rectangle 27"/>
          <p:cNvSpPr>
            <a:spLocks noChangeArrowheads="1"/>
          </p:cNvSpPr>
          <p:nvPr/>
        </p:nvSpPr>
        <p:spPr bwMode="auto">
          <a:xfrm>
            <a:off x="2778125" y="2779713"/>
            <a:ext cx="2197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Disassembler</a:t>
            </a:r>
            <a:endParaRPr lang="zh-CN" altLang="en-US" sz="2800" b="1">
              <a:latin typeface="Times New Roman" panose="02020603050405020304" pitchFamily="18" charset="0"/>
            </a:endParaRPr>
          </a:p>
        </p:txBody>
      </p:sp>
      <p:sp>
        <p:nvSpPr>
          <p:cNvPr id="47134" name="Freeform 28"/>
          <p:cNvSpPr>
            <a:spLocks/>
          </p:cNvSpPr>
          <p:nvPr/>
        </p:nvSpPr>
        <p:spPr bwMode="auto">
          <a:xfrm>
            <a:off x="2922588" y="3370263"/>
            <a:ext cx="576262" cy="649287"/>
          </a:xfrm>
          <a:custGeom>
            <a:avLst/>
            <a:gdLst>
              <a:gd name="T0" fmla="*/ 1047564330 w 317"/>
              <a:gd name="T1" fmla="*/ 0 h 409"/>
              <a:gd name="T2" fmla="*/ 746844641 w 317"/>
              <a:gd name="T3" fmla="*/ 688001333 h 409"/>
              <a:gd name="T4" fmla="*/ 0 w 317"/>
              <a:gd name="T5" fmla="*/ 1030742319 h 409"/>
              <a:gd name="T6" fmla="*/ 0 60000 65536"/>
              <a:gd name="T7" fmla="*/ 0 60000 65536"/>
              <a:gd name="T8" fmla="*/ 0 60000 65536"/>
            </a:gdLst>
            <a:ahLst/>
            <a:cxnLst>
              <a:cxn ang="T6">
                <a:pos x="T0" y="T1"/>
              </a:cxn>
              <a:cxn ang="T7">
                <a:pos x="T2" y="T3"/>
              </a:cxn>
              <a:cxn ang="T8">
                <a:pos x="T4" y="T5"/>
              </a:cxn>
            </a:cxnLst>
            <a:rect l="0" t="0" r="r" b="b"/>
            <a:pathLst>
              <a:path w="317" h="409">
                <a:moveTo>
                  <a:pt x="317" y="0"/>
                </a:moveTo>
                <a:cubicBezTo>
                  <a:pt x="298" y="102"/>
                  <a:pt x="279" y="205"/>
                  <a:pt x="226" y="273"/>
                </a:cubicBezTo>
                <a:cubicBezTo>
                  <a:pt x="173" y="341"/>
                  <a:pt x="86" y="375"/>
                  <a:pt x="0" y="409"/>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35" name="Rectangle 29"/>
          <p:cNvSpPr>
            <a:spLocks noChangeArrowheads="1"/>
          </p:cNvSpPr>
          <p:nvPr/>
        </p:nvSpPr>
        <p:spPr bwMode="auto">
          <a:xfrm>
            <a:off x="342900" y="3716338"/>
            <a:ext cx="6778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AL</a:t>
            </a:r>
            <a:endParaRPr lang="zh-CN" altLang="en-US" sz="2800" b="1">
              <a:latin typeface="Times New Roman" panose="02020603050405020304" pitchFamily="18" charset="0"/>
            </a:endParaRPr>
          </a:p>
        </p:txBody>
      </p:sp>
      <p:sp>
        <p:nvSpPr>
          <p:cNvPr id="47136" name="Rectangle 30"/>
          <p:cNvSpPr>
            <a:spLocks noChangeArrowheads="1"/>
          </p:cNvSpPr>
          <p:nvPr/>
        </p:nvSpPr>
        <p:spPr bwMode="auto">
          <a:xfrm>
            <a:off x="2171700" y="3730625"/>
            <a:ext cx="895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solidFill>
                  <a:srgbClr val="000099"/>
                </a:solidFill>
                <a:latin typeface="Times New Roman" panose="02020603050405020304" pitchFamily="18" charset="0"/>
              </a:rPr>
              <a:t>ALP</a:t>
            </a:r>
            <a:endParaRPr lang="zh-CN" altLang="en-US" sz="2800" b="1">
              <a:solidFill>
                <a:srgbClr val="000099"/>
              </a:solidFill>
              <a:latin typeface="Times New Roman" panose="02020603050405020304" pitchFamily="18" charset="0"/>
            </a:endParaRPr>
          </a:p>
        </p:txBody>
      </p:sp>
      <p:sp>
        <p:nvSpPr>
          <p:cNvPr id="47137" name="Rectangle 31"/>
          <p:cNvSpPr>
            <a:spLocks noChangeArrowheads="1"/>
          </p:cNvSpPr>
          <p:nvPr/>
        </p:nvSpPr>
        <p:spPr bwMode="auto">
          <a:xfrm>
            <a:off x="5364163" y="3803650"/>
            <a:ext cx="1851025" cy="547688"/>
          </a:xfrm>
          <a:prstGeom prst="rect">
            <a:avLst/>
          </a:prstGeom>
          <a:noFill/>
          <a:ln w="2857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Translator</a:t>
            </a:r>
            <a:endParaRPr lang="zh-CN" altLang="en-US" sz="2800" b="1">
              <a:latin typeface="Times New Roman" panose="02020603050405020304" pitchFamily="18" charset="0"/>
            </a:endParaRPr>
          </a:p>
        </p:txBody>
      </p:sp>
      <p:sp>
        <p:nvSpPr>
          <p:cNvPr id="47138" name="Rectangle 32"/>
          <p:cNvSpPr>
            <a:spLocks noChangeArrowheads="1"/>
          </p:cNvSpPr>
          <p:nvPr/>
        </p:nvSpPr>
        <p:spPr bwMode="auto">
          <a:xfrm>
            <a:off x="1489075" y="4733925"/>
            <a:ext cx="162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Compiler</a:t>
            </a:r>
            <a:endParaRPr lang="zh-CN" altLang="en-US" sz="2800" b="1">
              <a:latin typeface="Times New Roman" panose="02020603050405020304" pitchFamily="18" charset="0"/>
            </a:endParaRPr>
          </a:p>
        </p:txBody>
      </p:sp>
      <p:sp>
        <p:nvSpPr>
          <p:cNvPr id="47139" name="Rectangle 33"/>
          <p:cNvSpPr>
            <a:spLocks noChangeArrowheads="1"/>
          </p:cNvSpPr>
          <p:nvPr/>
        </p:nvSpPr>
        <p:spPr bwMode="auto">
          <a:xfrm>
            <a:off x="4260850" y="4738688"/>
            <a:ext cx="915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Data</a:t>
            </a:r>
            <a:endParaRPr lang="zh-CN" altLang="en-US" sz="2800" b="1">
              <a:latin typeface="Times New Roman" panose="02020603050405020304" pitchFamily="18" charset="0"/>
            </a:endParaRPr>
          </a:p>
        </p:txBody>
      </p:sp>
      <p:sp>
        <p:nvSpPr>
          <p:cNvPr id="47140" name="Rectangle 34"/>
          <p:cNvSpPr>
            <a:spLocks noChangeArrowheads="1"/>
          </p:cNvSpPr>
          <p:nvPr/>
        </p:nvSpPr>
        <p:spPr bwMode="auto">
          <a:xfrm>
            <a:off x="323850" y="5746750"/>
            <a:ext cx="6969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HL</a:t>
            </a:r>
            <a:endParaRPr lang="zh-CN" altLang="en-US" sz="2800" b="1">
              <a:latin typeface="Times New Roman" panose="02020603050405020304" pitchFamily="18" charset="0"/>
            </a:endParaRPr>
          </a:p>
        </p:txBody>
      </p:sp>
      <p:sp>
        <p:nvSpPr>
          <p:cNvPr id="47141" name="Rectangle 35"/>
          <p:cNvSpPr>
            <a:spLocks noChangeArrowheads="1"/>
          </p:cNvSpPr>
          <p:nvPr/>
        </p:nvSpPr>
        <p:spPr bwMode="auto">
          <a:xfrm>
            <a:off x="1884363" y="5746750"/>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solidFill>
                  <a:srgbClr val="000099"/>
                </a:solidFill>
                <a:latin typeface="Times New Roman" panose="02020603050405020304" pitchFamily="18" charset="0"/>
              </a:rPr>
              <a:t>HLP</a:t>
            </a:r>
            <a:endParaRPr lang="zh-CN" altLang="en-US" sz="2800" b="1">
              <a:solidFill>
                <a:srgbClr val="000099"/>
              </a:solidFill>
              <a:latin typeface="Times New Roman" panose="02020603050405020304" pitchFamily="18" charset="0"/>
            </a:endParaRPr>
          </a:p>
        </p:txBody>
      </p:sp>
      <p:sp>
        <p:nvSpPr>
          <p:cNvPr id="47142" name="Rectangle 36"/>
          <p:cNvSpPr>
            <a:spLocks noChangeArrowheads="1"/>
          </p:cNvSpPr>
          <p:nvPr/>
        </p:nvSpPr>
        <p:spPr bwMode="auto">
          <a:xfrm>
            <a:off x="3684588" y="5746750"/>
            <a:ext cx="19002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Interpreter</a:t>
            </a:r>
            <a:endParaRPr lang="zh-CN" altLang="en-US" sz="2800" b="1">
              <a:latin typeface="Times New Roman" panose="02020603050405020304" pitchFamily="18" charset="0"/>
            </a:endParaRPr>
          </a:p>
        </p:txBody>
      </p:sp>
      <p:sp>
        <p:nvSpPr>
          <p:cNvPr id="47143" name="Rectangle 37"/>
          <p:cNvSpPr>
            <a:spLocks noChangeArrowheads="1"/>
          </p:cNvSpPr>
          <p:nvPr/>
        </p:nvSpPr>
        <p:spPr bwMode="auto">
          <a:xfrm>
            <a:off x="6642100" y="5746750"/>
            <a:ext cx="1152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Result</a:t>
            </a:r>
            <a:endParaRPr lang="zh-CN" altLang="en-US" sz="2800" b="1">
              <a:latin typeface="Times New Roman" panose="02020603050405020304" pitchFamily="18" charset="0"/>
            </a:endParaRPr>
          </a:p>
        </p:txBody>
      </p:sp>
      <p:sp>
        <p:nvSpPr>
          <p:cNvPr id="47144" name="Freeform 38"/>
          <p:cNvSpPr>
            <a:spLocks/>
          </p:cNvSpPr>
          <p:nvPr/>
        </p:nvSpPr>
        <p:spPr bwMode="auto">
          <a:xfrm flipH="1">
            <a:off x="690563" y="1930400"/>
            <a:ext cx="1800225" cy="2952750"/>
          </a:xfrm>
          <a:custGeom>
            <a:avLst/>
            <a:gdLst>
              <a:gd name="T0" fmla="*/ 0 w 1089"/>
              <a:gd name="T1" fmla="*/ 2147483646 h 1860"/>
              <a:gd name="T2" fmla="*/ 2147483646 w 1089"/>
              <a:gd name="T3" fmla="*/ 2147483646 h 1860"/>
              <a:gd name="T4" fmla="*/ 2147483646 w 1089"/>
              <a:gd name="T5" fmla="*/ 1486892188 h 1860"/>
              <a:gd name="T6" fmla="*/ 743304472 w 1089"/>
              <a:gd name="T7" fmla="*/ 0 h 18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1860">
                <a:moveTo>
                  <a:pt x="0" y="1860"/>
                </a:moveTo>
                <a:cubicBezTo>
                  <a:pt x="325" y="1671"/>
                  <a:pt x="651" y="1482"/>
                  <a:pt x="817" y="1270"/>
                </a:cubicBezTo>
                <a:cubicBezTo>
                  <a:pt x="983" y="1058"/>
                  <a:pt x="1089" y="802"/>
                  <a:pt x="998" y="590"/>
                </a:cubicBezTo>
                <a:cubicBezTo>
                  <a:pt x="907" y="378"/>
                  <a:pt x="423" y="136"/>
                  <a:pt x="272" y="0"/>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47145" name="Text Box 39"/>
          <p:cNvSpPr txBox="1">
            <a:spLocks noChangeArrowheads="1"/>
          </p:cNvSpPr>
          <p:nvPr/>
        </p:nvSpPr>
        <p:spPr bwMode="auto">
          <a:xfrm>
            <a:off x="7380288" y="3068638"/>
            <a:ext cx="1608137" cy="201771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800" b="1">
                <a:solidFill>
                  <a:schemeClr val="bg1"/>
                </a:solidFill>
                <a:latin typeface="Times New Roman" panose="02020603050405020304" pitchFamily="18" charset="0"/>
              </a:rPr>
              <a:t>M-Machine</a:t>
            </a:r>
          </a:p>
          <a:p>
            <a:pPr eaLnBrk="1" hangingPunct="1">
              <a:spcBef>
                <a:spcPct val="50000"/>
              </a:spcBef>
              <a:buClrTx/>
              <a:buSzTx/>
              <a:buFontTx/>
              <a:buNone/>
            </a:pPr>
            <a:r>
              <a:rPr lang="en-US" altLang="zh-CN" sz="1800" b="1">
                <a:solidFill>
                  <a:schemeClr val="bg1"/>
                </a:solidFill>
                <a:latin typeface="Times New Roman" panose="02020603050405020304" pitchFamily="18" charset="0"/>
              </a:rPr>
              <a:t>L-Languge</a:t>
            </a:r>
          </a:p>
          <a:p>
            <a:pPr eaLnBrk="1" hangingPunct="1">
              <a:spcBef>
                <a:spcPct val="50000"/>
              </a:spcBef>
              <a:buClrTx/>
              <a:buSzTx/>
              <a:buFontTx/>
              <a:buNone/>
            </a:pPr>
            <a:r>
              <a:rPr lang="en-US" altLang="zh-CN" sz="1800" b="1">
                <a:solidFill>
                  <a:schemeClr val="bg1"/>
                </a:solidFill>
                <a:latin typeface="Times New Roman" panose="02020603050405020304" pitchFamily="18" charset="0"/>
              </a:rPr>
              <a:t>P-Program</a:t>
            </a:r>
          </a:p>
          <a:p>
            <a:pPr eaLnBrk="1" hangingPunct="1">
              <a:spcBef>
                <a:spcPct val="50000"/>
              </a:spcBef>
              <a:buClrTx/>
              <a:buSzTx/>
              <a:buFontTx/>
              <a:buNone/>
            </a:pPr>
            <a:r>
              <a:rPr lang="en-US" altLang="zh-CN" sz="1800" b="1">
                <a:solidFill>
                  <a:schemeClr val="bg1"/>
                </a:solidFill>
                <a:latin typeface="Times New Roman" panose="02020603050405020304" pitchFamily="18" charset="0"/>
              </a:rPr>
              <a:t>A-Assemble</a:t>
            </a:r>
          </a:p>
          <a:p>
            <a:pPr eaLnBrk="1" hangingPunct="1">
              <a:spcBef>
                <a:spcPct val="50000"/>
              </a:spcBef>
              <a:buClrTx/>
              <a:buSzTx/>
              <a:buFontTx/>
              <a:buNone/>
            </a:pPr>
            <a:r>
              <a:rPr lang="en-US" altLang="zh-CN" sz="1800" b="1">
                <a:solidFill>
                  <a:schemeClr val="bg1"/>
                </a:solidFill>
                <a:latin typeface="Times New Roman" panose="02020603050405020304" pitchFamily="18" charset="0"/>
              </a:rPr>
              <a:t>H-High Level</a:t>
            </a:r>
          </a:p>
        </p:txBody>
      </p:sp>
      <p:sp>
        <p:nvSpPr>
          <p:cNvPr id="47146" name="Rectangle 40"/>
          <p:cNvSpPr>
            <a:spLocks noChangeArrowheads="1"/>
          </p:cNvSpPr>
          <p:nvPr/>
        </p:nvSpPr>
        <p:spPr bwMode="auto">
          <a:xfrm>
            <a:off x="3851275" y="6375400"/>
            <a:ext cx="2305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latin typeface="Times New Roman" panose="02020603050405020304" pitchFamily="18" charset="0"/>
                <a:ea typeface="华文新魏" panose="02010800040101010101" pitchFamily="2" charset="-122"/>
              </a:rPr>
              <a:t>请参阅</a:t>
            </a:r>
            <a:r>
              <a:rPr lang="en-US" altLang="zh-CN" sz="1800" b="1">
                <a:latin typeface="Times New Roman" panose="02020603050405020304" pitchFamily="18" charset="0"/>
                <a:ea typeface="华文新魏" panose="02010800040101010101" pitchFamily="2" charset="-122"/>
              </a:rPr>
              <a:t>P7</a:t>
            </a:r>
            <a:r>
              <a:rPr lang="zh-CN" altLang="en-US" sz="1800" b="1">
                <a:latin typeface="Times New Roman" panose="02020603050405020304" pitchFamily="18" charset="0"/>
                <a:ea typeface="华文新魏" panose="02010800040101010101" pitchFamily="2" charset="-122"/>
              </a:rPr>
              <a:t>图1.</a:t>
            </a:r>
            <a:r>
              <a:rPr lang="en-US" altLang="zh-CN" sz="1800" b="1">
                <a:latin typeface="Times New Roman" panose="02020603050405020304" pitchFamily="18" charset="0"/>
                <a:ea typeface="华文新魏" panose="02010800040101010101" pitchFamily="2" charset="-122"/>
              </a:rPr>
              <a:t>5</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B4AF84-FFFB-4C68-93C8-9D9F8926E392}" type="datetime1">
              <a:rPr lang="zh-CN" altLang="en-US" sz="1400" smtClean="0"/>
              <a:pPr>
                <a:spcBef>
                  <a:spcPct val="0"/>
                </a:spcBef>
                <a:buClrTx/>
                <a:buSzTx/>
                <a:buFontTx/>
                <a:buNone/>
              </a:pPr>
              <a:t>2017/2/24</a:t>
            </a:fld>
            <a:endParaRPr lang="en-US" altLang="zh-CN" sz="1400" smtClean="0"/>
          </a:p>
        </p:txBody>
      </p:sp>
      <p:sp>
        <p:nvSpPr>
          <p:cNvPr id="4813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AD00EAC-B0BB-4AC9-AD08-92C6BDD2EA26}" type="slidenum">
              <a:rPr lang="zh-CN" altLang="en-US" sz="1400"/>
              <a:pPr>
                <a:spcBef>
                  <a:spcPct val="0"/>
                </a:spcBef>
                <a:buClrTx/>
                <a:buSzTx/>
                <a:buFontTx/>
                <a:buNone/>
              </a:pPr>
              <a:t>43</a:t>
            </a:fld>
            <a:endParaRPr lang="en-US" altLang="zh-CN" sz="1400"/>
          </a:p>
        </p:txBody>
      </p:sp>
      <p:grpSp>
        <p:nvGrpSpPr>
          <p:cNvPr id="48132" name="Group 2"/>
          <p:cNvGrpSpPr>
            <a:grpSpLocks/>
          </p:cNvGrpSpPr>
          <p:nvPr/>
        </p:nvGrpSpPr>
        <p:grpSpPr bwMode="auto">
          <a:xfrm>
            <a:off x="5148263" y="2420938"/>
            <a:ext cx="2519362" cy="1433512"/>
            <a:chOff x="3878" y="1480"/>
            <a:chExt cx="1077" cy="950"/>
          </a:xfrm>
        </p:grpSpPr>
        <p:sp>
          <p:nvSpPr>
            <p:cNvPr id="48192" name="Rectangle 3"/>
            <p:cNvSpPr>
              <a:spLocks noChangeArrowheads="1"/>
            </p:cNvSpPr>
            <p:nvPr/>
          </p:nvSpPr>
          <p:spPr bwMode="auto">
            <a:xfrm>
              <a:off x="3878" y="1616"/>
              <a:ext cx="1077" cy="814"/>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temp1 := inttoreal(60)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temp2 := id3 *temp1</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temp3 := id2 +temp2</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id1 := temp3</a:t>
              </a:r>
              <a:endParaRPr lang="en-US" altLang="zh-CN" sz="2000">
                <a:latin typeface="Times New Roman" panose="02020603050405020304" pitchFamily="18" charset="0"/>
                <a:ea typeface="华文新魏" panose="02010800040101010101" pitchFamily="2" charset="-122"/>
              </a:endParaRPr>
            </a:p>
          </p:txBody>
        </p:sp>
        <p:sp>
          <p:nvSpPr>
            <p:cNvPr id="48193" name="Line 4"/>
            <p:cNvSpPr>
              <a:spLocks noChangeShapeType="1"/>
            </p:cNvSpPr>
            <p:nvPr/>
          </p:nvSpPr>
          <p:spPr bwMode="auto">
            <a:xfrm flipH="1">
              <a:off x="4410" y="1480"/>
              <a:ext cx="12" cy="12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33" name="Rectangle 5"/>
          <p:cNvSpPr>
            <a:spLocks noChangeArrowheads="1"/>
          </p:cNvSpPr>
          <p:nvPr/>
        </p:nvSpPr>
        <p:spPr bwMode="auto">
          <a:xfrm>
            <a:off x="7812088" y="4221163"/>
            <a:ext cx="968375" cy="22225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代码优化</a:t>
            </a:r>
            <a:endParaRPr lang="zh-CN" altLang="en-US" sz="1400">
              <a:solidFill>
                <a:schemeClr val="bg1"/>
              </a:solidFill>
              <a:latin typeface="Times New Roman" panose="02020603050405020304" pitchFamily="18" charset="0"/>
              <a:ea typeface="华文新魏" panose="02010800040101010101" pitchFamily="2" charset="-122"/>
            </a:endParaRPr>
          </a:p>
        </p:txBody>
      </p:sp>
      <p:grpSp>
        <p:nvGrpSpPr>
          <p:cNvPr id="48134" name="Group 6"/>
          <p:cNvGrpSpPr>
            <a:grpSpLocks/>
          </p:cNvGrpSpPr>
          <p:nvPr/>
        </p:nvGrpSpPr>
        <p:grpSpPr bwMode="auto">
          <a:xfrm>
            <a:off x="5219700" y="3860800"/>
            <a:ext cx="2447925" cy="863600"/>
            <a:chOff x="3939" y="2432"/>
            <a:chExt cx="921" cy="499"/>
          </a:xfrm>
        </p:grpSpPr>
        <p:sp>
          <p:nvSpPr>
            <p:cNvPr id="48190" name="Rectangle 7"/>
            <p:cNvSpPr>
              <a:spLocks noChangeArrowheads="1"/>
            </p:cNvSpPr>
            <p:nvPr/>
          </p:nvSpPr>
          <p:spPr bwMode="auto">
            <a:xfrm>
              <a:off x="3939" y="2594"/>
              <a:ext cx="921" cy="337"/>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temp1 := id3 *60.0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id1 := id2 + temp1</a:t>
              </a:r>
              <a:endParaRPr lang="en-US" altLang="zh-CN" sz="2000">
                <a:latin typeface="Times New Roman" panose="02020603050405020304" pitchFamily="18" charset="0"/>
                <a:ea typeface="华文新魏" panose="02010800040101010101" pitchFamily="2" charset="-122"/>
              </a:endParaRPr>
            </a:p>
          </p:txBody>
        </p:sp>
        <p:sp>
          <p:nvSpPr>
            <p:cNvPr id="48191" name="Line 8"/>
            <p:cNvSpPr>
              <a:spLocks noChangeShapeType="1"/>
            </p:cNvSpPr>
            <p:nvPr/>
          </p:nvSpPr>
          <p:spPr bwMode="auto">
            <a:xfrm>
              <a:off x="4377" y="2432"/>
              <a:ext cx="0" cy="1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135" name="Rectangle 9"/>
          <p:cNvSpPr>
            <a:spLocks noChangeArrowheads="1"/>
          </p:cNvSpPr>
          <p:nvPr/>
        </p:nvSpPr>
        <p:spPr bwMode="auto">
          <a:xfrm>
            <a:off x="7885113" y="5734050"/>
            <a:ext cx="1006475" cy="22225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代码生成</a:t>
            </a:r>
            <a:endParaRPr lang="zh-CN" altLang="en-US" sz="1400">
              <a:solidFill>
                <a:schemeClr val="bg1"/>
              </a:solidFill>
              <a:latin typeface="Times New Roman" panose="02020603050405020304" pitchFamily="18" charset="0"/>
              <a:ea typeface="华文新魏" panose="02010800040101010101" pitchFamily="2" charset="-122"/>
            </a:endParaRPr>
          </a:p>
        </p:txBody>
      </p:sp>
      <p:grpSp>
        <p:nvGrpSpPr>
          <p:cNvPr id="48136" name="Group 10"/>
          <p:cNvGrpSpPr>
            <a:grpSpLocks/>
          </p:cNvGrpSpPr>
          <p:nvPr/>
        </p:nvGrpSpPr>
        <p:grpSpPr bwMode="auto">
          <a:xfrm>
            <a:off x="5219700" y="4868863"/>
            <a:ext cx="2376488" cy="1989137"/>
            <a:chOff x="3920" y="3185"/>
            <a:chExt cx="963" cy="880"/>
          </a:xfrm>
        </p:grpSpPr>
        <p:sp>
          <p:nvSpPr>
            <p:cNvPr id="48188" name="Line 11"/>
            <p:cNvSpPr>
              <a:spLocks noChangeShapeType="1"/>
            </p:cNvSpPr>
            <p:nvPr/>
          </p:nvSpPr>
          <p:spPr bwMode="auto">
            <a:xfrm flipH="1">
              <a:off x="4377" y="3185"/>
              <a:ext cx="0"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9" name="Text Box 12"/>
            <p:cNvSpPr txBox="1">
              <a:spLocks noChangeArrowheads="1"/>
            </p:cNvSpPr>
            <p:nvPr/>
          </p:nvSpPr>
          <p:spPr bwMode="auto">
            <a:xfrm>
              <a:off x="3920" y="3310"/>
              <a:ext cx="963" cy="755"/>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MOVF id3, R2</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MULF #60.0, R2</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MOVF id2, R1</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ADDF R2, R1</a:t>
              </a:r>
              <a:endParaRPr lang="en-US" altLang="zh-CN" sz="2000" b="1">
                <a:latin typeface="Times New Roman" panose="02020603050405020304" pitchFamily="18" charset="0"/>
                <a:ea typeface="华文新魏" panose="02010800040101010101" pitchFamily="2" charset="-122"/>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ea typeface="华文新魏" panose="02010800040101010101" pitchFamily="2" charset="-122"/>
                </a:rPr>
                <a:t>MOVF R1, id1</a:t>
              </a:r>
              <a:endParaRPr lang="en-US" altLang="zh-CN" sz="2000">
                <a:latin typeface="Times New Roman" panose="02020603050405020304" pitchFamily="18" charset="0"/>
                <a:ea typeface="华文新魏" panose="02010800040101010101" pitchFamily="2" charset="-122"/>
              </a:endParaRPr>
            </a:p>
          </p:txBody>
        </p:sp>
      </p:grpSp>
      <p:sp>
        <p:nvSpPr>
          <p:cNvPr id="48137" name="Rectangle 13"/>
          <p:cNvSpPr>
            <a:spLocks noChangeArrowheads="1"/>
          </p:cNvSpPr>
          <p:nvPr/>
        </p:nvSpPr>
        <p:spPr bwMode="auto">
          <a:xfrm>
            <a:off x="498475" y="404813"/>
            <a:ext cx="4217988"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latin typeface="Times New Roman" panose="02020603050405020304" pitchFamily="18" charset="0"/>
              </a:rPr>
              <a:t>Main()</a:t>
            </a:r>
          </a:p>
          <a:p>
            <a:pPr algn="just" eaLnBrk="1" hangingPunct="1">
              <a:spcBef>
                <a:spcPct val="0"/>
              </a:spcBef>
              <a:buClrTx/>
              <a:buSzTx/>
              <a:buFontTx/>
              <a:buNone/>
            </a:pPr>
            <a:r>
              <a:rPr lang="en-US" altLang="zh-CN" sz="2000" b="1">
                <a:latin typeface="Times New Roman" panose="02020603050405020304" pitchFamily="18" charset="0"/>
              </a:rPr>
              <a:t>{……</a:t>
            </a:r>
          </a:p>
          <a:p>
            <a:pPr algn="just" eaLnBrk="1" hangingPunct="1">
              <a:spcBef>
                <a:spcPct val="0"/>
              </a:spcBef>
              <a:buClrTx/>
              <a:buSzTx/>
              <a:buFontTx/>
              <a:buNone/>
            </a:pPr>
            <a:r>
              <a:rPr lang="en-US" altLang="zh-CN" sz="2400" b="1">
                <a:solidFill>
                  <a:srgbClr val="000000"/>
                </a:solidFill>
                <a:latin typeface="Times New Roman" panose="02020603050405020304" pitchFamily="18" charset="0"/>
              </a:rPr>
              <a:t>position:= initial + rate * 60</a:t>
            </a:r>
            <a:r>
              <a:rPr lang="en-US" altLang="zh-CN" sz="2400" b="1">
                <a:latin typeface="Times New Roman" panose="02020603050405020304" pitchFamily="18" charset="0"/>
              </a:rPr>
              <a:t>;</a:t>
            </a:r>
          </a:p>
          <a:p>
            <a:pPr algn="just" eaLnBrk="1" hangingPunct="1">
              <a:spcBef>
                <a:spcPct val="0"/>
              </a:spcBef>
              <a:buClrTx/>
              <a:buSzTx/>
              <a:buFontTx/>
              <a:buNone/>
            </a:pPr>
            <a:r>
              <a:rPr lang="en-US" altLang="zh-CN" sz="2000" b="1">
                <a:latin typeface="Times New Roman" panose="02020603050405020304" pitchFamily="18" charset="0"/>
              </a:rPr>
              <a:t>……</a:t>
            </a:r>
          </a:p>
          <a:p>
            <a:pPr algn="just" eaLnBrk="1" hangingPunct="1">
              <a:spcBef>
                <a:spcPct val="0"/>
              </a:spcBef>
              <a:buClrTx/>
              <a:buSzTx/>
              <a:buFontTx/>
              <a:buNone/>
            </a:pPr>
            <a:r>
              <a:rPr lang="en-US" altLang="zh-CN" sz="2000" b="1">
                <a:latin typeface="Times New Roman" panose="02020603050405020304" pitchFamily="18" charset="0"/>
              </a:rPr>
              <a:t>}</a:t>
            </a:r>
            <a:endParaRPr lang="en-US" altLang="zh-CN" sz="2000">
              <a:latin typeface="Times New Roman" panose="02020603050405020304" pitchFamily="18" charset="0"/>
            </a:endParaRPr>
          </a:p>
        </p:txBody>
      </p:sp>
      <p:sp>
        <p:nvSpPr>
          <p:cNvPr id="48138" name="Rectangle 14"/>
          <p:cNvSpPr>
            <a:spLocks noChangeArrowheads="1"/>
          </p:cNvSpPr>
          <p:nvPr/>
        </p:nvSpPr>
        <p:spPr bwMode="auto">
          <a:xfrm>
            <a:off x="2843213" y="2492375"/>
            <a:ext cx="1152525" cy="284163"/>
          </a:xfrm>
          <a:prstGeom prst="rect">
            <a:avLst/>
          </a:prstGeom>
          <a:solidFill>
            <a:schemeClr val="tx1"/>
          </a:solidFill>
          <a:ln w="9525">
            <a:solidFill>
              <a:srgbClr val="000000"/>
            </a:solidFill>
            <a:miter lim="800000"/>
            <a:headEnd/>
            <a:tailEnd/>
          </a:ln>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词法分析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grpSp>
        <p:nvGrpSpPr>
          <p:cNvPr id="48139" name="Group 15"/>
          <p:cNvGrpSpPr>
            <a:grpSpLocks/>
          </p:cNvGrpSpPr>
          <p:nvPr/>
        </p:nvGrpSpPr>
        <p:grpSpPr bwMode="auto">
          <a:xfrm>
            <a:off x="395288" y="2193925"/>
            <a:ext cx="2252662" cy="619125"/>
            <a:chOff x="612" y="1382"/>
            <a:chExt cx="1419" cy="390"/>
          </a:xfrm>
        </p:grpSpPr>
        <p:sp>
          <p:nvSpPr>
            <p:cNvPr id="48186" name="Text Box 16"/>
            <p:cNvSpPr txBox="1">
              <a:spLocks noChangeArrowheads="1"/>
            </p:cNvSpPr>
            <p:nvPr/>
          </p:nvSpPr>
          <p:spPr bwMode="auto">
            <a:xfrm>
              <a:off x="612" y="1500"/>
              <a:ext cx="141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b="1">
                  <a:solidFill>
                    <a:srgbClr val="111111"/>
                  </a:solidFill>
                  <a:latin typeface="Times New Roman" panose="02020603050405020304" pitchFamily="18" charset="0"/>
                </a:rPr>
                <a:t>id</a:t>
              </a:r>
              <a:r>
                <a:rPr lang="en-US" altLang="zh-CN" sz="2400" b="1" baseline="-25000">
                  <a:solidFill>
                    <a:srgbClr val="111111"/>
                  </a:solidFill>
                  <a:latin typeface="Times New Roman" panose="02020603050405020304" pitchFamily="18" charset="0"/>
                </a:rPr>
                <a:t>1</a:t>
              </a:r>
              <a:r>
                <a:rPr lang="en-US" altLang="zh-CN" sz="2400" b="1">
                  <a:solidFill>
                    <a:srgbClr val="111111"/>
                  </a:solidFill>
                  <a:latin typeface="Times New Roman" panose="02020603050405020304" pitchFamily="18" charset="0"/>
                </a:rPr>
                <a:t>=id</a:t>
              </a:r>
              <a:r>
                <a:rPr lang="en-US" altLang="zh-CN" sz="2400" b="1" baseline="-25000">
                  <a:solidFill>
                    <a:srgbClr val="111111"/>
                  </a:solidFill>
                  <a:latin typeface="Times New Roman" panose="02020603050405020304" pitchFamily="18" charset="0"/>
                </a:rPr>
                <a:t>2</a:t>
              </a:r>
              <a:r>
                <a:rPr lang="en-US" altLang="zh-CN" sz="2400" b="1">
                  <a:solidFill>
                    <a:srgbClr val="111111"/>
                  </a:solidFill>
                  <a:latin typeface="Times New Roman" panose="02020603050405020304" pitchFamily="18" charset="0"/>
                </a:rPr>
                <a:t>+id</a:t>
              </a:r>
              <a:r>
                <a:rPr lang="en-US" altLang="zh-CN" sz="2400" b="1" baseline="-25000">
                  <a:solidFill>
                    <a:srgbClr val="111111"/>
                  </a:solidFill>
                  <a:latin typeface="Times New Roman" panose="02020603050405020304" pitchFamily="18" charset="0"/>
                </a:rPr>
                <a:t>3</a:t>
              </a:r>
              <a:r>
                <a:rPr lang="en-US" altLang="zh-CN" sz="2400" b="1">
                  <a:solidFill>
                    <a:srgbClr val="111111"/>
                  </a:solidFill>
                  <a:latin typeface="Times New Roman" panose="02020603050405020304" pitchFamily="18" charset="0"/>
                </a:rPr>
                <a:t>*60</a:t>
              </a:r>
              <a:endParaRPr lang="en-US" altLang="zh-CN" sz="2400">
                <a:solidFill>
                  <a:srgbClr val="111111"/>
                </a:solidFill>
                <a:latin typeface="Tahoma" panose="020B0604030504040204" pitchFamily="34" charset="0"/>
              </a:endParaRPr>
            </a:p>
          </p:txBody>
        </p:sp>
        <p:sp>
          <p:nvSpPr>
            <p:cNvPr id="48187" name="Line 17"/>
            <p:cNvSpPr>
              <a:spLocks noChangeShapeType="1"/>
            </p:cNvSpPr>
            <p:nvPr/>
          </p:nvSpPr>
          <p:spPr bwMode="auto">
            <a:xfrm>
              <a:off x="1333" y="1382"/>
              <a:ext cx="1" cy="11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prstDash val="dash"/>
                  <a:round/>
                  <a:headEnd/>
                  <a:tailEnd type="triangle" w="med" len="med"/>
                </a14:hiddenLine>
              </a:ext>
            </a:extLst>
          </p:spPr>
          <p:txBody>
            <a:bodyPr/>
            <a:lstStyle/>
            <a:p>
              <a:endParaRPr lang="zh-CN" altLang="en-US"/>
            </a:p>
          </p:txBody>
        </p:sp>
      </p:grpSp>
      <p:sp>
        <p:nvSpPr>
          <p:cNvPr id="48140" name="Rectangle 18"/>
          <p:cNvSpPr>
            <a:spLocks noChangeArrowheads="1"/>
          </p:cNvSpPr>
          <p:nvPr/>
        </p:nvSpPr>
        <p:spPr bwMode="auto">
          <a:xfrm>
            <a:off x="2916238" y="3276600"/>
            <a:ext cx="1008062" cy="225425"/>
          </a:xfrm>
          <a:prstGeom prst="rect">
            <a:avLst/>
          </a:prstGeom>
          <a:solidFill>
            <a:schemeClr val="tx1"/>
          </a:solidFill>
          <a:ln w="9525">
            <a:solidFill>
              <a:srgbClr val="000000"/>
            </a:solidFill>
            <a:miter lim="800000"/>
            <a:headEnd/>
            <a:tailEnd/>
          </a:ln>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语法分析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48141" name="Rectangle 19"/>
          <p:cNvSpPr>
            <a:spLocks noChangeArrowheads="1"/>
          </p:cNvSpPr>
          <p:nvPr/>
        </p:nvSpPr>
        <p:spPr bwMode="auto">
          <a:xfrm>
            <a:off x="2916238" y="4694238"/>
            <a:ext cx="1152525" cy="25400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语义分析</a:t>
            </a:r>
            <a:endParaRPr lang="zh-CN" altLang="en-US" sz="1600">
              <a:solidFill>
                <a:schemeClr val="bg1"/>
              </a:solidFill>
              <a:latin typeface="Times New Roman" panose="02020603050405020304" pitchFamily="18" charset="0"/>
              <a:ea typeface="华文新魏" panose="02010800040101010101" pitchFamily="2" charset="-122"/>
            </a:endParaRPr>
          </a:p>
        </p:txBody>
      </p:sp>
      <p:grpSp>
        <p:nvGrpSpPr>
          <p:cNvPr id="48142" name="Group 20"/>
          <p:cNvGrpSpPr>
            <a:grpSpLocks/>
          </p:cNvGrpSpPr>
          <p:nvPr/>
        </p:nvGrpSpPr>
        <p:grpSpPr bwMode="auto">
          <a:xfrm>
            <a:off x="323850" y="3200400"/>
            <a:ext cx="4105275" cy="1209675"/>
            <a:chOff x="567" y="2016"/>
            <a:chExt cx="2586" cy="762"/>
          </a:xfrm>
        </p:grpSpPr>
        <p:grpSp>
          <p:nvGrpSpPr>
            <p:cNvPr id="48171" name="Group 21"/>
            <p:cNvGrpSpPr>
              <a:grpSpLocks/>
            </p:cNvGrpSpPr>
            <p:nvPr/>
          </p:nvGrpSpPr>
          <p:grpSpPr bwMode="auto">
            <a:xfrm>
              <a:off x="567" y="2047"/>
              <a:ext cx="2586" cy="731"/>
              <a:chOff x="7712" y="7895"/>
              <a:chExt cx="3334" cy="1210"/>
            </a:xfrm>
          </p:grpSpPr>
          <p:sp>
            <p:nvSpPr>
              <p:cNvPr id="48173" name="Rectangle 22"/>
              <p:cNvSpPr>
                <a:spLocks noChangeArrowheads="1"/>
              </p:cNvSpPr>
              <p:nvPr/>
            </p:nvSpPr>
            <p:spPr bwMode="auto">
              <a:xfrm>
                <a:off x="8557" y="7895"/>
                <a:ext cx="27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宋体" panose="02010600030101010101" pitchFamily="2" charset="-122"/>
                  </a:rPr>
                  <a:t>:=</a:t>
                </a:r>
                <a:endParaRPr lang="en-US" altLang="zh-CN" sz="2000">
                  <a:latin typeface="Tahoma" panose="020B0604030504040204" pitchFamily="34" charset="0"/>
                </a:endParaRPr>
              </a:p>
            </p:txBody>
          </p:sp>
          <p:sp>
            <p:nvSpPr>
              <p:cNvPr id="48174" name="Rectangle 23"/>
              <p:cNvSpPr>
                <a:spLocks noChangeArrowheads="1"/>
              </p:cNvSpPr>
              <p:nvPr/>
            </p:nvSpPr>
            <p:spPr bwMode="auto">
              <a:xfrm>
                <a:off x="9271" y="8269"/>
                <a:ext cx="10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宋体" panose="02010600030101010101" pitchFamily="2" charset="-122"/>
                  </a:rPr>
                  <a:t>+</a:t>
                </a:r>
                <a:endParaRPr lang="en-US" altLang="zh-CN" sz="2000">
                  <a:latin typeface="Tahoma" panose="020B0604030504040204" pitchFamily="34" charset="0"/>
                </a:endParaRPr>
              </a:p>
            </p:txBody>
          </p:sp>
          <p:sp>
            <p:nvSpPr>
              <p:cNvPr id="48175" name="Rectangle 24"/>
              <p:cNvSpPr>
                <a:spLocks noChangeArrowheads="1"/>
              </p:cNvSpPr>
              <p:nvPr/>
            </p:nvSpPr>
            <p:spPr bwMode="auto">
              <a:xfrm>
                <a:off x="10106" y="8586"/>
                <a:ext cx="10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2000">
                    <a:solidFill>
                      <a:srgbClr val="000000"/>
                    </a:solidFill>
                    <a:latin typeface="宋体" panose="02010600030101010101" pitchFamily="2" charset="-122"/>
                  </a:rPr>
                  <a:t>*</a:t>
                </a:r>
                <a:endParaRPr lang="zh-CN" altLang="en-US" sz="2000">
                  <a:latin typeface="Tahoma" panose="020B0604030504040204" pitchFamily="34" charset="0"/>
                </a:endParaRPr>
              </a:p>
            </p:txBody>
          </p:sp>
          <p:sp>
            <p:nvSpPr>
              <p:cNvPr id="48176" name="Rectangle 25"/>
              <p:cNvSpPr>
                <a:spLocks noChangeArrowheads="1"/>
              </p:cNvSpPr>
              <p:nvPr/>
            </p:nvSpPr>
            <p:spPr bwMode="auto">
              <a:xfrm>
                <a:off x="7712" y="8271"/>
                <a:ext cx="409"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1</a:t>
                </a:r>
                <a:endParaRPr lang="en-US" altLang="zh-CN" sz="2000">
                  <a:latin typeface="Tahoma" panose="020B0604030504040204" pitchFamily="34" charset="0"/>
                </a:endParaRPr>
              </a:p>
            </p:txBody>
          </p:sp>
          <p:sp>
            <p:nvSpPr>
              <p:cNvPr id="48177" name="Rectangle 26"/>
              <p:cNvSpPr>
                <a:spLocks noChangeArrowheads="1"/>
              </p:cNvSpPr>
              <p:nvPr/>
            </p:nvSpPr>
            <p:spPr bwMode="auto">
              <a:xfrm>
                <a:off x="8420" y="8592"/>
                <a:ext cx="405"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2</a:t>
                </a:r>
                <a:endParaRPr lang="en-US" altLang="zh-CN" sz="2000">
                  <a:latin typeface="Tahoma" panose="020B0604030504040204" pitchFamily="34" charset="0"/>
                </a:endParaRPr>
              </a:p>
            </p:txBody>
          </p:sp>
          <p:sp>
            <p:nvSpPr>
              <p:cNvPr id="48178" name="Rectangle 27"/>
              <p:cNvSpPr>
                <a:spLocks noChangeArrowheads="1"/>
              </p:cNvSpPr>
              <p:nvPr/>
            </p:nvSpPr>
            <p:spPr bwMode="auto">
              <a:xfrm>
                <a:off x="9393" y="8788"/>
                <a:ext cx="40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3</a:t>
                </a:r>
                <a:endParaRPr lang="en-US" altLang="zh-CN" sz="2000">
                  <a:latin typeface="Tahoma" panose="020B0604030504040204" pitchFamily="34" charset="0"/>
                </a:endParaRPr>
              </a:p>
            </p:txBody>
          </p:sp>
          <p:sp>
            <p:nvSpPr>
              <p:cNvPr id="48179" name="Rectangle 28"/>
              <p:cNvSpPr>
                <a:spLocks noChangeArrowheads="1"/>
              </p:cNvSpPr>
              <p:nvPr/>
            </p:nvSpPr>
            <p:spPr bwMode="auto">
              <a:xfrm>
                <a:off x="10637" y="8787"/>
                <a:ext cx="409"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60</a:t>
                </a:r>
                <a:endParaRPr lang="en-US" altLang="zh-CN" sz="2000">
                  <a:latin typeface="Tahoma" panose="020B0604030504040204" pitchFamily="34" charset="0"/>
                </a:endParaRPr>
              </a:p>
            </p:txBody>
          </p:sp>
          <p:sp>
            <p:nvSpPr>
              <p:cNvPr id="48180" name="Line 29"/>
              <p:cNvSpPr>
                <a:spLocks noChangeShapeType="1"/>
              </p:cNvSpPr>
              <p:nvPr/>
            </p:nvSpPr>
            <p:spPr bwMode="auto">
              <a:xfrm flipV="1">
                <a:off x="9615" y="8760"/>
                <a:ext cx="480" cy="1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1" name="Line 30"/>
              <p:cNvSpPr>
                <a:spLocks noChangeShapeType="1"/>
              </p:cNvSpPr>
              <p:nvPr/>
            </p:nvSpPr>
            <p:spPr bwMode="auto">
              <a:xfrm>
                <a:off x="10185" y="8745"/>
                <a:ext cx="495"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2" name="Line 31"/>
              <p:cNvSpPr>
                <a:spLocks noChangeShapeType="1"/>
              </p:cNvSpPr>
              <p:nvPr/>
            </p:nvSpPr>
            <p:spPr bwMode="auto">
              <a:xfrm flipV="1">
                <a:off x="8610" y="8430"/>
                <a:ext cx="675" cy="1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3" name="Line 32"/>
              <p:cNvSpPr>
                <a:spLocks noChangeShapeType="1"/>
              </p:cNvSpPr>
              <p:nvPr/>
            </p:nvSpPr>
            <p:spPr bwMode="auto">
              <a:xfrm>
                <a:off x="9390" y="8415"/>
                <a:ext cx="72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4" name="Line 33"/>
              <p:cNvSpPr>
                <a:spLocks noChangeShapeType="1"/>
              </p:cNvSpPr>
              <p:nvPr/>
            </p:nvSpPr>
            <p:spPr bwMode="auto">
              <a:xfrm flipV="1">
                <a:off x="7905" y="8100"/>
                <a:ext cx="615" cy="2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5" name="Line 34"/>
              <p:cNvSpPr>
                <a:spLocks noChangeShapeType="1"/>
              </p:cNvSpPr>
              <p:nvPr/>
            </p:nvSpPr>
            <p:spPr bwMode="auto">
              <a:xfrm>
                <a:off x="8790" y="8070"/>
                <a:ext cx="510" cy="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8172" name="Line 35"/>
            <p:cNvSpPr>
              <a:spLocks noChangeShapeType="1"/>
            </p:cNvSpPr>
            <p:nvPr/>
          </p:nvSpPr>
          <p:spPr bwMode="auto">
            <a:xfrm>
              <a:off x="1322" y="2016"/>
              <a:ext cx="0" cy="1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8143" name="Group 36"/>
          <p:cNvGrpSpPr>
            <a:grpSpLocks/>
          </p:cNvGrpSpPr>
          <p:nvPr/>
        </p:nvGrpSpPr>
        <p:grpSpPr bwMode="auto">
          <a:xfrm>
            <a:off x="415925" y="4581525"/>
            <a:ext cx="4300538" cy="2100263"/>
            <a:chOff x="625" y="3013"/>
            <a:chExt cx="2709" cy="1101"/>
          </a:xfrm>
        </p:grpSpPr>
        <p:grpSp>
          <p:nvGrpSpPr>
            <p:cNvPr id="48153" name="Group 37"/>
            <p:cNvGrpSpPr>
              <a:grpSpLocks/>
            </p:cNvGrpSpPr>
            <p:nvPr/>
          </p:nvGrpSpPr>
          <p:grpSpPr bwMode="auto">
            <a:xfrm>
              <a:off x="1322" y="3013"/>
              <a:ext cx="523" cy="480"/>
              <a:chOff x="1322" y="3013"/>
              <a:chExt cx="523" cy="480"/>
            </a:xfrm>
          </p:grpSpPr>
          <p:sp>
            <p:nvSpPr>
              <p:cNvPr id="48169" name="Line 38"/>
              <p:cNvSpPr>
                <a:spLocks noChangeShapeType="1"/>
              </p:cNvSpPr>
              <p:nvPr/>
            </p:nvSpPr>
            <p:spPr bwMode="auto">
              <a:xfrm flipV="1">
                <a:off x="1322" y="3375"/>
                <a:ext cx="523" cy="1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0" name="Line 39"/>
              <p:cNvSpPr>
                <a:spLocks noChangeShapeType="1"/>
              </p:cNvSpPr>
              <p:nvPr/>
            </p:nvSpPr>
            <p:spPr bwMode="auto">
              <a:xfrm>
                <a:off x="1368" y="3013"/>
                <a:ext cx="1" cy="1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8154" name="Group 40"/>
            <p:cNvGrpSpPr>
              <a:grpSpLocks/>
            </p:cNvGrpSpPr>
            <p:nvPr/>
          </p:nvGrpSpPr>
          <p:grpSpPr bwMode="auto">
            <a:xfrm>
              <a:off x="625" y="3052"/>
              <a:ext cx="2709" cy="1062"/>
              <a:chOff x="625" y="3052"/>
              <a:chExt cx="2709" cy="1062"/>
            </a:xfrm>
          </p:grpSpPr>
          <p:sp>
            <p:nvSpPr>
              <p:cNvPr id="48155" name="Rectangle 41"/>
              <p:cNvSpPr>
                <a:spLocks noChangeArrowheads="1"/>
              </p:cNvSpPr>
              <p:nvPr/>
            </p:nvSpPr>
            <p:spPr bwMode="auto">
              <a:xfrm>
                <a:off x="2595" y="3653"/>
                <a:ext cx="739"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inttoreal</a:t>
                </a:r>
                <a:endParaRPr lang="en-US" altLang="zh-CN" sz="2000">
                  <a:latin typeface="Tahoma" panose="020B0604030504040204" pitchFamily="34" charset="0"/>
                </a:endParaRPr>
              </a:p>
            </p:txBody>
          </p:sp>
          <p:sp>
            <p:nvSpPr>
              <p:cNvPr id="48156" name="Rectangle 42"/>
              <p:cNvSpPr>
                <a:spLocks noChangeArrowheads="1"/>
              </p:cNvSpPr>
              <p:nvPr/>
            </p:nvSpPr>
            <p:spPr bwMode="auto">
              <a:xfrm>
                <a:off x="1280" y="3052"/>
                <a:ext cx="21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宋体" panose="02010600030101010101" pitchFamily="2" charset="-122"/>
                  </a:rPr>
                  <a:t>:=</a:t>
                </a:r>
                <a:endParaRPr lang="en-US" altLang="zh-CN" sz="2000">
                  <a:latin typeface="Tahoma" panose="020B0604030504040204" pitchFamily="34" charset="0"/>
                </a:endParaRPr>
              </a:p>
            </p:txBody>
          </p:sp>
          <p:sp>
            <p:nvSpPr>
              <p:cNvPr id="48157" name="Rectangle 43"/>
              <p:cNvSpPr>
                <a:spLocks noChangeArrowheads="1"/>
              </p:cNvSpPr>
              <p:nvPr/>
            </p:nvSpPr>
            <p:spPr bwMode="auto">
              <a:xfrm>
                <a:off x="1836" y="3278"/>
                <a:ext cx="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宋体" panose="02010600030101010101" pitchFamily="2" charset="-122"/>
                  </a:rPr>
                  <a:t>+</a:t>
                </a:r>
                <a:endParaRPr lang="en-US" altLang="zh-CN" sz="2000">
                  <a:latin typeface="Tahoma" panose="020B0604030504040204" pitchFamily="34" charset="0"/>
                </a:endParaRPr>
              </a:p>
            </p:txBody>
          </p:sp>
          <p:sp>
            <p:nvSpPr>
              <p:cNvPr id="48158" name="Rectangle 44"/>
              <p:cNvSpPr>
                <a:spLocks noChangeArrowheads="1"/>
              </p:cNvSpPr>
              <p:nvPr/>
            </p:nvSpPr>
            <p:spPr bwMode="auto">
              <a:xfrm>
                <a:off x="2481" y="3468"/>
                <a:ext cx="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2000">
                    <a:solidFill>
                      <a:srgbClr val="000000"/>
                    </a:solidFill>
                    <a:latin typeface="宋体" panose="02010600030101010101" pitchFamily="2" charset="-122"/>
                  </a:rPr>
                  <a:t>*</a:t>
                </a:r>
                <a:endParaRPr lang="zh-CN" altLang="en-US" sz="2000">
                  <a:latin typeface="Tahoma" panose="020B0604030504040204" pitchFamily="34" charset="0"/>
                </a:endParaRPr>
              </a:p>
            </p:txBody>
          </p:sp>
          <p:sp>
            <p:nvSpPr>
              <p:cNvPr id="48159" name="Rectangle 45"/>
              <p:cNvSpPr>
                <a:spLocks noChangeArrowheads="1"/>
              </p:cNvSpPr>
              <p:nvPr/>
            </p:nvSpPr>
            <p:spPr bwMode="auto">
              <a:xfrm>
                <a:off x="625" y="3278"/>
                <a:ext cx="31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1</a:t>
                </a:r>
                <a:endParaRPr lang="en-US" altLang="zh-CN" sz="2000">
                  <a:latin typeface="Tahoma" panose="020B0604030504040204" pitchFamily="34" charset="0"/>
                </a:endParaRPr>
              </a:p>
            </p:txBody>
          </p:sp>
          <p:sp>
            <p:nvSpPr>
              <p:cNvPr id="48160" name="Rectangle 46"/>
              <p:cNvSpPr>
                <a:spLocks noChangeArrowheads="1"/>
              </p:cNvSpPr>
              <p:nvPr/>
            </p:nvSpPr>
            <p:spPr bwMode="auto">
              <a:xfrm>
                <a:off x="1174" y="3474"/>
                <a:ext cx="31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2</a:t>
                </a:r>
                <a:endParaRPr lang="en-US" altLang="zh-CN" sz="2000">
                  <a:latin typeface="Tahoma" panose="020B0604030504040204" pitchFamily="34" charset="0"/>
                </a:endParaRPr>
              </a:p>
            </p:txBody>
          </p:sp>
          <p:sp>
            <p:nvSpPr>
              <p:cNvPr id="48161" name="Rectangle 47"/>
              <p:cNvSpPr>
                <a:spLocks noChangeArrowheads="1"/>
              </p:cNvSpPr>
              <p:nvPr/>
            </p:nvSpPr>
            <p:spPr bwMode="auto">
              <a:xfrm>
                <a:off x="1930" y="3592"/>
                <a:ext cx="31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3</a:t>
                </a:r>
                <a:endParaRPr lang="en-US" altLang="zh-CN" sz="2000">
                  <a:latin typeface="Tahoma" panose="020B0604030504040204" pitchFamily="34" charset="0"/>
                </a:endParaRPr>
              </a:p>
            </p:txBody>
          </p:sp>
          <p:sp>
            <p:nvSpPr>
              <p:cNvPr id="48162" name="Rectangle 48"/>
              <p:cNvSpPr>
                <a:spLocks noChangeArrowheads="1"/>
              </p:cNvSpPr>
              <p:nvPr/>
            </p:nvSpPr>
            <p:spPr bwMode="auto">
              <a:xfrm>
                <a:off x="2815" y="3954"/>
                <a:ext cx="31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000" b="1">
                    <a:solidFill>
                      <a:srgbClr val="000000"/>
                    </a:solidFill>
                    <a:latin typeface="宋体" panose="02010600030101010101" pitchFamily="2" charset="-122"/>
                  </a:rPr>
                  <a:t>60</a:t>
                </a:r>
                <a:endParaRPr lang="en-US" altLang="zh-CN" sz="2000">
                  <a:latin typeface="Tahoma" panose="020B0604030504040204" pitchFamily="34" charset="0"/>
                </a:endParaRPr>
              </a:p>
            </p:txBody>
          </p:sp>
          <p:sp>
            <p:nvSpPr>
              <p:cNvPr id="48163" name="Line 49"/>
              <p:cNvSpPr>
                <a:spLocks noChangeShapeType="1"/>
              </p:cNvSpPr>
              <p:nvPr/>
            </p:nvSpPr>
            <p:spPr bwMode="auto">
              <a:xfrm flipV="1">
                <a:off x="2101" y="3575"/>
                <a:ext cx="372" cy="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4" name="Line 50"/>
              <p:cNvSpPr>
                <a:spLocks noChangeShapeType="1"/>
              </p:cNvSpPr>
              <p:nvPr/>
            </p:nvSpPr>
            <p:spPr bwMode="auto">
              <a:xfrm>
                <a:off x="2543" y="3566"/>
                <a:ext cx="384" cy="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5" name="Line 51"/>
              <p:cNvSpPr>
                <a:spLocks noChangeShapeType="1"/>
              </p:cNvSpPr>
              <p:nvPr/>
            </p:nvSpPr>
            <p:spPr bwMode="auto">
              <a:xfrm>
                <a:off x="1926" y="3366"/>
                <a:ext cx="559" cy="1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6" name="Line 52"/>
              <p:cNvSpPr>
                <a:spLocks noChangeShapeType="1"/>
              </p:cNvSpPr>
              <p:nvPr/>
            </p:nvSpPr>
            <p:spPr bwMode="auto">
              <a:xfrm flipV="1">
                <a:off x="775" y="3176"/>
                <a:ext cx="477" cy="1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7" name="Line 53"/>
              <p:cNvSpPr>
                <a:spLocks noChangeShapeType="1"/>
              </p:cNvSpPr>
              <p:nvPr/>
            </p:nvSpPr>
            <p:spPr bwMode="auto">
              <a:xfrm>
                <a:off x="1461" y="3158"/>
                <a:ext cx="396" cy="1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8" name="Line 54"/>
              <p:cNvSpPr>
                <a:spLocks noChangeShapeType="1"/>
              </p:cNvSpPr>
              <p:nvPr/>
            </p:nvSpPr>
            <p:spPr bwMode="auto">
              <a:xfrm>
                <a:off x="2950" y="3810"/>
                <a:ext cx="1"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8144" name="Rectangle 55"/>
          <p:cNvSpPr>
            <a:spLocks noChangeArrowheads="1"/>
          </p:cNvSpPr>
          <p:nvPr/>
        </p:nvSpPr>
        <p:spPr bwMode="auto">
          <a:xfrm>
            <a:off x="7669213" y="2781300"/>
            <a:ext cx="1295400" cy="222250"/>
          </a:xfrm>
          <a:prstGeom prst="rect">
            <a:avLst/>
          </a:prstGeom>
          <a:solidFill>
            <a:schemeClr val="tx1"/>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中间代码生成</a:t>
            </a:r>
            <a:endParaRPr lang="zh-CN" altLang="en-US" sz="1400">
              <a:solidFill>
                <a:schemeClr val="bg1"/>
              </a:solidFill>
              <a:latin typeface="Times New Roman" panose="02020603050405020304" pitchFamily="18" charset="0"/>
              <a:ea typeface="华文新魏" panose="02010800040101010101" pitchFamily="2" charset="-122"/>
            </a:endParaRPr>
          </a:p>
        </p:txBody>
      </p:sp>
      <p:sp>
        <p:nvSpPr>
          <p:cNvPr id="48145" name="Freeform 56"/>
          <p:cNvSpPr>
            <a:spLocks/>
          </p:cNvSpPr>
          <p:nvPr/>
        </p:nvSpPr>
        <p:spPr bwMode="auto">
          <a:xfrm>
            <a:off x="2339975" y="1844675"/>
            <a:ext cx="4176713" cy="4837113"/>
          </a:xfrm>
          <a:custGeom>
            <a:avLst/>
            <a:gdLst>
              <a:gd name="T0" fmla="*/ 0 w 3054"/>
              <a:gd name="T1" fmla="*/ 2147483646 h 3161"/>
              <a:gd name="T2" fmla="*/ 594782257 w 3054"/>
              <a:gd name="T3" fmla="*/ 2147483646 h 3161"/>
              <a:gd name="T4" fmla="*/ 1782477235 w 3054"/>
              <a:gd name="T5" fmla="*/ 2147483646 h 3161"/>
              <a:gd name="T6" fmla="*/ 2147483646 w 3054"/>
              <a:gd name="T7" fmla="*/ 2147483646 h 3161"/>
              <a:gd name="T8" fmla="*/ 2147483646 w 3054"/>
              <a:gd name="T9" fmla="*/ 2147483646 h 3161"/>
              <a:gd name="T10" fmla="*/ 2147483646 w 3054"/>
              <a:gd name="T11" fmla="*/ 2147483646 h 3161"/>
              <a:gd name="T12" fmla="*/ 2147483646 w 3054"/>
              <a:gd name="T13" fmla="*/ 974129676 h 3161"/>
              <a:gd name="T14" fmla="*/ 2147483646 w 3054"/>
              <a:gd name="T15" fmla="*/ 231824876 h 3161"/>
              <a:gd name="T16" fmla="*/ 2147483646 w 3054"/>
              <a:gd name="T17" fmla="*/ 763380901 h 31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54" h="3161">
                <a:moveTo>
                  <a:pt x="0" y="2594"/>
                </a:moveTo>
                <a:cubicBezTo>
                  <a:pt x="79" y="2752"/>
                  <a:pt x="159" y="2911"/>
                  <a:pt x="318" y="3002"/>
                </a:cubicBezTo>
                <a:cubicBezTo>
                  <a:pt x="477" y="3093"/>
                  <a:pt x="726" y="3115"/>
                  <a:pt x="953" y="3138"/>
                </a:cubicBezTo>
                <a:cubicBezTo>
                  <a:pt x="1180" y="3161"/>
                  <a:pt x="1519" y="3161"/>
                  <a:pt x="1678" y="3138"/>
                </a:cubicBezTo>
                <a:cubicBezTo>
                  <a:pt x="1837" y="3115"/>
                  <a:pt x="1852" y="3093"/>
                  <a:pt x="1905" y="3002"/>
                </a:cubicBezTo>
                <a:cubicBezTo>
                  <a:pt x="1958" y="2911"/>
                  <a:pt x="1958" y="3025"/>
                  <a:pt x="1996" y="2594"/>
                </a:cubicBezTo>
                <a:cubicBezTo>
                  <a:pt x="2034" y="2163"/>
                  <a:pt x="1981" y="832"/>
                  <a:pt x="2132" y="416"/>
                </a:cubicBezTo>
                <a:cubicBezTo>
                  <a:pt x="2283" y="0"/>
                  <a:pt x="2752" y="114"/>
                  <a:pt x="2903" y="99"/>
                </a:cubicBezTo>
                <a:cubicBezTo>
                  <a:pt x="3054" y="84"/>
                  <a:pt x="3024" y="281"/>
                  <a:pt x="3039" y="326"/>
                </a:cubicBezTo>
              </a:path>
            </a:pathLst>
          </a:custGeom>
          <a:noFill/>
          <a:ln w="9525">
            <a:solidFill>
              <a:srgbClr val="11111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6" name="Text Box 57"/>
          <p:cNvSpPr txBox="1">
            <a:spLocks noChangeArrowheads="1"/>
          </p:cNvSpPr>
          <p:nvPr/>
        </p:nvSpPr>
        <p:spPr bwMode="auto">
          <a:xfrm>
            <a:off x="5508625" y="549275"/>
            <a:ext cx="3095625" cy="10668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bg1"/>
                </a:solidFill>
                <a:ea typeface="华文新魏" panose="02010800040101010101" pitchFamily="2" charset="-122"/>
              </a:rPr>
              <a:t>这个变换过程中存在两大类工作</a:t>
            </a:r>
          </a:p>
        </p:txBody>
      </p:sp>
      <p:sp>
        <p:nvSpPr>
          <p:cNvPr id="48147" name="Rectangle 58"/>
          <p:cNvSpPr>
            <a:spLocks noChangeArrowheads="1"/>
          </p:cNvSpPr>
          <p:nvPr/>
        </p:nvSpPr>
        <p:spPr bwMode="auto">
          <a:xfrm>
            <a:off x="2843213" y="2492375"/>
            <a:ext cx="1152525" cy="284163"/>
          </a:xfrm>
          <a:prstGeom prst="rect">
            <a:avLst/>
          </a:prstGeom>
          <a:solidFill>
            <a:schemeClr val="hlink"/>
          </a:solidFill>
          <a:ln w="9525">
            <a:solidFill>
              <a:srgbClr val="000000"/>
            </a:solidFill>
            <a:miter lim="800000"/>
            <a:headEnd/>
            <a:tailEnd/>
          </a:ln>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词法分析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48148" name="Rectangle 59"/>
          <p:cNvSpPr>
            <a:spLocks noChangeArrowheads="1"/>
          </p:cNvSpPr>
          <p:nvPr/>
        </p:nvSpPr>
        <p:spPr bwMode="auto">
          <a:xfrm>
            <a:off x="2916238" y="3276600"/>
            <a:ext cx="1008062" cy="225425"/>
          </a:xfrm>
          <a:prstGeom prst="rect">
            <a:avLst/>
          </a:prstGeom>
          <a:solidFill>
            <a:schemeClr val="hlink"/>
          </a:solidFill>
          <a:ln w="9525">
            <a:solidFill>
              <a:srgbClr val="000000"/>
            </a:solidFill>
            <a:miter lim="800000"/>
            <a:headEnd/>
            <a:tailEnd/>
          </a:ln>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语法分析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48149" name="Rectangle 60"/>
          <p:cNvSpPr>
            <a:spLocks noChangeArrowheads="1"/>
          </p:cNvSpPr>
          <p:nvPr/>
        </p:nvSpPr>
        <p:spPr bwMode="auto">
          <a:xfrm>
            <a:off x="2916238" y="4694238"/>
            <a:ext cx="1152525" cy="254000"/>
          </a:xfrm>
          <a:prstGeom prst="rect">
            <a:avLst/>
          </a:prstGeom>
          <a:solidFill>
            <a:schemeClr val="hlink"/>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solidFill>
                  <a:schemeClr val="bg1"/>
                </a:solidFill>
                <a:latin typeface="Times New Roman" panose="02020603050405020304" pitchFamily="18" charset="0"/>
                <a:ea typeface="华文新魏" panose="02010800040101010101" pitchFamily="2" charset="-122"/>
              </a:rPr>
              <a:t>语义分析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48150" name="Rectangle 61"/>
          <p:cNvSpPr>
            <a:spLocks noChangeArrowheads="1"/>
          </p:cNvSpPr>
          <p:nvPr/>
        </p:nvSpPr>
        <p:spPr bwMode="auto">
          <a:xfrm>
            <a:off x="7810500" y="4437063"/>
            <a:ext cx="968375" cy="222250"/>
          </a:xfrm>
          <a:prstGeom prst="rect">
            <a:avLst/>
          </a:prstGeom>
          <a:solidFill>
            <a:schemeClr val="hlink"/>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变换：翻译</a:t>
            </a:r>
            <a:endParaRPr lang="zh-CN" altLang="en-US" sz="1400">
              <a:solidFill>
                <a:schemeClr val="bg1"/>
              </a:solidFill>
              <a:latin typeface="Times New Roman" panose="02020603050405020304" pitchFamily="18" charset="0"/>
              <a:ea typeface="华文新魏" panose="02010800040101010101" pitchFamily="2" charset="-122"/>
            </a:endParaRPr>
          </a:p>
        </p:txBody>
      </p:sp>
      <p:sp>
        <p:nvSpPr>
          <p:cNvPr id="48151" name="Rectangle 62"/>
          <p:cNvSpPr>
            <a:spLocks noChangeArrowheads="1"/>
          </p:cNvSpPr>
          <p:nvPr/>
        </p:nvSpPr>
        <p:spPr bwMode="auto">
          <a:xfrm>
            <a:off x="7883525" y="5949950"/>
            <a:ext cx="1006475" cy="222250"/>
          </a:xfrm>
          <a:prstGeom prst="rect">
            <a:avLst/>
          </a:prstGeom>
          <a:solidFill>
            <a:schemeClr val="hlink"/>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变换：翻译</a:t>
            </a:r>
          </a:p>
        </p:txBody>
      </p:sp>
      <p:sp>
        <p:nvSpPr>
          <p:cNvPr id="48152" name="Rectangle 63"/>
          <p:cNvSpPr>
            <a:spLocks noChangeArrowheads="1"/>
          </p:cNvSpPr>
          <p:nvPr/>
        </p:nvSpPr>
        <p:spPr bwMode="auto">
          <a:xfrm>
            <a:off x="7667625" y="2997200"/>
            <a:ext cx="1295400" cy="222250"/>
          </a:xfrm>
          <a:prstGeom prst="rect">
            <a:avLst/>
          </a:prstGeom>
          <a:solidFill>
            <a:schemeClr val="hlink"/>
          </a:solidFill>
          <a:ln w="9525">
            <a:solidFill>
              <a:srgbClr val="000000"/>
            </a:solidFill>
            <a:miter lim="800000"/>
            <a:headEnd/>
            <a:tailEnd/>
          </a:ln>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400" b="1">
                <a:solidFill>
                  <a:schemeClr val="bg1"/>
                </a:solidFill>
                <a:latin typeface="Times New Roman" panose="02020603050405020304" pitchFamily="18" charset="0"/>
                <a:ea typeface="华文新魏" panose="02010800040101010101" pitchFamily="2" charset="-122"/>
              </a:rPr>
              <a:t>变换：翻译</a:t>
            </a:r>
            <a:endParaRPr lang="zh-CN" altLang="en-US" sz="1400">
              <a:solidFill>
                <a:schemeClr val="bg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39FD6D3-E435-45C8-A408-491EB44A856A}" type="datetime1">
              <a:rPr lang="zh-CN" altLang="en-US" sz="1400" smtClean="0"/>
              <a:pPr>
                <a:spcBef>
                  <a:spcPct val="0"/>
                </a:spcBef>
                <a:buClrTx/>
                <a:buSzTx/>
                <a:buFontTx/>
                <a:buNone/>
              </a:pPr>
              <a:t>2017/2/24</a:t>
            </a:fld>
            <a:endParaRPr lang="en-US" altLang="zh-CN" sz="1400" smtClean="0"/>
          </a:p>
        </p:txBody>
      </p:sp>
      <p:sp>
        <p:nvSpPr>
          <p:cNvPr id="4915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011689C-8B60-4010-9518-870BDF7E0FE4}" type="slidenum">
              <a:rPr lang="zh-CN" altLang="en-US" sz="1400"/>
              <a:pPr>
                <a:spcBef>
                  <a:spcPct val="0"/>
                </a:spcBef>
                <a:buClrTx/>
                <a:buSzTx/>
                <a:buFontTx/>
                <a:buNone/>
              </a:pPr>
              <a:t>44</a:t>
            </a:fld>
            <a:endParaRPr lang="en-US" altLang="zh-CN" sz="1400"/>
          </a:p>
        </p:txBody>
      </p:sp>
      <p:sp>
        <p:nvSpPr>
          <p:cNvPr id="49156" name="Rectangle 2"/>
          <p:cNvSpPr>
            <a:spLocks noGrp="1" noRot="1" noChangeArrowheads="1"/>
          </p:cNvSpPr>
          <p:nvPr>
            <p:ph type="title"/>
          </p:nvPr>
        </p:nvSpPr>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1.3 编译系统的功能分析</a:t>
            </a:r>
          </a:p>
        </p:txBody>
      </p:sp>
      <p:sp>
        <p:nvSpPr>
          <p:cNvPr id="49157" name="Rectangle 3"/>
          <p:cNvSpPr>
            <a:spLocks noGrp="1" noRot="1" noChangeArrowheads="1"/>
          </p:cNvSpPr>
          <p:nvPr>
            <p:ph type="body" idx="1"/>
          </p:nvPr>
        </p:nvSpPr>
        <p:spPr>
          <a:xfrm>
            <a:off x="539750" y="1989138"/>
            <a:ext cx="8054975" cy="4114800"/>
          </a:xfrm>
        </p:spPr>
        <p:txBody>
          <a:bodyPr/>
          <a:lstStyle/>
          <a:p>
            <a:pPr eaLnBrk="1" hangingPunct="1">
              <a:lnSpc>
                <a:spcPct val="90000"/>
              </a:lnSpc>
            </a:pPr>
            <a:r>
              <a:rPr lang="zh-CN" altLang="en-US" b="1" smtClean="0">
                <a:latin typeface="Times New Roman" panose="02020603050405020304" pitchFamily="18" charset="0"/>
                <a:ea typeface="华文新魏" panose="02010800040101010101" pitchFamily="2" charset="-122"/>
              </a:rPr>
              <a:t>分析</a:t>
            </a: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词法、语法、语义</a:t>
            </a:r>
          </a:p>
          <a:p>
            <a:pPr eaLnBrk="1" hangingPunct="1">
              <a:lnSpc>
                <a:spcPct val="90000"/>
              </a:lnSpc>
            </a:pPr>
            <a:r>
              <a:rPr lang="zh-CN" altLang="en-US" b="1" smtClean="0">
                <a:latin typeface="Times New Roman" panose="02020603050405020304" pitchFamily="18" charset="0"/>
                <a:ea typeface="华文新魏" panose="02010800040101010101" pitchFamily="2" charset="-122"/>
              </a:rPr>
              <a:t>翻译</a:t>
            </a: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翻译语句、生成代码</a:t>
            </a:r>
          </a:p>
          <a:p>
            <a:pPr eaLnBrk="1" hangingPunct="1">
              <a:lnSpc>
                <a:spcPct val="90000"/>
              </a:lnSpc>
            </a:pPr>
            <a:r>
              <a:rPr lang="zh-CN" altLang="en-US" b="1" smtClean="0">
                <a:latin typeface="Times New Roman" panose="02020603050405020304" pitchFamily="18" charset="0"/>
                <a:ea typeface="华文新魏" panose="02010800040101010101" pitchFamily="2" charset="-122"/>
              </a:rPr>
              <a:t>例如：标识符左值与右值的绑定</a:t>
            </a:r>
            <a:r>
              <a:rPr lang="en-US" altLang="zh-CN" sz="2000" b="1" smtClean="0">
                <a:latin typeface="Times New Roman" panose="02020603050405020304" pitchFamily="18" charset="0"/>
                <a:ea typeface="华文新魏" panose="02010800040101010101" pitchFamily="2" charset="-122"/>
              </a:rPr>
              <a:t>(binding)</a:t>
            </a:r>
          </a:p>
          <a:p>
            <a:pPr lvl="1" eaLnBrk="1" hangingPunct="1">
              <a:lnSpc>
                <a:spcPct val="90000"/>
              </a:lnSpc>
            </a:pPr>
            <a:r>
              <a:rPr lang="en-US" altLang="zh-CN" b="1" smtClean="0">
                <a:latin typeface="Times New Roman" panose="02020603050405020304" pitchFamily="18" charset="0"/>
              </a:rPr>
              <a:t>MOVF id2, R1</a:t>
            </a:r>
            <a:endParaRPr lang="en-US" altLang="zh-CN" sz="1800" b="1" smtClean="0">
              <a:latin typeface="Times New Roman" panose="02020603050405020304" pitchFamily="18" charset="0"/>
              <a:ea typeface="华文新魏" panose="02010800040101010101" pitchFamily="2" charset="-122"/>
            </a:endParaRP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变量：存储单元；		名字：值</a:t>
            </a:r>
          </a:p>
          <a:p>
            <a:pPr lvl="1" eaLnBrk="1" hangingPunct="1">
              <a:lnSpc>
                <a:spcPct val="90000"/>
              </a:lnSpc>
            </a:pPr>
            <a:r>
              <a:rPr lang="zh-CN" altLang="en-US" b="1" smtClean="0">
                <a:latin typeface="Times New Roman" panose="02020603050405020304" pitchFamily="18" charset="0"/>
                <a:ea typeface="华文新魏" panose="02010800040101010101" pitchFamily="2" charset="-122"/>
              </a:rPr>
              <a:t>函数：目标代码序列；	名字：入口地址</a:t>
            </a:r>
            <a:endParaRPr lang="en-US" altLang="zh-CN" b="1" smtClean="0">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a:xfrm>
            <a:off x="609600" y="228600"/>
            <a:ext cx="8229600" cy="685800"/>
          </a:xfrm>
        </p:spPr>
        <p:txBody>
          <a:bodyPr/>
          <a:lstStyle/>
          <a:p>
            <a:pPr algn="l" eaLnBrk="1" hangingPunct="1"/>
            <a:r>
              <a:rPr lang="zh-CN" altLang="en-US" b="1" smtClean="0">
                <a:solidFill>
                  <a:srgbClr val="0033CC"/>
                </a:solidFill>
                <a:latin typeface="Times New Roman" panose="02020603050405020304" pitchFamily="18" charset="0"/>
                <a:ea typeface="华文新魏" panose="02010800040101010101" pitchFamily="2" charset="-122"/>
              </a:rPr>
              <a:t>1.4 编译程序总体结构</a:t>
            </a:r>
            <a:endParaRPr lang="en-US" altLang="zh-CN" sz="2400" b="1" smtClean="0">
              <a:solidFill>
                <a:srgbClr val="0033CC"/>
              </a:solidFill>
              <a:latin typeface="Times New Roman" panose="02020603050405020304" pitchFamily="18" charset="0"/>
              <a:ea typeface="华文新魏" panose="02010800040101010101" pitchFamily="2" charset="-122"/>
            </a:endParaRPr>
          </a:p>
        </p:txBody>
      </p:sp>
      <p:sp>
        <p:nvSpPr>
          <p:cNvPr id="294915" name="Rectangle 3"/>
          <p:cNvSpPr>
            <a:spLocks noChangeArrowheads="1"/>
          </p:cNvSpPr>
          <p:nvPr/>
        </p:nvSpPr>
        <p:spPr bwMode="auto">
          <a:xfrm>
            <a:off x="3044825" y="5791200"/>
            <a:ext cx="28956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294916" name="Rectangle 4"/>
          <p:cNvSpPr>
            <a:spLocks noChangeArrowheads="1"/>
          </p:cNvSpPr>
          <p:nvPr/>
        </p:nvSpPr>
        <p:spPr bwMode="auto">
          <a:xfrm>
            <a:off x="3425825" y="47244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294917" name="Rectangle 5"/>
          <p:cNvSpPr>
            <a:spLocks noChangeArrowheads="1"/>
          </p:cNvSpPr>
          <p:nvPr/>
        </p:nvSpPr>
        <p:spPr bwMode="auto">
          <a:xfrm>
            <a:off x="2435225" y="3657600"/>
            <a:ext cx="4495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294918" name="Rectangle 6"/>
          <p:cNvSpPr>
            <a:spLocks noChangeArrowheads="1"/>
          </p:cNvSpPr>
          <p:nvPr/>
        </p:nvSpPr>
        <p:spPr bwMode="auto">
          <a:xfrm>
            <a:off x="3425825" y="25146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50183" name="Group 7"/>
          <p:cNvGrpSpPr>
            <a:grpSpLocks/>
          </p:cNvGrpSpPr>
          <p:nvPr/>
        </p:nvGrpSpPr>
        <p:grpSpPr bwMode="auto">
          <a:xfrm>
            <a:off x="933450" y="1752600"/>
            <a:ext cx="2492375" cy="4572000"/>
            <a:chOff x="542" y="1104"/>
            <a:chExt cx="1570" cy="2880"/>
          </a:xfrm>
        </p:grpSpPr>
        <p:sp>
          <p:nvSpPr>
            <p:cNvPr id="294920" name="Text Box 8"/>
            <p:cNvSpPr txBox="1">
              <a:spLocks noChangeArrowheads="1"/>
            </p:cNvSpPr>
            <p:nvPr/>
          </p:nvSpPr>
          <p:spPr bwMode="auto">
            <a:xfrm>
              <a:off x="542" y="1104"/>
              <a:ext cx="418" cy="28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表    格    管    理    器</a:t>
              </a:r>
            </a:p>
          </p:txBody>
        </p:sp>
        <p:sp>
          <p:nvSpPr>
            <p:cNvPr id="50222" name="Line 9"/>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0223" name="Line 10"/>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0224" name="Line 11"/>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0225" name="Line 12"/>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0226" name="Line 13"/>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50184" name="Group 14"/>
          <p:cNvGrpSpPr>
            <a:grpSpLocks/>
          </p:cNvGrpSpPr>
          <p:nvPr/>
        </p:nvGrpSpPr>
        <p:grpSpPr bwMode="auto">
          <a:xfrm>
            <a:off x="5456238" y="1600200"/>
            <a:ext cx="2644775" cy="4724400"/>
            <a:chOff x="3408" y="1008"/>
            <a:chExt cx="1666" cy="2976"/>
          </a:xfrm>
        </p:grpSpPr>
        <p:grpSp>
          <p:nvGrpSpPr>
            <p:cNvPr id="50214" name="Group 15"/>
            <p:cNvGrpSpPr>
              <a:grpSpLocks/>
            </p:cNvGrpSpPr>
            <p:nvPr/>
          </p:nvGrpSpPr>
          <p:grpSpPr bwMode="auto">
            <a:xfrm>
              <a:off x="3408" y="1008"/>
              <a:ext cx="1666" cy="2976"/>
              <a:chOff x="3408" y="1008"/>
              <a:chExt cx="1666" cy="2976"/>
            </a:xfrm>
          </p:grpSpPr>
          <p:sp>
            <p:nvSpPr>
              <p:cNvPr id="294928" name="Text Box 16"/>
              <p:cNvSpPr txBox="1">
                <a:spLocks noChangeArrowheads="1"/>
              </p:cNvSpPr>
              <p:nvPr/>
            </p:nvSpPr>
            <p:spPr bwMode="auto">
              <a:xfrm>
                <a:off x="4656" y="1008"/>
                <a:ext cx="418" cy="29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         出    错    处    理   器</a:t>
                </a:r>
              </a:p>
            </p:txBody>
          </p:sp>
          <p:sp>
            <p:nvSpPr>
              <p:cNvPr id="50217" name="Line 17"/>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0218" name="Line 18"/>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0219" name="Line 19"/>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0220" name="Line 20"/>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50215" name="Line 21"/>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50185" name="Group 22"/>
          <p:cNvGrpSpPr>
            <a:grpSpLocks/>
          </p:cNvGrpSpPr>
          <p:nvPr/>
        </p:nvGrpSpPr>
        <p:grpSpPr bwMode="auto">
          <a:xfrm>
            <a:off x="4264025" y="4343400"/>
            <a:ext cx="1524000" cy="381000"/>
            <a:chOff x="2640" y="2736"/>
            <a:chExt cx="960" cy="240"/>
          </a:xfrm>
        </p:grpSpPr>
        <p:sp>
          <p:nvSpPr>
            <p:cNvPr id="294935" name="Rectangle 23"/>
            <p:cNvSpPr>
              <a:spLocks noChangeArrowheads="1"/>
            </p:cNvSpPr>
            <p:nvPr/>
          </p:nvSpPr>
          <p:spPr bwMode="auto">
            <a:xfrm>
              <a:off x="2832" y="273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sp>
          <p:nvSpPr>
            <p:cNvPr id="50213" name="AutoShape 24"/>
            <p:cNvSpPr>
              <a:spLocks noChangeArrowheads="1"/>
            </p:cNvSpPr>
            <p:nvPr/>
          </p:nvSpPr>
          <p:spPr bwMode="auto">
            <a:xfrm>
              <a:off x="2640" y="273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nvGrpSpPr>
          <p:cNvPr id="50186" name="Group 25"/>
          <p:cNvGrpSpPr>
            <a:grpSpLocks/>
          </p:cNvGrpSpPr>
          <p:nvPr/>
        </p:nvGrpSpPr>
        <p:grpSpPr bwMode="auto">
          <a:xfrm>
            <a:off x="4264025" y="5410200"/>
            <a:ext cx="1524000" cy="381000"/>
            <a:chOff x="2640" y="3408"/>
            <a:chExt cx="960" cy="240"/>
          </a:xfrm>
        </p:grpSpPr>
        <p:sp>
          <p:nvSpPr>
            <p:cNvPr id="50210" name="AutoShape 26"/>
            <p:cNvSpPr>
              <a:spLocks noChangeArrowheads="1"/>
            </p:cNvSpPr>
            <p:nvPr/>
          </p:nvSpPr>
          <p:spPr bwMode="auto">
            <a:xfrm>
              <a:off x="2640" y="340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4939" name="Rectangle 27"/>
            <p:cNvSpPr>
              <a:spLocks noChangeArrowheads="1"/>
            </p:cNvSpPr>
            <p:nvPr/>
          </p:nvSpPr>
          <p:spPr bwMode="auto">
            <a:xfrm>
              <a:off x="2832" y="340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grpSp>
      <p:grpSp>
        <p:nvGrpSpPr>
          <p:cNvPr id="50187" name="Group 28"/>
          <p:cNvGrpSpPr>
            <a:grpSpLocks/>
          </p:cNvGrpSpPr>
          <p:nvPr/>
        </p:nvGrpSpPr>
        <p:grpSpPr bwMode="auto">
          <a:xfrm>
            <a:off x="4191000" y="6467475"/>
            <a:ext cx="1447800" cy="390525"/>
            <a:chOff x="2640" y="4074"/>
            <a:chExt cx="912" cy="246"/>
          </a:xfrm>
        </p:grpSpPr>
        <p:sp>
          <p:nvSpPr>
            <p:cNvPr id="50208" name="AutoShape 29"/>
            <p:cNvSpPr>
              <a:spLocks noChangeArrowheads="1"/>
            </p:cNvSpPr>
            <p:nvPr/>
          </p:nvSpPr>
          <p:spPr bwMode="auto">
            <a:xfrm>
              <a:off x="2640" y="408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4942" name="Rectangle 30"/>
            <p:cNvSpPr>
              <a:spLocks noChangeArrowheads="1"/>
            </p:cNvSpPr>
            <p:nvPr/>
          </p:nvSpPr>
          <p:spPr bwMode="auto">
            <a:xfrm>
              <a:off x="2784" y="407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目标程序</a:t>
              </a:r>
            </a:p>
          </p:txBody>
        </p:sp>
      </p:grpSp>
      <p:grpSp>
        <p:nvGrpSpPr>
          <p:cNvPr id="50188" name="Group 31"/>
          <p:cNvGrpSpPr>
            <a:grpSpLocks/>
          </p:cNvGrpSpPr>
          <p:nvPr/>
        </p:nvGrpSpPr>
        <p:grpSpPr bwMode="auto">
          <a:xfrm>
            <a:off x="4264025" y="3200400"/>
            <a:ext cx="1600200" cy="381000"/>
            <a:chOff x="2640" y="2016"/>
            <a:chExt cx="1008" cy="240"/>
          </a:xfrm>
        </p:grpSpPr>
        <p:sp>
          <p:nvSpPr>
            <p:cNvPr id="50206" name="AutoShape 32"/>
            <p:cNvSpPr>
              <a:spLocks noChangeArrowheads="1"/>
            </p:cNvSpPr>
            <p:nvPr/>
          </p:nvSpPr>
          <p:spPr bwMode="auto">
            <a:xfrm>
              <a:off x="2640" y="201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4945" name="Rectangle 33"/>
            <p:cNvSpPr>
              <a:spLocks noChangeArrowheads="1"/>
            </p:cNvSpPr>
            <p:nvPr/>
          </p:nvSpPr>
          <p:spPr bwMode="auto">
            <a:xfrm>
              <a:off x="2880" y="201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grpSp>
        <p:nvGrpSpPr>
          <p:cNvPr id="50189" name="Group 34"/>
          <p:cNvGrpSpPr>
            <a:grpSpLocks/>
          </p:cNvGrpSpPr>
          <p:nvPr/>
        </p:nvGrpSpPr>
        <p:grpSpPr bwMode="auto">
          <a:xfrm>
            <a:off x="4264025" y="2133600"/>
            <a:ext cx="1600200" cy="381000"/>
            <a:chOff x="2640" y="1344"/>
            <a:chExt cx="1008" cy="240"/>
          </a:xfrm>
        </p:grpSpPr>
        <p:sp>
          <p:nvSpPr>
            <p:cNvPr id="50204" name="AutoShape 35"/>
            <p:cNvSpPr>
              <a:spLocks noChangeArrowheads="1"/>
            </p:cNvSpPr>
            <p:nvPr/>
          </p:nvSpPr>
          <p:spPr bwMode="auto">
            <a:xfrm>
              <a:off x="2640" y="134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4948" name="Rectangle 36"/>
            <p:cNvSpPr>
              <a:spLocks noChangeArrowheads="1"/>
            </p:cNvSpPr>
            <p:nvPr/>
          </p:nvSpPr>
          <p:spPr bwMode="auto">
            <a:xfrm>
              <a:off x="2880" y="13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单词符号</a:t>
              </a:r>
            </a:p>
          </p:txBody>
        </p:sp>
      </p:grpSp>
      <p:grpSp>
        <p:nvGrpSpPr>
          <p:cNvPr id="50190" name="Group 37"/>
          <p:cNvGrpSpPr>
            <a:grpSpLocks/>
          </p:cNvGrpSpPr>
          <p:nvPr/>
        </p:nvGrpSpPr>
        <p:grpSpPr bwMode="auto">
          <a:xfrm>
            <a:off x="3425825" y="1066800"/>
            <a:ext cx="2362200" cy="990600"/>
            <a:chOff x="2112" y="672"/>
            <a:chExt cx="1488" cy="624"/>
          </a:xfrm>
        </p:grpSpPr>
        <p:sp>
          <p:nvSpPr>
            <p:cNvPr id="294950" name="Rectangle 38"/>
            <p:cNvSpPr>
              <a:spLocks noChangeArrowheads="1"/>
            </p:cNvSpPr>
            <p:nvPr/>
          </p:nvSpPr>
          <p:spPr bwMode="auto">
            <a:xfrm>
              <a:off x="2112" y="912"/>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grpSp>
          <p:nvGrpSpPr>
            <p:cNvPr id="50201" name="Group 39"/>
            <p:cNvGrpSpPr>
              <a:grpSpLocks/>
            </p:cNvGrpSpPr>
            <p:nvPr/>
          </p:nvGrpSpPr>
          <p:grpSpPr bwMode="auto">
            <a:xfrm>
              <a:off x="2640" y="672"/>
              <a:ext cx="960" cy="240"/>
              <a:chOff x="2640" y="672"/>
              <a:chExt cx="960" cy="240"/>
            </a:xfrm>
          </p:grpSpPr>
          <p:sp>
            <p:nvSpPr>
              <p:cNvPr id="50202" name="AutoShape 40"/>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4953" name="Rectangle 41"/>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sp>
        <p:nvSpPr>
          <p:cNvPr id="50191" name="Rectangle 42"/>
          <p:cNvSpPr>
            <a:spLocks noChangeArrowheads="1"/>
          </p:cNvSpPr>
          <p:nvPr/>
        </p:nvSpPr>
        <p:spPr bwMode="auto">
          <a:xfrm>
            <a:off x="6764338" y="6457950"/>
            <a:ext cx="163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latin typeface="Times New Roman" panose="02020603050405020304" pitchFamily="18" charset="0"/>
                <a:ea typeface="华文新魏" panose="02010800040101010101" pitchFamily="2" charset="-122"/>
              </a:rPr>
              <a:t>请参阅</a:t>
            </a:r>
            <a:r>
              <a:rPr lang="en-US" altLang="zh-CN" sz="1800" b="1">
                <a:latin typeface="Times New Roman" panose="02020603050405020304" pitchFamily="18" charset="0"/>
                <a:ea typeface="华文新魏" panose="02010800040101010101" pitchFamily="2" charset="-122"/>
              </a:rPr>
              <a:t>P8</a:t>
            </a:r>
            <a:r>
              <a:rPr lang="zh-CN" altLang="en-US" sz="1800" b="1">
                <a:latin typeface="Times New Roman" panose="02020603050405020304" pitchFamily="18" charset="0"/>
                <a:ea typeface="华文新魏" panose="02010800040101010101" pitchFamily="2" charset="-122"/>
              </a:rPr>
              <a:t>图1.</a:t>
            </a:r>
            <a:r>
              <a:rPr lang="en-US" altLang="zh-CN" sz="1800" b="1">
                <a:latin typeface="Times New Roman" panose="02020603050405020304" pitchFamily="18" charset="0"/>
                <a:ea typeface="华文新魏" panose="02010800040101010101" pitchFamily="2" charset="-122"/>
              </a:rPr>
              <a:t>6</a:t>
            </a:r>
            <a:endParaRPr lang="zh-CN" altLang="en-US" sz="1800" b="1">
              <a:latin typeface="Times New Roman" panose="02020603050405020304" pitchFamily="18" charset="0"/>
              <a:ea typeface="华文新魏" panose="02010800040101010101" pitchFamily="2" charset="-122"/>
            </a:endParaRPr>
          </a:p>
        </p:txBody>
      </p:sp>
      <p:grpSp>
        <p:nvGrpSpPr>
          <p:cNvPr id="50192" name="Group 1028"/>
          <p:cNvGrpSpPr>
            <a:grpSpLocks/>
          </p:cNvGrpSpPr>
          <p:nvPr/>
        </p:nvGrpSpPr>
        <p:grpSpPr bwMode="auto">
          <a:xfrm>
            <a:off x="3419475" y="1069975"/>
            <a:ext cx="2362200" cy="990600"/>
            <a:chOff x="2112" y="672"/>
            <a:chExt cx="1488" cy="624"/>
          </a:xfrm>
        </p:grpSpPr>
        <p:sp>
          <p:nvSpPr>
            <p:cNvPr id="308229" name="Rectangle 1029"/>
            <p:cNvSpPr>
              <a:spLocks noChangeArrowheads="1"/>
            </p:cNvSpPr>
            <p:nvPr/>
          </p:nvSpPr>
          <p:spPr bwMode="auto">
            <a:xfrm>
              <a:off x="2112" y="912"/>
              <a:ext cx="1296" cy="384"/>
            </a:xfrm>
            <a:prstGeom prst="rect">
              <a:avLst/>
            </a:prstGeom>
            <a:solidFill>
              <a:srgbClr val="99FFCC"/>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词法分析器</a:t>
              </a:r>
            </a:p>
          </p:txBody>
        </p:sp>
        <p:grpSp>
          <p:nvGrpSpPr>
            <p:cNvPr id="50197" name="Group 1030"/>
            <p:cNvGrpSpPr>
              <a:grpSpLocks/>
            </p:cNvGrpSpPr>
            <p:nvPr/>
          </p:nvGrpSpPr>
          <p:grpSpPr bwMode="auto">
            <a:xfrm>
              <a:off x="2640" y="672"/>
              <a:ext cx="960" cy="240"/>
              <a:chOff x="2640" y="672"/>
              <a:chExt cx="960" cy="240"/>
            </a:xfrm>
          </p:grpSpPr>
          <p:sp>
            <p:nvSpPr>
              <p:cNvPr id="50198" name="AutoShape 1031"/>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08232" name="Rectangle 1032"/>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grpSp>
        <p:nvGrpSpPr>
          <p:cNvPr id="50193" name="Group 1036"/>
          <p:cNvGrpSpPr>
            <a:grpSpLocks/>
          </p:cNvGrpSpPr>
          <p:nvPr/>
        </p:nvGrpSpPr>
        <p:grpSpPr bwMode="auto">
          <a:xfrm>
            <a:off x="4237038" y="3141663"/>
            <a:ext cx="1871662" cy="2663825"/>
            <a:chOff x="2653" y="1979"/>
            <a:chExt cx="1179" cy="1678"/>
          </a:xfrm>
        </p:grpSpPr>
        <p:sp>
          <p:nvSpPr>
            <p:cNvPr id="50194" name="AutoShape 1034"/>
            <p:cNvSpPr>
              <a:spLocks noChangeArrowheads="1"/>
            </p:cNvSpPr>
            <p:nvPr/>
          </p:nvSpPr>
          <p:spPr bwMode="auto">
            <a:xfrm>
              <a:off x="2653" y="1979"/>
              <a:ext cx="227" cy="1678"/>
            </a:xfrm>
            <a:prstGeom prst="downArrow">
              <a:avLst>
                <a:gd name="adj1" fmla="val 50000"/>
                <a:gd name="adj2" fmla="val 184802"/>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08235" name="Rectangle 1035"/>
            <p:cNvSpPr>
              <a:spLocks noChangeArrowheads="1"/>
            </p:cNvSpPr>
            <p:nvPr/>
          </p:nvSpPr>
          <p:spPr bwMode="auto">
            <a:xfrm>
              <a:off x="2880" y="2704"/>
              <a:ext cx="95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日期占位符 4"/>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365450F-FC8E-423B-9B50-04B881AE021B}" type="datetime1">
              <a:rPr lang="zh-CN" altLang="en-US" sz="1400" smtClean="0"/>
              <a:pPr>
                <a:spcBef>
                  <a:spcPct val="0"/>
                </a:spcBef>
                <a:buClrTx/>
                <a:buSzTx/>
                <a:buFontTx/>
                <a:buNone/>
              </a:pPr>
              <a:t>2017/2/24</a:t>
            </a:fld>
            <a:endParaRPr lang="en-US" altLang="zh-CN" sz="1400" smtClean="0"/>
          </a:p>
        </p:txBody>
      </p:sp>
      <p:sp>
        <p:nvSpPr>
          <p:cNvPr id="51203" name="灯片编号占位符 6"/>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B441503-5967-461A-B9C2-354105A0FF6A}" type="slidenum">
              <a:rPr lang="zh-CN" altLang="en-US" sz="1400"/>
              <a:pPr>
                <a:spcBef>
                  <a:spcPct val="0"/>
                </a:spcBef>
                <a:buClrTx/>
                <a:buSzTx/>
                <a:buFontTx/>
                <a:buNone/>
              </a:pPr>
              <a:t>46</a:t>
            </a:fld>
            <a:endParaRPr lang="en-US" altLang="zh-CN" sz="1400"/>
          </a:p>
        </p:txBody>
      </p:sp>
      <p:sp>
        <p:nvSpPr>
          <p:cNvPr id="51204" name="Rectangle 2"/>
          <p:cNvSpPr>
            <a:spLocks noGrp="1" noRot="1" noChangeArrowheads="1"/>
          </p:cNvSpPr>
          <p:nvPr>
            <p:ph type="title"/>
          </p:nvPr>
        </p:nvSpPr>
        <p:spPr>
          <a:xfrm>
            <a:off x="684213" y="620713"/>
            <a:ext cx="4335462" cy="731837"/>
          </a:xfrm>
        </p:spPr>
        <p:txBody>
          <a:bodyPr/>
          <a:lstStyle/>
          <a:p>
            <a:pPr eaLnBrk="1" hangingPunct="1"/>
            <a:r>
              <a:rPr lang="zh-CN" altLang="en-US" sz="4800" b="1" smtClean="0">
                <a:solidFill>
                  <a:srgbClr val="000099"/>
                </a:solidFill>
                <a:latin typeface="Times New Roman" panose="02020603050405020304" pitchFamily="18" charset="0"/>
                <a:ea typeface="华文新魏" panose="02010800040101010101" pitchFamily="2" charset="-122"/>
              </a:rPr>
              <a:t>1. 词法分析</a:t>
            </a:r>
            <a:endParaRPr lang="zh-CN" altLang="en-US" b="1" smtClean="0">
              <a:solidFill>
                <a:srgbClr val="000099"/>
              </a:solidFill>
              <a:latin typeface="Times New Roman" panose="02020603050405020304" pitchFamily="18" charset="0"/>
              <a:ea typeface="华文新魏" panose="02010800040101010101" pitchFamily="2" charset="-122"/>
            </a:endParaRPr>
          </a:p>
        </p:txBody>
      </p:sp>
      <p:sp>
        <p:nvSpPr>
          <p:cNvPr id="51205" name="Rectangle 3"/>
          <p:cNvSpPr>
            <a:spLocks noGrp="1" noRot="1" noChangeArrowheads="1"/>
          </p:cNvSpPr>
          <p:nvPr>
            <p:ph type="body" sz="half" idx="1"/>
          </p:nvPr>
        </p:nvSpPr>
        <p:spPr>
          <a:xfrm>
            <a:off x="468313" y="2060575"/>
            <a:ext cx="4751387" cy="863600"/>
          </a:xfrm>
          <a:extLst>
            <a:ext uri="{91240B29-F687-4F45-9708-019B960494DF}">
              <a14:hiddenLine xmlns:a14="http://schemas.microsoft.com/office/drawing/2010/main" w="9525">
                <a:solidFill>
                  <a:schemeClr val="accent2"/>
                </a:solidFill>
                <a:miter lim="800000"/>
                <a:headEnd/>
                <a:tailEnd/>
              </a14:hiddenLine>
            </a:ext>
          </a:extLst>
        </p:spPr>
        <p:txBody>
          <a:bodyPr/>
          <a:lstStyle/>
          <a:p>
            <a:pPr eaLnBrk="1" hangingPunct="1">
              <a:lnSpc>
                <a:spcPct val="80000"/>
              </a:lnSpc>
            </a:pPr>
            <a:r>
              <a:rPr lang="zh-CN" altLang="en-US" b="1" smtClean="0">
                <a:latin typeface="Times New Roman" panose="02020603050405020304" pitchFamily="18" charset="0"/>
                <a:ea typeface="华文新魏" panose="02010800040101010101" pitchFamily="2" charset="-122"/>
              </a:rPr>
              <a:t>例：</a:t>
            </a:r>
          </a:p>
          <a:p>
            <a:pPr>
              <a:lnSpc>
                <a:spcPct val="80000"/>
              </a:lnSpc>
              <a:spcBef>
                <a:spcPct val="0"/>
              </a:spcBef>
              <a:buClrTx/>
              <a:buSzTx/>
              <a:buFontTx/>
              <a:buNone/>
            </a:pPr>
            <a:r>
              <a:rPr lang="en-US" altLang="zh-CN" b="1" smtClean="0">
                <a:latin typeface="Times New Roman" panose="02020603050405020304" pitchFamily="18" charset="0"/>
                <a:ea typeface="华文新魏" panose="02010800040101010101" pitchFamily="2" charset="-122"/>
              </a:rPr>
              <a:t>res=fact *(term1+term2);</a:t>
            </a:r>
          </a:p>
        </p:txBody>
      </p:sp>
      <p:sp>
        <p:nvSpPr>
          <p:cNvPr id="51206" name="Rectangle 4"/>
          <p:cNvSpPr>
            <a:spLocks noGrp="1" noRot="1" noChangeArrowheads="1"/>
          </p:cNvSpPr>
          <p:nvPr>
            <p:ph type="body" sz="half" idx="2"/>
          </p:nvPr>
        </p:nvSpPr>
        <p:spPr>
          <a:xfrm>
            <a:off x="5580063" y="1916113"/>
            <a:ext cx="3240087" cy="4464050"/>
          </a:xfrm>
          <a:extLst>
            <a:ext uri="{91240B29-F687-4F45-9708-019B960494DF}">
              <a14:hiddenLine xmlns:a14="http://schemas.microsoft.com/office/drawing/2010/main" w="28575" cmpd="sng">
                <a:solidFill>
                  <a:srgbClr val="FF0000"/>
                </a:solidFill>
                <a:miter lim="800000"/>
                <a:headEnd/>
                <a:tailEnd/>
              </a14:hiddenLine>
            </a:ext>
          </a:extLst>
        </p:spPr>
        <p:txBody>
          <a:bodyPr/>
          <a:lstStyle/>
          <a:p>
            <a:pPr eaLnBrk="1" hangingPunct="1">
              <a:buFont typeface="Wingdings" panose="05000000000000000000" pitchFamily="2" charset="2"/>
              <a:buNone/>
            </a:pPr>
            <a:r>
              <a:rPr lang="zh-CN" altLang="en-US" sz="2200" b="1" smtClean="0">
                <a:latin typeface="Times New Roman" panose="02020603050405020304" pitchFamily="18" charset="0"/>
                <a:ea typeface="华文新魏" panose="02010800040101010101" pitchFamily="2" charset="-122"/>
              </a:rPr>
              <a:t>结果</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IDN	 res</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IDN            fact</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IDN	term1 </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IDN           term2</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a:t>
            </a:r>
          </a:p>
          <a:p>
            <a:pPr lvl="1" eaLnBrk="1" hangingPunct="1">
              <a:buFont typeface="Wingdings" panose="05000000000000000000" pitchFamily="2" charset="2"/>
              <a:buNone/>
            </a:pPr>
            <a:r>
              <a:rPr lang="en-US" altLang="zh-CN" sz="2200" b="1" smtClean="0">
                <a:latin typeface="Times New Roman" panose="02020603050405020304" pitchFamily="18" charset="0"/>
                <a:ea typeface="华文新魏" panose="02010800040101010101" pitchFamily="2" charset="-122"/>
              </a:rPr>
              <a:t>‘;’</a:t>
            </a:r>
          </a:p>
        </p:txBody>
      </p:sp>
      <p:sp>
        <p:nvSpPr>
          <p:cNvPr id="295941" name="Rectangle 5"/>
          <p:cNvSpPr>
            <a:spLocks noChangeArrowheads="1"/>
          </p:cNvSpPr>
          <p:nvPr/>
        </p:nvSpPr>
        <p:spPr bwMode="auto">
          <a:xfrm>
            <a:off x="755650" y="3260725"/>
            <a:ext cx="3240088" cy="103187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800" b="1">
                <a:solidFill>
                  <a:schemeClr val="bg1"/>
                </a:solidFill>
                <a:effectLst>
                  <a:outerShdw blurRad="38100" dist="38100" dir="2700000" algn="tl">
                    <a:srgbClr val="000000"/>
                  </a:outerShdw>
                </a:effectLst>
                <a:latin typeface="华文新魏" pitchFamily="2" charset="-122"/>
                <a:ea typeface="华文新魏" pitchFamily="2" charset="-122"/>
              </a:rPr>
              <a:t>在机器的眼里，只是一个</a:t>
            </a:r>
            <a:r>
              <a:rPr kumimoji="1" lang="zh-CN" altLang="en-US" sz="2800" b="1">
                <a:solidFill>
                  <a:srgbClr val="FFFF00"/>
                </a:solidFill>
                <a:effectLst>
                  <a:outerShdw blurRad="38100" dist="38100" dir="2700000" algn="tl">
                    <a:srgbClr val="000000"/>
                  </a:outerShdw>
                </a:effectLst>
                <a:latin typeface="华文新魏" pitchFamily="2" charset="-122"/>
                <a:ea typeface="华文新魏" pitchFamily="2" charset="-122"/>
              </a:rPr>
              <a:t>字符</a:t>
            </a:r>
            <a:r>
              <a:rPr kumimoji="1" lang="zh-CN" altLang="en-US" sz="2800" b="1">
                <a:solidFill>
                  <a:schemeClr val="bg1"/>
                </a:solidFill>
                <a:effectLst>
                  <a:outerShdw blurRad="38100" dist="38100" dir="2700000" algn="tl">
                    <a:srgbClr val="000000"/>
                  </a:outerShdw>
                </a:effectLst>
                <a:latin typeface="华文新魏" pitchFamily="2" charset="-122"/>
                <a:ea typeface="华文新魏" pitchFamily="2" charset="-122"/>
              </a:rPr>
              <a:t>序列！</a:t>
            </a:r>
          </a:p>
        </p:txBody>
      </p:sp>
      <p:sp>
        <p:nvSpPr>
          <p:cNvPr id="295942" name="Rectangle 6"/>
          <p:cNvSpPr>
            <a:spLocks noChangeArrowheads="1"/>
          </p:cNvSpPr>
          <p:nvPr/>
        </p:nvSpPr>
        <p:spPr bwMode="auto">
          <a:xfrm>
            <a:off x="5148263" y="620713"/>
            <a:ext cx="3743325"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800" b="1">
                <a:solidFill>
                  <a:srgbClr val="CC3300"/>
                </a:solidFill>
                <a:effectLst>
                  <a:outerShdw blurRad="38100" dist="38100" dir="2700000" algn="tl">
                    <a:srgbClr val="C0C0C0"/>
                  </a:outerShdw>
                </a:effectLst>
                <a:latin typeface="Times New Roman" pitchFamily="18" charset="0"/>
                <a:ea typeface="华文新魏" pitchFamily="2" charset="-122"/>
              </a:rPr>
              <a:t>走向目标</a:t>
            </a: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1</a:t>
            </a:r>
            <a:r>
              <a:rPr kumimoji="1" lang="zh-CN" altLang="en-US" sz="2800" b="1">
                <a:solidFill>
                  <a:srgbClr val="CC3300"/>
                </a:solidFill>
                <a:effectLst>
                  <a:outerShdw blurRad="38100" dist="38100" dir="2700000" algn="tl">
                    <a:srgbClr val="C0C0C0"/>
                  </a:outerShdw>
                </a:effectLst>
                <a:latin typeface="Times New Roman" pitchFamily="18" charset="0"/>
                <a:ea typeface="华文新魏" pitchFamily="2" charset="-122"/>
              </a:rPr>
              <a:t>：变成一个单词序列！</a:t>
            </a:r>
          </a:p>
        </p:txBody>
      </p:sp>
      <p:sp>
        <p:nvSpPr>
          <p:cNvPr id="295943" name="Rectangle 7"/>
          <p:cNvSpPr>
            <a:spLocks noChangeArrowheads="1"/>
          </p:cNvSpPr>
          <p:nvPr/>
        </p:nvSpPr>
        <p:spPr bwMode="auto">
          <a:xfrm>
            <a:off x="755650" y="5157788"/>
            <a:ext cx="3240088" cy="1031875"/>
          </a:xfrm>
          <a:prstGeom prst="rect">
            <a:avLst/>
          </a:prstGeom>
          <a:solidFill>
            <a:srgbClr val="66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800" b="1">
                <a:solidFill>
                  <a:schemeClr val="bg1"/>
                </a:solidFill>
                <a:effectLst>
                  <a:outerShdw blurRad="38100" dist="38100" dir="2700000" algn="tl">
                    <a:srgbClr val="000000"/>
                  </a:outerShdw>
                </a:effectLst>
                <a:latin typeface="华文新魏" pitchFamily="2" charset="-122"/>
                <a:ea typeface="华文新魏" pitchFamily="2" charset="-122"/>
              </a:rPr>
              <a:t>在机器的眼里，变成一个</a:t>
            </a:r>
            <a:r>
              <a:rPr kumimoji="1" lang="zh-CN" altLang="en-US" sz="2800" b="1">
                <a:solidFill>
                  <a:srgbClr val="FFFF00"/>
                </a:solidFill>
                <a:effectLst>
                  <a:outerShdw blurRad="38100" dist="38100" dir="2700000" algn="tl">
                    <a:srgbClr val="000000"/>
                  </a:outerShdw>
                </a:effectLst>
                <a:latin typeface="华文新魏" pitchFamily="2" charset="-122"/>
                <a:ea typeface="华文新魏" pitchFamily="2" charset="-122"/>
              </a:rPr>
              <a:t>符号</a:t>
            </a:r>
            <a:r>
              <a:rPr kumimoji="1" lang="zh-CN" altLang="en-US" sz="2800" b="1">
                <a:solidFill>
                  <a:schemeClr val="bg1"/>
                </a:solidFill>
                <a:effectLst>
                  <a:outerShdw blurRad="38100" dist="38100" dir="2700000" algn="tl">
                    <a:srgbClr val="000000"/>
                  </a:outerShdw>
                </a:effectLst>
                <a:latin typeface="华文新魏" pitchFamily="2" charset="-122"/>
                <a:ea typeface="华文新魏" pitchFamily="2" charset="-122"/>
              </a:rPr>
              <a:t>序列！</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8CDBF4E-1D00-457E-802A-F65A4D3CBB6A}" type="datetime1">
              <a:rPr lang="zh-CN" altLang="en-US" sz="1400" smtClean="0"/>
              <a:pPr>
                <a:spcBef>
                  <a:spcPct val="0"/>
                </a:spcBef>
                <a:buClrTx/>
                <a:buSzTx/>
                <a:buFontTx/>
                <a:buNone/>
              </a:pPr>
              <a:t>2017/2/24</a:t>
            </a:fld>
            <a:endParaRPr lang="en-US" altLang="zh-CN" sz="1400" smtClean="0"/>
          </a:p>
        </p:txBody>
      </p:sp>
      <p:sp>
        <p:nvSpPr>
          <p:cNvPr id="5222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220F5C6-6BF6-4AC2-B37C-922D391F911D}" type="slidenum">
              <a:rPr lang="zh-CN" altLang="en-US" sz="1400"/>
              <a:pPr>
                <a:spcBef>
                  <a:spcPct val="0"/>
                </a:spcBef>
                <a:buClrTx/>
                <a:buSzTx/>
                <a:buFontTx/>
                <a:buNone/>
              </a:pPr>
              <a:t>47</a:t>
            </a:fld>
            <a:endParaRPr lang="en-US" altLang="zh-CN" sz="1400"/>
          </a:p>
        </p:txBody>
      </p:sp>
      <p:sp>
        <p:nvSpPr>
          <p:cNvPr id="52228" name="Rectangle 2"/>
          <p:cNvSpPr>
            <a:spLocks noGrp="1" noRot="1" noChangeArrowheads="1"/>
          </p:cNvSpPr>
          <p:nvPr>
            <p:ph type="title"/>
          </p:nvPr>
        </p:nvSpPr>
        <p:spPr>
          <a:xfrm>
            <a:off x="542925" y="1096963"/>
            <a:ext cx="4927600" cy="595312"/>
          </a:xfrm>
        </p:spPr>
        <p:txBody>
          <a:bodyPr/>
          <a:lstStyle/>
          <a:p>
            <a:pPr eaLnBrk="1" hangingPunct="1"/>
            <a:r>
              <a:rPr lang="zh-CN" altLang="en-US" sz="4800" b="1" smtClean="0">
                <a:solidFill>
                  <a:srgbClr val="000099"/>
                </a:solidFill>
                <a:latin typeface="Times New Roman" panose="02020603050405020304" pitchFamily="18" charset="0"/>
                <a:ea typeface="华文新魏" panose="02010800040101010101" pitchFamily="2" charset="-122"/>
              </a:rPr>
              <a:t>1、词法分析</a:t>
            </a:r>
          </a:p>
        </p:txBody>
      </p:sp>
      <p:sp>
        <p:nvSpPr>
          <p:cNvPr id="52229" name="Rectangle 3"/>
          <p:cNvSpPr>
            <a:spLocks noGrp="1" noRot="1" noChangeArrowheads="1"/>
          </p:cNvSpPr>
          <p:nvPr>
            <p:ph type="body" idx="1"/>
          </p:nvPr>
        </p:nvSpPr>
        <p:spPr>
          <a:xfrm>
            <a:off x="395288" y="1989138"/>
            <a:ext cx="8101012" cy="4495800"/>
          </a:xfrm>
        </p:spPr>
        <p:txBody>
          <a:bodyPr/>
          <a:lstStyle/>
          <a:p>
            <a:pPr eaLnBrk="1" hangingPunct="1"/>
            <a:r>
              <a:rPr lang="zh-CN" altLang="en-US" sz="2800" b="1" smtClean="0">
                <a:latin typeface="Times New Roman" panose="02020603050405020304" pitchFamily="18" charset="0"/>
                <a:ea typeface="华文新魏" panose="02010800040101010101" pitchFamily="2" charset="-122"/>
              </a:rPr>
              <a:t>词法分析器 </a:t>
            </a:r>
            <a:r>
              <a:rPr lang="en-US" altLang="zh-CN" sz="2800" b="1" smtClean="0">
                <a:latin typeface="Times New Roman" panose="02020603050405020304" pitchFamily="18" charset="0"/>
                <a:ea typeface="华文新魏" panose="02010800040101010101" pitchFamily="2" charset="-122"/>
              </a:rPr>
              <a:t>(Lexical Analyzer)</a:t>
            </a:r>
            <a:r>
              <a:rPr lang="zh-CN" altLang="en-US" sz="2800" b="1" smtClean="0">
                <a:latin typeface="Times New Roman" panose="02020603050405020304" pitchFamily="18" charset="0"/>
                <a:ea typeface="华文新魏" panose="02010800040101010101" pitchFamily="2" charset="-122"/>
              </a:rPr>
              <a:t>又叫做扫描器</a:t>
            </a:r>
            <a:r>
              <a:rPr lang="en-US" altLang="zh-CN" sz="2800" b="1" smtClean="0">
                <a:latin typeface="Times New Roman" panose="02020603050405020304" pitchFamily="18" charset="0"/>
                <a:ea typeface="华文新魏" panose="02010800040101010101" pitchFamily="2" charset="-122"/>
              </a:rPr>
              <a:t>(Scanner)，</a:t>
            </a:r>
            <a:r>
              <a:rPr lang="zh-CN" altLang="en-US" sz="2800" b="1" smtClean="0">
                <a:latin typeface="Times New Roman" panose="02020603050405020304" pitchFamily="18" charset="0"/>
                <a:ea typeface="华文新魏" panose="02010800040101010101" pitchFamily="2" charset="-122"/>
              </a:rPr>
              <a:t>完成词法分析</a:t>
            </a:r>
            <a:endParaRPr lang="en-US" altLang="zh-CN" sz="2800" b="1" smtClean="0">
              <a:latin typeface="Times New Roman" panose="02020603050405020304" pitchFamily="18" charset="0"/>
              <a:ea typeface="华文新魏" panose="02010800040101010101" pitchFamily="2" charset="-122"/>
            </a:endParaRPr>
          </a:p>
          <a:p>
            <a:pPr eaLnBrk="1" hangingPunct="1"/>
            <a:r>
              <a:rPr lang="zh-CN" altLang="en-US" sz="2800" b="1" smtClean="0">
                <a:solidFill>
                  <a:schemeClr val="hlink"/>
                </a:solidFill>
                <a:latin typeface="Times New Roman" panose="02020603050405020304" pitchFamily="18" charset="0"/>
                <a:ea typeface="华文新魏" panose="02010800040101010101" pitchFamily="2" charset="-122"/>
              </a:rPr>
              <a:t>功能</a:t>
            </a:r>
            <a:r>
              <a:rPr lang="zh-CN" altLang="en-US" sz="2800" b="1" smtClean="0">
                <a:latin typeface="Times New Roman" panose="02020603050405020304" pitchFamily="18" charset="0"/>
                <a:ea typeface="华文新魏" panose="02010800040101010101" pitchFamily="2" charset="-122"/>
              </a:rPr>
              <a:t>：从左到右扫描源程序</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字符串</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，并将其转换成</a:t>
            </a:r>
            <a:r>
              <a:rPr lang="zh-CN" altLang="en-US" sz="2800" b="1" smtClean="0">
                <a:solidFill>
                  <a:schemeClr val="tx2"/>
                </a:solidFill>
                <a:latin typeface="Times New Roman" panose="02020603050405020304" pitchFamily="18" charset="0"/>
                <a:ea typeface="华文新魏" panose="02010800040101010101" pitchFamily="2" charset="-122"/>
              </a:rPr>
              <a:t>单词</a:t>
            </a:r>
            <a:r>
              <a:rPr lang="en-US" altLang="zh-CN" sz="2800" b="1" smtClean="0">
                <a:latin typeface="Times New Roman" panose="02020603050405020304" pitchFamily="18" charset="0"/>
                <a:ea typeface="华文新魏" panose="02010800040101010101" pitchFamily="2" charset="-122"/>
              </a:rPr>
              <a:t>(</a:t>
            </a:r>
            <a:r>
              <a:rPr lang="zh-CN" altLang="en-US" sz="2800" b="1" smtClean="0">
                <a:latin typeface="Times New Roman" panose="02020603050405020304" pitchFamily="18" charset="0"/>
                <a:ea typeface="华文新魏" panose="02010800040101010101" pitchFamily="2" charset="-122"/>
              </a:rPr>
              <a:t>符号</a:t>
            </a:r>
            <a:r>
              <a:rPr lang="en-US" altLang="zh-CN" sz="2800" b="1" smtClean="0">
                <a:latin typeface="Times New Roman" panose="02020603050405020304" pitchFamily="18" charset="0"/>
                <a:ea typeface="华文新魏" panose="02010800040101010101" pitchFamily="2" charset="-122"/>
              </a:rPr>
              <a:t>/</a:t>
            </a:r>
            <a:r>
              <a:rPr lang="zh-CN" altLang="en-US" sz="2800" b="1" smtClean="0">
                <a:solidFill>
                  <a:schemeClr val="tx2"/>
                </a:solidFill>
                <a:latin typeface="Times New Roman" panose="02020603050405020304" pitchFamily="18" charset="0"/>
                <a:ea typeface="华文新魏" panose="02010800040101010101" pitchFamily="2" charset="-122"/>
              </a:rPr>
              <a:t>记号</a:t>
            </a:r>
            <a:r>
              <a:rPr lang="zh-CN" altLang="en-US" sz="2800" b="1" smtClean="0">
                <a:latin typeface="Times New Roman" panose="02020603050405020304" pitchFamily="18" charset="0"/>
                <a:ea typeface="华文新魏" panose="02010800040101010101" pitchFamily="2" charset="-122"/>
              </a:rPr>
              <a:t>—</a:t>
            </a:r>
            <a:r>
              <a:rPr lang="en-US" altLang="zh-CN" sz="2800" b="1" smtClean="0">
                <a:latin typeface="Times New Roman" panose="02020603050405020304" pitchFamily="18" charset="0"/>
                <a:ea typeface="华文新魏" panose="02010800040101010101" pitchFamily="2" charset="-122"/>
              </a:rPr>
              <a:t>Token)</a:t>
            </a:r>
            <a:r>
              <a:rPr lang="zh-CN" altLang="en-US" sz="2800" b="1" smtClean="0">
                <a:latin typeface="Times New Roman" panose="02020603050405020304" pitchFamily="18" charset="0"/>
                <a:ea typeface="华文新魏" panose="02010800040101010101" pitchFamily="2" charset="-122"/>
              </a:rPr>
              <a:t>串；同时查词法错误，进行标识符登记——</a:t>
            </a:r>
            <a:r>
              <a:rPr lang="zh-CN" altLang="en-US" sz="2800" b="1" smtClean="0">
                <a:solidFill>
                  <a:schemeClr val="tx2"/>
                </a:solidFill>
                <a:latin typeface="Times New Roman" panose="02020603050405020304" pitchFamily="18" charset="0"/>
                <a:ea typeface="华文新魏" panose="02010800040101010101" pitchFamily="2" charset="-122"/>
              </a:rPr>
              <a:t>符号</a:t>
            </a:r>
            <a:r>
              <a:rPr lang="zh-CN" altLang="en-US" sz="2800" b="1" smtClean="0">
                <a:latin typeface="Times New Roman" panose="02020603050405020304" pitchFamily="18" charset="0"/>
                <a:ea typeface="华文新魏" panose="02010800040101010101" pitchFamily="2" charset="-122"/>
              </a:rPr>
              <a:t>表管理</a:t>
            </a:r>
          </a:p>
          <a:p>
            <a:pPr eaLnBrk="1" hangingPunct="1"/>
            <a:r>
              <a:rPr lang="zh-CN" altLang="en-US" sz="2800" b="1" smtClean="0">
                <a:solidFill>
                  <a:schemeClr val="hlink"/>
                </a:solidFill>
                <a:latin typeface="Times New Roman" panose="02020603050405020304" pitchFamily="18" charset="0"/>
                <a:ea typeface="华文新魏" panose="02010800040101010101" pitchFamily="2" charset="-122"/>
              </a:rPr>
              <a:t>输入</a:t>
            </a:r>
            <a:r>
              <a:rPr lang="zh-CN" altLang="en-US" sz="2800" b="1" smtClean="0">
                <a:latin typeface="Times New Roman" panose="02020603050405020304" pitchFamily="18" charset="0"/>
                <a:ea typeface="华文新魏" panose="02010800040101010101" pitchFamily="2" charset="-122"/>
              </a:rPr>
              <a:t>：字符串  	</a:t>
            </a:r>
          </a:p>
          <a:p>
            <a:pPr eaLnBrk="1" hangingPunct="1"/>
            <a:r>
              <a:rPr lang="zh-CN" altLang="en-US" sz="2800" b="1" smtClean="0">
                <a:solidFill>
                  <a:schemeClr val="hlink"/>
                </a:solidFill>
                <a:latin typeface="Times New Roman" panose="02020603050405020304" pitchFamily="18" charset="0"/>
                <a:ea typeface="华文新魏" panose="02010800040101010101" pitchFamily="2" charset="-122"/>
              </a:rPr>
              <a:t>输出</a:t>
            </a:r>
            <a:r>
              <a:rPr lang="zh-CN" altLang="en-US" sz="2800" b="1" smtClean="0">
                <a:latin typeface="Times New Roman" panose="02020603050405020304" pitchFamily="18" charset="0"/>
                <a:ea typeface="华文新魏" panose="02010800040101010101" pitchFamily="2" charset="-122"/>
              </a:rPr>
              <a:t>：</a:t>
            </a:r>
            <a:r>
              <a:rPr lang="en-US" altLang="zh-CN" sz="2800" b="1" smtClean="0">
                <a:latin typeface="Times New Roman" panose="02020603050405020304" pitchFamily="18" charset="0"/>
                <a:ea typeface="华文新魏" panose="02010800040101010101" pitchFamily="2" charset="-122"/>
                <a:sym typeface="Wingdings" panose="05000000000000000000" pitchFamily="2" charset="2"/>
              </a:rPr>
              <a:t>(</a:t>
            </a:r>
            <a:r>
              <a:rPr lang="zh-CN" altLang="en-US" sz="2800" b="1" smtClean="0">
                <a:latin typeface="Times New Roman" panose="02020603050405020304" pitchFamily="18" charset="0"/>
                <a:ea typeface="华文新魏" panose="02010800040101010101" pitchFamily="2" charset="-122"/>
                <a:sym typeface="Wingdings" panose="05000000000000000000" pitchFamily="2" charset="2"/>
              </a:rPr>
              <a:t>种别码，属性值</a:t>
            </a:r>
            <a:r>
              <a:rPr lang="en-US" altLang="zh-CN" sz="2800" b="1" smtClean="0">
                <a:latin typeface="Times New Roman" panose="02020603050405020304" pitchFamily="18" charset="0"/>
                <a:ea typeface="华文新魏" panose="02010800040101010101" pitchFamily="2" charset="-122"/>
                <a:sym typeface="Wingdings" panose="05000000000000000000" pitchFamily="2" charset="2"/>
              </a:rPr>
              <a:t>)——</a:t>
            </a:r>
            <a:r>
              <a:rPr lang="zh-CN" altLang="en-US" sz="2800" b="1" smtClean="0">
                <a:latin typeface="Times New Roman" panose="02020603050405020304" pitchFamily="18" charset="0"/>
                <a:ea typeface="华文新魏" panose="02010800040101010101" pitchFamily="2" charset="-122"/>
                <a:sym typeface="Wingdings" panose="05000000000000000000" pitchFamily="2" charset="2"/>
              </a:rPr>
              <a:t>序对</a:t>
            </a:r>
          </a:p>
          <a:p>
            <a:pPr lvl="1" eaLnBrk="1" hangingPunct="1"/>
            <a:r>
              <a:rPr lang="zh-CN" altLang="en-US" sz="2400" b="1" smtClean="0">
                <a:latin typeface="Times New Roman" panose="02020603050405020304" pitchFamily="18" charset="0"/>
                <a:ea typeface="华文新魏" panose="02010800040101010101" pitchFamily="2" charset="-122"/>
                <a:sym typeface="Wingdings" panose="05000000000000000000" pitchFamily="2" charset="2"/>
              </a:rPr>
              <a:t>属性值——</a:t>
            </a:r>
            <a:r>
              <a:rPr lang="en-US" altLang="zh-CN" sz="2400" b="1" smtClean="0">
                <a:latin typeface="Times New Roman" panose="02020603050405020304" pitchFamily="18" charset="0"/>
                <a:ea typeface="华文新魏" panose="02010800040101010101" pitchFamily="2" charset="-122"/>
                <a:sym typeface="Wingdings" panose="05000000000000000000" pitchFamily="2" charset="2"/>
              </a:rPr>
              <a:t>token</a:t>
            </a:r>
            <a:r>
              <a:rPr lang="zh-CN" altLang="en-US" sz="2400" b="1" smtClean="0">
                <a:latin typeface="Times New Roman" panose="02020603050405020304" pitchFamily="18" charset="0"/>
                <a:ea typeface="华文新魏" panose="02010800040101010101" pitchFamily="2" charset="-122"/>
                <a:sym typeface="Wingdings" panose="05000000000000000000" pitchFamily="2" charset="2"/>
              </a:rPr>
              <a:t>的机内表示</a:t>
            </a:r>
          </a:p>
          <a:p>
            <a:pPr eaLnBrk="1" hangingPunct="1"/>
            <a:r>
              <a:rPr lang="zh-CN" altLang="en-US" sz="2800" b="1" smtClean="0">
                <a:solidFill>
                  <a:schemeClr val="hlink"/>
                </a:solidFill>
                <a:latin typeface="Times New Roman" panose="02020603050405020304" pitchFamily="18" charset="0"/>
                <a:ea typeface="华文新魏" panose="02010800040101010101" pitchFamily="2" charset="-122"/>
                <a:sym typeface="Wingdings" panose="05000000000000000000" pitchFamily="2" charset="2"/>
              </a:rPr>
              <a:t>数据结构</a:t>
            </a:r>
            <a:r>
              <a:rPr lang="zh-CN" altLang="en-US" sz="2800" b="1" smtClean="0">
                <a:latin typeface="Times New Roman" panose="02020603050405020304" pitchFamily="18" charset="0"/>
                <a:ea typeface="华文新魏" panose="02010800040101010101" pitchFamily="2" charset="-122"/>
                <a:sym typeface="Wingdings" panose="05000000000000000000" pitchFamily="2" charset="2"/>
              </a:rPr>
              <a:t>？</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725C791-C4D7-4338-B1AC-AD71AD62884D}" type="datetime1">
              <a:rPr lang="zh-CN" altLang="en-US" sz="1400" smtClean="0"/>
              <a:pPr>
                <a:spcBef>
                  <a:spcPct val="0"/>
                </a:spcBef>
                <a:buClrTx/>
                <a:buSzTx/>
                <a:buFontTx/>
                <a:buNone/>
              </a:pPr>
              <a:t>2017/2/24</a:t>
            </a:fld>
            <a:endParaRPr lang="en-US" altLang="zh-CN" sz="1400" smtClean="0"/>
          </a:p>
        </p:txBody>
      </p:sp>
      <p:sp>
        <p:nvSpPr>
          <p:cNvPr id="5325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9CC0056-BAA7-4240-B7F5-155DB2F6EBA8}" type="slidenum">
              <a:rPr lang="zh-CN" altLang="en-US" sz="1400"/>
              <a:pPr>
                <a:spcBef>
                  <a:spcPct val="0"/>
                </a:spcBef>
                <a:buClrTx/>
                <a:buSzTx/>
                <a:buFontTx/>
                <a:buNone/>
              </a:pPr>
              <a:t>48</a:t>
            </a:fld>
            <a:endParaRPr lang="en-US" altLang="zh-CN" sz="1400"/>
          </a:p>
        </p:txBody>
      </p:sp>
      <p:sp>
        <p:nvSpPr>
          <p:cNvPr id="53252" name="Rectangle 2"/>
          <p:cNvSpPr>
            <a:spLocks noGrp="1" noRot="1" noChangeArrowheads="1"/>
          </p:cNvSpPr>
          <p:nvPr>
            <p:ph type="title"/>
          </p:nvPr>
        </p:nvSpPr>
        <p:spPr>
          <a:xfrm>
            <a:off x="609600" y="228600"/>
            <a:ext cx="8229600" cy="685800"/>
          </a:xfrm>
        </p:spPr>
        <p:txBody>
          <a:bodyPr/>
          <a:lstStyle/>
          <a:p>
            <a:pPr algn="l" eaLnBrk="1" hangingPunct="1"/>
            <a:r>
              <a:rPr lang="zh-CN" altLang="en-US" b="1" smtClean="0">
                <a:solidFill>
                  <a:srgbClr val="0033CC"/>
                </a:solidFill>
                <a:latin typeface="Times New Roman" panose="02020603050405020304" pitchFamily="18" charset="0"/>
                <a:ea typeface="华文新魏" panose="02010800040101010101" pitchFamily="2" charset="-122"/>
              </a:rPr>
              <a:t>1.4 编译程序总体结构</a:t>
            </a:r>
            <a:endParaRPr lang="en-US" altLang="zh-CN" sz="2400" b="1" smtClean="0">
              <a:solidFill>
                <a:srgbClr val="0033CC"/>
              </a:solidFill>
              <a:latin typeface="Times New Roman" panose="02020603050405020304" pitchFamily="18" charset="0"/>
              <a:ea typeface="华文新魏" panose="02010800040101010101" pitchFamily="2" charset="-122"/>
            </a:endParaRPr>
          </a:p>
        </p:txBody>
      </p:sp>
      <p:sp>
        <p:nvSpPr>
          <p:cNvPr id="412675" name="Rectangle 3"/>
          <p:cNvSpPr>
            <a:spLocks noChangeArrowheads="1"/>
          </p:cNvSpPr>
          <p:nvPr/>
        </p:nvSpPr>
        <p:spPr bwMode="auto">
          <a:xfrm>
            <a:off x="3044825" y="5791200"/>
            <a:ext cx="28956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412676" name="Rectangle 4"/>
          <p:cNvSpPr>
            <a:spLocks noChangeArrowheads="1"/>
          </p:cNvSpPr>
          <p:nvPr/>
        </p:nvSpPr>
        <p:spPr bwMode="auto">
          <a:xfrm>
            <a:off x="3425825" y="47244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412677" name="Rectangle 5"/>
          <p:cNvSpPr>
            <a:spLocks noChangeArrowheads="1"/>
          </p:cNvSpPr>
          <p:nvPr/>
        </p:nvSpPr>
        <p:spPr bwMode="auto">
          <a:xfrm>
            <a:off x="2435225" y="3657600"/>
            <a:ext cx="4495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412678" name="Rectangle 6"/>
          <p:cNvSpPr>
            <a:spLocks noChangeArrowheads="1"/>
          </p:cNvSpPr>
          <p:nvPr/>
        </p:nvSpPr>
        <p:spPr bwMode="auto">
          <a:xfrm>
            <a:off x="3425825" y="2514600"/>
            <a:ext cx="2057400" cy="609600"/>
          </a:xfrm>
          <a:prstGeom prst="rect">
            <a:avLst/>
          </a:prstGeom>
          <a:solidFill>
            <a:srgbClr val="99FFCC"/>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语法分析器</a:t>
            </a:r>
          </a:p>
        </p:txBody>
      </p:sp>
      <p:grpSp>
        <p:nvGrpSpPr>
          <p:cNvPr id="53257" name="Group 7"/>
          <p:cNvGrpSpPr>
            <a:grpSpLocks/>
          </p:cNvGrpSpPr>
          <p:nvPr/>
        </p:nvGrpSpPr>
        <p:grpSpPr bwMode="auto">
          <a:xfrm>
            <a:off x="933450" y="1752600"/>
            <a:ext cx="2492375" cy="4572000"/>
            <a:chOff x="542" y="1104"/>
            <a:chExt cx="1570" cy="2880"/>
          </a:xfrm>
        </p:grpSpPr>
        <p:sp>
          <p:nvSpPr>
            <p:cNvPr id="412680" name="Text Box 8"/>
            <p:cNvSpPr txBox="1">
              <a:spLocks noChangeArrowheads="1"/>
            </p:cNvSpPr>
            <p:nvPr/>
          </p:nvSpPr>
          <p:spPr bwMode="auto">
            <a:xfrm>
              <a:off x="542" y="1104"/>
              <a:ext cx="418" cy="28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表    格    管    理    器</a:t>
              </a:r>
            </a:p>
          </p:txBody>
        </p:sp>
        <p:sp>
          <p:nvSpPr>
            <p:cNvPr id="53287" name="Line 9"/>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3288" name="Line 10"/>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3289" name="Line 11"/>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3290" name="Line 12"/>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3291" name="Line 13"/>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53258" name="Group 14"/>
          <p:cNvGrpSpPr>
            <a:grpSpLocks/>
          </p:cNvGrpSpPr>
          <p:nvPr/>
        </p:nvGrpSpPr>
        <p:grpSpPr bwMode="auto">
          <a:xfrm>
            <a:off x="5456238" y="1600200"/>
            <a:ext cx="2644775" cy="4724400"/>
            <a:chOff x="3408" y="1008"/>
            <a:chExt cx="1666" cy="2976"/>
          </a:xfrm>
        </p:grpSpPr>
        <p:grpSp>
          <p:nvGrpSpPr>
            <p:cNvPr id="53279" name="Group 15"/>
            <p:cNvGrpSpPr>
              <a:grpSpLocks/>
            </p:cNvGrpSpPr>
            <p:nvPr/>
          </p:nvGrpSpPr>
          <p:grpSpPr bwMode="auto">
            <a:xfrm>
              <a:off x="3408" y="1008"/>
              <a:ext cx="1666" cy="2976"/>
              <a:chOff x="3408" y="1008"/>
              <a:chExt cx="1666" cy="2976"/>
            </a:xfrm>
          </p:grpSpPr>
          <p:sp>
            <p:nvSpPr>
              <p:cNvPr id="412688" name="Text Box 16"/>
              <p:cNvSpPr txBox="1">
                <a:spLocks noChangeArrowheads="1"/>
              </p:cNvSpPr>
              <p:nvPr/>
            </p:nvSpPr>
            <p:spPr bwMode="auto">
              <a:xfrm>
                <a:off x="4656" y="1008"/>
                <a:ext cx="418" cy="29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         出    错    处    理   器</a:t>
                </a:r>
              </a:p>
            </p:txBody>
          </p:sp>
          <p:sp>
            <p:nvSpPr>
              <p:cNvPr id="53282" name="Line 17"/>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3283" name="Line 18"/>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3284" name="Line 19"/>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3285" name="Line 20"/>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53280" name="Line 21"/>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53259" name="Group 22"/>
          <p:cNvGrpSpPr>
            <a:grpSpLocks/>
          </p:cNvGrpSpPr>
          <p:nvPr/>
        </p:nvGrpSpPr>
        <p:grpSpPr bwMode="auto">
          <a:xfrm>
            <a:off x="4264025" y="4343400"/>
            <a:ext cx="1524000" cy="381000"/>
            <a:chOff x="2640" y="2736"/>
            <a:chExt cx="960" cy="240"/>
          </a:xfrm>
        </p:grpSpPr>
        <p:sp>
          <p:nvSpPr>
            <p:cNvPr id="412695" name="Rectangle 23"/>
            <p:cNvSpPr>
              <a:spLocks noChangeArrowheads="1"/>
            </p:cNvSpPr>
            <p:nvPr/>
          </p:nvSpPr>
          <p:spPr bwMode="auto">
            <a:xfrm>
              <a:off x="2832" y="273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sp>
          <p:nvSpPr>
            <p:cNvPr id="53278" name="AutoShape 24"/>
            <p:cNvSpPr>
              <a:spLocks noChangeArrowheads="1"/>
            </p:cNvSpPr>
            <p:nvPr/>
          </p:nvSpPr>
          <p:spPr bwMode="auto">
            <a:xfrm>
              <a:off x="2640" y="273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nvGrpSpPr>
          <p:cNvPr id="53260" name="Group 25"/>
          <p:cNvGrpSpPr>
            <a:grpSpLocks/>
          </p:cNvGrpSpPr>
          <p:nvPr/>
        </p:nvGrpSpPr>
        <p:grpSpPr bwMode="auto">
          <a:xfrm>
            <a:off x="4264025" y="5410200"/>
            <a:ext cx="1524000" cy="381000"/>
            <a:chOff x="2640" y="3408"/>
            <a:chExt cx="960" cy="240"/>
          </a:xfrm>
        </p:grpSpPr>
        <p:sp>
          <p:nvSpPr>
            <p:cNvPr id="53275" name="AutoShape 26"/>
            <p:cNvSpPr>
              <a:spLocks noChangeArrowheads="1"/>
            </p:cNvSpPr>
            <p:nvPr/>
          </p:nvSpPr>
          <p:spPr bwMode="auto">
            <a:xfrm>
              <a:off x="2640" y="340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2699" name="Rectangle 27"/>
            <p:cNvSpPr>
              <a:spLocks noChangeArrowheads="1"/>
            </p:cNvSpPr>
            <p:nvPr/>
          </p:nvSpPr>
          <p:spPr bwMode="auto">
            <a:xfrm>
              <a:off x="2832" y="340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grpSp>
      <p:grpSp>
        <p:nvGrpSpPr>
          <p:cNvPr id="53261" name="Group 28"/>
          <p:cNvGrpSpPr>
            <a:grpSpLocks/>
          </p:cNvGrpSpPr>
          <p:nvPr/>
        </p:nvGrpSpPr>
        <p:grpSpPr bwMode="auto">
          <a:xfrm>
            <a:off x="4191000" y="6467475"/>
            <a:ext cx="1447800" cy="390525"/>
            <a:chOff x="2640" y="4074"/>
            <a:chExt cx="912" cy="246"/>
          </a:xfrm>
        </p:grpSpPr>
        <p:sp>
          <p:nvSpPr>
            <p:cNvPr id="53273" name="AutoShape 29"/>
            <p:cNvSpPr>
              <a:spLocks noChangeArrowheads="1"/>
            </p:cNvSpPr>
            <p:nvPr/>
          </p:nvSpPr>
          <p:spPr bwMode="auto">
            <a:xfrm>
              <a:off x="2640" y="408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2702" name="Rectangle 30"/>
            <p:cNvSpPr>
              <a:spLocks noChangeArrowheads="1"/>
            </p:cNvSpPr>
            <p:nvPr/>
          </p:nvSpPr>
          <p:spPr bwMode="auto">
            <a:xfrm>
              <a:off x="2784" y="407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目标程序</a:t>
              </a:r>
            </a:p>
          </p:txBody>
        </p:sp>
      </p:grpSp>
      <p:grpSp>
        <p:nvGrpSpPr>
          <p:cNvPr id="53262" name="Group 31"/>
          <p:cNvGrpSpPr>
            <a:grpSpLocks/>
          </p:cNvGrpSpPr>
          <p:nvPr/>
        </p:nvGrpSpPr>
        <p:grpSpPr bwMode="auto">
          <a:xfrm>
            <a:off x="4264025" y="3200400"/>
            <a:ext cx="1600200" cy="381000"/>
            <a:chOff x="2640" y="2016"/>
            <a:chExt cx="1008" cy="240"/>
          </a:xfrm>
        </p:grpSpPr>
        <p:sp>
          <p:nvSpPr>
            <p:cNvPr id="53271" name="AutoShape 32"/>
            <p:cNvSpPr>
              <a:spLocks noChangeArrowheads="1"/>
            </p:cNvSpPr>
            <p:nvPr/>
          </p:nvSpPr>
          <p:spPr bwMode="auto">
            <a:xfrm>
              <a:off x="2640" y="201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2705" name="Rectangle 33"/>
            <p:cNvSpPr>
              <a:spLocks noChangeArrowheads="1"/>
            </p:cNvSpPr>
            <p:nvPr/>
          </p:nvSpPr>
          <p:spPr bwMode="auto">
            <a:xfrm>
              <a:off x="2880" y="201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grpSp>
        <p:nvGrpSpPr>
          <p:cNvPr id="53263" name="Group 34"/>
          <p:cNvGrpSpPr>
            <a:grpSpLocks/>
          </p:cNvGrpSpPr>
          <p:nvPr/>
        </p:nvGrpSpPr>
        <p:grpSpPr bwMode="auto">
          <a:xfrm>
            <a:off x="4264025" y="2133600"/>
            <a:ext cx="1600200" cy="381000"/>
            <a:chOff x="2640" y="1344"/>
            <a:chExt cx="1008" cy="240"/>
          </a:xfrm>
        </p:grpSpPr>
        <p:sp>
          <p:nvSpPr>
            <p:cNvPr id="53269" name="AutoShape 35"/>
            <p:cNvSpPr>
              <a:spLocks noChangeArrowheads="1"/>
            </p:cNvSpPr>
            <p:nvPr/>
          </p:nvSpPr>
          <p:spPr bwMode="auto">
            <a:xfrm>
              <a:off x="2640" y="134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2708" name="Rectangle 36"/>
            <p:cNvSpPr>
              <a:spLocks noChangeArrowheads="1"/>
            </p:cNvSpPr>
            <p:nvPr/>
          </p:nvSpPr>
          <p:spPr bwMode="auto">
            <a:xfrm>
              <a:off x="2880" y="13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单词符号</a:t>
              </a:r>
            </a:p>
          </p:txBody>
        </p:sp>
      </p:grpSp>
      <p:grpSp>
        <p:nvGrpSpPr>
          <p:cNvPr id="53264" name="Group 37"/>
          <p:cNvGrpSpPr>
            <a:grpSpLocks/>
          </p:cNvGrpSpPr>
          <p:nvPr/>
        </p:nvGrpSpPr>
        <p:grpSpPr bwMode="auto">
          <a:xfrm>
            <a:off x="3425825" y="1066800"/>
            <a:ext cx="2362200" cy="990600"/>
            <a:chOff x="2112" y="672"/>
            <a:chExt cx="1488" cy="624"/>
          </a:xfrm>
        </p:grpSpPr>
        <p:sp>
          <p:nvSpPr>
            <p:cNvPr id="412710" name="Rectangle 38"/>
            <p:cNvSpPr>
              <a:spLocks noChangeArrowheads="1"/>
            </p:cNvSpPr>
            <p:nvPr/>
          </p:nvSpPr>
          <p:spPr bwMode="auto">
            <a:xfrm>
              <a:off x="2112" y="912"/>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grpSp>
          <p:nvGrpSpPr>
            <p:cNvPr id="53266" name="Group 39"/>
            <p:cNvGrpSpPr>
              <a:grpSpLocks/>
            </p:cNvGrpSpPr>
            <p:nvPr/>
          </p:nvGrpSpPr>
          <p:grpSpPr bwMode="auto">
            <a:xfrm>
              <a:off x="2640" y="672"/>
              <a:ext cx="960" cy="240"/>
              <a:chOff x="2640" y="672"/>
              <a:chExt cx="960" cy="240"/>
            </a:xfrm>
          </p:grpSpPr>
          <p:sp>
            <p:nvSpPr>
              <p:cNvPr id="53267" name="AutoShape 40"/>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2713" name="Rectangle 41"/>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4"/>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3F20CF8-2859-4DDE-8AF8-F9CB7F40A3FC}" type="datetime1">
              <a:rPr lang="zh-CN" altLang="en-US" sz="1400" smtClean="0"/>
              <a:pPr>
                <a:spcBef>
                  <a:spcPct val="0"/>
                </a:spcBef>
                <a:buClrTx/>
                <a:buSzTx/>
                <a:buFontTx/>
                <a:buNone/>
              </a:pPr>
              <a:t>2017/2/24</a:t>
            </a:fld>
            <a:endParaRPr lang="en-US" altLang="zh-CN" sz="1400" smtClean="0"/>
          </a:p>
        </p:txBody>
      </p:sp>
      <p:sp>
        <p:nvSpPr>
          <p:cNvPr id="54275" name="灯片编号占位符 6"/>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B9F1449-28D1-46C6-A73F-A5B89A251B0F}" type="slidenum">
              <a:rPr lang="zh-CN" altLang="en-US" sz="1400"/>
              <a:pPr>
                <a:spcBef>
                  <a:spcPct val="0"/>
                </a:spcBef>
                <a:buClrTx/>
                <a:buSzTx/>
                <a:buFontTx/>
                <a:buNone/>
              </a:pPr>
              <a:t>49</a:t>
            </a:fld>
            <a:endParaRPr lang="en-US" altLang="zh-CN" sz="1400"/>
          </a:p>
        </p:txBody>
      </p:sp>
      <p:sp>
        <p:nvSpPr>
          <p:cNvPr id="54276" name="Rectangle 2"/>
          <p:cNvSpPr>
            <a:spLocks noGrp="1" noRot="1" noChangeArrowheads="1"/>
          </p:cNvSpPr>
          <p:nvPr>
            <p:ph type="title"/>
          </p:nvPr>
        </p:nvSpPr>
        <p:spPr>
          <a:xfrm>
            <a:off x="900113" y="908050"/>
            <a:ext cx="3505200" cy="685800"/>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2. 语法分析</a:t>
            </a:r>
          </a:p>
        </p:txBody>
      </p:sp>
      <p:sp>
        <p:nvSpPr>
          <p:cNvPr id="54277" name="Rectangle 3"/>
          <p:cNvSpPr>
            <a:spLocks noGrp="1" noRot="1" noChangeArrowheads="1"/>
          </p:cNvSpPr>
          <p:nvPr>
            <p:ph type="body" sz="half" idx="1"/>
          </p:nvPr>
        </p:nvSpPr>
        <p:spPr>
          <a:xfrm>
            <a:off x="4057650" y="1700213"/>
            <a:ext cx="5086350" cy="533400"/>
          </a:xfrm>
        </p:spPr>
        <p:txBody>
          <a:bodyPr/>
          <a:lstStyle/>
          <a:p>
            <a:pPr eaLnBrk="1" hangingPunct="1">
              <a:lnSpc>
                <a:spcPct val="90000"/>
              </a:lnSpc>
              <a:buFont typeface="Wingdings" panose="05000000000000000000" pitchFamily="2" charset="2"/>
              <a:buNone/>
            </a:pPr>
            <a:r>
              <a:rPr lang="en-US" altLang="zh-CN" sz="3200" b="1" smtClean="0">
                <a:latin typeface="Times New Roman" panose="02020603050405020304" pitchFamily="18" charset="0"/>
              </a:rPr>
              <a:t>res=fact*(term1+term2);</a:t>
            </a:r>
            <a:endParaRPr lang="en-US" altLang="zh-CN" b="1" smtClean="0">
              <a:latin typeface="Times New Roman" panose="02020603050405020304" pitchFamily="18" charset="0"/>
            </a:endParaRPr>
          </a:p>
        </p:txBody>
      </p:sp>
      <p:grpSp>
        <p:nvGrpSpPr>
          <p:cNvPr id="54278" name="Group 42"/>
          <p:cNvGrpSpPr>
            <a:grpSpLocks/>
          </p:cNvGrpSpPr>
          <p:nvPr/>
        </p:nvGrpSpPr>
        <p:grpSpPr bwMode="auto">
          <a:xfrm>
            <a:off x="250825" y="1773238"/>
            <a:ext cx="7129463" cy="4662487"/>
            <a:chOff x="158" y="1117"/>
            <a:chExt cx="4491" cy="2937"/>
          </a:xfrm>
        </p:grpSpPr>
        <p:sp>
          <p:nvSpPr>
            <p:cNvPr id="299014" name="Rectangle 6"/>
            <p:cNvSpPr>
              <a:spLocks noChangeArrowheads="1"/>
            </p:cNvSpPr>
            <p:nvPr/>
          </p:nvSpPr>
          <p:spPr bwMode="auto">
            <a:xfrm>
              <a:off x="1826" y="2245"/>
              <a:ext cx="228"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Times New Roman" pitchFamily="18" charset="0"/>
                  <a:ea typeface="华文新魏" pitchFamily="2" charset="-122"/>
                </a:rPr>
                <a:t>*</a:t>
              </a:r>
            </a:p>
          </p:txBody>
        </p:sp>
        <p:sp>
          <p:nvSpPr>
            <p:cNvPr id="299015" name="Rectangle 7"/>
            <p:cNvSpPr>
              <a:spLocks noChangeArrowheads="1"/>
            </p:cNvSpPr>
            <p:nvPr/>
          </p:nvSpPr>
          <p:spPr bwMode="auto">
            <a:xfrm>
              <a:off x="3292" y="1624"/>
              <a:ext cx="326"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a:t>
              </a:r>
            </a:p>
          </p:txBody>
        </p:sp>
        <p:sp>
          <p:nvSpPr>
            <p:cNvPr id="54283" name="Line 9"/>
            <p:cNvSpPr>
              <a:spLocks noChangeShapeType="1"/>
            </p:cNvSpPr>
            <p:nvPr/>
          </p:nvSpPr>
          <p:spPr bwMode="auto">
            <a:xfrm flipH="1">
              <a:off x="1068" y="1389"/>
              <a:ext cx="406" cy="26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84" name="Line 10"/>
            <p:cNvSpPr>
              <a:spLocks noChangeShapeType="1"/>
            </p:cNvSpPr>
            <p:nvPr/>
          </p:nvSpPr>
          <p:spPr bwMode="auto">
            <a:xfrm>
              <a:off x="1565" y="1389"/>
              <a:ext cx="868" cy="30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85" name="Line 11"/>
            <p:cNvSpPr>
              <a:spLocks noChangeShapeType="1"/>
            </p:cNvSpPr>
            <p:nvPr/>
          </p:nvSpPr>
          <p:spPr bwMode="auto">
            <a:xfrm flipH="1">
              <a:off x="2584" y="2478"/>
              <a:ext cx="568"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86" name="Line 12"/>
            <p:cNvSpPr>
              <a:spLocks noChangeShapeType="1"/>
            </p:cNvSpPr>
            <p:nvPr/>
          </p:nvSpPr>
          <p:spPr bwMode="auto">
            <a:xfrm flipH="1">
              <a:off x="657" y="1895"/>
              <a:ext cx="1618" cy="4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87" name="Line 13"/>
            <p:cNvSpPr>
              <a:spLocks noChangeShapeType="1"/>
            </p:cNvSpPr>
            <p:nvPr/>
          </p:nvSpPr>
          <p:spPr bwMode="auto">
            <a:xfrm flipH="1">
              <a:off x="1927" y="1888"/>
              <a:ext cx="499" cy="4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88" name="Line 14"/>
            <p:cNvSpPr>
              <a:spLocks noChangeShapeType="1"/>
            </p:cNvSpPr>
            <p:nvPr/>
          </p:nvSpPr>
          <p:spPr bwMode="auto">
            <a:xfrm>
              <a:off x="2562" y="1888"/>
              <a:ext cx="759" cy="41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89" name="Line 15"/>
            <p:cNvSpPr>
              <a:spLocks noChangeShapeType="1"/>
            </p:cNvSpPr>
            <p:nvPr/>
          </p:nvSpPr>
          <p:spPr bwMode="auto">
            <a:xfrm flipH="1">
              <a:off x="664" y="2511"/>
              <a:ext cx="0" cy="45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90" name="Line 16"/>
            <p:cNvSpPr>
              <a:spLocks noChangeShapeType="1"/>
            </p:cNvSpPr>
            <p:nvPr/>
          </p:nvSpPr>
          <p:spPr bwMode="auto">
            <a:xfrm>
              <a:off x="3470" y="2478"/>
              <a:ext cx="453" cy="22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54291" name="Line 17"/>
            <p:cNvSpPr>
              <a:spLocks noChangeShapeType="1"/>
            </p:cNvSpPr>
            <p:nvPr/>
          </p:nvSpPr>
          <p:spPr bwMode="auto">
            <a:xfrm flipH="1">
              <a:off x="2332" y="2931"/>
              <a:ext cx="820" cy="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99026" name="Rectangle 18"/>
            <p:cNvSpPr>
              <a:spLocks noChangeArrowheads="1"/>
            </p:cNvSpPr>
            <p:nvPr/>
          </p:nvSpPr>
          <p:spPr bwMode="auto">
            <a:xfrm>
              <a:off x="866" y="1117"/>
              <a:ext cx="1070"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Times New Roman" pitchFamily="18" charset="0"/>
                  <a:ea typeface="华文新魏" pitchFamily="2" charset="-122"/>
                </a:rPr>
                <a:t>赋值语句</a:t>
              </a:r>
            </a:p>
          </p:txBody>
        </p:sp>
        <p:sp>
          <p:nvSpPr>
            <p:cNvPr id="299027" name="Rectangle 19"/>
            <p:cNvSpPr>
              <a:spLocks noChangeArrowheads="1"/>
            </p:cNvSpPr>
            <p:nvPr/>
          </p:nvSpPr>
          <p:spPr bwMode="auto">
            <a:xfrm>
              <a:off x="2129" y="1632"/>
              <a:ext cx="69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表达式</a:t>
              </a:r>
            </a:p>
          </p:txBody>
        </p:sp>
        <p:sp>
          <p:nvSpPr>
            <p:cNvPr id="299028" name="Rectangle 20"/>
            <p:cNvSpPr>
              <a:spLocks noChangeArrowheads="1"/>
            </p:cNvSpPr>
            <p:nvPr/>
          </p:nvSpPr>
          <p:spPr bwMode="auto">
            <a:xfrm>
              <a:off x="967" y="1686"/>
              <a:ext cx="225"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a:t>
              </a:r>
            </a:p>
          </p:txBody>
        </p:sp>
        <p:sp>
          <p:nvSpPr>
            <p:cNvPr id="299029" name="Rectangle 21"/>
            <p:cNvSpPr>
              <a:spLocks noChangeArrowheads="1"/>
            </p:cNvSpPr>
            <p:nvPr/>
          </p:nvSpPr>
          <p:spPr bwMode="auto">
            <a:xfrm>
              <a:off x="3848" y="2613"/>
              <a:ext cx="191"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ea typeface="华文新魏" pitchFamily="2" charset="-122"/>
                </a:rPr>
                <a:t>)</a:t>
              </a:r>
            </a:p>
          </p:txBody>
        </p:sp>
        <p:sp>
          <p:nvSpPr>
            <p:cNvPr id="299030" name="Rectangle 22"/>
            <p:cNvSpPr>
              <a:spLocks noChangeArrowheads="1"/>
            </p:cNvSpPr>
            <p:nvPr/>
          </p:nvSpPr>
          <p:spPr bwMode="auto">
            <a:xfrm>
              <a:off x="2332" y="2654"/>
              <a:ext cx="191"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ea typeface="华文新魏" pitchFamily="2" charset="-122"/>
                </a:rPr>
                <a:t>(</a:t>
              </a:r>
            </a:p>
          </p:txBody>
        </p:sp>
        <p:sp>
          <p:nvSpPr>
            <p:cNvPr id="299031" name="Rectangle 23"/>
            <p:cNvSpPr>
              <a:spLocks noChangeArrowheads="1"/>
            </p:cNvSpPr>
            <p:nvPr/>
          </p:nvSpPr>
          <p:spPr bwMode="auto">
            <a:xfrm>
              <a:off x="360" y="2859"/>
              <a:ext cx="477"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ea typeface="华文新魏" pitchFamily="2" charset="-122"/>
                </a:rPr>
                <a:t>fact</a:t>
              </a:r>
            </a:p>
          </p:txBody>
        </p:sp>
        <p:sp>
          <p:nvSpPr>
            <p:cNvPr id="299032" name="Rectangle 24"/>
            <p:cNvSpPr>
              <a:spLocks noChangeArrowheads="1"/>
            </p:cNvSpPr>
            <p:nvPr/>
          </p:nvSpPr>
          <p:spPr bwMode="auto">
            <a:xfrm>
              <a:off x="3798" y="3289"/>
              <a:ext cx="80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表达式</a:t>
              </a:r>
            </a:p>
          </p:txBody>
        </p:sp>
        <p:sp>
          <p:nvSpPr>
            <p:cNvPr id="299033" name="Rectangle 25"/>
            <p:cNvSpPr>
              <a:spLocks noChangeArrowheads="1"/>
            </p:cNvSpPr>
            <p:nvPr/>
          </p:nvSpPr>
          <p:spPr bwMode="auto">
            <a:xfrm>
              <a:off x="158" y="1588"/>
              <a:ext cx="401"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ea typeface="华文新魏" pitchFamily="2" charset="-122"/>
                </a:rPr>
                <a:t>res</a:t>
              </a:r>
            </a:p>
          </p:txBody>
        </p:sp>
        <p:sp>
          <p:nvSpPr>
            <p:cNvPr id="54300" name="Line 26"/>
            <p:cNvSpPr>
              <a:spLocks noChangeShapeType="1"/>
            </p:cNvSpPr>
            <p:nvPr/>
          </p:nvSpPr>
          <p:spPr bwMode="auto">
            <a:xfrm flipH="1">
              <a:off x="411" y="1434"/>
              <a:ext cx="881" cy="2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4301" name="Line 27"/>
            <p:cNvSpPr>
              <a:spLocks noChangeShapeType="1"/>
            </p:cNvSpPr>
            <p:nvPr/>
          </p:nvSpPr>
          <p:spPr bwMode="auto">
            <a:xfrm>
              <a:off x="1655" y="1389"/>
              <a:ext cx="1738"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299036" name="Rectangle 28"/>
            <p:cNvSpPr>
              <a:spLocks noChangeArrowheads="1"/>
            </p:cNvSpPr>
            <p:nvPr/>
          </p:nvSpPr>
          <p:spPr bwMode="auto">
            <a:xfrm>
              <a:off x="2989" y="2248"/>
              <a:ext cx="69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表达式</a:t>
              </a:r>
            </a:p>
          </p:txBody>
        </p:sp>
        <p:sp>
          <p:nvSpPr>
            <p:cNvPr id="299037" name="Rectangle 29"/>
            <p:cNvSpPr>
              <a:spLocks noChangeArrowheads="1"/>
            </p:cNvSpPr>
            <p:nvPr/>
          </p:nvSpPr>
          <p:spPr bwMode="auto">
            <a:xfrm>
              <a:off x="360" y="2329"/>
              <a:ext cx="69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表达式</a:t>
              </a:r>
            </a:p>
          </p:txBody>
        </p:sp>
        <p:sp>
          <p:nvSpPr>
            <p:cNvPr id="299038" name="Rectangle 30"/>
            <p:cNvSpPr>
              <a:spLocks noChangeArrowheads="1"/>
            </p:cNvSpPr>
            <p:nvPr/>
          </p:nvSpPr>
          <p:spPr bwMode="auto">
            <a:xfrm>
              <a:off x="2938" y="2657"/>
              <a:ext cx="69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表达式</a:t>
              </a:r>
            </a:p>
          </p:txBody>
        </p:sp>
        <p:sp>
          <p:nvSpPr>
            <p:cNvPr id="54305" name="Line 31"/>
            <p:cNvSpPr>
              <a:spLocks noChangeShapeType="1"/>
            </p:cNvSpPr>
            <p:nvPr/>
          </p:nvSpPr>
          <p:spPr bwMode="auto">
            <a:xfrm>
              <a:off x="3470" y="2931"/>
              <a:ext cx="833" cy="44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299040" name="Rectangle 32"/>
            <p:cNvSpPr>
              <a:spLocks noChangeArrowheads="1"/>
            </p:cNvSpPr>
            <p:nvPr/>
          </p:nvSpPr>
          <p:spPr bwMode="auto">
            <a:xfrm>
              <a:off x="2028" y="3289"/>
              <a:ext cx="72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000" b="1">
                  <a:effectLst>
                    <a:outerShdw blurRad="38100" dist="38100" dir="2700000" algn="tl">
                      <a:srgbClr val="C0C0C0"/>
                    </a:outerShdw>
                  </a:effectLst>
                  <a:latin typeface="Times New Roman" pitchFamily="18" charset="0"/>
                  <a:ea typeface="华文新魏" pitchFamily="2" charset="-122"/>
                </a:rPr>
                <a:t>表达式</a:t>
              </a:r>
            </a:p>
          </p:txBody>
        </p:sp>
        <p:sp>
          <p:nvSpPr>
            <p:cNvPr id="299041" name="Rectangle 33"/>
            <p:cNvSpPr>
              <a:spLocks noChangeArrowheads="1"/>
            </p:cNvSpPr>
            <p:nvPr/>
          </p:nvSpPr>
          <p:spPr bwMode="auto">
            <a:xfrm>
              <a:off x="3242" y="3307"/>
              <a:ext cx="225"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Times New Roman" pitchFamily="18" charset="0"/>
                  <a:ea typeface="华文新魏" pitchFamily="2" charset="-122"/>
                </a:rPr>
                <a:t>+</a:t>
              </a:r>
            </a:p>
          </p:txBody>
        </p:sp>
        <p:sp>
          <p:nvSpPr>
            <p:cNvPr id="299042" name="Text Box 34"/>
            <p:cNvSpPr txBox="1">
              <a:spLocks noChangeArrowheads="1"/>
            </p:cNvSpPr>
            <p:nvPr/>
          </p:nvSpPr>
          <p:spPr bwMode="auto">
            <a:xfrm>
              <a:off x="2079" y="3700"/>
              <a:ext cx="801"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charset="0"/>
                  <a:ea typeface="宋体" pitchFamily="2" charset="-122"/>
                </a:defRPr>
              </a:lvl1pPr>
              <a:lvl2pPr marL="47307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800" b="1" smtClean="0">
                  <a:effectLst>
                    <a:outerShdw blurRad="38100" dist="38100" dir="2700000" algn="tl">
                      <a:srgbClr val="C0C0C0"/>
                    </a:outerShdw>
                  </a:effectLst>
                  <a:latin typeface="Times New Roman" pitchFamily="18" charset="0"/>
                  <a:ea typeface="华文新魏" pitchFamily="2" charset="-122"/>
                </a:rPr>
                <a:t>term1</a:t>
              </a:r>
            </a:p>
          </p:txBody>
        </p:sp>
        <p:sp>
          <p:nvSpPr>
            <p:cNvPr id="54309" name="Line 35"/>
            <p:cNvSpPr>
              <a:spLocks noChangeShapeType="1"/>
            </p:cNvSpPr>
            <p:nvPr/>
          </p:nvSpPr>
          <p:spPr bwMode="auto">
            <a:xfrm flipH="1">
              <a:off x="3343" y="2921"/>
              <a:ext cx="0" cy="45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4310" name="Line 36"/>
            <p:cNvSpPr>
              <a:spLocks noChangeShapeType="1"/>
            </p:cNvSpPr>
            <p:nvPr/>
          </p:nvSpPr>
          <p:spPr bwMode="auto">
            <a:xfrm flipH="1">
              <a:off x="4253" y="3495"/>
              <a:ext cx="0" cy="3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4311" name="Line 37"/>
            <p:cNvSpPr>
              <a:spLocks noChangeShapeType="1"/>
            </p:cNvSpPr>
            <p:nvPr/>
          </p:nvSpPr>
          <p:spPr bwMode="auto">
            <a:xfrm flipH="1">
              <a:off x="2336" y="3536"/>
              <a:ext cx="0" cy="2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299046" name="Text Box 38"/>
            <p:cNvSpPr txBox="1">
              <a:spLocks noChangeArrowheads="1"/>
            </p:cNvSpPr>
            <p:nvPr/>
          </p:nvSpPr>
          <p:spPr bwMode="auto">
            <a:xfrm>
              <a:off x="3889" y="3699"/>
              <a:ext cx="760"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charset="0"/>
                  <a:ea typeface="宋体" pitchFamily="2" charset="-122"/>
                </a:defRPr>
              </a:lvl1pPr>
              <a:lvl2pPr marL="47307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800" b="1" smtClean="0">
                  <a:effectLst>
                    <a:outerShdw blurRad="38100" dist="38100" dir="2700000" algn="tl">
                      <a:srgbClr val="C0C0C0"/>
                    </a:outerShdw>
                  </a:effectLst>
                  <a:latin typeface="Times New Roman" pitchFamily="18" charset="0"/>
                  <a:ea typeface="华文新魏" pitchFamily="2" charset="-122"/>
                </a:rPr>
                <a:t>term2</a:t>
              </a:r>
            </a:p>
          </p:txBody>
        </p:sp>
        <p:sp>
          <p:nvSpPr>
            <p:cNvPr id="54313" name="Line 39"/>
            <p:cNvSpPr>
              <a:spLocks noChangeShapeType="1"/>
            </p:cNvSpPr>
            <p:nvPr/>
          </p:nvSpPr>
          <p:spPr bwMode="auto">
            <a:xfrm flipH="1">
              <a:off x="3334" y="2463"/>
              <a:ext cx="0" cy="2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54279" name="Text Box 40"/>
          <p:cNvSpPr txBox="1">
            <a:spLocks noChangeArrowheads="1"/>
          </p:cNvSpPr>
          <p:nvPr/>
        </p:nvSpPr>
        <p:spPr bwMode="auto">
          <a:xfrm>
            <a:off x="6588125" y="2781300"/>
            <a:ext cx="2555875" cy="20415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bg1"/>
                </a:solidFill>
                <a:latin typeface="Tahoma" panose="020B0604030504040204" pitchFamily="34" charset="0"/>
                <a:ea typeface="华文新魏" panose="02010800040101010101" pitchFamily="2" charset="-122"/>
              </a:rPr>
              <a:t>关键：让系统知道</a:t>
            </a:r>
            <a:r>
              <a:rPr lang="zh-CN" altLang="en-US" b="1">
                <a:solidFill>
                  <a:schemeClr val="bg1"/>
                </a:solidFill>
                <a:ea typeface="华文新魏" panose="02010800040101010101" pitchFamily="2" charset="-122"/>
              </a:rPr>
              <a:t>“</a:t>
            </a:r>
            <a:r>
              <a:rPr lang="zh-CN" altLang="en-US" b="1">
                <a:solidFill>
                  <a:schemeClr val="bg1"/>
                </a:solidFill>
                <a:latin typeface="Tahoma" panose="020B0604030504040204" pitchFamily="34" charset="0"/>
                <a:ea typeface="华文新魏" panose="02010800040101010101" pitchFamily="2" charset="-122"/>
              </a:rPr>
              <a:t>组成规则</a:t>
            </a:r>
            <a:r>
              <a:rPr lang="zh-CN" altLang="en-US" b="1">
                <a:solidFill>
                  <a:schemeClr val="bg1"/>
                </a:solidFill>
                <a:ea typeface="华文新魏" panose="02010800040101010101" pitchFamily="2" charset="-122"/>
              </a:rPr>
              <a:t>”</a:t>
            </a:r>
            <a:r>
              <a:rPr lang="zh-CN" altLang="en-US" b="1">
                <a:solidFill>
                  <a:schemeClr val="bg1"/>
                </a:solidFill>
                <a:latin typeface="Tahoma" panose="020B0604030504040204" pitchFamily="34" charset="0"/>
                <a:ea typeface="华文新魏" panose="02010800040101010101" pitchFamily="2" charset="-122"/>
              </a:rPr>
              <a:t>并按照规则分析！</a:t>
            </a:r>
            <a:endParaRPr lang="en-US" altLang="zh-CN" b="1">
              <a:solidFill>
                <a:schemeClr val="bg1"/>
              </a:solidFill>
              <a:latin typeface="Tahoma" panose="020B0604030504040204" pitchFamily="34" charset="0"/>
              <a:ea typeface="华文新魏" panose="02010800040101010101" pitchFamily="2" charset="-122"/>
            </a:endParaRPr>
          </a:p>
        </p:txBody>
      </p:sp>
      <p:sp>
        <p:nvSpPr>
          <p:cNvPr id="299049" name="Rectangle 41"/>
          <p:cNvSpPr>
            <a:spLocks noChangeArrowheads="1"/>
          </p:cNvSpPr>
          <p:nvPr/>
        </p:nvSpPr>
        <p:spPr bwMode="auto">
          <a:xfrm>
            <a:off x="4572000" y="404813"/>
            <a:ext cx="4321175"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800" b="1">
                <a:solidFill>
                  <a:srgbClr val="CC3300"/>
                </a:solidFill>
                <a:effectLst>
                  <a:outerShdw blurRad="38100" dist="38100" dir="2700000" algn="tl">
                    <a:srgbClr val="C0C0C0"/>
                  </a:outerShdw>
                </a:effectLst>
                <a:latin typeface="Times New Roman" pitchFamily="18" charset="0"/>
                <a:ea typeface="华文新魏" pitchFamily="2" charset="-122"/>
              </a:rPr>
              <a:t>走向目标</a:t>
            </a: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2</a:t>
            </a:r>
            <a:r>
              <a:rPr kumimoji="1" lang="zh-CN" altLang="en-US" sz="2800" b="1">
                <a:solidFill>
                  <a:srgbClr val="CC3300"/>
                </a:solidFill>
                <a:effectLst>
                  <a:outerShdw blurRad="38100" dist="38100" dir="2700000" algn="tl">
                    <a:srgbClr val="C0C0C0"/>
                  </a:outerShdw>
                </a:effectLst>
                <a:latin typeface="Times New Roman" pitchFamily="18" charset="0"/>
                <a:ea typeface="华文新魏" pitchFamily="2" charset="-122"/>
              </a:rPr>
              <a:t>：得到越来越接近要表达内容的成分！</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F8610C0-5AC0-4657-BDFF-1FE2AD2214A5}" type="datetime1">
              <a:rPr lang="zh-CN" altLang="en-US" sz="1400" smtClean="0"/>
              <a:pPr>
                <a:spcBef>
                  <a:spcPct val="0"/>
                </a:spcBef>
                <a:buClrTx/>
                <a:buSzTx/>
                <a:buFontTx/>
                <a:buNone/>
              </a:pPr>
              <a:t>2017/2/24</a:t>
            </a:fld>
            <a:endParaRPr lang="en-US" altLang="zh-CN" sz="1400" smtClean="0"/>
          </a:p>
        </p:txBody>
      </p:sp>
      <p:sp>
        <p:nvSpPr>
          <p:cNvPr id="5529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817CEC-E758-4F45-A1D0-AFA61FD3171A}" type="slidenum">
              <a:rPr lang="zh-CN" altLang="en-US" sz="1400"/>
              <a:pPr>
                <a:spcBef>
                  <a:spcPct val="0"/>
                </a:spcBef>
                <a:buClrTx/>
                <a:buSzTx/>
                <a:buFontTx/>
                <a:buNone/>
              </a:pPr>
              <a:t>50</a:t>
            </a:fld>
            <a:endParaRPr lang="en-US" altLang="zh-CN" sz="1400"/>
          </a:p>
        </p:txBody>
      </p:sp>
      <p:sp>
        <p:nvSpPr>
          <p:cNvPr id="55300" name="Rectangle 2"/>
          <p:cNvSpPr>
            <a:spLocks noGrp="1" noRot="1" noChangeArrowheads="1"/>
          </p:cNvSpPr>
          <p:nvPr>
            <p:ph type="title"/>
          </p:nvPr>
        </p:nvSpPr>
        <p:spPr>
          <a:xfrm>
            <a:off x="1066800" y="762000"/>
            <a:ext cx="4813300" cy="877888"/>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2、语法分析</a:t>
            </a:r>
          </a:p>
        </p:txBody>
      </p:sp>
      <p:sp>
        <p:nvSpPr>
          <p:cNvPr id="55301" name="Rectangle 3"/>
          <p:cNvSpPr>
            <a:spLocks noGrp="1" noRot="1" noChangeArrowheads="1"/>
          </p:cNvSpPr>
          <p:nvPr>
            <p:ph type="body" idx="1"/>
          </p:nvPr>
        </p:nvSpPr>
        <p:spPr>
          <a:xfrm>
            <a:off x="539750" y="1989138"/>
            <a:ext cx="8116888" cy="4383087"/>
          </a:xfrm>
        </p:spPr>
        <p:txBody>
          <a:bodyPr/>
          <a:lstStyle/>
          <a:p>
            <a:pPr eaLnBrk="1" hangingPunct="1"/>
            <a:r>
              <a:rPr lang="zh-CN" altLang="en-US" b="1" smtClean="0">
                <a:latin typeface="Times New Roman" panose="02020603050405020304" pitchFamily="18" charset="0"/>
                <a:ea typeface="华文新魏" panose="02010800040101010101" pitchFamily="2" charset="-122"/>
              </a:rPr>
              <a:t>语法分析器</a:t>
            </a:r>
            <a:r>
              <a:rPr lang="en-US" altLang="zh-CN" b="1" smtClean="0">
                <a:latin typeface="Times New Roman" panose="02020603050405020304" pitchFamily="18" charset="0"/>
                <a:ea typeface="华文新魏" panose="02010800040101010101" pitchFamily="2" charset="-122"/>
              </a:rPr>
              <a:t>(Syntax Analyzer</a:t>
            </a:r>
            <a:r>
              <a:rPr lang="zh-CN" altLang="en-US" b="1" smtClean="0">
                <a:latin typeface="Times New Roman" panose="02020603050405020304" pitchFamily="18" charset="0"/>
                <a:ea typeface="华文新魏" panose="02010800040101010101" pitchFamily="2" charset="-122"/>
              </a:rPr>
              <a:t>，又叫</a:t>
            </a:r>
            <a:r>
              <a:rPr lang="en-US" altLang="zh-CN" b="1" smtClean="0">
                <a:latin typeface="Times New Roman" panose="02020603050405020304" pitchFamily="18" charset="0"/>
                <a:ea typeface="华文新魏" panose="02010800040101010101" pitchFamily="2" charset="-122"/>
              </a:rPr>
              <a:t>Parser )</a:t>
            </a:r>
            <a:r>
              <a:rPr lang="zh-CN" altLang="en-US" b="1" smtClean="0">
                <a:latin typeface="Times New Roman" panose="02020603050405020304" pitchFamily="18" charset="0"/>
                <a:ea typeface="华文新魏" panose="02010800040101010101" pitchFamily="2" charset="-122"/>
              </a:rPr>
              <a:t> 完成语法分析</a:t>
            </a:r>
            <a:endParaRPr lang="en-US" altLang="zh-CN" b="1" smtClean="0">
              <a:latin typeface="Times New Roman" panose="02020603050405020304" pitchFamily="18" charset="0"/>
              <a:ea typeface="华文新魏" panose="02010800040101010101" pitchFamily="2" charset="-122"/>
            </a:endParaRPr>
          </a:p>
          <a:p>
            <a:pPr eaLnBrk="1" hangingPunct="1"/>
            <a:r>
              <a:rPr lang="zh-CN" altLang="en-US" b="1" smtClean="0">
                <a:solidFill>
                  <a:schemeClr val="hlink"/>
                </a:solidFill>
                <a:latin typeface="Times New Roman" panose="02020603050405020304" pitchFamily="18" charset="0"/>
                <a:ea typeface="华文新魏" panose="02010800040101010101" pitchFamily="2" charset="-122"/>
              </a:rPr>
              <a:t>功能</a:t>
            </a:r>
            <a:r>
              <a:rPr lang="zh-CN" altLang="en-US" b="1" smtClean="0">
                <a:latin typeface="Times New Roman" panose="02020603050405020304" pitchFamily="18" charset="0"/>
                <a:ea typeface="华文新魏" panose="02010800040101010101" pitchFamily="2" charset="-122"/>
              </a:rPr>
              <a:t>：实现“组词成句”：发现各级语法成分的组成和结构，指出语法错误，制导翻译</a:t>
            </a:r>
          </a:p>
          <a:p>
            <a:pPr eaLnBrk="1" hangingPunct="1"/>
            <a:r>
              <a:rPr lang="zh-CN" altLang="en-US" b="1" smtClean="0">
                <a:solidFill>
                  <a:schemeClr val="hlink"/>
                </a:solidFill>
                <a:latin typeface="Times New Roman" panose="02020603050405020304" pitchFamily="18" charset="0"/>
                <a:ea typeface="华文新魏" panose="02010800040101010101" pitchFamily="2" charset="-122"/>
              </a:rPr>
              <a:t>输入</a:t>
            </a:r>
            <a:r>
              <a:rPr lang="zh-CN" altLang="en-US" b="1" smtClean="0">
                <a:latin typeface="Times New Roman" panose="02020603050405020304" pitchFamily="18" charset="0"/>
                <a:ea typeface="华文新魏" panose="02010800040101010101" pitchFamily="2" charset="-122"/>
              </a:rPr>
              <a:t>：</a:t>
            </a:r>
            <a:r>
              <a:rPr lang="en-US" altLang="zh-CN" b="1" smtClean="0">
                <a:latin typeface="Times New Roman" panose="02020603050405020304" pitchFamily="18" charset="0"/>
                <a:ea typeface="华文新魏" panose="02010800040101010101" pitchFamily="2" charset="-122"/>
              </a:rPr>
              <a:t>Token</a:t>
            </a:r>
            <a:r>
              <a:rPr lang="zh-CN" altLang="en-US" b="1" smtClean="0">
                <a:latin typeface="Times New Roman" panose="02020603050405020304" pitchFamily="18" charset="0"/>
                <a:ea typeface="华文新魏" panose="02010800040101010101" pitchFamily="2" charset="-122"/>
              </a:rPr>
              <a:t>序列</a:t>
            </a:r>
          </a:p>
          <a:p>
            <a:pPr eaLnBrk="1" hangingPunct="1"/>
            <a:r>
              <a:rPr lang="zh-CN" altLang="en-US" b="1" smtClean="0">
                <a:solidFill>
                  <a:schemeClr val="hlink"/>
                </a:solidFill>
                <a:latin typeface="Times New Roman" panose="02020603050405020304" pitchFamily="18" charset="0"/>
                <a:ea typeface="华文新魏" panose="02010800040101010101" pitchFamily="2" charset="-122"/>
              </a:rPr>
              <a:t>输出</a:t>
            </a:r>
            <a:r>
              <a:rPr lang="zh-CN" altLang="en-US" b="1" smtClean="0">
                <a:latin typeface="Times New Roman" panose="02020603050405020304" pitchFamily="18" charset="0"/>
                <a:ea typeface="华文新魏" panose="02010800040101010101" pitchFamily="2" charset="-122"/>
              </a:rPr>
              <a:t>：语法成分</a:t>
            </a:r>
          </a:p>
          <a:p>
            <a:pPr eaLnBrk="1" hangingPunct="1"/>
            <a:r>
              <a:rPr lang="zh-CN" altLang="en-US" b="1" smtClean="0">
                <a:solidFill>
                  <a:schemeClr val="hlink"/>
                </a:solidFill>
                <a:latin typeface="Times New Roman" panose="02020603050405020304" pitchFamily="18" charset="0"/>
                <a:ea typeface="华文新魏" panose="02010800040101010101" pitchFamily="2" charset="-122"/>
              </a:rPr>
              <a:t>数据结构</a:t>
            </a:r>
            <a:r>
              <a:rPr lang="zh-CN" altLang="en-US" b="1" smtClean="0">
                <a:latin typeface="Times New Roman" panose="02020603050405020304" pitchFamily="18" charset="0"/>
                <a:ea typeface="华文新魏" panose="02010800040101010101" pitchFamily="2" charset="-122"/>
              </a:rPr>
              <a:t>？</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21E24A9-D184-43CF-B2BD-845A810BB799}" type="datetime1">
              <a:rPr lang="zh-CN" altLang="en-US" sz="1400" smtClean="0"/>
              <a:pPr>
                <a:spcBef>
                  <a:spcPct val="0"/>
                </a:spcBef>
                <a:buClrTx/>
                <a:buSzTx/>
                <a:buFontTx/>
                <a:buNone/>
              </a:pPr>
              <a:t>2017/2/24</a:t>
            </a:fld>
            <a:endParaRPr lang="en-US" altLang="zh-CN" sz="1400" smtClean="0"/>
          </a:p>
        </p:txBody>
      </p:sp>
      <p:sp>
        <p:nvSpPr>
          <p:cNvPr id="5632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65E9079-9C5E-4D1C-8C27-A7462F987AC5}" type="slidenum">
              <a:rPr lang="zh-CN" altLang="en-US" sz="1400"/>
              <a:pPr>
                <a:spcBef>
                  <a:spcPct val="0"/>
                </a:spcBef>
                <a:buClrTx/>
                <a:buSzTx/>
                <a:buFontTx/>
                <a:buNone/>
              </a:pPr>
              <a:t>51</a:t>
            </a:fld>
            <a:endParaRPr lang="en-US" altLang="zh-CN" sz="1400"/>
          </a:p>
        </p:txBody>
      </p:sp>
      <p:sp>
        <p:nvSpPr>
          <p:cNvPr id="56324" name="Rectangle 2"/>
          <p:cNvSpPr>
            <a:spLocks noGrp="1" noRot="1" noChangeArrowheads="1"/>
          </p:cNvSpPr>
          <p:nvPr>
            <p:ph type="title"/>
          </p:nvPr>
        </p:nvSpPr>
        <p:spPr>
          <a:xfrm>
            <a:off x="609600" y="228600"/>
            <a:ext cx="8229600" cy="685800"/>
          </a:xfrm>
        </p:spPr>
        <p:txBody>
          <a:bodyPr/>
          <a:lstStyle/>
          <a:p>
            <a:pPr algn="l" eaLnBrk="1" hangingPunct="1"/>
            <a:r>
              <a:rPr lang="zh-CN" altLang="en-US" b="1" smtClean="0">
                <a:solidFill>
                  <a:srgbClr val="0033CC"/>
                </a:solidFill>
                <a:latin typeface="Times New Roman" panose="02020603050405020304" pitchFamily="18" charset="0"/>
                <a:ea typeface="华文新魏" panose="02010800040101010101" pitchFamily="2" charset="-122"/>
              </a:rPr>
              <a:t>1.4 编译程序总体结构</a:t>
            </a:r>
            <a:endParaRPr lang="en-US" altLang="zh-CN" sz="2400" b="1" smtClean="0">
              <a:solidFill>
                <a:srgbClr val="0033CC"/>
              </a:solidFill>
              <a:latin typeface="Times New Roman" panose="02020603050405020304" pitchFamily="18" charset="0"/>
              <a:ea typeface="华文新魏" panose="02010800040101010101" pitchFamily="2" charset="-122"/>
            </a:endParaRPr>
          </a:p>
        </p:txBody>
      </p:sp>
      <p:sp>
        <p:nvSpPr>
          <p:cNvPr id="413699" name="Rectangle 3"/>
          <p:cNvSpPr>
            <a:spLocks noChangeArrowheads="1"/>
          </p:cNvSpPr>
          <p:nvPr/>
        </p:nvSpPr>
        <p:spPr bwMode="auto">
          <a:xfrm>
            <a:off x="3044825" y="5791200"/>
            <a:ext cx="28956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413700" name="Rectangle 4"/>
          <p:cNvSpPr>
            <a:spLocks noChangeArrowheads="1"/>
          </p:cNvSpPr>
          <p:nvPr/>
        </p:nvSpPr>
        <p:spPr bwMode="auto">
          <a:xfrm>
            <a:off x="3425825" y="47244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413701" name="Rectangle 5"/>
          <p:cNvSpPr>
            <a:spLocks noChangeArrowheads="1"/>
          </p:cNvSpPr>
          <p:nvPr/>
        </p:nvSpPr>
        <p:spPr bwMode="auto">
          <a:xfrm>
            <a:off x="2435225" y="3657600"/>
            <a:ext cx="4495800" cy="609600"/>
          </a:xfrm>
          <a:prstGeom prst="rect">
            <a:avLst/>
          </a:prstGeom>
          <a:solidFill>
            <a:srgbClr val="99FFCC"/>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语义分析与中间代码生成器</a:t>
            </a:r>
          </a:p>
        </p:txBody>
      </p:sp>
      <p:sp>
        <p:nvSpPr>
          <p:cNvPr id="413702" name="Rectangle 6"/>
          <p:cNvSpPr>
            <a:spLocks noChangeArrowheads="1"/>
          </p:cNvSpPr>
          <p:nvPr/>
        </p:nvSpPr>
        <p:spPr bwMode="auto">
          <a:xfrm>
            <a:off x="3425825" y="25146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56329" name="Group 7"/>
          <p:cNvGrpSpPr>
            <a:grpSpLocks/>
          </p:cNvGrpSpPr>
          <p:nvPr/>
        </p:nvGrpSpPr>
        <p:grpSpPr bwMode="auto">
          <a:xfrm>
            <a:off x="933450" y="1752600"/>
            <a:ext cx="2492375" cy="4572000"/>
            <a:chOff x="542" y="1104"/>
            <a:chExt cx="1570" cy="2880"/>
          </a:xfrm>
        </p:grpSpPr>
        <p:sp>
          <p:nvSpPr>
            <p:cNvPr id="413704" name="Text Box 8"/>
            <p:cNvSpPr txBox="1">
              <a:spLocks noChangeArrowheads="1"/>
            </p:cNvSpPr>
            <p:nvPr/>
          </p:nvSpPr>
          <p:spPr bwMode="auto">
            <a:xfrm>
              <a:off x="542" y="1104"/>
              <a:ext cx="418" cy="28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表    格    管    理    器</a:t>
              </a:r>
            </a:p>
          </p:txBody>
        </p:sp>
        <p:sp>
          <p:nvSpPr>
            <p:cNvPr id="56359" name="Line 9"/>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6360" name="Line 10"/>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6361" name="Line 11"/>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6362" name="Line 12"/>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6363" name="Line 13"/>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56330" name="Group 14"/>
          <p:cNvGrpSpPr>
            <a:grpSpLocks/>
          </p:cNvGrpSpPr>
          <p:nvPr/>
        </p:nvGrpSpPr>
        <p:grpSpPr bwMode="auto">
          <a:xfrm>
            <a:off x="5456238" y="1600200"/>
            <a:ext cx="2644775" cy="4724400"/>
            <a:chOff x="3408" y="1008"/>
            <a:chExt cx="1666" cy="2976"/>
          </a:xfrm>
        </p:grpSpPr>
        <p:grpSp>
          <p:nvGrpSpPr>
            <p:cNvPr id="56351" name="Group 15"/>
            <p:cNvGrpSpPr>
              <a:grpSpLocks/>
            </p:cNvGrpSpPr>
            <p:nvPr/>
          </p:nvGrpSpPr>
          <p:grpSpPr bwMode="auto">
            <a:xfrm>
              <a:off x="3408" y="1008"/>
              <a:ext cx="1666" cy="2976"/>
              <a:chOff x="3408" y="1008"/>
              <a:chExt cx="1666" cy="2976"/>
            </a:xfrm>
          </p:grpSpPr>
          <p:sp>
            <p:nvSpPr>
              <p:cNvPr id="413712" name="Text Box 16"/>
              <p:cNvSpPr txBox="1">
                <a:spLocks noChangeArrowheads="1"/>
              </p:cNvSpPr>
              <p:nvPr/>
            </p:nvSpPr>
            <p:spPr bwMode="auto">
              <a:xfrm>
                <a:off x="4656" y="1008"/>
                <a:ext cx="418" cy="29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         出    错    处    理   器</a:t>
                </a:r>
              </a:p>
            </p:txBody>
          </p:sp>
          <p:sp>
            <p:nvSpPr>
              <p:cNvPr id="56354" name="Line 17"/>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6355" name="Line 18"/>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6356" name="Line 19"/>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56357" name="Line 20"/>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56352" name="Line 21"/>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56331" name="Group 22"/>
          <p:cNvGrpSpPr>
            <a:grpSpLocks/>
          </p:cNvGrpSpPr>
          <p:nvPr/>
        </p:nvGrpSpPr>
        <p:grpSpPr bwMode="auto">
          <a:xfrm>
            <a:off x="4264025" y="4343400"/>
            <a:ext cx="1524000" cy="381000"/>
            <a:chOff x="2640" y="2736"/>
            <a:chExt cx="960" cy="240"/>
          </a:xfrm>
        </p:grpSpPr>
        <p:sp>
          <p:nvSpPr>
            <p:cNvPr id="413719" name="Rectangle 23"/>
            <p:cNvSpPr>
              <a:spLocks noChangeArrowheads="1"/>
            </p:cNvSpPr>
            <p:nvPr/>
          </p:nvSpPr>
          <p:spPr bwMode="auto">
            <a:xfrm>
              <a:off x="2832" y="273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sp>
          <p:nvSpPr>
            <p:cNvPr id="56350" name="AutoShape 24"/>
            <p:cNvSpPr>
              <a:spLocks noChangeArrowheads="1"/>
            </p:cNvSpPr>
            <p:nvPr/>
          </p:nvSpPr>
          <p:spPr bwMode="auto">
            <a:xfrm>
              <a:off x="2640" y="273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nvGrpSpPr>
          <p:cNvPr id="56332" name="Group 25"/>
          <p:cNvGrpSpPr>
            <a:grpSpLocks/>
          </p:cNvGrpSpPr>
          <p:nvPr/>
        </p:nvGrpSpPr>
        <p:grpSpPr bwMode="auto">
          <a:xfrm>
            <a:off x="4264025" y="5410200"/>
            <a:ext cx="1524000" cy="381000"/>
            <a:chOff x="2640" y="3408"/>
            <a:chExt cx="960" cy="240"/>
          </a:xfrm>
        </p:grpSpPr>
        <p:sp>
          <p:nvSpPr>
            <p:cNvPr id="56347" name="AutoShape 26"/>
            <p:cNvSpPr>
              <a:spLocks noChangeArrowheads="1"/>
            </p:cNvSpPr>
            <p:nvPr/>
          </p:nvSpPr>
          <p:spPr bwMode="auto">
            <a:xfrm>
              <a:off x="2640" y="340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3723" name="Rectangle 27"/>
            <p:cNvSpPr>
              <a:spLocks noChangeArrowheads="1"/>
            </p:cNvSpPr>
            <p:nvPr/>
          </p:nvSpPr>
          <p:spPr bwMode="auto">
            <a:xfrm>
              <a:off x="2832" y="340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grpSp>
      <p:grpSp>
        <p:nvGrpSpPr>
          <p:cNvPr id="56333" name="Group 28"/>
          <p:cNvGrpSpPr>
            <a:grpSpLocks/>
          </p:cNvGrpSpPr>
          <p:nvPr/>
        </p:nvGrpSpPr>
        <p:grpSpPr bwMode="auto">
          <a:xfrm>
            <a:off x="4191000" y="6467475"/>
            <a:ext cx="1447800" cy="390525"/>
            <a:chOff x="2640" y="4074"/>
            <a:chExt cx="912" cy="246"/>
          </a:xfrm>
        </p:grpSpPr>
        <p:sp>
          <p:nvSpPr>
            <p:cNvPr id="56345" name="AutoShape 29"/>
            <p:cNvSpPr>
              <a:spLocks noChangeArrowheads="1"/>
            </p:cNvSpPr>
            <p:nvPr/>
          </p:nvSpPr>
          <p:spPr bwMode="auto">
            <a:xfrm>
              <a:off x="2640" y="408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3726" name="Rectangle 30"/>
            <p:cNvSpPr>
              <a:spLocks noChangeArrowheads="1"/>
            </p:cNvSpPr>
            <p:nvPr/>
          </p:nvSpPr>
          <p:spPr bwMode="auto">
            <a:xfrm>
              <a:off x="2784" y="407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目标程序</a:t>
              </a:r>
            </a:p>
          </p:txBody>
        </p:sp>
      </p:grpSp>
      <p:grpSp>
        <p:nvGrpSpPr>
          <p:cNvPr id="56334" name="Group 31"/>
          <p:cNvGrpSpPr>
            <a:grpSpLocks/>
          </p:cNvGrpSpPr>
          <p:nvPr/>
        </p:nvGrpSpPr>
        <p:grpSpPr bwMode="auto">
          <a:xfrm>
            <a:off x="4264025" y="3200400"/>
            <a:ext cx="1600200" cy="381000"/>
            <a:chOff x="2640" y="2016"/>
            <a:chExt cx="1008" cy="240"/>
          </a:xfrm>
        </p:grpSpPr>
        <p:sp>
          <p:nvSpPr>
            <p:cNvPr id="56343" name="AutoShape 32"/>
            <p:cNvSpPr>
              <a:spLocks noChangeArrowheads="1"/>
            </p:cNvSpPr>
            <p:nvPr/>
          </p:nvSpPr>
          <p:spPr bwMode="auto">
            <a:xfrm>
              <a:off x="2640" y="201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3729" name="Rectangle 33"/>
            <p:cNvSpPr>
              <a:spLocks noChangeArrowheads="1"/>
            </p:cNvSpPr>
            <p:nvPr/>
          </p:nvSpPr>
          <p:spPr bwMode="auto">
            <a:xfrm>
              <a:off x="2880" y="201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grpSp>
        <p:nvGrpSpPr>
          <p:cNvPr id="56335" name="Group 34"/>
          <p:cNvGrpSpPr>
            <a:grpSpLocks/>
          </p:cNvGrpSpPr>
          <p:nvPr/>
        </p:nvGrpSpPr>
        <p:grpSpPr bwMode="auto">
          <a:xfrm>
            <a:off x="4264025" y="2133600"/>
            <a:ext cx="1600200" cy="381000"/>
            <a:chOff x="2640" y="1344"/>
            <a:chExt cx="1008" cy="240"/>
          </a:xfrm>
        </p:grpSpPr>
        <p:sp>
          <p:nvSpPr>
            <p:cNvPr id="56341" name="AutoShape 35"/>
            <p:cNvSpPr>
              <a:spLocks noChangeArrowheads="1"/>
            </p:cNvSpPr>
            <p:nvPr/>
          </p:nvSpPr>
          <p:spPr bwMode="auto">
            <a:xfrm>
              <a:off x="2640" y="134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3732" name="Rectangle 36"/>
            <p:cNvSpPr>
              <a:spLocks noChangeArrowheads="1"/>
            </p:cNvSpPr>
            <p:nvPr/>
          </p:nvSpPr>
          <p:spPr bwMode="auto">
            <a:xfrm>
              <a:off x="2880" y="13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单词符号</a:t>
              </a:r>
            </a:p>
          </p:txBody>
        </p:sp>
      </p:grpSp>
      <p:grpSp>
        <p:nvGrpSpPr>
          <p:cNvPr id="56336" name="Group 37"/>
          <p:cNvGrpSpPr>
            <a:grpSpLocks/>
          </p:cNvGrpSpPr>
          <p:nvPr/>
        </p:nvGrpSpPr>
        <p:grpSpPr bwMode="auto">
          <a:xfrm>
            <a:off x="3425825" y="1066800"/>
            <a:ext cx="2362200" cy="990600"/>
            <a:chOff x="2112" y="672"/>
            <a:chExt cx="1488" cy="624"/>
          </a:xfrm>
        </p:grpSpPr>
        <p:sp>
          <p:nvSpPr>
            <p:cNvPr id="413734" name="Rectangle 38"/>
            <p:cNvSpPr>
              <a:spLocks noChangeArrowheads="1"/>
            </p:cNvSpPr>
            <p:nvPr/>
          </p:nvSpPr>
          <p:spPr bwMode="auto">
            <a:xfrm>
              <a:off x="2112" y="912"/>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grpSp>
          <p:nvGrpSpPr>
            <p:cNvPr id="56338" name="Group 39"/>
            <p:cNvGrpSpPr>
              <a:grpSpLocks/>
            </p:cNvGrpSpPr>
            <p:nvPr/>
          </p:nvGrpSpPr>
          <p:grpSpPr bwMode="auto">
            <a:xfrm>
              <a:off x="2640" y="672"/>
              <a:ext cx="960" cy="240"/>
              <a:chOff x="2640" y="672"/>
              <a:chExt cx="960" cy="240"/>
            </a:xfrm>
          </p:grpSpPr>
          <p:sp>
            <p:nvSpPr>
              <p:cNvPr id="56339" name="AutoShape 40"/>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3737" name="Rectangle 41"/>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0B495E4-C44F-448C-B3E3-F5CBC6148690}" type="datetime1">
              <a:rPr lang="zh-CN" altLang="en-US" sz="1400" smtClean="0"/>
              <a:pPr>
                <a:spcBef>
                  <a:spcPct val="0"/>
                </a:spcBef>
                <a:buClrTx/>
                <a:buSzTx/>
                <a:buFontTx/>
                <a:buNone/>
              </a:pPr>
              <a:t>2017/2/24</a:t>
            </a:fld>
            <a:endParaRPr lang="en-US" altLang="zh-CN" sz="1400" smtClean="0"/>
          </a:p>
        </p:txBody>
      </p:sp>
      <p:sp>
        <p:nvSpPr>
          <p:cNvPr id="5734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C800ACB-443F-4177-9EC8-24785F89A4D7}" type="slidenum">
              <a:rPr lang="zh-CN" altLang="en-US" sz="1400"/>
              <a:pPr>
                <a:spcBef>
                  <a:spcPct val="0"/>
                </a:spcBef>
                <a:buClrTx/>
                <a:buSzTx/>
                <a:buFontTx/>
                <a:buNone/>
              </a:pPr>
              <a:t>52</a:t>
            </a:fld>
            <a:endParaRPr lang="en-US" altLang="zh-CN" sz="1400"/>
          </a:p>
        </p:txBody>
      </p:sp>
      <p:sp>
        <p:nvSpPr>
          <p:cNvPr id="57348" name="Rectangle 2"/>
          <p:cNvSpPr>
            <a:spLocks noGrp="1" noRot="1" noChangeArrowheads="1"/>
          </p:cNvSpPr>
          <p:nvPr>
            <p:ph type="title"/>
          </p:nvPr>
        </p:nvSpPr>
        <p:spPr>
          <a:xfrm>
            <a:off x="1042988" y="908050"/>
            <a:ext cx="4267200" cy="762000"/>
          </a:xfrm>
          <a:noFill/>
        </p:spPr>
        <p:txBody>
          <a:bodyPr lIns="92075" tIns="46038" rIns="92075" bIns="46038"/>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3. 语义分析</a:t>
            </a:r>
          </a:p>
        </p:txBody>
      </p:sp>
      <p:sp>
        <p:nvSpPr>
          <p:cNvPr id="57349" name="Rectangle 3"/>
          <p:cNvSpPr>
            <a:spLocks noGrp="1" noRot="1" noChangeArrowheads="1"/>
          </p:cNvSpPr>
          <p:nvPr>
            <p:ph type="body" idx="1"/>
          </p:nvPr>
        </p:nvSpPr>
        <p:spPr>
          <a:xfrm>
            <a:off x="539750" y="1916113"/>
            <a:ext cx="8135938" cy="4392612"/>
          </a:xfrm>
          <a:noFill/>
        </p:spPr>
        <p:txBody>
          <a:bodyPr lIns="92075" tIns="46038" rIns="92075" bIns="46038"/>
          <a:lstStyle/>
          <a:p>
            <a:pPr eaLnBrk="1" hangingPunct="1">
              <a:spcBef>
                <a:spcPct val="60000"/>
              </a:spcBef>
            </a:pPr>
            <a:r>
              <a:rPr lang="zh-CN" altLang="en-US" b="1" smtClean="0">
                <a:solidFill>
                  <a:schemeClr val="hlink"/>
                </a:solidFill>
                <a:latin typeface="Times New Roman" panose="02020603050405020304" pitchFamily="18" charset="0"/>
                <a:ea typeface="华文新魏" panose="02010800040101010101" pitchFamily="2" charset="-122"/>
              </a:rPr>
              <a:t>功能</a:t>
            </a:r>
            <a:r>
              <a:rPr lang="zh-CN" altLang="en-US" b="1" smtClean="0">
                <a:latin typeface="Times New Roman" panose="02020603050405020304" pitchFamily="18" charset="0"/>
                <a:ea typeface="华文新魏" panose="02010800040101010101" pitchFamily="2" charset="-122"/>
              </a:rPr>
              <a:t>：分析由语法分析器给出的语法单位的语义</a:t>
            </a:r>
          </a:p>
          <a:p>
            <a:pPr lvl="1" eaLnBrk="1" hangingPunct="1">
              <a:spcBef>
                <a:spcPct val="60000"/>
              </a:spcBef>
            </a:pPr>
            <a:r>
              <a:rPr lang="zh-CN" altLang="en-US" sz="3200" b="1" smtClean="0">
                <a:latin typeface="Times New Roman" panose="02020603050405020304" pitchFamily="18" charset="0"/>
                <a:ea typeface="华文新魏" panose="02010800040101010101" pitchFamily="2" charset="-122"/>
              </a:rPr>
              <a:t>获取标识符的属性：类型、作用域等</a:t>
            </a:r>
          </a:p>
          <a:p>
            <a:pPr lvl="1" eaLnBrk="1" hangingPunct="1">
              <a:spcBef>
                <a:spcPct val="60000"/>
              </a:spcBef>
            </a:pPr>
            <a:r>
              <a:rPr lang="zh-CN" altLang="en-US" sz="3200" b="1" smtClean="0">
                <a:latin typeface="Times New Roman" panose="02020603050405020304" pitchFamily="18" charset="0"/>
                <a:ea typeface="华文新魏" panose="02010800040101010101" pitchFamily="2" charset="-122"/>
              </a:rPr>
              <a:t>语义检查：运算的合法性、取值范围等</a:t>
            </a:r>
          </a:p>
          <a:p>
            <a:pPr lvl="1" eaLnBrk="1" hangingPunct="1">
              <a:spcBef>
                <a:spcPct val="60000"/>
              </a:spcBef>
            </a:pPr>
            <a:r>
              <a:rPr lang="zh-CN" altLang="en-US" sz="3200" b="1" smtClean="0">
                <a:latin typeface="Times New Roman" panose="02020603050405020304" pitchFamily="18" charset="0"/>
                <a:ea typeface="华文新魏" panose="02010800040101010101" pitchFamily="2" charset="-122"/>
              </a:rPr>
              <a:t>子程序的静态绑定：代码的相对地址</a:t>
            </a:r>
          </a:p>
          <a:p>
            <a:pPr lvl="1" eaLnBrk="1" hangingPunct="1">
              <a:spcBef>
                <a:spcPct val="60000"/>
              </a:spcBef>
            </a:pPr>
            <a:r>
              <a:rPr lang="zh-CN" altLang="en-US" sz="3200" b="1" smtClean="0">
                <a:latin typeface="Times New Roman" panose="02020603050405020304" pitchFamily="18" charset="0"/>
                <a:ea typeface="华文新魏" panose="02010800040101010101" pitchFamily="2" charset="-122"/>
              </a:rPr>
              <a:t>变量的静态绑定：数据的相对地址</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F1C09AC-3184-459B-A053-3A9DAE939EDB}" type="datetime1">
              <a:rPr lang="zh-CN" altLang="en-US" sz="1400" smtClean="0"/>
              <a:pPr>
                <a:spcBef>
                  <a:spcPct val="0"/>
                </a:spcBef>
                <a:buClrTx/>
                <a:buSzTx/>
                <a:buFontTx/>
                <a:buNone/>
              </a:pPr>
              <a:t>2017/2/24</a:t>
            </a:fld>
            <a:endParaRPr lang="en-US" altLang="zh-CN" sz="1400" smtClean="0"/>
          </a:p>
        </p:txBody>
      </p:sp>
      <p:sp>
        <p:nvSpPr>
          <p:cNvPr id="5837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E67643B-AE87-47CE-BAE0-2EDDD8A28248}" type="slidenum">
              <a:rPr lang="zh-CN" altLang="en-US" sz="1400"/>
              <a:pPr>
                <a:spcBef>
                  <a:spcPct val="0"/>
                </a:spcBef>
                <a:buClrTx/>
                <a:buSzTx/>
                <a:buFontTx/>
                <a:buNone/>
              </a:pPr>
              <a:t>53</a:t>
            </a:fld>
            <a:endParaRPr lang="en-US" altLang="zh-CN" sz="1400"/>
          </a:p>
        </p:txBody>
      </p:sp>
      <p:sp>
        <p:nvSpPr>
          <p:cNvPr id="58372" name="Rectangle 2"/>
          <p:cNvSpPr>
            <a:spLocks noGrp="1" noRot="1" noChangeArrowheads="1"/>
          </p:cNvSpPr>
          <p:nvPr>
            <p:ph type="title"/>
          </p:nvPr>
        </p:nvSpPr>
        <p:spPr>
          <a:xfrm>
            <a:off x="1042988" y="836613"/>
            <a:ext cx="5486400" cy="801687"/>
          </a:xfrm>
        </p:spPr>
        <p:txBody>
          <a:bodyPr/>
          <a:lstStyle/>
          <a:p>
            <a:pPr eaLnBrk="1" hangingPunct="1"/>
            <a:r>
              <a:rPr lang="zh-CN" altLang="en-US" sz="4800" b="1" smtClean="0">
                <a:solidFill>
                  <a:srgbClr val="000099"/>
                </a:solidFill>
                <a:latin typeface="Times New Roman" panose="02020603050405020304" pitchFamily="18" charset="0"/>
                <a:ea typeface="华文新魏" panose="02010800040101010101" pitchFamily="2" charset="-122"/>
              </a:rPr>
              <a:t>4. 中间代码生成</a:t>
            </a:r>
          </a:p>
        </p:txBody>
      </p:sp>
      <p:sp>
        <p:nvSpPr>
          <p:cNvPr id="58373" name="Rectangle 3"/>
          <p:cNvSpPr>
            <a:spLocks noGrp="1" noRot="1" noChangeArrowheads="1"/>
          </p:cNvSpPr>
          <p:nvPr>
            <p:ph type="body" idx="1"/>
          </p:nvPr>
        </p:nvSpPr>
        <p:spPr>
          <a:xfrm>
            <a:off x="539750" y="1773238"/>
            <a:ext cx="5807075" cy="1150937"/>
          </a:xfrm>
        </p:spPr>
        <p:txBody>
          <a:bodyPr/>
          <a:lstStyle/>
          <a:p>
            <a:pPr marL="0" indent="0" eaLnBrk="1" hangingPunct="1"/>
            <a:r>
              <a:rPr lang="zh-CN" altLang="en-US" b="1" smtClean="0">
                <a:latin typeface="Times New Roman" panose="02020603050405020304" pitchFamily="18" charset="0"/>
                <a:ea typeface="华文新魏" panose="02010800040101010101" pitchFamily="2" charset="-122"/>
              </a:rPr>
              <a:t>中间代码</a:t>
            </a:r>
            <a:r>
              <a:rPr lang="en-US" altLang="zh-CN" b="1" smtClean="0">
                <a:latin typeface="Times New Roman" panose="02020603050405020304" pitchFamily="18" charset="0"/>
                <a:ea typeface="华文新魏" panose="02010800040101010101" pitchFamily="2" charset="-122"/>
              </a:rPr>
              <a:t>(intermediate Code)</a:t>
            </a:r>
          </a:p>
          <a:p>
            <a:pPr marL="758825" lvl="1" eaLnBrk="1" hangingPunct="1"/>
            <a:r>
              <a:rPr lang="zh-CN" altLang="en-US" b="1" smtClean="0">
                <a:latin typeface="Times New Roman" panose="02020603050405020304" pitchFamily="18" charset="0"/>
                <a:ea typeface="华文新魏" panose="02010800040101010101" pitchFamily="2" charset="-122"/>
              </a:rPr>
              <a:t>例:</a:t>
            </a:r>
            <a:r>
              <a:rPr lang="en-US" altLang="zh-CN" b="1" smtClean="0">
                <a:latin typeface="Times New Roman" panose="02020603050405020304" pitchFamily="18" charset="0"/>
                <a:ea typeface="华文新魏" panose="02010800040101010101" pitchFamily="2" charset="-122"/>
              </a:rPr>
              <a:t>id</a:t>
            </a:r>
            <a:r>
              <a:rPr lang="en-US" altLang="zh-CN" b="1" baseline="-25000" smtClean="0">
                <a:latin typeface="Times New Roman" panose="02020603050405020304" pitchFamily="18" charset="0"/>
                <a:ea typeface="华文新魏" panose="02010800040101010101" pitchFamily="2" charset="-122"/>
              </a:rPr>
              <a:t>1</a:t>
            </a:r>
            <a:r>
              <a:rPr lang="en-US" altLang="zh-CN" b="1" smtClean="0">
                <a:latin typeface="Times New Roman" panose="02020603050405020304" pitchFamily="18" charset="0"/>
                <a:ea typeface="华文新魏" panose="02010800040101010101" pitchFamily="2" charset="-122"/>
              </a:rPr>
              <a:t>+id</a:t>
            </a:r>
            <a:r>
              <a:rPr lang="en-US" altLang="zh-CN" b="1" baseline="-25000" smtClean="0">
                <a:latin typeface="Times New Roman" panose="02020603050405020304" pitchFamily="18" charset="0"/>
                <a:ea typeface="华文新魏" panose="02010800040101010101" pitchFamily="2" charset="-122"/>
              </a:rPr>
              <a:t>2</a:t>
            </a:r>
            <a:r>
              <a:rPr lang="en-US" altLang="zh-CN" b="1" smtClean="0">
                <a:latin typeface="Times New Roman" panose="02020603050405020304" pitchFamily="18" charset="0"/>
                <a:ea typeface="华文新魏" panose="02010800040101010101" pitchFamily="2" charset="-122"/>
              </a:rPr>
              <a:t>*id</a:t>
            </a:r>
            <a:r>
              <a:rPr lang="en-US" altLang="zh-CN" b="1" baseline="-25000" smtClean="0">
                <a:latin typeface="Times New Roman" panose="02020603050405020304" pitchFamily="18" charset="0"/>
                <a:ea typeface="华文新魏" panose="02010800040101010101" pitchFamily="2" charset="-122"/>
              </a:rPr>
              <a:t>3</a:t>
            </a:r>
          </a:p>
        </p:txBody>
      </p:sp>
      <p:sp>
        <p:nvSpPr>
          <p:cNvPr id="450565" name="Text Box 5"/>
          <p:cNvSpPr txBox="1">
            <a:spLocks noChangeArrowheads="1"/>
          </p:cNvSpPr>
          <p:nvPr/>
        </p:nvSpPr>
        <p:spPr bwMode="auto">
          <a:xfrm>
            <a:off x="576263" y="4149725"/>
            <a:ext cx="21590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buClr>
                <a:schemeClr val="folHlink"/>
              </a:buClr>
              <a:buSzPct val="75000"/>
              <a:buFont typeface="Monotype Sorts" pitchFamily="2" charset="2"/>
              <a:buNone/>
              <a:defRPr/>
            </a:pPr>
            <a:r>
              <a:rPr kumimoji="1" lang="zh-CN" altLang="en-US" sz="2400" b="1">
                <a:solidFill>
                  <a:schemeClr val="tx2"/>
                </a:solidFill>
                <a:effectLst>
                  <a:outerShdw blurRad="38100" dist="38100" dir="2700000" algn="tl">
                    <a:srgbClr val="C0C0C0"/>
                  </a:outerShdw>
                </a:effectLst>
                <a:latin typeface="Times New Roman" pitchFamily="18" charset="0"/>
                <a:ea typeface="华文新魏" pitchFamily="2" charset="-122"/>
              </a:rPr>
              <a:t>四元组表示</a:t>
            </a:r>
          </a:p>
          <a:p>
            <a:pPr>
              <a:spcBef>
                <a:spcPct val="50000"/>
              </a:spcBef>
              <a:buClr>
                <a:schemeClr val="folHlink"/>
              </a:buClr>
              <a:buSzPct val="75000"/>
              <a:buFont typeface="Monotype Sorts" pitchFamily="2" charset="2"/>
              <a:buNone/>
              <a:defRPr/>
            </a:pPr>
            <a:r>
              <a:rPr kumimoji="1" lang="en-US" altLang="zh-CN" sz="2000" b="1" i="1">
                <a:solidFill>
                  <a:schemeClr val="tx2"/>
                </a:solidFill>
                <a:effectLst>
                  <a:outerShdw blurRad="38100" dist="38100" dir="2700000" algn="tl">
                    <a:srgbClr val="C0C0C0"/>
                  </a:outerShdw>
                </a:effectLst>
                <a:latin typeface="Times New Roman" pitchFamily="18" charset="0"/>
                <a:ea typeface="华文新魏" pitchFamily="2" charset="-122"/>
              </a:rPr>
              <a:t>(</a:t>
            </a:r>
            <a:r>
              <a:rPr kumimoji="1" lang="zh-CN" altLang="en-US" sz="2000" b="1" i="1">
                <a:solidFill>
                  <a:schemeClr val="tx2"/>
                </a:solidFill>
                <a:effectLst>
                  <a:outerShdw blurRad="38100" dist="38100" dir="2700000" algn="tl">
                    <a:srgbClr val="C0C0C0"/>
                  </a:outerShdw>
                </a:effectLst>
                <a:latin typeface="Times New Roman" pitchFamily="18" charset="0"/>
                <a:ea typeface="华文新魏" pitchFamily="2" charset="-122"/>
              </a:rPr>
              <a:t>三地址码</a:t>
            </a:r>
            <a:r>
              <a:rPr kumimoji="1" lang="en-US" altLang="zh-CN" sz="2000" b="1" i="1">
                <a:solidFill>
                  <a:schemeClr val="tx2"/>
                </a:solidFill>
                <a:effectLst>
                  <a:outerShdw blurRad="38100" dist="38100" dir="2700000" algn="tl">
                    <a:srgbClr val="C0C0C0"/>
                  </a:outerShdw>
                </a:effectLst>
                <a:latin typeface="Times New Roman" pitchFamily="18" charset="0"/>
                <a:ea typeface="华文新魏" pitchFamily="2" charset="-122"/>
              </a:rPr>
              <a:t>)</a:t>
            </a:r>
          </a:p>
          <a:p>
            <a:pPr>
              <a:spcBef>
                <a:spcPct val="50000"/>
              </a:spcBef>
              <a:buClr>
                <a:schemeClr val="folHlink"/>
              </a:buClr>
              <a:buSzPct val="75000"/>
              <a:buFont typeface="Monotype Sorts" pitchFamily="2" charset="2"/>
              <a:buNone/>
              <a:defRPr/>
            </a:pPr>
            <a:r>
              <a:rPr kumimoji="1" lang="en-US" altLang="zh-CN" sz="2400" b="1">
                <a:solidFill>
                  <a:schemeClr val="tx2"/>
                </a:solidFill>
                <a:effectLst>
                  <a:outerShdw blurRad="38100" dist="38100" dir="2700000" algn="tl">
                    <a:srgbClr val="C0C0C0"/>
                  </a:outerShdw>
                </a:effectLst>
                <a:latin typeface="Times New Roman" pitchFamily="18" charset="0"/>
              </a:rPr>
              <a:t>(*,id</a:t>
            </a:r>
            <a:r>
              <a:rPr kumimoji="1" lang="en-US" altLang="zh-CN" sz="2400" b="1" baseline="-25000">
                <a:solidFill>
                  <a:schemeClr val="tx2"/>
                </a:solidFill>
                <a:effectLst>
                  <a:outerShdw blurRad="38100" dist="38100" dir="2700000" algn="tl">
                    <a:srgbClr val="C0C0C0"/>
                  </a:outerShdw>
                </a:effectLst>
                <a:latin typeface="Times New Roman" pitchFamily="18" charset="0"/>
              </a:rPr>
              <a:t>2</a:t>
            </a:r>
            <a:r>
              <a:rPr kumimoji="1" lang="en-US" altLang="zh-CN" sz="2400" b="1">
                <a:solidFill>
                  <a:schemeClr val="tx2"/>
                </a:solidFill>
                <a:effectLst>
                  <a:outerShdw blurRad="38100" dist="38100" dir="2700000" algn="tl">
                    <a:srgbClr val="C0C0C0"/>
                  </a:outerShdw>
                </a:effectLst>
                <a:latin typeface="Times New Roman" pitchFamily="18" charset="0"/>
              </a:rPr>
              <a:t>,id</a:t>
            </a:r>
            <a:r>
              <a:rPr kumimoji="1" lang="en-US" altLang="zh-CN" sz="2400" b="1" baseline="-25000">
                <a:solidFill>
                  <a:schemeClr val="tx2"/>
                </a:solidFill>
                <a:effectLst>
                  <a:outerShdw blurRad="38100" dist="38100" dir="2700000" algn="tl">
                    <a:srgbClr val="C0C0C0"/>
                  </a:outerShdw>
                </a:effectLst>
                <a:latin typeface="Times New Roman" pitchFamily="18" charset="0"/>
              </a:rPr>
              <a:t>3</a:t>
            </a:r>
            <a:r>
              <a:rPr kumimoji="1" lang="en-US" altLang="zh-CN" sz="2400" b="1">
                <a:solidFill>
                  <a:schemeClr val="tx2"/>
                </a:solidFill>
                <a:effectLst>
                  <a:outerShdw blurRad="38100" dist="38100" dir="2700000" algn="tl">
                    <a:srgbClr val="C0C0C0"/>
                  </a:outerShdw>
                </a:effectLst>
                <a:latin typeface="Times New Roman" pitchFamily="18" charset="0"/>
              </a:rPr>
              <a:t>,T</a:t>
            </a:r>
            <a:r>
              <a:rPr kumimoji="1" lang="en-US" altLang="zh-CN" sz="2400" b="1" baseline="-25000">
                <a:solidFill>
                  <a:schemeClr val="tx2"/>
                </a:solidFill>
                <a:effectLst>
                  <a:outerShdw blurRad="38100" dist="38100" dir="2700000" algn="tl">
                    <a:srgbClr val="C0C0C0"/>
                  </a:outerShdw>
                </a:effectLst>
                <a:latin typeface="Times New Roman" pitchFamily="18" charset="0"/>
              </a:rPr>
              <a:t>1</a:t>
            </a:r>
            <a:r>
              <a:rPr kumimoji="1" lang="en-US" altLang="zh-CN" sz="2400" b="1">
                <a:solidFill>
                  <a:schemeClr val="tx2"/>
                </a:solidFill>
                <a:effectLst>
                  <a:outerShdw blurRad="38100" dist="38100" dir="2700000" algn="tl">
                    <a:srgbClr val="C0C0C0"/>
                  </a:outerShdw>
                </a:effectLst>
                <a:latin typeface="Times New Roman" pitchFamily="18" charset="0"/>
              </a:rPr>
              <a:t>) </a:t>
            </a:r>
          </a:p>
          <a:p>
            <a:pPr>
              <a:spcBef>
                <a:spcPct val="50000"/>
              </a:spcBef>
              <a:buClr>
                <a:schemeClr val="folHlink"/>
              </a:buClr>
              <a:buSzPct val="75000"/>
              <a:buFont typeface="Monotype Sorts" pitchFamily="2" charset="2"/>
              <a:buNone/>
              <a:defRPr/>
            </a:pPr>
            <a:r>
              <a:rPr kumimoji="1" lang="en-US" altLang="zh-CN" sz="2400" b="1">
                <a:solidFill>
                  <a:schemeClr val="tx2"/>
                </a:solidFill>
                <a:effectLst>
                  <a:outerShdw blurRad="38100" dist="38100" dir="2700000" algn="tl">
                    <a:srgbClr val="C0C0C0"/>
                  </a:outerShdw>
                </a:effectLst>
                <a:latin typeface="Times New Roman" pitchFamily="18" charset="0"/>
              </a:rPr>
              <a:t>(+,id</a:t>
            </a:r>
            <a:r>
              <a:rPr kumimoji="1" lang="en-US" altLang="zh-CN" sz="2400" b="1" baseline="-25000">
                <a:solidFill>
                  <a:schemeClr val="tx2"/>
                </a:solidFill>
                <a:effectLst>
                  <a:outerShdw blurRad="38100" dist="38100" dir="2700000" algn="tl">
                    <a:srgbClr val="C0C0C0"/>
                  </a:outerShdw>
                </a:effectLst>
                <a:latin typeface="Times New Roman" pitchFamily="18" charset="0"/>
              </a:rPr>
              <a:t>1 </a:t>
            </a:r>
            <a:r>
              <a:rPr kumimoji="1" lang="en-US" altLang="zh-CN" sz="2400" b="1">
                <a:solidFill>
                  <a:schemeClr val="tx2"/>
                </a:solidFill>
                <a:effectLst>
                  <a:outerShdw blurRad="38100" dist="38100" dir="2700000" algn="tl">
                    <a:srgbClr val="C0C0C0"/>
                  </a:outerShdw>
                </a:effectLst>
                <a:latin typeface="Times New Roman" pitchFamily="18" charset="0"/>
              </a:rPr>
              <a:t>,T</a:t>
            </a:r>
            <a:r>
              <a:rPr kumimoji="1" lang="en-US" altLang="zh-CN" sz="2400" b="1" baseline="-25000">
                <a:solidFill>
                  <a:schemeClr val="tx2"/>
                </a:solidFill>
                <a:effectLst>
                  <a:outerShdw blurRad="38100" dist="38100" dir="2700000" algn="tl">
                    <a:srgbClr val="C0C0C0"/>
                  </a:outerShdw>
                </a:effectLst>
                <a:latin typeface="Times New Roman" pitchFamily="18" charset="0"/>
              </a:rPr>
              <a:t>1</a:t>
            </a:r>
            <a:r>
              <a:rPr kumimoji="1" lang="en-US" altLang="zh-CN" sz="2400" b="1">
                <a:solidFill>
                  <a:schemeClr val="tx2"/>
                </a:solidFill>
                <a:effectLst>
                  <a:outerShdw blurRad="38100" dist="38100" dir="2700000" algn="tl">
                    <a:srgbClr val="C0C0C0"/>
                  </a:outerShdw>
                </a:effectLst>
                <a:latin typeface="Times New Roman" pitchFamily="18" charset="0"/>
              </a:rPr>
              <a:t> ,T</a:t>
            </a:r>
            <a:r>
              <a:rPr kumimoji="1" lang="en-US" altLang="zh-CN" sz="2400" b="1" baseline="-25000">
                <a:solidFill>
                  <a:schemeClr val="tx2"/>
                </a:solidFill>
                <a:effectLst>
                  <a:outerShdw blurRad="38100" dist="38100" dir="2700000" algn="tl">
                    <a:srgbClr val="C0C0C0"/>
                  </a:outerShdw>
                </a:effectLst>
                <a:latin typeface="Times New Roman" pitchFamily="18" charset="0"/>
              </a:rPr>
              <a:t>2</a:t>
            </a:r>
            <a:r>
              <a:rPr kumimoji="1" lang="en-US" altLang="zh-CN" sz="2400" b="1">
                <a:solidFill>
                  <a:schemeClr val="tx2"/>
                </a:solidFill>
                <a:effectLst>
                  <a:outerShdw blurRad="38100" dist="38100" dir="2700000" algn="tl">
                    <a:srgbClr val="C0C0C0"/>
                  </a:outerShdw>
                </a:effectLst>
                <a:latin typeface="Times New Roman" pitchFamily="18" charset="0"/>
              </a:rPr>
              <a:t>)</a:t>
            </a:r>
            <a:r>
              <a:rPr kumimoji="1" lang="en-US" altLang="zh-CN" sz="2000" b="1">
                <a:solidFill>
                  <a:schemeClr val="tx2"/>
                </a:solidFill>
                <a:effectLst>
                  <a:outerShdw blurRad="38100" dist="38100" dir="2700000" algn="tl">
                    <a:srgbClr val="C0C0C0"/>
                  </a:outerShdw>
                </a:effectLst>
                <a:latin typeface="Times New Roman" pitchFamily="18" charset="0"/>
              </a:rPr>
              <a:t> </a:t>
            </a:r>
          </a:p>
        </p:txBody>
      </p:sp>
      <p:sp>
        <p:nvSpPr>
          <p:cNvPr id="58375" name="Rectangle 19"/>
          <p:cNvSpPr>
            <a:spLocks noChangeArrowheads="1"/>
          </p:cNvSpPr>
          <p:nvPr/>
        </p:nvSpPr>
        <p:spPr bwMode="auto">
          <a:xfrm>
            <a:off x="2735263" y="4221163"/>
            <a:ext cx="2016125"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33CC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en-US" sz="2400" b="1">
                <a:solidFill>
                  <a:schemeClr val="hlink"/>
                </a:solidFill>
                <a:latin typeface="Times New Roman" panose="02020603050405020304" pitchFamily="18" charset="0"/>
                <a:ea typeface="华文新魏" panose="02010800040101010101" pitchFamily="2" charset="-122"/>
              </a:rPr>
              <a:t>三地址码的另一种表示形式</a:t>
            </a:r>
          </a:p>
          <a:p>
            <a:pPr eaLnBrk="1" hangingPunct="1">
              <a:spcBef>
                <a:spcPct val="50000"/>
              </a:spcBef>
              <a:buFont typeface="Wingdings" panose="05000000000000000000" pitchFamily="2" charset="2"/>
              <a:buNone/>
            </a:pPr>
            <a:r>
              <a:rPr lang="en-US" altLang="zh-CN" sz="2400" b="1">
                <a:solidFill>
                  <a:schemeClr val="hlink"/>
                </a:solidFill>
                <a:latin typeface="Times New Roman" panose="02020603050405020304" pitchFamily="18" charset="0"/>
                <a:ea typeface="华文新魏" panose="02010800040101010101" pitchFamily="2" charset="-122"/>
              </a:rPr>
              <a:t>T</a:t>
            </a:r>
            <a:r>
              <a:rPr lang="en-US" altLang="zh-CN" sz="2400" b="1" baseline="-25000">
                <a:solidFill>
                  <a:schemeClr val="hlink"/>
                </a:solidFill>
                <a:latin typeface="Times New Roman" panose="02020603050405020304" pitchFamily="18" charset="0"/>
                <a:ea typeface="华文新魏" panose="02010800040101010101" pitchFamily="2" charset="-122"/>
              </a:rPr>
              <a:t>1</a:t>
            </a:r>
            <a:r>
              <a:rPr lang="en-US" altLang="zh-CN" sz="2400" b="1">
                <a:solidFill>
                  <a:schemeClr val="hlink"/>
                </a:solidFill>
                <a:latin typeface="Times New Roman" panose="02020603050405020304" pitchFamily="18" charset="0"/>
                <a:ea typeface="华文新魏" panose="02010800040101010101" pitchFamily="2" charset="-122"/>
              </a:rPr>
              <a:t>=id</a:t>
            </a:r>
            <a:r>
              <a:rPr lang="en-US" altLang="zh-CN" sz="2400" b="1" baseline="-25000">
                <a:solidFill>
                  <a:schemeClr val="hlink"/>
                </a:solidFill>
                <a:latin typeface="Times New Roman" panose="02020603050405020304" pitchFamily="18" charset="0"/>
                <a:ea typeface="华文新魏" panose="02010800040101010101" pitchFamily="2" charset="-122"/>
              </a:rPr>
              <a:t>2</a:t>
            </a:r>
            <a:r>
              <a:rPr lang="en-US" altLang="zh-CN" sz="2400" b="1">
                <a:solidFill>
                  <a:schemeClr val="hlink"/>
                </a:solidFill>
                <a:latin typeface="Times New Roman" panose="02020603050405020304" pitchFamily="18" charset="0"/>
                <a:ea typeface="华文新魏" panose="02010800040101010101" pitchFamily="2" charset="-122"/>
              </a:rPr>
              <a:t>*id</a:t>
            </a:r>
            <a:r>
              <a:rPr lang="en-US" altLang="zh-CN" sz="2400" b="1" baseline="-25000">
                <a:solidFill>
                  <a:schemeClr val="hlink"/>
                </a:solidFill>
                <a:latin typeface="Times New Roman" panose="02020603050405020304" pitchFamily="18" charset="0"/>
                <a:ea typeface="华文新魏" panose="02010800040101010101" pitchFamily="2" charset="-122"/>
              </a:rPr>
              <a:t>3</a:t>
            </a:r>
          </a:p>
          <a:p>
            <a:pPr eaLnBrk="1" hangingPunct="1">
              <a:spcBef>
                <a:spcPct val="50000"/>
              </a:spcBef>
              <a:buFont typeface="Wingdings" panose="05000000000000000000" pitchFamily="2" charset="2"/>
              <a:buNone/>
            </a:pPr>
            <a:r>
              <a:rPr lang="en-US" altLang="en-US" sz="2400" b="1">
                <a:solidFill>
                  <a:schemeClr val="hlink"/>
                </a:solidFill>
                <a:latin typeface="Times New Roman" panose="02020603050405020304" pitchFamily="18" charset="0"/>
                <a:ea typeface="华文新魏" panose="02010800040101010101" pitchFamily="2" charset="-122"/>
              </a:rPr>
              <a:t>T</a:t>
            </a:r>
            <a:r>
              <a:rPr lang="en-US" altLang="en-US" sz="2400" b="1" baseline="-25000">
                <a:solidFill>
                  <a:schemeClr val="hlink"/>
                </a:solidFill>
                <a:latin typeface="Times New Roman" panose="02020603050405020304" pitchFamily="18" charset="0"/>
                <a:ea typeface="华文新魏" panose="02010800040101010101" pitchFamily="2" charset="-122"/>
              </a:rPr>
              <a:t>2</a:t>
            </a:r>
            <a:r>
              <a:rPr lang="en-US" altLang="en-US" sz="2400" b="1">
                <a:solidFill>
                  <a:schemeClr val="hlink"/>
                </a:solidFill>
                <a:latin typeface="Times New Roman" panose="02020603050405020304" pitchFamily="18" charset="0"/>
                <a:ea typeface="华文新魏" panose="02010800040101010101" pitchFamily="2" charset="-122"/>
              </a:rPr>
              <a:t>=id</a:t>
            </a:r>
            <a:r>
              <a:rPr lang="en-US" altLang="en-US" sz="2400" b="1" baseline="-25000">
                <a:solidFill>
                  <a:schemeClr val="hlink"/>
                </a:solidFill>
                <a:latin typeface="Times New Roman" panose="02020603050405020304" pitchFamily="18" charset="0"/>
                <a:ea typeface="华文新魏" panose="02010800040101010101" pitchFamily="2" charset="-122"/>
              </a:rPr>
              <a:t>1</a:t>
            </a:r>
            <a:r>
              <a:rPr lang="en-US" altLang="zh-CN" sz="2400" b="1">
                <a:solidFill>
                  <a:schemeClr val="hlink"/>
                </a:solidFill>
                <a:latin typeface="Times New Roman" panose="02020603050405020304" pitchFamily="18" charset="0"/>
                <a:ea typeface="华文新魏" panose="02010800040101010101" pitchFamily="2" charset="-122"/>
              </a:rPr>
              <a:t>+</a:t>
            </a:r>
            <a:r>
              <a:rPr lang="en-US" altLang="en-US" sz="2400" b="1">
                <a:solidFill>
                  <a:schemeClr val="hlink"/>
                </a:solidFill>
                <a:latin typeface="Times New Roman" panose="02020603050405020304" pitchFamily="18" charset="0"/>
                <a:ea typeface="华文新魏" panose="02010800040101010101" pitchFamily="2" charset="-122"/>
              </a:rPr>
              <a:t>T</a:t>
            </a:r>
            <a:r>
              <a:rPr lang="en-US" altLang="en-US" sz="2400" b="1" baseline="-25000">
                <a:solidFill>
                  <a:schemeClr val="hlink"/>
                </a:solidFill>
                <a:latin typeface="Times New Roman" panose="02020603050405020304" pitchFamily="18" charset="0"/>
                <a:ea typeface="华文新魏" panose="02010800040101010101" pitchFamily="2" charset="-122"/>
              </a:rPr>
              <a:t>1</a:t>
            </a:r>
            <a:endParaRPr lang="en-US" altLang="en-US" sz="2400" b="1">
              <a:solidFill>
                <a:schemeClr val="hlink"/>
              </a:solidFill>
              <a:latin typeface="Times New Roman" panose="02020603050405020304" pitchFamily="18" charset="0"/>
              <a:ea typeface="华文新魏" panose="02010800040101010101" pitchFamily="2" charset="-122"/>
            </a:endParaRPr>
          </a:p>
        </p:txBody>
      </p:sp>
      <p:sp>
        <p:nvSpPr>
          <p:cNvPr id="450580" name="Text Box 20"/>
          <p:cNvSpPr txBox="1">
            <a:spLocks noChangeArrowheads="1"/>
          </p:cNvSpPr>
          <p:nvPr/>
        </p:nvSpPr>
        <p:spPr bwMode="auto">
          <a:xfrm>
            <a:off x="4824413" y="4365625"/>
            <a:ext cx="2209800"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三元组表示</a:t>
            </a:r>
          </a:p>
          <a:p>
            <a:pPr>
              <a:lnSpc>
                <a:spcPct val="110000"/>
              </a:lnSpc>
              <a:spcBef>
                <a:spcPct val="50000"/>
              </a:spcBef>
              <a:buClr>
                <a:schemeClr val="folHlink"/>
              </a:buClr>
              <a:buSzPct val="75000"/>
              <a:buFont typeface="Monotype Sorts" pitchFamily="2" charset="2"/>
              <a:buNone/>
              <a:defRPr/>
            </a:pPr>
            <a:r>
              <a:rPr kumimoji="1" lang="zh-CN" altLang="en-US" sz="2400" b="1">
                <a:solidFill>
                  <a:schemeClr val="tx2"/>
                </a:solidFill>
                <a:effectLst>
                  <a:outerShdw blurRad="38100" dist="38100" dir="2700000" algn="tl">
                    <a:srgbClr val="C0C0C0"/>
                  </a:outerShdw>
                </a:effectLst>
                <a:latin typeface="Times New Roman" pitchFamily="18" charset="0"/>
              </a:rPr>
              <a:t>1 </a:t>
            </a:r>
            <a:r>
              <a:rPr kumimoji="1" lang="en-US" altLang="zh-CN" sz="2400" b="1">
                <a:solidFill>
                  <a:schemeClr val="tx2"/>
                </a:solidFill>
                <a:effectLst>
                  <a:outerShdw blurRad="38100" dist="38100" dir="2700000" algn="tl">
                    <a:srgbClr val="C0C0C0"/>
                  </a:outerShdw>
                </a:effectLst>
                <a:latin typeface="Times New Roman" pitchFamily="18" charset="0"/>
              </a:rPr>
              <a:t>(* ,id</a:t>
            </a:r>
            <a:r>
              <a:rPr kumimoji="1" lang="en-US" altLang="zh-CN" sz="2400" b="1" baseline="-25000">
                <a:solidFill>
                  <a:schemeClr val="tx2"/>
                </a:solidFill>
                <a:effectLst>
                  <a:outerShdw blurRad="38100" dist="38100" dir="2700000" algn="tl">
                    <a:srgbClr val="C0C0C0"/>
                  </a:outerShdw>
                </a:effectLst>
                <a:latin typeface="Times New Roman" pitchFamily="18" charset="0"/>
              </a:rPr>
              <a:t>2</a:t>
            </a:r>
            <a:r>
              <a:rPr kumimoji="1" lang="en-US" altLang="zh-CN" sz="2400" b="1">
                <a:solidFill>
                  <a:schemeClr val="tx2"/>
                </a:solidFill>
                <a:effectLst>
                  <a:outerShdw blurRad="38100" dist="38100" dir="2700000" algn="tl">
                    <a:srgbClr val="C0C0C0"/>
                  </a:outerShdw>
                </a:effectLst>
                <a:latin typeface="Times New Roman" pitchFamily="18" charset="0"/>
              </a:rPr>
              <a:t>,id</a:t>
            </a:r>
            <a:r>
              <a:rPr kumimoji="1" lang="en-US" altLang="zh-CN" sz="2400" b="1" baseline="-25000">
                <a:solidFill>
                  <a:schemeClr val="tx2"/>
                </a:solidFill>
                <a:effectLst>
                  <a:outerShdw blurRad="38100" dist="38100" dir="2700000" algn="tl">
                    <a:srgbClr val="C0C0C0"/>
                  </a:outerShdw>
                </a:effectLst>
                <a:latin typeface="Times New Roman" pitchFamily="18" charset="0"/>
              </a:rPr>
              <a:t>3</a:t>
            </a:r>
            <a:r>
              <a:rPr kumimoji="1" lang="en-US" altLang="zh-CN" sz="2400" b="1">
                <a:solidFill>
                  <a:schemeClr val="tx2"/>
                </a:solidFill>
                <a:effectLst>
                  <a:outerShdw blurRad="38100" dist="38100" dir="2700000" algn="tl">
                    <a:srgbClr val="C0C0C0"/>
                  </a:outerShdw>
                </a:effectLst>
                <a:latin typeface="Times New Roman" pitchFamily="18" charset="0"/>
              </a:rPr>
              <a:t>)</a:t>
            </a:r>
          </a:p>
          <a:p>
            <a:pPr>
              <a:lnSpc>
                <a:spcPct val="110000"/>
              </a:lnSpc>
              <a:spcBef>
                <a:spcPct val="50000"/>
              </a:spcBef>
              <a:buClr>
                <a:schemeClr val="folHlink"/>
              </a:buClr>
              <a:buSzPct val="75000"/>
              <a:buFont typeface="Monotype Sorts" pitchFamily="2" charset="2"/>
              <a:buNone/>
              <a:defRPr/>
            </a:pPr>
            <a:r>
              <a:rPr kumimoji="1" lang="en-US" altLang="zh-CN" sz="2400" b="1">
                <a:solidFill>
                  <a:schemeClr val="tx2"/>
                </a:solidFill>
                <a:effectLst>
                  <a:outerShdw blurRad="38100" dist="38100" dir="2700000" algn="tl">
                    <a:srgbClr val="C0C0C0"/>
                  </a:outerShdw>
                </a:effectLst>
                <a:latin typeface="Times New Roman" pitchFamily="18" charset="0"/>
              </a:rPr>
              <a:t>2 (+,id</a:t>
            </a:r>
            <a:r>
              <a:rPr kumimoji="1" lang="en-US" altLang="zh-CN" sz="2400" b="1" baseline="-25000">
                <a:solidFill>
                  <a:schemeClr val="tx2"/>
                </a:solidFill>
                <a:effectLst>
                  <a:outerShdw blurRad="38100" dist="38100" dir="2700000" algn="tl">
                    <a:srgbClr val="C0C0C0"/>
                  </a:outerShdw>
                </a:effectLst>
                <a:latin typeface="Times New Roman" pitchFamily="18" charset="0"/>
              </a:rPr>
              <a:t>1</a:t>
            </a:r>
            <a:r>
              <a:rPr kumimoji="1" lang="en-US" altLang="zh-CN" sz="2400" b="1">
                <a:solidFill>
                  <a:schemeClr val="tx2"/>
                </a:solidFill>
                <a:effectLst>
                  <a:outerShdw blurRad="38100" dist="38100" dir="2700000" algn="tl">
                    <a:srgbClr val="C0C0C0"/>
                  </a:outerShdw>
                </a:effectLst>
                <a:latin typeface="Times New Roman" pitchFamily="18" charset="0"/>
              </a:rPr>
              <a:t>,(1))</a:t>
            </a:r>
          </a:p>
        </p:txBody>
      </p:sp>
      <p:sp>
        <p:nvSpPr>
          <p:cNvPr id="450581" name="Rectangle 21"/>
          <p:cNvSpPr>
            <a:spLocks noChangeArrowheads="1"/>
          </p:cNvSpPr>
          <p:nvPr/>
        </p:nvSpPr>
        <p:spPr bwMode="auto">
          <a:xfrm>
            <a:off x="3924300" y="188913"/>
            <a:ext cx="52197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800" b="1">
                <a:solidFill>
                  <a:srgbClr val="CC3300"/>
                </a:solidFill>
                <a:effectLst>
                  <a:outerShdw blurRad="38100" dist="38100" dir="2700000" algn="tl">
                    <a:srgbClr val="C0C0C0"/>
                  </a:outerShdw>
                </a:effectLst>
                <a:latin typeface="Times New Roman" pitchFamily="18" charset="0"/>
                <a:ea typeface="华文新魏" pitchFamily="2" charset="-122"/>
              </a:rPr>
              <a:t>走向目标</a:t>
            </a: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3</a:t>
            </a:r>
            <a:r>
              <a:rPr kumimoji="1" lang="zh-CN" altLang="en-US" sz="2800" b="1">
                <a:solidFill>
                  <a:srgbClr val="CC3300"/>
                </a:solidFill>
                <a:effectLst>
                  <a:outerShdw blurRad="38100" dist="38100" dir="2700000" algn="tl">
                    <a:srgbClr val="C0C0C0"/>
                  </a:outerShdw>
                </a:effectLst>
                <a:latin typeface="Times New Roman" pitchFamily="18" charset="0"/>
                <a:ea typeface="华文新魏" pitchFamily="2" charset="-122"/>
              </a:rPr>
              <a:t>：接近机器的表达！</a:t>
            </a:r>
          </a:p>
        </p:txBody>
      </p:sp>
      <p:sp>
        <p:nvSpPr>
          <p:cNvPr id="450582" name="Text Box 22"/>
          <p:cNvSpPr txBox="1">
            <a:spLocks noChangeArrowheads="1"/>
          </p:cNvSpPr>
          <p:nvPr/>
        </p:nvSpPr>
        <p:spPr bwMode="auto">
          <a:xfrm>
            <a:off x="612775" y="3181350"/>
            <a:ext cx="6480175"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逆波兰表示</a:t>
            </a:r>
            <a:r>
              <a:rPr kumimoji="1" lang="en-US" altLang="zh-CN" b="1">
                <a:effectLst>
                  <a:outerShdw blurRad="38100" dist="38100" dir="2700000" algn="tl">
                    <a:srgbClr val="C0C0C0"/>
                  </a:outerShdw>
                </a:effectLst>
                <a:latin typeface="Times New Roman" pitchFamily="18" charset="0"/>
              </a:rPr>
              <a:t>(Reverse Polish Notation)</a:t>
            </a:r>
            <a:r>
              <a:rPr kumimoji="1" lang="en-US" altLang="zh-CN">
                <a:latin typeface="Arial" charset="0"/>
              </a:rPr>
              <a:t> </a:t>
            </a:r>
            <a:r>
              <a:rPr kumimoji="1" lang="zh-CN" altLang="en-US" sz="2400" b="1">
                <a:effectLst>
                  <a:outerShdw blurRad="38100" dist="38100" dir="2700000" algn="tl">
                    <a:srgbClr val="C0C0C0"/>
                  </a:outerShdw>
                </a:effectLst>
                <a:latin typeface="Times New Roman" pitchFamily="18" charset="0"/>
              </a:rPr>
              <a:t>：</a:t>
            </a:r>
            <a:r>
              <a:rPr kumimoji="1" lang="en-US" altLang="zh-CN" sz="2400" b="1">
                <a:effectLst>
                  <a:outerShdw blurRad="38100" dist="38100" dir="2700000" algn="tl">
                    <a:srgbClr val="C0C0C0"/>
                  </a:outerShdw>
                </a:effectLst>
                <a:latin typeface="Times New Roman" pitchFamily="18" charset="0"/>
              </a:rPr>
              <a:t>id</a:t>
            </a:r>
            <a:r>
              <a:rPr kumimoji="1" lang="en-US" altLang="zh-CN" sz="2400" b="1" baseline="-25000">
                <a:effectLst>
                  <a:outerShdw blurRad="38100" dist="38100" dir="2700000" algn="tl">
                    <a:srgbClr val="C0C0C0"/>
                  </a:outerShdw>
                </a:effectLst>
                <a:latin typeface="Times New Roman" pitchFamily="18" charset="0"/>
              </a:rPr>
              <a:t>1</a:t>
            </a:r>
            <a:r>
              <a:rPr kumimoji="1" lang="en-US" altLang="zh-CN" sz="2400" b="1">
                <a:effectLst>
                  <a:outerShdw blurRad="38100" dist="38100" dir="2700000" algn="tl">
                    <a:srgbClr val="C0C0C0"/>
                  </a:outerShdw>
                </a:effectLst>
                <a:latin typeface="Times New Roman" pitchFamily="18" charset="0"/>
              </a:rPr>
              <a:t>id</a:t>
            </a:r>
            <a:r>
              <a:rPr kumimoji="1" lang="en-US" altLang="zh-CN" sz="2400" b="1" baseline="-25000">
                <a:effectLst>
                  <a:outerShdw blurRad="38100" dist="38100" dir="2700000" algn="tl">
                    <a:srgbClr val="C0C0C0"/>
                  </a:outerShdw>
                </a:effectLst>
                <a:latin typeface="Times New Roman" pitchFamily="18" charset="0"/>
              </a:rPr>
              <a:t>2</a:t>
            </a:r>
            <a:r>
              <a:rPr kumimoji="1" lang="en-US" altLang="zh-CN" sz="2400" b="1">
                <a:effectLst>
                  <a:outerShdw blurRad="38100" dist="38100" dir="2700000" algn="tl">
                    <a:srgbClr val="C0C0C0"/>
                  </a:outerShdw>
                </a:effectLst>
                <a:latin typeface="Times New Roman" pitchFamily="18" charset="0"/>
              </a:rPr>
              <a:t>id</a:t>
            </a:r>
            <a:r>
              <a:rPr kumimoji="1" lang="en-US" altLang="zh-CN" sz="2400" b="1" baseline="-25000">
                <a:effectLst>
                  <a:outerShdw blurRad="38100" dist="38100" dir="2700000" algn="tl">
                    <a:srgbClr val="C0C0C0"/>
                  </a:outerShdw>
                </a:effectLst>
                <a:latin typeface="Times New Roman" pitchFamily="18" charset="0"/>
              </a:rPr>
              <a:t>3 </a:t>
            </a:r>
            <a:r>
              <a:rPr kumimoji="1" lang="en-US" altLang="zh-CN" sz="2400" b="1">
                <a:effectLst>
                  <a:outerShdw blurRad="38100" dist="38100" dir="2700000" algn="tl">
                    <a:srgbClr val="C0C0C0"/>
                  </a:outerShdw>
                </a:effectLst>
                <a:latin typeface="Times New Roman" pitchFamily="18" charset="0"/>
              </a:rPr>
              <a:t>*</a:t>
            </a:r>
            <a:r>
              <a:rPr kumimoji="1" lang="en-US" altLang="zh-CN" sz="2400" b="1" baseline="-25000">
                <a:effectLst>
                  <a:outerShdw blurRad="38100" dist="38100" dir="2700000" algn="tl">
                    <a:srgbClr val="C0C0C0"/>
                  </a:outerShdw>
                </a:effectLst>
                <a:latin typeface="Times New Roman" pitchFamily="18" charset="0"/>
              </a:rPr>
              <a:t> </a:t>
            </a:r>
            <a:r>
              <a:rPr kumimoji="1" lang="en-US" altLang="zh-CN" sz="2400" b="1">
                <a:effectLst>
                  <a:outerShdw blurRad="38100" dist="38100" dir="2700000" algn="tl">
                    <a:srgbClr val="C0C0C0"/>
                  </a:outerShdw>
                </a:effectLst>
                <a:latin typeface="Times New Roman" pitchFamily="18" charset="0"/>
              </a:rPr>
              <a:t>+</a:t>
            </a:r>
          </a:p>
          <a:p>
            <a:pPr>
              <a:lnSpc>
                <a:spcPct val="110000"/>
              </a:lnSpc>
              <a:buClr>
                <a:schemeClr val="folHlink"/>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波兰表示</a:t>
            </a:r>
            <a:r>
              <a:rPr kumimoji="1" lang="en-US" altLang="zh-CN" b="1">
                <a:effectLst>
                  <a:outerShdw blurRad="38100" dist="38100" dir="2700000" algn="tl">
                    <a:srgbClr val="C0C0C0"/>
                  </a:outerShdw>
                </a:effectLst>
                <a:latin typeface="Times New Roman" pitchFamily="18" charset="0"/>
              </a:rPr>
              <a:t>(Polish Notation)</a:t>
            </a:r>
            <a:r>
              <a:rPr kumimoji="1" lang="en-US" altLang="zh-CN">
                <a:latin typeface="Arial" charset="0"/>
              </a:rPr>
              <a:t> </a:t>
            </a:r>
            <a:r>
              <a:rPr kumimoji="1" lang="zh-CN" altLang="en-US" sz="2400" b="1">
                <a:effectLst>
                  <a:outerShdw blurRad="38100" dist="38100" dir="2700000" algn="tl">
                    <a:srgbClr val="C0C0C0"/>
                  </a:outerShdw>
                </a:effectLst>
                <a:latin typeface="华文新魏" pitchFamily="2" charset="-122"/>
                <a:ea typeface="华文新魏" pitchFamily="2" charset="-122"/>
              </a:rPr>
              <a:t>：</a:t>
            </a:r>
            <a:r>
              <a:rPr kumimoji="1" lang="en-US" altLang="zh-CN" sz="2400" b="1">
                <a:effectLst>
                  <a:outerShdw blurRad="38100" dist="38100" dir="2700000" algn="tl">
                    <a:srgbClr val="C0C0C0"/>
                  </a:outerShdw>
                </a:effectLst>
                <a:latin typeface="Times New Roman" pitchFamily="18" charset="0"/>
              </a:rPr>
              <a:t>+ id</a:t>
            </a:r>
            <a:r>
              <a:rPr kumimoji="1" lang="en-US" altLang="zh-CN" sz="2400" b="1" baseline="-25000">
                <a:effectLst>
                  <a:outerShdw blurRad="38100" dist="38100" dir="2700000" algn="tl">
                    <a:srgbClr val="C0C0C0"/>
                  </a:outerShdw>
                </a:effectLst>
                <a:latin typeface="Times New Roman" pitchFamily="18" charset="0"/>
              </a:rPr>
              <a:t>1</a:t>
            </a:r>
            <a:r>
              <a:rPr kumimoji="1" lang="en-US" altLang="zh-CN" sz="2400" b="1">
                <a:effectLst>
                  <a:outerShdw blurRad="38100" dist="38100" dir="2700000" algn="tl">
                    <a:srgbClr val="C0C0C0"/>
                  </a:outerShdw>
                </a:effectLst>
                <a:latin typeface="Times New Roman" pitchFamily="18" charset="0"/>
              </a:rPr>
              <a:t>*id</a:t>
            </a:r>
            <a:r>
              <a:rPr kumimoji="1" lang="en-US" altLang="zh-CN" sz="2400" b="1" baseline="-25000">
                <a:effectLst>
                  <a:outerShdw blurRad="38100" dist="38100" dir="2700000" algn="tl">
                    <a:srgbClr val="C0C0C0"/>
                  </a:outerShdw>
                </a:effectLst>
                <a:latin typeface="Times New Roman" pitchFamily="18" charset="0"/>
              </a:rPr>
              <a:t>2</a:t>
            </a:r>
            <a:r>
              <a:rPr kumimoji="1" lang="en-US" altLang="zh-CN" sz="2400" b="1">
                <a:effectLst>
                  <a:outerShdw blurRad="38100" dist="38100" dir="2700000" algn="tl">
                    <a:srgbClr val="C0C0C0"/>
                  </a:outerShdw>
                </a:effectLst>
                <a:latin typeface="Times New Roman" pitchFamily="18" charset="0"/>
              </a:rPr>
              <a:t>id</a:t>
            </a:r>
            <a:r>
              <a:rPr kumimoji="1" lang="en-US" altLang="zh-CN" sz="2400" b="1" baseline="-25000">
                <a:effectLst>
                  <a:outerShdw blurRad="38100" dist="38100" dir="2700000" algn="tl">
                    <a:srgbClr val="C0C0C0"/>
                  </a:outerShdw>
                </a:effectLst>
                <a:latin typeface="Times New Roman" pitchFamily="18" charset="0"/>
              </a:rPr>
              <a:t>3</a:t>
            </a:r>
          </a:p>
        </p:txBody>
      </p:sp>
      <p:grpSp>
        <p:nvGrpSpPr>
          <p:cNvPr id="58379" name="Group 42"/>
          <p:cNvGrpSpPr>
            <a:grpSpLocks/>
          </p:cNvGrpSpPr>
          <p:nvPr/>
        </p:nvGrpSpPr>
        <p:grpSpPr bwMode="auto">
          <a:xfrm>
            <a:off x="7056438" y="3573463"/>
            <a:ext cx="1979612" cy="2833687"/>
            <a:chOff x="4195" y="2251"/>
            <a:chExt cx="1247" cy="1785"/>
          </a:xfrm>
        </p:grpSpPr>
        <p:sp>
          <p:nvSpPr>
            <p:cNvPr id="450578" name="Rectangle 18"/>
            <p:cNvSpPr>
              <a:spLocks noChangeArrowheads="1"/>
            </p:cNvSpPr>
            <p:nvPr/>
          </p:nvSpPr>
          <p:spPr bwMode="auto">
            <a:xfrm>
              <a:off x="4377" y="2251"/>
              <a:ext cx="69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2400" b="1">
                  <a:solidFill>
                    <a:srgbClr val="CC3300"/>
                  </a:solidFill>
                  <a:effectLst>
                    <a:outerShdw blurRad="38100" dist="38100" dir="2700000" algn="tl">
                      <a:srgbClr val="C0C0C0"/>
                    </a:outerShdw>
                  </a:effectLst>
                  <a:latin typeface="Times New Roman" pitchFamily="18" charset="0"/>
                  <a:ea typeface="楷体_GB2312" pitchFamily="49" charset="-122"/>
                </a:rPr>
                <a:t>语法树</a:t>
              </a:r>
            </a:p>
          </p:txBody>
        </p:sp>
        <p:sp>
          <p:nvSpPr>
            <p:cNvPr id="450583" name="Rectangle 23"/>
            <p:cNvSpPr>
              <a:spLocks noChangeArrowheads="1"/>
            </p:cNvSpPr>
            <p:nvPr/>
          </p:nvSpPr>
          <p:spPr bwMode="auto">
            <a:xfrm>
              <a:off x="4240" y="2976"/>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000" b="1">
                  <a:solidFill>
                    <a:srgbClr val="CC3300"/>
                  </a:solidFill>
                  <a:effectLst>
                    <a:outerShdw blurRad="38100" dist="38100" dir="2700000" algn="tl">
                      <a:srgbClr val="C0C0C0"/>
                    </a:outerShdw>
                  </a:effectLst>
                  <a:latin typeface="Times New Roman" pitchFamily="18" charset="0"/>
                </a:rPr>
                <a:t>E</a:t>
              </a:r>
              <a:endParaRPr kumimoji="1" lang="zh-CN" altLang="en-US" sz="2000" b="1">
                <a:solidFill>
                  <a:srgbClr val="CC3300"/>
                </a:solidFill>
                <a:effectLst>
                  <a:outerShdw blurRad="38100" dist="38100" dir="2700000" algn="tl">
                    <a:srgbClr val="C0C0C0"/>
                  </a:outerShdw>
                </a:effectLst>
                <a:latin typeface="Times New Roman" pitchFamily="18" charset="0"/>
              </a:endParaRPr>
            </a:p>
          </p:txBody>
        </p:sp>
        <p:sp>
          <p:nvSpPr>
            <p:cNvPr id="450584" name="Rectangle 24"/>
            <p:cNvSpPr>
              <a:spLocks noChangeArrowheads="1"/>
            </p:cNvSpPr>
            <p:nvPr/>
          </p:nvSpPr>
          <p:spPr bwMode="auto">
            <a:xfrm>
              <a:off x="4562" y="259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000" b="1">
                  <a:solidFill>
                    <a:srgbClr val="CC3300"/>
                  </a:solidFill>
                  <a:effectLst>
                    <a:outerShdw blurRad="38100" dist="38100" dir="2700000" algn="tl">
                      <a:srgbClr val="C0C0C0"/>
                    </a:outerShdw>
                  </a:effectLst>
                  <a:latin typeface="Times New Roman" pitchFamily="18" charset="0"/>
                </a:rPr>
                <a:t>E</a:t>
              </a:r>
              <a:endParaRPr kumimoji="1" lang="zh-CN" altLang="en-US" sz="2000" b="1">
                <a:solidFill>
                  <a:srgbClr val="CC3300"/>
                </a:solidFill>
                <a:effectLst>
                  <a:outerShdw blurRad="38100" dist="38100" dir="2700000" algn="tl">
                    <a:srgbClr val="C0C0C0"/>
                  </a:outerShdw>
                </a:effectLst>
                <a:latin typeface="Times New Roman" pitchFamily="18" charset="0"/>
              </a:endParaRPr>
            </a:p>
          </p:txBody>
        </p:sp>
        <p:sp>
          <p:nvSpPr>
            <p:cNvPr id="450585" name="Rectangle 25"/>
            <p:cNvSpPr>
              <a:spLocks noChangeArrowheads="1"/>
            </p:cNvSpPr>
            <p:nvPr/>
          </p:nvSpPr>
          <p:spPr bwMode="auto">
            <a:xfrm>
              <a:off x="4875" y="295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000" b="1">
                  <a:solidFill>
                    <a:srgbClr val="CC3300"/>
                  </a:solidFill>
                  <a:effectLst>
                    <a:outerShdw blurRad="38100" dist="38100" dir="2700000" algn="tl">
                      <a:srgbClr val="C0C0C0"/>
                    </a:outerShdw>
                  </a:effectLst>
                  <a:latin typeface="Times New Roman" pitchFamily="18" charset="0"/>
                </a:rPr>
                <a:t>E</a:t>
              </a:r>
              <a:endParaRPr kumimoji="1" lang="zh-CN" altLang="en-US" sz="2000" b="1">
                <a:solidFill>
                  <a:srgbClr val="CC3300"/>
                </a:solidFill>
                <a:effectLst>
                  <a:outerShdw blurRad="38100" dist="38100" dir="2700000" algn="tl">
                    <a:srgbClr val="C0C0C0"/>
                  </a:outerShdw>
                </a:effectLst>
                <a:latin typeface="Times New Roman" pitchFamily="18" charset="0"/>
              </a:endParaRPr>
            </a:p>
          </p:txBody>
        </p:sp>
        <p:sp>
          <p:nvSpPr>
            <p:cNvPr id="450586" name="Rectangle 26"/>
            <p:cNvSpPr>
              <a:spLocks noChangeArrowheads="1"/>
            </p:cNvSpPr>
            <p:nvPr/>
          </p:nvSpPr>
          <p:spPr bwMode="auto">
            <a:xfrm>
              <a:off x="4648" y="3384"/>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000" b="1">
                  <a:solidFill>
                    <a:srgbClr val="CC3300"/>
                  </a:solidFill>
                  <a:effectLst>
                    <a:outerShdw blurRad="38100" dist="38100" dir="2700000" algn="tl">
                      <a:srgbClr val="C0C0C0"/>
                    </a:outerShdw>
                  </a:effectLst>
                  <a:latin typeface="Times New Roman" pitchFamily="18" charset="0"/>
                </a:rPr>
                <a:t>E</a:t>
              </a:r>
              <a:endParaRPr kumimoji="1" lang="zh-CN" altLang="en-US" sz="2000" b="1">
                <a:solidFill>
                  <a:srgbClr val="CC3300"/>
                </a:solidFill>
                <a:effectLst>
                  <a:outerShdw blurRad="38100" dist="38100" dir="2700000" algn="tl">
                    <a:srgbClr val="C0C0C0"/>
                  </a:outerShdw>
                </a:effectLst>
                <a:latin typeface="Times New Roman" pitchFamily="18" charset="0"/>
              </a:endParaRPr>
            </a:p>
          </p:txBody>
        </p:sp>
        <p:sp>
          <p:nvSpPr>
            <p:cNvPr id="450587" name="Rectangle 27"/>
            <p:cNvSpPr>
              <a:spLocks noChangeArrowheads="1"/>
            </p:cNvSpPr>
            <p:nvPr/>
          </p:nvSpPr>
          <p:spPr bwMode="auto">
            <a:xfrm>
              <a:off x="5147" y="3407"/>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000" b="1">
                  <a:solidFill>
                    <a:srgbClr val="CC3300"/>
                  </a:solidFill>
                  <a:effectLst>
                    <a:outerShdw blurRad="38100" dist="38100" dir="2700000" algn="tl">
                      <a:srgbClr val="C0C0C0"/>
                    </a:outerShdw>
                  </a:effectLst>
                  <a:latin typeface="Times New Roman" pitchFamily="18" charset="0"/>
                </a:rPr>
                <a:t>E</a:t>
              </a:r>
              <a:endParaRPr kumimoji="1" lang="zh-CN" altLang="en-US" sz="2000" b="1">
                <a:solidFill>
                  <a:srgbClr val="CC3300"/>
                </a:solidFill>
                <a:effectLst>
                  <a:outerShdw blurRad="38100" dist="38100" dir="2700000" algn="tl">
                    <a:srgbClr val="C0C0C0"/>
                  </a:outerShdw>
                </a:effectLst>
                <a:latin typeface="Times New Roman" pitchFamily="18" charset="0"/>
              </a:endParaRPr>
            </a:p>
          </p:txBody>
        </p:sp>
        <p:sp>
          <p:nvSpPr>
            <p:cNvPr id="450588" name="Rectangle 28"/>
            <p:cNvSpPr>
              <a:spLocks noChangeArrowheads="1"/>
            </p:cNvSpPr>
            <p:nvPr/>
          </p:nvSpPr>
          <p:spPr bwMode="auto">
            <a:xfrm>
              <a:off x="4195" y="3339"/>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400" b="1">
                  <a:solidFill>
                    <a:srgbClr val="CC3300"/>
                  </a:solidFill>
                  <a:effectLst>
                    <a:outerShdw blurRad="38100" dist="38100" dir="2700000" algn="tl">
                      <a:srgbClr val="C0C0C0"/>
                    </a:outerShdw>
                  </a:effectLst>
                  <a:latin typeface="Times New Roman" pitchFamily="18" charset="0"/>
                </a:rPr>
                <a:t>id</a:t>
              </a:r>
              <a:r>
                <a:rPr kumimoji="1" lang="en-US" altLang="zh-CN" sz="2400" b="1" baseline="-25000">
                  <a:solidFill>
                    <a:srgbClr val="CC3300"/>
                  </a:solidFill>
                  <a:effectLst>
                    <a:outerShdw blurRad="38100" dist="38100" dir="2700000" algn="tl">
                      <a:srgbClr val="C0C0C0"/>
                    </a:outerShdw>
                  </a:effectLst>
                  <a:latin typeface="Times New Roman" pitchFamily="18" charset="0"/>
                </a:rPr>
                <a:t>1</a:t>
              </a:r>
              <a:endParaRPr kumimoji="1" lang="zh-CN" altLang="en-US" sz="2400" b="1" baseline="-25000">
                <a:solidFill>
                  <a:srgbClr val="CC3300"/>
                </a:solidFill>
                <a:effectLst>
                  <a:outerShdw blurRad="38100" dist="38100" dir="2700000" algn="tl">
                    <a:srgbClr val="C0C0C0"/>
                  </a:outerShdw>
                </a:effectLst>
                <a:latin typeface="Times New Roman" pitchFamily="18" charset="0"/>
              </a:endParaRPr>
            </a:p>
          </p:txBody>
        </p:sp>
        <p:sp>
          <p:nvSpPr>
            <p:cNvPr id="450589" name="Rectangle 29"/>
            <p:cNvSpPr>
              <a:spLocks noChangeArrowheads="1"/>
            </p:cNvSpPr>
            <p:nvPr/>
          </p:nvSpPr>
          <p:spPr bwMode="auto">
            <a:xfrm>
              <a:off x="4558" y="2976"/>
              <a:ext cx="2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000" b="1">
                  <a:solidFill>
                    <a:srgbClr val="CC3300"/>
                  </a:solidFill>
                  <a:effectLst>
                    <a:outerShdw blurRad="38100" dist="38100" dir="2700000" algn="tl">
                      <a:srgbClr val="C0C0C0"/>
                    </a:outerShdw>
                  </a:effectLst>
                  <a:latin typeface="Times New Roman" pitchFamily="18" charset="0"/>
                </a:rPr>
                <a:t>+</a:t>
              </a:r>
              <a:endParaRPr kumimoji="1" lang="zh-CN" altLang="en-US" sz="2000" b="1">
                <a:solidFill>
                  <a:srgbClr val="CC3300"/>
                </a:solidFill>
                <a:effectLst>
                  <a:outerShdw blurRad="38100" dist="38100" dir="2700000" algn="tl">
                    <a:srgbClr val="C0C0C0"/>
                  </a:outerShdw>
                </a:effectLst>
                <a:latin typeface="Times New Roman" pitchFamily="18" charset="0"/>
              </a:endParaRPr>
            </a:p>
          </p:txBody>
        </p:sp>
        <p:sp>
          <p:nvSpPr>
            <p:cNvPr id="450590" name="Rectangle 30"/>
            <p:cNvSpPr>
              <a:spLocks noChangeArrowheads="1"/>
            </p:cNvSpPr>
            <p:nvPr/>
          </p:nvSpPr>
          <p:spPr bwMode="auto">
            <a:xfrm>
              <a:off x="4875" y="338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000" b="1">
                  <a:solidFill>
                    <a:srgbClr val="CC3300"/>
                  </a:solidFill>
                  <a:effectLst>
                    <a:outerShdw blurRad="38100" dist="38100" dir="2700000" algn="tl">
                      <a:srgbClr val="C0C0C0"/>
                    </a:outerShdw>
                  </a:effectLst>
                  <a:latin typeface="Times New Roman" pitchFamily="18" charset="0"/>
                </a:rPr>
                <a:t>*</a:t>
              </a:r>
              <a:endParaRPr kumimoji="1" lang="zh-CN" altLang="en-US" sz="2000" b="1">
                <a:solidFill>
                  <a:srgbClr val="CC3300"/>
                </a:solidFill>
                <a:effectLst>
                  <a:outerShdw blurRad="38100" dist="38100" dir="2700000" algn="tl">
                    <a:srgbClr val="C0C0C0"/>
                  </a:outerShdw>
                </a:effectLst>
                <a:latin typeface="Times New Roman" pitchFamily="18" charset="0"/>
              </a:endParaRPr>
            </a:p>
          </p:txBody>
        </p:sp>
        <p:sp>
          <p:nvSpPr>
            <p:cNvPr id="450591" name="Rectangle 31"/>
            <p:cNvSpPr>
              <a:spLocks noChangeArrowheads="1"/>
            </p:cNvSpPr>
            <p:nvPr/>
          </p:nvSpPr>
          <p:spPr bwMode="auto">
            <a:xfrm>
              <a:off x="4626" y="3748"/>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400" b="1">
                  <a:solidFill>
                    <a:srgbClr val="CC3300"/>
                  </a:solidFill>
                  <a:effectLst>
                    <a:outerShdw blurRad="38100" dist="38100" dir="2700000" algn="tl">
                      <a:srgbClr val="C0C0C0"/>
                    </a:outerShdw>
                  </a:effectLst>
                  <a:latin typeface="Times New Roman" pitchFamily="18" charset="0"/>
                </a:rPr>
                <a:t>id</a:t>
              </a:r>
              <a:r>
                <a:rPr kumimoji="1" lang="en-US" altLang="zh-CN" sz="2400" b="1" baseline="-25000">
                  <a:solidFill>
                    <a:srgbClr val="CC3300"/>
                  </a:solidFill>
                  <a:effectLst>
                    <a:outerShdw blurRad="38100" dist="38100" dir="2700000" algn="tl">
                      <a:srgbClr val="C0C0C0"/>
                    </a:outerShdw>
                  </a:effectLst>
                  <a:latin typeface="Times New Roman" pitchFamily="18" charset="0"/>
                </a:rPr>
                <a:t>2</a:t>
              </a:r>
              <a:endParaRPr kumimoji="1" lang="zh-CN" altLang="en-US" sz="2400" b="1" baseline="-25000">
                <a:solidFill>
                  <a:srgbClr val="CC3300"/>
                </a:solidFill>
                <a:effectLst>
                  <a:outerShdw blurRad="38100" dist="38100" dir="2700000" algn="tl">
                    <a:srgbClr val="C0C0C0"/>
                  </a:outerShdw>
                </a:effectLst>
                <a:latin typeface="Times New Roman" pitchFamily="18" charset="0"/>
              </a:endParaRPr>
            </a:p>
          </p:txBody>
        </p:sp>
        <p:sp>
          <p:nvSpPr>
            <p:cNvPr id="450592" name="Rectangle 32"/>
            <p:cNvSpPr>
              <a:spLocks noChangeArrowheads="1"/>
            </p:cNvSpPr>
            <p:nvPr/>
          </p:nvSpPr>
          <p:spPr bwMode="auto">
            <a:xfrm>
              <a:off x="5102" y="3748"/>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400" b="1">
                  <a:solidFill>
                    <a:srgbClr val="CC3300"/>
                  </a:solidFill>
                  <a:effectLst>
                    <a:outerShdw blurRad="38100" dist="38100" dir="2700000" algn="tl">
                      <a:srgbClr val="C0C0C0"/>
                    </a:outerShdw>
                  </a:effectLst>
                  <a:latin typeface="Times New Roman" pitchFamily="18" charset="0"/>
                </a:rPr>
                <a:t>id</a:t>
              </a:r>
              <a:r>
                <a:rPr kumimoji="1" lang="en-US" altLang="zh-CN" sz="2400" b="1" baseline="-25000">
                  <a:solidFill>
                    <a:srgbClr val="CC3300"/>
                  </a:solidFill>
                  <a:effectLst>
                    <a:outerShdw blurRad="38100" dist="38100" dir="2700000" algn="tl">
                      <a:srgbClr val="C0C0C0"/>
                    </a:outerShdw>
                  </a:effectLst>
                  <a:latin typeface="Times New Roman" pitchFamily="18" charset="0"/>
                </a:rPr>
                <a:t>3</a:t>
              </a:r>
              <a:endParaRPr kumimoji="1" lang="zh-CN" altLang="en-US" sz="2400" b="1" baseline="-25000">
                <a:solidFill>
                  <a:srgbClr val="CC3300"/>
                </a:solidFill>
                <a:effectLst>
                  <a:outerShdw blurRad="38100" dist="38100" dir="2700000" algn="tl">
                    <a:srgbClr val="C0C0C0"/>
                  </a:outerShdw>
                </a:effectLst>
                <a:latin typeface="Times New Roman" pitchFamily="18" charset="0"/>
              </a:endParaRPr>
            </a:p>
          </p:txBody>
        </p:sp>
        <p:sp>
          <p:nvSpPr>
            <p:cNvPr id="58391" name="Line 33"/>
            <p:cNvSpPr>
              <a:spLocks noChangeShapeType="1"/>
            </p:cNvSpPr>
            <p:nvPr/>
          </p:nvSpPr>
          <p:spPr bwMode="auto">
            <a:xfrm>
              <a:off x="4331" y="3158"/>
              <a:ext cx="0" cy="317"/>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2" name="Line 34"/>
            <p:cNvSpPr>
              <a:spLocks noChangeShapeType="1"/>
            </p:cNvSpPr>
            <p:nvPr/>
          </p:nvSpPr>
          <p:spPr bwMode="auto">
            <a:xfrm>
              <a:off x="4739" y="3566"/>
              <a:ext cx="0" cy="317"/>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3" name="Line 35"/>
            <p:cNvSpPr>
              <a:spLocks noChangeShapeType="1"/>
            </p:cNvSpPr>
            <p:nvPr/>
          </p:nvSpPr>
          <p:spPr bwMode="auto">
            <a:xfrm>
              <a:off x="5238" y="3612"/>
              <a:ext cx="0" cy="317"/>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4" name="Line 36"/>
            <p:cNvSpPr>
              <a:spLocks noChangeShapeType="1"/>
            </p:cNvSpPr>
            <p:nvPr/>
          </p:nvSpPr>
          <p:spPr bwMode="auto">
            <a:xfrm flipH="1">
              <a:off x="4376" y="2750"/>
              <a:ext cx="272" cy="272"/>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5" name="Line 37"/>
            <p:cNvSpPr>
              <a:spLocks noChangeShapeType="1"/>
            </p:cNvSpPr>
            <p:nvPr/>
          </p:nvSpPr>
          <p:spPr bwMode="auto">
            <a:xfrm flipH="1">
              <a:off x="4648" y="2795"/>
              <a:ext cx="0" cy="272"/>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6" name="Line 38"/>
            <p:cNvSpPr>
              <a:spLocks noChangeShapeType="1"/>
            </p:cNvSpPr>
            <p:nvPr/>
          </p:nvSpPr>
          <p:spPr bwMode="auto">
            <a:xfrm>
              <a:off x="4648" y="2750"/>
              <a:ext cx="318" cy="272"/>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7" name="Line 39"/>
            <p:cNvSpPr>
              <a:spLocks noChangeShapeType="1"/>
            </p:cNvSpPr>
            <p:nvPr/>
          </p:nvSpPr>
          <p:spPr bwMode="auto">
            <a:xfrm flipH="1">
              <a:off x="4739" y="3158"/>
              <a:ext cx="227" cy="272"/>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8" name="Line 40"/>
            <p:cNvSpPr>
              <a:spLocks noChangeShapeType="1"/>
            </p:cNvSpPr>
            <p:nvPr/>
          </p:nvSpPr>
          <p:spPr bwMode="auto">
            <a:xfrm flipH="1">
              <a:off x="4966" y="3158"/>
              <a:ext cx="0" cy="317"/>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9" name="Line 41"/>
            <p:cNvSpPr>
              <a:spLocks noChangeShapeType="1"/>
            </p:cNvSpPr>
            <p:nvPr/>
          </p:nvSpPr>
          <p:spPr bwMode="auto">
            <a:xfrm>
              <a:off x="4966" y="3158"/>
              <a:ext cx="272" cy="317"/>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日期占位符 4"/>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637F72C-CEDA-4CF5-9BCF-857494D58F09}" type="datetime1">
              <a:rPr lang="zh-CN" altLang="en-US" sz="1400" smtClean="0"/>
              <a:pPr>
                <a:spcBef>
                  <a:spcPct val="0"/>
                </a:spcBef>
                <a:buClrTx/>
                <a:buSzTx/>
                <a:buFontTx/>
                <a:buNone/>
              </a:pPr>
              <a:t>2017/2/24</a:t>
            </a:fld>
            <a:endParaRPr lang="en-US" altLang="zh-CN" sz="1400" smtClean="0"/>
          </a:p>
        </p:txBody>
      </p:sp>
      <p:sp>
        <p:nvSpPr>
          <p:cNvPr id="59395" name="灯片编号占位符 6"/>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9CAA2E9-5431-45A5-91B9-030039C46675}" type="slidenum">
              <a:rPr lang="zh-CN" altLang="en-US" sz="1400"/>
              <a:pPr>
                <a:spcBef>
                  <a:spcPct val="0"/>
                </a:spcBef>
                <a:buClrTx/>
                <a:buSzTx/>
                <a:buFontTx/>
                <a:buNone/>
              </a:pPr>
              <a:t>54</a:t>
            </a:fld>
            <a:endParaRPr lang="en-US" altLang="zh-CN" sz="1400"/>
          </a:p>
        </p:txBody>
      </p:sp>
      <p:sp>
        <p:nvSpPr>
          <p:cNvPr id="59396" name="Rectangle 2"/>
          <p:cNvSpPr>
            <a:spLocks noGrp="1" noRot="1" noChangeArrowheads="1"/>
          </p:cNvSpPr>
          <p:nvPr>
            <p:ph type="title"/>
          </p:nvPr>
        </p:nvSpPr>
        <p:spPr>
          <a:xfrm>
            <a:off x="1042988" y="765175"/>
            <a:ext cx="5029200" cy="838200"/>
          </a:xfrm>
        </p:spPr>
        <p:txBody>
          <a:bodyPr/>
          <a:lstStyle/>
          <a:p>
            <a:pPr algn="just" eaLnBrk="1" hangingPunct="1"/>
            <a:r>
              <a:rPr lang="zh-CN" altLang="en-US" b="1" smtClean="0">
                <a:solidFill>
                  <a:srgbClr val="000099"/>
                </a:solidFill>
                <a:latin typeface="Times New Roman" panose="02020603050405020304" pitchFamily="18" charset="0"/>
                <a:ea typeface="华文新魏" panose="02010800040101010101" pitchFamily="2" charset="-122"/>
              </a:rPr>
              <a:t>4. 中间代码生成</a:t>
            </a:r>
          </a:p>
        </p:txBody>
      </p:sp>
      <p:sp>
        <p:nvSpPr>
          <p:cNvPr id="59397" name="Rectangle 3"/>
          <p:cNvSpPr>
            <a:spLocks noGrp="1" noRot="1" noChangeArrowheads="1"/>
          </p:cNvSpPr>
          <p:nvPr>
            <p:ph type="body" sz="half" idx="1"/>
          </p:nvPr>
        </p:nvSpPr>
        <p:spPr>
          <a:xfrm>
            <a:off x="900113" y="1989138"/>
            <a:ext cx="7775575" cy="4248150"/>
          </a:xfrm>
        </p:spPr>
        <p:txBody>
          <a:bodyPr/>
          <a:lstStyle/>
          <a:p>
            <a:pPr eaLnBrk="1" hangingPunct="1">
              <a:lnSpc>
                <a:spcPct val="90000"/>
              </a:lnSpc>
            </a:pPr>
            <a:r>
              <a:rPr lang="zh-CN" altLang="en-US" sz="3200" b="1" smtClean="0">
                <a:latin typeface="Times New Roman" panose="02020603050405020304" pitchFamily="18" charset="0"/>
                <a:ea typeface="华文新魏" panose="02010800040101010101" pitchFamily="2" charset="-122"/>
              </a:rPr>
              <a:t>中间代码的特点</a:t>
            </a:r>
          </a:p>
          <a:p>
            <a:pPr lvl="1" eaLnBrk="1" hangingPunct="1">
              <a:lnSpc>
                <a:spcPct val="90000"/>
              </a:lnSpc>
            </a:pPr>
            <a:r>
              <a:rPr lang="zh-CN" altLang="en-US" sz="2800" b="1" smtClean="0">
                <a:latin typeface="Times New Roman" panose="02020603050405020304" pitchFamily="18" charset="0"/>
                <a:ea typeface="华文新魏" panose="02010800040101010101" pitchFamily="2" charset="-122"/>
              </a:rPr>
              <a:t>简单规范</a:t>
            </a:r>
          </a:p>
          <a:p>
            <a:pPr lvl="1" eaLnBrk="1" hangingPunct="1">
              <a:lnSpc>
                <a:spcPct val="90000"/>
              </a:lnSpc>
            </a:pPr>
            <a:r>
              <a:rPr lang="zh-CN" altLang="en-US" sz="2800" b="1" smtClean="0">
                <a:latin typeface="Times New Roman" panose="02020603050405020304" pitchFamily="18" charset="0"/>
                <a:ea typeface="华文新魏" panose="02010800040101010101" pitchFamily="2" charset="-122"/>
              </a:rPr>
              <a:t>机器无关</a:t>
            </a:r>
          </a:p>
          <a:p>
            <a:pPr lvl="1" eaLnBrk="1" hangingPunct="1">
              <a:lnSpc>
                <a:spcPct val="90000"/>
              </a:lnSpc>
            </a:pPr>
            <a:r>
              <a:rPr lang="zh-CN" altLang="en-US" sz="2800" b="1" smtClean="0">
                <a:latin typeface="Times New Roman" panose="02020603050405020304" pitchFamily="18" charset="0"/>
                <a:ea typeface="华文新魏" panose="02010800040101010101" pitchFamily="2" charset="-122"/>
              </a:rPr>
              <a:t>易于优化与转换</a:t>
            </a:r>
          </a:p>
          <a:p>
            <a:pPr eaLnBrk="1" hangingPunct="1">
              <a:lnSpc>
                <a:spcPct val="90000"/>
              </a:lnSpc>
              <a:spcBef>
                <a:spcPct val="50000"/>
              </a:spcBef>
              <a:buClrTx/>
              <a:buSzTx/>
            </a:pPr>
            <a:r>
              <a:rPr lang="zh-CN" altLang="en-US" sz="3200" b="1" smtClean="0">
                <a:solidFill>
                  <a:schemeClr val="hlink"/>
                </a:solidFill>
                <a:latin typeface="Times New Roman" panose="02020603050405020304" pitchFamily="18" charset="0"/>
                <a:ea typeface="华文新魏" panose="02010800040101010101" pitchFamily="2" charset="-122"/>
              </a:rPr>
              <a:t>输入</a:t>
            </a:r>
            <a:r>
              <a:rPr lang="zh-CN" altLang="en-US" sz="3200" b="1" smtClean="0">
                <a:latin typeface="Times New Roman" panose="02020603050405020304" pitchFamily="18" charset="0"/>
                <a:ea typeface="华文新魏" panose="02010800040101010101" pitchFamily="2" charset="-122"/>
              </a:rPr>
              <a:t>？</a:t>
            </a:r>
          </a:p>
          <a:p>
            <a:pPr eaLnBrk="1" hangingPunct="1">
              <a:lnSpc>
                <a:spcPct val="90000"/>
              </a:lnSpc>
              <a:spcBef>
                <a:spcPct val="50000"/>
              </a:spcBef>
              <a:buClrTx/>
              <a:buSzTx/>
            </a:pPr>
            <a:r>
              <a:rPr lang="zh-CN" altLang="en-US" sz="3200" b="1" smtClean="0">
                <a:solidFill>
                  <a:schemeClr val="hlink"/>
                </a:solidFill>
                <a:latin typeface="Times New Roman" panose="02020603050405020304" pitchFamily="18" charset="0"/>
                <a:ea typeface="华文新魏" panose="02010800040101010101" pitchFamily="2" charset="-122"/>
              </a:rPr>
              <a:t>输出</a:t>
            </a:r>
            <a:r>
              <a:rPr lang="zh-CN" altLang="en-US" sz="3200" b="1" smtClean="0">
                <a:latin typeface="Times New Roman" panose="02020603050405020304" pitchFamily="18" charset="0"/>
                <a:ea typeface="华文新魏" panose="02010800040101010101" pitchFamily="2" charset="-122"/>
              </a:rPr>
              <a:t>？</a:t>
            </a:r>
          </a:p>
          <a:p>
            <a:pPr eaLnBrk="1" hangingPunct="1">
              <a:lnSpc>
                <a:spcPct val="90000"/>
              </a:lnSpc>
              <a:spcBef>
                <a:spcPct val="50000"/>
              </a:spcBef>
              <a:buClrTx/>
              <a:buSzTx/>
            </a:pPr>
            <a:r>
              <a:rPr lang="zh-CN" altLang="en-US" sz="3200" b="1" smtClean="0">
                <a:solidFill>
                  <a:schemeClr val="hlink"/>
                </a:solidFill>
                <a:latin typeface="Times New Roman" panose="02020603050405020304" pitchFamily="18" charset="0"/>
                <a:ea typeface="华文新魏" panose="02010800040101010101" pitchFamily="2" charset="-122"/>
              </a:rPr>
              <a:t>数据结构</a:t>
            </a:r>
            <a:r>
              <a:rPr lang="zh-CN" altLang="en-US" sz="3200" b="1" smtClean="0">
                <a:latin typeface="Times New Roman" panose="02020603050405020304" pitchFamily="18" charset="0"/>
                <a:ea typeface="华文新魏" panose="02010800040101010101" pitchFamily="2" charset="-122"/>
              </a:rPr>
              <a:t>？</a:t>
            </a:r>
          </a:p>
        </p:txBody>
      </p:sp>
      <p:sp>
        <p:nvSpPr>
          <p:cNvPr id="59398" name="Rectangle 3"/>
          <p:cNvSpPr>
            <a:spLocks noChangeArrowheads="1"/>
          </p:cNvSpPr>
          <p:nvPr/>
        </p:nvSpPr>
        <p:spPr bwMode="auto">
          <a:xfrm>
            <a:off x="6156325" y="4940300"/>
            <a:ext cx="2808288" cy="1228725"/>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temp1 := inttoreal(60)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temp2 := id3 *temp1</a:t>
            </a:r>
            <a:endParaRPr lang="en-US" altLang="zh-CN" sz="2000" b="1">
              <a:latin typeface="Times New Roman" panose="02020603050405020304" pitchFamily="18" charset="0"/>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temp3 := id2 +temp2</a:t>
            </a:r>
            <a:endParaRPr lang="en-US" altLang="zh-CN" sz="2000" b="1">
              <a:latin typeface="Times New Roman" panose="02020603050405020304" pitchFamily="18" charset="0"/>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id1 := temp3</a:t>
            </a:r>
            <a:endParaRPr lang="en-US" altLang="zh-CN" sz="2000">
              <a:latin typeface="Tahoma" panose="020B0604030504040204" pitchFamily="34" charset="0"/>
            </a:endParaRPr>
          </a:p>
        </p:txBody>
      </p:sp>
      <p:grpSp>
        <p:nvGrpSpPr>
          <p:cNvPr id="59399" name="Group 5"/>
          <p:cNvGrpSpPr>
            <a:grpSpLocks/>
          </p:cNvGrpSpPr>
          <p:nvPr/>
        </p:nvGrpSpPr>
        <p:grpSpPr bwMode="auto">
          <a:xfrm>
            <a:off x="4572000" y="2120900"/>
            <a:ext cx="4300538" cy="2100263"/>
            <a:chOff x="625" y="3013"/>
            <a:chExt cx="2709" cy="1101"/>
          </a:xfrm>
        </p:grpSpPr>
        <p:grpSp>
          <p:nvGrpSpPr>
            <p:cNvPr id="59400" name="Group 6"/>
            <p:cNvGrpSpPr>
              <a:grpSpLocks/>
            </p:cNvGrpSpPr>
            <p:nvPr/>
          </p:nvGrpSpPr>
          <p:grpSpPr bwMode="auto">
            <a:xfrm>
              <a:off x="1322" y="3013"/>
              <a:ext cx="523" cy="480"/>
              <a:chOff x="1322" y="3013"/>
              <a:chExt cx="523" cy="480"/>
            </a:xfrm>
          </p:grpSpPr>
          <p:sp>
            <p:nvSpPr>
              <p:cNvPr id="59416" name="Line 7"/>
              <p:cNvSpPr>
                <a:spLocks noChangeShapeType="1"/>
              </p:cNvSpPr>
              <p:nvPr/>
            </p:nvSpPr>
            <p:spPr bwMode="auto">
              <a:xfrm flipV="1">
                <a:off x="1322" y="3375"/>
                <a:ext cx="523" cy="1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7" name="Line 8"/>
              <p:cNvSpPr>
                <a:spLocks noChangeShapeType="1"/>
              </p:cNvSpPr>
              <p:nvPr/>
            </p:nvSpPr>
            <p:spPr bwMode="auto">
              <a:xfrm>
                <a:off x="1368" y="3013"/>
                <a:ext cx="1" cy="1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9401" name="Group 9"/>
            <p:cNvGrpSpPr>
              <a:grpSpLocks/>
            </p:cNvGrpSpPr>
            <p:nvPr/>
          </p:nvGrpSpPr>
          <p:grpSpPr bwMode="auto">
            <a:xfrm>
              <a:off x="625" y="3052"/>
              <a:ext cx="2709" cy="1062"/>
              <a:chOff x="625" y="3052"/>
              <a:chExt cx="2709" cy="1062"/>
            </a:xfrm>
          </p:grpSpPr>
          <p:sp>
            <p:nvSpPr>
              <p:cNvPr id="59402" name="Rectangle 10"/>
              <p:cNvSpPr>
                <a:spLocks noChangeArrowheads="1"/>
              </p:cNvSpPr>
              <p:nvPr/>
            </p:nvSpPr>
            <p:spPr bwMode="auto">
              <a:xfrm>
                <a:off x="2595" y="3653"/>
                <a:ext cx="739"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inttoreal</a:t>
                </a:r>
                <a:endParaRPr lang="en-US" altLang="zh-CN" sz="2000">
                  <a:latin typeface="Tahoma" panose="020B0604030504040204" pitchFamily="34" charset="0"/>
                </a:endParaRPr>
              </a:p>
            </p:txBody>
          </p:sp>
          <p:sp>
            <p:nvSpPr>
              <p:cNvPr id="59403" name="Rectangle 11"/>
              <p:cNvSpPr>
                <a:spLocks noChangeArrowheads="1"/>
              </p:cNvSpPr>
              <p:nvPr/>
            </p:nvSpPr>
            <p:spPr bwMode="auto">
              <a:xfrm>
                <a:off x="1280" y="3052"/>
                <a:ext cx="21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宋体" panose="02010600030101010101" pitchFamily="2" charset="-122"/>
                  </a:rPr>
                  <a:t>:=</a:t>
                </a:r>
                <a:endParaRPr lang="en-US" altLang="zh-CN" sz="2000">
                  <a:latin typeface="Tahoma" panose="020B0604030504040204" pitchFamily="34" charset="0"/>
                </a:endParaRPr>
              </a:p>
            </p:txBody>
          </p:sp>
          <p:sp>
            <p:nvSpPr>
              <p:cNvPr id="59404" name="Rectangle 12"/>
              <p:cNvSpPr>
                <a:spLocks noChangeArrowheads="1"/>
              </p:cNvSpPr>
              <p:nvPr/>
            </p:nvSpPr>
            <p:spPr bwMode="auto">
              <a:xfrm>
                <a:off x="1836" y="3278"/>
                <a:ext cx="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solidFill>
                      <a:srgbClr val="000000"/>
                    </a:solidFill>
                    <a:latin typeface="宋体" panose="02010600030101010101" pitchFamily="2" charset="-122"/>
                  </a:rPr>
                  <a:t>+</a:t>
                </a:r>
                <a:endParaRPr lang="en-US" altLang="zh-CN" sz="2000">
                  <a:latin typeface="Tahoma" panose="020B0604030504040204" pitchFamily="34" charset="0"/>
                </a:endParaRPr>
              </a:p>
            </p:txBody>
          </p:sp>
          <p:sp>
            <p:nvSpPr>
              <p:cNvPr id="59405" name="Rectangle 13"/>
              <p:cNvSpPr>
                <a:spLocks noChangeArrowheads="1"/>
              </p:cNvSpPr>
              <p:nvPr/>
            </p:nvSpPr>
            <p:spPr bwMode="auto">
              <a:xfrm>
                <a:off x="2481" y="3468"/>
                <a:ext cx="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2000">
                    <a:solidFill>
                      <a:srgbClr val="000000"/>
                    </a:solidFill>
                    <a:latin typeface="宋体" panose="02010600030101010101" pitchFamily="2" charset="-122"/>
                  </a:rPr>
                  <a:t>*</a:t>
                </a:r>
                <a:endParaRPr lang="zh-CN" altLang="en-US" sz="2000">
                  <a:latin typeface="Tahoma" panose="020B0604030504040204" pitchFamily="34" charset="0"/>
                </a:endParaRPr>
              </a:p>
            </p:txBody>
          </p:sp>
          <p:sp>
            <p:nvSpPr>
              <p:cNvPr id="59406" name="Rectangle 14"/>
              <p:cNvSpPr>
                <a:spLocks noChangeArrowheads="1"/>
              </p:cNvSpPr>
              <p:nvPr/>
            </p:nvSpPr>
            <p:spPr bwMode="auto">
              <a:xfrm>
                <a:off x="625" y="3278"/>
                <a:ext cx="31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1</a:t>
                </a:r>
                <a:endParaRPr lang="en-US" altLang="zh-CN" sz="2000">
                  <a:latin typeface="Tahoma" panose="020B0604030504040204" pitchFamily="34" charset="0"/>
                </a:endParaRPr>
              </a:p>
            </p:txBody>
          </p:sp>
          <p:sp>
            <p:nvSpPr>
              <p:cNvPr id="59407" name="Rectangle 15"/>
              <p:cNvSpPr>
                <a:spLocks noChangeArrowheads="1"/>
              </p:cNvSpPr>
              <p:nvPr/>
            </p:nvSpPr>
            <p:spPr bwMode="auto">
              <a:xfrm>
                <a:off x="1174" y="3474"/>
                <a:ext cx="31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2</a:t>
                </a:r>
                <a:endParaRPr lang="en-US" altLang="zh-CN" sz="2000">
                  <a:latin typeface="Tahoma" panose="020B0604030504040204" pitchFamily="34" charset="0"/>
                </a:endParaRPr>
              </a:p>
            </p:txBody>
          </p:sp>
          <p:sp>
            <p:nvSpPr>
              <p:cNvPr id="59408" name="Rectangle 16"/>
              <p:cNvSpPr>
                <a:spLocks noChangeArrowheads="1"/>
              </p:cNvSpPr>
              <p:nvPr/>
            </p:nvSpPr>
            <p:spPr bwMode="auto">
              <a:xfrm>
                <a:off x="1930" y="3592"/>
                <a:ext cx="31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宋体" panose="02010600030101010101" pitchFamily="2" charset="-122"/>
                  </a:rPr>
                  <a:t>id</a:t>
                </a:r>
                <a:r>
                  <a:rPr lang="en-US" altLang="zh-CN" sz="2000" b="1" baseline="-25000">
                    <a:solidFill>
                      <a:srgbClr val="000000"/>
                    </a:solidFill>
                    <a:latin typeface="宋体" panose="02010600030101010101" pitchFamily="2" charset="-122"/>
                  </a:rPr>
                  <a:t>3</a:t>
                </a:r>
                <a:endParaRPr lang="en-US" altLang="zh-CN" sz="2000">
                  <a:latin typeface="Tahoma" panose="020B0604030504040204" pitchFamily="34" charset="0"/>
                </a:endParaRPr>
              </a:p>
            </p:txBody>
          </p:sp>
          <p:sp>
            <p:nvSpPr>
              <p:cNvPr id="59409" name="Rectangle 17"/>
              <p:cNvSpPr>
                <a:spLocks noChangeArrowheads="1"/>
              </p:cNvSpPr>
              <p:nvPr/>
            </p:nvSpPr>
            <p:spPr bwMode="auto">
              <a:xfrm>
                <a:off x="2815" y="3954"/>
                <a:ext cx="31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000" b="1">
                    <a:solidFill>
                      <a:srgbClr val="000000"/>
                    </a:solidFill>
                    <a:latin typeface="宋体" panose="02010600030101010101" pitchFamily="2" charset="-122"/>
                  </a:rPr>
                  <a:t>60</a:t>
                </a:r>
                <a:endParaRPr lang="en-US" altLang="zh-CN" sz="2000">
                  <a:latin typeface="Tahoma" panose="020B0604030504040204" pitchFamily="34" charset="0"/>
                </a:endParaRPr>
              </a:p>
            </p:txBody>
          </p:sp>
          <p:sp>
            <p:nvSpPr>
              <p:cNvPr id="59410" name="Line 18"/>
              <p:cNvSpPr>
                <a:spLocks noChangeShapeType="1"/>
              </p:cNvSpPr>
              <p:nvPr/>
            </p:nvSpPr>
            <p:spPr bwMode="auto">
              <a:xfrm flipV="1">
                <a:off x="2101" y="3575"/>
                <a:ext cx="372" cy="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1" name="Line 19"/>
              <p:cNvSpPr>
                <a:spLocks noChangeShapeType="1"/>
              </p:cNvSpPr>
              <p:nvPr/>
            </p:nvSpPr>
            <p:spPr bwMode="auto">
              <a:xfrm>
                <a:off x="2543" y="3566"/>
                <a:ext cx="384" cy="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2" name="Line 20"/>
              <p:cNvSpPr>
                <a:spLocks noChangeShapeType="1"/>
              </p:cNvSpPr>
              <p:nvPr/>
            </p:nvSpPr>
            <p:spPr bwMode="auto">
              <a:xfrm>
                <a:off x="1926" y="3366"/>
                <a:ext cx="559" cy="1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3" name="Line 21"/>
              <p:cNvSpPr>
                <a:spLocks noChangeShapeType="1"/>
              </p:cNvSpPr>
              <p:nvPr/>
            </p:nvSpPr>
            <p:spPr bwMode="auto">
              <a:xfrm flipV="1">
                <a:off x="775" y="3176"/>
                <a:ext cx="477" cy="1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4" name="Line 22"/>
              <p:cNvSpPr>
                <a:spLocks noChangeShapeType="1"/>
              </p:cNvSpPr>
              <p:nvPr/>
            </p:nvSpPr>
            <p:spPr bwMode="auto">
              <a:xfrm>
                <a:off x="1461" y="3158"/>
                <a:ext cx="396" cy="1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5" name="Line 23"/>
              <p:cNvSpPr>
                <a:spLocks noChangeShapeType="1"/>
              </p:cNvSpPr>
              <p:nvPr/>
            </p:nvSpPr>
            <p:spPr bwMode="auto">
              <a:xfrm>
                <a:off x="2950" y="3810"/>
                <a:ext cx="1"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6368674-ABF8-45DE-B63D-9F936DD881E1}" type="datetime1">
              <a:rPr lang="zh-CN" altLang="en-US" sz="1400" smtClean="0"/>
              <a:pPr>
                <a:spcBef>
                  <a:spcPct val="0"/>
                </a:spcBef>
                <a:buClrTx/>
                <a:buSzTx/>
                <a:buFontTx/>
                <a:buNone/>
              </a:pPr>
              <a:t>2017/2/24</a:t>
            </a:fld>
            <a:endParaRPr lang="en-US" altLang="zh-CN" sz="1400" smtClean="0"/>
          </a:p>
        </p:txBody>
      </p:sp>
      <p:sp>
        <p:nvSpPr>
          <p:cNvPr id="6041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F28C11F-C410-4766-A09B-A162B9DAED6D}" type="slidenum">
              <a:rPr lang="zh-CN" altLang="en-US" sz="1400"/>
              <a:pPr>
                <a:spcBef>
                  <a:spcPct val="0"/>
                </a:spcBef>
                <a:buClrTx/>
                <a:buSzTx/>
                <a:buFontTx/>
                <a:buNone/>
              </a:pPr>
              <a:t>55</a:t>
            </a:fld>
            <a:endParaRPr lang="en-US" altLang="zh-CN" sz="1400"/>
          </a:p>
        </p:txBody>
      </p:sp>
      <p:sp>
        <p:nvSpPr>
          <p:cNvPr id="60420" name="Rectangle 2"/>
          <p:cNvSpPr>
            <a:spLocks noGrp="1" noRot="1" noChangeArrowheads="1"/>
          </p:cNvSpPr>
          <p:nvPr>
            <p:ph type="title"/>
          </p:nvPr>
        </p:nvSpPr>
        <p:spPr>
          <a:xfrm>
            <a:off x="609600" y="228600"/>
            <a:ext cx="8229600" cy="685800"/>
          </a:xfrm>
        </p:spPr>
        <p:txBody>
          <a:bodyPr/>
          <a:lstStyle/>
          <a:p>
            <a:pPr algn="l" eaLnBrk="1" hangingPunct="1"/>
            <a:r>
              <a:rPr lang="zh-CN" altLang="en-US" b="1" smtClean="0">
                <a:solidFill>
                  <a:srgbClr val="0033CC"/>
                </a:solidFill>
                <a:latin typeface="Times New Roman" panose="02020603050405020304" pitchFamily="18" charset="0"/>
                <a:ea typeface="华文新魏" panose="02010800040101010101" pitchFamily="2" charset="-122"/>
              </a:rPr>
              <a:t>1.4 编译程序总体结构</a:t>
            </a:r>
            <a:endParaRPr lang="en-US" altLang="zh-CN" sz="2400" b="1" smtClean="0">
              <a:solidFill>
                <a:srgbClr val="0033CC"/>
              </a:solidFill>
              <a:latin typeface="Times New Roman" panose="02020603050405020304" pitchFamily="18" charset="0"/>
              <a:ea typeface="华文新魏" panose="02010800040101010101" pitchFamily="2" charset="-122"/>
            </a:endParaRPr>
          </a:p>
        </p:txBody>
      </p:sp>
      <p:sp>
        <p:nvSpPr>
          <p:cNvPr id="414723" name="Rectangle 3"/>
          <p:cNvSpPr>
            <a:spLocks noChangeArrowheads="1"/>
          </p:cNvSpPr>
          <p:nvPr/>
        </p:nvSpPr>
        <p:spPr bwMode="auto">
          <a:xfrm>
            <a:off x="3044825" y="5791200"/>
            <a:ext cx="28956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414724" name="Rectangle 4"/>
          <p:cNvSpPr>
            <a:spLocks noChangeArrowheads="1"/>
          </p:cNvSpPr>
          <p:nvPr/>
        </p:nvSpPr>
        <p:spPr bwMode="auto">
          <a:xfrm>
            <a:off x="3425825" y="4724400"/>
            <a:ext cx="2057400" cy="609600"/>
          </a:xfrm>
          <a:prstGeom prst="rect">
            <a:avLst/>
          </a:prstGeom>
          <a:solidFill>
            <a:srgbClr val="99FFCC"/>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代码优化器</a:t>
            </a:r>
          </a:p>
        </p:txBody>
      </p:sp>
      <p:sp>
        <p:nvSpPr>
          <p:cNvPr id="414725" name="Rectangle 5"/>
          <p:cNvSpPr>
            <a:spLocks noChangeArrowheads="1"/>
          </p:cNvSpPr>
          <p:nvPr/>
        </p:nvSpPr>
        <p:spPr bwMode="auto">
          <a:xfrm>
            <a:off x="2435225" y="3657600"/>
            <a:ext cx="4495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414726" name="Rectangle 6"/>
          <p:cNvSpPr>
            <a:spLocks noChangeArrowheads="1"/>
          </p:cNvSpPr>
          <p:nvPr/>
        </p:nvSpPr>
        <p:spPr bwMode="auto">
          <a:xfrm>
            <a:off x="3425825" y="25146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60425" name="Group 7"/>
          <p:cNvGrpSpPr>
            <a:grpSpLocks/>
          </p:cNvGrpSpPr>
          <p:nvPr/>
        </p:nvGrpSpPr>
        <p:grpSpPr bwMode="auto">
          <a:xfrm>
            <a:off x="933450" y="1752600"/>
            <a:ext cx="2492375" cy="4572000"/>
            <a:chOff x="542" y="1104"/>
            <a:chExt cx="1570" cy="2880"/>
          </a:xfrm>
        </p:grpSpPr>
        <p:sp>
          <p:nvSpPr>
            <p:cNvPr id="414728" name="Text Box 8"/>
            <p:cNvSpPr txBox="1">
              <a:spLocks noChangeArrowheads="1"/>
            </p:cNvSpPr>
            <p:nvPr/>
          </p:nvSpPr>
          <p:spPr bwMode="auto">
            <a:xfrm>
              <a:off x="542" y="1104"/>
              <a:ext cx="418" cy="28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表    格    管    理    器</a:t>
              </a:r>
            </a:p>
          </p:txBody>
        </p:sp>
        <p:sp>
          <p:nvSpPr>
            <p:cNvPr id="60455" name="Line 9"/>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0456" name="Line 10"/>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0457" name="Line 11"/>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0458" name="Line 12"/>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0459" name="Line 13"/>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0426" name="Group 14"/>
          <p:cNvGrpSpPr>
            <a:grpSpLocks/>
          </p:cNvGrpSpPr>
          <p:nvPr/>
        </p:nvGrpSpPr>
        <p:grpSpPr bwMode="auto">
          <a:xfrm>
            <a:off x="5456238" y="1600200"/>
            <a:ext cx="2644775" cy="4724400"/>
            <a:chOff x="3408" y="1008"/>
            <a:chExt cx="1666" cy="2976"/>
          </a:xfrm>
        </p:grpSpPr>
        <p:grpSp>
          <p:nvGrpSpPr>
            <p:cNvPr id="60447" name="Group 15"/>
            <p:cNvGrpSpPr>
              <a:grpSpLocks/>
            </p:cNvGrpSpPr>
            <p:nvPr/>
          </p:nvGrpSpPr>
          <p:grpSpPr bwMode="auto">
            <a:xfrm>
              <a:off x="3408" y="1008"/>
              <a:ext cx="1666" cy="2976"/>
              <a:chOff x="3408" y="1008"/>
              <a:chExt cx="1666" cy="2976"/>
            </a:xfrm>
          </p:grpSpPr>
          <p:sp>
            <p:nvSpPr>
              <p:cNvPr id="414736" name="Text Box 16"/>
              <p:cNvSpPr txBox="1">
                <a:spLocks noChangeArrowheads="1"/>
              </p:cNvSpPr>
              <p:nvPr/>
            </p:nvSpPr>
            <p:spPr bwMode="auto">
              <a:xfrm>
                <a:off x="4656" y="1008"/>
                <a:ext cx="418" cy="29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         出    错    处    理   器</a:t>
                </a:r>
              </a:p>
            </p:txBody>
          </p:sp>
          <p:sp>
            <p:nvSpPr>
              <p:cNvPr id="60450" name="Line 17"/>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0451" name="Line 18"/>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0452" name="Line 19"/>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0453" name="Line 20"/>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60448" name="Line 21"/>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0427" name="Group 22"/>
          <p:cNvGrpSpPr>
            <a:grpSpLocks/>
          </p:cNvGrpSpPr>
          <p:nvPr/>
        </p:nvGrpSpPr>
        <p:grpSpPr bwMode="auto">
          <a:xfrm>
            <a:off x="4264025" y="4343400"/>
            <a:ext cx="1524000" cy="381000"/>
            <a:chOff x="2640" y="2736"/>
            <a:chExt cx="960" cy="240"/>
          </a:xfrm>
        </p:grpSpPr>
        <p:sp>
          <p:nvSpPr>
            <p:cNvPr id="414743" name="Rectangle 23"/>
            <p:cNvSpPr>
              <a:spLocks noChangeArrowheads="1"/>
            </p:cNvSpPr>
            <p:nvPr/>
          </p:nvSpPr>
          <p:spPr bwMode="auto">
            <a:xfrm>
              <a:off x="2832" y="273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sp>
          <p:nvSpPr>
            <p:cNvPr id="60446" name="AutoShape 24"/>
            <p:cNvSpPr>
              <a:spLocks noChangeArrowheads="1"/>
            </p:cNvSpPr>
            <p:nvPr/>
          </p:nvSpPr>
          <p:spPr bwMode="auto">
            <a:xfrm>
              <a:off x="2640" y="273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nvGrpSpPr>
          <p:cNvPr id="60428" name="Group 25"/>
          <p:cNvGrpSpPr>
            <a:grpSpLocks/>
          </p:cNvGrpSpPr>
          <p:nvPr/>
        </p:nvGrpSpPr>
        <p:grpSpPr bwMode="auto">
          <a:xfrm>
            <a:off x="4264025" y="5410200"/>
            <a:ext cx="1524000" cy="381000"/>
            <a:chOff x="2640" y="3408"/>
            <a:chExt cx="960" cy="240"/>
          </a:xfrm>
        </p:grpSpPr>
        <p:sp>
          <p:nvSpPr>
            <p:cNvPr id="60443" name="AutoShape 26"/>
            <p:cNvSpPr>
              <a:spLocks noChangeArrowheads="1"/>
            </p:cNvSpPr>
            <p:nvPr/>
          </p:nvSpPr>
          <p:spPr bwMode="auto">
            <a:xfrm>
              <a:off x="2640" y="340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4747" name="Rectangle 27"/>
            <p:cNvSpPr>
              <a:spLocks noChangeArrowheads="1"/>
            </p:cNvSpPr>
            <p:nvPr/>
          </p:nvSpPr>
          <p:spPr bwMode="auto">
            <a:xfrm>
              <a:off x="2832" y="340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grpSp>
      <p:grpSp>
        <p:nvGrpSpPr>
          <p:cNvPr id="60429" name="Group 28"/>
          <p:cNvGrpSpPr>
            <a:grpSpLocks/>
          </p:cNvGrpSpPr>
          <p:nvPr/>
        </p:nvGrpSpPr>
        <p:grpSpPr bwMode="auto">
          <a:xfrm>
            <a:off x="4191000" y="6467475"/>
            <a:ext cx="1447800" cy="390525"/>
            <a:chOff x="2640" y="4074"/>
            <a:chExt cx="912" cy="246"/>
          </a:xfrm>
        </p:grpSpPr>
        <p:sp>
          <p:nvSpPr>
            <p:cNvPr id="60441" name="AutoShape 29"/>
            <p:cNvSpPr>
              <a:spLocks noChangeArrowheads="1"/>
            </p:cNvSpPr>
            <p:nvPr/>
          </p:nvSpPr>
          <p:spPr bwMode="auto">
            <a:xfrm>
              <a:off x="2640" y="408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4750" name="Rectangle 30"/>
            <p:cNvSpPr>
              <a:spLocks noChangeArrowheads="1"/>
            </p:cNvSpPr>
            <p:nvPr/>
          </p:nvSpPr>
          <p:spPr bwMode="auto">
            <a:xfrm>
              <a:off x="2784" y="407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目标程序</a:t>
              </a:r>
            </a:p>
          </p:txBody>
        </p:sp>
      </p:grpSp>
      <p:grpSp>
        <p:nvGrpSpPr>
          <p:cNvPr id="60430" name="Group 31"/>
          <p:cNvGrpSpPr>
            <a:grpSpLocks/>
          </p:cNvGrpSpPr>
          <p:nvPr/>
        </p:nvGrpSpPr>
        <p:grpSpPr bwMode="auto">
          <a:xfrm>
            <a:off x="4264025" y="3200400"/>
            <a:ext cx="1600200" cy="381000"/>
            <a:chOff x="2640" y="2016"/>
            <a:chExt cx="1008" cy="240"/>
          </a:xfrm>
        </p:grpSpPr>
        <p:sp>
          <p:nvSpPr>
            <p:cNvPr id="60439" name="AutoShape 32"/>
            <p:cNvSpPr>
              <a:spLocks noChangeArrowheads="1"/>
            </p:cNvSpPr>
            <p:nvPr/>
          </p:nvSpPr>
          <p:spPr bwMode="auto">
            <a:xfrm>
              <a:off x="2640" y="201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4753" name="Rectangle 33"/>
            <p:cNvSpPr>
              <a:spLocks noChangeArrowheads="1"/>
            </p:cNvSpPr>
            <p:nvPr/>
          </p:nvSpPr>
          <p:spPr bwMode="auto">
            <a:xfrm>
              <a:off x="2880" y="201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grpSp>
        <p:nvGrpSpPr>
          <p:cNvPr id="60431" name="Group 34"/>
          <p:cNvGrpSpPr>
            <a:grpSpLocks/>
          </p:cNvGrpSpPr>
          <p:nvPr/>
        </p:nvGrpSpPr>
        <p:grpSpPr bwMode="auto">
          <a:xfrm>
            <a:off x="4264025" y="2133600"/>
            <a:ext cx="1600200" cy="381000"/>
            <a:chOff x="2640" y="1344"/>
            <a:chExt cx="1008" cy="240"/>
          </a:xfrm>
        </p:grpSpPr>
        <p:sp>
          <p:nvSpPr>
            <p:cNvPr id="60437" name="AutoShape 35"/>
            <p:cNvSpPr>
              <a:spLocks noChangeArrowheads="1"/>
            </p:cNvSpPr>
            <p:nvPr/>
          </p:nvSpPr>
          <p:spPr bwMode="auto">
            <a:xfrm>
              <a:off x="2640" y="134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4756" name="Rectangle 36"/>
            <p:cNvSpPr>
              <a:spLocks noChangeArrowheads="1"/>
            </p:cNvSpPr>
            <p:nvPr/>
          </p:nvSpPr>
          <p:spPr bwMode="auto">
            <a:xfrm>
              <a:off x="2880" y="13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单词符号</a:t>
              </a:r>
            </a:p>
          </p:txBody>
        </p:sp>
      </p:grpSp>
      <p:grpSp>
        <p:nvGrpSpPr>
          <p:cNvPr id="60432" name="Group 37"/>
          <p:cNvGrpSpPr>
            <a:grpSpLocks/>
          </p:cNvGrpSpPr>
          <p:nvPr/>
        </p:nvGrpSpPr>
        <p:grpSpPr bwMode="auto">
          <a:xfrm>
            <a:off x="3425825" y="1066800"/>
            <a:ext cx="2362200" cy="990600"/>
            <a:chOff x="2112" y="672"/>
            <a:chExt cx="1488" cy="624"/>
          </a:xfrm>
        </p:grpSpPr>
        <p:sp>
          <p:nvSpPr>
            <p:cNvPr id="414758" name="Rectangle 38"/>
            <p:cNvSpPr>
              <a:spLocks noChangeArrowheads="1"/>
            </p:cNvSpPr>
            <p:nvPr/>
          </p:nvSpPr>
          <p:spPr bwMode="auto">
            <a:xfrm>
              <a:off x="2112" y="912"/>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grpSp>
          <p:nvGrpSpPr>
            <p:cNvPr id="60434" name="Group 39"/>
            <p:cNvGrpSpPr>
              <a:grpSpLocks/>
            </p:cNvGrpSpPr>
            <p:nvPr/>
          </p:nvGrpSpPr>
          <p:grpSpPr bwMode="auto">
            <a:xfrm>
              <a:off x="2640" y="672"/>
              <a:ext cx="960" cy="240"/>
              <a:chOff x="2640" y="672"/>
              <a:chExt cx="960" cy="240"/>
            </a:xfrm>
          </p:grpSpPr>
          <p:sp>
            <p:nvSpPr>
              <p:cNvPr id="60435" name="AutoShape 40"/>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4761" name="Rectangle 41"/>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E2A4070-4A30-4BC3-B017-26DA83632E50}" type="datetime1">
              <a:rPr lang="zh-CN" altLang="en-US" sz="1400" smtClean="0"/>
              <a:pPr>
                <a:spcBef>
                  <a:spcPct val="0"/>
                </a:spcBef>
                <a:buClrTx/>
                <a:buSzTx/>
                <a:buFontTx/>
                <a:buNone/>
              </a:pPr>
              <a:t>2017/2/24</a:t>
            </a:fld>
            <a:endParaRPr lang="en-US" altLang="zh-CN" sz="1400" smtClean="0"/>
          </a:p>
        </p:txBody>
      </p:sp>
      <p:sp>
        <p:nvSpPr>
          <p:cNvPr id="61443"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B5890C1-AFB8-447C-955F-314694ECCFF4}" type="slidenum">
              <a:rPr lang="zh-CN" altLang="en-US" sz="1400"/>
              <a:pPr>
                <a:spcBef>
                  <a:spcPct val="0"/>
                </a:spcBef>
                <a:buClrTx/>
                <a:buSzTx/>
                <a:buFontTx/>
                <a:buNone/>
              </a:pPr>
              <a:t>56</a:t>
            </a:fld>
            <a:endParaRPr lang="en-US" altLang="zh-CN" sz="1400"/>
          </a:p>
        </p:txBody>
      </p:sp>
      <p:sp>
        <p:nvSpPr>
          <p:cNvPr id="61444" name="Rectangle 2"/>
          <p:cNvSpPr>
            <a:spLocks noGrp="1" noRot="1" noChangeArrowheads="1"/>
          </p:cNvSpPr>
          <p:nvPr>
            <p:ph type="body" idx="1"/>
          </p:nvPr>
        </p:nvSpPr>
        <p:spPr>
          <a:xfrm>
            <a:off x="611188" y="2133600"/>
            <a:ext cx="7999412" cy="3810000"/>
          </a:xfrm>
        </p:spPr>
        <p:txBody>
          <a:bodyPr/>
          <a:lstStyle/>
          <a:p>
            <a:pPr eaLnBrk="1" hangingPunct="1">
              <a:spcAft>
                <a:spcPct val="30000"/>
              </a:spcAft>
            </a:pPr>
            <a:r>
              <a:rPr lang="zh-CN" altLang="en-US" sz="3600" b="1" smtClean="0">
                <a:latin typeface="Times New Roman" panose="02020603050405020304" pitchFamily="18" charset="0"/>
                <a:ea typeface="华文新魏" panose="02010800040101010101" pitchFamily="2" charset="-122"/>
              </a:rPr>
              <a:t>中间代码优化：对代码进行</a:t>
            </a:r>
            <a:r>
              <a:rPr lang="zh-CN" altLang="en-US" sz="3600" b="1" smtClean="0">
                <a:solidFill>
                  <a:srgbClr val="CC3300"/>
                </a:solidFill>
                <a:latin typeface="Times New Roman" panose="02020603050405020304" pitchFamily="18" charset="0"/>
                <a:ea typeface="华文新魏" panose="02010800040101010101" pitchFamily="2" charset="-122"/>
              </a:rPr>
              <a:t>等价变换</a:t>
            </a:r>
            <a:r>
              <a:rPr lang="zh-CN" altLang="en-US" sz="3600" b="1" smtClean="0">
                <a:latin typeface="Times New Roman" panose="02020603050405020304" pitchFamily="18" charset="0"/>
                <a:ea typeface="华文新魏" panose="02010800040101010101" pitchFamily="2" charset="-122"/>
              </a:rPr>
              <a:t>以求提高效率——提高运行</a:t>
            </a:r>
            <a:r>
              <a:rPr lang="zh-CN" altLang="en-US" sz="3600" b="1" smtClean="0">
                <a:solidFill>
                  <a:srgbClr val="CC3300"/>
                </a:solidFill>
                <a:latin typeface="Times New Roman" panose="02020603050405020304" pitchFamily="18" charset="0"/>
                <a:ea typeface="华文新魏" panose="02010800040101010101" pitchFamily="2" charset="-122"/>
              </a:rPr>
              <a:t>速度</a:t>
            </a:r>
            <a:r>
              <a:rPr lang="zh-CN" altLang="en-US" sz="3600" b="1" smtClean="0">
                <a:latin typeface="Times New Roman" panose="02020603050405020304" pitchFamily="18" charset="0"/>
                <a:ea typeface="华文新魏" panose="02010800040101010101" pitchFamily="2" charset="-122"/>
              </a:rPr>
              <a:t>和节省存储</a:t>
            </a:r>
            <a:r>
              <a:rPr lang="zh-CN" altLang="en-US" sz="3600" b="1" smtClean="0">
                <a:solidFill>
                  <a:srgbClr val="CC3300"/>
                </a:solidFill>
                <a:latin typeface="Times New Roman" panose="02020603050405020304" pitchFamily="18" charset="0"/>
                <a:ea typeface="华文新魏" panose="02010800040101010101" pitchFamily="2" charset="-122"/>
              </a:rPr>
              <a:t>空间</a:t>
            </a:r>
          </a:p>
          <a:p>
            <a:pPr lvl="1" eaLnBrk="1" hangingPunct="1">
              <a:spcAft>
                <a:spcPct val="30000"/>
              </a:spcAft>
            </a:pPr>
            <a:r>
              <a:rPr lang="zh-CN" altLang="en-US" sz="3200" b="1" smtClean="0">
                <a:latin typeface="Times New Roman" panose="02020603050405020304" pitchFamily="18" charset="0"/>
                <a:ea typeface="华文新魏" panose="02010800040101010101" pitchFamily="2" charset="-122"/>
              </a:rPr>
              <a:t>与机器无关的优化</a:t>
            </a:r>
          </a:p>
          <a:p>
            <a:pPr lvl="1" eaLnBrk="1" hangingPunct="1">
              <a:spcAft>
                <a:spcPct val="30000"/>
              </a:spcAft>
            </a:pPr>
            <a:r>
              <a:rPr lang="zh-CN" altLang="en-US" sz="3200" b="1" smtClean="0">
                <a:latin typeface="Times New Roman" panose="02020603050405020304" pitchFamily="18" charset="0"/>
                <a:ea typeface="华文新魏" panose="02010800040101010101" pitchFamily="2" charset="-122"/>
              </a:rPr>
              <a:t>与机器有关的优化</a:t>
            </a:r>
          </a:p>
        </p:txBody>
      </p:sp>
      <p:sp>
        <p:nvSpPr>
          <p:cNvPr id="61445" name="Rectangle 3"/>
          <p:cNvSpPr>
            <a:spLocks noGrp="1" noRot="1" noChangeArrowheads="1"/>
          </p:cNvSpPr>
          <p:nvPr>
            <p:ph type="title"/>
          </p:nvPr>
        </p:nvSpPr>
        <p:spPr>
          <a:xfrm>
            <a:off x="303213" y="1174750"/>
            <a:ext cx="5365750" cy="506413"/>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5. 代码优化</a:t>
            </a:r>
          </a:p>
        </p:txBody>
      </p:sp>
      <p:sp>
        <p:nvSpPr>
          <p:cNvPr id="304132" name="Rectangle 4"/>
          <p:cNvSpPr>
            <a:spLocks noChangeArrowheads="1"/>
          </p:cNvSpPr>
          <p:nvPr/>
        </p:nvSpPr>
        <p:spPr bwMode="auto">
          <a:xfrm>
            <a:off x="3635375" y="260350"/>
            <a:ext cx="550862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3200" b="1">
                <a:solidFill>
                  <a:srgbClr val="CC3300"/>
                </a:solidFill>
                <a:effectLst>
                  <a:outerShdw blurRad="38100" dist="38100" dir="2700000" algn="tl">
                    <a:srgbClr val="C0C0C0"/>
                  </a:outerShdw>
                </a:effectLst>
                <a:latin typeface="Times New Roman" pitchFamily="18" charset="0"/>
                <a:ea typeface="华文新魏" pitchFamily="2" charset="-122"/>
              </a:rPr>
              <a:t>走向目标</a:t>
            </a:r>
            <a:r>
              <a:rPr kumimoji="1" lang="en-US" altLang="zh-CN" sz="3200" b="1">
                <a:solidFill>
                  <a:srgbClr val="CC3300"/>
                </a:solidFill>
                <a:effectLst>
                  <a:outerShdw blurRad="38100" dist="38100" dir="2700000" algn="tl">
                    <a:srgbClr val="C0C0C0"/>
                  </a:outerShdw>
                </a:effectLst>
                <a:latin typeface="Times New Roman" pitchFamily="18" charset="0"/>
                <a:ea typeface="华文新魏" pitchFamily="2" charset="-122"/>
              </a:rPr>
              <a:t>4</a:t>
            </a:r>
            <a:r>
              <a:rPr kumimoji="1" lang="zh-CN" altLang="en-US" sz="3200" b="1">
                <a:solidFill>
                  <a:srgbClr val="CC3300"/>
                </a:solidFill>
                <a:effectLst>
                  <a:outerShdw blurRad="38100" dist="38100" dir="2700000" algn="tl">
                    <a:srgbClr val="C0C0C0"/>
                  </a:outerShdw>
                </a:effectLst>
                <a:latin typeface="Times New Roman" pitchFamily="18" charset="0"/>
                <a:ea typeface="华文新魏" pitchFamily="2" charset="-122"/>
              </a:rPr>
              <a:t>：更高效地执行！</a:t>
            </a:r>
          </a:p>
        </p:txBody>
      </p:sp>
      <p:sp>
        <p:nvSpPr>
          <p:cNvPr id="61447" name="Rectangle 6"/>
          <p:cNvSpPr>
            <a:spLocks noChangeArrowheads="1"/>
          </p:cNvSpPr>
          <p:nvPr/>
        </p:nvSpPr>
        <p:spPr bwMode="auto">
          <a:xfrm>
            <a:off x="6157913" y="4005263"/>
            <a:ext cx="2662237" cy="1228725"/>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temp1 := inttoreal(60)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temp2 := id3 *temp1</a:t>
            </a:r>
            <a:endParaRPr lang="en-US" altLang="zh-CN" sz="2000" b="1">
              <a:latin typeface="Times New Roman" panose="02020603050405020304" pitchFamily="18" charset="0"/>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temp3 := id2 +temp2</a:t>
            </a:r>
            <a:endParaRPr lang="en-US" altLang="zh-CN" sz="2000" b="1">
              <a:latin typeface="Times New Roman" panose="02020603050405020304" pitchFamily="18" charset="0"/>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id1 := temp3</a:t>
            </a:r>
            <a:endParaRPr lang="en-US" altLang="zh-CN" sz="2000">
              <a:latin typeface="Tahoma" panose="020B0604030504040204" pitchFamily="34" charset="0"/>
            </a:endParaRPr>
          </a:p>
        </p:txBody>
      </p:sp>
      <p:grpSp>
        <p:nvGrpSpPr>
          <p:cNvPr id="61448" name="Group 8"/>
          <p:cNvGrpSpPr>
            <a:grpSpLocks/>
          </p:cNvGrpSpPr>
          <p:nvPr/>
        </p:nvGrpSpPr>
        <p:grpSpPr bwMode="auto">
          <a:xfrm>
            <a:off x="6300788" y="5300663"/>
            <a:ext cx="2447925" cy="863600"/>
            <a:chOff x="3939" y="2432"/>
            <a:chExt cx="921" cy="499"/>
          </a:xfrm>
        </p:grpSpPr>
        <p:sp>
          <p:nvSpPr>
            <p:cNvPr id="61449" name="Rectangle 9"/>
            <p:cNvSpPr>
              <a:spLocks noChangeArrowheads="1"/>
            </p:cNvSpPr>
            <p:nvPr/>
          </p:nvSpPr>
          <p:spPr bwMode="auto">
            <a:xfrm>
              <a:off x="3939" y="2594"/>
              <a:ext cx="921" cy="337"/>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temp1 := id3 *60.0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id1 := id2 + temp1</a:t>
              </a:r>
              <a:endParaRPr lang="en-US" altLang="zh-CN" sz="2000">
                <a:latin typeface="Tahoma" panose="020B0604030504040204" pitchFamily="34" charset="0"/>
              </a:endParaRPr>
            </a:p>
          </p:txBody>
        </p:sp>
        <p:sp>
          <p:nvSpPr>
            <p:cNvPr id="61450" name="Line 10"/>
            <p:cNvSpPr>
              <a:spLocks noChangeShapeType="1"/>
            </p:cNvSpPr>
            <p:nvPr/>
          </p:nvSpPr>
          <p:spPr bwMode="auto">
            <a:xfrm>
              <a:off x="4377" y="2432"/>
              <a:ext cx="0" cy="1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BF461AD-90B7-41BF-9821-82E5364EC38E}" type="datetime1">
              <a:rPr lang="zh-CN" altLang="en-US" sz="1400" smtClean="0"/>
              <a:pPr>
                <a:spcBef>
                  <a:spcPct val="0"/>
                </a:spcBef>
                <a:buClrTx/>
                <a:buSzTx/>
                <a:buFontTx/>
                <a:buNone/>
              </a:pPr>
              <a:t>2017/2/24</a:t>
            </a:fld>
            <a:endParaRPr lang="en-US" altLang="zh-CN" sz="1400" smtClean="0"/>
          </a:p>
        </p:txBody>
      </p:sp>
      <p:sp>
        <p:nvSpPr>
          <p:cNvPr id="62467"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0166C55-9E6D-451C-A774-0F4AC11E0F18}" type="slidenum">
              <a:rPr lang="zh-CN" altLang="en-US" sz="1400"/>
              <a:pPr>
                <a:spcBef>
                  <a:spcPct val="0"/>
                </a:spcBef>
                <a:buClrTx/>
                <a:buSzTx/>
                <a:buFontTx/>
                <a:buNone/>
              </a:pPr>
              <a:t>57</a:t>
            </a:fld>
            <a:endParaRPr lang="en-US" altLang="zh-CN" sz="1400"/>
          </a:p>
        </p:txBody>
      </p:sp>
      <p:sp>
        <p:nvSpPr>
          <p:cNvPr id="62468" name="Rectangle 2"/>
          <p:cNvSpPr>
            <a:spLocks noGrp="1" noRot="1" noChangeArrowheads="1"/>
          </p:cNvSpPr>
          <p:nvPr>
            <p:ph type="title"/>
          </p:nvPr>
        </p:nvSpPr>
        <p:spPr>
          <a:xfrm>
            <a:off x="301625" y="1038225"/>
            <a:ext cx="8540750" cy="714375"/>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与机器无关的优化</a:t>
            </a:r>
          </a:p>
        </p:txBody>
      </p:sp>
      <p:sp>
        <p:nvSpPr>
          <p:cNvPr id="62469" name="Rectangle 3"/>
          <p:cNvSpPr>
            <a:spLocks noGrp="1" noRot="1" noChangeArrowheads="1"/>
          </p:cNvSpPr>
          <p:nvPr>
            <p:ph type="body" idx="1"/>
          </p:nvPr>
        </p:nvSpPr>
        <p:spPr>
          <a:xfrm>
            <a:off x="539750" y="2060575"/>
            <a:ext cx="7912100" cy="4114800"/>
          </a:xfrm>
        </p:spPr>
        <p:txBody>
          <a:bodyPr/>
          <a:lstStyle/>
          <a:p>
            <a:pPr eaLnBrk="1" hangingPunct="1"/>
            <a:r>
              <a:rPr lang="zh-CN" altLang="en-US" sz="3600" b="1" smtClean="0">
                <a:latin typeface="Times New Roman" panose="02020603050405020304" pitchFamily="18" charset="0"/>
                <a:ea typeface="华文新魏" panose="02010800040101010101" pitchFamily="2" charset="-122"/>
              </a:rPr>
              <a:t>局部优化</a:t>
            </a:r>
          </a:p>
          <a:p>
            <a:pPr lvl="1" eaLnBrk="1" hangingPunct="1"/>
            <a:r>
              <a:rPr lang="zh-CN" altLang="en-US" b="1" smtClean="0">
                <a:latin typeface="Times New Roman" panose="02020603050405020304" pitchFamily="18" charset="0"/>
                <a:ea typeface="华文新魏" panose="02010800040101010101" pitchFamily="2" charset="-122"/>
              </a:rPr>
              <a:t>常量合并：常数运算在编译期间完成，如8+9*4</a:t>
            </a:r>
          </a:p>
          <a:p>
            <a:pPr lvl="1" eaLnBrk="1" hangingPunct="1"/>
            <a:r>
              <a:rPr lang="zh-CN" altLang="en-US" b="1" smtClean="0">
                <a:latin typeface="Times New Roman" panose="02020603050405020304" pitchFamily="18" charset="0"/>
                <a:ea typeface="华文新魏" panose="02010800040101010101" pitchFamily="2" charset="-122"/>
              </a:rPr>
              <a:t>公共子表达式的提取:基本块内</a:t>
            </a:r>
          </a:p>
          <a:p>
            <a:pPr eaLnBrk="1" hangingPunct="1"/>
            <a:r>
              <a:rPr lang="zh-CN" altLang="en-US" sz="3600" b="1" smtClean="0">
                <a:latin typeface="Times New Roman" panose="02020603050405020304" pitchFamily="18" charset="0"/>
                <a:ea typeface="华文新魏" panose="02010800040101010101" pitchFamily="2" charset="-122"/>
              </a:rPr>
              <a:t>循环优化</a:t>
            </a:r>
          </a:p>
          <a:p>
            <a:pPr lvl="1" eaLnBrk="1" hangingPunct="1"/>
            <a:r>
              <a:rPr lang="zh-CN" altLang="en-US" b="1" smtClean="0">
                <a:latin typeface="Times New Roman" panose="02020603050405020304" pitchFamily="18" charset="0"/>
                <a:ea typeface="华文新魏" panose="02010800040101010101" pitchFamily="2" charset="-122"/>
              </a:rPr>
              <a:t>强度削减</a:t>
            </a:r>
          </a:p>
          <a:p>
            <a:pPr lvl="1" eaLnBrk="1" hangingPunct="1"/>
            <a:r>
              <a:rPr lang="zh-CN" altLang="en-US" b="1" smtClean="0">
                <a:latin typeface="Times New Roman" panose="02020603050405020304" pitchFamily="18" charset="0"/>
                <a:ea typeface="华文新魏" panose="02010800040101010101" pitchFamily="2" charset="-122"/>
              </a:rPr>
              <a:t>代码外提</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071300F-F1A9-4A5A-9866-6D13E8BB9697}" type="datetime1">
              <a:rPr lang="zh-CN" altLang="en-US" sz="1400" smtClean="0"/>
              <a:pPr>
                <a:spcBef>
                  <a:spcPct val="0"/>
                </a:spcBef>
                <a:buClrTx/>
                <a:buSzTx/>
                <a:buFontTx/>
                <a:buNone/>
              </a:pPr>
              <a:t>2017/2/24</a:t>
            </a:fld>
            <a:endParaRPr lang="en-US" altLang="zh-CN" sz="1400" smtClean="0"/>
          </a:p>
        </p:txBody>
      </p:sp>
      <p:sp>
        <p:nvSpPr>
          <p:cNvPr id="63491"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425B60C-380A-4961-9D21-A9120EE0AF10}" type="slidenum">
              <a:rPr lang="zh-CN" altLang="en-US" sz="1400"/>
              <a:pPr>
                <a:spcBef>
                  <a:spcPct val="0"/>
                </a:spcBef>
                <a:buClrTx/>
                <a:buSzTx/>
                <a:buFontTx/>
                <a:buNone/>
              </a:pPr>
              <a:t>58</a:t>
            </a:fld>
            <a:endParaRPr lang="en-US" altLang="zh-CN" sz="1400"/>
          </a:p>
        </p:txBody>
      </p:sp>
      <p:sp>
        <p:nvSpPr>
          <p:cNvPr id="63492" name="Rectangle 2"/>
          <p:cNvSpPr>
            <a:spLocks noGrp="1" noRot="1" noChangeArrowheads="1"/>
          </p:cNvSpPr>
          <p:nvPr>
            <p:ph type="title"/>
          </p:nvPr>
        </p:nvSpPr>
        <p:spPr>
          <a:xfrm>
            <a:off x="1619250" y="549275"/>
            <a:ext cx="5838825" cy="1060450"/>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与机器有关的优化</a:t>
            </a:r>
          </a:p>
        </p:txBody>
      </p:sp>
      <p:sp>
        <p:nvSpPr>
          <p:cNvPr id="63493" name="Rectangle 3"/>
          <p:cNvSpPr>
            <a:spLocks noGrp="1" noRot="1" noChangeArrowheads="1"/>
          </p:cNvSpPr>
          <p:nvPr>
            <p:ph type="body" idx="1"/>
          </p:nvPr>
        </p:nvSpPr>
        <p:spPr>
          <a:xfrm>
            <a:off x="381000" y="1628775"/>
            <a:ext cx="8458200" cy="4752975"/>
          </a:xfrm>
        </p:spPr>
        <p:txBody>
          <a:bodyPr/>
          <a:lstStyle/>
          <a:p>
            <a:pPr eaLnBrk="1" hangingPunct="1"/>
            <a:r>
              <a:rPr lang="zh-CN" altLang="en-US" sz="2800" b="1" smtClean="0">
                <a:latin typeface="Times New Roman" panose="02020603050405020304" pitchFamily="18" charset="0"/>
                <a:ea typeface="华文新魏" panose="02010800040101010101" pitchFamily="2" charset="-122"/>
              </a:rPr>
              <a:t>寄存器的利用</a:t>
            </a:r>
          </a:p>
          <a:p>
            <a:pPr lvl="1" eaLnBrk="1" hangingPunct="1"/>
            <a:r>
              <a:rPr lang="zh-CN" altLang="en-US" b="1" smtClean="0">
                <a:latin typeface="Times New Roman" panose="02020603050405020304" pitchFamily="18" charset="0"/>
                <a:ea typeface="华文新魏" panose="02010800040101010101" pitchFamily="2" charset="-122"/>
              </a:rPr>
              <a:t>将常用量放入寄存器，以减少访问内存的次数</a:t>
            </a:r>
          </a:p>
          <a:p>
            <a:pPr eaLnBrk="1" hangingPunct="1"/>
            <a:r>
              <a:rPr lang="zh-CN" altLang="en-US" sz="2800" b="1" smtClean="0">
                <a:latin typeface="Times New Roman" panose="02020603050405020304" pitchFamily="18" charset="0"/>
                <a:ea typeface="华文新魏" panose="02010800040101010101" pitchFamily="2" charset="-122"/>
              </a:rPr>
              <a:t>体系结构</a:t>
            </a:r>
          </a:p>
          <a:p>
            <a:pPr lvl="1" eaLnBrk="1" hangingPunct="1"/>
            <a:r>
              <a:rPr lang="en-US" altLang="zh-CN" b="1" smtClean="0">
                <a:latin typeface="Times New Roman" panose="02020603050405020304" pitchFamily="18" charset="0"/>
                <a:ea typeface="华文新魏" panose="02010800040101010101" pitchFamily="2" charset="-122"/>
              </a:rPr>
              <a:t>MIMD、SIMD、SPMD、</a:t>
            </a:r>
            <a:r>
              <a:rPr lang="zh-CN" altLang="en-US" b="1" smtClean="0">
                <a:latin typeface="Times New Roman" panose="02020603050405020304" pitchFamily="18" charset="0"/>
                <a:ea typeface="华文新魏" panose="02010800040101010101" pitchFamily="2" charset="-122"/>
              </a:rPr>
              <a:t>向量机、流水机</a:t>
            </a:r>
          </a:p>
          <a:p>
            <a:pPr eaLnBrk="1" hangingPunct="1"/>
            <a:r>
              <a:rPr lang="zh-CN" altLang="en-US" sz="2800" b="1" smtClean="0">
                <a:latin typeface="Times New Roman" panose="02020603050405020304" pitchFamily="18" charset="0"/>
                <a:ea typeface="华文新魏" panose="02010800040101010101" pitchFamily="2" charset="-122"/>
              </a:rPr>
              <a:t>存储策略</a:t>
            </a:r>
          </a:p>
          <a:p>
            <a:pPr lvl="1" eaLnBrk="1" hangingPunct="1"/>
            <a:r>
              <a:rPr lang="zh-CN" altLang="en-US" b="1" smtClean="0">
                <a:latin typeface="Times New Roman" panose="02020603050405020304" pitchFamily="18" charset="0"/>
                <a:ea typeface="华文新魏" panose="02010800040101010101" pitchFamily="2" charset="-122"/>
              </a:rPr>
              <a:t>根据算法访存的要求安排：</a:t>
            </a:r>
            <a:r>
              <a:rPr lang="en-US" altLang="zh-CN" b="1" smtClean="0">
                <a:latin typeface="Times New Roman" panose="02020603050405020304" pitchFamily="18" charset="0"/>
                <a:ea typeface="华文新魏" panose="02010800040101010101" pitchFamily="2" charset="-122"/>
              </a:rPr>
              <a:t>Cache、</a:t>
            </a:r>
            <a:r>
              <a:rPr lang="zh-CN" altLang="en-US" b="1" smtClean="0">
                <a:latin typeface="Times New Roman" panose="02020603050405020304" pitchFamily="18" charset="0"/>
                <a:ea typeface="华文新魏" panose="02010800040101010101" pitchFamily="2" charset="-122"/>
              </a:rPr>
              <a:t>并行存储体系——减少访问冲突</a:t>
            </a:r>
          </a:p>
          <a:p>
            <a:pPr eaLnBrk="1" hangingPunct="1"/>
            <a:r>
              <a:rPr lang="zh-CN" altLang="en-US" sz="2800" b="1" smtClean="0">
                <a:latin typeface="Times New Roman" panose="02020603050405020304" pitchFamily="18" charset="0"/>
                <a:ea typeface="华文新魏" panose="02010800040101010101" pitchFamily="2" charset="-122"/>
              </a:rPr>
              <a:t>任务划分</a:t>
            </a:r>
          </a:p>
          <a:p>
            <a:pPr lvl="1" eaLnBrk="1" hangingPunct="1"/>
            <a:r>
              <a:rPr lang="zh-CN" altLang="en-US" b="1" smtClean="0">
                <a:latin typeface="Times New Roman" panose="02020603050405020304" pitchFamily="18" charset="0"/>
                <a:ea typeface="华文新魏" panose="02010800040101010101" pitchFamily="2" charset="-122"/>
              </a:rPr>
              <a:t>按运行的算法即体系结构，划分子任务</a:t>
            </a:r>
            <a:r>
              <a:rPr lang="en-US" altLang="zh-CN" b="1" smtClean="0">
                <a:latin typeface="Times New Roman" panose="02020603050405020304" pitchFamily="18" charset="0"/>
                <a:ea typeface="华文新魏" panose="02010800040101010101" pitchFamily="2" charset="-122"/>
              </a:rPr>
              <a:t>(MPMD)</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056EDC2-0702-4B25-82DD-0E68AE9545C8}" type="datetime1">
              <a:rPr lang="zh-CN" altLang="en-US" sz="1400" smtClean="0"/>
              <a:pPr>
                <a:spcBef>
                  <a:spcPct val="0"/>
                </a:spcBef>
                <a:buClrTx/>
                <a:buSzTx/>
                <a:buFontTx/>
                <a:buNone/>
              </a:pPr>
              <a:t>2017/2/24</a:t>
            </a:fld>
            <a:endParaRPr lang="en-US" altLang="zh-CN" sz="1400" smtClean="0"/>
          </a:p>
        </p:txBody>
      </p:sp>
      <p:sp>
        <p:nvSpPr>
          <p:cNvPr id="64515"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BF96209-8896-468A-A004-D39D49455085}" type="slidenum">
              <a:rPr lang="zh-CN" altLang="en-US" sz="1400"/>
              <a:pPr>
                <a:spcBef>
                  <a:spcPct val="0"/>
                </a:spcBef>
                <a:buClrTx/>
                <a:buSzTx/>
                <a:buFontTx/>
                <a:buNone/>
              </a:pPr>
              <a:t>59</a:t>
            </a:fld>
            <a:endParaRPr lang="en-US" altLang="zh-CN" sz="1400"/>
          </a:p>
        </p:txBody>
      </p:sp>
      <p:sp>
        <p:nvSpPr>
          <p:cNvPr id="64516" name="Rectangle 2"/>
          <p:cNvSpPr>
            <a:spLocks noGrp="1" noRot="1" noChangeArrowheads="1"/>
          </p:cNvSpPr>
          <p:nvPr>
            <p:ph type="title"/>
          </p:nvPr>
        </p:nvSpPr>
        <p:spPr>
          <a:xfrm>
            <a:off x="609600" y="228600"/>
            <a:ext cx="8229600" cy="685800"/>
          </a:xfrm>
        </p:spPr>
        <p:txBody>
          <a:bodyPr/>
          <a:lstStyle/>
          <a:p>
            <a:pPr algn="l" eaLnBrk="1" hangingPunct="1"/>
            <a:r>
              <a:rPr lang="zh-CN" altLang="en-US" b="1" smtClean="0">
                <a:solidFill>
                  <a:srgbClr val="0033CC"/>
                </a:solidFill>
                <a:latin typeface="Times New Roman" panose="02020603050405020304" pitchFamily="18" charset="0"/>
                <a:ea typeface="华文新魏" panose="02010800040101010101" pitchFamily="2" charset="-122"/>
              </a:rPr>
              <a:t>1.4 编译程序总体结构</a:t>
            </a:r>
            <a:endParaRPr lang="en-US" altLang="zh-CN" sz="2400" b="1" smtClean="0">
              <a:solidFill>
                <a:srgbClr val="0033CC"/>
              </a:solidFill>
              <a:latin typeface="Times New Roman" panose="02020603050405020304" pitchFamily="18" charset="0"/>
              <a:ea typeface="华文新魏" panose="02010800040101010101" pitchFamily="2" charset="-122"/>
            </a:endParaRPr>
          </a:p>
        </p:txBody>
      </p:sp>
      <p:sp>
        <p:nvSpPr>
          <p:cNvPr id="415747" name="Rectangle 3"/>
          <p:cNvSpPr>
            <a:spLocks noChangeArrowheads="1"/>
          </p:cNvSpPr>
          <p:nvPr/>
        </p:nvSpPr>
        <p:spPr bwMode="auto">
          <a:xfrm>
            <a:off x="3044825" y="5791200"/>
            <a:ext cx="2895600" cy="609600"/>
          </a:xfrm>
          <a:prstGeom prst="rect">
            <a:avLst/>
          </a:prstGeom>
          <a:solidFill>
            <a:srgbClr val="99FFCC"/>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目标代码生成器</a:t>
            </a:r>
          </a:p>
        </p:txBody>
      </p:sp>
      <p:sp>
        <p:nvSpPr>
          <p:cNvPr id="415748" name="Rectangle 4"/>
          <p:cNvSpPr>
            <a:spLocks noChangeArrowheads="1"/>
          </p:cNvSpPr>
          <p:nvPr/>
        </p:nvSpPr>
        <p:spPr bwMode="auto">
          <a:xfrm>
            <a:off x="3425825" y="47244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415749" name="Rectangle 5"/>
          <p:cNvSpPr>
            <a:spLocks noChangeArrowheads="1"/>
          </p:cNvSpPr>
          <p:nvPr/>
        </p:nvSpPr>
        <p:spPr bwMode="auto">
          <a:xfrm>
            <a:off x="2435225" y="3657600"/>
            <a:ext cx="4495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415750" name="Rectangle 6"/>
          <p:cNvSpPr>
            <a:spLocks noChangeArrowheads="1"/>
          </p:cNvSpPr>
          <p:nvPr/>
        </p:nvSpPr>
        <p:spPr bwMode="auto">
          <a:xfrm>
            <a:off x="3425825" y="25146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64521" name="Group 7"/>
          <p:cNvGrpSpPr>
            <a:grpSpLocks/>
          </p:cNvGrpSpPr>
          <p:nvPr/>
        </p:nvGrpSpPr>
        <p:grpSpPr bwMode="auto">
          <a:xfrm>
            <a:off x="933450" y="1752600"/>
            <a:ext cx="2492375" cy="4572000"/>
            <a:chOff x="542" y="1104"/>
            <a:chExt cx="1570" cy="2880"/>
          </a:xfrm>
        </p:grpSpPr>
        <p:sp>
          <p:nvSpPr>
            <p:cNvPr id="415752" name="Text Box 8"/>
            <p:cNvSpPr txBox="1">
              <a:spLocks noChangeArrowheads="1"/>
            </p:cNvSpPr>
            <p:nvPr/>
          </p:nvSpPr>
          <p:spPr bwMode="auto">
            <a:xfrm>
              <a:off x="542" y="1104"/>
              <a:ext cx="418" cy="28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表    格    管    理    器</a:t>
              </a:r>
            </a:p>
          </p:txBody>
        </p:sp>
        <p:sp>
          <p:nvSpPr>
            <p:cNvPr id="64551" name="Line 9"/>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4552" name="Line 10"/>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4553" name="Line 11"/>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4554" name="Line 12"/>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4555" name="Line 13"/>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4522" name="Group 14"/>
          <p:cNvGrpSpPr>
            <a:grpSpLocks/>
          </p:cNvGrpSpPr>
          <p:nvPr/>
        </p:nvGrpSpPr>
        <p:grpSpPr bwMode="auto">
          <a:xfrm>
            <a:off x="5456238" y="1600200"/>
            <a:ext cx="2644775" cy="4724400"/>
            <a:chOff x="3408" y="1008"/>
            <a:chExt cx="1666" cy="2976"/>
          </a:xfrm>
        </p:grpSpPr>
        <p:grpSp>
          <p:nvGrpSpPr>
            <p:cNvPr id="64543" name="Group 15"/>
            <p:cNvGrpSpPr>
              <a:grpSpLocks/>
            </p:cNvGrpSpPr>
            <p:nvPr/>
          </p:nvGrpSpPr>
          <p:grpSpPr bwMode="auto">
            <a:xfrm>
              <a:off x="3408" y="1008"/>
              <a:ext cx="1666" cy="2976"/>
              <a:chOff x="3408" y="1008"/>
              <a:chExt cx="1666" cy="2976"/>
            </a:xfrm>
          </p:grpSpPr>
          <p:sp>
            <p:nvSpPr>
              <p:cNvPr id="415760" name="Text Box 16"/>
              <p:cNvSpPr txBox="1">
                <a:spLocks noChangeArrowheads="1"/>
              </p:cNvSpPr>
              <p:nvPr/>
            </p:nvSpPr>
            <p:spPr bwMode="auto">
              <a:xfrm>
                <a:off x="4656" y="1008"/>
                <a:ext cx="418" cy="29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         出    错    处    理   器</a:t>
                </a:r>
              </a:p>
            </p:txBody>
          </p:sp>
          <p:sp>
            <p:nvSpPr>
              <p:cNvPr id="64546" name="Line 17"/>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4547" name="Line 18"/>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4548" name="Line 19"/>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4549" name="Line 20"/>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64544" name="Line 21"/>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4523" name="Group 22"/>
          <p:cNvGrpSpPr>
            <a:grpSpLocks/>
          </p:cNvGrpSpPr>
          <p:nvPr/>
        </p:nvGrpSpPr>
        <p:grpSpPr bwMode="auto">
          <a:xfrm>
            <a:off x="4264025" y="4343400"/>
            <a:ext cx="1524000" cy="381000"/>
            <a:chOff x="2640" y="2736"/>
            <a:chExt cx="960" cy="240"/>
          </a:xfrm>
        </p:grpSpPr>
        <p:sp>
          <p:nvSpPr>
            <p:cNvPr id="415767" name="Rectangle 23"/>
            <p:cNvSpPr>
              <a:spLocks noChangeArrowheads="1"/>
            </p:cNvSpPr>
            <p:nvPr/>
          </p:nvSpPr>
          <p:spPr bwMode="auto">
            <a:xfrm>
              <a:off x="2832" y="273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sp>
          <p:nvSpPr>
            <p:cNvPr id="64542" name="AutoShape 24"/>
            <p:cNvSpPr>
              <a:spLocks noChangeArrowheads="1"/>
            </p:cNvSpPr>
            <p:nvPr/>
          </p:nvSpPr>
          <p:spPr bwMode="auto">
            <a:xfrm>
              <a:off x="2640" y="273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nvGrpSpPr>
          <p:cNvPr id="64524" name="Group 25"/>
          <p:cNvGrpSpPr>
            <a:grpSpLocks/>
          </p:cNvGrpSpPr>
          <p:nvPr/>
        </p:nvGrpSpPr>
        <p:grpSpPr bwMode="auto">
          <a:xfrm>
            <a:off x="4264025" y="5410200"/>
            <a:ext cx="1524000" cy="381000"/>
            <a:chOff x="2640" y="3408"/>
            <a:chExt cx="960" cy="240"/>
          </a:xfrm>
        </p:grpSpPr>
        <p:sp>
          <p:nvSpPr>
            <p:cNvPr id="64539" name="AutoShape 26"/>
            <p:cNvSpPr>
              <a:spLocks noChangeArrowheads="1"/>
            </p:cNvSpPr>
            <p:nvPr/>
          </p:nvSpPr>
          <p:spPr bwMode="auto">
            <a:xfrm>
              <a:off x="2640" y="340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5771" name="Rectangle 27"/>
            <p:cNvSpPr>
              <a:spLocks noChangeArrowheads="1"/>
            </p:cNvSpPr>
            <p:nvPr/>
          </p:nvSpPr>
          <p:spPr bwMode="auto">
            <a:xfrm>
              <a:off x="2832" y="340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grpSp>
      <p:grpSp>
        <p:nvGrpSpPr>
          <p:cNvPr id="64525" name="Group 28"/>
          <p:cNvGrpSpPr>
            <a:grpSpLocks/>
          </p:cNvGrpSpPr>
          <p:nvPr/>
        </p:nvGrpSpPr>
        <p:grpSpPr bwMode="auto">
          <a:xfrm>
            <a:off x="4191000" y="6467475"/>
            <a:ext cx="1447800" cy="390525"/>
            <a:chOff x="2640" y="4074"/>
            <a:chExt cx="912" cy="246"/>
          </a:xfrm>
        </p:grpSpPr>
        <p:sp>
          <p:nvSpPr>
            <p:cNvPr id="64537" name="AutoShape 29"/>
            <p:cNvSpPr>
              <a:spLocks noChangeArrowheads="1"/>
            </p:cNvSpPr>
            <p:nvPr/>
          </p:nvSpPr>
          <p:spPr bwMode="auto">
            <a:xfrm>
              <a:off x="2640" y="408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5774" name="Rectangle 30"/>
            <p:cNvSpPr>
              <a:spLocks noChangeArrowheads="1"/>
            </p:cNvSpPr>
            <p:nvPr/>
          </p:nvSpPr>
          <p:spPr bwMode="auto">
            <a:xfrm>
              <a:off x="2784" y="407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目标程序</a:t>
              </a:r>
            </a:p>
          </p:txBody>
        </p:sp>
      </p:grpSp>
      <p:grpSp>
        <p:nvGrpSpPr>
          <p:cNvPr id="64526" name="Group 31"/>
          <p:cNvGrpSpPr>
            <a:grpSpLocks/>
          </p:cNvGrpSpPr>
          <p:nvPr/>
        </p:nvGrpSpPr>
        <p:grpSpPr bwMode="auto">
          <a:xfrm>
            <a:off x="4264025" y="3200400"/>
            <a:ext cx="1600200" cy="381000"/>
            <a:chOff x="2640" y="2016"/>
            <a:chExt cx="1008" cy="240"/>
          </a:xfrm>
        </p:grpSpPr>
        <p:sp>
          <p:nvSpPr>
            <p:cNvPr id="64535" name="AutoShape 32"/>
            <p:cNvSpPr>
              <a:spLocks noChangeArrowheads="1"/>
            </p:cNvSpPr>
            <p:nvPr/>
          </p:nvSpPr>
          <p:spPr bwMode="auto">
            <a:xfrm>
              <a:off x="2640" y="201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5777" name="Rectangle 33"/>
            <p:cNvSpPr>
              <a:spLocks noChangeArrowheads="1"/>
            </p:cNvSpPr>
            <p:nvPr/>
          </p:nvSpPr>
          <p:spPr bwMode="auto">
            <a:xfrm>
              <a:off x="2880" y="201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grpSp>
        <p:nvGrpSpPr>
          <p:cNvPr id="64527" name="Group 34"/>
          <p:cNvGrpSpPr>
            <a:grpSpLocks/>
          </p:cNvGrpSpPr>
          <p:nvPr/>
        </p:nvGrpSpPr>
        <p:grpSpPr bwMode="auto">
          <a:xfrm>
            <a:off x="4264025" y="2133600"/>
            <a:ext cx="1600200" cy="381000"/>
            <a:chOff x="2640" y="1344"/>
            <a:chExt cx="1008" cy="240"/>
          </a:xfrm>
        </p:grpSpPr>
        <p:sp>
          <p:nvSpPr>
            <p:cNvPr id="64533" name="AutoShape 35"/>
            <p:cNvSpPr>
              <a:spLocks noChangeArrowheads="1"/>
            </p:cNvSpPr>
            <p:nvPr/>
          </p:nvSpPr>
          <p:spPr bwMode="auto">
            <a:xfrm>
              <a:off x="2640" y="134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5780" name="Rectangle 36"/>
            <p:cNvSpPr>
              <a:spLocks noChangeArrowheads="1"/>
            </p:cNvSpPr>
            <p:nvPr/>
          </p:nvSpPr>
          <p:spPr bwMode="auto">
            <a:xfrm>
              <a:off x="2880" y="13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单词符号</a:t>
              </a:r>
            </a:p>
          </p:txBody>
        </p:sp>
      </p:grpSp>
      <p:grpSp>
        <p:nvGrpSpPr>
          <p:cNvPr id="64528" name="Group 37"/>
          <p:cNvGrpSpPr>
            <a:grpSpLocks/>
          </p:cNvGrpSpPr>
          <p:nvPr/>
        </p:nvGrpSpPr>
        <p:grpSpPr bwMode="auto">
          <a:xfrm>
            <a:off x="3425825" y="1066800"/>
            <a:ext cx="2362200" cy="990600"/>
            <a:chOff x="2112" y="672"/>
            <a:chExt cx="1488" cy="624"/>
          </a:xfrm>
        </p:grpSpPr>
        <p:sp>
          <p:nvSpPr>
            <p:cNvPr id="415782" name="Rectangle 38"/>
            <p:cNvSpPr>
              <a:spLocks noChangeArrowheads="1"/>
            </p:cNvSpPr>
            <p:nvPr/>
          </p:nvSpPr>
          <p:spPr bwMode="auto">
            <a:xfrm>
              <a:off x="2112" y="912"/>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grpSp>
          <p:nvGrpSpPr>
            <p:cNvPr id="64530" name="Group 39"/>
            <p:cNvGrpSpPr>
              <a:grpSpLocks/>
            </p:cNvGrpSpPr>
            <p:nvPr/>
          </p:nvGrpSpPr>
          <p:grpSpPr bwMode="auto">
            <a:xfrm>
              <a:off x="2640" y="672"/>
              <a:ext cx="960" cy="240"/>
              <a:chOff x="2640" y="672"/>
              <a:chExt cx="960" cy="240"/>
            </a:xfrm>
          </p:grpSpPr>
          <p:sp>
            <p:nvSpPr>
              <p:cNvPr id="64531" name="AutoShape 40"/>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5785" name="Rectangle 41"/>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3"/>
          <p:cNvSpPr>
            <a:spLocks noGrp="1"/>
          </p:cNvSpPr>
          <p:nvPr>
            <p:ph type="dt" sz="quarter" idx="10"/>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1EA589C-A5A8-443D-BC0D-78DF23CA957B}" type="datetime1">
              <a:rPr lang="zh-CN" altLang="en-US" sz="1400" smtClean="0"/>
              <a:pPr>
                <a:spcBef>
                  <a:spcPct val="0"/>
                </a:spcBef>
                <a:buClrTx/>
                <a:buSzTx/>
                <a:buFontTx/>
                <a:buNone/>
              </a:pPr>
              <a:t>2017/2/24</a:t>
            </a:fld>
            <a:endParaRPr lang="en-US" altLang="zh-CN" sz="1400" smtClean="0"/>
          </a:p>
        </p:txBody>
      </p:sp>
      <p:sp>
        <p:nvSpPr>
          <p:cNvPr id="65539" name="灯片编号占位符 5"/>
          <p:cNvSpPr>
            <a:spLocks noGrp="1"/>
          </p:cNvSpPr>
          <p:nvPr>
            <p:ph type="sldNum" sz="quarter" idx="12"/>
          </p:nvPr>
        </p:nvSpPr>
        <p:spPr>
          <a:noFill/>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E0C3BC1-3A01-4D03-B7DC-99CD4800BD8F}" type="slidenum">
              <a:rPr lang="zh-CN" altLang="en-US" sz="1400"/>
              <a:pPr>
                <a:spcBef>
                  <a:spcPct val="0"/>
                </a:spcBef>
                <a:buClrTx/>
                <a:buSzTx/>
                <a:buFontTx/>
                <a:buNone/>
              </a:pPr>
              <a:t>60</a:t>
            </a:fld>
            <a:endParaRPr lang="en-US" altLang="zh-CN" sz="1400"/>
          </a:p>
        </p:txBody>
      </p:sp>
      <p:sp>
        <p:nvSpPr>
          <p:cNvPr id="65540" name="Rectangle 2"/>
          <p:cNvSpPr>
            <a:spLocks noGrp="1" noRot="1" noChangeArrowheads="1"/>
          </p:cNvSpPr>
          <p:nvPr>
            <p:ph type="title"/>
          </p:nvPr>
        </p:nvSpPr>
        <p:spPr>
          <a:xfrm>
            <a:off x="301625" y="1096963"/>
            <a:ext cx="6003925" cy="655637"/>
          </a:xfrm>
        </p:spPr>
        <p:txBody>
          <a:bodyPr/>
          <a:lstStyle/>
          <a:p>
            <a:pPr eaLnBrk="1" hangingPunct="1"/>
            <a:r>
              <a:rPr lang="zh-CN" altLang="en-US" b="1" smtClean="0">
                <a:solidFill>
                  <a:srgbClr val="000099"/>
                </a:solidFill>
                <a:latin typeface="Times New Roman" panose="02020603050405020304" pitchFamily="18" charset="0"/>
                <a:ea typeface="华文新魏" panose="02010800040101010101" pitchFamily="2" charset="-122"/>
              </a:rPr>
              <a:t>6. 目标代码生成</a:t>
            </a:r>
          </a:p>
        </p:txBody>
      </p:sp>
      <p:sp>
        <p:nvSpPr>
          <p:cNvPr id="65541" name="Rectangle 3"/>
          <p:cNvSpPr>
            <a:spLocks noGrp="1" noRot="1" noChangeArrowheads="1"/>
          </p:cNvSpPr>
          <p:nvPr>
            <p:ph type="body" idx="1"/>
          </p:nvPr>
        </p:nvSpPr>
        <p:spPr>
          <a:xfrm>
            <a:off x="609600" y="2590800"/>
            <a:ext cx="7772400" cy="2246313"/>
          </a:xfrm>
        </p:spPr>
        <p:txBody>
          <a:bodyPr/>
          <a:lstStyle/>
          <a:p>
            <a:pPr eaLnBrk="1" hangingPunct="1"/>
            <a:r>
              <a:rPr lang="zh-CN" altLang="en-US" sz="4000" b="1" smtClean="0">
                <a:latin typeface="Times New Roman" panose="02020603050405020304" pitchFamily="18" charset="0"/>
                <a:ea typeface="华文新魏" panose="02010800040101010101" pitchFamily="2" charset="-122"/>
              </a:rPr>
              <a:t>将中间代码转换成目标机上的机器指令代码或汇编代码</a:t>
            </a:r>
          </a:p>
        </p:txBody>
      </p:sp>
      <p:sp>
        <p:nvSpPr>
          <p:cNvPr id="307204" name="Rectangle 4"/>
          <p:cNvSpPr>
            <a:spLocks noChangeArrowheads="1"/>
          </p:cNvSpPr>
          <p:nvPr/>
        </p:nvSpPr>
        <p:spPr bwMode="auto">
          <a:xfrm>
            <a:off x="4211638" y="260350"/>
            <a:ext cx="4681537"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20000"/>
              </a:spcBef>
              <a:buClr>
                <a:schemeClr val="folHlink"/>
              </a:buClr>
              <a:buSzPct val="75000"/>
              <a:buFont typeface="Monotype Sorts" pitchFamily="2" charset="2"/>
              <a:buNone/>
              <a:defRPr/>
            </a:pPr>
            <a:r>
              <a:rPr kumimoji="1" lang="zh-CN" altLang="en-US" sz="3200" b="1">
                <a:solidFill>
                  <a:srgbClr val="CC3300"/>
                </a:solidFill>
                <a:effectLst>
                  <a:outerShdw blurRad="38100" dist="38100" dir="2700000" algn="tl">
                    <a:srgbClr val="C0C0C0"/>
                  </a:outerShdw>
                </a:effectLst>
                <a:latin typeface="Times New Roman" pitchFamily="18" charset="0"/>
                <a:ea typeface="华文新魏" pitchFamily="2" charset="-122"/>
              </a:rPr>
              <a:t>走向目标</a:t>
            </a:r>
            <a:r>
              <a:rPr kumimoji="1" lang="en-US" altLang="zh-CN" sz="3200" b="1">
                <a:solidFill>
                  <a:srgbClr val="CC3300"/>
                </a:solidFill>
                <a:effectLst>
                  <a:outerShdw blurRad="38100" dist="38100" dir="2700000" algn="tl">
                    <a:srgbClr val="C0C0C0"/>
                  </a:outerShdw>
                </a:effectLst>
                <a:latin typeface="Times New Roman" pitchFamily="18" charset="0"/>
                <a:ea typeface="华文新魏" pitchFamily="2" charset="-122"/>
              </a:rPr>
              <a:t>5</a:t>
            </a:r>
            <a:r>
              <a:rPr kumimoji="1" lang="zh-CN" altLang="en-US" sz="3200" b="1">
                <a:solidFill>
                  <a:srgbClr val="CC3300"/>
                </a:solidFill>
                <a:effectLst>
                  <a:outerShdw blurRad="38100" dist="38100" dir="2700000" algn="tl">
                    <a:srgbClr val="C0C0C0"/>
                  </a:outerShdw>
                </a:effectLst>
                <a:latin typeface="Times New Roman" pitchFamily="18" charset="0"/>
                <a:ea typeface="华文新魏" pitchFamily="2" charset="-122"/>
              </a:rPr>
              <a:t>：实现目标！</a:t>
            </a:r>
          </a:p>
        </p:txBody>
      </p:sp>
      <p:sp>
        <p:nvSpPr>
          <p:cNvPr id="65543" name="Rectangle 6"/>
          <p:cNvSpPr>
            <a:spLocks noChangeArrowheads="1"/>
          </p:cNvSpPr>
          <p:nvPr/>
        </p:nvSpPr>
        <p:spPr bwMode="auto">
          <a:xfrm>
            <a:off x="971550" y="5005388"/>
            <a:ext cx="2447925" cy="582612"/>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rPr>
              <a:t>temp1 := id3 *60.0 </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id1 := id2 + temp1</a:t>
            </a:r>
            <a:endParaRPr lang="en-US" altLang="zh-CN" sz="2000">
              <a:latin typeface="Tahoma" panose="020B0604030504040204" pitchFamily="34" charset="0"/>
            </a:endParaRPr>
          </a:p>
        </p:txBody>
      </p:sp>
      <p:sp>
        <p:nvSpPr>
          <p:cNvPr id="65544" name="Line 9"/>
          <p:cNvSpPr>
            <a:spLocks noChangeShapeType="1"/>
          </p:cNvSpPr>
          <p:nvPr/>
        </p:nvSpPr>
        <p:spPr bwMode="auto">
          <a:xfrm>
            <a:off x="3563938" y="5300663"/>
            <a:ext cx="17287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5" name="Text Box 10"/>
          <p:cNvSpPr txBox="1">
            <a:spLocks noChangeArrowheads="1"/>
          </p:cNvSpPr>
          <p:nvPr/>
        </p:nvSpPr>
        <p:spPr bwMode="auto">
          <a:xfrm>
            <a:off x="5292725" y="4432300"/>
            <a:ext cx="2376488" cy="1706563"/>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b="1">
                <a:solidFill>
                  <a:srgbClr val="000000"/>
                </a:solidFill>
                <a:latin typeface="Times New Roman" panose="02020603050405020304" pitchFamily="18" charset="0"/>
              </a:rPr>
              <a:t>MOVF id3, R2</a:t>
            </a: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MULF #60.0, R2</a:t>
            </a:r>
            <a:endParaRPr lang="en-US" altLang="zh-CN" sz="2000" b="1">
              <a:latin typeface="Times New Roman" panose="02020603050405020304" pitchFamily="18" charset="0"/>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MOVF id2, R1</a:t>
            </a:r>
            <a:endParaRPr lang="en-US" altLang="zh-CN" sz="2000" b="1">
              <a:latin typeface="Times New Roman" panose="02020603050405020304" pitchFamily="18" charset="0"/>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ADDF R2, R1</a:t>
            </a:r>
            <a:endParaRPr lang="en-US" altLang="zh-CN" sz="2000" b="1">
              <a:latin typeface="Times New Roman" panose="02020603050405020304" pitchFamily="18" charset="0"/>
            </a:endParaRPr>
          </a:p>
          <a:p>
            <a:pPr algn="just" eaLnBrk="1" hangingPunct="1">
              <a:spcBef>
                <a:spcPct val="0"/>
              </a:spcBef>
              <a:buClrTx/>
              <a:buSzTx/>
              <a:buFontTx/>
              <a:buNone/>
            </a:pPr>
            <a:r>
              <a:rPr lang="en-US" altLang="zh-CN" sz="2000" b="1">
                <a:solidFill>
                  <a:srgbClr val="000000"/>
                </a:solidFill>
                <a:latin typeface="Times New Roman" panose="02020603050405020304" pitchFamily="18" charset="0"/>
              </a:rPr>
              <a:t>MOVF R1, id1</a:t>
            </a:r>
            <a:endParaRPr lang="en-US" altLang="zh-CN" sz="2000">
              <a:latin typeface="Tahoma" panose="020B0604030504040204" pitchFamily="34"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74DAE01-EEEE-47AB-95C4-F896AD2C3137}" type="datetime1">
              <a:rPr lang="zh-CN" altLang="en-US" smtClean="0"/>
              <a:pPr/>
              <a:t>2017/2/24</a:t>
            </a:fld>
            <a:endParaRPr lang="en-US" altLang="zh-CN" smtClean="0"/>
          </a:p>
        </p:txBody>
      </p:sp>
      <p:sp>
        <p:nvSpPr>
          <p:cNvPr id="66563"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D2C2422-93A8-4DA6-84B3-A1F125AD9370}" type="slidenum">
              <a:rPr lang="zh-CN" altLang="en-US"/>
              <a:pPr/>
              <a:t>61</a:t>
            </a:fld>
            <a:endParaRPr lang="en-US" altLang="zh-CN"/>
          </a:p>
        </p:txBody>
      </p:sp>
      <p:sp>
        <p:nvSpPr>
          <p:cNvPr id="66564" name="Rectangle 2"/>
          <p:cNvSpPr>
            <a:spLocks noGrp="1" noRot="1" noChangeArrowheads="1"/>
          </p:cNvSpPr>
          <p:nvPr>
            <p:ph type="title"/>
          </p:nvPr>
        </p:nvSpPr>
        <p:spPr>
          <a:xfrm>
            <a:off x="609600" y="228600"/>
            <a:ext cx="8229600" cy="685800"/>
          </a:xfrm>
        </p:spPr>
        <p:txBody>
          <a:bodyPr/>
          <a:lstStyle/>
          <a:p>
            <a:pPr algn="l"/>
            <a:r>
              <a:rPr lang="zh-CN" altLang="en-US" b="1" smtClean="0">
                <a:solidFill>
                  <a:srgbClr val="0033CC"/>
                </a:solidFill>
                <a:latin typeface="Times New Roman" panose="02020603050405020304" pitchFamily="18" charset="0"/>
                <a:ea typeface="华文新魏" panose="02010800040101010101" pitchFamily="2" charset="-122"/>
              </a:rPr>
              <a:t>1.4 编译程序总体结构</a:t>
            </a:r>
            <a:endParaRPr lang="en-US" altLang="zh-CN" sz="2400" b="1" smtClean="0">
              <a:solidFill>
                <a:srgbClr val="0033CC"/>
              </a:solidFill>
              <a:latin typeface="Times New Roman" panose="02020603050405020304" pitchFamily="18" charset="0"/>
              <a:ea typeface="华文新魏" panose="02010800040101010101" pitchFamily="2" charset="-122"/>
            </a:endParaRPr>
          </a:p>
        </p:txBody>
      </p:sp>
      <p:sp>
        <p:nvSpPr>
          <p:cNvPr id="416771" name="Rectangle 3"/>
          <p:cNvSpPr>
            <a:spLocks noChangeArrowheads="1"/>
          </p:cNvSpPr>
          <p:nvPr/>
        </p:nvSpPr>
        <p:spPr bwMode="auto">
          <a:xfrm>
            <a:off x="3044825" y="5791200"/>
            <a:ext cx="28956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416772" name="Rectangle 4"/>
          <p:cNvSpPr>
            <a:spLocks noChangeArrowheads="1"/>
          </p:cNvSpPr>
          <p:nvPr/>
        </p:nvSpPr>
        <p:spPr bwMode="auto">
          <a:xfrm>
            <a:off x="3425825" y="47244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416773" name="Rectangle 5"/>
          <p:cNvSpPr>
            <a:spLocks noChangeArrowheads="1"/>
          </p:cNvSpPr>
          <p:nvPr/>
        </p:nvSpPr>
        <p:spPr bwMode="auto">
          <a:xfrm>
            <a:off x="2435225" y="3657600"/>
            <a:ext cx="4495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416774" name="Rectangle 6"/>
          <p:cNvSpPr>
            <a:spLocks noChangeArrowheads="1"/>
          </p:cNvSpPr>
          <p:nvPr/>
        </p:nvSpPr>
        <p:spPr bwMode="auto">
          <a:xfrm>
            <a:off x="3425825" y="25146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66569" name="Group 7"/>
          <p:cNvGrpSpPr>
            <a:grpSpLocks/>
          </p:cNvGrpSpPr>
          <p:nvPr/>
        </p:nvGrpSpPr>
        <p:grpSpPr bwMode="auto">
          <a:xfrm>
            <a:off x="933450" y="1752600"/>
            <a:ext cx="2492375" cy="4572000"/>
            <a:chOff x="542" y="1104"/>
            <a:chExt cx="1570" cy="2880"/>
          </a:xfrm>
        </p:grpSpPr>
        <p:sp>
          <p:nvSpPr>
            <p:cNvPr id="416776" name="Text Box 8"/>
            <p:cNvSpPr txBox="1">
              <a:spLocks noChangeArrowheads="1"/>
            </p:cNvSpPr>
            <p:nvPr/>
          </p:nvSpPr>
          <p:spPr bwMode="auto">
            <a:xfrm>
              <a:off x="542" y="1104"/>
              <a:ext cx="418" cy="2880"/>
            </a:xfrm>
            <a:prstGeom prst="rect">
              <a:avLst/>
            </a:prstGeom>
            <a:solidFill>
              <a:srgbClr val="99FFCC"/>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表    格    管    理    器</a:t>
              </a:r>
            </a:p>
          </p:txBody>
        </p:sp>
        <p:sp>
          <p:nvSpPr>
            <p:cNvPr id="66599" name="Line 9"/>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6600" name="Line 10"/>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6601" name="Line 11"/>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6602" name="Line 12"/>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6603" name="Line 13"/>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6570" name="Group 14"/>
          <p:cNvGrpSpPr>
            <a:grpSpLocks/>
          </p:cNvGrpSpPr>
          <p:nvPr/>
        </p:nvGrpSpPr>
        <p:grpSpPr bwMode="auto">
          <a:xfrm>
            <a:off x="5456238" y="1600200"/>
            <a:ext cx="2644775" cy="4724400"/>
            <a:chOff x="3408" y="1008"/>
            <a:chExt cx="1666" cy="2976"/>
          </a:xfrm>
        </p:grpSpPr>
        <p:grpSp>
          <p:nvGrpSpPr>
            <p:cNvPr id="66591" name="Group 15"/>
            <p:cNvGrpSpPr>
              <a:grpSpLocks/>
            </p:cNvGrpSpPr>
            <p:nvPr/>
          </p:nvGrpSpPr>
          <p:grpSpPr bwMode="auto">
            <a:xfrm>
              <a:off x="3408" y="1008"/>
              <a:ext cx="1666" cy="2976"/>
              <a:chOff x="3408" y="1008"/>
              <a:chExt cx="1666" cy="2976"/>
            </a:xfrm>
          </p:grpSpPr>
          <p:sp>
            <p:nvSpPr>
              <p:cNvPr id="416784" name="Text Box 16"/>
              <p:cNvSpPr txBox="1">
                <a:spLocks noChangeArrowheads="1"/>
              </p:cNvSpPr>
              <p:nvPr/>
            </p:nvSpPr>
            <p:spPr bwMode="auto">
              <a:xfrm>
                <a:off x="4656" y="1008"/>
                <a:ext cx="418" cy="29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         出    错    处    理   器</a:t>
                </a:r>
              </a:p>
            </p:txBody>
          </p:sp>
          <p:sp>
            <p:nvSpPr>
              <p:cNvPr id="66594" name="Line 17"/>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6595" name="Line 18"/>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6596" name="Line 19"/>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6597" name="Line 20"/>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66592" name="Line 21"/>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6571" name="Group 22"/>
          <p:cNvGrpSpPr>
            <a:grpSpLocks/>
          </p:cNvGrpSpPr>
          <p:nvPr/>
        </p:nvGrpSpPr>
        <p:grpSpPr bwMode="auto">
          <a:xfrm>
            <a:off x="4264025" y="4343400"/>
            <a:ext cx="1524000" cy="381000"/>
            <a:chOff x="2640" y="2736"/>
            <a:chExt cx="960" cy="240"/>
          </a:xfrm>
        </p:grpSpPr>
        <p:sp>
          <p:nvSpPr>
            <p:cNvPr id="416791" name="Rectangle 23"/>
            <p:cNvSpPr>
              <a:spLocks noChangeArrowheads="1"/>
            </p:cNvSpPr>
            <p:nvPr/>
          </p:nvSpPr>
          <p:spPr bwMode="auto">
            <a:xfrm>
              <a:off x="2832" y="273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sp>
          <p:nvSpPr>
            <p:cNvPr id="66590" name="AutoShape 24"/>
            <p:cNvSpPr>
              <a:spLocks noChangeArrowheads="1"/>
            </p:cNvSpPr>
            <p:nvPr/>
          </p:nvSpPr>
          <p:spPr bwMode="auto">
            <a:xfrm>
              <a:off x="2640" y="273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66572" name="Group 25"/>
          <p:cNvGrpSpPr>
            <a:grpSpLocks/>
          </p:cNvGrpSpPr>
          <p:nvPr/>
        </p:nvGrpSpPr>
        <p:grpSpPr bwMode="auto">
          <a:xfrm>
            <a:off x="4264025" y="5410200"/>
            <a:ext cx="1524000" cy="381000"/>
            <a:chOff x="2640" y="3408"/>
            <a:chExt cx="960" cy="240"/>
          </a:xfrm>
        </p:grpSpPr>
        <p:sp>
          <p:nvSpPr>
            <p:cNvPr id="66587" name="AutoShape 26"/>
            <p:cNvSpPr>
              <a:spLocks noChangeArrowheads="1"/>
            </p:cNvSpPr>
            <p:nvPr/>
          </p:nvSpPr>
          <p:spPr bwMode="auto">
            <a:xfrm>
              <a:off x="2640" y="340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6795" name="Rectangle 27"/>
            <p:cNvSpPr>
              <a:spLocks noChangeArrowheads="1"/>
            </p:cNvSpPr>
            <p:nvPr/>
          </p:nvSpPr>
          <p:spPr bwMode="auto">
            <a:xfrm>
              <a:off x="2832" y="340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grpSp>
      <p:grpSp>
        <p:nvGrpSpPr>
          <p:cNvPr id="66573" name="Group 28"/>
          <p:cNvGrpSpPr>
            <a:grpSpLocks/>
          </p:cNvGrpSpPr>
          <p:nvPr/>
        </p:nvGrpSpPr>
        <p:grpSpPr bwMode="auto">
          <a:xfrm>
            <a:off x="4191000" y="6467475"/>
            <a:ext cx="1447800" cy="390525"/>
            <a:chOff x="2640" y="4074"/>
            <a:chExt cx="912" cy="246"/>
          </a:xfrm>
        </p:grpSpPr>
        <p:sp>
          <p:nvSpPr>
            <p:cNvPr id="66585" name="AutoShape 29"/>
            <p:cNvSpPr>
              <a:spLocks noChangeArrowheads="1"/>
            </p:cNvSpPr>
            <p:nvPr/>
          </p:nvSpPr>
          <p:spPr bwMode="auto">
            <a:xfrm>
              <a:off x="2640" y="408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6798" name="Rectangle 30"/>
            <p:cNvSpPr>
              <a:spLocks noChangeArrowheads="1"/>
            </p:cNvSpPr>
            <p:nvPr/>
          </p:nvSpPr>
          <p:spPr bwMode="auto">
            <a:xfrm>
              <a:off x="2784" y="407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目标程序</a:t>
              </a:r>
            </a:p>
          </p:txBody>
        </p:sp>
      </p:grpSp>
      <p:grpSp>
        <p:nvGrpSpPr>
          <p:cNvPr id="66574" name="Group 31"/>
          <p:cNvGrpSpPr>
            <a:grpSpLocks/>
          </p:cNvGrpSpPr>
          <p:nvPr/>
        </p:nvGrpSpPr>
        <p:grpSpPr bwMode="auto">
          <a:xfrm>
            <a:off x="4264025" y="3200400"/>
            <a:ext cx="1600200" cy="381000"/>
            <a:chOff x="2640" y="2016"/>
            <a:chExt cx="1008" cy="240"/>
          </a:xfrm>
        </p:grpSpPr>
        <p:sp>
          <p:nvSpPr>
            <p:cNvPr id="66583" name="AutoShape 32"/>
            <p:cNvSpPr>
              <a:spLocks noChangeArrowheads="1"/>
            </p:cNvSpPr>
            <p:nvPr/>
          </p:nvSpPr>
          <p:spPr bwMode="auto">
            <a:xfrm>
              <a:off x="2640" y="201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6801" name="Rectangle 33"/>
            <p:cNvSpPr>
              <a:spLocks noChangeArrowheads="1"/>
            </p:cNvSpPr>
            <p:nvPr/>
          </p:nvSpPr>
          <p:spPr bwMode="auto">
            <a:xfrm>
              <a:off x="2880" y="201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grpSp>
        <p:nvGrpSpPr>
          <p:cNvPr id="66575" name="Group 34"/>
          <p:cNvGrpSpPr>
            <a:grpSpLocks/>
          </p:cNvGrpSpPr>
          <p:nvPr/>
        </p:nvGrpSpPr>
        <p:grpSpPr bwMode="auto">
          <a:xfrm>
            <a:off x="4264025" y="2133600"/>
            <a:ext cx="1600200" cy="381000"/>
            <a:chOff x="2640" y="1344"/>
            <a:chExt cx="1008" cy="240"/>
          </a:xfrm>
        </p:grpSpPr>
        <p:sp>
          <p:nvSpPr>
            <p:cNvPr id="66581" name="AutoShape 35"/>
            <p:cNvSpPr>
              <a:spLocks noChangeArrowheads="1"/>
            </p:cNvSpPr>
            <p:nvPr/>
          </p:nvSpPr>
          <p:spPr bwMode="auto">
            <a:xfrm>
              <a:off x="2640" y="134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6804" name="Rectangle 36"/>
            <p:cNvSpPr>
              <a:spLocks noChangeArrowheads="1"/>
            </p:cNvSpPr>
            <p:nvPr/>
          </p:nvSpPr>
          <p:spPr bwMode="auto">
            <a:xfrm>
              <a:off x="2880" y="13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单词符号</a:t>
              </a:r>
            </a:p>
          </p:txBody>
        </p:sp>
      </p:grpSp>
      <p:grpSp>
        <p:nvGrpSpPr>
          <p:cNvPr id="66576" name="Group 37"/>
          <p:cNvGrpSpPr>
            <a:grpSpLocks/>
          </p:cNvGrpSpPr>
          <p:nvPr/>
        </p:nvGrpSpPr>
        <p:grpSpPr bwMode="auto">
          <a:xfrm>
            <a:off x="3425825" y="1066800"/>
            <a:ext cx="2362200" cy="990600"/>
            <a:chOff x="2112" y="672"/>
            <a:chExt cx="1488" cy="624"/>
          </a:xfrm>
        </p:grpSpPr>
        <p:sp>
          <p:nvSpPr>
            <p:cNvPr id="416806" name="Rectangle 38"/>
            <p:cNvSpPr>
              <a:spLocks noChangeArrowheads="1"/>
            </p:cNvSpPr>
            <p:nvPr/>
          </p:nvSpPr>
          <p:spPr bwMode="auto">
            <a:xfrm>
              <a:off x="2112" y="912"/>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grpSp>
          <p:nvGrpSpPr>
            <p:cNvPr id="66578" name="Group 39"/>
            <p:cNvGrpSpPr>
              <a:grpSpLocks/>
            </p:cNvGrpSpPr>
            <p:nvPr/>
          </p:nvGrpSpPr>
          <p:grpSpPr bwMode="auto">
            <a:xfrm>
              <a:off x="2640" y="672"/>
              <a:ext cx="960" cy="240"/>
              <a:chOff x="2640" y="672"/>
              <a:chExt cx="960" cy="240"/>
            </a:xfrm>
          </p:grpSpPr>
          <p:sp>
            <p:nvSpPr>
              <p:cNvPr id="66579" name="AutoShape 40"/>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6809" name="Rectangle 41"/>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C4DB9A-9677-4B8F-9D77-C2E51EB141CA}" type="datetime1">
              <a:rPr lang="zh-CN" altLang="en-US" smtClean="0"/>
              <a:pPr/>
              <a:t>2017/2/24</a:t>
            </a:fld>
            <a:endParaRPr lang="en-US" altLang="zh-CN" smtClean="0"/>
          </a:p>
        </p:txBody>
      </p:sp>
      <p:sp>
        <p:nvSpPr>
          <p:cNvPr id="67587"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36F6380-6CC8-409B-9A10-385247FE67FF}" type="slidenum">
              <a:rPr lang="zh-CN" altLang="en-US"/>
              <a:pPr/>
              <a:t>62</a:t>
            </a:fld>
            <a:endParaRPr lang="en-US" altLang="zh-CN"/>
          </a:p>
        </p:txBody>
      </p:sp>
      <p:sp>
        <p:nvSpPr>
          <p:cNvPr id="67588" name="Rectangle 2"/>
          <p:cNvSpPr>
            <a:spLocks noGrp="1" noRot="1" noChangeArrowheads="1"/>
          </p:cNvSpPr>
          <p:nvPr>
            <p:ph type="title"/>
          </p:nvPr>
        </p:nvSpPr>
        <p:spPr>
          <a:xfrm>
            <a:off x="1042988" y="692150"/>
            <a:ext cx="7129462" cy="974725"/>
          </a:xfrm>
        </p:spPr>
        <p:txBody>
          <a:bodyPr lIns="92075" tIns="46038" rIns="92075" bIns="46038"/>
          <a:lstStyle/>
          <a:p>
            <a:r>
              <a:rPr lang="zh-CN" altLang="en-US" b="1" smtClean="0">
                <a:solidFill>
                  <a:srgbClr val="000099"/>
                </a:solidFill>
                <a:latin typeface="Times New Roman" panose="02020603050405020304" pitchFamily="18" charset="0"/>
                <a:ea typeface="华文新魏" panose="02010800040101010101" pitchFamily="2" charset="-122"/>
              </a:rPr>
              <a:t>7、表格管理</a:t>
            </a:r>
          </a:p>
        </p:txBody>
      </p:sp>
      <p:sp>
        <p:nvSpPr>
          <p:cNvPr id="67589" name="Rectangle 3"/>
          <p:cNvSpPr>
            <a:spLocks noGrp="1" noRot="1" noChangeArrowheads="1"/>
          </p:cNvSpPr>
          <p:nvPr>
            <p:ph type="body" idx="1"/>
          </p:nvPr>
        </p:nvSpPr>
        <p:spPr>
          <a:xfrm>
            <a:off x="395288" y="1916113"/>
            <a:ext cx="8569325" cy="4392612"/>
          </a:xfrm>
        </p:spPr>
        <p:txBody>
          <a:bodyPr lIns="92075" tIns="46038" rIns="92075" bIns="46038"/>
          <a:lstStyle/>
          <a:p>
            <a:r>
              <a:rPr lang="zh-CN" altLang="en-US" b="1" smtClean="0">
                <a:latin typeface="Times New Roman" panose="02020603050405020304" pitchFamily="18" charset="0"/>
                <a:ea typeface="华文新魏" panose="02010800040101010101" pitchFamily="2" charset="-122"/>
              </a:rPr>
              <a:t>管理各种符号表</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常数、标号、变量、过程、结构……</a:t>
            </a:r>
            <a:r>
              <a:rPr lang="en-US" altLang="zh-CN" b="1" smtClean="0">
                <a:latin typeface="Times New Roman" panose="02020603050405020304" pitchFamily="18" charset="0"/>
                <a:ea typeface="华文新魏" panose="02010800040101010101" pitchFamily="2" charset="-122"/>
              </a:rPr>
              <a:t>)</a:t>
            </a:r>
          </a:p>
          <a:p>
            <a:pPr lvl="1"/>
            <a:r>
              <a:rPr lang="zh-CN" altLang="en-US" b="1" smtClean="0">
                <a:latin typeface="Times New Roman" panose="02020603050405020304" pitchFamily="18" charset="0"/>
                <a:ea typeface="华文新魏" panose="02010800040101010101" pitchFamily="2" charset="-122"/>
              </a:rPr>
              <a:t>查、填</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登记、查找</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源程序中出现的符号和编译程序生成的符号，为编译的各个阶段提供信息</a:t>
            </a:r>
          </a:p>
          <a:p>
            <a:pPr lvl="1"/>
            <a:r>
              <a:rPr lang="zh-CN" altLang="en-US" b="1" smtClean="0">
                <a:solidFill>
                  <a:schemeClr val="tx2"/>
                </a:solidFill>
                <a:latin typeface="Times New Roman" panose="02020603050405020304" pitchFamily="18" charset="0"/>
                <a:ea typeface="华文新魏" panose="02010800040101010101" pitchFamily="2" charset="-122"/>
              </a:rPr>
              <a:t>辅助语法检查、语义检查</a:t>
            </a:r>
          </a:p>
          <a:p>
            <a:pPr lvl="1"/>
            <a:r>
              <a:rPr lang="zh-CN" altLang="en-US" b="1" smtClean="0">
                <a:solidFill>
                  <a:schemeClr val="tx2"/>
                </a:solidFill>
                <a:latin typeface="Times New Roman" panose="02020603050405020304" pitchFamily="18" charset="0"/>
                <a:ea typeface="华文新魏" panose="02010800040101010101" pitchFamily="2" charset="-122"/>
              </a:rPr>
              <a:t>完成静态绑定、管理编译过程</a:t>
            </a:r>
          </a:p>
          <a:p>
            <a:r>
              <a:rPr lang="en-US" altLang="zh-CN" b="1" smtClean="0">
                <a:latin typeface="Times New Roman" panose="02020603050405020304" pitchFamily="18" charset="0"/>
                <a:ea typeface="华文新魏" panose="02010800040101010101" pitchFamily="2" charset="-122"/>
              </a:rPr>
              <a:t>Hash</a:t>
            </a:r>
            <a:r>
              <a:rPr lang="zh-CN" altLang="en-US" b="1" smtClean="0">
                <a:latin typeface="Times New Roman" panose="02020603050405020304" pitchFamily="18" charset="0"/>
                <a:ea typeface="华文新魏" panose="02010800040101010101" pitchFamily="2" charset="-122"/>
              </a:rPr>
              <a:t>表、链表等各种查、填表技术</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6ADD60-9459-4BAF-AE00-271E26668D8F}" type="datetime1">
              <a:rPr lang="zh-CN" altLang="en-US" smtClean="0"/>
              <a:pPr/>
              <a:t>2017/2/24</a:t>
            </a:fld>
            <a:endParaRPr lang="en-US" altLang="zh-CN" smtClean="0"/>
          </a:p>
        </p:txBody>
      </p:sp>
      <p:sp>
        <p:nvSpPr>
          <p:cNvPr id="68611"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5E3CEDF-058C-4AEF-A1C5-8070B6A067BC}" type="slidenum">
              <a:rPr lang="zh-CN" altLang="en-US"/>
              <a:pPr/>
              <a:t>63</a:t>
            </a:fld>
            <a:endParaRPr lang="en-US" altLang="zh-CN"/>
          </a:p>
        </p:txBody>
      </p:sp>
      <p:sp>
        <p:nvSpPr>
          <p:cNvPr id="68612" name="Rectangle 2"/>
          <p:cNvSpPr>
            <a:spLocks noGrp="1" noRot="1" noChangeArrowheads="1"/>
          </p:cNvSpPr>
          <p:nvPr>
            <p:ph type="title"/>
          </p:nvPr>
        </p:nvSpPr>
        <p:spPr>
          <a:xfrm>
            <a:off x="609600" y="228600"/>
            <a:ext cx="8229600" cy="685800"/>
          </a:xfrm>
        </p:spPr>
        <p:txBody>
          <a:bodyPr/>
          <a:lstStyle/>
          <a:p>
            <a:pPr algn="l"/>
            <a:r>
              <a:rPr lang="zh-CN" altLang="en-US" b="1" smtClean="0">
                <a:solidFill>
                  <a:srgbClr val="0033CC"/>
                </a:solidFill>
                <a:latin typeface="Times New Roman" panose="02020603050405020304" pitchFamily="18" charset="0"/>
                <a:ea typeface="华文新魏" panose="02010800040101010101" pitchFamily="2" charset="-122"/>
              </a:rPr>
              <a:t>1.4 编译程序总体结构</a:t>
            </a:r>
            <a:endParaRPr lang="en-US" altLang="zh-CN" sz="2400" b="1" smtClean="0">
              <a:solidFill>
                <a:srgbClr val="0033CC"/>
              </a:solidFill>
              <a:latin typeface="Times New Roman" panose="02020603050405020304" pitchFamily="18" charset="0"/>
              <a:ea typeface="华文新魏" panose="02010800040101010101" pitchFamily="2" charset="-122"/>
            </a:endParaRPr>
          </a:p>
        </p:txBody>
      </p:sp>
      <p:sp>
        <p:nvSpPr>
          <p:cNvPr id="417795" name="Rectangle 3"/>
          <p:cNvSpPr>
            <a:spLocks noChangeArrowheads="1"/>
          </p:cNvSpPr>
          <p:nvPr/>
        </p:nvSpPr>
        <p:spPr bwMode="auto">
          <a:xfrm>
            <a:off x="3044825" y="5791200"/>
            <a:ext cx="28956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417796" name="Rectangle 4"/>
          <p:cNvSpPr>
            <a:spLocks noChangeArrowheads="1"/>
          </p:cNvSpPr>
          <p:nvPr/>
        </p:nvSpPr>
        <p:spPr bwMode="auto">
          <a:xfrm>
            <a:off x="3425825" y="47244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417797" name="Rectangle 5"/>
          <p:cNvSpPr>
            <a:spLocks noChangeArrowheads="1"/>
          </p:cNvSpPr>
          <p:nvPr/>
        </p:nvSpPr>
        <p:spPr bwMode="auto">
          <a:xfrm>
            <a:off x="2435225" y="3657600"/>
            <a:ext cx="4495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417798" name="Rectangle 6"/>
          <p:cNvSpPr>
            <a:spLocks noChangeArrowheads="1"/>
          </p:cNvSpPr>
          <p:nvPr/>
        </p:nvSpPr>
        <p:spPr bwMode="auto">
          <a:xfrm>
            <a:off x="3425825" y="2514600"/>
            <a:ext cx="20574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68617" name="Group 7"/>
          <p:cNvGrpSpPr>
            <a:grpSpLocks/>
          </p:cNvGrpSpPr>
          <p:nvPr/>
        </p:nvGrpSpPr>
        <p:grpSpPr bwMode="auto">
          <a:xfrm>
            <a:off x="933450" y="1752600"/>
            <a:ext cx="2492375" cy="4572000"/>
            <a:chOff x="542" y="1104"/>
            <a:chExt cx="1570" cy="2880"/>
          </a:xfrm>
        </p:grpSpPr>
        <p:sp>
          <p:nvSpPr>
            <p:cNvPr id="417800" name="Text Box 8"/>
            <p:cNvSpPr txBox="1">
              <a:spLocks noChangeArrowheads="1"/>
            </p:cNvSpPr>
            <p:nvPr/>
          </p:nvSpPr>
          <p:spPr bwMode="auto">
            <a:xfrm>
              <a:off x="542" y="1104"/>
              <a:ext cx="418" cy="28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表    格    管    理    器</a:t>
              </a:r>
            </a:p>
          </p:txBody>
        </p:sp>
        <p:sp>
          <p:nvSpPr>
            <p:cNvPr id="68647" name="Line 9"/>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8648" name="Line 10"/>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8649" name="Line 11"/>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8650" name="Line 12"/>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8651" name="Line 13"/>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8618" name="Group 14"/>
          <p:cNvGrpSpPr>
            <a:grpSpLocks/>
          </p:cNvGrpSpPr>
          <p:nvPr/>
        </p:nvGrpSpPr>
        <p:grpSpPr bwMode="auto">
          <a:xfrm>
            <a:off x="5456238" y="1600200"/>
            <a:ext cx="2644775" cy="4724400"/>
            <a:chOff x="3408" y="1008"/>
            <a:chExt cx="1666" cy="2976"/>
          </a:xfrm>
        </p:grpSpPr>
        <p:grpSp>
          <p:nvGrpSpPr>
            <p:cNvPr id="68639" name="Group 15"/>
            <p:cNvGrpSpPr>
              <a:grpSpLocks/>
            </p:cNvGrpSpPr>
            <p:nvPr/>
          </p:nvGrpSpPr>
          <p:grpSpPr bwMode="auto">
            <a:xfrm>
              <a:off x="3408" y="1008"/>
              <a:ext cx="1666" cy="2976"/>
              <a:chOff x="3408" y="1008"/>
              <a:chExt cx="1666" cy="2976"/>
            </a:xfrm>
          </p:grpSpPr>
          <p:sp>
            <p:nvSpPr>
              <p:cNvPr id="417808" name="Text Box 16"/>
              <p:cNvSpPr txBox="1">
                <a:spLocks noChangeArrowheads="1"/>
              </p:cNvSpPr>
              <p:nvPr/>
            </p:nvSpPr>
            <p:spPr bwMode="auto">
              <a:xfrm>
                <a:off x="4656" y="1008"/>
                <a:ext cx="418" cy="2976"/>
              </a:xfrm>
              <a:prstGeom prst="rect">
                <a:avLst/>
              </a:prstGeom>
              <a:solidFill>
                <a:srgbClr val="99FFCC"/>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         出    错    处    理   器</a:t>
                </a:r>
              </a:p>
            </p:txBody>
          </p:sp>
          <p:sp>
            <p:nvSpPr>
              <p:cNvPr id="68642" name="Line 17"/>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8643" name="Line 18"/>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8644" name="Line 19"/>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68645" name="Line 20"/>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68640" name="Line 21"/>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68619" name="Group 22"/>
          <p:cNvGrpSpPr>
            <a:grpSpLocks/>
          </p:cNvGrpSpPr>
          <p:nvPr/>
        </p:nvGrpSpPr>
        <p:grpSpPr bwMode="auto">
          <a:xfrm>
            <a:off x="4264025" y="4343400"/>
            <a:ext cx="1524000" cy="381000"/>
            <a:chOff x="2640" y="2736"/>
            <a:chExt cx="960" cy="240"/>
          </a:xfrm>
        </p:grpSpPr>
        <p:sp>
          <p:nvSpPr>
            <p:cNvPr id="417815" name="Rectangle 23"/>
            <p:cNvSpPr>
              <a:spLocks noChangeArrowheads="1"/>
            </p:cNvSpPr>
            <p:nvPr/>
          </p:nvSpPr>
          <p:spPr bwMode="auto">
            <a:xfrm>
              <a:off x="2832" y="273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sp>
          <p:nvSpPr>
            <p:cNvPr id="68638" name="AutoShape 24"/>
            <p:cNvSpPr>
              <a:spLocks noChangeArrowheads="1"/>
            </p:cNvSpPr>
            <p:nvPr/>
          </p:nvSpPr>
          <p:spPr bwMode="auto">
            <a:xfrm>
              <a:off x="2640" y="273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68620" name="Group 25"/>
          <p:cNvGrpSpPr>
            <a:grpSpLocks/>
          </p:cNvGrpSpPr>
          <p:nvPr/>
        </p:nvGrpSpPr>
        <p:grpSpPr bwMode="auto">
          <a:xfrm>
            <a:off x="4264025" y="5410200"/>
            <a:ext cx="1524000" cy="381000"/>
            <a:chOff x="2640" y="3408"/>
            <a:chExt cx="960" cy="240"/>
          </a:xfrm>
        </p:grpSpPr>
        <p:sp>
          <p:nvSpPr>
            <p:cNvPr id="68635" name="AutoShape 26"/>
            <p:cNvSpPr>
              <a:spLocks noChangeArrowheads="1"/>
            </p:cNvSpPr>
            <p:nvPr/>
          </p:nvSpPr>
          <p:spPr bwMode="auto">
            <a:xfrm>
              <a:off x="2640" y="340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7819" name="Rectangle 27"/>
            <p:cNvSpPr>
              <a:spLocks noChangeArrowheads="1"/>
            </p:cNvSpPr>
            <p:nvPr/>
          </p:nvSpPr>
          <p:spPr bwMode="auto">
            <a:xfrm>
              <a:off x="2832" y="340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中间代码</a:t>
              </a:r>
            </a:p>
          </p:txBody>
        </p:sp>
      </p:grpSp>
      <p:grpSp>
        <p:nvGrpSpPr>
          <p:cNvPr id="68621" name="Group 28"/>
          <p:cNvGrpSpPr>
            <a:grpSpLocks/>
          </p:cNvGrpSpPr>
          <p:nvPr/>
        </p:nvGrpSpPr>
        <p:grpSpPr bwMode="auto">
          <a:xfrm>
            <a:off x="4191000" y="6467475"/>
            <a:ext cx="1447800" cy="390525"/>
            <a:chOff x="2640" y="4074"/>
            <a:chExt cx="912" cy="246"/>
          </a:xfrm>
        </p:grpSpPr>
        <p:sp>
          <p:nvSpPr>
            <p:cNvPr id="68633" name="AutoShape 29"/>
            <p:cNvSpPr>
              <a:spLocks noChangeArrowheads="1"/>
            </p:cNvSpPr>
            <p:nvPr/>
          </p:nvSpPr>
          <p:spPr bwMode="auto">
            <a:xfrm>
              <a:off x="2640" y="408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7822" name="Rectangle 30"/>
            <p:cNvSpPr>
              <a:spLocks noChangeArrowheads="1"/>
            </p:cNvSpPr>
            <p:nvPr/>
          </p:nvSpPr>
          <p:spPr bwMode="auto">
            <a:xfrm>
              <a:off x="2784" y="407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目标程序</a:t>
              </a:r>
            </a:p>
          </p:txBody>
        </p:sp>
      </p:grpSp>
      <p:grpSp>
        <p:nvGrpSpPr>
          <p:cNvPr id="68622" name="Group 31"/>
          <p:cNvGrpSpPr>
            <a:grpSpLocks/>
          </p:cNvGrpSpPr>
          <p:nvPr/>
        </p:nvGrpSpPr>
        <p:grpSpPr bwMode="auto">
          <a:xfrm>
            <a:off x="4264025" y="3200400"/>
            <a:ext cx="1600200" cy="381000"/>
            <a:chOff x="2640" y="2016"/>
            <a:chExt cx="1008" cy="240"/>
          </a:xfrm>
        </p:grpSpPr>
        <p:sp>
          <p:nvSpPr>
            <p:cNvPr id="68631" name="AutoShape 32"/>
            <p:cNvSpPr>
              <a:spLocks noChangeArrowheads="1"/>
            </p:cNvSpPr>
            <p:nvPr/>
          </p:nvSpPr>
          <p:spPr bwMode="auto">
            <a:xfrm>
              <a:off x="2640" y="201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7825" name="Rectangle 33"/>
            <p:cNvSpPr>
              <a:spLocks noChangeArrowheads="1"/>
            </p:cNvSpPr>
            <p:nvPr/>
          </p:nvSpPr>
          <p:spPr bwMode="auto">
            <a:xfrm>
              <a:off x="2880" y="201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语法单位</a:t>
              </a:r>
            </a:p>
          </p:txBody>
        </p:sp>
      </p:grpSp>
      <p:grpSp>
        <p:nvGrpSpPr>
          <p:cNvPr id="68623" name="Group 34"/>
          <p:cNvGrpSpPr>
            <a:grpSpLocks/>
          </p:cNvGrpSpPr>
          <p:nvPr/>
        </p:nvGrpSpPr>
        <p:grpSpPr bwMode="auto">
          <a:xfrm>
            <a:off x="4264025" y="2133600"/>
            <a:ext cx="1600200" cy="381000"/>
            <a:chOff x="2640" y="1344"/>
            <a:chExt cx="1008" cy="240"/>
          </a:xfrm>
        </p:grpSpPr>
        <p:sp>
          <p:nvSpPr>
            <p:cNvPr id="68629" name="AutoShape 35"/>
            <p:cNvSpPr>
              <a:spLocks noChangeArrowheads="1"/>
            </p:cNvSpPr>
            <p:nvPr/>
          </p:nvSpPr>
          <p:spPr bwMode="auto">
            <a:xfrm>
              <a:off x="2640" y="134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7828" name="Rectangle 36"/>
            <p:cNvSpPr>
              <a:spLocks noChangeArrowheads="1"/>
            </p:cNvSpPr>
            <p:nvPr/>
          </p:nvSpPr>
          <p:spPr bwMode="auto">
            <a:xfrm>
              <a:off x="2880" y="13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单词符号</a:t>
              </a:r>
            </a:p>
          </p:txBody>
        </p:sp>
      </p:grpSp>
      <p:grpSp>
        <p:nvGrpSpPr>
          <p:cNvPr id="68624" name="Group 37"/>
          <p:cNvGrpSpPr>
            <a:grpSpLocks/>
          </p:cNvGrpSpPr>
          <p:nvPr/>
        </p:nvGrpSpPr>
        <p:grpSpPr bwMode="auto">
          <a:xfrm>
            <a:off x="3425825" y="1066800"/>
            <a:ext cx="2362200" cy="990600"/>
            <a:chOff x="2112" y="672"/>
            <a:chExt cx="1488" cy="624"/>
          </a:xfrm>
        </p:grpSpPr>
        <p:sp>
          <p:nvSpPr>
            <p:cNvPr id="417830" name="Rectangle 38"/>
            <p:cNvSpPr>
              <a:spLocks noChangeArrowheads="1"/>
            </p:cNvSpPr>
            <p:nvPr/>
          </p:nvSpPr>
          <p:spPr bwMode="auto">
            <a:xfrm>
              <a:off x="2112" y="912"/>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grpSp>
          <p:nvGrpSpPr>
            <p:cNvPr id="68626" name="Group 39"/>
            <p:cNvGrpSpPr>
              <a:grpSpLocks/>
            </p:cNvGrpSpPr>
            <p:nvPr/>
          </p:nvGrpSpPr>
          <p:grpSpPr bwMode="auto">
            <a:xfrm>
              <a:off x="2640" y="672"/>
              <a:ext cx="960" cy="240"/>
              <a:chOff x="2640" y="672"/>
              <a:chExt cx="960" cy="240"/>
            </a:xfrm>
          </p:grpSpPr>
          <p:sp>
            <p:nvSpPr>
              <p:cNvPr id="68627" name="AutoShape 40"/>
              <p:cNvSpPr>
                <a:spLocks noChangeArrowheads="1"/>
              </p:cNvSpPr>
              <p:nvPr/>
            </p:nvSpPr>
            <p:spPr bwMode="auto">
              <a:xfrm>
                <a:off x="2640" y="67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7833" name="Rectangle 41"/>
              <p:cNvSpPr>
                <a:spLocks noChangeArrowheads="1"/>
              </p:cNvSpPr>
              <p:nvPr/>
            </p:nvSpPr>
            <p:spPr bwMode="auto">
              <a:xfrm>
                <a:off x="2832" y="67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rgbClr val="FF3300"/>
                    </a:solidFill>
                    <a:effectLst>
                      <a:outerShdw blurRad="38100" dist="38100" dir="2700000" algn="tl">
                        <a:srgbClr val="C0C0C0"/>
                      </a:outerShdw>
                    </a:effectLst>
                    <a:latin typeface="华文新魏" pitchFamily="2" charset="-122"/>
                    <a:ea typeface="华文新魏" pitchFamily="2" charset="-122"/>
                  </a:rPr>
                  <a:t>源程序</a:t>
                </a:r>
              </a:p>
            </p:txBody>
          </p:sp>
        </p:grpSp>
      </p:gr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D22217A-7DE5-4DE1-86CE-9EB2D045E500}" type="datetime1">
              <a:rPr lang="zh-CN" altLang="en-US" smtClean="0"/>
              <a:pPr/>
              <a:t>2017/2/24</a:t>
            </a:fld>
            <a:endParaRPr lang="en-US" altLang="zh-CN" smtClean="0"/>
          </a:p>
        </p:txBody>
      </p:sp>
      <p:sp>
        <p:nvSpPr>
          <p:cNvPr id="69635"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245FFE-8F9B-42F2-8D71-9629F23C6475}" type="slidenum">
              <a:rPr lang="zh-CN" altLang="en-US"/>
              <a:pPr/>
              <a:t>64</a:t>
            </a:fld>
            <a:endParaRPr lang="en-US" altLang="zh-CN"/>
          </a:p>
        </p:txBody>
      </p:sp>
      <p:sp>
        <p:nvSpPr>
          <p:cNvPr id="69636" name="Rectangle 2"/>
          <p:cNvSpPr>
            <a:spLocks noGrp="1" noRot="1" noChangeArrowheads="1"/>
          </p:cNvSpPr>
          <p:nvPr>
            <p:ph type="title"/>
          </p:nvPr>
        </p:nvSpPr>
        <p:spPr>
          <a:xfrm>
            <a:off x="301625" y="1038225"/>
            <a:ext cx="4918075" cy="714375"/>
          </a:xfrm>
        </p:spPr>
        <p:txBody>
          <a:bodyPr/>
          <a:lstStyle/>
          <a:p>
            <a:r>
              <a:rPr lang="zh-CN" altLang="en-US" b="1" smtClean="0">
                <a:solidFill>
                  <a:srgbClr val="000099"/>
                </a:solidFill>
                <a:latin typeface="Times New Roman" panose="02020603050405020304" pitchFamily="18" charset="0"/>
                <a:ea typeface="华文新魏" panose="02010800040101010101" pitchFamily="2" charset="-122"/>
              </a:rPr>
              <a:t>8、错误处理</a:t>
            </a:r>
          </a:p>
        </p:txBody>
      </p:sp>
      <p:sp>
        <p:nvSpPr>
          <p:cNvPr id="69637" name="Rectangle 3"/>
          <p:cNvSpPr>
            <a:spLocks noGrp="1" noRot="1" noChangeArrowheads="1"/>
          </p:cNvSpPr>
          <p:nvPr>
            <p:ph type="body" idx="1"/>
          </p:nvPr>
        </p:nvSpPr>
        <p:spPr>
          <a:xfrm>
            <a:off x="611188" y="1989138"/>
            <a:ext cx="7983537" cy="4319587"/>
          </a:xfrm>
        </p:spPr>
        <p:txBody>
          <a:bodyPr/>
          <a:lstStyle/>
          <a:p>
            <a:pPr marL="0" indent="261938"/>
            <a:r>
              <a:rPr lang="zh-CN" altLang="en-US" b="1" smtClean="0">
                <a:latin typeface="Times New Roman" panose="02020603050405020304" pitchFamily="18" charset="0"/>
                <a:ea typeface="华文新魏" panose="02010800040101010101" pitchFamily="2" charset="-122"/>
              </a:rPr>
              <a:t>进行各种错误的发现、报告、纠正，以及相应的</a:t>
            </a:r>
            <a:r>
              <a:rPr lang="zh-CN" altLang="en-US" b="1" smtClean="0">
                <a:solidFill>
                  <a:schemeClr val="hlink"/>
                </a:solidFill>
                <a:latin typeface="Times New Roman" panose="02020603050405020304" pitchFamily="18" charset="0"/>
                <a:ea typeface="华文新魏" panose="02010800040101010101" pitchFamily="2" charset="-122"/>
              </a:rPr>
              <a:t>续编译</a:t>
            </a:r>
            <a:r>
              <a:rPr lang="zh-CN" altLang="en-US" b="1" smtClean="0">
                <a:latin typeface="Times New Roman" panose="02020603050405020304" pitchFamily="18" charset="0"/>
                <a:ea typeface="华文新魏" panose="02010800040101010101" pitchFamily="2" charset="-122"/>
              </a:rPr>
              <a:t>处理</a:t>
            </a:r>
            <a:r>
              <a:rPr lang="en-US" altLang="zh-CN" b="1" smtClean="0">
                <a:latin typeface="Times New Roman" panose="02020603050405020304" pitchFamily="18" charset="0"/>
                <a:ea typeface="华文新魏" panose="02010800040101010101" pitchFamily="2" charset="-122"/>
              </a:rPr>
              <a:t>(</a:t>
            </a:r>
            <a:r>
              <a:rPr lang="zh-CN" altLang="en-US" b="1" smtClean="0">
                <a:latin typeface="Times New Roman" panose="02020603050405020304" pitchFamily="18" charset="0"/>
                <a:ea typeface="华文新魏" panose="02010800040101010101" pitchFamily="2" charset="-122"/>
              </a:rPr>
              <a:t>如：错误的定位与局部化</a:t>
            </a:r>
            <a:r>
              <a:rPr lang="en-US" altLang="zh-CN" b="1" smtClean="0">
                <a:latin typeface="Times New Roman" panose="02020603050405020304" pitchFamily="18" charset="0"/>
                <a:ea typeface="华文新魏" panose="02010800040101010101" pitchFamily="2" charset="-122"/>
              </a:rPr>
              <a:t>)</a:t>
            </a:r>
          </a:p>
          <a:p>
            <a:pPr marL="441325" lvl="1" indent="258763"/>
            <a:r>
              <a:rPr lang="zh-CN" altLang="en-US" b="1" smtClean="0">
                <a:latin typeface="Times New Roman" panose="02020603050405020304" pitchFamily="18" charset="0"/>
                <a:ea typeface="华文新魏" panose="02010800040101010101" pitchFamily="2" charset="-122"/>
              </a:rPr>
              <a:t>词法：拼写、定义、</a:t>
            </a:r>
            <a:r>
              <a:rPr lang="en-US" altLang="zh-CN" b="1" smtClean="0">
                <a:latin typeface="Times New Roman" panose="02020603050405020304" pitchFamily="18" charset="0"/>
                <a:ea typeface="华文新魏" panose="02010800040101010101" pitchFamily="2" charset="-122"/>
              </a:rPr>
              <a:t>……</a:t>
            </a:r>
          </a:p>
          <a:p>
            <a:pPr marL="441325" lvl="1" indent="258763"/>
            <a:r>
              <a:rPr lang="zh-CN" altLang="en-US" b="1" smtClean="0">
                <a:latin typeface="Times New Roman" panose="02020603050405020304" pitchFamily="18" charset="0"/>
                <a:ea typeface="华文新魏" panose="02010800040101010101" pitchFamily="2" charset="-122"/>
              </a:rPr>
              <a:t>语法：语句结构、表达式结构、……</a:t>
            </a:r>
          </a:p>
          <a:p>
            <a:pPr marL="441325" lvl="1" indent="258763"/>
            <a:r>
              <a:rPr lang="zh-CN" altLang="en-US" b="1" smtClean="0">
                <a:latin typeface="Times New Roman" panose="02020603050405020304" pitchFamily="18" charset="0"/>
                <a:ea typeface="华文新魏" panose="02010800040101010101" pitchFamily="2" charset="-122"/>
              </a:rPr>
              <a:t>语义：类型不匹配、……</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6F4CF72-0806-48E4-AC5B-7A4387AAE389}" type="datetime1">
              <a:rPr lang="zh-CN" altLang="en-US" smtClean="0"/>
              <a:pPr/>
              <a:t>2017/2/24</a:t>
            </a:fld>
            <a:endParaRPr lang="en-US" altLang="zh-CN" smtClean="0"/>
          </a:p>
        </p:txBody>
      </p:sp>
      <p:sp>
        <p:nvSpPr>
          <p:cNvPr id="70659"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402AB0E-1D80-4543-95D5-3A31D7DBE0F0}" type="slidenum">
              <a:rPr lang="zh-CN" altLang="en-US"/>
              <a:pPr/>
              <a:t>65</a:t>
            </a:fld>
            <a:endParaRPr lang="en-US" altLang="zh-CN"/>
          </a:p>
        </p:txBody>
      </p:sp>
      <p:sp>
        <p:nvSpPr>
          <p:cNvPr id="70660" name="Rectangle 2"/>
          <p:cNvSpPr>
            <a:spLocks noGrp="1" noRot="1" noChangeArrowheads="1"/>
          </p:cNvSpPr>
          <p:nvPr>
            <p:ph type="title"/>
          </p:nvPr>
        </p:nvSpPr>
        <p:spPr>
          <a:xfrm>
            <a:off x="250825" y="549275"/>
            <a:ext cx="8569325" cy="935038"/>
          </a:xfrm>
        </p:spPr>
        <p:txBody>
          <a:bodyPr/>
          <a:lstStyle/>
          <a:p>
            <a:r>
              <a:rPr lang="zh-CN" altLang="en-US" b="1" smtClean="0">
                <a:latin typeface="Times New Roman" panose="02020603050405020304" pitchFamily="18" charset="0"/>
                <a:ea typeface="华文新魏" panose="02010800040101010101" pitchFamily="2" charset="-122"/>
              </a:rPr>
              <a:t>模块分类</a:t>
            </a:r>
          </a:p>
        </p:txBody>
      </p:sp>
      <p:sp>
        <p:nvSpPr>
          <p:cNvPr id="70661" name="Text Box 4"/>
          <p:cNvSpPr txBox="1">
            <a:spLocks noChangeArrowheads="1"/>
          </p:cNvSpPr>
          <p:nvPr/>
        </p:nvSpPr>
        <p:spPr bwMode="auto">
          <a:xfrm>
            <a:off x="827088" y="3314700"/>
            <a:ext cx="295275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latin typeface="Times New Roman" panose="02020603050405020304" pitchFamily="18" charset="0"/>
                <a:ea typeface="华文新魏" panose="02010800040101010101" pitchFamily="2" charset="-122"/>
              </a:rPr>
              <a:t>编译程序需要实现</a:t>
            </a:r>
            <a:r>
              <a:rPr lang="en-US" altLang="zh-CN" sz="3200" b="1">
                <a:latin typeface="Times New Roman" panose="02020603050405020304" pitchFamily="18" charset="0"/>
                <a:ea typeface="华文新魏" panose="02010800040101010101" pitchFamily="2" charset="-122"/>
              </a:rPr>
              <a:t>8</a:t>
            </a:r>
            <a:r>
              <a:rPr lang="zh-CN" altLang="en-US" sz="3200" b="1">
                <a:latin typeface="Times New Roman" panose="02020603050405020304" pitchFamily="18" charset="0"/>
                <a:ea typeface="华文新魏" panose="02010800040101010101" pitchFamily="2" charset="-122"/>
              </a:rPr>
              <a:t>项功能，对应8个模块</a:t>
            </a:r>
          </a:p>
        </p:txBody>
      </p:sp>
      <p:sp>
        <p:nvSpPr>
          <p:cNvPr id="70662" name="Rectangle 5"/>
          <p:cNvSpPr>
            <a:spLocks noChangeArrowheads="1"/>
          </p:cNvSpPr>
          <p:nvPr/>
        </p:nvSpPr>
        <p:spPr bwMode="auto">
          <a:xfrm>
            <a:off x="3924300" y="3716338"/>
            <a:ext cx="1008063"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spcBef>
                <a:spcPct val="20000"/>
              </a:spcBef>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翻译</a:t>
            </a:r>
          </a:p>
        </p:txBody>
      </p:sp>
      <p:sp>
        <p:nvSpPr>
          <p:cNvPr id="70663" name="Rectangle 6"/>
          <p:cNvSpPr>
            <a:spLocks noChangeArrowheads="1"/>
          </p:cNvSpPr>
          <p:nvPr/>
        </p:nvSpPr>
        <p:spPr bwMode="auto">
          <a:xfrm>
            <a:off x="3922713" y="5229225"/>
            <a:ext cx="11525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spcBef>
                <a:spcPct val="20000"/>
              </a:spcBef>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辅助</a:t>
            </a:r>
          </a:p>
        </p:txBody>
      </p:sp>
      <p:sp>
        <p:nvSpPr>
          <p:cNvPr id="70664" name="Rectangle 8"/>
          <p:cNvSpPr>
            <a:spLocks noChangeArrowheads="1"/>
          </p:cNvSpPr>
          <p:nvPr/>
        </p:nvSpPr>
        <p:spPr bwMode="auto">
          <a:xfrm>
            <a:off x="5219700" y="5159375"/>
            <a:ext cx="2520950" cy="122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符号表管理</a:t>
            </a:r>
          </a:p>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出错处理</a:t>
            </a:r>
          </a:p>
        </p:txBody>
      </p:sp>
      <p:sp>
        <p:nvSpPr>
          <p:cNvPr id="70665" name="Rectangle 9"/>
          <p:cNvSpPr>
            <a:spLocks noChangeArrowheads="1"/>
          </p:cNvSpPr>
          <p:nvPr/>
        </p:nvSpPr>
        <p:spPr bwMode="auto">
          <a:xfrm>
            <a:off x="5219700" y="3355975"/>
            <a:ext cx="2736850"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中间代码生成</a:t>
            </a:r>
          </a:p>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代码优化</a:t>
            </a:r>
          </a:p>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目标代码生成</a:t>
            </a:r>
          </a:p>
        </p:txBody>
      </p:sp>
      <p:sp>
        <p:nvSpPr>
          <p:cNvPr id="70666" name="Rectangle 11"/>
          <p:cNvSpPr>
            <a:spLocks noChangeArrowheads="1"/>
          </p:cNvSpPr>
          <p:nvPr/>
        </p:nvSpPr>
        <p:spPr bwMode="auto">
          <a:xfrm>
            <a:off x="5219700" y="1700213"/>
            <a:ext cx="2233613"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词法分析</a:t>
            </a:r>
          </a:p>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语法分析</a:t>
            </a:r>
          </a:p>
          <a:p>
            <a:pPr eaLnBrk="1" hangingPunct="1">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语义分析</a:t>
            </a:r>
          </a:p>
        </p:txBody>
      </p:sp>
      <p:sp>
        <p:nvSpPr>
          <p:cNvPr id="70667" name="Rectangle 12"/>
          <p:cNvSpPr>
            <a:spLocks noChangeArrowheads="1"/>
          </p:cNvSpPr>
          <p:nvPr/>
        </p:nvSpPr>
        <p:spPr bwMode="auto">
          <a:xfrm>
            <a:off x="3922713" y="2132013"/>
            <a:ext cx="1008062"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spcBef>
                <a:spcPct val="20000"/>
              </a:spcBef>
              <a:buClr>
                <a:schemeClr val="hlink"/>
              </a:buClr>
              <a:buSzPct val="75000"/>
              <a:buFont typeface="Wingdings" panose="05000000000000000000" pitchFamily="2" charset="2"/>
              <a:buNone/>
            </a:pPr>
            <a:r>
              <a:rPr lang="zh-CN" altLang="en-US" sz="3200" b="1">
                <a:latin typeface="华文新魏" panose="02010800040101010101" pitchFamily="2" charset="-122"/>
                <a:ea typeface="华文新魏" panose="02010800040101010101" pitchFamily="2" charset="-122"/>
              </a:rPr>
              <a:t>分析</a:t>
            </a:r>
          </a:p>
        </p:txBody>
      </p:sp>
      <p:sp>
        <p:nvSpPr>
          <p:cNvPr id="70668" name="AutoShape 14"/>
          <p:cNvSpPr>
            <a:spLocks/>
          </p:cNvSpPr>
          <p:nvPr/>
        </p:nvSpPr>
        <p:spPr bwMode="auto">
          <a:xfrm>
            <a:off x="3708400" y="2635250"/>
            <a:ext cx="287338" cy="3025775"/>
          </a:xfrm>
          <a:prstGeom prst="leftBrace">
            <a:avLst>
              <a:gd name="adj1" fmla="val 8775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669" name="AutoShape 15"/>
          <p:cNvSpPr>
            <a:spLocks/>
          </p:cNvSpPr>
          <p:nvPr/>
        </p:nvSpPr>
        <p:spPr bwMode="auto">
          <a:xfrm>
            <a:off x="4859338" y="1989138"/>
            <a:ext cx="288925" cy="1008062"/>
          </a:xfrm>
          <a:prstGeom prst="leftBrace">
            <a:avLst>
              <a:gd name="adj1" fmla="val 29075"/>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670" name="AutoShape 16"/>
          <p:cNvSpPr>
            <a:spLocks/>
          </p:cNvSpPr>
          <p:nvPr/>
        </p:nvSpPr>
        <p:spPr bwMode="auto">
          <a:xfrm>
            <a:off x="4859338" y="3687763"/>
            <a:ext cx="288925" cy="965200"/>
          </a:xfrm>
          <a:prstGeom prst="leftBrace">
            <a:avLst>
              <a:gd name="adj1" fmla="val 27839"/>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671" name="AutoShape 17"/>
          <p:cNvSpPr>
            <a:spLocks/>
          </p:cNvSpPr>
          <p:nvPr/>
        </p:nvSpPr>
        <p:spPr bwMode="auto">
          <a:xfrm>
            <a:off x="4859338" y="5300663"/>
            <a:ext cx="288925" cy="720725"/>
          </a:xfrm>
          <a:prstGeom prst="leftBrace">
            <a:avLst>
              <a:gd name="adj1" fmla="val 20788"/>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Text Box 6"/>
          <p:cNvSpPr txBox="1">
            <a:spLocks noChangeArrowheads="1"/>
          </p:cNvSpPr>
          <p:nvPr/>
        </p:nvSpPr>
        <p:spPr bwMode="auto">
          <a:xfrm>
            <a:off x="539750" y="549275"/>
            <a:ext cx="3733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chemeClr val="tx2"/>
                </a:solidFill>
                <a:latin typeface="Times New Roman" panose="02020603050405020304" pitchFamily="18" charset="0"/>
                <a:ea typeface="华文新魏" panose="02010800040101010101" pitchFamily="2" charset="-122"/>
              </a:rPr>
              <a:t>例</a:t>
            </a:r>
            <a:r>
              <a:rPr lang="en-US" altLang="zh-CN" sz="3200" b="1">
                <a:solidFill>
                  <a:schemeClr val="tx2"/>
                </a:solidFill>
                <a:latin typeface="Times New Roman" panose="02020603050405020304" pitchFamily="18" charset="0"/>
                <a:ea typeface="华文新魏" panose="02010800040101010101" pitchFamily="2" charset="-122"/>
              </a:rPr>
              <a:t>: </a:t>
            </a:r>
            <a:r>
              <a:rPr lang="zh-CN" altLang="en-US" sz="3200" b="1">
                <a:solidFill>
                  <a:schemeClr val="tx2"/>
                </a:solidFill>
                <a:latin typeface="Times New Roman" panose="02020603050405020304" pitchFamily="18" charset="0"/>
                <a:ea typeface="华文新魏" panose="02010800040101010101" pitchFamily="2" charset="-122"/>
              </a:rPr>
              <a:t>一个语句的翻译</a:t>
            </a:r>
          </a:p>
        </p:txBody>
      </p:sp>
      <p:grpSp>
        <p:nvGrpSpPr>
          <p:cNvPr id="71683" name="Group 171"/>
          <p:cNvGrpSpPr>
            <a:grpSpLocks/>
          </p:cNvGrpSpPr>
          <p:nvPr/>
        </p:nvGrpSpPr>
        <p:grpSpPr bwMode="auto">
          <a:xfrm>
            <a:off x="6156325" y="2133600"/>
            <a:ext cx="2087563" cy="1203325"/>
            <a:chOff x="3878" y="1480"/>
            <a:chExt cx="1077" cy="758"/>
          </a:xfrm>
        </p:grpSpPr>
        <p:sp>
          <p:nvSpPr>
            <p:cNvPr id="71855" name="Rectangle 11"/>
            <p:cNvSpPr>
              <a:spLocks noChangeArrowheads="1"/>
            </p:cNvSpPr>
            <p:nvPr/>
          </p:nvSpPr>
          <p:spPr bwMode="auto">
            <a:xfrm>
              <a:off x="3878" y="1616"/>
              <a:ext cx="1077" cy="622"/>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600" b="1">
                  <a:latin typeface="Times New Roman" panose="02020603050405020304" pitchFamily="18" charset="0"/>
                  <a:ea typeface="华文新魏" panose="02010800040101010101" pitchFamily="2" charset="-122"/>
                </a:rPr>
                <a:t>temp1 := inttoreal(60) </a:t>
              </a:r>
            </a:p>
            <a:p>
              <a:pPr algn="just" eaLnBrk="1" hangingPunct="1"/>
              <a:r>
                <a:rPr lang="en-US" altLang="zh-CN" sz="1600" b="1">
                  <a:latin typeface="Times New Roman" panose="02020603050405020304" pitchFamily="18" charset="0"/>
                  <a:ea typeface="华文新魏" panose="02010800040101010101" pitchFamily="2" charset="-122"/>
                </a:rPr>
                <a:t>temp2 := id3 *temp1</a:t>
              </a:r>
            </a:p>
            <a:p>
              <a:pPr algn="just" eaLnBrk="1" hangingPunct="1"/>
              <a:r>
                <a:rPr lang="en-US" altLang="zh-CN" sz="1600" b="1">
                  <a:latin typeface="Times New Roman" panose="02020603050405020304" pitchFamily="18" charset="0"/>
                  <a:ea typeface="华文新魏" panose="02010800040101010101" pitchFamily="2" charset="-122"/>
                </a:rPr>
                <a:t>temp3 := id2 +temp2</a:t>
              </a:r>
            </a:p>
            <a:p>
              <a:pPr algn="just" eaLnBrk="1" hangingPunct="1"/>
              <a:r>
                <a:rPr lang="en-US" altLang="zh-CN" sz="1600" b="1">
                  <a:latin typeface="Times New Roman" panose="02020603050405020304" pitchFamily="18" charset="0"/>
                  <a:ea typeface="华文新魏" panose="02010800040101010101" pitchFamily="2" charset="-122"/>
                </a:rPr>
                <a:t>id1 := temp3</a:t>
              </a:r>
              <a:endParaRPr lang="en-US" altLang="zh-CN" sz="1600">
                <a:latin typeface="Times New Roman" panose="02020603050405020304" pitchFamily="18" charset="0"/>
                <a:ea typeface="华文新魏" panose="02010800040101010101" pitchFamily="2" charset="-122"/>
              </a:endParaRPr>
            </a:p>
          </p:txBody>
        </p:sp>
        <p:sp>
          <p:nvSpPr>
            <p:cNvPr id="71856" name="Line 13"/>
            <p:cNvSpPr>
              <a:spLocks noChangeShapeType="1"/>
            </p:cNvSpPr>
            <p:nvPr/>
          </p:nvSpPr>
          <p:spPr bwMode="auto">
            <a:xfrm flipH="1">
              <a:off x="4410" y="1480"/>
              <a:ext cx="12" cy="123"/>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84" name="Group 172"/>
          <p:cNvGrpSpPr>
            <a:grpSpLocks/>
          </p:cNvGrpSpPr>
          <p:nvPr/>
        </p:nvGrpSpPr>
        <p:grpSpPr bwMode="auto">
          <a:xfrm>
            <a:off x="6699250" y="3141663"/>
            <a:ext cx="968375" cy="549275"/>
            <a:chOff x="4111" y="2115"/>
            <a:chExt cx="610" cy="346"/>
          </a:xfrm>
        </p:grpSpPr>
        <p:sp>
          <p:nvSpPr>
            <p:cNvPr id="71853" name="Rectangle 9"/>
            <p:cNvSpPr>
              <a:spLocks noChangeArrowheads="1"/>
            </p:cNvSpPr>
            <p:nvPr/>
          </p:nvSpPr>
          <p:spPr bwMode="auto">
            <a:xfrm>
              <a:off x="4111" y="2321"/>
              <a:ext cx="610" cy="1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b="1">
                  <a:solidFill>
                    <a:srgbClr val="000000"/>
                  </a:solidFill>
                  <a:latin typeface="Times New Roman" panose="02020603050405020304" pitchFamily="18" charset="0"/>
                  <a:ea typeface="华文新魏" panose="02010800040101010101" pitchFamily="2" charset="-122"/>
                </a:rPr>
                <a:t>代码优化器</a:t>
              </a:r>
              <a:endParaRPr lang="zh-CN" altLang="en-US" sz="1400">
                <a:latin typeface="Times New Roman" panose="02020603050405020304" pitchFamily="18" charset="0"/>
                <a:ea typeface="华文新魏" panose="02010800040101010101" pitchFamily="2" charset="-122"/>
              </a:endParaRPr>
            </a:p>
          </p:txBody>
        </p:sp>
        <p:sp>
          <p:nvSpPr>
            <p:cNvPr id="71854" name="Line 14"/>
            <p:cNvSpPr>
              <a:spLocks noChangeShapeType="1"/>
            </p:cNvSpPr>
            <p:nvPr/>
          </p:nvSpPr>
          <p:spPr bwMode="auto">
            <a:xfrm flipH="1">
              <a:off x="4410" y="2115"/>
              <a:ext cx="12" cy="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85" name="Group 175"/>
          <p:cNvGrpSpPr>
            <a:grpSpLocks/>
          </p:cNvGrpSpPr>
          <p:nvPr/>
        </p:nvGrpSpPr>
        <p:grpSpPr bwMode="auto">
          <a:xfrm>
            <a:off x="6253163" y="3644900"/>
            <a:ext cx="1919287" cy="792163"/>
            <a:chOff x="3939" y="2432"/>
            <a:chExt cx="921" cy="499"/>
          </a:xfrm>
        </p:grpSpPr>
        <p:sp>
          <p:nvSpPr>
            <p:cNvPr id="71851" name="Rectangle 12"/>
            <p:cNvSpPr>
              <a:spLocks noChangeArrowheads="1"/>
            </p:cNvSpPr>
            <p:nvPr/>
          </p:nvSpPr>
          <p:spPr bwMode="auto">
            <a:xfrm>
              <a:off x="3939" y="2594"/>
              <a:ext cx="921" cy="337"/>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600" b="1">
                  <a:latin typeface="Times New Roman" panose="02020603050405020304" pitchFamily="18" charset="0"/>
                  <a:ea typeface="华文新魏" panose="02010800040101010101" pitchFamily="2" charset="-122"/>
                </a:rPr>
                <a:t>temp1 := id3 *60.0 </a:t>
              </a:r>
            </a:p>
            <a:p>
              <a:pPr algn="just" eaLnBrk="1" hangingPunct="1"/>
              <a:r>
                <a:rPr lang="en-US" altLang="zh-CN" sz="1600" b="1">
                  <a:latin typeface="Times New Roman" panose="02020603050405020304" pitchFamily="18" charset="0"/>
                  <a:ea typeface="华文新魏" panose="02010800040101010101" pitchFamily="2" charset="-122"/>
                </a:rPr>
                <a:t>id1 := id2 + temp1</a:t>
              </a:r>
              <a:endParaRPr lang="en-US" altLang="zh-CN" sz="1600">
                <a:latin typeface="Times New Roman" panose="02020603050405020304" pitchFamily="18" charset="0"/>
                <a:ea typeface="华文新魏" panose="02010800040101010101" pitchFamily="2" charset="-122"/>
              </a:endParaRPr>
            </a:p>
          </p:txBody>
        </p:sp>
        <p:sp>
          <p:nvSpPr>
            <p:cNvPr id="71852" name="Line 15"/>
            <p:cNvSpPr>
              <a:spLocks noChangeShapeType="1"/>
            </p:cNvSpPr>
            <p:nvPr/>
          </p:nvSpPr>
          <p:spPr bwMode="auto">
            <a:xfrm>
              <a:off x="4377" y="2432"/>
              <a:ext cx="0" cy="182"/>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86" name="Group 176"/>
          <p:cNvGrpSpPr>
            <a:grpSpLocks/>
          </p:cNvGrpSpPr>
          <p:nvPr/>
        </p:nvGrpSpPr>
        <p:grpSpPr bwMode="auto">
          <a:xfrm>
            <a:off x="6734175" y="4437063"/>
            <a:ext cx="1006475" cy="431800"/>
            <a:chOff x="4095" y="2931"/>
            <a:chExt cx="634" cy="272"/>
          </a:xfrm>
        </p:grpSpPr>
        <p:sp>
          <p:nvSpPr>
            <p:cNvPr id="71849" name="Rectangle 10"/>
            <p:cNvSpPr>
              <a:spLocks noChangeArrowheads="1"/>
            </p:cNvSpPr>
            <p:nvPr/>
          </p:nvSpPr>
          <p:spPr bwMode="auto">
            <a:xfrm>
              <a:off x="4095" y="3063"/>
              <a:ext cx="634" cy="1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b="1">
                  <a:solidFill>
                    <a:srgbClr val="000000"/>
                  </a:solidFill>
                  <a:latin typeface="Times New Roman" panose="02020603050405020304" pitchFamily="18" charset="0"/>
                  <a:ea typeface="华文新魏" panose="02010800040101010101" pitchFamily="2" charset="-122"/>
                </a:rPr>
                <a:t>代码生成器</a:t>
              </a:r>
              <a:endParaRPr lang="zh-CN" altLang="en-US" sz="1400">
                <a:latin typeface="Times New Roman" panose="02020603050405020304" pitchFamily="18" charset="0"/>
                <a:ea typeface="华文新魏" panose="02010800040101010101" pitchFamily="2" charset="-122"/>
              </a:endParaRPr>
            </a:p>
          </p:txBody>
        </p:sp>
        <p:sp>
          <p:nvSpPr>
            <p:cNvPr id="71850" name="Line 16"/>
            <p:cNvSpPr>
              <a:spLocks noChangeShapeType="1"/>
            </p:cNvSpPr>
            <p:nvPr/>
          </p:nvSpPr>
          <p:spPr bwMode="auto">
            <a:xfrm flipH="1">
              <a:off x="4377" y="2931"/>
              <a:ext cx="0" cy="1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87" name="Group 177"/>
          <p:cNvGrpSpPr>
            <a:grpSpLocks/>
          </p:cNvGrpSpPr>
          <p:nvPr/>
        </p:nvGrpSpPr>
        <p:grpSpPr bwMode="auto">
          <a:xfrm>
            <a:off x="6223000" y="4840288"/>
            <a:ext cx="2020888" cy="1397000"/>
            <a:chOff x="3920" y="3185"/>
            <a:chExt cx="963" cy="880"/>
          </a:xfrm>
        </p:grpSpPr>
        <p:sp>
          <p:nvSpPr>
            <p:cNvPr id="71847" name="Line 17"/>
            <p:cNvSpPr>
              <a:spLocks noChangeShapeType="1"/>
            </p:cNvSpPr>
            <p:nvPr/>
          </p:nvSpPr>
          <p:spPr bwMode="auto">
            <a:xfrm flipH="1">
              <a:off x="4377" y="3185"/>
              <a:ext cx="0" cy="136"/>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48" name="Text Box 18"/>
            <p:cNvSpPr txBox="1">
              <a:spLocks noChangeArrowheads="1"/>
            </p:cNvSpPr>
            <p:nvPr/>
          </p:nvSpPr>
          <p:spPr bwMode="auto">
            <a:xfrm>
              <a:off x="3920" y="3310"/>
              <a:ext cx="963" cy="755"/>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600" b="1">
                  <a:latin typeface="Times New Roman" panose="02020603050405020304" pitchFamily="18" charset="0"/>
                  <a:ea typeface="华文新魏" panose="02010800040101010101" pitchFamily="2" charset="-122"/>
                </a:rPr>
                <a:t>MOVF id3, R2</a:t>
              </a:r>
            </a:p>
            <a:p>
              <a:pPr algn="just" eaLnBrk="1" hangingPunct="1"/>
              <a:r>
                <a:rPr lang="en-US" altLang="zh-CN" sz="1600" b="1">
                  <a:latin typeface="Times New Roman" panose="02020603050405020304" pitchFamily="18" charset="0"/>
                  <a:ea typeface="华文新魏" panose="02010800040101010101" pitchFamily="2" charset="-122"/>
                </a:rPr>
                <a:t>MULF #60.0, R2</a:t>
              </a:r>
            </a:p>
            <a:p>
              <a:pPr algn="just" eaLnBrk="1" hangingPunct="1"/>
              <a:r>
                <a:rPr lang="en-US" altLang="zh-CN" sz="1600" b="1">
                  <a:latin typeface="Times New Roman" panose="02020603050405020304" pitchFamily="18" charset="0"/>
                  <a:ea typeface="华文新魏" panose="02010800040101010101" pitchFamily="2" charset="-122"/>
                </a:rPr>
                <a:t>MOVF id2, R1</a:t>
              </a:r>
            </a:p>
            <a:p>
              <a:pPr algn="just" eaLnBrk="1" hangingPunct="1"/>
              <a:r>
                <a:rPr lang="en-US" altLang="zh-CN" sz="1600" b="1">
                  <a:latin typeface="Times New Roman" panose="02020603050405020304" pitchFamily="18" charset="0"/>
                  <a:ea typeface="华文新魏" panose="02010800040101010101" pitchFamily="2" charset="-122"/>
                </a:rPr>
                <a:t>ADDF R2, R1</a:t>
              </a:r>
            </a:p>
            <a:p>
              <a:pPr algn="just" eaLnBrk="1" hangingPunct="1"/>
              <a:r>
                <a:rPr lang="en-US" altLang="zh-CN" sz="1600" b="1">
                  <a:latin typeface="Times New Roman" panose="02020603050405020304" pitchFamily="18" charset="0"/>
                  <a:ea typeface="华文新魏" panose="02010800040101010101" pitchFamily="2" charset="-122"/>
                </a:rPr>
                <a:t>MOVF R1, id1</a:t>
              </a:r>
              <a:endParaRPr lang="en-US" altLang="zh-CN" sz="1600">
                <a:latin typeface="Times New Roman" panose="02020603050405020304" pitchFamily="18" charset="0"/>
                <a:ea typeface="华文新魏" panose="02010800040101010101" pitchFamily="2" charset="-122"/>
              </a:endParaRPr>
            </a:p>
          </p:txBody>
        </p:sp>
      </p:grpSp>
      <p:grpSp>
        <p:nvGrpSpPr>
          <p:cNvPr id="71688" name="Group 180"/>
          <p:cNvGrpSpPr>
            <a:grpSpLocks/>
          </p:cNvGrpSpPr>
          <p:nvPr/>
        </p:nvGrpSpPr>
        <p:grpSpPr bwMode="auto">
          <a:xfrm>
            <a:off x="5076825" y="260350"/>
            <a:ext cx="2774950" cy="1296988"/>
            <a:chOff x="3198" y="164"/>
            <a:chExt cx="1748" cy="817"/>
          </a:xfrm>
        </p:grpSpPr>
        <p:sp>
          <p:nvSpPr>
            <p:cNvPr id="71745" name="Rectangle 20"/>
            <p:cNvSpPr>
              <a:spLocks noChangeArrowheads="1"/>
            </p:cNvSpPr>
            <p:nvPr/>
          </p:nvSpPr>
          <p:spPr bwMode="auto">
            <a:xfrm>
              <a:off x="3910" y="164"/>
              <a:ext cx="3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b="1">
                  <a:solidFill>
                    <a:srgbClr val="000000"/>
                  </a:solidFill>
                  <a:latin typeface="Times New Roman" panose="02020603050405020304" pitchFamily="18" charset="0"/>
                  <a:ea typeface="华文新魏" panose="02010800040101010101" pitchFamily="2" charset="-122"/>
                </a:rPr>
                <a:t>符号表</a:t>
              </a:r>
              <a:endParaRPr lang="zh-CN" altLang="en-US" sz="1400" b="1">
                <a:latin typeface="Times New Roman" panose="02020603050405020304" pitchFamily="18" charset="0"/>
                <a:ea typeface="华文新魏" panose="02010800040101010101" pitchFamily="2" charset="-122"/>
              </a:endParaRPr>
            </a:p>
          </p:txBody>
        </p:sp>
        <p:sp>
          <p:nvSpPr>
            <p:cNvPr id="71746" name="Rectangle 21"/>
            <p:cNvSpPr>
              <a:spLocks noChangeArrowheads="1"/>
            </p:cNvSpPr>
            <p:nvPr/>
          </p:nvSpPr>
          <p:spPr bwMode="auto">
            <a:xfrm>
              <a:off x="4426" y="210"/>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747" name="Rectangle 22"/>
            <p:cNvSpPr>
              <a:spLocks noChangeArrowheads="1"/>
            </p:cNvSpPr>
            <p:nvPr/>
          </p:nvSpPr>
          <p:spPr bwMode="auto">
            <a:xfrm>
              <a:off x="3567" y="362"/>
              <a:ext cx="3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position</a:t>
              </a:r>
              <a:endParaRPr lang="en-US" altLang="zh-CN" sz="1400" b="1">
                <a:latin typeface="Times New Roman" panose="02020603050405020304" pitchFamily="18" charset="0"/>
                <a:ea typeface="华文新魏" panose="02010800040101010101" pitchFamily="2" charset="-122"/>
              </a:endParaRPr>
            </a:p>
          </p:txBody>
        </p:sp>
        <p:sp>
          <p:nvSpPr>
            <p:cNvPr id="71748" name="Rectangle 23"/>
            <p:cNvSpPr>
              <a:spLocks noChangeArrowheads="1"/>
            </p:cNvSpPr>
            <p:nvPr/>
          </p:nvSpPr>
          <p:spPr bwMode="auto">
            <a:xfrm>
              <a:off x="4213" y="362"/>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749" name="Rectangle 24"/>
            <p:cNvSpPr>
              <a:spLocks noChangeArrowheads="1"/>
            </p:cNvSpPr>
            <p:nvPr/>
          </p:nvSpPr>
          <p:spPr bwMode="auto">
            <a:xfrm>
              <a:off x="4419" y="362"/>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a:t>
              </a:r>
              <a:endParaRPr lang="en-US" altLang="zh-CN" sz="1400" b="1">
                <a:latin typeface="Times New Roman" panose="02020603050405020304" pitchFamily="18" charset="0"/>
                <a:ea typeface="华文新魏" panose="02010800040101010101" pitchFamily="2" charset="-122"/>
              </a:endParaRPr>
            </a:p>
          </p:txBody>
        </p:sp>
        <p:sp>
          <p:nvSpPr>
            <p:cNvPr id="71750" name="Rectangle 25"/>
            <p:cNvSpPr>
              <a:spLocks noChangeArrowheads="1"/>
            </p:cNvSpPr>
            <p:nvPr/>
          </p:nvSpPr>
          <p:spPr bwMode="auto">
            <a:xfrm>
              <a:off x="4620" y="362"/>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751" name="Rectangle 26"/>
            <p:cNvSpPr>
              <a:spLocks noChangeArrowheads="1"/>
            </p:cNvSpPr>
            <p:nvPr/>
          </p:nvSpPr>
          <p:spPr bwMode="auto">
            <a:xfrm>
              <a:off x="3459" y="337"/>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52" name="Line 27"/>
            <p:cNvSpPr>
              <a:spLocks noChangeShapeType="1"/>
            </p:cNvSpPr>
            <p:nvPr/>
          </p:nvSpPr>
          <p:spPr bwMode="auto">
            <a:xfrm>
              <a:off x="3459" y="33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3" name="Line 28"/>
            <p:cNvSpPr>
              <a:spLocks noChangeShapeType="1"/>
            </p:cNvSpPr>
            <p:nvPr/>
          </p:nvSpPr>
          <p:spPr bwMode="auto">
            <a:xfrm>
              <a:off x="3459" y="3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4" name="Rectangle 29"/>
            <p:cNvSpPr>
              <a:spLocks noChangeArrowheads="1"/>
            </p:cNvSpPr>
            <p:nvPr/>
          </p:nvSpPr>
          <p:spPr bwMode="auto">
            <a:xfrm>
              <a:off x="3459" y="337"/>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55" name="Line 30"/>
            <p:cNvSpPr>
              <a:spLocks noChangeShapeType="1"/>
            </p:cNvSpPr>
            <p:nvPr/>
          </p:nvSpPr>
          <p:spPr bwMode="auto">
            <a:xfrm>
              <a:off x="3459" y="33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6" name="Line 31"/>
            <p:cNvSpPr>
              <a:spLocks noChangeShapeType="1"/>
            </p:cNvSpPr>
            <p:nvPr/>
          </p:nvSpPr>
          <p:spPr bwMode="auto">
            <a:xfrm>
              <a:off x="3459" y="3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7" name="Rectangle 32"/>
            <p:cNvSpPr>
              <a:spLocks noChangeArrowheads="1"/>
            </p:cNvSpPr>
            <p:nvPr/>
          </p:nvSpPr>
          <p:spPr bwMode="auto">
            <a:xfrm>
              <a:off x="3468" y="337"/>
              <a:ext cx="84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58" name="Line 33"/>
            <p:cNvSpPr>
              <a:spLocks noChangeShapeType="1"/>
            </p:cNvSpPr>
            <p:nvPr/>
          </p:nvSpPr>
          <p:spPr bwMode="auto">
            <a:xfrm>
              <a:off x="3468" y="337"/>
              <a:ext cx="84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9" name="Rectangle 34"/>
            <p:cNvSpPr>
              <a:spLocks noChangeArrowheads="1"/>
            </p:cNvSpPr>
            <p:nvPr/>
          </p:nvSpPr>
          <p:spPr bwMode="auto">
            <a:xfrm>
              <a:off x="4312" y="337"/>
              <a:ext cx="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60" name="Line 35"/>
            <p:cNvSpPr>
              <a:spLocks noChangeShapeType="1"/>
            </p:cNvSpPr>
            <p:nvPr/>
          </p:nvSpPr>
          <p:spPr bwMode="auto">
            <a:xfrm>
              <a:off x="4312" y="337"/>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1" name="Line 36"/>
            <p:cNvSpPr>
              <a:spLocks noChangeShapeType="1"/>
            </p:cNvSpPr>
            <p:nvPr/>
          </p:nvSpPr>
          <p:spPr bwMode="auto">
            <a:xfrm>
              <a:off x="4312" y="33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2" name="Rectangle 37"/>
            <p:cNvSpPr>
              <a:spLocks noChangeArrowheads="1"/>
            </p:cNvSpPr>
            <p:nvPr/>
          </p:nvSpPr>
          <p:spPr bwMode="auto">
            <a:xfrm>
              <a:off x="4320" y="337"/>
              <a:ext cx="6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63" name="Line 38"/>
            <p:cNvSpPr>
              <a:spLocks noChangeShapeType="1"/>
            </p:cNvSpPr>
            <p:nvPr/>
          </p:nvSpPr>
          <p:spPr bwMode="auto">
            <a:xfrm>
              <a:off x="4320" y="337"/>
              <a:ext cx="61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Rectangle 39"/>
            <p:cNvSpPr>
              <a:spLocks noChangeArrowheads="1"/>
            </p:cNvSpPr>
            <p:nvPr/>
          </p:nvSpPr>
          <p:spPr bwMode="auto">
            <a:xfrm>
              <a:off x="4937" y="337"/>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65" name="Line 40"/>
            <p:cNvSpPr>
              <a:spLocks noChangeShapeType="1"/>
            </p:cNvSpPr>
            <p:nvPr/>
          </p:nvSpPr>
          <p:spPr bwMode="auto">
            <a:xfrm>
              <a:off x="4937" y="33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6" name="Line 41"/>
            <p:cNvSpPr>
              <a:spLocks noChangeShapeType="1"/>
            </p:cNvSpPr>
            <p:nvPr/>
          </p:nvSpPr>
          <p:spPr bwMode="auto">
            <a:xfrm>
              <a:off x="4937" y="33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7" name="Rectangle 42"/>
            <p:cNvSpPr>
              <a:spLocks noChangeArrowheads="1"/>
            </p:cNvSpPr>
            <p:nvPr/>
          </p:nvSpPr>
          <p:spPr bwMode="auto">
            <a:xfrm>
              <a:off x="4937" y="337"/>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68" name="Line 43"/>
            <p:cNvSpPr>
              <a:spLocks noChangeShapeType="1"/>
            </p:cNvSpPr>
            <p:nvPr/>
          </p:nvSpPr>
          <p:spPr bwMode="auto">
            <a:xfrm>
              <a:off x="4937" y="33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9" name="Line 44"/>
            <p:cNvSpPr>
              <a:spLocks noChangeShapeType="1"/>
            </p:cNvSpPr>
            <p:nvPr/>
          </p:nvSpPr>
          <p:spPr bwMode="auto">
            <a:xfrm>
              <a:off x="4937" y="33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0" name="Rectangle 45"/>
            <p:cNvSpPr>
              <a:spLocks noChangeArrowheads="1"/>
            </p:cNvSpPr>
            <p:nvPr/>
          </p:nvSpPr>
          <p:spPr bwMode="auto">
            <a:xfrm>
              <a:off x="3459" y="342"/>
              <a:ext cx="9" cy="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71" name="Line 46"/>
            <p:cNvSpPr>
              <a:spLocks noChangeShapeType="1"/>
            </p:cNvSpPr>
            <p:nvPr/>
          </p:nvSpPr>
          <p:spPr bwMode="auto">
            <a:xfrm>
              <a:off x="3459" y="342"/>
              <a:ext cx="1"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2" name="Rectangle 47"/>
            <p:cNvSpPr>
              <a:spLocks noChangeArrowheads="1"/>
            </p:cNvSpPr>
            <p:nvPr/>
          </p:nvSpPr>
          <p:spPr bwMode="auto">
            <a:xfrm>
              <a:off x="4312" y="342"/>
              <a:ext cx="8" cy="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73" name="Line 48"/>
            <p:cNvSpPr>
              <a:spLocks noChangeShapeType="1"/>
            </p:cNvSpPr>
            <p:nvPr/>
          </p:nvSpPr>
          <p:spPr bwMode="auto">
            <a:xfrm>
              <a:off x="4312" y="342"/>
              <a:ext cx="0"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4" name="Rectangle 49"/>
            <p:cNvSpPr>
              <a:spLocks noChangeArrowheads="1"/>
            </p:cNvSpPr>
            <p:nvPr/>
          </p:nvSpPr>
          <p:spPr bwMode="auto">
            <a:xfrm>
              <a:off x="4937" y="342"/>
              <a:ext cx="9" cy="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75" name="Line 50"/>
            <p:cNvSpPr>
              <a:spLocks noChangeShapeType="1"/>
            </p:cNvSpPr>
            <p:nvPr/>
          </p:nvSpPr>
          <p:spPr bwMode="auto">
            <a:xfrm>
              <a:off x="4937" y="342"/>
              <a:ext cx="0"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6" name="Rectangle 52"/>
            <p:cNvSpPr>
              <a:spLocks noChangeArrowheads="1"/>
            </p:cNvSpPr>
            <p:nvPr/>
          </p:nvSpPr>
          <p:spPr bwMode="auto">
            <a:xfrm>
              <a:off x="3560" y="524"/>
              <a:ext cx="2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initial</a:t>
              </a:r>
              <a:endParaRPr lang="en-US" altLang="zh-CN" sz="1400" b="1">
                <a:latin typeface="Times New Roman" panose="02020603050405020304" pitchFamily="18" charset="0"/>
                <a:ea typeface="华文新魏" panose="02010800040101010101" pitchFamily="2" charset="-122"/>
              </a:endParaRPr>
            </a:p>
          </p:txBody>
        </p:sp>
        <p:sp>
          <p:nvSpPr>
            <p:cNvPr id="71777" name="Rectangle 53"/>
            <p:cNvSpPr>
              <a:spLocks noChangeArrowheads="1"/>
            </p:cNvSpPr>
            <p:nvPr/>
          </p:nvSpPr>
          <p:spPr bwMode="auto">
            <a:xfrm>
              <a:off x="4032" y="524"/>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778" name="Rectangle 54"/>
            <p:cNvSpPr>
              <a:spLocks noChangeArrowheads="1"/>
            </p:cNvSpPr>
            <p:nvPr/>
          </p:nvSpPr>
          <p:spPr bwMode="auto">
            <a:xfrm>
              <a:off x="4419" y="51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a:t>
              </a:r>
              <a:endParaRPr lang="en-US" altLang="zh-CN" sz="1400" b="1">
                <a:latin typeface="Times New Roman" panose="02020603050405020304" pitchFamily="18" charset="0"/>
                <a:ea typeface="华文新魏" panose="02010800040101010101" pitchFamily="2" charset="-122"/>
              </a:endParaRPr>
            </a:p>
          </p:txBody>
        </p:sp>
        <p:sp>
          <p:nvSpPr>
            <p:cNvPr id="71779" name="Rectangle 55"/>
            <p:cNvSpPr>
              <a:spLocks noChangeArrowheads="1"/>
            </p:cNvSpPr>
            <p:nvPr/>
          </p:nvSpPr>
          <p:spPr bwMode="auto">
            <a:xfrm>
              <a:off x="4620" y="524"/>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780" name="Rectangle 56"/>
            <p:cNvSpPr>
              <a:spLocks noChangeArrowheads="1"/>
            </p:cNvSpPr>
            <p:nvPr/>
          </p:nvSpPr>
          <p:spPr bwMode="auto">
            <a:xfrm>
              <a:off x="3459" y="498"/>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81" name="Line 57"/>
            <p:cNvSpPr>
              <a:spLocks noChangeShapeType="1"/>
            </p:cNvSpPr>
            <p:nvPr/>
          </p:nvSpPr>
          <p:spPr bwMode="auto">
            <a:xfrm>
              <a:off x="3459" y="49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2" name="Line 58"/>
            <p:cNvSpPr>
              <a:spLocks noChangeShapeType="1"/>
            </p:cNvSpPr>
            <p:nvPr/>
          </p:nvSpPr>
          <p:spPr bwMode="auto">
            <a:xfrm>
              <a:off x="3459" y="498"/>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3" name="Rectangle 59"/>
            <p:cNvSpPr>
              <a:spLocks noChangeArrowheads="1"/>
            </p:cNvSpPr>
            <p:nvPr/>
          </p:nvSpPr>
          <p:spPr bwMode="auto">
            <a:xfrm>
              <a:off x="3468" y="498"/>
              <a:ext cx="84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84" name="Line 60"/>
            <p:cNvSpPr>
              <a:spLocks noChangeShapeType="1"/>
            </p:cNvSpPr>
            <p:nvPr/>
          </p:nvSpPr>
          <p:spPr bwMode="auto">
            <a:xfrm>
              <a:off x="3468" y="498"/>
              <a:ext cx="84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5" name="Rectangle 61"/>
            <p:cNvSpPr>
              <a:spLocks noChangeArrowheads="1"/>
            </p:cNvSpPr>
            <p:nvPr/>
          </p:nvSpPr>
          <p:spPr bwMode="auto">
            <a:xfrm>
              <a:off x="4312" y="498"/>
              <a:ext cx="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86" name="Line 62"/>
            <p:cNvSpPr>
              <a:spLocks noChangeShapeType="1"/>
            </p:cNvSpPr>
            <p:nvPr/>
          </p:nvSpPr>
          <p:spPr bwMode="auto">
            <a:xfrm>
              <a:off x="4312" y="49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7" name="Line 63"/>
            <p:cNvSpPr>
              <a:spLocks noChangeShapeType="1"/>
            </p:cNvSpPr>
            <p:nvPr/>
          </p:nvSpPr>
          <p:spPr bwMode="auto">
            <a:xfrm>
              <a:off x="4312" y="498"/>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8" name="Rectangle 64"/>
            <p:cNvSpPr>
              <a:spLocks noChangeArrowheads="1"/>
            </p:cNvSpPr>
            <p:nvPr/>
          </p:nvSpPr>
          <p:spPr bwMode="auto">
            <a:xfrm>
              <a:off x="4320" y="498"/>
              <a:ext cx="6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89" name="Line 65"/>
            <p:cNvSpPr>
              <a:spLocks noChangeShapeType="1"/>
            </p:cNvSpPr>
            <p:nvPr/>
          </p:nvSpPr>
          <p:spPr bwMode="auto">
            <a:xfrm>
              <a:off x="4320" y="498"/>
              <a:ext cx="61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0" name="Rectangle 66"/>
            <p:cNvSpPr>
              <a:spLocks noChangeArrowheads="1"/>
            </p:cNvSpPr>
            <p:nvPr/>
          </p:nvSpPr>
          <p:spPr bwMode="auto">
            <a:xfrm>
              <a:off x="4937" y="498"/>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91" name="Line 67"/>
            <p:cNvSpPr>
              <a:spLocks noChangeShapeType="1"/>
            </p:cNvSpPr>
            <p:nvPr/>
          </p:nvSpPr>
          <p:spPr bwMode="auto">
            <a:xfrm>
              <a:off x="4937" y="49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2" name="Line 68"/>
            <p:cNvSpPr>
              <a:spLocks noChangeShapeType="1"/>
            </p:cNvSpPr>
            <p:nvPr/>
          </p:nvSpPr>
          <p:spPr bwMode="auto">
            <a:xfrm>
              <a:off x="4937" y="498"/>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3" name="Rectangle 69"/>
            <p:cNvSpPr>
              <a:spLocks noChangeArrowheads="1"/>
            </p:cNvSpPr>
            <p:nvPr/>
          </p:nvSpPr>
          <p:spPr bwMode="auto">
            <a:xfrm>
              <a:off x="3459" y="503"/>
              <a:ext cx="9" cy="15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94" name="Line 70"/>
            <p:cNvSpPr>
              <a:spLocks noChangeShapeType="1"/>
            </p:cNvSpPr>
            <p:nvPr/>
          </p:nvSpPr>
          <p:spPr bwMode="auto">
            <a:xfrm>
              <a:off x="3459" y="503"/>
              <a:ext cx="1" cy="1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5" name="Rectangle 71"/>
            <p:cNvSpPr>
              <a:spLocks noChangeArrowheads="1"/>
            </p:cNvSpPr>
            <p:nvPr/>
          </p:nvSpPr>
          <p:spPr bwMode="auto">
            <a:xfrm>
              <a:off x="4312" y="503"/>
              <a:ext cx="8" cy="15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96" name="Line 72"/>
            <p:cNvSpPr>
              <a:spLocks noChangeShapeType="1"/>
            </p:cNvSpPr>
            <p:nvPr/>
          </p:nvSpPr>
          <p:spPr bwMode="auto">
            <a:xfrm>
              <a:off x="4312" y="503"/>
              <a:ext cx="0" cy="1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7" name="Rectangle 73"/>
            <p:cNvSpPr>
              <a:spLocks noChangeArrowheads="1"/>
            </p:cNvSpPr>
            <p:nvPr/>
          </p:nvSpPr>
          <p:spPr bwMode="auto">
            <a:xfrm>
              <a:off x="4937" y="503"/>
              <a:ext cx="9" cy="15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98" name="Line 74"/>
            <p:cNvSpPr>
              <a:spLocks noChangeShapeType="1"/>
            </p:cNvSpPr>
            <p:nvPr/>
          </p:nvSpPr>
          <p:spPr bwMode="auto">
            <a:xfrm>
              <a:off x="4937" y="503"/>
              <a:ext cx="0" cy="1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9" name="Rectangle 75"/>
            <p:cNvSpPr>
              <a:spLocks noChangeArrowheads="1"/>
            </p:cNvSpPr>
            <p:nvPr/>
          </p:nvSpPr>
          <p:spPr bwMode="auto">
            <a:xfrm>
              <a:off x="3567" y="685"/>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rate</a:t>
              </a:r>
              <a:endParaRPr lang="en-US" altLang="zh-CN" sz="1400" b="1">
                <a:latin typeface="Times New Roman" panose="02020603050405020304" pitchFamily="18" charset="0"/>
                <a:ea typeface="华文新魏" panose="02010800040101010101" pitchFamily="2" charset="-122"/>
              </a:endParaRPr>
            </a:p>
          </p:txBody>
        </p:sp>
        <p:sp>
          <p:nvSpPr>
            <p:cNvPr id="71800" name="Rectangle 76"/>
            <p:cNvSpPr>
              <a:spLocks noChangeArrowheads="1"/>
            </p:cNvSpPr>
            <p:nvPr/>
          </p:nvSpPr>
          <p:spPr bwMode="auto">
            <a:xfrm>
              <a:off x="3867" y="685"/>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801" name="Rectangle 77"/>
            <p:cNvSpPr>
              <a:spLocks noChangeArrowheads="1"/>
            </p:cNvSpPr>
            <p:nvPr/>
          </p:nvSpPr>
          <p:spPr bwMode="auto">
            <a:xfrm>
              <a:off x="4419" y="685"/>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a:t>
              </a:r>
              <a:endParaRPr lang="en-US" altLang="zh-CN" sz="1400" b="1">
                <a:latin typeface="Times New Roman" panose="02020603050405020304" pitchFamily="18" charset="0"/>
                <a:ea typeface="华文新魏" panose="02010800040101010101" pitchFamily="2" charset="-122"/>
              </a:endParaRPr>
            </a:p>
          </p:txBody>
        </p:sp>
        <p:sp>
          <p:nvSpPr>
            <p:cNvPr id="71802" name="Rectangle 78"/>
            <p:cNvSpPr>
              <a:spLocks noChangeArrowheads="1"/>
            </p:cNvSpPr>
            <p:nvPr/>
          </p:nvSpPr>
          <p:spPr bwMode="auto">
            <a:xfrm>
              <a:off x="4620" y="685"/>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803" name="Rectangle 79"/>
            <p:cNvSpPr>
              <a:spLocks noChangeArrowheads="1"/>
            </p:cNvSpPr>
            <p:nvPr/>
          </p:nvSpPr>
          <p:spPr bwMode="auto">
            <a:xfrm>
              <a:off x="3459" y="658"/>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04" name="Line 80"/>
            <p:cNvSpPr>
              <a:spLocks noChangeShapeType="1"/>
            </p:cNvSpPr>
            <p:nvPr/>
          </p:nvSpPr>
          <p:spPr bwMode="auto">
            <a:xfrm>
              <a:off x="3459" y="65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05" name="Line 81"/>
            <p:cNvSpPr>
              <a:spLocks noChangeShapeType="1"/>
            </p:cNvSpPr>
            <p:nvPr/>
          </p:nvSpPr>
          <p:spPr bwMode="auto">
            <a:xfrm>
              <a:off x="3459" y="658"/>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06" name="Rectangle 82"/>
            <p:cNvSpPr>
              <a:spLocks noChangeArrowheads="1"/>
            </p:cNvSpPr>
            <p:nvPr/>
          </p:nvSpPr>
          <p:spPr bwMode="auto">
            <a:xfrm>
              <a:off x="3468" y="658"/>
              <a:ext cx="84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07" name="Line 83"/>
            <p:cNvSpPr>
              <a:spLocks noChangeShapeType="1"/>
            </p:cNvSpPr>
            <p:nvPr/>
          </p:nvSpPr>
          <p:spPr bwMode="auto">
            <a:xfrm>
              <a:off x="3468" y="658"/>
              <a:ext cx="84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08" name="Rectangle 84"/>
            <p:cNvSpPr>
              <a:spLocks noChangeArrowheads="1"/>
            </p:cNvSpPr>
            <p:nvPr/>
          </p:nvSpPr>
          <p:spPr bwMode="auto">
            <a:xfrm>
              <a:off x="4312" y="658"/>
              <a:ext cx="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09" name="Line 85"/>
            <p:cNvSpPr>
              <a:spLocks noChangeShapeType="1"/>
            </p:cNvSpPr>
            <p:nvPr/>
          </p:nvSpPr>
          <p:spPr bwMode="auto">
            <a:xfrm>
              <a:off x="4312" y="65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0" name="Line 86"/>
            <p:cNvSpPr>
              <a:spLocks noChangeShapeType="1"/>
            </p:cNvSpPr>
            <p:nvPr/>
          </p:nvSpPr>
          <p:spPr bwMode="auto">
            <a:xfrm>
              <a:off x="4312" y="658"/>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1" name="Rectangle 87"/>
            <p:cNvSpPr>
              <a:spLocks noChangeArrowheads="1"/>
            </p:cNvSpPr>
            <p:nvPr/>
          </p:nvSpPr>
          <p:spPr bwMode="auto">
            <a:xfrm>
              <a:off x="4320" y="658"/>
              <a:ext cx="6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12" name="Line 88"/>
            <p:cNvSpPr>
              <a:spLocks noChangeShapeType="1"/>
            </p:cNvSpPr>
            <p:nvPr/>
          </p:nvSpPr>
          <p:spPr bwMode="auto">
            <a:xfrm>
              <a:off x="4320" y="658"/>
              <a:ext cx="61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3" name="Rectangle 89"/>
            <p:cNvSpPr>
              <a:spLocks noChangeArrowheads="1"/>
            </p:cNvSpPr>
            <p:nvPr/>
          </p:nvSpPr>
          <p:spPr bwMode="auto">
            <a:xfrm>
              <a:off x="4937" y="658"/>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14" name="Line 90"/>
            <p:cNvSpPr>
              <a:spLocks noChangeShapeType="1"/>
            </p:cNvSpPr>
            <p:nvPr/>
          </p:nvSpPr>
          <p:spPr bwMode="auto">
            <a:xfrm>
              <a:off x="4937" y="65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5" name="Line 91"/>
            <p:cNvSpPr>
              <a:spLocks noChangeShapeType="1"/>
            </p:cNvSpPr>
            <p:nvPr/>
          </p:nvSpPr>
          <p:spPr bwMode="auto">
            <a:xfrm>
              <a:off x="4937" y="658"/>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6" name="Rectangle 92"/>
            <p:cNvSpPr>
              <a:spLocks noChangeArrowheads="1"/>
            </p:cNvSpPr>
            <p:nvPr/>
          </p:nvSpPr>
          <p:spPr bwMode="auto">
            <a:xfrm>
              <a:off x="3459" y="663"/>
              <a:ext cx="9" cy="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17" name="Line 93"/>
            <p:cNvSpPr>
              <a:spLocks noChangeShapeType="1"/>
            </p:cNvSpPr>
            <p:nvPr/>
          </p:nvSpPr>
          <p:spPr bwMode="auto">
            <a:xfrm>
              <a:off x="3459" y="663"/>
              <a:ext cx="1"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8" name="Rectangle 94"/>
            <p:cNvSpPr>
              <a:spLocks noChangeArrowheads="1"/>
            </p:cNvSpPr>
            <p:nvPr/>
          </p:nvSpPr>
          <p:spPr bwMode="auto">
            <a:xfrm>
              <a:off x="4312" y="663"/>
              <a:ext cx="8" cy="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19" name="Line 95"/>
            <p:cNvSpPr>
              <a:spLocks noChangeShapeType="1"/>
            </p:cNvSpPr>
            <p:nvPr/>
          </p:nvSpPr>
          <p:spPr bwMode="auto">
            <a:xfrm>
              <a:off x="4312" y="663"/>
              <a:ext cx="0"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20" name="Rectangle 96"/>
            <p:cNvSpPr>
              <a:spLocks noChangeArrowheads="1"/>
            </p:cNvSpPr>
            <p:nvPr/>
          </p:nvSpPr>
          <p:spPr bwMode="auto">
            <a:xfrm>
              <a:off x="4937" y="663"/>
              <a:ext cx="9" cy="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21" name="Line 97"/>
            <p:cNvSpPr>
              <a:spLocks noChangeShapeType="1"/>
            </p:cNvSpPr>
            <p:nvPr/>
          </p:nvSpPr>
          <p:spPr bwMode="auto">
            <a:xfrm>
              <a:off x="4937" y="663"/>
              <a:ext cx="0"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22" name="Rectangle 98"/>
            <p:cNvSpPr>
              <a:spLocks noChangeArrowheads="1"/>
            </p:cNvSpPr>
            <p:nvPr/>
          </p:nvSpPr>
          <p:spPr bwMode="auto">
            <a:xfrm>
              <a:off x="3567" y="845"/>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823" name="Rectangle 99"/>
            <p:cNvSpPr>
              <a:spLocks noChangeArrowheads="1"/>
            </p:cNvSpPr>
            <p:nvPr/>
          </p:nvSpPr>
          <p:spPr bwMode="auto">
            <a:xfrm>
              <a:off x="4419" y="845"/>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solidFill>
                    <a:srgbClr val="000000"/>
                  </a:solidFill>
                  <a:latin typeface="Times New Roman" panose="02020603050405020304" pitchFamily="18" charset="0"/>
                  <a:ea typeface="华文新魏" panose="02010800040101010101" pitchFamily="2" charset="-122"/>
                </a:rPr>
                <a:t> </a:t>
              </a:r>
              <a:endParaRPr lang="zh-CN" altLang="en-US">
                <a:latin typeface="Times New Roman" panose="02020603050405020304" pitchFamily="18" charset="0"/>
                <a:ea typeface="华文新魏" panose="02010800040101010101" pitchFamily="2" charset="-122"/>
              </a:endParaRPr>
            </a:p>
          </p:txBody>
        </p:sp>
        <p:sp>
          <p:nvSpPr>
            <p:cNvPr id="71824" name="Rectangle 100"/>
            <p:cNvSpPr>
              <a:spLocks noChangeArrowheads="1"/>
            </p:cNvSpPr>
            <p:nvPr/>
          </p:nvSpPr>
          <p:spPr bwMode="auto">
            <a:xfrm>
              <a:off x="3459" y="819"/>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25" name="Line 101"/>
            <p:cNvSpPr>
              <a:spLocks noChangeShapeType="1"/>
            </p:cNvSpPr>
            <p:nvPr/>
          </p:nvSpPr>
          <p:spPr bwMode="auto">
            <a:xfrm>
              <a:off x="3459" y="81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26" name="Line 102"/>
            <p:cNvSpPr>
              <a:spLocks noChangeShapeType="1"/>
            </p:cNvSpPr>
            <p:nvPr/>
          </p:nvSpPr>
          <p:spPr bwMode="auto">
            <a:xfrm>
              <a:off x="3459" y="819"/>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27" name="Rectangle 103"/>
            <p:cNvSpPr>
              <a:spLocks noChangeArrowheads="1"/>
            </p:cNvSpPr>
            <p:nvPr/>
          </p:nvSpPr>
          <p:spPr bwMode="auto">
            <a:xfrm>
              <a:off x="3468" y="819"/>
              <a:ext cx="84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28" name="Line 104"/>
            <p:cNvSpPr>
              <a:spLocks noChangeShapeType="1"/>
            </p:cNvSpPr>
            <p:nvPr/>
          </p:nvSpPr>
          <p:spPr bwMode="auto">
            <a:xfrm>
              <a:off x="3468" y="819"/>
              <a:ext cx="84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29" name="Rectangle 105"/>
            <p:cNvSpPr>
              <a:spLocks noChangeArrowheads="1"/>
            </p:cNvSpPr>
            <p:nvPr/>
          </p:nvSpPr>
          <p:spPr bwMode="auto">
            <a:xfrm>
              <a:off x="4312" y="819"/>
              <a:ext cx="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30" name="Line 106"/>
            <p:cNvSpPr>
              <a:spLocks noChangeShapeType="1"/>
            </p:cNvSpPr>
            <p:nvPr/>
          </p:nvSpPr>
          <p:spPr bwMode="auto">
            <a:xfrm>
              <a:off x="4312" y="819"/>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1" name="Line 107"/>
            <p:cNvSpPr>
              <a:spLocks noChangeShapeType="1"/>
            </p:cNvSpPr>
            <p:nvPr/>
          </p:nvSpPr>
          <p:spPr bwMode="auto">
            <a:xfrm>
              <a:off x="4312" y="8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2" name="Rectangle 108"/>
            <p:cNvSpPr>
              <a:spLocks noChangeArrowheads="1"/>
            </p:cNvSpPr>
            <p:nvPr/>
          </p:nvSpPr>
          <p:spPr bwMode="auto">
            <a:xfrm>
              <a:off x="4320" y="819"/>
              <a:ext cx="6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33" name="Line 109"/>
            <p:cNvSpPr>
              <a:spLocks noChangeShapeType="1"/>
            </p:cNvSpPr>
            <p:nvPr/>
          </p:nvSpPr>
          <p:spPr bwMode="auto">
            <a:xfrm>
              <a:off x="4320" y="819"/>
              <a:ext cx="61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4" name="Rectangle 110"/>
            <p:cNvSpPr>
              <a:spLocks noChangeArrowheads="1"/>
            </p:cNvSpPr>
            <p:nvPr/>
          </p:nvSpPr>
          <p:spPr bwMode="auto">
            <a:xfrm>
              <a:off x="4937" y="819"/>
              <a:ext cx="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35" name="Line 111"/>
            <p:cNvSpPr>
              <a:spLocks noChangeShapeType="1"/>
            </p:cNvSpPr>
            <p:nvPr/>
          </p:nvSpPr>
          <p:spPr bwMode="auto">
            <a:xfrm>
              <a:off x="4937" y="81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6" name="Line 112"/>
            <p:cNvSpPr>
              <a:spLocks noChangeShapeType="1"/>
            </p:cNvSpPr>
            <p:nvPr/>
          </p:nvSpPr>
          <p:spPr bwMode="auto">
            <a:xfrm>
              <a:off x="4937" y="8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7" name="Rectangle 113"/>
            <p:cNvSpPr>
              <a:spLocks noChangeArrowheads="1"/>
            </p:cNvSpPr>
            <p:nvPr/>
          </p:nvSpPr>
          <p:spPr bwMode="auto">
            <a:xfrm>
              <a:off x="3459" y="824"/>
              <a:ext cx="9" cy="1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38" name="Line 114"/>
            <p:cNvSpPr>
              <a:spLocks noChangeShapeType="1"/>
            </p:cNvSpPr>
            <p:nvPr/>
          </p:nvSpPr>
          <p:spPr bwMode="auto">
            <a:xfrm>
              <a:off x="3459" y="824"/>
              <a:ext cx="1" cy="1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9" name="Rectangle 115"/>
            <p:cNvSpPr>
              <a:spLocks noChangeArrowheads="1"/>
            </p:cNvSpPr>
            <p:nvPr/>
          </p:nvSpPr>
          <p:spPr bwMode="auto">
            <a:xfrm>
              <a:off x="4312" y="824"/>
              <a:ext cx="8" cy="1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40" name="Line 116"/>
            <p:cNvSpPr>
              <a:spLocks noChangeShapeType="1"/>
            </p:cNvSpPr>
            <p:nvPr/>
          </p:nvSpPr>
          <p:spPr bwMode="auto">
            <a:xfrm>
              <a:off x="4312" y="824"/>
              <a:ext cx="0" cy="1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41" name="Rectangle 117"/>
            <p:cNvSpPr>
              <a:spLocks noChangeArrowheads="1"/>
            </p:cNvSpPr>
            <p:nvPr/>
          </p:nvSpPr>
          <p:spPr bwMode="auto">
            <a:xfrm>
              <a:off x="4937" y="824"/>
              <a:ext cx="9" cy="1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42" name="Line 118"/>
            <p:cNvSpPr>
              <a:spLocks noChangeShapeType="1"/>
            </p:cNvSpPr>
            <p:nvPr/>
          </p:nvSpPr>
          <p:spPr bwMode="auto">
            <a:xfrm>
              <a:off x="4937" y="824"/>
              <a:ext cx="0" cy="1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43" name="Rectangle 119"/>
            <p:cNvSpPr>
              <a:spLocks noChangeArrowheads="1"/>
            </p:cNvSpPr>
            <p:nvPr/>
          </p:nvSpPr>
          <p:spPr bwMode="auto">
            <a:xfrm>
              <a:off x="3198" y="41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1</a:t>
              </a:r>
              <a:endParaRPr lang="en-US" altLang="zh-CN" sz="1400" b="1">
                <a:latin typeface="Times New Roman" panose="02020603050405020304" pitchFamily="18" charset="0"/>
                <a:ea typeface="华文新魏" panose="02010800040101010101" pitchFamily="2" charset="-122"/>
              </a:endParaRPr>
            </a:p>
          </p:txBody>
        </p:sp>
        <p:sp>
          <p:nvSpPr>
            <p:cNvPr id="71844" name="Rectangle 120"/>
            <p:cNvSpPr>
              <a:spLocks noChangeArrowheads="1"/>
            </p:cNvSpPr>
            <p:nvPr/>
          </p:nvSpPr>
          <p:spPr bwMode="auto">
            <a:xfrm>
              <a:off x="3198" y="53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2</a:t>
              </a:r>
              <a:endParaRPr lang="en-US" altLang="zh-CN" sz="1400" b="1">
                <a:latin typeface="Times New Roman" panose="02020603050405020304" pitchFamily="18" charset="0"/>
                <a:ea typeface="华文新魏" panose="02010800040101010101" pitchFamily="2" charset="-122"/>
              </a:endParaRPr>
            </a:p>
          </p:txBody>
        </p:sp>
        <p:sp>
          <p:nvSpPr>
            <p:cNvPr id="71845" name="Rectangle 121"/>
            <p:cNvSpPr>
              <a:spLocks noChangeArrowheads="1"/>
            </p:cNvSpPr>
            <p:nvPr/>
          </p:nvSpPr>
          <p:spPr bwMode="auto">
            <a:xfrm>
              <a:off x="3198" y="65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3</a:t>
              </a:r>
              <a:endParaRPr lang="en-US" altLang="zh-CN" sz="1400" b="1">
                <a:latin typeface="Times New Roman" panose="02020603050405020304" pitchFamily="18" charset="0"/>
                <a:ea typeface="华文新魏" panose="02010800040101010101" pitchFamily="2" charset="-122"/>
              </a:endParaRPr>
            </a:p>
          </p:txBody>
        </p:sp>
        <p:sp>
          <p:nvSpPr>
            <p:cNvPr id="71846" name="Rectangle 122"/>
            <p:cNvSpPr>
              <a:spLocks noChangeArrowheads="1"/>
            </p:cNvSpPr>
            <p:nvPr/>
          </p:nvSpPr>
          <p:spPr bwMode="auto">
            <a:xfrm>
              <a:off x="3198" y="77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b="1">
                  <a:solidFill>
                    <a:srgbClr val="000000"/>
                  </a:solidFill>
                  <a:latin typeface="Times New Roman" panose="02020603050405020304" pitchFamily="18" charset="0"/>
                  <a:ea typeface="华文新魏" panose="02010800040101010101" pitchFamily="2" charset="-122"/>
                </a:rPr>
                <a:t>4</a:t>
              </a:r>
              <a:endParaRPr lang="en-US" altLang="zh-CN" sz="1400" b="1">
                <a:latin typeface="Times New Roman" panose="02020603050405020304" pitchFamily="18" charset="0"/>
                <a:ea typeface="华文新魏" panose="02010800040101010101" pitchFamily="2" charset="-122"/>
              </a:endParaRPr>
            </a:p>
          </p:txBody>
        </p:sp>
      </p:grpSp>
      <p:sp>
        <p:nvSpPr>
          <p:cNvPr id="71689" name="Rectangle 124"/>
          <p:cNvSpPr>
            <a:spLocks noChangeArrowheads="1"/>
          </p:cNvSpPr>
          <p:nvPr/>
        </p:nvSpPr>
        <p:spPr bwMode="auto">
          <a:xfrm>
            <a:off x="498475" y="1323975"/>
            <a:ext cx="42179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a:solidFill>
                  <a:srgbClr val="000000"/>
                </a:solidFill>
                <a:latin typeface="Times New Roman" panose="02020603050405020304" pitchFamily="18" charset="0"/>
                <a:ea typeface="华文新魏" panose="02010800040101010101" pitchFamily="2" charset="-122"/>
              </a:rPr>
              <a:t>position:= initial + rate * 60</a:t>
            </a:r>
            <a:endParaRPr lang="en-US" altLang="zh-CN" sz="2400">
              <a:latin typeface="Times New Roman" panose="02020603050405020304" pitchFamily="18" charset="0"/>
              <a:ea typeface="华文新魏" panose="02010800040101010101" pitchFamily="2" charset="-122"/>
            </a:endParaRPr>
          </a:p>
        </p:txBody>
      </p:sp>
      <p:sp>
        <p:nvSpPr>
          <p:cNvPr id="71690" name="Rectangle 127"/>
          <p:cNvSpPr>
            <a:spLocks noChangeArrowheads="1"/>
          </p:cNvSpPr>
          <p:nvPr/>
        </p:nvSpPr>
        <p:spPr bwMode="auto">
          <a:xfrm>
            <a:off x="1231900" y="1916113"/>
            <a:ext cx="1871663" cy="2841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Times New Roman" panose="02020603050405020304" pitchFamily="18" charset="0"/>
                <a:ea typeface="华文新魏" panose="02010800040101010101" pitchFamily="2" charset="-122"/>
              </a:rPr>
              <a:t>词法分析器</a:t>
            </a:r>
            <a:endParaRPr lang="zh-CN" altLang="en-US" sz="1600">
              <a:latin typeface="Times New Roman" panose="02020603050405020304" pitchFamily="18" charset="0"/>
              <a:ea typeface="华文新魏" panose="02010800040101010101" pitchFamily="2" charset="-122"/>
            </a:endParaRPr>
          </a:p>
        </p:txBody>
      </p:sp>
      <p:grpSp>
        <p:nvGrpSpPr>
          <p:cNvPr id="71691" name="Group 165"/>
          <p:cNvGrpSpPr>
            <a:grpSpLocks/>
          </p:cNvGrpSpPr>
          <p:nvPr/>
        </p:nvGrpSpPr>
        <p:grpSpPr bwMode="auto">
          <a:xfrm>
            <a:off x="1116013" y="2193925"/>
            <a:ext cx="2108200" cy="619125"/>
            <a:chOff x="612" y="1382"/>
            <a:chExt cx="1419" cy="390"/>
          </a:xfrm>
        </p:grpSpPr>
        <p:sp>
          <p:nvSpPr>
            <p:cNvPr id="71743" name="Text Box 126"/>
            <p:cNvSpPr txBox="1">
              <a:spLocks noChangeArrowheads="1"/>
            </p:cNvSpPr>
            <p:nvPr/>
          </p:nvSpPr>
          <p:spPr bwMode="auto">
            <a:xfrm>
              <a:off x="612" y="1500"/>
              <a:ext cx="1419" cy="272"/>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1</a:t>
              </a:r>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2</a:t>
              </a:r>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3</a:t>
              </a:r>
              <a:r>
                <a:rPr lang="en-US" altLang="zh-CN" b="1">
                  <a:latin typeface="Times New Roman" panose="02020603050405020304" pitchFamily="18" charset="0"/>
                  <a:ea typeface="华文新魏" panose="02010800040101010101" pitchFamily="2" charset="-122"/>
                </a:rPr>
                <a:t>*60</a:t>
              </a:r>
              <a:endParaRPr lang="en-US" altLang="zh-CN">
                <a:latin typeface="Times New Roman" panose="02020603050405020304" pitchFamily="18" charset="0"/>
                <a:ea typeface="华文新魏" panose="02010800040101010101" pitchFamily="2" charset="-122"/>
              </a:endParaRPr>
            </a:p>
          </p:txBody>
        </p:sp>
        <p:sp>
          <p:nvSpPr>
            <p:cNvPr id="71744" name="Line 158"/>
            <p:cNvSpPr>
              <a:spLocks noChangeShapeType="1"/>
            </p:cNvSpPr>
            <p:nvPr/>
          </p:nvSpPr>
          <p:spPr bwMode="auto">
            <a:xfrm>
              <a:off x="1333" y="1382"/>
              <a:ext cx="1" cy="11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92" name="Group 166"/>
          <p:cNvGrpSpPr>
            <a:grpSpLocks/>
          </p:cNvGrpSpPr>
          <p:nvPr/>
        </p:nvGrpSpPr>
        <p:grpSpPr bwMode="auto">
          <a:xfrm>
            <a:off x="1214438" y="2784475"/>
            <a:ext cx="1871662" cy="407988"/>
            <a:chOff x="765" y="1754"/>
            <a:chExt cx="1179" cy="257"/>
          </a:xfrm>
        </p:grpSpPr>
        <p:sp>
          <p:nvSpPr>
            <p:cNvPr id="71741" name="Rectangle 128"/>
            <p:cNvSpPr>
              <a:spLocks noChangeArrowheads="1"/>
            </p:cNvSpPr>
            <p:nvPr/>
          </p:nvSpPr>
          <p:spPr bwMode="auto">
            <a:xfrm>
              <a:off x="765" y="1850"/>
              <a:ext cx="1179" cy="16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Times New Roman" panose="02020603050405020304" pitchFamily="18" charset="0"/>
                  <a:ea typeface="华文新魏" panose="02010800040101010101" pitchFamily="2" charset="-122"/>
                </a:rPr>
                <a:t>语法分析器</a:t>
              </a:r>
              <a:endParaRPr lang="zh-CN" altLang="en-US" sz="1600">
                <a:latin typeface="Times New Roman" panose="02020603050405020304" pitchFamily="18" charset="0"/>
                <a:ea typeface="华文新魏" panose="02010800040101010101" pitchFamily="2" charset="-122"/>
              </a:endParaRPr>
            </a:p>
          </p:txBody>
        </p:sp>
        <p:sp>
          <p:nvSpPr>
            <p:cNvPr id="71742" name="Line 159"/>
            <p:cNvSpPr>
              <a:spLocks noChangeShapeType="1"/>
            </p:cNvSpPr>
            <p:nvPr/>
          </p:nvSpPr>
          <p:spPr bwMode="auto">
            <a:xfrm>
              <a:off x="1322" y="1754"/>
              <a:ext cx="0" cy="11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93" name="Group 168"/>
          <p:cNvGrpSpPr>
            <a:grpSpLocks/>
          </p:cNvGrpSpPr>
          <p:nvPr/>
        </p:nvGrpSpPr>
        <p:grpSpPr bwMode="auto">
          <a:xfrm>
            <a:off x="1343025" y="4005263"/>
            <a:ext cx="1779588" cy="592137"/>
            <a:chOff x="846" y="2605"/>
            <a:chExt cx="1121" cy="373"/>
          </a:xfrm>
        </p:grpSpPr>
        <p:sp>
          <p:nvSpPr>
            <p:cNvPr id="71739" name="Rectangle 129"/>
            <p:cNvSpPr>
              <a:spLocks noChangeArrowheads="1"/>
            </p:cNvSpPr>
            <p:nvPr/>
          </p:nvSpPr>
          <p:spPr bwMode="auto">
            <a:xfrm>
              <a:off x="846" y="2818"/>
              <a:ext cx="1121" cy="1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Times New Roman" panose="02020603050405020304" pitchFamily="18" charset="0"/>
                  <a:ea typeface="华文新魏" panose="02010800040101010101" pitchFamily="2" charset="-122"/>
                </a:rPr>
                <a:t>语义分析器</a:t>
              </a:r>
              <a:endParaRPr lang="zh-CN" altLang="en-US" sz="1600">
                <a:latin typeface="Times New Roman" panose="02020603050405020304" pitchFamily="18" charset="0"/>
                <a:ea typeface="华文新魏" panose="02010800040101010101" pitchFamily="2" charset="-122"/>
              </a:endParaRPr>
            </a:p>
          </p:txBody>
        </p:sp>
        <p:sp>
          <p:nvSpPr>
            <p:cNvPr id="71740" name="Line 160"/>
            <p:cNvSpPr>
              <a:spLocks noChangeShapeType="1"/>
            </p:cNvSpPr>
            <p:nvPr/>
          </p:nvSpPr>
          <p:spPr bwMode="auto">
            <a:xfrm flipH="1">
              <a:off x="1392" y="2605"/>
              <a:ext cx="11" cy="2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94" name="Group 167"/>
          <p:cNvGrpSpPr>
            <a:grpSpLocks/>
          </p:cNvGrpSpPr>
          <p:nvPr/>
        </p:nvGrpSpPr>
        <p:grpSpPr bwMode="auto">
          <a:xfrm>
            <a:off x="900113" y="3200400"/>
            <a:ext cx="4105275" cy="1179513"/>
            <a:chOff x="567" y="2016"/>
            <a:chExt cx="2586" cy="743"/>
          </a:xfrm>
        </p:grpSpPr>
        <p:grpSp>
          <p:nvGrpSpPr>
            <p:cNvPr id="71724" name="Group 131"/>
            <p:cNvGrpSpPr>
              <a:grpSpLocks/>
            </p:cNvGrpSpPr>
            <p:nvPr/>
          </p:nvGrpSpPr>
          <p:grpSpPr bwMode="auto">
            <a:xfrm>
              <a:off x="567" y="2047"/>
              <a:ext cx="2586" cy="712"/>
              <a:chOff x="7712" y="7895"/>
              <a:chExt cx="3334" cy="1179"/>
            </a:xfrm>
          </p:grpSpPr>
          <p:sp>
            <p:nvSpPr>
              <p:cNvPr id="71726" name="Rectangle 132"/>
              <p:cNvSpPr>
                <a:spLocks noChangeArrowheads="1"/>
              </p:cNvSpPr>
              <p:nvPr/>
            </p:nvSpPr>
            <p:spPr bwMode="auto">
              <a:xfrm>
                <a:off x="8557" y="7895"/>
                <a:ext cx="27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ea typeface="华文新魏" panose="02010800040101010101" pitchFamily="2" charset="-122"/>
                  </a:rPr>
                  <a:t>:=</a:t>
                </a:r>
              </a:p>
            </p:txBody>
          </p:sp>
          <p:sp>
            <p:nvSpPr>
              <p:cNvPr id="71727" name="Rectangle 133"/>
              <p:cNvSpPr>
                <a:spLocks noChangeArrowheads="1"/>
              </p:cNvSpPr>
              <p:nvPr/>
            </p:nvSpPr>
            <p:spPr bwMode="auto">
              <a:xfrm>
                <a:off x="9271" y="8269"/>
                <a:ext cx="10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ea typeface="华文新魏" panose="02010800040101010101" pitchFamily="2" charset="-122"/>
                  </a:rPr>
                  <a:t>+</a:t>
                </a:r>
              </a:p>
            </p:txBody>
          </p:sp>
          <p:sp>
            <p:nvSpPr>
              <p:cNvPr id="71728" name="Rectangle 134"/>
              <p:cNvSpPr>
                <a:spLocks noChangeArrowheads="1"/>
              </p:cNvSpPr>
              <p:nvPr/>
            </p:nvSpPr>
            <p:spPr bwMode="auto">
              <a:xfrm>
                <a:off x="10106" y="8586"/>
                <a:ext cx="9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a:latin typeface="Times New Roman" panose="02020603050405020304" pitchFamily="18" charset="0"/>
                    <a:ea typeface="华文新魏" panose="02010800040101010101" pitchFamily="2" charset="-122"/>
                  </a:rPr>
                  <a:t>*</a:t>
                </a:r>
              </a:p>
            </p:txBody>
          </p:sp>
          <p:sp>
            <p:nvSpPr>
              <p:cNvPr id="71729" name="Rectangle 135"/>
              <p:cNvSpPr>
                <a:spLocks noChangeArrowheads="1"/>
              </p:cNvSpPr>
              <p:nvPr/>
            </p:nvSpPr>
            <p:spPr bwMode="auto">
              <a:xfrm>
                <a:off x="7712" y="8271"/>
                <a:ext cx="40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1</a:t>
                </a:r>
                <a:endParaRPr lang="en-US" altLang="zh-CN">
                  <a:latin typeface="Times New Roman" panose="02020603050405020304" pitchFamily="18" charset="0"/>
                  <a:ea typeface="华文新魏" panose="02010800040101010101" pitchFamily="2" charset="-122"/>
                </a:endParaRPr>
              </a:p>
            </p:txBody>
          </p:sp>
          <p:sp>
            <p:nvSpPr>
              <p:cNvPr id="71730" name="Rectangle 136"/>
              <p:cNvSpPr>
                <a:spLocks noChangeArrowheads="1"/>
              </p:cNvSpPr>
              <p:nvPr/>
            </p:nvSpPr>
            <p:spPr bwMode="auto">
              <a:xfrm>
                <a:off x="8420" y="8592"/>
                <a:ext cx="40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2</a:t>
                </a:r>
                <a:endParaRPr lang="en-US" altLang="zh-CN">
                  <a:latin typeface="Times New Roman" panose="02020603050405020304" pitchFamily="18" charset="0"/>
                  <a:ea typeface="华文新魏" panose="02010800040101010101" pitchFamily="2" charset="-122"/>
                </a:endParaRPr>
              </a:p>
            </p:txBody>
          </p:sp>
          <p:sp>
            <p:nvSpPr>
              <p:cNvPr id="71731" name="Rectangle 137"/>
              <p:cNvSpPr>
                <a:spLocks noChangeArrowheads="1"/>
              </p:cNvSpPr>
              <p:nvPr/>
            </p:nvSpPr>
            <p:spPr bwMode="auto">
              <a:xfrm>
                <a:off x="9393" y="8788"/>
                <a:ext cx="40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3</a:t>
                </a:r>
                <a:endParaRPr lang="en-US" altLang="zh-CN">
                  <a:latin typeface="Times New Roman" panose="02020603050405020304" pitchFamily="18" charset="0"/>
                  <a:ea typeface="华文新魏" panose="02010800040101010101" pitchFamily="2" charset="-122"/>
                </a:endParaRPr>
              </a:p>
            </p:txBody>
          </p:sp>
          <p:sp>
            <p:nvSpPr>
              <p:cNvPr id="71732" name="Rectangle 138"/>
              <p:cNvSpPr>
                <a:spLocks noChangeArrowheads="1"/>
              </p:cNvSpPr>
              <p:nvPr/>
            </p:nvSpPr>
            <p:spPr bwMode="auto">
              <a:xfrm>
                <a:off x="10637" y="8788"/>
                <a:ext cx="40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60</a:t>
                </a:r>
                <a:endParaRPr lang="en-US" altLang="zh-CN">
                  <a:latin typeface="Times New Roman" panose="02020603050405020304" pitchFamily="18" charset="0"/>
                  <a:ea typeface="华文新魏" panose="02010800040101010101" pitchFamily="2" charset="-122"/>
                </a:endParaRPr>
              </a:p>
            </p:txBody>
          </p:sp>
          <p:sp>
            <p:nvSpPr>
              <p:cNvPr id="71733" name="Line 139"/>
              <p:cNvSpPr>
                <a:spLocks noChangeShapeType="1"/>
              </p:cNvSpPr>
              <p:nvPr/>
            </p:nvSpPr>
            <p:spPr bwMode="auto">
              <a:xfrm flipV="1">
                <a:off x="9615" y="8760"/>
                <a:ext cx="480"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4" name="Line 140"/>
              <p:cNvSpPr>
                <a:spLocks noChangeShapeType="1"/>
              </p:cNvSpPr>
              <p:nvPr/>
            </p:nvSpPr>
            <p:spPr bwMode="auto">
              <a:xfrm>
                <a:off x="10185" y="8745"/>
                <a:ext cx="495"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5" name="Line 141"/>
              <p:cNvSpPr>
                <a:spLocks noChangeShapeType="1"/>
              </p:cNvSpPr>
              <p:nvPr/>
            </p:nvSpPr>
            <p:spPr bwMode="auto">
              <a:xfrm flipV="1">
                <a:off x="8610" y="8430"/>
                <a:ext cx="675" cy="1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6" name="Line 142"/>
              <p:cNvSpPr>
                <a:spLocks noChangeShapeType="1"/>
              </p:cNvSpPr>
              <p:nvPr/>
            </p:nvSpPr>
            <p:spPr bwMode="auto">
              <a:xfrm>
                <a:off x="9390" y="8415"/>
                <a:ext cx="720" cy="2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7" name="Line 143"/>
              <p:cNvSpPr>
                <a:spLocks noChangeShapeType="1"/>
              </p:cNvSpPr>
              <p:nvPr/>
            </p:nvSpPr>
            <p:spPr bwMode="auto">
              <a:xfrm flipV="1">
                <a:off x="7905" y="8100"/>
                <a:ext cx="615" cy="2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8" name="Line 144"/>
              <p:cNvSpPr>
                <a:spLocks noChangeShapeType="1"/>
              </p:cNvSpPr>
              <p:nvPr/>
            </p:nvSpPr>
            <p:spPr bwMode="auto">
              <a:xfrm>
                <a:off x="8790" y="8070"/>
                <a:ext cx="510"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725" name="Line 161"/>
            <p:cNvSpPr>
              <a:spLocks noChangeShapeType="1"/>
            </p:cNvSpPr>
            <p:nvPr/>
          </p:nvSpPr>
          <p:spPr bwMode="auto">
            <a:xfrm>
              <a:off x="1322" y="2016"/>
              <a:ext cx="0" cy="1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695" name="Group 179"/>
          <p:cNvGrpSpPr>
            <a:grpSpLocks/>
          </p:cNvGrpSpPr>
          <p:nvPr/>
        </p:nvGrpSpPr>
        <p:grpSpPr bwMode="auto">
          <a:xfrm>
            <a:off x="992188" y="4581525"/>
            <a:ext cx="4300537" cy="2070100"/>
            <a:chOff x="625" y="3013"/>
            <a:chExt cx="2709" cy="1085"/>
          </a:xfrm>
        </p:grpSpPr>
        <p:grpSp>
          <p:nvGrpSpPr>
            <p:cNvPr id="71706" name="Group 169"/>
            <p:cNvGrpSpPr>
              <a:grpSpLocks/>
            </p:cNvGrpSpPr>
            <p:nvPr/>
          </p:nvGrpSpPr>
          <p:grpSpPr bwMode="auto">
            <a:xfrm>
              <a:off x="1322" y="3013"/>
              <a:ext cx="523" cy="480"/>
              <a:chOff x="1322" y="3013"/>
              <a:chExt cx="523" cy="480"/>
            </a:xfrm>
          </p:grpSpPr>
          <p:sp>
            <p:nvSpPr>
              <p:cNvPr id="71722" name="Line 154"/>
              <p:cNvSpPr>
                <a:spLocks noChangeShapeType="1"/>
              </p:cNvSpPr>
              <p:nvPr/>
            </p:nvSpPr>
            <p:spPr bwMode="auto">
              <a:xfrm flipV="1">
                <a:off x="1322" y="3375"/>
                <a:ext cx="523" cy="1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3" name="Line 162"/>
              <p:cNvSpPr>
                <a:spLocks noChangeShapeType="1"/>
              </p:cNvSpPr>
              <p:nvPr/>
            </p:nvSpPr>
            <p:spPr bwMode="auto">
              <a:xfrm>
                <a:off x="1368" y="3013"/>
                <a:ext cx="1" cy="1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1707" name="Group 178"/>
            <p:cNvGrpSpPr>
              <a:grpSpLocks/>
            </p:cNvGrpSpPr>
            <p:nvPr/>
          </p:nvGrpSpPr>
          <p:grpSpPr bwMode="auto">
            <a:xfrm>
              <a:off x="625" y="3052"/>
              <a:ext cx="2709" cy="1046"/>
              <a:chOff x="625" y="3052"/>
              <a:chExt cx="2709" cy="1046"/>
            </a:xfrm>
          </p:grpSpPr>
          <p:sp>
            <p:nvSpPr>
              <p:cNvPr id="71708" name="Rectangle 130"/>
              <p:cNvSpPr>
                <a:spLocks noChangeArrowheads="1"/>
              </p:cNvSpPr>
              <p:nvPr/>
            </p:nvSpPr>
            <p:spPr bwMode="auto">
              <a:xfrm>
                <a:off x="2595" y="3653"/>
                <a:ext cx="739"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inttoreal</a:t>
                </a:r>
                <a:endParaRPr lang="en-US" altLang="zh-CN">
                  <a:latin typeface="Times New Roman" panose="02020603050405020304" pitchFamily="18" charset="0"/>
                  <a:ea typeface="华文新魏" panose="02010800040101010101" pitchFamily="2" charset="-122"/>
                </a:endParaRPr>
              </a:p>
            </p:txBody>
          </p:sp>
          <p:sp>
            <p:nvSpPr>
              <p:cNvPr id="71709" name="Rectangle 145"/>
              <p:cNvSpPr>
                <a:spLocks noChangeArrowheads="1"/>
              </p:cNvSpPr>
              <p:nvPr/>
            </p:nvSpPr>
            <p:spPr bwMode="auto">
              <a:xfrm>
                <a:off x="1280" y="3052"/>
                <a:ext cx="21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ea typeface="华文新魏" panose="02010800040101010101" pitchFamily="2" charset="-122"/>
                  </a:rPr>
                  <a:t>:=</a:t>
                </a:r>
              </a:p>
            </p:txBody>
          </p:sp>
          <p:sp>
            <p:nvSpPr>
              <p:cNvPr id="71710" name="Rectangle 146"/>
              <p:cNvSpPr>
                <a:spLocks noChangeArrowheads="1"/>
              </p:cNvSpPr>
              <p:nvPr/>
            </p:nvSpPr>
            <p:spPr bwMode="auto">
              <a:xfrm>
                <a:off x="1836" y="3278"/>
                <a:ext cx="8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ea typeface="华文新魏" panose="02010800040101010101" pitchFamily="2" charset="-122"/>
                  </a:rPr>
                  <a:t>+</a:t>
                </a:r>
              </a:p>
            </p:txBody>
          </p:sp>
          <p:sp>
            <p:nvSpPr>
              <p:cNvPr id="71711" name="Rectangle 147"/>
              <p:cNvSpPr>
                <a:spLocks noChangeArrowheads="1"/>
              </p:cNvSpPr>
              <p:nvPr/>
            </p:nvSpPr>
            <p:spPr bwMode="auto">
              <a:xfrm>
                <a:off x="2481" y="3468"/>
                <a:ext cx="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a:latin typeface="Times New Roman" panose="02020603050405020304" pitchFamily="18" charset="0"/>
                    <a:ea typeface="华文新魏" panose="02010800040101010101" pitchFamily="2" charset="-122"/>
                  </a:rPr>
                  <a:t>*</a:t>
                </a:r>
              </a:p>
            </p:txBody>
          </p:sp>
          <p:sp>
            <p:nvSpPr>
              <p:cNvPr id="71712" name="Rectangle 148"/>
              <p:cNvSpPr>
                <a:spLocks noChangeArrowheads="1"/>
              </p:cNvSpPr>
              <p:nvPr/>
            </p:nvSpPr>
            <p:spPr bwMode="auto">
              <a:xfrm>
                <a:off x="625" y="3278"/>
                <a:ext cx="31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1</a:t>
                </a:r>
                <a:endParaRPr lang="en-US" altLang="zh-CN">
                  <a:latin typeface="Times New Roman" panose="02020603050405020304" pitchFamily="18" charset="0"/>
                  <a:ea typeface="华文新魏" panose="02010800040101010101" pitchFamily="2" charset="-122"/>
                </a:endParaRPr>
              </a:p>
            </p:txBody>
          </p:sp>
          <p:sp>
            <p:nvSpPr>
              <p:cNvPr id="71713" name="Rectangle 149"/>
              <p:cNvSpPr>
                <a:spLocks noChangeArrowheads="1"/>
              </p:cNvSpPr>
              <p:nvPr/>
            </p:nvSpPr>
            <p:spPr bwMode="auto">
              <a:xfrm>
                <a:off x="1174" y="3474"/>
                <a:ext cx="3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2</a:t>
                </a:r>
                <a:endParaRPr lang="en-US" altLang="zh-CN">
                  <a:latin typeface="Times New Roman" panose="02020603050405020304" pitchFamily="18" charset="0"/>
                  <a:ea typeface="华文新魏" panose="02010800040101010101" pitchFamily="2" charset="-122"/>
                </a:endParaRPr>
              </a:p>
            </p:txBody>
          </p:sp>
          <p:sp>
            <p:nvSpPr>
              <p:cNvPr id="71714" name="Rectangle 150"/>
              <p:cNvSpPr>
                <a:spLocks noChangeArrowheads="1"/>
              </p:cNvSpPr>
              <p:nvPr/>
            </p:nvSpPr>
            <p:spPr bwMode="auto">
              <a:xfrm>
                <a:off x="1930" y="3592"/>
                <a:ext cx="3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a:latin typeface="Times New Roman" panose="02020603050405020304" pitchFamily="18" charset="0"/>
                    <a:ea typeface="华文新魏" panose="02010800040101010101" pitchFamily="2" charset="-122"/>
                  </a:rPr>
                  <a:t>id</a:t>
                </a:r>
                <a:r>
                  <a:rPr lang="en-US" altLang="zh-CN" b="1" baseline="-25000">
                    <a:latin typeface="Times New Roman" panose="02020603050405020304" pitchFamily="18" charset="0"/>
                    <a:ea typeface="华文新魏" panose="02010800040101010101" pitchFamily="2" charset="-122"/>
                  </a:rPr>
                  <a:t>3</a:t>
                </a:r>
                <a:endParaRPr lang="en-US" altLang="zh-CN">
                  <a:latin typeface="Times New Roman" panose="02020603050405020304" pitchFamily="18" charset="0"/>
                  <a:ea typeface="华文新魏" panose="02010800040101010101" pitchFamily="2" charset="-122"/>
                </a:endParaRPr>
              </a:p>
            </p:txBody>
          </p:sp>
          <p:sp>
            <p:nvSpPr>
              <p:cNvPr id="71715" name="Rectangle 151"/>
              <p:cNvSpPr>
                <a:spLocks noChangeArrowheads="1"/>
              </p:cNvSpPr>
              <p:nvPr/>
            </p:nvSpPr>
            <p:spPr bwMode="auto">
              <a:xfrm>
                <a:off x="2815" y="3954"/>
                <a:ext cx="3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ea typeface="华文新魏" panose="02010800040101010101" pitchFamily="2" charset="-122"/>
                  </a:rPr>
                  <a:t>60</a:t>
                </a:r>
                <a:endParaRPr lang="en-US" altLang="zh-CN">
                  <a:latin typeface="Times New Roman" panose="02020603050405020304" pitchFamily="18" charset="0"/>
                  <a:ea typeface="华文新魏" panose="02010800040101010101" pitchFamily="2" charset="-122"/>
                </a:endParaRPr>
              </a:p>
            </p:txBody>
          </p:sp>
          <p:sp>
            <p:nvSpPr>
              <p:cNvPr id="71716" name="Line 152"/>
              <p:cNvSpPr>
                <a:spLocks noChangeShapeType="1"/>
              </p:cNvSpPr>
              <p:nvPr/>
            </p:nvSpPr>
            <p:spPr bwMode="auto">
              <a:xfrm flipV="1">
                <a:off x="2101" y="3575"/>
                <a:ext cx="372" cy="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7" name="Line 153"/>
              <p:cNvSpPr>
                <a:spLocks noChangeShapeType="1"/>
              </p:cNvSpPr>
              <p:nvPr/>
            </p:nvSpPr>
            <p:spPr bwMode="auto">
              <a:xfrm>
                <a:off x="2543" y="3566"/>
                <a:ext cx="384"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8" name="Line 155"/>
              <p:cNvSpPr>
                <a:spLocks noChangeShapeType="1"/>
              </p:cNvSpPr>
              <p:nvPr/>
            </p:nvSpPr>
            <p:spPr bwMode="auto">
              <a:xfrm>
                <a:off x="1926" y="3366"/>
                <a:ext cx="559" cy="1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9" name="Line 156"/>
              <p:cNvSpPr>
                <a:spLocks noChangeShapeType="1"/>
              </p:cNvSpPr>
              <p:nvPr/>
            </p:nvSpPr>
            <p:spPr bwMode="auto">
              <a:xfrm flipV="1">
                <a:off x="775" y="3176"/>
                <a:ext cx="477" cy="1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0" name="Line 157"/>
              <p:cNvSpPr>
                <a:spLocks noChangeShapeType="1"/>
              </p:cNvSpPr>
              <p:nvPr/>
            </p:nvSpPr>
            <p:spPr bwMode="auto">
              <a:xfrm>
                <a:off x="1461" y="3158"/>
                <a:ext cx="396"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1" name="Line 163"/>
              <p:cNvSpPr>
                <a:spLocks noChangeShapeType="1"/>
              </p:cNvSpPr>
              <p:nvPr/>
            </p:nvSpPr>
            <p:spPr bwMode="auto">
              <a:xfrm>
                <a:off x="2950" y="3810"/>
                <a:ext cx="1"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1696" name="Group 170"/>
          <p:cNvGrpSpPr>
            <a:grpSpLocks/>
          </p:cNvGrpSpPr>
          <p:nvPr/>
        </p:nvGrpSpPr>
        <p:grpSpPr bwMode="auto">
          <a:xfrm>
            <a:off x="2555875" y="1412875"/>
            <a:ext cx="5256213" cy="5256213"/>
            <a:chOff x="1610" y="1018"/>
            <a:chExt cx="3314" cy="3183"/>
          </a:xfrm>
        </p:grpSpPr>
        <p:sp>
          <p:nvSpPr>
            <p:cNvPr id="71704" name="Rectangle 8"/>
            <p:cNvSpPr>
              <a:spLocks noChangeArrowheads="1"/>
            </p:cNvSpPr>
            <p:nvPr/>
          </p:nvSpPr>
          <p:spPr bwMode="auto">
            <a:xfrm>
              <a:off x="3937" y="1344"/>
              <a:ext cx="987" cy="1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000000"/>
                  </a:solidFill>
                  <a:latin typeface="Times New Roman" panose="02020603050405020304" pitchFamily="18" charset="0"/>
                  <a:ea typeface="华文新魏" panose="02010800040101010101" pitchFamily="2" charset="-122"/>
                </a:rPr>
                <a:t>中间代码生成器</a:t>
              </a:r>
              <a:endParaRPr lang="zh-CN" altLang="en-US" sz="1400">
                <a:latin typeface="Times New Roman" panose="02020603050405020304" pitchFamily="18" charset="0"/>
                <a:ea typeface="华文新魏" panose="02010800040101010101" pitchFamily="2" charset="-122"/>
              </a:endParaRPr>
            </a:p>
          </p:txBody>
        </p:sp>
        <p:sp>
          <p:nvSpPr>
            <p:cNvPr id="71705" name="Freeform 164"/>
            <p:cNvSpPr>
              <a:spLocks/>
            </p:cNvSpPr>
            <p:nvPr/>
          </p:nvSpPr>
          <p:spPr bwMode="auto">
            <a:xfrm>
              <a:off x="1610" y="1018"/>
              <a:ext cx="2827" cy="3183"/>
            </a:xfrm>
            <a:custGeom>
              <a:avLst/>
              <a:gdLst>
                <a:gd name="T0" fmla="*/ 0 w 3054"/>
                <a:gd name="T1" fmla="*/ 2612 h 3161"/>
                <a:gd name="T2" fmla="*/ 294 w 3054"/>
                <a:gd name="T3" fmla="*/ 3023 h 3161"/>
                <a:gd name="T4" fmla="*/ 882 w 3054"/>
                <a:gd name="T5" fmla="*/ 3160 h 3161"/>
                <a:gd name="T6" fmla="*/ 1553 w 3054"/>
                <a:gd name="T7" fmla="*/ 3160 h 3161"/>
                <a:gd name="T8" fmla="*/ 1763 w 3054"/>
                <a:gd name="T9" fmla="*/ 3023 h 3161"/>
                <a:gd name="T10" fmla="*/ 1848 w 3054"/>
                <a:gd name="T11" fmla="*/ 2612 h 3161"/>
                <a:gd name="T12" fmla="*/ 1974 w 3054"/>
                <a:gd name="T13" fmla="*/ 419 h 3161"/>
                <a:gd name="T14" fmla="*/ 2687 w 3054"/>
                <a:gd name="T15" fmla="*/ 100 h 3161"/>
                <a:gd name="T16" fmla="*/ 2813 w 3054"/>
                <a:gd name="T17" fmla="*/ 328 h 31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54" h="3161">
                  <a:moveTo>
                    <a:pt x="0" y="2594"/>
                  </a:moveTo>
                  <a:cubicBezTo>
                    <a:pt x="79" y="2752"/>
                    <a:pt x="159" y="2911"/>
                    <a:pt x="318" y="3002"/>
                  </a:cubicBezTo>
                  <a:cubicBezTo>
                    <a:pt x="477" y="3093"/>
                    <a:pt x="726" y="3115"/>
                    <a:pt x="953" y="3138"/>
                  </a:cubicBezTo>
                  <a:cubicBezTo>
                    <a:pt x="1180" y="3161"/>
                    <a:pt x="1519" y="3161"/>
                    <a:pt x="1678" y="3138"/>
                  </a:cubicBezTo>
                  <a:cubicBezTo>
                    <a:pt x="1837" y="3115"/>
                    <a:pt x="1852" y="3093"/>
                    <a:pt x="1905" y="3002"/>
                  </a:cubicBezTo>
                  <a:cubicBezTo>
                    <a:pt x="1958" y="2911"/>
                    <a:pt x="1958" y="3025"/>
                    <a:pt x="1996" y="2594"/>
                  </a:cubicBezTo>
                  <a:cubicBezTo>
                    <a:pt x="2034" y="2163"/>
                    <a:pt x="1981" y="832"/>
                    <a:pt x="2132" y="416"/>
                  </a:cubicBezTo>
                  <a:cubicBezTo>
                    <a:pt x="2283" y="0"/>
                    <a:pt x="2752" y="114"/>
                    <a:pt x="2903" y="99"/>
                  </a:cubicBezTo>
                  <a:cubicBezTo>
                    <a:pt x="3054" y="84"/>
                    <a:pt x="3024" y="281"/>
                    <a:pt x="3039" y="326"/>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697" name="Rectangle 181"/>
          <p:cNvSpPr>
            <a:spLocks noChangeArrowheads="1"/>
          </p:cNvSpPr>
          <p:nvPr/>
        </p:nvSpPr>
        <p:spPr bwMode="auto">
          <a:xfrm>
            <a:off x="7707313" y="3500438"/>
            <a:ext cx="968375" cy="222250"/>
          </a:xfrm>
          <a:prstGeom prst="rect">
            <a:avLst/>
          </a:prstGeom>
          <a:solidFill>
            <a:schemeClr val="tx1"/>
          </a:solidFill>
          <a:ln w="9525">
            <a:solidFill>
              <a:srgbClr val="000000"/>
            </a:solidFill>
            <a:miter lim="800000"/>
            <a:headEnd/>
            <a:tailEnd/>
          </a:ln>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chemeClr val="bg1"/>
                </a:solidFill>
                <a:latin typeface="Times New Roman" panose="02020603050405020304" pitchFamily="18" charset="0"/>
                <a:ea typeface="华文新魏" panose="02010800040101010101" pitchFamily="2" charset="-122"/>
              </a:rPr>
              <a:t>代码优化</a:t>
            </a:r>
            <a:endParaRPr lang="zh-CN" altLang="en-US" sz="1400">
              <a:solidFill>
                <a:schemeClr val="bg1"/>
              </a:solidFill>
              <a:latin typeface="Times New Roman" panose="02020603050405020304" pitchFamily="18" charset="0"/>
              <a:ea typeface="华文新魏" panose="02010800040101010101" pitchFamily="2" charset="-122"/>
            </a:endParaRPr>
          </a:p>
        </p:txBody>
      </p:sp>
      <p:sp>
        <p:nvSpPr>
          <p:cNvPr id="71698" name="Rectangle 182"/>
          <p:cNvSpPr>
            <a:spLocks noChangeArrowheads="1"/>
          </p:cNvSpPr>
          <p:nvPr/>
        </p:nvSpPr>
        <p:spPr bwMode="auto">
          <a:xfrm>
            <a:off x="7956550" y="4652963"/>
            <a:ext cx="1006475" cy="222250"/>
          </a:xfrm>
          <a:prstGeom prst="rect">
            <a:avLst/>
          </a:prstGeom>
          <a:solidFill>
            <a:schemeClr val="tx1"/>
          </a:solidFill>
          <a:ln w="9525">
            <a:solidFill>
              <a:srgbClr val="000000"/>
            </a:solidFill>
            <a:miter lim="800000"/>
            <a:headEnd/>
            <a:tailEnd/>
          </a:ln>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chemeClr val="bg1"/>
                </a:solidFill>
                <a:latin typeface="Times New Roman" panose="02020603050405020304" pitchFamily="18" charset="0"/>
                <a:ea typeface="华文新魏" panose="02010800040101010101" pitchFamily="2" charset="-122"/>
              </a:rPr>
              <a:t>代码生成</a:t>
            </a:r>
            <a:endParaRPr lang="zh-CN" altLang="en-US" sz="1400">
              <a:solidFill>
                <a:schemeClr val="bg1"/>
              </a:solidFill>
              <a:latin typeface="Times New Roman" panose="02020603050405020304" pitchFamily="18" charset="0"/>
              <a:ea typeface="华文新魏" panose="02010800040101010101" pitchFamily="2" charset="-122"/>
            </a:endParaRPr>
          </a:p>
        </p:txBody>
      </p:sp>
      <p:sp>
        <p:nvSpPr>
          <p:cNvPr id="71699" name="Rectangle 183"/>
          <p:cNvSpPr>
            <a:spLocks noChangeArrowheads="1"/>
          </p:cNvSpPr>
          <p:nvPr/>
        </p:nvSpPr>
        <p:spPr bwMode="auto">
          <a:xfrm>
            <a:off x="3132138" y="1916113"/>
            <a:ext cx="1152525" cy="284162"/>
          </a:xfrm>
          <a:prstGeom prst="rect">
            <a:avLst/>
          </a:prstGeom>
          <a:solidFill>
            <a:schemeClr val="tx1"/>
          </a:solidFill>
          <a:ln w="9525">
            <a:solidFill>
              <a:srgbClr val="000000"/>
            </a:solidFill>
            <a:miter lim="800000"/>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latin typeface="Times New Roman" panose="02020603050405020304" pitchFamily="18" charset="0"/>
                <a:ea typeface="华文新魏" panose="02010800040101010101" pitchFamily="2" charset="-122"/>
              </a:rPr>
              <a:t>词法分析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71700" name="Rectangle 184"/>
          <p:cNvSpPr>
            <a:spLocks noChangeArrowheads="1"/>
          </p:cNvSpPr>
          <p:nvPr/>
        </p:nvSpPr>
        <p:spPr bwMode="auto">
          <a:xfrm>
            <a:off x="3132138" y="2924175"/>
            <a:ext cx="1223962" cy="287338"/>
          </a:xfrm>
          <a:prstGeom prst="rect">
            <a:avLst/>
          </a:prstGeom>
          <a:solidFill>
            <a:schemeClr val="tx1"/>
          </a:solidFill>
          <a:ln w="9525">
            <a:solidFill>
              <a:srgbClr val="000000"/>
            </a:solidFill>
            <a:miter lim="800000"/>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latin typeface="Times New Roman" panose="02020603050405020304" pitchFamily="18" charset="0"/>
                <a:ea typeface="华文新魏" panose="02010800040101010101" pitchFamily="2" charset="-122"/>
              </a:rPr>
              <a:t>语法分析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71701" name="Rectangle 185"/>
          <p:cNvSpPr>
            <a:spLocks noChangeArrowheads="1"/>
          </p:cNvSpPr>
          <p:nvPr/>
        </p:nvSpPr>
        <p:spPr bwMode="auto">
          <a:xfrm>
            <a:off x="3132138" y="4365625"/>
            <a:ext cx="1152525" cy="254000"/>
          </a:xfrm>
          <a:prstGeom prst="rect">
            <a:avLst/>
          </a:prstGeom>
          <a:solidFill>
            <a:schemeClr val="tx1"/>
          </a:solidFill>
          <a:ln w="9525">
            <a:solidFill>
              <a:srgbClr val="000000"/>
            </a:solidFill>
            <a:miter lim="800000"/>
            <a:headEnd/>
            <a:tailEnd/>
          </a:ln>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latin typeface="Times New Roman" panose="02020603050405020304" pitchFamily="18" charset="0"/>
                <a:ea typeface="华文新魏" panose="02010800040101010101" pitchFamily="2" charset="-122"/>
              </a:rPr>
              <a:t>语义分析</a:t>
            </a:r>
            <a:endParaRPr lang="zh-CN" altLang="en-US" sz="1600">
              <a:solidFill>
                <a:schemeClr val="bg1"/>
              </a:solidFill>
              <a:latin typeface="Times New Roman" panose="02020603050405020304" pitchFamily="18" charset="0"/>
              <a:ea typeface="华文新魏" panose="02010800040101010101" pitchFamily="2" charset="-122"/>
            </a:endParaRPr>
          </a:p>
        </p:txBody>
      </p:sp>
      <p:sp>
        <p:nvSpPr>
          <p:cNvPr id="71702" name="Rectangle 186"/>
          <p:cNvSpPr>
            <a:spLocks noChangeArrowheads="1"/>
          </p:cNvSpPr>
          <p:nvPr/>
        </p:nvSpPr>
        <p:spPr bwMode="auto">
          <a:xfrm>
            <a:off x="7848600" y="1989138"/>
            <a:ext cx="1295400" cy="222250"/>
          </a:xfrm>
          <a:prstGeom prst="rect">
            <a:avLst/>
          </a:prstGeom>
          <a:solidFill>
            <a:schemeClr val="tx1"/>
          </a:solidFill>
          <a:ln w="9525">
            <a:solidFill>
              <a:srgbClr val="000000"/>
            </a:solidFill>
            <a:miter lim="800000"/>
            <a:headEnd/>
            <a:tailEnd/>
          </a:ln>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chemeClr val="bg1"/>
                </a:solidFill>
                <a:latin typeface="Times New Roman" panose="02020603050405020304" pitchFamily="18" charset="0"/>
                <a:ea typeface="华文新魏" panose="02010800040101010101" pitchFamily="2" charset="-122"/>
              </a:rPr>
              <a:t>中间代码生成</a:t>
            </a:r>
            <a:endParaRPr lang="zh-CN" altLang="en-US" sz="1400">
              <a:solidFill>
                <a:schemeClr val="bg1"/>
              </a:solidFill>
              <a:latin typeface="Times New Roman" panose="02020603050405020304" pitchFamily="18" charset="0"/>
              <a:ea typeface="华文新魏" panose="02010800040101010101" pitchFamily="2" charset="-122"/>
            </a:endParaRPr>
          </a:p>
        </p:txBody>
      </p:sp>
      <p:sp>
        <p:nvSpPr>
          <p:cNvPr id="71703" name="Text Box 187"/>
          <p:cNvSpPr txBox="1">
            <a:spLocks noChangeArrowheads="1"/>
          </p:cNvSpPr>
          <p:nvPr/>
        </p:nvSpPr>
        <p:spPr bwMode="auto">
          <a:xfrm>
            <a:off x="5435600" y="6334125"/>
            <a:ext cx="3529013" cy="51911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a:solidFill>
                  <a:schemeClr val="bg1"/>
                </a:solidFill>
                <a:ea typeface="华文新魏" panose="02010800040101010101" pitchFamily="2" charset="-122"/>
              </a:rPr>
              <a:t>如何安排中间结果？</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AD8A54E-B5E1-4E1D-A450-5FBC4D4E911E}" type="datetime1">
              <a:rPr lang="zh-CN" altLang="en-US" smtClean="0"/>
              <a:pPr/>
              <a:t>2017/2/24</a:t>
            </a:fld>
            <a:endParaRPr lang="en-US" altLang="zh-CN" smtClean="0"/>
          </a:p>
        </p:txBody>
      </p:sp>
      <p:sp>
        <p:nvSpPr>
          <p:cNvPr id="72707"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51D678A-5CFD-43EA-8AF1-4057252AD20F}" type="slidenum">
              <a:rPr lang="zh-CN" altLang="en-US"/>
              <a:pPr/>
              <a:t>67</a:t>
            </a:fld>
            <a:endParaRPr lang="en-US" altLang="zh-CN"/>
          </a:p>
        </p:txBody>
      </p:sp>
      <p:grpSp>
        <p:nvGrpSpPr>
          <p:cNvPr id="72708" name="Group 39"/>
          <p:cNvGrpSpPr>
            <a:grpSpLocks/>
          </p:cNvGrpSpPr>
          <p:nvPr/>
        </p:nvGrpSpPr>
        <p:grpSpPr bwMode="auto">
          <a:xfrm>
            <a:off x="4857750" y="1068388"/>
            <a:ext cx="4140200" cy="5791200"/>
            <a:chOff x="3789" y="672"/>
            <a:chExt cx="1420" cy="3648"/>
          </a:xfrm>
        </p:grpSpPr>
        <p:sp>
          <p:nvSpPr>
            <p:cNvPr id="72730" name="AutoShape 40"/>
            <p:cNvSpPr>
              <a:spLocks noChangeArrowheads="1"/>
            </p:cNvSpPr>
            <p:nvPr/>
          </p:nvSpPr>
          <p:spPr bwMode="auto">
            <a:xfrm>
              <a:off x="4367" y="3408"/>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61" name="Rectangle 41"/>
            <p:cNvSpPr>
              <a:spLocks noChangeArrowheads="1"/>
            </p:cNvSpPr>
            <p:nvPr/>
          </p:nvSpPr>
          <p:spPr bwMode="auto">
            <a:xfrm>
              <a:off x="4463" y="3408"/>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effectLst>
                    <a:outerShdw blurRad="38100" dist="38100" dir="2700000" algn="tl">
                      <a:srgbClr val="C0C0C0"/>
                    </a:outerShdw>
                  </a:effectLst>
                  <a:latin typeface="华文新魏" pitchFamily="2" charset="-122"/>
                  <a:ea typeface="华文新魏" pitchFamily="2" charset="-122"/>
                </a:rPr>
                <a:t>中间代码</a:t>
              </a:r>
            </a:p>
          </p:txBody>
        </p:sp>
        <p:sp>
          <p:nvSpPr>
            <p:cNvPr id="312362" name="Rectangle 42"/>
            <p:cNvSpPr>
              <a:spLocks noChangeArrowheads="1"/>
            </p:cNvSpPr>
            <p:nvPr/>
          </p:nvSpPr>
          <p:spPr bwMode="auto">
            <a:xfrm>
              <a:off x="3982" y="3648"/>
              <a:ext cx="91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312363" name="Rectangle 43"/>
            <p:cNvSpPr>
              <a:spLocks noChangeArrowheads="1"/>
            </p:cNvSpPr>
            <p:nvPr/>
          </p:nvSpPr>
          <p:spPr bwMode="auto">
            <a:xfrm>
              <a:off x="4102" y="2976"/>
              <a:ext cx="65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代码优化器</a:t>
              </a:r>
            </a:p>
          </p:txBody>
        </p:sp>
        <p:sp>
          <p:nvSpPr>
            <p:cNvPr id="312364" name="Rectangle 44"/>
            <p:cNvSpPr>
              <a:spLocks noChangeArrowheads="1"/>
            </p:cNvSpPr>
            <p:nvPr/>
          </p:nvSpPr>
          <p:spPr bwMode="auto">
            <a:xfrm>
              <a:off x="3789" y="2304"/>
              <a:ext cx="142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312365" name="Rectangle 45"/>
            <p:cNvSpPr>
              <a:spLocks noChangeArrowheads="1"/>
            </p:cNvSpPr>
            <p:nvPr/>
          </p:nvSpPr>
          <p:spPr bwMode="auto">
            <a:xfrm>
              <a:off x="4102" y="1584"/>
              <a:ext cx="650"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语法分析器</a:t>
              </a:r>
            </a:p>
          </p:txBody>
        </p:sp>
        <p:sp>
          <p:nvSpPr>
            <p:cNvPr id="312366" name="Rectangle 46"/>
            <p:cNvSpPr>
              <a:spLocks noChangeArrowheads="1"/>
            </p:cNvSpPr>
            <p:nvPr/>
          </p:nvSpPr>
          <p:spPr bwMode="auto">
            <a:xfrm>
              <a:off x="4463" y="2736"/>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effectLst>
                    <a:outerShdw blurRad="38100" dist="38100" dir="2700000" algn="tl">
                      <a:srgbClr val="C0C0C0"/>
                    </a:outerShdw>
                  </a:effectLst>
                  <a:latin typeface="华文新魏" pitchFamily="2" charset="-122"/>
                  <a:ea typeface="华文新魏" pitchFamily="2" charset="-122"/>
                </a:rPr>
                <a:t>中间代码</a:t>
              </a:r>
            </a:p>
          </p:txBody>
        </p:sp>
        <p:sp>
          <p:nvSpPr>
            <p:cNvPr id="72737" name="AutoShape 47"/>
            <p:cNvSpPr>
              <a:spLocks noChangeArrowheads="1"/>
            </p:cNvSpPr>
            <p:nvPr/>
          </p:nvSpPr>
          <p:spPr bwMode="auto">
            <a:xfrm>
              <a:off x="4367" y="2736"/>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38" name="AutoShape 48"/>
            <p:cNvSpPr>
              <a:spLocks noChangeArrowheads="1"/>
            </p:cNvSpPr>
            <p:nvPr/>
          </p:nvSpPr>
          <p:spPr bwMode="auto">
            <a:xfrm>
              <a:off x="4367" y="4080"/>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69" name="Rectangle 49"/>
            <p:cNvSpPr>
              <a:spLocks noChangeArrowheads="1"/>
            </p:cNvSpPr>
            <p:nvPr/>
          </p:nvSpPr>
          <p:spPr bwMode="auto">
            <a:xfrm>
              <a:off x="4439" y="4074"/>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effectLst>
                    <a:outerShdw blurRad="38100" dist="38100" dir="2700000" algn="tl">
                      <a:srgbClr val="C0C0C0"/>
                    </a:outerShdw>
                  </a:effectLst>
                  <a:latin typeface="华文新魏" pitchFamily="2" charset="-122"/>
                  <a:ea typeface="华文新魏" pitchFamily="2" charset="-122"/>
                </a:rPr>
                <a:t>目标代码</a:t>
              </a:r>
            </a:p>
          </p:txBody>
        </p:sp>
        <p:sp>
          <p:nvSpPr>
            <p:cNvPr id="72740" name="AutoShape 50"/>
            <p:cNvSpPr>
              <a:spLocks noChangeArrowheads="1"/>
            </p:cNvSpPr>
            <p:nvPr/>
          </p:nvSpPr>
          <p:spPr bwMode="auto">
            <a:xfrm>
              <a:off x="4367" y="2016"/>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71" name="Rectangle 51"/>
            <p:cNvSpPr>
              <a:spLocks noChangeArrowheads="1"/>
            </p:cNvSpPr>
            <p:nvPr/>
          </p:nvSpPr>
          <p:spPr bwMode="auto">
            <a:xfrm>
              <a:off x="4487" y="2016"/>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effectLst>
                    <a:outerShdw blurRad="38100" dist="38100" dir="2700000" algn="tl">
                      <a:srgbClr val="C0C0C0"/>
                    </a:outerShdw>
                  </a:effectLst>
                  <a:latin typeface="华文新魏" pitchFamily="2" charset="-122"/>
                  <a:ea typeface="华文新魏" pitchFamily="2" charset="-122"/>
                </a:rPr>
                <a:t>语法单位</a:t>
              </a:r>
            </a:p>
          </p:txBody>
        </p:sp>
        <p:sp>
          <p:nvSpPr>
            <p:cNvPr id="72742" name="AutoShape 52"/>
            <p:cNvSpPr>
              <a:spLocks noChangeArrowheads="1"/>
            </p:cNvSpPr>
            <p:nvPr/>
          </p:nvSpPr>
          <p:spPr bwMode="auto">
            <a:xfrm>
              <a:off x="4367" y="1344"/>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73" name="Rectangle 53"/>
            <p:cNvSpPr>
              <a:spLocks noChangeArrowheads="1"/>
            </p:cNvSpPr>
            <p:nvPr/>
          </p:nvSpPr>
          <p:spPr bwMode="auto">
            <a:xfrm>
              <a:off x="4487" y="1344"/>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effectLst>
                    <a:outerShdw blurRad="38100" dist="38100" dir="2700000" algn="tl">
                      <a:srgbClr val="C0C0C0"/>
                    </a:outerShdw>
                  </a:effectLst>
                  <a:latin typeface="华文新魏" pitchFamily="2" charset="-122"/>
                  <a:ea typeface="华文新魏" pitchFamily="2" charset="-122"/>
                </a:rPr>
                <a:t>单词符号</a:t>
              </a:r>
            </a:p>
          </p:txBody>
        </p:sp>
        <p:sp>
          <p:nvSpPr>
            <p:cNvPr id="312374" name="Rectangle 54"/>
            <p:cNvSpPr>
              <a:spLocks noChangeArrowheads="1"/>
            </p:cNvSpPr>
            <p:nvPr/>
          </p:nvSpPr>
          <p:spPr bwMode="auto">
            <a:xfrm>
              <a:off x="4102" y="912"/>
              <a:ext cx="65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词法分析器</a:t>
              </a:r>
            </a:p>
          </p:txBody>
        </p:sp>
        <p:sp>
          <p:nvSpPr>
            <p:cNvPr id="72745" name="AutoShape 55"/>
            <p:cNvSpPr>
              <a:spLocks noChangeArrowheads="1"/>
            </p:cNvSpPr>
            <p:nvPr/>
          </p:nvSpPr>
          <p:spPr bwMode="auto">
            <a:xfrm>
              <a:off x="4367" y="672"/>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76" name="Rectangle 56"/>
            <p:cNvSpPr>
              <a:spLocks noChangeArrowheads="1"/>
            </p:cNvSpPr>
            <p:nvPr/>
          </p:nvSpPr>
          <p:spPr bwMode="auto">
            <a:xfrm>
              <a:off x="4463" y="672"/>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effectLst>
                    <a:outerShdw blurRad="38100" dist="38100" dir="2700000" algn="tl">
                      <a:srgbClr val="C0C0C0"/>
                    </a:outerShdw>
                  </a:effectLst>
                  <a:latin typeface="华文新魏" pitchFamily="2" charset="-122"/>
                  <a:ea typeface="华文新魏" pitchFamily="2" charset="-122"/>
                </a:rPr>
                <a:t>源程序</a:t>
              </a:r>
            </a:p>
          </p:txBody>
        </p:sp>
        <p:sp>
          <p:nvSpPr>
            <p:cNvPr id="72747" name="Line 57"/>
            <p:cNvSpPr>
              <a:spLocks noChangeShapeType="1"/>
            </p:cNvSpPr>
            <p:nvPr/>
          </p:nvSpPr>
          <p:spPr bwMode="auto">
            <a:xfrm>
              <a:off x="4343" y="2304"/>
              <a:ext cx="0" cy="384"/>
            </a:xfrm>
            <a:prstGeom prst="line">
              <a:avLst/>
            </a:prstGeom>
            <a:noFill/>
            <a:ln w="38100">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72709" name="Rectangle 2"/>
          <p:cNvSpPr>
            <a:spLocks noGrp="1" noRot="1" noChangeArrowheads="1"/>
          </p:cNvSpPr>
          <p:nvPr>
            <p:ph type="title"/>
          </p:nvPr>
        </p:nvSpPr>
        <p:spPr>
          <a:xfrm>
            <a:off x="301625" y="609600"/>
            <a:ext cx="8540750" cy="874713"/>
          </a:xfrm>
        </p:spPr>
        <p:txBody>
          <a:bodyPr/>
          <a:lstStyle/>
          <a:p>
            <a:pPr algn="l"/>
            <a:r>
              <a:rPr lang="zh-CN" altLang="en-US" b="1" smtClean="0">
                <a:solidFill>
                  <a:srgbClr val="000099"/>
                </a:solidFill>
                <a:latin typeface="Times New Roman" panose="02020603050405020304" pitchFamily="18" charset="0"/>
                <a:ea typeface="华文新魏" panose="02010800040101010101" pitchFamily="2" charset="-122"/>
              </a:rPr>
              <a:t>9   编译的遍</a:t>
            </a:r>
            <a:r>
              <a:rPr lang="en-US" altLang="zh-CN" b="1" smtClean="0">
                <a:solidFill>
                  <a:srgbClr val="000099"/>
                </a:solidFill>
                <a:latin typeface="Times New Roman" panose="02020603050405020304" pitchFamily="18" charset="0"/>
                <a:ea typeface="华文新魏" panose="02010800040101010101" pitchFamily="2" charset="-122"/>
              </a:rPr>
              <a:t>(Pass)</a:t>
            </a:r>
          </a:p>
        </p:txBody>
      </p:sp>
      <p:sp>
        <p:nvSpPr>
          <p:cNvPr id="72710" name="Rectangle 3"/>
          <p:cNvSpPr>
            <a:spLocks noGrp="1" noRot="1" noChangeArrowheads="1"/>
          </p:cNvSpPr>
          <p:nvPr>
            <p:ph type="body" idx="1"/>
          </p:nvPr>
        </p:nvSpPr>
        <p:spPr>
          <a:xfrm>
            <a:off x="323850" y="1628775"/>
            <a:ext cx="4752975" cy="4824413"/>
          </a:xfrm>
        </p:spPr>
        <p:txBody>
          <a:bodyPr/>
          <a:lstStyle/>
          <a:p>
            <a:pPr>
              <a:lnSpc>
                <a:spcPct val="90000"/>
              </a:lnSpc>
            </a:pPr>
            <a:r>
              <a:rPr lang="zh-CN" altLang="en-US" sz="2800" b="1" smtClean="0">
                <a:latin typeface="Times New Roman" panose="02020603050405020304" pitchFamily="18" charset="0"/>
                <a:ea typeface="华文新魏" panose="02010800040101010101" pitchFamily="2" charset="-122"/>
              </a:rPr>
              <a:t>根据系统资源的状况、运行目标的要求……等，可以将一个编译程序设计成多遍扫描的形式，在每一遍扫描中，完成不同任务</a:t>
            </a:r>
          </a:p>
          <a:p>
            <a:pPr>
              <a:lnSpc>
                <a:spcPct val="90000"/>
              </a:lnSpc>
            </a:pPr>
            <a:r>
              <a:rPr lang="zh-CN" altLang="en-US" sz="2800" b="1" smtClean="0">
                <a:latin typeface="Times New Roman" panose="02020603050405020304" pitchFamily="18" charset="0"/>
                <a:ea typeface="华文新魏" panose="02010800040101010101" pitchFamily="2" charset="-122"/>
              </a:rPr>
              <a:t>遍可以和阶段相对应，也可无关</a:t>
            </a:r>
          </a:p>
          <a:p>
            <a:pPr>
              <a:lnSpc>
                <a:spcPct val="90000"/>
              </a:lnSpc>
            </a:pPr>
            <a:r>
              <a:rPr lang="zh-CN" altLang="en-US" sz="2800" b="1" smtClean="0">
                <a:latin typeface="Times New Roman" panose="02020603050405020304" pitchFamily="18" charset="0"/>
                <a:ea typeface="华文新魏" panose="02010800040101010101" pitchFamily="2" charset="-122"/>
              </a:rPr>
              <a:t>一遍扫描</a:t>
            </a:r>
          </a:p>
          <a:p>
            <a:pPr lvl="1">
              <a:lnSpc>
                <a:spcPct val="90000"/>
              </a:lnSpc>
            </a:pPr>
            <a:r>
              <a:rPr lang="zh-CN" altLang="en-US" sz="2400" b="1" smtClean="0">
                <a:latin typeface="Times New Roman" panose="02020603050405020304" pitchFamily="18" charset="0"/>
                <a:ea typeface="华文新魏" panose="02010800040101010101" pitchFamily="2" charset="-122"/>
              </a:rPr>
              <a:t>是否可以？</a:t>
            </a:r>
          </a:p>
          <a:p>
            <a:pPr lvl="1">
              <a:lnSpc>
                <a:spcPct val="90000"/>
              </a:lnSpc>
            </a:pPr>
            <a:r>
              <a:rPr lang="zh-CN" altLang="en-US" sz="2400" b="1" smtClean="0">
                <a:latin typeface="Times New Roman" panose="02020603050405020304" pitchFamily="18" charset="0"/>
                <a:ea typeface="华文新魏" panose="02010800040101010101" pitchFamily="2" charset="-122"/>
              </a:rPr>
              <a:t>问题：单遍代码不太优</a:t>
            </a:r>
          </a:p>
          <a:p>
            <a:pPr lvl="1">
              <a:lnSpc>
                <a:spcPct val="90000"/>
              </a:lnSpc>
            </a:pPr>
            <a:r>
              <a:rPr lang="zh-CN" altLang="en-US" sz="2400" b="1" smtClean="0">
                <a:latin typeface="Times New Roman" panose="02020603050405020304" pitchFamily="18" charset="0"/>
                <a:ea typeface="华文新魏" panose="02010800040101010101" pitchFamily="2" charset="-122"/>
              </a:rPr>
              <a:t>单遍扫描系统的结构？</a:t>
            </a:r>
            <a:endParaRPr lang="en-US" altLang="zh-CN" sz="2400" b="1" smtClean="0">
              <a:latin typeface="Times New Roman" panose="02020603050405020304" pitchFamily="18" charset="0"/>
              <a:ea typeface="华文新魏" panose="02010800040101010101" pitchFamily="2" charset="-122"/>
            </a:endParaRPr>
          </a:p>
        </p:txBody>
      </p:sp>
      <p:grpSp>
        <p:nvGrpSpPr>
          <p:cNvPr id="72711" name="Group 38"/>
          <p:cNvGrpSpPr>
            <a:grpSpLocks/>
          </p:cNvGrpSpPr>
          <p:nvPr/>
        </p:nvGrpSpPr>
        <p:grpSpPr bwMode="auto">
          <a:xfrm>
            <a:off x="4859338" y="1066800"/>
            <a:ext cx="4140200" cy="5791200"/>
            <a:chOff x="3789" y="672"/>
            <a:chExt cx="1420" cy="3648"/>
          </a:xfrm>
        </p:grpSpPr>
        <p:sp>
          <p:nvSpPr>
            <p:cNvPr id="72712" name="AutoShape 5"/>
            <p:cNvSpPr>
              <a:spLocks noChangeArrowheads="1"/>
            </p:cNvSpPr>
            <p:nvPr/>
          </p:nvSpPr>
          <p:spPr bwMode="auto">
            <a:xfrm>
              <a:off x="4367" y="3408"/>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26" name="Rectangle 6"/>
            <p:cNvSpPr>
              <a:spLocks noChangeArrowheads="1"/>
            </p:cNvSpPr>
            <p:nvPr/>
          </p:nvSpPr>
          <p:spPr bwMode="auto">
            <a:xfrm>
              <a:off x="4463" y="3408"/>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中间代码</a:t>
              </a:r>
            </a:p>
          </p:txBody>
        </p:sp>
        <p:sp>
          <p:nvSpPr>
            <p:cNvPr id="312327" name="Rectangle 7"/>
            <p:cNvSpPr>
              <a:spLocks noChangeArrowheads="1"/>
            </p:cNvSpPr>
            <p:nvPr/>
          </p:nvSpPr>
          <p:spPr bwMode="auto">
            <a:xfrm>
              <a:off x="3982" y="3648"/>
              <a:ext cx="91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312328" name="Rectangle 8"/>
            <p:cNvSpPr>
              <a:spLocks noChangeArrowheads="1"/>
            </p:cNvSpPr>
            <p:nvPr/>
          </p:nvSpPr>
          <p:spPr bwMode="auto">
            <a:xfrm>
              <a:off x="4102" y="2976"/>
              <a:ext cx="65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代码优化器</a:t>
              </a:r>
            </a:p>
          </p:txBody>
        </p:sp>
        <p:sp>
          <p:nvSpPr>
            <p:cNvPr id="312329" name="Rectangle 9"/>
            <p:cNvSpPr>
              <a:spLocks noChangeArrowheads="1"/>
            </p:cNvSpPr>
            <p:nvPr/>
          </p:nvSpPr>
          <p:spPr bwMode="auto">
            <a:xfrm>
              <a:off x="3789" y="2304"/>
              <a:ext cx="142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312330" name="Rectangle 10"/>
            <p:cNvSpPr>
              <a:spLocks noChangeArrowheads="1"/>
            </p:cNvSpPr>
            <p:nvPr/>
          </p:nvSpPr>
          <p:spPr bwMode="auto">
            <a:xfrm>
              <a:off x="4102" y="1584"/>
              <a:ext cx="650" cy="384"/>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solidFill>
                    <a:schemeClr val="hlink"/>
                  </a:solidFill>
                  <a:effectLst>
                    <a:outerShdw blurRad="38100" dist="38100" dir="2700000" algn="tl">
                      <a:srgbClr val="C0C0C0"/>
                    </a:outerShdw>
                  </a:effectLst>
                  <a:latin typeface="华文新魏" pitchFamily="2" charset="-122"/>
                  <a:ea typeface="华文新魏" pitchFamily="2" charset="-122"/>
                </a:rPr>
                <a:t>语法分析器</a:t>
              </a:r>
            </a:p>
          </p:txBody>
        </p:sp>
        <p:sp>
          <p:nvSpPr>
            <p:cNvPr id="312346" name="Rectangle 26"/>
            <p:cNvSpPr>
              <a:spLocks noChangeArrowheads="1"/>
            </p:cNvSpPr>
            <p:nvPr/>
          </p:nvSpPr>
          <p:spPr bwMode="auto">
            <a:xfrm>
              <a:off x="4463" y="2736"/>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中间代码</a:t>
              </a:r>
            </a:p>
          </p:txBody>
        </p:sp>
        <p:sp>
          <p:nvSpPr>
            <p:cNvPr id="72719" name="AutoShape 27"/>
            <p:cNvSpPr>
              <a:spLocks noChangeArrowheads="1"/>
            </p:cNvSpPr>
            <p:nvPr/>
          </p:nvSpPr>
          <p:spPr bwMode="auto">
            <a:xfrm>
              <a:off x="4367" y="2736"/>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20" name="AutoShape 28"/>
            <p:cNvSpPr>
              <a:spLocks noChangeArrowheads="1"/>
            </p:cNvSpPr>
            <p:nvPr/>
          </p:nvSpPr>
          <p:spPr bwMode="auto">
            <a:xfrm>
              <a:off x="4367" y="4080"/>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49" name="Rectangle 29"/>
            <p:cNvSpPr>
              <a:spLocks noChangeArrowheads="1"/>
            </p:cNvSpPr>
            <p:nvPr/>
          </p:nvSpPr>
          <p:spPr bwMode="auto">
            <a:xfrm>
              <a:off x="4439" y="4074"/>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目标代码</a:t>
              </a:r>
            </a:p>
          </p:txBody>
        </p:sp>
        <p:sp>
          <p:nvSpPr>
            <p:cNvPr id="72722" name="AutoShape 30"/>
            <p:cNvSpPr>
              <a:spLocks noChangeArrowheads="1"/>
            </p:cNvSpPr>
            <p:nvPr/>
          </p:nvSpPr>
          <p:spPr bwMode="auto">
            <a:xfrm>
              <a:off x="4367" y="2016"/>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51" name="Rectangle 31"/>
            <p:cNvSpPr>
              <a:spLocks noChangeArrowheads="1"/>
            </p:cNvSpPr>
            <p:nvPr/>
          </p:nvSpPr>
          <p:spPr bwMode="auto">
            <a:xfrm>
              <a:off x="4487" y="2016"/>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语法单位</a:t>
              </a:r>
            </a:p>
          </p:txBody>
        </p:sp>
        <p:sp>
          <p:nvSpPr>
            <p:cNvPr id="72724" name="AutoShape 32"/>
            <p:cNvSpPr>
              <a:spLocks noChangeArrowheads="1"/>
            </p:cNvSpPr>
            <p:nvPr/>
          </p:nvSpPr>
          <p:spPr bwMode="auto">
            <a:xfrm>
              <a:off x="4367" y="1344"/>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53" name="Rectangle 33"/>
            <p:cNvSpPr>
              <a:spLocks noChangeArrowheads="1"/>
            </p:cNvSpPr>
            <p:nvPr/>
          </p:nvSpPr>
          <p:spPr bwMode="auto">
            <a:xfrm>
              <a:off x="4487" y="1344"/>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单词符号</a:t>
              </a:r>
            </a:p>
          </p:txBody>
        </p:sp>
        <p:sp>
          <p:nvSpPr>
            <p:cNvPr id="312354" name="Rectangle 34"/>
            <p:cNvSpPr>
              <a:spLocks noChangeArrowheads="1"/>
            </p:cNvSpPr>
            <p:nvPr/>
          </p:nvSpPr>
          <p:spPr bwMode="auto">
            <a:xfrm>
              <a:off x="4102" y="912"/>
              <a:ext cx="65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词法分析器</a:t>
              </a:r>
            </a:p>
          </p:txBody>
        </p:sp>
        <p:sp>
          <p:nvSpPr>
            <p:cNvPr id="72727" name="AutoShape 35"/>
            <p:cNvSpPr>
              <a:spLocks noChangeArrowheads="1"/>
            </p:cNvSpPr>
            <p:nvPr/>
          </p:nvSpPr>
          <p:spPr bwMode="auto">
            <a:xfrm>
              <a:off x="4367" y="672"/>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2356" name="Rectangle 36"/>
            <p:cNvSpPr>
              <a:spLocks noChangeArrowheads="1"/>
            </p:cNvSpPr>
            <p:nvPr/>
          </p:nvSpPr>
          <p:spPr bwMode="auto">
            <a:xfrm>
              <a:off x="4463" y="672"/>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源程序</a:t>
              </a:r>
            </a:p>
          </p:txBody>
        </p:sp>
        <p:sp>
          <p:nvSpPr>
            <p:cNvPr id="72729" name="Line 37"/>
            <p:cNvSpPr>
              <a:spLocks noChangeShapeType="1"/>
            </p:cNvSpPr>
            <p:nvPr/>
          </p:nvSpPr>
          <p:spPr bwMode="auto">
            <a:xfrm>
              <a:off x="4343" y="2304"/>
              <a:ext cx="0" cy="384"/>
            </a:xfrm>
            <a:prstGeom prst="line">
              <a:avLst/>
            </a:prstGeom>
            <a:noFill/>
            <a:ln w="38100">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7296FD0-DC8C-413C-9FDA-A7BFF53DE44D}" type="datetime1">
              <a:rPr lang="zh-CN" altLang="en-US" smtClean="0"/>
              <a:pPr/>
              <a:t>2017/2/24</a:t>
            </a:fld>
            <a:endParaRPr lang="en-US" altLang="zh-CN" smtClean="0"/>
          </a:p>
        </p:txBody>
      </p:sp>
      <p:sp>
        <p:nvSpPr>
          <p:cNvPr id="73731"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0373D89-3A77-4CE7-9679-19A261D6CFF5}" type="slidenum">
              <a:rPr lang="zh-CN" altLang="en-US"/>
              <a:pPr/>
              <a:t>68</a:t>
            </a:fld>
            <a:endParaRPr lang="en-US" altLang="zh-CN"/>
          </a:p>
        </p:txBody>
      </p:sp>
      <p:sp>
        <p:nvSpPr>
          <p:cNvPr id="73732" name="Rectangle 2"/>
          <p:cNvSpPr>
            <a:spLocks noGrp="1" noRot="1" noChangeArrowheads="1"/>
          </p:cNvSpPr>
          <p:nvPr>
            <p:ph type="title"/>
          </p:nvPr>
        </p:nvSpPr>
        <p:spPr/>
        <p:txBody>
          <a:bodyPr/>
          <a:lstStyle/>
          <a:p>
            <a:r>
              <a:rPr lang="zh-CN" altLang="en-US" b="1" smtClean="0">
                <a:solidFill>
                  <a:srgbClr val="000099"/>
                </a:solidFill>
                <a:latin typeface="Times New Roman" panose="02020603050405020304" pitchFamily="18" charset="0"/>
                <a:ea typeface="华文新魏" panose="02010800040101010101" pitchFamily="2" charset="-122"/>
              </a:rPr>
              <a:t>9   编译的遍</a:t>
            </a:r>
            <a:r>
              <a:rPr lang="en-US" altLang="zh-CN" b="1" smtClean="0">
                <a:solidFill>
                  <a:srgbClr val="000099"/>
                </a:solidFill>
                <a:latin typeface="Times New Roman" panose="02020603050405020304" pitchFamily="18" charset="0"/>
                <a:ea typeface="华文新魏" panose="02010800040101010101" pitchFamily="2" charset="-122"/>
              </a:rPr>
              <a:t>(Pass)</a:t>
            </a:r>
            <a:endParaRPr lang="zh-CN" altLang="en-US" b="1" smtClean="0">
              <a:solidFill>
                <a:srgbClr val="000099"/>
              </a:solidFill>
              <a:latin typeface="Times New Roman" panose="02020603050405020304" pitchFamily="18" charset="0"/>
              <a:ea typeface="华文新魏" panose="02010800040101010101" pitchFamily="2" charset="-122"/>
            </a:endParaRPr>
          </a:p>
        </p:txBody>
      </p:sp>
      <p:sp>
        <p:nvSpPr>
          <p:cNvPr id="73733" name="Rectangle 3"/>
          <p:cNvSpPr>
            <a:spLocks noGrp="1" noRot="1" noChangeArrowheads="1"/>
          </p:cNvSpPr>
          <p:nvPr>
            <p:ph type="body" idx="1"/>
          </p:nvPr>
        </p:nvSpPr>
        <p:spPr>
          <a:xfrm>
            <a:off x="301625" y="1905000"/>
            <a:ext cx="8540750" cy="660400"/>
          </a:xfrm>
        </p:spPr>
        <p:txBody>
          <a:bodyPr/>
          <a:lstStyle/>
          <a:p>
            <a:r>
              <a:rPr lang="zh-CN" altLang="en-US" b="1" smtClean="0">
                <a:latin typeface="Times New Roman" panose="02020603050405020304" pitchFamily="18" charset="0"/>
                <a:ea typeface="华文新魏" panose="02010800040101010101" pitchFamily="2" charset="-122"/>
              </a:rPr>
              <a:t>以语法分析为核心</a:t>
            </a:r>
            <a:endParaRPr lang="en-US" altLang="zh-CN" b="1" smtClean="0">
              <a:latin typeface="Times New Roman" panose="02020603050405020304" pitchFamily="18" charset="0"/>
              <a:ea typeface="华文新魏" panose="02010800040101010101" pitchFamily="2" charset="-122"/>
            </a:endParaRPr>
          </a:p>
        </p:txBody>
      </p:sp>
      <p:sp>
        <p:nvSpPr>
          <p:cNvPr id="73734" name="Text Box 4"/>
          <p:cNvSpPr txBox="1">
            <a:spLocks noChangeArrowheads="1"/>
          </p:cNvSpPr>
          <p:nvPr/>
        </p:nvSpPr>
        <p:spPr bwMode="auto">
          <a:xfrm>
            <a:off x="611188" y="2565400"/>
            <a:ext cx="504825"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70000"/>
              </a:lnSpc>
            </a:pPr>
            <a:r>
              <a:rPr lang="zh-CN" altLang="en-US" sz="3200" b="1">
                <a:solidFill>
                  <a:srgbClr val="0000FF"/>
                </a:solidFill>
                <a:ea typeface="华文新魏" panose="02010800040101010101" pitchFamily="2" charset="-122"/>
              </a:rPr>
              <a:t>源程序</a:t>
            </a:r>
          </a:p>
        </p:txBody>
      </p:sp>
      <p:sp>
        <p:nvSpPr>
          <p:cNvPr id="73735" name="Text Box 5"/>
          <p:cNvSpPr txBox="1">
            <a:spLocks noChangeArrowheads="1"/>
          </p:cNvSpPr>
          <p:nvPr/>
        </p:nvSpPr>
        <p:spPr bwMode="auto">
          <a:xfrm>
            <a:off x="1835150" y="5589588"/>
            <a:ext cx="5689600" cy="5889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eaLnBrk="1" hangingPunct="1">
              <a:spcBef>
                <a:spcPct val="50000"/>
              </a:spcBef>
            </a:pPr>
            <a:r>
              <a:rPr lang="zh-CN" altLang="en-US" sz="3200" b="1">
                <a:ea typeface="华文新魏" panose="02010800040101010101" pitchFamily="2" charset="-122"/>
              </a:rPr>
              <a:t>符号表管理；出错处理</a:t>
            </a:r>
          </a:p>
        </p:txBody>
      </p:sp>
      <p:sp>
        <p:nvSpPr>
          <p:cNvPr id="73736" name="Text Box 6"/>
          <p:cNvSpPr txBox="1">
            <a:spLocks noChangeArrowheads="1"/>
          </p:cNvSpPr>
          <p:nvPr/>
        </p:nvSpPr>
        <p:spPr bwMode="auto">
          <a:xfrm>
            <a:off x="1835150" y="2708275"/>
            <a:ext cx="2016125" cy="588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ea typeface="华文新魏" panose="02010800040101010101" pitchFamily="2" charset="-122"/>
              </a:rPr>
              <a:t>词法分析</a:t>
            </a:r>
            <a:endParaRPr lang="en-US" altLang="zh-CN" sz="3200" b="1">
              <a:ea typeface="华文新魏" panose="02010800040101010101" pitchFamily="2" charset="-122"/>
            </a:endParaRPr>
          </a:p>
        </p:txBody>
      </p:sp>
      <p:sp>
        <p:nvSpPr>
          <p:cNvPr id="73737" name="Text Box 7"/>
          <p:cNvSpPr txBox="1">
            <a:spLocks noChangeArrowheads="1"/>
          </p:cNvSpPr>
          <p:nvPr/>
        </p:nvSpPr>
        <p:spPr bwMode="auto">
          <a:xfrm>
            <a:off x="6877050" y="3402013"/>
            <a:ext cx="647700" cy="146685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70000"/>
              </a:lnSpc>
            </a:pPr>
            <a:r>
              <a:rPr lang="zh-CN" altLang="en-US" sz="3200" b="1">
                <a:ea typeface="华文新魏" panose="02010800040101010101" pitchFamily="2" charset="-122"/>
              </a:rPr>
              <a:t>代码生成</a:t>
            </a:r>
            <a:endParaRPr lang="en-US" altLang="zh-CN" sz="3200" b="1">
              <a:ea typeface="华文新魏" panose="02010800040101010101" pitchFamily="2" charset="-122"/>
            </a:endParaRPr>
          </a:p>
        </p:txBody>
      </p:sp>
      <p:sp>
        <p:nvSpPr>
          <p:cNvPr id="73738" name="Text Box 8"/>
          <p:cNvSpPr txBox="1">
            <a:spLocks noChangeArrowheads="1"/>
          </p:cNvSpPr>
          <p:nvPr/>
        </p:nvSpPr>
        <p:spPr bwMode="auto">
          <a:xfrm>
            <a:off x="2986088" y="3690938"/>
            <a:ext cx="649287" cy="1466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70000"/>
              </a:lnSpc>
            </a:pPr>
            <a:r>
              <a:rPr lang="zh-CN" altLang="en-US" sz="3200" b="1">
                <a:ea typeface="华文新魏" panose="02010800040101010101" pitchFamily="2" charset="-122"/>
              </a:rPr>
              <a:t>存储分配</a:t>
            </a:r>
            <a:endParaRPr lang="en-US" altLang="zh-CN" sz="3200" b="1">
              <a:ea typeface="华文新魏" panose="02010800040101010101" pitchFamily="2" charset="-122"/>
            </a:endParaRPr>
          </a:p>
        </p:txBody>
      </p:sp>
      <p:sp>
        <p:nvSpPr>
          <p:cNvPr id="73739" name="Text Box 9"/>
          <p:cNvSpPr txBox="1">
            <a:spLocks noChangeArrowheads="1"/>
          </p:cNvSpPr>
          <p:nvPr/>
        </p:nvSpPr>
        <p:spPr bwMode="auto">
          <a:xfrm>
            <a:off x="4427538" y="3789363"/>
            <a:ext cx="1873250" cy="5889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ea typeface="华文新魏" panose="02010800040101010101" pitchFamily="2" charset="-122"/>
              </a:rPr>
              <a:t>语义分析</a:t>
            </a:r>
            <a:endParaRPr lang="en-US" altLang="zh-CN" sz="3200" b="1">
              <a:ea typeface="华文新魏" panose="02010800040101010101" pitchFamily="2" charset="-122"/>
            </a:endParaRPr>
          </a:p>
        </p:txBody>
      </p:sp>
      <p:sp>
        <p:nvSpPr>
          <p:cNvPr id="73740" name="Text Box 10"/>
          <p:cNvSpPr txBox="1">
            <a:spLocks noChangeArrowheads="1"/>
          </p:cNvSpPr>
          <p:nvPr/>
        </p:nvSpPr>
        <p:spPr bwMode="auto">
          <a:xfrm>
            <a:off x="4427538" y="2695575"/>
            <a:ext cx="1943100" cy="588963"/>
          </a:xfrm>
          <a:prstGeom prst="rect">
            <a:avLst/>
          </a:prstGeom>
          <a:solidFill>
            <a:schemeClr val="tx1"/>
          </a:solidFill>
          <a:ln w="9525">
            <a:solidFill>
              <a:srgbClr val="99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solidFill>
                  <a:schemeClr val="bg1"/>
                </a:solidFill>
                <a:ea typeface="华文新魏" panose="02010800040101010101" pitchFamily="2" charset="-122"/>
              </a:rPr>
              <a:t>语法分析</a:t>
            </a:r>
            <a:endParaRPr lang="en-US" altLang="zh-CN" sz="3200" b="1">
              <a:solidFill>
                <a:schemeClr val="bg1"/>
              </a:solidFill>
              <a:ea typeface="华文新魏" panose="02010800040101010101" pitchFamily="2" charset="-122"/>
            </a:endParaRPr>
          </a:p>
        </p:txBody>
      </p:sp>
      <p:sp>
        <p:nvSpPr>
          <p:cNvPr id="73741" name="Text Box 11"/>
          <p:cNvSpPr txBox="1">
            <a:spLocks noChangeArrowheads="1"/>
          </p:cNvSpPr>
          <p:nvPr/>
        </p:nvSpPr>
        <p:spPr bwMode="auto">
          <a:xfrm>
            <a:off x="8243888" y="3375025"/>
            <a:ext cx="649287" cy="1466850"/>
          </a:xfrm>
          <a:prstGeom prst="rect">
            <a:avLst/>
          </a:prstGeom>
          <a:noFill/>
          <a:ln w="9525" algn="ctr">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70000"/>
              </a:lnSpc>
            </a:pPr>
            <a:r>
              <a:rPr lang="zh-CN" altLang="en-US" sz="3200" b="1">
                <a:solidFill>
                  <a:srgbClr val="0000FF"/>
                </a:solidFill>
                <a:ea typeface="华文新魏" panose="02010800040101010101" pitchFamily="2" charset="-122"/>
              </a:rPr>
              <a:t>目标程序</a:t>
            </a:r>
          </a:p>
        </p:txBody>
      </p:sp>
      <p:sp>
        <p:nvSpPr>
          <p:cNvPr id="73742" name="Text Box 12"/>
          <p:cNvSpPr txBox="1">
            <a:spLocks noChangeArrowheads="1"/>
          </p:cNvSpPr>
          <p:nvPr/>
        </p:nvSpPr>
        <p:spPr bwMode="auto">
          <a:xfrm>
            <a:off x="5148263" y="4711700"/>
            <a:ext cx="1223962" cy="588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ea typeface="华文新魏" panose="02010800040101010101" pitchFamily="2" charset="-122"/>
              </a:rPr>
              <a:t>优化</a:t>
            </a:r>
            <a:endParaRPr lang="en-US" altLang="zh-CN" sz="3200" b="1">
              <a:ea typeface="华文新魏" panose="02010800040101010101" pitchFamily="2" charset="-122"/>
            </a:endParaRPr>
          </a:p>
        </p:txBody>
      </p:sp>
      <p:sp>
        <p:nvSpPr>
          <p:cNvPr id="73743" name="Line 13"/>
          <p:cNvSpPr>
            <a:spLocks noChangeShapeType="1"/>
          </p:cNvSpPr>
          <p:nvPr/>
        </p:nvSpPr>
        <p:spPr bwMode="auto">
          <a:xfrm>
            <a:off x="3851275" y="2997200"/>
            <a:ext cx="504825"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4" name="Line 14"/>
          <p:cNvSpPr>
            <a:spLocks noChangeShapeType="1"/>
          </p:cNvSpPr>
          <p:nvPr/>
        </p:nvSpPr>
        <p:spPr bwMode="auto">
          <a:xfrm>
            <a:off x="3635375" y="4076700"/>
            <a:ext cx="792163"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5" name="Line 15"/>
          <p:cNvSpPr>
            <a:spLocks noChangeShapeType="1"/>
          </p:cNvSpPr>
          <p:nvPr/>
        </p:nvSpPr>
        <p:spPr bwMode="auto">
          <a:xfrm>
            <a:off x="6300788" y="4149725"/>
            <a:ext cx="576262"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6" name="Line 16"/>
          <p:cNvSpPr>
            <a:spLocks noChangeShapeType="1"/>
          </p:cNvSpPr>
          <p:nvPr/>
        </p:nvSpPr>
        <p:spPr bwMode="auto">
          <a:xfrm>
            <a:off x="4787900" y="4365625"/>
            <a:ext cx="0" cy="1223963"/>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7" name="Line 17"/>
          <p:cNvSpPr>
            <a:spLocks noChangeShapeType="1"/>
          </p:cNvSpPr>
          <p:nvPr/>
        </p:nvSpPr>
        <p:spPr bwMode="auto">
          <a:xfrm>
            <a:off x="5651500" y="4365625"/>
            <a:ext cx="0" cy="358775"/>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8" name="Line 18"/>
          <p:cNvSpPr>
            <a:spLocks noChangeShapeType="1"/>
          </p:cNvSpPr>
          <p:nvPr/>
        </p:nvSpPr>
        <p:spPr bwMode="auto">
          <a:xfrm>
            <a:off x="5651500" y="5300663"/>
            <a:ext cx="0" cy="288925"/>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9" name="Line 19"/>
          <p:cNvSpPr>
            <a:spLocks noChangeShapeType="1"/>
          </p:cNvSpPr>
          <p:nvPr/>
        </p:nvSpPr>
        <p:spPr bwMode="auto">
          <a:xfrm>
            <a:off x="5364163" y="3284538"/>
            <a:ext cx="0" cy="504825"/>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0" name="AutoShape 20"/>
          <p:cNvSpPr>
            <a:spLocks noChangeArrowheads="1"/>
          </p:cNvSpPr>
          <p:nvPr/>
        </p:nvSpPr>
        <p:spPr bwMode="auto">
          <a:xfrm>
            <a:off x="1042988" y="2924175"/>
            <a:ext cx="792162" cy="144463"/>
          </a:xfrm>
          <a:prstGeom prst="notchedRightArrow">
            <a:avLst>
              <a:gd name="adj1" fmla="val 50000"/>
              <a:gd name="adj2" fmla="val 137087"/>
            </a:avLst>
          </a:prstGeom>
          <a:solidFill>
            <a:srgbClr val="99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990099"/>
              </a:solidFill>
            </a:endParaRPr>
          </a:p>
        </p:txBody>
      </p:sp>
      <p:sp>
        <p:nvSpPr>
          <p:cNvPr id="73751" name="AutoShape 21"/>
          <p:cNvSpPr>
            <a:spLocks noChangeArrowheads="1"/>
          </p:cNvSpPr>
          <p:nvPr/>
        </p:nvSpPr>
        <p:spPr bwMode="auto">
          <a:xfrm>
            <a:off x="7524750" y="4076700"/>
            <a:ext cx="792163" cy="144463"/>
          </a:xfrm>
          <a:prstGeom prst="notchedRightArrow">
            <a:avLst>
              <a:gd name="adj1" fmla="val 50000"/>
              <a:gd name="adj2" fmla="val 137088"/>
            </a:avLst>
          </a:prstGeom>
          <a:solidFill>
            <a:srgbClr val="99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990099"/>
              </a:solidFill>
            </a:endParaRPr>
          </a:p>
        </p:txBody>
      </p:sp>
      <p:sp>
        <p:nvSpPr>
          <p:cNvPr id="73752" name="Line 22"/>
          <p:cNvSpPr>
            <a:spLocks noChangeShapeType="1"/>
          </p:cNvSpPr>
          <p:nvPr/>
        </p:nvSpPr>
        <p:spPr bwMode="auto">
          <a:xfrm>
            <a:off x="3275013" y="5157788"/>
            <a:ext cx="0" cy="4318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3" name="Line 23"/>
          <p:cNvSpPr>
            <a:spLocks noChangeShapeType="1"/>
          </p:cNvSpPr>
          <p:nvPr/>
        </p:nvSpPr>
        <p:spPr bwMode="auto">
          <a:xfrm>
            <a:off x="2411413" y="3284538"/>
            <a:ext cx="0" cy="230505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4" name="Line 24"/>
          <p:cNvSpPr>
            <a:spLocks noChangeShapeType="1"/>
          </p:cNvSpPr>
          <p:nvPr/>
        </p:nvSpPr>
        <p:spPr bwMode="auto">
          <a:xfrm>
            <a:off x="7235825" y="4868863"/>
            <a:ext cx="0" cy="720725"/>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5" name="Line 25"/>
          <p:cNvSpPr>
            <a:spLocks noChangeShapeType="1"/>
          </p:cNvSpPr>
          <p:nvPr/>
        </p:nvSpPr>
        <p:spPr bwMode="auto">
          <a:xfrm>
            <a:off x="4643438" y="3284538"/>
            <a:ext cx="0" cy="288925"/>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6" name="Line 26"/>
          <p:cNvSpPr>
            <a:spLocks noChangeShapeType="1"/>
          </p:cNvSpPr>
          <p:nvPr/>
        </p:nvSpPr>
        <p:spPr bwMode="auto">
          <a:xfrm>
            <a:off x="2700338" y="3573463"/>
            <a:ext cx="19431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7" name="Line 27"/>
          <p:cNvSpPr>
            <a:spLocks noChangeShapeType="1"/>
          </p:cNvSpPr>
          <p:nvPr/>
        </p:nvSpPr>
        <p:spPr bwMode="auto">
          <a:xfrm>
            <a:off x="2700338" y="3573463"/>
            <a:ext cx="0" cy="20161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7AA1C0C-97DE-4A6D-8207-32FC321ADC33}" type="datetime1">
              <a:rPr lang="zh-CN" altLang="en-US" smtClean="0"/>
              <a:pPr/>
              <a:t>2017/2/24</a:t>
            </a:fld>
            <a:endParaRPr lang="en-US" altLang="zh-CN" smtClean="0"/>
          </a:p>
        </p:txBody>
      </p:sp>
      <p:sp>
        <p:nvSpPr>
          <p:cNvPr id="74755"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88FD5F0-6B98-434A-B9C4-ED6A0DEDF285}" type="slidenum">
              <a:rPr lang="zh-CN" altLang="en-US"/>
              <a:pPr/>
              <a:t>69</a:t>
            </a:fld>
            <a:endParaRPr lang="en-US" altLang="zh-CN"/>
          </a:p>
        </p:txBody>
      </p:sp>
      <p:sp>
        <p:nvSpPr>
          <p:cNvPr id="313346" name="Rectangle 2"/>
          <p:cNvSpPr>
            <a:spLocks noGrp="1" noRot="1" noChangeArrowheads="1"/>
          </p:cNvSpPr>
          <p:nvPr>
            <p:ph type="title"/>
          </p:nvPr>
        </p:nvSpPr>
        <p:spPr>
          <a:xfrm>
            <a:off x="323850" y="549275"/>
            <a:ext cx="8540750" cy="774700"/>
          </a:xfrm>
        </p:spPr>
        <p:txBody>
          <a:bodyPr/>
          <a:lstStyle/>
          <a:p>
            <a:r>
              <a:rPr lang="zh-CN" altLang="en-US" b="1" smtClean="0">
                <a:solidFill>
                  <a:srgbClr val="000099"/>
                </a:solidFill>
                <a:latin typeface="Times New Roman" panose="02020603050405020304" pitchFamily="18" charset="0"/>
                <a:ea typeface="华文新魏" panose="02010800040101010101" pitchFamily="2" charset="-122"/>
              </a:rPr>
              <a:t>10、编译的前端与后端</a:t>
            </a:r>
          </a:p>
        </p:txBody>
      </p:sp>
      <p:sp>
        <p:nvSpPr>
          <p:cNvPr id="313347" name="Rectangle 3"/>
          <p:cNvSpPr>
            <a:spLocks noGrp="1" noRot="1" noChangeArrowheads="1"/>
          </p:cNvSpPr>
          <p:nvPr>
            <p:ph type="body" idx="1"/>
          </p:nvPr>
        </p:nvSpPr>
        <p:spPr>
          <a:xfrm>
            <a:off x="301625" y="1628775"/>
            <a:ext cx="4270375" cy="4968875"/>
          </a:xfrm>
        </p:spPr>
        <p:txBody>
          <a:bodyPr/>
          <a:lstStyle/>
          <a:p>
            <a:pPr>
              <a:lnSpc>
                <a:spcPct val="90000"/>
              </a:lnSpc>
            </a:pPr>
            <a:r>
              <a:rPr lang="zh-CN" altLang="en-US" b="1" smtClean="0">
                <a:latin typeface="Times New Roman" panose="02020603050405020304" pitchFamily="18" charset="0"/>
                <a:ea typeface="华文新魏" panose="02010800040101010101" pitchFamily="2" charset="-122"/>
              </a:rPr>
              <a:t>前端</a:t>
            </a:r>
          </a:p>
          <a:p>
            <a:pPr lvl="1">
              <a:lnSpc>
                <a:spcPct val="90000"/>
              </a:lnSpc>
            </a:pPr>
            <a:r>
              <a:rPr lang="zh-CN" altLang="en-US" b="1" smtClean="0">
                <a:latin typeface="Times New Roman" panose="02020603050405020304" pitchFamily="18" charset="0"/>
                <a:ea typeface="华文新魏" panose="02010800040101010101" pitchFamily="2" charset="-122"/>
              </a:rPr>
              <a:t>与源语言有关、</a:t>
            </a:r>
            <a:r>
              <a:rPr lang="zh-CN" altLang="en-US" b="1" smtClean="0">
                <a:solidFill>
                  <a:schemeClr val="hlink"/>
                </a:solidFill>
                <a:latin typeface="Times New Roman" panose="02020603050405020304" pitchFamily="18" charset="0"/>
                <a:ea typeface="华文新魏" panose="02010800040101010101" pitchFamily="2" charset="-122"/>
              </a:rPr>
              <a:t>与目标机无关的部分</a:t>
            </a:r>
          </a:p>
          <a:p>
            <a:pPr lvl="1">
              <a:lnSpc>
                <a:spcPct val="90000"/>
              </a:lnSpc>
            </a:pPr>
            <a:r>
              <a:rPr lang="zh-CN" altLang="en-US" b="1" smtClean="0">
                <a:latin typeface="Times New Roman" panose="02020603050405020304" pitchFamily="18" charset="0"/>
                <a:ea typeface="华文新魏" panose="02010800040101010101" pitchFamily="2" charset="-122"/>
              </a:rPr>
              <a:t>词法分析、语法分析、语义分析与中间代码生成、与机器无关的代码优化</a:t>
            </a:r>
          </a:p>
          <a:p>
            <a:pPr>
              <a:lnSpc>
                <a:spcPct val="90000"/>
              </a:lnSpc>
            </a:pPr>
            <a:r>
              <a:rPr lang="zh-CN" altLang="en-US" b="1" smtClean="0">
                <a:latin typeface="Times New Roman" panose="02020603050405020304" pitchFamily="18" charset="0"/>
                <a:ea typeface="华文新魏" panose="02010800040101010101" pitchFamily="2" charset="-122"/>
              </a:rPr>
              <a:t>后端</a:t>
            </a:r>
          </a:p>
          <a:p>
            <a:pPr lvl="1">
              <a:lnSpc>
                <a:spcPct val="90000"/>
              </a:lnSpc>
            </a:pPr>
            <a:r>
              <a:rPr lang="zh-CN" altLang="en-US" b="1" smtClean="0">
                <a:solidFill>
                  <a:srgbClr val="CC3300"/>
                </a:solidFill>
                <a:latin typeface="Times New Roman" panose="02020603050405020304" pitchFamily="18" charset="0"/>
                <a:ea typeface="华文新魏" panose="02010800040101010101" pitchFamily="2" charset="-122"/>
              </a:rPr>
              <a:t>与目标机有关的部分</a:t>
            </a:r>
          </a:p>
          <a:p>
            <a:pPr lvl="1">
              <a:lnSpc>
                <a:spcPct val="90000"/>
              </a:lnSpc>
            </a:pPr>
            <a:r>
              <a:rPr lang="zh-CN" altLang="en-US" b="1" smtClean="0">
                <a:latin typeface="Times New Roman" panose="02020603050405020304" pitchFamily="18" charset="0"/>
                <a:ea typeface="华文新魏" panose="02010800040101010101" pitchFamily="2" charset="-122"/>
              </a:rPr>
              <a:t>与机器有关的代码优化、目标代码生成</a:t>
            </a:r>
          </a:p>
        </p:txBody>
      </p:sp>
      <p:grpSp>
        <p:nvGrpSpPr>
          <p:cNvPr id="74758" name="Group 4"/>
          <p:cNvGrpSpPr>
            <a:grpSpLocks/>
          </p:cNvGrpSpPr>
          <p:nvPr/>
        </p:nvGrpSpPr>
        <p:grpSpPr bwMode="auto">
          <a:xfrm>
            <a:off x="5148263" y="1484313"/>
            <a:ext cx="3889375" cy="5084762"/>
            <a:chOff x="3789" y="672"/>
            <a:chExt cx="1420" cy="3648"/>
          </a:xfrm>
        </p:grpSpPr>
        <p:sp>
          <p:nvSpPr>
            <p:cNvPr id="74769" name="AutoShape 5"/>
            <p:cNvSpPr>
              <a:spLocks noChangeArrowheads="1"/>
            </p:cNvSpPr>
            <p:nvPr/>
          </p:nvSpPr>
          <p:spPr bwMode="auto">
            <a:xfrm>
              <a:off x="4367" y="3408"/>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3350" name="Rectangle 6"/>
            <p:cNvSpPr>
              <a:spLocks noChangeArrowheads="1"/>
            </p:cNvSpPr>
            <p:nvPr/>
          </p:nvSpPr>
          <p:spPr bwMode="auto">
            <a:xfrm>
              <a:off x="4463" y="3408"/>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中间代码</a:t>
              </a:r>
            </a:p>
          </p:txBody>
        </p:sp>
        <p:sp>
          <p:nvSpPr>
            <p:cNvPr id="313351" name="Rectangle 7"/>
            <p:cNvSpPr>
              <a:spLocks noChangeArrowheads="1"/>
            </p:cNvSpPr>
            <p:nvPr/>
          </p:nvSpPr>
          <p:spPr bwMode="auto">
            <a:xfrm>
              <a:off x="3982" y="3648"/>
              <a:ext cx="91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313352" name="Rectangle 8"/>
            <p:cNvSpPr>
              <a:spLocks noChangeArrowheads="1"/>
            </p:cNvSpPr>
            <p:nvPr/>
          </p:nvSpPr>
          <p:spPr bwMode="auto">
            <a:xfrm>
              <a:off x="4102" y="2976"/>
              <a:ext cx="65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代码优化器</a:t>
              </a:r>
            </a:p>
          </p:txBody>
        </p:sp>
        <p:sp>
          <p:nvSpPr>
            <p:cNvPr id="313353" name="Rectangle 9"/>
            <p:cNvSpPr>
              <a:spLocks noChangeArrowheads="1"/>
            </p:cNvSpPr>
            <p:nvPr/>
          </p:nvSpPr>
          <p:spPr bwMode="auto">
            <a:xfrm>
              <a:off x="3789" y="2304"/>
              <a:ext cx="142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313354" name="Rectangle 10"/>
            <p:cNvSpPr>
              <a:spLocks noChangeArrowheads="1"/>
            </p:cNvSpPr>
            <p:nvPr/>
          </p:nvSpPr>
          <p:spPr bwMode="auto">
            <a:xfrm>
              <a:off x="4102" y="1584"/>
              <a:ext cx="650" cy="38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语法分析器</a:t>
              </a:r>
            </a:p>
          </p:txBody>
        </p:sp>
        <p:sp>
          <p:nvSpPr>
            <p:cNvPr id="313355" name="Rectangle 11"/>
            <p:cNvSpPr>
              <a:spLocks noChangeArrowheads="1"/>
            </p:cNvSpPr>
            <p:nvPr/>
          </p:nvSpPr>
          <p:spPr bwMode="auto">
            <a:xfrm>
              <a:off x="4463" y="2736"/>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中间代码</a:t>
              </a:r>
            </a:p>
          </p:txBody>
        </p:sp>
        <p:sp>
          <p:nvSpPr>
            <p:cNvPr id="74776" name="AutoShape 12"/>
            <p:cNvSpPr>
              <a:spLocks noChangeArrowheads="1"/>
            </p:cNvSpPr>
            <p:nvPr/>
          </p:nvSpPr>
          <p:spPr bwMode="auto">
            <a:xfrm>
              <a:off x="4367" y="2736"/>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777" name="AutoShape 13"/>
            <p:cNvSpPr>
              <a:spLocks noChangeArrowheads="1"/>
            </p:cNvSpPr>
            <p:nvPr/>
          </p:nvSpPr>
          <p:spPr bwMode="auto">
            <a:xfrm>
              <a:off x="4367" y="4080"/>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3358" name="Rectangle 14"/>
            <p:cNvSpPr>
              <a:spLocks noChangeArrowheads="1"/>
            </p:cNvSpPr>
            <p:nvPr/>
          </p:nvSpPr>
          <p:spPr bwMode="auto">
            <a:xfrm>
              <a:off x="4439" y="4074"/>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目标代码</a:t>
              </a:r>
            </a:p>
          </p:txBody>
        </p:sp>
        <p:sp>
          <p:nvSpPr>
            <p:cNvPr id="74779" name="AutoShape 15"/>
            <p:cNvSpPr>
              <a:spLocks noChangeArrowheads="1"/>
            </p:cNvSpPr>
            <p:nvPr/>
          </p:nvSpPr>
          <p:spPr bwMode="auto">
            <a:xfrm>
              <a:off x="4367" y="2016"/>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3360" name="Rectangle 16"/>
            <p:cNvSpPr>
              <a:spLocks noChangeArrowheads="1"/>
            </p:cNvSpPr>
            <p:nvPr/>
          </p:nvSpPr>
          <p:spPr bwMode="auto">
            <a:xfrm>
              <a:off x="4487" y="2016"/>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语法单位</a:t>
              </a:r>
            </a:p>
          </p:txBody>
        </p:sp>
        <p:sp>
          <p:nvSpPr>
            <p:cNvPr id="74781" name="AutoShape 17"/>
            <p:cNvSpPr>
              <a:spLocks noChangeArrowheads="1"/>
            </p:cNvSpPr>
            <p:nvPr/>
          </p:nvSpPr>
          <p:spPr bwMode="auto">
            <a:xfrm>
              <a:off x="4367" y="1344"/>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3362" name="Rectangle 18"/>
            <p:cNvSpPr>
              <a:spLocks noChangeArrowheads="1"/>
            </p:cNvSpPr>
            <p:nvPr/>
          </p:nvSpPr>
          <p:spPr bwMode="auto">
            <a:xfrm>
              <a:off x="4487" y="1344"/>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单词符号</a:t>
              </a:r>
            </a:p>
          </p:txBody>
        </p:sp>
        <p:sp>
          <p:nvSpPr>
            <p:cNvPr id="313363" name="Rectangle 19"/>
            <p:cNvSpPr>
              <a:spLocks noChangeArrowheads="1"/>
            </p:cNvSpPr>
            <p:nvPr/>
          </p:nvSpPr>
          <p:spPr bwMode="auto">
            <a:xfrm>
              <a:off x="4102" y="912"/>
              <a:ext cx="650"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400" b="1">
                  <a:effectLst>
                    <a:outerShdw blurRad="38100" dist="38100" dir="2700000" algn="tl">
                      <a:srgbClr val="C0C0C0"/>
                    </a:outerShdw>
                  </a:effectLst>
                  <a:latin typeface="华文新魏" pitchFamily="2" charset="-122"/>
                  <a:ea typeface="华文新魏" pitchFamily="2" charset="-122"/>
                </a:rPr>
                <a:t>词法分析器</a:t>
              </a:r>
            </a:p>
          </p:txBody>
        </p:sp>
        <p:sp>
          <p:nvSpPr>
            <p:cNvPr id="74784" name="AutoShape 20"/>
            <p:cNvSpPr>
              <a:spLocks noChangeArrowheads="1"/>
            </p:cNvSpPr>
            <p:nvPr/>
          </p:nvSpPr>
          <p:spPr bwMode="auto">
            <a:xfrm>
              <a:off x="4367" y="672"/>
              <a:ext cx="96" cy="240"/>
            </a:xfrm>
            <a:prstGeom prst="downArrow">
              <a:avLst>
                <a:gd name="adj1" fmla="val 50000"/>
                <a:gd name="adj2" fmla="val 6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3365" name="Rectangle 21"/>
            <p:cNvSpPr>
              <a:spLocks noChangeArrowheads="1"/>
            </p:cNvSpPr>
            <p:nvPr/>
          </p:nvSpPr>
          <p:spPr bwMode="auto">
            <a:xfrm>
              <a:off x="4463" y="672"/>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源程序</a:t>
              </a:r>
            </a:p>
          </p:txBody>
        </p:sp>
        <p:sp>
          <p:nvSpPr>
            <p:cNvPr id="74786" name="Line 22"/>
            <p:cNvSpPr>
              <a:spLocks noChangeShapeType="1"/>
            </p:cNvSpPr>
            <p:nvPr/>
          </p:nvSpPr>
          <p:spPr bwMode="auto">
            <a:xfrm>
              <a:off x="4343" y="2304"/>
              <a:ext cx="0" cy="384"/>
            </a:xfrm>
            <a:prstGeom prst="line">
              <a:avLst/>
            </a:prstGeom>
            <a:noFill/>
            <a:ln w="38100">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313386" name="Group 42"/>
          <p:cNvGrpSpPr>
            <a:grpSpLocks/>
          </p:cNvGrpSpPr>
          <p:nvPr/>
        </p:nvGrpSpPr>
        <p:grpSpPr bwMode="auto">
          <a:xfrm>
            <a:off x="5076825" y="1700213"/>
            <a:ext cx="3995738" cy="3529012"/>
            <a:chOff x="3016" y="1026"/>
            <a:chExt cx="2744" cy="2132"/>
          </a:xfrm>
        </p:grpSpPr>
        <p:sp>
          <p:nvSpPr>
            <p:cNvPr id="74765" name="Line 38"/>
            <p:cNvSpPr>
              <a:spLocks noChangeShapeType="1"/>
            </p:cNvSpPr>
            <p:nvPr/>
          </p:nvSpPr>
          <p:spPr bwMode="auto">
            <a:xfrm>
              <a:off x="3016" y="3158"/>
              <a:ext cx="2744"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6" name="Line 39"/>
            <p:cNvSpPr>
              <a:spLocks noChangeShapeType="1"/>
            </p:cNvSpPr>
            <p:nvPr/>
          </p:nvSpPr>
          <p:spPr bwMode="auto">
            <a:xfrm>
              <a:off x="3016" y="1026"/>
              <a:ext cx="2744"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7" name="Line 40"/>
            <p:cNvSpPr>
              <a:spLocks noChangeShapeType="1"/>
            </p:cNvSpPr>
            <p:nvPr/>
          </p:nvSpPr>
          <p:spPr bwMode="auto">
            <a:xfrm>
              <a:off x="3016" y="1026"/>
              <a:ext cx="0" cy="2132"/>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8" name="Line 41"/>
            <p:cNvSpPr>
              <a:spLocks noChangeShapeType="1"/>
            </p:cNvSpPr>
            <p:nvPr/>
          </p:nvSpPr>
          <p:spPr bwMode="auto">
            <a:xfrm>
              <a:off x="5760" y="1026"/>
              <a:ext cx="0" cy="2132"/>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3387" name="Group 43"/>
          <p:cNvGrpSpPr>
            <a:grpSpLocks/>
          </p:cNvGrpSpPr>
          <p:nvPr/>
        </p:nvGrpSpPr>
        <p:grpSpPr bwMode="auto">
          <a:xfrm>
            <a:off x="5435600" y="4797425"/>
            <a:ext cx="2987675" cy="1728788"/>
            <a:chOff x="3016" y="1026"/>
            <a:chExt cx="2744" cy="2132"/>
          </a:xfrm>
        </p:grpSpPr>
        <p:sp>
          <p:nvSpPr>
            <p:cNvPr id="74761" name="Line 44"/>
            <p:cNvSpPr>
              <a:spLocks noChangeShapeType="1"/>
            </p:cNvSpPr>
            <p:nvPr/>
          </p:nvSpPr>
          <p:spPr bwMode="auto">
            <a:xfrm>
              <a:off x="3016" y="3158"/>
              <a:ext cx="2744" cy="0"/>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2" name="Line 45"/>
            <p:cNvSpPr>
              <a:spLocks noChangeShapeType="1"/>
            </p:cNvSpPr>
            <p:nvPr/>
          </p:nvSpPr>
          <p:spPr bwMode="auto">
            <a:xfrm>
              <a:off x="3016" y="1026"/>
              <a:ext cx="2744" cy="0"/>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3" name="Line 46"/>
            <p:cNvSpPr>
              <a:spLocks noChangeShapeType="1"/>
            </p:cNvSpPr>
            <p:nvPr/>
          </p:nvSpPr>
          <p:spPr bwMode="auto">
            <a:xfrm>
              <a:off x="3016" y="1026"/>
              <a:ext cx="0" cy="2132"/>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4" name="Line 47"/>
            <p:cNvSpPr>
              <a:spLocks noChangeShapeType="1"/>
            </p:cNvSpPr>
            <p:nvPr/>
          </p:nvSpPr>
          <p:spPr bwMode="auto">
            <a:xfrm>
              <a:off x="5760" y="1026"/>
              <a:ext cx="0" cy="2132"/>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3386"/>
                                        </p:tgtEl>
                                        <p:attrNameLst>
                                          <p:attrName>style.visibility</p:attrName>
                                        </p:attrNameLst>
                                      </p:cBhvr>
                                      <p:to>
                                        <p:strVal val="visible"/>
                                      </p:to>
                                    </p:set>
                                    <p:animEffect transition="in" filter="wipe(up)">
                                      <p:cBhvr>
                                        <p:cTn id="7" dur="500"/>
                                        <p:tgtEl>
                                          <p:spTgt spid="313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13387"/>
                                        </p:tgtEl>
                                        <p:attrNameLst>
                                          <p:attrName>style.visibility</p:attrName>
                                        </p:attrNameLst>
                                      </p:cBhvr>
                                      <p:to>
                                        <p:strVal val="visible"/>
                                      </p:to>
                                    </p:set>
                                    <p:animEffect transition="in" filter="wipe(down)">
                                      <p:cBhvr>
                                        <p:cTn id="12" dur="500"/>
                                        <p:tgtEl>
                                          <p:spTgt spid="313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3346"/>
                                        </p:tgtEl>
                                        <p:attrNameLst>
                                          <p:attrName>style.visibility</p:attrName>
                                        </p:attrNameLst>
                                      </p:cBhvr>
                                      <p:to>
                                        <p:strVal val="visible"/>
                                      </p:to>
                                    </p:set>
                                    <p:animEffect transition="in" filter="wipe(left)">
                                      <p:cBhvr>
                                        <p:cTn id="17" dur="500"/>
                                        <p:tgtEl>
                                          <p:spTgt spid="3133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3347">
                                            <p:txEl>
                                              <p:pRg st="0" end="0"/>
                                            </p:txEl>
                                          </p:spTgt>
                                        </p:tgtEl>
                                        <p:attrNameLst>
                                          <p:attrName>style.visibility</p:attrName>
                                        </p:attrNameLst>
                                      </p:cBhvr>
                                      <p:to>
                                        <p:strVal val="visible"/>
                                      </p:to>
                                    </p:set>
                                    <p:animEffect transition="in" filter="blinds(horizontal)">
                                      <p:cBhvr>
                                        <p:cTn id="22" dur="500"/>
                                        <p:tgtEl>
                                          <p:spTgt spid="313347">
                                            <p:txEl>
                                              <p:pRg st="0" end="0"/>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13347">
                                            <p:txEl>
                                              <p:pRg st="1" end="1"/>
                                            </p:txEl>
                                          </p:spTgt>
                                        </p:tgtEl>
                                        <p:attrNameLst>
                                          <p:attrName>style.visibility</p:attrName>
                                        </p:attrNameLst>
                                      </p:cBhvr>
                                      <p:to>
                                        <p:strVal val="visible"/>
                                      </p:to>
                                    </p:set>
                                    <p:animEffect transition="in" filter="blinds(horizontal)">
                                      <p:cBhvr>
                                        <p:cTn id="25" dur="500"/>
                                        <p:tgtEl>
                                          <p:spTgt spid="313347">
                                            <p:txEl>
                                              <p:pRg st="1" end="1"/>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13347">
                                            <p:txEl>
                                              <p:pRg st="2" end="2"/>
                                            </p:txEl>
                                          </p:spTgt>
                                        </p:tgtEl>
                                        <p:attrNameLst>
                                          <p:attrName>style.visibility</p:attrName>
                                        </p:attrNameLst>
                                      </p:cBhvr>
                                      <p:to>
                                        <p:strVal val="visible"/>
                                      </p:to>
                                    </p:set>
                                    <p:animEffect transition="in" filter="blinds(horizontal)">
                                      <p:cBhvr>
                                        <p:cTn id="28" dur="500"/>
                                        <p:tgtEl>
                                          <p:spTgt spid="313347">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13347">
                                            <p:txEl>
                                              <p:pRg st="3" end="3"/>
                                            </p:txEl>
                                          </p:spTgt>
                                        </p:tgtEl>
                                        <p:attrNameLst>
                                          <p:attrName>style.visibility</p:attrName>
                                        </p:attrNameLst>
                                      </p:cBhvr>
                                      <p:to>
                                        <p:strVal val="visible"/>
                                      </p:to>
                                    </p:set>
                                    <p:animEffect transition="in" filter="blinds(horizontal)">
                                      <p:cBhvr>
                                        <p:cTn id="33" dur="500"/>
                                        <p:tgtEl>
                                          <p:spTgt spid="313347">
                                            <p:txEl>
                                              <p:pRg st="3" end="3"/>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13347">
                                            <p:txEl>
                                              <p:pRg st="4" end="4"/>
                                            </p:txEl>
                                          </p:spTgt>
                                        </p:tgtEl>
                                        <p:attrNameLst>
                                          <p:attrName>style.visibility</p:attrName>
                                        </p:attrNameLst>
                                      </p:cBhvr>
                                      <p:to>
                                        <p:strVal val="visible"/>
                                      </p:to>
                                    </p:set>
                                    <p:animEffect transition="in" filter="blinds(horizontal)">
                                      <p:cBhvr>
                                        <p:cTn id="36" dur="500"/>
                                        <p:tgtEl>
                                          <p:spTgt spid="313347">
                                            <p:txEl>
                                              <p:pRg st="4" end="4"/>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13347">
                                            <p:txEl>
                                              <p:pRg st="5" end="5"/>
                                            </p:txEl>
                                          </p:spTgt>
                                        </p:tgtEl>
                                        <p:attrNameLst>
                                          <p:attrName>style.visibility</p:attrName>
                                        </p:attrNameLst>
                                      </p:cBhvr>
                                      <p:to>
                                        <p:strVal val="visible"/>
                                      </p:to>
                                    </p:set>
                                    <p:animEffect transition="in" filter="blinds(horizontal)">
                                      <p:cBhvr>
                                        <p:cTn id="39" dur="500"/>
                                        <p:tgtEl>
                                          <p:spTgt spid="3133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6" grpId="0"/>
      <p:bldP spid="313347" grpId="0" uiExpand="1"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367DADC-6066-458B-864C-3B921902125D}" type="datetime1">
              <a:rPr lang="zh-CN" altLang="en-US" smtClean="0"/>
              <a:pPr/>
              <a:t>2017/2/24</a:t>
            </a:fld>
            <a:endParaRPr lang="en-US" altLang="zh-CN" smtClean="0"/>
          </a:p>
        </p:txBody>
      </p:sp>
      <p:sp>
        <p:nvSpPr>
          <p:cNvPr id="75779"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48CB3FD-0AD1-4436-922D-CFB6E30B241B}" type="slidenum">
              <a:rPr lang="zh-CN" altLang="en-US"/>
              <a:pPr/>
              <a:t>70</a:t>
            </a:fld>
            <a:endParaRPr lang="en-US" altLang="zh-CN"/>
          </a:p>
        </p:txBody>
      </p:sp>
      <p:sp>
        <p:nvSpPr>
          <p:cNvPr id="75780" name="Rectangle 2"/>
          <p:cNvSpPr>
            <a:spLocks noGrp="1" noRot="1" noChangeArrowheads="1"/>
          </p:cNvSpPr>
          <p:nvPr>
            <p:ph type="title"/>
          </p:nvPr>
        </p:nvSpPr>
        <p:spPr>
          <a:xfrm>
            <a:off x="323850" y="620713"/>
            <a:ext cx="8540750" cy="774700"/>
          </a:xfrm>
        </p:spPr>
        <p:txBody>
          <a:bodyPr/>
          <a:lstStyle/>
          <a:p>
            <a:r>
              <a:rPr lang="zh-CN" altLang="en-US" b="1" smtClean="0">
                <a:latin typeface="Times New Roman" panose="02020603050405020304" pitchFamily="18" charset="0"/>
                <a:ea typeface="华文新魏" panose="02010800040101010101" pitchFamily="2" charset="-122"/>
              </a:rPr>
              <a:t>1.5 编译程序的生成</a:t>
            </a:r>
          </a:p>
        </p:txBody>
      </p:sp>
      <p:sp>
        <p:nvSpPr>
          <p:cNvPr id="75781" name="Rectangle 3"/>
          <p:cNvSpPr>
            <a:spLocks noGrp="1" noRot="1" noChangeArrowheads="1"/>
          </p:cNvSpPr>
          <p:nvPr>
            <p:ph type="body" idx="1"/>
          </p:nvPr>
        </p:nvSpPr>
        <p:spPr>
          <a:xfrm>
            <a:off x="611188" y="1628775"/>
            <a:ext cx="8343900" cy="4824413"/>
          </a:xfrm>
        </p:spPr>
        <p:txBody>
          <a:bodyPr/>
          <a:lstStyle/>
          <a:p>
            <a:r>
              <a:rPr lang="zh-CN" altLang="en-US" sz="2800" b="1" smtClean="0">
                <a:latin typeface="Times New Roman" panose="02020603050405020304" pitchFamily="18" charset="0"/>
                <a:ea typeface="华文新魏" panose="02010800040101010101" pitchFamily="2" charset="-122"/>
              </a:rPr>
              <a:t>设计目标</a:t>
            </a:r>
          </a:p>
          <a:p>
            <a:pPr lvl="1" algn="just"/>
            <a:r>
              <a:rPr lang="en-US" altLang="zh-CN" b="1" smtClean="0">
                <a:latin typeface="Times New Roman" panose="02020603050405020304" pitchFamily="18" charset="0"/>
                <a:ea typeface="华文新魏" panose="02010800040101010101" pitchFamily="2" charset="-122"/>
              </a:rPr>
              <a:t>Object-Program</a:t>
            </a:r>
          </a:p>
          <a:p>
            <a:pPr lvl="2" algn="just"/>
            <a:r>
              <a:rPr lang="zh-CN" altLang="en-US" b="1" smtClean="0">
                <a:latin typeface="Times New Roman" panose="02020603050405020304" pitchFamily="18" charset="0"/>
                <a:ea typeface="华文新魏" panose="02010800040101010101" pitchFamily="2" charset="-122"/>
              </a:rPr>
              <a:t>目标程序小，执行速度快</a:t>
            </a:r>
          </a:p>
          <a:p>
            <a:pPr lvl="1" algn="just"/>
            <a:r>
              <a:rPr lang="en-US" altLang="zh-CN" b="1" smtClean="0">
                <a:latin typeface="Times New Roman" panose="02020603050405020304" pitchFamily="18" charset="0"/>
                <a:ea typeface="华文新魏" panose="02010800040101010101" pitchFamily="2" charset="-122"/>
              </a:rPr>
              <a:t>Compiler</a:t>
            </a:r>
          </a:p>
          <a:p>
            <a:pPr lvl="2" algn="just"/>
            <a:r>
              <a:rPr lang="zh-CN" altLang="en-US" b="1" smtClean="0">
                <a:latin typeface="Times New Roman" panose="02020603050405020304" pitchFamily="18" charset="0"/>
                <a:ea typeface="华文新魏" panose="02010800040101010101" pitchFamily="2" charset="-122"/>
              </a:rPr>
              <a:t>编译程序小，执行速度快</a:t>
            </a:r>
          </a:p>
          <a:p>
            <a:pPr lvl="2" algn="just"/>
            <a:r>
              <a:rPr lang="zh-CN" altLang="en-US" b="1" smtClean="0">
                <a:latin typeface="Times New Roman" panose="02020603050405020304" pitchFamily="18" charset="0"/>
                <a:ea typeface="华文新魏" panose="02010800040101010101" pitchFamily="2" charset="-122"/>
              </a:rPr>
              <a:t>诊断能力强，可靠性高</a:t>
            </a:r>
          </a:p>
          <a:p>
            <a:pPr lvl="2" algn="just"/>
            <a:r>
              <a:rPr lang="zh-CN" altLang="en-US" b="1" smtClean="0">
                <a:latin typeface="Times New Roman" panose="02020603050405020304" pitchFamily="18" charset="0"/>
                <a:ea typeface="华文新魏" panose="02010800040101010101" pitchFamily="2" charset="-122"/>
              </a:rPr>
              <a:t>可移植性好，可扩充性好</a:t>
            </a:r>
          </a:p>
          <a:p>
            <a:r>
              <a:rPr lang="zh-CN" altLang="en-US" sz="2800" b="1" smtClean="0">
                <a:latin typeface="Times New Roman" panose="02020603050405020304" pitchFamily="18" charset="0"/>
                <a:ea typeface="华文新魏" panose="02010800040101010101" pitchFamily="2" charset="-122"/>
              </a:rPr>
              <a:t>如何实现编译器？</a:t>
            </a:r>
          </a:p>
          <a:p>
            <a:pPr lvl="1"/>
            <a:r>
              <a:rPr lang="zh-CN" altLang="en-US" sz="2400" b="1" smtClean="0">
                <a:latin typeface="Times New Roman" panose="02020603050405020304" pitchFamily="18" charset="0"/>
                <a:ea typeface="华文新魏" panose="02010800040101010101" pitchFamily="2" charset="-122"/>
              </a:rPr>
              <a:t>直接用可运行的代码编制——太费力！</a:t>
            </a:r>
          </a:p>
        </p:txBody>
      </p:sp>
      <p:sp>
        <p:nvSpPr>
          <p:cNvPr id="75782" name="Rectangle 4"/>
          <p:cNvSpPr>
            <a:spLocks noChangeArrowheads="1"/>
          </p:cNvSpPr>
          <p:nvPr/>
        </p:nvSpPr>
        <p:spPr bwMode="auto">
          <a:xfrm>
            <a:off x="1143000" y="1676400"/>
            <a:ext cx="7772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tx2"/>
              </a:buClr>
              <a:buSzPct val="75000"/>
              <a:buFont typeface="Monotype Sorts" pitchFamily="2" charset="2"/>
              <a:buChar char="n"/>
            </a:pPr>
            <a:endParaRPr kumimoji="1" lang="zh-CN" altLang="en-US" sz="3200" b="1">
              <a:solidFill>
                <a:srgbClr val="FFFF00"/>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D74681B-3B1E-439F-9E3A-DA097A321486}" type="datetime1">
              <a:rPr lang="zh-CN" altLang="en-US" smtClean="0"/>
              <a:pPr/>
              <a:t>2017/2/24</a:t>
            </a:fld>
            <a:endParaRPr lang="en-US" altLang="zh-CN" smtClean="0"/>
          </a:p>
        </p:txBody>
      </p:sp>
      <p:sp>
        <p:nvSpPr>
          <p:cNvPr id="76803"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77D64E1-8F13-4747-B818-1F6D1220F5E9}" type="slidenum">
              <a:rPr lang="zh-CN" altLang="en-US"/>
              <a:pPr/>
              <a:t>71</a:t>
            </a:fld>
            <a:endParaRPr lang="en-US" altLang="zh-CN"/>
          </a:p>
        </p:txBody>
      </p:sp>
      <p:sp>
        <p:nvSpPr>
          <p:cNvPr id="76804" name="Rectangle 2"/>
          <p:cNvSpPr>
            <a:spLocks noGrp="1" noRot="1" noChangeArrowheads="1"/>
          </p:cNvSpPr>
          <p:nvPr>
            <p:ph type="title"/>
          </p:nvPr>
        </p:nvSpPr>
        <p:spPr>
          <a:xfrm>
            <a:off x="2124075" y="620713"/>
            <a:ext cx="4340225" cy="619125"/>
          </a:xfrm>
        </p:spPr>
        <p:txBody>
          <a:bodyPr lIns="92075" tIns="46038" rIns="92075" bIns="46038"/>
          <a:lstStyle/>
          <a:p>
            <a:r>
              <a:rPr lang="en-US" altLang="zh-CN" b="1" smtClean="0">
                <a:latin typeface="Times New Roman" panose="02020603050405020304" pitchFamily="18" charset="0"/>
                <a:ea typeface="华文新魏" panose="02010800040101010101" pitchFamily="2" charset="-122"/>
              </a:rPr>
              <a:t>T </a:t>
            </a:r>
            <a:r>
              <a:rPr lang="zh-CN" altLang="en-US" b="1" smtClean="0">
                <a:latin typeface="Times New Roman" panose="02020603050405020304" pitchFamily="18" charset="0"/>
                <a:ea typeface="华文新魏" panose="02010800040101010101" pitchFamily="2" charset="-122"/>
              </a:rPr>
              <a:t>形图</a:t>
            </a:r>
          </a:p>
        </p:txBody>
      </p:sp>
      <p:sp>
        <p:nvSpPr>
          <p:cNvPr id="76805" name="Rectangle 3"/>
          <p:cNvSpPr>
            <a:spLocks noGrp="1" noRot="1" noChangeArrowheads="1"/>
          </p:cNvSpPr>
          <p:nvPr>
            <p:ph type="body" idx="1"/>
          </p:nvPr>
        </p:nvSpPr>
        <p:spPr>
          <a:xfrm>
            <a:off x="1143000" y="2209800"/>
            <a:ext cx="7772400" cy="762000"/>
          </a:xfrm>
        </p:spPr>
        <p:txBody>
          <a:bodyPr lIns="92075" tIns="46038" rIns="92075" bIns="46038"/>
          <a:lstStyle/>
          <a:p>
            <a:pPr algn="just"/>
            <a:r>
              <a:rPr lang="zh-CN" altLang="en-US" b="1" smtClean="0">
                <a:latin typeface="Times New Roman" panose="02020603050405020304" pitchFamily="18" charset="0"/>
                <a:ea typeface="华文新魏" panose="02010800040101010101" pitchFamily="2" charset="-122"/>
              </a:rPr>
              <a:t>表示语言翻译的 </a:t>
            </a:r>
            <a:r>
              <a:rPr lang="en-US" altLang="zh-CN" b="1" smtClean="0">
                <a:latin typeface="Times New Roman" panose="02020603050405020304" pitchFamily="18" charset="0"/>
                <a:ea typeface="华文新魏" panose="02010800040101010101" pitchFamily="2" charset="-122"/>
              </a:rPr>
              <a:t>T </a:t>
            </a:r>
            <a:r>
              <a:rPr lang="zh-CN" altLang="en-US" b="1" smtClean="0">
                <a:latin typeface="Times New Roman" panose="02020603050405020304" pitchFamily="18" charset="0"/>
                <a:ea typeface="华文新魏" panose="02010800040101010101" pitchFamily="2" charset="-122"/>
              </a:rPr>
              <a:t>形图</a:t>
            </a:r>
          </a:p>
        </p:txBody>
      </p:sp>
      <p:sp>
        <p:nvSpPr>
          <p:cNvPr id="315397" name="Text Box 5"/>
          <p:cNvSpPr txBox="1">
            <a:spLocks noChangeArrowheads="1"/>
          </p:cNvSpPr>
          <p:nvPr/>
        </p:nvSpPr>
        <p:spPr bwMode="auto">
          <a:xfrm>
            <a:off x="2627313" y="343852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1" lang="zh-CN" altLang="en-US" sz="2400" b="1">
                <a:effectLst>
                  <a:outerShdw blurRad="38100" dist="38100" dir="2700000" algn="tl">
                    <a:srgbClr val="C0C0C0"/>
                  </a:outerShdw>
                </a:effectLst>
                <a:latin typeface="Times New Roman" pitchFamily="18" charset="0"/>
                <a:ea typeface="华文新魏" pitchFamily="2" charset="-122"/>
              </a:rPr>
              <a:t>源语言</a:t>
            </a:r>
          </a:p>
        </p:txBody>
      </p:sp>
      <p:sp>
        <p:nvSpPr>
          <p:cNvPr id="315398" name="Text Box 6"/>
          <p:cNvSpPr txBox="1">
            <a:spLocks noChangeArrowheads="1"/>
          </p:cNvSpPr>
          <p:nvPr/>
        </p:nvSpPr>
        <p:spPr bwMode="auto">
          <a:xfrm>
            <a:off x="3635375" y="4157663"/>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1" lang="zh-CN" altLang="en-US" sz="2400" b="1">
                <a:effectLst>
                  <a:outerShdw blurRad="38100" dist="38100" dir="2700000" algn="tl">
                    <a:srgbClr val="C0C0C0"/>
                  </a:outerShdw>
                </a:effectLst>
                <a:latin typeface="Times New Roman" pitchFamily="18" charset="0"/>
                <a:ea typeface="华文新魏" pitchFamily="2" charset="-122"/>
              </a:rPr>
              <a:t>表示语言</a:t>
            </a:r>
          </a:p>
        </p:txBody>
      </p:sp>
      <p:sp>
        <p:nvSpPr>
          <p:cNvPr id="315399" name="Text Box 7"/>
          <p:cNvSpPr txBox="1">
            <a:spLocks noChangeArrowheads="1"/>
          </p:cNvSpPr>
          <p:nvPr/>
        </p:nvSpPr>
        <p:spPr bwMode="auto">
          <a:xfrm>
            <a:off x="4500563" y="3438525"/>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1" lang="zh-CN" altLang="en-US" sz="2400" b="1">
                <a:effectLst>
                  <a:outerShdw blurRad="38100" dist="38100" dir="2700000" algn="tl">
                    <a:srgbClr val="C0C0C0"/>
                  </a:outerShdw>
                </a:effectLst>
                <a:latin typeface="Times New Roman" pitchFamily="18" charset="0"/>
                <a:ea typeface="华文新魏" pitchFamily="2" charset="-122"/>
              </a:rPr>
              <a:t>目标语言</a:t>
            </a:r>
          </a:p>
        </p:txBody>
      </p:sp>
      <p:grpSp>
        <p:nvGrpSpPr>
          <p:cNvPr id="76809" name="Group 8"/>
          <p:cNvGrpSpPr>
            <a:grpSpLocks/>
          </p:cNvGrpSpPr>
          <p:nvPr/>
        </p:nvGrpSpPr>
        <p:grpSpPr bwMode="auto">
          <a:xfrm>
            <a:off x="2286000" y="2209800"/>
            <a:ext cx="6248400" cy="1447800"/>
            <a:chOff x="1440" y="1392"/>
            <a:chExt cx="3936" cy="912"/>
          </a:xfrm>
        </p:grpSpPr>
        <p:sp>
          <p:nvSpPr>
            <p:cNvPr id="76819" name="Line 9"/>
            <p:cNvSpPr>
              <a:spLocks noChangeShapeType="1"/>
            </p:cNvSpPr>
            <p:nvPr/>
          </p:nvSpPr>
          <p:spPr bwMode="auto">
            <a:xfrm>
              <a:off x="1440" y="2304"/>
              <a:ext cx="2784" cy="0"/>
            </a:xfrm>
            <a:prstGeom prst="line">
              <a:avLst/>
            </a:prstGeom>
            <a:noFill/>
            <a:ln w="9525">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315402" name="AutoShape 10"/>
            <p:cNvSpPr>
              <a:spLocks noChangeArrowheads="1"/>
            </p:cNvSpPr>
            <p:nvPr/>
          </p:nvSpPr>
          <p:spPr bwMode="auto">
            <a:xfrm>
              <a:off x="4320" y="1392"/>
              <a:ext cx="1056" cy="432"/>
            </a:xfrm>
            <a:prstGeom prst="wedgeRoundRectCallout">
              <a:avLst>
                <a:gd name="adj1" fmla="val -76514"/>
                <a:gd name="adj2" fmla="val 15625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ctr">
                <a:lnSpc>
                  <a:spcPct val="110000"/>
                </a:lnSpc>
                <a:spcBef>
                  <a:spcPct val="20000"/>
                </a:spcBef>
                <a:buClr>
                  <a:schemeClr val="folHlink"/>
                </a:buClr>
                <a:buSzPct val="75000"/>
                <a:buFont typeface="Monotype Sorts" pitchFamily="2" charset="2"/>
                <a:buNone/>
                <a:defRPr/>
              </a:pPr>
              <a:r>
                <a:rPr kumimoji="1" lang="zh-CN" altLang="en-US" sz="3200" b="1">
                  <a:solidFill>
                    <a:schemeClr val="hlink"/>
                  </a:solidFill>
                  <a:effectLst>
                    <a:outerShdw blurRad="38100" dist="38100" dir="2700000" algn="tl">
                      <a:srgbClr val="000000"/>
                    </a:outerShdw>
                  </a:effectLst>
                  <a:latin typeface="宋体" pitchFamily="2" charset="-122"/>
                  <a:ea typeface="华文新魏" pitchFamily="2" charset="-122"/>
                </a:rPr>
                <a:t>功能</a:t>
              </a:r>
            </a:p>
          </p:txBody>
        </p:sp>
      </p:grpSp>
      <p:grpSp>
        <p:nvGrpSpPr>
          <p:cNvPr id="76810" name="Group 21"/>
          <p:cNvGrpSpPr>
            <a:grpSpLocks/>
          </p:cNvGrpSpPr>
          <p:nvPr/>
        </p:nvGrpSpPr>
        <p:grpSpPr bwMode="auto">
          <a:xfrm>
            <a:off x="2627313" y="3355975"/>
            <a:ext cx="3313112" cy="1296988"/>
            <a:chOff x="1655" y="3203"/>
            <a:chExt cx="2087" cy="817"/>
          </a:xfrm>
        </p:grpSpPr>
        <p:sp>
          <p:nvSpPr>
            <p:cNvPr id="76811" name="Line 12"/>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2" name="Line 13"/>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3" name="Line 14"/>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4" name="Line 15"/>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5" name="Line 16"/>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6" name="Line 17"/>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7" name="Line 18"/>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8" name="Line 19"/>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2"/>
          <p:cNvSpPr>
            <a:spLocks noGrp="1" noRot="1" noChangeArrowheads="1"/>
          </p:cNvSpPr>
          <p:nvPr>
            <p:ph type="title"/>
          </p:nvPr>
        </p:nvSpPr>
        <p:spPr>
          <a:xfrm>
            <a:off x="609600" y="304800"/>
            <a:ext cx="8229600" cy="533400"/>
          </a:xfrm>
        </p:spPr>
        <p:txBody>
          <a:bodyPr lIns="92075" tIns="46038" rIns="92075" bIns="46038"/>
          <a:lstStyle/>
          <a:p>
            <a:r>
              <a:rPr lang="zh-CN" altLang="en-US" sz="3200" b="1" smtClean="0">
                <a:solidFill>
                  <a:schemeClr val="tx1"/>
                </a:solidFill>
                <a:latin typeface="Times New Roman" panose="02020603050405020304" pitchFamily="18" charset="0"/>
                <a:ea typeface="华文新魏" panose="02010800040101010101" pitchFamily="2" charset="-122"/>
              </a:rPr>
              <a:t>1</a:t>
            </a:r>
            <a:r>
              <a:rPr lang="en-US" altLang="zh-CN" sz="3200" b="1" smtClean="0">
                <a:solidFill>
                  <a:schemeClr val="tx1"/>
                </a:solidFill>
                <a:latin typeface="Times New Roman" panose="02020603050405020304" pitchFamily="18" charset="0"/>
                <a:ea typeface="华文新魏" panose="02010800040101010101" pitchFamily="2" charset="-122"/>
              </a:rPr>
              <a:t>)</a:t>
            </a:r>
            <a:r>
              <a:rPr lang="zh-CN" altLang="en-US" sz="3200" b="1" smtClean="0">
                <a:solidFill>
                  <a:schemeClr val="tx1"/>
                </a:solidFill>
                <a:latin typeface="Times New Roman" panose="02020603050405020304" pitchFamily="18" charset="0"/>
                <a:ea typeface="华文新魏" panose="02010800040101010101" pitchFamily="2" charset="-122"/>
              </a:rPr>
              <a:t>交叉编译</a:t>
            </a:r>
            <a:r>
              <a:rPr lang="en-US" altLang="zh-CN" sz="3200" b="1" smtClean="0">
                <a:solidFill>
                  <a:schemeClr val="tx1"/>
                </a:solidFill>
                <a:latin typeface="Times New Roman" panose="02020603050405020304" pitchFamily="18" charset="0"/>
                <a:ea typeface="华文新魏" panose="02010800040101010101" pitchFamily="2" charset="-122"/>
              </a:rPr>
              <a:t>(Cross Compiling)</a:t>
            </a:r>
            <a:endParaRPr lang="zh-CN" altLang="en-US" sz="3200" b="1" smtClean="0">
              <a:solidFill>
                <a:schemeClr val="tx1"/>
              </a:solidFill>
              <a:latin typeface="Times New Roman" panose="02020603050405020304" pitchFamily="18" charset="0"/>
              <a:ea typeface="华文新魏" panose="02010800040101010101" pitchFamily="2" charset="-122"/>
            </a:endParaRPr>
          </a:p>
        </p:txBody>
      </p:sp>
      <p:sp>
        <p:nvSpPr>
          <p:cNvPr id="77827" name="Rectangle 3"/>
          <p:cNvSpPr>
            <a:spLocks noGrp="1" noRot="1" noChangeArrowheads="1"/>
          </p:cNvSpPr>
          <p:nvPr>
            <p:ph type="body" idx="1"/>
          </p:nvPr>
        </p:nvSpPr>
        <p:spPr>
          <a:xfrm>
            <a:off x="304800" y="990600"/>
            <a:ext cx="8229600" cy="1752600"/>
          </a:xfrm>
        </p:spPr>
        <p:txBody>
          <a:bodyPr lIns="92075" tIns="46038" rIns="92075" bIns="46038"/>
          <a:lstStyle/>
          <a:p>
            <a:pPr>
              <a:lnSpc>
                <a:spcPct val="90000"/>
              </a:lnSpc>
            </a:pPr>
            <a:r>
              <a:rPr lang="en-US" altLang="zh-CN" sz="2800" b="1" smtClean="0">
                <a:latin typeface="Times New Roman" panose="02020603050405020304" pitchFamily="18" charset="0"/>
                <a:ea typeface="华文新魏" panose="02010800040101010101" pitchFamily="2" charset="-122"/>
              </a:rPr>
              <a:t>Q1</a:t>
            </a:r>
            <a:r>
              <a:rPr lang="zh-CN" altLang="en-US" sz="2800" b="1" smtClean="0">
                <a:latin typeface="Times New Roman" panose="02020603050405020304" pitchFamily="18" charset="0"/>
                <a:ea typeface="华文新魏" panose="02010800040101010101" pitchFamily="2" charset="-122"/>
              </a:rPr>
              <a:t>：</a:t>
            </a:r>
            <a:r>
              <a:rPr lang="en-US" altLang="zh-CN" sz="2800" b="1" smtClean="0">
                <a:latin typeface="Times New Roman" panose="02020603050405020304" pitchFamily="18" charset="0"/>
                <a:ea typeface="华文新魏" panose="02010800040101010101" pitchFamily="2" charset="-122"/>
              </a:rPr>
              <a:t>A</a:t>
            </a:r>
            <a:r>
              <a:rPr lang="zh-CN" altLang="en-US" sz="2800" b="1" smtClean="0">
                <a:latin typeface="Times New Roman" panose="02020603050405020304" pitchFamily="18" charset="0"/>
                <a:ea typeface="华文新魏" panose="02010800040101010101" pitchFamily="2" charset="-122"/>
              </a:rPr>
              <a:t>机上有一个</a:t>
            </a:r>
            <a:r>
              <a:rPr lang="en-US" altLang="zh-CN" sz="2800" b="1" smtClean="0">
                <a:latin typeface="Times New Roman" panose="02020603050405020304" pitchFamily="18" charset="0"/>
                <a:ea typeface="华文新魏" panose="02010800040101010101" pitchFamily="2" charset="-122"/>
              </a:rPr>
              <a:t>C</a:t>
            </a:r>
            <a:r>
              <a:rPr lang="zh-CN" altLang="en-US" sz="2800" b="1" smtClean="0">
                <a:latin typeface="Times New Roman" panose="02020603050405020304" pitchFamily="18" charset="0"/>
                <a:ea typeface="华文新魏" panose="02010800040101010101" pitchFamily="2" charset="-122"/>
              </a:rPr>
              <a:t>语言编译器，是否可利用此编译器实现</a:t>
            </a:r>
            <a:r>
              <a:rPr lang="en-US" altLang="zh-CN" sz="2800" b="1" smtClean="0">
                <a:latin typeface="Times New Roman" panose="02020603050405020304" pitchFamily="18" charset="0"/>
                <a:ea typeface="华文新魏" panose="02010800040101010101" pitchFamily="2" charset="-122"/>
              </a:rPr>
              <a:t>B</a:t>
            </a:r>
            <a:r>
              <a:rPr lang="zh-CN" altLang="en-US" sz="2800" b="1" smtClean="0">
                <a:latin typeface="Times New Roman" panose="02020603050405020304" pitchFamily="18" charset="0"/>
                <a:ea typeface="华文新魏" panose="02010800040101010101" pitchFamily="2" charset="-122"/>
              </a:rPr>
              <a:t>机上的</a:t>
            </a:r>
            <a:r>
              <a:rPr lang="en-US" altLang="zh-CN" sz="2800" b="1" smtClean="0">
                <a:latin typeface="Times New Roman" panose="02020603050405020304" pitchFamily="18" charset="0"/>
                <a:ea typeface="华文新魏" panose="02010800040101010101" pitchFamily="2" charset="-122"/>
              </a:rPr>
              <a:t>C</a:t>
            </a:r>
            <a:r>
              <a:rPr lang="zh-CN" altLang="en-US" sz="2800" b="1" smtClean="0">
                <a:latin typeface="Times New Roman" panose="02020603050405020304" pitchFamily="18" charset="0"/>
                <a:ea typeface="华文新魏" panose="02010800040101010101" pitchFamily="2" charset="-122"/>
              </a:rPr>
              <a:t>语言编译器？</a:t>
            </a:r>
          </a:p>
          <a:p>
            <a:pPr lvl="1" algn="just">
              <a:lnSpc>
                <a:spcPct val="90000"/>
              </a:lnSpc>
            </a:pPr>
            <a:r>
              <a:rPr lang="zh-CN" altLang="en-US" sz="2400" b="1" smtClean="0">
                <a:solidFill>
                  <a:srgbClr val="800080"/>
                </a:solidFill>
                <a:latin typeface="Times New Roman" panose="02020603050405020304" pitchFamily="18" charset="0"/>
                <a:ea typeface="华文新魏" panose="02010800040101010101" pitchFamily="2" charset="-122"/>
              </a:rPr>
              <a:t>条件：</a:t>
            </a:r>
            <a:r>
              <a:rPr lang="en-US" altLang="zh-CN" sz="2400" b="1" smtClean="0">
                <a:solidFill>
                  <a:srgbClr val="800080"/>
                </a:solidFill>
                <a:latin typeface="Times New Roman" panose="02020603050405020304" pitchFamily="18" charset="0"/>
                <a:ea typeface="华文新魏" panose="02010800040101010101" pitchFamily="2" charset="-122"/>
              </a:rPr>
              <a:t>A </a:t>
            </a:r>
            <a:r>
              <a:rPr lang="zh-CN" altLang="en-US" sz="2400" b="1" smtClean="0">
                <a:solidFill>
                  <a:srgbClr val="800080"/>
                </a:solidFill>
                <a:latin typeface="Times New Roman" panose="02020603050405020304" pitchFamily="18" charset="0"/>
                <a:ea typeface="华文新魏" panose="02010800040101010101" pitchFamily="2" charset="-122"/>
              </a:rPr>
              <a:t>机有 </a:t>
            </a:r>
            <a:r>
              <a:rPr lang="en-US" altLang="zh-CN" sz="2400" b="1" smtClean="0">
                <a:solidFill>
                  <a:srgbClr val="800080"/>
                </a:solidFill>
                <a:latin typeface="Times New Roman" panose="02020603050405020304" pitchFamily="18" charset="0"/>
                <a:ea typeface="华文新魏" panose="02010800040101010101" pitchFamily="2" charset="-122"/>
              </a:rPr>
              <a:t>C </a:t>
            </a:r>
            <a:r>
              <a:rPr lang="zh-CN" altLang="en-US" sz="2400" b="1" smtClean="0">
                <a:solidFill>
                  <a:srgbClr val="800080"/>
                </a:solidFill>
                <a:latin typeface="Times New Roman" panose="02020603050405020304" pitchFamily="18" charset="0"/>
                <a:ea typeface="华文新魏" panose="02010800040101010101" pitchFamily="2" charset="-122"/>
              </a:rPr>
              <a:t>语言的编译程序</a:t>
            </a:r>
            <a:r>
              <a:rPr lang="en-US" altLang="zh-CN" sz="2400" b="1" smtClean="0">
                <a:solidFill>
                  <a:srgbClr val="800080"/>
                </a:solidFill>
                <a:latin typeface="Times New Roman" panose="02020603050405020304" pitchFamily="18" charset="0"/>
                <a:ea typeface="华文新魏" panose="02010800040101010101" pitchFamily="2" charset="-122"/>
              </a:rPr>
              <a:t>(P1)</a:t>
            </a:r>
          </a:p>
          <a:p>
            <a:pPr lvl="1" algn="just">
              <a:lnSpc>
                <a:spcPct val="90000"/>
              </a:lnSpc>
            </a:pPr>
            <a:r>
              <a:rPr lang="zh-CN" altLang="en-US" sz="2400" b="1" smtClean="0">
                <a:solidFill>
                  <a:srgbClr val="800080"/>
                </a:solidFill>
                <a:latin typeface="Times New Roman" panose="02020603050405020304" pitchFamily="18" charset="0"/>
                <a:ea typeface="华文新魏" panose="02010800040101010101" pitchFamily="2" charset="-122"/>
              </a:rPr>
              <a:t>目的：实现 B</a:t>
            </a:r>
            <a:r>
              <a:rPr lang="zh-CN" altLang="zh-CN" sz="2400" b="1" smtClean="0">
                <a:solidFill>
                  <a:srgbClr val="800080"/>
                </a:solidFill>
                <a:latin typeface="Times New Roman" panose="02020603050405020304" pitchFamily="18" charset="0"/>
                <a:ea typeface="华文新魏" panose="02010800040101010101" pitchFamily="2" charset="-122"/>
              </a:rPr>
              <a:t> 机的</a:t>
            </a:r>
            <a:r>
              <a:rPr lang="zh-CN" altLang="en-US" sz="2400" b="1" smtClean="0">
                <a:solidFill>
                  <a:srgbClr val="800080"/>
                </a:solidFill>
                <a:latin typeface="Times New Roman" panose="02020603050405020304" pitchFamily="18" charset="0"/>
                <a:ea typeface="华文新魏" panose="02010800040101010101" pitchFamily="2" charset="-122"/>
              </a:rPr>
              <a:t> </a:t>
            </a:r>
            <a:r>
              <a:rPr lang="en-US" altLang="zh-CN" sz="2400" b="1" smtClean="0">
                <a:solidFill>
                  <a:srgbClr val="800080"/>
                </a:solidFill>
                <a:latin typeface="Times New Roman" panose="02020603050405020304" pitchFamily="18" charset="0"/>
                <a:ea typeface="华文新魏" panose="02010800040101010101" pitchFamily="2" charset="-122"/>
              </a:rPr>
              <a:t>C </a:t>
            </a:r>
            <a:r>
              <a:rPr lang="zh-CN" altLang="en-US" sz="2400" b="1" smtClean="0">
                <a:solidFill>
                  <a:srgbClr val="800080"/>
                </a:solidFill>
                <a:latin typeface="Times New Roman" panose="02020603050405020304" pitchFamily="18" charset="0"/>
                <a:ea typeface="华文新魏" panose="02010800040101010101" pitchFamily="2" charset="-122"/>
              </a:rPr>
              <a:t>语言的编译</a:t>
            </a:r>
            <a:r>
              <a:rPr lang="en-US" altLang="zh-CN" sz="2400" b="1" smtClean="0">
                <a:solidFill>
                  <a:srgbClr val="800080"/>
                </a:solidFill>
                <a:latin typeface="Times New Roman" panose="02020603050405020304" pitchFamily="18" charset="0"/>
                <a:ea typeface="华文新魏" panose="02010800040101010101" pitchFamily="2" charset="-122"/>
              </a:rPr>
              <a:t>(P3)</a:t>
            </a:r>
          </a:p>
        </p:txBody>
      </p:sp>
      <p:sp>
        <p:nvSpPr>
          <p:cNvPr id="77828" name="Line 5"/>
          <p:cNvSpPr>
            <a:spLocks noChangeShapeType="1"/>
          </p:cNvSpPr>
          <p:nvPr/>
        </p:nvSpPr>
        <p:spPr bwMode="auto">
          <a:xfrm>
            <a:off x="7239000" y="5867400"/>
            <a:ext cx="228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grpSp>
        <p:nvGrpSpPr>
          <p:cNvPr id="77829" name="Group 55"/>
          <p:cNvGrpSpPr>
            <a:grpSpLocks/>
          </p:cNvGrpSpPr>
          <p:nvPr/>
        </p:nvGrpSpPr>
        <p:grpSpPr bwMode="auto">
          <a:xfrm>
            <a:off x="250825" y="2781300"/>
            <a:ext cx="7380288" cy="2908300"/>
            <a:chOff x="158" y="1752"/>
            <a:chExt cx="4649" cy="1832"/>
          </a:xfrm>
        </p:grpSpPr>
        <p:sp>
          <p:nvSpPr>
            <p:cNvPr id="316420" name="Text Box 4"/>
            <p:cNvSpPr txBox="1">
              <a:spLocks noChangeArrowheads="1"/>
            </p:cNvSpPr>
            <p:nvPr/>
          </p:nvSpPr>
          <p:spPr bwMode="auto">
            <a:xfrm>
              <a:off x="158" y="3203"/>
              <a:ext cx="4649"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charset="0"/>
                  <a:ea typeface="宋体" pitchFamily="2" charset="-122"/>
                </a:defRPr>
              </a:lvl1pPr>
              <a:lvl2pPr marL="914400" indent="-457200">
                <a:defRPr>
                  <a:solidFill>
                    <a:schemeClr val="tx1"/>
                  </a:solidFill>
                  <a:latin typeface="Arial" charset="0"/>
                  <a:ea typeface="宋体" pitchFamily="2" charset="-122"/>
                </a:defRPr>
              </a:lvl2pPr>
              <a:lvl3pPr marL="1371600" indent="-457200">
                <a:defRPr>
                  <a:solidFill>
                    <a:schemeClr val="tx1"/>
                  </a:solidFill>
                  <a:latin typeface="Arial" charset="0"/>
                  <a:ea typeface="宋体" pitchFamily="2" charset="-122"/>
                </a:defRPr>
              </a:lvl3pPr>
              <a:lvl4pPr marL="1828800" indent="-457200">
                <a:defRPr>
                  <a:solidFill>
                    <a:schemeClr val="tx1"/>
                  </a:solidFill>
                  <a:latin typeface="Arial" charset="0"/>
                  <a:ea typeface="宋体" pitchFamily="2" charset="-122"/>
                </a:defRPr>
              </a:lvl4pPr>
              <a:lvl5pPr marL="2286000" indent="-457200">
                <a:defRPr>
                  <a:solidFill>
                    <a:schemeClr val="tx1"/>
                  </a:solidFill>
                  <a:latin typeface="Arial" charset="0"/>
                  <a:ea typeface="宋体" pitchFamily="2" charset="-122"/>
                </a:defRPr>
              </a:lvl5pPr>
              <a:lvl6pPr marL="2743200" indent="-457200" fontAlgn="base">
                <a:spcBef>
                  <a:spcPct val="0"/>
                </a:spcBef>
                <a:spcAft>
                  <a:spcPct val="0"/>
                </a:spcAft>
                <a:defRPr>
                  <a:solidFill>
                    <a:schemeClr val="tx1"/>
                  </a:solidFill>
                  <a:latin typeface="Arial" charset="0"/>
                  <a:ea typeface="宋体" pitchFamily="2" charset="-122"/>
                </a:defRPr>
              </a:lvl6pPr>
              <a:lvl7pPr marL="3200400" indent="-457200" fontAlgn="base">
                <a:spcBef>
                  <a:spcPct val="0"/>
                </a:spcBef>
                <a:spcAft>
                  <a:spcPct val="0"/>
                </a:spcAft>
                <a:defRPr>
                  <a:solidFill>
                    <a:schemeClr val="tx1"/>
                  </a:solidFill>
                  <a:latin typeface="Arial" charset="0"/>
                  <a:ea typeface="宋体" pitchFamily="2" charset="-122"/>
                </a:defRPr>
              </a:lvl7pPr>
              <a:lvl8pPr marL="3657600" indent="-457200" fontAlgn="base">
                <a:spcBef>
                  <a:spcPct val="0"/>
                </a:spcBef>
                <a:spcAft>
                  <a:spcPct val="0"/>
                </a:spcAft>
                <a:defRPr>
                  <a:solidFill>
                    <a:schemeClr val="tx1"/>
                  </a:solidFill>
                  <a:latin typeface="Arial" charset="0"/>
                  <a:ea typeface="宋体" pitchFamily="2" charset="-122"/>
                </a:defRPr>
              </a:lvl8pPr>
              <a:lvl9pPr marL="4114800" indent="-457200" fontAlgn="base">
                <a:spcBef>
                  <a:spcPct val="0"/>
                </a:spcBef>
                <a:spcAft>
                  <a:spcPct val="0"/>
                </a:spcAft>
                <a:defRPr>
                  <a:solidFill>
                    <a:schemeClr val="tx1"/>
                  </a:solidFill>
                  <a:latin typeface="Arial" charset="0"/>
                  <a:ea typeface="宋体" pitchFamily="2" charset="-122"/>
                </a:defRPr>
              </a:lvl9pPr>
            </a:lstStyle>
            <a:p>
              <a:pPr>
                <a:lnSpc>
                  <a:spcPct val="120000"/>
                </a:lnSpc>
                <a:defRPr/>
              </a:pPr>
              <a:r>
                <a:rPr kumimoji="1" lang="zh-CN" altLang="en-US" sz="2400" b="1">
                  <a:latin typeface="Times New Roman" pitchFamily="18" charset="0"/>
                  <a:ea typeface="华文新魏" pitchFamily="2" charset="-122"/>
                </a:rPr>
                <a:t>1.</a:t>
              </a:r>
              <a:r>
                <a:rPr kumimoji="1" lang="zh-CN" altLang="en-US" sz="2800" b="1">
                  <a:latin typeface="Times New Roman" pitchFamily="18" charset="0"/>
                  <a:ea typeface="华文新魏" pitchFamily="2" charset="-122"/>
                </a:rPr>
                <a:t> </a:t>
              </a:r>
              <a:r>
                <a:rPr kumimoji="1" lang="en-US" altLang="zh-CN" sz="2400" b="1">
                  <a:latin typeface="Times New Roman" pitchFamily="18" charset="0"/>
                  <a:ea typeface="华文新魏" pitchFamily="2" charset="-122"/>
                </a:rPr>
                <a:t>(</a:t>
              </a:r>
              <a:r>
                <a:rPr kumimoji="1" lang="zh-CN" altLang="en-US" sz="2400" b="1">
                  <a:latin typeface="Times New Roman" pitchFamily="18" charset="0"/>
                  <a:ea typeface="华文新魏" pitchFamily="2" charset="-122"/>
                </a:rPr>
                <a:t>人</a:t>
              </a:r>
              <a:r>
                <a:rPr kumimoji="1" lang="en-US" altLang="zh-CN" sz="2400" b="1">
                  <a:latin typeface="Times New Roman" pitchFamily="18" charset="0"/>
                  <a:ea typeface="华文新魏" pitchFamily="2" charset="-122"/>
                </a:rPr>
                <a:t>)</a:t>
              </a:r>
              <a:r>
                <a:rPr kumimoji="1" lang="zh-CN" altLang="en-US" sz="2400" b="1">
                  <a:latin typeface="Times New Roman" pitchFamily="18" charset="0"/>
                  <a:ea typeface="华文新魏" pitchFamily="2" charset="-122"/>
                </a:rPr>
                <a:t>用</a:t>
              </a:r>
              <a:r>
                <a:rPr kumimoji="1" lang="en-US" altLang="zh-CN" sz="2400" b="1">
                  <a:latin typeface="Times New Roman" pitchFamily="18" charset="0"/>
                  <a:ea typeface="华文新魏" pitchFamily="2" charset="-122"/>
                </a:rPr>
                <a:t>C</a:t>
              </a:r>
              <a:r>
                <a:rPr kumimoji="1" lang="zh-CN" altLang="en-US" sz="2400" b="1">
                  <a:latin typeface="Times New Roman" pitchFamily="18" charset="0"/>
                  <a:ea typeface="华文新魏" pitchFamily="2" charset="-122"/>
                </a:rPr>
                <a:t>语言编制</a:t>
              </a:r>
              <a:r>
                <a:rPr kumimoji="1" lang="en-US" altLang="zh-CN" sz="2400" b="1">
                  <a:latin typeface="Times New Roman" pitchFamily="18" charset="0"/>
                  <a:ea typeface="华文新魏" pitchFamily="2" charset="-122"/>
                </a:rPr>
                <a:t>B</a:t>
              </a:r>
              <a:r>
                <a:rPr kumimoji="1" lang="zh-CN" altLang="en-US" sz="2400" b="1">
                  <a:latin typeface="Times New Roman" pitchFamily="18" charset="0"/>
                  <a:ea typeface="华文新魏" pitchFamily="2" charset="-122"/>
                </a:rPr>
                <a:t>机的</a:t>
              </a:r>
              <a:r>
                <a:rPr kumimoji="1" lang="en-US" altLang="zh-CN" sz="2400" b="1">
                  <a:latin typeface="Times New Roman" pitchFamily="18" charset="0"/>
                  <a:ea typeface="华文新魏" pitchFamily="2" charset="-122"/>
                </a:rPr>
                <a:t>C</a:t>
              </a:r>
              <a:r>
                <a:rPr kumimoji="1" lang="zh-CN" altLang="en-US" sz="2400" b="1">
                  <a:latin typeface="Times New Roman" pitchFamily="18" charset="0"/>
                  <a:ea typeface="华文新魏" pitchFamily="2" charset="-122"/>
                </a:rPr>
                <a:t>编译程序</a:t>
              </a:r>
              <a:r>
                <a:rPr kumimoji="1" lang="en-US" altLang="zh-CN" sz="2400" b="1">
                  <a:latin typeface="Times New Roman" pitchFamily="18" charset="0"/>
                  <a:ea typeface="华文新魏" pitchFamily="2" charset="-122"/>
                </a:rPr>
                <a:t>P0(C</a:t>
              </a:r>
              <a:r>
                <a:rPr kumimoji="1" lang="en-US" altLang="zh-CN" sz="2400" b="1">
                  <a:effectLst>
                    <a:outerShdw blurRad="38100" dist="38100" dir="2700000" algn="tl">
                      <a:srgbClr val="C0C0C0"/>
                    </a:outerShdw>
                  </a:effectLst>
                  <a:latin typeface="Times New Roman" pitchFamily="18" charset="0"/>
                  <a:ea typeface="华文新魏" pitchFamily="2" charset="-122"/>
                </a:rPr>
                <a:t>→B)</a:t>
              </a:r>
            </a:p>
          </p:txBody>
        </p:sp>
        <p:grpSp>
          <p:nvGrpSpPr>
            <p:cNvPr id="77875" name="Group 51"/>
            <p:cNvGrpSpPr>
              <a:grpSpLocks/>
            </p:cNvGrpSpPr>
            <p:nvPr/>
          </p:nvGrpSpPr>
          <p:grpSpPr bwMode="auto">
            <a:xfrm>
              <a:off x="204" y="1752"/>
              <a:ext cx="2096" cy="1419"/>
              <a:chOff x="240" y="1797"/>
              <a:chExt cx="2096" cy="1419"/>
            </a:xfrm>
          </p:grpSpPr>
          <p:sp>
            <p:nvSpPr>
              <p:cNvPr id="77876" name="Text Box 10"/>
              <p:cNvSpPr txBox="1">
                <a:spLocks noChangeArrowheads="1"/>
              </p:cNvSpPr>
              <p:nvPr/>
            </p:nvSpPr>
            <p:spPr bwMode="auto">
              <a:xfrm>
                <a:off x="240" y="194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C</a:t>
                </a:r>
                <a:r>
                  <a:rPr kumimoji="1" lang="zh-CN" altLang="en-US" sz="2000" b="1">
                    <a:latin typeface="Times New Roman" panose="02020603050405020304" pitchFamily="18" charset="0"/>
                    <a:ea typeface="华文新魏" panose="02010800040101010101" pitchFamily="2" charset="-122"/>
                  </a:rPr>
                  <a:t>语言</a:t>
                </a:r>
              </a:p>
            </p:txBody>
          </p:sp>
          <p:sp>
            <p:nvSpPr>
              <p:cNvPr id="77877" name="Text Box 11"/>
              <p:cNvSpPr txBox="1">
                <a:spLocks noChangeArrowheads="1"/>
              </p:cNvSpPr>
              <p:nvPr/>
            </p:nvSpPr>
            <p:spPr bwMode="auto">
              <a:xfrm>
                <a:off x="864" y="2284"/>
                <a:ext cx="5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C</a:t>
                </a:r>
                <a:r>
                  <a:rPr kumimoji="1" lang="zh-CN" altLang="en-US" sz="2000" b="1">
                    <a:latin typeface="Times New Roman" panose="02020603050405020304" pitchFamily="18" charset="0"/>
                    <a:ea typeface="华文新魏" panose="02010800040101010101" pitchFamily="2" charset="-122"/>
                  </a:rPr>
                  <a:t>语 言</a:t>
                </a:r>
              </a:p>
            </p:txBody>
          </p:sp>
          <p:sp>
            <p:nvSpPr>
              <p:cNvPr id="77878" name="Text Box 12"/>
              <p:cNvSpPr txBox="1">
                <a:spLocks noChangeArrowheads="1"/>
              </p:cNvSpPr>
              <p:nvPr/>
            </p:nvSpPr>
            <p:spPr bwMode="auto">
              <a:xfrm>
                <a:off x="1680" y="1948"/>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B</a:t>
                </a:r>
                <a:r>
                  <a:rPr kumimoji="1" lang="zh-CN" altLang="en-US" sz="2000" b="1">
                    <a:latin typeface="Times New Roman" panose="02020603050405020304" pitchFamily="18" charset="0"/>
                    <a:ea typeface="华文新魏" panose="02010800040101010101" pitchFamily="2" charset="-122"/>
                  </a:rPr>
                  <a:t>机器</a:t>
                </a:r>
              </a:p>
            </p:txBody>
          </p:sp>
          <p:sp>
            <p:nvSpPr>
              <p:cNvPr id="316436" name="Text Box 20"/>
              <p:cNvSpPr txBox="1">
                <a:spLocks noChangeArrowheads="1"/>
              </p:cNvSpPr>
              <p:nvPr/>
            </p:nvSpPr>
            <p:spPr bwMode="auto">
              <a:xfrm>
                <a:off x="816" y="2862"/>
                <a:ext cx="816"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ea typeface="华文新魏" pitchFamily="2" charset="-122"/>
                  </a:rPr>
                  <a:t>P0</a:t>
                </a:r>
                <a:r>
                  <a:rPr kumimoji="1" lang="en-US" altLang="zh-CN" sz="1200" b="1">
                    <a:effectLst>
                      <a:outerShdw blurRad="38100" dist="38100" dir="2700000" algn="tl">
                        <a:srgbClr val="C0C0C0"/>
                      </a:outerShdw>
                    </a:effectLst>
                    <a:latin typeface="Times New Roman" pitchFamily="18" charset="0"/>
                    <a:ea typeface="华文新魏" pitchFamily="2" charset="-122"/>
                  </a:rPr>
                  <a:t>(</a:t>
                </a:r>
                <a:r>
                  <a:rPr kumimoji="1" lang="zh-CN" altLang="en-US" sz="1200" b="1">
                    <a:effectLst>
                      <a:outerShdw blurRad="38100" dist="38100" dir="2700000" algn="tl">
                        <a:srgbClr val="C0C0C0"/>
                      </a:outerShdw>
                    </a:effectLst>
                    <a:latin typeface="Times New Roman" pitchFamily="18" charset="0"/>
                    <a:ea typeface="华文新魏" pitchFamily="2" charset="-122"/>
                  </a:rPr>
                  <a:t>编写</a:t>
                </a:r>
                <a:r>
                  <a:rPr kumimoji="1" lang="en-US" altLang="zh-CN" sz="1200" b="1">
                    <a:effectLst>
                      <a:outerShdw blurRad="38100" dist="38100" dir="2700000" algn="tl">
                        <a:srgbClr val="C0C0C0"/>
                      </a:outerShdw>
                    </a:effectLst>
                    <a:latin typeface="Times New Roman" pitchFamily="18" charset="0"/>
                    <a:ea typeface="华文新魏" pitchFamily="2" charset="-122"/>
                  </a:rPr>
                  <a:t>)</a:t>
                </a:r>
                <a:endParaRPr kumimoji="1" lang="en-US" altLang="zh-CN" sz="2800" b="1">
                  <a:effectLst>
                    <a:outerShdw blurRad="38100" dist="38100" dir="2700000" algn="tl">
                      <a:srgbClr val="C0C0C0"/>
                    </a:outerShdw>
                  </a:effectLst>
                  <a:latin typeface="Times New Roman" pitchFamily="18" charset="0"/>
                  <a:ea typeface="华文新魏" pitchFamily="2" charset="-122"/>
                </a:endParaRPr>
              </a:p>
            </p:txBody>
          </p:sp>
          <p:grpSp>
            <p:nvGrpSpPr>
              <p:cNvPr id="77880" name="Group 24"/>
              <p:cNvGrpSpPr>
                <a:grpSpLocks/>
              </p:cNvGrpSpPr>
              <p:nvPr/>
            </p:nvGrpSpPr>
            <p:grpSpPr bwMode="auto">
              <a:xfrm>
                <a:off x="249" y="1797"/>
                <a:ext cx="2087" cy="817"/>
                <a:chOff x="1655" y="3203"/>
                <a:chExt cx="2087" cy="817"/>
              </a:xfrm>
            </p:grpSpPr>
            <p:sp>
              <p:nvSpPr>
                <p:cNvPr id="77881" name="Line 25"/>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82" name="Line 26"/>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83" name="Line 27"/>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84" name="Line 28"/>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85" name="Line 29"/>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86" name="Line 30"/>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87" name="Line 31"/>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88" name="Line 32"/>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7830" name="Group 52"/>
          <p:cNvGrpSpPr>
            <a:grpSpLocks/>
          </p:cNvGrpSpPr>
          <p:nvPr/>
        </p:nvGrpSpPr>
        <p:grpSpPr bwMode="auto">
          <a:xfrm>
            <a:off x="2828925" y="3457575"/>
            <a:ext cx="3581400" cy="1714500"/>
            <a:chOff x="1791" y="2205"/>
            <a:chExt cx="2256" cy="1080"/>
          </a:xfrm>
        </p:grpSpPr>
        <p:sp>
          <p:nvSpPr>
            <p:cNvPr id="77861" name="Text Box 13"/>
            <p:cNvSpPr txBox="1">
              <a:spLocks noChangeArrowheads="1"/>
            </p:cNvSpPr>
            <p:nvPr/>
          </p:nvSpPr>
          <p:spPr bwMode="auto">
            <a:xfrm>
              <a:off x="1872" y="2254"/>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C</a:t>
              </a:r>
              <a:r>
                <a:rPr kumimoji="1" lang="zh-CN" altLang="en-US" sz="2400" b="1">
                  <a:solidFill>
                    <a:srgbClr val="CC3300"/>
                  </a:solidFill>
                  <a:latin typeface="Times New Roman" panose="02020603050405020304" pitchFamily="18" charset="0"/>
                  <a:ea typeface="华文新魏" panose="02010800040101010101" pitchFamily="2" charset="-122"/>
                </a:rPr>
                <a:t>语言</a:t>
              </a:r>
            </a:p>
          </p:txBody>
        </p:sp>
        <p:sp>
          <p:nvSpPr>
            <p:cNvPr id="77862" name="Text Box 14"/>
            <p:cNvSpPr txBox="1">
              <a:spLocks noChangeArrowheads="1"/>
            </p:cNvSpPr>
            <p:nvPr/>
          </p:nvSpPr>
          <p:spPr bwMode="auto">
            <a:xfrm>
              <a:off x="2592" y="2638"/>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A</a:t>
              </a:r>
              <a:r>
                <a:rPr kumimoji="1" lang="zh-CN" altLang="en-US" sz="2400" b="1">
                  <a:solidFill>
                    <a:srgbClr val="CC3300"/>
                  </a:solidFill>
                  <a:latin typeface="Times New Roman" panose="02020603050405020304" pitchFamily="18" charset="0"/>
                  <a:ea typeface="华文新魏" panose="02010800040101010101" pitchFamily="2" charset="-122"/>
                </a:rPr>
                <a:t>机器</a:t>
              </a:r>
            </a:p>
          </p:txBody>
        </p:sp>
        <p:sp>
          <p:nvSpPr>
            <p:cNvPr id="77863" name="Text Box 15"/>
            <p:cNvSpPr txBox="1">
              <a:spLocks noChangeArrowheads="1"/>
            </p:cNvSpPr>
            <p:nvPr/>
          </p:nvSpPr>
          <p:spPr bwMode="auto">
            <a:xfrm>
              <a:off x="3408" y="2302"/>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A</a:t>
              </a:r>
              <a:r>
                <a:rPr kumimoji="1" lang="zh-CN" altLang="en-US" sz="2400" b="1">
                  <a:solidFill>
                    <a:srgbClr val="CC3300"/>
                  </a:solidFill>
                  <a:latin typeface="Times New Roman" panose="02020603050405020304" pitchFamily="18" charset="0"/>
                  <a:ea typeface="华文新魏" panose="02010800040101010101" pitchFamily="2" charset="-122"/>
                </a:rPr>
                <a:t>机器</a:t>
              </a:r>
            </a:p>
          </p:txBody>
        </p:sp>
        <p:sp>
          <p:nvSpPr>
            <p:cNvPr id="316437" name="Text Box 21"/>
            <p:cNvSpPr txBox="1">
              <a:spLocks noChangeArrowheads="1"/>
            </p:cNvSpPr>
            <p:nvPr/>
          </p:nvSpPr>
          <p:spPr bwMode="auto">
            <a:xfrm>
              <a:off x="2426" y="2931"/>
              <a:ext cx="672"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P1</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r>
                <a:rPr kumimoji="1" lang="zh-CN" altLang="en-US" sz="1200" b="1">
                  <a:solidFill>
                    <a:srgbClr val="CC3300"/>
                  </a:solidFill>
                  <a:effectLst>
                    <a:outerShdw blurRad="38100" dist="38100" dir="2700000" algn="tl">
                      <a:srgbClr val="C0C0C0"/>
                    </a:outerShdw>
                  </a:effectLst>
                  <a:latin typeface="Times New Roman" pitchFamily="18" charset="0"/>
                  <a:ea typeface="华文新魏" pitchFamily="2" charset="-122"/>
                </a:rPr>
                <a:t>原有</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endParaRPr kumimoji="1" lang="zh-CN" altLang="en-US" sz="2800" b="1">
                <a:solidFill>
                  <a:srgbClr val="CC3300"/>
                </a:solidFill>
                <a:effectLst>
                  <a:outerShdw blurRad="38100" dist="38100" dir="2700000" algn="tl">
                    <a:srgbClr val="C0C0C0"/>
                  </a:outerShdw>
                </a:effectLst>
                <a:latin typeface="Times New Roman" pitchFamily="18" charset="0"/>
                <a:ea typeface="华文新魏" pitchFamily="2" charset="-122"/>
              </a:endParaRPr>
            </a:p>
          </p:txBody>
        </p:sp>
        <p:grpSp>
          <p:nvGrpSpPr>
            <p:cNvPr id="77865" name="Group 33"/>
            <p:cNvGrpSpPr>
              <a:grpSpLocks/>
            </p:cNvGrpSpPr>
            <p:nvPr/>
          </p:nvGrpSpPr>
          <p:grpSpPr bwMode="auto">
            <a:xfrm>
              <a:off x="1791" y="2205"/>
              <a:ext cx="2223" cy="817"/>
              <a:chOff x="1655" y="3203"/>
              <a:chExt cx="2087" cy="817"/>
            </a:xfrm>
          </p:grpSpPr>
          <p:sp>
            <p:nvSpPr>
              <p:cNvPr id="77866" name="Line 34"/>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67" name="Line 35"/>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68" name="Line 36"/>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69" name="Line 37"/>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70" name="Line 38"/>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71" name="Line 39"/>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72" name="Line 40"/>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73" name="Line 41"/>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831" name="Group 56"/>
          <p:cNvGrpSpPr>
            <a:grpSpLocks/>
          </p:cNvGrpSpPr>
          <p:nvPr/>
        </p:nvGrpSpPr>
        <p:grpSpPr bwMode="auto">
          <a:xfrm>
            <a:off x="250825" y="2781300"/>
            <a:ext cx="8451850" cy="3554413"/>
            <a:chOff x="158" y="1752"/>
            <a:chExt cx="5324" cy="2239"/>
          </a:xfrm>
        </p:grpSpPr>
        <p:grpSp>
          <p:nvGrpSpPr>
            <p:cNvPr id="77846" name="Group 53"/>
            <p:cNvGrpSpPr>
              <a:grpSpLocks/>
            </p:cNvGrpSpPr>
            <p:nvPr/>
          </p:nvGrpSpPr>
          <p:grpSpPr bwMode="auto">
            <a:xfrm>
              <a:off x="3395" y="1752"/>
              <a:ext cx="2087" cy="1419"/>
              <a:chOff x="3379" y="1797"/>
              <a:chExt cx="2087" cy="1419"/>
            </a:xfrm>
          </p:grpSpPr>
          <p:sp>
            <p:nvSpPr>
              <p:cNvPr id="77848" name="Text Box 17"/>
              <p:cNvSpPr txBox="1">
                <a:spLocks noChangeArrowheads="1"/>
              </p:cNvSpPr>
              <p:nvPr/>
            </p:nvSpPr>
            <p:spPr bwMode="auto">
              <a:xfrm>
                <a:off x="3408" y="194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C</a:t>
                </a:r>
                <a:r>
                  <a:rPr kumimoji="1" lang="zh-CN" altLang="en-US" sz="2000" b="1">
                    <a:solidFill>
                      <a:srgbClr val="CC3300"/>
                    </a:solidFill>
                    <a:latin typeface="Times New Roman" panose="02020603050405020304" pitchFamily="18" charset="0"/>
                    <a:ea typeface="华文新魏" panose="02010800040101010101" pitchFamily="2" charset="-122"/>
                  </a:rPr>
                  <a:t>语言</a:t>
                </a:r>
              </a:p>
            </p:txBody>
          </p:sp>
          <p:sp>
            <p:nvSpPr>
              <p:cNvPr id="77849" name="Text Box 18"/>
              <p:cNvSpPr txBox="1">
                <a:spLocks noChangeArrowheads="1"/>
              </p:cNvSpPr>
              <p:nvPr/>
            </p:nvSpPr>
            <p:spPr bwMode="auto">
              <a:xfrm>
                <a:off x="4080" y="2332"/>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A</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77850" name="Text Box 19"/>
              <p:cNvSpPr txBox="1">
                <a:spLocks noChangeArrowheads="1"/>
              </p:cNvSpPr>
              <p:nvPr/>
            </p:nvSpPr>
            <p:spPr bwMode="auto">
              <a:xfrm>
                <a:off x="4800" y="1996"/>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B</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316438" name="Text Box 22"/>
              <p:cNvSpPr txBox="1">
                <a:spLocks noChangeArrowheads="1"/>
              </p:cNvSpPr>
              <p:nvPr/>
            </p:nvSpPr>
            <p:spPr bwMode="auto">
              <a:xfrm>
                <a:off x="4224" y="2862"/>
                <a:ext cx="768"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P2</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r>
                  <a:rPr kumimoji="1" lang="zh-CN" altLang="en-US" sz="1200" b="1">
                    <a:solidFill>
                      <a:srgbClr val="CC3300"/>
                    </a:solidFill>
                    <a:effectLst>
                      <a:outerShdw blurRad="38100" dist="38100" dir="2700000" algn="tl">
                        <a:srgbClr val="C0C0C0"/>
                      </a:outerShdw>
                    </a:effectLst>
                    <a:latin typeface="Times New Roman" pitchFamily="18" charset="0"/>
                    <a:ea typeface="华文新魏" pitchFamily="2" charset="-122"/>
                  </a:rPr>
                  <a:t>生成</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endPar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endParaRPr>
              </a:p>
            </p:txBody>
          </p:sp>
          <p:grpSp>
            <p:nvGrpSpPr>
              <p:cNvPr id="77852" name="Group 42"/>
              <p:cNvGrpSpPr>
                <a:grpSpLocks/>
              </p:cNvGrpSpPr>
              <p:nvPr/>
            </p:nvGrpSpPr>
            <p:grpSpPr bwMode="auto">
              <a:xfrm>
                <a:off x="3379" y="1797"/>
                <a:ext cx="2087" cy="817"/>
                <a:chOff x="1655" y="3203"/>
                <a:chExt cx="2087" cy="817"/>
              </a:xfrm>
            </p:grpSpPr>
            <p:sp>
              <p:nvSpPr>
                <p:cNvPr id="77853" name="Line 43"/>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54" name="Line 44"/>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55" name="Line 45"/>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56" name="Line 46"/>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57" name="Line 47"/>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58" name="Line 48"/>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59" name="Line 49"/>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60" name="Line 50"/>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16470" name="Text Box 54"/>
            <p:cNvSpPr txBox="1">
              <a:spLocks noChangeArrowheads="1"/>
            </p:cNvSpPr>
            <p:nvPr/>
          </p:nvSpPr>
          <p:spPr bwMode="auto">
            <a:xfrm>
              <a:off x="158" y="3657"/>
              <a:ext cx="528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charset="0"/>
                  <a:ea typeface="宋体" pitchFamily="2" charset="-122"/>
                </a:defRPr>
              </a:lvl1pPr>
              <a:lvl2pPr marL="914400" indent="-457200">
                <a:defRPr>
                  <a:solidFill>
                    <a:schemeClr val="tx1"/>
                  </a:solidFill>
                  <a:latin typeface="Arial" charset="0"/>
                  <a:ea typeface="宋体" pitchFamily="2" charset="-122"/>
                </a:defRPr>
              </a:lvl2pPr>
              <a:lvl3pPr marL="1371600" indent="-457200">
                <a:defRPr>
                  <a:solidFill>
                    <a:schemeClr val="tx1"/>
                  </a:solidFill>
                  <a:latin typeface="Arial" charset="0"/>
                  <a:ea typeface="宋体" pitchFamily="2" charset="-122"/>
                </a:defRPr>
              </a:lvl3pPr>
              <a:lvl4pPr marL="1828800" indent="-457200">
                <a:defRPr>
                  <a:solidFill>
                    <a:schemeClr val="tx1"/>
                  </a:solidFill>
                  <a:latin typeface="Arial" charset="0"/>
                  <a:ea typeface="宋体" pitchFamily="2" charset="-122"/>
                </a:defRPr>
              </a:lvl4pPr>
              <a:lvl5pPr marL="2286000" indent="-457200">
                <a:defRPr>
                  <a:solidFill>
                    <a:schemeClr val="tx1"/>
                  </a:solidFill>
                  <a:latin typeface="Arial" charset="0"/>
                  <a:ea typeface="宋体" pitchFamily="2" charset="-122"/>
                </a:defRPr>
              </a:lvl5pPr>
              <a:lvl6pPr marL="2743200" indent="-457200" fontAlgn="base">
                <a:spcBef>
                  <a:spcPct val="0"/>
                </a:spcBef>
                <a:spcAft>
                  <a:spcPct val="0"/>
                </a:spcAft>
                <a:defRPr>
                  <a:solidFill>
                    <a:schemeClr val="tx1"/>
                  </a:solidFill>
                  <a:latin typeface="Arial" charset="0"/>
                  <a:ea typeface="宋体" pitchFamily="2" charset="-122"/>
                </a:defRPr>
              </a:lvl6pPr>
              <a:lvl7pPr marL="3200400" indent="-457200" fontAlgn="base">
                <a:spcBef>
                  <a:spcPct val="0"/>
                </a:spcBef>
                <a:spcAft>
                  <a:spcPct val="0"/>
                </a:spcAft>
                <a:defRPr>
                  <a:solidFill>
                    <a:schemeClr val="tx1"/>
                  </a:solidFill>
                  <a:latin typeface="Arial" charset="0"/>
                  <a:ea typeface="宋体" pitchFamily="2" charset="-122"/>
                </a:defRPr>
              </a:lvl7pPr>
              <a:lvl8pPr marL="3657600" indent="-457200" fontAlgn="base">
                <a:spcBef>
                  <a:spcPct val="0"/>
                </a:spcBef>
                <a:spcAft>
                  <a:spcPct val="0"/>
                </a:spcAft>
                <a:defRPr>
                  <a:solidFill>
                    <a:schemeClr val="tx1"/>
                  </a:solidFill>
                  <a:latin typeface="Arial" charset="0"/>
                  <a:ea typeface="宋体" pitchFamily="2" charset="-122"/>
                </a:defRPr>
              </a:lvl8pPr>
              <a:lvl9pPr marL="4114800" indent="-457200" fontAlgn="base">
                <a:spcBef>
                  <a:spcPct val="0"/>
                </a:spcBef>
                <a:spcAft>
                  <a:spcPct val="0"/>
                </a:spcAft>
                <a:defRPr>
                  <a:solidFill>
                    <a:schemeClr val="tx1"/>
                  </a:solidFill>
                  <a:latin typeface="Arial" charset="0"/>
                  <a:ea typeface="宋体" pitchFamily="2" charset="-122"/>
                </a:defRPr>
              </a:lvl9pPr>
            </a:lstStyle>
            <a:p>
              <a:pPr>
                <a:lnSpc>
                  <a:spcPct val="120000"/>
                </a:lnSpc>
                <a:defRPr/>
              </a:pPr>
              <a:r>
                <a:rPr kumimoji="1" lang="en-US" altLang="zh-CN" sz="2400" b="1">
                  <a:latin typeface="Times New Roman" pitchFamily="18" charset="0"/>
                  <a:ea typeface="华文新魏" pitchFamily="2" charset="-122"/>
                </a:rPr>
                <a:t>2. (A</a:t>
              </a:r>
              <a:r>
                <a:rPr kumimoji="1" lang="zh-CN" altLang="en-US" sz="2400" b="1">
                  <a:latin typeface="Times New Roman" pitchFamily="18" charset="0"/>
                  <a:ea typeface="华文新魏" pitchFamily="2" charset="-122"/>
                </a:rPr>
                <a:t>机的</a:t>
              </a:r>
              <a:r>
                <a:rPr kumimoji="1" lang="en-US" altLang="zh-CN" sz="2400" b="1">
                  <a:latin typeface="Times New Roman" pitchFamily="18" charset="0"/>
                  <a:ea typeface="华文新魏" pitchFamily="2" charset="-122"/>
                </a:rPr>
                <a:t>C</a:t>
              </a:r>
              <a:r>
                <a:rPr kumimoji="1" lang="zh-CN" altLang="en-US" sz="2400" b="1">
                  <a:latin typeface="Times New Roman" pitchFamily="18" charset="0"/>
                  <a:ea typeface="华文新魏" pitchFamily="2" charset="-122"/>
                </a:rPr>
                <a:t>编译</a:t>
              </a:r>
              <a:r>
                <a:rPr kumimoji="1" lang="en-US" altLang="zh-CN" sz="2400" b="1">
                  <a:latin typeface="Times New Roman" pitchFamily="18" charset="0"/>
                  <a:ea typeface="华文新魏" pitchFamily="2" charset="-122"/>
                </a:rPr>
                <a:t>P1)</a:t>
              </a:r>
              <a:r>
                <a:rPr kumimoji="1" lang="zh-CN" altLang="en-US" sz="2400" b="1">
                  <a:latin typeface="Times New Roman" pitchFamily="18" charset="0"/>
                  <a:ea typeface="华文新魏" pitchFamily="2" charset="-122"/>
                </a:rPr>
                <a:t>编译</a:t>
              </a:r>
              <a:r>
                <a:rPr kumimoji="1" lang="en-US" altLang="zh-CN" sz="2400" b="1">
                  <a:latin typeface="Times New Roman" pitchFamily="18" charset="0"/>
                  <a:ea typeface="华文新魏" pitchFamily="2" charset="-122"/>
                </a:rPr>
                <a:t>P0，</a:t>
              </a:r>
              <a:r>
                <a:rPr kumimoji="1" lang="zh-CN" altLang="en-US" sz="2400" b="1">
                  <a:latin typeface="Times New Roman" pitchFamily="18" charset="0"/>
                  <a:ea typeface="华文新魏" pitchFamily="2" charset="-122"/>
                </a:rPr>
                <a:t>得到在</a:t>
              </a:r>
              <a:r>
                <a:rPr kumimoji="1" lang="en-US" altLang="zh-CN" sz="2400" b="1">
                  <a:latin typeface="Times New Roman" pitchFamily="18" charset="0"/>
                  <a:ea typeface="华文新魏" pitchFamily="2" charset="-122"/>
                </a:rPr>
                <a:t>A</a:t>
              </a:r>
              <a:r>
                <a:rPr kumimoji="1" lang="zh-CN" altLang="en-US" sz="2400" b="1">
                  <a:latin typeface="Times New Roman" pitchFamily="18" charset="0"/>
                  <a:ea typeface="华文新魏" pitchFamily="2" charset="-122"/>
                </a:rPr>
                <a:t>机上可运行的</a:t>
              </a:r>
              <a:r>
                <a:rPr kumimoji="1" lang="en-US" altLang="zh-CN" sz="2400" b="1">
                  <a:latin typeface="Times New Roman" pitchFamily="18" charset="0"/>
                  <a:ea typeface="华文新魏" pitchFamily="2" charset="-122"/>
                </a:rPr>
                <a:t>P2(C</a:t>
              </a:r>
              <a:r>
                <a:rPr kumimoji="1" lang="en-US" altLang="zh-CN" sz="2400" b="1">
                  <a:effectLst>
                    <a:outerShdw blurRad="38100" dist="38100" dir="2700000" algn="tl">
                      <a:srgbClr val="C0C0C0"/>
                    </a:outerShdw>
                  </a:effectLst>
                  <a:latin typeface="Times New Roman" pitchFamily="18" charset="0"/>
                  <a:ea typeface="华文新魏" pitchFamily="2" charset="-122"/>
                </a:rPr>
                <a:t>→B)</a:t>
              </a:r>
            </a:p>
          </p:txBody>
        </p:sp>
      </p:grpSp>
      <p:grpSp>
        <p:nvGrpSpPr>
          <p:cNvPr id="77832" name="Group 74"/>
          <p:cNvGrpSpPr>
            <a:grpSpLocks/>
          </p:cNvGrpSpPr>
          <p:nvPr/>
        </p:nvGrpSpPr>
        <p:grpSpPr bwMode="auto">
          <a:xfrm>
            <a:off x="6588125" y="1628775"/>
            <a:ext cx="2447925" cy="1081088"/>
            <a:chOff x="4150" y="1026"/>
            <a:chExt cx="1542" cy="681"/>
          </a:xfrm>
        </p:grpSpPr>
        <p:sp>
          <p:nvSpPr>
            <p:cNvPr id="77833" name="Text Box 59"/>
            <p:cNvSpPr txBox="1">
              <a:spLocks noChangeArrowheads="1"/>
            </p:cNvSpPr>
            <p:nvPr/>
          </p:nvSpPr>
          <p:spPr bwMode="auto">
            <a:xfrm>
              <a:off x="4188" y="1041"/>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0000FF"/>
                  </a:solidFill>
                  <a:latin typeface="Times New Roman" panose="02020603050405020304" pitchFamily="18" charset="0"/>
                  <a:ea typeface="华文新魏" panose="02010800040101010101" pitchFamily="2" charset="-122"/>
                </a:rPr>
                <a:t>C</a:t>
              </a:r>
              <a:r>
                <a:rPr kumimoji="1" lang="zh-CN" altLang="en-US" sz="2000" b="1">
                  <a:solidFill>
                    <a:srgbClr val="0000FF"/>
                  </a:solidFill>
                  <a:latin typeface="Times New Roman" panose="02020603050405020304" pitchFamily="18" charset="0"/>
                  <a:ea typeface="华文新魏" panose="02010800040101010101" pitchFamily="2" charset="-122"/>
                </a:rPr>
                <a:t>语言</a:t>
              </a:r>
            </a:p>
          </p:txBody>
        </p:sp>
        <p:sp>
          <p:nvSpPr>
            <p:cNvPr id="77834" name="Text Box 60"/>
            <p:cNvSpPr txBox="1">
              <a:spLocks noChangeArrowheads="1"/>
            </p:cNvSpPr>
            <p:nvPr/>
          </p:nvSpPr>
          <p:spPr bwMode="auto">
            <a:xfrm>
              <a:off x="4641" y="1425"/>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0000FF"/>
                  </a:solidFill>
                  <a:latin typeface="Times New Roman" panose="02020603050405020304" pitchFamily="18" charset="0"/>
                  <a:ea typeface="华文新魏" panose="02010800040101010101" pitchFamily="2" charset="-122"/>
                </a:rPr>
                <a:t>B</a:t>
              </a:r>
              <a:r>
                <a:rPr kumimoji="1" lang="zh-CN" altLang="en-US" sz="2000" b="1">
                  <a:solidFill>
                    <a:srgbClr val="0000FF"/>
                  </a:solidFill>
                  <a:latin typeface="Times New Roman" panose="02020603050405020304" pitchFamily="18" charset="0"/>
                  <a:ea typeface="华文新魏" panose="02010800040101010101" pitchFamily="2" charset="-122"/>
                </a:rPr>
                <a:t>机器</a:t>
              </a:r>
            </a:p>
          </p:txBody>
        </p:sp>
        <p:sp>
          <p:nvSpPr>
            <p:cNvPr id="77835" name="Text Box 61"/>
            <p:cNvSpPr txBox="1">
              <a:spLocks noChangeArrowheads="1"/>
            </p:cNvSpPr>
            <p:nvPr/>
          </p:nvSpPr>
          <p:spPr bwMode="auto">
            <a:xfrm>
              <a:off x="5094" y="1089"/>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0000FF"/>
                  </a:solidFill>
                  <a:latin typeface="Times New Roman" panose="02020603050405020304" pitchFamily="18" charset="0"/>
                  <a:ea typeface="华文新魏" panose="02010800040101010101" pitchFamily="2" charset="-122"/>
                </a:rPr>
                <a:t>B</a:t>
              </a:r>
              <a:r>
                <a:rPr kumimoji="1" lang="zh-CN" altLang="en-US" sz="2000" b="1">
                  <a:solidFill>
                    <a:srgbClr val="0000FF"/>
                  </a:solidFill>
                  <a:latin typeface="Times New Roman" panose="02020603050405020304" pitchFamily="18" charset="0"/>
                  <a:ea typeface="华文新魏" panose="02010800040101010101" pitchFamily="2" charset="-122"/>
                </a:rPr>
                <a:t>机器</a:t>
              </a:r>
            </a:p>
          </p:txBody>
        </p:sp>
        <p:sp>
          <p:nvSpPr>
            <p:cNvPr id="316478" name="Text Box 62"/>
            <p:cNvSpPr txBox="1">
              <a:spLocks noChangeArrowheads="1"/>
            </p:cNvSpPr>
            <p:nvPr/>
          </p:nvSpPr>
          <p:spPr bwMode="auto">
            <a:xfrm>
              <a:off x="5239" y="1435"/>
              <a:ext cx="40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000" b="1">
                  <a:solidFill>
                    <a:srgbClr val="0000FF"/>
                  </a:solidFill>
                  <a:effectLst>
                    <a:outerShdw blurRad="38100" dist="38100" dir="2700000" algn="tl">
                      <a:srgbClr val="C0C0C0"/>
                    </a:outerShdw>
                  </a:effectLst>
                  <a:latin typeface="Times New Roman" pitchFamily="18" charset="0"/>
                  <a:ea typeface="华文新魏" pitchFamily="2" charset="-122"/>
                </a:rPr>
                <a:t>P3</a:t>
              </a:r>
            </a:p>
          </p:txBody>
        </p:sp>
        <p:grpSp>
          <p:nvGrpSpPr>
            <p:cNvPr id="77837" name="Group 63"/>
            <p:cNvGrpSpPr>
              <a:grpSpLocks/>
            </p:cNvGrpSpPr>
            <p:nvPr/>
          </p:nvGrpSpPr>
          <p:grpSpPr bwMode="auto">
            <a:xfrm>
              <a:off x="4150" y="1026"/>
              <a:ext cx="1542" cy="681"/>
              <a:chOff x="1655" y="3203"/>
              <a:chExt cx="2087" cy="817"/>
            </a:xfrm>
          </p:grpSpPr>
          <p:sp>
            <p:nvSpPr>
              <p:cNvPr id="77838" name="Line 64"/>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9" name="Line 65"/>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0" name="Line 66"/>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1" name="Line 67"/>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2" name="Line 68"/>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3" name="Line 69"/>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4" name="Line 70"/>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5" name="Line 71"/>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8850" name="Group 86"/>
          <p:cNvGrpSpPr>
            <a:grpSpLocks/>
          </p:cNvGrpSpPr>
          <p:nvPr/>
        </p:nvGrpSpPr>
        <p:grpSpPr bwMode="auto">
          <a:xfrm>
            <a:off x="34925" y="188913"/>
            <a:ext cx="3327400" cy="2252662"/>
            <a:chOff x="240" y="1797"/>
            <a:chExt cx="2096" cy="1419"/>
          </a:xfrm>
        </p:grpSpPr>
        <p:sp>
          <p:nvSpPr>
            <p:cNvPr id="78942" name="Text Box 87"/>
            <p:cNvSpPr txBox="1">
              <a:spLocks noChangeArrowheads="1"/>
            </p:cNvSpPr>
            <p:nvPr/>
          </p:nvSpPr>
          <p:spPr bwMode="auto">
            <a:xfrm>
              <a:off x="240" y="194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C</a:t>
              </a:r>
              <a:r>
                <a:rPr kumimoji="1" lang="zh-CN" altLang="en-US" sz="2000" b="1">
                  <a:latin typeface="Times New Roman" panose="02020603050405020304" pitchFamily="18" charset="0"/>
                  <a:ea typeface="华文新魏" panose="02010800040101010101" pitchFamily="2" charset="-122"/>
                </a:rPr>
                <a:t>语言</a:t>
              </a:r>
            </a:p>
          </p:txBody>
        </p:sp>
        <p:sp>
          <p:nvSpPr>
            <p:cNvPr id="78943" name="Text Box 88"/>
            <p:cNvSpPr txBox="1">
              <a:spLocks noChangeArrowheads="1"/>
            </p:cNvSpPr>
            <p:nvPr/>
          </p:nvSpPr>
          <p:spPr bwMode="auto">
            <a:xfrm>
              <a:off x="864" y="2284"/>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C</a:t>
              </a:r>
              <a:r>
                <a:rPr kumimoji="1" lang="zh-CN" altLang="en-US" sz="2000" b="1">
                  <a:latin typeface="Times New Roman" panose="02020603050405020304" pitchFamily="18" charset="0"/>
                  <a:ea typeface="华文新魏" panose="02010800040101010101" pitchFamily="2" charset="-122"/>
                </a:rPr>
                <a:t>语言</a:t>
              </a:r>
            </a:p>
          </p:txBody>
        </p:sp>
        <p:sp>
          <p:nvSpPr>
            <p:cNvPr id="78944" name="Text Box 89"/>
            <p:cNvSpPr txBox="1">
              <a:spLocks noChangeArrowheads="1"/>
            </p:cNvSpPr>
            <p:nvPr/>
          </p:nvSpPr>
          <p:spPr bwMode="auto">
            <a:xfrm>
              <a:off x="1680" y="1948"/>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B</a:t>
              </a:r>
              <a:r>
                <a:rPr kumimoji="1" lang="zh-CN" altLang="en-US" sz="2000" b="1">
                  <a:latin typeface="Times New Roman" panose="02020603050405020304" pitchFamily="18" charset="0"/>
                  <a:ea typeface="华文新魏" panose="02010800040101010101" pitchFamily="2" charset="-122"/>
                </a:rPr>
                <a:t>机器</a:t>
              </a:r>
            </a:p>
          </p:txBody>
        </p:sp>
        <p:sp>
          <p:nvSpPr>
            <p:cNvPr id="317530" name="Text Box 90"/>
            <p:cNvSpPr txBox="1">
              <a:spLocks noChangeArrowheads="1"/>
            </p:cNvSpPr>
            <p:nvPr/>
          </p:nvSpPr>
          <p:spPr bwMode="auto">
            <a:xfrm>
              <a:off x="816" y="2862"/>
              <a:ext cx="816"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rPr>
                <a:t>P0</a:t>
              </a:r>
              <a:r>
                <a:rPr kumimoji="1" lang="en-US" altLang="zh-CN" sz="1200" b="1">
                  <a:effectLst>
                    <a:outerShdw blurRad="38100" dist="38100" dir="2700000" algn="tl">
                      <a:srgbClr val="C0C0C0"/>
                    </a:outerShdw>
                  </a:effectLst>
                  <a:latin typeface="Times New Roman" pitchFamily="18" charset="0"/>
                  <a:ea typeface="华文新魏" pitchFamily="2" charset="-122"/>
                </a:rPr>
                <a:t>(</a:t>
              </a:r>
              <a:r>
                <a:rPr kumimoji="1" lang="zh-CN" altLang="en-US" sz="1200" b="1">
                  <a:effectLst>
                    <a:outerShdw blurRad="38100" dist="38100" dir="2700000" algn="tl">
                      <a:srgbClr val="C0C0C0"/>
                    </a:outerShdw>
                  </a:effectLst>
                  <a:latin typeface="Times New Roman" pitchFamily="18" charset="0"/>
                  <a:ea typeface="华文新魏" pitchFamily="2" charset="-122"/>
                </a:rPr>
                <a:t>编写</a:t>
              </a:r>
              <a:r>
                <a:rPr kumimoji="1" lang="en-US" altLang="zh-CN" sz="1200" b="1">
                  <a:effectLst>
                    <a:outerShdw blurRad="38100" dist="38100" dir="2700000" algn="tl">
                      <a:srgbClr val="C0C0C0"/>
                    </a:outerShdw>
                  </a:effectLst>
                  <a:latin typeface="Times New Roman" pitchFamily="18" charset="0"/>
                  <a:ea typeface="华文新魏" pitchFamily="2" charset="-122"/>
                </a:rPr>
                <a:t>)</a:t>
              </a:r>
              <a:endParaRPr kumimoji="1" lang="en-US" altLang="zh-CN" sz="2800" b="1">
                <a:effectLst>
                  <a:outerShdw blurRad="38100" dist="38100" dir="2700000" algn="tl">
                    <a:srgbClr val="C0C0C0"/>
                  </a:outerShdw>
                </a:effectLst>
                <a:latin typeface="Times New Roman" pitchFamily="18" charset="0"/>
                <a:ea typeface="华文新魏" pitchFamily="2" charset="-122"/>
              </a:endParaRPr>
            </a:p>
          </p:txBody>
        </p:sp>
        <p:grpSp>
          <p:nvGrpSpPr>
            <p:cNvPr id="78946" name="Group 91"/>
            <p:cNvGrpSpPr>
              <a:grpSpLocks/>
            </p:cNvGrpSpPr>
            <p:nvPr/>
          </p:nvGrpSpPr>
          <p:grpSpPr bwMode="auto">
            <a:xfrm>
              <a:off x="249" y="1797"/>
              <a:ext cx="2087" cy="817"/>
              <a:chOff x="1655" y="3203"/>
              <a:chExt cx="2087" cy="817"/>
            </a:xfrm>
          </p:grpSpPr>
          <p:sp>
            <p:nvSpPr>
              <p:cNvPr id="78947" name="Line 92"/>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48" name="Line 93"/>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49" name="Line 94"/>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50" name="Line 95"/>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51" name="Line 96"/>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52" name="Line 97"/>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53" name="Line 98"/>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54" name="Line 99"/>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8851" name="Group 100"/>
          <p:cNvGrpSpPr>
            <a:grpSpLocks/>
          </p:cNvGrpSpPr>
          <p:nvPr/>
        </p:nvGrpSpPr>
        <p:grpSpPr bwMode="auto">
          <a:xfrm>
            <a:off x="2519363" y="850900"/>
            <a:ext cx="3529012" cy="1714500"/>
            <a:chOff x="1791" y="2205"/>
            <a:chExt cx="2223" cy="1080"/>
          </a:xfrm>
        </p:grpSpPr>
        <p:sp>
          <p:nvSpPr>
            <p:cNvPr id="78929" name="Text Box 101"/>
            <p:cNvSpPr txBox="1">
              <a:spLocks noChangeArrowheads="1"/>
            </p:cNvSpPr>
            <p:nvPr/>
          </p:nvSpPr>
          <p:spPr bwMode="auto">
            <a:xfrm>
              <a:off x="1872" y="2284"/>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C</a:t>
              </a:r>
              <a:r>
                <a:rPr kumimoji="1" lang="zh-CN" altLang="en-US" sz="2000" b="1">
                  <a:solidFill>
                    <a:srgbClr val="CC3300"/>
                  </a:solidFill>
                  <a:latin typeface="Times New Roman" panose="02020603050405020304" pitchFamily="18" charset="0"/>
                  <a:ea typeface="华文新魏" panose="02010800040101010101" pitchFamily="2" charset="-122"/>
                </a:rPr>
                <a:t>语言</a:t>
              </a:r>
            </a:p>
          </p:txBody>
        </p:sp>
        <p:sp>
          <p:nvSpPr>
            <p:cNvPr id="78930" name="Text Box 102"/>
            <p:cNvSpPr txBox="1">
              <a:spLocks noChangeArrowheads="1"/>
            </p:cNvSpPr>
            <p:nvPr/>
          </p:nvSpPr>
          <p:spPr bwMode="auto">
            <a:xfrm>
              <a:off x="2592" y="266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A</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78931" name="Text Box 103"/>
            <p:cNvSpPr txBox="1">
              <a:spLocks noChangeArrowheads="1"/>
            </p:cNvSpPr>
            <p:nvPr/>
          </p:nvSpPr>
          <p:spPr bwMode="auto">
            <a:xfrm>
              <a:off x="3408" y="2332"/>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A</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317544" name="Text Box 104"/>
            <p:cNvSpPr txBox="1">
              <a:spLocks noChangeArrowheads="1"/>
            </p:cNvSpPr>
            <p:nvPr/>
          </p:nvSpPr>
          <p:spPr bwMode="auto">
            <a:xfrm>
              <a:off x="2426" y="2931"/>
              <a:ext cx="672"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rPr>
                <a:t>P1</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r>
                <a:rPr kumimoji="1" lang="zh-CN" altLang="en-US" sz="1200" b="1">
                  <a:solidFill>
                    <a:srgbClr val="CC3300"/>
                  </a:solidFill>
                  <a:effectLst>
                    <a:outerShdw blurRad="38100" dist="38100" dir="2700000" algn="tl">
                      <a:srgbClr val="C0C0C0"/>
                    </a:outerShdw>
                  </a:effectLst>
                  <a:latin typeface="Times New Roman" pitchFamily="18" charset="0"/>
                  <a:ea typeface="华文新魏" pitchFamily="2" charset="-122"/>
                </a:rPr>
                <a:t>原有</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endPar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endParaRPr>
            </a:p>
          </p:txBody>
        </p:sp>
        <p:grpSp>
          <p:nvGrpSpPr>
            <p:cNvPr id="78933" name="Group 105"/>
            <p:cNvGrpSpPr>
              <a:grpSpLocks/>
            </p:cNvGrpSpPr>
            <p:nvPr/>
          </p:nvGrpSpPr>
          <p:grpSpPr bwMode="auto">
            <a:xfrm>
              <a:off x="1791" y="2205"/>
              <a:ext cx="2223" cy="817"/>
              <a:chOff x="1655" y="3203"/>
              <a:chExt cx="2087" cy="817"/>
            </a:xfrm>
          </p:grpSpPr>
          <p:sp>
            <p:nvSpPr>
              <p:cNvPr id="78934" name="Line 106"/>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35" name="Line 107"/>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36" name="Line 108"/>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37" name="Line 109"/>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38" name="Line 110"/>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39" name="Line 111"/>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40" name="Line 112"/>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41" name="Line 113"/>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8852" name="Group 114"/>
          <p:cNvGrpSpPr>
            <a:grpSpLocks/>
          </p:cNvGrpSpPr>
          <p:nvPr/>
        </p:nvGrpSpPr>
        <p:grpSpPr bwMode="auto">
          <a:xfrm>
            <a:off x="5029200" y="188913"/>
            <a:ext cx="3313113" cy="2252662"/>
            <a:chOff x="3379" y="1797"/>
            <a:chExt cx="2087" cy="1419"/>
          </a:xfrm>
        </p:grpSpPr>
        <p:sp>
          <p:nvSpPr>
            <p:cNvPr id="78916" name="Text Box 115"/>
            <p:cNvSpPr txBox="1">
              <a:spLocks noChangeArrowheads="1"/>
            </p:cNvSpPr>
            <p:nvPr/>
          </p:nvSpPr>
          <p:spPr bwMode="auto">
            <a:xfrm>
              <a:off x="3408" y="194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C</a:t>
              </a:r>
              <a:r>
                <a:rPr kumimoji="1" lang="zh-CN" altLang="en-US" sz="2000" b="1">
                  <a:solidFill>
                    <a:srgbClr val="CC3300"/>
                  </a:solidFill>
                  <a:latin typeface="Times New Roman" panose="02020603050405020304" pitchFamily="18" charset="0"/>
                  <a:ea typeface="华文新魏" panose="02010800040101010101" pitchFamily="2" charset="-122"/>
                </a:rPr>
                <a:t>语言</a:t>
              </a:r>
            </a:p>
          </p:txBody>
        </p:sp>
        <p:sp>
          <p:nvSpPr>
            <p:cNvPr id="78917" name="Text Box 116"/>
            <p:cNvSpPr txBox="1">
              <a:spLocks noChangeArrowheads="1"/>
            </p:cNvSpPr>
            <p:nvPr/>
          </p:nvSpPr>
          <p:spPr bwMode="auto">
            <a:xfrm>
              <a:off x="4080" y="2332"/>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A</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78918" name="Text Box 117"/>
            <p:cNvSpPr txBox="1">
              <a:spLocks noChangeArrowheads="1"/>
            </p:cNvSpPr>
            <p:nvPr/>
          </p:nvSpPr>
          <p:spPr bwMode="auto">
            <a:xfrm>
              <a:off x="4800" y="1996"/>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B</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317558" name="Text Box 118"/>
            <p:cNvSpPr txBox="1">
              <a:spLocks noChangeArrowheads="1"/>
            </p:cNvSpPr>
            <p:nvPr/>
          </p:nvSpPr>
          <p:spPr bwMode="auto">
            <a:xfrm>
              <a:off x="4224" y="2862"/>
              <a:ext cx="768"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rPr>
                <a:t>P2</a:t>
              </a:r>
              <a:r>
                <a:rPr kumimoji="1" lang="en-US" altLang="zh-CN" sz="1200" b="1">
                  <a:solidFill>
                    <a:srgbClr val="CC3300"/>
                  </a:solidFill>
                  <a:effectLst>
                    <a:outerShdw blurRad="38100" dist="38100" dir="2700000" algn="tl">
                      <a:srgbClr val="C0C0C0"/>
                    </a:outerShdw>
                  </a:effectLst>
                  <a:latin typeface="Times New Roman" pitchFamily="18" charset="0"/>
                </a:rPr>
                <a:t>(</a:t>
              </a:r>
              <a:r>
                <a:rPr kumimoji="1" lang="zh-CN" altLang="en-US" sz="1200" b="1">
                  <a:solidFill>
                    <a:srgbClr val="CC3300"/>
                  </a:solidFill>
                  <a:effectLst>
                    <a:outerShdw blurRad="38100" dist="38100" dir="2700000" algn="tl">
                      <a:srgbClr val="C0C0C0"/>
                    </a:outerShdw>
                  </a:effectLst>
                  <a:latin typeface="Times New Roman" pitchFamily="18" charset="0"/>
                  <a:ea typeface="华文新魏" pitchFamily="2" charset="-122"/>
                </a:rPr>
                <a:t>生成</a:t>
              </a:r>
              <a:r>
                <a:rPr kumimoji="1" lang="en-US" altLang="zh-CN" sz="1200" b="1">
                  <a:solidFill>
                    <a:srgbClr val="CC3300"/>
                  </a:solidFill>
                  <a:effectLst>
                    <a:outerShdw blurRad="38100" dist="38100" dir="2700000" algn="tl">
                      <a:srgbClr val="C0C0C0"/>
                    </a:outerShdw>
                  </a:effectLst>
                  <a:latin typeface="Times New Roman" pitchFamily="18" charset="0"/>
                </a:rPr>
                <a:t>)</a:t>
              </a:r>
              <a:endParaRPr kumimoji="1" lang="en-US" altLang="zh-CN" sz="2800" b="1">
                <a:solidFill>
                  <a:srgbClr val="CC3300"/>
                </a:solidFill>
                <a:effectLst>
                  <a:outerShdw blurRad="38100" dist="38100" dir="2700000" algn="tl">
                    <a:srgbClr val="C0C0C0"/>
                  </a:outerShdw>
                </a:effectLst>
                <a:latin typeface="Times New Roman" pitchFamily="18" charset="0"/>
              </a:endParaRPr>
            </a:p>
          </p:txBody>
        </p:sp>
        <p:grpSp>
          <p:nvGrpSpPr>
            <p:cNvPr id="78920" name="Group 119"/>
            <p:cNvGrpSpPr>
              <a:grpSpLocks/>
            </p:cNvGrpSpPr>
            <p:nvPr/>
          </p:nvGrpSpPr>
          <p:grpSpPr bwMode="auto">
            <a:xfrm>
              <a:off x="3379" y="1797"/>
              <a:ext cx="2087" cy="817"/>
              <a:chOff x="1655" y="3203"/>
              <a:chExt cx="2087" cy="817"/>
            </a:xfrm>
          </p:grpSpPr>
          <p:sp>
            <p:nvSpPr>
              <p:cNvPr id="78921" name="Line 120"/>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22" name="Line 121"/>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23" name="Line 122"/>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24" name="Line 123"/>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25" name="Line 124"/>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26" name="Line 125"/>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27" name="Line 126"/>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28" name="Line 127"/>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17478" name="AutoShape 38"/>
          <p:cNvSpPr>
            <a:spLocks noChangeArrowheads="1"/>
          </p:cNvSpPr>
          <p:nvPr/>
        </p:nvSpPr>
        <p:spPr bwMode="auto">
          <a:xfrm>
            <a:off x="7315200" y="1524000"/>
            <a:ext cx="1828800" cy="990600"/>
          </a:xfrm>
          <a:prstGeom prst="wedgeRoundRectCallout">
            <a:avLst>
              <a:gd name="adj1" fmla="val -110329"/>
              <a:gd name="adj2" fmla="val -881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ctr" defTabSz="282575">
              <a:lnSpc>
                <a:spcPct val="110000"/>
              </a:lnSpc>
              <a:spcBef>
                <a:spcPct val="20000"/>
              </a:spcBef>
              <a:buClr>
                <a:schemeClr val="folHlink"/>
              </a:buClr>
              <a:buSzPct val="75000"/>
              <a:buFont typeface="Monotype Sorts" pitchFamily="2" charset="2"/>
              <a:buNone/>
              <a:tabLst>
                <a:tab pos="88900" algn="l"/>
              </a:tabLst>
              <a:defRPr/>
            </a:pPr>
            <a:r>
              <a:rPr kumimoji="1" lang="zh-CN" altLang="en-US" sz="2400" b="1">
                <a:solidFill>
                  <a:srgbClr val="CC3300"/>
                </a:solidFill>
                <a:effectLst>
                  <a:outerShdw blurRad="38100" dist="38100" dir="2700000" algn="tl">
                    <a:srgbClr val="000000"/>
                  </a:outerShdw>
                </a:effectLst>
                <a:latin typeface="Times New Roman" pitchFamily="18" charset="0"/>
                <a:ea typeface="华文新魏" pitchFamily="2" charset="-122"/>
              </a:rPr>
              <a:t>获得一个工具</a:t>
            </a:r>
          </a:p>
        </p:txBody>
      </p:sp>
      <p:sp>
        <p:nvSpPr>
          <p:cNvPr id="78854" name="Freeform 36"/>
          <p:cNvSpPr>
            <a:spLocks/>
          </p:cNvSpPr>
          <p:nvPr/>
        </p:nvSpPr>
        <p:spPr bwMode="auto">
          <a:xfrm>
            <a:off x="4800600" y="1524000"/>
            <a:ext cx="1752600" cy="1752600"/>
          </a:xfrm>
          <a:custGeom>
            <a:avLst/>
            <a:gdLst>
              <a:gd name="T0" fmla="*/ 1752600 w 1104"/>
              <a:gd name="T1" fmla="*/ 0 h 1104"/>
              <a:gd name="T2" fmla="*/ 1676400 w 1104"/>
              <a:gd name="T3" fmla="*/ 228600 h 1104"/>
              <a:gd name="T4" fmla="*/ 1371600 w 1104"/>
              <a:gd name="T5" fmla="*/ 228600 h 1104"/>
              <a:gd name="T6" fmla="*/ 1295400 w 1104"/>
              <a:gd name="T7" fmla="*/ 533400 h 1104"/>
              <a:gd name="T8" fmla="*/ 914400 w 1104"/>
              <a:gd name="T9" fmla="*/ 609600 h 1104"/>
              <a:gd name="T10" fmla="*/ 838200 w 1104"/>
              <a:gd name="T11" fmla="*/ 914400 h 1104"/>
              <a:gd name="T12" fmla="*/ 457200 w 1104"/>
              <a:gd name="T13" fmla="*/ 1066800 h 1104"/>
              <a:gd name="T14" fmla="*/ 381000 w 1104"/>
              <a:gd name="T15" fmla="*/ 1371600 h 1104"/>
              <a:gd name="T16" fmla="*/ 76200 w 1104"/>
              <a:gd name="T17" fmla="*/ 1524000 h 1104"/>
              <a:gd name="T18" fmla="*/ 0 w 1104"/>
              <a:gd name="T19" fmla="*/ 1752600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4" h="1104">
                <a:moveTo>
                  <a:pt x="1104" y="0"/>
                </a:moveTo>
                <a:cubicBezTo>
                  <a:pt x="1100" y="60"/>
                  <a:pt x="1096" y="120"/>
                  <a:pt x="1056" y="144"/>
                </a:cubicBezTo>
                <a:cubicBezTo>
                  <a:pt x="1016" y="168"/>
                  <a:pt x="904" y="112"/>
                  <a:pt x="864" y="144"/>
                </a:cubicBezTo>
                <a:cubicBezTo>
                  <a:pt x="824" y="176"/>
                  <a:pt x="864" y="296"/>
                  <a:pt x="816" y="336"/>
                </a:cubicBezTo>
                <a:cubicBezTo>
                  <a:pt x="768" y="376"/>
                  <a:pt x="624" y="344"/>
                  <a:pt x="576" y="384"/>
                </a:cubicBezTo>
                <a:cubicBezTo>
                  <a:pt x="528" y="424"/>
                  <a:pt x="576" y="528"/>
                  <a:pt x="528" y="576"/>
                </a:cubicBezTo>
                <a:cubicBezTo>
                  <a:pt x="480" y="624"/>
                  <a:pt x="336" y="624"/>
                  <a:pt x="288" y="672"/>
                </a:cubicBezTo>
                <a:cubicBezTo>
                  <a:pt x="240" y="720"/>
                  <a:pt x="280" y="816"/>
                  <a:pt x="240" y="864"/>
                </a:cubicBezTo>
                <a:cubicBezTo>
                  <a:pt x="200" y="912"/>
                  <a:pt x="88" y="920"/>
                  <a:pt x="48" y="960"/>
                </a:cubicBezTo>
                <a:cubicBezTo>
                  <a:pt x="8" y="1000"/>
                  <a:pt x="4" y="1052"/>
                  <a:pt x="0" y="1104"/>
                </a:cubicBezTo>
              </a:path>
            </a:pathLst>
          </a:custGeom>
          <a:noFill/>
          <a:ln w="28575" cap="flat" cmpd="sng">
            <a:solidFill>
              <a:schemeClr val="tx1"/>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nvGrpSpPr>
          <p:cNvPr id="78855" name="Group 209"/>
          <p:cNvGrpSpPr>
            <a:grpSpLocks/>
          </p:cNvGrpSpPr>
          <p:nvPr/>
        </p:nvGrpSpPr>
        <p:grpSpPr bwMode="auto">
          <a:xfrm>
            <a:off x="2868613" y="3263900"/>
            <a:ext cx="3313112" cy="1735138"/>
            <a:chOff x="1807" y="2056"/>
            <a:chExt cx="2087" cy="1093"/>
          </a:xfrm>
        </p:grpSpPr>
        <p:sp>
          <p:nvSpPr>
            <p:cNvPr id="78903" name="Text Box 129"/>
            <p:cNvSpPr txBox="1">
              <a:spLocks noChangeArrowheads="1"/>
            </p:cNvSpPr>
            <p:nvPr/>
          </p:nvSpPr>
          <p:spPr bwMode="auto">
            <a:xfrm>
              <a:off x="1836" y="2207"/>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C</a:t>
              </a:r>
              <a:r>
                <a:rPr kumimoji="1" lang="zh-CN" altLang="en-US" sz="2000" b="1">
                  <a:solidFill>
                    <a:srgbClr val="CC3300"/>
                  </a:solidFill>
                  <a:latin typeface="Times New Roman" panose="02020603050405020304" pitchFamily="18" charset="0"/>
                  <a:ea typeface="华文新魏" panose="02010800040101010101" pitchFamily="2" charset="-122"/>
                </a:rPr>
                <a:t>语言</a:t>
              </a:r>
            </a:p>
          </p:txBody>
        </p:sp>
        <p:sp>
          <p:nvSpPr>
            <p:cNvPr id="78904" name="Text Box 130"/>
            <p:cNvSpPr txBox="1">
              <a:spLocks noChangeArrowheads="1"/>
            </p:cNvSpPr>
            <p:nvPr/>
          </p:nvSpPr>
          <p:spPr bwMode="auto">
            <a:xfrm>
              <a:off x="2508" y="2591"/>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A</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78905" name="Text Box 131"/>
            <p:cNvSpPr txBox="1">
              <a:spLocks noChangeArrowheads="1"/>
            </p:cNvSpPr>
            <p:nvPr/>
          </p:nvSpPr>
          <p:spPr bwMode="auto">
            <a:xfrm>
              <a:off x="3228" y="2255"/>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B</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317572" name="Text Box 132"/>
            <p:cNvSpPr txBox="1">
              <a:spLocks noChangeArrowheads="1"/>
            </p:cNvSpPr>
            <p:nvPr/>
          </p:nvSpPr>
          <p:spPr bwMode="auto">
            <a:xfrm>
              <a:off x="2608" y="2795"/>
              <a:ext cx="635"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P2</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r>
                <a:rPr kumimoji="1" lang="zh-CN" altLang="en-US" sz="1200" b="1">
                  <a:solidFill>
                    <a:srgbClr val="CC3300"/>
                  </a:solidFill>
                  <a:effectLst>
                    <a:outerShdw blurRad="38100" dist="38100" dir="2700000" algn="tl">
                      <a:srgbClr val="C0C0C0"/>
                    </a:outerShdw>
                  </a:effectLst>
                  <a:latin typeface="Times New Roman" pitchFamily="18" charset="0"/>
                  <a:ea typeface="华文新魏" pitchFamily="2" charset="-122"/>
                </a:rPr>
                <a:t>生成</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endPar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endParaRPr>
            </a:p>
          </p:txBody>
        </p:sp>
        <p:grpSp>
          <p:nvGrpSpPr>
            <p:cNvPr id="78907" name="Group 133"/>
            <p:cNvGrpSpPr>
              <a:grpSpLocks/>
            </p:cNvGrpSpPr>
            <p:nvPr/>
          </p:nvGrpSpPr>
          <p:grpSpPr bwMode="auto">
            <a:xfrm>
              <a:off x="1807" y="2056"/>
              <a:ext cx="2087" cy="817"/>
              <a:chOff x="1655" y="3203"/>
              <a:chExt cx="2087" cy="817"/>
            </a:xfrm>
          </p:grpSpPr>
          <p:sp>
            <p:nvSpPr>
              <p:cNvPr id="78908" name="Line 134"/>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9" name="Line 135"/>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10" name="Line 136"/>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11" name="Line 137"/>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12" name="Line 138"/>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13" name="Line 139"/>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14" name="Line 140"/>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15" name="Line 141"/>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8856" name="Group 158"/>
          <p:cNvGrpSpPr>
            <a:grpSpLocks/>
          </p:cNvGrpSpPr>
          <p:nvPr/>
        </p:nvGrpSpPr>
        <p:grpSpPr bwMode="auto">
          <a:xfrm>
            <a:off x="390525" y="1484313"/>
            <a:ext cx="3327400" cy="3384550"/>
            <a:chOff x="246" y="935"/>
            <a:chExt cx="2096" cy="2132"/>
          </a:xfrm>
        </p:grpSpPr>
        <p:grpSp>
          <p:nvGrpSpPr>
            <p:cNvPr id="78888" name="Group 143"/>
            <p:cNvGrpSpPr>
              <a:grpSpLocks/>
            </p:cNvGrpSpPr>
            <p:nvPr/>
          </p:nvGrpSpPr>
          <p:grpSpPr bwMode="auto">
            <a:xfrm>
              <a:off x="246" y="1648"/>
              <a:ext cx="2096" cy="1419"/>
              <a:chOff x="240" y="1797"/>
              <a:chExt cx="2096" cy="1419"/>
            </a:xfrm>
          </p:grpSpPr>
          <p:sp>
            <p:nvSpPr>
              <p:cNvPr id="78890" name="Text Box 144"/>
              <p:cNvSpPr txBox="1">
                <a:spLocks noChangeArrowheads="1"/>
              </p:cNvSpPr>
              <p:nvPr/>
            </p:nvSpPr>
            <p:spPr bwMode="auto">
              <a:xfrm>
                <a:off x="240" y="194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C</a:t>
                </a:r>
                <a:r>
                  <a:rPr kumimoji="1" lang="zh-CN" altLang="en-US" sz="2000" b="1">
                    <a:latin typeface="Times New Roman" panose="02020603050405020304" pitchFamily="18" charset="0"/>
                    <a:ea typeface="华文新魏" panose="02010800040101010101" pitchFamily="2" charset="-122"/>
                  </a:rPr>
                  <a:t>语言</a:t>
                </a:r>
              </a:p>
            </p:txBody>
          </p:sp>
          <p:sp>
            <p:nvSpPr>
              <p:cNvPr id="78891" name="Text Box 145"/>
              <p:cNvSpPr txBox="1">
                <a:spLocks noChangeArrowheads="1"/>
              </p:cNvSpPr>
              <p:nvPr/>
            </p:nvSpPr>
            <p:spPr bwMode="auto">
              <a:xfrm>
                <a:off x="864" y="2284"/>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C</a:t>
                </a:r>
                <a:r>
                  <a:rPr kumimoji="1" lang="zh-CN" altLang="en-US" sz="2000" b="1">
                    <a:latin typeface="Times New Roman" panose="02020603050405020304" pitchFamily="18" charset="0"/>
                    <a:ea typeface="华文新魏" panose="02010800040101010101" pitchFamily="2" charset="-122"/>
                  </a:rPr>
                  <a:t>语言</a:t>
                </a:r>
              </a:p>
            </p:txBody>
          </p:sp>
          <p:sp>
            <p:nvSpPr>
              <p:cNvPr id="78892" name="Text Box 146"/>
              <p:cNvSpPr txBox="1">
                <a:spLocks noChangeArrowheads="1"/>
              </p:cNvSpPr>
              <p:nvPr/>
            </p:nvSpPr>
            <p:spPr bwMode="auto">
              <a:xfrm>
                <a:off x="1680" y="1948"/>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latin typeface="Times New Roman" panose="02020603050405020304" pitchFamily="18" charset="0"/>
                    <a:ea typeface="华文新魏" panose="02010800040101010101" pitchFamily="2" charset="-122"/>
                  </a:rPr>
                  <a:t>B</a:t>
                </a:r>
                <a:r>
                  <a:rPr kumimoji="1" lang="zh-CN" altLang="en-US" sz="2000" b="1">
                    <a:latin typeface="Times New Roman" panose="02020603050405020304" pitchFamily="18" charset="0"/>
                    <a:ea typeface="华文新魏" panose="02010800040101010101" pitchFamily="2" charset="-122"/>
                  </a:rPr>
                  <a:t>机器</a:t>
                </a:r>
              </a:p>
            </p:txBody>
          </p:sp>
          <p:sp>
            <p:nvSpPr>
              <p:cNvPr id="317587" name="Text Box 147"/>
              <p:cNvSpPr txBox="1">
                <a:spLocks noChangeArrowheads="1"/>
              </p:cNvSpPr>
              <p:nvPr/>
            </p:nvSpPr>
            <p:spPr bwMode="auto">
              <a:xfrm>
                <a:off x="816" y="2862"/>
                <a:ext cx="816"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ea typeface="华文新魏" pitchFamily="2" charset="-122"/>
                  </a:rPr>
                  <a:t>P0</a:t>
                </a:r>
                <a:r>
                  <a:rPr kumimoji="1" lang="en-US" altLang="zh-CN" sz="1200" b="1">
                    <a:effectLst>
                      <a:outerShdw blurRad="38100" dist="38100" dir="2700000" algn="tl">
                        <a:srgbClr val="C0C0C0"/>
                      </a:outerShdw>
                    </a:effectLst>
                    <a:latin typeface="Times New Roman" pitchFamily="18" charset="0"/>
                    <a:ea typeface="华文新魏" pitchFamily="2" charset="-122"/>
                  </a:rPr>
                  <a:t>(</a:t>
                </a:r>
                <a:r>
                  <a:rPr kumimoji="1" lang="zh-CN" altLang="en-US" sz="1200" b="1">
                    <a:effectLst>
                      <a:outerShdw blurRad="38100" dist="38100" dir="2700000" algn="tl">
                        <a:srgbClr val="C0C0C0"/>
                      </a:outerShdw>
                    </a:effectLst>
                    <a:latin typeface="Times New Roman" pitchFamily="18" charset="0"/>
                    <a:ea typeface="华文新魏" pitchFamily="2" charset="-122"/>
                  </a:rPr>
                  <a:t>编写</a:t>
                </a:r>
                <a:r>
                  <a:rPr kumimoji="1" lang="en-US" altLang="zh-CN" sz="1200" b="1">
                    <a:effectLst>
                      <a:outerShdw blurRad="38100" dist="38100" dir="2700000" algn="tl">
                        <a:srgbClr val="C0C0C0"/>
                      </a:outerShdw>
                    </a:effectLst>
                    <a:latin typeface="Times New Roman" pitchFamily="18" charset="0"/>
                    <a:ea typeface="华文新魏" pitchFamily="2" charset="-122"/>
                  </a:rPr>
                  <a:t>)</a:t>
                </a:r>
                <a:endParaRPr kumimoji="1" lang="en-US" altLang="zh-CN" sz="2800" b="1">
                  <a:effectLst>
                    <a:outerShdw blurRad="38100" dist="38100" dir="2700000" algn="tl">
                      <a:srgbClr val="C0C0C0"/>
                    </a:outerShdw>
                  </a:effectLst>
                  <a:latin typeface="Times New Roman" pitchFamily="18" charset="0"/>
                  <a:ea typeface="华文新魏" pitchFamily="2" charset="-122"/>
                </a:endParaRPr>
              </a:p>
            </p:txBody>
          </p:sp>
          <p:grpSp>
            <p:nvGrpSpPr>
              <p:cNvPr id="78894" name="Group 148"/>
              <p:cNvGrpSpPr>
                <a:grpSpLocks/>
              </p:cNvGrpSpPr>
              <p:nvPr/>
            </p:nvGrpSpPr>
            <p:grpSpPr bwMode="auto">
              <a:xfrm>
                <a:off x="249" y="1797"/>
                <a:ext cx="2087" cy="817"/>
                <a:chOff x="1655" y="3203"/>
                <a:chExt cx="2087" cy="817"/>
              </a:xfrm>
            </p:grpSpPr>
            <p:sp>
              <p:nvSpPr>
                <p:cNvPr id="78895" name="Line 149"/>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96" name="Line 150"/>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97" name="Line 151"/>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98" name="Line 152"/>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99" name="Line 153"/>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0" name="Line 154"/>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1" name="Line 155"/>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2" name="Line 156"/>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8889" name="Freeform 157"/>
            <p:cNvSpPr>
              <a:spLocks/>
            </p:cNvSpPr>
            <p:nvPr/>
          </p:nvSpPr>
          <p:spPr bwMode="auto">
            <a:xfrm>
              <a:off x="1111" y="935"/>
              <a:ext cx="144" cy="726"/>
            </a:xfrm>
            <a:custGeom>
              <a:avLst/>
              <a:gdLst>
                <a:gd name="T0" fmla="*/ 91 w 144"/>
                <a:gd name="T1" fmla="*/ 0 h 726"/>
                <a:gd name="T2" fmla="*/ 136 w 144"/>
                <a:gd name="T3" fmla="*/ 182 h 726"/>
                <a:gd name="T4" fmla="*/ 45 w 144"/>
                <a:gd name="T5" fmla="*/ 272 h 726"/>
                <a:gd name="T6" fmla="*/ 45 w 144"/>
                <a:gd name="T7" fmla="*/ 409 h 726"/>
                <a:gd name="T8" fmla="*/ 91 w 144"/>
                <a:gd name="T9" fmla="*/ 545 h 726"/>
                <a:gd name="T10" fmla="*/ 0 w 144"/>
                <a:gd name="T11" fmla="*/ 726 h 72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 h="726">
                  <a:moveTo>
                    <a:pt x="91" y="0"/>
                  </a:moveTo>
                  <a:cubicBezTo>
                    <a:pt x="117" y="68"/>
                    <a:pt x="144" y="137"/>
                    <a:pt x="136" y="182"/>
                  </a:cubicBezTo>
                  <a:cubicBezTo>
                    <a:pt x="128" y="227"/>
                    <a:pt x="60" y="234"/>
                    <a:pt x="45" y="272"/>
                  </a:cubicBezTo>
                  <a:cubicBezTo>
                    <a:pt x="30" y="310"/>
                    <a:pt x="37" y="364"/>
                    <a:pt x="45" y="409"/>
                  </a:cubicBezTo>
                  <a:cubicBezTo>
                    <a:pt x="53" y="454"/>
                    <a:pt x="98" y="492"/>
                    <a:pt x="91" y="545"/>
                  </a:cubicBezTo>
                  <a:cubicBezTo>
                    <a:pt x="84" y="598"/>
                    <a:pt x="38" y="681"/>
                    <a:pt x="0" y="726"/>
                  </a:cubicBezTo>
                </a:path>
              </a:pathLst>
            </a:custGeom>
            <a:noFill/>
            <a:ln w="28575" cap="flat" cmpd="sng">
              <a:solidFill>
                <a:schemeClr val="tx1"/>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8857" name="Group 174"/>
          <p:cNvGrpSpPr>
            <a:grpSpLocks/>
          </p:cNvGrpSpPr>
          <p:nvPr/>
        </p:nvGrpSpPr>
        <p:grpSpPr bwMode="auto">
          <a:xfrm>
            <a:off x="533400" y="2616200"/>
            <a:ext cx="7942263" cy="3248025"/>
            <a:chOff x="336" y="1648"/>
            <a:chExt cx="5003" cy="2046"/>
          </a:xfrm>
        </p:grpSpPr>
        <p:sp>
          <p:nvSpPr>
            <p:cNvPr id="317442" name="Text Box 2"/>
            <p:cNvSpPr txBox="1">
              <a:spLocks noChangeArrowheads="1"/>
            </p:cNvSpPr>
            <p:nvPr/>
          </p:nvSpPr>
          <p:spPr bwMode="auto">
            <a:xfrm>
              <a:off x="336" y="3360"/>
              <a:ext cx="5002"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charset="0"/>
                  <a:ea typeface="宋体" pitchFamily="2" charset="-122"/>
                </a:defRPr>
              </a:lvl1pPr>
              <a:lvl2pPr marL="914400" indent="-457200">
                <a:defRPr>
                  <a:solidFill>
                    <a:schemeClr val="tx1"/>
                  </a:solidFill>
                  <a:latin typeface="Arial" charset="0"/>
                  <a:ea typeface="宋体" pitchFamily="2" charset="-122"/>
                </a:defRPr>
              </a:lvl2pPr>
              <a:lvl3pPr marL="1371600" indent="-457200">
                <a:defRPr>
                  <a:solidFill>
                    <a:schemeClr val="tx1"/>
                  </a:solidFill>
                  <a:latin typeface="Arial" charset="0"/>
                  <a:ea typeface="宋体" pitchFamily="2" charset="-122"/>
                </a:defRPr>
              </a:lvl3pPr>
              <a:lvl4pPr marL="1828800" indent="-457200">
                <a:defRPr>
                  <a:solidFill>
                    <a:schemeClr val="tx1"/>
                  </a:solidFill>
                  <a:latin typeface="Arial" charset="0"/>
                  <a:ea typeface="宋体" pitchFamily="2" charset="-122"/>
                </a:defRPr>
              </a:lvl4pPr>
              <a:lvl5pPr marL="2286000" indent="-457200">
                <a:defRPr>
                  <a:solidFill>
                    <a:schemeClr val="tx1"/>
                  </a:solidFill>
                  <a:latin typeface="Arial" charset="0"/>
                  <a:ea typeface="宋体" pitchFamily="2" charset="-122"/>
                </a:defRPr>
              </a:lvl5pPr>
              <a:lvl6pPr marL="2743200" indent="-457200" fontAlgn="base">
                <a:spcBef>
                  <a:spcPct val="0"/>
                </a:spcBef>
                <a:spcAft>
                  <a:spcPct val="0"/>
                </a:spcAft>
                <a:defRPr>
                  <a:solidFill>
                    <a:schemeClr val="tx1"/>
                  </a:solidFill>
                  <a:latin typeface="Arial" charset="0"/>
                  <a:ea typeface="宋体" pitchFamily="2" charset="-122"/>
                </a:defRPr>
              </a:lvl6pPr>
              <a:lvl7pPr marL="3200400" indent="-457200" fontAlgn="base">
                <a:spcBef>
                  <a:spcPct val="0"/>
                </a:spcBef>
                <a:spcAft>
                  <a:spcPct val="0"/>
                </a:spcAft>
                <a:defRPr>
                  <a:solidFill>
                    <a:schemeClr val="tx1"/>
                  </a:solidFill>
                  <a:latin typeface="Arial" charset="0"/>
                  <a:ea typeface="宋体" pitchFamily="2" charset="-122"/>
                </a:defRPr>
              </a:lvl7pPr>
              <a:lvl8pPr marL="3657600" indent="-457200" fontAlgn="base">
                <a:spcBef>
                  <a:spcPct val="0"/>
                </a:spcBef>
                <a:spcAft>
                  <a:spcPct val="0"/>
                </a:spcAft>
                <a:defRPr>
                  <a:solidFill>
                    <a:schemeClr val="tx1"/>
                  </a:solidFill>
                  <a:latin typeface="Arial" charset="0"/>
                  <a:ea typeface="宋体" pitchFamily="2" charset="-122"/>
                </a:defRPr>
              </a:lvl8pPr>
              <a:lvl9pPr marL="4114800" indent="-457200" fontAlgn="base">
                <a:spcBef>
                  <a:spcPct val="0"/>
                </a:spcBef>
                <a:spcAft>
                  <a:spcPct val="0"/>
                </a:spcAft>
                <a:defRPr>
                  <a:solidFill>
                    <a:schemeClr val="tx1"/>
                  </a:solidFill>
                  <a:latin typeface="Arial" charset="0"/>
                  <a:ea typeface="宋体" pitchFamily="2" charset="-122"/>
                </a:defRPr>
              </a:lvl9pPr>
            </a:lstStyle>
            <a:p>
              <a:pPr>
                <a:lnSpc>
                  <a:spcPct val="120000"/>
                </a:lnSpc>
                <a:defRPr/>
              </a:pPr>
              <a:r>
                <a:rPr kumimoji="1" lang="zh-CN" altLang="en-US" sz="2400" b="1">
                  <a:latin typeface="Times New Roman" pitchFamily="18" charset="0"/>
                  <a:ea typeface="华文新魏" pitchFamily="2" charset="-122"/>
                </a:rPr>
                <a:t>3. </a:t>
              </a:r>
              <a:r>
                <a:rPr kumimoji="1" lang="en-US" altLang="zh-CN" sz="2400" b="1">
                  <a:latin typeface="Times New Roman" pitchFamily="18" charset="0"/>
                  <a:ea typeface="华文新魏" pitchFamily="2" charset="-122"/>
                </a:rPr>
                <a:t>(</a:t>
              </a:r>
              <a:r>
                <a:rPr kumimoji="1" lang="zh-CN" altLang="en-US" sz="2400" b="1">
                  <a:latin typeface="Times New Roman" pitchFamily="18" charset="0"/>
                  <a:ea typeface="华文新魏" pitchFamily="2" charset="-122"/>
                </a:rPr>
                <a:t>用</a:t>
              </a:r>
              <a:r>
                <a:rPr kumimoji="1" lang="en-US" altLang="zh-CN" sz="2400" b="1">
                  <a:latin typeface="Times New Roman" pitchFamily="18" charset="0"/>
                  <a:ea typeface="华文新魏" pitchFamily="2" charset="-122"/>
                </a:rPr>
                <a:t>A</a:t>
              </a:r>
              <a:r>
                <a:rPr kumimoji="1" lang="zh-CN" altLang="en-US" sz="2400" b="1">
                  <a:latin typeface="Times New Roman" pitchFamily="18" charset="0"/>
                  <a:ea typeface="华文新魏" pitchFamily="2" charset="-122"/>
                </a:rPr>
                <a:t>机的</a:t>
              </a:r>
              <a:r>
                <a:rPr kumimoji="1" lang="en-US" altLang="zh-CN" sz="2400" b="1">
                  <a:latin typeface="Times New Roman" pitchFamily="18" charset="0"/>
                  <a:ea typeface="华文新魏" pitchFamily="2" charset="-122"/>
                </a:rPr>
                <a:t>P2)</a:t>
              </a:r>
              <a:r>
                <a:rPr kumimoji="1" lang="zh-CN" altLang="en-US" sz="2400" b="1">
                  <a:latin typeface="Times New Roman" pitchFamily="18" charset="0"/>
                  <a:ea typeface="华文新魏" pitchFamily="2" charset="-122"/>
                </a:rPr>
                <a:t>编译</a:t>
              </a:r>
              <a:r>
                <a:rPr kumimoji="1" lang="en-US" altLang="zh-CN" sz="2400" b="1">
                  <a:latin typeface="Times New Roman" pitchFamily="18" charset="0"/>
                  <a:ea typeface="华文新魏" pitchFamily="2" charset="-122"/>
                </a:rPr>
                <a:t>P0，</a:t>
              </a:r>
              <a:r>
                <a:rPr kumimoji="1" lang="zh-CN" altLang="en-US" sz="2400" b="1">
                  <a:latin typeface="Times New Roman" pitchFamily="18" charset="0"/>
                  <a:ea typeface="华文新魏" pitchFamily="2" charset="-122"/>
                </a:rPr>
                <a:t>得到在</a:t>
              </a:r>
              <a:r>
                <a:rPr kumimoji="1" lang="en-US" altLang="zh-CN" sz="2400" b="1">
                  <a:latin typeface="Times New Roman" pitchFamily="18" charset="0"/>
                  <a:ea typeface="华文新魏" pitchFamily="2" charset="-122"/>
                </a:rPr>
                <a:t>B</a:t>
              </a:r>
              <a:r>
                <a:rPr kumimoji="1" lang="zh-CN" altLang="en-US" sz="2400" b="1">
                  <a:latin typeface="Times New Roman" pitchFamily="18" charset="0"/>
                  <a:ea typeface="华文新魏" pitchFamily="2" charset="-122"/>
                </a:rPr>
                <a:t>机上可运行的</a:t>
              </a:r>
              <a:r>
                <a:rPr kumimoji="1" lang="en-US" altLang="zh-CN" sz="2400" b="1">
                  <a:latin typeface="Times New Roman" pitchFamily="18" charset="0"/>
                  <a:ea typeface="华文新魏" pitchFamily="2" charset="-122"/>
                </a:rPr>
                <a:t>P3(C</a:t>
              </a:r>
              <a:r>
                <a:rPr kumimoji="1" lang="en-US" altLang="zh-CN" sz="2400" b="1">
                  <a:effectLst>
                    <a:outerShdw blurRad="38100" dist="38100" dir="2700000" algn="tl">
                      <a:srgbClr val="C0C0C0"/>
                    </a:outerShdw>
                  </a:effectLst>
                  <a:latin typeface="Times New Roman" pitchFamily="18" charset="0"/>
                  <a:ea typeface="华文新魏" pitchFamily="2" charset="-122"/>
                </a:rPr>
                <a:t>→B)</a:t>
              </a:r>
            </a:p>
          </p:txBody>
        </p:sp>
        <p:grpSp>
          <p:nvGrpSpPr>
            <p:cNvPr id="78874" name="Group 159"/>
            <p:cNvGrpSpPr>
              <a:grpSpLocks/>
            </p:cNvGrpSpPr>
            <p:nvPr/>
          </p:nvGrpSpPr>
          <p:grpSpPr bwMode="auto">
            <a:xfrm>
              <a:off x="3243" y="1648"/>
              <a:ext cx="2096" cy="1419"/>
              <a:chOff x="240" y="1797"/>
              <a:chExt cx="2096" cy="1419"/>
            </a:xfrm>
          </p:grpSpPr>
          <p:sp>
            <p:nvSpPr>
              <p:cNvPr id="78875" name="Text Box 160"/>
              <p:cNvSpPr txBox="1">
                <a:spLocks noChangeArrowheads="1"/>
              </p:cNvSpPr>
              <p:nvPr/>
            </p:nvSpPr>
            <p:spPr bwMode="auto">
              <a:xfrm>
                <a:off x="240" y="194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C</a:t>
                </a:r>
                <a:r>
                  <a:rPr kumimoji="1" lang="zh-CN" altLang="en-US" sz="2000" b="1">
                    <a:solidFill>
                      <a:srgbClr val="CC3300"/>
                    </a:solidFill>
                    <a:latin typeface="Times New Roman" panose="02020603050405020304" pitchFamily="18" charset="0"/>
                    <a:ea typeface="华文新魏" panose="02010800040101010101" pitchFamily="2" charset="-122"/>
                  </a:rPr>
                  <a:t>语言</a:t>
                </a:r>
              </a:p>
            </p:txBody>
          </p:sp>
          <p:sp>
            <p:nvSpPr>
              <p:cNvPr id="78876" name="Text Box 161"/>
              <p:cNvSpPr txBox="1">
                <a:spLocks noChangeArrowheads="1"/>
              </p:cNvSpPr>
              <p:nvPr/>
            </p:nvSpPr>
            <p:spPr bwMode="auto">
              <a:xfrm>
                <a:off x="864" y="2284"/>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B</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78877" name="Text Box 162"/>
              <p:cNvSpPr txBox="1">
                <a:spLocks noChangeArrowheads="1"/>
              </p:cNvSpPr>
              <p:nvPr/>
            </p:nvSpPr>
            <p:spPr bwMode="auto">
              <a:xfrm>
                <a:off x="1680" y="1948"/>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CC3300"/>
                    </a:solidFill>
                    <a:latin typeface="Times New Roman" panose="02020603050405020304" pitchFamily="18" charset="0"/>
                    <a:ea typeface="华文新魏" panose="02010800040101010101" pitchFamily="2" charset="-122"/>
                  </a:rPr>
                  <a:t>B</a:t>
                </a:r>
                <a:r>
                  <a:rPr kumimoji="1" lang="zh-CN" altLang="en-US" sz="2000" b="1">
                    <a:solidFill>
                      <a:srgbClr val="CC3300"/>
                    </a:solidFill>
                    <a:latin typeface="Times New Roman" panose="02020603050405020304" pitchFamily="18" charset="0"/>
                    <a:ea typeface="华文新魏" panose="02010800040101010101" pitchFamily="2" charset="-122"/>
                  </a:rPr>
                  <a:t>机器</a:t>
                </a:r>
              </a:p>
            </p:txBody>
          </p:sp>
          <p:sp>
            <p:nvSpPr>
              <p:cNvPr id="317603" name="Text Box 163"/>
              <p:cNvSpPr txBox="1">
                <a:spLocks noChangeArrowheads="1"/>
              </p:cNvSpPr>
              <p:nvPr/>
            </p:nvSpPr>
            <p:spPr bwMode="auto">
              <a:xfrm>
                <a:off x="816" y="2862"/>
                <a:ext cx="816"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rPr>
                  <a:t>P3</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r>
                  <a:rPr kumimoji="1" lang="zh-CN" altLang="en-US" sz="1200" b="1">
                    <a:solidFill>
                      <a:srgbClr val="CC3300"/>
                    </a:solidFill>
                    <a:effectLst>
                      <a:outerShdw blurRad="38100" dist="38100" dir="2700000" algn="tl">
                        <a:srgbClr val="C0C0C0"/>
                      </a:outerShdw>
                    </a:effectLst>
                    <a:latin typeface="Times New Roman" pitchFamily="18" charset="0"/>
                    <a:ea typeface="华文新魏" pitchFamily="2" charset="-122"/>
                  </a:rPr>
                  <a:t>生成</a:t>
                </a:r>
                <a:r>
                  <a:rPr kumimoji="1" lang="en-US" altLang="zh-CN" sz="1200" b="1">
                    <a:solidFill>
                      <a:srgbClr val="CC3300"/>
                    </a:solidFill>
                    <a:effectLst>
                      <a:outerShdw blurRad="38100" dist="38100" dir="2700000" algn="tl">
                        <a:srgbClr val="C0C0C0"/>
                      </a:outerShdw>
                    </a:effectLst>
                    <a:latin typeface="Times New Roman" pitchFamily="18" charset="0"/>
                    <a:ea typeface="华文新魏" pitchFamily="2" charset="-122"/>
                  </a:rPr>
                  <a:t>)</a:t>
                </a:r>
                <a:endPar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endParaRPr>
              </a:p>
            </p:txBody>
          </p:sp>
          <p:grpSp>
            <p:nvGrpSpPr>
              <p:cNvPr id="78879" name="Group 164"/>
              <p:cNvGrpSpPr>
                <a:grpSpLocks/>
              </p:cNvGrpSpPr>
              <p:nvPr/>
            </p:nvGrpSpPr>
            <p:grpSpPr bwMode="auto">
              <a:xfrm>
                <a:off x="249" y="1797"/>
                <a:ext cx="2087" cy="817"/>
                <a:chOff x="1655" y="3203"/>
                <a:chExt cx="2087" cy="817"/>
              </a:xfrm>
            </p:grpSpPr>
            <p:sp>
              <p:nvSpPr>
                <p:cNvPr id="78880" name="Line 165"/>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1" name="Line 166"/>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2" name="Line 167"/>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3" name="Line 168"/>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4" name="Line 169"/>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5" name="Line 170"/>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6" name="Line 171"/>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7" name="Line 172"/>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78858" name="Rectangle 194"/>
          <p:cNvSpPr>
            <a:spLocks noChangeArrowheads="1"/>
          </p:cNvSpPr>
          <p:nvPr/>
        </p:nvSpPr>
        <p:spPr bwMode="auto">
          <a:xfrm>
            <a:off x="611188" y="5919788"/>
            <a:ext cx="43243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45000"/>
              </a:spcBef>
              <a:buFont typeface="Wingdings" panose="05000000000000000000" pitchFamily="2" charset="2"/>
              <a:buChar char="p"/>
            </a:pPr>
            <a:r>
              <a:rPr lang="zh-CN" altLang="en-US" sz="2800" b="1">
                <a:latin typeface="Times New Roman" panose="02020603050405020304" pitchFamily="18" charset="0"/>
                <a:ea typeface="华文新魏" panose="02010800040101010101" pitchFamily="2" charset="-122"/>
              </a:rPr>
              <a:t>   ？移植与“前端、后端”</a:t>
            </a:r>
            <a:endParaRPr lang="en-US" altLang="zh-CN" sz="2800" b="1">
              <a:latin typeface="Times New Roman" panose="02020603050405020304" pitchFamily="18" charset="0"/>
              <a:ea typeface="华文新魏" panose="02010800040101010101" pitchFamily="2" charset="-122"/>
            </a:endParaRPr>
          </a:p>
        </p:txBody>
      </p:sp>
      <p:grpSp>
        <p:nvGrpSpPr>
          <p:cNvPr id="78859" name="Group 195"/>
          <p:cNvGrpSpPr>
            <a:grpSpLocks/>
          </p:cNvGrpSpPr>
          <p:nvPr/>
        </p:nvGrpSpPr>
        <p:grpSpPr bwMode="auto">
          <a:xfrm>
            <a:off x="6661150" y="4005263"/>
            <a:ext cx="2447925" cy="1081087"/>
            <a:chOff x="4150" y="1026"/>
            <a:chExt cx="1542" cy="681"/>
          </a:xfrm>
        </p:grpSpPr>
        <p:sp>
          <p:nvSpPr>
            <p:cNvPr id="78860" name="Text Box 196"/>
            <p:cNvSpPr txBox="1">
              <a:spLocks noChangeArrowheads="1"/>
            </p:cNvSpPr>
            <p:nvPr/>
          </p:nvSpPr>
          <p:spPr bwMode="auto">
            <a:xfrm>
              <a:off x="4188" y="1041"/>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0000FF"/>
                  </a:solidFill>
                  <a:latin typeface="Times New Roman" panose="02020603050405020304" pitchFamily="18" charset="0"/>
                  <a:ea typeface="华文新魏" panose="02010800040101010101" pitchFamily="2" charset="-122"/>
                </a:rPr>
                <a:t>C</a:t>
              </a:r>
              <a:r>
                <a:rPr kumimoji="1" lang="zh-CN" altLang="en-US" sz="2000" b="1">
                  <a:solidFill>
                    <a:srgbClr val="0000FF"/>
                  </a:solidFill>
                  <a:latin typeface="Times New Roman" panose="02020603050405020304" pitchFamily="18" charset="0"/>
                  <a:ea typeface="华文新魏" panose="02010800040101010101" pitchFamily="2" charset="-122"/>
                </a:rPr>
                <a:t>语言</a:t>
              </a:r>
            </a:p>
          </p:txBody>
        </p:sp>
        <p:sp>
          <p:nvSpPr>
            <p:cNvPr id="78861" name="Text Box 197"/>
            <p:cNvSpPr txBox="1">
              <a:spLocks noChangeArrowheads="1"/>
            </p:cNvSpPr>
            <p:nvPr/>
          </p:nvSpPr>
          <p:spPr bwMode="auto">
            <a:xfrm>
              <a:off x="4641" y="1425"/>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0000FF"/>
                  </a:solidFill>
                  <a:latin typeface="Times New Roman" panose="02020603050405020304" pitchFamily="18" charset="0"/>
                  <a:ea typeface="华文新魏" panose="02010800040101010101" pitchFamily="2" charset="-122"/>
                </a:rPr>
                <a:t>B</a:t>
              </a:r>
              <a:r>
                <a:rPr kumimoji="1" lang="zh-CN" altLang="en-US" sz="2000" b="1">
                  <a:solidFill>
                    <a:srgbClr val="0000FF"/>
                  </a:solidFill>
                  <a:latin typeface="Times New Roman" panose="02020603050405020304" pitchFamily="18" charset="0"/>
                  <a:ea typeface="华文新魏" panose="02010800040101010101" pitchFamily="2" charset="-122"/>
                </a:rPr>
                <a:t>机器</a:t>
              </a:r>
            </a:p>
          </p:txBody>
        </p:sp>
        <p:sp>
          <p:nvSpPr>
            <p:cNvPr id="78862" name="Text Box 198"/>
            <p:cNvSpPr txBox="1">
              <a:spLocks noChangeArrowheads="1"/>
            </p:cNvSpPr>
            <p:nvPr/>
          </p:nvSpPr>
          <p:spPr bwMode="auto">
            <a:xfrm>
              <a:off x="5094" y="1089"/>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0000FF"/>
                  </a:solidFill>
                  <a:latin typeface="Times New Roman" panose="02020603050405020304" pitchFamily="18" charset="0"/>
                  <a:ea typeface="华文新魏" panose="02010800040101010101" pitchFamily="2" charset="-122"/>
                </a:rPr>
                <a:t>B</a:t>
              </a:r>
              <a:r>
                <a:rPr kumimoji="1" lang="zh-CN" altLang="en-US" sz="2000" b="1">
                  <a:solidFill>
                    <a:srgbClr val="0000FF"/>
                  </a:solidFill>
                  <a:latin typeface="Times New Roman" panose="02020603050405020304" pitchFamily="18" charset="0"/>
                  <a:ea typeface="华文新魏" panose="02010800040101010101" pitchFamily="2" charset="-122"/>
                </a:rPr>
                <a:t>机器</a:t>
              </a:r>
            </a:p>
          </p:txBody>
        </p:sp>
        <p:sp>
          <p:nvSpPr>
            <p:cNvPr id="317639" name="Text Box 199"/>
            <p:cNvSpPr txBox="1">
              <a:spLocks noChangeArrowheads="1"/>
            </p:cNvSpPr>
            <p:nvPr/>
          </p:nvSpPr>
          <p:spPr bwMode="auto">
            <a:xfrm>
              <a:off x="5239" y="1435"/>
              <a:ext cx="40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000" b="1">
                  <a:solidFill>
                    <a:srgbClr val="0000FF"/>
                  </a:solidFill>
                  <a:effectLst>
                    <a:outerShdw blurRad="38100" dist="38100" dir="2700000" algn="tl">
                      <a:srgbClr val="C0C0C0"/>
                    </a:outerShdw>
                  </a:effectLst>
                  <a:latin typeface="Times New Roman" pitchFamily="18" charset="0"/>
                  <a:ea typeface="华文新魏" pitchFamily="2" charset="-122"/>
                </a:rPr>
                <a:t>P3</a:t>
              </a:r>
            </a:p>
          </p:txBody>
        </p:sp>
        <p:grpSp>
          <p:nvGrpSpPr>
            <p:cNvPr id="78864" name="Group 200"/>
            <p:cNvGrpSpPr>
              <a:grpSpLocks/>
            </p:cNvGrpSpPr>
            <p:nvPr/>
          </p:nvGrpSpPr>
          <p:grpSpPr bwMode="auto">
            <a:xfrm>
              <a:off x="4150" y="1026"/>
              <a:ext cx="1542" cy="681"/>
              <a:chOff x="1655" y="3203"/>
              <a:chExt cx="2087" cy="817"/>
            </a:xfrm>
          </p:grpSpPr>
          <p:sp>
            <p:nvSpPr>
              <p:cNvPr id="78865" name="Line 201"/>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6" name="Line 202"/>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7" name="Line 203"/>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8" name="Line 204"/>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9" name="Line 205"/>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70" name="Line 206"/>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71" name="Line 207"/>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72" name="Line 208"/>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4DFD5F2-B38B-4B32-AEF4-8C64906CBAAC}" type="datetime1">
              <a:rPr lang="zh-CN" altLang="en-US" smtClean="0"/>
              <a:pPr/>
              <a:t>2017/2/24</a:t>
            </a:fld>
            <a:endParaRPr lang="en-US" altLang="zh-CN" smtClean="0"/>
          </a:p>
        </p:txBody>
      </p:sp>
      <p:sp>
        <p:nvSpPr>
          <p:cNvPr id="79875"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70C5EAE-1669-4CEC-B498-1F17CAAC68F7}" type="slidenum">
              <a:rPr lang="zh-CN" altLang="en-US"/>
              <a:pPr/>
              <a:t>74</a:t>
            </a:fld>
            <a:endParaRPr lang="en-US" altLang="zh-CN"/>
          </a:p>
        </p:txBody>
      </p:sp>
      <p:sp>
        <p:nvSpPr>
          <p:cNvPr id="79876" name="Rectangle 2"/>
          <p:cNvSpPr>
            <a:spLocks noGrp="1" noRot="1" noChangeArrowheads="1"/>
          </p:cNvSpPr>
          <p:nvPr>
            <p:ph type="title"/>
          </p:nvPr>
        </p:nvSpPr>
        <p:spPr>
          <a:xfrm>
            <a:off x="1042988" y="692150"/>
            <a:ext cx="7772400" cy="914400"/>
          </a:xfrm>
        </p:spPr>
        <p:txBody>
          <a:bodyPr/>
          <a:lstStyle/>
          <a:p>
            <a:r>
              <a:rPr lang="zh-CN" altLang="en-US" b="1" smtClean="0">
                <a:latin typeface="Times New Roman" panose="02020603050405020304" pitchFamily="18" charset="0"/>
                <a:ea typeface="华文新魏" panose="02010800040101010101" pitchFamily="2" charset="-122"/>
              </a:rPr>
              <a:t>2</a:t>
            </a:r>
            <a:r>
              <a:rPr lang="en-US" altLang="zh-CN" b="1" smtClean="0">
                <a:latin typeface="Times New Roman" panose="02020603050405020304" pitchFamily="18" charset="0"/>
                <a:ea typeface="华文新魏" panose="02010800040101010101" pitchFamily="2" charset="-122"/>
              </a:rPr>
              <a:t>) </a:t>
            </a:r>
            <a:r>
              <a:rPr lang="zh-CN" altLang="en-US" b="1" smtClean="0">
                <a:latin typeface="Times New Roman" panose="02020603050405020304" pitchFamily="18" charset="0"/>
                <a:ea typeface="华文新魏" panose="02010800040101010101" pitchFamily="2" charset="-122"/>
              </a:rPr>
              <a:t>本机编译器利用</a:t>
            </a:r>
          </a:p>
        </p:txBody>
      </p:sp>
      <p:sp>
        <p:nvSpPr>
          <p:cNvPr id="79877" name="Rectangle 3"/>
          <p:cNvSpPr>
            <a:spLocks noGrp="1" noRot="1" noChangeArrowheads="1"/>
          </p:cNvSpPr>
          <p:nvPr>
            <p:ph type="body" idx="1"/>
          </p:nvPr>
        </p:nvSpPr>
        <p:spPr>
          <a:xfrm>
            <a:off x="533400" y="1981200"/>
            <a:ext cx="8359775" cy="942975"/>
          </a:xfrm>
        </p:spPr>
        <p:txBody>
          <a:bodyPr/>
          <a:lstStyle/>
          <a:p>
            <a:pPr>
              <a:lnSpc>
                <a:spcPct val="90000"/>
              </a:lnSpc>
            </a:pPr>
            <a:r>
              <a:rPr lang="en-US" altLang="zh-CN" sz="2800" b="1" smtClean="0">
                <a:latin typeface="Times New Roman" panose="02020603050405020304" pitchFamily="18" charset="0"/>
                <a:ea typeface="华文新魏" panose="02010800040101010101" pitchFamily="2" charset="-122"/>
              </a:rPr>
              <a:t>Q2</a:t>
            </a:r>
            <a:r>
              <a:rPr lang="zh-CN" altLang="en-US" sz="2800" b="1" smtClean="0">
                <a:latin typeface="Times New Roman" panose="02020603050405020304" pitchFamily="18" charset="0"/>
                <a:ea typeface="华文新魏" panose="02010800040101010101" pitchFamily="2" charset="-122"/>
              </a:rPr>
              <a:t>： </a:t>
            </a:r>
            <a:r>
              <a:rPr lang="en-US" altLang="zh-CN" sz="2800" b="1" smtClean="0">
                <a:latin typeface="Times New Roman" panose="02020603050405020304" pitchFamily="18" charset="0"/>
                <a:ea typeface="华文新魏" panose="02010800040101010101" pitchFamily="2" charset="-122"/>
              </a:rPr>
              <a:t>A</a:t>
            </a:r>
            <a:r>
              <a:rPr lang="zh-CN" altLang="en-US" sz="2800" b="1" smtClean="0">
                <a:latin typeface="Times New Roman" panose="02020603050405020304" pitchFamily="18" charset="0"/>
                <a:ea typeface="华文新魏" panose="02010800040101010101" pitchFamily="2" charset="-122"/>
              </a:rPr>
              <a:t>机上有一个</a:t>
            </a:r>
            <a:r>
              <a:rPr lang="en-US" altLang="zh-CN" sz="2800" b="1" smtClean="0">
                <a:latin typeface="Times New Roman" panose="02020603050405020304" pitchFamily="18" charset="0"/>
                <a:ea typeface="华文新魏" panose="02010800040101010101" pitchFamily="2" charset="-122"/>
              </a:rPr>
              <a:t>C</a:t>
            </a:r>
            <a:r>
              <a:rPr lang="zh-CN" altLang="en-US" sz="2800" b="1" smtClean="0">
                <a:latin typeface="Times New Roman" panose="02020603050405020304" pitchFamily="18" charset="0"/>
                <a:ea typeface="华文新魏" panose="02010800040101010101" pitchFamily="2" charset="-122"/>
              </a:rPr>
              <a:t>语言编译器，现要实现一个新语言</a:t>
            </a:r>
            <a:r>
              <a:rPr lang="en-US" altLang="zh-CN" sz="2800" b="1" smtClean="0">
                <a:latin typeface="Times New Roman" panose="02020603050405020304" pitchFamily="18" charset="0"/>
                <a:ea typeface="华文新魏" panose="02010800040101010101" pitchFamily="2" charset="-122"/>
              </a:rPr>
              <a:t>NEW</a:t>
            </a:r>
            <a:r>
              <a:rPr lang="zh-CN" altLang="en-US" sz="2800" b="1" smtClean="0">
                <a:latin typeface="Times New Roman" panose="02020603050405020304" pitchFamily="18" charset="0"/>
                <a:ea typeface="华文新魏" panose="02010800040101010101" pitchFamily="2" charset="-122"/>
              </a:rPr>
              <a:t>的编译器？</a:t>
            </a:r>
          </a:p>
        </p:txBody>
      </p:sp>
      <p:grpSp>
        <p:nvGrpSpPr>
          <p:cNvPr id="79878" name="Group 37"/>
          <p:cNvGrpSpPr>
            <a:grpSpLocks/>
          </p:cNvGrpSpPr>
          <p:nvPr/>
        </p:nvGrpSpPr>
        <p:grpSpPr bwMode="auto">
          <a:xfrm>
            <a:off x="2987675" y="4437063"/>
            <a:ext cx="3581400" cy="1714500"/>
            <a:chOff x="1791" y="2205"/>
            <a:chExt cx="2256" cy="1080"/>
          </a:xfrm>
        </p:grpSpPr>
        <p:sp>
          <p:nvSpPr>
            <p:cNvPr id="79909" name="Text Box 38"/>
            <p:cNvSpPr txBox="1">
              <a:spLocks noChangeArrowheads="1"/>
            </p:cNvSpPr>
            <p:nvPr/>
          </p:nvSpPr>
          <p:spPr bwMode="auto">
            <a:xfrm>
              <a:off x="1872" y="2254"/>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C</a:t>
              </a:r>
              <a:r>
                <a:rPr kumimoji="1" lang="zh-CN" altLang="en-US" sz="2400" b="1">
                  <a:solidFill>
                    <a:srgbClr val="CC3300"/>
                  </a:solidFill>
                  <a:latin typeface="Times New Roman" panose="02020603050405020304" pitchFamily="18" charset="0"/>
                  <a:ea typeface="华文新魏" panose="02010800040101010101" pitchFamily="2" charset="-122"/>
                </a:rPr>
                <a:t>语言</a:t>
              </a:r>
            </a:p>
          </p:txBody>
        </p:sp>
        <p:sp>
          <p:nvSpPr>
            <p:cNvPr id="79910" name="Text Box 39"/>
            <p:cNvSpPr txBox="1">
              <a:spLocks noChangeArrowheads="1"/>
            </p:cNvSpPr>
            <p:nvPr/>
          </p:nvSpPr>
          <p:spPr bwMode="auto">
            <a:xfrm>
              <a:off x="2592" y="2638"/>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A</a:t>
              </a:r>
              <a:r>
                <a:rPr kumimoji="1" lang="zh-CN" altLang="en-US" sz="2400" b="1">
                  <a:solidFill>
                    <a:srgbClr val="CC3300"/>
                  </a:solidFill>
                  <a:latin typeface="Times New Roman" panose="02020603050405020304" pitchFamily="18" charset="0"/>
                  <a:ea typeface="华文新魏" panose="02010800040101010101" pitchFamily="2" charset="-122"/>
                </a:rPr>
                <a:t>机器</a:t>
              </a:r>
            </a:p>
          </p:txBody>
        </p:sp>
        <p:sp>
          <p:nvSpPr>
            <p:cNvPr id="79911" name="Text Box 40"/>
            <p:cNvSpPr txBox="1">
              <a:spLocks noChangeArrowheads="1"/>
            </p:cNvSpPr>
            <p:nvPr/>
          </p:nvSpPr>
          <p:spPr bwMode="auto">
            <a:xfrm>
              <a:off x="3408" y="2302"/>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A</a:t>
              </a:r>
              <a:r>
                <a:rPr kumimoji="1" lang="zh-CN" altLang="en-US" sz="2400" b="1">
                  <a:solidFill>
                    <a:srgbClr val="CC3300"/>
                  </a:solidFill>
                  <a:latin typeface="Times New Roman" panose="02020603050405020304" pitchFamily="18" charset="0"/>
                  <a:ea typeface="华文新魏" panose="02010800040101010101" pitchFamily="2" charset="-122"/>
                </a:rPr>
                <a:t>机器</a:t>
              </a:r>
            </a:p>
          </p:txBody>
        </p:sp>
        <p:sp>
          <p:nvSpPr>
            <p:cNvPr id="318505" name="Text Box 41"/>
            <p:cNvSpPr txBox="1">
              <a:spLocks noChangeArrowheads="1"/>
            </p:cNvSpPr>
            <p:nvPr/>
          </p:nvSpPr>
          <p:spPr bwMode="auto">
            <a:xfrm>
              <a:off x="2426" y="2931"/>
              <a:ext cx="672"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P1</a:t>
              </a:r>
              <a:r>
                <a:rPr kumimoji="1" lang="en-US" altLang="zh-CN" b="1" baseline="-25000">
                  <a:solidFill>
                    <a:srgbClr val="CC3300"/>
                  </a:solidFill>
                  <a:effectLst>
                    <a:outerShdw blurRad="38100" dist="38100" dir="2700000" algn="tl">
                      <a:srgbClr val="C0C0C0"/>
                    </a:outerShdw>
                  </a:effectLst>
                  <a:latin typeface="Times New Roman" pitchFamily="18" charset="0"/>
                  <a:ea typeface="华文新魏" pitchFamily="2" charset="-122"/>
                </a:rPr>
                <a:t>(</a:t>
              </a:r>
              <a:r>
                <a:rPr kumimoji="1" lang="zh-CN" altLang="en-US" b="1" baseline="-25000">
                  <a:solidFill>
                    <a:srgbClr val="CC3300"/>
                  </a:solidFill>
                  <a:effectLst>
                    <a:outerShdw blurRad="38100" dist="38100" dir="2700000" algn="tl">
                      <a:srgbClr val="C0C0C0"/>
                    </a:outerShdw>
                  </a:effectLst>
                  <a:latin typeface="Times New Roman" pitchFamily="18" charset="0"/>
                  <a:ea typeface="华文新魏" pitchFamily="2" charset="-122"/>
                </a:rPr>
                <a:t>原有</a:t>
              </a:r>
              <a:r>
                <a:rPr kumimoji="1" lang="en-US" altLang="zh-CN" b="1" baseline="-25000">
                  <a:solidFill>
                    <a:srgbClr val="CC3300"/>
                  </a:solidFill>
                  <a:effectLst>
                    <a:outerShdw blurRad="38100" dist="38100" dir="2700000" algn="tl">
                      <a:srgbClr val="C0C0C0"/>
                    </a:outerShdw>
                  </a:effectLst>
                  <a:latin typeface="Times New Roman" pitchFamily="18" charset="0"/>
                  <a:ea typeface="华文新魏" pitchFamily="2" charset="-122"/>
                </a:rPr>
                <a:t>)</a:t>
              </a:r>
            </a:p>
          </p:txBody>
        </p:sp>
        <p:grpSp>
          <p:nvGrpSpPr>
            <p:cNvPr id="79913" name="Group 42"/>
            <p:cNvGrpSpPr>
              <a:grpSpLocks/>
            </p:cNvGrpSpPr>
            <p:nvPr/>
          </p:nvGrpSpPr>
          <p:grpSpPr bwMode="auto">
            <a:xfrm>
              <a:off x="1791" y="2205"/>
              <a:ext cx="2223" cy="817"/>
              <a:chOff x="1655" y="3203"/>
              <a:chExt cx="2087" cy="817"/>
            </a:xfrm>
          </p:grpSpPr>
          <p:sp>
            <p:nvSpPr>
              <p:cNvPr id="79914" name="Line 43"/>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5" name="Line 44"/>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6" name="Line 45"/>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7" name="Line 46"/>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8" name="Line 47"/>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9" name="Line 48"/>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0" name="Line 49"/>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1" name="Line 50"/>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9879" name="Group 51"/>
          <p:cNvGrpSpPr>
            <a:grpSpLocks/>
          </p:cNvGrpSpPr>
          <p:nvPr/>
        </p:nvGrpSpPr>
        <p:grpSpPr bwMode="auto">
          <a:xfrm>
            <a:off x="5508625" y="3768725"/>
            <a:ext cx="3313113" cy="2252663"/>
            <a:chOff x="3379" y="1797"/>
            <a:chExt cx="2087" cy="1419"/>
          </a:xfrm>
        </p:grpSpPr>
        <p:sp>
          <p:nvSpPr>
            <p:cNvPr id="79896" name="Text Box 52"/>
            <p:cNvSpPr txBox="1">
              <a:spLocks noChangeArrowheads="1"/>
            </p:cNvSpPr>
            <p:nvPr/>
          </p:nvSpPr>
          <p:spPr bwMode="auto">
            <a:xfrm>
              <a:off x="3408" y="1918"/>
              <a:ext cx="9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NEW</a:t>
              </a:r>
              <a:r>
                <a:rPr kumimoji="1" lang="zh-CN" altLang="en-US" sz="2400" b="1">
                  <a:solidFill>
                    <a:srgbClr val="CC3300"/>
                  </a:solidFill>
                  <a:latin typeface="Times New Roman" panose="02020603050405020304" pitchFamily="18" charset="0"/>
                  <a:ea typeface="华文新魏" panose="02010800040101010101" pitchFamily="2" charset="-122"/>
                </a:rPr>
                <a:t>语言</a:t>
              </a:r>
            </a:p>
          </p:txBody>
        </p:sp>
        <p:sp>
          <p:nvSpPr>
            <p:cNvPr id="79897" name="Text Box 53"/>
            <p:cNvSpPr txBox="1">
              <a:spLocks noChangeArrowheads="1"/>
            </p:cNvSpPr>
            <p:nvPr/>
          </p:nvSpPr>
          <p:spPr bwMode="auto">
            <a:xfrm>
              <a:off x="4080" y="2302"/>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A</a:t>
              </a:r>
              <a:r>
                <a:rPr kumimoji="1" lang="zh-CN" altLang="en-US" sz="2400" b="1">
                  <a:solidFill>
                    <a:srgbClr val="CC3300"/>
                  </a:solidFill>
                  <a:latin typeface="Times New Roman" panose="02020603050405020304" pitchFamily="18" charset="0"/>
                  <a:ea typeface="华文新魏" panose="02010800040101010101" pitchFamily="2" charset="-122"/>
                </a:rPr>
                <a:t>机器</a:t>
              </a:r>
            </a:p>
          </p:txBody>
        </p:sp>
        <p:sp>
          <p:nvSpPr>
            <p:cNvPr id="79898" name="Text Box 54"/>
            <p:cNvSpPr txBox="1">
              <a:spLocks noChangeArrowheads="1"/>
            </p:cNvSpPr>
            <p:nvPr/>
          </p:nvSpPr>
          <p:spPr bwMode="auto">
            <a:xfrm>
              <a:off x="4800" y="1966"/>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CC3300"/>
                  </a:solidFill>
                  <a:latin typeface="Times New Roman" panose="02020603050405020304" pitchFamily="18" charset="0"/>
                  <a:ea typeface="华文新魏" panose="02010800040101010101" pitchFamily="2" charset="-122"/>
                </a:rPr>
                <a:t>A</a:t>
              </a:r>
              <a:r>
                <a:rPr kumimoji="1" lang="zh-CN" altLang="en-US" sz="2400" b="1">
                  <a:solidFill>
                    <a:srgbClr val="CC3300"/>
                  </a:solidFill>
                  <a:latin typeface="Times New Roman" panose="02020603050405020304" pitchFamily="18" charset="0"/>
                  <a:ea typeface="华文新魏" panose="02010800040101010101" pitchFamily="2" charset="-122"/>
                </a:rPr>
                <a:t>机器</a:t>
              </a:r>
            </a:p>
          </p:txBody>
        </p:sp>
        <p:sp>
          <p:nvSpPr>
            <p:cNvPr id="318519" name="Text Box 55"/>
            <p:cNvSpPr txBox="1">
              <a:spLocks noChangeArrowheads="1"/>
            </p:cNvSpPr>
            <p:nvPr/>
          </p:nvSpPr>
          <p:spPr bwMode="auto">
            <a:xfrm>
              <a:off x="4224" y="2862"/>
              <a:ext cx="768"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3300"/>
                  </a:solidFill>
                  <a:effectLst>
                    <a:outerShdw blurRad="38100" dist="38100" dir="2700000" algn="tl">
                      <a:srgbClr val="C0C0C0"/>
                    </a:outerShdw>
                  </a:effectLst>
                  <a:latin typeface="Times New Roman" pitchFamily="18" charset="0"/>
                  <a:ea typeface="华文新魏" pitchFamily="2" charset="-122"/>
                </a:rPr>
                <a:t>P2</a:t>
              </a:r>
              <a:r>
                <a:rPr kumimoji="1" lang="en-US" altLang="zh-CN" b="1" baseline="-25000">
                  <a:solidFill>
                    <a:srgbClr val="CC3300"/>
                  </a:solidFill>
                  <a:effectLst>
                    <a:outerShdw blurRad="38100" dist="38100" dir="2700000" algn="tl">
                      <a:srgbClr val="C0C0C0"/>
                    </a:outerShdw>
                  </a:effectLst>
                  <a:latin typeface="Times New Roman" pitchFamily="18" charset="0"/>
                  <a:ea typeface="华文新魏" pitchFamily="2" charset="-122"/>
                </a:rPr>
                <a:t>(</a:t>
              </a:r>
              <a:r>
                <a:rPr kumimoji="1" lang="zh-CN" altLang="en-US" b="1" baseline="-25000">
                  <a:solidFill>
                    <a:srgbClr val="CC3300"/>
                  </a:solidFill>
                  <a:effectLst>
                    <a:outerShdw blurRad="38100" dist="38100" dir="2700000" algn="tl">
                      <a:srgbClr val="C0C0C0"/>
                    </a:outerShdw>
                  </a:effectLst>
                  <a:latin typeface="Times New Roman" pitchFamily="18" charset="0"/>
                  <a:ea typeface="华文新魏" pitchFamily="2" charset="-122"/>
                </a:rPr>
                <a:t>生成</a:t>
              </a:r>
              <a:r>
                <a:rPr kumimoji="1" lang="en-US" altLang="zh-CN" b="1" baseline="-25000">
                  <a:solidFill>
                    <a:srgbClr val="CC3300"/>
                  </a:solidFill>
                  <a:effectLst>
                    <a:outerShdw blurRad="38100" dist="38100" dir="2700000" algn="tl">
                      <a:srgbClr val="C0C0C0"/>
                    </a:outerShdw>
                  </a:effectLst>
                  <a:latin typeface="Times New Roman" pitchFamily="18" charset="0"/>
                  <a:ea typeface="华文新魏" pitchFamily="2" charset="-122"/>
                </a:rPr>
                <a:t>)</a:t>
              </a:r>
            </a:p>
          </p:txBody>
        </p:sp>
        <p:grpSp>
          <p:nvGrpSpPr>
            <p:cNvPr id="79900" name="Group 56"/>
            <p:cNvGrpSpPr>
              <a:grpSpLocks/>
            </p:cNvGrpSpPr>
            <p:nvPr/>
          </p:nvGrpSpPr>
          <p:grpSpPr bwMode="auto">
            <a:xfrm>
              <a:off x="3379" y="1797"/>
              <a:ext cx="2087" cy="817"/>
              <a:chOff x="1655" y="3203"/>
              <a:chExt cx="2087" cy="817"/>
            </a:xfrm>
          </p:grpSpPr>
          <p:sp>
            <p:nvSpPr>
              <p:cNvPr id="79901" name="Line 57"/>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2" name="Line 58"/>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3" name="Line 59"/>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4" name="Line 60"/>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5" name="Line 61"/>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6" name="Line 62"/>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7" name="Line 63"/>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8" name="Line 64"/>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9880" name="Group 67"/>
          <p:cNvGrpSpPr>
            <a:grpSpLocks/>
          </p:cNvGrpSpPr>
          <p:nvPr/>
        </p:nvGrpSpPr>
        <p:grpSpPr bwMode="auto">
          <a:xfrm>
            <a:off x="468313" y="2852738"/>
            <a:ext cx="8359775" cy="3168650"/>
            <a:chOff x="295" y="1797"/>
            <a:chExt cx="5266" cy="1996"/>
          </a:xfrm>
        </p:grpSpPr>
        <p:grpSp>
          <p:nvGrpSpPr>
            <p:cNvPr id="79881" name="Group 23"/>
            <p:cNvGrpSpPr>
              <a:grpSpLocks/>
            </p:cNvGrpSpPr>
            <p:nvPr/>
          </p:nvGrpSpPr>
          <p:grpSpPr bwMode="auto">
            <a:xfrm>
              <a:off x="330" y="2374"/>
              <a:ext cx="2096" cy="1419"/>
              <a:chOff x="240" y="1797"/>
              <a:chExt cx="2096" cy="1419"/>
            </a:xfrm>
          </p:grpSpPr>
          <p:sp>
            <p:nvSpPr>
              <p:cNvPr id="79883" name="Text Box 24"/>
              <p:cNvSpPr txBox="1">
                <a:spLocks noChangeArrowheads="1"/>
              </p:cNvSpPr>
              <p:nvPr/>
            </p:nvSpPr>
            <p:spPr bwMode="auto">
              <a:xfrm>
                <a:off x="240" y="1923"/>
                <a:ext cx="8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b="1">
                    <a:latin typeface="Times New Roman" panose="02020603050405020304" pitchFamily="18" charset="0"/>
                    <a:ea typeface="华文新魏" panose="02010800040101010101" pitchFamily="2" charset="-122"/>
                  </a:rPr>
                  <a:t>NEW</a:t>
                </a:r>
                <a:r>
                  <a:rPr kumimoji="1" lang="zh-CN" altLang="en-US" sz="2400" b="1">
                    <a:latin typeface="Times New Roman" panose="02020603050405020304" pitchFamily="18" charset="0"/>
                    <a:ea typeface="华文新魏" panose="02010800040101010101" pitchFamily="2" charset="-122"/>
                  </a:rPr>
                  <a:t>语言</a:t>
                </a:r>
              </a:p>
            </p:txBody>
          </p:sp>
          <p:sp>
            <p:nvSpPr>
              <p:cNvPr id="79884" name="Text Box 25"/>
              <p:cNvSpPr txBox="1">
                <a:spLocks noChangeArrowheads="1"/>
              </p:cNvSpPr>
              <p:nvPr/>
            </p:nvSpPr>
            <p:spPr bwMode="auto">
              <a:xfrm>
                <a:off x="864" y="2254"/>
                <a:ext cx="7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latin typeface="Times New Roman" panose="02020603050405020304" pitchFamily="18" charset="0"/>
                    <a:ea typeface="华文新魏" panose="02010800040101010101" pitchFamily="2" charset="-122"/>
                  </a:rPr>
                  <a:t>C</a:t>
                </a:r>
                <a:r>
                  <a:rPr kumimoji="1" lang="zh-CN" altLang="en-US" sz="2400" b="1">
                    <a:latin typeface="Times New Roman" panose="02020603050405020304" pitchFamily="18" charset="0"/>
                    <a:ea typeface="华文新魏" panose="02010800040101010101" pitchFamily="2" charset="-122"/>
                  </a:rPr>
                  <a:t>语  言</a:t>
                </a:r>
              </a:p>
            </p:txBody>
          </p:sp>
          <p:sp>
            <p:nvSpPr>
              <p:cNvPr id="79885" name="Text Box 26"/>
              <p:cNvSpPr txBox="1">
                <a:spLocks noChangeArrowheads="1"/>
              </p:cNvSpPr>
              <p:nvPr/>
            </p:nvSpPr>
            <p:spPr bwMode="auto">
              <a:xfrm>
                <a:off x="1680" y="1918"/>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latin typeface="Times New Roman" panose="02020603050405020304" pitchFamily="18" charset="0"/>
                    <a:ea typeface="华文新魏" panose="02010800040101010101" pitchFamily="2" charset="-122"/>
                  </a:rPr>
                  <a:t>A</a:t>
                </a:r>
                <a:r>
                  <a:rPr kumimoji="1" lang="zh-CN" altLang="en-US" sz="2400" b="1">
                    <a:latin typeface="Times New Roman" panose="02020603050405020304" pitchFamily="18" charset="0"/>
                    <a:ea typeface="华文新魏" panose="02010800040101010101" pitchFamily="2" charset="-122"/>
                  </a:rPr>
                  <a:t>机器</a:t>
                </a:r>
              </a:p>
            </p:txBody>
          </p:sp>
          <p:sp>
            <p:nvSpPr>
              <p:cNvPr id="318491" name="Text Box 27"/>
              <p:cNvSpPr txBox="1">
                <a:spLocks noChangeArrowheads="1"/>
              </p:cNvSpPr>
              <p:nvPr/>
            </p:nvSpPr>
            <p:spPr bwMode="auto">
              <a:xfrm>
                <a:off x="816" y="2862"/>
                <a:ext cx="816"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Times New Roman" pitchFamily="18" charset="0"/>
                    <a:ea typeface="华文新魏" pitchFamily="2" charset="-122"/>
                  </a:rPr>
                  <a:t>P0</a:t>
                </a:r>
                <a:r>
                  <a:rPr kumimoji="1" lang="en-US" altLang="zh-CN" b="1" baseline="-25000">
                    <a:effectLst>
                      <a:outerShdw blurRad="38100" dist="38100" dir="2700000" algn="tl">
                        <a:srgbClr val="C0C0C0"/>
                      </a:outerShdw>
                    </a:effectLst>
                    <a:latin typeface="Times New Roman" pitchFamily="18" charset="0"/>
                    <a:ea typeface="华文新魏" pitchFamily="2" charset="-122"/>
                  </a:rPr>
                  <a:t>(</a:t>
                </a:r>
                <a:r>
                  <a:rPr kumimoji="1" lang="zh-CN" altLang="en-US" b="1" baseline="-25000">
                    <a:effectLst>
                      <a:outerShdw blurRad="38100" dist="38100" dir="2700000" algn="tl">
                        <a:srgbClr val="C0C0C0"/>
                      </a:outerShdw>
                    </a:effectLst>
                    <a:latin typeface="Times New Roman" pitchFamily="18" charset="0"/>
                    <a:ea typeface="华文新魏" pitchFamily="2" charset="-122"/>
                  </a:rPr>
                  <a:t>编写</a:t>
                </a:r>
                <a:r>
                  <a:rPr kumimoji="1" lang="en-US" altLang="zh-CN" b="1" baseline="-25000">
                    <a:effectLst>
                      <a:outerShdw blurRad="38100" dist="38100" dir="2700000" algn="tl">
                        <a:srgbClr val="C0C0C0"/>
                      </a:outerShdw>
                    </a:effectLst>
                    <a:latin typeface="Times New Roman" pitchFamily="18" charset="0"/>
                    <a:ea typeface="华文新魏" pitchFamily="2" charset="-122"/>
                  </a:rPr>
                  <a:t>)</a:t>
                </a:r>
              </a:p>
            </p:txBody>
          </p:sp>
          <p:grpSp>
            <p:nvGrpSpPr>
              <p:cNvPr id="79887" name="Group 28"/>
              <p:cNvGrpSpPr>
                <a:grpSpLocks/>
              </p:cNvGrpSpPr>
              <p:nvPr/>
            </p:nvGrpSpPr>
            <p:grpSpPr bwMode="auto">
              <a:xfrm>
                <a:off x="249" y="1797"/>
                <a:ext cx="2087" cy="817"/>
                <a:chOff x="1655" y="3203"/>
                <a:chExt cx="2087" cy="817"/>
              </a:xfrm>
            </p:grpSpPr>
            <p:sp>
              <p:nvSpPr>
                <p:cNvPr id="79888" name="Line 29"/>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9" name="Line 30"/>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0" name="Line 31"/>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1" name="Line 32"/>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2" name="Line 33"/>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3" name="Line 34"/>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4" name="Line 35"/>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5" name="Line 36"/>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9882" name="Rectangle 66"/>
            <p:cNvSpPr>
              <a:spLocks noChangeArrowheads="1"/>
            </p:cNvSpPr>
            <p:nvPr/>
          </p:nvSpPr>
          <p:spPr bwMode="auto">
            <a:xfrm>
              <a:off x="295" y="1797"/>
              <a:ext cx="526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SzPct val="75000"/>
                <a:buFont typeface="Wingdings" panose="05000000000000000000" pitchFamily="2" charset="2"/>
                <a:buChar char="v"/>
              </a:pPr>
              <a:r>
                <a:rPr lang="zh-CN" altLang="en-US" sz="2800" b="1">
                  <a:latin typeface="Times New Roman" panose="02020603050405020304" pitchFamily="18" charset="0"/>
                  <a:ea typeface="华文新魏" panose="02010800040101010101" pitchFamily="2" charset="-122"/>
                </a:rPr>
                <a:t>用</a:t>
              </a:r>
              <a:r>
                <a:rPr lang="en-US" altLang="zh-CN" sz="2800" b="1">
                  <a:latin typeface="Times New Roman" panose="02020603050405020304" pitchFamily="18" charset="0"/>
                  <a:ea typeface="华文新魏" panose="02010800040101010101" pitchFamily="2" charset="-122"/>
                </a:rPr>
                <a:t>C</a:t>
              </a:r>
              <a:r>
                <a:rPr lang="zh-CN" altLang="en-US" sz="2800" b="1">
                  <a:latin typeface="Times New Roman" panose="02020603050405020304" pitchFamily="18" charset="0"/>
                  <a:ea typeface="华文新魏" panose="02010800040101010101" pitchFamily="2" charset="-122"/>
                </a:rPr>
                <a:t>编写</a:t>
              </a:r>
              <a:r>
                <a:rPr lang="en-US" altLang="zh-CN" sz="2800" b="1">
                  <a:latin typeface="Times New Roman" panose="02020603050405020304" pitchFamily="18" charset="0"/>
                  <a:ea typeface="华文新魏" panose="02010800040101010101" pitchFamily="2" charset="-122"/>
                </a:rPr>
                <a:t>NEW</a:t>
              </a:r>
              <a:r>
                <a:rPr lang="zh-CN" altLang="en-US" sz="2800" b="1">
                  <a:latin typeface="Times New Roman" panose="02020603050405020304" pitchFamily="18" charset="0"/>
                  <a:ea typeface="华文新魏" panose="02010800040101010101" pitchFamily="2" charset="-122"/>
                </a:rPr>
                <a:t>的编译，并用</a:t>
              </a:r>
              <a:r>
                <a:rPr lang="en-US" altLang="zh-CN" sz="2800" b="1">
                  <a:latin typeface="Times New Roman" panose="02020603050405020304" pitchFamily="18" charset="0"/>
                  <a:ea typeface="华文新魏" panose="02010800040101010101" pitchFamily="2" charset="-122"/>
                </a:rPr>
                <a:t>C</a:t>
              </a:r>
              <a:r>
                <a:rPr lang="zh-CN" altLang="en-US" sz="2800" b="1">
                  <a:latin typeface="Times New Roman" panose="02020603050405020304" pitchFamily="18" charset="0"/>
                  <a:ea typeface="华文新魏" panose="02010800040101010101" pitchFamily="2" charset="-122"/>
                </a:rPr>
                <a:t>编译器编译它</a:t>
              </a:r>
            </a:p>
          </p:txBody>
        </p:sp>
      </p:gr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E4ACD7A-0B8E-4DF3-89F7-864A1D8A9E80}" type="datetime1">
              <a:rPr lang="zh-CN" altLang="en-US" smtClean="0"/>
              <a:pPr/>
              <a:t>2017/2/24</a:t>
            </a:fld>
            <a:endParaRPr lang="en-US" altLang="zh-CN" smtClean="0"/>
          </a:p>
        </p:txBody>
      </p:sp>
      <p:sp>
        <p:nvSpPr>
          <p:cNvPr id="80899"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97B8D74-7581-4989-8F6C-4474E5B33A13}" type="slidenum">
              <a:rPr lang="zh-CN" altLang="en-US"/>
              <a:pPr/>
              <a:t>75</a:t>
            </a:fld>
            <a:endParaRPr lang="en-US" altLang="zh-CN"/>
          </a:p>
        </p:txBody>
      </p:sp>
      <p:sp>
        <p:nvSpPr>
          <p:cNvPr id="80900" name="Rectangle 2"/>
          <p:cNvSpPr>
            <a:spLocks noGrp="1" noRot="1" noChangeArrowheads="1"/>
          </p:cNvSpPr>
          <p:nvPr>
            <p:ph type="body" idx="1"/>
          </p:nvPr>
        </p:nvSpPr>
        <p:spPr>
          <a:xfrm>
            <a:off x="539750" y="1700213"/>
            <a:ext cx="8375650" cy="4395787"/>
          </a:xfrm>
        </p:spPr>
        <p:txBody>
          <a:bodyPr/>
          <a:lstStyle/>
          <a:p>
            <a:pPr>
              <a:spcBef>
                <a:spcPct val="40000"/>
              </a:spcBef>
            </a:pPr>
            <a:r>
              <a:rPr lang="en-US" altLang="zh-CN" sz="2800" b="1" smtClean="0">
                <a:latin typeface="Times New Roman" panose="02020603050405020304" pitchFamily="18" charset="0"/>
                <a:ea typeface="华文新魏" panose="02010800040101010101" pitchFamily="2" charset="-122"/>
              </a:rPr>
              <a:t>Q3</a:t>
            </a:r>
            <a:r>
              <a:rPr lang="zh-CN" altLang="en-US" sz="2800" b="1" smtClean="0">
                <a:latin typeface="Times New Roman" panose="02020603050405020304" pitchFamily="18" charset="0"/>
                <a:ea typeface="华文新魏" panose="02010800040101010101" pitchFamily="2" charset="-122"/>
              </a:rPr>
              <a:t>：直接在一个机上实现</a:t>
            </a:r>
            <a:r>
              <a:rPr lang="en-US" altLang="zh-CN" sz="2800" b="1" smtClean="0">
                <a:latin typeface="Times New Roman" panose="02020603050405020304" pitchFamily="18" charset="0"/>
                <a:ea typeface="华文新魏" panose="02010800040101010101" pitchFamily="2" charset="-122"/>
              </a:rPr>
              <a:t>C</a:t>
            </a:r>
            <a:r>
              <a:rPr lang="zh-CN" altLang="en-US" sz="2800" b="1" smtClean="0">
                <a:latin typeface="Times New Roman" panose="02020603050405020304" pitchFamily="18" charset="0"/>
                <a:ea typeface="华文新魏" panose="02010800040101010101" pitchFamily="2" charset="-122"/>
              </a:rPr>
              <a:t>语言编译器，还有别的技术么？</a:t>
            </a:r>
          </a:p>
          <a:p>
            <a:pPr>
              <a:spcBef>
                <a:spcPct val="40000"/>
              </a:spcBef>
            </a:pPr>
            <a:r>
              <a:rPr lang="zh-CN" altLang="en-US" sz="2800" b="1" smtClean="0">
                <a:latin typeface="Times New Roman" panose="02020603050405020304" pitchFamily="18" charset="0"/>
                <a:ea typeface="华文新魏" panose="02010800040101010101" pitchFamily="2" charset="-122"/>
              </a:rPr>
              <a:t>解决</a:t>
            </a:r>
          </a:p>
          <a:p>
            <a:pPr lvl="1">
              <a:spcBef>
                <a:spcPct val="40000"/>
              </a:spcBef>
            </a:pPr>
            <a:r>
              <a:rPr lang="zh-CN" altLang="en-US" b="1" smtClean="0">
                <a:latin typeface="Times New Roman" panose="02020603050405020304" pitchFamily="18" charset="0"/>
                <a:ea typeface="华文新魏" panose="02010800040101010101" pitchFamily="2" charset="-122"/>
              </a:rPr>
              <a:t>基本思路：滚雪球</a:t>
            </a:r>
            <a:endParaRPr lang="en-US" altLang="zh-CN" b="1" smtClean="0">
              <a:latin typeface="Times New Roman" panose="02020603050405020304" pitchFamily="18" charset="0"/>
              <a:ea typeface="华文新魏" panose="02010800040101010101" pitchFamily="2" charset="-122"/>
            </a:endParaRPr>
          </a:p>
        </p:txBody>
      </p:sp>
      <p:sp>
        <p:nvSpPr>
          <p:cNvPr id="80901" name="Rectangle 3"/>
          <p:cNvSpPr>
            <a:spLocks noGrp="1" noChangeArrowheads="1"/>
          </p:cNvSpPr>
          <p:nvPr>
            <p:ph type="title"/>
          </p:nvPr>
        </p:nvSpPr>
        <p:spPr>
          <a:xfrm>
            <a:off x="971550" y="549275"/>
            <a:ext cx="7924800" cy="863600"/>
          </a:xfrm>
        </p:spPr>
        <p:txBody>
          <a:bodyPr lIns="92075" tIns="46038" rIns="92075" bIns="46038"/>
          <a:lstStyle/>
          <a:p>
            <a:r>
              <a:rPr lang="zh-CN" altLang="en-US" b="1" smtClean="0">
                <a:latin typeface="Times New Roman" panose="02020603050405020304" pitchFamily="18" charset="0"/>
                <a:ea typeface="华文新魏" panose="02010800040101010101" pitchFamily="2" charset="-122"/>
              </a:rPr>
              <a:t>3</a:t>
            </a:r>
            <a:r>
              <a:rPr lang="en-US" altLang="zh-CN" b="1" smtClean="0">
                <a:latin typeface="Times New Roman" panose="02020603050405020304" pitchFamily="18" charset="0"/>
                <a:ea typeface="华文新魏" panose="02010800040101010101" pitchFamily="2" charset="-122"/>
              </a:rPr>
              <a:t>) </a:t>
            </a:r>
            <a:r>
              <a:rPr lang="zh-CN" altLang="en-US" b="1" smtClean="0">
                <a:latin typeface="Times New Roman" panose="02020603050405020304" pitchFamily="18" charset="0"/>
                <a:ea typeface="华文新魏" panose="02010800040101010101" pitchFamily="2" charset="-122"/>
              </a:rPr>
              <a:t>编译程序的自展技术</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1922" name="Group 1117"/>
          <p:cNvGrpSpPr>
            <a:grpSpLocks/>
          </p:cNvGrpSpPr>
          <p:nvPr/>
        </p:nvGrpSpPr>
        <p:grpSpPr bwMode="auto">
          <a:xfrm>
            <a:off x="179388" y="290513"/>
            <a:ext cx="6761162" cy="5068887"/>
            <a:chOff x="113" y="73"/>
            <a:chExt cx="4259" cy="3193"/>
          </a:xfrm>
        </p:grpSpPr>
        <p:sp>
          <p:nvSpPr>
            <p:cNvPr id="82002" name="Rectangle 1047"/>
            <p:cNvSpPr>
              <a:spLocks noChangeArrowheads="1"/>
            </p:cNvSpPr>
            <p:nvPr/>
          </p:nvSpPr>
          <p:spPr bwMode="auto">
            <a:xfrm>
              <a:off x="144" y="2932"/>
              <a:ext cx="4228"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kumimoji="1" lang="zh-CN" altLang="en-US" sz="2400" b="1">
                  <a:latin typeface="Times New Roman" panose="02020603050405020304" pitchFamily="18" charset="0"/>
                  <a:ea typeface="华文新魏" panose="02010800040101010101" pitchFamily="2" charset="-122"/>
                </a:rPr>
                <a:t>1. 用汇编语言实现一个 </a:t>
              </a:r>
              <a:r>
                <a:rPr kumimoji="1" lang="en-US" altLang="zh-CN" sz="2400" b="1">
                  <a:latin typeface="Times New Roman" panose="02020603050405020304" pitchFamily="18" charset="0"/>
                  <a:ea typeface="华文新魏" panose="02010800040101010101" pitchFamily="2" charset="-122"/>
                </a:rPr>
                <a:t>C</a:t>
              </a:r>
              <a:r>
                <a:rPr kumimoji="1" lang="zh-CN" altLang="en-US" sz="2400" b="1">
                  <a:latin typeface="Times New Roman" panose="02020603050405020304" pitchFamily="18" charset="0"/>
                  <a:ea typeface="华文新魏" panose="02010800040101010101" pitchFamily="2" charset="-122"/>
                </a:rPr>
                <a:t>子集的编译程序</a:t>
              </a:r>
              <a:r>
                <a:rPr kumimoji="1" lang="en-US" altLang="zh-CN" sz="2400" b="1">
                  <a:latin typeface="Times New Roman" panose="02020603050405020304" pitchFamily="18" charset="0"/>
                  <a:ea typeface="华文新魏" panose="02010800040101010101" pitchFamily="2" charset="-122"/>
                </a:rPr>
                <a:t>(P0</a:t>
              </a:r>
              <a:r>
                <a:rPr kumimoji="1" lang="en-US" altLang="zh-CN" sz="2000" b="1">
                  <a:latin typeface="Times New Roman" panose="02020603050405020304" pitchFamily="18" charset="0"/>
                  <a:ea typeface="华文新魏" panose="02010800040101010101" pitchFamily="2" charset="-122"/>
                </a:rPr>
                <a:t>—</a:t>
              </a:r>
              <a:r>
                <a:rPr kumimoji="1" lang="zh-CN" altLang="en-US" sz="2000" b="1">
                  <a:latin typeface="Times New Roman" panose="02020603050405020304" pitchFamily="18" charset="0"/>
                  <a:ea typeface="华文新魏" panose="02010800040101010101" pitchFamily="2" charset="-122"/>
                </a:rPr>
                <a:t>人</a:t>
              </a:r>
              <a:r>
                <a:rPr kumimoji="1" lang="en-US" altLang="zh-CN" sz="2400" b="1">
                  <a:latin typeface="Times New Roman" panose="02020603050405020304" pitchFamily="18" charset="0"/>
                  <a:ea typeface="华文新魏" panose="02010800040101010101" pitchFamily="2" charset="-122"/>
                </a:rPr>
                <a:t>)</a:t>
              </a:r>
            </a:p>
          </p:txBody>
        </p:sp>
        <p:grpSp>
          <p:nvGrpSpPr>
            <p:cNvPr id="82003" name="Group 1116"/>
            <p:cNvGrpSpPr>
              <a:grpSpLocks/>
            </p:cNvGrpSpPr>
            <p:nvPr/>
          </p:nvGrpSpPr>
          <p:grpSpPr bwMode="auto">
            <a:xfrm>
              <a:off x="113" y="73"/>
              <a:ext cx="1900" cy="1021"/>
              <a:chOff x="113" y="73"/>
              <a:chExt cx="1900" cy="1021"/>
            </a:xfrm>
          </p:grpSpPr>
          <p:sp>
            <p:nvSpPr>
              <p:cNvPr id="82004" name="Text Box 1075"/>
              <p:cNvSpPr txBox="1">
                <a:spLocks noChangeArrowheads="1"/>
              </p:cNvSpPr>
              <p:nvPr/>
            </p:nvSpPr>
            <p:spPr bwMode="auto">
              <a:xfrm>
                <a:off x="113" y="140"/>
                <a:ext cx="72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1600" b="1">
                    <a:latin typeface="Times New Roman" panose="02020603050405020304" pitchFamily="18" charset="0"/>
                    <a:ea typeface="华文新魏" panose="02010800040101010101" pitchFamily="2" charset="-122"/>
                  </a:rPr>
                  <a:t>C</a:t>
                </a:r>
                <a:r>
                  <a:rPr kumimoji="1" lang="zh-CN" altLang="en-US" sz="1600" b="1">
                    <a:latin typeface="Times New Roman" panose="02020603050405020304" pitchFamily="18" charset="0"/>
                    <a:ea typeface="华文新魏" panose="02010800040101010101" pitchFamily="2" charset="-122"/>
                  </a:rPr>
                  <a:t>语言子集</a:t>
                </a:r>
              </a:p>
            </p:txBody>
          </p:sp>
          <p:sp>
            <p:nvSpPr>
              <p:cNvPr id="82005" name="Text Box 1076"/>
              <p:cNvSpPr txBox="1">
                <a:spLocks noChangeArrowheads="1"/>
              </p:cNvSpPr>
              <p:nvPr/>
            </p:nvSpPr>
            <p:spPr bwMode="auto">
              <a:xfrm>
                <a:off x="778" y="467"/>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latin typeface="Times New Roman" panose="02020603050405020304" pitchFamily="18" charset="0"/>
                    <a:ea typeface="华文新魏" panose="02010800040101010101" pitchFamily="2" charset="-122"/>
                  </a:rPr>
                  <a:t>汇编语言</a:t>
                </a:r>
              </a:p>
            </p:txBody>
          </p:sp>
          <p:sp>
            <p:nvSpPr>
              <p:cNvPr id="82006" name="Text Box 1077"/>
              <p:cNvSpPr txBox="1">
                <a:spLocks noChangeArrowheads="1"/>
              </p:cNvSpPr>
              <p:nvPr/>
            </p:nvSpPr>
            <p:spPr bwMode="auto">
              <a:xfrm>
                <a:off x="1383" y="150"/>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latin typeface="Times New Roman" panose="02020603050405020304" pitchFamily="18" charset="0"/>
                    <a:ea typeface="华文新魏" panose="02010800040101010101" pitchFamily="2" charset="-122"/>
                  </a:rPr>
                  <a:t>机器语言</a:t>
                </a:r>
              </a:p>
            </p:txBody>
          </p:sp>
          <p:sp>
            <p:nvSpPr>
              <p:cNvPr id="320566" name="Text Box 1078"/>
              <p:cNvSpPr txBox="1">
                <a:spLocks noChangeArrowheads="1"/>
              </p:cNvSpPr>
              <p:nvPr/>
            </p:nvSpPr>
            <p:spPr bwMode="auto">
              <a:xfrm>
                <a:off x="793" y="845"/>
                <a:ext cx="36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b="1">
                    <a:effectLst>
                      <a:outerShdw blurRad="38100" dist="38100" dir="2700000" algn="tl">
                        <a:srgbClr val="C0C0C0"/>
                      </a:outerShdw>
                    </a:effectLst>
                    <a:latin typeface="Times New Roman" pitchFamily="18" charset="0"/>
                  </a:rPr>
                  <a:t>P0</a:t>
                </a:r>
                <a:endParaRPr kumimoji="1" lang="en-US" altLang="zh-CN" b="1" baseline="-25000">
                  <a:effectLst>
                    <a:outerShdw blurRad="38100" dist="38100" dir="2700000" algn="tl">
                      <a:srgbClr val="C0C0C0"/>
                    </a:outerShdw>
                  </a:effectLst>
                  <a:latin typeface="Times New Roman" pitchFamily="18" charset="0"/>
                </a:endParaRPr>
              </a:p>
            </p:txBody>
          </p:sp>
          <p:grpSp>
            <p:nvGrpSpPr>
              <p:cNvPr id="82008" name="Group 1079"/>
              <p:cNvGrpSpPr>
                <a:grpSpLocks/>
              </p:cNvGrpSpPr>
              <p:nvPr/>
            </p:nvGrpSpPr>
            <p:grpSpPr bwMode="auto">
              <a:xfrm>
                <a:off x="121" y="73"/>
                <a:ext cx="1892" cy="635"/>
                <a:chOff x="1655" y="3203"/>
                <a:chExt cx="2087" cy="817"/>
              </a:xfrm>
            </p:grpSpPr>
            <p:sp>
              <p:nvSpPr>
                <p:cNvPr id="82009" name="Line 1080"/>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0" name="Line 1081"/>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1" name="Line 1082"/>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2" name="Line 1083"/>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3" name="Line 1084"/>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4" name="Line 1085"/>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5" name="Line 1086"/>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6" name="Line 1087"/>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81923" name="Group 1134"/>
          <p:cNvGrpSpPr>
            <a:grpSpLocks/>
          </p:cNvGrpSpPr>
          <p:nvPr/>
        </p:nvGrpSpPr>
        <p:grpSpPr bwMode="auto">
          <a:xfrm>
            <a:off x="228600" y="795338"/>
            <a:ext cx="7269163" cy="4945062"/>
            <a:chOff x="144" y="391"/>
            <a:chExt cx="4579" cy="3115"/>
          </a:xfrm>
        </p:grpSpPr>
        <p:sp>
          <p:nvSpPr>
            <p:cNvPr id="81987" name="Rectangle 1059"/>
            <p:cNvSpPr>
              <a:spLocks noChangeArrowheads="1"/>
            </p:cNvSpPr>
            <p:nvPr/>
          </p:nvSpPr>
          <p:spPr bwMode="auto">
            <a:xfrm>
              <a:off x="144" y="3172"/>
              <a:ext cx="4579"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kumimoji="1" lang="zh-CN" altLang="en-US" sz="2400" b="1">
                  <a:latin typeface="Times New Roman" panose="02020603050405020304" pitchFamily="18" charset="0"/>
                  <a:ea typeface="华文新魏" panose="02010800040101010101" pitchFamily="2" charset="-122"/>
                </a:rPr>
                <a:t>2. 用汇编程序</a:t>
              </a:r>
              <a:r>
                <a:rPr kumimoji="1" lang="en-US" altLang="zh-CN" sz="2400" b="1">
                  <a:latin typeface="Times New Roman" panose="02020603050405020304" pitchFamily="18" charset="0"/>
                  <a:ea typeface="华文新魏" panose="02010800040101010101" pitchFamily="2" charset="-122"/>
                </a:rPr>
                <a:t>(P1)</a:t>
              </a:r>
              <a:r>
                <a:rPr kumimoji="1" lang="zh-CN" altLang="en-US" sz="2400" b="1">
                  <a:latin typeface="Times New Roman" panose="02020603050405020304" pitchFamily="18" charset="0"/>
                  <a:ea typeface="华文新魏" panose="02010800040101010101" pitchFamily="2" charset="-122"/>
                </a:rPr>
                <a:t>处理该程序,得到</a:t>
              </a:r>
              <a:r>
                <a:rPr kumimoji="1" lang="en-US" altLang="zh-CN" sz="2400" b="1">
                  <a:latin typeface="Times New Roman" panose="02020603050405020304" pitchFamily="18" charset="0"/>
                  <a:ea typeface="华文新魏" panose="02010800040101010101" pitchFamily="2" charset="-122"/>
                </a:rPr>
                <a:t>P2(P2:</a:t>
              </a:r>
              <a:r>
                <a:rPr kumimoji="1" lang="zh-CN" altLang="en-US" sz="2400" b="1">
                  <a:latin typeface="Times New Roman" panose="02020603050405020304" pitchFamily="18" charset="0"/>
                  <a:ea typeface="华文新魏" panose="02010800040101010101" pitchFamily="2" charset="-122"/>
                </a:rPr>
                <a:t>可直接运行</a:t>
              </a:r>
              <a:r>
                <a:rPr kumimoji="1" lang="en-US" altLang="zh-CN" sz="2400" b="1">
                  <a:latin typeface="Times New Roman" panose="02020603050405020304" pitchFamily="18" charset="0"/>
                  <a:ea typeface="华文新魏" panose="02010800040101010101" pitchFamily="2" charset="-122"/>
                </a:rPr>
                <a:t>)</a:t>
              </a:r>
            </a:p>
          </p:txBody>
        </p:sp>
        <p:grpSp>
          <p:nvGrpSpPr>
            <p:cNvPr id="81988" name="Group 1120"/>
            <p:cNvGrpSpPr>
              <a:grpSpLocks/>
            </p:cNvGrpSpPr>
            <p:nvPr/>
          </p:nvGrpSpPr>
          <p:grpSpPr bwMode="auto">
            <a:xfrm>
              <a:off x="1519" y="391"/>
              <a:ext cx="1900" cy="1021"/>
              <a:chOff x="113" y="73"/>
              <a:chExt cx="1900" cy="1021"/>
            </a:xfrm>
          </p:grpSpPr>
          <p:sp>
            <p:nvSpPr>
              <p:cNvPr id="81989" name="Text Box 1121"/>
              <p:cNvSpPr txBox="1">
                <a:spLocks noChangeArrowheads="1"/>
              </p:cNvSpPr>
              <p:nvPr/>
            </p:nvSpPr>
            <p:spPr bwMode="auto">
              <a:xfrm>
                <a:off x="113" y="144"/>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latin typeface="Times New Roman" panose="02020603050405020304" pitchFamily="18" charset="0"/>
                    <a:ea typeface="华文新魏" panose="02010800040101010101" pitchFamily="2" charset="-122"/>
                  </a:rPr>
                  <a:t>汇编语言</a:t>
                </a:r>
              </a:p>
            </p:txBody>
          </p:sp>
          <p:sp>
            <p:nvSpPr>
              <p:cNvPr id="81990" name="Text Box 1122"/>
              <p:cNvSpPr txBox="1">
                <a:spLocks noChangeArrowheads="1"/>
              </p:cNvSpPr>
              <p:nvPr/>
            </p:nvSpPr>
            <p:spPr bwMode="auto">
              <a:xfrm>
                <a:off x="778" y="467"/>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latin typeface="Times New Roman" panose="02020603050405020304" pitchFamily="18" charset="0"/>
                    <a:ea typeface="华文新魏" panose="02010800040101010101" pitchFamily="2" charset="-122"/>
                  </a:rPr>
                  <a:t>机器语言</a:t>
                </a:r>
              </a:p>
            </p:txBody>
          </p:sp>
          <p:sp>
            <p:nvSpPr>
              <p:cNvPr id="81991" name="Text Box 1123"/>
              <p:cNvSpPr txBox="1">
                <a:spLocks noChangeArrowheads="1"/>
              </p:cNvSpPr>
              <p:nvPr/>
            </p:nvSpPr>
            <p:spPr bwMode="auto">
              <a:xfrm>
                <a:off x="1383" y="150"/>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latin typeface="Times New Roman" panose="02020603050405020304" pitchFamily="18" charset="0"/>
                    <a:ea typeface="华文新魏" panose="02010800040101010101" pitchFamily="2" charset="-122"/>
                  </a:rPr>
                  <a:t>机器语言</a:t>
                </a:r>
              </a:p>
            </p:txBody>
          </p:sp>
          <p:sp>
            <p:nvSpPr>
              <p:cNvPr id="320612" name="Text Box 1124"/>
              <p:cNvSpPr txBox="1">
                <a:spLocks noChangeArrowheads="1"/>
              </p:cNvSpPr>
              <p:nvPr/>
            </p:nvSpPr>
            <p:spPr bwMode="auto">
              <a:xfrm>
                <a:off x="793" y="845"/>
                <a:ext cx="36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b="1">
                    <a:effectLst>
                      <a:outerShdw blurRad="38100" dist="38100" dir="2700000" algn="tl">
                        <a:srgbClr val="C0C0C0"/>
                      </a:outerShdw>
                    </a:effectLst>
                    <a:latin typeface="Times New Roman" pitchFamily="18" charset="0"/>
                    <a:ea typeface="华文新魏" pitchFamily="2" charset="-122"/>
                  </a:rPr>
                  <a:t>P1</a:t>
                </a:r>
                <a:endParaRPr kumimoji="1" lang="en-US" altLang="zh-CN" b="1" baseline="-25000">
                  <a:effectLst>
                    <a:outerShdw blurRad="38100" dist="38100" dir="2700000" algn="tl">
                      <a:srgbClr val="C0C0C0"/>
                    </a:outerShdw>
                  </a:effectLst>
                  <a:latin typeface="Times New Roman" pitchFamily="18" charset="0"/>
                  <a:ea typeface="华文新魏" pitchFamily="2" charset="-122"/>
                </a:endParaRPr>
              </a:p>
            </p:txBody>
          </p:sp>
          <p:grpSp>
            <p:nvGrpSpPr>
              <p:cNvPr id="81993" name="Group 1125"/>
              <p:cNvGrpSpPr>
                <a:grpSpLocks/>
              </p:cNvGrpSpPr>
              <p:nvPr/>
            </p:nvGrpSpPr>
            <p:grpSpPr bwMode="auto">
              <a:xfrm>
                <a:off x="121" y="73"/>
                <a:ext cx="1892" cy="635"/>
                <a:chOff x="1655" y="3203"/>
                <a:chExt cx="2087" cy="817"/>
              </a:xfrm>
            </p:grpSpPr>
            <p:sp>
              <p:nvSpPr>
                <p:cNvPr id="81994" name="Line 1126"/>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95" name="Line 1127"/>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96" name="Line 1128"/>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97" name="Line 1129"/>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98" name="Line 1130"/>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99" name="Line 1131"/>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00" name="Line 1132"/>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01" name="Line 1133"/>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81924" name="Group 1137"/>
          <p:cNvGrpSpPr>
            <a:grpSpLocks/>
          </p:cNvGrpSpPr>
          <p:nvPr/>
        </p:nvGrpSpPr>
        <p:grpSpPr bwMode="auto">
          <a:xfrm>
            <a:off x="4500563" y="290513"/>
            <a:ext cx="3016250" cy="1620837"/>
            <a:chOff x="113" y="73"/>
            <a:chExt cx="1900" cy="1021"/>
          </a:xfrm>
        </p:grpSpPr>
        <p:sp>
          <p:nvSpPr>
            <p:cNvPr id="81974" name="Text Box 1138"/>
            <p:cNvSpPr txBox="1">
              <a:spLocks noChangeArrowheads="1"/>
            </p:cNvSpPr>
            <p:nvPr/>
          </p:nvSpPr>
          <p:spPr bwMode="auto">
            <a:xfrm>
              <a:off x="113" y="140"/>
              <a:ext cx="72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1600" b="1">
                  <a:solidFill>
                    <a:srgbClr val="800080"/>
                  </a:solidFill>
                  <a:latin typeface="Times New Roman" panose="02020603050405020304" pitchFamily="18" charset="0"/>
                  <a:ea typeface="华文新魏" panose="02010800040101010101" pitchFamily="2" charset="-122"/>
                </a:rPr>
                <a:t>C</a:t>
              </a:r>
              <a:r>
                <a:rPr kumimoji="1" lang="zh-CN" altLang="en-US" sz="1600" b="1">
                  <a:solidFill>
                    <a:srgbClr val="800080"/>
                  </a:solidFill>
                  <a:latin typeface="Times New Roman" panose="02020603050405020304" pitchFamily="18" charset="0"/>
                  <a:ea typeface="华文新魏" panose="02010800040101010101" pitchFamily="2" charset="-122"/>
                </a:rPr>
                <a:t>语言子集</a:t>
              </a:r>
            </a:p>
          </p:txBody>
        </p:sp>
        <p:sp>
          <p:nvSpPr>
            <p:cNvPr id="81975" name="Text Box 1139"/>
            <p:cNvSpPr txBox="1">
              <a:spLocks noChangeArrowheads="1"/>
            </p:cNvSpPr>
            <p:nvPr/>
          </p:nvSpPr>
          <p:spPr bwMode="auto">
            <a:xfrm>
              <a:off x="778" y="467"/>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solidFill>
                    <a:srgbClr val="800080"/>
                  </a:solidFill>
                  <a:latin typeface="Times New Roman" panose="02020603050405020304" pitchFamily="18" charset="0"/>
                  <a:ea typeface="华文新魏" panose="02010800040101010101" pitchFamily="2" charset="-122"/>
                </a:rPr>
                <a:t>机器语言</a:t>
              </a:r>
            </a:p>
          </p:txBody>
        </p:sp>
        <p:sp>
          <p:nvSpPr>
            <p:cNvPr id="81976" name="Text Box 1140"/>
            <p:cNvSpPr txBox="1">
              <a:spLocks noChangeArrowheads="1"/>
            </p:cNvSpPr>
            <p:nvPr/>
          </p:nvSpPr>
          <p:spPr bwMode="auto">
            <a:xfrm>
              <a:off x="1383" y="150"/>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solidFill>
                    <a:srgbClr val="800080"/>
                  </a:solidFill>
                  <a:latin typeface="Times New Roman" panose="02020603050405020304" pitchFamily="18" charset="0"/>
                  <a:ea typeface="华文新魏" panose="02010800040101010101" pitchFamily="2" charset="-122"/>
                </a:rPr>
                <a:t>机器语言</a:t>
              </a:r>
            </a:p>
          </p:txBody>
        </p:sp>
        <p:sp>
          <p:nvSpPr>
            <p:cNvPr id="320629" name="Text Box 1141"/>
            <p:cNvSpPr txBox="1">
              <a:spLocks noChangeArrowheads="1"/>
            </p:cNvSpPr>
            <p:nvPr/>
          </p:nvSpPr>
          <p:spPr bwMode="auto">
            <a:xfrm>
              <a:off x="793" y="845"/>
              <a:ext cx="36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b="1">
                  <a:solidFill>
                    <a:srgbClr val="800080"/>
                  </a:solidFill>
                  <a:effectLst>
                    <a:outerShdw blurRad="38100" dist="38100" dir="2700000" algn="tl">
                      <a:srgbClr val="C0C0C0"/>
                    </a:outerShdw>
                  </a:effectLst>
                  <a:latin typeface="Times New Roman" pitchFamily="18" charset="0"/>
                  <a:ea typeface="华文新魏" pitchFamily="2" charset="-122"/>
                </a:rPr>
                <a:t>P2</a:t>
              </a:r>
              <a:endParaRPr kumimoji="1" lang="en-US" altLang="zh-CN" b="1" baseline="-25000">
                <a:solidFill>
                  <a:srgbClr val="800080"/>
                </a:solidFill>
                <a:effectLst>
                  <a:outerShdw blurRad="38100" dist="38100" dir="2700000" algn="tl">
                    <a:srgbClr val="C0C0C0"/>
                  </a:outerShdw>
                </a:effectLst>
                <a:latin typeface="Times New Roman" pitchFamily="18" charset="0"/>
                <a:ea typeface="华文新魏" pitchFamily="2" charset="-122"/>
              </a:endParaRPr>
            </a:p>
          </p:txBody>
        </p:sp>
        <p:grpSp>
          <p:nvGrpSpPr>
            <p:cNvPr id="81978" name="Group 1142"/>
            <p:cNvGrpSpPr>
              <a:grpSpLocks/>
            </p:cNvGrpSpPr>
            <p:nvPr/>
          </p:nvGrpSpPr>
          <p:grpSpPr bwMode="auto">
            <a:xfrm>
              <a:off x="121" y="73"/>
              <a:ext cx="1892" cy="635"/>
              <a:chOff x="1655" y="3203"/>
              <a:chExt cx="2087" cy="817"/>
            </a:xfrm>
          </p:grpSpPr>
          <p:sp>
            <p:nvSpPr>
              <p:cNvPr id="81979" name="Line 1143"/>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0" name="Line 1144"/>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1" name="Line 1145"/>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2" name="Line 1146"/>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3" name="Line 1147"/>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4" name="Line 1148"/>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5" name="Line 1149"/>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6" name="Line 1150"/>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81925" name="Group 1165"/>
          <p:cNvGrpSpPr>
            <a:grpSpLocks/>
          </p:cNvGrpSpPr>
          <p:nvPr/>
        </p:nvGrpSpPr>
        <p:grpSpPr bwMode="auto">
          <a:xfrm>
            <a:off x="2411413" y="1125538"/>
            <a:ext cx="6503987" cy="3675062"/>
            <a:chOff x="1519" y="709"/>
            <a:chExt cx="4097" cy="2315"/>
          </a:xfrm>
        </p:grpSpPr>
        <p:sp>
          <p:nvSpPr>
            <p:cNvPr id="81958" name="Freeform 1039"/>
            <p:cNvSpPr>
              <a:spLocks/>
            </p:cNvSpPr>
            <p:nvPr/>
          </p:nvSpPr>
          <p:spPr bwMode="auto">
            <a:xfrm>
              <a:off x="2653" y="709"/>
              <a:ext cx="1187" cy="1088"/>
            </a:xfrm>
            <a:custGeom>
              <a:avLst/>
              <a:gdLst>
                <a:gd name="T0" fmla="*/ 1187 w 1104"/>
                <a:gd name="T1" fmla="*/ 0 h 1104"/>
                <a:gd name="T2" fmla="*/ 1135 w 1104"/>
                <a:gd name="T3" fmla="*/ 142 h 1104"/>
                <a:gd name="T4" fmla="*/ 929 w 1104"/>
                <a:gd name="T5" fmla="*/ 142 h 1104"/>
                <a:gd name="T6" fmla="*/ 877 w 1104"/>
                <a:gd name="T7" fmla="*/ 331 h 1104"/>
                <a:gd name="T8" fmla="*/ 619 w 1104"/>
                <a:gd name="T9" fmla="*/ 378 h 1104"/>
                <a:gd name="T10" fmla="*/ 568 w 1104"/>
                <a:gd name="T11" fmla="*/ 568 h 1104"/>
                <a:gd name="T12" fmla="*/ 310 w 1104"/>
                <a:gd name="T13" fmla="*/ 662 h 1104"/>
                <a:gd name="T14" fmla="*/ 258 w 1104"/>
                <a:gd name="T15" fmla="*/ 851 h 1104"/>
                <a:gd name="T16" fmla="*/ 52 w 1104"/>
                <a:gd name="T17" fmla="*/ 946 h 1104"/>
                <a:gd name="T18" fmla="*/ 0 w 1104"/>
                <a:gd name="T19" fmla="*/ 1088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4" h="1104">
                  <a:moveTo>
                    <a:pt x="1104" y="0"/>
                  </a:moveTo>
                  <a:cubicBezTo>
                    <a:pt x="1100" y="60"/>
                    <a:pt x="1096" y="120"/>
                    <a:pt x="1056" y="144"/>
                  </a:cubicBezTo>
                  <a:cubicBezTo>
                    <a:pt x="1016" y="168"/>
                    <a:pt x="904" y="112"/>
                    <a:pt x="864" y="144"/>
                  </a:cubicBezTo>
                  <a:cubicBezTo>
                    <a:pt x="824" y="176"/>
                    <a:pt x="864" y="296"/>
                    <a:pt x="816" y="336"/>
                  </a:cubicBezTo>
                  <a:cubicBezTo>
                    <a:pt x="768" y="376"/>
                    <a:pt x="624" y="344"/>
                    <a:pt x="576" y="384"/>
                  </a:cubicBezTo>
                  <a:cubicBezTo>
                    <a:pt x="528" y="424"/>
                    <a:pt x="576" y="528"/>
                    <a:pt x="528" y="576"/>
                  </a:cubicBezTo>
                  <a:cubicBezTo>
                    <a:pt x="480" y="624"/>
                    <a:pt x="336" y="624"/>
                    <a:pt x="288" y="672"/>
                  </a:cubicBezTo>
                  <a:cubicBezTo>
                    <a:pt x="240" y="720"/>
                    <a:pt x="280" y="816"/>
                    <a:pt x="240" y="864"/>
                  </a:cubicBezTo>
                  <a:cubicBezTo>
                    <a:pt x="200" y="912"/>
                    <a:pt x="88" y="920"/>
                    <a:pt x="48" y="960"/>
                  </a:cubicBezTo>
                  <a:cubicBezTo>
                    <a:pt x="8" y="1000"/>
                    <a:pt x="4" y="1052"/>
                    <a:pt x="0" y="1104"/>
                  </a:cubicBezTo>
                </a:path>
              </a:pathLst>
            </a:custGeom>
            <a:noFill/>
            <a:ln w="28575" cap="flat" cmpd="sng">
              <a:solidFill>
                <a:schemeClr val="tx1"/>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320528" name="AutoShape 1040"/>
            <p:cNvSpPr>
              <a:spLocks noChangeArrowheads="1"/>
            </p:cNvSpPr>
            <p:nvPr/>
          </p:nvSpPr>
          <p:spPr bwMode="auto">
            <a:xfrm>
              <a:off x="4195" y="2109"/>
              <a:ext cx="1421" cy="915"/>
            </a:xfrm>
            <a:prstGeom prst="wedgeRoundRectCallout">
              <a:avLst>
                <a:gd name="adj1" fmla="val -129449"/>
                <a:gd name="adj2" fmla="val -42676"/>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ctr" defTabSz="282575">
                <a:lnSpc>
                  <a:spcPct val="110000"/>
                </a:lnSpc>
                <a:spcBef>
                  <a:spcPct val="20000"/>
                </a:spcBef>
                <a:buClr>
                  <a:schemeClr val="folHlink"/>
                </a:buClr>
                <a:buSzPct val="75000"/>
                <a:buFont typeface="Monotype Sorts" pitchFamily="2" charset="2"/>
                <a:buNone/>
                <a:tabLst>
                  <a:tab pos="88900" algn="l"/>
                </a:tabLst>
                <a:defRPr/>
              </a:pPr>
              <a:r>
                <a:rPr kumimoji="1" lang="zh-CN" altLang="en-US" sz="3200" b="1">
                  <a:solidFill>
                    <a:schemeClr val="hlink"/>
                  </a:solidFill>
                  <a:effectLst>
                    <a:outerShdw blurRad="38100" dist="38100" dir="2700000" algn="tl">
                      <a:srgbClr val="000000"/>
                    </a:outerShdw>
                  </a:effectLst>
                  <a:latin typeface="Times New Roman" pitchFamily="18" charset="0"/>
                  <a:ea typeface="华文新魏" pitchFamily="2" charset="-122"/>
                </a:rPr>
                <a:t>获得一个工具</a:t>
              </a:r>
            </a:p>
          </p:txBody>
        </p:sp>
        <p:grpSp>
          <p:nvGrpSpPr>
            <p:cNvPr id="81960" name="Group 1151"/>
            <p:cNvGrpSpPr>
              <a:grpSpLocks/>
            </p:cNvGrpSpPr>
            <p:nvPr/>
          </p:nvGrpSpPr>
          <p:grpSpPr bwMode="auto">
            <a:xfrm>
              <a:off x="1519" y="1797"/>
              <a:ext cx="1900" cy="1021"/>
              <a:chOff x="113" y="73"/>
              <a:chExt cx="1900" cy="1021"/>
            </a:xfrm>
          </p:grpSpPr>
          <p:sp>
            <p:nvSpPr>
              <p:cNvPr id="81961" name="Text Box 1152"/>
              <p:cNvSpPr txBox="1">
                <a:spLocks noChangeArrowheads="1"/>
              </p:cNvSpPr>
              <p:nvPr/>
            </p:nvSpPr>
            <p:spPr bwMode="auto">
              <a:xfrm>
                <a:off x="113" y="140"/>
                <a:ext cx="72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1600" b="1">
                    <a:solidFill>
                      <a:srgbClr val="800080"/>
                    </a:solidFill>
                    <a:latin typeface="Times New Roman" panose="02020603050405020304" pitchFamily="18" charset="0"/>
                    <a:ea typeface="华文新魏" panose="02010800040101010101" pitchFamily="2" charset="-122"/>
                  </a:rPr>
                  <a:t>C</a:t>
                </a:r>
                <a:r>
                  <a:rPr kumimoji="1" lang="zh-CN" altLang="en-US" sz="1600" b="1">
                    <a:solidFill>
                      <a:srgbClr val="800080"/>
                    </a:solidFill>
                    <a:latin typeface="Times New Roman" panose="02020603050405020304" pitchFamily="18" charset="0"/>
                    <a:ea typeface="华文新魏" panose="02010800040101010101" pitchFamily="2" charset="-122"/>
                  </a:rPr>
                  <a:t>语言子集</a:t>
                </a:r>
              </a:p>
            </p:txBody>
          </p:sp>
          <p:sp>
            <p:nvSpPr>
              <p:cNvPr id="81962" name="Text Box 1153"/>
              <p:cNvSpPr txBox="1">
                <a:spLocks noChangeArrowheads="1"/>
              </p:cNvSpPr>
              <p:nvPr/>
            </p:nvSpPr>
            <p:spPr bwMode="auto">
              <a:xfrm>
                <a:off x="778" y="467"/>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solidFill>
                      <a:srgbClr val="800080"/>
                    </a:solidFill>
                    <a:latin typeface="Times New Roman" panose="02020603050405020304" pitchFamily="18" charset="0"/>
                    <a:ea typeface="华文新魏" panose="02010800040101010101" pitchFamily="2" charset="-122"/>
                  </a:rPr>
                  <a:t>机器语言</a:t>
                </a:r>
              </a:p>
            </p:txBody>
          </p:sp>
          <p:sp>
            <p:nvSpPr>
              <p:cNvPr id="81963" name="Text Box 1154"/>
              <p:cNvSpPr txBox="1">
                <a:spLocks noChangeArrowheads="1"/>
              </p:cNvSpPr>
              <p:nvPr/>
            </p:nvSpPr>
            <p:spPr bwMode="auto">
              <a:xfrm>
                <a:off x="1383" y="150"/>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solidFill>
                      <a:srgbClr val="800080"/>
                    </a:solidFill>
                    <a:latin typeface="Times New Roman" panose="02020603050405020304" pitchFamily="18" charset="0"/>
                    <a:ea typeface="华文新魏" panose="02010800040101010101" pitchFamily="2" charset="-122"/>
                  </a:rPr>
                  <a:t>机器语言</a:t>
                </a:r>
              </a:p>
            </p:txBody>
          </p:sp>
          <p:sp>
            <p:nvSpPr>
              <p:cNvPr id="320643" name="Text Box 1155"/>
              <p:cNvSpPr txBox="1">
                <a:spLocks noChangeArrowheads="1"/>
              </p:cNvSpPr>
              <p:nvPr/>
            </p:nvSpPr>
            <p:spPr bwMode="auto">
              <a:xfrm>
                <a:off x="793" y="845"/>
                <a:ext cx="36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b="1">
                    <a:solidFill>
                      <a:srgbClr val="800080"/>
                    </a:solidFill>
                    <a:effectLst>
                      <a:outerShdw blurRad="38100" dist="38100" dir="2700000" algn="tl">
                        <a:srgbClr val="C0C0C0"/>
                      </a:outerShdw>
                    </a:effectLst>
                    <a:latin typeface="Times New Roman" pitchFamily="18" charset="0"/>
                    <a:ea typeface="华文新魏" pitchFamily="2" charset="-122"/>
                  </a:rPr>
                  <a:t>P2</a:t>
                </a:r>
                <a:endParaRPr kumimoji="1" lang="en-US" altLang="zh-CN" b="1" baseline="-25000">
                  <a:solidFill>
                    <a:srgbClr val="800080"/>
                  </a:solidFill>
                  <a:effectLst>
                    <a:outerShdw blurRad="38100" dist="38100" dir="2700000" algn="tl">
                      <a:srgbClr val="C0C0C0"/>
                    </a:outerShdw>
                  </a:effectLst>
                  <a:latin typeface="Times New Roman" pitchFamily="18" charset="0"/>
                  <a:ea typeface="华文新魏" pitchFamily="2" charset="-122"/>
                </a:endParaRPr>
              </a:p>
            </p:txBody>
          </p:sp>
          <p:grpSp>
            <p:nvGrpSpPr>
              <p:cNvPr id="81965" name="Group 1156"/>
              <p:cNvGrpSpPr>
                <a:grpSpLocks/>
              </p:cNvGrpSpPr>
              <p:nvPr/>
            </p:nvGrpSpPr>
            <p:grpSpPr bwMode="auto">
              <a:xfrm>
                <a:off x="121" y="73"/>
                <a:ext cx="1892" cy="635"/>
                <a:chOff x="1655" y="3203"/>
                <a:chExt cx="2087" cy="817"/>
              </a:xfrm>
            </p:grpSpPr>
            <p:sp>
              <p:nvSpPr>
                <p:cNvPr id="81966" name="Line 1157"/>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67" name="Line 1158"/>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68" name="Line 1159"/>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69" name="Line 1160"/>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70" name="Line 1161"/>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71" name="Line 1162"/>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72" name="Line 1163"/>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73" name="Line 1164"/>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81926" name="Group 1197"/>
          <p:cNvGrpSpPr>
            <a:grpSpLocks/>
          </p:cNvGrpSpPr>
          <p:nvPr/>
        </p:nvGrpSpPr>
        <p:grpSpPr bwMode="auto">
          <a:xfrm>
            <a:off x="179388" y="2359025"/>
            <a:ext cx="5746750" cy="3668713"/>
            <a:chOff x="113" y="1486"/>
            <a:chExt cx="3620" cy="2311"/>
          </a:xfrm>
        </p:grpSpPr>
        <p:sp>
          <p:nvSpPr>
            <p:cNvPr id="81943" name="Rectangle 1066"/>
            <p:cNvSpPr>
              <a:spLocks noChangeArrowheads="1"/>
            </p:cNvSpPr>
            <p:nvPr/>
          </p:nvSpPr>
          <p:spPr bwMode="auto">
            <a:xfrm>
              <a:off x="134" y="3486"/>
              <a:ext cx="3599"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20000"/>
                </a:spcBef>
                <a:buClr>
                  <a:schemeClr val="folHlink"/>
                </a:buClr>
                <a:buSzPct val="75000"/>
                <a:buFont typeface="Monotype Sorts" pitchFamily="2" charset="2"/>
                <a:buNone/>
              </a:pPr>
              <a:r>
                <a:rPr kumimoji="1" lang="zh-CN" altLang="en-US" sz="2400" b="1">
                  <a:latin typeface="Times New Roman" panose="02020603050405020304" pitchFamily="18" charset="0"/>
                  <a:ea typeface="华文新魏" panose="02010800040101010101" pitchFamily="2" charset="-122"/>
                </a:rPr>
                <a:t>3. 用</a:t>
              </a:r>
              <a:r>
                <a:rPr kumimoji="1" lang="en-US" altLang="zh-CN" sz="2400" b="1">
                  <a:latin typeface="Times New Roman" panose="02020603050405020304" pitchFamily="18" charset="0"/>
                  <a:ea typeface="华文新魏" panose="02010800040101010101" pitchFamily="2" charset="-122"/>
                </a:rPr>
                <a:t>C</a:t>
              </a:r>
              <a:r>
                <a:rPr kumimoji="1" lang="zh-CN" altLang="en-US" sz="2400" b="1">
                  <a:latin typeface="Times New Roman" panose="02020603050405020304" pitchFamily="18" charset="0"/>
                  <a:ea typeface="华文新魏" panose="02010800040101010101" pitchFamily="2" charset="-122"/>
                </a:rPr>
                <a:t>子集编制 </a:t>
              </a:r>
              <a:r>
                <a:rPr kumimoji="1" lang="en-US" altLang="zh-CN" sz="2400" b="1">
                  <a:latin typeface="Times New Roman" panose="02020603050405020304" pitchFamily="18" charset="0"/>
                  <a:ea typeface="华文新魏" panose="02010800040101010101" pitchFamily="2" charset="-122"/>
                </a:rPr>
                <a:t>C</a:t>
              </a:r>
              <a:r>
                <a:rPr kumimoji="1" lang="zh-CN" altLang="en-US" sz="2400" b="1">
                  <a:latin typeface="Times New Roman" panose="02020603050405020304" pitchFamily="18" charset="0"/>
                  <a:ea typeface="华文新魏" panose="02010800040101010101" pitchFamily="2" charset="-122"/>
                </a:rPr>
                <a:t>语言的编译程序</a:t>
              </a:r>
              <a:r>
                <a:rPr kumimoji="1" lang="en-US" altLang="zh-CN" sz="2400" b="1">
                  <a:latin typeface="Times New Roman" panose="02020603050405020304" pitchFamily="18" charset="0"/>
                  <a:ea typeface="华文新魏" panose="02010800040101010101" pitchFamily="2" charset="-122"/>
                </a:rPr>
                <a:t>(P3</a:t>
              </a:r>
              <a:r>
                <a:rPr kumimoji="1" lang="en-US" altLang="zh-CN" sz="2000" b="1">
                  <a:latin typeface="Times New Roman" panose="02020603050405020304" pitchFamily="18" charset="0"/>
                  <a:ea typeface="华文新魏" panose="02010800040101010101" pitchFamily="2" charset="-122"/>
                </a:rPr>
                <a:t>—</a:t>
              </a:r>
              <a:r>
                <a:rPr kumimoji="1" lang="zh-CN" altLang="en-US" sz="2000" b="1">
                  <a:latin typeface="Times New Roman" panose="02020603050405020304" pitchFamily="18" charset="0"/>
                  <a:ea typeface="华文新魏" panose="02010800040101010101" pitchFamily="2" charset="-122"/>
                </a:rPr>
                <a:t>人</a:t>
              </a:r>
              <a:r>
                <a:rPr kumimoji="1" lang="en-US" altLang="zh-CN" sz="2400" b="1">
                  <a:latin typeface="Times New Roman" panose="02020603050405020304" pitchFamily="18" charset="0"/>
                  <a:ea typeface="华文新魏" panose="02010800040101010101" pitchFamily="2" charset="-122"/>
                </a:rPr>
                <a:t>)</a:t>
              </a:r>
            </a:p>
          </p:txBody>
        </p:sp>
        <p:grpSp>
          <p:nvGrpSpPr>
            <p:cNvPr id="81944" name="Group 1196"/>
            <p:cNvGrpSpPr>
              <a:grpSpLocks/>
            </p:cNvGrpSpPr>
            <p:nvPr/>
          </p:nvGrpSpPr>
          <p:grpSpPr bwMode="auto">
            <a:xfrm>
              <a:off x="113" y="1486"/>
              <a:ext cx="1900" cy="1021"/>
              <a:chOff x="113" y="1486"/>
              <a:chExt cx="1900" cy="1021"/>
            </a:xfrm>
          </p:grpSpPr>
          <p:sp>
            <p:nvSpPr>
              <p:cNvPr id="81945" name="Text Box 1167"/>
              <p:cNvSpPr txBox="1">
                <a:spLocks noChangeArrowheads="1"/>
              </p:cNvSpPr>
              <p:nvPr/>
            </p:nvSpPr>
            <p:spPr bwMode="auto">
              <a:xfrm>
                <a:off x="113" y="1553"/>
                <a:ext cx="46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1600" b="1">
                    <a:latin typeface="Times New Roman" panose="02020603050405020304" pitchFamily="18" charset="0"/>
                    <a:ea typeface="华文新魏" panose="02010800040101010101" pitchFamily="2" charset="-122"/>
                  </a:rPr>
                  <a:t>C</a:t>
                </a:r>
                <a:r>
                  <a:rPr kumimoji="1" lang="zh-CN" altLang="en-US" sz="1600" b="1">
                    <a:latin typeface="Times New Roman" panose="02020603050405020304" pitchFamily="18" charset="0"/>
                    <a:ea typeface="华文新魏" panose="02010800040101010101" pitchFamily="2" charset="-122"/>
                  </a:rPr>
                  <a:t>语言</a:t>
                </a:r>
              </a:p>
            </p:txBody>
          </p:sp>
          <p:sp>
            <p:nvSpPr>
              <p:cNvPr id="81946" name="Text Box 1168"/>
              <p:cNvSpPr txBox="1">
                <a:spLocks noChangeArrowheads="1"/>
              </p:cNvSpPr>
              <p:nvPr/>
            </p:nvSpPr>
            <p:spPr bwMode="auto">
              <a:xfrm>
                <a:off x="778" y="1876"/>
                <a:ext cx="72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1600" b="1">
                    <a:latin typeface="Times New Roman" panose="02020603050405020304" pitchFamily="18" charset="0"/>
                    <a:ea typeface="华文新魏" panose="02010800040101010101" pitchFamily="2" charset="-122"/>
                  </a:rPr>
                  <a:t>C</a:t>
                </a:r>
                <a:r>
                  <a:rPr kumimoji="1" lang="zh-CN" altLang="en-US" sz="1600" b="1">
                    <a:latin typeface="Times New Roman" panose="02020603050405020304" pitchFamily="18" charset="0"/>
                    <a:ea typeface="华文新魏" panose="02010800040101010101" pitchFamily="2" charset="-122"/>
                  </a:rPr>
                  <a:t>语言子集</a:t>
                </a:r>
              </a:p>
            </p:txBody>
          </p:sp>
          <p:sp>
            <p:nvSpPr>
              <p:cNvPr id="81947" name="Text Box 1169"/>
              <p:cNvSpPr txBox="1">
                <a:spLocks noChangeArrowheads="1"/>
              </p:cNvSpPr>
              <p:nvPr/>
            </p:nvSpPr>
            <p:spPr bwMode="auto">
              <a:xfrm>
                <a:off x="1383" y="1563"/>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latin typeface="Times New Roman" panose="02020603050405020304" pitchFamily="18" charset="0"/>
                    <a:ea typeface="华文新魏" panose="02010800040101010101" pitchFamily="2" charset="-122"/>
                  </a:rPr>
                  <a:t>机器语言</a:t>
                </a:r>
              </a:p>
            </p:txBody>
          </p:sp>
          <p:sp>
            <p:nvSpPr>
              <p:cNvPr id="320658" name="Text Box 1170"/>
              <p:cNvSpPr txBox="1">
                <a:spLocks noChangeArrowheads="1"/>
              </p:cNvSpPr>
              <p:nvPr/>
            </p:nvSpPr>
            <p:spPr bwMode="auto">
              <a:xfrm>
                <a:off x="793" y="2258"/>
                <a:ext cx="36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b="1">
                    <a:effectLst>
                      <a:outerShdw blurRad="38100" dist="38100" dir="2700000" algn="tl">
                        <a:srgbClr val="C0C0C0"/>
                      </a:outerShdw>
                    </a:effectLst>
                    <a:latin typeface="Times New Roman" pitchFamily="18" charset="0"/>
                    <a:ea typeface="华文新魏" pitchFamily="2" charset="-122"/>
                  </a:rPr>
                  <a:t>P3</a:t>
                </a:r>
                <a:endParaRPr kumimoji="1" lang="en-US" altLang="zh-CN" b="1" baseline="-25000">
                  <a:effectLst>
                    <a:outerShdw blurRad="38100" dist="38100" dir="2700000" algn="tl">
                      <a:srgbClr val="C0C0C0"/>
                    </a:outerShdw>
                  </a:effectLst>
                  <a:latin typeface="Times New Roman" pitchFamily="18" charset="0"/>
                  <a:ea typeface="华文新魏" pitchFamily="2" charset="-122"/>
                </a:endParaRPr>
              </a:p>
            </p:txBody>
          </p:sp>
          <p:grpSp>
            <p:nvGrpSpPr>
              <p:cNvPr id="81949" name="Group 1171"/>
              <p:cNvGrpSpPr>
                <a:grpSpLocks/>
              </p:cNvGrpSpPr>
              <p:nvPr/>
            </p:nvGrpSpPr>
            <p:grpSpPr bwMode="auto">
              <a:xfrm>
                <a:off x="121" y="1486"/>
                <a:ext cx="1892" cy="635"/>
                <a:chOff x="1655" y="3203"/>
                <a:chExt cx="2087" cy="817"/>
              </a:xfrm>
            </p:grpSpPr>
            <p:sp>
              <p:nvSpPr>
                <p:cNvPr id="81950" name="Line 1172"/>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1" name="Line 1173"/>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2" name="Line 1174"/>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3" name="Line 1175"/>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4" name="Line 1176"/>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5" name="Line 1177"/>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6" name="Line 1178"/>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7" name="Line 1179"/>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81927" name="Group 1195"/>
          <p:cNvGrpSpPr>
            <a:grpSpLocks/>
          </p:cNvGrpSpPr>
          <p:nvPr/>
        </p:nvGrpSpPr>
        <p:grpSpPr bwMode="auto">
          <a:xfrm>
            <a:off x="228600" y="2349500"/>
            <a:ext cx="8534400" cy="4051300"/>
            <a:chOff x="144" y="1480"/>
            <a:chExt cx="5376" cy="2552"/>
          </a:xfrm>
        </p:grpSpPr>
        <p:sp>
          <p:nvSpPr>
            <p:cNvPr id="81928" name="Text Box 1027"/>
            <p:cNvSpPr txBox="1">
              <a:spLocks noChangeArrowheads="1"/>
            </p:cNvSpPr>
            <p:nvPr/>
          </p:nvSpPr>
          <p:spPr bwMode="auto">
            <a:xfrm>
              <a:off x="144" y="3698"/>
              <a:ext cx="5376"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kumimoji="1" lang="zh-CN" altLang="en-US" sz="2400" b="1">
                  <a:latin typeface="Times New Roman" panose="02020603050405020304" pitchFamily="18" charset="0"/>
                  <a:ea typeface="华文新魏" panose="02010800040101010101" pitchFamily="2" charset="-122"/>
                </a:rPr>
                <a:t>4. 用</a:t>
              </a:r>
              <a:r>
                <a:rPr kumimoji="1" lang="en-US" altLang="zh-CN" sz="2400" b="1">
                  <a:latin typeface="Times New Roman" panose="02020603050405020304" pitchFamily="18" charset="0"/>
                  <a:ea typeface="华文新魏" panose="02010800040101010101" pitchFamily="2" charset="-122"/>
                </a:rPr>
                <a:t>P2</a:t>
              </a:r>
              <a:r>
                <a:rPr kumimoji="1" lang="zh-CN" altLang="en-US" sz="2400" b="1">
                  <a:latin typeface="Times New Roman" panose="02020603050405020304" pitchFamily="18" charset="0"/>
                  <a:ea typeface="华文新魏" panose="02010800040101010101" pitchFamily="2" charset="-122"/>
                </a:rPr>
                <a:t>编译</a:t>
              </a:r>
              <a:r>
                <a:rPr kumimoji="1" lang="en-US" altLang="zh-CN" sz="2400" b="1">
                  <a:latin typeface="Times New Roman" panose="02020603050405020304" pitchFamily="18" charset="0"/>
                  <a:ea typeface="华文新魏" panose="02010800040101010101" pitchFamily="2" charset="-122"/>
                </a:rPr>
                <a:t>P3，</a:t>
              </a:r>
              <a:r>
                <a:rPr kumimoji="1" lang="zh-CN" altLang="en-US" sz="2400" b="1">
                  <a:latin typeface="Times New Roman" panose="02020603050405020304" pitchFamily="18" charset="0"/>
                  <a:ea typeface="华文新魏" panose="02010800040101010101" pitchFamily="2" charset="-122"/>
                </a:rPr>
                <a:t>得到</a:t>
              </a:r>
              <a:r>
                <a:rPr kumimoji="1" lang="en-US" altLang="zh-CN" sz="2400" b="1">
                  <a:latin typeface="Times New Roman" panose="02020603050405020304" pitchFamily="18" charset="0"/>
                  <a:ea typeface="华文新魏" panose="02010800040101010101" pitchFamily="2" charset="-122"/>
                </a:rPr>
                <a:t>P4</a:t>
              </a:r>
            </a:p>
          </p:txBody>
        </p:sp>
        <p:grpSp>
          <p:nvGrpSpPr>
            <p:cNvPr id="81929" name="Group 1181"/>
            <p:cNvGrpSpPr>
              <a:grpSpLocks/>
            </p:cNvGrpSpPr>
            <p:nvPr/>
          </p:nvGrpSpPr>
          <p:grpSpPr bwMode="auto">
            <a:xfrm>
              <a:off x="2835" y="1480"/>
              <a:ext cx="1900" cy="1021"/>
              <a:chOff x="113" y="73"/>
              <a:chExt cx="1900" cy="1021"/>
            </a:xfrm>
          </p:grpSpPr>
          <p:sp>
            <p:nvSpPr>
              <p:cNvPr id="81930" name="Text Box 1182"/>
              <p:cNvSpPr txBox="1">
                <a:spLocks noChangeArrowheads="1"/>
              </p:cNvSpPr>
              <p:nvPr/>
            </p:nvSpPr>
            <p:spPr bwMode="auto">
              <a:xfrm>
                <a:off x="113" y="140"/>
                <a:ext cx="46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1600" b="1">
                    <a:solidFill>
                      <a:srgbClr val="800080"/>
                    </a:solidFill>
                    <a:latin typeface="Times New Roman" panose="02020603050405020304" pitchFamily="18" charset="0"/>
                    <a:ea typeface="华文新魏" panose="02010800040101010101" pitchFamily="2" charset="-122"/>
                  </a:rPr>
                  <a:t>C</a:t>
                </a:r>
                <a:r>
                  <a:rPr kumimoji="1" lang="zh-CN" altLang="en-US" sz="1600" b="1">
                    <a:solidFill>
                      <a:srgbClr val="800080"/>
                    </a:solidFill>
                    <a:latin typeface="Times New Roman" panose="02020603050405020304" pitchFamily="18" charset="0"/>
                    <a:ea typeface="华文新魏" panose="02010800040101010101" pitchFamily="2" charset="-122"/>
                  </a:rPr>
                  <a:t>语言</a:t>
                </a:r>
              </a:p>
            </p:txBody>
          </p:sp>
          <p:sp>
            <p:nvSpPr>
              <p:cNvPr id="81931" name="Text Box 1183"/>
              <p:cNvSpPr txBox="1">
                <a:spLocks noChangeArrowheads="1"/>
              </p:cNvSpPr>
              <p:nvPr/>
            </p:nvSpPr>
            <p:spPr bwMode="auto">
              <a:xfrm>
                <a:off x="778" y="467"/>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solidFill>
                      <a:srgbClr val="800080"/>
                    </a:solidFill>
                    <a:latin typeface="Times New Roman" panose="02020603050405020304" pitchFamily="18" charset="0"/>
                    <a:ea typeface="华文新魏" panose="02010800040101010101" pitchFamily="2" charset="-122"/>
                  </a:rPr>
                  <a:t>机器语言</a:t>
                </a:r>
              </a:p>
            </p:txBody>
          </p:sp>
          <p:sp>
            <p:nvSpPr>
              <p:cNvPr id="81932" name="Text Box 1184"/>
              <p:cNvSpPr txBox="1">
                <a:spLocks noChangeArrowheads="1"/>
              </p:cNvSpPr>
              <p:nvPr/>
            </p:nvSpPr>
            <p:spPr bwMode="auto">
              <a:xfrm>
                <a:off x="1383" y="150"/>
                <a:ext cx="6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600" b="1">
                    <a:solidFill>
                      <a:srgbClr val="800080"/>
                    </a:solidFill>
                    <a:latin typeface="Times New Roman" panose="02020603050405020304" pitchFamily="18" charset="0"/>
                    <a:ea typeface="华文新魏" panose="02010800040101010101" pitchFamily="2" charset="-122"/>
                  </a:rPr>
                  <a:t>机器语言</a:t>
                </a:r>
              </a:p>
            </p:txBody>
          </p:sp>
          <p:sp>
            <p:nvSpPr>
              <p:cNvPr id="320673" name="Text Box 1185"/>
              <p:cNvSpPr txBox="1">
                <a:spLocks noChangeArrowheads="1"/>
              </p:cNvSpPr>
              <p:nvPr/>
            </p:nvSpPr>
            <p:spPr bwMode="auto">
              <a:xfrm>
                <a:off x="793" y="845"/>
                <a:ext cx="36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b="1">
                    <a:solidFill>
                      <a:srgbClr val="800080"/>
                    </a:solidFill>
                    <a:effectLst>
                      <a:outerShdw blurRad="38100" dist="38100" dir="2700000" algn="tl">
                        <a:srgbClr val="C0C0C0"/>
                      </a:outerShdw>
                    </a:effectLst>
                    <a:latin typeface="Times New Roman" pitchFamily="18" charset="0"/>
                    <a:ea typeface="华文新魏" pitchFamily="2" charset="-122"/>
                  </a:rPr>
                  <a:t>P4</a:t>
                </a:r>
                <a:endParaRPr kumimoji="1" lang="en-US" altLang="zh-CN" b="1" baseline="-25000">
                  <a:solidFill>
                    <a:srgbClr val="800080"/>
                  </a:solidFill>
                  <a:effectLst>
                    <a:outerShdw blurRad="38100" dist="38100" dir="2700000" algn="tl">
                      <a:srgbClr val="C0C0C0"/>
                    </a:outerShdw>
                  </a:effectLst>
                  <a:latin typeface="Times New Roman" pitchFamily="18" charset="0"/>
                  <a:ea typeface="华文新魏" pitchFamily="2" charset="-122"/>
                </a:endParaRPr>
              </a:p>
            </p:txBody>
          </p:sp>
          <p:grpSp>
            <p:nvGrpSpPr>
              <p:cNvPr id="81934" name="Group 1186"/>
              <p:cNvGrpSpPr>
                <a:grpSpLocks/>
              </p:cNvGrpSpPr>
              <p:nvPr/>
            </p:nvGrpSpPr>
            <p:grpSpPr bwMode="auto">
              <a:xfrm>
                <a:off x="121" y="73"/>
                <a:ext cx="1892" cy="635"/>
                <a:chOff x="1655" y="3203"/>
                <a:chExt cx="2087" cy="817"/>
              </a:xfrm>
            </p:grpSpPr>
            <p:sp>
              <p:nvSpPr>
                <p:cNvPr id="81935" name="Line 1187"/>
                <p:cNvSpPr>
                  <a:spLocks noChangeShapeType="1"/>
                </p:cNvSpPr>
                <p:nvPr/>
              </p:nvSpPr>
              <p:spPr bwMode="auto">
                <a:xfrm>
                  <a:off x="1655" y="3203"/>
                  <a:ext cx="2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6" name="Line 1188"/>
                <p:cNvSpPr>
                  <a:spLocks noChangeShapeType="1"/>
                </p:cNvSpPr>
                <p:nvPr/>
              </p:nvSpPr>
              <p:spPr bwMode="auto">
                <a:xfrm>
                  <a:off x="1655"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7" name="Line 1189"/>
                <p:cNvSpPr>
                  <a:spLocks noChangeShapeType="1"/>
                </p:cNvSpPr>
                <p:nvPr/>
              </p:nvSpPr>
              <p:spPr bwMode="auto">
                <a:xfrm>
                  <a:off x="2290"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8" name="Line 1190"/>
                <p:cNvSpPr>
                  <a:spLocks noChangeShapeType="1"/>
                </p:cNvSpPr>
                <p:nvPr/>
              </p:nvSpPr>
              <p:spPr bwMode="auto">
                <a:xfrm>
                  <a:off x="3198" y="3612"/>
                  <a:ext cx="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9" name="Line 1191"/>
                <p:cNvSpPr>
                  <a:spLocks noChangeShapeType="1"/>
                </p:cNvSpPr>
                <p:nvPr/>
              </p:nvSpPr>
              <p:spPr bwMode="auto">
                <a:xfrm>
                  <a:off x="3742" y="3203"/>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40" name="Line 1192"/>
                <p:cNvSpPr>
                  <a:spLocks noChangeShapeType="1"/>
                </p:cNvSpPr>
                <p:nvPr/>
              </p:nvSpPr>
              <p:spPr bwMode="auto">
                <a:xfrm>
                  <a:off x="1655" y="3612"/>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41" name="Line 1193"/>
                <p:cNvSpPr>
                  <a:spLocks noChangeShapeType="1"/>
                </p:cNvSpPr>
                <p:nvPr/>
              </p:nvSpPr>
              <p:spPr bwMode="auto">
                <a:xfrm>
                  <a:off x="3198" y="3612"/>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42" name="Line 1194"/>
                <p:cNvSpPr>
                  <a:spLocks noChangeShapeType="1"/>
                </p:cNvSpPr>
                <p:nvPr/>
              </p:nvSpPr>
              <p:spPr bwMode="auto">
                <a:xfrm>
                  <a:off x="2290" y="4020"/>
                  <a:ext cx="9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33E15AF-3977-48E1-ACA0-95F5539A5A47}" type="datetime1">
              <a:rPr lang="zh-CN" altLang="en-US" smtClean="0"/>
              <a:pPr/>
              <a:t>2017/2/24</a:t>
            </a:fld>
            <a:endParaRPr lang="en-US" altLang="zh-CN" smtClean="0"/>
          </a:p>
        </p:txBody>
      </p:sp>
      <p:sp>
        <p:nvSpPr>
          <p:cNvPr id="82947"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3FEB35-C5A0-4233-A154-94C0EFA3BFE7}" type="slidenum">
              <a:rPr lang="zh-CN" altLang="en-US"/>
              <a:pPr/>
              <a:t>77</a:t>
            </a:fld>
            <a:endParaRPr lang="en-US" altLang="zh-CN"/>
          </a:p>
        </p:txBody>
      </p:sp>
      <p:sp>
        <p:nvSpPr>
          <p:cNvPr id="82948" name="Rectangle 2"/>
          <p:cNvSpPr>
            <a:spLocks noGrp="1" noRot="1" noChangeArrowheads="1"/>
          </p:cNvSpPr>
          <p:nvPr>
            <p:ph type="title"/>
          </p:nvPr>
        </p:nvSpPr>
        <p:spPr>
          <a:xfrm>
            <a:off x="971550" y="908050"/>
            <a:ext cx="7862888" cy="685800"/>
          </a:xfrm>
        </p:spPr>
        <p:txBody>
          <a:bodyPr lIns="92075" tIns="46038" rIns="92075" bIns="46038"/>
          <a:lstStyle/>
          <a:p>
            <a:r>
              <a:rPr lang="zh-CN" altLang="en-US" sz="4800" b="1" smtClean="0">
                <a:latin typeface="Times New Roman" panose="02020603050405020304" pitchFamily="18" charset="0"/>
                <a:ea typeface="华文新魏" panose="02010800040101010101" pitchFamily="2" charset="-122"/>
              </a:rPr>
              <a:t>4</a:t>
            </a:r>
            <a:r>
              <a:rPr lang="en-US" altLang="zh-CN" sz="4800" b="1" smtClean="0">
                <a:latin typeface="Times New Roman" panose="02020603050405020304" pitchFamily="18" charset="0"/>
                <a:ea typeface="华文新魏" panose="02010800040101010101" pitchFamily="2" charset="-122"/>
              </a:rPr>
              <a:t>) </a:t>
            </a:r>
            <a:r>
              <a:rPr lang="zh-CN" altLang="en-US" sz="4800" b="1" smtClean="0">
                <a:latin typeface="Times New Roman" panose="02020603050405020304" pitchFamily="18" charset="0"/>
                <a:ea typeface="华文新魏" panose="02010800040101010101" pitchFamily="2" charset="-122"/>
              </a:rPr>
              <a:t>利用编译程序自动生成器</a:t>
            </a:r>
          </a:p>
        </p:txBody>
      </p:sp>
      <p:sp>
        <p:nvSpPr>
          <p:cNvPr id="82949" name="Rectangle 3"/>
          <p:cNvSpPr>
            <a:spLocks noGrp="1" noRot="1" noChangeArrowheads="1"/>
          </p:cNvSpPr>
          <p:nvPr>
            <p:ph type="body" idx="1"/>
          </p:nvPr>
        </p:nvSpPr>
        <p:spPr>
          <a:xfrm>
            <a:off x="1098550" y="1949450"/>
            <a:ext cx="5694363" cy="698500"/>
          </a:xfrm>
        </p:spPr>
        <p:txBody>
          <a:bodyPr lIns="92075" tIns="46038" rIns="92075" bIns="46038"/>
          <a:lstStyle/>
          <a:p>
            <a:pPr>
              <a:buFont typeface="Wingdings" panose="05000000000000000000" pitchFamily="2" charset="2"/>
              <a:buNone/>
            </a:pPr>
            <a:r>
              <a:rPr lang="zh-CN" altLang="en-US" b="1" smtClean="0">
                <a:latin typeface="Times New Roman" panose="02020603050405020304" pitchFamily="18" charset="0"/>
                <a:ea typeface="华文新魏" panose="02010800040101010101" pitchFamily="2" charset="-122"/>
              </a:rPr>
              <a:t>词法分析器的自动生成程序</a:t>
            </a:r>
            <a:endParaRPr lang="zh-CN" altLang="en-US" sz="2400" b="1" smtClean="0">
              <a:latin typeface="Times New Roman" panose="02020603050405020304" pitchFamily="18" charset="0"/>
              <a:ea typeface="华文新魏" panose="02010800040101010101" pitchFamily="2" charset="-122"/>
            </a:endParaRPr>
          </a:p>
        </p:txBody>
      </p:sp>
      <p:sp>
        <p:nvSpPr>
          <p:cNvPr id="82950" name="Line 5"/>
          <p:cNvSpPr>
            <a:spLocks noChangeShapeType="1"/>
          </p:cNvSpPr>
          <p:nvPr/>
        </p:nvSpPr>
        <p:spPr bwMode="auto">
          <a:xfrm>
            <a:off x="5105400" y="3276600"/>
            <a:ext cx="83820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1" name="Line 6"/>
          <p:cNvSpPr>
            <a:spLocks noChangeShapeType="1"/>
          </p:cNvSpPr>
          <p:nvPr/>
        </p:nvSpPr>
        <p:spPr bwMode="auto">
          <a:xfrm>
            <a:off x="2438400" y="3216275"/>
            <a:ext cx="99060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2" name="Rectangle 7"/>
          <p:cNvSpPr>
            <a:spLocks noChangeArrowheads="1"/>
          </p:cNvSpPr>
          <p:nvPr/>
        </p:nvSpPr>
        <p:spPr bwMode="auto">
          <a:xfrm>
            <a:off x="152400" y="3001963"/>
            <a:ext cx="2438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华文新魏" panose="02010800040101010101" pitchFamily="2" charset="-122"/>
                <a:ea typeface="华文新魏" panose="02010800040101010101" pitchFamily="2" charset="-122"/>
              </a:rPr>
              <a:t>词法规则说明</a:t>
            </a:r>
          </a:p>
        </p:txBody>
      </p:sp>
      <p:sp>
        <p:nvSpPr>
          <p:cNvPr id="82953" name="Rectangle 8"/>
          <p:cNvSpPr>
            <a:spLocks noChangeArrowheads="1"/>
          </p:cNvSpPr>
          <p:nvPr/>
        </p:nvSpPr>
        <p:spPr bwMode="auto">
          <a:xfrm>
            <a:off x="6019800" y="3001963"/>
            <a:ext cx="2317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华文新魏" panose="02010800040101010101" pitchFamily="2" charset="-122"/>
                <a:ea typeface="华文新魏" panose="02010800040101010101" pitchFamily="2" charset="-122"/>
              </a:rPr>
              <a:t>词法分析程序</a:t>
            </a:r>
          </a:p>
        </p:txBody>
      </p:sp>
      <p:sp>
        <p:nvSpPr>
          <p:cNvPr id="82954" name="Rectangle 9"/>
          <p:cNvSpPr>
            <a:spLocks noChangeArrowheads="1"/>
          </p:cNvSpPr>
          <p:nvPr/>
        </p:nvSpPr>
        <p:spPr bwMode="auto">
          <a:xfrm>
            <a:off x="6477000" y="3429000"/>
            <a:ext cx="125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latin typeface="楷体_GB2312" pitchFamily="49" charset="-122"/>
                <a:ea typeface="楷体_GB2312" pitchFamily="49" charset="-122"/>
              </a:rPr>
              <a:t>(C</a:t>
            </a:r>
            <a:r>
              <a:rPr kumimoji="1" lang="zh-CN" altLang="en-US" sz="2400" b="1">
                <a:latin typeface="楷体_GB2312" pitchFamily="49" charset="-122"/>
                <a:ea typeface="楷体_GB2312" pitchFamily="49" charset="-122"/>
              </a:rPr>
              <a:t>程序</a:t>
            </a:r>
            <a:r>
              <a:rPr kumimoji="1" lang="en-US" altLang="zh-CN" sz="2400" b="1">
                <a:latin typeface="楷体_GB2312" pitchFamily="49" charset="-122"/>
                <a:ea typeface="楷体_GB2312" pitchFamily="49" charset="-122"/>
              </a:rPr>
              <a:t>)</a:t>
            </a:r>
          </a:p>
        </p:txBody>
      </p:sp>
      <p:sp>
        <p:nvSpPr>
          <p:cNvPr id="82955" name="Text Box 10"/>
          <p:cNvSpPr txBox="1">
            <a:spLocks noChangeArrowheads="1"/>
          </p:cNvSpPr>
          <p:nvPr/>
        </p:nvSpPr>
        <p:spPr bwMode="auto">
          <a:xfrm>
            <a:off x="1143000" y="4114800"/>
            <a:ext cx="5507038"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华文新魏" panose="02010800040101010101" pitchFamily="2" charset="-122"/>
              </a:rPr>
              <a:t>输入：</a:t>
            </a:r>
          </a:p>
          <a:p>
            <a:pPr lvl="1"/>
            <a:r>
              <a:rPr kumimoji="1" lang="zh-CN" altLang="en-US" sz="2800" b="1">
                <a:latin typeface="Times New Roman" panose="02020603050405020304" pitchFamily="18" charset="0"/>
                <a:ea typeface="华文新魏" panose="02010800040101010101" pitchFamily="2" charset="-122"/>
              </a:rPr>
              <a:t>	词法</a:t>
            </a:r>
            <a:r>
              <a:rPr kumimoji="1" lang="en-US" altLang="zh-CN" sz="2800" b="1">
                <a:latin typeface="Times New Roman" panose="02020603050405020304" pitchFamily="18" charset="0"/>
                <a:ea typeface="华文新魏" panose="02010800040101010101" pitchFamily="2" charset="-122"/>
              </a:rPr>
              <a:t>(</a:t>
            </a:r>
            <a:r>
              <a:rPr kumimoji="1" lang="zh-CN" altLang="en-US" sz="2800" b="1">
                <a:latin typeface="Times New Roman" panose="02020603050405020304" pitchFamily="18" charset="0"/>
                <a:ea typeface="华文新魏" panose="02010800040101010101" pitchFamily="2" charset="-122"/>
              </a:rPr>
              <a:t>正规表达式</a:t>
            </a:r>
            <a:r>
              <a:rPr kumimoji="1" lang="en-US" altLang="zh-CN" sz="2800" b="1">
                <a:latin typeface="Times New Roman" panose="02020603050405020304" pitchFamily="18" charset="0"/>
                <a:ea typeface="华文新魏" panose="02010800040101010101" pitchFamily="2" charset="-122"/>
              </a:rPr>
              <a:t>)</a:t>
            </a:r>
          </a:p>
          <a:p>
            <a:pPr lvl="1"/>
            <a:r>
              <a:rPr kumimoji="1" lang="zh-CN" altLang="en-US" sz="2800" b="1">
                <a:latin typeface="Times New Roman" panose="02020603050405020304" pitchFamily="18" charset="0"/>
                <a:ea typeface="华文新魏" panose="02010800040101010101" pitchFamily="2" charset="-122"/>
              </a:rPr>
              <a:t>	识别动作</a:t>
            </a:r>
            <a:r>
              <a:rPr kumimoji="1" lang="en-US" altLang="zh-CN" sz="2800" b="1">
                <a:latin typeface="Times New Roman" panose="02020603050405020304" pitchFamily="18" charset="0"/>
                <a:ea typeface="华文新魏" panose="02010800040101010101" pitchFamily="2" charset="-122"/>
              </a:rPr>
              <a:t>(C</a:t>
            </a:r>
            <a:r>
              <a:rPr kumimoji="1" lang="zh-CN" altLang="en-US" sz="2800" b="1">
                <a:latin typeface="Times New Roman" panose="02020603050405020304" pitchFamily="18" charset="0"/>
                <a:ea typeface="华文新魏" panose="02010800040101010101" pitchFamily="2" charset="-122"/>
              </a:rPr>
              <a:t>程序段</a:t>
            </a:r>
            <a:r>
              <a:rPr kumimoji="1" lang="en-US" altLang="zh-CN" sz="2800" b="1">
                <a:latin typeface="Times New Roman" panose="02020603050405020304" pitchFamily="18" charset="0"/>
                <a:ea typeface="华文新魏" panose="02010800040101010101" pitchFamily="2" charset="-122"/>
              </a:rPr>
              <a:t>)</a:t>
            </a:r>
          </a:p>
          <a:p>
            <a:r>
              <a:rPr kumimoji="1" lang="zh-CN" altLang="en-US" sz="2800" b="1">
                <a:latin typeface="Times New Roman" panose="02020603050405020304" pitchFamily="18" charset="0"/>
                <a:ea typeface="华文新魏" panose="02010800040101010101" pitchFamily="2" charset="-122"/>
              </a:rPr>
              <a:t>输出：</a:t>
            </a:r>
          </a:p>
          <a:p>
            <a:pPr lvl="1"/>
            <a:r>
              <a:rPr kumimoji="1" lang="zh-CN" altLang="en-US" sz="2800" b="1">
                <a:latin typeface="Times New Roman" panose="02020603050405020304" pitchFamily="18" charset="0"/>
                <a:ea typeface="华文新魏" panose="02010800040101010101" pitchFamily="2" charset="-122"/>
              </a:rPr>
              <a:t>	</a:t>
            </a:r>
            <a:r>
              <a:rPr kumimoji="1" lang="en-US" altLang="zh-CN" sz="2800" b="1">
                <a:latin typeface="Times New Roman" panose="02020603050405020304" pitchFamily="18" charset="0"/>
                <a:ea typeface="华文新魏" panose="02010800040101010101" pitchFamily="2" charset="-122"/>
              </a:rPr>
              <a:t>yylex( ) </a:t>
            </a:r>
            <a:r>
              <a:rPr kumimoji="1" lang="zh-CN" altLang="en-US" sz="2800" b="1">
                <a:latin typeface="Times New Roman" panose="02020603050405020304" pitchFamily="18" charset="0"/>
                <a:ea typeface="华文新魏" panose="02010800040101010101" pitchFamily="2" charset="-122"/>
              </a:rPr>
              <a:t>函数</a:t>
            </a:r>
          </a:p>
        </p:txBody>
      </p:sp>
      <p:sp>
        <p:nvSpPr>
          <p:cNvPr id="82956" name="Text Box 11"/>
          <p:cNvSpPr txBox="1">
            <a:spLocks noChangeArrowheads="1"/>
          </p:cNvSpPr>
          <p:nvPr/>
        </p:nvSpPr>
        <p:spPr bwMode="auto">
          <a:xfrm>
            <a:off x="3429000" y="2971800"/>
            <a:ext cx="1600200" cy="588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200" b="1">
                <a:solidFill>
                  <a:srgbClr val="800080"/>
                </a:solidFill>
                <a:latin typeface="Times New Roman" panose="02020603050405020304" pitchFamily="18" charset="0"/>
              </a:rPr>
              <a:t>LEX</a:t>
            </a: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B556A5F-0F96-4412-ACB5-A9B64A2F2E98}" type="datetime1">
              <a:rPr lang="zh-CN" altLang="en-US" smtClean="0"/>
              <a:pPr/>
              <a:t>2017/2/24</a:t>
            </a:fld>
            <a:endParaRPr lang="en-US" altLang="zh-CN" smtClean="0"/>
          </a:p>
        </p:txBody>
      </p:sp>
      <p:sp>
        <p:nvSpPr>
          <p:cNvPr id="83971"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437CE5-83F7-4B06-A3A8-DB679D673F7B}" type="slidenum">
              <a:rPr lang="zh-CN" altLang="en-US"/>
              <a:pPr/>
              <a:t>78</a:t>
            </a:fld>
            <a:endParaRPr lang="en-US" altLang="zh-CN"/>
          </a:p>
        </p:txBody>
      </p:sp>
      <p:sp>
        <p:nvSpPr>
          <p:cNvPr id="83972" name="Rectangle 2"/>
          <p:cNvSpPr>
            <a:spLocks noGrp="1" noRot="1" noChangeArrowheads="1"/>
          </p:cNvSpPr>
          <p:nvPr>
            <p:ph type="title"/>
          </p:nvPr>
        </p:nvSpPr>
        <p:spPr>
          <a:xfrm>
            <a:off x="1476375" y="1989138"/>
            <a:ext cx="5184775" cy="762000"/>
          </a:xfrm>
        </p:spPr>
        <p:txBody>
          <a:bodyPr/>
          <a:lstStyle/>
          <a:p>
            <a:pPr algn="just"/>
            <a:r>
              <a:rPr lang="zh-CN" altLang="en-US" sz="3200" b="1" smtClean="0">
                <a:solidFill>
                  <a:schemeClr val="tx1"/>
                </a:solidFill>
                <a:latin typeface="Times New Roman" panose="02020603050405020304" pitchFamily="18" charset="0"/>
                <a:ea typeface="华文新魏" panose="02010800040101010101" pitchFamily="2" charset="-122"/>
              </a:rPr>
              <a:t>语法分析器的自动生成程序</a:t>
            </a:r>
          </a:p>
        </p:txBody>
      </p:sp>
      <p:sp>
        <p:nvSpPr>
          <p:cNvPr id="83973" name="Line 4"/>
          <p:cNvSpPr>
            <a:spLocks noChangeShapeType="1"/>
          </p:cNvSpPr>
          <p:nvPr/>
        </p:nvSpPr>
        <p:spPr bwMode="auto">
          <a:xfrm>
            <a:off x="5334000" y="3463925"/>
            <a:ext cx="83820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4" name="Line 5"/>
          <p:cNvSpPr>
            <a:spLocks noChangeShapeType="1"/>
          </p:cNvSpPr>
          <p:nvPr/>
        </p:nvSpPr>
        <p:spPr bwMode="auto">
          <a:xfrm>
            <a:off x="2438400" y="3463925"/>
            <a:ext cx="99060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5" name="Rectangle 6"/>
          <p:cNvSpPr>
            <a:spLocks noChangeArrowheads="1"/>
          </p:cNvSpPr>
          <p:nvPr/>
        </p:nvSpPr>
        <p:spPr bwMode="auto">
          <a:xfrm>
            <a:off x="188913" y="3141663"/>
            <a:ext cx="2438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华文新魏" panose="02010800040101010101" pitchFamily="2" charset="-122"/>
              </a:rPr>
              <a:t>语法规则说明</a:t>
            </a:r>
          </a:p>
        </p:txBody>
      </p:sp>
      <p:sp>
        <p:nvSpPr>
          <p:cNvPr id="83976" name="Rectangle 7"/>
          <p:cNvSpPr>
            <a:spLocks noChangeArrowheads="1"/>
          </p:cNvSpPr>
          <p:nvPr/>
        </p:nvSpPr>
        <p:spPr bwMode="auto">
          <a:xfrm>
            <a:off x="6096000" y="3159125"/>
            <a:ext cx="2317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华文新魏" panose="02010800040101010101" pitchFamily="2" charset="-122"/>
                <a:ea typeface="华文新魏" panose="02010800040101010101" pitchFamily="2" charset="-122"/>
              </a:rPr>
              <a:t>语法分析程序</a:t>
            </a:r>
          </a:p>
        </p:txBody>
      </p:sp>
      <p:sp>
        <p:nvSpPr>
          <p:cNvPr id="83977" name="Rectangle 8"/>
          <p:cNvSpPr>
            <a:spLocks noChangeArrowheads="1"/>
          </p:cNvSpPr>
          <p:nvPr/>
        </p:nvSpPr>
        <p:spPr bwMode="auto">
          <a:xfrm>
            <a:off x="6858000" y="3616325"/>
            <a:ext cx="1217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latin typeface="Times New Roman" panose="02020603050405020304" pitchFamily="18" charset="0"/>
                <a:ea typeface="华文新魏" panose="02010800040101010101" pitchFamily="2" charset="-122"/>
              </a:rPr>
              <a:t>(C</a:t>
            </a:r>
            <a:r>
              <a:rPr kumimoji="1" lang="zh-CN" altLang="en-US" sz="2400" b="1">
                <a:latin typeface="Times New Roman" panose="02020603050405020304" pitchFamily="18" charset="0"/>
                <a:ea typeface="华文新魏" panose="02010800040101010101" pitchFamily="2" charset="-122"/>
              </a:rPr>
              <a:t>程序</a:t>
            </a:r>
            <a:r>
              <a:rPr kumimoji="1" lang="en-US" altLang="zh-CN" sz="2400" b="1">
                <a:latin typeface="Times New Roman" panose="02020603050405020304" pitchFamily="18" charset="0"/>
                <a:ea typeface="华文新魏" panose="02010800040101010101" pitchFamily="2" charset="-122"/>
              </a:rPr>
              <a:t>)</a:t>
            </a:r>
          </a:p>
        </p:txBody>
      </p:sp>
      <p:sp>
        <p:nvSpPr>
          <p:cNvPr id="83978" name="Text Box 9"/>
          <p:cNvSpPr txBox="1">
            <a:spLocks noChangeArrowheads="1"/>
          </p:cNvSpPr>
          <p:nvPr/>
        </p:nvSpPr>
        <p:spPr bwMode="auto">
          <a:xfrm>
            <a:off x="1143000" y="4076700"/>
            <a:ext cx="5883275"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华文新魏" panose="02010800040101010101" pitchFamily="2" charset="-122"/>
              </a:rPr>
              <a:t>输入：</a:t>
            </a:r>
          </a:p>
          <a:p>
            <a:pPr lvl="1"/>
            <a:r>
              <a:rPr kumimoji="1" lang="zh-CN" altLang="en-US" sz="2800" b="1">
                <a:latin typeface="Times New Roman" panose="02020603050405020304" pitchFamily="18" charset="0"/>
                <a:ea typeface="华文新魏" panose="02010800040101010101" pitchFamily="2" charset="-122"/>
              </a:rPr>
              <a:t>	语法规则</a:t>
            </a:r>
            <a:r>
              <a:rPr kumimoji="1" lang="en-US" altLang="zh-CN" sz="2800" b="1">
                <a:latin typeface="Times New Roman" panose="02020603050405020304" pitchFamily="18" charset="0"/>
                <a:ea typeface="华文新魏" panose="02010800040101010101" pitchFamily="2" charset="-122"/>
              </a:rPr>
              <a:t>(</a:t>
            </a:r>
            <a:r>
              <a:rPr kumimoji="1" lang="zh-CN" altLang="en-US" sz="2800" b="1">
                <a:latin typeface="Times New Roman" panose="02020603050405020304" pitchFamily="18" charset="0"/>
                <a:ea typeface="华文新魏" panose="02010800040101010101" pitchFamily="2" charset="-122"/>
              </a:rPr>
              <a:t>产生式</a:t>
            </a:r>
            <a:r>
              <a:rPr kumimoji="1" lang="en-US" altLang="zh-CN" sz="2800" b="1">
                <a:latin typeface="Times New Roman" panose="02020603050405020304" pitchFamily="18" charset="0"/>
                <a:ea typeface="华文新魏" panose="02010800040101010101" pitchFamily="2" charset="-122"/>
              </a:rPr>
              <a:t>)</a:t>
            </a:r>
          </a:p>
          <a:p>
            <a:pPr lvl="1"/>
            <a:r>
              <a:rPr kumimoji="1" lang="zh-CN" altLang="en-US" sz="2800" b="1">
                <a:latin typeface="Times New Roman" panose="02020603050405020304" pitchFamily="18" charset="0"/>
                <a:ea typeface="华文新魏" panose="02010800040101010101" pitchFamily="2" charset="-122"/>
              </a:rPr>
              <a:t>	语义动作</a:t>
            </a:r>
            <a:r>
              <a:rPr kumimoji="1" lang="en-US" altLang="zh-CN" sz="2800" b="1">
                <a:latin typeface="Times New Roman" panose="02020603050405020304" pitchFamily="18" charset="0"/>
                <a:ea typeface="华文新魏" panose="02010800040101010101" pitchFamily="2" charset="-122"/>
              </a:rPr>
              <a:t>(C</a:t>
            </a:r>
            <a:r>
              <a:rPr kumimoji="1" lang="zh-CN" altLang="en-US" sz="2800" b="1">
                <a:latin typeface="Times New Roman" panose="02020603050405020304" pitchFamily="18" charset="0"/>
                <a:ea typeface="华文新魏" panose="02010800040101010101" pitchFamily="2" charset="-122"/>
              </a:rPr>
              <a:t>程序段</a:t>
            </a:r>
            <a:r>
              <a:rPr kumimoji="1" lang="en-US" altLang="zh-CN" sz="2800" b="1">
                <a:latin typeface="Times New Roman" panose="02020603050405020304" pitchFamily="18" charset="0"/>
                <a:ea typeface="华文新魏" panose="02010800040101010101" pitchFamily="2" charset="-122"/>
              </a:rPr>
              <a:t>)</a:t>
            </a:r>
          </a:p>
          <a:p>
            <a:r>
              <a:rPr kumimoji="1" lang="zh-CN" altLang="en-US" sz="2800" b="1">
                <a:latin typeface="Times New Roman" panose="02020603050405020304" pitchFamily="18" charset="0"/>
                <a:ea typeface="华文新魏" panose="02010800040101010101" pitchFamily="2" charset="-122"/>
              </a:rPr>
              <a:t>输出：</a:t>
            </a:r>
          </a:p>
          <a:p>
            <a:pPr lvl="1"/>
            <a:r>
              <a:rPr kumimoji="1" lang="zh-CN" altLang="en-US" sz="2800" b="1">
                <a:latin typeface="Times New Roman" panose="02020603050405020304" pitchFamily="18" charset="0"/>
                <a:ea typeface="华文新魏" panose="02010800040101010101" pitchFamily="2" charset="-122"/>
              </a:rPr>
              <a:t>	</a:t>
            </a:r>
            <a:r>
              <a:rPr kumimoji="1" lang="en-US" altLang="zh-CN" sz="2800" b="1">
                <a:latin typeface="Times New Roman" panose="02020603050405020304" pitchFamily="18" charset="0"/>
                <a:ea typeface="华文新魏" panose="02010800040101010101" pitchFamily="2" charset="-122"/>
              </a:rPr>
              <a:t>yyparse( ) </a:t>
            </a:r>
            <a:r>
              <a:rPr kumimoji="1" lang="zh-CN" altLang="en-US" sz="2800" b="1">
                <a:latin typeface="Times New Roman" panose="02020603050405020304" pitchFamily="18" charset="0"/>
                <a:ea typeface="华文新魏" panose="02010800040101010101" pitchFamily="2" charset="-122"/>
              </a:rPr>
              <a:t>函数</a:t>
            </a:r>
          </a:p>
        </p:txBody>
      </p:sp>
      <p:sp>
        <p:nvSpPr>
          <p:cNvPr id="83979" name="Text Box 10"/>
          <p:cNvSpPr txBox="1">
            <a:spLocks noChangeArrowheads="1"/>
          </p:cNvSpPr>
          <p:nvPr/>
        </p:nvSpPr>
        <p:spPr bwMode="auto">
          <a:xfrm>
            <a:off x="3505200" y="3179763"/>
            <a:ext cx="1828800" cy="5889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800080"/>
                </a:solidFill>
                <a:latin typeface="Times New Roman" panose="02020603050405020304" pitchFamily="18" charset="0"/>
                <a:ea typeface="华文新魏" panose="02010800040101010101" pitchFamily="2" charset="-122"/>
              </a:rPr>
              <a:t>YACC</a:t>
            </a:r>
          </a:p>
        </p:txBody>
      </p:sp>
      <p:sp>
        <p:nvSpPr>
          <p:cNvPr id="83980" name="Rectangle 11"/>
          <p:cNvSpPr>
            <a:spLocks noChangeArrowheads="1"/>
          </p:cNvSpPr>
          <p:nvPr/>
        </p:nvSpPr>
        <p:spPr bwMode="auto">
          <a:xfrm>
            <a:off x="971550" y="908050"/>
            <a:ext cx="786288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800" b="1">
                <a:solidFill>
                  <a:schemeClr val="tx2"/>
                </a:solidFill>
                <a:latin typeface="华文新魏" panose="02010800040101010101" pitchFamily="2" charset="-122"/>
                <a:ea typeface="华文新魏" panose="02010800040101010101" pitchFamily="2" charset="-122"/>
              </a:rPr>
              <a:t>4</a:t>
            </a:r>
            <a:r>
              <a:rPr lang="en-US" altLang="zh-CN" sz="4800" b="1">
                <a:solidFill>
                  <a:schemeClr val="tx2"/>
                </a:solidFill>
                <a:latin typeface="华文新魏" panose="02010800040101010101" pitchFamily="2" charset="-122"/>
                <a:ea typeface="华文新魏" panose="02010800040101010101" pitchFamily="2" charset="-122"/>
              </a:rPr>
              <a:t>) </a:t>
            </a:r>
            <a:r>
              <a:rPr lang="zh-CN" altLang="en-US" sz="4800" b="1">
                <a:solidFill>
                  <a:schemeClr val="tx2"/>
                </a:solidFill>
                <a:latin typeface="华文新魏" panose="02010800040101010101" pitchFamily="2" charset="-122"/>
                <a:ea typeface="华文新魏" panose="02010800040101010101" pitchFamily="2" charset="-122"/>
              </a:rPr>
              <a:t>利用编译程序自动生成器</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35D9683-2D90-4881-A68F-80BD42309E32}" type="datetime1">
              <a:rPr lang="zh-CN" altLang="en-US" smtClean="0"/>
              <a:pPr/>
              <a:t>2017/2/24</a:t>
            </a:fld>
            <a:endParaRPr lang="en-US" altLang="zh-CN" smtClean="0"/>
          </a:p>
        </p:txBody>
      </p:sp>
      <p:sp>
        <p:nvSpPr>
          <p:cNvPr id="84995"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78C26A7-22AA-41DC-A8AE-8625A832B389}" type="slidenum">
              <a:rPr lang="zh-CN" altLang="en-US"/>
              <a:pPr/>
              <a:t>79</a:t>
            </a:fld>
            <a:endParaRPr lang="en-US" altLang="zh-CN"/>
          </a:p>
        </p:txBody>
      </p:sp>
      <p:sp>
        <p:nvSpPr>
          <p:cNvPr id="84996" name="Rectangle 2"/>
          <p:cNvSpPr>
            <a:spLocks noGrp="1" noRot="1" noChangeArrowheads="1"/>
          </p:cNvSpPr>
          <p:nvPr>
            <p:ph type="title"/>
          </p:nvPr>
        </p:nvSpPr>
        <p:spPr>
          <a:xfrm>
            <a:off x="301625" y="1038225"/>
            <a:ext cx="3916363" cy="714375"/>
          </a:xfrm>
        </p:spPr>
        <p:txBody>
          <a:bodyPr/>
          <a:lstStyle/>
          <a:p>
            <a:r>
              <a:rPr lang="zh-CN" altLang="en-US" b="1" smtClean="0">
                <a:latin typeface="Times New Roman" panose="02020603050405020304" pitchFamily="18" charset="0"/>
                <a:ea typeface="华文新魏" panose="02010800040101010101" pitchFamily="2" charset="-122"/>
              </a:rPr>
              <a:t>练习题</a:t>
            </a:r>
          </a:p>
        </p:txBody>
      </p:sp>
      <p:sp>
        <p:nvSpPr>
          <p:cNvPr id="84997" name="Rectangle 3"/>
          <p:cNvSpPr>
            <a:spLocks noGrp="1" noRot="1" noChangeArrowheads="1"/>
          </p:cNvSpPr>
          <p:nvPr>
            <p:ph type="body" idx="1"/>
          </p:nvPr>
        </p:nvSpPr>
        <p:spPr/>
        <p:txBody>
          <a:bodyPr/>
          <a:lstStyle/>
          <a:p>
            <a:pPr>
              <a:lnSpc>
                <a:spcPct val="130000"/>
              </a:lnSpc>
            </a:pPr>
            <a:r>
              <a:rPr lang="en-US" altLang="zh-CN" b="1" smtClean="0">
                <a:latin typeface="Times New Roman" panose="02020603050405020304" pitchFamily="18" charset="0"/>
                <a:ea typeface="华文新魏" panose="02010800040101010101" pitchFamily="2" charset="-122"/>
              </a:rPr>
              <a:t>P22</a:t>
            </a:r>
          </a:p>
          <a:p>
            <a:pPr lvl="1">
              <a:lnSpc>
                <a:spcPct val="130000"/>
              </a:lnSpc>
            </a:pPr>
            <a:r>
              <a:rPr lang="zh-CN" altLang="en-US" b="1" smtClean="0">
                <a:latin typeface="Times New Roman" panose="02020603050405020304" pitchFamily="18" charset="0"/>
                <a:ea typeface="华文新魏" panose="02010800040101010101" pitchFamily="2" charset="-122"/>
              </a:rPr>
              <a:t>4、</a:t>
            </a:r>
            <a:r>
              <a:rPr lang="en-US" altLang="zh-CN" b="1" smtClean="0">
                <a:latin typeface="Times New Roman" panose="02020603050405020304" pitchFamily="18" charset="0"/>
                <a:ea typeface="华文新魏" panose="02010800040101010101" pitchFamily="2" charset="-122"/>
              </a:rPr>
              <a:t>7</a:t>
            </a:r>
            <a:endParaRPr lang="zh-CN" altLang="zh-CN" b="1" smtClean="0">
              <a:latin typeface="Times New Roman" panose="02020603050405020304" pitchFamily="18" charset="0"/>
              <a:ea typeface="华文新魏" panose="02010800040101010101" pitchFamily="2" charset="-122"/>
            </a:endParaRPr>
          </a:p>
          <a:p>
            <a:pPr>
              <a:lnSpc>
                <a:spcPct val="130000"/>
              </a:lnSpc>
            </a:pPr>
            <a:r>
              <a:rPr lang="en-US" altLang="zh-CN" b="1" smtClean="0">
                <a:latin typeface="Times New Roman" panose="02020603050405020304" pitchFamily="18" charset="0"/>
                <a:ea typeface="华文新魏" panose="02010800040101010101" pitchFamily="2" charset="-122"/>
              </a:rPr>
              <a:t>P23</a:t>
            </a:r>
          </a:p>
          <a:p>
            <a:pPr lvl="1">
              <a:lnSpc>
                <a:spcPct val="130000"/>
              </a:lnSpc>
            </a:pPr>
            <a:r>
              <a:rPr lang="en-US" altLang="zh-CN" b="1" smtClean="0">
                <a:latin typeface="Times New Roman" panose="02020603050405020304" pitchFamily="18" charset="0"/>
                <a:ea typeface="华文新魏" panose="02010800040101010101" pitchFamily="2" charset="-122"/>
              </a:rPr>
              <a:t>9</a:t>
            </a:r>
          </a:p>
          <a:p>
            <a:pPr lvl="1">
              <a:lnSpc>
                <a:spcPct val="130000"/>
              </a:lnSpc>
            </a:pPr>
            <a:r>
              <a:rPr lang="en-US" altLang="zh-CN" b="1" smtClean="0">
                <a:latin typeface="Times New Roman" panose="02020603050405020304" pitchFamily="18" charset="0"/>
                <a:ea typeface="华文新魏" panose="02010800040101010101" pitchFamily="2" charset="-122"/>
              </a:rPr>
              <a:t>16</a:t>
            </a:r>
            <a:r>
              <a:rPr lang="zh-CN" altLang="en-US" b="1" smtClean="0">
                <a:latin typeface="Times New Roman" panose="02020603050405020304" pitchFamily="18" charset="0"/>
                <a:ea typeface="华文新魏" panose="02010800040101010101" pitchFamily="2" charset="-122"/>
              </a:rPr>
              <a:t>～</a:t>
            </a:r>
            <a:r>
              <a:rPr lang="en-US" altLang="zh-CN" b="1" smtClean="0">
                <a:latin typeface="Times New Roman" panose="02020603050405020304" pitchFamily="18" charset="0"/>
                <a:ea typeface="华文新魏" panose="02010800040101010101" pitchFamily="2" charset="-122"/>
              </a:rPr>
              <a:t>18</a:t>
            </a:r>
            <a:r>
              <a:rPr lang="zh-CN" altLang="en-US" b="1" smtClean="0">
                <a:latin typeface="Times New Roman" panose="02020603050405020304" pitchFamily="18" charset="0"/>
                <a:ea typeface="华文新魏" panose="02010800040101010101" pitchFamily="2" charset="-122"/>
              </a:rPr>
              <a:t>、</a:t>
            </a:r>
            <a:r>
              <a:rPr lang="en-US" altLang="zh-CN" b="1" smtClean="0">
                <a:latin typeface="Times New Roman" panose="02020603050405020304" pitchFamily="18" charset="0"/>
                <a:ea typeface="华文新魏" panose="02010800040101010101" pitchFamily="2" charset="-122"/>
              </a:rPr>
              <a:t>20</a:t>
            </a:r>
          </a:p>
          <a:p>
            <a:pPr>
              <a:lnSpc>
                <a:spcPct val="130000"/>
              </a:lnSpc>
            </a:pPr>
            <a:endParaRPr lang="zh-CN" altLang="en-US" b="1" smtClean="0">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Rectangle 2"/>
          <p:cNvSpPr>
            <a:spLocks noGrp="1" noRot="1" noChangeArrowheads="1"/>
          </p:cNvSpPr>
          <p:nvPr>
            <p:ph type="title"/>
          </p:nvPr>
        </p:nvSpPr>
        <p:spPr>
          <a:xfrm>
            <a:off x="609600" y="152400"/>
            <a:ext cx="7772400" cy="685800"/>
          </a:xfrm>
        </p:spPr>
        <p:txBody>
          <a:bodyPr/>
          <a:lstStyle/>
          <a:p>
            <a:r>
              <a:rPr lang="zh-CN" altLang="en-US" b="1" smtClean="0">
                <a:latin typeface="Times New Roman" panose="02020603050405020304" pitchFamily="18" charset="0"/>
                <a:ea typeface="华文新魏" panose="02010800040101010101" pitchFamily="2" charset="-122"/>
              </a:rPr>
              <a:t>编译程序总体结构</a:t>
            </a:r>
          </a:p>
        </p:txBody>
      </p:sp>
      <p:grpSp>
        <p:nvGrpSpPr>
          <p:cNvPr id="86019" name="Group 3"/>
          <p:cNvGrpSpPr>
            <a:grpSpLocks/>
          </p:cNvGrpSpPr>
          <p:nvPr/>
        </p:nvGrpSpPr>
        <p:grpSpPr bwMode="auto">
          <a:xfrm>
            <a:off x="860425" y="914400"/>
            <a:ext cx="7194550" cy="5791200"/>
            <a:chOff x="542" y="576"/>
            <a:chExt cx="4532" cy="3648"/>
          </a:xfrm>
        </p:grpSpPr>
        <p:sp>
          <p:nvSpPr>
            <p:cNvPr id="86020" name="AutoShape 4"/>
            <p:cNvSpPr>
              <a:spLocks noChangeArrowheads="1"/>
            </p:cNvSpPr>
            <p:nvPr/>
          </p:nvSpPr>
          <p:spPr bwMode="auto">
            <a:xfrm>
              <a:off x="2640" y="3312"/>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05" name="Rectangle 5"/>
            <p:cNvSpPr>
              <a:spLocks noChangeArrowheads="1"/>
            </p:cNvSpPr>
            <p:nvPr/>
          </p:nvSpPr>
          <p:spPr bwMode="auto">
            <a:xfrm>
              <a:off x="2832" y="331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中间代码</a:t>
              </a:r>
            </a:p>
          </p:txBody>
        </p:sp>
        <p:sp>
          <p:nvSpPr>
            <p:cNvPr id="358406" name="Rectangle 6"/>
            <p:cNvSpPr>
              <a:spLocks noChangeArrowheads="1"/>
            </p:cNvSpPr>
            <p:nvPr/>
          </p:nvSpPr>
          <p:spPr bwMode="auto">
            <a:xfrm>
              <a:off x="1872" y="3552"/>
              <a:ext cx="182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358407" name="Rectangle 7"/>
            <p:cNvSpPr>
              <a:spLocks noChangeArrowheads="1"/>
            </p:cNvSpPr>
            <p:nvPr/>
          </p:nvSpPr>
          <p:spPr bwMode="auto">
            <a:xfrm>
              <a:off x="2112" y="2880"/>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358408" name="Rectangle 8"/>
            <p:cNvSpPr>
              <a:spLocks noChangeArrowheads="1"/>
            </p:cNvSpPr>
            <p:nvPr/>
          </p:nvSpPr>
          <p:spPr bwMode="auto">
            <a:xfrm>
              <a:off x="1488" y="2208"/>
              <a:ext cx="283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358409" name="Rectangle 9"/>
            <p:cNvSpPr>
              <a:spLocks noChangeArrowheads="1"/>
            </p:cNvSpPr>
            <p:nvPr/>
          </p:nvSpPr>
          <p:spPr bwMode="auto">
            <a:xfrm>
              <a:off x="2112" y="1488"/>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86026" name="Group 10"/>
            <p:cNvGrpSpPr>
              <a:grpSpLocks/>
            </p:cNvGrpSpPr>
            <p:nvPr/>
          </p:nvGrpSpPr>
          <p:grpSpPr bwMode="auto">
            <a:xfrm>
              <a:off x="542" y="1008"/>
              <a:ext cx="1570" cy="2880"/>
              <a:chOff x="542" y="1104"/>
              <a:chExt cx="1570" cy="2880"/>
            </a:xfrm>
          </p:grpSpPr>
          <p:sp>
            <p:nvSpPr>
              <p:cNvPr id="358411" name="Text Box 11" descr="羊皮纸"/>
              <p:cNvSpPr txBox="1">
                <a:spLocks noChangeArrowheads="1"/>
              </p:cNvSpPr>
              <p:nvPr/>
            </p:nvSpPr>
            <p:spPr bwMode="auto">
              <a:xfrm>
                <a:off x="542" y="1104"/>
                <a:ext cx="418" cy="2880"/>
              </a:xfrm>
              <a:prstGeom prst="rect">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表    格    管    理</a:t>
                </a:r>
              </a:p>
            </p:txBody>
          </p:sp>
          <p:sp>
            <p:nvSpPr>
              <p:cNvPr id="86048" name="Line 12"/>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86049" name="Line 13"/>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86050" name="Line 14"/>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86051" name="Line 15"/>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86052" name="Line 16"/>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grpSp>
          <p:nvGrpSpPr>
            <p:cNvPr id="86027" name="Group 17"/>
            <p:cNvGrpSpPr>
              <a:grpSpLocks/>
            </p:cNvGrpSpPr>
            <p:nvPr/>
          </p:nvGrpSpPr>
          <p:grpSpPr bwMode="auto">
            <a:xfrm>
              <a:off x="3408" y="912"/>
              <a:ext cx="1666" cy="2976"/>
              <a:chOff x="3408" y="1008"/>
              <a:chExt cx="1666" cy="2976"/>
            </a:xfrm>
          </p:grpSpPr>
          <p:grpSp>
            <p:nvGrpSpPr>
              <p:cNvPr id="86040" name="Group 18"/>
              <p:cNvGrpSpPr>
                <a:grpSpLocks/>
              </p:cNvGrpSpPr>
              <p:nvPr/>
            </p:nvGrpSpPr>
            <p:grpSpPr bwMode="auto">
              <a:xfrm>
                <a:off x="3408" y="1008"/>
                <a:ext cx="1666" cy="2976"/>
                <a:chOff x="3408" y="1008"/>
                <a:chExt cx="1666" cy="2976"/>
              </a:xfrm>
            </p:grpSpPr>
            <p:sp>
              <p:nvSpPr>
                <p:cNvPr id="358419" name="Text Box 19" descr="羊皮纸"/>
                <p:cNvSpPr txBox="1">
                  <a:spLocks noChangeArrowheads="1"/>
                </p:cNvSpPr>
                <p:nvPr/>
              </p:nvSpPr>
              <p:spPr bwMode="auto">
                <a:xfrm>
                  <a:off x="4656" y="1008"/>
                  <a:ext cx="418" cy="2976"/>
                </a:xfrm>
                <a:prstGeom prst="rect">
                  <a:avLst/>
                </a:prstGeom>
                <a:blipFill dpi="0" rotWithShape="1">
                  <a:blip r:embed="rId2"/>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2075" tIns="46038" rIns="92075" bIns="46038">
                  <a:spAutoFit/>
                </a:bodyPr>
                <a:lstStyle/>
                <a:p>
                  <a:pPr algn="ctr">
                    <a:lnSpc>
                      <a:spcPct val="110000"/>
                    </a:lnSpc>
                    <a:spcBef>
                      <a:spcPct val="50000"/>
                    </a:spcBef>
                    <a:buClr>
                      <a:schemeClr val="folHlink"/>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出    错    处    理</a:t>
                  </a:r>
                </a:p>
              </p:txBody>
            </p:sp>
            <p:sp>
              <p:nvSpPr>
                <p:cNvPr id="86043" name="Line 20"/>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86044" name="Line 21"/>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86045" name="Line 22"/>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sp>
              <p:nvSpPr>
                <p:cNvPr id="86046" name="Line 23"/>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86041" name="Line 24"/>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
          <p:nvSpPr>
            <p:cNvPr id="358425" name="Rectangle 25"/>
            <p:cNvSpPr>
              <a:spLocks noChangeArrowheads="1"/>
            </p:cNvSpPr>
            <p:nvPr/>
          </p:nvSpPr>
          <p:spPr bwMode="auto">
            <a:xfrm>
              <a:off x="2832" y="2640"/>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中间代码</a:t>
              </a:r>
            </a:p>
          </p:txBody>
        </p:sp>
        <p:sp>
          <p:nvSpPr>
            <p:cNvPr id="86029" name="AutoShape 26"/>
            <p:cNvSpPr>
              <a:spLocks noChangeArrowheads="1"/>
            </p:cNvSpPr>
            <p:nvPr/>
          </p:nvSpPr>
          <p:spPr bwMode="auto">
            <a:xfrm>
              <a:off x="2640" y="264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6030" name="AutoShape 27"/>
            <p:cNvSpPr>
              <a:spLocks noChangeArrowheads="1"/>
            </p:cNvSpPr>
            <p:nvPr/>
          </p:nvSpPr>
          <p:spPr bwMode="auto">
            <a:xfrm>
              <a:off x="2640" y="3984"/>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28" name="Rectangle 28"/>
            <p:cNvSpPr>
              <a:spLocks noChangeArrowheads="1"/>
            </p:cNvSpPr>
            <p:nvPr/>
          </p:nvSpPr>
          <p:spPr bwMode="auto">
            <a:xfrm>
              <a:off x="2784" y="397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目标代码</a:t>
              </a:r>
            </a:p>
          </p:txBody>
        </p:sp>
        <p:sp>
          <p:nvSpPr>
            <p:cNvPr id="86032" name="AutoShape 29"/>
            <p:cNvSpPr>
              <a:spLocks noChangeArrowheads="1"/>
            </p:cNvSpPr>
            <p:nvPr/>
          </p:nvSpPr>
          <p:spPr bwMode="auto">
            <a:xfrm>
              <a:off x="2640" y="1920"/>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30" name="Rectangle 30"/>
            <p:cNvSpPr>
              <a:spLocks noChangeArrowheads="1"/>
            </p:cNvSpPr>
            <p:nvPr/>
          </p:nvSpPr>
          <p:spPr bwMode="auto">
            <a:xfrm>
              <a:off x="2880" y="1920"/>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语法单位</a:t>
              </a:r>
            </a:p>
          </p:txBody>
        </p:sp>
        <p:sp>
          <p:nvSpPr>
            <p:cNvPr id="86034" name="AutoShape 31"/>
            <p:cNvSpPr>
              <a:spLocks noChangeArrowheads="1"/>
            </p:cNvSpPr>
            <p:nvPr/>
          </p:nvSpPr>
          <p:spPr bwMode="auto">
            <a:xfrm>
              <a:off x="2640" y="1248"/>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32" name="Rectangle 32"/>
            <p:cNvSpPr>
              <a:spLocks noChangeArrowheads="1"/>
            </p:cNvSpPr>
            <p:nvPr/>
          </p:nvSpPr>
          <p:spPr bwMode="auto">
            <a:xfrm>
              <a:off x="2880" y="124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单词符号</a:t>
              </a:r>
            </a:p>
          </p:txBody>
        </p:sp>
        <p:sp>
          <p:nvSpPr>
            <p:cNvPr id="358433" name="Rectangle 33"/>
            <p:cNvSpPr>
              <a:spLocks noChangeArrowheads="1"/>
            </p:cNvSpPr>
            <p:nvPr/>
          </p:nvSpPr>
          <p:spPr bwMode="auto">
            <a:xfrm>
              <a:off x="2112" y="816"/>
              <a:ext cx="1296"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词法分析器</a:t>
              </a:r>
            </a:p>
          </p:txBody>
        </p:sp>
        <p:sp>
          <p:nvSpPr>
            <p:cNvPr id="86037" name="AutoShape 34"/>
            <p:cNvSpPr>
              <a:spLocks noChangeArrowheads="1"/>
            </p:cNvSpPr>
            <p:nvPr/>
          </p:nvSpPr>
          <p:spPr bwMode="auto">
            <a:xfrm>
              <a:off x="2640" y="576"/>
              <a:ext cx="192" cy="240"/>
            </a:xfrm>
            <a:prstGeom prst="downArrow">
              <a:avLst>
                <a:gd name="adj1" fmla="val 50000"/>
                <a:gd name="adj2" fmla="val 31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35" name="Rectangle 35"/>
            <p:cNvSpPr>
              <a:spLocks noChangeArrowheads="1"/>
            </p:cNvSpPr>
            <p:nvPr/>
          </p:nvSpPr>
          <p:spPr bwMode="auto">
            <a:xfrm>
              <a:off x="2832" y="57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zh-CN" altLang="en-US" sz="1600" b="1">
                  <a:solidFill>
                    <a:schemeClr val="tx2"/>
                  </a:solidFill>
                  <a:effectLst>
                    <a:outerShdw blurRad="38100" dist="38100" dir="2700000" algn="tl">
                      <a:srgbClr val="C0C0C0"/>
                    </a:outerShdw>
                  </a:effectLst>
                  <a:latin typeface="华文新魏" pitchFamily="2" charset="-122"/>
                  <a:ea typeface="华文新魏" pitchFamily="2" charset="-122"/>
                </a:rPr>
                <a:t>源程序</a:t>
              </a:r>
            </a:p>
          </p:txBody>
        </p:sp>
        <p:sp>
          <p:nvSpPr>
            <p:cNvPr id="86039" name="Line 36"/>
            <p:cNvSpPr>
              <a:spLocks noChangeShapeType="1"/>
            </p:cNvSpPr>
            <p:nvPr/>
          </p:nvSpPr>
          <p:spPr bwMode="auto">
            <a:xfrm>
              <a:off x="2592" y="2208"/>
              <a:ext cx="0" cy="384"/>
            </a:xfrm>
            <a:prstGeom prst="line">
              <a:avLst/>
            </a:prstGeom>
            <a:noFill/>
            <a:ln w="38100">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a:p>
          </p:txBody>
        </p:sp>
      </p:gr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E0D1860-9D0A-4E3E-BAC8-7046EC8C7159}" type="datetime1">
              <a:rPr lang="zh-CN" altLang="en-US" smtClean="0"/>
              <a:pPr/>
              <a:t>2017/2/24</a:t>
            </a:fld>
            <a:endParaRPr lang="en-US" altLang="zh-CN" smtClean="0"/>
          </a:p>
        </p:txBody>
      </p:sp>
      <p:sp>
        <p:nvSpPr>
          <p:cNvPr id="87043"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72AB5AA-FCCA-4F54-B54E-EF1D7E1D0E5A}" type="slidenum">
              <a:rPr lang="zh-CN" altLang="en-US"/>
              <a:pPr/>
              <a:t>81</a:t>
            </a:fld>
            <a:endParaRPr lang="en-US" altLang="zh-CN"/>
          </a:p>
        </p:txBody>
      </p:sp>
      <p:sp>
        <p:nvSpPr>
          <p:cNvPr id="87044" name="Rectangle 2"/>
          <p:cNvSpPr>
            <a:spLocks noGrp="1" noRot="1" noChangeArrowheads="1"/>
          </p:cNvSpPr>
          <p:nvPr>
            <p:ph type="title"/>
          </p:nvPr>
        </p:nvSpPr>
        <p:spPr>
          <a:xfrm>
            <a:off x="1143000" y="685800"/>
            <a:ext cx="5715000" cy="1157288"/>
          </a:xfrm>
        </p:spPr>
        <p:txBody>
          <a:bodyPr lIns="92075" tIns="46038" rIns="92075" bIns="46038"/>
          <a:lstStyle/>
          <a:p>
            <a:r>
              <a:rPr lang="zh-CN" altLang="en-US" b="1" smtClean="0">
                <a:latin typeface="Times New Roman" panose="02020603050405020304" pitchFamily="18" charset="0"/>
                <a:ea typeface="华文新魏" panose="02010800040101010101" pitchFamily="2" charset="-122"/>
              </a:rPr>
              <a:t>1.6 编译技术的应用</a:t>
            </a:r>
          </a:p>
        </p:txBody>
      </p:sp>
      <p:sp>
        <p:nvSpPr>
          <p:cNvPr id="87045" name="Rectangle 3"/>
          <p:cNvSpPr>
            <a:spLocks noGrp="1" noRot="1" noChangeArrowheads="1"/>
          </p:cNvSpPr>
          <p:nvPr>
            <p:ph type="body" idx="1"/>
          </p:nvPr>
        </p:nvSpPr>
        <p:spPr>
          <a:xfrm>
            <a:off x="900113" y="1989138"/>
            <a:ext cx="8001000" cy="4114800"/>
          </a:xfrm>
        </p:spPr>
        <p:txBody>
          <a:bodyPr lIns="92075" tIns="46038" rIns="92075" bIns="46038"/>
          <a:lstStyle/>
          <a:p>
            <a:pPr>
              <a:buFont typeface="Wingdings" panose="05000000000000000000" pitchFamily="2" charset="2"/>
              <a:buNone/>
            </a:pPr>
            <a:r>
              <a:rPr lang="zh-CN" altLang="en-US" b="1" smtClean="0">
                <a:latin typeface="Times New Roman" panose="02020603050405020304" pitchFamily="18" charset="0"/>
                <a:ea typeface="华文新魏" panose="02010800040101010101" pitchFamily="2" charset="-122"/>
              </a:rPr>
              <a:t>把复杂数据看作一条语句</a:t>
            </a:r>
          </a:p>
          <a:p>
            <a:r>
              <a:rPr lang="zh-CN" altLang="en-US" b="1" smtClean="0">
                <a:latin typeface="Times New Roman" panose="02020603050405020304" pitchFamily="18" charset="0"/>
                <a:ea typeface="华文新魏" panose="02010800040101010101" pitchFamily="2" charset="-122"/>
              </a:rPr>
              <a:t>数据格式的分析</a:t>
            </a:r>
          </a:p>
          <a:p>
            <a:pPr lvl="1"/>
            <a:r>
              <a:rPr lang="zh-CN" altLang="en-US" b="1" smtClean="0">
                <a:latin typeface="Times New Roman" panose="02020603050405020304" pitchFamily="18" charset="0"/>
                <a:ea typeface="华文新魏" panose="02010800040101010101" pitchFamily="2" charset="-122"/>
              </a:rPr>
              <a:t>利用词法分析、语法分析方法</a:t>
            </a:r>
          </a:p>
          <a:p>
            <a:r>
              <a:rPr lang="zh-CN" altLang="en-US" b="1" smtClean="0">
                <a:latin typeface="Times New Roman" panose="02020603050405020304" pitchFamily="18" charset="0"/>
                <a:ea typeface="华文新魏" panose="02010800040101010101" pitchFamily="2" charset="-122"/>
              </a:rPr>
              <a:t>数据处理的框架</a:t>
            </a:r>
          </a:p>
          <a:p>
            <a:pPr lvl="1"/>
            <a:r>
              <a:rPr lang="zh-CN" altLang="en-US" b="1" smtClean="0">
                <a:latin typeface="Times New Roman" panose="02020603050405020304" pitchFamily="18" charset="0"/>
                <a:ea typeface="华文新魏" panose="02010800040101010101" pitchFamily="2" charset="-122"/>
              </a:rPr>
              <a:t>基于语法制导的语义处理框架</a:t>
            </a:r>
          </a:p>
          <a:p>
            <a:pPr>
              <a:lnSpc>
                <a:spcPct val="150000"/>
              </a:lnSpc>
              <a:buFont typeface="Wingdings" panose="05000000000000000000" pitchFamily="2" charset="2"/>
              <a:buNone/>
            </a:pPr>
            <a:r>
              <a:rPr lang="zh-CN" altLang="en-US" b="1" u="sng" smtClean="0">
                <a:latin typeface="Times New Roman" panose="02020603050405020304" pitchFamily="18" charset="0"/>
                <a:ea typeface="华文新魏" panose="02010800040101010101" pitchFamily="2" charset="-122"/>
              </a:rPr>
              <a:t>编译技术可以用于各种复杂数据的分析处理</a:t>
            </a: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0989D3-D480-4929-AEFB-AD32BB7A59FB}" type="datetime1">
              <a:rPr lang="zh-CN" altLang="en-US" smtClean="0"/>
              <a:pPr/>
              <a:t>2017/2/24</a:t>
            </a:fld>
            <a:endParaRPr lang="en-US" altLang="zh-CN" smtClean="0"/>
          </a:p>
        </p:txBody>
      </p:sp>
      <p:sp>
        <p:nvSpPr>
          <p:cNvPr id="88067"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F026E3B-DF19-43D0-B1C0-B32CDA564789}" type="slidenum">
              <a:rPr lang="zh-CN" altLang="en-US"/>
              <a:pPr/>
              <a:t>82</a:t>
            </a:fld>
            <a:endParaRPr lang="en-US" altLang="zh-CN"/>
          </a:p>
        </p:txBody>
      </p:sp>
      <p:sp>
        <p:nvSpPr>
          <p:cNvPr id="88068" name="Rectangle 2"/>
          <p:cNvSpPr>
            <a:spLocks noGrp="1" noRot="1" noChangeArrowheads="1"/>
          </p:cNvSpPr>
          <p:nvPr>
            <p:ph type="title"/>
          </p:nvPr>
        </p:nvSpPr>
        <p:spPr>
          <a:xfrm>
            <a:off x="971550" y="692150"/>
            <a:ext cx="7993063" cy="908050"/>
          </a:xfrm>
        </p:spPr>
        <p:txBody>
          <a:bodyPr lIns="92075" tIns="46038" rIns="92075" bIns="46038"/>
          <a:lstStyle/>
          <a:p>
            <a:r>
              <a:rPr lang="zh-CN" altLang="en-US" sz="4000" b="1" smtClean="0">
                <a:latin typeface="Times New Roman" panose="02020603050405020304" pitchFamily="18" charset="0"/>
                <a:ea typeface="华文新魏" panose="02010800040101010101" pitchFamily="2" charset="-122"/>
              </a:rPr>
              <a:t>例1-1 </a:t>
            </a:r>
            <a:r>
              <a:rPr lang="en-US" altLang="zh-CN" sz="4000" b="1" smtClean="0">
                <a:latin typeface="Times New Roman" panose="02020603050405020304" pitchFamily="18" charset="0"/>
                <a:ea typeface="华文新魏" panose="02010800040101010101" pitchFamily="2" charset="-122"/>
              </a:rPr>
              <a:t>DOS </a:t>
            </a:r>
            <a:r>
              <a:rPr lang="zh-CN" altLang="en-US" sz="4000" b="1" smtClean="0">
                <a:latin typeface="Times New Roman" panose="02020603050405020304" pitchFamily="18" charset="0"/>
                <a:ea typeface="华文新魏" panose="02010800040101010101" pitchFamily="2" charset="-122"/>
              </a:rPr>
              <a:t>命令 </a:t>
            </a:r>
            <a:r>
              <a:rPr lang="en-US" altLang="zh-CN" sz="4000" b="1" smtClean="0">
                <a:latin typeface="Times New Roman" panose="02020603050405020304" pitchFamily="18" charset="0"/>
                <a:ea typeface="华文新魏" panose="02010800040101010101" pitchFamily="2" charset="-122"/>
              </a:rPr>
              <a:t>date</a:t>
            </a:r>
            <a:r>
              <a:rPr lang="zh-CN" altLang="en-US" sz="4000" b="1" smtClean="0">
                <a:latin typeface="Times New Roman" panose="02020603050405020304" pitchFamily="18" charset="0"/>
                <a:ea typeface="华文新魏" panose="02010800040101010101" pitchFamily="2" charset="-122"/>
              </a:rPr>
              <a:t>输出格式处理</a:t>
            </a:r>
          </a:p>
        </p:txBody>
      </p:sp>
      <p:sp>
        <p:nvSpPr>
          <p:cNvPr id="88069" name="Rectangle 3"/>
          <p:cNvSpPr>
            <a:spLocks noGrp="1" noRot="1" noChangeArrowheads="1"/>
          </p:cNvSpPr>
          <p:nvPr>
            <p:ph type="body" idx="1"/>
          </p:nvPr>
        </p:nvSpPr>
        <p:spPr>
          <a:xfrm>
            <a:off x="900113" y="1965325"/>
            <a:ext cx="7786687" cy="4343400"/>
          </a:xfrm>
        </p:spPr>
        <p:txBody>
          <a:bodyPr lIns="92075" tIns="46038" rIns="92075" bIns="46038"/>
          <a:lstStyle/>
          <a:p>
            <a:pPr>
              <a:buFont typeface="Wingdings" panose="05000000000000000000" pitchFamily="2" charset="2"/>
              <a:buNone/>
            </a:pPr>
            <a:r>
              <a:rPr lang="zh-CN" altLang="en-US" sz="3600" b="1" smtClean="0">
                <a:latin typeface="Times New Roman" panose="02020603050405020304" pitchFamily="18" charset="0"/>
                <a:ea typeface="华文新魏" panose="02010800040101010101" pitchFamily="2" charset="-122"/>
              </a:rPr>
              <a:t>例：9-2-1993、09-03-1993、9-03-93</a:t>
            </a:r>
          </a:p>
          <a:p>
            <a:pPr>
              <a:buFont typeface="Wingdings" panose="05000000000000000000" pitchFamily="2" charset="2"/>
              <a:buNone/>
            </a:pPr>
            <a:r>
              <a:rPr lang="zh-CN" altLang="en-US" sz="3600" b="1" smtClean="0">
                <a:latin typeface="Times New Roman" panose="02020603050405020304" pitchFamily="18" charset="0"/>
                <a:ea typeface="华文新魏" panose="02010800040101010101" pitchFamily="2" charset="-122"/>
              </a:rPr>
              <a:t>词法</a:t>
            </a:r>
          </a:p>
          <a:p>
            <a:pPr lvl="1">
              <a:buFont typeface="Wingdings" panose="05000000000000000000" pitchFamily="2" charset="2"/>
              <a:buNone/>
            </a:pPr>
            <a:r>
              <a:rPr lang="en-US" altLang="zh-CN" b="1" smtClean="0">
                <a:latin typeface="Times New Roman" panose="02020603050405020304" pitchFamily="18" charset="0"/>
                <a:ea typeface="华文新魏" panose="02010800040101010101" pitchFamily="2" charset="-122"/>
              </a:rPr>
              <a:t>month → </a:t>
            </a:r>
            <a:r>
              <a:rPr lang="en-US" altLang="zh-CN" sz="2400" b="1" smtClean="0">
                <a:latin typeface="Times New Roman" panose="02020603050405020304" pitchFamily="18" charset="0"/>
                <a:ea typeface="华文新魏" panose="02010800040101010101" pitchFamily="2" charset="-122"/>
              </a:rPr>
              <a:t>DIGIT DIGIT | DIGIT</a:t>
            </a:r>
          </a:p>
          <a:p>
            <a:pPr lvl="1">
              <a:buFont typeface="Wingdings" panose="05000000000000000000" pitchFamily="2" charset="2"/>
              <a:buNone/>
            </a:pPr>
            <a:r>
              <a:rPr lang="en-US" altLang="zh-CN" b="1" smtClean="0">
                <a:latin typeface="Times New Roman" panose="02020603050405020304" pitchFamily="18" charset="0"/>
                <a:ea typeface="华文新魏" panose="02010800040101010101" pitchFamily="2" charset="-122"/>
              </a:rPr>
              <a:t>   day   → </a:t>
            </a:r>
            <a:r>
              <a:rPr lang="en-US" altLang="zh-CN" sz="2400" b="1" smtClean="0">
                <a:latin typeface="Times New Roman" panose="02020603050405020304" pitchFamily="18" charset="0"/>
                <a:ea typeface="华文新魏" panose="02010800040101010101" pitchFamily="2" charset="-122"/>
              </a:rPr>
              <a:t>DIGIT DIGIT | DIGIT</a:t>
            </a:r>
          </a:p>
          <a:p>
            <a:pPr lvl="1">
              <a:buFont typeface="Wingdings" panose="05000000000000000000" pitchFamily="2" charset="2"/>
              <a:buNone/>
            </a:pPr>
            <a:r>
              <a:rPr lang="en-US" altLang="zh-CN" b="1" smtClean="0">
                <a:latin typeface="Times New Roman" panose="02020603050405020304" pitchFamily="18" charset="0"/>
                <a:ea typeface="华文新魏" panose="02010800040101010101" pitchFamily="2" charset="-122"/>
              </a:rPr>
              <a:t>   year  → </a:t>
            </a:r>
            <a:r>
              <a:rPr lang="en-US" altLang="zh-CN" sz="2400" b="1" smtClean="0">
                <a:latin typeface="Times New Roman" panose="02020603050405020304" pitchFamily="18" charset="0"/>
                <a:ea typeface="华文新魏" panose="02010800040101010101" pitchFamily="2" charset="-122"/>
              </a:rPr>
              <a:t>DIGIT DIGIT | DIGII DIGIT DIGIT DIGIT</a:t>
            </a:r>
          </a:p>
          <a:p>
            <a:pPr>
              <a:buFont typeface="Wingdings" panose="05000000000000000000" pitchFamily="2" charset="2"/>
              <a:buNone/>
            </a:pPr>
            <a:r>
              <a:rPr lang="zh-CN" altLang="en-US" sz="3600" b="1" smtClean="0">
                <a:latin typeface="Times New Roman" panose="02020603050405020304" pitchFamily="18" charset="0"/>
                <a:ea typeface="华文新魏" panose="02010800040101010101" pitchFamily="2" charset="-122"/>
              </a:rPr>
              <a:t>语法</a:t>
            </a:r>
          </a:p>
          <a:p>
            <a:pPr lvl="1">
              <a:buFont typeface="Wingdings" panose="05000000000000000000" pitchFamily="2" charset="2"/>
              <a:buNone/>
            </a:pPr>
            <a:r>
              <a:rPr lang="en-US" altLang="zh-CN" sz="3200" b="1" smtClean="0">
                <a:latin typeface="Times New Roman" panose="02020603050405020304" pitchFamily="18" charset="0"/>
                <a:ea typeface="华文新魏" panose="02010800040101010101" pitchFamily="2" charset="-122"/>
              </a:rPr>
              <a:t>date → month - day - year</a:t>
            </a: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3"/>
          <p:cNvSpPr>
            <a:spLocks noGrp="1"/>
          </p:cNvSpPr>
          <p:nvPr>
            <p:ph type="dt" sz="quarter" idx="10"/>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18AB571-942B-45FE-A9DB-B233426997ED}" type="datetime1">
              <a:rPr lang="zh-CN" altLang="en-US" smtClean="0"/>
              <a:pPr/>
              <a:t>2017/2/24</a:t>
            </a:fld>
            <a:endParaRPr lang="en-US" altLang="zh-CN" smtClean="0"/>
          </a:p>
        </p:txBody>
      </p:sp>
      <p:sp>
        <p:nvSpPr>
          <p:cNvPr id="89091" name="灯片编号占位符 5"/>
          <p:cNvSpPr>
            <a:spLocks noGrp="1"/>
          </p:cNvSpPr>
          <p:nvPr>
            <p:ph type="sldNum" sz="quarter" idx="12"/>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EDE2E08-513A-4D15-802D-A34CF8134BFB}" type="slidenum">
              <a:rPr lang="zh-CN" altLang="en-US"/>
              <a:pPr/>
              <a:t>83</a:t>
            </a:fld>
            <a:endParaRPr lang="en-US" altLang="zh-CN"/>
          </a:p>
        </p:txBody>
      </p:sp>
      <p:sp>
        <p:nvSpPr>
          <p:cNvPr id="89092" name="Rectangle 3"/>
          <p:cNvSpPr>
            <a:spLocks noGrp="1" noRot="1" noChangeArrowheads="1"/>
          </p:cNvSpPr>
          <p:nvPr>
            <p:ph type="body" idx="1"/>
          </p:nvPr>
        </p:nvSpPr>
        <p:spPr>
          <a:xfrm>
            <a:off x="971550" y="1981200"/>
            <a:ext cx="7943850" cy="4495800"/>
          </a:xfrm>
        </p:spPr>
        <p:txBody>
          <a:bodyPr/>
          <a:lstStyle/>
          <a:p>
            <a:pPr>
              <a:buFont typeface="Wingdings" panose="05000000000000000000" pitchFamily="2" charset="2"/>
              <a:buNone/>
            </a:pPr>
            <a:r>
              <a:rPr lang="zh-CN" altLang="en-US" b="1" smtClean="0">
                <a:latin typeface="Times New Roman" panose="02020603050405020304" pitchFamily="18" charset="0"/>
                <a:ea typeface="华文新魏" panose="02010800040101010101" pitchFamily="2" charset="-122"/>
              </a:rPr>
              <a:t>语义</a:t>
            </a:r>
          </a:p>
          <a:p>
            <a:pPr lvl="1">
              <a:buFont typeface="Wingdings" panose="05000000000000000000" pitchFamily="2" charset="2"/>
              <a:buNone/>
            </a:pPr>
            <a:r>
              <a:rPr lang="en-US" altLang="zh-CN" sz="3200" b="1" smtClean="0">
                <a:latin typeface="Times New Roman" panose="02020603050405020304" pitchFamily="18" charset="0"/>
                <a:ea typeface="华文新魏" panose="02010800040101010101" pitchFamily="2" charset="-122"/>
              </a:rPr>
              <a:t>year(</a:t>
            </a:r>
            <a:r>
              <a:rPr lang="zh-CN" altLang="en-US" sz="3200" b="1" smtClean="0">
                <a:latin typeface="Times New Roman" panose="02020603050405020304" pitchFamily="18" charset="0"/>
                <a:ea typeface="华文新魏" panose="02010800040101010101" pitchFamily="2" charset="-122"/>
              </a:rPr>
              <a:t>年</a:t>
            </a:r>
            <a:r>
              <a:rPr lang="en-US" altLang="zh-CN" sz="3200" b="1" smtClean="0">
                <a:latin typeface="Times New Roman" panose="02020603050405020304" pitchFamily="18" charset="0"/>
                <a:ea typeface="华文新魏" panose="02010800040101010101" pitchFamily="2" charset="-122"/>
              </a:rPr>
              <a:t>)</a:t>
            </a:r>
            <a:r>
              <a:rPr lang="zh-CN" altLang="en-US" sz="3200" b="1" smtClean="0">
                <a:latin typeface="Times New Roman" panose="02020603050405020304" pitchFamily="18" charset="0"/>
                <a:ea typeface="华文新魏" panose="02010800040101010101" pitchFamily="2" charset="-122"/>
              </a:rPr>
              <a:t>、</a:t>
            </a:r>
            <a:r>
              <a:rPr lang="en-US" altLang="zh-CN" sz="3200" b="1" smtClean="0">
                <a:latin typeface="Times New Roman" panose="02020603050405020304" pitchFamily="18" charset="0"/>
                <a:ea typeface="华文新魏" panose="02010800040101010101" pitchFamily="2" charset="-122"/>
              </a:rPr>
              <a:t>month(</a:t>
            </a:r>
            <a:r>
              <a:rPr lang="zh-CN" altLang="en-US" sz="3200" b="1" smtClean="0">
                <a:latin typeface="Times New Roman" panose="02020603050405020304" pitchFamily="18" charset="0"/>
                <a:ea typeface="华文新魏" panose="02010800040101010101" pitchFamily="2" charset="-122"/>
              </a:rPr>
              <a:t>月</a:t>
            </a:r>
            <a:r>
              <a:rPr lang="en-US" altLang="zh-CN" sz="3200" b="1" smtClean="0">
                <a:latin typeface="Times New Roman" panose="02020603050405020304" pitchFamily="18" charset="0"/>
                <a:ea typeface="华文新魏" panose="02010800040101010101" pitchFamily="2" charset="-122"/>
              </a:rPr>
              <a:t>)</a:t>
            </a:r>
            <a:r>
              <a:rPr lang="zh-CN" altLang="en-US" sz="3200" b="1" smtClean="0">
                <a:latin typeface="Times New Roman" panose="02020603050405020304" pitchFamily="18" charset="0"/>
                <a:ea typeface="华文新魏" panose="02010800040101010101" pitchFamily="2" charset="-122"/>
              </a:rPr>
              <a:t>、</a:t>
            </a:r>
            <a:r>
              <a:rPr lang="en-US" altLang="zh-CN" sz="3200" b="1" smtClean="0">
                <a:latin typeface="Times New Roman" panose="02020603050405020304" pitchFamily="18" charset="0"/>
                <a:ea typeface="华文新魏" panose="02010800040101010101" pitchFamily="2" charset="-122"/>
              </a:rPr>
              <a:t>day(</a:t>
            </a:r>
            <a:r>
              <a:rPr lang="zh-CN" altLang="en-US" sz="3200" b="1" smtClean="0">
                <a:latin typeface="Times New Roman" panose="02020603050405020304" pitchFamily="18" charset="0"/>
                <a:ea typeface="华文新魏" panose="02010800040101010101" pitchFamily="2" charset="-122"/>
              </a:rPr>
              <a:t>日</a:t>
            </a:r>
            <a:r>
              <a:rPr lang="en-US" altLang="zh-CN" sz="3200" b="1" smtClean="0">
                <a:latin typeface="Times New Roman" panose="02020603050405020304" pitchFamily="18" charset="0"/>
                <a:ea typeface="华文新魏" panose="02010800040101010101" pitchFamily="2" charset="-122"/>
              </a:rPr>
              <a:t>)</a:t>
            </a:r>
          </a:p>
          <a:p>
            <a:pPr>
              <a:buFont typeface="Wingdings" panose="05000000000000000000" pitchFamily="2" charset="2"/>
              <a:buNone/>
            </a:pPr>
            <a:r>
              <a:rPr lang="zh-CN" altLang="en-US" b="1" smtClean="0">
                <a:latin typeface="Times New Roman" panose="02020603050405020304" pitchFamily="18" charset="0"/>
                <a:ea typeface="华文新魏" panose="02010800040101010101" pitchFamily="2" charset="-122"/>
              </a:rPr>
              <a:t>语义约束条件</a:t>
            </a:r>
          </a:p>
          <a:p>
            <a:pPr lvl="1">
              <a:buFont typeface="Wingdings" panose="05000000000000000000" pitchFamily="2" charset="2"/>
              <a:buNone/>
            </a:pPr>
            <a:r>
              <a:rPr lang="zh-CN" altLang="en-US" sz="3200" b="1" smtClean="0">
                <a:latin typeface="Times New Roman" panose="02020603050405020304" pitchFamily="18" charset="0"/>
                <a:ea typeface="华文新魏" panose="02010800040101010101" pitchFamily="2" charset="-122"/>
              </a:rPr>
              <a:t>0 &lt; </a:t>
            </a:r>
            <a:r>
              <a:rPr lang="en-US" altLang="zh-CN" sz="3200" b="1" smtClean="0">
                <a:latin typeface="Times New Roman" panose="02020603050405020304" pitchFamily="18" charset="0"/>
                <a:ea typeface="华文新魏" panose="02010800040101010101" pitchFamily="2" charset="-122"/>
              </a:rPr>
              <a:t>month.value &lt; 13</a:t>
            </a:r>
          </a:p>
          <a:p>
            <a:pPr lvl="1">
              <a:buFont typeface="Wingdings" panose="05000000000000000000" pitchFamily="2" charset="2"/>
              <a:buNone/>
            </a:pPr>
            <a:r>
              <a:rPr lang="en-US" altLang="zh-CN" sz="3200" b="1" smtClean="0">
                <a:latin typeface="Times New Roman" panose="02020603050405020304" pitchFamily="18" charset="0"/>
                <a:ea typeface="华文新魏" panose="02010800040101010101" pitchFamily="2" charset="-122"/>
              </a:rPr>
              <a:t>0 &lt; day.value   &lt; 32，31，30</a:t>
            </a:r>
          </a:p>
          <a:p>
            <a:pPr lvl="1">
              <a:buFont typeface="Wingdings" panose="05000000000000000000" pitchFamily="2" charset="2"/>
              <a:buNone/>
            </a:pPr>
            <a:r>
              <a:rPr lang="en-US" altLang="zh-CN" sz="3200" b="1" smtClean="0">
                <a:latin typeface="Times New Roman" panose="02020603050405020304" pitchFamily="18" charset="0"/>
                <a:ea typeface="华文新魏" panose="02010800040101010101" pitchFamily="2" charset="-122"/>
              </a:rPr>
              <a:t>0 &lt; year.value  &lt; 10000</a:t>
            </a:r>
          </a:p>
        </p:txBody>
      </p:sp>
      <p:sp>
        <p:nvSpPr>
          <p:cNvPr id="89093" name="Rectangle 7"/>
          <p:cNvSpPr>
            <a:spLocks noGrp="1" noRot="1" noChangeArrowheads="1"/>
          </p:cNvSpPr>
          <p:nvPr>
            <p:ph type="title"/>
          </p:nvPr>
        </p:nvSpPr>
        <p:spPr/>
        <p:txBody>
          <a:bodyPr/>
          <a:lstStyle/>
          <a:p>
            <a:r>
              <a:rPr lang="zh-CN" altLang="en-US" sz="4000" b="1" smtClean="0">
                <a:latin typeface="Times New Roman" panose="02020603050405020304" pitchFamily="18" charset="0"/>
                <a:ea typeface="华文新魏" panose="02010800040101010101" pitchFamily="2" charset="-122"/>
              </a:rPr>
              <a:t>例1-1 </a:t>
            </a:r>
            <a:r>
              <a:rPr lang="en-US" altLang="zh-CN" sz="4000" b="1" smtClean="0">
                <a:latin typeface="Times New Roman" panose="02020603050405020304" pitchFamily="18" charset="0"/>
                <a:ea typeface="华文新魏" panose="02010800040101010101" pitchFamily="2" charset="-122"/>
              </a:rPr>
              <a:t>DOS </a:t>
            </a:r>
            <a:r>
              <a:rPr lang="zh-CN" altLang="en-US" sz="4000" b="1" smtClean="0">
                <a:latin typeface="Times New Roman" panose="02020603050405020304" pitchFamily="18" charset="0"/>
                <a:ea typeface="华文新魏" panose="02010800040101010101" pitchFamily="2" charset="-122"/>
              </a:rPr>
              <a:t>命令 </a:t>
            </a:r>
            <a:r>
              <a:rPr lang="en-US" altLang="zh-CN" sz="4000" b="1" smtClean="0">
                <a:latin typeface="Times New Roman" panose="02020603050405020304" pitchFamily="18" charset="0"/>
                <a:ea typeface="华文新魏" panose="02010800040101010101" pitchFamily="2" charset="-122"/>
              </a:rPr>
              <a:t>date</a:t>
            </a:r>
            <a:r>
              <a:rPr lang="zh-CN" altLang="en-US" sz="4000" b="1" smtClean="0">
                <a:latin typeface="Times New Roman" panose="02020603050405020304" pitchFamily="18" charset="0"/>
                <a:ea typeface="华文新魏" panose="02010800040101010101" pitchFamily="2" charset="-122"/>
              </a:rPr>
              <a:t>输出格式处理</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CDESIGNL</Template>
  <TotalTime>5303</TotalTime>
  <Words>5417</Words>
  <Application>Microsoft Office PowerPoint</Application>
  <PresentationFormat>全屏显示(4:3)</PresentationFormat>
  <Paragraphs>1237</Paragraphs>
  <Slides>83</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83</vt:i4>
      </vt:variant>
    </vt:vector>
  </HeadingPairs>
  <TitlesOfParts>
    <vt:vector size="95" baseType="lpstr">
      <vt:lpstr>Monotype Sorts</vt:lpstr>
      <vt:lpstr>华文新魏</vt:lpstr>
      <vt:lpstr>楷体_GB2312</vt:lpstr>
      <vt:lpstr>宋体</vt:lpstr>
      <vt:lpstr>Arial</vt:lpstr>
      <vt:lpstr>Symbol</vt:lpstr>
      <vt:lpstr>Tahoma</vt:lpstr>
      <vt:lpstr>Times New Roman</vt:lpstr>
      <vt:lpstr>Verdana</vt:lpstr>
      <vt:lpstr>Wingdings</vt:lpstr>
      <vt:lpstr>诗情画意</vt:lpstr>
      <vt:lpstr>剪辑</vt:lpstr>
      <vt:lpstr>PowerPoint 演示文稿</vt:lpstr>
      <vt:lpstr>PowerPoint 演示文稿</vt:lpstr>
      <vt:lpstr>学时与教材</vt:lpstr>
      <vt:lpstr>参考书</vt:lpstr>
      <vt:lpstr>参考书(续)</vt:lpstr>
      <vt:lpstr>参考书(续)</vt:lpstr>
      <vt:lpstr>参考书(续)</vt:lpstr>
      <vt:lpstr>PowerPoint 演示文稿</vt:lpstr>
      <vt:lpstr>PowerPoint 演示文稿</vt:lpstr>
      <vt:lpstr>校内课程网站</vt:lpstr>
      <vt:lpstr>校内课程网站</vt:lpstr>
      <vt:lpstr>主要内容</vt:lpstr>
      <vt:lpstr>实验安排</vt:lpstr>
      <vt:lpstr>成绩评定</vt:lpstr>
      <vt:lpstr>教学目的——培养目标与毕业要求</vt:lpstr>
      <vt:lpstr>教学目的——培养目标与毕业要求</vt:lpstr>
      <vt:lpstr>教学目的——计算学科的定义 </vt:lpstr>
      <vt:lpstr>教学目的——学科基本特征</vt:lpstr>
      <vt:lpstr>教学目的——计算学科本科生专业能力构成</vt:lpstr>
      <vt:lpstr>教学目的——计算学科本科生专业能力构成</vt:lpstr>
      <vt:lpstr>教学目的——编译原理是一门非常好的课程</vt:lpstr>
      <vt:lpstr>教学目的——编译原理是一门非常好的课程</vt:lpstr>
      <vt:lpstr>教学要求</vt:lpstr>
      <vt:lpstr>教学要求</vt:lpstr>
      <vt:lpstr>教学要求</vt:lpstr>
      <vt:lpstr>学习方法</vt:lpstr>
      <vt:lpstr>学习方法</vt:lpstr>
      <vt:lpstr>学习方法</vt:lpstr>
      <vt:lpstr>学习方法</vt:lpstr>
      <vt:lpstr>学习方法</vt:lpstr>
      <vt:lpstr>学生的体会</vt:lpstr>
      <vt:lpstr>学生的体会</vt:lpstr>
      <vt:lpstr>第1章 引论</vt:lpstr>
      <vt:lpstr>1.1  计算机语言</vt:lpstr>
      <vt:lpstr>1.1  计算机语言</vt:lpstr>
      <vt:lpstr>1.1  计算机语言</vt:lpstr>
      <vt:lpstr>1.2 翻译系统</vt:lpstr>
      <vt:lpstr>1.2 翻译系统</vt:lpstr>
      <vt:lpstr>1.2 翻译系统</vt:lpstr>
      <vt:lpstr>1.2  翻译系统</vt:lpstr>
      <vt:lpstr>1.2  翻译系统</vt:lpstr>
      <vt:lpstr>1.2 翻译系统—汇总</vt:lpstr>
      <vt:lpstr>PowerPoint 演示文稿</vt:lpstr>
      <vt:lpstr>1.3 编译系统的功能分析</vt:lpstr>
      <vt:lpstr>1.4 编译程序总体结构</vt:lpstr>
      <vt:lpstr>1. 词法分析</vt:lpstr>
      <vt:lpstr>1、词法分析</vt:lpstr>
      <vt:lpstr>1.4 编译程序总体结构</vt:lpstr>
      <vt:lpstr>2. 语法分析</vt:lpstr>
      <vt:lpstr>2、语法分析</vt:lpstr>
      <vt:lpstr>1.4 编译程序总体结构</vt:lpstr>
      <vt:lpstr>3. 语义分析</vt:lpstr>
      <vt:lpstr>4. 中间代码生成</vt:lpstr>
      <vt:lpstr>4. 中间代码生成</vt:lpstr>
      <vt:lpstr>1.4 编译程序总体结构</vt:lpstr>
      <vt:lpstr>5. 代码优化</vt:lpstr>
      <vt:lpstr>与机器无关的优化</vt:lpstr>
      <vt:lpstr>与机器有关的优化</vt:lpstr>
      <vt:lpstr>1.4 编译程序总体结构</vt:lpstr>
      <vt:lpstr>6. 目标代码生成</vt:lpstr>
      <vt:lpstr>1.4 编译程序总体结构</vt:lpstr>
      <vt:lpstr>7、表格管理</vt:lpstr>
      <vt:lpstr>1.4 编译程序总体结构</vt:lpstr>
      <vt:lpstr>8、错误处理</vt:lpstr>
      <vt:lpstr>模块分类</vt:lpstr>
      <vt:lpstr>PowerPoint 演示文稿</vt:lpstr>
      <vt:lpstr>9   编译的遍(Pass)</vt:lpstr>
      <vt:lpstr>9   编译的遍(Pass)</vt:lpstr>
      <vt:lpstr>10、编译的前端与后端</vt:lpstr>
      <vt:lpstr>1.5 编译程序的生成</vt:lpstr>
      <vt:lpstr>T 形图</vt:lpstr>
      <vt:lpstr>1)交叉编译(Cross Compiling)</vt:lpstr>
      <vt:lpstr>PowerPoint 演示文稿</vt:lpstr>
      <vt:lpstr>2) 本机编译器利用</vt:lpstr>
      <vt:lpstr>3) 编译程序的自展技术</vt:lpstr>
      <vt:lpstr>PowerPoint 演示文稿</vt:lpstr>
      <vt:lpstr>4) 利用编译程序自动生成器</vt:lpstr>
      <vt:lpstr>语法分析器的自动生成程序</vt:lpstr>
      <vt:lpstr>练习题</vt:lpstr>
      <vt:lpstr>编译程序总体结构</vt:lpstr>
      <vt:lpstr>1.6 编译技术的应用</vt:lpstr>
      <vt:lpstr>例1-1 DOS 命令 date输出格式处理</vt:lpstr>
      <vt:lpstr>例1-1 DOS 命令 date输出格式处理</vt:lpstr>
    </vt:vector>
  </TitlesOfParts>
  <Company>bjut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jzl</dc:creator>
  <cp:lastModifiedBy>Admin</cp:lastModifiedBy>
  <cp:revision>212</cp:revision>
  <cp:lastPrinted>1601-01-01T00:00:00Z</cp:lastPrinted>
  <dcterms:created xsi:type="dcterms:W3CDTF">2003-07-09T14:46:46Z</dcterms:created>
  <dcterms:modified xsi:type="dcterms:W3CDTF">2017-02-24T00:47:09Z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